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notesMasterIdLst>
    <p:notesMasterId r:id="rId77"/>
  </p:notes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 id="269" r:id="rId14"/>
    <p:sldId id="268" r:id="rId15"/>
    <p:sldId id="270" r:id="rId16"/>
    <p:sldId id="271" r:id="rId17"/>
    <p:sldId id="272" r:id="rId18"/>
    <p:sldId id="273" r:id="rId19"/>
    <p:sldId id="275" r:id="rId20"/>
    <p:sldId id="274" r:id="rId21"/>
    <p:sldId id="278" r:id="rId22"/>
    <p:sldId id="280" r:id="rId23"/>
    <p:sldId id="279" r:id="rId24"/>
    <p:sldId id="282" r:id="rId25"/>
    <p:sldId id="281" r:id="rId26"/>
    <p:sldId id="283" r:id="rId27"/>
    <p:sldId id="284" r:id="rId28"/>
    <p:sldId id="285" r:id="rId29"/>
    <p:sldId id="286" r:id="rId30"/>
    <p:sldId id="287" r:id="rId31"/>
    <p:sldId id="288" r:id="rId32"/>
    <p:sldId id="277" r:id="rId33"/>
    <p:sldId id="289" r:id="rId34"/>
    <p:sldId id="290"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1" r:id="rId54"/>
    <p:sldId id="310" r:id="rId55"/>
    <p:sldId id="313" r:id="rId56"/>
    <p:sldId id="315" r:id="rId57"/>
    <p:sldId id="316" r:id="rId58"/>
    <p:sldId id="317" r:id="rId59"/>
    <p:sldId id="318" r:id="rId60"/>
    <p:sldId id="319" r:id="rId61"/>
    <p:sldId id="320" r:id="rId62"/>
    <p:sldId id="321" r:id="rId63"/>
    <p:sldId id="322" r:id="rId64"/>
    <p:sldId id="334" r:id="rId65"/>
    <p:sldId id="323" r:id="rId66"/>
    <p:sldId id="324" r:id="rId67"/>
    <p:sldId id="325" r:id="rId68"/>
    <p:sldId id="333" r:id="rId69"/>
    <p:sldId id="326" r:id="rId70"/>
    <p:sldId id="327" r:id="rId71"/>
    <p:sldId id="328" r:id="rId72"/>
    <p:sldId id="329" r:id="rId73"/>
    <p:sldId id="332" r:id="rId74"/>
    <p:sldId id="330" r:id="rId75"/>
    <p:sldId id="331" r:id="rId7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989" autoAdjust="0"/>
  </p:normalViewPr>
  <p:slideViewPr>
    <p:cSldViewPr snapToGrid="0">
      <p:cViewPr varScale="1">
        <p:scale>
          <a:sx n="75" d="100"/>
          <a:sy n="75" d="100"/>
        </p:scale>
        <p:origin x="303" y="-25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9B5225-0D19-4BC1-9140-C43C689FD847}" type="datetimeFigureOut">
              <a:rPr lang="es-PE" smtClean="0"/>
              <a:t>29/03/2026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1E1650-3C28-42DB-9B2D-4AFF74F269D8}" type="slidenum">
              <a:rPr lang="es-PE" smtClean="0"/>
              <a:t>‹Nº›</a:t>
            </a:fld>
            <a:endParaRPr lang="es-PE"/>
          </a:p>
        </p:txBody>
      </p:sp>
    </p:spTree>
    <p:extLst>
      <p:ext uri="{BB962C8B-B14F-4D97-AF65-F5344CB8AC3E}">
        <p14:creationId xmlns:p14="http://schemas.microsoft.com/office/powerpoint/2010/main" val="6998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B21E1650-3C28-42DB-9B2D-4AFF74F269D8}" type="slidenum">
              <a:rPr lang="es-PE" smtClean="0"/>
              <a:t>25</a:t>
            </a:fld>
            <a:endParaRPr lang="es-PE"/>
          </a:p>
        </p:txBody>
      </p:sp>
    </p:spTree>
    <p:extLst>
      <p:ext uri="{BB962C8B-B14F-4D97-AF65-F5344CB8AC3E}">
        <p14:creationId xmlns:p14="http://schemas.microsoft.com/office/powerpoint/2010/main" val="783422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3/29/2026</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‹Nº›</a:t>
            </a:fld>
            <a:endParaRPr lang="en-US"/>
          </a:p>
        </p:txBody>
      </p:sp>
    </p:spTree>
    <p:extLst>
      <p:ext uri="{BB962C8B-B14F-4D97-AF65-F5344CB8AC3E}">
        <p14:creationId xmlns:p14="http://schemas.microsoft.com/office/powerpoint/2010/main" val="2478936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3/29/2026</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‹Nº›</a:t>
            </a:fld>
            <a:endParaRPr lang="en-US"/>
          </a:p>
        </p:txBody>
      </p:sp>
    </p:spTree>
    <p:extLst>
      <p:ext uri="{BB962C8B-B14F-4D97-AF65-F5344CB8AC3E}">
        <p14:creationId xmlns:p14="http://schemas.microsoft.com/office/powerpoint/2010/main" val="1998422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3/29/2026</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‹Nº›</a:t>
            </a:fld>
            <a:endParaRPr lang="en-US"/>
          </a:p>
        </p:txBody>
      </p:sp>
    </p:spTree>
    <p:extLst>
      <p:ext uri="{BB962C8B-B14F-4D97-AF65-F5344CB8AC3E}">
        <p14:creationId xmlns:p14="http://schemas.microsoft.com/office/powerpoint/2010/main" val="3772938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3/29/2026</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‹Nº›</a:t>
            </a:fld>
            <a:endParaRPr lang="en-US"/>
          </a:p>
        </p:txBody>
      </p:sp>
    </p:spTree>
    <p:extLst>
      <p:ext uri="{BB962C8B-B14F-4D97-AF65-F5344CB8AC3E}">
        <p14:creationId xmlns:p14="http://schemas.microsoft.com/office/powerpoint/2010/main" val="66596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3/29/2026</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‹Nº›</a:t>
            </a:fld>
            <a:endParaRPr lang="en-US"/>
          </a:p>
        </p:txBody>
      </p:sp>
    </p:spTree>
    <p:extLst>
      <p:ext uri="{BB962C8B-B14F-4D97-AF65-F5344CB8AC3E}">
        <p14:creationId xmlns:p14="http://schemas.microsoft.com/office/powerpoint/2010/main" val="4157179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3/29/2026</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‹Nº›</a:t>
            </a:fld>
            <a:endParaRPr lang="en-US"/>
          </a:p>
        </p:txBody>
      </p:sp>
    </p:spTree>
    <p:extLst>
      <p:ext uri="{BB962C8B-B14F-4D97-AF65-F5344CB8AC3E}">
        <p14:creationId xmlns:p14="http://schemas.microsoft.com/office/powerpoint/2010/main" val="94773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3/29/2026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‹Nº›</a:t>
            </a:fld>
            <a:endParaRPr lang="en-US"/>
          </a:p>
        </p:txBody>
      </p:sp>
    </p:spTree>
    <p:extLst>
      <p:ext uri="{BB962C8B-B14F-4D97-AF65-F5344CB8AC3E}">
        <p14:creationId xmlns:p14="http://schemas.microsoft.com/office/powerpoint/2010/main" val="488774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3/29/2026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‹Nº›</a:t>
            </a:fld>
            <a:endParaRPr lang="en-US"/>
          </a:p>
        </p:txBody>
      </p:sp>
    </p:spTree>
    <p:extLst>
      <p:ext uri="{BB962C8B-B14F-4D97-AF65-F5344CB8AC3E}">
        <p14:creationId xmlns:p14="http://schemas.microsoft.com/office/powerpoint/2010/main" val="2704571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3/29/2026</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‹Nº›</a:t>
            </a:fld>
            <a:endParaRPr lang="en-US"/>
          </a:p>
        </p:txBody>
      </p:sp>
    </p:spTree>
    <p:extLst>
      <p:ext uri="{BB962C8B-B14F-4D97-AF65-F5344CB8AC3E}">
        <p14:creationId xmlns:p14="http://schemas.microsoft.com/office/powerpoint/2010/main" val="1488089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3/29/2026</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‹Nº›</a:t>
            </a:fld>
            <a:endParaRPr lang="en-US"/>
          </a:p>
        </p:txBody>
      </p:sp>
    </p:spTree>
    <p:extLst>
      <p:ext uri="{BB962C8B-B14F-4D97-AF65-F5344CB8AC3E}">
        <p14:creationId xmlns:p14="http://schemas.microsoft.com/office/powerpoint/2010/main" val="1276008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3/29/2026</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‹Nº›</a:t>
            </a:fld>
            <a:endParaRPr lang="en-US"/>
          </a:p>
        </p:txBody>
      </p:sp>
    </p:spTree>
    <p:extLst>
      <p:ext uri="{BB962C8B-B14F-4D97-AF65-F5344CB8AC3E}">
        <p14:creationId xmlns:p14="http://schemas.microsoft.com/office/powerpoint/2010/main" val="33118212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3/29/2026</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‹Nº›</a:t>
            </a:fld>
            <a:endParaRPr lang="en-US"/>
          </a:p>
        </p:txBody>
      </p:sp>
    </p:spTree>
    <p:extLst>
      <p:ext uri="{BB962C8B-B14F-4D97-AF65-F5344CB8AC3E}">
        <p14:creationId xmlns:p14="http://schemas.microsoft.com/office/powerpoint/2010/main" val="15708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3/29/2026</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‹Nº›</a:t>
            </a:fld>
            <a:endParaRPr lang="en-US"/>
          </a:p>
        </p:txBody>
      </p:sp>
    </p:spTree>
    <p:extLst>
      <p:ext uri="{BB962C8B-B14F-4D97-AF65-F5344CB8AC3E}">
        <p14:creationId xmlns:p14="http://schemas.microsoft.com/office/powerpoint/2010/main" val="2161004355"/>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54" r:id="rId6"/>
    <p:sldLayoutId id="2147483749" r:id="rId7"/>
    <p:sldLayoutId id="2147483750" r:id="rId8"/>
    <p:sldLayoutId id="2147483751" r:id="rId9"/>
    <p:sldLayoutId id="2147483752" r:id="rId10"/>
    <p:sldLayoutId id="2147483753" r:id="rId11"/>
    <p:sldLayoutId id="2147483755" r:id="rId12"/>
  </p:sldLayoutIdLst>
  <p:txStyles>
    <p:title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4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5DA1D8-E874-4205-B6D5-557E0C072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FA5F32A-2BEF-50FC-2A82-C1877AE2E50E}"/>
              </a:ext>
            </a:extLst>
          </p:cNvPr>
          <p:cNvPicPr>
            <a:picLocks noChangeAspect="1"/>
          </p:cNvPicPr>
          <p:nvPr/>
        </p:nvPicPr>
        <p:blipFill>
          <a:blip r:embed="rId2"/>
          <a:srcRect t="20495"/>
          <a:stretch>
            <a:fillRect/>
          </a:stretch>
        </p:blipFill>
        <p:spPr>
          <a:xfrm>
            <a:off x="20" y="10"/>
            <a:ext cx="12191980" cy="6857990"/>
          </a:xfrm>
          <a:custGeom>
            <a:avLst/>
            <a:gdLst/>
            <a:ahLst/>
            <a:cxnLst/>
            <a:rect l="l" t="t" r="r" b="b"/>
            <a:pathLst>
              <a:path w="12192000" h="6858000">
                <a:moveTo>
                  <a:pt x="5712609" y="3740816"/>
                </a:moveTo>
                <a:cubicBezTo>
                  <a:pt x="5738974" y="3758821"/>
                  <a:pt x="5765337" y="3776826"/>
                  <a:pt x="5791702" y="3794831"/>
                </a:cubicBezTo>
                <a:cubicBezTo>
                  <a:pt x="5776911" y="3790330"/>
                  <a:pt x="5760836" y="3785829"/>
                  <a:pt x="5745403" y="3781327"/>
                </a:cubicBezTo>
                <a:cubicBezTo>
                  <a:pt x="5732542" y="3770394"/>
                  <a:pt x="5719038" y="3760108"/>
                  <a:pt x="5706178" y="3748531"/>
                </a:cubicBezTo>
                <a:cubicBezTo>
                  <a:pt x="5708106" y="3745959"/>
                  <a:pt x="5710678" y="3743389"/>
                  <a:pt x="5712609" y="3740816"/>
                </a:cubicBezTo>
                <a:close/>
                <a:moveTo>
                  <a:pt x="6185882" y="2838635"/>
                </a:moveTo>
                <a:cubicBezTo>
                  <a:pt x="6344070" y="2946665"/>
                  <a:pt x="6502257" y="3055338"/>
                  <a:pt x="6660444" y="3163369"/>
                </a:cubicBezTo>
                <a:cubicBezTo>
                  <a:pt x="6657871" y="3165941"/>
                  <a:pt x="6655942" y="3168513"/>
                  <a:pt x="6653370" y="3171086"/>
                </a:cubicBezTo>
                <a:cubicBezTo>
                  <a:pt x="6479751" y="3079774"/>
                  <a:pt x="6315776" y="2978175"/>
                  <a:pt x="6185882" y="2838635"/>
                </a:cubicBezTo>
                <a:close/>
                <a:moveTo>
                  <a:pt x="0" y="0"/>
                </a:moveTo>
                <a:lnTo>
                  <a:pt x="12192000" y="0"/>
                </a:lnTo>
                <a:lnTo>
                  <a:pt x="12192000" y="3164490"/>
                </a:lnTo>
                <a:lnTo>
                  <a:pt x="11988395" y="3196744"/>
                </a:lnTo>
                <a:cubicBezTo>
                  <a:pt x="11473771" y="3266864"/>
                  <a:pt x="10861963" y="3302908"/>
                  <a:pt x="10185568" y="3253395"/>
                </a:cubicBezTo>
                <a:cubicBezTo>
                  <a:pt x="10116120" y="3248250"/>
                  <a:pt x="10050531" y="3245034"/>
                  <a:pt x="9983655" y="3242463"/>
                </a:cubicBezTo>
                <a:cubicBezTo>
                  <a:pt x="9392061" y="3216097"/>
                  <a:pt x="8811401" y="3203236"/>
                  <a:pt x="8566404" y="3171728"/>
                </a:cubicBezTo>
                <a:cubicBezTo>
                  <a:pt x="8374779" y="3146650"/>
                  <a:pt x="7394792" y="2934448"/>
                  <a:pt x="7107354" y="2755040"/>
                </a:cubicBezTo>
                <a:cubicBezTo>
                  <a:pt x="6813486" y="2571132"/>
                  <a:pt x="6536339" y="2367932"/>
                  <a:pt x="6260475" y="2164090"/>
                </a:cubicBezTo>
                <a:cubicBezTo>
                  <a:pt x="6140870" y="2075993"/>
                  <a:pt x="6013549" y="1995614"/>
                  <a:pt x="5905518" y="1894658"/>
                </a:cubicBezTo>
                <a:cubicBezTo>
                  <a:pt x="5797490" y="1793059"/>
                  <a:pt x="5694605" y="1687600"/>
                  <a:pt x="5577572" y="1593717"/>
                </a:cubicBezTo>
                <a:cubicBezTo>
                  <a:pt x="5544133" y="1566709"/>
                  <a:pt x="5510696" y="1537773"/>
                  <a:pt x="5461824" y="1533271"/>
                </a:cubicBezTo>
                <a:cubicBezTo>
                  <a:pt x="5450893" y="1531985"/>
                  <a:pt x="5439318" y="1532628"/>
                  <a:pt x="5428386" y="1533913"/>
                </a:cubicBezTo>
                <a:cubicBezTo>
                  <a:pt x="5416169" y="1535200"/>
                  <a:pt x="5406523" y="1541630"/>
                  <a:pt x="5402021" y="1552562"/>
                </a:cubicBezTo>
                <a:cubicBezTo>
                  <a:pt x="5397521" y="1564781"/>
                  <a:pt x="5405238" y="1571853"/>
                  <a:pt x="5414239" y="1578283"/>
                </a:cubicBezTo>
                <a:cubicBezTo>
                  <a:pt x="5420670" y="1582785"/>
                  <a:pt x="5427099" y="1589859"/>
                  <a:pt x="5435459" y="1591144"/>
                </a:cubicBezTo>
                <a:cubicBezTo>
                  <a:pt x="5488833" y="1598861"/>
                  <a:pt x="5508766" y="1638086"/>
                  <a:pt x="5533844" y="1672809"/>
                </a:cubicBezTo>
                <a:cubicBezTo>
                  <a:pt x="5544776" y="1687600"/>
                  <a:pt x="5556350" y="1699175"/>
                  <a:pt x="5536417" y="1720394"/>
                </a:cubicBezTo>
                <a:cubicBezTo>
                  <a:pt x="5519055" y="1739042"/>
                  <a:pt x="5537059" y="1748689"/>
                  <a:pt x="5555063" y="1753834"/>
                </a:cubicBezTo>
                <a:cubicBezTo>
                  <a:pt x="5580142" y="1760906"/>
                  <a:pt x="5609722" y="1759621"/>
                  <a:pt x="5638015" y="1782770"/>
                </a:cubicBezTo>
                <a:cubicBezTo>
                  <a:pt x="5531915" y="1784699"/>
                  <a:pt x="5486902" y="1723611"/>
                  <a:pt x="5438676" y="1667022"/>
                </a:cubicBezTo>
                <a:cubicBezTo>
                  <a:pt x="5420670" y="1646446"/>
                  <a:pt x="5408453" y="1622010"/>
                  <a:pt x="5393019" y="1598861"/>
                </a:cubicBezTo>
                <a:cubicBezTo>
                  <a:pt x="5373728" y="1570568"/>
                  <a:pt x="5351221" y="1569281"/>
                  <a:pt x="5322928" y="1594359"/>
                </a:cubicBezTo>
                <a:cubicBezTo>
                  <a:pt x="5297850" y="1616865"/>
                  <a:pt x="5285633" y="1614937"/>
                  <a:pt x="5277274" y="1584070"/>
                </a:cubicBezTo>
                <a:cubicBezTo>
                  <a:pt x="5264412" y="1535843"/>
                  <a:pt x="5234831" y="1501763"/>
                  <a:pt x="5184674" y="1484401"/>
                </a:cubicBezTo>
                <a:cubicBezTo>
                  <a:pt x="5179209" y="1482471"/>
                  <a:pt x="5173101" y="1479417"/>
                  <a:pt x="5167072" y="1478372"/>
                </a:cubicBezTo>
                <a:cubicBezTo>
                  <a:pt x="5161044" y="1477327"/>
                  <a:pt x="5155097" y="1478292"/>
                  <a:pt x="5149951" y="1484401"/>
                </a:cubicBezTo>
                <a:cubicBezTo>
                  <a:pt x="5140950" y="1494688"/>
                  <a:pt x="5148664" y="1506907"/>
                  <a:pt x="5155097" y="1515909"/>
                </a:cubicBezTo>
                <a:cubicBezTo>
                  <a:pt x="5166670" y="1531985"/>
                  <a:pt x="5176959" y="1547417"/>
                  <a:pt x="5181461" y="1566709"/>
                </a:cubicBezTo>
                <a:cubicBezTo>
                  <a:pt x="5184674" y="1579570"/>
                  <a:pt x="5187891" y="1593717"/>
                  <a:pt x="5178887" y="1603361"/>
                </a:cubicBezTo>
                <a:cubicBezTo>
                  <a:pt x="5141592" y="1644516"/>
                  <a:pt x="5168600" y="1663807"/>
                  <a:pt x="5200752" y="1685671"/>
                </a:cubicBezTo>
                <a:cubicBezTo>
                  <a:pt x="5245120" y="1715251"/>
                  <a:pt x="5262482" y="1758976"/>
                  <a:pt x="5252195" y="1811063"/>
                </a:cubicBezTo>
                <a:cubicBezTo>
                  <a:pt x="5248335" y="1832284"/>
                  <a:pt x="5250909" y="1845143"/>
                  <a:pt x="5277274" y="1844501"/>
                </a:cubicBezTo>
                <a:cubicBezTo>
                  <a:pt x="5287560" y="1844501"/>
                  <a:pt x="5290133" y="1851575"/>
                  <a:pt x="5293993" y="1859290"/>
                </a:cubicBezTo>
                <a:cubicBezTo>
                  <a:pt x="5376299" y="2041270"/>
                  <a:pt x="5495262" y="2200743"/>
                  <a:pt x="5634802" y="2347356"/>
                </a:cubicBezTo>
                <a:cubicBezTo>
                  <a:pt x="5747976" y="2466318"/>
                  <a:pt x="5872725" y="2573704"/>
                  <a:pt x="6001975" y="2677877"/>
                </a:cubicBezTo>
                <a:cubicBezTo>
                  <a:pt x="6005832" y="2681092"/>
                  <a:pt x="6009691" y="2684949"/>
                  <a:pt x="6011621" y="2691379"/>
                </a:cubicBezTo>
                <a:cubicBezTo>
                  <a:pt x="5950533" y="2678520"/>
                  <a:pt x="5897804" y="2652154"/>
                  <a:pt x="5847002" y="2622575"/>
                </a:cubicBezTo>
                <a:cubicBezTo>
                  <a:pt x="5711965" y="2544125"/>
                  <a:pt x="5598147" y="2442525"/>
                  <a:pt x="5483045" y="2342854"/>
                </a:cubicBezTo>
                <a:cubicBezTo>
                  <a:pt x="5412953" y="2281765"/>
                  <a:pt x="5340933" y="2222606"/>
                  <a:pt x="5263769" y="2168592"/>
                </a:cubicBezTo>
                <a:cubicBezTo>
                  <a:pt x="5250909" y="2159588"/>
                  <a:pt x="5241905" y="2148014"/>
                  <a:pt x="5232904" y="2136439"/>
                </a:cubicBezTo>
                <a:cubicBezTo>
                  <a:pt x="5227759" y="2130010"/>
                  <a:pt x="5221329" y="2124222"/>
                  <a:pt x="5211040" y="2126795"/>
                </a:cubicBezTo>
                <a:cubicBezTo>
                  <a:pt x="5198180" y="2130010"/>
                  <a:pt x="5196893" y="2139654"/>
                  <a:pt x="5195606" y="2149301"/>
                </a:cubicBezTo>
                <a:cubicBezTo>
                  <a:pt x="5191749" y="2180166"/>
                  <a:pt x="5200108" y="2207817"/>
                  <a:pt x="5216185" y="2234181"/>
                </a:cubicBezTo>
                <a:cubicBezTo>
                  <a:pt x="5257983" y="2301699"/>
                  <a:pt x="5319713" y="2353786"/>
                  <a:pt x="5383373" y="2403300"/>
                </a:cubicBezTo>
                <a:cubicBezTo>
                  <a:pt x="5465682" y="2466961"/>
                  <a:pt x="5545418" y="2533193"/>
                  <a:pt x="5618083" y="2605857"/>
                </a:cubicBezTo>
                <a:cubicBezTo>
                  <a:pt x="5623226" y="2611001"/>
                  <a:pt x="5632871" y="2614216"/>
                  <a:pt x="5629656" y="2629005"/>
                </a:cubicBezTo>
                <a:cubicBezTo>
                  <a:pt x="5584001" y="2594925"/>
                  <a:pt x="5540917" y="2561487"/>
                  <a:pt x="5497192" y="2529334"/>
                </a:cubicBezTo>
                <a:cubicBezTo>
                  <a:pt x="5454108" y="2497183"/>
                  <a:pt x="5410380" y="2465031"/>
                  <a:pt x="5367298" y="2433523"/>
                </a:cubicBezTo>
                <a:cubicBezTo>
                  <a:pt x="5357008" y="2425806"/>
                  <a:pt x="5346076" y="2414874"/>
                  <a:pt x="5331288" y="2424520"/>
                </a:cubicBezTo>
                <a:cubicBezTo>
                  <a:pt x="5315856" y="2434165"/>
                  <a:pt x="5317785" y="2450242"/>
                  <a:pt x="5321643" y="2463101"/>
                </a:cubicBezTo>
                <a:cubicBezTo>
                  <a:pt x="5333859" y="2501041"/>
                  <a:pt x="5355081" y="2534479"/>
                  <a:pt x="5383373" y="2564059"/>
                </a:cubicBezTo>
                <a:cubicBezTo>
                  <a:pt x="5479829" y="2661801"/>
                  <a:pt x="5591073" y="2746038"/>
                  <a:pt x="5694605" y="2837349"/>
                </a:cubicBezTo>
                <a:cubicBezTo>
                  <a:pt x="5750548" y="2886864"/>
                  <a:pt x="5801990" y="2939593"/>
                  <a:pt x="5850861" y="2994249"/>
                </a:cubicBezTo>
                <a:cubicBezTo>
                  <a:pt x="5861793" y="3006469"/>
                  <a:pt x="5861149" y="3018043"/>
                  <a:pt x="5857934" y="3032189"/>
                </a:cubicBezTo>
                <a:cubicBezTo>
                  <a:pt x="5845076" y="3089421"/>
                  <a:pt x="5865008" y="3108711"/>
                  <a:pt x="5929311" y="3097780"/>
                </a:cubicBezTo>
                <a:cubicBezTo>
                  <a:pt x="5949246" y="3094563"/>
                  <a:pt x="5962750" y="3097780"/>
                  <a:pt x="5974966" y="3111282"/>
                </a:cubicBezTo>
                <a:cubicBezTo>
                  <a:pt x="6122866" y="3278472"/>
                  <a:pt x="6297771" y="3419297"/>
                  <a:pt x="6488753" y="3544689"/>
                </a:cubicBezTo>
                <a:cubicBezTo>
                  <a:pt x="6566560" y="3595488"/>
                  <a:pt x="6646940" y="3643718"/>
                  <a:pt x="6728605" y="3688730"/>
                </a:cubicBezTo>
                <a:cubicBezTo>
                  <a:pt x="6728605" y="3691945"/>
                  <a:pt x="6728605" y="3695804"/>
                  <a:pt x="6728605" y="3699019"/>
                </a:cubicBezTo>
                <a:cubicBezTo>
                  <a:pt x="6727962" y="3703519"/>
                  <a:pt x="6727320" y="3706091"/>
                  <a:pt x="6726677" y="3709950"/>
                </a:cubicBezTo>
                <a:cubicBezTo>
                  <a:pt x="6611573" y="3640502"/>
                  <a:pt x="6497754" y="3569125"/>
                  <a:pt x="6386510" y="3493890"/>
                </a:cubicBezTo>
                <a:cubicBezTo>
                  <a:pt x="6084927" y="3290048"/>
                  <a:pt x="5796845" y="3071415"/>
                  <a:pt x="5504264" y="2857926"/>
                </a:cubicBezTo>
                <a:cubicBezTo>
                  <a:pt x="5405879" y="2785906"/>
                  <a:pt x="5328073" y="2693952"/>
                  <a:pt x="5239333" y="2612929"/>
                </a:cubicBezTo>
                <a:cubicBezTo>
                  <a:pt x="5180174" y="2558915"/>
                  <a:pt x="5123586" y="2502328"/>
                  <a:pt x="5054783" y="2457958"/>
                </a:cubicBezTo>
                <a:cubicBezTo>
                  <a:pt x="5026489" y="2439952"/>
                  <a:pt x="4996909" y="2423876"/>
                  <a:pt x="4958969" y="2428378"/>
                </a:cubicBezTo>
                <a:cubicBezTo>
                  <a:pt x="4944180" y="2430308"/>
                  <a:pt x="4927460" y="2434165"/>
                  <a:pt x="4922316" y="2450884"/>
                </a:cubicBezTo>
                <a:cubicBezTo>
                  <a:pt x="4917814" y="2467603"/>
                  <a:pt x="4931318" y="2475320"/>
                  <a:pt x="4943538" y="2482393"/>
                </a:cubicBezTo>
                <a:cubicBezTo>
                  <a:pt x="4946752" y="2484322"/>
                  <a:pt x="4949967" y="2486895"/>
                  <a:pt x="4953183" y="2486895"/>
                </a:cubicBezTo>
                <a:cubicBezTo>
                  <a:pt x="5014271" y="2490752"/>
                  <a:pt x="5028418" y="2539623"/>
                  <a:pt x="5057355" y="2574991"/>
                </a:cubicBezTo>
                <a:cubicBezTo>
                  <a:pt x="5066357" y="2585923"/>
                  <a:pt x="5066999" y="2596854"/>
                  <a:pt x="5057355" y="2609714"/>
                </a:cubicBezTo>
                <a:cubicBezTo>
                  <a:pt x="5039991" y="2632863"/>
                  <a:pt x="5052210" y="2643152"/>
                  <a:pt x="5075359" y="2649582"/>
                </a:cubicBezTo>
                <a:cubicBezTo>
                  <a:pt x="5098507" y="2656013"/>
                  <a:pt x="5123586" y="2657941"/>
                  <a:pt x="5148664" y="2672732"/>
                </a:cubicBezTo>
                <a:cubicBezTo>
                  <a:pt x="5108797" y="2684949"/>
                  <a:pt x="5081147" y="2672090"/>
                  <a:pt x="5055425" y="2656013"/>
                </a:cubicBezTo>
                <a:cubicBezTo>
                  <a:pt x="4997552" y="2620646"/>
                  <a:pt x="4960257" y="2568559"/>
                  <a:pt x="4924888" y="2515188"/>
                </a:cubicBezTo>
                <a:cubicBezTo>
                  <a:pt x="4917814" y="2504899"/>
                  <a:pt x="4912027" y="2493324"/>
                  <a:pt x="4902382" y="2484965"/>
                </a:cubicBezTo>
                <a:cubicBezTo>
                  <a:pt x="4884376" y="2468246"/>
                  <a:pt x="4865085" y="2466318"/>
                  <a:pt x="4843224" y="2486895"/>
                </a:cubicBezTo>
                <a:cubicBezTo>
                  <a:pt x="4814285" y="2513902"/>
                  <a:pt x="4803998" y="2511973"/>
                  <a:pt x="4794352" y="2477250"/>
                </a:cubicBezTo>
                <a:cubicBezTo>
                  <a:pt x="4781490" y="2430308"/>
                  <a:pt x="4752554" y="2397512"/>
                  <a:pt x="4703040" y="2380151"/>
                </a:cubicBezTo>
                <a:cubicBezTo>
                  <a:pt x="4692753" y="2376292"/>
                  <a:pt x="4681821" y="2371147"/>
                  <a:pt x="4670890" y="2379507"/>
                </a:cubicBezTo>
                <a:cubicBezTo>
                  <a:pt x="4659315" y="2389153"/>
                  <a:pt x="4667030" y="2398798"/>
                  <a:pt x="4671532" y="2407802"/>
                </a:cubicBezTo>
                <a:cubicBezTo>
                  <a:pt x="4677962" y="2421948"/>
                  <a:pt x="4685679" y="2436095"/>
                  <a:pt x="4691466" y="2450884"/>
                </a:cubicBezTo>
                <a:cubicBezTo>
                  <a:pt x="4701755" y="2474677"/>
                  <a:pt x="4703685" y="2499756"/>
                  <a:pt x="4684393" y="2522904"/>
                </a:cubicBezTo>
                <a:cubicBezTo>
                  <a:pt x="4670245" y="2539623"/>
                  <a:pt x="4671532" y="2550555"/>
                  <a:pt x="4690181" y="2562130"/>
                </a:cubicBezTo>
                <a:cubicBezTo>
                  <a:pt x="4749983" y="2598140"/>
                  <a:pt x="4787922" y="2645081"/>
                  <a:pt x="4767344" y="2718387"/>
                </a:cubicBezTo>
                <a:cubicBezTo>
                  <a:pt x="4764130" y="2728676"/>
                  <a:pt x="4767988" y="2738965"/>
                  <a:pt x="4780205" y="2738321"/>
                </a:cubicBezTo>
                <a:cubicBezTo>
                  <a:pt x="4807214" y="2736393"/>
                  <a:pt x="4811713" y="2753112"/>
                  <a:pt x="4819430" y="2770474"/>
                </a:cubicBezTo>
                <a:cubicBezTo>
                  <a:pt x="4894666" y="2937020"/>
                  <a:pt x="5003339" y="3082346"/>
                  <a:pt x="5128730" y="3218670"/>
                </a:cubicBezTo>
                <a:cubicBezTo>
                  <a:pt x="5252837" y="3353709"/>
                  <a:pt x="5392376" y="3474599"/>
                  <a:pt x="5540917" y="3590345"/>
                </a:cubicBezTo>
                <a:cubicBezTo>
                  <a:pt x="5499119" y="3586487"/>
                  <a:pt x="5445104" y="3562695"/>
                  <a:pt x="5393019" y="3535044"/>
                </a:cubicBezTo>
                <a:cubicBezTo>
                  <a:pt x="5255410" y="3461095"/>
                  <a:pt x="5142235" y="3360781"/>
                  <a:pt x="5027131" y="3262397"/>
                </a:cubicBezTo>
                <a:cubicBezTo>
                  <a:pt x="4946752" y="3193592"/>
                  <a:pt x="4868302" y="3122858"/>
                  <a:pt x="4778275" y="3063697"/>
                </a:cubicBezTo>
                <a:cubicBezTo>
                  <a:pt x="4767988" y="3057268"/>
                  <a:pt x="4760914" y="3048908"/>
                  <a:pt x="4755127" y="3038619"/>
                </a:cubicBezTo>
                <a:cubicBezTo>
                  <a:pt x="4749983" y="3029617"/>
                  <a:pt x="4742265" y="3021258"/>
                  <a:pt x="4728763" y="3025115"/>
                </a:cubicBezTo>
                <a:cubicBezTo>
                  <a:pt x="4715259" y="3029617"/>
                  <a:pt x="4713973" y="3041192"/>
                  <a:pt x="4713973" y="3051481"/>
                </a:cubicBezTo>
                <a:cubicBezTo>
                  <a:pt x="4715902" y="3090063"/>
                  <a:pt x="4726833" y="3124786"/>
                  <a:pt x="4750625" y="3155652"/>
                </a:cubicBezTo>
                <a:cubicBezTo>
                  <a:pt x="4796924" y="3217385"/>
                  <a:pt x="4858656" y="3265612"/>
                  <a:pt x="4920386" y="3313839"/>
                </a:cubicBezTo>
                <a:cubicBezTo>
                  <a:pt x="5005911" y="3380072"/>
                  <a:pt x="5085005" y="3452092"/>
                  <a:pt x="5156382" y="3532472"/>
                </a:cubicBezTo>
                <a:cubicBezTo>
                  <a:pt x="5104940" y="3493247"/>
                  <a:pt x="5053495" y="3453378"/>
                  <a:pt x="5001409" y="3414153"/>
                </a:cubicBezTo>
                <a:cubicBezTo>
                  <a:pt x="4962184" y="3384574"/>
                  <a:pt x="4921673" y="3356279"/>
                  <a:pt x="4881806" y="3327343"/>
                </a:cubicBezTo>
                <a:cubicBezTo>
                  <a:pt x="4872159" y="3320270"/>
                  <a:pt x="4861870" y="3312554"/>
                  <a:pt x="4848368" y="3322198"/>
                </a:cubicBezTo>
                <a:cubicBezTo>
                  <a:pt x="4836149" y="3330558"/>
                  <a:pt x="4838079" y="3342777"/>
                  <a:pt x="4840652" y="3354351"/>
                </a:cubicBezTo>
                <a:cubicBezTo>
                  <a:pt x="4850297" y="3400006"/>
                  <a:pt x="4877304" y="3436659"/>
                  <a:pt x="4910742" y="3469454"/>
                </a:cubicBezTo>
                <a:cubicBezTo>
                  <a:pt x="4951252" y="3508679"/>
                  <a:pt x="4993695" y="3545976"/>
                  <a:pt x="5037419" y="3583272"/>
                </a:cubicBezTo>
                <a:cubicBezTo>
                  <a:pt x="4990479" y="3572983"/>
                  <a:pt x="4943538" y="3562695"/>
                  <a:pt x="4896595" y="3554336"/>
                </a:cubicBezTo>
                <a:cubicBezTo>
                  <a:pt x="4917814" y="3628927"/>
                  <a:pt x="4967328" y="3643718"/>
                  <a:pt x="5011699" y="3655292"/>
                </a:cubicBezTo>
                <a:cubicBezTo>
                  <a:pt x="5071502" y="3670081"/>
                  <a:pt x="5128730" y="3688730"/>
                  <a:pt x="5185319" y="3709950"/>
                </a:cubicBezTo>
                <a:cubicBezTo>
                  <a:pt x="5209111" y="3731170"/>
                  <a:pt x="5232904" y="3751748"/>
                  <a:pt x="5256052" y="3773610"/>
                </a:cubicBezTo>
                <a:cubicBezTo>
                  <a:pt x="5279845" y="3796118"/>
                  <a:pt x="5302352" y="3818624"/>
                  <a:pt x="5324859" y="3842415"/>
                </a:cubicBezTo>
                <a:cubicBezTo>
                  <a:pt x="5340933" y="3859776"/>
                  <a:pt x="5360224" y="3874568"/>
                  <a:pt x="5341576" y="3904146"/>
                </a:cubicBezTo>
                <a:cubicBezTo>
                  <a:pt x="5333217" y="3917650"/>
                  <a:pt x="5387873" y="3990958"/>
                  <a:pt x="5405238" y="3995458"/>
                </a:cubicBezTo>
                <a:cubicBezTo>
                  <a:pt x="5407809" y="3996100"/>
                  <a:pt x="5410380" y="3996745"/>
                  <a:pt x="5412310" y="3996745"/>
                </a:cubicBezTo>
                <a:cubicBezTo>
                  <a:pt x="5449607" y="3994173"/>
                  <a:pt x="5457967" y="4016036"/>
                  <a:pt x="5458608" y="4043687"/>
                </a:cubicBezTo>
                <a:cubicBezTo>
                  <a:pt x="5459252" y="4070693"/>
                  <a:pt x="5452823" y="4104131"/>
                  <a:pt x="5503621" y="4090627"/>
                </a:cubicBezTo>
                <a:cubicBezTo>
                  <a:pt x="5509408" y="4089342"/>
                  <a:pt x="5510696" y="4093199"/>
                  <a:pt x="5513266" y="4097701"/>
                </a:cubicBezTo>
                <a:cubicBezTo>
                  <a:pt x="5568568" y="4212804"/>
                  <a:pt x="5661808" y="4301543"/>
                  <a:pt x="5753762" y="4390282"/>
                </a:cubicBezTo>
                <a:cubicBezTo>
                  <a:pt x="5758907" y="4394784"/>
                  <a:pt x="5764052" y="4399285"/>
                  <a:pt x="5769195" y="4403786"/>
                </a:cubicBezTo>
                <a:cubicBezTo>
                  <a:pt x="5672741" y="4381280"/>
                  <a:pt x="5354436" y="4352342"/>
                  <a:pt x="5261196" y="4361989"/>
                </a:cubicBezTo>
                <a:cubicBezTo>
                  <a:pt x="5178245" y="4370349"/>
                  <a:pt x="4709472" y="4230167"/>
                  <a:pt x="4612374" y="4147215"/>
                </a:cubicBezTo>
                <a:cubicBezTo>
                  <a:pt x="4598869" y="4212161"/>
                  <a:pt x="4627806" y="4237882"/>
                  <a:pt x="4650956" y="4267463"/>
                </a:cubicBezTo>
                <a:cubicBezTo>
                  <a:pt x="4683749" y="4309260"/>
                  <a:pt x="4688895" y="4338840"/>
                  <a:pt x="4627162" y="4372278"/>
                </a:cubicBezTo>
                <a:cubicBezTo>
                  <a:pt x="4450327" y="4467447"/>
                  <a:pt x="4452257" y="4470662"/>
                  <a:pt x="4618160" y="4599911"/>
                </a:cubicBezTo>
                <a:cubicBezTo>
                  <a:pt x="4625877" y="4605700"/>
                  <a:pt x="4622019" y="4624347"/>
                  <a:pt x="4623948" y="4637209"/>
                </a:cubicBezTo>
                <a:cubicBezTo>
                  <a:pt x="4580863" y="4656500"/>
                  <a:pt x="4530064" y="4606343"/>
                  <a:pt x="4478622" y="4660357"/>
                </a:cubicBezTo>
                <a:cubicBezTo>
                  <a:pt x="4700468" y="4897637"/>
                  <a:pt x="5038064" y="5123344"/>
                  <a:pt x="5344150" y="5301466"/>
                </a:cubicBezTo>
                <a:cubicBezTo>
                  <a:pt x="5096581" y="5359982"/>
                  <a:pt x="4948037" y="5154210"/>
                  <a:pt x="4766058" y="5180574"/>
                </a:cubicBezTo>
                <a:cubicBezTo>
                  <a:pt x="4675390" y="5244877"/>
                  <a:pt x="4945465" y="5349050"/>
                  <a:pt x="4687609" y="5379273"/>
                </a:cubicBezTo>
                <a:cubicBezTo>
                  <a:pt x="4799496" y="5435860"/>
                  <a:pt x="4882449" y="5491161"/>
                  <a:pt x="4959611" y="5556107"/>
                </a:cubicBezTo>
                <a:cubicBezTo>
                  <a:pt x="5096581" y="5672497"/>
                  <a:pt x="5123586" y="5749662"/>
                  <a:pt x="5060571" y="5905920"/>
                </a:cubicBezTo>
                <a:cubicBezTo>
                  <a:pt x="5018773" y="6008805"/>
                  <a:pt x="4958326" y="6103332"/>
                  <a:pt x="5011699" y="6226152"/>
                </a:cubicBezTo>
                <a:cubicBezTo>
                  <a:pt x="5048351" y="6310389"/>
                  <a:pt x="5034204" y="6365690"/>
                  <a:pt x="4895308" y="6327750"/>
                </a:cubicBezTo>
                <a:cubicBezTo>
                  <a:pt x="4745482" y="6287240"/>
                  <a:pt x="4688895" y="6363118"/>
                  <a:pt x="4726833" y="6510373"/>
                </a:cubicBezTo>
                <a:cubicBezTo>
                  <a:pt x="4751269" y="6604900"/>
                  <a:pt x="4725546" y="6634480"/>
                  <a:pt x="4622661" y="6623548"/>
                </a:cubicBezTo>
                <a:cubicBezTo>
                  <a:pt x="4508843" y="6611330"/>
                  <a:pt x="4400814" y="6549598"/>
                  <a:pt x="4259989" y="6579179"/>
                </a:cubicBezTo>
                <a:cubicBezTo>
                  <a:pt x="4358453" y="6729972"/>
                  <a:pt x="4554892" y="6711403"/>
                  <a:pt x="4690343" y="6814255"/>
                </a:cubicBezTo>
                <a:lnTo>
                  <a:pt x="4735334" y="6858000"/>
                </a:lnTo>
                <a:lnTo>
                  <a:pt x="4496011" y="6858000"/>
                </a:lnTo>
                <a:lnTo>
                  <a:pt x="4440632" y="6851514"/>
                </a:lnTo>
                <a:cubicBezTo>
                  <a:pt x="4410700" y="6846400"/>
                  <a:pt x="4381522" y="6839608"/>
                  <a:pt x="4352585" y="6830605"/>
                </a:cubicBezTo>
                <a:cubicBezTo>
                  <a:pt x="4304358" y="6815816"/>
                  <a:pt x="4251629" y="6801027"/>
                  <a:pt x="4224621" y="6850539"/>
                </a:cubicBezTo>
                <a:lnTo>
                  <a:pt x="4223115" y="6858000"/>
                </a:lnTo>
                <a:lnTo>
                  <a:pt x="0" y="6858000"/>
                </a:lnTo>
                <a:close/>
              </a:path>
            </a:pathLst>
          </a:custGeom>
        </p:spPr>
      </p:pic>
      <p:sp>
        <p:nvSpPr>
          <p:cNvPr id="2" name="Título 1">
            <a:extLst>
              <a:ext uri="{FF2B5EF4-FFF2-40B4-BE49-F238E27FC236}">
                <a16:creationId xmlns:a16="http://schemas.microsoft.com/office/drawing/2014/main" id="{EC9C5035-A55B-FB62-7DF8-D2AD400D9797}"/>
              </a:ext>
            </a:extLst>
          </p:cNvPr>
          <p:cNvSpPr>
            <a:spLocks noGrp="1"/>
          </p:cNvSpPr>
          <p:nvPr>
            <p:ph type="ctrTitle"/>
          </p:nvPr>
        </p:nvSpPr>
        <p:spPr>
          <a:xfrm>
            <a:off x="6095999" y="3834174"/>
            <a:ext cx="5257800" cy="1701570"/>
          </a:xfrm>
        </p:spPr>
        <p:txBody>
          <a:bodyPr anchor="b">
            <a:normAutofit/>
          </a:bodyPr>
          <a:lstStyle/>
          <a:p>
            <a:r>
              <a:rPr lang="en-US" sz="4400" dirty="0"/>
              <a:t>FRM-</a:t>
            </a:r>
            <a:r>
              <a:rPr lang="en-US" sz="4400" dirty="0" err="1"/>
              <a:t>Resumen</a:t>
            </a:r>
            <a:endParaRPr lang="es-PE" sz="4400" dirty="0"/>
          </a:p>
        </p:txBody>
      </p:sp>
      <p:sp>
        <p:nvSpPr>
          <p:cNvPr id="3" name="Subtítulo 2">
            <a:extLst>
              <a:ext uri="{FF2B5EF4-FFF2-40B4-BE49-F238E27FC236}">
                <a16:creationId xmlns:a16="http://schemas.microsoft.com/office/drawing/2014/main" id="{63664869-A8CB-0DE0-CED7-89223DFC84B4}"/>
              </a:ext>
            </a:extLst>
          </p:cNvPr>
          <p:cNvSpPr>
            <a:spLocks noGrp="1"/>
          </p:cNvSpPr>
          <p:nvPr>
            <p:ph type="subTitle" idx="1"/>
          </p:nvPr>
        </p:nvSpPr>
        <p:spPr>
          <a:xfrm>
            <a:off x="6096000" y="5592499"/>
            <a:ext cx="5147960" cy="646785"/>
          </a:xfrm>
        </p:spPr>
        <p:txBody>
          <a:bodyPr>
            <a:normAutofit/>
          </a:bodyPr>
          <a:lstStyle/>
          <a:p>
            <a:r>
              <a:rPr lang="en-US" sz="2000" dirty="0"/>
              <a:t>By: JARETH </a:t>
            </a:r>
            <a:r>
              <a:rPr lang="en-US" sz="2000" dirty="0" err="1"/>
              <a:t>oLAZABAL</a:t>
            </a:r>
            <a:endParaRPr lang="es-PE" sz="2000" dirty="0"/>
          </a:p>
        </p:txBody>
      </p:sp>
    </p:spTree>
    <p:extLst>
      <p:ext uri="{BB962C8B-B14F-4D97-AF65-F5344CB8AC3E}">
        <p14:creationId xmlns:p14="http://schemas.microsoft.com/office/powerpoint/2010/main" val="2324729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38510F-B1B8-BC4A-37D1-56766A0245A6}"/>
              </a:ext>
            </a:extLst>
          </p:cNvPr>
          <p:cNvSpPr>
            <a:spLocks noGrp="1"/>
          </p:cNvSpPr>
          <p:nvPr>
            <p:ph type="title"/>
          </p:nvPr>
        </p:nvSpPr>
        <p:spPr/>
        <p:txBody>
          <a:bodyPr/>
          <a:lstStyle/>
          <a:p>
            <a:r>
              <a:rPr lang="en-US" dirty="0"/>
              <a:t>Foundations of Risk Managers</a:t>
            </a:r>
            <a:endParaRPr lang="es-PE" dirty="0"/>
          </a:p>
        </p:txBody>
      </p:sp>
    </p:spTree>
    <p:extLst>
      <p:ext uri="{BB962C8B-B14F-4D97-AF65-F5344CB8AC3E}">
        <p14:creationId xmlns:p14="http://schemas.microsoft.com/office/powerpoint/2010/main" val="1952903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7A6C3E-71C7-A046-2031-D5445C7AB5E2}"/>
              </a:ext>
            </a:extLst>
          </p:cNvPr>
          <p:cNvSpPr>
            <a:spLocks noGrp="1"/>
          </p:cNvSpPr>
          <p:nvPr>
            <p:ph type="title"/>
          </p:nvPr>
        </p:nvSpPr>
        <p:spPr>
          <a:xfrm>
            <a:off x="168079" y="103202"/>
            <a:ext cx="10515600" cy="576571"/>
          </a:xfrm>
        </p:spPr>
        <p:txBody>
          <a:bodyPr>
            <a:normAutofit fontScale="90000"/>
          </a:bodyPr>
          <a:lstStyle/>
          <a:p>
            <a:r>
              <a:rPr lang="en-US" dirty="0"/>
              <a:t>Building blocks of Risk </a:t>
            </a:r>
            <a:r>
              <a:rPr lang="en-US" dirty="0" err="1"/>
              <a:t>Managment</a:t>
            </a:r>
            <a:endParaRPr lang="es-PE" dirty="0"/>
          </a:p>
        </p:txBody>
      </p:sp>
      <p:pic>
        <p:nvPicPr>
          <p:cNvPr id="5" name="Imagen 4">
            <a:extLst>
              <a:ext uri="{FF2B5EF4-FFF2-40B4-BE49-F238E27FC236}">
                <a16:creationId xmlns:a16="http://schemas.microsoft.com/office/drawing/2014/main" id="{8C359CDE-8AA8-67A8-6616-6F4558E8D1E2}"/>
              </a:ext>
            </a:extLst>
          </p:cNvPr>
          <p:cNvPicPr>
            <a:picLocks noChangeAspect="1"/>
          </p:cNvPicPr>
          <p:nvPr/>
        </p:nvPicPr>
        <p:blipFill>
          <a:blip r:embed="rId2"/>
          <a:stretch>
            <a:fillRect/>
          </a:stretch>
        </p:blipFill>
        <p:spPr>
          <a:xfrm>
            <a:off x="118589" y="892840"/>
            <a:ext cx="5927921" cy="3481369"/>
          </a:xfrm>
          <a:prstGeom prst="rect">
            <a:avLst/>
          </a:prstGeom>
        </p:spPr>
      </p:pic>
      <p:sp>
        <p:nvSpPr>
          <p:cNvPr id="7" name="CuadroTexto 6">
            <a:extLst>
              <a:ext uri="{FF2B5EF4-FFF2-40B4-BE49-F238E27FC236}">
                <a16:creationId xmlns:a16="http://schemas.microsoft.com/office/drawing/2014/main" id="{0A24EFA4-74CC-763D-FBB4-9A8D15FF41EC}"/>
              </a:ext>
            </a:extLst>
          </p:cNvPr>
          <p:cNvSpPr txBox="1"/>
          <p:nvPr/>
        </p:nvSpPr>
        <p:spPr>
          <a:xfrm>
            <a:off x="168079" y="595330"/>
            <a:ext cx="6097136" cy="369332"/>
          </a:xfrm>
          <a:prstGeom prst="rect">
            <a:avLst/>
          </a:prstGeom>
          <a:noFill/>
        </p:spPr>
        <p:txBody>
          <a:bodyPr wrap="square">
            <a:spAutoFit/>
          </a:bodyPr>
          <a:lstStyle/>
          <a:p>
            <a:r>
              <a:rPr lang="en-US" dirty="0"/>
              <a:t>TYPOLOGY OF RISKS AND RISK INTERACTIONS </a:t>
            </a:r>
            <a:endParaRPr lang="es-PE" dirty="0"/>
          </a:p>
        </p:txBody>
      </p:sp>
      <p:pic>
        <p:nvPicPr>
          <p:cNvPr id="9" name="Imagen 8">
            <a:extLst>
              <a:ext uri="{FF2B5EF4-FFF2-40B4-BE49-F238E27FC236}">
                <a16:creationId xmlns:a16="http://schemas.microsoft.com/office/drawing/2014/main" id="{E74BD2B8-B368-C85B-EF63-5E3E4A8ECED2}"/>
              </a:ext>
            </a:extLst>
          </p:cNvPr>
          <p:cNvPicPr>
            <a:picLocks noChangeAspect="1"/>
          </p:cNvPicPr>
          <p:nvPr/>
        </p:nvPicPr>
        <p:blipFill>
          <a:blip r:embed="rId3"/>
          <a:stretch>
            <a:fillRect/>
          </a:stretch>
        </p:blipFill>
        <p:spPr>
          <a:xfrm>
            <a:off x="0" y="5201089"/>
            <a:ext cx="2457733" cy="1626491"/>
          </a:xfrm>
          <a:prstGeom prst="rect">
            <a:avLst/>
          </a:prstGeom>
        </p:spPr>
      </p:pic>
      <p:sp>
        <p:nvSpPr>
          <p:cNvPr id="10" name="CuadroTexto 9">
            <a:extLst>
              <a:ext uri="{FF2B5EF4-FFF2-40B4-BE49-F238E27FC236}">
                <a16:creationId xmlns:a16="http://schemas.microsoft.com/office/drawing/2014/main" id="{F6414248-CC6B-4A9E-361B-BA80D2463C56}"/>
              </a:ext>
            </a:extLst>
          </p:cNvPr>
          <p:cNvSpPr txBox="1"/>
          <p:nvPr/>
        </p:nvSpPr>
        <p:spPr>
          <a:xfrm>
            <a:off x="-51362" y="4876715"/>
            <a:ext cx="6097136" cy="369332"/>
          </a:xfrm>
          <a:prstGeom prst="rect">
            <a:avLst/>
          </a:prstGeom>
          <a:noFill/>
        </p:spPr>
        <p:txBody>
          <a:bodyPr wrap="square">
            <a:spAutoFit/>
          </a:bodyPr>
          <a:lstStyle/>
          <a:p>
            <a:r>
              <a:rPr lang="es-PE" dirty="0"/>
              <a:t>THE RISK MANAGEMENT PROCESS</a:t>
            </a:r>
          </a:p>
        </p:txBody>
      </p:sp>
      <p:sp>
        <p:nvSpPr>
          <p:cNvPr id="12" name="Rectangle 2">
            <a:extLst>
              <a:ext uri="{FF2B5EF4-FFF2-40B4-BE49-F238E27FC236}">
                <a16:creationId xmlns:a16="http://schemas.microsoft.com/office/drawing/2014/main" id="{8A0B3D44-76B7-1A9C-0A7F-60A01A8E4AD9}"/>
              </a:ext>
            </a:extLst>
          </p:cNvPr>
          <p:cNvSpPr>
            <a:spLocks noChangeArrowheads="1"/>
          </p:cNvSpPr>
          <p:nvPr/>
        </p:nvSpPr>
        <p:spPr bwMode="auto">
          <a:xfrm>
            <a:off x="2384276" y="5270350"/>
            <a:ext cx="3704180"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PE" altLang="es-PE" sz="1100" b="1" i="0" u="none" strike="noStrike" cap="none" normalizeH="0" baseline="0" dirty="0" err="1">
                <a:ln>
                  <a:noFill/>
                </a:ln>
                <a:solidFill>
                  <a:schemeClr val="tx1"/>
                </a:solidFill>
                <a:effectLst/>
                <a:latin typeface="Arial" panose="020B0604020202020204" pitchFamily="34" charset="0"/>
              </a:rPr>
              <a:t>Avoid</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1" u="none" strike="noStrike" cap="none" normalizeH="0" baseline="0" dirty="0">
                <a:ln>
                  <a:noFill/>
                </a:ln>
                <a:solidFill>
                  <a:schemeClr val="tx1"/>
                </a:solidFill>
                <a:effectLst/>
                <a:latin typeface="Arial" panose="020B0604020202020204" pitchFamily="34" charset="0"/>
              </a:rPr>
              <a:t>Do </a:t>
            </a:r>
            <a:r>
              <a:rPr kumimoji="0" lang="es-PE" altLang="es-PE" sz="1100" b="0" i="1" u="none" strike="noStrike" cap="none" normalizeH="0" baseline="0" dirty="0" err="1">
                <a:ln>
                  <a:noFill/>
                </a:ln>
                <a:solidFill>
                  <a:schemeClr val="tx1"/>
                </a:solidFill>
                <a:effectLst/>
                <a:latin typeface="Arial" panose="020B0604020202020204" pitchFamily="34" charset="0"/>
              </a:rPr>
              <a:t>not</a:t>
            </a:r>
            <a:r>
              <a:rPr kumimoji="0" lang="es-PE" altLang="es-PE" sz="1100" b="0" i="1" u="none" strike="noStrike" cap="none" normalizeH="0" baseline="0" dirty="0">
                <a:ln>
                  <a:noFill/>
                </a:ln>
                <a:solidFill>
                  <a:schemeClr val="tx1"/>
                </a:solidFill>
                <a:effectLst/>
                <a:latin typeface="Arial" panose="020B0604020202020204" pitchFamily="34" charset="0"/>
              </a:rPr>
              <a:t> </a:t>
            </a:r>
            <a:r>
              <a:rPr kumimoji="0" lang="es-PE" altLang="es-PE" sz="1100" b="0" i="1" u="none" strike="noStrike" cap="none" normalizeH="0" baseline="0" dirty="0" err="1">
                <a:ln>
                  <a:noFill/>
                </a:ln>
                <a:solidFill>
                  <a:schemeClr val="tx1"/>
                </a:solidFill>
                <a:effectLst/>
                <a:latin typeface="Arial" panose="020B0604020202020204" pitchFamily="34" charset="0"/>
              </a:rPr>
              <a:t>take</a:t>
            </a:r>
            <a:r>
              <a:rPr kumimoji="0" lang="es-PE" altLang="es-PE" sz="1100" b="0" i="1" u="none" strike="noStrike" cap="none" normalizeH="0" baseline="0" dirty="0">
                <a:ln>
                  <a:noFill/>
                </a:ln>
                <a:solidFill>
                  <a:schemeClr val="tx1"/>
                </a:solidFill>
                <a:effectLst/>
                <a:latin typeface="Arial" panose="020B0604020202020204" pitchFamily="34" charset="0"/>
              </a:rPr>
              <a:t> </a:t>
            </a:r>
            <a:r>
              <a:rPr kumimoji="0" lang="es-PE" altLang="es-PE" sz="1100" b="0" i="1" u="none" strike="noStrike" cap="none" normalizeH="0" baseline="0" dirty="0" err="1">
                <a:ln>
                  <a:noFill/>
                </a:ln>
                <a:solidFill>
                  <a:schemeClr val="tx1"/>
                </a:solidFill>
                <a:effectLst/>
                <a:latin typeface="Arial" panose="020B0604020202020204" pitchFamily="34" charset="0"/>
              </a:rPr>
              <a:t>the</a:t>
            </a:r>
            <a:r>
              <a:rPr kumimoji="0" lang="es-PE" altLang="es-PE" sz="1100" b="0" i="1" u="none" strike="noStrike" cap="none" normalizeH="0" baseline="0" dirty="0">
                <a:ln>
                  <a:noFill/>
                </a:ln>
                <a:solidFill>
                  <a:schemeClr val="tx1"/>
                </a:solidFill>
                <a:effectLst/>
                <a:latin typeface="Arial" panose="020B0604020202020204" pitchFamily="34" charset="0"/>
              </a:rPr>
              <a:t> </a:t>
            </a:r>
            <a:r>
              <a:rPr kumimoji="0" lang="es-PE" altLang="es-PE" sz="1100" b="0" i="1" u="none" strike="noStrike" cap="none" normalizeH="0" baseline="0" dirty="0" err="1">
                <a:ln>
                  <a:noFill/>
                </a:ln>
                <a:solidFill>
                  <a:schemeClr val="tx1"/>
                </a:solidFill>
                <a:effectLst/>
                <a:latin typeface="Arial" panose="020B0604020202020204" pitchFamily="34" charset="0"/>
              </a:rPr>
              <a:t>risk</a:t>
            </a:r>
            <a:r>
              <a:rPr kumimoji="0" lang="es-PE" altLang="es-PE" sz="1100" b="0" i="0" u="none" strike="noStrike" cap="none" normalizeH="0" baseline="0" dirty="0">
                <a:ln>
                  <a:noFill/>
                </a:ln>
                <a:solidFill>
                  <a:schemeClr val="tx1"/>
                </a:solidFill>
                <a:effectLst/>
                <a:latin typeface="Arial" panose="020B0604020202020204" pitchFamily="34" charset="0"/>
              </a:rPr>
              <a:t> → </a:t>
            </a:r>
            <a:r>
              <a:rPr kumimoji="0" lang="es-PE" altLang="es-PE" sz="1100" b="0" i="0" u="none" strike="noStrike" cap="none" normalizeH="0" baseline="0" dirty="0" err="1">
                <a:ln>
                  <a:noFill/>
                </a:ln>
                <a:solidFill>
                  <a:schemeClr val="tx1"/>
                </a:solidFill>
                <a:effectLst/>
                <a:latin typeface="Arial" panose="020B0604020202020204" pitchFamily="34" charset="0"/>
              </a:rPr>
              <a:t>exit</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or</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avoid</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the</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activity</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entirely</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e.g</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don’t</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enter</a:t>
            </a:r>
            <a:r>
              <a:rPr kumimoji="0" lang="es-PE" altLang="es-PE" sz="1100" b="0" i="0" u="none" strike="noStrike" cap="none" normalizeH="0" baseline="0" dirty="0">
                <a:ln>
                  <a:noFill/>
                </a:ln>
                <a:solidFill>
                  <a:schemeClr val="tx1"/>
                </a:solidFill>
                <a:effectLst/>
                <a:latin typeface="Arial" panose="020B0604020202020204" pitchFamily="34" charset="0"/>
              </a:rPr>
              <a:t> a </a:t>
            </a:r>
            <a:r>
              <a:rPr kumimoji="0" lang="es-PE" altLang="es-PE" sz="1100" b="0" i="0" u="none" strike="noStrike" cap="none" normalizeH="0" baseline="0" dirty="0" err="1">
                <a:ln>
                  <a:noFill/>
                </a:ln>
                <a:solidFill>
                  <a:schemeClr val="tx1"/>
                </a:solidFill>
                <a:effectLst/>
                <a:latin typeface="Arial" panose="020B0604020202020204" pitchFamily="34" charset="0"/>
              </a:rPr>
              <a:t>risky</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market</a:t>
            </a:r>
            <a:r>
              <a:rPr kumimoji="0" lang="es-PE" altLang="es-PE" sz="1100" b="0" i="0" u="none" strike="noStrike" cap="none" normalizeH="0" baseline="0" dirty="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PE" altLang="es-PE" sz="1100" b="1" i="0" u="none" strike="noStrike" cap="none" normalizeH="0" baseline="0" dirty="0" err="1">
                <a:ln>
                  <a:noFill/>
                </a:ln>
                <a:solidFill>
                  <a:schemeClr val="tx1"/>
                </a:solidFill>
                <a:effectLst/>
                <a:latin typeface="Arial" panose="020B0604020202020204" pitchFamily="34" charset="0"/>
              </a:rPr>
              <a:t>Retain</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1" u="none" strike="noStrike" cap="none" normalizeH="0" baseline="0" dirty="0" err="1">
                <a:ln>
                  <a:noFill/>
                </a:ln>
                <a:solidFill>
                  <a:schemeClr val="tx1"/>
                </a:solidFill>
                <a:effectLst/>
                <a:latin typeface="Arial" panose="020B0604020202020204" pitchFamily="34" charset="0"/>
              </a:rPr>
              <a:t>Keep</a:t>
            </a:r>
            <a:r>
              <a:rPr kumimoji="0" lang="es-PE" altLang="es-PE" sz="1100" b="0" i="1" u="none" strike="noStrike" cap="none" normalizeH="0" baseline="0" dirty="0">
                <a:ln>
                  <a:noFill/>
                </a:ln>
                <a:solidFill>
                  <a:schemeClr val="tx1"/>
                </a:solidFill>
                <a:effectLst/>
                <a:latin typeface="Arial" panose="020B0604020202020204" pitchFamily="34" charset="0"/>
              </a:rPr>
              <a:t> (</a:t>
            </a:r>
            <a:r>
              <a:rPr kumimoji="0" lang="es-PE" altLang="es-PE" sz="1100" b="0" i="1" u="none" strike="noStrike" cap="none" normalizeH="0" baseline="0" dirty="0" err="1">
                <a:ln>
                  <a:noFill/>
                </a:ln>
                <a:solidFill>
                  <a:schemeClr val="tx1"/>
                </a:solidFill>
                <a:effectLst/>
                <a:latin typeface="Arial" panose="020B0604020202020204" pitchFamily="34" charset="0"/>
              </a:rPr>
              <a:t>all</a:t>
            </a:r>
            <a:r>
              <a:rPr kumimoji="0" lang="es-PE" altLang="es-PE" sz="1100" b="0" i="1" u="none" strike="noStrike" cap="none" normalizeH="0" baseline="0" dirty="0">
                <a:ln>
                  <a:noFill/>
                </a:ln>
                <a:solidFill>
                  <a:schemeClr val="tx1"/>
                </a:solidFill>
                <a:effectLst/>
                <a:latin typeface="Arial" panose="020B0604020202020204" pitchFamily="34" charset="0"/>
              </a:rPr>
              <a:t> </a:t>
            </a:r>
            <a:r>
              <a:rPr kumimoji="0" lang="es-PE" altLang="es-PE" sz="1100" b="0" i="1" u="none" strike="noStrike" cap="none" normalizeH="0" baseline="0" dirty="0" err="1">
                <a:ln>
                  <a:noFill/>
                </a:ln>
                <a:solidFill>
                  <a:schemeClr val="tx1"/>
                </a:solidFill>
                <a:effectLst/>
                <a:latin typeface="Arial" panose="020B0604020202020204" pitchFamily="34" charset="0"/>
              </a:rPr>
              <a:t>or</a:t>
            </a:r>
            <a:r>
              <a:rPr kumimoji="0" lang="es-PE" altLang="es-PE" sz="1100" b="0" i="1" u="none" strike="noStrike" cap="none" normalizeH="0" baseline="0" dirty="0">
                <a:ln>
                  <a:noFill/>
                </a:ln>
                <a:solidFill>
                  <a:schemeClr val="tx1"/>
                </a:solidFill>
                <a:effectLst/>
                <a:latin typeface="Arial" panose="020B0604020202020204" pitchFamily="34" charset="0"/>
              </a:rPr>
              <a:t> </a:t>
            </a:r>
            <a:r>
              <a:rPr kumimoji="0" lang="es-PE" altLang="es-PE" sz="1100" b="0" i="1" u="none" strike="noStrike" cap="none" normalizeH="0" baseline="0" dirty="0" err="1">
                <a:ln>
                  <a:noFill/>
                </a:ln>
                <a:solidFill>
                  <a:schemeClr val="tx1"/>
                </a:solidFill>
                <a:effectLst/>
                <a:latin typeface="Arial" panose="020B0604020202020204" pitchFamily="34" charset="0"/>
              </a:rPr>
              <a:t>part</a:t>
            </a:r>
            <a:r>
              <a:rPr kumimoji="0" lang="es-PE" altLang="es-PE" sz="1100" b="0" i="1" u="none" strike="noStrike" cap="none" normalizeH="0" baseline="0" dirty="0">
                <a:ln>
                  <a:noFill/>
                </a:ln>
                <a:solidFill>
                  <a:schemeClr val="tx1"/>
                </a:solidFill>
                <a:effectLst/>
                <a:latin typeface="Arial" panose="020B0604020202020204" pitchFamily="34" charset="0"/>
              </a:rPr>
              <a:t> </a:t>
            </a:r>
            <a:r>
              <a:rPr kumimoji="0" lang="es-PE" altLang="es-PE" sz="1100" b="0" i="1" u="none" strike="noStrike" cap="none" normalizeH="0" baseline="0" dirty="0" err="1">
                <a:ln>
                  <a:noFill/>
                </a:ln>
                <a:solidFill>
                  <a:schemeClr val="tx1"/>
                </a:solidFill>
                <a:effectLst/>
                <a:latin typeface="Arial" panose="020B0604020202020204" pitchFamily="34" charset="0"/>
              </a:rPr>
              <a:t>of</a:t>
            </a:r>
            <a:r>
              <a:rPr kumimoji="0" lang="es-PE" altLang="es-PE" sz="1100" b="0" i="1" u="none" strike="noStrike" cap="none" normalizeH="0" baseline="0" dirty="0">
                <a:ln>
                  <a:noFill/>
                </a:ln>
                <a:solidFill>
                  <a:schemeClr val="tx1"/>
                </a:solidFill>
                <a:effectLst/>
                <a:latin typeface="Arial" panose="020B0604020202020204" pitchFamily="34" charset="0"/>
              </a:rPr>
              <a:t>) </a:t>
            </a:r>
            <a:r>
              <a:rPr kumimoji="0" lang="es-PE" altLang="es-PE" sz="1100" b="0" i="1" u="none" strike="noStrike" cap="none" normalizeH="0" baseline="0" dirty="0" err="1">
                <a:ln>
                  <a:noFill/>
                </a:ln>
                <a:solidFill>
                  <a:schemeClr val="tx1"/>
                </a:solidFill>
                <a:effectLst/>
                <a:latin typeface="Arial" panose="020B0604020202020204" pitchFamily="34" charset="0"/>
              </a:rPr>
              <a:t>the</a:t>
            </a:r>
            <a:r>
              <a:rPr kumimoji="0" lang="es-PE" altLang="es-PE" sz="1100" b="0" i="1" u="none" strike="noStrike" cap="none" normalizeH="0" baseline="0" dirty="0">
                <a:ln>
                  <a:noFill/>
                </a:ln>
                <a:solidFill>
                  <a:schemeClr val="tx1"/>
                </a:solidFill>
                <a:effectLst/>
                <a:latin typeface="Arial" panose="020B0604020202020204" pitchFamily="34" charset="0"/>
              </a:rPr>
              <a:t> </a:t>
            </a:r>
            <a:r>
              <a:rPr kumimoji="0" lang="es-PE" altLang="es-PE" sz="1100" b="0" i="1" u="none" strike="noStrike" cap="none" normalizeH="0" baseline="0" dirty="0" err="1">
                <a:ln>
                  <a:noFill/>
                </a:ln>
                <a:solidFill>
                  <a:schemeClr val="tx1"/>
                </a:solidFill>
                <a:effectLst/>
                <a:latin typeface="Arial" panose="020B0604020202020204" pitchFamily="34" charset="0"/>
              </a:rPr>
              <a:t>risk</a:t>
            </a:r>
            <a:r>
              <a:rPr kumimoji="0" lang="es-PE" altLang="es-PE" sz="1100" b="0" i="0" u="none" strike="noStrike" cap="none" normalizeH="0" baseline="0" dirty="0">
                <a:ln>
                  <a:noFill/>
                </a:ln>
                <a:solidFill>
                  <a:schemeClr val="tx1"/>
                </a:solidFill>
                <a:effectLst/>
                <a:latin typeface="Arial" panose="020B0604020202020204" pitchFamily="34" charset="0"/>
              </a:rPr>
              <a:t> → </a:t>
            </a:r>
            <a:r>
              <a:rPr kumimoji="0" lang="es-PE" altLang="es-PE" sz="1100" b="0" i="0" u="none" strike="noStrike" cap="none" normalizeH="0" baseline="0" dirty="0" err="1">
                <a:ln>
                  <a:noFill/>
                </a:ln>
                <a:solidFill>
                  <a:schemeClr val="tx1"/>
                </a:solidFill>
                <a:effectLst/>
                <a:latin typeface="Arial" panose="020B0604020202020204" pitchFamily="34" charset="0"/>
              </a:rPr>
              <a:t>only</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risks</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within</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risk</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appetite</a:t>
            </a:r>
            <a:r>
              <a:rPr kumimoji="0" lang="es-PE" altLang="es-PE" sz="1100" b="0" i="0" u="none" strike="noStrike" cap="none" normalizeH="0" baseline="0" dirty="0">
                <a:ln>
                  <a:noFill/>
                </a:ln>
                <a:solidFill>
                  <a:schemeClr val="tx1"/>
                </a:solidFill>
                <a:effectLst/>
                <a:latin typeface="Arial" panose="020B0604020202020204" pitchFamily="34" charset="0"/>
              </a:rPr>
              <a:t>; can be </a:t>
            </a:r>
            <a:r>
              <a:rPr kumimoji="0" lang="es-PE" altLang="es-PE" sz="1100" b="1" i="0" u="none" strike="noStrike" cap="none" normalizeH="0" baseline="0" dirty="0">
                <a:ln>
                  <a:noFill/>
                </a:ln>
                <a:solidFill>
                  <a:schemeClr val="tx1"/>
                </a:solidFill>
                <a:effectLst/>
                <a:latin typeface="Arial" panose="020B0604020202020204" pitchFamily="34" charset="0"/>
              </a:rPr>
              <a:t>full </a:t>
            </a:r>
            <a:r>
              <a:rPr kumimoji="0" lang="es-PE" altLang="es-PE" sz="1100" b="1" i="0" u="none" strike="noStrike" cap="none" normalizeH="0" baseline="0" dirty="0" err="1">
                <a:ln>
                  <a:noFill/>
                </a:ln>
                <a:solidFill>
                  <a:schemeClr val="tx1"/>
                </a:solidFill>
                <a:effectLst/>
                <a:latin typeface="Arial" panose="020B0604020202020204" pitchFamily="34" charset="0"/>
              </a:rPr>
              <a:t>or</a:t>
            </a:r>
            <a:r>
              <a:rPr kumimoji="0" lang="es-PE" altLang="es-PE" sz="1100" b="1" i="0" u="none" strike="noStrike" cap="none" normalizeH="0" baseline="0" dirty="0">
                <a:ln>
                  <a:noFill/>
                </a:ln>
                <a:solidFill>
                  <a:schemeClr val="tx1"/>
                </a:solidFill>
                <a:effectLst/>
                <a:latin typeface="Arial" panose="020B0604020202020204" pitchFamily="34" charset="0"/>
              </a:rPr>
              <a:t> </a:t>
            </a:r>
            <a:r>
              <a:rPr kumimoji="0" lang="es-PE" altLang="es-PE" sz="1100" b="1" i="0" u="none" strike="noStrike" cap="none" normalizeH="0" baseline="0" dirty="0" err="1">
                <a:ln>
                  <a:noFill/>
                </a:ln>
                <a:solidFill>
                  <a:schemeClr val="tx1"/>
                </a:solidFill>
                <a:effectLst/>
                <a:latin typeface="Arial" panose="020B0604020202020204" pitchFamily="34" charset="0"/>
              </a:rPr>
              <a:t>partial</a:t>
            </a:r>
            <a:r>
              <a:rPr kumimoji="0" lang="es-PE" altLang="es-PE" sz="1100" b="1" i="0" u="none" strike="noStrike" cap="none" normalizeH="0" baseline="0" dirty="0">
                <a:ln>
                  <a:noFill/>
                </a:ln>
                <a:solidFill>
                  <a:schemeClr val="tx1"/>
                </a:solidFill>
                <a:effectLst/>
                <a:latin typeface="Arial" panose="020B0604020202020204" pitchFamily="34" charset="0"/>
              </a:rPr>
              <a:t> </a:t>
            </a:r>
            <a:r>
              <a:rPr kumimoji="0" lang="es-PE" altLang="es-PE" sz="1100" b="1" i="0" u="none" strike="noStrike" cap="none" normalizeH="0" baseline="0" dirty="0" err="1">
                <a:ln>
                  <a:noFill/>
                </a:ln>
                <a:solidFill>
                  <a:schemeClr val="tx1"/>
                </a:solidFill>
                <a:effectLst/>
                <a:latin typeface="Arial" panose="020B0604020202020204" pitchFamily="34" charset="0"/>
              </a:rPr>
              <a:t>retention</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via</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risk</a:t>
            </a:r>
            <a:r>
              <a:rPr kumimoji="0" lang="es-PE" altLang="es-PE" sz="1100" b="0" i="0" u="none" strike="noStrike" cap="none" normalizeH="0" baseline="0" dirty="0">
                <a:ln>
                  <a:noFill/>
                </a:ln>
                <a:solidFill>
                  <a:schemeClr val="tx1"/>
                </a:solidFill>
                <a:effectLst/>
                <a:latin typeface="Arial" panose="020B0604020202020204" pitchFamily="34" charset="0"/>
              </a:rPr>
              <a:t> capital, </a:t>
            </a:r>
            <a:r>
              <a:rPr kumimoji="0" lang="es-PE" altLang="es-PE" sz="1100" b="0" i="0" u="none" strike="noStrike" cap="none" normalizeH="0" baseline="0" dirty="0" err="1">
                <a:ln>
                  <a:noFill/>
                </a:ln>
                <a:solidFill>
                  <a:schemeClr val="tx1"/>
                </a:solidFill>
                <a:effectLst/>
                <a:latin typeface="Arial" panose="020B0604020202020204" pitchFamily="34" charset="0"/>
              </a:rPr>
              <a:t>self-insurance</a:t>
            </a:r>
            <a:r>
              <a:rPr kumimoji="0" lang="es-PE" altLang="es-PE" sz="1100" b="0" i="0" u="none" strike="noStrike" cap="none" normalizeH="0" baseline="0" dirty="0">
                <a:ln>
                  <a:noFill/>
                </a:ln>
                <a:solidFill>
                  <a:schemeClr val="tx1"/>
                </a:solidFill>
                <a:effectLst/>
                <a:latin typeface="Arial" panose="020B0604020202020204" pitchFamily="34" charset="0"/>
              </a:rPr>
              <a:t>, captive </a:t>
            </a:r>
            <a:r>
              <a:rPr kumimoji="0" lang="es-PE" altLang="es-PE" sz="1100" b="0" i="0" u="none" strike="noStrike" cap="none" normalizeH="0" baseline="0" dirty="0" err="1">
                <a:ln>
                  <a:noFill/>
                </a:ln>
                <a:solidFill>
                  <a:schemeClr val="tx1"/>
                </a:solidFill>
                <a:effectLst/>
                <a:latin typeface="Arial" panose="020B0604020202020204" pitchFamily="34" charset="0"/>
              </a:rPr>
              <a:t>insurance</a:t>
            </a:r>
            <a:r>
              <a:rPr kumimoji="0" lang="es-PE" altLang="es-PE" sz="1100" b="0" i="0" u="none" strike="noStrike" cap="none" normalizeH="0" baseline="0" dirty="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PE" altLang="es-PE" sz="1100" b="1" i="0" u="none" strike="noStrike" cap="none" normalizeH="0" baseline="0" dirty="0" err="1">
                <a:ln>
                  <a:noFill/>
                </a:ln>
                <a:solidFill>
                  <a:schemeClr val="tx1"/>
                </a:solidFill>
                <a:effectLst/>
                <a:latin typeface="Arial" panose="020B0604020202020204" pitchFamily="34" charset="0"/>
              </a:rPr>
              <a:t>Mitigate</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1" u="none" strike="noStrike" cap="none" normalizeH="0" baseline="0" dirty="0">
                <a:ln>
                  <a:noFill/>
                </a:ln>
                <a:solidFill>
                  <a:schemeClr val="tx1"/>
                </a:solidFill>
                <a:effectLst/>
                <a:latin typeface="Arial" panose="020B0604020202020204" pitchFamily="34" charset="0"/>
              </a:rPr>
              <a:t>Reduce </a:t>
            </a:r>
            <a:r>
              <a:rPr kumimoji="0" lang="es-PE" altLang="es-PE" sz="1100" b="0" i="1" u="none" strike="noStrike" cap="none" normalizeH="0" baseline="0" dirty="0" err="1">
                <a:ln>
                  <a:noFill/>
                </a:ln>
                <a:solidFill>
                  <a:schemeClr val="tx1"/>
                </a:solidFill>
                <a:effectLst/>
                <a:latin typeface="Arial" panose="020B0604020202020204" pitchFamily="34" charset="0"/>
              </a:rPr>
              <a:t>risk</a:t>
            </a:r>
            <a:r>
              <a:rPr kumimoji="0" lang="es-PE" altLang="es-PE" sz="1100" b="0" i="0" u="none" strike="noStrike" cap="none" normalizeH="0" baseline="0" dirty="0">
                <a:ln>
                  <a:noFill/>
                </a:ln>
                <a:solidFill>
                  <a:schemeClr val="tx1"/>
                </a:solidFill>
                <a:effectLst/>
                <a:latin typeface="Arial" panose="020B0604020202020204" pitchFamily="34" charset="0"/>
              </a:rPr>
              <a:t> → </a:t>
            </a:r>
            <a:r>
              <a:rPr kumimoji="0" lang="es-PE" altLang="es-PE" sz="1100" b="0" i="0" u="none" strike="noStrike" cap="none" normalizeH="0" baseline="0" dirty="0" err="1">
                <a:ln>
                  <a:noFill/>
                </a:ln>
                <a:solidFill>
                  <a:schemeClr val="tx1"/>
                </a:solidFill>
                <a:effectLst/>
                <a:latin typeface="Arial" panose="020B0604020202020204" pitchFamily="34" charset="0"/>
              </a:rPr>
              <a:t>lower</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1" i="0" u="none" strike="noStrike" cap="none" normalizeH="0" baseline="0" dirty="0" err="1">
                <a:ln>
                  <a:noFill/>
                </a:ln>
                <a:solidFill>
                  <a:schemeClr val="tx1"/>
                </a:solidFill>
                <a:effectLst/>
                <a:latin typeface="Arial" panose="020B0604020202020204" pitchFamily="34" charset="0"/>
              </a:rPr>
              <a:t>probability</a:t>
            </a:r>
            <a:r>
              <a:rPr kumimoji="0" lang="es-PE" altLang="es-PE" sz="1100" b="1" i="0" u="none" strike="noStrike" cap="none" normalizeH="0" baseline="0" dirty="0">
                <a:ln>
                  <a:noFill/>
                </a:ln>
                <a:solidFill>
                  <a:schemeClr val="tx1"/>
                </a:solidFill>
                <a:effectLst/>
                <a:latin typeface="Arial" panose="020B0604020202020204" pitchFamily="34" charset="0"/>
              </a:rPr>
              <a:t> </a:t>
            </a:r>
            <a:r>
              <a:rPr kumimoji="0" lang="es-PE" altLang="es-PE" sz="1100" b="1" i="0" u="none" strike="noStrike" cap="none" normalizeH="0" baseline="0" dirty="0" err="1">
                <a:ln>
                  <a:noFill/>
                </a:ln>
                <a:solidFill>
                  <a:schemeClr val="tx1"/>
                </a:solidFill>
                <a:effectLst/>
                <a:latin typeface="Arial" panose="020B0604020202020204" pitchFamily="34" charset="0"/>
              </a:rPr>
              <a:t>or</a:t>
            </a:r>
            <a:r>
              <a:rPr kumimoji="0" lang="es-PE" altLang="es-PE" sz="1100" b="1" i="0" u="none" strike="noStrike" cap="none" normalizeH="0" baseline="0" dirty="0">
                <a:ln>
                  <a:noFill/>
                </a:ln>
                <a:solidFill>
                  <a:schemeClr val="tx1"/>
                </a:solidFill>
                <a:effectLst/>
                <a:latin typeface="Arial" panose="020B0604020202020204" pitchFamily="34" charset="0"/>
              </a:rPr>
              <a:t> </a:t>
            </a:r>
            <a:r>
              <a:rPr kumimoji="0" lang="es-PE" altLang="es-PE" sz="1100" b="1" i="0" u="none" strike="noStrike" cap="none" normalizeH="0" baseline="0" dirty="0" err="1">
                <a:ln>
                  <a:noFill/>
                </a:ln>
                <a:solidFill>
                  <a:schemeClr val="tx1"/>
                </a:solidFill>
                <a:effectLst/>
                <a:latin typeface="Arial" panose="020B0604020202020204" pitchFamily="34" charset="0"/>
              </a:rPr>
              <a:t>impact</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hedging</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controls</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collateral</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better</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processes</a:t>
            </a:r>
            <a:r>
              <a:rPr kumimoji="0" lang="es-PE" altLang="es-PE" sz="1100" b="0" i="0" u="none" strike="noStrike" cap="none" normalizeH="0" baseline="0" dirty="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PE" altLang="es-PE" sz="1100" b="1" i="0" u="none" strike="noStrike" cap="none" normalizeH="0" baseline="0" dirty="0">
                <a:ln>
                  <a:noFill/>
                </a:ln>
                <a:solidFill>
                  <a:schemeClr val="tx1"/>
                </a:solidFill>
                <a:effectLst/>
                <a:latin typeface="Arial" panose="020B0604020202020204" pitchFamily="34" charset="0"/>
              </a:rPr>
              <a:t>Transfer</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1" u="none" strike="noStrike" cap="none" normalizeH="0" baseline="0" dirty="0">
                <a:ln>
                  <a:noFill/>
                </a:ln>
                <a:solidFill>
                  <a:schemeClr val="tx1"/>
                </a:solidFill>
                <a:effectLst/>
                <a:latin typeface="Arial" panose="020B0604020202020204" pitchFamily="34" charset="0"/>
              </a:rPr>
              <a:t>Shift </a:t>
            </a:r>
            <a:r>
              <a:rPr kumimoji="0" lang="es-PE" altLang="es-PE" sz="1100" b="0" i="1" u="none" strike="noStrike" cap="none" normalizeH="0" baseline="0" dirty="0" err="1">
                <a:ln>
                  <a:noFill/>
                </a:ln>
                <a:solidFill>
                  <a:schemeClr val="tx1"/>
                </a:solidFill>
                <a:effectLst/>
                <a:latin typeface="Arial" panose="020B0604020202020204" pitchFamily="34" charset="0"/>
              </a:rPr>
              <a:t>risk</a:t>
            </a:r>
            <a:r>
              <a:rPr kumimoji="0" lang="es-PE" altLang="es-PE" sz="1100" b="0" i="1" u="none" strike="noStrike" cap="none" normalizeH="0" baseline="0" dirty="0">
                <a:ln>
                  <a:noFill/>
                </a:ln>
                <a:solidFill>
                  <a:schemeClr val="tx1"/>
                </a:solidFill>
                <a:effectLst/>
                <a:latin typeface="Arial" panose="020B0604020202020204" pitchFamily="34" charset="0"/>
              </a:rPr>
              <a:t> </a:t>
            </a:r>
            <a:r>
              <a:rPr kumimoji="0" lang="es-PE" altLang="es-PE" sz="1100" b="0" i="1" u="none" strike="noStrike" cap="none" normalizeH="0" baseline="0" dirty="0" err="1">
                <a:ln>
                  <a:noFill/>
                </a:ln>
                <a:solidFill>
                  <a:schemeClr val="tx1"/>
                </a:solidFill>
                <a:effectLst/>
                <a:latin typeface="Arial" panose="020B0604020202020204" pitchFamily="34" charset="0"/>
              </a:rPr>
              <a:t>to</a:t>
            </a:r>
            <a:r>
              <a:rPr kumimoji="0" lang="es-PE" altLang="es-PE" sz="1100" b="0" i="1" u="none" strike="noStrike" cap="none" normalizeH="0" baseline="0" dirty="0">
                <a:ln>
                  <a:noFill/>
                </a:ln>
                <a:solidFill>
                  <a:schemeClr val="tx1"/>
                </a:solidFill>
                <a:effectLst/>
                <a:latin typeface="Arial" panose="020B0604020202020204" pitchFamily="34" charset="0"/>
              </a:rPr>
              <a:t> a </a:t>
            </a:r>
            <a:r>
              <a:rPr kumimoji="0" lang="es-PE" altLang="es-PE" sz="1100" b="0" i="1" u="none" strike="noStrike" cap="none" normalizeH="0" baseline="0" dirty="0" err="1">
                <a:ln>
                  <a:noFill/>
                </a:ln>
                <a:solidFill>
                  <a:schemeClr val="tx1"/>
                </a:solidFill>
                <a:effectLst/>
                <a:latin typeface="Arial" panose="020B0604020202020204" pitchFamily="34" charset="0"/>
              </a:rPr>
              <a:t>third</a:t>
            </a:r>
            <a:r>
              <a:rPr kumimoji="0" lang="es-PE" altLang="es-PE" sz="1100" b="0" i="1" u="none" strike="noStrike" cap="none" normalizeH="0" baseline="0" dirty="0">
                <a:ln>
                  <a:noFill/>
                </a:ln>
                <a:solidFill>
                  <a:schemeClr val="tx1"/>
                </a:solidFill>
                <a:effectLst/>
                <a:latin typeface="Arial" panose="020B0604020202020204" pitchFamily="34" charset="0"/>
              </a:rPr>
              <a:t> </a:t>
            </a:r>
            <a:r>
              <a:rPr kumimoji="0" lang="es-PE" altLang="es-PE" sz="1100" b="0" i="1" u="none" strike="noStrike" cap="none" normalizeH="0" baseline="0" dirty="0" err="1">
                <a:ln>
                  <a:noFill/>
                </a:ln>
                <a:solidFill>
                  <a:schemeClr val="tx1"/>
                </a:solidFill>
                <a:effectLst/>
                <a:latin typeface="Arial" panose="020B0604020202020204" pitchFamily="34" charset="0"/>
              </a:rPr>
              <a:t>party</a:t>
            </a:r>
            <a:r>
              <a:rPr kumimoji="0" lang="es-PE" altLang="es-PE" sz="1100" b="0" i="0" u="none" strike="noStrike" cap="none" normalizeH="0" baseline="0" dirty="0">
                <a:ln>
                  <a:noFill/>
                </a:ln>
                <a:solidFill>
                  <a:schemeClr val="tx1"/>
                </a:solidFill>
                <a:effectLst/>
                <a:latin typeface="Arial" panose="020B0604020202020204" pitchFamily="34" charset="0"/>
              </a:rPr>
              <a:t> → derivatives, </a:t>
            </a:r>
            <a:r>
              <a:rPr kumimoji="0" lang="es-PE" altLang="es-PE" sz="1100" b="0" i="0" u="none" strike="noStrike" cap="none" normalizeH="0" baseline="0" dirty="0" err="1">
                <a:ln>
                  <a:noFill/>
                </a:ln>
                <a:solidFill>
                  <a:schemeClr val="tx1"/>
                </a:solidFill>
                <a:effectLst/>
                <a:latin typeface="Arial" panose="020B0604020202020204" pitchFamily="34" charset="0"/>
              </a:rPr>
              <a:t>insurance</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structured</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products</a:t>
            </a:r>
            <a:r>
              <a:rPr kumimoji="0" lang="es-PE" altLang="es-PE" sz="1100" b="0" i="0" u="none" strike="noStrike" cap="none" normalizeH="0" baseline="0" dirty="0">
                <a:ln>
                  <a:noFill/>
                </a:ln>
                <a:solidFill>
                  <a:schemeClr val="tx1"/>
                </a:solidFill>
                <a:effectLst/>
                <a:latin typeface="Arial" panose="020B0604020202020204" pitchFamily="34" charset="0"/>
              </a:rPr>
              <a:t> (</a:t>
            </a:r>
            <a:r>
              <a:rPr kumimoji="0" lang="es-PE" altLang="es-PE" sz="1100" b="0" i="0" u="none" strike="noStrike" cap="none" normalizeH="0" baseline="0" dirty="0" err="1">
                <a:ln>
                  <a:noFill/>
                </a:ln>
                <a:solidFill>
                  <a:schemeClr val="tx1"/>
                </a:solidFill>
                <a:effectLst/>
                <a:latin typeface="Arial" panose="020B0604020202020204" pitchFamily="34" charset="0"/>
              </a:rPr>
              <a:t>pay</a:t>
            </a:r>
            <a:r>
              <a:rPr kumimoji="0" lang="es-PE" altLang="es-PE" sz="1100" b="0" i="0" u="none" strike="noStrike" cap="none" normalizeH="0" baseline="0" dirty="0">
                <a:ln>
                  <a:noFill/>
                </a:ln>
                <a:solidFill>
                  <a:schemeClr val="tx1"/>
                </a:solidFill>
                <a:effectLst/>
                <a:latin typeface="Arial" panose="020B0604020202020204" pitchFamily="34" charset="0"/>
              </a:rPr>
              <a:t> a premium). </a:t>
            </a:r>
          </a:p>
        </p:txBody>
      </p:sp>
      <p:sp>
        <p:nvSpPr>
          <p:cNvPr id="14" name="CuadroTexto 13">
            <a:extLst>
              <a:ext uri="{FF2B5EF4-FFF2-40B4-BE49-F238E27FC236}">
                <a16:creationId xmlns:a16="http://schemas.microsoft.com/office/drawing/2014/main" id="{CB3C6A75-8330-5D29-6928-A392EAB6F87C}"/>
              </a:ext>
            </a:extLst>
          </p:cNvPr>
          <p:cNvSpPr txBox="1"/>
          <p:nvPr/>
        </p:nvSpPr>
        <p:spPr>
          <a:xfrm>
            <a:off x="5821206" y="666032"/>
            <a:ext cx="6219966" cy="369332"/>
          </a:xfrm>
          <a:prstGeom prst="rect">
            <a:avLst/>
          </a:prstGeom>
          <a:noFill/>
        </p:spPr>
        <p:txBody>
          <a:bodyPr wrap="square">
            <a:spAutoFit/>
          </a:bodyPr>
          <a:lstStyle/>
          <a:p>
            <a:r>
              <a:rPr lang="en-US" dirty="0"/>
              <a:t>IDENTIFYING RISK: KNOWNS AND UNKNOWNS</a:t>
            </a:r>
            <a:endParaRPr lang="es-PE" dirty="0"/>
          </a:p>
        </p:txBody>
      </p:sp>
      <p:sp>
        <p:nvSpPr>
          <p:cNvPr id="16" name="CuadroTexto 15">
            <a:extLst>
              <a:ext uri="{FF2B5EF4-FFF2-40B4-BE49-F238E27FC236}">
                <a16:creationId xmlns:a16="http://schemas.microsoft.com/office/drawing/2014/main" id="{0B6EE28E-4F42-7F39-7004-83584FBBAA9C}"/>
              </a:ext>
            </a:extLst>
          </p:cNvPr>
          <p:cNvSpPr txBox="1"/>
          <p:nvPr/>
        </p:nvSpPr>
        <p:spPr>
          <a:xfrm>
            <a:off x="6100793" y="936002"/>
            <a:ext cx="6039080" cy="784830"/>
          </a:xfrm>
          <a:prstGeom prst="rect">
            <a:avLst/>
          </a:prstGeom>
          <a:noFill/>
        </p:spPr>
        <p:txBody>
          <a:bodyPr wrap="square">
            <a:spAutoFit/>
          </a:bodyPr>
          <a:lstStyle/>
          <a:p>
            <a:pPr>
              <a:buNone/>
            </a:pPr>
            <a:r>
              <a:rPr lang="en-US" sz="900" b="1" dirty="0"/>
              <a:t>Known vs Unknown Risk (Rumsfeld + Knight)</a:t>
            </a:r>
          </a:p>
          <a:p>
            <a:pPr marL="171450" indent="-171450">
              <a:buFont typeface="Arial" panose="020B0604020202020204" pitchFamily="34" charset="0"/>
              <a:buChar char="•"/>
            </a:pPr>
            <a:r>
              <a:rPr lang="en-US" sz="900" b="1" dirty="0"/>
              <a:t>Known risks (measurable)</a:t>
            </a:r>
            <a:r>
              <a:rPr lang="en-US" sz="900" dirty="0"/>
              <a:t>: probabilities can be estimated → standard risk models apply. </a:t>
            </a:r>
          </a:p>
          <a:p>
            <a:pPr marL="171450" indent="-171450">
              <a:buFont typeface="Arial" panose="020B0604020202020204" pitchFamily="34" charset="0"/>
              <a:buChar char="•"/>
            </a:pPr>
            <a:r>
              <a:rPr lang="en-US" sz="900" b="1" dirty="0"/>
              <a:t>Unknown risks</a:t>
            </a:r>
            <a:r>
              <a:rPr lang="en-US" sz="900" dirty="0"/>
              <a:t>: </a:t>
            </a:r>
          </a:p>
          <a:p>
            <a:pPr marL="628650" lvl="1" indent="-171450">
              <a:buFont typeface="Arial" panose="020B0604020202020204" pitchFamily="34" charset="0"/>
              <a:buChar char="•"/>
            </a:pPr>
            <a:r>
              <a:rPr lang="en-US" sz="900" b="1" dirty="0"/>
              <a:t>Known unknowns</a:t>
            </a:r>
            <a:r>
              <a:rPr lang="en-US" sz="900" dirty="0"/>
              <a:t>: we know the risk exists but can’t measure it well. </a:t>
            </a:r>
          </a:p>
          <a:p>
            <a:pPr marL="628650" lvl="1" indent="-171450">
              <a:buFont typeface="Arial" panose="020B0604020202020204" pitchFamily="34" charset="0"/>
              <a:buChar char="•"/>
            </a:pPr>
            <a:r>
              <a:rPr lang="en-US" sz="900" b="1" dirty="0"/>
              <a:t>Unknown unknowns</a:t>
            </a:r>
            <a:r>
              <a:rPr lang="en-US" sz="900" dirty="0"/>
              <a:t>: risks we don’t even foresee.</a:t>
            </a:r>
          </a:p>
        </p:txBody>
      </p:sp>
      <p:sp>
        <p:nvSpPr>
          <p:cNvPr id="18" name="CuadroTexto 17">
            <a:extLst>
              <a:ext uri="{FF2B5EF4-FFF2-40B4-BE49-F238E27FC236}">
                <a16:creationId xmlns:a16="http://schemas.microsoft.com/office/drawing/2014/main" id="{1E6C4385-C391-D04D-7D4C-E4ABA9B5FB6E}"/>
              </a:ext>
            </a:extLst>
          </p:cNvPr>
          <p:cNvSpPr txBox="1"/>
          <p:nvPr/>
        </p:nvSpPr>
        <p:spPr>
          <a:xfrm>
            <a:off x="6100792" y="1626392"/>
            <a:ext cx="6466116" cy="507831"/>
          </a:xfrm>
          <a:prstGeom prst="rect">
            <a:avLst/>
          </a:prstGeom>
          <a:noFill/>
        </p:spPr>
        <p:txBody>
          <a:bodyPr wrap="square">
            <a:spAutoFit/>
          </a:bodyPr>
          <a:lstStyle/>
          <a:p>
            <a:pPr>
              <a:buNone/>
            </a:pPr>
            <a:r>
              <a:rPr lang="en-US" sz="900" b="1" dirty="0"/>
              <a:t>Risk vs Uncertainty (Knight / Keynes)</a:t>
            </a:r>
          </a:p>
          <a:p>
            <a:pPr marL="171450" indent="-171450">
              <a:buFont typeface="Arial" panose="020B0604020202020204" pitchFamily="34" charset="0"/>
              <a:buChar char="•"/>
            </a:pPr>
            <a:r>
              <a:rPr lang="en-US" sz="900" b="1" dirty="0"/>
              <a:t>Risk</a:t>
            </a:r>
            <a:r>
              <a:rPr lang="en-US" sz="900" dirty="0"/>
              <a:t>: measurable uncertainty (probabilities known). </a:t>
            </a:r>
          </a:p>
          <a:p>
            <a:pPr marL="171450" indent="-171450">
              <a:buFont typeface="Arial" panose="020B0604020202020204" pitchFamily="34" charset="0"/>
              <a:buChar char="•"/>
            </a:pPr>
            <a:r>
              <a:rPr lang="en-US" sz="900" b="1" dirty="0"/>
              <a:t>Uncertainty (Knightian)</a:t>
            </a:r>
            <a:r>
              <a:rPr lang="en-US" sz="900" dirty="0"/>
              <a:t>: </a:t>
            </a:r>
            <a:r>
              <a:rPr lang="en-US" sz="900" b="1" dirty="0"/>
              <a:t>not measurable</a:t>
            </a:r>
            <a:r>
              <a:rPr lang="en-US" sz="900" dirty="0"/>
              <a:t>, probabilities unknown or unknowable.</a:t>
            </a:r>
          </a:p>
        </p:txBody>
      </p:sp>
      <p:sp>
        <p:nvSpPr>
          <p:cNvPr id="19" name="Rectangle 3">
            <a:extLst>
              <a:ext uri="{FF2B5EF4-FFF2-40B4-BE49-F238E27FC236}">
                <a16:creationId xmlns:a16="http://schemas.microsoft.com/office/drawing/2014/main" id="{DBE11775-AA78-DBF1-2335-D7824558C084}"/>
              </a:ext>
            </a:extLst>
          </p:cNvPr>
          <p:cNvSpPr>
            <a:spLocks noChangeArrowheads="1"/>
          </p:cNvSpPr>
          <p:nvPr/>
        </p:nvSpPr>
        <p:spPr bwMode="auto">
          <a:xfrm rot="10800000" flipV="1">
            <a:off x="6100791" y="2062681"/>
            <a:ext cx="6207161"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PE" altLang="es-PE" sz="900" b="1" i="0" u="none" strike="noStrike" cap="none" normalizeH="0" baseline="0" dirty="0" err="1">
                <a:ln>
                  <a:noFill/>
                </a:ln>
                <a:solidFill>
                  <a:schemeClr val="tx1"/>
                </a:solidFill>
                <a:effectLst/>
                <a:latin typeface="Arial" panose="020B0604020202020204" pitchFamily="34" charset="0"/>
              </a:rPr>
              <a:t>Moonwalking</a:t>
            </a:r>
            <a:r>
              <a:rPr kumimoji="0" lang="es-PE" altLang="es-PE" sz="900" b="1" i="0" u="none" strike="noStrike" cap="none" normalizeH="0" baseline="0" dirty="0">
                <a:ln>
                  <a:noFill/>
                </a:ln>
                <a:solidFill>
                  <a:schemeClr val="tx1"/>
                </a:solidFill>
                <a:effectLst/>
                <a:latin typeface="Arial" panose="020B0604020202020204" pitchFamily="34" charset="0"/>
              </a:rPr>
              <a:t> </a:t>
            </a:r>
            <a:r>
              <a:rPr kumimoji="0" lang="es-PE" altLang="es-PE" sz="900" b="1" i="0" u="none" strike="noStrike" cap="none" normalizeH="0" baseline="0" dirty="0" err="1">
                <a:ln>
                  <a:noFill/>
                </a:ln>
                <a:solidFill>
                  <a:schemeClr val="tx1"/>
                </a:solidFill>
                <a:effectLst/>
                <a:latin typeface="Arial" panose="020B0604020202020204" pitchFamily="34" charset="0"/>
              </a:rPr>
              <a:t>bears</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risks</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that</a:t>
            </a:r>
            <a:r>
              <a:rPr kumimoji="0" lang="es-PE" altLang="es-PE" sz="900" b="0" i="0" u="none" strike="noStrike" cap="none" normalizeH="0" baseline="0" dirty="0">
                <a:ln>
                  <a:noFill/>
                </a:ln>
                <a:solidFill>
                  <a:schemeClr val="tx1"/>
                </a:solidFill>
                <a:effectLst/>
                <a:latin typeface="Arial" panose="020B0604020202020204" pitchFamily="34" charset="0"/>
              </a:rPr>
              <a:t> are visible </a:t>
            </a:r>
            <a:r>
              <a:rPr kumimoji="0" lang="es-PE" altLang="es-PE" sz="900" b="0" i="0" u="none" strike="noStrike" cap="none" normalizeH="0" baseline="0" dirty="0" err="1">
                <a:ln>
                  <a:noFill/>
                </a:ln>
                <a:solidFill>
                  <a:schemeClr val="tx1"/>
                </a:solidFill>
                <a:effectLst/>
                <a:latin typeface="Arial" panose="020B0604020202020204" pitchFamily="34" charset="0"/>
              </a:rPr>
              <a:t>but</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ignored</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e.g</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overpriced</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markets</a:t>
            </a:r>
            <a:r>
              <a:rPr kumimoji="0" lang="es-PE" altLang="es-PE" sz="900" b="0" i="0" u="none" strike="noStrike" cap="none" normalizeH="0" baseline="0" dirty="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PE" altLang="es-PE" sz="900" b="1" i="0" u="none" strike="noStrike" cap="none" normalizeH="0" baseline="0" dirty="0" err="1">
                <a:ln>
                  <a:noFill/>
                </a:ln>
                <a:solidFill>
                  <a:schemeClr val="tx1"/>
                </a:solidFill>
                <a:effectLst/>
                <a:latin typeface="Arial" panose="020B0604020202020204" pitchFamily="34" charset="0"/>
              </a:rPr>
              <a:t>Underwater</a:t>
            </a:r>
            <a:r>
              <a:rPr kumimoji="0" lang="es-PE" altLang="es-PE" sz="900" b="1" i="0" u="none" strike="noStrike" cap="none" normalizeH="0" baseline="0" dirty="0">
                <a:ln>
                  <a:noFill/>
                </a:ln>
                <a:solidFill>
                  <a:schemeClr val="tx1"/>
                </a:solidFill>
                <a:effectLst/>
                <a:latin typeface="Arial" panose="020B0604020202020204" pitchFamily="34" charset="0"/>
              </a:rPr>
              <a:t> icebergs</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risks</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that</a:t>
            </a:r>
            <a:r>
              <a:rPr kumimoji="0" lang="es-PE" altLang="es-PE" sz="900" b="0" i="0" u="none" strike="noStrike" cap="none" normalizeH="0" baseline="0" dirty="0">
                <a:ln>
                  <a:noFill/>
                </a:ln>
                <a:solidFill>
                  <a:schemeClr val="tx1"/>
                </a:solidFill>
                <a:effectLst/>
                <a:latin typeface="Arial" panose="020B0604020202020204" pitchFamily="34" charset="0"/>
              </a:rPr>
              <a:t> are </a:t>
            </a:r>
            <a:r>
              <a:rPr kumimoji="0" lang="es-PE" altLang="es-PE" sz="900" b="0" i="0" u="none" strike="noStrike" cap="none" normalizeH="0" baseline="0" dirty="0" err="1">
                <a:ln>
                  <a:noFill/>
                </a:ln>
                <a:solidFill>
                  <a:schemeClr val="tx1"/>
                </a:solidFill>
                <a:effectLst/>
                <a:latin typeface="Arial" panose="020B0604020202020204" pitchFamily="34" charset="0"/>
              </a:rPr>
              <a:t>hard</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to</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detect</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e.g</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excessive</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leverage</a:t>
            </a:r>
            <a:r>
              <a:rPr kumimoji="0" lang="es-PE" altLang="es-PE" sz="900" b="0" i="0" u="none" strike="noStrike" cap="none" normalizeH="0" baseline="0" dirty="0">
                <a:ln>
                  <a:noFill/>
                </a:ln>
                <a:solidFill>
                  <a:schemeClr val="tx1"/>
                </a:solidFill>
                <a:effectLst/>
                <a:latin typeface="Arial" panose="020B0604020202020204" pitchFamily="34" charset="0"/>
              </a:rPr>
              <a:t> pre-2008).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PE" altLang="es-PE" sz="900" b="1" i="0" u="none" strike="noStrike" cap="none" normalizeH="0" baseline="0" dirty="0">
                <a:ln>
                  <a:noFill/>
                </a:ln>
                <a:solidFill>
                  <a:schemeClr val="tx1"/>
                </a:solidFill>
                <a:effectLst/>
                <a:latin typeface="Arial" panose="020B0604020202020204" pitchFamily="34" charset="0"/>
              </a:rPr>
              <a:t>Elephant in </a:t>
            </a:r>
            <a:r>
              <a:rPr kumimoji="0" lang="es-PE" altLang="es-PE" sz="900" b="1" i="0" u="none" strike="noStrike" cap="none" normalizeH="0" baseline="0" dirty="0" err="1">
                <a:ln>
                  <a:noFill/>
                </a:ln>
                <a:solidFill>
                  <a:schemeClr val="tx1"/>
                </a:solidFill>
                <a:effectLst/>
                <a:latin typeface="Arial" panose="020B0604020202020204" pitchFamily="34" charset="0"/>
              </a:rPr>
              <a:t>the</a:t>
            </a:r>
            <a:r>
              <a:rPr kumimoji="0" lang="es-PE" altLang="es-PE" sz="900" b="1" i="0" u="none" strike="noStrike" cap="none" normalizeH="0" baseline="0" dirty="0">
                <a:ln>
                  <a:noFill/>
                </a:ln>
                <a:solidFill>
                  <a:schemeClr val="tx1"/>
                </a:solidFill>
                <a:effectLst/>
                <a:latin typeface="Arial" panose="020B0604020202020204" pitchFamily="34" charset="0"/>
              </a:rPr>
              <a:t> </a:t>
            </a:r>
            <a:r>
              <a:rPr kumimoji="0" lang="es-PE" altLang="es-PE" sz="900" b="1" i="0" u="none" strike="noStrike" cap="none" normalizeH="0" baseline="0" dirty="0" err="1">
                <a:ln>
                  <a:noFill/>
                </a:ln>
                <a:solidFill>
                  <a:schemeClr val="tx1"/>
                </a:solidFill>
                <a:effectLst/>
                <a:latin typeface="Arial" panose="020B0604020202020204" pitchFamily="34" charset="0"/>
              </a:rPr>
              <a:t>room</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risks</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everyone</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sees</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but</a:t>
            </a:r>
            <a:r>
              <a:rPr kumimoji="0" lang="es-PE" altLang="es-PE" sz="900" b="0" i="0" u="none" strike="noStrike" cap="none" normalizeH="0" baseline="0" dirty="0">
                <a:ln>
                  <a:noFill/>
                </a:ln>
                <a:solidFill>
                  <a:schemeClr val="tx1"/>
                </a:solidFill>
                <a:effectLst/>
                <a:latin typeface="Arial" panose="020B0604020202020204" pitchFamily="34" charset="0"/>
              </a:rPr>
              <a:t> no </a:t>
            </a:r>
            <a:r>
              <a:rPr kumimoji="0" lang="es-PE" altLang="es-PE" sz="900" b="0" i="0" u="none" strike="noStrike" cap="none" normalizeH="0" baseline="0" dirty="0" err="1">
                <a:ln>
                  <a:noFill/>
                </a:ln>
                <a:solidFill>
                  <a:schemeClr val="tx1"/>
                </a:solidFill>
                <a:effectLst/>
                <a:latin typeface="Arial" panose="020B0604020202020204" pitchFamily="34" charset="0"/>
              </a:rPr>
              <a:t>one</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wants</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to</a:t>
            </a:r>
            <a:r>
              <a:rPr kumimoji="0" lang="es-PE" altLang="es-PE" sz="900" b="0" i="0" u="none" strike="noStrike" cap="none" normalizeH="0" baseline="0" dirty="0">
                <a:ln>
                  <a:noFill/>
                </a:ln>
                <a:solidFill>
                  <a:schemeClr val="tx1"/>
                </a:solidFill>
                <a:effectLst/>
                <a:latin typeface="Arial" panose="020B0604020202020204" pitchFamily="34" charset="0"/>
              </a:rPr>
              <a:t> </a:t>
            </a:r>
            <a:r>
              <a:rPr kumimoji="0" lang="es-PE" altLang="es-PE" sz="900" b="0" i="0" u="none" strike="noStrike" cap="none" normalizeH="0" baseline="0" dirty="0" err="1">
                <a:ln>
                  <a:noFill/>
                </a:ln>
                <a:solidFill>
                  <a:schemeClr val="tx1"/>
                </a:solidFill>
                <a:effectLst/>
                <a:latin typeface="Arial" panose="020B0604020202020204" pitchFamily="34" charset="0"/>
              </a:rPr>
              <a:t>acknowledge</a:t>
            </a:r>
            <a:r>
              <a:rPr kumimoji="0" lang="es-PE" altLang="es-PE" sz="900" b="0" i="0" u="none" strike="noStrike" cap="none" normalizeH="0" baseline="0" dirty="0">
                <a:ln>
                  <a:noFill/>
                </a:ln>
                <a:solidFill>
                  <a:schemeClr val="tx1"/>
                </a:solidFill>
                <a:effectLst/>
                <a:latin typeface="Arial" panose="020B0604020202020204" pitchFamily="34" charset="0"/>
              </a:rPr>
              <a:t>. </a:t>
            </a:r>
          </a:p>
        </p:txBody>
      </p:sp>
      <p:sp>
        <p:nvSpPr>
          <p:cNvPr id="26" name="CuadroTexto 25">
            <a:extLst>
              <a:ext uri="{FF2B5EF4-FFF2-40B4-BE49-F238E27FC236}">
                <a16:creationId xmlns:a16="http://schemas.microsoft.com/office/drawing/2014/main" id="{466B383E-7BD3-7C0B-4EFA-2B46F01AF0B5}"/>
              </a:ext>
            </a:extLst>
          </p:cNvPr>
          <p:cNvSpPr txBox="1"/>
          <p:nvPr/>
        </p:nvSpPr>
        <p:spPr>
          <a:xfrm>
            <a:off x="9158514" y="2564290"/>
            <a:ext cx="2948145" cy="4662815"/>
          </a:xfrm>
          <a:prstGeom prst="rect">
            <a:avLst/>
          </a:prstGeom>
          <a:noFill/>
        </p:spPr>
        <p:txBody>
          <a:bodyPr wrap="square">
            <a:spAutoFit/>
          </a:bodyPr>
          <a:lstStyle/>
          <a:p>
            <a:pPr>
              <a:buNone/>
            </a:pPr>
            <a:br>
              <a:rPr lang="es-PE" sz="900" dirty="0"/>
            </a:br>
            <a:endParaRPr lang="es-PE" sz="900" dirty="0"/>
          </a:p>
          <a:p>
            <a:pPr>
              <a:buNone/>
            </a:pPr>
            <a:r>
              <a:rPr lang="es-PE" sz="900" b="1" dirty="0"/>
              <a:t>5. </a:t>
            </a:r>
            <a:r>
              <a:rPr lang="es-PE" sz="900" b="1" dirty="0" err="1"/>
              <a:t>Risk</a:t>
            </a:r>
            <a:r>
              <a:rPr lang="es-PE" sz="900" b="1" dirty="0"/>
              <a:t> Factor </a:t>
            </a:r>
            <a:r>
              <a:rPr lang="es-PE" sz="900" b="1" dirty="0" err="1"/>
              <a:t>Decomposition</a:t>
            </a:r>
            <a:endParaRPr lang="es-PE" sz="900" b="1" dirty="0"/>
          </a:p>
          <a:p>
            <a:pPr>
              <a:buFont typeface="Arial" panose="020B0604020202020204" pitchFamily="34" charset="0"/>
              <a:buChar char="•"/>
            </a:pPr>
            <a:r>
              <a:rPr lang="es-PE" sz="900" dirty="0"/>
              <a:t>Break </a:t>
            </a:r>
            <a:r>
              <a:rPr lang="es-PE" sz="900" dirty="0" err="1"/>
              <a:t>risk</a:t>
            </a:r>
            <a:r>
              <a:rPr lang="es-PE" sz="900" dirty="0"/>
              <a:t> </a:t>
            </a:r>
            <a:r>
              <a:rPr lang="es-PE" sz="900" dirty="0" err="1"/>
              <a:t>into</a:t>
            </a:r>
            <a:r>
              <a:rPr lang="es-PE" sz="900" dirty="0"/>
              <a:t> drivers (PD, LGD, EAD) </a:t>
            </a:r>
          </a:p>
          <a:p>
            <a:pPr>
              <a:buFont typeface="Arial" panose="020B0604020202020204" pitchFamily="34" charset="0"/>
              <a:buChar char="•"/>
            </a:pPr>
            <a:r>
              <a:rPr lang="es-PE" sz="900" dirty="0" err="1"/>
              <a:t>Analyze</a:t>
            </a:r>
            <a:r>
              <a:rPr lang="es-PE" sz="900" dirty="0"/>
              <a:t> </a:t>
            </a:r>
            <a:r>
              <a:rPr lang="es-PE" sz="900" b="1" dirty="0" err="1"/>
              <a:t>interactions</a:t>
            </a:r>
            <a:r>
              <a:rPr lang="es-PE" sz="900" b="1" dirty="0"/>
              <a:t> and </a:t>
            </a:r>
            <a:r>
              <a:rPr lang="es-PE" sz="900" b="1" dirty="0" err="1"/>
              <a:t>correlations</a:t>
            </a:r>
            <a:r>
              <a:rPr lang="es-PE" sz="900" dirty="0"/>
              <a:t> </a:t>
            </a:r>
          </a:p>
          <a:p>
            <a:pPr>
              <a:buFont typeface="Arial" panose="020B0604020202020204" pitchFamily="34" charset="0"/>
              <a:buChar char="•"/>
            </a:pPr>
            <a:r>
              <a:rPr lang="es-PE" sz="900" dirty="0"/>
              <a:t>Use data / ML </a:t>
            </a:r>
            <a:r>
              <a:rPr lang="es-PE" sz="900" dirty="0" err="1"/>
              <a:t>to</a:t>
            </a:r>
            <a:r>
              <a:rPr lang="es-PE" sz="900" dirty="0"/>
              <a:t> </a:t>
            </a:r>
            <a:r>
              <a:rPr lang="es-PE" sz="900" dirty="0" err="1"/>
              <a:t>identify</a:t>
            </a:r>
            <a:r>
              <a:rPr lang="es-PE" sz="900" dirty="0"/>
              <a:t> </a:t>
            </a:r>
            <a:r>
              <a:rPr lang="es-PE" sz="900" dirty="0" err="1"/>
              <a:t>hidden</a:t>
            </a:r>
            <a:r>
              <a:rPr lang="es-PE" sz="900" dirty="0"/>
              <a:t> </a:t>
            </a:r>
            <a:r>
              <a:rPr lang="es-PE" sz="900" dirty="0" err="1"/>
              <a:t>patterns</a:t>
            </a:r>
            <a:r>
              <a:rPr lang="es-PE" sz="900" dirty="0"/>
              <a:t> </a:t>
            </a:r>
          </a:p>
          <a:p>
            <a:pPr>
              <a:buNone/>
            </a:pPr>
            <a:r>
              <a:rPr lang="es-PE" sz="900" dirty="0"/>
              <a:t>👉 Key: </a:t>
            </a:r>
            <a:r>
              <a:rPr lang="es-PE" sz="900" dirty="0" err="1"/>
              <a:t>understand</a:t>
            </a:r>
            <a:r>
              <a:rPr lang="es-PE" sz="900" dirty="0"/>
              <a:t> </a:t>
            </a:r>
            <a:r>
              <a:rPr lang="es-PE" sz="900" b="1" dirty="0" err="1"/>
              <a:t>what</a:t>
            </a:r>
            <a:r>
              <a:rPr lang="es-PE" sz="900" b="1" dirty="0"/>
              <a:t> drives </a:t>
            </a:r>
            <a:r>
              <a:rPr lang="es-PE" sz="900" b="1" dirty="0" err="1"/>
              <a:t>losses</a:t>
            </a:r>
            <a:r>
              <a:rPr lang="es-PE" sz="900" b="1" dirty="0"/>
              <a:t> and </a:t>
            </a:r>
            <a:r>
              <a:rPr lang="es-PE" sz="900" b="1" dirty="0" err="1"/>
              <a:t>how</a:t>
            </a:r>
            <a:r>
              <a:rPr lang="es-PE" sz="900" b="1" dirty="0"/>
              <a:t> </a:t>
            </a:r>
            <a:r>
              <a:rPr lang="es-PE" sz="900" b="1" dirty="0" err="1"/>
              <a:t>factors</a:t>
            </a:r>
            <a:r>
              <a:rPr lang="es-PE" sz="900" b="1" dirty="0"/>
              <a:t> </a:t>
            </a:r>
            <a:r>
              <a:rPr lang="es-PE" sz="900" b="1" dirty="0" err="1"/>
              <a:t>interact</a:t>
            </a:r>
            <a:endParaRPr lang="es-PE" sz="900" dirty="0"/>
          </a:p>
          <a:p>
            <a:pPr>
              <a:buNone/>
            </a:pPr>
            <a:endParaRPr lang="es-PE" sz="900" dirty="0"/>
          </a:p>
          <a:p>
            <a:pPr>
              <a:buNone/>
            </a:pPr>
            <a:r>
              <a:rPr lang="es-PE" sz="900" b="1" dirty="0"/>
              <a:t>6. Tail </a:t>
            </a:r>
            <a:r>
              <a:rPr lang="es-PE" sz="900" b="1" dirty="0" err="1"/>
              <a:t>Risk</a:t>
            </a:r>
            <a:r>
              <a:rPr lang="es-PE" sz="900" b="1" dirty="0"/>
              <a:t> &amp; </a:t>
            </a:r>
            <a:r>
              <a:rPr lang="es-PE" sz="900" b="1" dirty="0" err="1"/>
              <a:t>Structural</a:t>
            </a:r>
            <a:r>
              <a:rPr lang="es-PE" sz="900" b="1" dirty="0"/>
              <a:t> Change</a:t>
            </a:r>
          </a:p>
          <a:p>
            <a:pPr>
              <a:buFont typeface="Arial" panose="020B0604020202020204" pitchFamily="34" charset="0"/>
              <a:buChar char="•"/>
            </a:pPr>
            <a:r>
              <a:rPr lang="es-PE" sz="900" dirty="0"/>
              <a:t>Rare extreme </a:t>
            </a:r>
            <a:r>
              <a:rPr lang="es-PE" sz="900" dirty="0" err="1"/>
              <a:t>events</a:t>
            </a:r>
            <a:r>
              <a:rPr lang="es-PE" sz="900" dirty="0"/>
              <a:t> (</a:t>
            </a:r>
            <a:r>
              <a:rPr lang="es-PE" sz="900" dirty="0" err="1"/>
              <a:t>tail</a:t>
            </a:r>
            <a:r>
              <a:rPr lang="es-PE" sz="900" dirty="0"/>
              <a:t> </a:t>
            </a:r>
            <a:r>
              <a:rPr lang="es-PE" sz="900" dirty="0" err="1"/>
              <a:t>risk</a:t>
            </a:r>
            <a:r>
              <a:rPr lang="es-PE" sz="900" dirty="0"/>
              <a:t>) → </a:t>
            </a:r>
            <a:r>
              <a:rPr lang="es-PE" sz="900" dirty="0" err="1"/>
              <a:t>hard</a:t>
            </a:r>
            <a:r>
              <a:rPr lang="es-PE" sz="900" dirty="0"/>
              <a:t> </a:t>
            </a:r>
            <a:r>
              <a:rPr lang="es-PE" sz="900" dirty="0" err="1"/>
              <a:t>to</a:t>
            </a:r>
            <a:r>
              <a:rPr lang="es-PE" sz="900" dirty="0"/>
              <a:t> </a:t>
            </a:r>
            <a:r>
              <a:rPr lang="es-PE" sz="900" dirty="0" err="1"/>
              <a:t>detect</a:t>
            </a:r>
            <a:r>
              <a:rPr lang="es-PE" sz="900" dirty="0"/>
              <a:t> </a:t>
            </a:r>
          </a:p>
          <a:p>
            <a:pPr>
              <a:buFont typeface="Arial" panose="020B0604020202020204" pitchFamily="34" charset="0"/>
              <a:buChar char="•"/>
            </a:pPr>
            <a:r>
              <a:rPr lang="es-PE" sz="900" dirty="0"/>
              <a:t>Use </a:t>
            </a:r>
            <a:r>
              <a:rPr lang="es-PE" sz="900" b="1" dirty="0"/>
              <a:t>Extreme </a:t>
            </a:r>
            <a:r>
              <a:rPr lang="es-PE" sz="900" b="1" dirty="0" err="1"/>
              <a:t>Value</a:t>
            </a:r>
            <a:r>
              <a:rPr lang="es-PE" sz="900" b="1" dirty="0"/>
              <a:t> </a:t>
            </a:r>
            <a:r>
              <a:rPr lang="es-PE" sz="900" b="1" dirty="0" err="1"/>
              <a:t>Theory</a:t>
            </a:r>
            <a:r>
              <a:rPr lang="es-PE" sz="900" b="1" dirty="0"/>
              <a:t> (EVT)</a:t>
            </a:r>
            <a:r>
              <a:rPr lang="es-PE" sz="900" dirty="0"/>
              <a:t> </a:t>
            </a:r>
            <a:r>
              <a:rPr lang="es-PE" sz="900" dirty="0" err="1"/>
              <a:t>when</a:t>
            </a:r>
            <a:r>
              <a:rPr lang="es-PE" sz="900" dirty="0"/>
              <a:t> data </a:t>
            </a:r>
            <a:r>
              <a:rPr lang="es-PE" sz="900" dirty="0" err="1"/>
              <a:t>is</a:t>
            </a:r>
            <a:r>
              <a:rPr lang="es-PE" sz="900" dirty="0"/>
              <a:t> </a:t>
            </a:r>
            <a:r>
              <a:rPr lang="es-PE" sz="900" dirty="0" err="1"/>
              <a:t>scarce</a:t>
            </a:r>
            <a:r>
              <a:rPr lang="es-PE" sz="900" dirty="0"/>
              <a:t> </a:t>
            </a:r>
          </a:p>
          <a:p>
            <a:pPr>
              <a:buFont typeface="Arial" panose="020B0604020202020204" pitchFamily="34" charset="0"/>
              <a:buChar char="•"/>
            </a:pPr>
            <a:r>
              <a:rPr lang="es-PE" sz="900" dirty="0" err="1"/>
              <a:t>Structural</a:t>
            </a:r>
            <a:r>
              <a:rPr lang="es-PE" sz="900" dirty="0"/>
              <a:t> </a:t>
            </a:r>
            <a:r>
              <a:rPr lang="es-PE" sz="900" dirty="0" err="1"/>
              <a:t>changes</a:t>
            </a:r>
            <a:r>
              <a:rPr lang="es-PE" sz="900" dirty="0"/>
              <a:t> → </a:t>
            </a:r>
            <a:r>
              <a:rPr lang="es-PE" sz="900" dirty="0" err="1"/>
              <a:t>invalidate</a:t>
            </a:r>
            <a:r>
              <a:rPr lang="es-PE" sz="900" dirty="0"/>
              <a:t> </a:t>
            </a:r>
            <a:r>
              <a:rPr lang="es-PE" sz="900" dirty="0" err="1"/>
              <a:t>historical</a:t>
            </a:r>
            <a:r>
              <a:rPr lang="es-PE" sz="900" dirty="0"/>
              <a:t> data </a:t>
            </a:r>
          </a:p>
          <a:p>
            <a:pPr>
              <a:buNone/>
            </a:pPr>
            <a:r>
              <a:rPr lang="es-PE" sz="900" dirty="0"/>
              <a:t>👉 </a:t>
            </a:r>
            <a:r>
              <a:rPr lang="es-PE" sz="900" dirty="0" err="1"/>
              <a:t>Financial</a:t>
            </a:r>
            <a:r>
              <a:rPr lang="es-PE" sz="900" dirty="0"/>
              <a:t> </a:t>
            </a:r>
            <a:r>
              <a:rPr lang="es-PE" sz="900" dirty="0" err="1"/>
              <a:t>systems</a:t>
            </a:r>
            <a:r>
              <a:rPr lang="es-PE" sz="900" dirty="0"/>
              <a:t> are </a:t>
            </a:r>
            <a:r>
              <a:rPr lang="es-PE" sz="900" dirty="0" err="1"/>
              <a:t>dynamic</a:t>
            </a:r>
            <a:r>
              <a:rPr lang="es-PE" sz="900" dirty="0"/>
              <a:t> → </a:t>
            </a:r>
            <a:r>
              <a:rPr lang="es-PE" sz="900" dirty="0" err="1"/>
              <a:t>past</a:t>
            </a:r>
            <a:r>
              <a:rPr lang="es-PE" sz="900" dirty="0"/>
              <a:t> ≠ future</a:t>
            </a:r>
          </a:p>
          <a:p>
            <a:pPr>
              <a:buNone/>
            </a:pPr>
            <a:endParaRPr lang="es-PE" sz="900" dirty="0"/>
          </a:p>
          <a:p>
            <a:pPr>
              <a:buNone/>
            </a:pPr>
            <a:r>
              <a:rPr lang="es-PE" sz="900" b="1" dirty="0"/>
              <a:t>7. Human </a:t>
            </a:r>
            <a:r>
              <a:rPr lang="es-PE" sz="900" b="1" dirty="0" err="1"/>
              <a:t>Behavior</a:t>
            </a:r>
            <a:r>
              <a:rPr lang="es-PE" sz="900" b="1" dirty="0"/>
              <a:t> &amp; </a:t>
            </a:r>
            <a:r>
              <a:rPr lang="es-PE" sz="900" b="1" dirty="0" err="1"/>
              <a:t>Conflicts</a:t>
            </a:r>
            <a:endParaRPr lang="es-PE" sz="900" b="1" dirty="0"/>
          </a:p>
          <a:p>
            <a:r>
              <a:rPr lang="es-PE" sz="900" dirty="0" err="1"/>
              <a:t>Conflicts</a:t>
            </a:r>
            <a:r>
              <a:rPr lang="es-PE" sz="900" dirty="0"/>
              <a:t> </a:t>
            </a:r>
            <a:r>
              <a:rPr lang="es-PE" sz="900" dirty="0" err="1"/>
              <a:t>of</a:t>
            </a:r>
            <a:r>
              <a:rPr lang="es-PE" sz="900" dirty="0"/>
              <a:t> </a:t>
            </a:r>
            <a:r>
              <a:rPr lang="es-PE" sz="900" dirty="0" err="1"/>
              <a:t>interest</a:t>
            </a:r>
            <a:r>
              <a:rPr lang="es-PE" sz="900" dirty="0"/>
              <a:t> can </a:t>
            </a:r>
            <a:r>
              <a:rPr lang="es-PE" sz="900" dirty="0" err="1"/>
              <a:t>hide</a:t>
            </a:r>
            <a:r>
              <a:rPr lang="es-PE" sz="900" dirty="0"/>
              <a:t> </a:t>
            </a:r>
            <a:r>
              <a:rPr lang="es-PE" sz="900" dirty="0" err="1"/>
              <a:t>risk</a:t>
            </a:r>
            <a:r>
              <a:rPr lang="es-PE" sz="900" dirty="0"/>
              <a:t> </a:t>
            </a:r>
          </a:p>
          <a:p>
            <a:pPr>
              <a:buNone/>
            </a:pPr>
            <a:r>
              <a:rPr lang="es-PE" sz="900" b="1" dirty="0" err="1"/>
              <a:t>Three</a:t>
            </a:r>
            <a:r>
              <a:rPr lang="es-PE" sz="900" b="1" dirty="0"/>
              <a:t> </a:t>
            </a:r>
            <a:r>
              <a:rPr lang="es-PE" sz="900" b="1" dirty="0" err="1"/>
              <a:t>lines</a:t>
            </a:r>
            <a:r>
              <a:rPr lang="es-PE" sz="900" b="1" dirty="0"/>
              <a:t> </a:t>
            </a:r>
            <a:r>
              <a:rPr lang="es-PE" sz="900" b="1" dirty="0" err="1"/>
              <a:t>of</a:t>
            </a:r>
            <a:r>
              <a:rPr lang="es-PE" sz="900" b="1" dirty="0"/>
              <a:t> defense:</a:t>
            </a:r>
            <a:endParaRPr lang="es-PE" sz="900" dirty="0"/>
          </a:p>
          <a:p>
            <a:pPr>
              <a:buFont typeface="+mj-lt"/>
              <a:buAutoNum type="arabicPeriod"/>
            </a:pPr>
            <a:r>
              <a:rPr lang="es-PE" sz="900" dirty="0"/>
              <a:t>Business (</a:t>
            </a:r>
            <a:r>
              <a:rPr lang="es-PE" sz="900" dirty="0" err="1"/>
              <a:t>owns</a:t>
            </a:r>
            <a:r>
              <a:rPr lang="es-PE" sz="900" dirty="0"/>
              <a:t> </a:t>
            </a:r>
            <a:r>
              <a:rPr lang="es-PE" sz="900" dirty="0" err="1"/>
              <a:t>risk</a:t>
            </a:r>
            <a:r>
              <a:rPr lang="es-PE" sz="900" dirty="0"/>
              <a:t>) </a:t>
            </a:r>
          </a:p>
          <a:p>
            <a:pPr>
              <a:buFont typeface="+mj-lt"/>
              <a:buAutoNum type="arabicPeriod"/>
            </a:pPr>
            <a:r>
              <a:rPr lang="es-PE" sz="900" dirty="0" err="1"/>
              <a:t>Risk</a:t>
            </a:r>
            <a:r>
              <a:rPr lang="es-PE" sz="900" dirty="0"/>
              <a:t> </a:t>
            </a:r>
            <a:r>
              <a:rPr lang="es-PE" sz="900" dirty="0" err="1"/>
              <a:t>management</a:t>
            </a:r>
            <a:r>
              <a:rPr lang="es-PE" sz="900" dirty="0"/>
              <a:t> (</a:t>
            </a:r>
            <a:r>
              <a:rPr lang="es-PE" sz="900" dirty="0" err="1"/>
              <a:t>oversight</a:t>
            </a:r>
            <a:r>
              <a:rPr lang="es-PE" sz="900" dirty="0"/>
              <a:t>) </a:t>
            </a:r>
          </a:p>
          <a:p>
            <a:pPr>
              <a:buFont typeface="+mj-lt"/>
              <a:buAutoNum type="arabicPeriod"/>
            </a:pPr>
            <a:r>
              <a:rPr lang="es-PE" sz="900" dirty="0"/>
              <a:t>Audit (</a:t>
            </a:r>
            <a:r>
              <a:rPr lang="es-PE" sz="900" dirty="0" err="1"/>
              <a:t>independent</a:t>
            </a:r>
            <a:r>
              <a:rPr lang="es-PE" sz="900" dirty="0"/>
              <a:t> control) </a:t>
            </a:r>
          </a:p>
          <a:p>
            <a:pPr>
              <a:buNone/>
            </a:pPr>
            <a:r>
              <a:rPr lang="es-PE" sz="900" dirty="0"/>
              <a:t>👉 </a:t>
            </a:r>
            <a:r>
              <a:rPr lang="es-PE" sz="900" dirty="0" err="1"/>
              <a:t>Systems</a:t>
            </a:r>
            <a:r>
              <a:rPr lang="es-PE" sz="900" dirty="0"/>
              <a:t> </a:t>
            </a:r>
            <a:r>
              <a:rPr lang="es-PE" sz="900" dirty="0" err="1"/>
              <a:t>always</a:t>
            </a:r>
            <a:r>
              <a:rPr lang="es-PE" sz="900" dirty="0"/>
              <a:t> </a:t>
            </a:r>
            <a:r>
              <a:rPr lang="es-PE" sz="900" dirty="0" err="1"/>
              <a:t>have</a:t>
            </a:r>
            <a:r>
              <a:rPr lang="es-PE" sz="900" dirty="0"/>
              <a:t> </a:t>
            </a:r>
            <a:r>
              <a:rPr lang="es-PE" sz="900" b="1" dirty="0" err="1"/>
              <a:t>loopholes</a:t>
            </a:r>
            <a:endParaRPr lang="es-PE" sz="900" b="1" dirty="0"/>
          </a:p>
          <a:p>
            <a:pPr>
              <a:buNone/>
            </a:pPr>
            <a:endParaRPr lang="es-PE" sz="900" dirty="0"/>
          </a:p>
          <a:p>
            <a:r>
              <a:rPr lang="en-US" sz="900" b="1" dirty="0"/>
              <a:t>9. RAROC (Core Decision Tool)</a:t>
            </a:r>
          </a:p>
          <a:p>
            <a:r>
              <a:rPr lang="en-US" sz="900" dirty="0"/>
              <a:t>👉 </a:t>
            </a:r>
            <a:r>
              <a:rPr lang="en-US" sz="900" b="1" dirty="0"/>
              <a:t>RAROC = Risk-adjusted return / Economic capital</a:t>
            </a:r>
            <a:endParaRPr lang="en-US" sz="900" dirty="0"/>
          </a:p>
          <a:p>
            <a:r>
              <a:rPr lang="en-US" sz="900" dirty="0"/>
              <a:t>Adjusts return for </a:t>
            </a:r>
            <a:r>
              <a:rPr lang="en-US" sz="900" b="1" dirty="0"/>
              <a:t>EL</a:t>
            </a:r>
            <a:r>
              <a:rPr lang="en-US" sz="900" dirty="0"/>
              <a:t> </a:t>
            </a:r>
          </a:p>
          <a:p>
            <a:r>
              <a:rPr lang="en-US" sz="900" dirty="0"/>
              <a:t>Risk measured by </a:t>
            </a:r>
            <a:r>
              <a:rPr lang="en-US" sz="900" b="1" dirty="0"/>
              <a:t>economic capital (UL)</a:t>
            </a:r>
            <a:r>
              <a:rPr lang="en-US" sz="900" dirty="0"/>
              <a:t> </a:t>
            </a:r>
          </a:p>
          <a:p>
            <a:r>
              <a:rPr lang="en-US" sz="900" dirty="0"/>
              <a:t>👉 Decision rule:</a:t>
            </a:r>
            <a:br>
              <a:rPr lang="en-US" sz="900" dirty="0"/>
            </a:br>
            <a:r>
              <a:rPr lang="en-US" sz="900" b="1" dirty="0"/>
              <a:t>RAROC &gt; cost of equity → value creation</a:t>
            </a:r>
            <a:endParaRPr lang="en-US" sz="900" dirty="0"/>
          </a:p>
          <a:p>
            <a:pPr>
              <a:buNone/>
            </a:pPr>
            <a:endParaRPr lang="es-PE" sz="900" dirty="0"/>
          </a:p>
        </p:txBody>
      </p:sp>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F426F3A1-F8E9-DBCD-8A22-9241ED548463}"/>
                  </a:ext>
                </a:extLst>
              </p:cNvPr>
              <p:cNvSpPr txBox="1"/>
              <p:nvPr/>
            </p:nvSpPr>
            <p:spPr>
              <a:xfrm>
                <a:off x="6088455" y="2899912"/>
                <a:ext cx="3321595" cy="3970318"/>
              </a:xfrm>
              <a:prstGeom prst="rect">
                <a:avLst/>
              </a:prstGeom>
              <a:noFill/>
            </p:spPr>
            <p:txBody>
              <a:bodyPr wrap="square">
                <a:spAutoFit/>
              </a:bodyPr>
              <a:lstStyle/>
              <a:p>
                <a:pPr>
                  <a:buNone/>
                </a:pPr>
                <a:r>
                  <a:rPr lang="es-PE" sz="900" b="1" dirty="0"/>
                  <a:t>1. </a:t>
                </a:r>
                <a:r>
                  <a:rPr lang="es-PE" sz="900" b="1" dirty="0" err="1"/>
                  <a:t>Expected</a:t>
                </a:r>
                <a:r>
                  <a:rPr lang="es-PE" sz="900" b="1" dirty="0"/>
                  <a:t> vs </a:t>
                </a:r>
                <a:r>
                  <a:rPr lang="es-PE" sz="900" b="1" dirty="0" err="1"/>
                  <a:t>Unexpected</a:t>
                </a:r>
                <a:r>
                  <a:rPr lang="es-PE" sz="900" b="1" dirty="0"/>
                  <a:t> </a:t>
                </a:r>
                <a:r>
                  <a:rPr lang="es-PE" sz="900" b="1" dirty="0" err="1"/>
                  <a:t>Loss</a:t>
                </a:r>
                <a:endParaRPr lang="es-PE" sz="900" b="1" dirty="0"/>
              </a:p>
              <a:p>
                <a:pPr>
                  <a:buFont typeface="Arial" panose="020B0604020202020204" pitchFamily="34" charset="0"/>
                  <a:buChar char="•"/>
                </a:pPr>
                <a:r>
                  <a:rPr lang="es-PE" sz="900" b="1" dirty="0"/>
                  <a:t>EL</a:t>
                </a:r>
                <a:r>
                  <a:rPr lang="es-PE" sz="900" dirty="0"/>
                  <a:t>: </a:t>
                </a:r>
                <a:r>
                  <a:rPr lang="es-PE" sz="900" dirty="0" err="1"/>
                  <a:t>average</a:t>
                </a:r>
                <a:r>
                  <a:rPr lang="es-PE" sz="900" dirty="0"/>
                  <a:t>, </a:t>
                </a:r>
                <a:r>
                  <a:rPr lang="es-PE" sz="900" dirty="0" err="1"/>
                  <a:t>predictable</a:t>
                </a:r>
                <a:r>
                  <a:rPr lang="es-PE" sz="900" dirty="0"/>
                  <a:t> </a:t>
                </a:r>
                <a:r>
                  <a:rPr lang="es-PE" sz="900" dirty="0" err="1"/>
                  <a:t>loss</a:t>
                </a:r>
                <a:br>
                  <a:rPr lang="es-PE" sz="900" dirty="0"/>
                </a:br>
                <a:r>
                  <a:rPr lang="es-PE" sz="900" dirty="0"/>
                  <a:t>👉 </a:t>
                </a:r>
                <a14:m>
                  <m:oMath xmlns:m="http://schemas.openxmlformats.org/officeDocument/2006/math">
                    <m:r>
                      <a:rPr lang="es-PE" sz="900" i="1">
                        <a:latin typeface="Cambria Math" panose="02040503050406030204" pitchFamily="18" charset="0"/>
                      </a:rPr>
                      <m:t>𝐸𝐿</m:t>
                    </m:r>
                    <m:r>
                      <a:rPr lang="es-PE" sz="900" i="0">
                        <a:latin typeface="Cambria Math" panose="02040503050406030204" pitchFamily="18" charset="0"/>
                      </a:rPr>
                      <m:t>=</m:t>
                    </m:r>
                    <m:r>
                      <a:rPr lang="es-PE" sz="900" i="1">
                        <a:latin typeface="Cambria Math" panose="02040503050406030204" pitchFamily="18" charset="0"/>
                      </a:rPr>
                      <m:t>𝑃𝐷</m:t>
                    </m:r>
                    <m:r>
                      <a:rPr lang="es-PE" sz="900" i="0">
                        <a:latin typeface="Cambria Math" panose="02040503050406030204" pitchFamily="18" charset="0"/>
                      </a:rPr>
                      <m:t>×</m:t>
                    </m:r>
                    <m:r>
                      <a:rPr lang="es-PE" sz="900" i="1">
                        <a:latin typeface="Cambria Math" panose="02040503050406030204" pitchFamily="18" charset="0"/>
                      </a:rPr>
                      <m:t>𝐸𝐴𝐷</m:t>
                    </m:r>
                    <m:r>
                      <a:rPr lang="es-PE" sz="900" i="0">
                        <a:latin typeface="Cambria Math" panose="02040503050406030204" pitchFamily="18" charset="0"/>
                      </a:rPr>
                      <m:t>×</m:t>
                    </m:r>
                    <m:r>
                      <a:rPr lang="es-PE" sz="900" i="1">
                        <a:latin typeface="Cambria Math" panose="02040503050406030204" pitchFamily="18" charset="0"/>
                      </a:rPr>
                      <m:t>𝐿𝐺𝐷</m:t>
                    </m:r>
                  </m:oMath>
                </a14:m>
                <a:br>
                  <a:rPr lang="es-PE" sz="900" dirty="0"/>
                </a:br>
                <a:r>
                  <a:rPr lang="es-PE" sz="900" dirty="0"/>
                  <a:t>→ </a:t>
                </a:r>
                <a:r>
                  <a:rPr lang="es-PE" sz="900" dirty="0" err="1"/>
                  <a:t>priced</a:t>
                </a:r>
                <a:r>
                  <a:rPr lang="es-PE" sz="900" dirty="0"/>
                  <a:t> </a:t>
                </a:r>
                <a:r>
                  <a:rPr lang="es-PE" sz="900" dirty="0" err="1"/>
                  <a:t>into</a:t>
                </a:r>
                <a:r>
                  <a:rPr lang="es-PE" sz="900" dirty="0"/>
                  <a:t> </a:t>
                </a:r>
                <a:r>
                  <a:rPr lang="es-PE" sz="900" dirty="0" err="1"/>
                  <a:t>products</a:t>
                </a:r>
                <a:r>
                  <a:rPr lang="es-PE" sz="900" dirty="0"/>
                  <a:t> (</a:t>
                </a:r>
                <a:r>
                  <a:rPr lang="es-PE" sz="900" dirty="0" err="1"/>
                  <a:t>cost</a:t>
                </a:r>
                <a:r>
                  <a:rPr lang="es-PE" sz="900" dirty="0"/>
                  <a:t> </a:t>
                </a:r>
                <a:r>
                  <a:rPr lang="es-PE" sz="900" dirty="0" err="1"/>
                  <a:t>of</a:t>
                </a:r>
                <a:r>
                  <a:rPr lang="es-PE" sz="900" dirty="0"/>
                  <a:t> </a:t>
                </a:r>
                <a:r>
                  <a:rPr lang="es-PE" sz="900" dirty="0" err="1"/>
                  <a:t>business</a:t>
                </a:r>
                <a:r>
                  <a:rPr lang="es-PE" sz="900" dirty="0"/>
                  <a:t>) </a:t>
                </a:r>
              </a:p>
              <a:p>
                <a:pPr>
                  <a:buFont typeface="Arial" panose="020B0604020202020204" pitchFamily="34" charset="0"/>
                  <a:buChar char="•"/>
                </a:pPr>
                <a:r>
                  <a:rPr lang="es-PE" sz="900" b="1" dirty="0"/>
                  <a:t>UL</a:t>
                </a:r>
                <a:r>
                  <a:rPr lang="es-PE" sz="900" dirty="0"/>
                  <a:t>: </a:t>
                </a:r>
                <a:r>
                  <a:rPr lang="es-PE" sz="900" dirty="0" err="1"/>
                  <a:t>deviation</a:t>
                </a:r>
                <a:r>
                  <a:rPr lang="es-PE" sz="900" dirty="0"/>
                  <a:t> </a:t>
                </a:r>
                <a:r>
                  <a:rPr lang="es-PE" sz="900" dirty="0" err="1"/>
                  <a:t>from</a:t>
                </a:r>
                <a:r>
                  <a:rPr lang="es-PE" sz="900" dirty="0"/>
                  <a:t> EL</a:t>
                </a:r>
                <a:br>
                  <a:rPr lang="es-PE" sz="900" dirty="0"/>
                </a:br>
                <a:r>
                  <a:rPr lang="es-PE" sz="900" dirty="0"/>
                  <a:t>→ </a:t>
                </a:r>
                <a:r>
                  <a:rPr lang="es-PE" sz="900" dirty="0" err="1"/>
                  <a:t>driven</a:t>
                </a:r>
                <a:r>
                  <a:rPr lang="es-PE" sz="900" dirty="0"/>
                  <a:t> </a:t>
                </a:r>
                <a:r>
                  <a:rPr lang="es-PE" sz="900" dirty="0" err="1"/>
                  <a:t>by</a:t>
                </a:r>
                <a:r>
                  <a:rPr lang="es-PE" sz="900" dirty="0"/>
                  <a:t> shocks, </a:t>
                </a:r>
                <a:r>
                  <a:rPr lang="es-PE" sz="900" dirty="0" err="1"/>
                  <a:t>correlations</a:t>
                </a:r>
                <a:r>
                  <a:rPr lang="es-PE" sz="900" dirty="0"/>
                  <a:t>, macro </a:t>
                </a:r>
                <a:r>
                  <a:rPr lang="es-PE" sz="900" dirty="0" err="1"/>
                  <a:t>factors</a:t>
                </a:r>
                <a:br>
                  <a:rPr lang="es-PE" sz="900" dirty="0"/>
                </a:br>
                <a:r>
                  <a:rPr lang="es-PE" sz="900" dirty="0"/>
                  <a:t>→ </a:t>
                </a:r>
                <a:r>
                  <a:rPr lang="es-PE" sz="900" dirty="0" err="1"/>
                  <a:t>requires</a:t>
                </a:r>
                <a:r>
                  <a:rPr lang="es-PE" sz="900" dirty="0"/>
                  <a:t> </a:t>
                </a:r>
                <a:r>
                  <a:rPr lang="es-PE" sz="900" b="1" dirty="0" err="1"/>
                  <a:t>risk</a:t>
                </a:r>
                <a:r>
                  <a:rPr lang="es-PE" sz="900" b="1" dirty="0"/>
                  <a:t> capital</a:t>
                </a:r>
                <a:r>
                  <a:rPr lang="es-PE" sz="900" dirty="0"/>
                  <a:t> </a:t>
                </a:r>
              </a:p>
              <a:p>
                <a:pPr>
                  <a:buFont typeface="Arial" panose="020B0604020202020204" pitchFamily="34" charset="0"/>
                  <a:buChar char="•"/>
                </a:pPr>
                <a:r>
                  <a:rPr lang="es-PE" sz="900" b="1" dirty="0"/>
                  <a:t>Extreme </a:t>
                </a:r>
                <a:r>
                  <a:rPr lang="es-PE" sz="900" b="1" dirty="0" err="1"/>
                  <a:t>losses</a:t>
                </a:r>
                <a:r>
                  <a:rPr lang="es-PE" sz="900" dirty="0"/>
                  <a:t>: rare </a:t>
                </a:r>
                <a:r>
                  <a:rPr lang="es-PE" sz="900" dirty="0" err="1"/>
                  <a:t>but</a:t>
                </a:r>
                <a:r>
                  <a:rPr lang="es-PE" sz="900" dirty="0"/>
                  <a:t> severe → can cause </a:t>
                </a:r>
                <a:r>
                  <a:rPr lang="es-PE" sz="900" dirty="0" err="1"/>
                  <a:t>insolvency</a:t>
                </a:r>
                <a:r>
                  <a:rPr lang="es-PE" sz="900" dirty="0"/>
                  <a:t> </a:t>
                </a:r>
              </a:p>
              <a:p>
                <a:pPr>
                  <a:buFont typeface="Arial" panose="020B0604020202020204" pitchFamily="34" charset="0"/>
                  <a:buChar char="•"/>
                </a:pPr>
                <a:endParaRPr lang="es-PE" sz="900" dirty="0"/>
              </a:p>
              <a:p>
                <a:pPr>
                  <a:buNone/>
                </a:pPr>
                <a:r>
                  <a:rPr lang="es-PE" sz="900" b="1" dirty="0"/>
                  <a:t>2. Portfolio </a:t>
                </a:r>
                <a:r>
                  <a:rPr lang="es-PE" sz="900" b="1" dirty="0" err="1"/>
                  <a:t>Behavior</a:t>
                </a:r>
                <a:r>
                  <a:rPr lang="es-PE" sz="900" b="1" dirty="0"/>
                  <a:t> &amp; </a:t>
                </a:r>
                <a:r>
                  <a:rPr lang="es-PE" sz="900" b="1" dirty="0" err="1"/>
                  <a:t>Risk</a:t>
                </a:r>
                <a:r>
                  <a:rPr lang="es-PE" sz="900" b="1" dirty="0"/>
                  <a:t> Dynamics</a:t>
                </a:r>
              </a:p>
              <a:p>
                <a:pPr>
                  <a:buFont typeface="Arial" panose="020B0604020202020204" pitchFamily="34" charset="0"/>
                  <a:buChar char="•"/>
                </a:pPr>
                <a:r>
                  <a:rPr lang="es-PE" sz="900" dirty="0" err="1"/>
                  <a:t>Diversification</a:t>
                </a:r>
                <a:r>
                  <a:rPr lang="es-PE" sz="900" dirty="0"/>
                  <a:t> ↓ </a:t>
                </a:r>
                <a:r>
                  <a:rPr lang="es-PE" sz="900" dirty="0" err="1"/>
                  <a:t>unexpected</a:t>
                </a:r>
                <a:r>
                  <a:rPr lang="es-PE" sz="900" dirty="0"/>
                  <a:t> </a:t>
                </a:r>
                <a:r>
                  <a:rPr lang="es-PE" sz="900" dirty="0" err="1"/>
                  <a:t>loss</a:t>
                </a:r>
                <a:r>
                  <a:rPr lang="es-PE" sz="900" dirty="0"/>
                  <a:t> </a:t>
                </a:r>
              </a:p>
              <a:p>
                <a:pPr>
                  <a:buFont typeface="Arial" panose="020B0604020202020204" pitchFamily="34" charset="0"/>
                  <a:buChar char="•"/>
                </a:pPr>
                <a:r>
                  <a:rPr lang="es-PE" sz="900" dirty="0" err="1"/>
                  <a:t>Risk</a:t>
                </a:r>
                <a:r>
                  <a:rPr lang="es-PE" sz="900" dirty="0"/>
                  <a:t> </a:t>
                </a:r>
                <a:r>
                  <a:rPr lang="es-PE" sz="900" dirty="0" err="1"/>
                  <a:t>changes</a:t>
                </a:r>
                <a:r>
                  <a:rPr lang="es-PE" sz="900" dirty="0"/>
                  <a:t> </a:t>
                </a:r>
                <a:r>
                  <a:rPr lang="es-PE" sz="900" dirty="0" err="1"/>
                  <a:t>over</a:t>
                </a:r>
                <a:r>
                  <a:rPr lang="es-PE" sz="900" dirty="0"/>
                  <a:t> time (macro, </a:t>
                </a:r>
                <a:r>
                  <a:rPr lang="es-PE" sz="900" dirty="0" err="1"/>
                  <a:t>correlations</a:t>
                </a:r>
                <a:r>
                  <a:rPr lang="es-PE" sz="900" dirty="0"/>
                  <a:t>, portfolio </a:t>
                </a:r>
                <a:r>
                  <a:rPr lang="es-PE" sz="900" dirty="0" err="1"/>
                  <a:t>composition</a:t>
                </a:r>
                <a:r>
                  <a:rPr lang="es-PE" sz="900" dirty="0"/>
                  <a:t>) </a:t>
                </a:r>
              </a:p>
              <a:p>
                <a:pPr>
                  <a:buFont typeface="Arial" panose="020B0604020202020204" pitchFamily="34" charset="0"/>
                  <a:buChar char="•"/>
                </a:pPr>
                <a:r>
                  <a:rPr lang="es-PE" sz="900" dirty="0" err="1"/>
                  <a:t>Some</a:t>
                </a:r>
                <a:r>
                  <a:rPr lang="es-PE" sz="900" dirty="0"/>
                  <a:t> portfolios show </a:t>
                </a:r>
                <a:r>
                  <a:rPr lang="es-PE" sz="900" b="1" dirty="0" err="1"/>
                  <a:t>long</a:t>
                </a:r>
                <a:r>
                  <a:rPr lang="es-PE" sz="900" b="1" dirty="0"/>
                  <a:t> </a:t>
                </a:r>
                <a:r>
                  <a:rPr lang="es-PE" sz="900" b="1" dirty="0" err="1"/>
                  <a:t>calm</a:t>
                </a:r>
                <a:r>
                  <a:rPr lang="es-PE" sz="900" b="1" dirty="0"/>
                  <a:t> </a:t>
                </a:r>
                <a:r>
                  <a:rPr lang="es-PE" sz="900" b="1" dirty="0" err="1"/>
                  <a:t>periods</a:t>
                </a:r>
                <a:r>
                  <a:rPr lang="es-PE" sz="900" b="1" dirty="0"/>
                  <a:t> + </a:t>
                </a:r>
                <a:r>
                  <a:rPr lang="es-PE" sz="900" b="1" dirty="0" err="1"/>
                  <a:t>sudden</a:t>
                </a:r>
                <a:r>
                  <a:rPr lang="es-PE" sz="900" b="1" dirty="0"/>
                  <a:t> crises</a:t>
                </a:r>
                <a:r>
                  <a:rPr lang="es-PE" sz="900" dirty="0"/>
                  <a:t> </a:t>
                </a:r>
              </a:p>
              <a:p>
                <a:pPr>
                  <a:buNone/>
                </a:pPr>
                <a:r>
                  <a:rPr lang="es-PE" sz="900" dirty="0"/>
                  <a:t>👉 </a:t>
                </a:r>
                <a:r>
                  <a:rPr lang="es-PE" sz="900" dirty="0" err="1"/>
                  <a:t>Risk</a:t>
                </a:r>
                <a:r>
                  <a:rPr lang="es-PE" sz="900" dirty="0"/>
                  <a:t> managers </a:t>
                </a:r>
                <a:r>
                  <a:rPr lang="es-PE" sz="900" dirty="0" err="1"/>
                  <a:t>must</a:t>
                </a:r>
                <a:r>
                  <a:rPr lang="es-PE" sz="900" dirty="0"/>
                  <a:t> </a:t>
                </a:r>
                <a:r>
                  <a:rPr lang="es-PE" sz="900" dirty="0" err="1"/>
                  <a:t>avoid</a:t>
                </a:r>
                <a:r>
                  <a:rPr lang="es-PE" sz="900" dirty="0"/>
                  <a:t> </a:t>
                </a:r>
                <a:r>
                  <a:rPr lang="es-PE" sz="900" b="1" dirty="0" err="1"/>
                  <a:t>complacency</a:t>
                </a:r>
                <a:endParaRPr lang="es-PE" sz="900" dirty="0"/>
              </a:p>
              <a:p>
                <a:pPr>
                  <a:buNone/>
                </a:pPr>
                <a:br>
                  <a:rPr lang="es-PE" sz="900" dirty="0"/>
                </a:br>
                <a:endParaRPr lang="es-PE" sz="900" dirty="0"/>
              </a:p>
              <a:p>
                <a:pPr>
                  <a:buNone/>
                </a:pPr>
                <a:r>
                  <a:rPr lang="es-PE" sz="900" b="1" dirty="0"/>
                  <a:t>3. </a:t>
                </a:r>
                <a:r>
                  <a:rPr lang="es-PE" sz="900" b="1" dirty="0" err="1"/>
                  <a:t>Wrong-Way</a:t>
                </a:r>
                <a:r>
                  <a:rPr lang="es-PE" sz="900" b="1" dirty="0"/>
                  <a:t> </a:t>
                </a:r>
                <a:r>
                  <a:rPr lang="es-PE" sz="900" b="1" dirty="0" err="1"/>
                  <a:t>Risk</a:t>
                </a:r>
                <a:endParaRPr lang="es-PE" sz="900" b="1" dirty="0"/>
              </a:p>
              <a:p>
                <a:pPr>
                  <a:buFont typeface="Arial" panose="020B0604020202020204" pitchFamily="34" charset="0"/>
                  <a:buChar char="•"/>
                </a:pPr>
                <a:r>
                  <a:rPr lang="es-PE" sz="900" dirty="0" err="1"/>
                  <a:t>Occurs</a:t>
                </a:r>
                <a:r>
                  <a:rPr lang="es-PE" sz="900" dirty="0"/>
                  <a:t> </a:t>
                </a:r>
                <a:r>
                  <a:rPr lang="es-PE" sz="900" dirty="0" err="1"/>
                  <a:t>when</a:t>
                </a:r>
                <a:r>
                  <a:rPr lang="es-PE" sz="900" dirty="0"/>
                  <a:t>:</a:t>
                </a:r>
                <a:br>
                  <a:rPr lang="es-PE" sz="900" dirty="0"/>
                </a:br>
                <a:r>
                  <a:rPr lang="es-PE" sz="900" dirty="0"/>
                  <a:t>👉 </a:t>
                </a:r>
                <a:r>
                  <a:rPr lang="es-PE" sz="900" b="1" dirty="0" err="1"/>
                  <a:t>exposure</a:t>
                </a:r>
                <a:r>
                  <a:rPr lang="es-PE" sz="900" b="1" dirty="0"/>
                  <a:t> ↑ and </a:t>
                </a:r>
                <a:r>
                  <a:rPr lang="es-PE" sz="900" b="1" dirty="0" err="1"/>
                  <a:t>credit</a:t>
                </a:r>
                <a:r>
                  <a:rPr lang="es-PE" sz="900" b="1" dirty="0"/>
                  <a:t> </a:t>
                </a:r>
                <a:r>
                  <a:rPr lang="es-PE" sz="900" b="1" dirty="0" err="1"/>
                  <a:t>quality</a:t>
                </a:r>
                <a:r>
                  <a:rPr lang="es-PE" sz="900" b="1" dirty="0"/>
                  <a:t> ↓ </a:t>
                </a:r>
                <a:r>
                  <a:rPr lang="es-PE" sz="900" b="1" dirty="0" err="1"/>
                  <a:t>simultaneously</a:t>
                </a:r>
                <a:r>
                  <a:rPr lang="es-PE" sz="900" dirty="0"/>
                  <a:t> </a:t>
                </a:r>
              </a:p>
              <a:p>
                <a:pPr>
                  <a:buFont typeface="Arial" panose="020B0604020202020204" pitchFamily="34" charset="0"/>
                  <a:buChar char="•"/>
                </a:pPr>
                <a:r>
                  <a:rPr lang="es-PE" sz="900" dirty="0" err="1"/>
                  <a:t>Example</a:t>
                </a:r>
                <a:r>
                  <a:rPr lang="es-PE" sz="900" dirty="0"/>
                  <a:t>: real estate crises (</a:t>
                </a:r>
                <a:r>
                  <a:rPr lang="es-PE" sz="900" dirty="0" err="1"/>
                  <a:t>collateral</a:t>
                </a:r>
                <a:r>
                  <a:rPr lang="es-PE" sz="900" dirty="0"/>
                  <a:t> ↓ + defaults ↑) </a:t>
                </a:r>
              </a:p>
              <a:p>
                <a:pPr>
                  <a:buNone/>
                </a:pPr>
                <a:br>
                  <a:rPr lang="es-PE" sz="900" dirty="0"/>
                </a:br>
                <a:endParaRPr lang="es-PE" sz="900" dirty="0"/>
              </a:p>
              <a:p>
                <a:pPr>
                  <a:buNone/>
                </a:pPr>
                <a:r>
                  <a:rPr lang="es-PE" sz="900" b="1" dirty="0"/>
                  <a:t>4. </a:t>
                </a:r>
                <a:r>
                  <a:rPr lang="es-PE" sz="900" b="1" dirty="0" err="1"/>
                  <a:t>Risk</a:t>
                </a:r>
                <a:r>
                  <a:rPr lang="es-PE" sz="900" b="1" dirty="0"/>
                  <a:t> </a:t>
                </a:r>
                <a:r>
                  <a:rPr lang="es-PE" sz="900" b="1" dirty="0" err="1"/>
                  <a:t>Metrics</a:t>
                </a:r>
                <a:endParaRPr lang="es-PE" sz="900" b="1" dirty="0"/>
              </a:p>
              <a:p>
                <a:pPr>
                  <a:buFont typeface="Arial" panose="020B0604020202020204" pitchFamily="34" charset="0"/>
                  <a:buChar char="•"/>
                </a:pPr>
                <a:r>
                  <a:rPr lang="es-PE" sz="900" b="1" dirty="0"/>
                  <a:t>VaR</a:t>
                </a:r>
                <a:r>
                  <a:rPr lang="es-PE" sz="900" dirty="0"/>
                  <a:t>: </a:t>
                </a:r>
                <a:r>
                  <a:rPr lang="es-PE" sz="900" dirty="0" err="1"/>
                  <a:t>worst</a:t>
                </a:r>
                <a:r>
                  <a:rPr lang="es-PE" sz="900" dirty="0"/>
                  <a:t> </a:t>
                </a:r>
                <a:r>
                  <a:rPr lang="es-PE" sz="900" dirty="0" err="1"/>
                  <a:t>expected</a:t>
                </a:r>
                <a:r>
                  <a:rPr lang="es-PE" sz="900" dirty="0"/>
                  <a:t> </a:t>
                </a:r>
                <a:r>
                  <a:rPr lang="es-PE" sz="900" dirty="0" err="1"/>
                  <a:t>loss</a:t>
                </a:r>
                <a:r>
                  <a:rPr lang="es-PE" sz="900" dirty="0"/>
                  <a:t> at a </a:t>
                </a:r>
                <a:r>
                  <a:rPr lang="es-PE" sz="900" dirty="0" err="1"/>
                  <a:t>given</a:t>
                </a:r>
                <a:r>
                  <a:rPr lang="es-PE" sz="900" dirty="0"/>
                  <a:t> </a:t>
                </a:r>
                <a:r>
                  <a:rPr lang="es-PE" sz="900" dirty="0" err="1"/>
                  <a:t>confidence</a:t>
                </a:r>
                <a:r>
                  <a:rPr lang="es-PE" sz="900" dirty="0"/>
                  <a:t> </a:t>
                </a:r>
                <a:r>
                  <a:rPr lang="es-PE" sz="900" dirty="0" err="1"/>
                  <a:t>level</a:t>
                </a:r>
                <a:r>
                  <a:rPr lang="es-PE" sz="900" dirty="0"/>
                  <a:t> </a:t>
                </a:r>
              </a:p>
              <a:p>
                <a:pPr>
                  <a:buFont typeface="Arial" panose="020B0604020202020204" pitchFamily="34" charset="0"/>
                  <a:buChar char="•"/>
                </a:pPr>
                <a:r>
                  <a:rPr lang="es-PE" sz="900" b="1" dirty="0"/>
                  <a:t>ES (</a:t>
                </a:r>
                <a:r>
                  <a:rPr lang="es-PE" sz="900" b="1" dirty="0" err="1"/>
                  <a:t>CVaR</a:t>
                </a:r>
                <a:r>
                  <a:rPr lang="es-PE" sz="900" b="1" dirty="0"/>
                  <a:t>)</a:t>
                </a:r>
                <a:r>
                  <a:rPr lang="es-PE" sz="900" dirty="0"/>
                  <a:t>: </a:t>
                </a:r>
                <a:r>
                  <a:rPr lang="es-PE" sz="900" dirty="0" err="1"/>
                  <a:t>average</a:t>
                </a:r>
                <a:r>
                  <a:rPr lang="es-PE" sz="900" dirty="0"/>
                  <a:t> </a:t>
                </a:r>
                <a:r>
                  <a:rPr lang="es-PE" sz="900" dirty="0" err="1"/>
                  <a:t>loss</a:t>
                </a:r>
                <a:r>
                  <a:rPr lang="es-PE" sz="900" dirty="0"/>
                  <a:t> </a:t>
                </a:r>
                <a:r>
                  <a:rPr lang="es-PE" sz="900" dirty="0" err="1"/>
                  <a:t>beyond</a:t>
                </a:r>
                <a:r>
                  <a:rPr lang="es-PE" sz="900" dirty="0"/>
                  <a:t> VaR → </a:t>
                </a:r>
                <a:r>
                  <a:rPr lang="es-PE" sz="900" dirty="0" err="1"/>
                  <a:t>better</a:t>
                </a:r>
                <a:r>
                  <a:rPr lang="es-PE" sz="900" dirty="0"/>
                  <a:t> </a:t>
                </a:r>
                <a:r>
                  <a:rPr lang="es-PE" sz="900" dirty="0" err="1"/>
                  <a:t>for</a:t>
                </a:r>
                <a:r>
                  <a:rPr lang="es-PE" sz="900" dirty="0"/>
                  <a:t> </a:t>
                </a:r>
                <a:r>
                  <a:rPr lang="es-PE" sz="900" dirty="0" err="1"/>
                  <a:t>tail</a:t>
                </a:r>
                <a:r>
                  <a:rPr lang="es-PE" sz="900" dirty="0"/>
                  <a:t> </a:t>
                </a:r>
                <a:r>
                  <a:rPr lang="es-PE" sz="900" dirty="0" err="1"/>
                  <a:t>risk</a:t>
                </a:r>
                <a:r>
                  <a:rPr lang="es-PE" sz="900" dirty="0"/>
                  <a:t> </a:t>
                </a:r>
              </a:p>
              <a:p>
                <a:pPr>
                  <a:buNone/>
                </a:pPr>
                <a:r>
                  <a:rPr lang="es-PE" sz="900" dirty="0"/>
                  <a:t>👉 </a:t>
                </a:r>
                <a:r>
                  <a:rPr lang="es-PE" sz="900" dirty="0" err="1"/>
                  <a:t>Fat</a:t>
                </a:r>
                <a:r>
                  <a:rPr lang="es-PE" sz="900" dirty="0"/>
                  <a:t> </a:t>
                </a:r>
                <a:r>
                  <a:rPr lang="es-PE" sz="900" dirty="0" err="1"/>
                  <a:t>tails</a:t>
                </a:r>
                <a:r>
                  <a:rPr lang="es-PE" sz="900" dirty="0"/>
                  <a:t> → </a:t>
                </a:r>
                <a:r>
                  <a:rPr lang="es-PE" sz="900" dirty="0" err="1"/>
                  <a:t>higher</a:t>
                </a:r>
                <a:r>
                  <a:rPr lang="es-PE" sz="900" dirty="0"/>
                  <a:t> </a:t>
                </a:r>
                <a:r>
                  <a:rPr lang="es-PE" sz="900" dirty="0" err="1"/>
                  <a:t>risk</a:t>
                </a:r>
                <a:r>
                  <a:rPr lang="es-PE" sz="900" dirty="0"/>
                  <a:t> </a:t>
                </a:r>
                <a:r>
                  <a:rPr lang="es-PE" sz="900" dirty="0" err="1"/>
                  <a:t>than</a:t>
                </a:r>
                <a:r>
                  <a:rPr lang="es-PE" sz="900" dirty="0"/>
                  <a:t> VaR </a:t>
                </a:r>
                <a:r>
                  <a:rPr lang="es-PE" sz="900" dirty="0" err="1"/>
                  <a:t>suggests</a:t>
                </a:r>
                <a:endParaRPr lang="es-PE" sz="900" dirty="0"/>
              </a:p>
            </p:txBody>
          </p:sp>
        </mc:Choice>
        <mc:Fallback xmlns="">
          <p:sp>
            <p:nvSpPr>
              <p:cNvPr id="30" name="CuadroTexto 29">
                <a:extLst>
                  <a:ext uri="{FF2B5EF4-FFF2-40B4-BE49-F238E27FC236}">
                    <a16:creationId xmlns:a16="http://schemas.microsoft.com/office/drawing/2014/main" id="{F426F3A1-F8E9-DBCD-8A22-9241ED548463}"/>
                  </a:ext>
                </a:extLst>
              </p:cNvPr>
              <p:cNvSpPr txBox="1">
                <a:spLocks noRot="1" noChangeAspect="1" noMove="1" noResize="1" noEditPoints="1" noAdjustHandles="1" noChangeArrowheads="1" noChangeShapeType="1" noTextEdit="1"/>
              </p:cNvSpPr>
              <p:nvPr/>
            </p:nvSpPr>
            <p:spPr>
              <a:xfrm>
                <a:off x="6088455" y="2899912"/>
                <a:ext cx="3321595" cy="3970318"/>
              </a:xfrm>
              <a:prstGeom prst="rect">
                <a:avLst/>
              </a:prstGeom>
              <a:blipFill>
                <a:blip r:embed="rId4"/>
                <a:stretch>
                  <a:fillRect/>
                </a:stretch>
              </a:blipFill>
            </p:spPr>
            <p:txBody>
              <a:bodyPr/>
              <a:lstStyle/>
              <a:p>
                <a:r>
                  <a:rPr lang="es-PE">
                    <a:noFill/>
                  </a:rPr>
                  <a:t> </a:t>
                </a:r>
              </a:p>
            </p:txBody>
          </p:sp>
        </mc:Fallback>
      </mc:AlternateContent>
      <p:sp>
        <p:nvSpPr>
          <p:cNvPr id="31" name="CuadroTexto 30">
            <a:extLst>
              <a:ext uri="{FF2B5EF4-FFF2-40B4-BE49-F238E27FC236}">
                <a16:creationId xmlns:a16="http://schemas.microsoft.com/office/drawing/2014/main" id="{5AB33E05-9CFB-F24C-2513-6091C74EAE9A}"/>
              </a:ext>
            </a:extLst>
          </p:cNvPr>
          <p:cNvSpPr txBox="1"/>
          <p:nvPr/>
        </p:nvSpPr>
        <p:spPr>
          <a:xfrm>
            <a:off x="5919907" y="2510354"/>
            <a:ext cx="6219966" cy="369332"/>
          </a:xfrm>
          <a:prstGeom prst="rect">
            <a:avLst/>
          </a:prstGeom>
          <a:noFill/>
        </p:spPr>
        <p:txBody>
          <a:bodyPr wrap="square">
            <a:spAutoFit/>
          </a:bodyPr>
          <a:lstStyle/>
          <a:p>
            <a:r>
              <a:rPr lang="es-PE" dirty="0"/>
              <a:t>Core </a:t>
            </a:r>
            <a:r>
              <a:rPr lang="es-PE" dirty="0" err="1"/>
              <a:t>Quantitative</a:t>
            </a:r>
            <a:r>
              <a:rPr lang="es-PE" dirty="0"/>
              <a:t> </a:t>
            </a:r>
            <a:r>
              <a:rPr lang="es-PE" dirty="0" err="1"/>
              <a:t>Risk</a:t>
            </a:r>
            <a:r>
              <a:rPr lang="es-PE" dirty="0"/>
              <a:t> </a:t>
            </a:r>
            <a:r>
              <a:rPr lang="es-PE" dirty="0" err="1"/>
              <a:t>Concepts</a:t>
            </a:r>
            <a:r>
              <a:rPr lang="es-PE" dirty="0"/>
              <a:t> and Dynamics</a:t>
            </a:r>
          </a:p>
        </p:txBody>
      </p:sp>
      <p:sp>
        <p:nvSpPr>
          <p:cNvPr id="33" name="CuadroTexto 32">
            <a:extLst>
              <a:ext uri="{FF2B5EF4-FFF2-40B4-BE49-F238E27FC236}">
                <a16:creationId xmlns:a16="http://schemas.microsoft.com/office/drawing/2014/main" id="{CC4C80EC-9DFA-8C2D-F1F7-62A1F8054BEB}"/>
              </a:ext>
            </a:extLst>
          </p:cNvPr>
          <p:cNvSpPr txBox="1"/>
          <p:nvPr/>
        </p:nvSpPr>
        <p:spPr>
          <a:xfrm>
            <a:off x="3489376" y="3141371"/>
            <a:ext cx="2606624" cy="1754326"/>
          </a:xfrm>
          <a:prstGeom prst="rect">
            <a:avLst/>
          </a:prstGeom>
          <a:noFill/>
        </p:spPr>
        <p:txBody>
          <a:bodyPr wrap="square">
            <a:spAutoFit/>
          </a:bodyPr>
          <a:lstStyle/>
          <a:p>
            <a:pPr>
              <a:buNone/>
            </a:pPr>
            <a:r>
              <a:rPr lang="es-PE" sz="900" b="1" dirty="0"/>
              <a:t>10. ERM (</a:t>
            </a:r>
            <a:r>
              <a:rPr lang="es-PE" sz="900" b="1" dirty="0" err="1"/>
              <a:t>Holistic</a:t>
            </a:r>
            <a:r>
              <a:rPr lang="es-PE" sz="900" b="1" dirty="0"/>
              <a:t> </a:t>
            </a:r>
            <a:r>
              <a:rPr lang="es-PE" sz="900" b="1" dirty="0" err="1"/>
              <a:t>Risk</a:t>
            </a:r>
            <a:r>
              <a:rPr lang="es-PE" sz="900" b="1" dirty="0"/>
              <a:t> Management)</a:t>
            </a:r>
          </a:p>
          <a:p>
            <a:pPr>
              <a:buNone/>
            </a:pPr>
            <a:r>
              <a:rPr lang="es-PE" sz="900" dirty="0"/>
              <a:t>👉 </a:t>
            </a:r>
            <a:r>
              <a:rPr lang="es-PE" sz="900" dirty="0" err="1"/>
              <a:t>Firm-wide</a:t>
            </a:r>
            <a:r>
              <a:rPr lang="es-PE" sz="900" dirty="0"/>
              <a:t> </a:t>
            </a:r>
            <a:r>
              <a:rPr lang="es-PE" sz="900" dirty="0" err="1"/>
              <a:t>integrated</a:t>
            </a:r>
            <a:r>
              <a:rPr lang="es-PE" sz="900" dirty="0"/>
              <a:t> </a:t>
            </a:r>
            <a:r>
              <a:rPr lang="es-PE" sz="900" dirty="0" err="1"/>
              <a:t>view</a:t>
            </a:r>
            <a:r>
              <a:rPr lang="es-PE" sz="900" dirty="0"/>
              <a:t> </a:t>
            </a:r>
            <a:r>
              <a:rPr lang="es-PE" sz="900" dirty="0" err="1"/>
              <a:t>of</a:t>
            </a:r>
            <a:r>
              <a:rPr lang="es-PE" sz="900" dirty="0"/>
              <a:t> </a:t>
            </a:r>
            <a:r>
              <a:rPr lang="es-PE" sz="900" dirty="0" err="1"/>
              <a:t>risk</a:t>
            </a:r>
            <a:r>
              <a:rPr lang="es-PE" sz="900" dirty="0"/>
              <a:t> (no silos)</a:t>
            </a:r>
          </a:p>
          <a:p>
            <a:pPr>
              <a:buFont typeface="Arial" panose="020B0604020202020204" pitchFamily="34" charset="0"/>
              <a:buChar char="•"/>
            </a:pPr>
            <a:r>
              <a:rPr lang="es-PE" sz="900" dirty="0" err="1"/>
              <a:t>Risk</a:t>
            </a:r>
            <a:r>
              <a:rPr lang="es-PE" sz="900" dirty="0"/>
              <a:t> </a:t>
            </a:r>
            <a:r>
              <a:rPr lang="es-PE" sz="900" dirty="0" err="1"/>
              <a:t>is</a:t>
            </a:r>
            <a:r>
              <a:rPr lang="es-PE" sz="900" dirty="0"/>
              <a:t> </a:t>
            </a:r>
            <a:r>
              <a:rPr lang="es-PE" sz="900" b="1" dirty="0" err="1"/>
              <a:t>multi-dimensional</a:t>
            </a:r>
            <a:r>
              <a:rPr lang="es-PE" sz="900" b="1" dirty="0"/>
              <a:t> → </a:t>
            </a:r>
            <a:r>
              <a:rPr lang="es-PE" sz="900" b="1" dirty="0" err="1"/>
              <a:t>cannot</a:t>
            </a:r>
            <a:r>
              <a:rPr lang="es-PE" sz="900" b="1" dirty="0"/>
              <a:t> </a:t>
            </a:r>
            <a:r>
              <a:rPr lang="es-PE" sz="900" b="1" dirty="0" err="1"/>
              <a:t>rely</a:t>
            </a:r>
            <a:r>
              <a:rPr lang="es-PE" sz="900" b="1" dirty="0"/>
              <a:t> </a:t>
            </a:r>
            <a:r>
              <a:rPr lang="es-PE" sz="900" b="1" dirty="0" err="1"/>
              <a:t>on</a:t>
            </a:r>
            <a:r>
              <a:rPr lang="es-PE" sz="900" b="1" dirty="0"/>
              <a:t> a single </a:t>
            </a:r>
            <a:r>
              <a:rPr lang="es-PE" sz="900" b="1" dirty="0" err="1"/>
              <a:t>metric</a:t>
            </a:r>
            <a:r>
              <a:rPr lang="es-PE" sz="900" dirty="0"/>
              <a:t> </a:t>
            </a:r>
          </a:p>
          <a:p>
            <a:pPr>
              <a:buFont typeface="Arial" panose="020B0604020202020204" pitchFamily="34" charset="0"/>
              <a:buChar char="•"/>
            </a:pPr>
            <a:r>
              <a:rPr lang="es-PE" sz="900" dirty="0"/>
              <a:t>Combines </a:t>
            </a:r>
            <a:r>
              <a:rPr lang="es-PE" sz="900" b="1" dirty="0" err="1"/>
              <a:t>quantitative</a:t>
            </a:r>
            <a:r>
              <a:rPr lang="es-PE" sz="900" b="1" dirty="0"/>
              <a:t> </a:t>
            </a:r>
            <a:r>
              <a:rPr lang="es-PE" sz="900" b="1" dirty="0" err="1"/>
              <a:t>tools</a:t>
            </a:r>
            <a:r>
              <a:rPr lang="es-PE" sz="900" b="1" dirty="0"/>
              <a:t> + </a:t>
            </a:r>
            <a:r>
              <a:rPr lang="es-PE" sz="900" b="1" dirty="0" err="1"/>
              <a:t>judgment</a:t>
            </a:r>
            <a:r>
              <a:rPr lang="es-PE" sz="900" b="1" dirty="0"/>
              <a:t> + </a:t>
            </a:r>
            <a:r>
              <a:rPr lang="es-PE" sz="900" b="1" dirty="0" err="1"/>
              <a:t>scenarios</a:t>
            </a:r>
            <a:r>
              <a:rPr lang="es-PE" sz="900" dirty="0"/>
              <a:t> </a:t>
            </a:r>
          </a:p>
          <a:p>
            <a:pPr>
              <a:buFont typeface="Arial" panose="020B0604020202020204" pitchFamily="34" charset="0"/>
              <a:buChar char="•"/>
            </a:pPr>
            <a:r>
              <a:rPr lang="es-PE" sz="900" dirty="0"/>
              <a:t>Links </a:t>
            </a:r>
            <a:r>
              <a:rPr lang="es-PE" sz="900" b="1" dirty="0" err="1"/>
              <a:t>risk</a:t>
            </a:r>
            <a:r>
              <a:rPr lang="es-PE" sz="900" b="1" dirty="0"/>
              <a:t> </a:t>
            </a:r>
            <a:r>
              <a:rPr lang="es-PE" sz="900" b="1" dirty="0" err="1"/>
              <a:t>measurement</a:t>
            </a:r>
            <a:r>
              <a:rPr lang="es-PE" sz="900" b="1" dirty="0"/>
              <a:t> → </a:t>
            </a:r>
            <a:r>
              <a:rPr lang="es-PE" sz="900" b="1" dirty="0" err="1"/>
              <a:t>strategic</a:t>
            </a:r>
            <a:r>
              <a:rPr lang="es-PE" sz="900" b="1" dirty="0"/>
              <a:t> </a:t>
            </a:r>
            <a:r>
              <a:rPr lang="es-PE" sz="900" b="1" dirty="0" err="1"/>
              <a:t>decisions</a:t>
            </a:r>
            <a:r>
              <a:rPr lang="es-PE" sz="900" dirty="0"/>
              <a:t> </a:t>
            </a:r>
          </a:p>
          <a:p>
            <a:pPr>
              <a:buNone/>
            </a:pPr>
            <a:r>
              <a:rPr lang="es-PE" sz="900" dirty="0"/>
              <a:t>👉 Key idea:</a:t>
            </a:r>
            <a:br>
              <a:rPr lang="es-PE" sz="900" dirty="0"/>
            </a:br>
            <a:r>
              <a:rPr lang="es-PE" sz="900" b="1" dirty="0" err="1"/>
              <a:t>Effective</a:t>
            </a:r>
            <a:r>
              <a:rPr lang="es-PE" sz="900" b="1" dirty="0"/>
              <a:t> </a:t>
            </a:r>
            <a:r>
              <a:rPr lang="es-PE" sz="900" b="1" dirty="0" err="1"/>
              <a:t>risk</a:t>
            </a:r>
            <a:r>
              <a:rPr lang="es-PE" sz="900" b="1" dirty="0"/>
              <a:t> </a:t>
            </a:r>
            <a:r>
              <a:rPr lang="es-PE" sz="900" b="1" dirty="0" err="1"/>
              <a:t>management</a:t>
            </a:r>
            <a:r>
              <a:rPr lang="es-PE" sz="900" b="1" dirty="0"/>
              <a:t> = </a:t>
            </a:r>
            <a:r>
              <a:rPr lang="es-PE" sz="900" b="1" dirty="0" err="1"/>
              <a:t>holistic</a:t>
            </a:r>
            <a:r>
              <a:rPr lang="es-PE" sz="900" b="1" dirty="0"/>
              <a:t> </a:t>
            </a:r>
            <a:r>
              <a:rPr lang="es-PE" sz="900" b="1" dirty="0" err="1"/>
              <a:t>view</a:t>
            </a:r>
            <a:r>
              <a:rPr lang="es-PE" sz="900" b="1" dirty="0"/>
              <a:t> + </a:t>
            </a:r>
            <a:r>
              <a:rPr lang="es-PE" sz="900" b="1" dirty="0" err="1"/>
              <a:t>action</a:t>
            </a:r>
            <a:r>
              <a:rPr lang="es-PE" sz="900" b="1" dirty="0"/>
              <a:t> + </a:t>
            </a:r>
            <a:r>
              <a:rPr lang="es-PE" sz="900" b="1" dirty="0" err="1"/>
              <a:t>strong</a:t>
            </a:r>
            <a:r>
              <a:rPr lang="es-PE" sz="900" b="1" dirty="0"/>
              <a:t> </a:t>
            </a:r>
            <a:r>
              <a:rPr lang="es-PE" sz="900" b="1" dirty="0" err="1"/>
              <a:t>risk</a:t>
            </a:r>
            <a:r>
              <a:rPr lang="es-PE" sz="900" b="1" dirty="0"/>
              <a:t> culture</a:t>
            </a:r>
            <a:endParaRPr lang="es-PE" sz="900" dirty="0"/>
          </a:p>
        </p:txBody>
      </p:sp>
    </p:spTree>
    <p:extLst>
      <p:ext uri="{BB962C8B-B14F-4D97-AF65-F5344CB8AC3E}">
        <p14:creationId xmlns:p14="http://schemas.microsoft.com/office/powerpoint/2010/main" val="2788451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96AE9113-5276-8DFC-0565-02573972FDCD}"/>
              </a:ext>
            </a:extLst>
          </p:cNvPr>
          <p:cNvSpPr txBox="1">
            <a:spLocks/>
          </p:cNvSpPr>
          <p:nvPr/>
        </p:nvSpPr>
        <p:spPr>
          <a:xfrm>
            <a:off x="168079" y="103202"/>
            <a:ext cx="10515600" cy="576571"/>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a:lstStyle>
          <a:p>
            <a:r>
              <a:rPr lang="en-US" dirty="0"/>
              <a:t>How Do Firms Manage Financial Risk?</a:t>
            </a:r>
            <a:endParaRPr lang="es-PE" dirty="0"/>
          </a:p>
        </p:txBody>
      </p:sp>
      <p:sp>
        <p:nvSpPr>
          <p:cNvPr id="6" name="CuadroTexto 5">
            <a:extLst>
              <a:ext uri="{FF2B5EF4-FFF2-40B4-BE49-F238E27FC236}">
                <a16:creationId xmlns:a16="http://schemas.microsoft.com/office/drawing/2014/main" id="{E37D66C6-EAFF-B13F-08D6-A650423CCBDF}"/>
              </a:ext>
            </a:extLst>
          </p:cNvPr>
          <p:cNvSpPr txBox="1"/>
          <p:nvPr/>
        </p:nvSpPr>
        <p:spPr>
          <a:xfrm>
            <a:off x="353787" y="679773"/>
            <a:ext cx="6106884" cy="4493538"/>
          </a:xfrm>
          <a:prstGeom prst="rect">
            <a:avLst/>
          </a:prstGeom>
          <a:noFill/>
        </p:spPr>
        <p:txBody>
          <a:bodyPr wrap="square">
            <a:spAutoFit/>
          </a:bodyPr>
          <a:lstStyle/>
          <a:p>
            <a:pPr>
              <a:buNone/>
            </a:pPr>
            <a:r>
              <a:rPr lang="en-US" sz="1100" b="1" dirty="0"/>
              <a:t>1. Financial Risk Management Framework (From Appetite to Execution)</a:t>
            </a:r>
            <a:endParaRPr lang="en-US" sz="1100" dirty="0"/>
          </a:p>
          <a:p>
            <a:pPr>
              <a:buNone/>
            </a:pPr>
            <a:r>
              <a:rPr lang="en-US" sz="1100" dirty="0"/>
              <a:t>👉 Firms manage financial risk due to:</a:t>
            </a:r>
          </a:p>
          <a:p>
            <a:pPr>
              <a:buFont typeface="Arial" panose="020B0604020202020204" pitchFamily="34" charset="0"/>
              <a:buChar char="•"/>
            </a:pPr>
            <a:r>
              <a:rPr lang="en-US" sz="1100" b="1" dirty="0"/>
              <a:t>Need:</a:t>
            </a:r>
            <a:r>
              <a:rPr lang="en-US" sz="1100" dirty="0"/>
              <a:t> ↑ volatility since 1970s </a:t>
            </a:r>
          </a:p>
          <a:p>
            <a:pPr>
              <a:buFont typeface="Arial" panose="020B0604020202020204" pitchFamily="34" charset="0"/>
              <a:buChar char="•"/>
            </a:pPr>
            <a:r>
              <a:rPr lang="en-US" sz="1100" b="1" dirty="0"/>
              <a:t>Opportunity:</a:t>
            </a:r>
            <a:r>
              <a:rPr lang="en-US" sz="1100" dirty="0"/>
              <a:t> growth of derivatives &amp; instruments </a:t>
            </a:r>
          </a:p>
          <a:p>
            <a:pPr>
              <a:buNone/>
            </a:pPr>
            <a:r>
              <a:rPr lang="en-US" sz="1100" dirty="0"/>
              <a:t>👉 Core process (end-to-end):</a:t>
            </a:r>
          </a:p>
          <a:p>
            <a:pPr>
              <a:buFont typeface="+mj-lt"/>
              <a:buAutoNum type="arabicPeriod"/>
            </a:pPr>
            <a:r>
              <a:rPr lang="en-US" sz="1100" dirty="0"/>
              <a:t>Define </a:t>
            </a:r>
            <a:r>
              <a:rPr lang="en-US" sz="1100" b="1" dirty="0"/>
              <a:t>risk appetite</a:t>
            </a:r>
            <a:r>
              <a:rPr lang="en-US" sz="1100" dirty="0"/>
              <a:t> (what risk to take) </a:t>
            </a:r>
          </a:p>
          <a:p>
            <a:pPr>
              <a:buFont typeface="+mj-lt"/>
              <a:buAutoNum type="arabicPeriod"/>
            </a:pPr>
            <a:r>
              <a:rPr lang="en-US" sz="1100" b="1" dirty="0"/>
              <a:t>Map risks</a:t>
            </a:r>
            <a:r>
              <a:rPr lang="en-US" sz="1100" dirty="0"/>
              <a:t> (cash flows, exposures, timing) </a:t>
            </a:r>
          </a:p>
          <a:p>
            <a:pPr>
              <a:buFont typeface="+mj-lt"/>
              <a:buAutoNum type="arabicPeriod"/>
            </a:pPr>
            <a:r>
              <a:rPr lang="en-US" sz="1100" dirty="0"/>
              <a:t>Choose strategy: </a:t>
            </a:r>
          </a:p>
          <a:p>
            <a:pPr marL="742950" lvl="1" indent="-285750">
              <a:buFont typeface="+mj-lt"/>
              <a:buAutoNum type="arabicPeriod"/>
            </a:pPr>
            <a:r>
              <a:rPr lang="en-US" sz="1100" dirty="0"/>
              <a:t>Retain </a:t>
            </a:r>
          </a:p>
          <a:p>
            <a:pPr marL="742950" lvl="1" indent="-285750">
              <a:buFont typeface="+mj-lt"/>
              <a:buAutoNum type="arabicPeriod"/>
            </a:pPr>
            <a:r>
              <a:rPr lang="en-US" sz="1100" dirty="0"/>
              <a:t>Avoid </a:t>
            </a:r>
          </a:p>
          <a:p>
            <a:pPr marL="742950" lvl="1" indent="-285750">
              <a:buFont typeface="+mj-lt"/>
              <a:buAutoNum type="arabicPeriod"/>
            </a:pPr>
            <a:r>
              <a:rPr lang="en-US" sz="1100" dirty="0"/>
              <a:t>Mitigate </a:t>
            </a:r>
          </a:p>
          <a:p>
            <a:pPr marL="742950" lvl="1" indent="-285750">
              <a:buFont typeface="+mj-lt"/>
              <a:buAutoNum type="arabicPeriod"/>
            </a:pPr>
            <a:r>
              <a:rPr lang="en-US" sz="1100" dirty="0"/>
              <a:t>Transfer </a:t>
            </a:r>
          </a:p>
          <a:p>
            <a:pPr>
              <a:buFont typeface="+mj-lt"/>
              <a:buAutoNum type="arabicPeriod"/>
            </a:pPr>
            <a:r>
              <a:rPr lang="en-US" sz="1100" b="1" dirty="0"/>
              <a:t>Implement &amp; monitor</a:t>
            </a:r>
            <a:r>
              <a:rPr lang="en-US" sz="1100" dirty="0"/>
              <a:t> (limits, governance, tools) </a:t>
            </a:r>
          </a:p>
          <a:p>
            <a:pPr>
              <a:buFont typeface="+mj-lt"/>
              <a:buAutoNum type="arabicPeriod"/>
            </a:pPr>
            <a:r>
              <a:rPr lang="en-US" sz="1100" b="1" dirty="0"/>
              <a:t>Re-evaluate continuously</a:t>
            </a:r>
            <a:r>
              <a:rPr lang="en-US" sz="1100" dirty="0"/>
              <a:t> </a:t>
            </a:r>
          </a:p>
          <a:p>
            <a:pPr>
              <a:buNone/>
            </a:pPr>
            <a:r>
              <a:rPr lang="en-US" sz="1100" dirty="0"/>
              <a:t>👉 Key principles:</a:t>
            </a:r>
          </a:p>
          <a:p>
            <a:pPr>
              <a:buFont typeface="Arial" panose="020B0604020202020204" pitchFamily="34" charset="0"/>
              <a:buChar char="•"/>
            </a:pPr>
            <a:r>
              <a:rPr lang="en-US" sz="1100" dirty="0"/>
              <a:t>Hedging ≠ always optimal (costs, investor perspective) </a:t>
            </a:r>
          </a:p>
          <a:p>
            <a:pPr>
              <a:buFont typeface="Arial" panose="020B0604020202020204" pitchFamily="34" charset="0"/>
              <a:buChar char="•"/>
            </a:pPr>
            <a:r>
              <a:rPr lang="en-US" sz="1100" dirty="0"/>
              <a:t>Goal = </a:t>
            </a:r>
            <a:r>
              <a:rPr lang="en-US" sz="1100" b="1" dirty="0"/>
              <a:t>stabilize cash flows, avoid distress, enable planning</a:t>
            </a:r>
            <a:r>
              <a:rPr lang="en-US" sz="1100" dirty="0"/>
              <a:t> </a:t>
            </a:r>
          </a:p>
          <a:p>
            <a:pPr>
              <a:buFont typeface="Arial" panose="020B0604020202020204" pitchFamily="34" charset="0"/>
              <a:buChar char="•"/>
            </a:pPr>
            <a:r>
              <a:rPr lang="en-US" sz="1100" dirty="0"/>
              <a:t>Instruments: forwards, futures, swaps, options </a:t>
            </a:r>
          </a:p>
          <a:p>
            <a:pPr>
              <a:buFont typeface="Arial" panose="020B0604020202020204" pitchFamily="34" charset="0"/>
              <a:buChar char="•"/>
            </a:pPr>
            <a:r>
              <a:rPr lang="en-US" sz="1100" dirty="0"/>
              <a:t>Natural hedging + derivatives = combined approach </a:t>
            </a:r>
          </a:p>
          <a:p>
            <a:pPr>
              <a:buNone/>
            </a:pPr>
            <a:r>
              <a:rPr lang="en-US" sz="1100" dirty="0"/>
              <a:t>👉 Risks of risk management:</a:t>
            </a:r>
          </a:p>
          <a:p>
            <a:pPr>
              <a:buFont typeface="Arial" panose="020B0604020202020204" pitchFamily="34" charset="0"/>
              <a:buChar char="•"/>
            </a:pPr>
            <a:r>
              <a:rPr lang="en-US" sz="1100" dirty="0"/>
              <a:t>Can create </a:t>
            </a:r>
            <a:r>
              <a:rPr lang="en-US" sz="1100" b="1" dirty="0"/>
              <a:t>hidden/speculative exposure</a:t>
            </a:r>
            <a:r>
              <a:rPr lang="en-US" sz="1100" dirty="0"/>
              <a:t> </a:t>
            </a:r>
          </a:p>
          <a:p>
            <a:pPr>
              <a:buFont typeface="Arial" panose="020B0604020202020204" pitchFamily="34" charset="0"/>
              <a:buChar char="•"/>
            </a:pPr>
            <a:r>
              <a:rPr lang="en-US" sz="1100" dirty="0"/>
              <a:t>Liquidity risk (e.g., margin calls) </a:t>
            </a:r>
          </a:p>
          <a:p>
            <a:pPr>
              <a:buFont typeface="Arial" panose="020B0604020202020204" pitchFamily="34" charset="0"/>
              <a:buChar char="•"/>
            </a:pPr>
            <a:r>
              <a:rPr lang="en-US" sz="1100" dirty="0"/>
              <a:t>Model risk, basis risk, governance failures </a:t>
            </a:r>
          </a:p>
          <a:p>
            <a:pPr>
              <a:buNone/>
            </a:pPr>
            <a:r>
              <a:rPr lang="en-US" sz="1100" dirty="0"/>
              <a:t>👉 Bottom line:</a:t>
            </a:r>
            <a:br>
              <a:rPr lang="en-US" sz="1100" dirty="0"/>
            </a:br>
            <a:r>
              <a:rPr lang="en-US" sz="1100" dirty="0"/>
              <a:t>Risk management is not just hedging → it’s </a:t>
            </a:r>
            <a:r>
              <a:rPr lang="en-US" sz="1100" b="1" dirty="0"/>
              <a:t>aligning risk with strategy, capacity, and decision-making</a:t>
            </a:r>
            <a:endParaRPr lang="en-US" sz="1100" dirty="0"/>
          </a:p>
        </p:txBody>
      </p:sp>
      <p:pic>
        <p:nvPicPr>
          <p:cNvPr id="8" name="Imagen 7">
            <a:extLst>
              <a:ext uri="{FF2B5EF4-FFF2-40B4-BE49-F238E27FC236}">
                <a16:creationId xmlns:a16="http://schemas.microsoft.com/office/drawing/2014/main" id="{9E41785A-FDC7-89B7-FB70-2D9536731A59}"/>
              </a:ext>
            </a:extLst>
          </p:cNvPr>
          <p:cNvPicPr>
            <a:picLocks noChangeAspect="1"/>
          </p:cNvPicPr>
          <p:nvPr/>
        </p:nvPicPr>
        <p:blipFill>
          <a:blip r:embed="rId2"/>
          <a:stretch>
            <a:fillRect/>
          </a:stretch>
        </p:blipFill>
        <p:spPr>
          <a:xfrm>
            <a:off x="7276023" y="4588910"/>
            <a:ext cx="2867046" cy="2000265"/>
          </a:xfrm>
          <a:prstGeom prst="rect">
            <a:avLst/>
          </a:prstGeom>
        </p:spPr>
      </p:pic>
      <p:sp>
        <p:nvSpPr>
          <p:cNvPr id="10" name="CuadroTexto 9">
            <a:extLst>
              <a:ext uri="{FF2B5EF4-FFF2-40B4-BE49-F238E27FC236}">
                <a16:creationId xmlns:a16="http://schemas.microsoft.com/office/drawing/2014/main" id="{ADF94FD4-27CC-0701-90BD-09FDC17113AA}"/>
              </a:ext>
            </a:extLst>
          </p:cNvPr>
          <p:cNvSpPr txBox="1"/>
          <p:nvPr/>
        </p:nvSpPr>
        <p:spPr>
          <a:xfrm>
            <a:off x="6245557" y="895404"/>
            <a:ext cx="6103960" cy="3477875"/>
          </a:xfrm>
          <a:prstGeom prst="rect">
            <a:avLst/>
          </a:prstGeom>
          <a:noFill/>
        </p:spPr>
        <p:txBody>
          <a:bodyPr wrap="square">
            <a:spAutoFit/>
          </a:bodyPr>
          <a:lstStyle/>
          <a:p>
            <a:pPr>
              <a:buNone/>
            </a:pPr>
            <a:r>
              <a:rPr lang="en-US" sz="1100" b="1" dirty="0"/>
              <a:t>Risk Appetite Framework (Capacity, Appetite, Profile &amp; Governance)</a:t>
            </a:r>
            <a:endParaRPr lang="en-US" sz="1100" dirty="0"/>
          </a:p>
          <a:p>
            <a:pPr>
              <a:buNone/>
            </a:pPr>
            <a:r>
              <a:rPr lang="en-US" sz="1100" dirty="0"/>
              <a:t>👉 </a:t>
            </a:r>
            <a:r>
              <a:rPr lang="en-US" sz="1100" b="1" dirty="0"/>
              <a:t>Definitions:</a:t>
            </a:r>
            <a:endParaRPr lang="en-US" sz="1100" dirty="0"/>
          </a:p>
          <a:p>
            <a:pPr>
              <a:buFont typeface="Arial" panose="020B0604020202020204" pitchFamily="34" charset="0"/>
              <a:buChar char="•"/>
            </a:pPr>
            <a:r>
              <a:rPr lang="en-US" sz="1100" dirty="0"/>
              <a:t>Capacity: maximum risk the firm can absorb </a:t>
            </a:r>
          </a:p>
          <a:p>
            <a:pPr>
              <a:buFont typeface="Arial" panose="020B0604020202020204" pitchFamily="34" charset="0"/>
              <a:buChar char="•"/>
            </a:pPr>
            <a:r>
              <a:rPr lang="en-US" sz="1100" dirty="0"/>
              <a:t>Appetite: risk the firm is willing to take (board-defined) </a:t>
            </a:r>
          </a:p>
          <a:p>
            <a:pPr>
              <a:buFont typeface="Arial" panose="020B0604020202020204" pitchFamily="34" charset="0"/>
              <a:buChar char="•"/>
            </a:pPr>
            <a:r>
              <a:rPr lang="en-US" sz="1100" dirty="0"/>
              <a:t>Profile: actual risk exposure </a:t>
            </a:r>
          </a:p>
          <a:p>
            <a:pPr>
              <a:buNone/>
            </a:pPr>
            <a:r>
              <a:rPr lang="en-US" sz="1100" dirty="0"/>
              <a:t>👉 </a:t>
            </a:r>
            <a:r>
              <a:rPr lang="en-US" sz="1100" b="1" dirty="0"/>
              <a:t>Relation:</a:t>
            </a:r>
            <a:br>
              <a:rPr lang="en-US" sz="1100" dirty="0"/>
            </a:br>
            <a:r>
              <a:rPr lang="en-US" sz="1100" dirty="0"/>
              <a:t>Capacity &gt; Appetite &gt; Profile</a:t>
            </a:r>
          </a:p>
          <a:p>
            <a:pPr>
              <a:buNone/>
            </a:pPr>
            <a:r>
              <a:rPr lang="en-US" sz="1100" dirty="0"/>
              <a:t>👉 </a:t>
            </a:r>
            <a:r>
              <a:rPr lang="en-US" sz="1100" b="1" dirty="0"/>
              <a:t>Process:</a:t>
            </a:r>
            <a:endParaRPr lang="en-US" sz="1100" dirty="0"/>
          </a:p>
          <a:p>
            <a:pPr>
              <a:buFont typeface="+mj-lt"/>
              <a:buAutoNum type="arabicPeriod"/>
            </a:pPr>
            <a:r>
              <a:rPr lang="en-US" sz="1100" dirty="0"/>
              <a:t>Senior management drafts risk appetite </a:t>
            </a:r>
          </a:p>
          <a:p>
            <a:pPr>
              <a:buFont typeface="+mj-lt"/>
              <a:buAutoNum type="arabicPeriod"/>
            </a:pPr>
            <a:r>
              <a:rPr lang="en-US" sz="1100" dirty="0"/>
              <a:t>Board </a:t>
            </a:r>
            <a:r>
              <a:rPr lang="en-US" sz="1100" b="1" dirty="0"/>
              <a:t>reviews and approves</a:t>
            </a:r>
            <a:r>
              <a:rPr lang="en-US" sz="1100" dirty="0"/>
              <a:t> </a:t>
            </a:r>
          </a:p>
          <a:p>
            <a:pPr>
              <a:buFont typeface="+mj-lt"/>
              <a:buAutoNum type="arabicPeriod"/>
            </a:pPr>
            <a:r>
              <a:rPr lang="en-US" sz="1100" dirty="0"/>
              <a:t>Translated into: </a:t>
            </a:r>
          </a:p>
          <a:p>
            <a:pPr marL="742950" lvl="1" indent="-285750">
              <a:buFont typeface="+mj-lt"/>
              <a:buAutoNum type="arabicPeriod"/>
            </a:pPr>
            <a:r>
              <a:rPr lang="en-US" sz="1100" dirty="0"/>
              <a:t>risk policies </a:t>
            </a:r>
          </a:p>
          <a:p>
            <a:pPr marL="742950" lvl="1" indent="-285750">
              <a:buFont typeface="+mj-lt"/>
              <a:buAutoNum type="arabicPeriod"/>
            </a:pPr>
            <a:r>
              <a:rPr lang="en-US" sz="1100" dirty="0"/>
              <a:t>limits (</a:t>
            </a:r>
            <a:r>
              <a:rPr lang="en-US" sz="1100" dirty="0" err="1"/>
              <a:t>VaR</a:t>
            </a:r>
            <a:r>
              <a:rPr lang="en-US" sz="1100" dirty="0"/>
              <a:t>, UL, stress tests) </a:t>
            </a:r>
          </a:p>
          <a:p>
            <a:pPr marL="742950" lvl="1" indent="-285750">
              <a:buFont typeface="+mj-lt"/>
              <a:buAutoNum type="arabicPeriod"/>
            </a:pPr>
            <a:r>
              <a:rPr lang="en-US" sz="1100" dirty="0"/>
              <a:t>business-level guidelines </a:t>
            </a:r>
          </a:p>
          <a:p>
            <a:pPr>
              <a:buFont typeface="+mj-lt"/>
              <a:buAutoNum type="arabicPeriod"/>
            </a:pPr>
            <a:r>
              <a:rPr lang="en-US" sz="1100" dirty="0"/>
              <a:t>Implemented in day-to-day decisions </a:t>
            </a:r>
          </a:p>
          <a:p>
            <a:pPr>
              <a:buFont typeface="+mj-lt"/>
              <a:buAutoNum type="arabicPeriod"/>
            </a:pPr>
            <a:r>
              <a:rPr lang="en-US" sz="1100" dirty="0"/>
              <a:t>Regularly monitored and updated </a:t>
            </a:r>
          </a:p>
          <a:p>
            <a:pPr>
              <a:buNone/>
            </a:pPr>
            <a:r>
              <a:rPr lang="en-US" sz="1100" dirty="0"/>
              <a:t>👉 </a:t>
            </a:r>
            <a:r>
              <a:rPr lang="en-US" sz="1100" b="1" dirty="0"/>
              <a:t>Key Insight:</a:t>
            </a:r>
            <a:br>
              <a:rPr lang="en-US" sz="1100" dirty="0"/>
            </a:br>
            <a:r>
              <a:rPr lang="en-US" sz="1100" dirty="0"/>
              <a:t>No single metric → uses multiple measures across risks</a:t>
            </a:r>
          </a:p>
          <a:p>
            <a:pPr>
              <a:buNone/>
            </a:pPr>
            <a:r>
              <a:rPr lang="en-US" sz="1100" dirty="0"/>
              <a:t>👉 </a:t>
            </a:r>
            <a:r>
              <a:rPr lang="en-US" sz="1100" b="1" dirty="0"/>
              <a:t>Objective:</a:t>
            </a:r>
            <a:br>
              <a:rPr lang="en-US" sz="1100" dirty="0"/>
            </a:br>
            <a:r>
              <a:rPr lang="en-US" sz="1100" dirty="0"/>
              <a:t>Keep risk profile within appetite and below capacity</a:t>
            </a:r>
          </a:p>
        </p:txBody>
      </p:sp>
    </p:spTree>
    <p:extLst>
      <p:ext uri="{BB962C8B-B14F-4D97-AF65-F5344CB8AC3E}">
        <p14:creationId xmlns:p14="http://schemas.microsoft.com/office/powerpoint/2010/main" val="230925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D3CA60-9EE1-6733-A61F-891C1A50180C}"/>
              </a:ext>
            </a:extLst>
          </p:cNvPr>
          <p:cNvSpPr>
            <a:spLocks noGrp="1"/>
          </p:cNvSpPr>
          <p:nvPr>
            <p:ph type="title"/>
          </p:nvPr>
        </p:nvSpPr>
        <p:spPr>
          <a:xfrm>
            <a:off x="0" y="-136390"/>
            <a:ext cx="8585200" cy="679871"/>
          </a:xfrm>
        </p:spPr>
        <p:txBody>
          <a:bodyPr>
            <a:normAutofit/>
          </a:bodyPr>
          <a:lstStyle/>
          <a:p>
            <a:r>
              <a:rPr lang="es-PE" sz="3200" dirty="0" err="1"/>
              <a:t>The</a:t>
            </a:r>
            <a:r>
              <a:rPr lang="es-PE" sz="3200" dirty="0"/>
              <a:t> </a:t>
            </a:r>
            <a:r>
              <a:rPr lang="es-PE" sz="2800" dirty="0" err="1"/>
              <a:t>Governance</a:t>
            </a:r>
            <a:r>
              <a:rPr lang="es-PE" sz="3200" dirty="0"/>
              <a:t> </a:t>
            </a:r>
            <a:r>
              <a:rPr lang="es-PE" sz="3200" dirty="0" err="1"/>
              <a:t>of</a:t>
            </a:r>
            <a:r>
              <a:rPr lang="es-PE" sz="3200" dirty="0"/>
              <a:t> </a:t>
            </a:r>
            <a:r>
              <a:rPr lang="es-PE" sz="3200" dirty="0" err="1"/>
              <a:t>Risk</a:t>
            </a:r>
            <a:r>
              <a:rPr lang="es-PE" sz="3200" dirty="0"/>
              <a:t> Management</a:t>
            </a:r>
          </a:p>
        </p:txBody>
      </p:sp>
      <p:sp>
        <p:nvSpPr>
          <p:cNvPr id="25" name="CuadroTexto 24">
            <a:extLst>
              <a:ext uri="{FF2B5EF4-FFF2-40B4-BE49-F238E27FC236}">
                <a16:creationId xmlns:a16="http://schemas.microsoft.com/office/drawing/2014/main" id="{E01AE6FB-0486-737D-461C-F3B189BFBAE0}"/>
              </a:ext>
            </a:extLst>
          </p:cNvPr>
          <p:cNvSpPr txBox="1"/>
          <p:nvPr/>
        </p:nvSpPr>
        <p:spPr>
          <a:xfrm>
            <a:off x="0" y="476622"/>
            <a:ext cx="5904713" cy="6571030"/>
          </a:xfrm>
          <a:prstGeom prst="rect">
            <a:avLst/>
          </a:prstGeom>
          <a:noFill/>
        </p:spPr>
        <p:txBody>
          <a:bodyPr wrap="square">
            <a:spAutoFit/>
          </a:bodyPr>
          <a:lstStyle/>
          <a:p>
            <a:pPr algn="l">
              <a:spcAft>
                <a:spcPts val="1200"/>
              </a:spcAft>
              <a:buNone/>
            </a:pPr>
            <a:r>
              <a:rPr lang="en-US" sz="900" b="1" i="0" dirty="0">
                <a:effectLst/>
                <a:latin typeface="Segoe WPC"/>
              </a:rPr>
              <a:t>1. Corporate Governance &amp; Risk Governance</a:t>
            </a:r>
            <a:br>
              <a:rPr lang="en-US" sz="900" b="0" i="0" dirty="0">
                <a:effectLst/>
                <a:latin typeface="Segoe WPC"/>
              </a:rPr>
            </a:br>
            <a:r>
              <a:rPr lang="en-US" sz="900" b="0" i="0" dirty="0">
                <a:effectLst/>
                <a:latin typeface="Segoe WPC"/>
              </a:rPr>
              <a:t>Corporate governance: how a firm is directed, controlled, and supervised</a:t>
            </a:r>
            <a:br>
              <a:rPr lang="en-US" sz="900" b="0" i="0" dirty="0">
                <a:effectLst/>
                <a:latin typeface="Segoe WPC"/>
              </a:rPr>
            </a:br>
            <a:r>
              <a:rPr lang="en-US" sz="900" b="0" i="0" dirty="0">
                <a:effectLst/>
                <a:latin typeface="Segoe WPC"/>
              </a:rPr>
              <a:t>Risk governance: how risk-taking is defined, monitored, and overseen across the firm</a:t>
            </a:r>
            <a:br>
              <a:rPr lang="en-US" sz="900" b="0" i="0" dirty="0">
                <a:effectLst/>
                <a:latin typeface="Segoe WPC"/>
              </a:rPr>
            </a:br>
            <a:r>
              <a:rPr lang="en-US" sz="900" b="0" i="0" dirty="0">
                <a:effectLst/>
                <a:latin typeface="Segoe WPC"/>
              </a:rPr>
              <a:t>👉 Risk governance = governance applied to risk-taking</a:t>
            </a:r>
          </a:p>
          <a:p>
            <a:pPr algn="l">
              <a:spcAft>
                <a:spcPts val="1200"/>
              </a:spcAft>
              <a:buNone/>
            </a:pPr>
            <a:r>
              <a:rPr lang="en-US" sz="900" b="1" i="0" dirty="0">
                <a:effectLst/>
                <a:latin typeface="Segoe WPC"/>
              </a:rPr>
              <a:t>2. Why Governance Became a Major Issue</a:t>
            </a:r>
            <a:br>
              <a:rPr lang="en-US" sz="900" b="0" i="0" dirty="0">
                <a:effectLst/>
                <a:latin typeface="Segoe WPC"/>
              </a:rPr>
            </a:br>
            <a:r>
              <a:rPr lang="en-US" sz="900" b="0" i="0" dirty="0">
                <a:effectLst/>
                <a:latin typeface="Segoe WPC"/>
              </a:rPr>
              <a:t>Corporate scandals and the 2007-2009 crisis exposed weak disclosure, poor oversight, and lack of accountability</a:t>
            </a:r>
            <a:br>
              <a:rPr lang="en-US" sz="900" b="0" i="0" dirty="0">
                <a:effectLst/>
                <a:latin typeface="Segoe WPC"/>
              </a:rPr>
            </a:br>
            <a:r>
              <a:rPr lang="en-US" sz="900" b="0" i="0" dirty="0">
                <a:effectLst/>
                <a:latin typeface="Segoe WPC"/>
              </a:rPr>
              <a:t>Boards and auditors often failed to understand the real risks being taken</a:t>
            </a:r>
            <a:br>
              <a:rPr lang="en-US" sz="900" b="0" i="0" dirty="0">
                <a:effectLst/>
                <a:latin typeface="Segoe WPC"/>
              </a:rPr>
            </a:br>
            <a:r>
              <a:rPr lang="en-US" sz="900" b="0" i="0" dirty="0">
                <a:effectLst/>
                <a:latin typeface="Segoe WPC"/>
              </a:rPr>
              <a:t>👉 Main lesson: poor governance allows hidden risk to grow</a:t>
            </a:r>
          </a:p>
          <a:p>
            <a:pPr algn="l">
              <a:spcAft>
                <a:spcPts val="1200"/>
              </a:spcAft>
              <a:buNone/>
            </a:pPr>
            <a:r>
              <a:rPr lang="en-US" sz="900" b="1" i="0" dirty="0">
                <a:effectLst/>
                <a:latin typeface="Segoe WPC"/>
              </a:rPr>
              <a:t>3. Sarbanes-Oxley Act (SOX, 2002)</a:t>
            </a:r>
            <a:br>
              <a:rPr lang="en-US" sz="900" b="0" i="0" dirty="0">
                <a:effectLst/>
                <a:latin typeface="Segoe WPC"/>
              </a:rPr>
            </a:br>
            <a:r>
              <a:rPr lang="en-US" sz="900" b="0" i="0" dirty="0">
                <a:effectLst/>
                <a:latin typeface="Segoe WPC"/>
              </a:rPr>
              <a:t>U.S. law passed after Enron, WorldCom, and other scandals</a:t>
            </a:r>
            <a:br>
              <a:rPr lang="en-US" sz="900" b="0" i="0" dirty="0">
                <a:effectLst/>
                <a:latin typeface="Segoe WPC"/>
              </a:rPr>
            </a:br>
            <a:r>
              <a:rPr lang="en-US" sz="900" b="0" i="0" dirty="0">
                <a:effectLst/>
                <a:latin typeface="Segoe WPC"/>
              </a:rPr>
              <a:t>Strengthened executive accountability, internal controls, and disclosure requirements</a:t>
            </a:r>
            <a:br>
              <a:rPr lang="en-US" sz="900" b="0" i="0" dirty="0">
                <a:effectLst/>
                <a:latin typeface="Segoe WPC"/>
              </a:rPr>
            </a:br>
            <a:r>
              <a:rPr lang="en-US" sz="900" b="0" i="0" dirty="0">
                <a:effectLst/>
                <a:latin typeface="Segoe WPC"/>
              </a:rPr>
              <a:t>CEOs and CFOs must certify the accuracy of financial reports</a:t>
            </a:r>
            <a:br>
              <a:rPr lang="en-US" sz="900" b="0" i="0" dirty="0">
                <a:effectLst/>
                <a:latin typeface="Segoe WPC"/>
              </a:rPr>
            </a:br>
            <a:r>
              <a:rPr lang="en-US" sz="900" b="0" i="0" dirty="0">
                <a:effectLst/>
                <a:latin typeface="Segoe WPC"/>
              </a:rPr>
              <a:t>👉 SOX = stronger transparency and management accountability</a:t>
            </a:r>
          </a:p>
          <a:p>
            <a:pPr algn="l">
              <a:spcAft>
                <a:spcPts val="1200"/>
              </a:spcAft>
              <a:buNone/>
            </a:pPr>
            <a:r>
              <a:rPr lang="en-US" sz="900" b="1" i="0" dirty="0">
                <a:effectLst/>
                <a:latin typeface="Segoe WPC"/>
              </a:rPr>
              <a:t>4. European Governance Reform (2000s)</a:t>
            </a:r>
            <a:br>
              <a:rPr lang="en-US" sz="900" b="0" i="0" dirty="0">
                <a:effectLst/>
                <a:latin typeface="Segoe WPC"/>
              </a:rPr>
            </a:br>
            <a:r>
              <a:rPr lang="en-US" sz="900" b="0" i="0" dirty="0">
                <a:effectLst/>
                <a:latin typeface="Segoe WPC"/>
              </a:rPr>
              <a:t>Europe relied more on governance codes and a “comply or explain” approach</a:t>
            </a:r>
            <a:br>
              <a:rPr lang="en-US" sz="900" b="0" i="0" dirty="0">
                <a:effectLst/>
                <a:latin typeface="Segoe WPC"/>
              </a:rPr>
            </a:br>
            <a:r>
              <a:rPr lang="en-US" sz="900" b="0" i="0" dirty="0">
                <a:effectLst/>
                <a:latin typeface="Segoe WPC"/>
              </a:rPr>
              <a:t>Focused on board structure, disclosure, and internal controls rather than one strict law like SOX</a:t>
            </a:r>
            <a:br>
              <a:rPr lang="en-US" sz="900" b="0" i="0" dirty="0">
                <a:effectLst/>
                <a:latin typeface="Segoe WPC"/>
              </a:rPr>
            </a:br>
            <a:r>
              <a:rPr lang="en-US" sz="900" b="0" i="0" dirty="0">
                <a:effectLst/>
                <a:latin typeface="Segoe WPC"/>
              </a:rPr>
              <a:t>👉 Europe used principles-based governance reform</a:t>
            </a:r>
          </a:p>
          <a:p>
            <a:pPr algn="l">
              <a:spcAft>
                <a:spcPts val="1200"/>
              </a:spcAft>
              <a:buNone/>
            </a:pPr>
            <a:r>
              <a:rPr lang="en-US" sz="900" b="1" i="0" dirty="0">
                <a:effectLst/>
                <a:latin typeface="Segoe WPC"/>
              </a:rPr>
              <a:t>5. Basel I (1988)</a:t>
            </a:r>
            <a:br>
              <a:rPr lang="en-US" sz="900" b="0" i="0" dirty="0">
                <a:effectLst/>
                <a:latin typeface="Segoe WPC"/>
              </a:rPr>
            </a:br>
            <a:r>
              <a:rPr lang="en-US" sz="900" b="0" i="0" dirty="0">
                <a:effectLst/>
                <a:latin typeface="Segoe WPC"/>
              </a:rPr>
              <a:t>First Basel Accord</a:t>
            </a:r>
            <a:br>
              <a:rPr lang="en-US" sz="900" b="0" i="0" dirty="0">
                <a:effectLst/>
                <a:latin typeface="Segoe WPC"/>
              </a:rPr>
            </a:br>
            <a:r>
              <a:rPr lang="en-US" sz="900" b="0" i="0" dirty="0">
                <a:effectLst/>
                <a:latin typeface="Segoe WPC"/>
              </a:rPr>
              <a:t>Introduced minimum capital requirements based on risk-weighted assets</a:t>
            </a:r>
            <a:br>
              <a:rPr lang="en-US" sz="900" b="0" i="0" dirty="0">
                <a:effectLst/>
                <a:latin typeface="Segoe WPC"/>
              </a:rPr>
            </a:br>
            <a:r>
              <a:rPr lang="en-US" sz="900" b="0" i="0" dirty="0">
                <a:effectLst/>
                <a:latin typeface="Segoe WPC"/>
              </a:rPr>
              <a:t>Set the 8% capital standard</a:t>
            </a:r>
            <a:br>
              <a:rPr lang="en-US" sz="900" b="0" i="0" dirty="0">
                <a:effectLst/>
                <a:latin typeface="Segoe WPC"/>
              </a:rPr>
            </a:br>
            <a:r>
              <a:rPr lang="en-US" sz="900" b="0" i="0" dirty="0">
                <a:effectLst/>
                <a:latin typeface="Segoe WPC"/>
              </a:rPr>
              <a:t>👉 Basel I = the first international bank capital framework</a:t>
            </a:r>
          </a:p>
          <a:p>
            <a:pPr algn="l">
              <a:spcAft>
                <a:spcPts val="1200"/>
              </a:spcAft>
              <a:buNone/>
            </a:pPr>
            <a:r>
              <a:rPr lang="en-US" sz="900" b="1" i="0" dirty="0">
                <a:effectLst/>
                <a:latin typeface="Segoe WPC"/>
              </a:rPr>
              <a:t>6. Basel II (2004/2006)</a:t>
            </a:r>
            <a:br>
              <a:rPr lang="en-US" sz="900" b="0" i="0" dirty="0">
                <a:effectLst/>
                <a:latin typeface="Segoe WPC"/>
              </a:rPr>
            </a:br>
            <a:r>
              <a:rPr lang="en-US" sz="900" b="0" i="0" dirty="0">
                <a:effectLst/>
                <a:latin typeface="Segoe WPC"/>
              </a:rPr>
              <a:t>Made capital regulation more risk-sensitive than Basel I</a:t>
            </a:r>
            <a:br>
              <a:rPr lang="en-US" sz="900" b="0" i="0" dirty="0">
                <a:effectLst/>
                <a:latin typeface="Segoe WPC"/>
              </a:rPr>
            </a:br>
            <a:r>
              <a:rPr lang="en-US" sz="900" b="0" i="0" dirty="0">
                <a:effectLst/>
                <a:latin typeface="Segoe WPC"/>
              </a:rPr>
              <a:t>Added the three-pillar structure:</a:t>
            </a:r>
            <a:br>
              <a:rPr lang="en-US" sz="900" b="0" i="0" dirty="0">
                <a:effectLst/>
                <a:latin typeface="Segoe WPC"/>
              </a:rPr>
            </a:br>
            <a:r>
              <a:rPr lang="en-US" sz="900" b="0" i="0" dirty="0">
                <a:effectLst/>
                <a:latin typeface="Segoe WPC"/>
              </a:rPr>
              <a:t>minimum capital</a:t>
            </a:r>
            <a:br>
              <a:rPr lang="en-US" sz="900" b="0" i="0" dirty="0">
                <a:effectLst/>
                <a:latin typeface="Segoe WPC"/>
              </a:rPr>
            </a:br>
            <a:r>
              <a:rPr lang="en-US" sz="900" b="0" i="0" dirty="0">
                <a:effectLst/>
                <a:latin typeface="Segoe WPC"/>
              </a:rPr>
              <a:t>supervisory review</a:t>
            </a:r>
            <a:br>
              <a:rPr lang="en-US" sz="900" b="0" i="0" dirty="0">
                <a:effectLst/>
                <a:latin typeface="Segoe WPC"/>
              </a:rPr>
            </a:br>
            <a:r>
              <a:rPr lang="en-US" sz="900" b="0" i="0" dirty="0">
                <a:effectLst/>
                <a:latin typeface="Segoe WPC"/>
              </a:rPr>
              <a:t>market discipline</a:t>
            </a:r>
            <a:br>
              <a:rPr lang="en-US" sz="900" b="0" i="0" dirty="0">
                <a:effectLst/>
                <a:latin typeface="Segoe WPC"/>
              </a:rPr>
            </a:br>
            <a:r>
              <a:rPr lang="en-US" sz="900" b="0" i="0" dirty="0">
                <a:effectLst/>
                <a:latin typeface="Segoe WPC"/>
              </a:rPr>
              <a:t>👉 Basel II = more sophisticated risk-based banking regulation</a:t>
            </a:r>
          </a:p>
          <a:p>
            <a:pPr algn="l">
              <a:spcAft>
                <a:spcPts val="1200"/>
              </a:spcAft>
              <a:buNone/>
            </a:pPr>
            <a:r>
              <a:rPr lang="en-US" sz="900" b="1" i="0" dirty="0">
                <a:effectLst/>
                <a:latin typeface="Segoe WPC"/>
              </a:rPr>
              <a:t>7. Basel III (2010-2011 onward)</a:t>
            </a:r>
            <a:br>
              <a:rPr lang="en-US" sz="900" b="0" i="0" dirty="0">
                <a:effectLst/>
                <a:latin typeface="Segoe WPC"/>
              </a:rPr>
            </a:br>
            <a:r>
              <a:rPr lang="en-US" sz="900" b="0" i="0" dirty="0">
                <a:effectLst/>
                <a:latin typeface="Segoe WPC"/>
              </a:rPr>
              <a:t>Post-crisis reform designed to strengthen resilience</a:t>
            </a:r>
            <a:br>
              <a:rPr lang="en-US" sz="900" b="0" i="0" dirty="0">
                <a:effectLst/>
                <a:latin typeface="Segoe WPC"/>
              </a:rPr>
            </a:br>
            <a:r>
              <a:rPr lang="en-US" sz="900" b="0" i="0" dirty="0">
                <a:effectLst/>
                <a:latin typeface="Segoe WPC"/>
              </a:rPr>
              <a:t>Improved capital quality, added leverage ratio, LCR, NSFR, and countercyclical buffers</a:t>
            </a:r>
            <a:br>
              <a:rPr lang="en-US" sz="900" b="0" i="0" dirty="0">
                <a:effectLst/>
                <a:latin typeface="Segoe WPC"/>
              </a:rPr>
            </a:br>
            <a:r>
              <a:rPr lang="en-US" sz="900" b="0" i="0" dirty="0">
                <a:effectLst/>
                <a:latin typeface="Segoe WPC"/>
              </a:rPr>
              <a:t>Focused on both firm-level and systemic risk</a:t>
            </a:r>
            <a:br>
              <a:rPr lang="en-US" sz="900" b="0" i="0" dirty="0">
                <a:effectLst/>
                <a:latin typeface="Segoe WPC"/>
              </a:rPr>
            </a:br>
            <a:r>
              <a:rPr lang="en-US" sz="900" b="0" i="0" dirty="0">
                <a:effectLst/>
                <a:latin typeface="Segoe WPC"/>
              </a:rPr>
              <a:t>👉 Basel III = stronger capital, liquidity, and systemic stability</a:t>
            </a:r>
          </a:p>
          <a:p>
            <a:pPr algn="l">
              <a:spcAft>
                <a:spcPts val="1200"/>
              </a:spcAft>
              <a:buNone/>
            </a:pPr>
            <a:r>
              <a:rPr lang="en-US" sz="900" b="1" i="0" dirty="0">
                <a:effectLst/>
                <a:latin typeface="Segoe WPC"/>
              </a:rPr>
              <a:t>8. BCBS Corporate Governance Principles (2010, revised 2015)</a:t>
            </a:r>
            <a:br>
              <a:rPr lang="en-US" sz="900" b="0" i="0" dirty="0">
                <a:effectLst/>
                <a:latin typeface="Segoe WPC"/>
              </a:rPr>
            </a:br>
            <a:r>
              <a:rPr lang="en-US" sz="900" b="0" i="0" dirty="0">
                <a:effectLst/>
                <a:latin typeface="Segoe WPC"/>
              </a:rPr>
              <a:t>Basel Committee guidance for banks on governance and risk oversight</a:t>
            </a:r>
            <a:br>
              <a:rPr lang="en-US" sz="900" b="0" i="0" dirty="0">
                <a:effectLst/>
                <a:latin typeface="Segoe WPC"/>
              </a:rPr>
            </a:br>
            <a:r>
              <a:rPr lang="en-US" sz="900" b="0" i="0" dirty="0">
                <a:effectLst/>
                <a:latin typeface="Segoe WPC"/>
              </a:rPr>
              <a:t>Emphasized board responsibility, CRO independence, risk committees, internal audit, and compensation</a:t>
            </a:r>
            <a:br>
              <a:rPr lang="en-US" sz="900" b="0" i="0" dirty="0">
                <a:effectLst/>
                <a:latin typeface="Segoe WPC"/>
              </a:rPr>
            </a:br>
            <a:r>
              <a:rPr lang="en-US" sz="900" b="0" i="0" dirty="0">
                <a:effectLst/>
                <a:latin typeface="Segoe WPC"/>
              </a:rPr>
              <a:t>👉 Post-crisis governance became a core regulatory expectation</a:t>
            </a:r>
          </a:p>
        </p:txBody>
      </p:sp>
      <p:sp>
        <p:nvSpPr>
          <p:cNvPr id="27" name="CuadroTexto 26">
            <a:extLst>
              <a:ext uri="{FF2B5EF4-FFF2-40B4-BE49-F238E27FC236}">
                <a16:creationId xmlns:a16="http://schemas.microsoft.com/office/drawing/2014/main" id="{2A5138B2-F9D7-D58B-3E8E-3BC538057176}"/>
              </a:ext>
            </a:extLst>
          </p:cNvPr>
          <p:cNvSpPr txBox="1"/>
          <p:nvPr/>
        </p:nvSpPr>
        <p:spPr>
          <a:xfrm>
            <a:off x="5966401" y="1209593"/>
            <a:ext cx="6334456" cy="5724644"/>
          </a:xfrm>
          <a:prstGeom prst="rect">
            <a:avLst/>
          </a:prstGeom>
          <a:noFill/>
        </p:spPr>
        <p:txBody>
          <a:bodyPr wrap="square">
            <a:spAutoFit/>
          </a:bodyPr>
          <a:lstStyle/>
          <a:p>
            <a:pPr algn="l">
              <a:spcAft>
                <a:spcPts val="1200"/>
              </a:spcAft>
              <a:buNone/>
            </a:pPr>
            <a:r>
              <a:rPr lang="en-US" sz="900" b="1" i="0" dirty="0">
                <a:effectLst/>
                <a:latin typeface="Segoe WPC"/>
              </a:rPr>
              <a:t>9. Glass-Steagall Act (1933) and Gramm-Leach-Bliley Act (1999)</a:t>
            </a:r>
            <a:br>
              <a:rPr lang="en-US" sz="900" b="0" i="0" dirty="0">
                <a:effectLst/>
                <a:latin typeface="Segoe WPC"/>
              </a:rPr>
            </a:br>
            <a:r>
              <a:rPr lang="en-US" sz="900" b="0" i="0" dirty="0">
                <a:effectLst/>
                <a:latin typeface="Segoe WPC"/>
              </a:rPr>
              <a:t>Glass-Steagall separated commercial and investment banking</a:t>
            </a:r>
            <a:br>
              <a:rPr lang="en-US" sz="900" b="0" i="0" dirty="0">
                <a:effectLst/>
                <a:latin typeface="Segoe WPC"/>
              </a:rPr>
            </a:br>
            <a:r>
              <a:rPr lang="en-US" sz="900" b="0" i="0" dirty="0">
                <a:effectLst/>
                <a:latin typeface="Segoe WPC"/>
              </a:rPr>
              <a:t>Gramm-Leach-Bliley largely removed that separation</a:t>
            </a:r>
            <a:br>
              <a:rPr lang="en-US" sz="900" b="0" i="0" dirty="0">
                <a:effectLst/>
                <a:latin typeface="Segoe WPC"/>
              </a:rPr>
            </a:br>
            <a:r>
              <a:rPr lang="en-US" sz="900" b="0" i="0" dirty="0">
                <a:effectLst/>
                <a:latin typeface="Segoe WPC"/>
              </a:rPr>
              <a:t>Allowed financial groups to combine banking, securities, and insurance activities</a:t>
            </a:r>
            <a:br>
              <a:rPr lang="en-US" sz="900" b="0" i="0" dirty="0">
                <a:effectLst/>
                <a:latin typeface="Segoe WPC"/>
              </a:rPr>
            </a:br>
            <a:r>
              <a:rPr lang="en-US" sz="900" b="0" i="0" dirty="0">
                <a:effectLst/>
                <a:latin typeface="Segoe WPC"/>
              </a:rPr>
              <a:t>👉 U.S. banking moved from separation to universal banking</a:t>
            </a:r>
          </a:p>
          <a:p>
            <a:pPr algn="l">
              <a:spcAft>
                <a:spcPts val="1200"/>
              </a:spcAft>
              <a:buNone/>
            </a:pPr>
            <a:r>
              <a:rPr lang="en-US" sz="900" b="1" i="0" dirty="0">
                <a:effectLst/>
                <a:latin typeface="Segoe WPC"/>
              </a:rPr>
              <a:t>10. Dodd-Frank Act (2010)</a:t>
            </a:r>
            <a:br>
              <a:rPr lang="en-US" sz="900" b="0" i="0" dirty="0">
                <a:effectLst/>
                <a:latin typeface="Segoe WPC"/>
              </a:rPr>
            </a:br>
            <a:r>
              <a:rPr lang="en-US" sz="900" b="0" i="0" dirty="0">
                <a:effectLst/>
                <a:latin typeface="Segoe WPC"/>
              </a:rPr>
              <a:t>Major U.S. post-crisis reform</a:t>
            </a:r>
            <a:br>
              <a:rPr lang="en-US" sz="900" b="0" i="0" dirty="0">
                <a:effectLst/>
                <a:latin typeface="Segoe WPC"/>
              </a:rPr>
            </a:br>
            <a:r>
              <a:rPr lang="en-US" sz="900" b="0" i="0" dirty="0">
                <a:effectLst/>
                <a:latin typeface="Segoe WPC"/>
              </a:rPr>
              <a:t>Expanded oversight of systemic institutions, reformed derivatives markets, introduced resolution planning, and strengthened consumer protection</a:t>
            </a:r>
            <a:br>
              <a:rPr lang="en-US" sz="900" b="0" i="0" dirty="0">
                <a:effectLst/>
                <a:latin typeface="Segoe WPC"/>
              </a:rPr>
            </a:br>
            <a:r>
              <a:rPr lang="en-US" sz="900" b="0" i="0" dirty="0">
                <a:effectLst/>
                <a:latin typeface="Segoe WPC"/>
              </a:rPr>
              <a:t>👉 Dodd-Frank = the main U.S. post-crisis financial reform</a:t>
            </a:r>
          </a:p>
          <a:p>
            <a:pPr algn="l">
              <a:spcAft>
                <a:spcPts val="1200"/>
              </a:spcAft>
              <a:buNone/>
            </a:pPr>
            <a:r>
              <a:rPr lang="en-US" sz="900" b="1" i="0" dirty="0">
                <a:effectLst/>
                <a:latin typeface="Segoe WPC"/>
              </a:rPr>
              <a:t>11. Volcker Rule (2013, effective 2015)</a:t>
            </a:r>
            <a:br>
              <a:rPr lang="en-US" sz="900" b="0" i="0" dirty="0">
                <a:effectLst/>
                <a:latin typeface="Segoe WPC"/>
              </a:rPr>
            </a:br>
            <a:r>
              <a:rPr lang="en-US" sz="900" b="0" i="0" dirty="0">
                <a:effectLst/>
                <a:latin typeface="Segoe WPC"/>
              </a:rPr>
              <a:t>Part of Dodd-Frank</a:t>
            </a:r>
            <a:br>
              <a:rPr lang="en-US" sz="900" b="0" i="0" dirty="0">
                <a:effectLst/>
                <a:latin typeface="Segoe WPC"/>
              </a:rPr>
            </a:br>
            <a:r>
              <a:rPr lang="en-US" sz="900" b="0" i="0" dirty="0">
                <a:effectLst/>
                <a:latin typeface="Segoe WPC"/>
              </a:rPr>
              <a:t>Restricted proprietary trading by banks and limited ties to hedge funds and private equity</a:t>
            </a:r>
            <a:br>
              <a:rPr lang="en-US" sz="900" b="0" i="0" dirty="0">
                <a:effectLst/>
                <a:latin typeface="Segoe WPC"/>
              </a:rPr>
            </a:br>
            <a:r>
              <a:rPr lang="en-US" sz="900" b="0" i="0" dirty="0">
                <a:effectLst/>
                <a:latin typeface="Segoe WPC"/>
              </a:rPr>
              <a:t>👉 Volcker Rule = reduce speculative trading inside banks</a:t>
            </a:r>
          </a:p>
          <a:p>
            <a:pPr algn="l">
              <a:spcAft>
                <a:spcPts val="1200"/>
              </a:spcAft>
              <a:buNone/>
            </a:pPr>
            <a:r>
              <a:rPr lang="en-US" sz="900" b="1" i="0" dirty="0">
                <a:effectLst/>
                <a:latin typeface="Segoe WPC"/>
              </a:rPr>
              <a:t>12. Stress Testing: DFAST, CCAR, SREP, EBA (2010s)</a:t>
            </a:r>
            <a:br>
              <a:rPr lang="en-US" sz="900" b="0" i="0" dirty="0">
                <a:effectLst/>
                <a:latin typeface="Segoe WPC"/>
              </a:rPr>
            </a:br>
            <a:r>
              <a:rPr lang="en-US" sz="900" b="0" i="0" dirty="0">
                <a:effectLst/>
                <a:latin typeface="Segoe WPC"/>
              </a:rPr>
              <a:t>DFAST and CCAR in the U.S. test whether large banks can survive severe macro stress</a:t>
            </a:r>
            <a:br>
              <a:rPr lang="en-US" sz="900" b="0" i="0" dirty="0">
                <a:effectLst/>
                <a:latin typeface="Segoe WPC"/>
              </a:rPr>
            </a:br>
            <a:r>
              <a:rPr lang="en-US" sz="900" b="0" i="0" dirty="0">
                <a:effectLst/>
                <a:latin typeface="Segoe WPC"/>
              </a:rPr>
              <a:t>SREP and EBA stress tests play a similar role in Europe</a:t>
            </a:r>
            <a:br>
              <a:rPr lang="en-US" sz="900" b="0" i="0" dirty="0">
                <a:effectLst/>
                <a:latin typeface="Segoe WPC"/>
              </a:rPr>
            </a:br>
            <a:r>
              <a:rPr lang="en-US" sz="900" b="0" i="0" dirty="0">
                <a:effectLst/>
                <a:latin typeface="Segoe WPC"/>
              </a:rPr>
              <a:t>These frameworks are forward-looking and tied to capital and liquidity planning</a:t>
            </a:r>
            <a:br>
              <a:rPr lang="en-US" sz="900" b="0" i="0" dirty="0">
                <a:effectLst/>
                <a:latin typeface="Segoe WPC"/>
              </a:rPr>
            </a:br>
            <a:r>
              <a:rPr lang="en-US" sz="900" b="0" i="0" dirty="0">
                <a:effectLst/>
                <a:latin typeface="Segoe WPC"/>
              </a:rPr>
              <a:t>👉 Stress testing = regulation focused on survivability, not just compliance</a:t>
            </a:r>
          </a:p>
          <a:p>
            <a:pPr algn="l">
              <a:spcAft>
                <a:spcPts val="1200"/>
              </a:spcAft>
              <a:buNone/>
            </a:pPr>
            <a:r>
              <a:rPr lang="en-US" sz="900" b="1" i="0" dirty="0">
                <a:effectLst/>
                <a:latin typeface="Segoe WPC"/>
              </a:rPr>
              <a:t>13. Role of the Board</a:t>
            </a:r>
            <a:br>
              <a:rPr lang="en-US" sz="900" b="0" i="0" dirty="0">
                <a:effectLst/>
                <a:latin typeface="Segoe WPC"/>
              </a:rPr>
            </a:br>
            <a:r>
              <a:rPr lang="en-US" sz="900" b="0" i="0" dirty="0">
                <a:effectLst/>
                <a:latin typeface="Segoe WPC"/>
              </a:rPr>
              <a:t>The board approves strategy, risk appetite, and major risk boundaries</a:t>
            </a:r>
            <a:br>
              <a:rPr lang="en-US" sz="900" b="0" i="0" dirty="0">
                <a:effectLst/>
                <a:latin typeface="Segoe WPC"/>
              </a:rPr>
            </a:br>
            <a:r>
              <a:rPr lang="en-US" sz="900" b="0" i="0" dirty="0">
                <a:effectLst/>
                <a:latin typeface="Segoe WPC"/>
              </a:rPr>
              <a:t>It must oversee management, ask hard questions, and ensure effective controls</a:t>
            </a:r>
            <a:br>
              <a:rPr lang="en-US" sz="900" b="0" i="0" dirty="0">
                <a:effectLst/>
                <a:latin typeface="Segoe WPC"/>
              </a:rPr>
            </a:br>
            <a:r>
              <a:rPr lang="en-US" sz="900" b="0" i="0" dirty="0">
                <a:effectLst/>
                <a:latin typeface="Segoe WPC"/>
              </a:rPr>
              <a:t>It should understand the risks taken, not just the profits reported</a:t>
            </a:r>
            <a:br>
              <a:rPr lang="en-US" sz="900" b="0" i="0" dirty="0">
                <a:effectLst/>
                <a:latin typeface="Segoe WPC"/>
              </a:rPr>
            </a:br>
            <a:r>
              <a:rPr lang="en-US" sz="900" b="0" i="0" dirty="0">
                <a:effectLst/>
                <a:latin typeface="Segoe WPC"/>
              </a:rPr>
              <a:t>👉 Board oversight is central to effective risk governance</a:t>
            </a:r>
          </a:p>
          <a:p>
            <a:pPr algn="l">
              <a:spcAft>
                <a:spcPts val="1200"/>
              </a:spcAft>
              <a:buNone/>
            </a:pPr>
            <a:r>
              <a:rPr lang="en-US" sz="900" b="1" i="0" dirty="0">
                <a:effectLst/>
                <a:latin typeface="Segoe WPC"/>
              </a:rPr>
              <a:t>14. Risk Appetite Statement (RAS) and the CRO</a:t>
            </a:r>
            <a:br>
              <a:rPr lang="en-US" sz="900" b="0" i="0" dirty="0">
                <a:effectLst/>
                <a:latin typeface="Segoe WPC"/>
              </a:rPr>
            </a:br>
            <a:r>
              <a:rPr lang="en-US" sz="900" b="0" i="0" dirty="0">
                <a:effectLst/>
                <a:latin typeface="Segoe WPC"/>
              </a:rPr>
              <a:t>RAS defines the amount and type of risk the firm is willing to take</a:t>
            </a:r>
            <a:br>
              <a:rPr lang="en-US" sz="900" b="0" i="0" dirty="0">
                <a:effectLst/>
                <a:latin typeface="Segoe WPC"/>
              </a:rPr>
            </a:br>
            <a:r>
              <a:rPr lang="en-US" sz="900" b="0" i="0" dirty="0">
                <a:effectLst/>
                <a:latin typeface="Segoe WPC"/>
              </a:rPr>
              <a:t>It links strategy, capital, liquidity, compensation, and limits</a:t>
            </a:r>
            <a:br>
              <a:rPr lang="en-US" sz="900" b="0" i="0" dirty="0">
                <a:effectLst/>
                <a:latin typeface="Segoe WPC"/>
              </a:rPr>
            </a:br>
            <a:r>
              <a:rPr lang="en-US" sz="900" b="0" i="0" dirty="0">
                <a:effectLst/>
                <a:latin typeface="Segoe WPC"/>
              </a:rPr>
              <a:t>The CRO must be independent, have authority, and be able to escalate issues directly to the board</a:t>
            </a:r>
            <a:br>
              <a:rPr lang="en-US" sz="900" b="0" i="0" dirty="0">
                <a:effectLst/>
                <a:latin typeface="Segoe WPC"/>
              </a:rPr>
            </a:br>
            <a:r>
              <a:rPr lang="en-US" sz="900" b="0" i="0" dirty="0">
                <a:effectLst/>
                <a:latin typeface="Segoe WPC"/>
              </a:rPr>
              <a:t>👉 RAS + independent CRO = core of practical risk governance</a:t>
            </a:r>
          </a:p>
          <a:p>
            <a:pPr algn="l">
              <a:spcAft>
                <a:spcPts val="1200"/>
              </a:spcAft>
              <a:buNone/>
            </a:pPr>
            <a:r>
              <a:rPr lang="en-US" sz="900" b="1" i="0" dirty="0">
                <a:effectLst/>
                <a:latin typeface="Segoe WPC"/>
              </a:rPr>
              <a:t>15. Incentives, Audit, and Final Governance Logic</a:t>
            </a:r>
            <a:br>
              <a:rPr lang="en-US" sz="900" b="0" i="0" dirty="0">
                <a:effectLst/>
                <a:latin typeface="Segoe WPC"/>
              </a:rPr>
            </a:br>
            <a:r>
              <a:rPr lang="en-US" sz="900" b="0" i="0" dirty="0">
                <a:effectLst/>
                <a:latin typeface="Segoe WPC"/>
              </a:rPr>
              <a:t>Bad compensation can encourage short-term risk-taking and hide long-term losses</a:t>
            </a:r>
            <a:br>
              <a:rPr lang="en-US" sz="900" b="0" i="0" dirty="0">
                <a:effectLst/>
                <a:latin typeface="Segoe WPC"/>
              </a:rPr>
            </a:br>
            <a:r>
              <a:rPr lang="en-US" sz="900" b="0" i="0" dirty="0">
                <a:effectLst/>
                <a:latin typeface="Segoe WPC"/>
              </a:rPr>
              <a:t>Post-crisis reforms pushed deferred bonuses, </a:t>
            </a:r>
            <a:r>
              <a:rPr lang="en-US" sz="900" b="0" i="0" dirty="0" err="1">
                <a:effectLst/>
                <a:latin typeface="Segoe WPC"/>
              </a:rPr>
              <a:t>clawbacks</a:t>
            </a:r>
            <a:r>
              <a:rPr lang="en-US" sz="900" b="0" i="0" dirty="0">
                <a:effectLst/>
                <a:latin typeface="Segoe WPC"/>
              </a:rPr>
              <a:t>, and risk-adjusted pay</a:t>
            </a:r>
            <a:br>
              <a:rPr lang="en-US" sz="900" b="0" i="0" dirty="0">
                <a:effectLst/>
                <a:latin typeface="Segoe WPC"/>
              </a:rPr>
            </a:br>
            <a:r>
              <a:rPr lang="en-US" sz="900" b="0" i="0" dirty="0">
                <a:effectLst/>
                <a:latin typeface="Segoe WPC"/>
              </a:rPr>
              <a:t>Internal audit must remain independent and verify that governance and controls truly work</a:t>
            </a:r>
            <a:br>
              <a:rPr lang="en-US" sz="900" b="0" i="0" dirty="0">
                <a:effectLst/>
                <a:latin typeface="Segoe WPC"/>
              </a:rPr>
            </a:br>
            <a:r>
              <a:rPr lang="en-US" sz="900" b="0" i="0" dirty="0">
                <a:effectLst/>
                <a:latin typeface="Segoe WPC"/>
              </a:rPr>
              <a:t>👉 Effective risk governance = board oversight + strong CRO + clear limits + aligned incentives + independent audit</a:t>
            </a:r>
          </a:p>
        </p:txBody>
      </p:sp>
      <p:sp>
        <p:nvSpPr>
          <p:cNvPr id="31" name="CuadroTexto 30">
            <a:extLst>
              <a:ext uri="{FF2B5EF4-FFF2-40B4-BE49-F238E27FC236}">
                <a16:creationId xmlns:a16="http://schemas.microsoft.com/office/drawing/2014/main" id="{B2FC1DD3-3A8F-1662-740C-2727E356FF52}"/>
              </a:ext>
            </a:extLst>
          </p:cNvPr>
          <p:cNvSpPr txBox="1"/>
          <p:nvPr/>
        </p:nvSpPr>
        <p:spPr>
          <a:xfrm>
            <a:off x="5966400" y="286263"/>
            <a:ext cx="5630513" cy="923330"/>
          </a:xfrm>
          <a:prstGeom prst="rect">
            <a:avLst/>
          </a:prstGeom>
          <a:noFill/>
        </p:spPr>
        <p:txBody>
          <a:bodyPr wrap="square">
            <a:spAutoFit/>
          </a:bodyPr>
          <a:lstStyle/>
          <a:p>
            <a:r>
              <a:rPr lang="en-US" sz="900" b="1" i="0" dirty="0">
                <a:effectLst/>
                <a:latin typeface="Segoe WPC"/>
              </a:rPr>
              <a:t>Risk Appetite vs Capacity vs Tolerance</a:t>
            </a:r>
            <a:br>
              <a:rPr lang="en-US" sz="900" dirty="0"/>
            </a:br>
            <a:r>
              <a:rPr lang="en-US" sz="900" b="0" i="0" dirty="0">
                <a:effectLst/>
                <a:latin typeface="Segoe WPC"/>
              </a:rPr>
              <a:t>Risk capacity: maximum risk the firm can absorb before threatening solvency</a:t>
            </a:r>
            <a:br>
              <a:rPr lang="en-US" sz="900" dirty="0"/>
            </a:br>
            <a:r>
              <a:rPr lang="en-US" sz="900" b="0" i="0" dirty="0">
                <a:effectLst/>
                <a:latin typeface="Segoe WPC"/>
              </a:rPr>
              <a:t>Risk appetite: overall amount of risk the firm is willing to take</a:t>
            </a:r>
            <a:br>
              <a:rPr lang="en-US" sz="900" dirty="0"/>
            </a:br>
            <a:r>
              <a:rPr lang="en-US" sz="900" b="0" i="0" dirty="0">
                <a:effectLst/>
                <a:latin typeface="Segoe WPC"/>
              </a:rPr>
              <a:t>Risk tolerance: acceptable range of variation around specific business objectives</a:t>
            </a:r>
            <a:br>
              <a:rPr lang="en-US" sz="900" dirty="0"/>
            </a:br>
            <a:r>
              <a:rPr lang="en-US" sz="900" b="0" i="0" dirty="0">
                <a:effectLst/>
                <a:latin typeface="Segoe WPC"/>
              </a:rPr>
              <a:t>Current risk profile should remain within tolerance bands and below total capacity</a:t>
            </a:r>
            <a:br>
              <a:rPr lang="en-US" sz="900" dirty="0"/>
            </a:br>
            <a:r>
              <a:rPr lang="en-US" sz="900" b="0" i="0" dirty="0">
                <a:effectLst/>
                <a:latin typeface="Segoe WPC"/>
              </a:rPr>
              <a:t>👉 Goal: keep actual risk within tolerance and safely below capacity</a:t>
            </a:r>
            <a:endParaRPr lang="es-PE" sz="900" dirty="0"/>
          </a:p>
        </p:txBody>
      </p:sp>
      <p:pic>
        <p:nvPicPr>
          <p:cNvPr id="33" name="Imagen 32">
            <a:extLst>
              <a:ext uri="{FF2B5EF4-FFF2-40B4-BE49-F238E27FC236}">
                <a16:creationId xmlns:a16="http://schemas.microsoft.com/office/drawing/2014/main" id="{9C39205B-C87A-239B-88FD-E1E1593AB189}"/>
              </a:ext>
            </a:extLst>
          </p:cNvPr>
          <p:cNvPicPr>
            <a:picLocks noChangeAspect="1"/>
          </p:cNvPicPr>
          <p:nvPr/>
        </p:nvPicPr>
        <p:blipFill>
          <a:blip r:embed="rId2"/>
          <a:stretch>
            <a:fillRect/>
          </a:stretch>
        </p:blipFill>
        <p:spPr>
          <a:xfrm>
            <a:off x="3389858" y="3984161"/>
            <a:ext cx="2576543" cy="1560297"/>
          </a:xfrm>
          <a:prstGeom prst="rect">
            <a:avLst/>
          </a:prstGeom>
        </p:spPr>
      </p:pic>
      <p:pic>
        <p:nvPicPr>
          <p:cNvPr id="35" name="Imagen 34">
            <a:extLst>
              <a:ext uri="{FF2B5EF4-FFF2-40B4-BE49-F238E27FC236}">
                <a16:creationId xmlns:a16="http://schemas.microsoft.com/office/drawing/2014/main" id="{B1105B58-4588-721F-8E50-7C022332D071}"/>
              </a:ext>
            </a:extLst>
          </p:cNvPr>
          <p:cNvPicPr>
            <a:picLocks noChangeAspect="1"/>
          </p:cNvPicPr>
          <p:nvPr/>
        </p:nvPicPr>
        <p:blipFill>
          <a:blip r:embed="rId3"/>
          <a:stretch>
            <a:fillRect/>
          </a:stretch>
        </p:blipFill>
        <p:spPr>
          <a:xfrm>
            <a:off x="9595519" y="4898572"/>
            <a:ext cx="2409450" cy="812571"/>
          </a:xfrm>
          <a:prstGeom prst="rect">
            <a:avLst/>
          </a:prstGeom>
        </p:spPr>
      </p:pic>
    </p:spTree>
    <p:extLst>
      <p:ext uri="{BB962C8B-B14F-4D97-AF65-F5344CB8AC3E}">
        <p14:creationId xmlns:p14="http://schemas.microsoft.com/office/powerpoint/2010/main" val="2094106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8A2A3E-C79B-FEC1-CE67-B5CEF3D99F27}"/>
              </a:ext>
            </a:extLst>
          </p:cNvPr>
          <p:cNvSpPr>
            <a:spLocks noGrp="1"/>
          </p:cNvSpPr>
          <p:nvPr>
            <p:ph type="title"/>
          </p:nvPr>
        </p:nvSpPr>
        <p:spPr>
          <a:xfrm>
            <a:off x="0" y="1"/>
            <a:ext cx="10515600" cy="391885"/>
          </a:xfrm>
        </p:spPr>
        <p:txBody>
          <a:bodyPr>
            <a:normAutofit fontScale="90000"/>
          </a:bodyPr>
          <a:lstStyle/>
          <a:p>
            <a:r>
              <a:rPr lang="en-US" sz="2800" dirty="0"/>
              <a:t>Credit Risk Transfer Mechanism</a:t>
            </a:r>
            <a:endParaRPr lang="es-PE" sz="2800" dirty="0"/>
          </a:p>
        </p:txBody>
      </p:sp>
      <p:sp>
        <p:nvSpPr>
          <p:cNvPr id="5" name="CuadroTexto 4">
            <a:extLst>
              <a:ext uri="{FF2B5EF4-FFF2-40B4-BE49-F238E27FC236}">
                <a16:creationId xmlns:a16="http://schemas.microsoft.com/office/drawing/2014/main" id="{3539672C-E82C-753D-EE11-DAA1F46F0A60}"/>
              </a:ext>
            </a:extLst>
          </p:cNvPr>
          <p:cNvSpPr txBox="1"/>
          <p:nvPr/>
        </p:nvSpPr>
        <p:spPr>
          <a:xfrm>
            <a:off x="54428" y="332507"/>
            <a:ext cx="4445001" cy="6571030"/>
          </a:xfrm>
          <a:prstGeom prst="rect">
            <a:avLst/>
          </a:prstGeom>
          <a:noFill/>
        </p:spPr>
        <p:txBody>
          <a:bodyPr wrap="square">
            <a:spAutoFit/>
          </a:bodyPr>
          <a:lstStyle/>
          <a:p>
            <a:pPr algn="l">
              <a:spcAft>
                <a:spcPts val="600"/>
              </a:spcAft>
              <a:buNone/>
            </a:pPr>
            <a:r>
              <a:rPr lang="en-US" sz="900" b="1" i="0" dirty="0">
                <a:effectLst/>
                <a:latin typeface="Segoe WPC"/>
              </a:rPr>
              <a:t>1. Credit Risk Transfer: Core Idea</a:t>
            </a:r>
            <a:br>
              <a:rPr lang="en-US" sz="900" b="0" i="0" dirty="0">
                <a:effectLst/>
                <a:latin typeface="Segoe WPC"/>
              </a:rPr>
            </a:br>
            <a:r>
              <a:rPr lang="en-US" sz="900" b="0" i="0" dirty="0">
                <a:effectLst/>
                <a:latin typeface="Segoe WPC"/>
              </a:rPr>
              <a:t>Banks’ main exposure is credit risk</a:t>
            </a:r>
            <a:br>
              <a:rPr lang="en-US" sz="900" b="0" i="0" dirty="0">
                <a:effectLst/>
                <a:latin typeface="Segoe WPC"/>
              </a:rPr>
            </a:br>
            <a:r>
              <a:rPr lang="en-US" sz="900" b="0" i="0" dirty="0">
                <a:effectLst/>
                <a:latin typeface="Segoe WPC"/>
              </a:rPr>
              <a:t>Traditionally, banks funded long-term illiquid loans with short-term liquid deposits</a:t>
            </a:r>
            <a:br>
              <a:rPr lang="en-US" sz="900" b="0" i="0" dirty="0">
                <a:effectLst/>
                <a:latin typeface="Segoe WPC"/>
              </a:rPr>
            </a:br>
            <a:r>
              <a:rPr lang="en-US" sz="900" b="0" i="0" dirty="0">
                <a:effectLst/>
                <a:latin typeface="Segoe WPC"/>
              </a:rPr>
              <a:t>Credit risk transfer mechanisms allowed banks to actively manage and redistribute credit exposure</a:t>
            </a:r>
            <a:br>
              <a:rPr lang="en-US" sz="900" b="0" i="0" dirty="0">
                <a:effectLst/>
                <a:latin typeface="Segoe WPC"/>
              </a:rPr>
            </a:br>
            <a:r>
              <a:rPr lang="en-US" sz="900" b="0" i="0" dirty="0">
                <a:effectLst/>
                <a:latin typeface="Segoe WPC"/>
              </a:rPr>
              <a:t>👉 Main idea: credit risk no longer had to stay on the bank’s balance sheet</a:t>
            </a:r>
          </a:p>
          <a:p>
            <a:pPr algn="l">
              <a:spcAft>
                <a:spcPts val="600"/>
              </a:spcAft>
              <a:buNone/>
            </a:pPr>
            <a:r>
              <a:rPr lang="en-US" sz="900" b="1" i="0" dirty="0">
                <a:effectLst/>
                <a:latin typeface="Segoe WPC"/>
              </a:rPr>
              <a:t>3. Why Credit Risk Transfer Can Be Useful</a:t>
            </a:r>
            <a:br>
              <a:rPr lang="en-US" sz="900" b="0" i="0" dirty="0">
                <a:effectLst/>
                <a:latin typeface="Segoe WPC"/>
              </a:rPr>
            </a:br>
            <a:r>
              <a:rPr lang="en-US" sz="900" b="0" i="0" dirty="0">
                <a:effectLst/>
                <a:latin typeface="Segoe WPC"/>
              </a:rPr>
              <a:t>Allows banks to reduce single-name and portfolio credit exposure</a:t>
            </a:r>
            <a:br>
              <a:rPr lang="en-US" sz="900" b="0" i="0" dirty="0">
                <a:effectLst/>
                <a:latin typeface="Segoe WPC"/>
              </a:rPr>
            </a:br>
            <a:r>
              <a:rPr lang="en-US" sz="900" b="0" i="0" dirty="0">
                <a:effectLst/>
                <a:latin typeface="Segoe WPC"/>
              </a:rPr>
              <a:t>Improves capital efficiency and funding flexibility</a:t>
            </a:r>
            <a:br>
              <a:rPr lang="en-US" sz="900" b="0" i="0" dirty="0">
                <a:effectLst/>
                <a:latin typeface="Segoe WPC"/>
              </a:rPr>
            </a:br>
            <a:r>
              <a:rPr lang="en-US" sz="900" b="0" i="0" dirty="0">
                <a:effectLst/>
                <a:latin typeface="Segoe WPC"/>
              </a:rPr>
              <a:t>Helps redistribute risk to a broader investor base</a:t>
            </a:r>
            <a:br>
              <a:rPr lang="en-US" sz="900" b="0" i="0" dirty="0">
                <a:effectLst/>
                <a:latin typeface="Segoe WPC"/>
              </a:rPr>
            </a:br>
            <a:r>
              <a:rPr lang="en-US" sz="900" b="0" i="0" dirty="0">
                <a:effectLst/>
                <a:latin typeface="Segoe WPC"/>
              </a:rPr>
              <a:t>Supports credit price discovery through market pricing</a:t>
            </a:r>
            <a:br>
              <a:rPr lang="en-US" sz="900" b="0" i="0" dirty="0">
                <a:effectLst/>
                <a:latin typeface="Segoe WPC"/>
              </a:rPr>
            </a:br>
            <a:r>
              <a:rPr lang="en-US" sz="900" b="0" i="0" dirty="0">
                <a:effectLst/>
                <a:latin typeface="Segoe WPC"/>
              </a:rPr>
              <a:t>👉 Properly used, credit risk transfer improves risk management and market efficiency</a:t>
            </a:r>
          </a:p>
          <a:p>
            <a:pPr algn="l">
              <a:spcAft>
                <a:spcPts val="600"/>
              </a:spcAft>
              <a:buNone/>
            </a:pPr>
            <a:r>
              <a:rPr lang="en-US" sz="900" b="1" i="0" dirty="0">
                <a:effectLst/>
                <a:latin typeface="Segoe WPC"/>
              </a:rPr>
              <a:t>4. Traditional Credit Protection Tools</a:t>
            </a:r>
            <a:br>
              <a:rPr lang="en-US" sz="900" b="0" i="0" dirty="0">
                <a:effectLst/>
                <a:latin typeface="Segoe WPC"/>
              </a:rPr>
            </a:br>
            <a:r>
              <a:rPr lang="en-US" sz="900" b="0" i="0" dirty="0">
                <a:effectLst/>
                <a:latin typeface="Segoe WPC"/>
              </a:rPr>
              <a:t>Before modern credit derivatives, banks used:</a:t>
            </a:r>
            <a:br>
              <a:rPr lang="en-US" sz="900" b="0" i="0" dirty="0">
                <a:effectLst/>
                <a:latin typeface="Segoe WPC"/>
              </a:rPr>
            </a:br>
            <a:r>
              <a:rPr lang="en-US" sz="900" b="0" i="0" dirty="0">
                <a:effectLst/>
                <a:latin typeface="Segoe WPC"/>
              </a:rPr>
              <a:t>insurance/financial guarantees</a:t>
            </a:r>
            <a:br>
              <a:rPr lang="en-US" sz="900" b="0" i="0" dirty="0">
                <a:effectLst/>
                <a:latin typeface="Segoe WPC"/>
              </a:rPr>
            </a:br>
            <a:r>
              <a:rPr lang="en-US" sz="900" b="0" i="0" dirty="0">
                <a:effectLst/>
                <a:latin typeface="Segoe WPC"/>
              </a:rPr>
              <a:t>netting</a:t>
            </a:r>
            <a:br>
              <a:rPr lang="en-US" sz="900" b="0" i="0" dirty="0">
                <a:effectLst/>
                <a:latin typeface="Segoe WPC"/>
              </a:rPr>
            </a:br>
            <a:r>
              <a:rPr lang="en-US" sz="900" b="0" i="0" dirty="0">
                <a:effectLst/>
                <a:latin typeface="Segoe WPC"/>
              </a:rPr>
              <a:t>margining/mark-to-market</a:t>
            </a:r>
            <a:br>
              <a:rPr lang="en-US" sz="900" b="0" i="0" dirty="0">
                <a:effectLst/>
                <a:latin typeface="Segoe WPC"/>
              </a:rPr>
            </a:br>
            <a:r>
              <a:rPr lang="en-US" sz="900" b="0" i="0" dirty="0">
                <a:effectLst/>
                <a:latin typeface="Segoe WPC"/>
              </a:rPr>
              <a:t>collateral</a:t>
            </a:r>
            <a:br>
              <a:rPr lang="en-US" sz="900" b="0" i="0" dirty="0">
                <a:effectLst/>
                <a:latin typeface="Segoe WPC"/>
              </a:rPr>
            </a:br>
            <a:r>
              <a:rPr lang="en-US" sz="900" b="0" i="0" dirty="0">
                <a:effectLst/>
                <a:latin typeface="Segoe WPC"/>
              </a:rPr>
              <a:t>termination clauses / put options</a:t>
            </a:r>
            <a:br>
              <a:rPr lang="en-US" sz="900" b="0" i="0" dirty="0">
                <a:effectLst/>
                <a:latin typeface="Segoe WPC"/>
              </a:rPr>
            </a:br>
            <a:r>
              <a:rPr lang="en-US" sz="900" b="0" i="0" dirty="0">
                <a:effectLst/>
                <a:latin typeface="Segoe WPC"/>
              </a:rPr>
              <a:t>These reduce exposure but do not fully isolate and redistribute credit risk</a:t>
            </a:r>
            <a:br>
              <a:rPr lang="en-US" sz="900" b="0" i="0" dirty="0">
                <a:effectLst/>
                <a:latin typeface="Segoe WPC"/>
              </a:rPr>
            </a:br>
            <a:r>
              <a:rPr lang="en-US" sz="900" b="0" i="0" dirty="0">
                <a:effectLst/>
                <a:latin typeface="Segoe WPC"/>
              </a:rPr>
              <a:t>👉 Traditional tools protect against credit loss, but are less flexible than modern transfer mechanisms</a:t>
            </a:r>
          </a:p>
          <a:p>
            <a:pPr algn="l">
              <a:spcAft>
                <a:spcPts val="600"/>
              </a:spcAft>
              <a:buNone/>
            </a:pPr>
            <a:r>
              <a:rPr lang="en-US" sz="900" b="1" i="0" dirty="0">
                <a:effectLst/>
                <a:latin typeface="Segoe WPC"/>
              </a:rPr>
              <a:t>5. Credit Derivatives and CDS</a:t>
            </a:r>
            <a:br>
              <a:rPr lang="en-US" sz="900" b="0" i="0" dirty="0">
                <a:effectLst/>
                <a:latin typeface="Segoe WPC"/>
              </a:rPr>
            </a:br>
            <a:r>
              <a:rPr lang="en-US" sz="900" b="0" i="0" dirty="0">
                <a:effectLst/>
                <a:latin typeface="Segoe WPC"/>
              </a:rPr>
              <a:t>Credit derivatives transfer credit risk without selling the underlying loan or bond</a:t>
            </a:r>
            <a:br>
              <a:rPr lang="en-US" sz="900" b="0" i="0" dirty="0">
                <a:effectLst/>
                <a:latin typeface="Segoe WPC"/>
              </a:rPr>
            </a:br>
            <a:r>
              <a:rPr lang="en-US" sz="900" b="0" i="0" dirty="0">
                <a:effectLst/>
                <a:latin typeface="Segoe WPC"/>
              </a:rPr>
              <a:t>CDS is the most common example:</a:t>
            </a:r>
            <a:br>
              <a:rPr lang="en-US" sz="900" b="0" i="0" dirty="0">
                <a:effectLst/>
                <a:latin typeface="Segoe WPC"/>
              </a:rPr>
            </a:br>
            <a:r>
              <a:rPr lang="en-US" sz="900" b="0" i="0" dirty="0">
                <a:effectLst/>
                <a:latin typeface="Segoe WPC"/>
              </a:rPr>
              <a:t>protection buyer pays a fee</a:t>
            </a:r>
            <a:br>
              <a:rPr lang="en-US" sz="900" b="0" i="0" dirty="0">
                <a:effectLst/>
                <a:latin typeface="Segoe WPC"/>
              </a:rPr>
            </a:br>
            <a:r>
              <a:rPr lang="en-US" sz="900" b="0" i="0" dirty="0">
                <a:effectLst/>
                <a:latin typeface="Segoe WPC"/>
              </a:rPr>
              <a:t>protection seller pays if a credit event occurs</a:t>
            </a:r>
            <a:br>
              <a:rPr lang="en-US" sz="900" b="0" i="0" dirty="0">
                <a:effectLst/>
                <a:latin typeface="Segoe WPC"/>
              </a:rPr>
            </a:br>
            <a:r>
              <a:rPr lang="en-US" sz="900" b="0" i="0" dirty="0">
                <a:effectLst/>
                <a:latin typeface="Segoe WPC"/>
              </a:rPr>
              <a:t>They allow fine-tuning of credit exposure and portfolio management</a:t>
            </a:r>
            <a:br>
              <a:rPr lang="en-US" sz="900" b="0" i="0" dirty="0">
                <a:effectLst/>
                <a:latin typeface="Segoe WPC"/>
              </a:rPr>
            </a:br>
            <a:r>
              <a:rPr lang="en-US" sz="900" b="0" i="0" dirty="0">
                <a:effectLst/>
                <a:latin typeface="Segoe WPC"/>
              </a:rPr>
              <a:t>👉 CDS = credit risk transfer without transferring funding or client relationship</a:t>
            </a:r>
          </a:p>
          <a:p>
            <a:pPr algn="l">
              <a:spcAft>
                <a:spcPts val="600"/>
              </a:spcAft>
              <a:buNone/>
            </a:pPr>
            <a:r>
              <a:rPr lang="en-US" sz="900" b="1" i="0" dirty="0">
                <a:effectLst/>
                <a:latin typeface="Segoe WPC"/>
              </a:rPr>
              <a:t>6. Securitization Mechanics</a:t>
            </a:r>
            <a:br>
              <a:rPr lang="en-US" sz="900" b="0" i="0" dirty="0">
                <a:effectLst/>
                <a:latin typeface="Segoe WPC"/>
              </a:rPr>
            </a:br>
            <a:r>
              <a:rPr lang="en-US" sz="900" b="0" i="0" dirty="0">
                <a:effectLst/>
                <a:latin typeface="Segoe WPC"/>
              </a:rPr>
              <a:t>Securitization pools loans/receivables and repackages them into securities</a:t>
            </a:r>
            <a:br>
              <a:rPr lang="en-US" sz="900" b="0" i="0" dirty="0">
                <a:effectLst/>
                <a:latin typeface="Segoe WPC"/>
              </a:rPr>
            </a:br>
            <a:r>
              <a:rPr lang="en-US" sz="900" b="0" i="0" dirty="0">
                <a:effectLst/>
                <a:latin typeface="Segoe WPC"/>
              </a:rPr>
              <a:t>A special purpose vehicle (SPV) buys the asset pool and issues tranches:</a:t>
            </a:r>
            <a:br>
              <a:rPr lang="en-US" sz="900" b="0" i="0" dirty="0">
                <a:effectLst/>
                <a:latin typeface="Segoe WPC"/>
              </a:rPr>
            </a:br>
            <a:r>
              <a:rPr lang="en-US" sz="900" b="0" i="0" dirty="0">
                <a:effectLst/>
                <a:latin typeface="Segoe WPC"/>
              </a:rPr>
              <a:t>senior</a:t>
            </a:r>
            <a:br>
              <a:rPr lang="en-US" sz="900" b="0" i="0" dirty="0">
                <a:effectLst/>
                <a:latin typeface="Segoe WPC"/>
              </a:rPr>
            </a:br>
            <a:r>
              <a:rPr lang="en-US" sz="900" b="0" i="0" dirty="0">
                <a:effectLst/>
                <a:latin typeface="Segoe WPC"/>
              </a:rPr>
              <a:t>junior</a:t>
            </a:r>
            <a:br>
              <a:rPr lang="en-US" sz="900" b="0" i="0" dirty="0">
                <a:effectLst/>
                <a:latin typeface="Segoe WPC"/>
              </a:rPr>
            </a:br>
            <a:r>
              <a:rPr lang="en-US" sz="900" b="0" i="0" dirty="0">
                <a:effectLst/>
                <a:latin typeface="Segoe WPC"/>
              </a:rPr>
              <a:t>equity/residual</a:t>
            </a:r>
            <a:br>
              <a:rPr lang="en-US" sz="900" b="0" i="0" dirty="0">
                <a:effectLst/>
                <a:latin typeface="Segoe WPC"/>
              </a:rPr>
            </a:br>
            <a:r>
              <a:rPr lang="en-US" sz="900" b="0" i="0" dirty="0">
                <a:effectLst/>
                <a:latin typeface="Segoe WPC"/>
              </a:rPr>
              <a:t>Cash flows from the asset pool are used to pay investors</a:t>
            </a:r>
            <a:br>
              <a:rPr lang="en-US" sz="900" b="0" i="0" dirty="0">
                <a:effectLst/>
                <a:latin typeface="Segoe WPC"/>
              </a:rPr>
            </a:br>
            <a:r>
              <a:rPr lang="en-US" sz="900" b="0" i="0" dirty="0">
                <a:effectLst/>
                <a:latin typeface="Segoe WPC"/>
              </a:rPr>
              <a:t>👉 Securitization transforms illiquid credit assets into tradable securities</a:t>
            </a:r>
          </a:p>
          <a:p>
            <a:pPr algn="l">
              <a:spcAft>
                <a:spcPts val="600"/>
              </a:spcAft>
              <a:buNone/>
            </a:pPr>
            <a:r>
              <a:rPr lang="en-US" sz="900" b="1" i="0" dirty="0">
                <a:effectLst/>
                <a:latin typeface="Segoe WPC"/>
              </a:rPr>
              <a:t>7. Buy-and-Hold vs Originate-to-Distribute (OTD)</a:t>
            </a:r>
            <a:br>
              <a:rPr lang="en-US" sz="900" b="0" i="0" dirty="0">
                <a:effectLst/>
                <a:latin typeface="Segoe WPC"/>
              </a:rPr>
            </a:br>
            <a:r>
              <a:rPr lang="en-US" sz="900" b="0" i="0" dirty="0">
                <a:effectLst/>
                <a:latin typeface="Segoe WPC"/>
              </a:rPr>
              <a:t>Buy-and-hold: originate loans and keep them on the balance sheet</a:t>
            </a:r>
            <a:br>
              <a:rPr lang="en-US" sz="900" b="0" i="0" dirty="0">
                <a:effectLst/>
                <a:latin typeface="Segoe WPC"/>
              </a:rPr>
            </a:br>
            <a:r>
              <a:rPr lang="en-US" sz="900" b="0" i="0" dirty="0">
                <a:effectLst/>
                <a:latin typeface="Segoe WPC"/>
              </a:rPr>
              <a:t>Originate-to-distribute: originate loans, pool them, and sell the risk through securitization</a:t>
            </a:r>
            <a:br>
              <a:rPr lang="en-US" sz="900" b="0" i="0" dirty="0">
                <a:effectLst/>
                <a:latin typeface="Segoe WPC"/>
              </a:rPr>
            </a:br>
            <a:r>
              <a:rPr lang="en-US" sz="900" b="0" i="0" dirty="0">
                <a:effectLst/>
                <a:latin typeface="Segoe WPC"/>
              </a:rPr>
              <a:t>OTD reduces direct credit, price, and liquidity risk for the originator</a:t>
            </a:r>
            <a:br>
              <a:rPr lang="en-US" sz="900" b="0" i="0" dirty="0">
                <a:effectLst/>
                <a:latin typeface="Segoe WPC"/>
              </a:rPr>
            </a:br>
            <a:r>
              <a:rPr lang="en-US" sz="900" b="0" i="0" dirty="0">
                <a:effectLst/>
                <a:latin typeface="Segoe WPC"/>
              </a:rPr>
              <a:t>👉 OTD shifted banking from holding credit risk to distributing it</a:t>
            </a:r>
          </a:p>
        </p:txBody>
      </p:sp>
      <p:sp>
        <p:nvSpPr>
          <p:cNvPr id="7" name="CuadroTexto 6">
            <a:extLst>
              <a:ext uri="{FF2B5EF4-FFF2-40B4-BE49-F238E27FC236}">
                <a16:creationId xmlns:a16="http://schemas.microsoft.com/office/drawing/2014/main" id="{05E990D9-263C-A4CE-CBDD-CFBE57647F40}"/>
              </a:ext>
            </a:extLst>
          </p:cNvPr>
          <p:cNvSpPr txBox="1"/>
          <p:nvPr/>
        </p:nvSpPr>
        <p:spPr>
          <a:xfrm>
            <a:off x="4288972" y="346808"/>
            <a:ext cx="4521201" cy="6601807"/>
          </a:xfrm>
          <a:prstGeom prst="rect">
            <a:avLst/>
          </a:prstGeom>
          <a:noFill/>
        </p:spPr>
        <p:txBody>
          <a:bodyPr wrap="square">
            <a:spAutoFit/>
          </a:bodyPr>
          <a:lstStyle/>
          <a:p>
            <a:pPr algn="l">
              <a:spcAft>
                <a:spcPts val="1200"/>
              </a:spcAft>
              <a:buNone/>
            </a:pPr>
            <a:r>
              <a:rPr lang="en-US" sz="900" b="1" i="0" dirty="0">
                <a:effectLst/>
                <a:latin typeface="Segoe WPC"/>
              </a:rPr>
              <a:t>8. Benefits of the OTD Model</a:t>
            </a:r>
            <a:br>
              <a:rPr lang="en-US" sz="900" b="0" i="0" dirty="0">
                <a:effectLst/>
                <a:latin typeface="Segoe WPC"/>
              </a:rPr>
            </a:br>
            <a:r>
              <a:rPr lang="en-US" sz="900" b="0" i="0" dirty="0">
                <a:effectLst/>
                <a:latin typeface="Segoe WPC"/>
              </a:rPr>
              <a:t>Banks: more capital efficiency, funding access, lower short-term volatility</a:t>
            </a:r>
            <a:br>
              <a:rPr lang="en-US" sz="900" b="0" i="0" dirty="0">
                <a:effectLst/>
                <a:latin typeface="Segoe WPC"/>
              </a:rPr>
            </a:br>
            <a:r>
              <a:rPr lang="en-US" sz="900" b="0" i="0" dirty="0">
                <a:effectLst/>
                <a:latin typeface="Segoe WPC"/>
              </a:rPr>
              <a:t>Investors: more instruments and portfolio diversification</a:t>
            </a:r>
            <a:br>
              <a:rPr lang="en-US" sz="900" b="0" i="0" dirty="0">
                <a:effectLst/>
                <a:latin typeface="Segoe WPC"/>
              </a:rPr>
            </a:br>
            <a:r>
              <a:rPr lang="en-US" sz="900" b="0" i="0" dirty="0">
                <a:effectLst/>
                <a:latin typeface="Segoe WPC"/>
              </a:rPr>
              <a:t>Borrowers: more credit availability and lower borrowing costs</a:t>
            </a:r>
            <a:br>
              <a:rPr lang="en-US" sz="900" b="0" i="0" dirty="0">
                <a:effectLst/>
                <a:latin typeface="Segoe WPC"/>
              </a:rPr>
            </a:br>
            <a:r>
              <a:rPr lang="en-US" sz="900" b="0" i="0" dirty="0">
                <a:effectLst/>
                <a:latin typeface="Segoe WPC"/>
              </a:rPr>
              <a:t>👉 In theory, OTD benefits banks, investors, and borrowers</a:t>
            </a:r>
          </a:p>
          <a:p>
            <a:pPr algn="l">
              <a:spcAft>
                <a:spcPts val="1200"/>
              </a:spcAft>
              <a:buNone/>
            </a:pPr>
            <a:r>
              <a:rPr lang="en-US" sz="900" b="1" i="0" dirty="0">
                <a:effectLst/>
                <a:latin typeface="Segoe WPC"/>
              </a:rPr>
              <a:t>9. What Went Wrong Before the Crisis</a:t>
            </a:r>
            <a:br>
              <a:rPr lang="en-US" sz="900" b="0" i="0" dirty="0">
                <a:effectLst/>
                <a:latin typeface="Segoe WPC"/>
              </a:rPr>
            </a:br>
            <a:r>
              <a:rPr lang="en-US" sz="900" b="0" i="0" dirty="0">
                <a:effectLst/>
                <a:latin typeface="Segoe WPC"/>
              </a:rPr>
              <a:t>The problem was not credit transfer itself, but how it was used</a:t>
            </a:r>
            <a:br>
              <a:rPr lang="en-US" sz="900" b="0" i="0" dirty="0">
                <a:effectLst/>
                <a:latin typeface="Segoe WPC"/>
              </a:rPr>
            </a:br>
            <a:r>
              <a:rPr lang="en-US" sz="900" b="0" i="0" dirty="0">
                <a:effectLst/>
                <a:latin typeface="Segoe WPC"/>
              </a:rPr>
              <a:t>Pre-crisis securitization created:</a:t>
            </a:r>
            <a:br>
              <a:rPr lang="en-US" sz="900" b="0" i="0" dirty="0">
                <a:effectLst/>
                <a:latin typeface="Segoe WPC"/>
              </a:rPr>
            </a:br>
            <a:r>
              <a:rPr lang="en-US" sz="900" b="0" i="0" dirty="0">
                <a:effectLst/>
                <a:latin typeface="Segoe WPC"/>
              </a:rPr>
              <a:t>misaligned incentives</a:t>
            </a:r>
            <a:br>
              <a:rPr lang="en-US" sz="900" b="0" i="0" dirty="0">
                <a:effectLst/>
                <a:latin typeface="Segoe WPC"/>
              </a:rPr>
            </a:br>
            <a:r>
              <a:rPr lang="en-US" sz="900" b="0" i="0" dirty="0">
                <a:effectLst/>
                <a:latin typeface="Segoe WPC"/>
              </a:rPr>
              <a:t>weak underwriting</a:t>
            </a:r>
            <a:br>
              <a:rPr lang="en-US" sz="900" b="0" i="0" dirty="0">
                <a:effectLst/>
                <a:latin typeface="Segoe WPC"/>
              </a:rPr>
            </a:br>
            <a:r>
              <a:rPr lang="en-US" sz="900" b="0" i="0" dirty="0">
                <a:effectLst/>
                <a:latin typeface="Segoe WPC"/>
              </a:rPr>
              <a:t>poor transparency</a:t>
            </a:r>
            <a:br>
              <a:rPr lang="en-US" sz="900" b="0" i="0" dirty="0">
                <a:effectLst/>
                <a:latin typeface="Segoe WPC"/>
              </a:rPr>
            </a:br>
            <a:r>
              <a:rPr lang="en-US" sz="900" b="0" i="0" dirty="0">
                <a:effectLst/>
                <a:latin typeface="Segoe WPC"/>
              </a:rPr>
              <a:t>excessive complexity</a:t>
            </a:r>
            <a:br>
              <a:rPr lang="en-US" sz="900" b="0" i="0" dirty="0">
                <a:effectLst/>
                <a:latin typeface="Segoe WPC"/>
              </a:rPr>
            </a:br>
            <a:r>
              <a:rPr lang="en-US" sz="900" b="0" i="0" dirty="0">
                <a:effectLst/>
                <a:latin typeface="Segoe WPC"/>
              </a:rPr>
              <a:t>overreliance on ratings</a:t>
            </a:r>
            <a:br>
              <a:rPr lang="en-US" sz="900" b="0" i="0" dirty="0">
                <a:effectLst/>
                <a:latin typeface="Segoe WPC"/>
              </a:rPr>
            </a:br>
            <a:r>
              <a:rPr lang="en-US" sz="900" b="0" i="0" dirty="0">
                <a:effectLst/>
                <a:latin typeface="Segoe WPC"/>
              </a:rPr>
              <a:t>poor stress testing and risk management</a:t>
            </a:r>
            <a:br>
              <a:rPr lang="en-US" sz="900" b="0" i="0" dirty="0">
                <a:effectLst/>
                <a:latin typeface="Segoe WPC"/>
              </a:rPr>
            </a:br>
            <a:r>
              <a:rPr lang="en-US" sz="900" b="0" i="0" dirty="0">
                <a:effectLst/>
                <a:latin typeface="Segoe WPC"/>
              </a:rPr>
              <a:t>👉 Main failure: incentives and risk controls collapsed along the securitization chain</a:t>
            </a:r>
          </a:p>
          <a:p>
            <a:pPr algn="l">
              <a:spcAft>
                <a:spcPts val="600"/>
              </a:spcAft>
              <a:buNone/>
            </a:pPr>
            <a:r>
              <a:rPr lang="en-US" sz="900" b="1" i="0" dirty="0">
                <a:effectLst/>
                <a:latin typeface="Segoe WPC"/>
              </a:rPr>
              <a:t>10. Moral Hazard in OTD</a:t>
            </a:r>
            <a:br>
              <a:rPr lang="en-US" sz="900" b="0" i="0" dirty="0">
                <a:effectLst/>
                <a:latin typeface="Segoe WPC"/>
              </a:rPr>
            </a:br>
            <a:r>
              <a:rPr lang="en-US" sz="900" b="0" i="0" dirty="0">
                <a:effectLst/>
                <a:latin typeface="Segoe WPC"/>
              </a:rPr>
              <a:t>When lenders do not keep the loan, they have weaker incentives to screen and monitor borrowers</a:t>
            </a:r>
            <a:br>
              <a:rPr lang="en-US" sz="900" b="0" i="0" dirty="0">
                <a:effectLst/>
                <a:latin typeface="Segoe WPC"/>
              </a:rPr>
            </a:br>
            <a:r>
              <a:rPr lang="en-US" sz="900" b="0" i="0" dirty="0">
                <a:effectLst/>
                <a:latin typeface="Segoe WPC"/>
              </a:rPr>
              <a:t>Loan origination became volume-driven rather than quality-driven</a:t>
            </a:r>
            <a:br>
              <a:rPr lang="en-US" sz="900" b="0" i="0" dirty="0">
                <a:effectLst/>
                <a:latin typeface="Segoe WPC"/>
              </a:rPr>
            </a:br>
            <a:r>
              <a:rPr lang="en-US" sz="900" b="0" i="0" dirty="0">
                <a:effectLst/>
                <a:latin typeface="Segoe WPC"/>
              </a:rPr>
              <a:t>👉 OTD created moral hazard by weakening underwriting discipline</a:t>
            </a:r>
          </a:p>
          <a:p>
            <a:pPr algn="l">
              <a:spcAft>
                <a:spcPts val="1200"/>
              </a:spcAft>
              <a:buNone/>
            </a:pPr>
            <a:r>
              <a:rPr lang="en-US" sz="900" b="1" i="0" dirty="0">
                <a:effectLst/>
                <a:latin typeface="Segoe WPC"/>
              </a:rPr>
              <a:t>11. Banks Did Not Fully Transfer Risk</a:t>
            </a:r>
            <a:br>
              <a:rPr lang="en-US" sz="900" b="0" i="0" dirty="0">
                <a:effectLst/>
                <a:latin typeface="Segoe WPC"/>
              </a:rPr>
            </a:br>
            <a:r>
              <a:rPr lang="en-US" sz="900" b="0" i="0" dirty="0">
                <a:effectLst/>
                <a:latin typeface="Segoe WPC"/>
              </a:rPr>
              <a:t>Before the crisis, banks often claimed to distribute risk but actually retained or re-bought it</a:t>
            </a:r>
            <a:br>
              <a:rPr lang="en-US" sz="900" b="0" i="0" dirty="0">
                <a:effectLst/>
                <a:latin typeface="Segoe WPC"/>
              </a:rPr>
            </a:br>
            <a:r>
              <a:rPr lang="en-US" sz="900" b="0" i="0" dirty="0">
                <a:effectLst/>
                <a:latin typeface="Segoe WPC"/>
              </a:rPr>
              <a:t>They held exposures directly or indirectly through conduits, SIVs, and warehoused pipelines</a:t>
            </a:r>
            <a:br>
              <a:rPr lang="en-US" sz="900" b="0" i="0" dirty="0">
                <a:effectLst/>
                <a:latin typeface="Segoe WPC"/>
              </a:rPr>
            </a:br>
            <a:r>
              <a:rPr lang="en-US" sz="900" b="0" i="0" dirty="0">
                <a:effectLst/>
                <a:latin typeface="Segoe WPC"/>
              </a:rPr>
              <a:t>This created hidden leverage, liquidity risk, and concentration risk</a:t>
            </a:r>
            <a:br>
              <a:rPr lang="en-US" sz="900" b="0" i="0" dirty="0">
                <a:effectLst/>
                <a:latin typeface="Segoe WPC"/>
              </a:rPr>
            </a:br>
            <a:r>
              <a:rPr lang="en-US" sz="900" b="0" i="0" dirty="0">
                <a:effectLst/>
                <a:latin typeface="Segoe WPC"/>
              </a:rPr>
              <a:t>👉 The crisis showed that “originate-to-distribute” often became “originate-and-retain-tail-risk”</a:t>
            </a:r>
          </a:p>
          <a:p>
            <a:pPr algn="l">
              <a:spcAft>
                <a:spcPts val="1200"/>
              </a:spcAft>
              <a:buNone/>
            </a:pPr>
            <a:r>
              <a:rPr lang="en-US" sz="900" b="1" i="0" dirty="0">
                <a:effectLst/>
                <a:latin typeface="Segoe WPC"/>
              </a:rPr>
              <a:t>12. Role of Ratings and Complexity</a:t>
            </a:r>
            <a:br>
              <a:rPr lang="en-US" sz="900" b="0" i="0" dirty="0">
                <a:effectLst/>
                <a:latin typeface="Segoe WPC"/>
              </a:rPr>
            </a:br>
            <a:r>
              <a:rPr lang="en-US" sz="900" b="0" i="0" dirty="0">
                <a:effectLst/>
                <a:latin typeface="Segoe WPC"/>
              </a:rPr>
              <a:t>Investors relied too heavily on rating agencies</a:t>
            </a:r>
            <a:br>
              <a:rPr lang="en-US" sz="900" b="0" i="0" dirty="0">
                <a:effectLst/>
                <a:latin typeface="Segoe WPC"/>
              </a:rPr>
            </a:br>
            <a:r>
              <a:rPr lang="en-US" sz="900" b="0" i="0" dirty="0">
                <a:effectLst/>
                <a:latin typeface="Segoe WPC"/>
              </a:rPr>
              <a:t>Some structured products received ratings that were too optimistic</a:t>
            </a:r>
            <a:br>
              <a:rPr lang="en-US" sz="900" b="0" i="0" dirty="0">
                <a:effectLst/>
                <a:latin typeface="Segoe WPC"/>
              </a:rPr>
            </a:br>
            <a:r>
              <a:rPr lang="en-US" sz="900" b="0" i="0" dirty="0">
                <a:effectLst/>
                <a:latin typeface="Segoe WPC"/>
              </a:rPr>
              <a:t>Complex products such as CDO-squared became too opaque to value properly</a:t>
            </a:r>
            <a:br>
              <a:rPr lang="en-US" sz="900" b="0" i="0" dirty="0">
                <a:effectLst/>
                <a:latin typeface="Segoe WPC"/>
              </a:rPr>
            </a:br>
            <a:r>
              <a:rPr lang="en-US" sz="900" b="0" i="0" dirty="0">
                <a:effectLst/>
                <a:latin typeface="Segoe WPC"/>
              </a:rPr>
              <a:t>👉 Complexity often improved marketability, not risk management</a:t>
            </a:r>
          </a:p>
          <a:p>
            <a:pPr algn="l">
              <a:spcAft>
                <a:spcPts val="1200"/>
              </a:spcAft>
              <a:buNone/>
            </a:pPr>
            <a:r>
              <a:rPr lang="en-US" sz="900" b="1" i="0" dirty="0">
                <a:effectLst/>
                <a:latin typeface="Segoe WPC"/>
              </a:rPr>
              <a:t>13. Crisis Lessons for Securitization</a:t>
            </a:r>
            <a:br>
              <a:rPr lang="en-US" sz="900" b="0" i="0" dirty="0">
                <a:effectLst/>
                <a:latin typeface="Segoe WPC"/>
              </a:rPr>
            </a:br>
            <a:r>
              <a:rPr lang="en-US" sz="900" b="0" i="0" dirty="0">
                <a:effectLst/>
                <a:latin typeface="Segoe WPC"/>
              </a:rPr>
              <a:t>Key lessons:</a:t>
            </a:r>
            <a:br>
              <a:rPr lang="en-US" sz="900" b="0" i="0" dirty="0">
                <a:effectLst/>
                <a:latin typeface="Segoe WPC"/>
              </a:rPr>
            </a:br>
            <a:r>
              <a:rPr lang="en-US" sz="900" b="0" i="0" dirty="0">
                <a:effectLst/>
                <a:latin typeface="Segoe WPC"/>
              </a:rPr>
              <a:t>align incentives</a:t>
            </a:r>
            <a:br>
              <a:rPr lang="en-US" sz="900" b="0" i="0" dirty="0">
                <a:effectLst/>
                <a:latin typeface="Segoe WPC"/>
              </a:rPr>
            </a:br>
            <a:r>
              <a:rPr lang="en-US" sz="900" b="0" i="0" dirty="0">
                <a:effectLst/>
                <a:latin typeface="Segoe WPC"/>
              </a:rPr>
              <a:t>improve transparency</a:t>
            </a:r>
            <a:br>
              <a:rPr lang="en-US" sz="900" b="0" i="0" dirty="0">
                <a:effectLst/>
                <a:latin typeface="Segoe WPC"/>
              </a:rPr>
            </a:br>
            <a:r>
              <a:rPr lang="en-US" sz="900" b="0" i="0" dirty="0">
                <a:effectLst/>
                <a:latin typeface="Segoe WPC"/>
              </a:rPr>
              <a:t>strengthen underwriting</a:t>
            </a:r>
            <a:br>
              <a:rPr lang="en-US" sz="900" b="0" i="0" dirty="0">
                <a:effectLst/>
                <a:latin typeface="Segoe WPC"/>
              </a:rPr>
            </a:br>
            <a:r>
              <a:rPr lang="en-US" sz="900" b="0" i="0" dirty="0">
                <a:effectLst/>
                <a:latin typeface="Segoe WPC"/>
              </a:rPr>
              <a:t>stress test pipeline, liquidity, and concentration risks</a:t>
            </a:r>
            <a:br>
              <a:rPr lang="en-US" sz="900" b="0" i="0" dirty="0">
                <a:effectLst/>
                <a:latin typeface="Segoe WPC"/>
              </a:rPr>
            </a:br>
            <a:r>
              <a:rPr lang="en-US" sz="900" b="0" i="0" dirty="0">
                <a:effectLst/>
                <a:latin typeface="Segoe WPC"/>
              </a:rPr>
              <a:t>reduce blind reliance on ratings</a:t>
            </a:r>
            <a:br>
              <a:rPr lang="en-US" sz="900" b="0" i="0" dirty="0">
                <a:effectLst/>
                <a:latin typeface="Segoe WPC"/>
              </a:rPr>
            </a:br>
            <a:r>
              <a:rPr lang="en-US" sz="900" b="0" i="0" dirty="0">
                <a:effectLst/>
                <a:latin typeface="Segoe WPC"/>
              </a:rPr>
              <a:t>The issue was faulty execution, not the basic idea of credit risk transfer</a:t>
            </a:r>
            <a:br>
              <a:rPr lang="en-US" sz="900" b="0" i="0" dirty="0">
                <a:effectLst/>
                <a:latin typeface="Segoe WPC"/>
              </a:rPr>
            </a:br>
            <a:r>
              <a:rPr lang="en-US" sz="900" b="0" i="0" dirty="0">
                <a:effectLst/>
                <a:latin typeface="Segoe WPC"/>
              </a:rPr>
              <a:t>👉 Securitization failed mainly because of poor governance and poor risk discipline</a:t>
            </a:r>
          </a:p>
        </p:txBody>
      </p:sp>
      <p:sp>
        <p:nvSpPr>
          <p:cNvPr id="9" name="CuadroTexto 8">
            <a:extLst>
              <a:ext uri="{FF2B5EF4-FFF2-40B4-BE49-F238E27FC236}">
                <a16:creationId xmlns:a16="http://schemas.microsoft.com/office/drawing/2014/main" id="{09FB1E37-3AB3-5941-A7E0-023278D7AB88}"/>
              </a:ext>
            </a:extLst>
          </p:cNvPr>
          <p:cNvSpPr txBox="1"/>
          <p:nvPr/>
        </p:nvSpPr>
        <p:spPr>
          <a:xfrm>
            <a:off x="8077201" y="132371"/>
            <a:ext cx="4114800" cy="2323713"/>
          </a:xfrm>
          <a:prstGeom prst="rect">
            <a:avLst/>
          </a:prstGeom>
          <a:noFill/>
        </p:spPr>
        <p:txBody>
          <a:bodyPr wrap="square">
            <a:spAutoFit/>
          </a:bodyPr>
          <a:lstStyle/>
          <a:p>
            <a:pPr algn="l">
              <a:spcAft>
                <a:spcPts val="1200"/>
              </a:spcAft>
              <a:buNone/>
            </a:pPr>
            <a:r>
              <a:rPr lang="en-US" sz="900" b="1" i="0" dirty="0">
                <a:effectLst/>
                <a:latin typeface="Segoe WPC"/>
              </a:rPr>
              <a:t>14. Post-Crisis Reform and Risk Retention</a:t>
            </a:r>
            <a:br>
              <a:rPr lang="en-US" sz="900" b="0" i="0" dirty="0">
                <a:effectLst/>
                <a:latin typeface="Segoe WPC"/>
              </a:rPr>
            </a:br>
            <a:r>
              <a:rPr lang="en-US" sz="900" b="0" i="0" dirty="0">
                <a:effectLst/>
                <a:latin typeface="Segoe WPC"/>
              </a:rPr>
              <a:t>U.S. regulators finalized risk retention rules in 2014 under Section 15G of the Securities Exchange Act</a:t>
            </a:r>
            <a:br>
              <a:rPr lang="en-US" sz="900" b="0" i="0" dirty="0">
                <a:effectLst/>
                <a:latin typeface="Segoe WPC"/>
              </a:rPr>
            </a:br>
            <a:r>
              <a:rPr lang="en-US" sz="900" b="0" i="0" dirty="0" err="1">
                <a:effectLst/>
                <a:latin typeface="Segoe WPC"/>
              </a:rPr>
              <a:t>Securitizers</a:t>
            </a:r>
            <a:r>
              <a:rPr lang="en-US" sz="900" b="0" i="0" dirty="0">
                <a:effectLst/>
                <a:latin typeface="Segoe WPC"/>
              </a:rPr>
              <a:t> must retain at least 5% of the credit risk and cannot hedge it away</a:t>
            </a:r>
            <a:br>
              <a:rPr lang="en-US" sz="900" b="0" i="0" dirty="0">
                <a:effectLst/>
                <a:latin typeface="Segoe WPC"/>
              </a:rPr>
            </a:br>
            <a:r>
              <a:rPr lang="en-US" sz="900" b="0" i="0" dirty="0">
                <a:effectLst/>
                <a:latin typeface="Segoe WPC"/>
              </a:rPr>
              <a:t>This is meant to ensure they have “skin in the game”</a:t>
            </a:r>
            <a:br>
              <a:rPr lang="en-US" sz="900" b="0" i="0" dirty="0">
                <a:effectLst/>
                <a:latin typeface="Segoe WPC"/>
              </a:rPr>
            </a:br>
            <a:r>
              <a:rPr lang="en-US" sz="900" b="0" i="0" dirty="0">
                <a:effectLst/>
                <a:latin typeface="Segoe WPC"/>
              </a:rPr>
              <a:t>👉 Post-crisis reform tries to reduce moral hazard by forcing originators to share the risk</a:t>
            </a:r>
          </a:p>
          <a:p>
            <a:pPr algn="l">
              <a:spcAft>
                <a:spcPts val="1200"/>
              </a:spcAft>
              <a:buNone/>
            </a:pPr>
            <a:r>
              <a:rPr lang="en-US" sz="900" b="1" i="0" dirty="0">
                <a:effectLst/>
                <a:latin typeface="Segoe WPC"/>
              </a:rPr>
              <a:t>15. Final Takeaway</a:t>
            </a:r>
            <a:br>
              <a:rPr lang="en-US" sz="900" b="0" i="0" dirty="0">
                <a:effectLst/>
                <a:latin typeface="Segoe WPC"/>
              </a:rPr>
            </a:br>
            <a:r>
              <a:rPr lang="en-US" sz="900" b="0" i="0" dirty="0">
                <a:effectLst/>
                <a:latin typeface="Segoe WPC"/>
              </a:rPr>
              <a:t>Credit risk transfer mechanisms are useful, necessary, and still relevant</a:t>
            </a:r>
            <a:br>
              <a:rPr lang="en-US" sz="900" b="0" i="0" dirty="0">
                <a:effectLst/>
                <a:latin typeface="Segoe WPC"/>
              </a:rPr>
            </a:br>
            <a:r>
              <a:rPr lang="en-US" sz="900" b="0" i="0" dirty="0">
                <a:effectLst/>
                <a:latin typeface="Segoe WPC"/>
              </a:rPr>
              <a:t>Some products survived well, especially CDS, ABS, and revived CLO markets</a:t>
            </a:r>
            <a:br>
              <a:rPr lang="en-US" sz="900" b="0" i="0" dirty="0">
                <a:effectLst/>
                <a:latin typeface="Segoe WPC"/>
              </a:rPr>
            </a:br>
            <a:r>
              <a:rPr lang="en-US" sz="900" b="0" i="0" dirty="0">
                <a:effectLst/>
                <a:latin typeface="Segoe WPC"/>
              </a:rPr>
              <a:t>The long-term value of these markets depends on transparency, liquidity, proper incentives, and strong risk management</a:t>
            </a:r>
            <a:br>
              <a:rPr lang="en-US" sz="900" b="0" i="0" dirty="0">
                <a:effectLst/>
                <a:latin typeface="Segoe WPC"/>
              </a:rPr>
            </a:br>
            <a:r>
              <a:rPr lang="en-US" sz="900" b="0" i="0" dirty="0">
                <a:effectLst/>
                <a:latin typeface="Segoe WPC"/>
              </a:rPr>
              <a:t>👉 Key idea: credit risk transfer supports active credit management, but only if the structure, incentives, and oversight are sound</a:t>
            </a:r>
          </a:p>
        </p:txBody>
      </p:sp>
      <p:sp>
        <p:nvSpPr>
          <p:cNvPr id="11" name="CuadroTexto 10">
            <a:extLst>
              <a:ext uri="{FF2B5EF4-FFF2-40B4-BE49-F238E27FC236}">
                <a16:creationId xmlns:a16="http://schemas.microsoft.com/office/drawing/2014/main" id="{61EDB305-6816-2B37-3119-FCEB4DC19FF7}"/>
              </a:ext>
            </a:extLst>
          </p:cNvPr>
          <p:cNvSpPr txBox="1"/>
          <p:nvPr/>
        </p:nvSpPr>
        <p:spPr>
          <a:xfrm>
            <a:off x="8541657" y="2432146"/>
            <a:ext cx="3595915" cy="2015936"/>
          </a:xfrm>
          <a:prstGeom prst="rect">
            <a:avLst/>
          </a:prstGeom>
          <a:noFill/>
        </p:spPr>
        <p:txBody>
          <a:bodyPr wrap="square">
            <a:spAutoFit/>
          </a:bodyPr>
          <a:lstStyle>
            <a:defPPr>
              <a:defRPr lang="en-US"/>
            </a:defPPr>
            <a:lvl1pPr>
              <a:spcAft>
                <a:spcPts val="1200"/>
              </a:spcAft>
              <a:buNone/>
              <a:defRPr sz="900" b="1" i="0">
                <a:effectLst/>
                <a:latin typeface="Segoe WPC"/>
              </a:defRPr>
            </a:lvl1pPr>
          </a:lstStyle>
          <a:p>
            <a:pPr>
              <a:spcAft>
                <a:spcPts val="600"/>
              </a:spcAft>
            </a:pPr>
            <a:r>
              <a:rPr lang="en-US" dirty="0"/>
              <a:t>2. Main Credit Risk Transfer Instruments</a:t>
            </a:r>
          </a:p>
          <a:p>
            <a:pPr>
              <a:spcAft>
                <a:spcPts val="600"/>
              </a:spcAft>
            </a:pPr>
            <a:r>
              <a:rPr lang="en-US" dirty="0"/>
              <a:t>CDS: transfers default risk through a protection contract</a:t>
            </a:r>
          </a:p>
          <a:p>
            <a:pPr>
              <a:spcAft>
                <a:spcPts val="600"/>
              </a:spcAft>
            </a:pPr>
            <a:r>
              <a:rPr lang="en-US" dirty="0"/>
              <a:t>CDO: pools debt and splits it into risk tranches</a:t>
            </a:r>
          </a:p>
          <a:p>
            <a:pPr>
              <a:spcAft>
                <a:spcPts val="600"/>
              </a:spcAft>
            </a:pPr>
            <a:r>
              <a:rPr lang="en-US" dirty="0"/>
              <a:t>CLO: CDO backed mainly by corporate loans</a:t>
            </a:r>
          </a:p>
          <a:p>
            <a:pPr>
              <a:spcAft>
                <a:spcPts val="600"/>
              </a:spcAft>
            </a:pPr>
            <a:r>
              <a:rPr lang="en-US" dirty="0"/>
              <a:t>ABS: security backed by receivables like auto loans or credit cards</a:t>
            </a:r>
          </a:p>
          <a:p>
            <a:pPr>
              <a:spcAft>
                <a:spcPts val="600"/>
              </a:spcAft>
            </a:pPr>
            <a:r>
              <a:rPr lang="en-US" dirty="0"/>
              <a:t>MBS: security backed by mortgage loans</a:t>
            </a:r>
          </a:p>
          <a:p>
            <a:pPr>
              <a:spcAft>
                <a:spcPts val="600"/>
              </a:spcAft>
            </a:pPr>
            <a:r>
              <a:rPr lang="en-US" dirty="0"/>
              <a:t>ABCP: short-term paper backed by asset pools</a:t>
            </a:r>
          </a:p>
          <a:p>
            <a:pPr>
              <a:spcAft>
                <a:spcPts val="600"/>
              </a:spcAft>
            </a:pPr>
            <a:r>
              <a:rPr lang="en-US" dirty="0"/>
              <a:t>👉 Credit derivatives transfer credit risk; securitization repackages it into tradable products</a:t>
            </a:r>
          </a:p>
        </p:txBody>
      </p:sp>
      <p:pic>
        <p:nvPicPr>
          <p:cNvPr id="15" name="Imagen 14">
            <a:extLst>
              <a:ext uri="{FF2B5EF4-FFF2-40B4-BE49-F238E27FC236}">
                <a16:creationId xmlns:a16="http://schemas.microsoft.com/office/drawing/2014/main" id="{7472FAE5-28D7-6913-A7BE-9F0685B5E993}"/>
              </a:ext>
            </a:extLst>
          </p:cNvPr>
          <p:cNvPicPr>
            <a:picLocks noChangeAspect="1"/>
          </p:cNvPicPr>
          <p:nvPr/>
        </p:nvPicPr>
        <p:blipFill>
          <a:blip r:embed="rId2"/>
          <a:stretch>
            <a:fillRect/>
          </a:stretch>
        </p:blipFill>
        <p:spPr>
          <a:xfrm>
            <a:off x="8639354" y="4401917"/>
            <a:ext cx="3445187" cy="2381768"/>
          </a:xfrm>
          <a:prstGeom prst="rect">
            <a:avLst/>
          </a:prstGeom>
        </p:spPr>
      </p:pic>
    </p:spTree>
    <p:extLst>
      <p:ext uri="{BB962C8B-B14F-4D97-AF65-F5344CB8AC3E}">
        <p14:creationId xmlns:p14="http://schemas.microsoft.com/office/powerpoint/2010/main" val="932678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E7BC4B-0559-04A3-2707-2C0BB89B3A6C}"/>
              </a:ext>
            </a:extLst>
          </p:cNvPr>
          <p:cNvSpPr>
            <a:spLocks noGrp="1"/>
          </p:cNvSpPr>
          <p:nvPr>
            <p:ph type="title"/>
          </p:nvPr>
        </p:nvSpPr>
        <p:spPr>
          <a:xfrm>
            <a:off x="142875" y="96619"/>
            <a:ext cx="11572876" cy="722531"/>
          </a:xfrm>
        </p:spPr>
        <p:txBody>
          <a:bodyPr>
            <a:normAutofit/>
          </a:bodyPr>
          <a:lstStyle/>
          <a:p>
            <a:r>
              <a:rPr lang="en-US" sz="3200" dirty="0"/>
              <a:t>Modern Portfolio Theory and Capital Asset Pricing Model</a:t>
            </a:r>
            <a:endParaRPr lang="es-PE" sz="3200" dirty="0"/>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0311EA7-0BCD-6E79-8DCF-1C12959E7362}"/>
                  </a:ext>
                </a:extLst>
              </p:cNvPr>
              <p:cNvSpPr txBox="1"/>
              <p:nvPr/>
            </p:nvSpPr>
            <p:spPr>
              <a:xfrm>
                <a:off x="81460" y="652529"/>
                <a:ext cx="6102350" cy="6108852"/>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1. Modern Portfolio </a:t>
                </a:r>
                <a:r>
                  <a:rPr lang="es-PE" sz="900" b="1" i="0" dirty="0" err="1">
                    <a:solidFill>
                      <a:schemeClr val="tx1"/>
                    </a:solidFill>
                    <a:effectLst/>
                    <a:latin typeface="Segoe WPC"/>
                  </a:rPr>
                  <a:t>Theory</a:t>
                </a:r>
                <a:r>
                  <a:rPr lang="es-PE" sz="900" b="1" i="0" dirty="0">
                    <a:solidFill>
                      <a:schemeClr val="tx1"/>
                    </a:solidFill>
                    <a:effectLst/>
                    <a:latin typeface="Segoe WPC"/>
                  </a:rPr>
                  <a:t> (MPT)</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 </a:t>
                </a:r>
                <a:r>
                  <a:rPr lang="es-PE" sz="900" b="0" i="0" dirty="0" err="1">
                    <a:solidFill>
                      <a:schemeClr val="tx1"/>
                    </a:solidFill>
                    <a:effectLst/>
                    <a:latin typeface="Segoe WPC"/>
                  </a:rPr>
                  <a:t>should</a:t>
                </a:r>
                <a:r>
                  <a:rPr lang="es-PE" sz="900" b="0" i="0" dirty="0">
                    <a:solidFill>
                      <a:schemeClr val="tx1"/>
                    </a:solidFill>
                    <a:effectLst/>
                    <a:latin typeface="Segoe WPC"/>
                  </a:rPr>
                  <a:t> </a:t>
                </a:r>
                <a:r>
                  <a:rPr lang="es-PE" sz="900" b="0" i="0" dirty="0" err="1">
                    <a:solidFill>
                      <a:schemeClr val="tx1"/>
                    </a:solidFill>
                    <a:effectLst/>
                    <a:latin typeface="Segoe WPC"/>
                  </a:rPr>
                  <a:t>choose</a:t>
                </a:r>
                <a:r>
                  <a:rPr lang="es-PE" sz="900" b="0" i="0" dirty="0">
                    <a:solidFill>
                      <a:schemeClr val="tx1"/>
                    </a:solidFill>
                    <a:effectLst/>
                    <a:latin typeface="Segoe WPC"/>
                  </a:rPr>
                  <a:t> portfolios </a:t>
                </a:r>
                <a:r>
                  <a:rPr lang="es-PE" sz="900" b="0" i="0" dirty="0" err="1">
                    <a:solidFill>
                      <a:schemeClr val="tx1"/>
                    </a:solidFill>
                    <a:effectLst/>
                    <a:latin typeface="Segoe WPC"/>
                  </a:rPr>
                  <a:t>based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and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rational</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-averse </a:t>
                </a:r>
                <a:r>
                  <a:rPr lang="es-PE" sz="900" b="0" i="0" dirty="0" err="1">
                    <a:solidFill>
                      <a:schemeClr val="tx1"/>
                    </a:solidFill>
                    <a:effectLst/>
                    <a:latin typeface="Segoe WPC"/>
                  </a:rPr>
                  <a:t>investor</a:t>
                </a:r>
                <a:r>
                  <a:rPr lang="es-PE" sz="900" b="0" i="0" dirty="0">
                    <a:solidFill>
                      <a:schemeClr val="tx1"/>
                    </a:solidFill>
                    <a:effectLst/>
                    <a:latin typeface="Segoe WPC"/>
                  </a:rPr>
                  <a:t> </a:t>
                </a:r>
                <a:r>
                  <a:rPr lang="es-PE" sz="900" b="0" i="0" dirty="0" err="1">
                    <a:solidFill>
                      <a:schemeClr val="tx1"/>
                    </a:solidFill>
                    <a:effectLst/>
                    <a:latin typeface="Segoe WPC"/>
                  </a:rPr>
                  <a:t>wants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highest</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 </a:t>
                </a:r>
                <a:r>
                  <a:rPr lang="es-PE" sz="900" b="0" i="0" dirty="0" err="1">
                    <a:solidFill>
                      <a:schemeClr val="tx1"/>
                    </a:solidFill>
                    <a:effectLst/>
                    <a:latin typeface="Segoe WPC"/>
                  </a:rPr>
                  <a:t>given</a:t>
                </a:r>
                <a:r>
                  <a:rPr lang="es-PE" sz="900" b="0" i="0" dirty="0">
                    <a:solidFill>
                      <a:schemeClr val="tx1"/>
                    </a:solidFill>
                    <a:effectLst/>
                    <a:latin typeface="Segoe WPC"/>
                  </a:rPr>
                  <a:t> </a:t>
                </a:r>
                <a:r>
                  <a:rPr lang="es-PE" sz="900" b="0" i="0" dirty="0" err="1">
                    <a:solidFill>
                      <a:schemeClr val="tx1"/>
                    </a:solidFill>
                    <a:effectLst/>
                    <a:latin typeface="Segoe WPC"/>
                  </a:rPr>
                  <a:t>level</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lowest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 </a:t>
                </a:r>
                <a:r>
                  <a:rPr lang="es-PE" sz="900" b="0" i="0" dirty="0" err="1">
                    <a:solidFill>
                      <a:schemeClr val="tx1"/>
                    </a:solidFill>
                    <a:effectLst/>
                    <a:latin typeface="Segoe WPC"/>
                  </a:rPr>
                  <a:t>given</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Mean-</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optimization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MPT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foundation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diversification</a:t>
                </a:r>
                <a:r>
                  <a:rPr lang="es-PE" sz="900" b="0" i="0" dirty="0">
                    <a:solidFill>
                      <a:schemeClr val="tx1"/>
                    </a:solidFill>
                    <a:effectLst/>
                    <a:latin typeface="Segoe WPC"/>
                  </a:rPr>
                  <a:t> and portfolio </a:t>
                </a:r>
                <a:r>
                  <a:rPr lang="es-PE" sz="900" b="0" i="0" dirty="0" err="1">
                    <a:solidFill>
                      <a:schemeClr val="tx1"/>
                    </a:solidFill>
                    <a:effectLst/>
                    <a:latin typeface="Segoe WPC"/>
                  </a:rPr>
                  <a:t>construction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Limitation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assumes</a:t>
                </a:r>
                <a:r>
                  <a:rPr lang="es-PE" sz="900" b="0" i="0" dirty="0">
                    <a:solidFill>
                      <a:schemeClr val="tx1"/>
                    </a:solidFill>
                    <a:effectLst/>
                    <a:latin typeface="Segoe WPC"/>
                  </a:rPr>
                  <a:t> </a:t>
                </a:r>
                <a:r>
                  <a:rPr lang="es-PE" sz="900" b="0" i="0" dirty="0" err="1">
                    <a:solidFill>
                      <a:schemeClr val="tx1"/>
                    </a:solidFill>
                    <a:effectLst/>
                    <a:latin typeface="Segoe WPC"/>
                  </a:rPr>
                  <a:t>perfect</a:t>
                </a:r>
                <a:r>
                  <a:rPr lang="es-PE" sz="900" b="0" i="0" dirty="0">
                    <a:solidFill>
                      <a:schemeClr val="tx1"/>
                    </a:solidFill>
                    <a:effectLst/>
                    <a:latin typeface="Segoe WPC"/>
                  </a:rPr>
                  <a:t> </a:t>
                </a:r>
                <a:r>
                  <a:rPr lang="es-PE" sz="900" b="0" i="0" dirty="0" err="1">
                    <a:solidFill>
                      <a:schemeClr val="tx1"/>
                    </a:solidFill>
                    <a:effectLst/>
                    <a:latin typeface="Segoe WPC"/>
                  </a:rPr>
                  <a:t>markets</a:t>
                </a:r>
                <a:r>
                  <a:rPr lang="es-PE" sz="900" b="0" i="0" dirty="0">
                    <a:solidFill>
                      <a:schemeClr val="tx1"/>
                    </a:solidFill>
                    <a:effectLst/>
                    <a:latin typeface="Segoe WPC"/>
                  </a:rPr>
                  <a:t>, normal </a:t>
                </a:r>
                <a:r>
                  <a:rPr lang="es-PE" sz="900" b="0" i="0" dirty="0" err="1">
                    <a:solidFill>
                      <a:schemeClr val="tx1"/>
                    </a:solidFill>
                    <a:effectLst/>
                    <a:latin typeface="Segoe WPC"/>
                  </a:rPr>
                  <a:t>returns</a:t>
                </a:r>
                <a:r>
                  <a:rPr lang="es-PE" sz="900" b="0" i="0" dirty="0">
                    <a:solidFill>
                      <a:schemeClr val="tx1"/>
                    </a:solidFill>
                    <a:effectLst/>
                    <a:latin typeface="Segoe WPC"/>
                  </a:rPr>
                  <a:t>, and </a:t>
                </a:r>
                <a:r>
                  <a:rPr lang="es-PE" sz="900" b="0" i="0" dirty="0" err="1">
                    <a:solidFill>
                      <a:schemeClr val="tx1"/>
                    </a:solidFill>
                    <a:effectLst/>
                    <a:latin typeface="Segoe WPC"/>
                  </a:rPr>
                  <a:t>stable</a:t>
                </a:r>
                <a:r>
                  <a:rPr lang="es-PE" sz="900" b="0" i="0" dirty="0">
                    <a:solidFill>
                      <a:schemeClr val="tx1"/>
                    </a:solidFill>
                    <a:effectLst/>
                    <a:latin typeface="Segoe WPC"/>
                  </a:rPr>
                  <a:t> </a:t>
                </a:r>
                <a:r>
                  <a:rPr lang="es-PE" sz="900" b="0" i="0" dirty="0" err="1">
                    <a:solidFill>
                      <a:schemeClr val="tx1"/>
                    </a:solidFill>
                    <a:effectLst/>
                    <a:latin typeface="Segoe WPC"/>
                  </a:rPr>
                  <a:t>parameters</a:t>
                </a:r>
                <a:r>
                  <a:rPr lang="es-PE" sz="900" b="0" i="0" dirty="0">
                    <a:solidFill>
                      <a:schemeClr val="tx1"/>
                    </a:solidFill>
                    <a:effectLst/>
                    <a:latin typeface="Segoe WPC"/>
                  </a:rPr>
                  <a:t>, </a:t>
                </a:r>
                <a:r>
                  <a:rPr lang="es-PE" sz="900" b="0" i="0" dirty="0" err="1">
                    <a:solidFill>
                      <a:schemeClr val="tx1"/>
                    </a:solidFill>
                    <a:effectLst/>
                    <a:latin typeface="Segoe WPC"/>
                  </a:rPr>
                  <a:t>which</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fail</a:t>
                </a:r>
                <a:r>
                  <a:rPr lang="es-PE" sz="900" b="0" i="0" dirty="0">
                    <a:solidFill>
                      <a:schemeClr val="tx1"/>
                    </a:solidFill>
                    <a:effectLst/>
                    <a:latin typeface="Segoe WPC"/>
                  </a:rPr>
                  <a:t> in </a:t>
                </a:r>
                <a:r>
                  <a:rPr lang="es-PE" sz="900" b="0" i="0" dirty="0" err="1">
                    <a:solidFill>
                      <a:schemeClr val="tx1"/>
                    </a:solidFill>
                    <a:effectLst/>
                    <a:latin typeface="Segoe WPC"/>
                  </a:rPr>
                  <a:t>reality</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2. </a:t>
                </a:r>
                <a:r>
                  <a:rPr lang="es-PE" sz="900" b="1" i="0" dirty="0" err="1">
                    <a:solidFill>
                      <a:schemeClr val="tx1"/>
                    </a:solidFill>
                    <a:effectLst/>
                    <a:latin typeface="Segoe WPC"/>
                  </a:rPr>
                  <a:t>Diversification</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Portfolio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a:t>
                </a:r>
                <a:r>
                  <a:rPr lang="es-PE" sz="900" b="0" i="0" dirty="0" err="1">
                    <a:solidFill>
                      <a:schemeClr val="tx1"/>
                    </a:solidFill>
                    <a:effectLst/>
                    <a:latin typeface="Segoe WPC"/>
                  </a:rPr>
                  <a:t>together</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alone.</a:t>
                </a:r>
                <a:br>
                  <a:rPr lang="es-PE" sz="900" b="0" i="0" dirty="0">
                    <a:solidFill>
                      <a:schemeClr val="tx1"/>
                    </a:solidFill>
                    <a:effectLst/>
                    <a:latin typeface="Segoe WPC"/>
                  </a:rPr>
                </a:b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are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perfectly</a:t>
                </a:r>
                <a:r>
                  <a:rPr lang="es-PE" sz="900" b="0" i="0" dirty="0">
                    <a:solidFill>
                      <a:schemeClr val="tx1"/>
                    </a:solidFill>
                    <a:effectLst/>
                    <a:latin typeface="Segoe WPC"/>
                  </a:rPr>
                  <a:t> </a:t>
                </a:r>
                <a:r>
                  <a:rPr lang="es-PE" sz="900" b="0" i="0" dirty="0" err="1">
                    <a:solidFill>
                      <a:schemeClr val="tx1"/>
                    </a:solidFill>
                    <a:effectLst/>
                    <a:latin typeface="Segoe WPC"/>
                  </a:rPr>
                  <a:t>correlated</a:t>
                </a:r>
                <a:r>
                  <a:rPr lang="es-PE" sz="900" b="0" i="0" dirty="0">
                    <a:solidFill>
                      <a:schemeClr val="tx1"/>
                    </a:solidFill>
                    <a:effectLst/>
                    <a:latin typeface="Segoe WPC"/>
                  </a:rPr>
                  <a:t>, </a:t>
                </a:r>
                <a:r>
                  <a:rPr lang="es-PE" sz="900" b="0" i="0" dirty="0" err="1">
                    <a:solidFill>
                      <a:schemeClr val="tx1"/>
                    </a:solidFill>
                    <a:effectLst/>
                    <a:latin typeface="Segoe WPC"/>
                  </a:rPr>
                  <a:t>combining</a:t>
                </a:r>
                <a:r>
                  <a:rPr lang="es-PE" sz="900" b="0" i="0" dirty="0">
                    <a:solidFill>
                      <a:schemeClr val="tx1"/>
                    </a:solidFill>
                    <a:effectLst/>
                    <a:latin typeface="Segoe WPC"/>
                  </a:rPr>
                  <a:t> </a:t>
                </a:r>
                <a:r>
                  <a:rPr lang="es-PE" sz="900" b="0" i="0" dirty="0" err="1">
                    <a:solidFill>
                      <a:schemeClr val="tx1"/>
                    </a:solidFill>
                    <a:effectLst/>
                    <a:latin typeface="Segoe WPC"/>
                  </a:rPr>
                  <a:t>them</a:t>
                </a:r>
                <a:r>
                  <a:rPr lang="es-PE" sz="900" b="0" i="0" dirty="0">
                    <a:solidFill>
                      <a:schemeClr val="tx1"/>
                    </a:solidFill>
                    <a:effectLst/>
                    <a:latin typeface="Segoe WPC"/>
                  </a:rPr>
                  <a:t> reduces portfolio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Portfolio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covariances</a:t>
                </a:r>
                <a:r>
                  <a:rPr lang="es-PE" sz="900" b="0" i="0" dirty="0">
                    <a:solidFill>
                      <a:schemeClr val="tx1"/>
                    </a:solidFill>
                    <a:effectLst/>
                    <a:latin typeface="Segoe WPC"/>
                  </a:rPr>
                  <a:t> and </a:t>
                </a:r>
                <a:r>
                  <a:rPr lang="es-PE" sz="900" b="0" i="0" dirty="0" err="1">
                    <a:solidFill>
                      <a:schemeClr val="tx1"/>
                    </a:solidFill>
                    <a:effectLst/>
                    <a:latin typeface="Segoe WPC"/>
                  </a:rPr>
                  <a:t>correlations</a:t>
                </a:r>
                <a:r>
                  <a:rPr lang="es-PE" sz="900" b="0" i="0" dirty="0">
                    <a:solidFill>
                      <a:schemeClr val="tx1"/>
                    </a:solidFill>
                    <a:effectLst/>
                    <a:latin typeface="Segoe WPC"/>
                  </a:rPr>
                  <a:t> </a:t>
                </a:r>
                <a:r>
                  <a:rPr lang="es-PE" sz="900" b="0" i="0" dirty="0" err="1">
                    <a:solidFill>
                      <a:schemeClr val="tx1"/>
                    </a:solidFill>
                    <a:effectLst/>
                    <a:latin typeface="Segoe WPC"/>
                  </a:rPr>
                  <a:t>across</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Diversification</a:t>
                </a:r>
                <a:r>
                  <a:rPr lang="es-PE" sz="900" b="0" i="0" dirty="0">
                    <a:solidFill>
                      <a:schemeClr val="tx1"/>
                    </a:solidFill>
                    <a:effectLst/>
                    <a:latin typeface="Segoe WPC"/>
                  </a:rPr>
                  <a:t> </a:t>
                </a:r>
                <a:r>
                  <a:rPr lang="es-PE" sz="900" b="0" i="0" dirty="0" err="1">
                    <a:solidFill>
                      <a:schemeClr val="tx1"/>
                    </a:solidFill>
                    <a:effectLst/>
                    <a:latin typeface="Segoe WPC"/>
                  </a:rPr>
                  <a:t>allows</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reduce </a:t>
                </a:r>
                <a:r>
                  <a:rPr lang="es-PE" sz="900" b="0" i="0" dirty="0" err="1">
                    <a:solidFill>
                      <a:schemeClr val="tx1"/>
                    </a:solidFill>
                    <a:effectLst/>
                    <a:latin typeface="Segoe WPC"/>
                  </a:rPr>
                  <a:t>firm-specific</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t>
                </a:r>
                <a:r>
                  <a:rPr lang="es-PE" sz="900" b="0" i="0" dirty="0" err="1">
                    <a:solidFill>
                      <a:schemeClr val="tx1"/>
                    </a:solidFill>
                    <a:effectLst/>
                    <a:latin typeface="Segoe WPC"/>
                  </a:rPr>
                  <a:t>little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no </a:t>
                </a:r>
                <a:r>
                  <a:rPr lang="es-PE" sz="900" b="0" i="0" dirty="0" err="1">
                    <a:solidFill>
                      <a:schemeClr val="tx1"/>
                    </a:solidFill>
                    <a:effectLst/>
                    <a:latin typeface="Segoe WPC"/>
                  </a:rPr>
                  <a:t>direct</a:t>
                </a:r>
                <a:r>
                  <a:rPr lang="es-PE" sz="900" b="0" i="0" dirty="0">
                    <a:solidFill>
                      <a:schemeClr val="tx1"/>
                    </a:solidFill>
                    <a:effectLst/>
                    <a:latin typeface="Segoe WPC"/>
                  </a:rPr>
                  <a:t> </a:t>
                </a:r>
                <a:r>
                  <a:rPr lang="es-PE" sz="900" b="0" i="0" dirty="0" err="1">
                    <a:solidFill>
                      <a:schemeClr val="tx1"/>
                    </a:solidFill>
                    <a:effectLst/>
                    <a:latin typeface="Segoe WPC"/>
                  </a:rPr>
                  <a:t>cost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Limitation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Correlations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increase</a:t>
                </a:r>
                <a:r>
                  <a:rPr lang="es-PE" sz="900" b="0" i="0" dirty="0">
                    <a:solidFill>
                      <a:schemeClr val="tx1"/>
                    </a:solidFill>
                    <a:effectLst/>
                    <a:latin typeface="Segoe WPC"/>
                  </a:rPr>
                  <a:t> in crises, so </a:t>
                </a:r>
                <a:r>
                  <a:rPr lang="es-PE" sz="900" b="0" i="0" dirty="0" err="1">
                    <a:solidFill>
                      <a:schemeClr val="tx1"/>
                    </a:solidFill>
                    <a:effectLst/>
                    <a:latin typeface="Segoe WPC"/>
                  </a:rPr>
                  <a:t>diversification</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fail</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needed</a:t>
                </a:r>
                <a:r>
                  <a:rPr lang="es-PE" sz="900" b="0" i="0" dirty="0">
                    <a:solidFill>
                      <a:schemeClr val="tx1"/>
                    </a:solidFill>
                    <a:effectLst/>
                    <a:latin typeface="Segoe WPC"/>
                  </a:rPr>
                  <a:t> </a:t>
                </a:r>
                <a:r>
                  <a:rPr lang="es-PE" sz="900" b="0" i="0" dirty="0" err="1">
                    <a:solidFill>
                      <a:schemeClr val="tx1"/>
                    </a:solidFill>
                    <a:effectLst/>
                    <a:latin typeface="Segoe WPC"/>
                  </a:rPr>
                  <a:t>most</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3. </a:t>
                </a:r>
                <a:r>
                  <a:rPr lang="es-PE" sz="900" b="1" i="0" dirty="0" err="1">
                    <a:solidFill>
                      <a:schemeClr val="tx1"/>
                    </a:solidFill>
                    <a:effectLst/>
                    <a:latin typeface="Segoe WPC"/>
                  </a:rPr>
                  <a:t>Efficient</a:t>
                </a:r>
                <a:r>
                  <a:rPr lang="es-PE" sz="900" b="1" i="0" dirty="0">
                    <a:solidFill>
                      <a:schemeClr val="tx1"/>
                    </a:solidFill>
                    <a:effectLst/>
                    <a:latin typeface="Segoe WPC"/>
                  </a:rPr>
                  <a:t> </a:t>
                </a:r>
                <a:r>
                  <a:rPr lang="es-PE" sz="900" b="1" i="0" dirty="0" err="1">
                    <a:solidFill>
                      <a:schemeClr val="tx1"/>
                    </a:solidFill>
                    <a:effectLst/>
                    <a:latin typeface="Segoe WPC"/>
                  </a:rPr>
                  <a:t>Frontier</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efficient</a:t>
                </a:r>
                <a:r>
                  <a:rPr lang="es-PE" sz="900" b="0" i="0" dirty="0">
                    <a:solidFill>
                      <a:schemeClr val="tx1"/>
                    </a:solidFill>
                    <a:effectLst/>
                    <a:latin typeface="Segoe WPC"/>
                  </a:rPr>
                  <a:t> </a:t>
                </a:r>
                <a:r>
                  <a:rPr lang="es-PE" sz="900" b="0" i="0" dirty="0" err="1">
                    <a:solidFill>
                      <a:schemeClr val="tx1"/>
                    </a:solidFill>
                    <a:effectLst/>
                    <a:latin typeface="Segoe WPC"/>
                  </a:rPr>
                  <a:t>frontier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set </a:t>
                </a:r>
                <a:r>
                  <a:rPr lang="es-PE" sz="900" b="0" i="0" dirty="0" err="1">
                    <a:solidFill>
                      <a:schemeClr val="tx1"/>
                    </a:solidFill>
                    <a:effectLst/>
                    <a:latin typeface="Segoe WPC"/>
                  </a:rPr>
                  <a:t>of</a:t>
                </a:r>
                <a:r>
                  <a:rPr lang="es-PE" sz="900" b="0" i="0" dirty="0">
                    <a:solidFill>
                      <a:schemeClr val="tx1"/>
                    </a:solidFill>
                    <a:effectLst/>
                    <a:latin typeface="Segoe WPC"/>
                  </a:rPr>
                  <a:t> portfolios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offers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highest</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level</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Efficient</a:t>
                </a:r>
                <a:r>
                  <a:rPr lang="es-PE" sz="900" b="0" i="0" dirty="0">
                    <a:solidFill>
                      <a:schemeClr val="tx1"/>
                    </a:solidFill>
                    <a:effectLst/>
                    <a:latin typeface="Segoe WPC"/>
                  </a:rPr>
                  <a:t> portfolios </a:t>
                </a:r>
                <a:r>
                  <a:rPr lang="es-PE" sz="900" b="0" i="0" dirty="0" err="1">
                    <a:solidFill>
                      <a:schemeClr val="tx1"/>
                    </a:solidFill>
                    <a:effectLst/>
                    <a:latin typeface="Segoe WPC"/>
                  </a:rPr>
                  <a:t>dominate</a:t>
                </a:r>
                <a:r>
                  <a:rPr lang="es-PE" sz="900" b="0" i="0" dirty="0">
                    <a:solidFill>
                      <a:schemeClr val="tx1"/>
                    </a:solidFill>
                    <a:effectLst/>
                    <a:latin typeface="Segoe WPC"/>
                  </a:rPr>
                  <a:t> inferior </a:t>
                </a:r>
                <a:r>
                  <a:rPr lang="es-PE" sz="900" b="0" i="0" dirty="0" err="1">
                    <a:solidFill>
                      <a:schemeClr val="tx1"/>
                    </a:solidFill>
                    <a:effectLst/>
                    <a:latin typeface="Segoe WPC"/>
                  </a:rPr>
                  <a:t>ones</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provide</a:t>
                </a:r>
                <a:r>
                  <a:rPr lang="es-PE" sz="900" b="0" i="0" dirty="0">
                    <a:solidFill>
                      <a:schemeClr val="tx1"/>
                    </a:solidFill>
                    <a:effectLst/>
                    <a:latin typeface="Segoe WPC"/>
                  </a:rPr>
                  <a:t> </a:t>
                </a:r>
                <a:r>
                  <a:rPr lang="es-PE" sz="900" b="0" i="0" dirty="0" err="1">
                    <a:solidFill>
                      <a:schemeClr val="tx1"/>
                    </a:solidFill>
                    <a:effectLst/>
                    <a:latin typeface="Segoe WPC"/>
                  </a:rPr>
                  <a:t>better</a:t>
                </a:r>
                <a:r>
                  <a:rPr lang="es-PE" sz="900" b="0" i="0" dirty="0">
                    <a:solidFill>
                      <a:schemeClr val="tx1"/>
                    </a:solidFill>
                    <a:effectLst/>
                    <a:latin typeface="Segoe WPC"/>
                  </a:rPr>
                  <a:t> </a:t>
                </a:r>
                <a:r>
                  <a:rPr lang="es-PE" sz="900" b="0" i="0" dirty="0" err="1">
                    <a:solidFill>
                      <a:schemeClr val="tx1"/>
                    </a:solidFill>
                    <a:effectLst/>
                    <a:latin typeface="Segoe WPC"/>
                  </a:rPr>
                  <a:t>risk-return</a:t>
                </a:r>
                <a:r>
                  <a:rPr lang="es-PE" sz="900" b="0" i="0" dirty="0">
                    <a:solidFill>
                      <a:schemeClr val="tx1"/>
                    </a:solidFill>
                    <a:effectLst/>
                    <a:latin typeface="Segoe WPC"/>
                  </a:rPr>
                  <a:t> </a:t>
                </a:r>
                <a:r>
                  <a:rPr lang="es-PE" sz="900" b="0" i="0" dirty="0" err="1">
                    <a:solidFill>
                      <a:schemeClr val="tx1"/>
                    </a:solidFill>
                    <a:effectLst/>
                    <a:latin typeface="Segoe WPC"/>
                  </a:rPr>
                  <a:t>tradeoffs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Optimal</a:t>
                </a:r>
                <a:r>
                  <a:rPr lang="es-PE" sz="900" b="0" i="0" dirty="0">
                    <a:solidFill>
                      <a:schemeClr val="tx1"/>
                    </a:solidFill>
                    <a:effectLst/>
                    <a:latin typeface="Segoe WPC"/>
                  </a:rPr>
                  <a:t> mean-</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combinations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identifies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best</a:t>
                </a:r>
                <a:r>
                  <a:rPr lang="es-PE" sz="900" b="0" i="0" dirty="0">
                    <a:solidFill>
                      <a:schemeClr val="tx1"/>
                    </a:solidFill>
                    <a:effectLst/>
                    <a:latin typeface="Segoe WPC"/>
                  </a:rPr>
                  <a:t> </a:t>
                </a:r>
                <a:r>
                  <a:rPr lang="es-PE" sz="900" b="0" i="0" dirty="0" err="1">
                    <a:solidFill>
                      <a:schemeClr val="tx1"/>
                    </a:solidFill>
                    <a:effectLst/>
                    <a:latin typeface="Segoe WPC"/>
                  </a:rPr>
                  <a:t>feasible</a:t>
                </a:r>
                <a:r>
                  <a:rPr lang="es-PE" sz="900" b="0" i="0" dirty="0">
                    <a:solidFill>
                      <a:schemeClr val="tx1"/>
                    </a:solidFill>
                    <a:effectLst/>
                    <a:latin typeface="Segoe WPC"/>
                  </a:rPr>
                  <a:t> portfolios </a:t>
                </a:r>
                <a:r>
                  <a:rPr lang="es-PE" sz="900" b="0" i="0" dirty="0" err="1">
                    <a:solidFill>
                      <a:schemeClr val="tx1"/>
                    </a:solidFill>
                    <a:effectLst/>
                    <a:latin typeface="Segoe WPC"/>
                  </a:rPr>
                  <a:t>under</a:t>
                </a:r>
                <a:r>
                  <a:rPr lang="es-PE" sz="900" b="0" i="0" dirty="0">
                    <a:solidFill>
                      <a:schemeClr val="tx1"/>
                    </a:solidFill>
                    <a:effectLst/>
                    <a:latin typeface="Segoe WPC"/>
                  </a:rPr>
                  <a:t> MPT.</a:t>
                </a:r>
                <a:br>
                  <a:rPr lang="es-PE" sz="900" b="0" i="0" dirty="0">
                    <a:solidFill>
                      <a:schemeClr val="tx1"/>
                    </a:solidFill>
                    <a:effectLst/>
                    <a:latin typeface="Segoe WPC"/>
                  </a:rPr>
                </a:br>
                <a:r>
                  <a:rPr lang="es-PE" sz="900" b="1" i="0" dirty="0" err="1">
                    <a:solidFill>
                      <a:schemeClr val="tx1"/>
                    </a:solidFill>
                    <a:effectLst/>
                    <a:latin typeface="Segoe WPC"/>
                  </a:rPr>
                  <a:t>Limitation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frontier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highly</a:t>
                </a:r>
                <a:r>
                  <a:rPr lang="es-PE" sz="900" b="0" i="0" dirty="0">
                    <a:solidFill>
                      <a:schemeClr val="tx1"/>
                    </a:solidFill>
                    <a:effectLst/>
                    <a:latin typeface="Segoe WPC"/>
                  </a:rPr>
                  <a:t> sensitive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estimation</a:t>
                </a:r>
                <a:r>
                  <a:rPr lang="es-PE" sz="900" b="0" i="0" dirty="0">
                    <a:solidFill>
                      <a:schemeClr val="tx1"/>
                    </a:solidFill>
                    <a:effectLst/>
                    <a:latin typeface="Segoe WPC"/>
                  </a:rPr>
                  <a:t> </a:t>
                </a:r>
                <a:r>
                  <a:rPr lang="es-PE" sz="900" b="0" i="0" dirty="0" err="1">
                    <a:solidFill>
                      <a:schemeClr val="tx1"/>
                    </a:solidFill>
                    <a:effectLst/>
                    <a:latin typeface="Segoe WPC"/>
                  </a:rPr>
                  <a:t>errors</a:t>
                </a:r>
                <a:r>
                  <a:rPr lang="es-PE" sz="900" b="0" i="0" dirty="0">
                    <a:solidFill>
                      <a:schemeClr val="tx1"/>
                    </a:solidFill>
                    <a:effectLst/>
                    <a:latin typeface="Segoe WPC"/>
                  </a:rPr>
                  <a:t>, </a:t>
                </a:r>
                <a:r>
                  <a:rPr lang="es-PE" sz="900" b="0" i="0" dirty="0" err="1">
                    <a:solidFill>
                      <a:schemeClr val="tx1"/>
                    </a:solidFill>
                    <a:effectLst/>
                    <a:latin typeface="Segoe WPC"/>
                  </a:rPr>
                  <a:t>especially</a:t>
                </a:r>
                <a:r>
                  <a:rPr lang="es-PE" sz="900" b="0" i="0" dirty="0">
                    <a:solidFill>
                      <a:schemeClr val="tx1"/>
                    </a:solidFill>
                    <a:effectLst/>
                    <a:latin typeface="Segoe WPC"/>
                  </a:rPr>
                  <a:t> in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4. </a:t>
                </a:r>
                <a:r>
                  <a:rPr lang="es-PE" sz="900" b="1" i="0" dirty="0" err="1">
                    <a:solidFill>
                      <a:schemeClr val="tx1"/>
                    </a:solidFill>
                    <a:effectLst/>
                    <a:latin typeface="Segoe WPC"/>
                  </a:rPr>
                  <a:t>Main</a:t>
                </a:r>
                <a:r>
                  <a:rPr lang="es-PE" sz="900" b="1" i="0" dirty="0">
                    <a:solidFill>
                      <a:schemeClr val="tx1"/>
                    </a:solidFill>
                    <a:effectLst/>
                    <a:latin typeface="Segoe WPC"/>
                  </a:rPr>
                  <a:t> </a:t>
                </a:r>
                <a:r>
                  <a:rPr lang="es-PE" sz="900" b="1" i="0" dirty="0" err="1">
                    <a:solidFill>
                      <a:schemeClr val="tx1"/>
                    </a:solidFill>
                    <a:effectLst/>
                    <a:latin typeface="Segoe WPC"/>
                  </a:rPr>
                  <a:t>Criticism</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MPT</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MPT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elegant</a:t>
                </a:r>
                <a:r>
                  <a:rPr lang="es-PE" sz="900" b="0" i="0" dirty="0">
                    <a:solidFill>
                      <a:schemeClr val="tx1"/>
                    </a:solidFill>
                    <a:effectLst/>
                    <a:latin typeface="Segoe WPC"/>
                  </a:rPr>
                  <a:t> in </a:t>
                </a:r>
                <a:r>
                  <a:rPr lang="es-PE" sz="900" b="0" i="0" dirty="0" err="1">
                    <a:solidFill>
                      <a:schemeClr val="tx1"/>
                    </a:solidFill>
                    <a:effectLst/>
                    <a:latin typeface="Segoe WPC"/>
                  </a:rPr>
                  <a:t>theory</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fragile</a:t>
                </a:r>
                <a:r>
                  <a:rPr lang="es-PE" sz="900" b="0" i="0" dirty="0">
                    <a:solidFill>
                      <a:schemeClr val="tx1"/>
                    </a:solidFill>
                    <a:effectLst/>
                    <a:latin typeface="Segoe WPC"/>
                  </a:rPr>
                  <a:t> in </a:t>
                </a:r>
                <a:r>
                  <a:rPr lang="es-PE" sz="900" b="0" i="0" dirty="0" err="1">
                    <a:solidFill>
                      <a:schemeClr val="tx1"/>
                    </a:solidFill>
                    <a:effectLst/>
                    <a:latin typeface="Segoe WPC"/>
                  </a:rPr>
                  <a:t>practice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Small </a:t>
                </a:r>
                <a:r>
                  <a:rPr lang="es-PE" sz="900" b="0" i="0" dirty="0" err="1">
                    <a:solidFill>
                      <a:schemeClr val="tx1"/>
                    </a:solidFill>
                    <a:effectLst/>
                    <a:latin typeface="Segoe WPC"/>
                  </a:rPr>
                  <a:t>mistakes</a:t>
                </a:r>
                <a:r>
                  <a:rPr lang="es-PE" sz="900" b="0" i="0" dirty="0">
                    <a:solidFill>
                      <a:schemeClr val="tx1"/>
                    </a:solidFill>
                    <a:effectLst/>
                    <a:latin typeface="Segoe WPC"/>
                  </a:rPr>
                  <a:t> in inputs can lead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very</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optimal</a:t>
                </a:r>
                <a:r>
                  <a:rPr lang="es-PE" sz="900" b="0" i="0" dirty="0">
                    <a:solidFill>
                      <a:schemeClr val="tx1"/>
                    </a:solidFill>
                    <a:effectLst/>
                    <a:latin typeface="Segoe WPC"/>
                  </a:rPr>
                  <a:t>” portfolios.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None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managers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treat</a:t>
                </a:r>
                <a:r>
                  <a:rPr lang="es-PE" sz="900" b="0" i="0" dirty="0">
                    <a:solidFill>
                      <a:schemeClr val="tx1"/>
                    </a:solidFill>
                    <a:effectLst/>
                    <a:latin typeface="Segoe WPC"/>
                  </a:rPr>
                  <a:t> </a:t>
                </a:r>
                <a:r>
                  <a:rPr lang="es-PE" sz="900" b="0" i="0" dirty="0" err="1">
                    <a:solidFill>
                      <a:schemeClr val="tx1"/>
                    </a:solidFill>
                    <a:effectLst/>
                    <a:latin typeface="Segoe WPC"/>
                  </a:rPr>
                  <a:t>optimization</a:t>
                </a:r>
                <a:r>
                  <a:rPr lang="es-PE" sz="900" b="0" i="0" dirty="0">
                    <a:solidFill>
                      <a:schemeClr val="tx1"/>
                    </a:solidFill>
                    <a:effectLst/>
                    <a:latin typeface="Segoe WPC"/>
                  </a:rPr>
                  <a:t> outputs </a:t>
                </a:r>
                <a:r>
                  <a:rPr lang="es-PE" sz="900" b="0" i="0" dirty="0" err="1">
                    <a:solidFill>
                      <a:schemeClr val="tx1"/>
                    </a:solidFill>
                    <a:effectLst/>
                    <a:latin typeface="Segoe WPC"/>
                  </a:rPr>
                  <a:t>cautiously</a:t>
                </a:r>
                <a:r>
                  <a:rPr lang="es-PE" sz="900" b="0" i="0" dirty="0">
                    <a:solidFill>
                      <a:schemeClr val="tx1"/>
                    </a:solidFill>
                    <a:effectLst/>
                    <a:latin typeface="Segoe WPC"/>
                  </a:rPr>
                  <a:t> and stress test </a:t>
                </a:r>
                <a:r>
                  <a:rPr lang="es-PE" sz="900" b="0" i="0" dirty="0" err="1">
                    <a:solidFill>
                      <a:schemeClr val="tx1"/>
                    </a:solidFill>
                    <a:effectLst/>
                    <a:latin typeface="Segoe WPC"/>
                  </a:rPr>
                  <a:t>assumptions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Limitation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Fat</a:t>
                </a:r>
                <a:r>
                  <a:rPr lang="es-PE" sz="900" b="0" i="0" dirty="0">
                    <a:solidFill>
                      <a:schemeClr val="tx1"/>
                    </a:solidFill>
                    <a:effectLst/>
                    <a:latin typeface="Segoe WPC"/>
                  </a:rPr>
                  <a:t> </a:t>
                </a:r>
                <a:r>
                  <a:rPr lang="es-PE" sz="900" b="0" i="0" dirty="0" err="1">
                    <a:solidFill>
                      <a:schemeClr val="tx1"/>
                    </a:solidFill>
                    <a:effectLst/>
                    <a:latin typeface="Segoe WPC"/>
                  </a:rPr>
                  <a:t>tails</a:t>
                </a:r>
                <a:r>
                  <a:rPr lang="es-PE" sz="900" b="0" i="0" dirty="0">
                    <a:solidFill>
                      <a:schemeClr val="tx1"/>
                    </a:solidFill>
                    <a:effectLst/>
                    <a:latin typeface="Segoe WPC"/>
                  </a:rPr>
                  <a:t>, </a:t>
                </a:r>
                <a:r>
                  <a:rPr lang="es-PE" sz="900" b="0" i="0" dirty="0" err="1">
                    <a:solidFill>
                      <a:schemeClr val="tx1"/>
                    </a:solidFill>
                    <a:effectLst/>
                    <a:latin typeface="Segoe WPC"/>
                  </a:rPr>
                  <a:t>skewness</a:t>
                </a:r>
                <a:r>
                  <a:rPr lang="es-PE" sz="900" b="0" i="0" dirty="0">
                    <a:solidFill>
                      <a:schemeClr val="tx1"/>
                    </a:solidFill>
                    <a:effectLst/>
                    <a:latin typeface="Segoe WPC"/>
                  </a:rPr>
                  <a:t>, </a:t>
                </a:r>
                <a:r>
                  <a:rPr lang="es-PE" sz="900" b="0" i="0" dirty="0" err="1">
                    <a:solidFill>
                      <a:schemeClr val="tx1"/>
                    </a:solidFill>
                    <a:effectLst/>
                    <a:latin typeface="Segoe WPC"/>
                  </a:rPr>
                  <a:t>unstable</a:t>
                </a:r>
                <a:r>
                  <a:rPr lang="es-PE" sz="900" b="0" i="0" dirty="0">
                    <a:solidFill>
                      <a:schemeClr val="tx1"/>
                    </a:solidFill>
                    <a:effectLst/>
                    <a:latin typeface="Segoe WPC"/>
                  </a:rPr>
                  <a:t> </a:t>
                </a:r>
                <a:r>
                  <a:rPr lang="es-PE" sz="900" b="0" i="0" dirty="0" err="1">
                    <a:solidFill>
                      <a:schemeClr val="tx1"/>
                    </a:solidFill>
                    <a:effectLst/>
                    <a:latin typeface="Segoe WPC"/>
                  </a:rPr>
                  <a:t>correlations</a:t>
                </a:r>
                <a:r>
                  <a:rPr lang="es-PE" sz="900" b="0" i="0" dirty="0">
                    <a:solidFill>
                      <a:schemeClr val="tx1"/>
                    </a:solidFill>
                    <a:effectLst/>
                    <a:latin typeface="Segoe WPC"/>
                  </a:rPr>
                  <a:t>, and </a:t>
                </a:r>
                <a:r>
                  <a:rPr lang="es-PE" sz="900" b="0" i="0" dirty="0" err="1">
                    <a:solidFill>
                      <a:schemeClr val="tx1"/>
                    </a:solidFill>
                    <a:effectLst/>
                    <a:latin typeface="Segoe WPC"/>
                  </a:rPr>
                  <a:t>noisy</a:t>
                </a:r>
                <a:r>
                  <a:rPr lang="es-PE" sz="900" b="0" i="0" dirty="0">
                    <a:solidFill>
                      <a:schemeClr val="tx1"/>
                    </a:solidFill>
                    <a:effectLst/>
                    <a:latin typeface="Segoe WPC"/>
                  </a:rPr>
                  <a:t> </a:t>
                </a:r>
                <a:r>
                  <a:rPr lang="es-PE" sz="900" b="0" i="0" dirty="0" err="1">
                    <a:solidFill>
                      <a:schemeClr val="tx1"/>
                    </a:solidFill>
                    <a:effectLst/>
                    <a:latin typeface="Segoe WPC"/>
                  </a:rPr>
                  <a:t>estimates</a:t>
                </a:r>
                <a:r>
                  <a:rPr lang="es-PE" sz="900" b="0" i="0" dirty="0">
                    <a:solidFill>
                      <a:schemeClr val="tx1"/>
                    </a:solidFill>
                    <a:effectLst/>
                    <a:latin typeface="Segoe WPC"/>
                  </a:rPr>
                  <a:t> </a:t>
                </a:r>
                <a:r>
                  <a:rPr lang="es-PE" sz="900" b="0" i="0" dirty="0" err="1">
                    <a:solidFill>
                      <a:schemeClr val="tx1"/>
                    </a:solidFill>
                    <a:effectLst/>
                    <a:latin typeface="Segoe WPC"/>
                  </a:rPr>
                  <a:t>weaken</a:t>
                </a:r>
                <a:r>
                  <a:rPr lang="es-PE" sz="900" b="0" i="0" dirty="0">
                    <a:solidFill>
                      <a:schemeClr val="tx1"/>
                    </a:solidFill>
                    <a:effectLst/>
                    <a:latin typeface="Segoe WPC"/>
                  </a:rPr>
                  <a:t> real-</a:t>
                </a:r>
                <a:r>
                  <a:rPr lang="es-PE" sz="900" b="0" i="0" dirty="0" err="1">
                    <a:solidFill>
                      <a:schemeClr val="tx1"/>
                    </a:solidFill>
                    <a:effectLst/>
                    <a:latin typeface="Segoe WPC"/>
                  </a:rPr>
                  <a:t>world</a:t>
                </a:r>
                <a:r>
                  <a:rPr lang="es-PE" sz="900" b="0" i="0" dirty="0">
                    <a:solidFill>
                      <a:schemeClr val="tx1"/>
                    </a:solidFill>
                    <a:effectLst/>
                    <a:latin typeface="Segoe WPC"/>
                  </a:rPr>
                  <a:t> </a:t>
                </a:r>
                <a:r>
                  <a:rPr lang="es-PE" sz="900" b="0" i="0" dirty="0" err="1">
                    <a:solidFill>
                      <a:schemeClr val="tx1"/>
                    </a:solidFill>
                    <a:effectLst/>
                    <a:latin typeface="Segoe WPC"/>
                  </a:rPr>
                  <a:t>usefulness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5. Capital </a:t>
                </a:r>
                <a:r>
                  <a:rPr lang="es-PE" sz="900" b="1" i="0" dirty="0" err="1">
                    <a:solidFill>
                      <a:schemeClr val="tx1"/>
                    </a:solidFill>
                    <a:effectLst/>
                    <a:latin typeface="Segoe WPC"/>
                  </a:rPr>
                  <a:t>Asset</a:t>
                </a:r>
                <a:r>
                  <a:rPr lang="es-PE" sz="900" b="1" i="0" dirty="0">
                    <a:solidFill>
                      <a:schemeClr val="tx1"/>
                    </a:solidFill>
                    <a:effectLst/>
                    <a:latin typeface="Segoe WPC"/>
                  </a:rPr>
                  <a:t> </a:t>
                </a:r>
                <a:r>
                  <a:rPr lang="es-PE" sz="900" b="1" i="0" dirty="0" err="1">
                    <a:solidFill>
                      <a:schemeClr val="tx1"/>
                    </a:solidFill>
                    <a:effectLst/>
                    <a:latin typeface="Segoe WPC"/>
                  </a:rPr>
                  <a:t>Pricing</a:t>
                </a:r>
                <a:r>
                  <a:rPr lang="es-PE" sz="900" b="1" i="0" dirty="0">
                    <a:solidFill>
                      <a:schemeClr val="tx1"/>
                    </a:solidFill>
                    <a:effectLst/>
                    <a:latin typeface="Segoe WPC"/>
                  </a:rPr>
                  <a:t> </a:t>
                </a:r>
                <a:r>
                  <a:rPr lang="es-PE" sz="900" b="1" i="0" dirty="0" err="1">
                    <a:solidFill>
                      <a:schemeClr val="tx1"/>
                    </a:solidFill>
                    <a:effectLst/>
                    <a:latin typeface="Segoe WPC"/>
                  </a:rPr>
                  <a:t>Model</a:t>
                </a:r>
                <a:r>
                  <a:rPr lang="es-PE" sz="900" b="1" i="0" dirty="0">
                    <a:solidFill>
                      <a:schemeClr val="tx1"/>
                    </a:solidFill>
                    <a:effectLst/>
                    <a:latin typeface="Segoe WPC"/>
                  </a:rPr>
                  <a:t> (CAPM)</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systematic</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total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 </a:t>
                </a:r>
                <a:r>
                  <a:rPr lang="es-PE" sz="900" b="0" i="0" dirty="0" err="1">
                    <a:solidFill>
                      <a:schemeClr val="tx1"/>
                    </a:solidFill>
                    <a:effectLst/>
                    <a:latin typeface="Segoe WPC"/>
                  </a:rPr>
                  <a:t>should</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be </a:t>
                </a:r>
                <a:r>
                  <a:rPr lang="es-PE" sz="900" b="0" i="0" dirty="0" err="1">
                    <a:solidFill>
                      <a:schemeClr val="tx1"/>
                    </a:solidFill>
                    <a:effectLst/>
                    <a:latin typeface="Segoe WPC"/>
                  </a:rPr>
                  <a:t>rewarded</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cannot</a:t>
                </a:r>
                <a:r>
                  <a:rPr lang="es-PE" sz="900" b="0" i="0" dirty="0">
                    <a:solidFill>
                      <a:schemeClr val="tx1"/>
                    </a:solidFill>
                    <a:effectLst/>
                    <a:latin typeface="Segoe WPC"/>
                  </a:rPr>
                  <a:t> be </a:t>
                </a:r>
                <a:r>
                  <a:rPr lang="es-PE" sz="900" b="0" i="0" dirty="0" err="1">
                    <a:solidFill>
                      <a:schemeClr val="tx1"/>
                    </a:solidFill>
                    <a:effectLst/>
                    <a:latin typeface="Segoe WPC"/>
                  </a:rPr>
                  <a:t>diversified</a:t>
                </a:r>
                <a:r>
                  <a:rPr lang="es-PE" sz="900" b="0" i="0" dirty="0">
                    <a:solidFill>
                      <a:schemeClr val="tx1"/>
                    </a:solidFill>
                    <a:effectLst/>
                    <a:latin typeface="Segoe WPC"/>
                  </a:rPr>
                  <a:t> </a:t>
                </a:r>
                <a:r>
                  <a:rPr lang="es-PE" sz="900" b="0" i="0" dirty="0" err="1">
                    <a:solidFill>
                      <a:schemeClr val="tx1"/>
                    </a:solidFill>
                    <a:effectLst/>
                    <a:latin typeface="Segoe WPC"/>
                  </a:rPr>
                  <a:t>away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𝑖</m:t>
                            </m:r>
                          </m:sub>
                        </m:sSub>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𝑓</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1">
                            <a:solidFill>
                              <a:schemeClr val="tx1"/>
                            </a:solidFill>
                            <a:latin typeface="Cambria Math" panose="02040503050406030204" pitchFamily="18" charset="0"/>
                          </a:rPr>
                          <m:t>𝑖</m:t>
                        </m:r>
                      </m:sub>
                    </m:sSub>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𝐸</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𝑀</m:t>
                                </m:r>
                              </m:sub>
                            </m:sSub>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𝑓</m:t>
                            </m:r>
                          </m:sub>
                        </m:sSub>
                      </m:e>
                    </m:d>
                  </m:oMath>
                </a14:m>
                <a:br>
                  <a:rPr lang="ar-AE" sz="900" b="0" i="0" dirty="0">
                    <a:solidFill>
                      <a:schemeClr val="tx1"/>
                    </a:solidFill>
                    <a:effectLst/>
                    <a:latin typeface="Segoe WPC"/>
                  </a:rPr>
                </a:b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CAPM links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and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widely</a:t>
                </a:r>
                <a:r>
                  <a:rPr lang="es-PE" sz="900" b="0" i="0" dirty="0">
                    <a:solidFill>
                      <a:schemeClr val="tx1"/>
                    </a:solidFill>
                    <a:effectLst/>
                    <a:latin typeface="Segoe WPC"/>
                  </a:rPr>
                  <a:t> </a:t>
                </a:r>
                <a:r>
                  <a:rPr lang="es-PE" sz="900" b="0" i="0" dirty="0" err="1">
                    <a:solidFill>
                      <a:schemeClr val="tx1"/>
                    </a:solidFill>
                    <a:effectLst/>
                    <a:latin typeface="Segoe WPC"/>
                  </a:rPr>
                  <a:t>used</a:t>
                </a:r>
                <a:r>
                  <a:rPr lang="es-PE" sz="900" b="0" i="0" dirty="0">
                    <a:solidFill>
                      <a:schemeClr val="tx1"/>
                    </a:solidFill>
                    <a:effectLst/>
                    <a:latin typeface="Segoe WPC"/>
                  </a:rPr>
                  <a:t> in </a:t>
                </a:r>
                <a:r>
                  <a:rPr lang="es-PE" sz="900" b="0" i="0" dirty="0" err="1">
                    <a:solidFill>
                      <a:schemeClr val="tx1"/>
                    </a:solidFill>
                    <a:effectLst/>
                    <a:latin typeface="Segoe WPC"/>
                  </a:rPr>
                  <a:t>valuation</a:t>
                </a:r>
                <a:r>
                  <a:rPr lang="es-PE" sz="900" b="0" i="0" dirty="0">
                    <a:solidFill>
                      <a:schemeClr val="tx1"/>
                    </a:solidFill>
                    <a:effectLst/>
                    <a:latin typeface="Segoe WPC"/>
                  </a:rPr>
                  <a:t> and </a:t>
                </a:r>
                <a:r>
                  <a:rPr lang="es-PE" sz="900" b="0" i="0" dirty="0" err="1">
                    <a:solidFill>
                      <a:schemeClr val="tx1"/>
                    </a:solidFill>
                    <a:effectLst/>
                    <a:latin typeface="Segoe WPC"/>
                  </a:rPr>
                  <a:t>cost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capital.</a:t>
                </a:r>
                <a:br>
                  <a:rPr lang="es-PE" sz="900" b="0" i="0" dirty="0">
                    <a:solidFill>
                      <a:schemeClr val="tx1"/>
                    </a:solidFill>
                    <a:effectLst/>
                    <a:latin typeface="Segoe WPC"/>
                  </a:rPr>
                </a:br>
                <a:r>
                  <a:rPr lang="es-PE" sz="900" b="1" i="0" dirty="0" err="1">
                    <a:solidFill>
                      <a:schemeClr val="tx1"/>
                    </a:solidFill>
                    <a:effectLst/>
                    <a:latin typeface="Segoe WPC"/>
                  </a:rPr>
                  <a:t>Limitation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Empirically</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beta alone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fully</a:t>
                </a:r>
                <a:r>
                  <a:rPr lang="es-PE" sz="900" b="0" i="0" dirty="0">
                    <a:solidFill>
                      <a:schemeClr val="tx1"/>
                    </a:solidFill>
                    <a:effectLst/>
                    <a:latin typeface="Segoe WPC"/>
                  </a:rPr>
                  <a:t> </a:t>
                </a:r>
                <a:r>
                  <a:rPr lang="es-PE" sz="900" b="0" i="0" dirty="0" err="1">
                    <a:solidFill>
                      <a:schemeClr val="tx1"/>
                    </a:solidFill>
                    <a:effectLst/>
                    <a:latin typeface="Segoe WPC"/>
                  </a:rPr>
                  <a:t>explain</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6. Beta</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Beta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sensitive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movements</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portfolio.</a:t>
                </a:r>
                <a:br>
                  <a:rPr lang="es-PE" sz="900" b="0" i="0" dirty="0">
                    <a:solidFill>
                      <a:schemeClr val="tx1"/>
                    </a:solidFill>
                    <a:effectLst/>
                    <a:latin typeface="Segoe WPC"/>
                  </a:rPr>
                </a:b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high</a:t>
                </a:r>
                <a:r>
                  <a:rPr lang="es-PE" sz="900" b="0" i="0" dirty="0">
                    <a:solidFill>
                      <a:schemeClr val="tx1"/>
                    </a:solidFill>
                    <a:effectLst/>
                    <a:latin typeface="Segoe WPC"/>
                  </a:rPr>
                  <a:t>-beta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tends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more </a:t>
                </a:r>
                <a:r>
                  <a:rPr lang="es-PE" sz="900" b="0" i="0" dirty="0" err="1">
                    <a:solidFill>
                      <a:schemeClr val="tx1"/>
                    </a:solidFill>
                    <a:effectLst/>
                    <a:latin typeface="Segoe WPC"/>
                  </a:rPr>
                  <a:t>strongly</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 </a:t>
                </a:r>
                <a:r>
                  <a:rPr lang="es-PE" sz="900" b="0" i="0" dirty="0" err="1">
                    <a:solidFill>
                      <a:schemeClr val="tx1"/>
                    </a:solidFill>
                    <a:effectLst/>
                    <a:latin typeface="Segoe WPC"/>
                  </a:rPr>
                  <a:t>low</a:t>
                </a:r>
                <a:r>
                  <a:rPr lang="es-PE" sz="900" b="0" i="0" dirty="0">
                    <a:solidFill>
                      <a:schemeClr val="tx1"/>
                    </a:solidFill>
                    <a:effectLst/>
                    <a:latin typeface="Segoe WPC"/>
                  </a:rPr>
                  <a:t>-beta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moves</a:t>
                </a:r>
                <a:r>
                  <a:rPr lang="es-PE" sz="900" b="0" i="0" dirty="0">
                    <a:solidFill>
                      <a:schemeClr val="tx1"/>
                    </a:solidFill>
                    <a:effectLst/>
                    <a:latin typeface="Segoe WPC"/>
                  </a:rPr>
                  <a:t> </a:t>
                </a:r>
                <a:r>
                  <a:rPr lang="es-PE" sz="900" b="0" i="0" dirty="0" err="1">
                    <a:solidFill>
                      <a:schemeClr val="tx1"/>
                    </a:solidFill>
                    <a:effectLst/>
                    <a:latin typeface="Segoe WPC"/>
                  </a:rPr>
                  <a:t>less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𝐶𝑜𝑣</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𝑖</m:t>
                                </m:r>
                              </m:sub>
                            </m:sSub>
                          </m:e>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𝑀</m:t>
                                </m:r>
                              </m:sub>
                            </m:sSub>
                          </m:e>
                        </m:d>
                      </m:num>
                      <m:den>
                        <m:r>
                          <a:rPr lang="ar-A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𝑀</m:t>
                                </m:r>
                              </m:sub>
                            </m:sSub>
                          </m:e>
                        </m:d>
                      </m:den>
                    </m:f>
                  </m:oMath>
                </a14:m>
                <a:br>
                  <a:rPr lang="ar-AE" sz="900" b="0" i="0" dirty="0">
                    <a:solidFill>
                      <a:schemeClr val="tx1"/>
                    </a:solidFill>
                    <a:effectLst/>
                    <a:latin typeface="Segoe WPC"/>
                  </a:rPr>
                </a:b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Beta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core</a:t>
                </a:r>
                <a:r>
                  <a:rPr lang="es-PE" sz="900" b="0" i="0" dirty="0">
                    <a:solidFill>
                      <a:schemeClr val="tx1"/>
                    </a:solidFill>
                    <a:effectLst/>
                    <a:latin typeface="Segoe WPC"/>
                  </a:rPr>
                  <a:t> CAPM </a:t>
                </a:r>
                <a:r>
                  <a:rPr lang="es-PE" sz="900" b="0" i="0" dirty="0" err="1">
                    <a:solidFill>
                      <a:schemeClr val="tx1"/>
                    </a:solidFill>
                    <a:effectLst/>
                    <a:latin typeface="Segoe WPC"/>
                  </a:rPr>
                  <a:t>measure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systematic</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and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used</a:t>
                </a:r>
                <a:r>
                  <a:rPr lang="es-PE" sz="900" b="0" i="0" dirty="0">
                    <a:solidFill>
                      <a:schemeClr val="tx1"/>
                    </a:solidFill>
                    <a:effectLst/>
                    <a:latin typeface="Segoe WPC"/>
                  </a:rPr>
                  <a:t> in </a:t>
                </a:r>
                <a:r>
                  <a:rPr lang="es-PE" sz="900" b="0" i="0" dirty="0" err="1">
                    <a:solidFill>
                      <a:schemeClr val="tx1"/>
                    </a:solidFill>
                    <a:effectLst/>
                    <a:latin typeface="Segoe WPC"/>
                  </a:rPr>
                  <a:t>pricing</a:t>
                </a:r>
                <a:r>
                  <a:rPr lang="es-PE" sz="900" b="0" i="0" dirty="0">
                    <a:solidFill>
                      <a:schemeClr val="tx1"/>
                    </a:solidFill>
                    <a:effectLst/>
                    <a:latin typeface="Segoe WPC"/>
                  </a:rPr>
                  <a:t> and </a:t>
                </a:r>
                <a:r>
                  <a:rPr lang="es-PE" sz="900" b="0" i="0" dirty="0" err="1">
                    <a:solidFill>
                      <a:schemeClr val="tx1"/>
                    </a:solidFill>
                    <a:effectLst/>
                    <a:latin typeface="Segoe WPC"/>
                  </a:rPr>
                  <a:t>corporate</a:t>
                </a:r>
                <a:r>
                  <a:rPr lang="es-PE" sz="900" b="0" i="0" dirty="0">
                    <a:solidFill>
                      <a:schemeClr val="tx1"/>
                    </a:solidFill>
                    <a:effectLst/>
                    <a:latin typeface="Segoe WPC"/>
                  </a:rPr>
                  <a:t> </a:t>
                </a:r>
                <a:r>
                  <a:rPr lang="es-PE" sz="900" b="0" i="0" dirty="0" err="1">
                    <a:solidFill>
                      <a:schemeClr val="tx1"/>
                    </a:solidFill>
                    <a:effectLst/>
                    <a:latin typeface="Segoe WPC"/>
                  </a:rPr>
                  <a:t>finance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Limitation</a:t>
                </a:r>
                <a:r>
                  <a:rPr lang="es-PE" sz="900" b="1" i="0" dirty="0">
                    <a:solidFill>
                      <a:schemeClr val="tx1"/>
                    </a:solidFill>
                    <a:effectLst/>
                    <a:latin typeface="Segoe WPC"/>
                  </a:rPr>
                  <a:t>:</a:t>
                </a:r>
                <a:r>
                  <a:rPr lang="es-PE" sz="900" b="0" i="0" dirty="0">
                    <a:solidFill>
                      <a:schemeClr val="tx1"/>
                    </a:solidFill>
                    <a:effectLst/>
                    <a:latin typeface="Segoe WPC"/>
                  </a:rPr>
                  <a:t> Beta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unstable</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time and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period</a:t>
                </a:r>
                <a:r>
                  <a:rPr lang="es-PE" sz="900" b="0" i="0" dirty="0">
                    <a:solidFill>
                      <a:schemeClr val="tx1"/>
                    </a:solidFill>
                    <a:effectLst/>
                    <a:latin typeface="Segoe WPC"/>
                  </a:rPr>
                  <a:t> and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benchmark</a:t>
                </a:r>
                <a:r>
                  <a:rPr lang="es-PE" sz="900" b="0" i="0" dirty="0">
                    <a:solidFill>
                      <a:schemeClr val="tx1"/>
                    </a:solidFill>
                    <a:effectLst/>
                    <a:latin typeface="Segoe WPC"/>
                  </a:rPr>
                  <a:t> </a:t>
                </a:r>
                <a:r>
                  <a:rPr lang="es-PE" sz="900" b="0" i="0" dirty="0" err="1">
                    <a:solidFill>
                      <a:schemeClr val="tx1"/>
                    </a:solidFill>
                    <a:effectLst/>
                    <a:latin typeface="Segoe WPC"/>
                  </a:rPr>
                  <a:t>used</a:t>
                </a:r>
                <a:r>
                  <a:rPr lang="es-PE" sz="900" b="0" i="0" dirty="0">
                    <a:solidFill>
                      <a:schemeClr val="tx1"/>
                    </a:solidFill>
                    <a:effectLst/>
                    <a:latin typeface="Segoe WPC"/>
                  </a:rPr>
                  <a:t>.</a:t>
                </a:r>
              </a:p>
            </p:txBody>
          </p:sp>
        </mc:Choice>
        <mc:Fallback xmlns="">
          <p:sp>
            <p:nvSpPr>
              <p:cNvPr id="23" name="CuadroTexto 22">
                <a:extLst>
                  <a:ext uri="{FF2B5EF4-FFF2-40B4-BE49-F238E27FC236}">
                    <a16:creationId xmlns:a16="http://schemas.microsoft.com/office/drawing/2014/main" id="{00311EA7-0BCD-6E79-8DCF-1C12959E7362}"/>
                  </a:ext>
                </a:extLst>
              </p:cNvPr>
              <p:cNvSpPr txBox="1">
                <a:spLocks noRot="1" noChangeAspect="1" noMove="1" noResize="1" noEditPoints="1" noAdjustHandles="1" noChangeArrowheads="1" noChangeShapeType="1" noTextEdit="1"/>
              </p:cNvSpPr>
              <p:nvPr/>
            </p:nvSpPr>
            <p:spPr>
              <a:xfrm>
                <a:off x="81460" y="652529"/>
                <a:ext cx="6102350" cy="6108852"/>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C2B4CFE3-6659-90F6-6F3C-2B5704EB0D0D}"/>
                  </a:ext>
                </a:extLst>
              </p:cNvPr>
              <p:cNvSpPr txBox="1"/>
              <p:nvPr/>
            </p:nvSpPr>
            <p:spPr>
              <a:xfrm>
                <a:off x="5929313" y="762379"/>
                <a:ext cx="6103960" cy="5196102"/>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7. Total </a:t>
                </a:r>
                <a:r>
                  <a:rPr lang="es-PE" sz="900" b="1" i="0" dirty="0" err="1">
                    <a:solidFill>
                      <a:schemeClr val="tx1"/>
                    </a:solidFill>
                    <a:effectLst/>
                    <a:latin typeface="Segoe WPC"/>
                  </a:rPr>
                  <a:t>Risk</a:t>
                </a:r>
                <a:r>
                  <a:rPr lang="es-PE" sz="900" b="1" i="0" dirty="0">
                    <a:solidFill>
                      <a:schemeClr val="tx1"/>
                    </a:solidFill>
                    <a:effectLst/>
                    <a:latin typeface="Segoe WPC"/>
                  </a:rPr>
                  <a:t> </a:t>
                </a:r>
                <a:r>
                  <a:rPr lang="es-PE" sz="900" b="1" i="0" dirty="0" err="1">
                    <a:solidFill>
                      <a:schemeClr val="tx1"/>
                    </a:solidFill>
                    <a:effectLst/>
                    <a:latin typeface="Segoe WPC"/>
                  </a:rPr>
                  <a:t>Decomposition</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total </a:t>
                </a:r>
                <a:r>
                  <a:rPr lang="es-PE" sz="900" b="0" i="0" dirty="0" err="1">
                    <a:solidFill>
                      <a:schemeClr val="tx1"/>
                    </a:solidFill>
                    <a:effectLst/>
                    <a:latin typeface="Segoe WPC"/>
                  </a:rPr>
                  <a:t>risk</a:t>
                </a:r>
                <a:r>
                  <a:rPr lang="es-PE" sz="900" b="0" i="0" dirty="0">
                    <a:solidFill>
                      <a:schemeClr val="tx1"/>
                    </a:solidFill>
                    <a:effectLst/>
                    <a:latin typeface="Segoe WPC"/>
                  </a:rPr>
                  <a:t> can be </a:t>
                </a:r>
                <a:r>
                  <a:rPr lang="es-PE" sz="900" b="0" i="0" dirty="0" err="1">
                    <a:solidFill>
                      <a:schemeClr val="tx1"/>
                    </a:solidFill>
                    <a:effectLst/>
                    <a:latin typeface="Segoe WPC"/>
                  </a:rPr>
                  <a:t>split</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systematic</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and </a:t>
                </a:r>
                <a:r>
                  <a:rPr lang="es-PE" sz="900" b="0" i="0" dirty="0" err="1">
                    <a:solidFill>
                      <a:schemeClr val="tx1"/>
                    </a:solidFill>
                    <a:effectLst/>
                    <a:latin typeface="Segoe WPC"/>
                  </a:rPr>
                  <a:t>idiosyncratic</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Part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comes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movements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rest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asset-specific</a:t>
                </a:r>
                <a:r>
                  <a:rPr lang="es-PE" sz="900" b="0" i="0" dirty="0">
                    <a:solidFill>
                      <a:schemeClr val="tx1"/>
                    </a:solidFill>
                    <a:effectLst/>
                    <a:latin typeface="Segoe WPC"/>
                  </a:rPr>
                  <a:t> and can be </a:t>
                </a:r>
                <a:r>
                  <a:rPr lang="es-PE" sz="900" b="0" i="0" dirty="0" err="1">
                    <a:solidFill>
                      <a:schemeClr val="tx1"/>
                    </a:solidFill>
                    <a:effectLst/>
                    <a:latin typeface="Segoe WPC"/>
                  </a:rPr>
                  <a:t>diversified</a:t>
                </a:r>
                <a:r>
                  <a:rPr lang="es-PE" sz="900" b="0" i="0" dirty="0">
                    <a:solidFill>
                      <a:schemeClr val="tx1"/>
                    </a:solidFill>
                    <a:effectLst/>
                    <a:latin typeface="Segoe WPC"/>
                  </a:rPr>
                  <a:t> </a:t>
                </a:r>
                <a:r>
                  <a:rPr lang="es-PE" sz="900" b="0" i="0" dirty="0" err="1">
                    <a:solidFill>
                      <a:schemeClr val="tx1"/>
                    </a:solidFill>
                    <a:effectLst/>
                    <a:latin typeface="Segoe WPC"/>
                  </a:rPr>
                  <a:t>away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𝑖</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𝛽</m:t>
                        </m:r>
                      </m:e>
                      <m:sub>
                        <m:r>
                          <a:rPr lang="ar-AE" sz="900" i="1">
                            <a:solidFill>
                              <a:schemeClr val="tx1"/>
                            </a:solidFill>
                            <a:latin typeface="Cambria Math" panose="02040503050406030204" pitchFamily="18" charset="0"/>
                          </a:rPr>
                          <m:t>𝑖</m:t>
                        </m:r>
                      </m:sub>
                      <m:sup>
                        <m:r>
                          <a:rPr lang="ar-AE" sz="900" i="0">
                            <a:solidFill>
                              <a:schemeClr val="tx1"/>
                            </a:solidFill>
                            <a:latin typeface="Cambria Math" panose="02040503050406030204" pitchFamily="18" charset="0"/>
                          </a:rPr>
                          <m:t>2</m:t>
                        </m:r>
                      </m:sup>
                    </m:sSubSup>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𝑀</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𝜀</m:t>
                        </m:r>
                        <m:r>
                          <a:rPr lang="ar-AE" sz="900" i="1">
                            <a:solidFill>
                              <a:schemeClr val="tx1"/>
                            </a:solidFill>
                            <a:latin typeface="Cambria Math" panose="02040503050406030204" pitchFamily="18" charset="0"/>
                          </a:rPr>
                          <m:t>𝑖</m:t>
                        </m:r>
                      </m:sub>
                      <m:sup>
                        <m:r>
                          <a:rPr lang="ar-AE" sz="900" i="0">
                            <a:solidFill>
                              <a:schemeClr val="tx1"/>
                            </a:solidFill>
                            <a:latin typeface="Cambria Math" panose="02040503050406030204" pitchFamily="18" charset="0"/>
                          </a:rPr>
                          <m:t>2</m:t>
                        </m:r>
                      </m:sup>
                    </m:sSubSup>
                  </m:oMath>
                </a14:m>
                <a:br>
                  <a:rPr lang="ar-AE" sz="900" b="0" i="0" dirty="0">
                    <a:solidFill>
                      <a:schemeClr val="tx1"/>
                    </a:solidFill>
                    <a:effectLst/>
                    <a:latin typeface="Segoe WPC"/>
                  </a:rPr>
                </a:b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a:t>
                </a:r>
                <a:r>
                  <a:rPr lang="es-PE" sz="900" b="0" i="0" dirty="0" err="1">
                    <a:solidFill>
                      <a:schemeClr val="tx1"/>
                    </a:solidFill>
                    <a:effectLst/>
                    <a:latin typeface="Segoe WPC"/>
                  </a:rPr>
                  <a:t>explains</a:t>
                </a:r>
                <a:r>
                  <a:rPr lang="es-PE" sz="900" b="0" i="0" dirty="0">
                    <a:solidFill>
                      <a:schemeClr val="tx1"/>
                    </a:solidFill>
                    <a:effectLst/>
                    <a:latin typeface="Segoe WPC"/>
                  </a:rPr>
                  <a:t> </a:t>
                </a:r>
                <a:r>
                  <a:rPr lang="es-PE" sz="900" b="0" i="0" dirty="0" err="1">
                    <a:solidFill>
                      <a:schemeClr val="tx1"/>
                    </a:solidFill>
                    <a:effectLst/>
                    <a:latin typeface="Segoe WPC"/>
                  </a:rPr>
                  <a:t>why</a:t>
                </a:r>
                <a:r>
                  <a:rPr lang="es-PE" sz="900" b="0" i="0" dirty="0">
                    <a:solidFill>
                      <a:schemeClr val="tx1"/>
                    </a:solidFill>
                    <a:effectLst/>
                    <a:latin typeface="Segoe WPC"/>
                  </a:rPr>
                  <a:t> </a:t>
                </a:r>
                <a:r>
                  <a:rPr lang="es-PE" sz="900" b="0" i="0" dirty="0" err="1">
                    <a:solidFill>
                      <a:schemeClr val="tx1"/>
                    </a:solidFill>
                    <a:effectLst/>
                    <a:latin typeface="Segoe WPC"/>
                  </a:rPr>
                  <a:t>diversification</a:t>
                </a:r>
                <a:r>
                  <a:rPr lang="es-PE" sz="900" b="0" i="0" dirty="0">
                    <a:solidFill>
                      <a:schemeClr val="tx1"/>
                    </a:solidFill>
                    <a:effectLst/>
                    <a:latin typeface="Segoe WPC"/>
                  </a:rPr>
                  <a:t> </a:t>
                </a:r>
                <a:r>
                  <a:rPr lang="es-PE" sz="900" b="0" i="0" dirty="0" err="1">
                    <a:solidFill>
                      <a:schemeClr val="tx1"/>
                    </a:solidFill>
                    <a:effectLst/>
                    <a:latin typeface="Segoe WPC"/>
                  </a:rPr>
                  <a:t>works</a:t>
                </a:r>
                <a:r>
                  <a:rPr lang="es-PE" sz="900" b="0" i="0" dirty="0">
                    <a:solidFill>
                      <a:schemeClr val="tx1"/>
                    </a:solidFill>
                    <a:effectLst/>
                    <a:latin typeface="Segoe WPC"/>
                  </a:rPr>
                  <a:t> and </a:t>
                </a:r>
                <a:r>
                  <a:rPr lang="es-PE" sz="900" b="0" i="0" dirty="0" err="1">
                    <a:solidFill>
                      <a:schemeClr val="tx1"/>
                    </a:solidFill>
                    <a:effectLst/>
                    <a:latin typeface="Segoe WPC"/>
                  </a:rPr>
                  <a:t>why</a:t>
                </a:r>
                <a:r>
                  <a:rPr lang="es-PE" sz="900" b="0" i="0" dirty="0">
                    <a:solidFill>
                      <a:schemeClr val="tx1"/>
                    </a:solidFill>
                    <a:effectLst/>
                    <a:latin typeface="Segoe WPC"/>
                  </a:rPr>
                  <a:t> CAPM </a:t>
                </a:r>
                <a:r>
                  <a:rPr lang="es-PE" sz="900" b="0" i="0" dirty="0" err="1">
                    <a:solidFill>
                      <a:schemeClr val="tx1"/>
                    </a:solidFill>
                    <a:effectLst/>
                    <a:latin typeface="Segoe WPC"/>
                  </a:rPr>
                  <a:t>focuses</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systematic</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Limitation</a:t>
                </a:r>
                <a:r>
                  <a:rPr lang="es-PE" sz="900" b="1" i="0" dirty="0">
                    <a:solidFill>
                      <a:schemeClr val="tx1"/>
                    </a:solidFill>
                    <a:effectLst/>
                    <a:latin typeface="Segoe WPC"/>
                  </a:rPr>
                  <a:t>:</a:t>
                </a:r>
                <a:r>
                  <a:rPr lang="es-PE" sz="900" b="0" i="0" dirty="0">
                    <a:solidFill>
                      <a:schemeClr val="tx1"/>
                    </a:solidFill>
                    <a:effectLst/>
                    <a:latin typeface="Segoe WPC"/>
                  </a:rPr>
                  <a:t> In </a:t>
                </a:r>
                <a:r>
                  <a:rPr lang="es-PE" sz="900" b="0" i="0" dirty="0" err="1">
                    <a:solidFill>
                      <a:schemeClr val="tx1"/>
                    </a:solidFill>
                    <a:effectLst/>
                    <a:latin typeface="Segoe WPC"/>
                  </a:rPr>
                  <a:t>practice</a:t>
                </a:r>
                <a:r>
                  <a:rPr lang="es-PE" sz="900" b="0" i="0" dirty="0">
                    <a:solidFill>
                      <a:schemeClr val="tx1"/>
                    </a:solidFill>
                    <a:effectLst/>
                    <a:latin typeface="Segoe WPC"/>
                  </a:rPr>
                  <a:t>, </a:t>
                </a:r>
                <a:r>
                  <a:rPr lang="es-PE" sz="900" b="0" i="0" dirty="0" err="1">
                    <a:solidFill>
                      <a:schemeClr val="tx1"/>
                    </a:solidFill>
                    <a:effectLst/>
                    <a:latin typeface="Segoe WPC"/>
                  </a:rPr>
                  <a:t>idiosyncratic</a:t>
                </a:r>
                <a:r>
                  <a:rPr lang="es-PE" sz="900" b="0" i="0" dirty="0">
                    <a:solidFill>
                      <a:schemeClr val="tx1"/>
                    </a:solidFill>
                    <a:effectLst/>
                    <a:latin typeface="Segoe WPC"/>
                  </a:rPr>
                  <a:t> shocks can spread </a:t>
                </a:r>
                <a:r>
                  <a:rPr lang="es-PE" sz="900" b="0" i="0" dirty="0" err="1">
                    <a:solidFill>
                      <a:schemeClr val="tx1"/>
                    </a:solidFill>
                    <a:effectLst/>
                    <a:latin typeface="Segoe WPC"/>
                  </a:rPr>
                  <a:t>through</a:t>
                </a:r>
                <a:r>
                  <a:rPr lang="es-PE" sz="900" b="0" i="0" dirty="0">
                    <a:solidFill>
                      <a:schemeClr val="tx1"/>
                    </a:solidFill>
                    <a:effectLst/>
                    <a:latin typeface="Segoe WPC"/>
                  </a:rPr>
                  <a:t> </a:t>
                </a:r>
                <a:r>
                  <a:rPr lang="es-PE" sz="900" b="0" i="0" dirty="0" err="1">
                    <a:solidFill>
                      <a:schemeClr val="tx1"/>
                    </a:solidFill>
                    <a:effectLst/>
                    <a:latin typeface="Segoe WPC"/>
                  </a:rPr>
                  <a:t>contagion</a:t>
                </a:r>
                <a:r>
                  <a:rPr lang="es-PE" sz="900" b="0" i="0" dirty="0">
                    <a:solidFill>
                      <a:schemeClr val="tx1"/>
                    </a:solidFill>
                    <a:effectLst/>
                    <a:latin typeface="Segoe WPC"/>
                  </a:rPr>
                  <a:t>, </a:t>
                </a:r>
                <a:r>
                  <a:rPr lang="es-PE" sz="900" b="0" i="0" dirty="0" err="1">
                    <a:solidFill>
                      <a:schemeClr val="tx1"/>
                    </a:solidFill>
                    <a:effectLst/>
                    <a:latin typeface="Segoe WPC"/>
                  </a:rPr>
                  <a:t>liquidity</a:t>
                </a:r>
                <a:r>
                  <a:rPr lang="es-PE" sz="900" b="0" i="0" dirty="0">
                    <a:solidFill>
                      <a:schemeClr val="tx1"/>
                    </a:solidFill>
                    <a:effectLst/>
                    <a:latin typeface="Segoe WPC"/>
                  </a:rPr>
                  <a:t> stress,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regime</a:t>
                </a:r>
                <a:r>
                  <a:rPr lang="es-PE" sz="900" b="0" i="0" dirty="0">
                    <a:solidFill>
                      <a:schemeClr val="tx1"/>
                    </a:solidFill>
                    <a:effectLst/>
                    <a:latin typeface="Segoe WPC"/>
                  </a:rPr>
                  <a:t> </a:t>
                </a:r>
                <a:r>
                  <a:rPr lang="es-PE" sz="900" b="0" i="0" dirty="0" err="1">
                    <a:solidFill>
                      <a:schemeClr val="tx1"/>
                    </a:solidFill>
                    <a:effectLst/>
                    <a:latin typeface="Segoe WPC"/>
                  </a:rPr>
                  <a:t>shifts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8. Capital </a:t>
                </a:r>
                <a:r>
                  <a:rPr lang="es-PE" sz="900" b="1" i="0" dirty="0" err="1">
                    <a:solidFill>
                      <a:schemeClr val="tx1"/>
                    </a:solidFill>
                    <a:effectLst/>
                    <a:latin typeface="Segoe WPC"/>
                  </a:rPr>
                  <a:t>Market</a:t>
                </a:r>
                <a:r>
                  <a:rPr lang="es-PE" sz="900" b="1" i="0" dirty="0">
                    <a:solidFill>
                      <a:schemeClr val="tx1"/>
                    </a:solidFill>
                    <a:effectLst/>
                    <a:latin typeface="Segoe WPC"/>
                  </a:rPr>
                  <a:t> Line (CML)</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CML shows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best</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level</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total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 combine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-free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portfolio.</a:t>
                </a:r>
                <a:br>
                  <a:rPr lang="es-PE" sz="900" b="0" i="0" dirty="0">
                    <a:solidFill>
                      <a:schemeClr val="tx1"/>
                    </a:solidFill>
                    <a:effectLst/>
                    <a:latin typeface="Segoe WPC"/>
                  </a:rPr>
                </a:b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Once a </a:t>
                </a:r>
                <a:r>
                  <a:rPr lang="es-PE" sz="900" b="0" i="0" dirty="0" err="1">
                    <a:solidFill>
                      <a:schemeClr val="tx1"/>
                    </a:solidFill>
                    <a:effectLst/>
                    <a:latin typeface="Segoe WPC"/>
                  </a:rPr>
                  <a:t>risk</a:t>
                </a:r>
                <a:r>
                  <a:rPr lang="es-PE" sz="900" b="0" i="0" dirty="0">
                    <a:solidFill>
                      <a:schemeClr val="tx1"/>
                    </a:solidFill>
                    <a:effectLst/>
                    <a:latin typeface="Segoe WPC"/>
                  </a:rPr>
                  <a:t>-free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exists</a:t>
                </a:r>
                <a:r>
                  <a:rPr lang="es-PE" sz="900" b="0" i="0" dirty="0">
                    <a:solidFill>
                      <a:schemeClr val="tx1"/>
                    </a:solidFill>
                    <a:effectLst/>
                    <a:latin typeface="Segoe WPC"/>
                  </a:rPr>
                  <a:t>, </a:t>
                </a:r>
                <a:r>
                  <a:rPr lang="es-PE" sz="900" b="0" i="0" dirty="0" err="1">
                    <a:solidFill>
                      <a:schemeClr val="tx1"/>
                    </a:solidFill>
                    <a:effectLst/>
                    <a:latin typeface="Segoe WPC"/>
                  </a:rPr>
                  <a:t>efficient</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 </a:t>
                </a:r>
                <a:r>
                  <a:rPr lang="es-PE" sz="900" b="0" i="0" dirty="0" err="1">
                    <a:solidFill>
                      <a:schemeClr val="tx1"/>
                    </a:solidFill>
                    <a:effectLst/>
                    <a:latin typeface="Segoe WPC"/>
                  </a:rPr>
                  <a:t>choose</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-free </a:t>
                </a:r>
                <a:r>
                  <a:rPr lang="es-PE" sz="900" b="0" i="0" dirty="0" err="1">
                    <a:solidFill>
                      <a:schemeClr val="tx1"/>
                    </a:solidFill>
                    <a:effectLst/>
                    <a:latin typeface="Segoe WPC"/>
                  </a:rPr>
                  <a:t>asset</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portfolio.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𝑃</m:t>
                            </m:r>
                          </m:sub>
                        </m:sSub>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𝑓</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𝐸</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𝑀</m:t>
                                </m:r>
                              </m:sub>
                            </m:sSub>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𝑓</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𝑀</m:t>
                            </m:r>
                          </m:sub>
                        </m:sSub>
                      </m:den>
                    </m:f>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𝑃</m:t>
                        </m:r>
                      </m:sub>
                    </m:sSub>
                  </m:oMath>
                </a14:m>
                <a:br>
                  <a:rPr lang="ar-AE" sz="900" b="0" i="0" dirty="0">
                    <a:solidFill>
                      <a:schemeClr val="tx1"/>
                    </a:solidFill>
                    <a:effectLst/>
                    <a:latin typeface="Segoe WPC"/>
                  </a:rPr>
                </a:b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CML describes </a:t>
                </a:r>
                <a:r>
                  <a:rPr lang="es-PE" sz="900" b="0" i="0" dirty="0" err="1">
                    <a:solidFill>
                      <a:schemeClr val="tx1"/>
                    </a:solidFill>
                    <a:effectLst/>
                    <a:latin typeface="Segoe WPC"/>
                  </a:rPr>
                  <a:t>efficient</a:t>
                </a:r>
                <a:r>
                  <a:rPr lang="es-PE" sz="900" b="0" i="0" dirty="0">
                    <a:solidFill>
                      <a:schemeClr val="tx1"/>
                    </a:solidFill>
                    <a:effectLst/>
                    <a:latin typeface="Segoe WPC"/>
                  </a:rPr>
                  <a:t> portfolio </a:t>
                </a:r>
                <a:r>
                  <a:rPr lang="es-PE" sz="900" b="0" i="0" dirty="0" err="1">
                    <a:solidFill>
                      <a:schemeClr val="tx1"/>
                    </a:solidFill>
                    <a:effectLst/>
                    <a:latin typeface="Segoe WPC"/>
                  </a:rPr>
                  <a:t>choice</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best</a:t>
                </a:r>
                <a:r>
                  <a:rPr lang="es-PE" sz="900" b="0" i="0" dirty="0">
                    <a:solidFill>
                      <a:schemeClr val="tx1"/>
                    </a:solidFill>
                    <a:effectLst/>
                    <a:latin typeface="Segoe WPC"/>
                  </a:rPr>
                  <a:t> </a:t>
                </a:r>
                <a:r>
                  <a:rPr lang="es-PE" sz="900" b="0" i="0" dirty="0" err="1">
                    <a:solidFill>
                      <a:schemeClr val="tx1"/>
                    </a:solidFill>
                    <a:effectLst/>
                    <a:latin typeface="Segoe WPC"/>
                  </a:rPr>
                  <a:t>risk-return</a:t>
                </a:r>
                <a:r>
                  <a:rPr lang="es-PE" sz="900" b="0" i="0" dirty="0">
                    <a:solidFill>
                      <a:schemeClr val="tx1"/>
                    </a:solidFill>
                    <a:effectLst/>
                    <a:latin typeface="Segoe WPC"/>
                  </a:rPr>
                  <a:t> </a:t>
                </a:r>
                <a:r>
                  <a:rPr lang="es-PE" sz="900" b="0" i="0" dirty="0" err="1">
                    <a:solidFill>
                      <a:schemeClr val="tx1"/>
                    </a:solidFill>
                    <a:effectLst/>
                    <a:latin typeface="Segoe WPC"/>
                  </a:rPr>
                  <a:t>combinations</a:t>
                </a:r>
                <a:r>
                  <a:rPr lang="es-PE" sz="900" b="0" i="0" dirty="0">
                    <a:solidFill>
                      <a:schemeClr val="tx1"/>
                    </a:solidFill>
                    <a:effectLst/>
                    <a:latin typeface="Segoe WPC"/>
                  </a:rPr>
                  <a:t> </a:t>
                </a:r>
                <a:r>
                  <a:rPr lang="es-PE" sz="900" b="0" i="0" dirty="0" err="1">
                    <a:solidFill>
                      <a:schemeClr val="tx1"/>
                    </a:solidFill>
                    <a:effectLst/>
                    <a:latin typeface="Segoe WPC"/>
                  </a:rPr>
                  <a:t>available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Limitation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applies</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efficient</a:t>
                </a:r>
                <a:r>
                  <a:rPr lang="es-PE" sz="900" b="0" i="0" dirty="0">
                    <a:solidFill>
                      <a:schemeClr val="tx1"/>
                    </a:solidFill>
                    <a:effectLst/>
                    <a:latin typeface="Segoe WPC"/>
                  </a:rPr>
                  <a:t> portfolios,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individual </a:t>
                </a:r>
                <a:r>
                  <a:rPr lang="es-PE" sz="900" b="0" i="0" dirty="0" err="1">
                    <a:solidFill>
                      <a:schemeClr val="tx1"/>
                    </a:solidFill>
                    <a:effectLst/>
                    <a:latin typeface="Segoe WPC"/>
                  </a:rPr>
                  <a:t>securities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9. Security </a:t>
                </a:r>
                <a:r>
                  <a:rPr lang="es-PE" sz="900" b="1" i="0" dirty="0" err="1">
                    <a:solidFill>
                      <a:schemeClr val="tx1"/>
                    </a:solidFill>
                    <a:effectLst/>
                    <a:latin typeface="Segoe WPC"/>
                  </a:rPr>
                  <a:t>Market</a:t>
                </a:r>
                <a:r>
                  <a:rPr lang="es-PE" sz="900" b="1" i="0" dirty="0">
                    <a:solidFill>
                      <a:schemeClr val="tx1"/>
                    </a:solidFill>
                    <a:effectLst/>
                    <a:latin typeface="Segoe WPC"/>
                  </a:rPr>
                  <a:t> Line (SML)</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SML shows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t>
                </a:r>
                <a:r>
                  <a:rPr lang="es-PE" sz="900" b="0" i="0" dirty="0" err="1">
                    <a:solidFill>
                      <a:schemeClr val="tx1"/>
                    </a:solidFill>
                    <a:effectLst/>
                    <a:latin typeface="Segoe WPC"/>
                  </a:rPr>
                  <a:t>required</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 </a:t>
                </a:r>
                <a:r>
                  <a:rPr lang="es-PE" sz="900" b="0" i="0" dirty="0" err="1">
                    <a:solidFill>
                      <a:schemeClr val="tx1"/>
                    </a:solidFill>
                    <a:effectLst/>
                    <a:latin typeface="Segoe WPC"/>
                  </a:rPr>
                  <a:t>given</a:t>
                </a:r>
                <a:r>
                  <a:rPr lang="es-PE" sz="900" b="0" i="0" dirty="0">
                    <a:solidFill>
                      <a:schemeClr val="tx1"/>
                    </a:solidFill>
                    <a:effectLst/>
                    <a:latin typeface="Segoe WPC"/>
                  </a:rPr>
                  <a:t> </a:t>
                </a:r>
                <a:r>
                  <a:rPr lang="es-PE" sz="900" b="0" i="0" dirty="0" err="1">
                    <a:solidFill>
                      <a:schemeClr val="tx1"/>
                    </a:solidFill>
                    <a:effectLst/>
                    <a:latin typeface="Segoe WPC"/>
                  </a:rPr>
                  <a:t>level</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systematic</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higher</a:t>
                </a:r>
                <a:r>
                  <a:rPr lang="es-PE" sz="900" b="0" i="0" dirty="0">
                    <a:solidFill>
                      <a:schemeClr val="tx1"/>
                    </a:solidFill>
                    <a:effectLst/>
                    <a:latin typeface="Segoe WPC"/>
                  </a:rPr>
                  <a:t> beta </a:t>
                </a:r>
                <a:r>
                  <a:rPr lang="es-PE" sz="900" b="0" i="0" dirty="0" err="1">
                    <a:solidFill>
                      <a:schemeClr val="tx1"/>
                    </a:solidFill>
                    <a:effectLst/>
                    <a:latin typeface="Segoe WPC"/>
                  </a:rPr>
                  <a:t>should</a:t>
                </a:r>
                <a:r>
                  <a:rPr lang="es-PE" sz="900" b="0" i="0" dirty="0">
                    <a:solidFill>
                      <a:schemeClr val="tx1"/>
                    </a:solidFill>
                    <a:effectLst/>
                    <a:latin typeface="Segoe WPC"/>
                  </a:rPr>
                  <a:t> </a:t>
                </a:r>
                <a:r>
                  <a:rPr lang="es-PE" sz="900" b="0" i="0" dirty="0" err="1">
                    <a:solidFill>
                      <a:schemeClr val="tx1"/>
                    </a:solidFill>
                    <a:effectLst/>
                    <a:latin typeface="Segoe WPC"/>
                  </a:rPr>
                  <a:t>offer</a:t>
                </a:r>
                <a:r>
                  <a:rPr lang="es-PE" sz="900" b="0" i="0" dirty="0">
                    <a:solidFill>
                      <a:schemeClr val="tx1"/>
                    </a:solidFill>
                    <a:effectLst/>
                    <a:latin typeface="Segoe WPC"/>
                  </a:rPr>
                  <a:t>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𝑖</m:t>
                            </m:r>
                          </m:sub>
                        </m:sSub>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𝑓</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1">
                            <a:solidFill>
                              <a:schemeClr val="tx1"/>
                            </a:solidFill>
                            <a:latin typeface="Cambria Math" panose="02040503050406030204" pitchFamily="18" charset="0"/>
                          </a:rPr>
                          <m:t>𝑖</m:t>
                        </m:r>
                      </m:sub>
                    </m:sSub>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𝐸</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𝑀</m:t>
                                </m:r>
                              </m:sub>
                            </m:sSub>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𝑓</m:t>
                            </m:r>
                          </m:sub>
                        </m:sSub>
                      </m:e>
                    </m:d>
                  </m:oMath>
                </a14:m>
                <a:br>
                  <a:rPr lang="ar-AE" sz="900" b="0" i="0" dirty="0">
                    <a:solidFill>
                      <a:schemeClr val="tx1"/>
                    </a:solidFill>
                    <a:effectLst/>
                    <a:latin typeface="Segoe WPC"/>
                  </a:rPr>
                </a:b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SML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assess</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underpriced</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overpriced</a:t>
                </a:r>
                <a:r>
                  <a:rPr lang="es-PE" sz="900" b="0" i="0" dirty="0">
                    <a:solidFill>
                      <a:schemeClr val="tx1"/>
                    </a:solidFill>
                    <a:effectLst/>
                    <a:latin typeface="Segoe WPC"/>
                  </a:rPr>
                  <a:t> relative </a:t>
                </a:r>
                <a:r>
                  <a:rPr lang="es-PE" sz="900" b="0" i="0" dirty="0" err="1">
                    <a:solidFill>
                      <a:schemeClr val="tx1"/>
                    </a:solidFill>
                    <a:effectLst/>
                    <a:latin typeface="Segoe WPC"/>
                  </a:rPr>
                  <a:t>to</a:t>
                </a:r>
                <a:r>
                  <a:rPr lang="es-PE" sz="900" b="0" i="0" dirty="0">
                    <a:solidFill>
                      <a:schemeClr val="tx1"/>
                    </a:solidFill>
                    <a:effectLst/>
                    <a:latin typeface="Segoe WPC"/>
                  </a:rPr>
                  <a:t> CAPM.</a:t>
                </a:r>
                <a:br>
                  <a:rPr lang="es-PE" sz="900" b="0" i="0" dirty="0">
                    <a:solidFill>
                      <a:schemeClr val="tx1"/>
                    </a:solidFill>
                    <a:effectLst/>
                    <a:latin typeface="Segoe WPC"/>
                  </a:rPr>
                </a:br>
                <a:r>
                  <a:rPr lang="es-PE" sz="900" b="1" i="0" dirty="0" err="1">
                    <a:solidFill>
                      <a:schemeClr val="tx1"/>
                    </a:solidFill>
                    <a:effectLst/>
                    <a:latin typeface="Segoe WPC"/>
                  </a:rPr>
                  <a:t>Limitation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CAPM </a:t>
                </a:r>
                <a:r>
                  <a:rPr lang="es-PE" sz="900" b="0" i="0" dirty="0" err="1">
                    <a:solidFill>
                      <a:schemeClr val="tx1"/>
                    </a:solidFill>
                    <a:effectLst/>
                    <a:latin typeface="Segoe WPC"/>
                  </a:rPr>
                  <a:t>assumptions</a:t>
                </a:r>
                <a:r>
                  <a:rPr lang="es-PE" sz="900" b="0" i="0" dirty="0">
                    <a:solidFill>
                      <a:schemeClr val="tx1"/>
                    </a:solidFill>
                    <a:effectLst/>
                    <a:latin typeface="Segoe WPC"/>
                  </a:rPr>
                  <a:t> </a:t>
                </a:r>
                <a:r>
                  <a:rPr lang="es-PE" sz="900" b="0" i="0" dirty="0" err="1">
                    <a:solidFill>
                      <a:schemeClr val="tx1"/>
                    </a:solidFill>
                    <a:effectLst/>
                    <a:latin typeface="Segoe WPC"/>
                  </a:rPr>
                  <a:t>fail</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SML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fit</a:t>
                </a:r>
                <a:r>
                  <a:rPr lang="es-PE" sz="900" b="0" i="0" dirty="0">
                    <a:solidFill>
                      <a:schemeClr val="tx1"/>
                    </a:solidFill>
                    <a:effectLst/>
                    <a:latin typeface="Segoe WPC"/>
                  </a:rPr>
                  <a:t> actual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pricing</a:t>
                </a:r>
                <a:r>
                  <a:rPr lang="es-PE" sz="900" b="0" i="0" dirty="0">
                    <a:solidFill>
                      <a:schemeClr val="tx1"/>
                    </a:solidFill>
                    <a:effectLst/>
                    <a:latin typeface="Segoe WPC"/>
                  </a:rPr>
                  <a:t> </a:t>
                </a:r>
                <a:r>
                  <a:rPr lang="es-PE" sz="900" b="0" i="0" dirty="0" err="1">
                    <a:solidFill>
                      <a:schemeClr val="tx1"/>
                    </a:solidFill>
                    <a:effectLst/>
                    <a:latin typeface="Segoe WPC"/>
                  </a:rPr>
                  <a:t>well</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10. Performance </a:t>
                </a:r>
                <a:r>
                  <a:rPr lang="es-PE" sz="900" b="1" i="0" dirty="0" err="1">
                    <a:solidFill>
                      <a:schemeClr val="tx1"/>
                    </a:solidFill>
                    <a:effectLst/>
                    <a:latin typeface="Segoe WPC"/>
                  </a:rPr>
                  <a:t>Measures</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Portfolio performance </a:t>
                </a:r>
                <a:r>
                  <a:rPr lang="es-PE" sz="900" b="0" i="0" dirty="0" err="1">
                    <a:solidFill>
                      <a:schemeClr val="tx1"/>
                    </a:solidFill>
                    <a:effectLst/>
                    <a:latin typeface="Segoe WPC"/>
                  </a:rPr>
                  <a:t>should</a:t>
                </a:r>
                <a:r>
                  <a:rPr lang="es-PE" sz="900" b="0" i="0" dirty="0">
                    <a:solidFill>
                      <a:schemeClr val="tx1"/>
                    </a:solidFill>
                    <a:effectLst/>
                    <a:latin typeface="Segoe WPC"/>
                  </a:rPr>
                  <a:t> be </a:t>
                </a:r>
                <a:r>
                  <a:rPr lang="es-PE" sz="900" b="0" i="0" dirty="0" err="1">
                    <a:solidFill>
                      <a:schemeClr val="tx1"/>
                    </a:solidFill>
                    <a:effectLst/>
                    <a:latin typeface="Segoe WPC"/>
                  </a:rPr>
                  <a:t>judged</a:t>
                </a:r>
                <a:r>
                  <a:rPr lang="es-PE" sz="900" b="0" i="0" dirty="0">
                    <a:solidFill>
                      <a:schemeClr val="tx1"/>
                    </a:solidFill>
                    <a:effectLst/>
                    <a:latin typeface="Segoe WPC"/>
                  </a:rPr>
                  <a:t> relative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raw </a:t>
                </a:r>
                <a:r>
                  <a:rPr lang="es-PE" sz="900" b="0" i="0" dirty="0" err="1">
                    <a:solidFill>
                      <a:schemeClr val="tx1"/>
                    </a:solidFill>
                    <a:effectLst/>
                    <a:latin typeface="Segoe WPC"/>
                  </a:rPr>
                  <a:t>return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impressive</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justifies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level</a:t>
                </a:r>
                <a:r>
                  <a:rPr lang="es-PE" sz="900" b="0" i="0" dirty="0">
                    <a:solidFill>
                      <a:schemeClr val="tx1"/>
                    </a:solidFill>
                    <a:effectLst/>
                    <a:latin typeface="Segoe WPC"/>
                  </a:rPr>
                  <a:t> and </a:t>
                </a:r>
                <a:r>
                  <a:rPr lang="es-PE" sz="900" b="0" i="0" dirty="0" err="1">
                    <a:solidFill>
                      <a:schemeClr val="tx1"/>
                    </a:solidFill>
                    <a:effectLst/>
                    <a:latin typeface="Segoe WPC"/>
                  </a:rPr>
                  <a:t>type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taken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p>
              <a:p>
                <a:pPr algn="l">
                  <a:spcAft>
                    <a:spcPts val="1200"/>
                  </a:spcAft>
                  <a:buNone/>
                </a:pPr>
                <a:r>
                  <a:rPr lang="es-PE" sz="900" b="0" i="0" dirty="0">
                    <a:solidFill>
                      <a:schemeClr val="tx1"/>
                    </a:solidFill>
                    <a:effectLst/>
                    <a:latin typeface="Segoe WPC"/>
                  </a:rPr>
                  <a:t>Sharpe: </a:t>
                </a:r>
                <a14:m>
                  <m:oMath xmlns:m="http://schemas.openxmlformats.org/officeDocument/2006/math">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𝐸</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𝑖</m:t>
                                </m:r>
                              </m:sub>
                            </m:sSub>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𝑓</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𝑖</m:t>
                            </m:r>
                          </m:sub>
                        </m:sSub>
                      </m:den>
                    </m:f>
                  </m:oMath>
                </a14:m>
                <a:br>
                  <a:rPr lang="ar-AE" sz="900" b="0" i="0" dirty="0">
                    <a:solidFill>
                      <a:schemeClr val="tx1"/>
                    </a:solidFill>
                    <a:effectLst/>
                    <a:latin typeface="Segoe WPC"/>
                  </a:rPr>
                </a:br>
                <a:r>
                  <a:rPr lang="es-PE" sz="900" b="0" i="0" dirty="0" err="1">
                    <a:solidFill>
                      <a:schemeClr val="tx1"/>
                    </a:solidFill>
                    <a:effectLst/>
                    <a:latin typeface="Segoe WPC"/>
                  </a:rPr>
                  <a:t>Treynor</a:t>
                </a:r>
                <a:r>
                  <a:rPr lang="es-PE" sz="900" b="0" i="0" dirty="0">
                    <a:solidFill>
                      <a:schemeClr val="tx1"/>
                    </a:solidFill>
                    <a:effectLst/>
                    <a:latin typeface="Segoe WPC"/>
                  </a:rPr>
                  <a:t>: </a:t>
                </a:r>
                <a14:m>
                  <m:oMath xmlns:m="http://schemas.openxmlformats.org/officeDocument/2006/math">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𝐸</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𝑖</m:t>
                                </m:r>
                              </m:sub>
                            </m:sSub>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𝑓</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1">
                                <a:solidFill>
                                  <a:schemeClr val="tx1"/>
                                </a:solidFill>
                                <a:latin typeface="Cambria Math" panose="02040503050406030204" pitchFamily="18" charset="0"/>
                              </a:rPr>
                              <m:t>𝑖</m:t>
                            </m:r>
                          </m:sub>
                        </m:sSub>
                      </m:den>
                    </m:f>
                  </m:oMath>
                </a14:m>
                <a:br>
                  <a:rPr lang="ar-AE" sz="900" b="0" i="0" dirty="0">
                    <a:solidFill>
                      <a:schemeClr val="tx1"/>
                    </a:solidFill>
                    <a:effectLst/>
                    <a:latin typeface="Segoe WPC"/>
                  </a:rPr>
                </a:br>
                <a:r>
                  <a:rPr lang="es-PE" sz="900" b="0" i="0" dirty="0" err="1">
                    <a:solidFill>
                      <a:schemeClr val="tx1"/>
                    </a:solidFill>
                    <a:effectLst/>
                    <a:latin typeface="Segoe WPC"/>
                  </a:rPr>
                  <a:t>Jensen’s</a:t>
                </a:r>
                <a:r>
                  <a:rPr lang="es-PE" sz="900" b="0" i="0" dirty="0">
                    <a:solidFill>
                      <a:schemeClr val="tx1"/>
                    </a:solidFill>
                    <a:effectLst/>
                    <a:latin typeface="Segoe WPC"/>
                  </a:rPr>
                  <a:t> </a:t>
                </a:r>
                <a:r>
                  <a:rPr lang="es-PE" sz="900" b="0" i="0" dirty="0" err="1">
                    <a:solidFill>
                      <a:schemeClr val="tx1"/>
                    </a:solidFill>
                    <a:effectLst/>
                    <a:latin typeface="Segoe WPC"/>
                  </a:rPr>
                  <a:t>alpha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𝛼</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d>
                      <m:dPr>
                        <m:begChr m:val="["/>
                        <m:end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𝑓</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1">
                                <a:solidFill>
                                  <a:schemeClr val="tx1"/>
                                </a:solidFill>
                                <a:latin typeface="Cambria Math" panose="02040503050406030204" pitchFamily="18" charset="0"/>
                              </a:rPr>
                              <m:t>𝑖</m:t>
                            </m:r>
                          </m:sub>
                        </m:sSub>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𝑀</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𝑓</m:t>
                                </m:r>
                              </m:sub>
                            </m:sSub>
                          </m:e>
                        </m:d>
                      </m:e>
                    </m:d>
                  </m:oMath>
                </a14:m>
                <a:br>
                  <a:rPr lang="ar-AE" sz="900" b="0" i="0" dirty="0">
                    <a:solidFill>
                      <a:schemeClr val="tx1"/>
                    </a:solidFill>
                    <a:effectLst/>
                    <a:latin typeface="Segoe WPC"/>
                  </a:rPr>
                </a:b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help</a:t>
                </a:r>
                <a:r>
                  <a:rPr lang="es-PE" sz="900" b="0" i="0" dirty="0">
                    <a:solidFill>
                      <a:schemeClr val="tx1"/>
                    </a:solidFill>
                    <a:effectLst/>
                    <a:latin typeface="Segoe WPC"/>
                  </a:rPr>
                  <a:t> compare portfolios, managers, and </a:t>
                </a:r>
                <a:r>
                  <a:rPr lang="es-PE" sz="900" b="0" i="0" dirty="0" err="1">
                    <a:solidFill>
                      <a:schemeClr val="tx1"/>
                    </a:solidFill>
                    <a:effectLst/>
                    <a:latin typeface="Segoe WPC"/>
                  </a:rPr>
                  <a:t>strategies</a:t>
                </a:r>
                <a:r>
                  <a:rPr lang="es-PE" sz="900" b="0" i="0" dirty="0">
                    <a:solidFill>
                      <a:schemeClr val="tx1"/>
                    </a:solidFill>
                    <a:effectLst/>
                    <a:latin typeface="Segoe WPC"/>
                  </a:rPr>
                  <a:t> </a:t>
                </a:r>
                <a:r>
                  <a:rPr lang="es-PE" sz="900" b="0" i="0" dirty="0" err="1">
                    <a:solidFill>
                      <a:schemeClr val="tx1"/>
                    </a:solidFill>
                    <a:effectLst/>
                    <a:latin typeface="Segoe WPC"/>
                  </a:rPr>
                  <a:t>under</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definitions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Limitation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metrics</a:t>
                </a:r>
                <a:r>
                  <a:rPr lang="es-PE" sz="900" b="0" i="0" dirty="0">
                    <a:solidFill>
                      <a:schemeClr val="tx1"/>
                    </a:solidFill>
                    <a:effectLst/>
                    <a:latin typeface="Segoe WPC"/>
                  </a:rPr>
                  <a:t> can </a:t>
                </a:r>
                <a:r>
                  <a:rPr lang="es-PE" sz="900" b="0" i="0" dirty="0" err="1">
                    <a:solidFill>
                      <a:schemeClr val="tx1"/>
                    </a:solidFill>
                    <a:effectLst/>
                    <a:latin typeface="Segoe WPC"/>
                  </a:rPr>
                  <a:t>rank</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portfolio </a:t>
                </a:r>
                <a:r>
                  <a:rPr lang="es-PE" sz="900" b="0" i="0" dirty="0" err="1">
                    <a:solidFill>
                      <a:schemeClr val="tx1"/>
                    </a:solidFill>
                    <a:effectLst/>
                    <a:latin typeface="Segoe WPC"/>
                  </a:rPr>
                  <a:t>differently</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use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a:t>
                </a:r>
              </a:p>
            </p:txBody>
          </p:sp>
        </mc:Choice>
        <mc:Fallback xmlns="">
          <p:sp>
            <p:nvSpPr>
              <p:cNvPr id="25" name="CuadroTexto 24">
                <a:extLst>
                  <a:ext uri="{FF2B5EF4-FFF2-40B4-BE49-F238E27FC236}">
                    <a16:creationId xmlns:a16="http://schemas.microsoft.com/office/drawing/2014/main" id="{C2B4CFE3-6659-90F6-6F3C-2B5704EB0D0D}"/>
                  </a:ext>
                </a:extLst>
              </p:cNvPr>
              <p:cNvSpPr txBox="1">
                <a:spLocks noRot="1" noChangeAspect="1" noMove="1" noResize="1" noEditPoints="1" noAdjustHandles="1" noChangeArrowheads="1" noChangeShapeType="1" noTextEdit="1"/>
              </p:cNvSpPr>
              <p:nvPr/>
            </p:nvSpPr>
            <p:spPr>
              <a:xfrm>
                <a:off x="5929313" y="762379"/>
                <a:ext cx="6103960" cy="5196102"/>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2745393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EC9581-C88E-4811-9967-38641945CDB3}"/>
              </a:ext>
            </a:extLst>
          </p:cNvPr>
          <p:cNvSpPr>
            <a:spLocks noGrp="1"/>
          </p:cNvSpPr>
          <p:nvPr>
            <p:ph type="title"/>
          </p:nvPr>
        </p:nvSpPr>
        <p:spPr>
          <a:xfrm>
            <a:off x="-2274" y="1"/>
            <a:ext cx="12194274" cy="381000"/>
          </a:xfrm>
        </p:spPr>
        <p:txBody>
          <a:bodyPr>
            <a:noAutofit/>
          </a:bodyPr>
          <a:lstStyle/>
          <a:p>
            <a:r>
              <a:rPr lang="es-PE" sz="2800" dirty="0" err="1"/>
              <a:t>Principles</a:t>
            </a:r>
            <a:r>
              <a:rPr lang="es-PE" sz="2800" dirty="0"/>
              <a:t> </a:t>
            </a:r>
            <a:r>
              <a:rPr lang="es-PE" sz="2800" dirty="0" err="1"/>
              <a:t>for</a:t>
            </a:r>
            <a:r>
              <a:rPr lang="es-PE" sz="2800" dirty="0"/>
              <a:t> </a:t>
            </a:r>
            <a:r>
              <a:rPr lang="es-PE" sz="2800" dirty="0" err="1"/>
              <a:t>EffectiveData</a:t>
            </a:r>
            <a:r>
              <a:rPr lang="es-PE" sz="2800" dirty="0"/>
              <a:t> </a:t>
            </a:r>
            <a:r>
              <a:rPr lang="es-PE" sz="2800" dirty="0" err="1"/>
              <a:t>Aggregation</a:t>
            </a:r>
            <a:r>
              <a:rPr lang="es-PE" sz="2800" dirty="0"/>
              <a:t> and </a:t>
            </a:r>
            <a:r>
              <a:rPr lang="es-PE" sz="2800" dirty="0" err="1"/>
              <a:t>Risk</a:t>
            </a:r>
            <a:r>
              <a:rPr lang="es-PE" sz="2800" dirty="0"/>
              <a:t> </a:t>
            </a:r>
            <a:r>
              <a:rPr lang="es-PE" sz="2800" dirty="0" err="1"/>
              <a:t>Reporting</a:t>
            </a:r>
            <a:endParaRPr lang="es-PE" sz="2800" dirty="0"/>
          </a:p>
        </p:txBody>
      </p:sp>
      <p:sp>
        <p:nvSpPr>
          <p:cNvPr id="5" name="CuadroTexto 4">
            <a:extLst>
              <a:ext uri="{FF2B5EF4-FFF2-40B4-BE49-F238E27FC236}">
                <a16:creationId xmlns:a16="http://schemas.microsoft.com/office/drawing/2014/main" id="{02AFE396-EE16-E035-EFE4-EE0729EE1A04}"/>
              </a:ext>
            </a:extLst>
          </p:cNvPr>
          <p:cNvSpPr txBox="1"/>
          <p:nvPr/>
        </p:nvSpPr>
        <p:spPr>
          <a:xfrm>
            <a:off x="0" y="298451"/>
            <a:ext cx="6540500" cy="6724918"/>
          </a:xfrm>
          <a:prstGeom prst="rect">
            <a:avLst/>
          </a:prstGeom>
          <a:noFill/>
        </p:spPr>
        <p:txBody>
          <a:bodyPr wrap="square">
            <a:spAutoFit/>
          </a:bodyPr>
          <a:lstStyle/>
          <a:p>
            <a:pPr algn="l">
              <a:spcAft>
                <a:spcPts val="600"/>
              </a:spcAft>
              <a:buNone/>
            </a:pPr>
            <a:r>
              <a:rPr lang="en-US" sz="900" b="1" i="0" dirty="0">
                <a:effectLst/>
                <a:latin typeface="Segoe WPC"/>
              </a:rPr>
              <a:t>1. Data as a Risk Asset</a:t>
            </a:r>
            <a:br>
              <a:rPr lang="en-US" sz="900" b="0" i="0" dirty="0">
                <a:effectLst/>
                <a:latin typeface="Segoe WPC"/>
              </a:rPr>
            </a:br>
            <a:r>
              <a:rPr lang="en-US" sz="900" b="1" i="0" dirty="0">
                <a:effectLst/>
                <a:latin typeface="Segoe WPC"/>
              </a:rPr>
              <a:t>Topic:</a:t>
            </a:r>
            <a:r>
              <a:rPr lang="en-US" sz="900" b="0" i="0" dirty="0">
                <a:effectLst/>
                <a:latin typeface="Segoe WPC"/>
              </a:rPr>
              <a:t> Role of data in risk management</a:t>
            </a:r>
            <a:br>
              <a:rPr lang="en-US" sz="900" b="0" i="0" dirty="0">
                <a:effectLst/>
                <a:latin typeface="Segoe WPC"/>
              </a:rPr>
            </a:br>
            <a:r>
              <a:rPr lang="en-US" sz="900" b="1" i="0" dirty="0">
                <a:effectLst/>
                <a:latin typeface="Segoe WPC"/>
              </a:rPr>
              <a:t>Core Idea:</a:t>
            </a:r>
            <a:r>
              <a:rPr lang="en-US" sz="900" b="0" i="0" dirty="0">
                <a:effectLst/>
                <a:latin typeface="Segoe WPC"/>
              </a:rPr>
              <a:t> Effective risk analysis depends on sufficient, high-quality internal and external data.</a:t>
            </a:r>
            <a:br>
              <a:rPr lang="en-US" sz="900" b="0" i="0" dirty="0">
                <a:effectLst/>
                <a:latin typeface="Segoe WPC"/>
              </a:rPr>
            </a:br>
            <a:r>
              <a:rPr lang="en-US" sz="900" b="1" i="0" dirty="0">
                <a:effectLst/>
                <a:latin typeface="Segoe WPC"/>
              </a:rPr>
              <a:t>Key Requirements:</a:t>
            </a:r>
            <a:r>
              <a:rPr lang="en-US" sz="900" b="0" i="0" dirty="0">
                <a:effectLst/>
                <a:latin typeface="Segoe WPC"/>
              </a:rPr>
              <a:t> Data must be organized, usable, and suitable for analytics, including ML/AI applications.</a:t>
            </a:r>
            <a:br>
              <a:rPr lang="en-US" sz="900" b="0" i="0" dirty="0">
                <a:effectLst/>
                <a:latin typeface="Segoe WPC"/>
              </a:rPr>
            </a:br>
            <a:r>
              <a:rPr lang="en-US" sz="900" b="1" i="0" dirty="0">
                <a:effectLst/>
                <a:latin typeface="Segoe WPC"/>
              </a:rPr>
              <a:t>Why It Matters:</a:t>
            </a:r>
            <a:r>
              <a:rPr lang="en-US" sz="900" b="0" i="0" dirty="0">
                <a:effectLst/>
                <a:latin typeface="Segoe WPC"/>
              </a:rPr>
              <a:t> Poor data quality creates model risk and weak risk decisions.</a:t>
            </a:r>
            <a:br>
              <a:rPr lang="en-US" sz="900" b="0" i="0" dirty="0">
                <a:effectLst/>
                <a:latin typeface="Segoe WPC"/>
              </a:rPr>
            </a:br>
            <a:r>
              <a:rPr lang="en-US" sz="900" b="1" i="0" dirty="0">
                <a:effectLst/>
                <a:latin typeface="Segoe WPC"/>
              </a:rPr>
              <a:t>Common Failure:</a:t>
            </a:r>
            <a:r>
              <a:rPr lang="en-US" sz="900" b="0" i="0" dirty="0">
                <a:effectLst/>
                <a:latin typeface="Segoe WPC"/>
              </a:rPr>
              <a:t> Fragmented, duplicated, outdated, or poorly stored data leads to “garbage in, garbage out.”</a:t>
            </a:r>
            <a:endParaRPr lang="en-US" sz="900" dirty="0"/>
          </a:p>
          <a:p>
            <a:pPr algn="l">
              <a:spcAft>
                <a:spcPts val="600"/>
              </a:spcAft>
              <a:buNone/>
            </a:pPr>
            <a:r>
              <a:rPr lang="en-US" sz="900" b="1" i="0" dirty="0">
                <a:effectLst/>
                <a:latin typeface="Segoe WPC"/>
              </a:rPr>
              <a:t>2. BCBS 239: Purpose and Scope</a:t>
            </a:r>
            <a:br>
              <a:rPr lang="en-US" sz="900" b="0" i="0" dirty="0">
                <a:effectLst/>
                <a:latin typeface="Segoe WPC"/>
              </a:rPr>
            </a:br>
            <a:r>
              <a:rPr lang="en-US" sz="900" b="1" i="0" dirty="0">
                <a:effectLst/>
                <a:latin typeface="Segoe WPC"/>
              </a:rPr>
              <a:t>Topic:</a:t>
            </a:r>
            <a:r>
              <a:rPr lang="en-US" sz="900" b="0" i="0" dirty="0">
                <a:effectLst/>
                <a:latin typeface="Segoe WPC"/>
              </a:rPr>
              <a:t> Basel framework for risk data aggregation and reporting</a:t>
            </a:r>
            <a:br>
              <a:rPr lang="en-US" sz="900" b="0" i="0" dirty="0">
                <a:effectLst/>
                <a:latin typeface="Segoe WPC"/>
              </a:rPr>
            </a:br>
            <a:r>
              <a:rPr lang="en-US" sz="900" b="1" i="0" dirty="0">
                <a:effectLst/>
                <a:latin typeface="Segoe WPC"/>
              </a:rPr>
              <a:t>Core Idea:</a:t>
            </a:r>
            <a:r>
              <a:rPr lang="en-US" sz="900" b="0" i="0" dirty="0">
                <a:effectLst/>
                <a:latin typeface="Segoe WPC"/>
              </a:rPr>
              <a:t> BCBS 239 was issued in 2013 to improve banks’ ability to aggregate and report risk across business lines, legal entities, and the group level.</a:t>
            </a:r>
            <a:br>
              <a:rPr lang="en-US" sz="900" b="0" i="0" dirty="0">
                <a:effectLst/>
                <a:latin typeface="Segoe WPC"/>
              </a:rPr>
            </a:br>
            <a:r>
              <a:rPr lang="en-US" sz="900" b="1" i="0" dirty="0">
                <a:effectLst/>
                <a:latin typeface="Segoe WPC"/>
              </a:rPr>
              <a:t>Key Requirements:</a:t>
            </a:r>
            <a:r>
              <a:rPr lang="en-US" sz="900" b="0" i="0" dirty="0">
                <a:effectLst/>
                <a:latin typeface="Segoe WPC"/>
              </a:rPr>
              <a:t> The framework covers 14 principles across governance, infrastructure, data aggregation, reporting, and supervision.</a:t>
            </a:r>
            <a:br>
              <a:rPr lang="en-US" sz="900" b="0" i="0" dirty="0">
                <a:effectLst/>
                <a:latin typeface="Segoe WPC"/>
              </a:rPr>
            </a:br>
            <a:r>
              <a:rPr lang="en-US" sz="900" b="1" i="0" dirty="0">
                <a:effectLst/>
                <a:latin typeface="Segoe WPC"/>
              </a:rPr>
              <a:t>Why It Matters:</a:t>
            </a:r>
            <a:r>
              <a:rPr lang="en-US" sz="900" b="0" i="0" dirty="0">
                <a:effectLst/>
                <a:latin typeface="Segoe WPC"/>
              </a:rPr>
              <a:t> Banks cannot manage enterprise-wide risk if they cannot reliably combine risk data.</a:t>
            </a:r>
            <a:br>
              <a:rPr lang="en-US" sz="900" b="0" i="0" dirty="0">
                <a:effectLst/>
                <a:latin typeface="Segoe WPC"/>
              </a:rPr>
            </a:br>
            <a:r>
              <a:rPr lang="en-US" sz="900" b="1" i="0" dirty="0">
                <a:effectLst/>
                <a:latin typeface="Segoe WPC"/>
              </a:rPr>
              <a:t>Common Failure:</a:t>
            </a:r>
            <a:r>
              <a:rPr lang="en-US" sz="900" b="0" i="0" dirty="0">
                <a:effectLst/>
                <a:latin typeface="Segoe WPC"/>
              </a:rPr>
              <a:t> Banks underestimate the scale of IT redesign and fail to achieve full compliance.</a:t>
            </a:r>
            <a:endParaRPr lang="en-US" sz="900" dirty="0"/>
          </a:p>
          <a:p>
            <a:pPr algn="l">
              <a:spcAft>
                <a:spcPts val="600"/>
              </a:spcAft>
              <a:buNone/>
            </a:pPr>
            <a:r>
              <a:rPr lang="en-US" sz="900" b="1" i="0" dirty="0">
                <a:effectLst/>
                <a:latin typeface="Segoe WPC"/>
              </a:rPr>
              <a:t>3. Benefits of Effective RDARR</a:t>
            </a:r>
            <a:br>
              <a:rPr lang="en-US" sz="900" b="0" i="0" dirty="0">
                <a:effectLst/>
                <a:latin typeface="Segoe WPC"/>
              </a:rPr>
            </a:br>
            <a:r>
              <a:rPr lang="en-US" sz="900" b="1" i="0" dirty="0">
                <a:effectLst/>
                <a:latin typeface="Segoe WPC"/>
              </a:rPr>
              <a:t>Topic:</a:t>
            </a:r>
            <a:r>
              <a:rPr lang="en-US" sz="900" b="0" i="0" dirty="0">
                <a:effectLst/>
                <a:latin typeface="Segoe WPC"/>
              </a:rPr>
              <a:t> Value of risk data aggregation and risk reporting</a:t>
            </a:r>
            <a:br>
              <a:rPr lang="en-US" sz="900" b="0" i="0" dirty="0">
                <a:effectLst/>
                <a:latin typeface="Segoe WPC"/>
              </a:rPr>
            </a:br>
            <a:r>
              <a:rPr lang="en-US" sz="900" b="1" i="0" dirty="0">
                <a:effectLst/>
                <a:latin typeface="Segoe WPC"/>
              </a:rPr>
              <a:t>Core Idea:</a:t>
            </a:r>
            <a:r>
              <a:rPr lang="en-US" sz="900" b="0" i="0" dirty="0">
                <a:effectLst/>
                <a:latin typeface="Segoe WPC"/>
              </a:rPr>
              <a:t> Better data aggregation reduces uncertainty about accuracy, completeness, timeliness, and adaptability.</a:t>
            </a:r>
            <a:br>
              <a:rPr lang="en-US" sz="900" b="0" i="0" dirty="0">
                <a:effectLst/>
                <a:latin typeface="Segoe WPC"/>
              </a:rPr>
            </a:br>
            <a:r>
              <a:rPr lang="en-US" sz="900" b="1" i="0" dirty="0">
                <a:effectLst/>
                <a:latin typeface="Segoe WPC"/>
              </a:rPr>
              <a:t>Key Requirements:</a:t>
            </a:r>
            <a:r>
              <a:rPr lang="en-US" sz="900" b="0" i="0" dirty="0">
                <a:effectLst/>
                <a:latin typeface="Segoe WPC"/>
              </a:rPr>
              <a:t> Firms need reliable data flows, usable analytics, and strong model validation.</a:t>
            </a:r>
            <a:br>
              <a:rPr lang="en-US" sz="900" b="0" i="0" dirty="0">
                <a:effectLst/>
                <a:latin typeface="Segoe WPC"/>
              </a:rPr>
            </a:br>
            <a:r>
              <a:rPr lang="en-US" sz="900" b="1" i="0" dirty="0">
                <a:effectLst/>
                <a:latin typeface="Segoe WPC"/>
              </a:rPr>
              <a:t>Why It Matters:</a:t>
            </a:r>
            <a:r>
              <a:rPr lang="en-US" sz="900" b="0" i="0" dirty="0">
                <a:effectLst/>
                <a:latin typeface="Segoe WPC"/>
              </a:rPr>
              <a:t> Good RDARR improves tactical decisions, strategic decisions, and risk-adjusted returns.</a:t>
            </a:r>
            <a:br>
              <a:rPr lang="en-US" sz="900" b="0" i="0" dirty="0">
                <a:effectLst/>
                <a:latin typeface="Segoe WPC"/>
              </a:rPr>
            </a:br>
            <a:r>
              <a:rPr lang="en-US" sz="900" b="1" i="0" dirty="0">
                <a:effectLst/>
                <a:latin typeface="Segoe WPC"/>
              </a:rPr>
              <a:t>Common Failure:</a:t>
            </a:r>
            <a:r>
              <a:rPr lang="en-US" sz="900" b="0" i="0" dirty="0">
                <a:effectLst/>
                <a:latin typeface="Segoe WPC"/>
              </a:rPr>
              <a:t> Management receives inaccurate or incomplete information and makes poor risk decisions.</a:t>
            </a:r>
            <a:endParaRPr lang="en-US" sz="900" dirty="0"/>
          </a:p>
          <a:p>
            <a:pPr algn="l">
              <a:spcAft>
                <a:spcPts val="600"/>
              </a:spcAft>
              <a:buNone/>
            </a:pPr>
            <a:r>
              <a:rPr lang="en-US" sz="900" b="1" i="0" dirty="0">
                <a:effectLst/>
                <a:latin typeface="Segoe WPC"/>
              </a:rPr>
              <a:t>4. Governance: Principle 1</a:t>
            </a:r>
            <a:br>
              <a:rPr lang="en-US" sz="900" b="0" i="0" dirty="0">
                <a:effectLst/>
                <a:latin typeface="Segoe WPC"/>
              </a:rPr>
            </a:br>
            <a:r>
              <a:rPr lang="en-US" sz="900" b="1" i="0" dirty="0">
                <a:effectLst/>
                <a:latin typeface="Segoe WPC"/>
              </a:rPr>
              <a:t>Topic:</a:t>
            </a:r>
            <a:r>
              <a:rPr lang="en-US" sz="900" b="0" i="0" dirty="0">
                <a:effectLst/>
                <a:latin typeface="Segoe WPC"/>
              </a:rPr>
              <a:t> Governance of risk data</a:t>
            </a:r>
            <a:br>
              <a:rPr lang="en-US" sz="900" b="0" i="0" dirty="0">
                <a:effectLst/>
                <a:latin typeface="Segoe WPC"/>
              </a:rPr>
            </a:br>
            <a:r>
              <a:rPr lang="en-US" sz="900" b="1" i="0" dirty="0">
                <a:effectLst/>
                <a:latin typeface="Segoe WPC"/>
              </a:rPr>
              <a:t>Core Idea:</a:t>
            </a:r>
            <a:r>
              <a:rPr lang="en-US" sz="900" b="0" i="0" dirty="0">
                <a:effectLst/>
                <a:latin typeface="Segoe WPC"/>
              </a:rPr>
              <a:t> Risk data aggregation and reporting must be supported by strong governance.</a:t>
            </a:r>
            <a:br>
              <a:rPr lang="en-US" sz="900" b="0" i="0" dirty="0">
                <a:effectLst/>
                <a:latin typeface="Segoe WPC"/>
              </a:rPr>
            </a:br>
            <a:r>
              <a:rPr lang="en-US" sz="900" b="1" i="0" dirty="0">
                <a:effectLst/>
                <a:latin typeface="Segoe WPC"/>
              </a:rPr>
              <a:t>Key Requirements:</a:t>
            </a:r>
            <a:r>
              <a:rPr lang="en-US" sz="900" b="0" i="0" dirty="0">
                <a:effectLst/>
                <a:latin typeface="Segoe WPC"/>
              </a:rPr>
              <a:t> Clear roles, responsibilities, incentives, oversight, and board involvement.</a:t>
            </a:r>
            <a:br>
              <a:rPr lang="en-US" sz="900" b="0" i="0" dirty="0">
                <a:effectLst/>
                <a:latin typeface="Segoe WPC"/>
              </a:rPr>
            </a:br>
            <a:r>
              <a:rPr lang="en-US" sz="900" b="1" i="0" dirty="0">
                <a:effectLst/>
                <a:latin typeface="Segoe WPC"/>
              </a:rPr>
              <a:t>Why It Matters:</a:t>
            </a:r>
            <a:r>
              <a:rPr lang="en-US" sz="900" b="0" i="0" dirty="0">
                <a:effectLst/>
                <a:latin typeface="Segoe WPC"/>
              </a:rPr>
              <a:t> Data governance determines whether risk information is trusted at senior levels.</a:t>
            </a:r>
            <a:br>
              <a:rPr lang="en-US" sz="900" b="0" i="0" dirty="0">
                <a:effectLst/>
                <a:latin typeface="Segoe WPC"/>
              </a:rPr>
            </a:br>
            <a:r>
              <a:rPr lang="en-US" sz="900" b="1" i="0" dirty="0">
                <a:effectLst/>
                <a:latin typeface="Segoe WPC"/>
              </a:rPr>
              <a:t>Common Failure:</a:t>
            </a:r>
            <a:r>
              <a:rPr lang="en-US" sz="900" b="0" i="0" dirty="0">
                <a:effectLst/>
                <a:latin typeface="Segoe WPC"/>
              </a:rPr>
              <a:t> No structured policy framework, weak escalation, and poor reporting to the board and senior management.</a:t>
            </a:r>
            <a:endParaRPr lang="en-US" sz="900" dirty="0"/>
          </a:p>
          <a:p>
            <a:pPr algn="l">
              <a:spcAft>
                <a:spcPts val="600"/>
              </a:spcAft>
              <a:buNone/>
            </a:pPr>
            <a:r>
              <a:rPr lang="en-US" sz="900" b="1" i="0" dirty="0">
                <a:effectLst/>
                <a:latin typeface="Segoe WPC"/>
              </a:rPr>
              <a:t>5. Data Architecture and IT Infrastructure: Principle 2</a:t>
            </a:r>
            <a:br>
              <a:rPr lang="en-US" sz="900" b="0" i="0" dirty="0">
                <a:effectLst/>
                <a:latin typeface="Segoe WPC"/>
              </a:rPr>
            </a:br>
            <a:r>
              <a:rPr lang="en-US" sz="900" b="1" i="0" dirty="0">
                <a:effectLst/>
                <a:latin typeface="Segoe WPC"/>
              </a:rPr>
              <a:t>Topic:</a:t>
            </a:r>
            <a:r>
              <a:rPr lang="en-US" sz="900" b="0" i="0" dirty="0">
                <a:effectLst/>
                <a:latin typeface="Segoe WPC"/>
              </a:rPr>
              <a:t> Architecture and infrastructure support</a:t>
            </a:r>
            <a:br>
              <a:rPr lang="en-US" sz="900" b="0" i="0" dirty="0">
                <a:effectLst/>
                <a:latin typeface="Segoe WPC"/>
              </a:rPr>
            </a:br>
            <a:r>
              <a:rPr lang="en-US" sz="900" b="1" i="0" dirty="0">
                <a:effectLst/>
                <a:latin typeface="Segoe WPC"/>
              </a:rPr>
              <a:t>Core Idea:</a:t>
            </a:r>
            <a:r>
              <a:rPr lang="en-US" sz="900" b="0" i="0" dirty="0">
                <a:effectLst/>
                <a:latin typeface="Segoe WPC"/>
              </a:rPr>
              <a:t> Banks need integrated data architecture and IT systems that work in normal times and in stress.</a:t>
            </a:r>
            <a:br>
              <a:rPr lang="en-US" sz="900" b="0" i="0" dirty="0">
                <a:effectLst/>
                <a:latin typeface="Segoe WPC"/>
              </a:rPr>
            </a:br>
            <a:r>
              <a:rPr lang="en-US" sz="900" b="1" i="0" dirty="0">
                <a:effectLst/>
                <a:latin typeface="Segoe WPC"/>
              </a:rPr>
              <a:t>Key Requirements:</a:t>
            </a:r>
            <a:r>
              <a:rPr lang="en-US" sz="900" b="0" i="0" dirty="0">
                <a:effectLst/>
                <a:latin typeface="Segoe WPC"/>
              </a:rPr>
              <a:t> Common data, common models, common assumptions, lifecycle controls, and integrated taxonomies.</a:t>
            </a:r>
            <a:br>
              <a:rPr lang="en-US" sz="900" b="0" i="0" dirty="0">
                <a:effectLst/>
                <a:latin typeface="Segoe WPC"/>
              </a:rPr>
            </a:br>
            <a:r>
              <a:rPr lang="en-US" sz="900" b="1" i="0" dirty="0">
                <a:effectLst/>
                <a:latin typeface="Segoe WPC"/>
              </a:rPr>
              <a:t>Why It Matters:</a:t>
            </a:r>
            <a:r>
              <a:rPr lang="en-US" sz="900" b="0" i="0" dirty="0">
                <a:effectLst/>
                <a:latin typeface="Segoe WPC"/>
              </a:rPr>
              <a:t> Without integration, enterprise risk cannot be measured consistently.</a:t>
            </a:r>
            <a:br>
              <a:rPr lang="en-US" sz="900" b="0" i="0" dirty="0">
                <a:effectLst/>
                <a:latin typeface="Segoe WPC"/>
              </a:rPr>
            </a:br>
            <a:r>
              <a:rPr lang="en-US" sz="900" b="1" i="0" dirty="0">
                <a:effectLst/>
                <a:latin typeface="Segoe WPC"/>
              </a:rPr>
              <a:t>Common Failure:</a:t>
            </a:r>
            <a:r>
              <a:rPr lang="en-US" sz="900" b="0" i="0" dirty="0">
                <a:effectLst/>
                <a:latin typeface="Segoe WPC"/>
              </a:rPr>
              <a:t> Legacy systems, inconsistent reference data, and weak controls after business changes.</a:t>
            </a:r>
            <a:endParaRPr lang="en-US" sz="900" dirty="0"/>
          </a:p>
          <a:p>
            <a:pPr algn="l">
              <a:buNone/>
            </a:pPr>
            <a:r>
              <a:rPr lang="en-US" sz="900" b="1" i="0" dirty="0">
                <a:effectLst/>
                <a:latin typeface="Segoe WPC"/>
              </a:rPr>
              <a:t>6. Strong Data Aggregation Capability: Principles 3-6</a:t>
            </a:r>
            <a:br>
              <a:rPr lang="en-US" sz="900" b="0" i="0" dirty="0">
                <a:effectLst/>
                <a:latin typeface="Segoe WPC"/>
              </a:rPr>
            </a:br>
            <a:r>
              <a:rPr lang="en-US" sz="900" b="1" i="0" dirty="0">
                <a:effectLst/>
                <a:latin typeface="Segoe WPC"/>
              </a:rPr>
              <a:t>Topic:</a:t>
            </a:r>
            <a:r>
              <a:rPr lang="en-US" sz="900" b="0" i="0" dirty="0">
                <a:effectLst/>
                <a:latin typeface="Segoe WPC"/>
              </a:rPr>
              <a:t> Core aggregation requirements</a:t>
            </a:r>
            <a:br>
              <a:rPr lang="en-US" sz="900" b="0" i="0" dirty="0">
                <a:effectLst/>
                <a:latin typeface="Segoe WPC"/>
              </a:rPr>
            </a:br>
            <a:r>
              <a:rPr lang="en-US" sz="900" b="1" i="0" dirty="0">
                <a:effectLst/>
                <a:latin typeface="Segoe WPC"/>
              </a:rPr>
              <a:t>Core Idea:</a:t>
            </a:r>
            <a:r>
              <a:rPr lang="en-US" sz="900" b="0" i="0" dirty="0">
                <a:effectLst/>
                <a:latin typeface="Segoe WPC"/>
              </a:rPr>
              <a:t> Risk data must be accurate, complete, timely, and adaptable.</a:t>
            </a:r>
            <a:br>
              <a:rPr lang="en-US" sz="900" b="0" i="0" dirty="0">
                <a:effectLst/>
                <a:latin typeface="Segoe WPC"/>
              </a:rPr>
            </a:br>
            <a:r>
              <a:rPr lang="en-US" sz="900" b="1" i="0" dirty="0">
                <a:effectLst/>
                <a:latin typeface="Segoe WPC"/>
              </a:rPr>
              <a:t>Key Requirements:</a:t>
            </a:r>
            <a:endParaRPr lang="en-US" sz="900" b="0" i="0" dirty="0">
              <a:effectLst/>
              <a:latin typeface="Segoe WPC"/>
            </a:endParaRPr>
          </a:p>
          <a:p>
            <a:pPr algn="l">
              <a:spcBef>
                <a:spcPts val="300"/>
              </a:spcBef>
              <a:buFont typeface="Arial" panose="020B0604020202020204" pitchFamily="34" charset="0"/>
              <a:buChar char="•"/>
            </a:pPr>
            <a:r>
              <a:rPr lang="en-US" sz="900" b="0" i="0" dirty="0">
                <a:effectLst/>
                <a:latin typeface="Segoe WPC"/>
              </a:rPr>
              <a:t>Principle 3: Accuracy and integrity</a:t>
            </a:r>
          </a:p>
          <a:p>
            <a:pPr algn="l">
              <a:spcBef>
                <a:spcPts val="300"/>
              </a:spcBef>
              <a:buFont typeface="Arial" panose="020B0604020202020204" pitchFamily="34" charset="0"/>
              <a:buChar char="•"/>
            </a:pPr>
            <a:r>
              <a:rPr lang="en-US" sz="900" b="0" i="0" dirty="0">
                <a:effectLst/>
                <a:latin typeface="Segoe WPC"/>
              </a:rPr>
              <a:t>Principle 4: Completeness</a:t>
            </a:r>
          </a:p>
          <a:p>
            <a:pPr algn="l">
              <a:spcBef>
                <a:spcPts val="300"/>
              </a:spcBef>
              <a:buFont typeface="Arial" panose="020B0604020202020204" pitchFamily="34" charset="0"/>
              <a:buChar char="•"/>
            </a:pPr>
            <a:r>
              <a:rPr lang="en-US" sz="900" b="0" i="0" dirty="0">
                <a:effectLst/>
                <a:latin typeface="Segoe WPC"/>
              </a:rPr>
              <a:t>Principle 5: Timeliness</a:t>
            </a:r>
          </a:p>
          <a:p>
            <a:pPr algn="l">
              <a:spcBef>
                <a:spcPts val="300"/>
              </a:spcBef>
              <a:buFont typeface="Arial" panose="020B0604020202020204" pitchFamily="34" charset="0"/>
              <a:buChar char="•"/>
            </a:pPr>
            <a:r>
              <a:rPr lang="en-US" sz="900" b="0" i="0" dirty="0">
                <a:effectLst/>
                <a:latin typeface="Segoe WPC"/>
              </a:rPr>
              <a:t>Principle 6: Adaptability</a:t>
            </a:r>
            <a:br>
              <a:rPr lang="en-US" sz="900" b="0" i="0" dirty="0">
                <a:effectLst/>
                <a:latin typeface="Segoe WPC"/>
              </a:rPr>
            </a:br>
            <a:r>
              <a:rPr lang="en-US" sz="900" b="1" i="0" dirty="0">
                <a:effectLst/>
                <a:latin typeface="Segoe WPC"/>
              </a:rPr>
              <a:t>Why It Matters:</a:t>
            </a:r>
            <a:r>
              <a:rPr lang="en-US" sz="900" b="0" i="0" dirty="0">
                <a:effectLst/>
                <a:latin typeface="Segoe WPC"/>
              </a:rPr>
              <a:t> Banks must be able to produce reliable risk data on demand, including in stress scenarios.</a:t>
            </a:r>
            <a:br>
              <a:rPr lang="en-US" sz="900" b="0" i="0" dirty="0">
                <a:effectLst/>
                <a:latin typeface="Segoe WPC"/>
              </a:rPr>
            </a:br>
            <a:r>
              <a:rPr lang="en-US" sz="900" b="1" i="0" dirty="0">
                <a:effectLst/>
                <a:latin typeface="Segoe WPC"/>
              </a:rPr>
              <a:t>Common Failure:</a:t>
            </a:r>
            <a:r>
              <a:rPr lang="en-US" sz="900" b="0" i="0" dirty="0">
                <a:effectLst/>
                <a:latin typeface="Segoe WPC"/>
              </a:rPr>
              <a:t> Heavy manual processes, missing reconciliations, poor automation, weak data quality controls, and slow sourcing from subsidiaries.</a:t>
            </a:r>
          </a:p>
        </p:txBody>
      </p:sp>
      <p:sp>
        <p:nvSpPr>
          <p:cNvPr id="7" name="CuadroTexto 6">
            <a:extLst>
              <a:ext uri="{FF2B5EF4-FFF2-40B4-BE49-F238E27FC236}">
                <a16:creationId xmlns:a16="http://schemas.microsoft.com/office/drawing/2014/main" id="{45B4CB41-5577-26B7-979E-F70BECC81FE8}"/>
              </a:ext>
            </a:extLst>
          </p:cNvPr>
          <p:cNvSpPr txBox="1"/>
          <p:nvPr/>
        </p:nvSpPr>
        <p:spPr>
          <a:xfrm>
            <a:off x="6286500" y="485886"/>
            <a:ext cx="5715000" cy="6024726"/>
          </a:xfrm>
          <a:prstGeom prst="rect">
            <a:avLst/>
          </a:prstGeom>
          <a:noFill/>
        </p:spPr>
        <p:txBody>
          <a:bodyPr wrap="square">
            <a:spAutoFit/>
          </a:bodyPr>
          <a:lstStyle/>
          <a:p>
            <a:pPr algn="l">
              <a:spcAft>
                <a:spcPts val="600"/>
              </a:spcAft>
              <a:buNone/>
            </a:pPr>
            <a:r>
              <a:rPr lang="en-US" sz="900" b="1" i="0" dirty="0">
                <a:effectLst/>
                <a:latin typeface="Segoe WPC"/>
              </a:rPr>
              <a:t>7. Reporting Practices: Principles 7-11</a:t>
            </a:r>
            <a:br>
              <a:rPr lang="en-US" sz="900" b="0" i="0" dirty="0">
                <a:effectLst/>
                <a:latin typeface="Segoe WPC"/>
              </a:rPr>
            </a:br>
            <a:r>
              <a:rPr lang="en-US" sz="900" b="1" i="0" dirty="0">
                <a:effectLst/>
                <a:latin typeface="Segoe WPC"/>
              </a:rPr>
              <a:t>Topic:</a:t>
            </a:r>
            <a:r>
              <a:rPr lang="en-US" sz="900" b="0" i="0" dirty="0">
                <a:effectLst/>
                <a:latin typeface="Segoe WPC"/>
              </a:rPr>
              <a:t> Effective risk reporting</a:t>
            </a:r>
            <a:br>
              <a:rPr lang="en-US" sz="900" b="0" i="0" dirty="0">
                <a:effectLst/>
                <a:latin typeface="Segoe WPC"/>
              </a:rPr>
            </a:br>
            <a:r>
              <a:rPr lang="en-US" sz="900" b="1" i="0" dirty="0">
                <a:effectLst/>
                <a:latin typeface="Segoe WPC"/>
              </a:rPr>
              <a:t>Core Idea:</a:t>
            </a:r>
            <a:r>
              <a:rPr lang="en-US" sz="900" b="0" i="0" dirty="0">
                <a:effectLst/>
                <a:latin typeface="Segoe WPC"/>
              </a:rPr>
              <a:t> Risk reports must be accurate, comprehensive, clear, frequent enough, and distributed properly.</a:t>
            </a:r>
            <a:br>
              <a:rPr lang="en-US" sz="900" b="0" i="0" dirty="0">
                <a:effectLst/>
                <a:latin typeface="Segoe WPC"/>
              </a:rPr>
            </a:br>
            <a:r>
              <a:rPr lang="en-US" sz="900" b="1" i="0" dirty="0">
                <a:effectLst/>
                <a:latin typeface="Segoe WPC"/>
              </a:rPr>
              <a:t>Key Requirements:</a:t>
            </a:r>
            <a:endParaRPr lang="en-US" sz="900" b="0" i="0" dirty="0">
              <a:effectLst/>
              <a:latin typeface="Segoe WPC"/>
            </a:endParaRPr>
          </a:p>
          <a:p>
            <a:pPr algn="l">
              <a:spcBef>
                <a:spcPts val="300"/>
              </a:spcBef>
              <a:spcAft>
                <a:spcPts val="600"/>
              </a:spcAft>
              <a:buFont typeface="Arial" panose="020B0604020202020204" pitchFamily="34" charset="0"/>
              <a:buChar char="•"/>
            </a:pPr>
            <a:r>
              <a:rPr lang="en-US" sz="900" b="0" i="0" dirty="0">
                <a:effectLst/>
                <a:latin typeface="Segoe WPC"/>
              </a:rPr>
              <a:t>Principle 7: Accuracy</a:t>
            </a:r>
          </a:p>
          <a:p>
            <a:pPr algn="l">
              <a:spcBef>
                <a:spcPts val="300"/>
              </a:spcBef>
              <a:spcAft>
                <a:spcPts val="600"/>
              </a:spcAft>
              <a:buFont typeface="Arial" panose="020B0604020202020204" pitchFamily="34" charset="0"/>
              <a:buChar char="•"/>
            </a:pPr>
            <a:r>
              <a:rPr lang="en-US" sz="900" b="0" i="0" dirty="0">
                <a:effectLst/>
                <a:latin typeface="Segoe WPC"/>
              </a:rPr>
              <a:t>Principle 8: Comprehensiveness</a:t>
            </a:r>
          </a:p>
          <a:p>
            <a:pPr algn="l">
              <a:spcBef>
                <a:spcPts val="300"/>
              </a:spcBef>
              <a:spcAft>
                <a:spcPts val="600"/>
              </a:spcAft>
              <a:buFont typeface="Arial" panose="020B0604020202020204" pitchFamily="34" charset="0"/>
              <a:buChar char="•"/>
            </a:pPr>
            <a:r>
              <a:rPr lang="en-US" sz="900" b="0" i="0" dirty="0">
                <a:effectLst/>
                <a:latin typeface="Segoe WPC"/>
              </a:rPr>
              <a:t>Principle 9: Clarity and usefulness</a:t>
            </a:r>
          </a:p>
          <a:p>
            <a:pPr algn="l">
              <a:spcBef>
                <a:spcPts val="300"/>
              </a:spcBef>
              <a:spcAft>
                <a:spcPts val="600"/>
              </a:spcAft>
              <a:buFont typeface="Arial" panose="020B0604020202020204" pitchFamily="34" charset="0"/>
              <a:buChar char="•"/>
            </a:pPr>
            <a:r>
              <a:rPr lang="en-US" sz="900" b="0" i="0" dirty="0">
                <a:effectLst/>
                <a:latin typeface="Segoe WPC"/>
              </a:rPr>
              <a:t>Principle 10: Frequency</a:t>
            </a:r>
          </a:p>
          <a:p>
            <a:pPr algn="l">
              <a:spcBef>
                <a:spcPts val="300"/>
              </a:spcBef>
              <a:spcAft>
                <a:spcPts val="600"/>
              </a:spcAft>
              <a:buFont typeface="Arial" panose="020B0604020202020204" pitchFamily="34" charset="0"/>
              <a:buChar char="•"/>
            </a:pPr>
            <a:r>
              <a:rPr lang="en-US" sz="900" b="0" i="0" dirty="0">
                <a:effectLst/>
                <a:latin typeface="Segoe WPC"/>
              </a:rPr>
              <a:t>Principle 11: Distribution</a:t>
            </a:r>
            <a:br>
              <a:rPr lang="en-US" sz="900" b="0" i="0" dirty="0">
                <a:effectLst/>
                <a:latin typeface="Segoe WPC"/>
              </a:rPr>
            </a:br>
            <a:r>
              <a:rPr lang="en-US" sz="900" b="1" i="0" dirty="0">
                <a:effectLst/>
                <a:latin typeface="Segoe WPC"/>
              </a:rPr>
              <a:t>Why It Matters:</a:t>
            </a:r>
            <a:r>
              <a:rPr lang="en-US" sz="900" b="0" i="0" dirty="0">
                <a:effectLst/>
                <a:latin typeface="Segoe WPC"/>
              </a:rPr>
              <a:t> Risk reports must help real decision-makers act quickly and correctly.</a:t>
            </a:r>
            <a:br>
              <a:rPr lang="en-US" sz="900" b="0" i="0" dirty="0">
                <a:effectLst/>
                <a:latin typeface="Segoe WPC"/>
              </a:rPr>
            </a:br>
            <a:r>
              <a:rPr lang="en-US" sz="900" b="1" i="0" dirty="0">
                <a:effectLst/>
                <a:latin typeface="Segoe WPC"/>
              </a:rPr>
              <a:t>Common Failure:</a:t>
            </a:r>
            <a:r>
              <a:rPr lang="en-US" sz="900" b="0" i="0" dirty="0">
                <a:effectLst/>
                <a:latin typeface="Segoe WPC"/>
              </a:rPr>
              <a:t> Static reports, poor drill-down capability, bad audience targeting, unclear outputs, and weak confidentiality controls.</a:t>
            </a:r>
            <a:endParaRPr lang="en-US" sz="900" dirty="0"/>
          </a:p>
          <a:p>
            <a:pPr algn="l">
              <a:spcAft>
                <a:spcPts val="600"/>
              </a:spcAft>
              <a:buNone/>
            </a:pPr>
            <a:r>
              <a:rPr lang="en-US" sz="900" b="1" i="0" dirty="0">
                <a:effectLst/>
                <a:latin typeface="Segoe WPC"/>
              </a:rPr>
              <a:t>8. Model Risk and Data Quality</a:t>
            </a:r>
            <a:br>
              <a:rPr lang="en-US" sz="900" b="0" i="0" dirty="0">
                <a:effectLst/>
                <a:latin typeface="Segoe WPC"/>
              </a:rPr>
            </a:br>
            <a:r>
              <a:rPr lang="en-US" sz="900" b="1" i="0" dirty="0">
                <a:effectLst/>
                <a:latin typeface="Segoe WPC"/>
              </a:rPr>
              <a:t>Topic:</a:t>
            </a:r>
            <a:r>
              <a:rPr lang="en-US" sz="900" b="0" i="0" dirty="0">
                <a:effectLst/>
                <a:latin typeface="Segoe WPC"/>
              </a:rPr>
              <a:t> Data in model risk management</a:t>
            </a:r>
            <a:br>
              <a:rPr lang="en-US" sz="900" b="0" i="0" dirty="0">
                <a:effectLst/>
                <a:latin typeface="Segoe WPC"/>
              </a:rPr>
            </a:br>
            <a:r>
              <a:rPr lang="en-US" sz="900" b="1" i="0" dirty="0">
                <a:effectLst/>
                <a:latin typeface="Segoe WPC"/>
              </a:rPr>
              <a:t>Core Idea:</a:t>
            </a:r>
            <a:r>
              <a:rPr lang="en-US" sz="900" b="0" i="0" dirty="0">
                <a:effectLst/>
                <a:latin typeface="Segoe WPC"/>
              </a:rPr>
              <a:t> Data quality is especially important for input risk in models.</a:t>
            </a:r>
            <a:br>
              <a:rPr lang="en-US" sz="900" b="0" i="0" dirty="0">
                <a:effectLst/>
                <a:latin typeface="Segoe WPC"/>
              </a:rPr>
            </a:br>
            <a:r>
              <a:rPr lang="en-US" sz="900" b="1" i="0" dirty="0">
                <a:effectLst/>
                <a:latin typeface="Segoe WPC"/>
              </a:rPr>
              <a:t>Key Requirements:</a:t>
            </a:r>
            <a:r>
              <a:rPr lang="en-US" sz="900" b="0" i="0" dirty="0">
                <a:effectLst/>
                <a:latin typeface="Segoe WPC"/>
              </a:rPr>
              <a:t> Model data must be appropriate, documented, and consistent with the model’s theory and methodology.</a:t>
            </a:r>
            <a:br>
              <a:rPr lang="en-US" sz="900" b="0" i="0" dirty="0">
                <a:effectLst/>
                <a:latin typeface="Segoe WPC"/>
              </a:rPr>
            </a:br>
            <a:r>
              <a:rPr lang="en-US" sz="900" b="1" i="0" dirty="0">
                <a:effectLst/>
                <a:latin typeface="Segoe WPC"/>
              </a:rPr>
              <a:t>Why It Matters:</a:t>
            </a:r>
            <a:r>
              <a:rPr lang="en-US" sz="900" b="0" i="0" dirty="0">
                <a:effectLst/>
                <a:latin typeface="Segoe WPC"/>
              </a:rPr>
              <a:t> Even a good model fails if the underlying data are weak.</a:t>
            </a:r>
            <a:br>
              <a:rPr lang="en-US" sz="900" b="0" i="0" dirty="0">
                <a:effectLst/>
                <a:latin typeface="Segoe WPC"/>
              </a:rPr>
            </a:br>
            <a:r>
              <a:rPr lang="en-US" sz="900" b="1" i="0" dirty="0">
                <a:effectLst/>
                <a:latin typeface="Segoe WPC"/>
              </a:rPr>
              <a:t>Common Failure:</a:t>
            </a:r>
            <a:r>
              <a:rPr lang="en-US" sz="900" b="0" i="0" dirty="0">
                <a:effectLst/>
                <a:latin typeface="Segoe WPC"/>
              </a:rPr>
              <a:t> Poor input data contaminate estimation, valuation, and hedging decisions.</a:t>
            </a:r>
            <a:endParaRPr lang="en-US" sz="900" dirty="0"/>
          </a:p>
          <a:p>
            <a:pPr algn="l">
              <a:spcAft>
                <a:spcPts val="600"/>
              </a:spcAft>
              <a:buNone/>
            </a:pPr>
            <a:r>
              <a:rPr lang="en-US" sz="900" b="1" i="0" dirty="0">
                <a:effectLst/>
                <a:latin typeface="Segoe WPC"/>
              </a:rPr>
              <a:t>9. Standardization and the Chief Data Officer</a:t>
            </a:r>
            <a:br>
              <a:rPr lang="en-US" sz="900" b="0" i="0" dirty="0">
                <a:effectLst/>
                <a:latin typeface="Segoe WPC"/>
              </a:rPr>
            </a:br>
            <a:r>
              <a:rPr lang="en-US" sz="900" b="1" i="0" dirty="0">
                <a:effectLst/>
                <a:latin typeface="Segoe WPC"/>
              </a:rPr>
              <a:t>Topic:</a:t>
            </a:r>
            <a:r>
              <a:rPr lang="en-US" sz="900" b="0" i="0" dirty="0">
                <a:effectLst/>
                <a:latin typeface="Segoe WPC"/>
              </a:rPr>
              <a:t> Standardized enterprise data management</a:t>
            </a:r>
            <a:br>
              <a:rPr lang="en-US" sz="900" b="0" i="0" dirty="0">
                <a:effectLst/>
                <a:latin typeface="Segoe WPC"/>
              </a:rPr>
            </a:br>
            <a:r>
              <a:rPr lang="en-US" sz="900" b="1" i="0" dirty="0">
                <a:effectLst/>
                <a:latin typeface="Segoe WPC"/>
              </a:rPr>
              <a:t>Core Idea:</a:t>
            </a:r>
            <a:r>
              <a:rPr lang="en-US" sz="900" b="0" i="0" dirty="0">
                <a:effectLst/>
                <a:latin typeface="Segoe WPC"/>
              </a:rPr>
              <a:t> BCBS 239 helped drive the rise of the Chief Data Officer role and broader data standardization.</a:t>
            </a:r>
            <a:br>
              <a:rPr lang="en-US" sz="900" b="0" i="0" dirty="0">
                <a:effectLst/>
                <a:latin typeface="Segoe WPC"/>
              </a:rPr>
            </a:br>
            <a:r>
              <a:rPr lang="en-US" sz="900" b="1" i="0" dirty="0">
                <a:effectLst/>
                <a:latin typeface="Segoe WPC"/>
              </a:rPr>
              <a:t>Key Requirements:</a:t>
            </a:r>
            <a:r>
              <a:rPr lang="en-US" sz="900" b="0" i="0" dirty="0">
                <a:effectLst/>
                <a:latin typeface="Segoe WPC"/>
              </a:rPr>
              <a:t> Standardized identifiers, product data, accounting data, and consistent methodologies across departments.</a:t>
            </a:r>
            <a:br>
              <a:rPr lang="en-US" sz="900" b="0" i="0" dirty="0">
                <a:effectLst/>
                <a:latin typeface="Segoe WPC"/>
              </a:rPr>
            </a:br>
            <a:r>
              <a:rPr lang="en-US" sz="900" b="1" i="0" dirty="0">
                <a:effectLst/>
                <a:latin typeface="Segoe WPC"/>
              </a:rPr>
              <a:t>Why It Matters:</a:t>
            </a:r>
            <a:r>
              <a:rPr lang="en-US" sz="900" b="0" i="0" dirty="0">
                <a:effectLst/>
                <a:latin typeface="Segoe WPC"/>
              </a:rPr>
              <a:t> Standardization makes the firm’s total risk profile visible and manageable.</a:t>
            </a:r>
            <a:br>
              <a:rPr lang="en-US" sz="900" b="0" i="0" dirty="0">
                <a:effectLst/>
                <a:latin typeface="Segoe WPC"/>
              </a:rPr>
            </a:br>
            <a:r>
              <a:rPr lang="en-US" sz="900" b="1" i="0" dirty="0">
                <a:effectLst/>
                <a:latin typeface="Segoe WPC"/>
              </a:rPr>
              <a:t>Common Failure:</a:t>
            </a:r>
            <a:r>
              <a:rPr lang="en-US" sz="900" b="0" i="0" dirty="0">
                <a:effectLst/>
                <a:latin typeface="Segoe WPC"/>
              </a:rPr>
              <a:t> The same customer or exposure is not recognized across business lines because identifiers and standards are inconsistent.</a:t>
            </a:r>
            <a:endParaRPr lang="en-US" sz="900" dirty="0"/>
          </a:p>
          <a:p>
            <a:pPr algn="l">
              <a:spcAft>
                <a:spcPts val="600"/>
              </a:spcAft>
              <a:buNone/>
            </a:pPr>
            <a:r>
              <a:rPr lang="en-US" sz="900" b="1" i="0" dirty="0">
                <a:effectLst/>
                <a:latin typeface="Segoe WPC"/>
              </a:rPr>
              <a:t>10. Why Compliance Remains Difficult</a:t>
            </a:r>
            <a:br>
              <a:rPr lang="en-US" sz="900" b="0" i="0" dirty="0">
                <a:effectLst/>
                <a:latin typeface="Segoe WPC"/>
              </a:rPr>
            </a:br>
            <a:r>
              <a:rPr lang="en-US" sz="900" b="1" i="0" dirty="0">
                <a:effectLst/>
                <a:latin typeface="Segoe WPC"/>
              </a:rPr>
              <a:t>Topic:</a:t>
            </a:r>
            <a:r>
              <a:rPr lang="en-US" sz="900" b="0" i="0" dirty="0">
                <a:effectLst/>
                <a:latin typeface="Segoe WPC"/>
              </a:rPr>
              <a:t> Implementation challenge</a:t>
            </a:r>
            <a:br>
              <a:rPr lang="en-US" sz="900" b="0" i="0" dirty="0">
                <a:effectLst/>
                <a:latin typeface="Segoe WPC"/>
              </a:rPr>
            </a:br>
            <a:r>
              <a:rPr lang="en-US" sz="900" b="1" i="0" dirty="0">
                <a:effectLst/>
                <a:latin typeface="Segoe WPC"/>
              </a:rPr>
              <a:t>Core Idea:</a:t>
            </a:r>
            <a:r>
              <a:rPr lang="en-US" sz="900" b="0" i="0" dirty="0">
                <a:effectLst/>
                <a:latin typeface="Segoe WPC"/>
              </a:rPr>
              <a:t> Banks have made only limited progress because compliance is technically hard and highly institution-specific.</a:t>
            </a:r>
            <a:br>
              <a:rPr lang="en-US" sz="900" b="0" i="0" dirty="0">
                <a:effectLst/>
                <a:latin typeface="Segoe WPC"/>
              </a:rPr>
            </a:br>
            <a:r>
              <a:rPr lang="en-US" sz="900" b="1" i="0" dirty="0">
                <a:effectLst/>
                <a:latin typeface="Segoe WPC"/>
              </a:rPr>
              <a:t>Key Requirements:</a:t>
            </a:r>
            <a:r>
              <a:rPr lang="en-US" sz="900" b="0" i="0" dirty="0">
                <a:effectLst/>
                <a:latin typeface="Segoe WPC"/>
              </a:rPr>
              <a:t> Ongoing investment, remediation, supervisory review, and cross-border cooperation under Principles 12-14.</a:t>
            </a:r>
            <a:br>
              <a:rPr lang="en-US" sz="900" b="0" i="0" dirty="0">
                <a:effectLst/>
                <a:latin typeface="Segoe WPC"/>
              </a:rPr>
            </a:br>
            <a:r>
              <a:rPr lang="en-US" sz="900" b="1" i="0" dirty="0">
                <a:effectLst/>
                <a:latin typeface="Segoe WPC"/>
              </a:rPr>
              <a:t>Why It Matters:</a:t>
            </a:r>
            <a:r>
              <a:rPr lang="en-US" sz="900" b="0" i="0" dirty="0">
                <a:effectLst/>
                <a:latin typeface="Segoe WPC"/>
              </a:rPr>
              <a:t> BCBS 239 compliance is not a one-off project; it is a continuing transformation of data, systems, and governance.</a:t>
            </a:r>
            <a:br>
              <a:rPr lang="en-US" sz="900" b="0" i="0" dirty="0">
                <a:effectLst/>
                <a:latin typeface="Segoe WPC"/>
              </a:rPr>
            </a:br>
            <a:r>
              <a:rPr lang="en-US" sz="900" b="1" i="0" dirty="0">
                <a:effectLst/>
                <a:latin typeface="Segoe WPC"/>
              </a:rPr>
              <a:t>Common Failure:</a:t>
            </a:r>
            <a:r>
              <a:rPr lang="en-US" sz="900" b="0" i="0" dirty="0">
                <a:effectLst/>
                <a:latin typeface="Segoe WPC"/>
              </a:rPr>
              <a:t> Firms improve reporting faster than aggregation, while governance and infrastructure remain weak.</a:t>
            </a:r>
            <a:endParaRPr lang="en-US" sz="900" dirty="0"/>
          </a:p>
        </p:txBody>
      </p:sp>
    </p:spTree>
    <p:extLst>
      <p:ext uri="{BB962C8B-B14F-4D97-AF65-F5344CB8AC3E}">
        <p14:creationId xmlns:p14="http://schemas.microsoft.com/office/powerpoint/2010/main" val="2136791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F71096-DCA1-B1FE-4ABB-2B4C58505FA9}"/>
              </a:ext>
            </a:extLst>
          </p:cNvPr>
          <p:cNvSpPr>
            <a:spLocks noGrp="1"/>
          </p:cNvSpPr>
          <p:nvPr>
            <p:ph type="title"/>
          </p:nvPr>
        </p:nvSpPr>
        <p:spPr>
          <a:xfrm>
            <a:off x="0" y="-139843"/>
            <a:ext cx="12282986" cy="944715"/>
          </a:xfrm>
        </p:spPr>
        <p:txBody>
          <a:bodyPr>
            <a:normAutofit/>
          </a:bodyPr>
          <a:lstStyle/>
          <a:p>
            <a:r>
              <a:rPr lang="es-PE" sz="3200" dirty="0"/>
              <a:t>Enterprise </a:t>
            </a:r>
            <a:r>
              <a:rPr lang="es-PE" sz="3200" dirty="0" err="1"/>
              <a:t>Risk</a:t>
            </a:r>
            <a:r>
              <a:rPr lang="es-PE" sz="3200" dirty="0"/>
              <a:t> </a:t>
            </a:r>
            <a:r>
              <a:rPr lang="es-PE" sz="3200" dirty="0" err="1"/>
              <a:t>Managementand</a:t>
            </a:r>
            <a:r>
              <a:rPr lang="es-PE" sz="3200" dirty="0"/>
              <a:t> Future </a:t>
            </a:r>
            <a:r>
              <a:rPr lang="es-PE" sz="3200" dirty="0" err="1"/>
              <a:t>Trends</a:t>
            </a:r>
            <a:endParaRPr lang="es-PE" sz="3200" dirty="0"/>
          </a:p>
        </p:txBody>
      </p:sp>
      <p:sp>
        <p:nvSpPr>
          <p:cNvPr id="5" name="CuadroTexto 4">
            <a:extLst>
              <a:ext uri="{FF2B5EF4-FFF2-40B4-BE49-F238E27FC236}">
                <a16:creationId xmlns:a16="http://schemas.microsoft.com/office/drawing/2014/main" id="{C3D60242-4590-4D15-03B2-E8AA8AC0A9ED}"/>
              </a:ext>
            </a:extLst>
          </p:cNvPr>
          <p:cNvSpPr txBox="1"/>
          <p:nvPr/>
        </p:nvSpPr>
        <p:spPr>
          <a:xfrm>
            <a:off x="0" y="600156"/>
            <a:ext cx="5936776" cy="6255559"/>
          </a:xfrm>
          <a:prstGeom prst="rect">
            <a:avLst/>
          </a:prstGeom>
          <a:noFill/>
        </p:spPr>
        <p:txBody>
          <a:bodyPr wrap="square">
            <a:spAutoFit/>
          </a:bodyPr>
          <a:lstStyle/>
          <a:p>
            <a:pPr algn="l">
              <a:spcAft>
                <a:spcPts val="1200"/>
              </a:spcAft>
              <a:buNone/>
            </a:pPr>
            <a:r>
              <a:rPr lang="en-US" sz="800" b="1" i="0" dirty="0">
                <a:effectLst/>
                <a:latin typeface="Segoe WPC"/>
              </a:rPr>
              <a:t>1. Enterprise Risk Management (ERM)</a:t>
            </a:r>
            <a:br>
              <a:rPr lang="en-US" sz="800" b="0" i="0" dirty="0">
                <a:effectLst/>
                <a:latin typeface="Segoe WPC"/>
              </a:rPr>
            </a:br>
            <a:r>
              <a:rPr lang="en-US" sz="800" b="1" i="0" dirty="0">
                <a:effectLst/>
                <a:latin typeface="Segoe WPC"/>
              </a:rPr>
              <a:t>Concept:</a:t>
            </a:r>
            <a:r>
              <a:rPr lang="en-US" sz="800" b="0" i="0" dirty="0">
                <a:effectLst/>
                <a:latin typeface="Segoe WPC"/>
              </a:rPr>
              <a:t> ERM is a firm-wide approach that manages the total portfolio of risks at the enterprise level rather than only within separate business or risk silos.</a:t>
            </a:r>
            <a:br>
              <a:rPr lang="en-US" sz="800" b="0" i="0" dirty="0">
                <a:effectLst/>
                <a:latin typeface="Segoe WPC"/>
              </a:rPr>
            </a:br>
            <a:r>
              <a:rPr lang="en-US" sz="800" b="1" i="0" dirty="0">
                <a:effectLst/>
                <a:latin typeface="Segoe WPC"/>
              </a:rPr>
              <a:t>Intuition:</a:t>
            </a:r>
            <a:r>
              <a:rPr lang="en-US" sz="800" b="0" i="0" dirty="0">
                <a:effectLst/>
                <a:latin typeface="Segoe WPC"/>
              </a:rPr>
              <a:t> A risk may look small inside one unit but become dangerous when viewed across the whole firm.</a:t>
            </a:r>
            <a:br>
              <a:rPr lang="en-US" sz="800" b="0" i="0" dirty="0">
                <a:effectLst/>
                <a:latin typeface="Segoe WPC"/>
              </a:rPr>
            </a:br>
            <a:r>
              <a:rPr lang="en-US" sz="800" b="1" i="0" dirty="0">
                <a:effectLst/>
                <a:latin typeface="Segoe WPC"/>
              </a:rPr>
              <a:t>Key Elements:</a:t>
            </a:r>
            <a:r>
              <a:rPr lang="en-US" sz="800" b="0" i="0" dirty="0">
                <a:effectLst/>
                <a:latin typeface="Segoe WPC"/>
              </a:rPr>
              <a:t> Enterprise risk appetite, enterprise-wide oversight, cross-risk analysis, and strategic integration.</a:t>
            </a:r>
            <a:br>
              <a:rPr lang="en-US" sz="800" b="0" i="0" dirty="0">
                <a:effectLst/>
                <a:latin typeface="Segoe WPC"/>
              </a:rPr>
            </a:br>
            <a:r>
              <a:rPr lang="en-US" sz="800" b="1" i="0" dirty="0">
                <a:effectLst/>
                <a:latin typeface="Segoe WPC"/>
              </a:rPr>
              <a:t>Why It Matters:</a:t>
            </a:r>
            <a:r>
              <a:rPr lang="en-US" sz="800" b="0" i="0" dirty="0">
                <a:effectLst/>
                <a:latin typeface="Segoe WPC"/>
              </a:rPr>
              <a:t> ERM helps firms understand total exposure, prioritize major threats, and align risk with strategy.</a:t>
            </a:r>
            <a:br>
              <a:rPr lang="en-US" sz="800" b="0" i="0" dirty="0">
                <a:effectLst/>
                <a:latin typeface="Segoe WPC"/>
              </a:rPr>
            </a:br>
            <a:r>
              <a:rPr lang="en-US" sz="800" b="1" i="0" dirty="0">
                <a:effectLst/>
                <a:latin typeface="Segoe WPC"/>
              </a:rPr>
              <a:t>Common Failure:</a:t>
            </a:r>
            <a:r>
              <a:rPr lang="en-US" sz="800" b="0" i="0" dirty="0">
                <a:effectLst/>
                <a:latin typeface="Segoe WPC"/>
              </a:rPr>
              <a:t> Firms manage risks only by business line and fail to see concentrations, interactions, or enterprise-wide threats.</a:t>
            </a:r>
          </a:p>
          <a:p>
            <a:pPr algn="l">
              <a:spcAft>
                <a:spcPts val="1200"/>
              </a:spcAft>
              <a:buNone/>
            </a:pPr>
            <a:r>
              <a:rPr lang="en-US" sz="800" b="1" i="0" dirty="0">
                <a:effectLst/>
                <a:latin typeface="Segoe WPC"/>
              </a:rPr>
              <a:t>2. Why Firms Need ERM</a:t>
            </a:r>
            <a:br>
              <a:rPr lang="en-US" sz="800" b="0" i="0" dirty="0">
                <a:effectLst/>
                <a:latin typeface="Segoe WPC"/>
              </a:rPr>
            </a:br>
            <a:r>
              <a:rPr lang="en-US" sz="800" b="1" i="0" dirty="0">
                <a:effectLst/>
                <a:latin typeface="Segoe WPC"/>
              </a:rPr>
              <a:t>Concept:</a:t>
            </a:r>
            <a:r>
              <a:rPr lang="en-US" sz="800" b="0" i="0" dirty="0">
                <a:effectLst/>
                <a:latin typeface="Segoe WPC"/>
              </a:rPr>
              <a:t> ERM exists because silo-based risk management cannot fully capture diversification, concentrations, contagion, and cross-over risks.</a:t>
            </a:r>
            <a:br>
              <a:rPr lang="en-US" sz="800" b="0" i="0" dirty="0">
                <a:effectLst/>
                <a:latin typeface="Segoe WPC"/>
              </a:rPr>
            </a:br>
            <a:r>
              <a:rPr lang="en-US" sz="800" b="1" i="0" dirty="0">
                <a:effectLst/>
                <a:latin typeface="Segoe WPC"/>
              </a:rPr>
              <a:t>Intuition:</a:t>
            </a:r>
            <a:r>
              <a:rPr lang="en-US" sz="800" b="0" i="0" dirty="0">
                <a:effectLst/>
                <a:latin typeface="Segoe WPC"/>
              </a:rPr>
              <a:t> Some risks cancel each other out, while others reinforce each other across the firm.</a:t>
            </a:r>
            <a:br>
              <a:rPr lang="en-US" sz="800" b="0" i="0" dirty="0">
                <a:effectLst/>
                <a:latin typeface="Segoe WPC"/>
              </a:rPr>
            </a:br>
            <a:r>
              <a:rPr lang="en-US" sz="800" b="1" i="0" dirty="0">
                <a:effectLst/>
                <a:latin typeface="Segoe WPC"/>
              </a:rPr>
              <a:t>Key Elements:</a:t>
            </a:r>
            <a:r>
              <a:rPr lang="en-US" sz="800" b="0" i="0" dirty="0">
                <a:effectLst/>
                <a:latin typeface="Segoe WPC"/>
              </a:rPr>
              <a:t> Netting effects, diversification effects, concentration analysis, and cross-over risk identification.</a:t>
            </a:r>
            <a:br>
              <a:rPr lang="en-US" sz="800" b="0" i="0" dirty="0">
                <a:effectLst/>
                <a:latin typeface="Segoe WPC"/>
              </a:rPr>
            </a:br>
            <a:r>
              <a:rPr lang="en-US" sz="800" b="1" i="0" dirty="0">
                <a:effectLst/>
                <a:latin typeface="Segoe WPC"/>
              </a:rPr>
              <a:t>Why It Matters:</a:t>
            </a:r>
            <a:r>
              <a:rPr lang="en-US" sz="800" b="0" i="0" dirty="0">
                <a:effectLst/>
                <a:latin typeface="Segoe WPC"/>
              </a:rPr>
              <a:t> ERM improves risk prioritization and helps firms focus on threats to survival and core functionality.</a:t>
            </a:r>
            <a:br>
              <a:rPr lang="en-US" sz="800" b="0" i="0" dirty="0">
                <a:effectLst/>
                <a:latin typeface="Segoe WPC"/>
              </a:rPr>
            </a:br>
            <a:r>
              <a:rPr lang="en-US" sz="800" b="1" i="0" dirty="0">
                <a:effectLst/>
                <a:latin typeface="Segoe WPC"/>
              </a:rPr>
              <a:t>Common Failure:</a:t>
            </a:r>
            <a:r>
              <a:rPr lang="en-US" sz="800" b="0" i="0" dirty="0">
                <a:effectLst/>
                <a:latin typeface="Segoe WPC"/>
              </a:rPr>
              <a:t> Firms either overreact to local risks or underestimate risks that accumulate across the enterprise.</a:t>
            </a:r>
          </a:p>
          <a:p>
            <a:pPr algn="l">
              <a:spcAft>
                <a:spcPts val="1200"/>
              </a:spcAft>
              <a:buNone/>
            </a:pPr>
            <a:r>
              <a:rPr lang="en-US" sz="800" b="1" i="0" dirty="0">
                <a:effectLst/>
                <a:latin typeface="Segoe WPC"/>
              </a:rPr>
              <a:t>3. ERM vs Traditional Silo-Based Risk Management</a:t>
            </a:r>
            <a:br>
              <a:rPr lang="en-US" sz="800" b="0" i="0" dirty="0">
                <a:effectLst/>
                <a:latin typeface="Segoe WPC"/>
              </a:rPr>
            </a:br>
            <a:r>
              <a:rPr lang="en-US" sz="800" b="1" i="0" dirty="0">
                <a:effectLst/>
                <a:latin typeface="Segoe WPC"/>
              </a:rPr>
              <a:t>Concept:</a:t>
            </a:r>
            <a:r>
              <a:rPr lang="en-US" sz="800" b="0" i="0" dirty="0">
                <a:effectLst/>
                <a:latin typeface="Segoe WPC"/>
              </a:rPr>
              <a:t> Traditional risk management treats risks separately by function or business line, while ERM integrates them.</a:t>
            </a:r>
            <a:br>
              <a:rPr lang="en-US" sz="800" b="0" i="0" dirty="0">
                <a:effectLst/>
                <a:latin typeface="Segoe WPC"/>
              </a:rPr>
            </a:br>
            <a:r>
              <a:rPr lang="en-US" sz="800" b="1" i="0" dirty="0">
                <a:effectLst/>
                <a:latin typeface="Segoe WPC"/>
              </a:rPr>
              <a:t>Intuition:</a:t>
            </a:r>
            <a:r>
              <a:rPr lang="en-US" sz="800" b="0" i="0" dirty="0">
                <a:effectLst/>
                <a:latin typeface="Segoe WPC"/>
              </a:rPr>
              <a:t> Silo-based management sees “parts”; ERM sees the whole portfolio.</a:t>
            </a:r>
            <a:br>
              <a:rPr lang="en-US" sz="800" b="0" i="0" dirty="0">
                <a:effectLst/>
                <a:latin typeface="Segoe WPC"/>
              </a:rPr>
            </a:br>
            <a:r>
              <a:rPr lang="en-US" sz="800" b="1" i="0" dirty="0">
                <a:effectLst/>
                <a:latin typeface="Segoe WPC"/>
              </a:rPr>
              <a:t>Key Elements:</a:t>
            </a:r>
            <a:r>
              <a:rPr lang="en-US" sz="800" b="0" i="0" dirty="0">
                <a:effectLst/>
                <a:latin typeface="Segoe WPC"/>
              </a:rPr>
              <a:t> Global risk committees, CRO oversight, common metrics, enterprise-wide risk transfer, and integrated capital/financing decisions.</a:t>
            </a:r>
            <a:br>
              <a:rPr lang="en-US" sz="800" b="0" i="0" dirty="0">
                <a:effectLst/>
                <a:latin typeface="Segoe WPC"/>
              </a:rPr>
            </a:br>
            <a:r>
              <a:rPr lang="en-US" sz="800" b="1" i="0" dirty="0">
                <a:effectLst/>
                <a:latin typeface="Segoe WPC"/>
              </a:rPr>
              <a:t>Why It Matters:</a:t>
            </a:r>
            <a:r>
              <a:rPr lang="en-US" sz="800" b="0" i="0" dirty="0">
                <a:effectLst/>
                <a:latin typeface="Segoe WPC"/>
              </a:rPr>
              <a:t> ERM allows better comparison of risks, lower transfer costs, and more consistent decision-making.</a:t>
            </a:r>
            <a:br>
              <a:rPr lang="en-US" sz="800" b="0" i="0" dirty="0">
                <a:effectLst/>
                <a:latin typeface="Segoe WPC"/>
              </a:rPr>
            </a:br>
            <a:r>
              <a:rPr lang="en-US" sz="800" b="1" i="0" dirty="0">
                <a:effectLst/>
                <a:latin typeface="Segoe WPC"/>
              </a:rPr>
              <a:t>Common Failure:</a:t>
            </a:r>
            <a:r>
              <a:rPr lang="en-US" sz="800" b="0" i="0" dirty="0">
                <a:effectLst/>
                <a:latin typeface="Segoe WPC"/>
              </a:rPr>
              <a:t> Different units use different metrics and make inconsistent risk decisions that conflict with enterprise goals.</a:t>
            </a:r>
          </a:p>
          <a:p>
            <a:pPr algn="l">
              <a:spcAft>
                <a:spcPts val="1200"/>
              </a:spcAft>
              <a:buNone/>
            </a:pPr>
            <a:r>
              <a:rPr lang="en-US" sz="800" b="1" i="0" dirty="0">
                <a:effectLst/>
                <a:latin typeface="Segoe WPC"/>
              </a:rPr>
              <a:t>4. Brief History of ERM</a:t>
            </a:r>
            <a:br>
              <a:rPr lang="en-US" sz="800" b="0" i="0" dirty="0">
                <a:effectLst/>
                <a:latin typeface="Segoe WPC"/>
              </a:rPr>
            </a:br>
            <a:r>
              <a:rPr lang="en-US" sz="800" b="1" i="0" dirty="0">
                <a:effectLst/>
                <a:latin typeface="Segoe WPC"/>
              </a:rPr>
              <a:t>Concept:</a:t>
            </a:r>
            <a:r>
              <a:rPr lang="en-US" sz="800" b="0" i="0" dirty="0">
                <a:effectLst/>
                <a:latin typeface="Segoe WPC"/>
              </a:rPr>
              <a:t> ERM developed gradually as firms and regulators realized that risk had to be viewed more holistically.</a:t>
            </a:r>
            <a:br>
              <a:rPr lang="en-US" sz="800" b="0" i="0" dirty="0">
                <a:effectLst/>
                <a:latin typeface="Segoe WPC"/>
              </a:rPr>
            </a:br>
            <a:r>
              <a:rPr lang="en-US" sz="800" b="1" i="0" dirty="0">
                <a:effectLst/>
                <a:latin typeface="Segoe WPC"/>
              </a:rPr>
              <a:t>Intuition:</a:t>
            </a:r>
            <a:r>
              <a:rPr lang="en-US" sz="800" b="0" i="0" dirty="0">
                <a:effectLst/>
                <a:latin typeface="Segoe WPC"/>
              </a:rPr>
              <a:t> As markets, derivatives, and global firms became more complex, isolated risk management stopped being enough.</a:t>
            </a:r>
            <a:br>
              <a:rPr lang="en-US" sz="800" b="0" i="0" dirty="0">
                <a:effectLst/>
                <a:latin typeface="Segoe WPC"/>
              </a:rPr>
            </a:br>
            <a:r>
              <a:rPr lang="en-US" sz="800" b="1" i="0" dirty="0">
                <a:effectLst/>
                <a:latin typeface="Segoe WPC"/>
              </a:rPr>
              <a:t>Key Elements:</a:t>
            </a:r>
            <a:r>
              <a:rPr lang="en-US" sz="800" b="0" i="0" dirty="0">
                <a:effectLst/>
                <a:latin typeface="Segoe WPC"/>
              </a:rPr>
              <a:t> Financial liberalization in the 1970s, global risk divisions in the 1990s, CRO roles, </a:t>
            </a:r>
            <a:r>
              <a:rPr lang="en-US" sz="800" b="0" i="0" dirty="0" err="1">
                <a:effectLst/>
                <a:latin typeface="Segoe WPC"/>
              </a:rPr>
              <a:t>VaR</a:t>
            </a:r>
            <a:r>
              <a:rPr lang="en-US" sz="800" b="0" i="0" dirty="0">
                <a:effectLst/>
                <a:latin typeface="Segoe WPC"/>
              </a:rPr>
              <a:t>, operational risk tracking, and post-crisis expansion of ERM tools.</a:t>
            </a:r>
            <a:br>
              <a:rPr lang="en-US" sz="800" b="0" i="0" dirty="0">
                <a:effectLst/>
                <a:latin typeface="Segoe WPC"/>
              </a:rPr>
            </a:br>
            <a:r>
              <a:rPr lang="en-US" sz="800" b="1" i="0" dirty="0">
                <a:effectLst/>
                <a:latin typeface="Segoe WPC"/>
              </a:rPr>
              <a:t>Why It Matters:</a:t>
            </a:r>
            <a:r>
              <a:rPr lang="en-US" sz="800" b="0" i="0" dirty="0">
                <a:effectLst/>
                <a:latin typeface="Segoe WPC"/>
              </a:rPr>
              <a:t> The 2007-2009 crisis showed the need for enterprise risk appetite, data aggregation, stress testing, and stronger risk culture.</a:t>
            </a:r>
            <a:br>
              <a:rPr lang="en-US" sz="800" b="0" i="0" dirty="0">
                <a:effectLst/>
                <a:latin typeface="Segoe WPC"/>
              </a:rPr>
            </a:br>
            <a:r>
              <a:rPr lang="en-US" sz="800" b="1" i="0" dirty="0">
                <a:effectLst/>
                <a:latin typeface="Segoe WPC"/>
              </a:rPr>
              <a:t>Common Failure:</a:t>
            </a:r>
            <a:r>
              <a:rPr lang="en-US" sz="800" b="0" i="0" dirty="0">
                <a:effectLst/>
                <a:latin typeface="Segoe WPC"/>
              </a:rPr>
              <a:t> Firms adopt ERM structures formally but fail to change actual behavior, reporting, or decision-making.</a:t>
            </a:r>
          </a:p>
          <a:p>
            <a:pPr algn="l">
              <a:spcAft>
                <a:spcPts val="1200"/>
              </a:spcAft>
              <a:buNone/>
            </a:pPr>
            <a:r>
              <a:rPr lang="en-US" sz="800" b="1" i="0" dirty="0">
                <a:effectLst/>
                <a:latin typeface="Segoe WPC"/>
              </a:rPr>
              <a:t>5. Five Dimensions of ERM</a:t>
            </a:r>
            <a:br>
              <a:rPr lang="en-US" sz="800" b="0" i="0" dirty="0">
                <a:effectLst/>
                <a:latin typeface="Segoe WPC"/>
              </a:rPr>
            </a:br>
            <a:r>
              <a:rPr lang="en-US" sz="800" b="1" i="0" dirty="0">
                <a:effectLst/>
                <a:latin typeface="Segoe WPC"/>
              </a:rPr>
              <a:t>Concept:</a:t>
            </a:r>
            <a:r>
              <a:rPr lang="en-US" sz="800" b="0" i="0" dirty="0">
                <a:effectLst/>
                <a:latin typeface="Segoe WPC"/>
              </a:rPr>
              <a:t> ERM works through five interacting dimensions: targets, structure, metrics, strategies, and culture.</a:t>
            </a:r>
            <a:br>
              <a:rPr lang="en-US" sz="800" b="0" i="0" dirty="0">
                <a:effectLst/>
                <a:latin typeface="Segoe WPC"/>
              </a:rPr>
            </a:br>
            <a:r>
              <a:rPr lang="en-US" sz="800" b="1" i="0" dirty="0">
                <a:effectLst/>
                <a:latin typeface="Segoe WPC"/>
              </a:rPr>
              <a:t>Intuition:</a:t>
            </a:r>
            <a:r>
              <a:rPr lang="en-US" sz="800" b="0" i="0" dirty="0">
                <a:effectLst/>
                <a:latin typeface="Segoe WPC"/>
              </a:rPr>
              <a:t> ERM succeeds only when governance, measurement, action, and behavior all reinforce each other.</a:t>
            </a:r>
            <a:br>
              <a:rPr lang="en-US" sz="800" b="0" i="0" dirty="0">
                <a:effectLst/>
                <a:latin typeface="Segoe WPC"/>
              </a:rPr>
            </a:br>
            <a:r>
              <a:rPr lang="en-US" sz="800" b="1" i="0" dirty="0">
                <a:effectLst/>
                <a:latin typeface="Segoe WPC"/>
              </a:rPr>
              <a:t>Key Elements:</a:t>
            </a:r>
            <a:endParaRPr lang="en-US" sz="800" b="0" i="0" dirty="0">
              <a:effectLst/>
              <a:latin typeface="Segoe WPC"/>
            </a:endParaRPr>
          </a:p>
          <a:p>
            <a:pPr algn="l">
              <a:spcBef>
                <a:spcPts val="300"/>
              </a:spcBef>
              <a:spcAft>
                <a:spcPts val="300"/>
              </a:spcAft>
              <a:buFont typeface="Arial" panose="020B0604020202020204" pitchFamily="34" charset="0"/>
              <a:buChar char="•"/>
            </a:pPr>
            <a:r>
              <a:rPr lang="en-US" sz="800" b="0" i="0" dirty="0">
                <a:effectLst/>
                <a:latin typeface="Segoe WPC"/>
              </a:rPr>
              <a:t>Targets: risk appetite and strategic goals</a:t>
            </a:r>
          </a:p>
          <a:p>
            <a:pPr algn="l">
              <a:spcBef>
                <a:spcPts val="300"/>
              </a:spcBef>
              <a:spcAft>
                <a:spcPts val="300"/>
              </a:spcAft>
              <a:buFont typeface="Arial" panose="020B0604020202020204" pitchFamily="34" charset="0"/>
              <a:buChar char="•"/>
            </a:pPr>
            <a:r>
              <a:rPr lang="en-US" sz="800" b="0" i="0" dirty="0">
                <a:effectLst/>
                <a:latin typeface="Segoe WPC"/>
              </a:rPr>
              <a:t>Structure: board, CRO, committees, reporting lines</a:t>
            </a:r>
          </a:p>
          <a:p>
            <a:pPr algn="l">
              <a:spcBef>
                <a:spcPts val="300"/>
              </a:spcBef>
              <a:spcAft>
                <a:spcPts val="300"/>
              </a:spcAft>
              <a:buFont typeface="Arial" panose="020B0604020202020204" pitchFamily="34" charset="0"/>
              <a:buChar char="•"/>
            </a:pPr>
            <a:r>
              <a:rPr lang="en-US" sz="800" b="0" i="0" dirty="0">
                <a:effectLst/>
                <a:latin typeface="Segoe WPC"/>
              </a:rPr>
              <a:t>Metrics: stress testing, </a:t>
            </a:r>
            <a:r>
              <a:rPr lang="en-US" sz="800" b="0" i="0" dirty="0" err="1">
                <a:effectLst/>
                <a:latin typeface="Segoe WPC"/>
              </a:rPr>
              <a:t>VaR</a:t>
            </a:r>
            <a:r>
              <a:rPr lang="en-US" sz="800" b="0" i="0" dirty="0">
                <a:effectLst/>
                <a:latin typeface="Segoe WPC"/>
              </a:rPr>
              <a:t>, risk mapping, total cost of risk</a:t>
            </a:r>
          </a:p>
          <a:p>
            <a:pPr algn="l">
              <a:spcBef>
                <a:spcPts val="300"/>
              </a:spcBef>
              <a:spcAft>
                <a:spcPts val="300"/>
              </a:spcAft>
              <a:buFont typeface="Arial" panose="020B0604020202020204" pitchFamily="34" charset="0"/>
              <a:buChar char="•"/>
            </a:pPr>
            <a:r>
              <a:rPr lang="en-US" sz="800" b="0" i="0" dirty="0">
                <a:effectLst/>
                <a:latin typeface="Segoe WPC"/>
              </a:rPr>
              <a:t>Strategies: avoid, retain, mitigate, transfer</a:t>
            </a:r>
          </a:p>
          <a:p>
            <a:pPr algn="l">
              <a:spcBef>
                <a:spcPts val="300"/>
              </a:spcBef>
              <a:spcAft>
                <a:spcPts val="300"/>
              </a:spcAft>
              <a:buFont typeface="Arial" panose="020B0604020202020204" pitchFamily="34" charset="0"/>
              <a:buChar char="•"/>
            </a:pPr>
            <a:r>
              <a:rPr lang="en-US" sz="800" b="0" i="0" dirty="0">
                <a:effectLst/>
                <a:latin typeface="Segoe WPC"/>
              </a:rPr>
              <a:t>Culture: tone at the top, accountability, risk literacy</a:t>
            </a:r>
            <a:br>
              <a:rPr lang="en-US" sz="800" b="0" i="0" dirty="0">
                <a:effectLst/>
                <a:latin typeface="Segoe WPC"/>
              </a:rPr>
            </a:br>
            <a:r>
              <a:rPr lang="en-US" sz="800" b="1" i="0" dirty="0">
                <a:effectLst/>
                <a:latin typeface="Segoe WPC"/>
              </a:rPr>
              <a:t>Why It Matters:</a:t>
            </a:r>
            <a:r>
              <a:rPr lang="en-US" sz="800" b="0" i="0" dirty="0">
                <a:effectLst/>
                <a:latin typeface="Segoe WPC"/>
              </a:rPr>
              <a:t> These dimensions turn ERM from a vision into a practical operating framework.</a:t>
            </a:r>
            <a:br>
              <a:rPr lang="en-US" sz="800" b="0" i="0" dirty="0">
                <a:effectLst/>
                <a:latin typeface="Segoe WPC"/>
              </a:rPr>
            </a:br>
            <a:r>
              <a:rPr lang="en-US" sz="800" b="1" i="0" dirty="0">
                <a:effectLst/>
                <a:latin typeface="Segoe WPC"/>
              </a:rPr>
              <a:t>Common Failure:</a:t>
            </a:r>
            <a:r>
              <a:rPr lang="en-US" sz="800" b="0" i="0" dirty="0">
                <a:effectLst/>
                <a:latin typeface="Segoe WPC"/>
              </a:rPr>
              <a:t> Firms strengthen one dimension, such as reporting or committees, but ignore culture or implementation.</a:t>
            </a:r>
          </a:p>
        </p:txBody>
      </p:sp>
      <p:sp>
        <p:nvSpPr>
          <p:cNvPr id="7" name="CuadroTexto 6">
            <a:extLst>
              <a:ext uri="{FF2B5EF4-FFF2-40B4-BE49-F238E27FC236}">
                <a16:creationId xmlns:a16="http://schemas.microsoft.com/office/drawing/2014/main" id="{92BD3362-EA92-401B-41B1-6835F77F66AF}"/>
              </a:ext>
            </a:extLst>
          </p:cNvPr>
          <p:cNvSpPr txBox="1"/>
          <p:nvPr/>
        </p:nvSpPr>
        <p:spPr>
          <a:xfrm>
            <a:off x="5854890" y="546295"/>
            <a:ext cx="6250674" cy="6309420"/>
          </a:xfrm>
          <a:prstGeom prst="rect">
            <a:avLst/>
          </a:prstGeom>
          <a:noFill/>
        </p:spPr>
        <p:txBody>
          <a:bodyPr wrap="square">
            <a:spAutoFit/>
          </a:bodyPr>
          <a:lstStyle/>
          <a:p>
            <a:pPr algn="l">
              <a:spcAft>
                <a:spcPts val="1200"/>
              </a:spcAft>
              <a:buNone/>
            </a:pPr>
            <a:r>
              <a:rPr lang="en-US" sz="800" b="1" i="0" dirty="0">
                <a:effectLst/>
                <a:latin typeface="Segoe WPC"/>
              </a:rPr>
              <a:t>6. Four Core Reasons Enterprise Risk Demands ERM</a:t>
            </a:r>
            <a:br>
              <a:rPr lang="en-US" sz="800" b="0" i="0" dirty="0">
                <a:effectLst/>
                <a:latin typeface="Segoe WPC"/>
              </a:rPr>
            </a:br>
            <a:r>
              <a:rPr lang="en-US" sz="800" b="1" i="0" dirty="0">
                <a:effectLst/>
                <a:latin typeface="Segoe WPC"/>
              </a:rPr>
              <a:t>Concept:</a:t>
            </a:r>
            <a:r>
              <a:rPr lang="en-US" sz="800" b="0" i="0" dirty="0">
                <a:effectLst/>
                <a:latin typeface="Segoe WPC"/>
              </a:rPr>
              <a:t> ERM is needed because enterprise risks often emerge in ways that silo management cannot detect.</a:t>
            </a:r>
            <a:br>
              <a:rPr lang="en-US" sz="800" b="0" i="0" dirty="0">
                <a:effectLst/>
                <a:latin typeface="Segoe WPC"/>
              </a:rPr>
            </a:br>
            <a:r>
              <a:rPr lang="en-US" sz="800" b="1" i="0" dirty="0">
                <a:effectLst/>
                <a:latin typeface="Segoe WPC"/>
              </a:rPr>
              <a:t>Intuition:</a:t>
            </a:r>
            <a:r>
              <a:rPr lang="en-US" sz="800" b="0" i="0" dirty="0">
                <a:effectLst/>
                <a:latin typeface="Segoe WPC"/>
              </a:rPr>
              <a:t> The biggest danger is often not one large visible risk, but many connected smaller ones.</a:t>
            </a:r>
            <a:br>
              <a:rPr lang="en-US" sz="800" b="0" i="0" dirty="0">
                <a:effectLst/>
                <a:latin typeface="Segoe WPC"/>
              </a:rPr>
            </a:br>
            <a:r>
              <a:rPr lang="en-US" sz="800" b="1" i="0" dirty="0">
                <a:effectLst/>
                <a:latin typeface="Segoe WPC"/>
              </a:rPr>
              <a:t>Key Elements:</a:t>
            </a:r>
            <a:endParaRPr lang="en-US" sz="800" b="0" i="0" dirty="0">
              <a:effectLst/>
              <a:latin typeface="Segoe WPC"/>
            </a:endParaRPr>
          </a:p>
          <a:p>
            <a:pPr algn="l">
              <a:spcBef>
                <a:spcPts val="300"/>
              </a:spcBef>
              <a:spcAft>
                <a:spcPts val="300"/>
              </a:spcAft>
              <a:buFont typeface="Arial" panose="020B0604020202020204" pitchFamily="34" charset="0"/>
              <a:buChar char="•"/>
            </a:pPr>
            <a:r>
              <a:rPr lang="en-US" sz="800" b="0" i="0" dirty="0">
                <a:effectLst/>
                <a:latin typeface="Segoe WPC"/>
              </a:rPr>
              <a:t>Vertical vision: small local decisions can become firm-wide threats</a:t>
            </a:r>
          </a:p>
          <a:p>
            <a:pPr algn="l">
              <a:spcBef>
                <a:spcPts val="300"/>
              </a:spcBef>
              <a:spcAft>
                <a:spcPts val="300"/>
              </a:spcAft>
              <a:buFont typeface="Arial" panose="020B0604020202020204" pitchFamily="34" charset="0"/>
              <a:buChar char="•"/>
            </a:pPr>
            <a:r>
              <a:rPr lang="en-US" sz="800" b="0" i="0" dirty="0">
                <a:effectLst/>
                <a:latin typeface="Segoe WPC"/>
              </a:rPr>
              <a:t>Concentration risk: hidden exposure across customers, sectors, products, suppliers, or geographies</a:t>
            </a:r>
          </a:p>
          <a:p>
            <a:pPr algn="l">
              <a:spcBef>
                <a:spcPts val="300"/>
              </a:spcBef>
              <a:spcAft>
                <a:spcPts val="300"/>
              </a:spcAft>
              <a:buFont typeface="Arial" panose="020B0604020202020204" pitchFamily="34" charset="0"/>
              <a:buChar char="•"/>
            </a:pPr>
            <a:r>
              <a:rPr lang="en-US" sz="800" b="0" i="0" dirty="0">
                <a:effectLst/>
                <a:latin typeface="Segoe WPC"/>
              </a:rPr>
              <a:t>Beyond silos: diversification and cross-risk interactions</a:t>
            </a:r>
          </a:p>
          <a:p>
            <a:pPr algn="l">
              <a:spcBef>
                <a:spcPts val="300"/>
              </a:spcBef>
              <a:spcAft>
                <a:spcPts val="300"/>
              </a:spcAft>
              <a:buFont typeface="Arial" panose="020B0604020202020204" pitchFamily="34" charset="0"/>
              <a:buChar char="•"/>
            </a:pPr>
            <a:r>
              <a:rPr lang="en-US" sz="800" b="0" i="0" dirty="0">
                <a:effectLst/>
                <a:latin typeface="Segoe WPC"/>
              </a:rPr>
              <a:t>Retention decisions: self-insurance and captive insurance should be made at the enterprise level</a:t>
            </a:r>
            <a:br>
              <a:rPr lang="en-US" sz="800" b="0" i="0" dirty="0">
                <a:effectLst/>
                <a:latin typeface="Segoe WPC"/>
              </a:rPr>
            </a:br>
            <a:r>
              <a:rPr lang="en-US" sz="800" b="1" i="0" dirty="0">
                <a:effectLst/>
                <a:latin typeface="Segoe WPC"/>
              </a:rPr>
              <a:t>Why It Matters:</a:t>
            </a:r>
            <a:r>
              <a:rPr lang="en-US" sz="800" b="0" i="0" dirty="0">
                <a:effectLst/>
                <a:latin typeface="Segoe WPC"/>
              </a:rPr>
              <a:t> ERM helps firms identify enterprise-scale threats early and allocate capital and protection more efficiently.</a:t>
            </a:r>
            <a:br>
              <a:rPr lang="en-US" sz="800" b="0" i="0" dirty="0">
                <a:effectLst/>
                <a:latin typeface="Segoe WPC"/>
              </a:rPr>
            </a:br>
            <a:r>
              <a:rPr lang="en-US" sz="800" b="1" i="0" dirty="0">
                <a:effectLst/>
                <a:latin typeface="Segoe WPC"/>
              </a:rPr>
              <a:t>Common Failure:</a:t>
            </a:r>
            <a:r>
              <a:rPr lang="en-US" sz="800" b="0" i="0" dirty="0">
                <a:effectLst/>
                <a:latin typeface="Segoe WPC"/>
              </a:rPr>
              <a:t> Concentrations remain hidden until stress reveals them, as happened in crises and funding failures such as Northern Rock.</a:t>
            </a:r>
          </a:p>
          <a:p>
            <a:pPr algn="l">
              <a:spcAft>
                <a:spcPts val="1200"/>
              </a:spcAft>
              <a:buNone/>
            </a:pPr>
            <a:r>
              <a:rPr lang="en-US" sz="800" b="1" i="0" dirty="0">
                <a:effectLst/>
                <a:latin typeface="Segoe WPC"/>
              </a:rPr>
              <a:t>7. Risk Culture</a:t>
            </a:r>
            <a:br>
              <a:rPr lang="en-US" sz="800" b="0" i="0" dirty="0">
                <a:effectLst/>
                <a:latin typeface="Segoe WPC"/>
              </a:rPr>
            </a:br>
            <a:r>
              <a:rPr lang="en-US" sz="800" b="1" i="0" dirty="0">
                <a:effectLst/>
                <a:latin typeface="Segoe WPC"/>
              </a:rPr>
              <a:t>Concept:</a:t>
            </a:r>
            <a:r>
              <a:rPr lang="en-US" sz="800" b="0" i="0" dirty="0">
                <a:effectLst/>
                <a:latin typeface="Segoe WPC"/>
              </a:rPr>
              <a:t> Risk culture is the set of values, behaviors, incentives, and norms that shape how people identify, discuss, and act on risk.</a:t>
            </a:r>
            <a:br>
              <a:rPr lang="en-US" sz="800" b="0" i="0" dirty="0">
                <a:effectLst/>
                <a:latin typeface="Segoe WPC"/>
              </a:rPr>
            </a:br>
            <a:r>
              <a:rPr lang="en-US" sz="800" b="1" i="0" dirty="0">
                <a:effectLst/>
                <a:latin typeface="Segoe WPC"/>
              </a:rPr>
              <a:t>Intuition:</a:t>
            </a:r>
            <a:r>
              <a:rPr lang="en-US" sz="800" b="0" i="0" dirty="0">
                <a:effectLst/>
                <a:latin typeface="Segoe WPC"/>
              </a:rPr>
              <a:t> Risk culture determines whether the firm actually behaves in line with its stated risk appetite.</a:t>
            </a:r>
            <a:br>
              <a:rPr lang="en-US" sz="800" b="0" i="0" dirty="0">
                <a:effectLst/>
                <a:latin typeface="Segoe WPC"/>
              </a:rPr>
            </a:br>
            <a:r>
              <a:rPr lang="en-US" sz="800" b="1" i="0" dirty="0">
                <a:effectLst/>
                <a:latin typeface="Segoe WPC"/>
              </a:rPr>
              <a:t>Key Elements:</a:t>
            </a:r>
            <a:r>
              <a:rPr lang="en-US" sz="800" b="0" i="0" dirty="0">
                <a:effectLst/>
                <a:latin typeface="Segoe WPC"/>
              </a:rPr>
              <a:t> Tone from the top, accountability, effective challenge, compensation, escalation, whistleblowing, risk literacy, and information flow.</a:t>
            </a:r>
            <a:br>
              <a:rPr lang="en-US" sz="800" b="0" i="0" dirty="0">
                <a:effectLst/>
                <a:latin typeface="Segoe WPC"/>
              </a:rPr>
            </a:br>
            <a:r>
              <a:rPr lang="en-US" sz="800" b="1" i="0" dirty="0">
                <a:effectLst/>
                <a:latin typeface="Segoe WPC"/>
              </a:rPr>
              <a:t>Why It Matters:</a:t>
            </a:r>
            <a:r>
              <a:rPr lang="en-US" sz="800" b="0" i="0" dirty="0">
                <a:effectLst/>
                <a:latin typeface="Segoe WPC"/>
              </a:rPr>
              <a:t> A strong risk culture is one of the best tools for making ERM real across the firm.</a:t>
            </a:r>
            <a:br>
              <a:rPr lang="en-US" sz="800" b="0" i="0" dirty="0">
                <a:effectLst/>
                <a:latin typeface="Segoe WPC"/>
              </a:rPr>
            </a:br>
            <a:r>
              <a:rPr lang="en-US" sz="800" b="1" i="0" dirty="0">
                <a:effectLst/>
                <a:latin typeface="Segoe WPC"/>
              </a:rPr>
              <a:t>Common Failure:</a:t>
            </a:r>
            <a:r>
              <a:rPr lang="en-US" sz="800" b="0" i="0" dirty="0">
                <a:effectLst/>
                <a:latin typeface="Segoe WPC"/>
              </a:rPr>
              <a:t> Firms state the right values, but local incentives, groupthink, or weak challenge drive different behavior in practice.</a:t>
            </a:r>
          </a:p>
          <a:p>
            <a:pPr algn="l">
              <a:spcAft>
                <a:spcPts val="1200"/>
              </a:spcAft>
              <a:buNone/>
            </a:pPr>
            <a:r>
              <a:rPr lang="en-US" sz="800" b="1" i="0" dirty="0">
                <a:effectLst/>
                <a:latin typeface="Segoe WPC"/>
              </a:rPr>
              <a:t>8. Scenario Analysis and Stress Testing</a:t>
            </a:r>
            <a:br>
              <a:rPr lang="en-US" sz="800" b="0" i="0" dirty="0">
                <a:effectLst/>
                <a:latin typeface="Segoe WPC"/>
              </a:rPr>
            </a:br>
            <a:r>
              <a:rPr lang="en-US" sz="800" b="1" i="0" dirty="0">
                <a:effectLst/>
                <a:latin typeface="Segoe WPC"/>
              </a:rPr>
              <a:t>Concept:</a:t>
            </a:r>
            <a:r>
              <a:rPr lang="en-US" sz="800" b="0" i="0" dirty="0">
                <a:effectLst/>
                <a:latin typeface="Segoe WPC"/>
              </a:rPr>
              <a:t> Scenario analysis and stress testing are central ERM tools for understanding how extreme events affect the firm over time.</a:t>
            </a:r>
            <a:br>
              <a:rPr lang="en-US" sz="800" b="0" i="0" dirty="0">
                <a:effectLst/>
                <a:latin typeface="Segoe WPC"/>
              </a:rPr>
            </a:br>
            <a:r>
              <a:rPr lang="en-US" sz="800" b="1" i="0" dirty="0">
                <a:effectLst/>
                <a:latin typeface="Segoe WPC"/>
              </a:rPr>
              <a:t>Intuition:</a:t>
            </a:r>
            <a:r>
              <a:rPr lang="en-US" sz="800" b="0" i="0" dirty="0">
                <a:effectLst/>
                <a:latin typeface="Segoe WPC"/>
              </a:rPr>
              <a:t> Instead of asking only “what is the average risk?”, firms ask “what happens if a severe scenario unfolds?”</a:t>
            </a:r>
            <a:br>
              <a:rPr lang="en-US" sz="800" b="0" i="0" dirty="0">
                <a:effectLst/>
                <a:latin typeface="Segoe WPC"/>
              </a:rPr>
            </a:br>
            <a:r>
              <a:rPr lang="en-US" sz="800" b="1" i="0" dirty="0">
                <a:effectLst/>
                <a:latin typeface="Segoe WPC"/>
              </a:rPr>
              <a:t>Key Elements:</a:t>
            </a:r>
            <a:r>
              <a:rPr lang="en-US" sz="800" b="0" i="0" dirty="0">
                <a:effectLst/>
                <a:latin typeface="Segoe WPC"/>
              </a:rPr>
              <a:t> Historical scenarios, hypothetical scenarios, enterprise-wide stress tests, forward-looking narratives, and reverse stress testing.</a:t>
            </a:r>
            <a:br>
              <a:rPr lang="en-US" sz="800" b="0" i="0" dirty="0">
                <a:effectLst/>
                <a:latin typeface="Segoe WPC"/>
              </a:rPr>
            </a:br>
            <a:r>
              <a:rPr lang="en-US" sz="800" b="1" i="0" dirty="0">
                <a:effectLst/>
                <a:latin typeface="Segoe WPC"/>
              </a:rPr>
              <a:t>Why It Matters:</a:t>
            </a:r>
            <a:r>
              <a:rPr lang="en-US" sz="800" b="0" i="0" dirty="0">
                <a:effectLst/>
                <a:latin typeface="Segoe WPC"/>
              </a:rPr>
              <a:t> These tools reveal cross-risk interactions, capital needs, warning indicators, and contingency actions better than summary metrics alone.</a:t>
            </a:r>
            <a:br>
              <a:rPr lang="en-US" sz="800" b="0" i="0" dirty="0">
                <a:effectLst/>
                <a:latin typeface="Segoe WPC"/>
              </a:rPr>
            </a:br>
            <a:r>
              <a:rPr lang="en-US" sz="800" b="1" i="0" dirty="0">
                <a:effectLst/>
                <a:latin typeface="Segoe WPC"/>
              </a:rPr>
              <a:t>Common Failure:</a:t>
            </a:r>
            <a:r>
              <a:rPr lang="en-US" sz="800" b="0" i="0" dirty="0">
                <a:effectLst/>
                <a:latin typeface="Segoe WPC"/>
              </a:rPr>
              <a:t> Firms choose scenarios that are too mild, too narrow, or too influenced by the last crisis.</a:t>
            </a:r>
          </a:p>
          <a:p>
            <a:pPr algn="l">
              <a:spcAft>
                <a:spcPts val="1200"/>
              </a:spcAft>
              <a:buNone/>
            </a:pPr>
            <a:r>
              <a:rPr lang="en-US" sz="800" b="1" i="0" dirty="0">
                <a:effectLst/>
                <a:latin typeface="Segoe WPC"/>
              </a:rPr>
              <a:t>9. Post-Crisis Stress Testing and Strategic Use</a:t>
            </a:r>
            <a:br>
              <a:rPr lang="en-US" sz="800" b="0" i="0" dirty="0">
                <a:effectLst/>
                <a:latin typeface="Segoe WPC"/>
              </a:rPr>
            </a:br>
            <a:r>
              <a:rPr lang="en-US" sz="800" b="1" i="0" dirty="0">
                <a:effectLst/>
                <a:latin typeface="Segoe WPC"/>
              </a:rPr>
              <a:t>Concept:</a:t>
            </a:r>
            <a:r>
              <a:rPr lang="en-US" sz="800" b="0" i="0" dirty="0">
                <a:effectLst/>
                <a:latin typeface="Segoe WPC"/>
              </a:rPr>
              <a:t> Post-crisis regulatory stress testing, especially CCAR and DFAST, pushed banks toward more dynamic and enterprise-wide ERM.</a:t>
            </a:r>
            <a:br>
              <a:rPr lang="en-US" sz="800" b="0" i="0" dirty="0">
                <a:effectLst/>
                <a:latin typeface="Segoe WPC"/>
              </a:rPr>
            </a:br>
            <a:r>
              <a:rPr lang="en-US" sz="800" b="1" i="0" dirty="0">
                <a:effectLst/>
                <a:latin typeface="Segoe WPC"/>
              </a:rPr>
              <a:t>Intuition:</a:t>
            </a:r>
            <a:r>
              <a:rPr lang="en-US" sz="800" b="0" i="0" dirty="0">
                <a:effectLst/>
                <a:latin typeface="Segoe WPC"/>
              </a:rPr>
              <a:t> Banks must show not only that they can measure risk, but that they can survive severe macroeconomic stress.</a:t>
            </a:r>
            <a:br>
              <a:rPr lang="en-US" sz="800" b="0" i="0" dirty="0">
                <a:effectLst/>
                <a:latin typeface="Segoe WPC"/>
              </a:rPr>
            </a:br>
            <a:r>
              <a:rPr lang="en-US" sz="800" b="1" i="0" dirty="0">
                <a:effectLst/>
                <a:latin typeface="Segoe WPC"/>
              </a:rPr>
              <a:t>Key Elements:</a:t>
            </a:r>
            <a:r>
              <a:rPr lang="en-US" sz="800" b="0" i="0" dirty="0">
                <a:effectLst/>
                <a:latin typeface="Segoe WPC"/>
              </a:rPr>
              <a:t> Multi-quarter macro scenarios, capital planning, projected losses, revenues, balance sheet impacts, and minimum capital ratios under stress.</a:t>
            </a:r>
            <a:br>
              <a:rPr lang="en-US" sz="800" b="0" i="0" dirty="0">
                <a:effectLst/>
                <a:latin typeface="Segoe WPC"/>
              </a:rPr>
            </a:br>
            <a:r>
              <a:rPr lang="en-US" sz="800" b="1" i="0" dirty="0">
                <a:effectLst/>
                <a:latin typeface="Segoe WPC"/>
              </a:rPr>
              <a:t>Why It Matters:</a:t>
            </a:r>
            <a:r>
              <a:rPr lang="en-US" sz="800" b="0" i="0" dirty="0">
                <a:effectLst/>
                <a:latin typeface="Segoe WPC"/>
              </a:rPr>
              <a:t> Stress testing now influences risk appetite, capital plans, business planning, and strategic decisions.</a:t>
            </a:r>
            <a:br>
              <a:rPr lang="en-US" sz="800" b="0" i="0" dirty="0">
                <a:effectLst/>
                <a:latin typeface="Segoe WPC"/>
              </a:rPr>
            </a:br>
            <a:r>
              <a:rPr lang="en-US" sz="800" b="1" i="0" dirty="0">
                <a:effectLst/>
                <a:latin typeface="Segoe WPC"/>
              </a:rPr>
              <a:t>Common Failure:</a:t>
            </a:r>
            <a:r>
              <a:rPr lang="en-US" sz="800" b="0" i="0" dirty="0">
                <a:effectLst/>
                <a:latin typeface="Segoe WPC"/>
              </a:rPr>
              <a:t> Many firms still treat stress testing mainly as a compliance exercise instead of using it in day-to-day planning.</a:t>
            </a:r>
          </a:p>
          <a:p>
            <a:pPr algn="l">
              <a:spcAft>
                <a:spcPts val="1200"/>
              </a:spcAft>
              <a:buNone/>
            </a:pPr>
            <a:r>
              <a:rPr lang="en-US" sz="800" b="1" i="0" dirty="0">
                <a:effectLst/>
                <a:latin typeface="Segoe WPC"/>
              </a:rPr>
              <a:t>10. ERM and Future Trends</a:t>
            </a:r>
            <a:br>
              <a:rPr lang="en-US" sz="800" b="0" i="0" dirty="0">
                <a:effectLst/>
                <a:latin typeface="Segoe WPC"/>
              </a:rPr>
            </a:br>
            <a:r>
              <a:rPr lang="en-US" sz="800" b="1" i="0" dirty="0">
                <a:effectLst/>
                <a:latin typeface="Segoe WPC"/>
              </a:rPr>
              <a:t>Concept:</a:t>
            </a:r>
            <a:r>
              <a:rPr lang="en-US" sz="800" b="0" i="0" dirty="0">
                <a:effectLst/>
                <a:latin typeface="Segoe WPC"/>
              </a:rPr>
              <a:t> The future of ERM lies in more holistic thinking, more dynamic stress testing, stronger risk culture, and better use of data science and behavioral insights.</a:t>
            </a:r>
            <a:br>
              <a:rPr lang="en-US" sz="800" b="0" i="0" dirty="0">
                <a:effectLst/>
                <a:latin typeface="Segoe WPC"/>
              </a:rPr>
            </a:br>
            <a:r>
              <a:rPr lang="en-US" sz="800" b="1" i="0" dirty="0">
                <a:effectLst/>
                <a:latin typeface="Segoe WPC"/>
              </a:rPr>
              <a:t>Intuition:</a:t>
            </a:r>
            <a:r>
              <a:rPr lang="en-US" sz="800" b="0" i="0" dirty="0">
                <a:effectLst/>
                <a:latin typeface="Segoe WPC"/>
              </a:rPr>
              <a:t> Risk management is moving from silo metrics toward integrated judgment supported by data, simulation, and human oversight.</a:t>
            </a:r>
            <a:br>
              <a:rPr lang="en-US" sz="800" b="0" i="0" dirty="0">
                <a:effectLst/>
                <a:latin typeface="Segoe WPC"/>
              </a:rPr>
            </a:br>
            <a:r>
              <a:rPr lang="en-US" sz="800" b="1" i="0" dirty="0">
                <a:effectLst/>
                <a:latin typeface="Segoe WPC"/>
              </a:rPr>
              <a:t>Key Elements:</a:t>
            </a:r>
            <a:r>
              <a:rPr lang="en-US" sz="800" b="0" i="0" dirty="0">
                <a:effectLst/>
                <a:latin typeface="Segoe WPC"/>
              </a:rPr>
              <a:t> Multi-year dynamic scenarios, stochastic simulations, ambiguity awareness, machine learning, behavioral biases, and stronger links between ERM and strategy.</a:t>
            </a:r>
            <a:br>
              <a:rPr lang="en-US" sz="800" b="0" i="0" dirty="0">
                <a:effectLst/>
                <a:latin typeface="Segoe WPC"/>
              </a:rPr>
            </a:br>
            <a:r>
              <a:rPr lang="en-US" sz="800" b="1" i="0" dirty="0">
                <a:effectLst/>
                <a:latin typeface="Segoe WPC"/>
              </a:rPr>
              <a:t>Why It Matters:</a:t>
            </a:r>
            <a:r>
              <a:rPr lang="en-US" sz="800" b="0" i="0" dirty="0">
                <a:effectLst/>
                <a:latin typeface="Segoe WPC"/>
              </a:rPr>
              <a:t> Future risk managers will need to connect numbers, business judgment, human behavior, and strategic planning.</a:t>
            </a:r>
            <a:br>
              <a:rPr lang="en-US" sz="800" b="0" i="0" dirty="0">
                <a:effectLst/>
                <a:latin typeface="Segoe WPC"/>
              </a:rPr>
            </a:br>
            <a:r>
              <a:rPr lang="en-US" sz="800" b="1" i="0" dirty="0">
                <a:effectLst/>
                <a:latin typeface="Segoe WPC"/>
              </a:rPr>
              <a:t>Common Failure:</a:t>
            </a:r>
            <a:r>
              <a:rPr lang="en-US" sz="800" b="0" i="0" dirty="0">
                <a:effectLst/>
                <a:latin typeface="Segoe WPC"/>
              </a:rPr>
              <a:t> Firms adopt advanced tools without transparency, human review, or real integration into strategic decisions.</a:t>
            </a:r>
          </a:p>
        </p:txBody>
      </p:sp>
    </p:spTree>
    <p:extLst>
      <p:ext uri="{BB962C8B-B14F-4D97-AF65-F5344CB8AC3E}">
        <p14:creationId xmlns:p14="http://schemas.microsoft.com/office/powerpoint/2010/main" val="3027788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D3D1FF-694F-56AF-25E3-592883C7DADF}"/>
              </a:ext>
            </a:extLst>
          </p:cNvPr>
          <p:cNvSpPr>
            <a:spLocks noGrp="1"/>
          </p:cNvSpPr>
          <p:nvPr>
            <p:ph type="title"/>
          </p:nvPr>
        </p:nvSpPr>
        <p:spPr>
          <a:xfrm>
            <a:off x="114300" y="92170"/>
            <a:ext cx="10515600" cy="651633"/>
          </a:xfrm>
        </p:spPr>
        <p:txBody>
          <a:bodyPr/>
          <a:lstStyle/>
          <a:p>
            <a:r>
              <a:rPr lang="es-PE" dirty="0" err="1"/>
              <a:t>Learning</a:t>
            </a:r>
            <a:r>
              <a:rPr lang="es-PE" dirty="0"/>
              <a:t> </a:t>
            </a:r>
            <a:r>
              <a:rPr lang="es-PE" dirty="0" err="1"/>
              <a:t>from</a:t>
            </a:r>
            <a:r>
              <a:rPr lang="es-PE" dirty="0"/>
              <a:t> </a:t>
            </a:r>
            <a:r>
              <a:rPr lang="es-PE" dirty="0" err="1"/>
              <a:t>Financial</a:t>
            </a:r>
            <a:r>
              <a:rPr lang="es-PE" dirty="0"/>
              <a:t> </a:t>
            </a:r>
            <a:r>
              <a:rPr lang="es-PE" dirty="0" err="1"/>
              <a:t>Disasters</a:t>
            </a:r>
            <a:endParaRPr lang="es-PE" dirty="0"/>
          </a:p>
        </p:txBody>
      </p:sp>
      <p:sp>
        <p:nvSpPr>
          <p:cNvPr id="5" name="CuadroTexto 4">
            <a:extLst>
              <a:ext uri="{FF2B5EF4-FFF2-40B4-BE49-F238E27FC236}">
                <a16:creationId xmlns:a16="http://schemas.microsoft.com/office/drawing/2014/main" id="{7C8669DE-74EC-DF1D-ADD5-2A513BDCA1F2}"/>
              </a:ext>
            </a:extLst>
          </p:cNvPr>
          <p:cNvSpPr txBox="1"/>
          <p:nvPr/>
        </p:nvSpPr>
        <p:spPr>
          <a:xfrm>
            <a:off x="59709" y="641599"/>
            <a:ext cx="5563169" cy="6124754"/>
          </a:xfrm>
          <a:prstGeom prst="rect">
            <a:avLst/>
          </a:prstGeom>
          <a:noFill/>
        </p:spPr>
        <p:txBody>
          <a:bodyPr wrap="square">
            <a:spAutoFit/>
          </a:bodyPr>
          <a:lstStyle/>
          <a:p>
            <a:pPr algn="l">
              <a:spcAft>
                <a:spcPts val="1200"/>
              </a:spcAft>
              <a:buNone/>
            </a:pPr>
            <a:r>
              <a:rPr lang="en-US" sz="900" b="1" i="0" dirty="0">
                <a:effectLst/>
                <a:latin typeface="Segoe WPC"/>
              </a:rPr>
              <a:t>1. Case:</a:t>
            </a:r>
            <a:r>
              <a:rPr lang="en-US" sz="900" b="0" i="0" dirty="0">
                <a:effectLst/>
                <a:latin typeface="Segoe WPC"/>
              </a:rPr>
              <a:t> U.S. Savings and Loan Crisis (1980s)</a:t>
            </a:r>
            <a:br>
              <a:rPr lang="en-US" sz="900" b="0" i="0" dirty="0">
                <a:effectLst/>
                <a:latin typeface="Segoe WPC"/>
              </a:rPr>
            </a:br>
            <a:r>
              <a:rPr lang="en-US" sz="900" b="1" i="0" dirty="0">
                <a:effectLst/>
                <a:latin typeface="Segoe WPC"/>
              </a:rPr>
              <a:t>Main Risk:</a:t>
            </a:r>
            <a:r>
              <a:rPr lang="en-US" sz="900" b="0" i="0" dirty="0">
                <a:effectLst/>
                <a:latin typeface="Segoe WPC"/>
              </a:rPr>
              <a:t> Interest rate risk</a:t>
            </a:r>
            <a:br>
              <a:rPr lang="en-US" sz="900" b="0" i="0" dirty="0">
                <a:effectLst/>
                <a:latin typeface="Segoe WPC"/>
              </a:rPr>
            </a:br>
            <a:r>
              <a:rPr lang="en-US" sz="900" b="1" i="0" dirty="0">
                <a:effectLst/>
                <a:latin typeface="Segoe WPC"/>
              </a:rPr>
              <a:t>What Went Wrong:</a:t>
            </a:r>
            <a:r>
              <a:rPr lang="en-US" sz="900" b="0" i="0" dirty="0">
                <a:effectLst/>
                <a:latin typeface="Segoe WPC"/>
              </a:rPr>
              <a:t> U.S. Savings and Loan associations, or S&amp;Ls, funded long-term fixed-rate residential mortgages with short-term deposits. When short-term interest rates rose sharply, funding costs increased while mortgage income stayed fixed, destroying net interest margins.</a:t>
            </a:r>
            <a:br>
              <a:rPr lang="en-US" sz="900" b="0" i="0" dirty="0">
                <a:effectLst/>
                <a:latin typeface="Segoe WPC"/>
              </a:rPr>
            </a:br>
            <a:r>
              <a:rPr lang="en-US" sz="900" b="1" i="0" dirty="0">
                <a:effectLst/>
                <a:latin typeface="Segoe WPC"/>
              </a:rPr>
              <a:t>Key Lesson:</a:t>
            </a:r>
            <a:r>
              <a:rPr lang="en-US" sz="900" b="0" i="0" dirty="0">
                <a:effectLst/>
                <a:latin typeface="Segoe WPC"/>
              </a:rPr>
              <a:t> Borrowing short and lending long without proper interest rate risk management can wipe out an entire industry.</a:t>
            </a:r>
          </a:p>
          <a:p>
            <a:pPr algn="l">
              <a:spcAft>
                <a:spcPts val="1200"/>
              </a:spcAft>
              <a:buNone/>
            </a:pPr>
            <a:r>
              <a:rPr lang="en-US" sz="900" b="1" i="0" dirty="0">
                <a:effectLst/>
                <a:latin typeface="Segoe WPC"/>
              </a:rPr>
              <a:t>2. Case:</a:t>
            </a:r>
            <a:r>
              <a:rPr lang="en-US" sz="900" b="0" i="0" dirty="0">
                <a:effectLst/>
                <a:latin typeface="Segoe WPC"/>
              </a:rPr>
              <a:t> Lehman Brothers Bankruptcy (2008)</a:t>
            </a:r>
            <a:br>
              <a:rPr lang="en-US" sz="900" b="0" i="0" dirty="0">
                <a:effectLst/>
                <a:latin typeface="Segoe WPC"/>
              </a:rPr>
            </a:br>
            <a:r>
              <a:rPr lang="en-US" sz="900" b="1" i="0" dirty="0">
                <a:effectLst/>
                <a:latin typeface="Segoe WPC"/>
              </a:rPr>
              <a:t>Main Risk:</a:t>
            </a:r>
            <a:r>
              <a:rPr lang="en-US" sz="900" b="0" i="0" dirty="0">
                <a:effectLst/>
                <a:latin typeface="Segoe WPC"/>
              </a:rPr>
              <a:t> Funding liquidity risk</a:t>
            </a:r>
            <a:br>
              <a:rPr lang="en-US" sz="900" b="0" i="0" dirty="0">
                <a:effectLst/>
                <a:latin typeface="Segoe WPC"/>
              </a:rPr>
            </a:br>
            <a:r>
              <a:rPr lang="en-US" sz="900" b="1" i="0" dirty="0">
                <a:effectLst/>
                <a:latin typeface="Segoe WPC"/>
              </a:rPr>
              <a:t>What Went Wrong:</a:t>
            </a:r>
            <a:r>
              <a:rPr lang="en-US" sz="900" b="0" i="0" dirty="0">
                <a:effectLst/>
                <a:latin typeface="Segoe WPC"/>
              </a:rPr>
              <a:t> Lehman combined very high leverage with heavy use of short-term repo funding to finance illiquid long-term mortgage-related assets. Once confidence collapsed, counterparties demanded more collateral and funding disappeared.</a:t>
            </a:r>
            <a:br>
              <a:rPr lang="en-US" sz="900" b="0" i="0" dirty="0">
                <a:effectLst/>
                <a:latin typeface="Segoe WPC"/>
              </a:rPr>
            </a:br>
            <a:r>
              <a:rPr lang="en-US" sz="900" b="1" i="0" dirty="0">
                <a:effectLst/>
                <a:latin typeface="Segoe WPC"/>
              </a:rPr>
              <a:t>Key Lesson:</a:t>
            </a:r>
            <a:r>
              <a:rPr lang="en-US" sz="900" b="0" i="0" dirty="0">
                <a:effectLst/>
                <a:latin typeface="Segoe WPC"/>
              </a:rPr>
              <a:t> A weak funding structure can turn asset problems into a fatal liquidity crisis.</a:t>
            </a:r>
          </a:p>
          <a:p>
            <a:pPr algn="l">
              <a:spcAft>
                <a:spcPts val="1200"/>
              </a:spcAft>
              <a:buNone/>
            </a:pPr>
            <a:r>
              <a:rPr lang="en-US" sz="900" b="1" i="0" dirty="0">
                <a:effectLst/>
                <a:latin typeface="Segoe WPC"/>
              </a:rPr>
              <a:t>3. Case:</a:t>
            </a:r>
            <a:r>
              <a:rPr lang="en-US" sz="900" b="0" i="0" dirty="0">
                <a:effectLst/>
                <a:latin typeface="Segoe WPC"/>
              </a:rPr>
              <a:t> Continental Illinois Bank Failure (1984)</a:t>
            </a:r>
            <a:br>
              <a:rPr lang="en-US" sz="900" b="0" i="0" dirty="0">
                <a:effectLst/>
                <a:latin typeface="Segoe WPC"/>
              </a:rPr>
            </a:br>
            <a:r>
              <a:rPr lang="en-US" sz="900" b="1" i="0" dirty="0">
                <a:effectLst/>
                <a:latin typeface="Segoe WPC"/>
              </a:rPr>
              <a:t>Main Risk:</a:t>
            </a:r>
            <a:r>
              <a:rPr lang="en-US" sz="900" b="0" i="0" dirty="0">
                <a:effectLst/>
                <a:latin typeface="Segoe WPC"/>
              </a:rPr>
              <a:t> Funding liquidity risk + credit concentration risk</a:t>
            </a:r>
            <a:br>
              <a:rPr lang="en-US" sz="900" b="0" i="0" dirty="0">
                <a:effectLst/>
                <a:latin typeface="Segoe WPC"/>
              </a:rPr>
            </a:br>
            <a:r>
              <a:rPr lang="en-US" sz="900" b="1" i="0" dirty="0">
                <a:effectLst/>
                <a:latin typeface="Segoe WPC"/>
              </a:rPr>
              <a:t>What Went Wrong:</a:t>
            </a:r>
            <a:r>
              <a:rPr lang="en-US" sz="900" b="0" i="0" dirty="0">
                <a:effectLst/>
                <a:latin typeface="Segoe WPC"/>
              </a:rPr>
              <a:t> Continental Illinois suffered large credit losses from energy loans linked to Penn Square Bank and relied heavily on wholesale funding instead of stable retail deposits. Once investors lost confidence, funding dried up quickly.</a:t>
            </a:r>
            <a:br>
              <a:rPr lang="en-US" sz="900" b="0" i="0" dirty="0">
                <a:effectLst/>
                <a:latin typeface="Segoe WPC"/>
              </a:rPr>
            </a:br>
            <a:r>
              <a:rPr lang="en-US" sz="900" b="1" i="0" dirty="0">
                <a:effectLst/>
                <a:latin typeface="Segoe WPC"/>
              </a:rPr>
              <a:t>Key Lesson:</a:t>
            </a:r>
            <a:r>
              <a:rPr lang="en-US" sz="900" b="0" i="0" dirty="0">
                <a:effectLst/>
                <a:latin typeface="Segoe WPC"/>
              </a:rPr>
              <a:t> Credit losses and weak funding can reinforce each other and trigger a bank collapse.</a:t>
            </a:r>
          </a:p>
          <a:p>
            <a:pPr algn="l">
              <a:spcAft>
                <a:spcPts val="1200"/>
              </a:spcAft>
              <a:buNone/>
            </a:pPr>
            <a:r>
              <a:rPr lang="en-US" sz="900" b="1" i="0" dirty="0">
                <a:effectLst/>
                <a:latin typeface="Segoe WPC"/>
              </a:rPr>
              <a:t>4. Case:</a:t>
            </a:r>
            <a:r>
              <a:rPr lang="en-US" sz="900" b="0" i="0" dirty="0">
                <a:effectLst/>
                <a:latin typeface="Segoe WPC"/>
              </a:rPr>
              <a:t> Northern Rock Bank Run (2007)</a:t>
            </a:r>
            <a:br>
              <a:rPr lang="en-US" sz="900" b="0" i="0" dirty="0">
                <a:effectLst/>
                <a:latin typeface="Segoe WPC"/>
              </a:rPr>
            </a:br>
            <a:r>
              <a:rPr lang="en-US" sz="900" b="1" i="0" dirty="0">
                <a:effectLst/>
                <a:latin typeface="Segoe WPC"/>
              </a:rPr>
              <a:t>Main Risk:</a:t>
            </a:r>
            <a:r>
              <a:rPr lang="en-US" sz="900" b="0" i="0" dirty="0">
                <a:effectLst/>
                <a:latin typeface="Segoe WPC"/>
              </a:rPr>
              <a:t> Funding liquidity risk + business model risk</a:t>
            </a:r>
            <a:br>
              <a:rPr lang="en-US" sz="900" b="0" i="0" dirty="0">
                <a:effectLst/>
                <a:latin typeface="Segoe WPC"/>
              </a:rPr>
            </a:br>
            <a:r>
              <a:rPr lang="en-US" sz="900" b="1" i="0" dirty="0">
                <a:effectLst/>
                <a:latin typeface="Segoe WPC"/>
              </a:rPr>
              <a:t>What Went Wrong:</a:t>
            </a:r>
            <a:r>
              <a:rPr lang="en-US" sz="900" b="0" i="0" dirty="0">
                <a:effectLst/>
                <a:latin typeface="Segoe WPC"/>
              </a:rPr>
              <a:t> Northern Rock relied heavily on securitization and wholesale funding instead of customer deposits. When global funding markets froze, all of its major funding channels shut down at once.</a:t>
            </a:r>
            <a:br>
              <a:rPr lang="en-US" sz="900" b="0" i="0" dirty="0">
                <a:effectLst/>
                <a:latin typeface="Segoe WPC"/>
              </a:rPr>
            </a:br>
            <a:r>
              <a:rPr lang="en-US" sz="900" b="1" i="0" dirty="0">
                <a:effectLst/>
                <a:latin typeface="Segoe WPC"/>
              </a:rPr>
              <a:t>Key Lesson:</a:t>
            </a:r>
            <a:r>
              <a:rPr lang="en-US" sz="900" b="0" i="0" dirty="0">
                <a:effectLst/>
                <a:latin typeface="Segoe WPC"/>
              </a:rPr>
              <a:t> A business model that depends too much on market funding is fragile in systemic stress.</a:t>
            </a:r>
          </a:p>
          <a:p>
            <a:pPr algn="l">
              <a:spcAft>
                <a:spcPts val="1200"/>
              </a:spcAft>
              <a:buNone/>
            </a:pPr>
            <a:r>
              <a:rPr lang="en-US" sz="900" b="1" i="0" dirty="0">
                <a:effectLst/>
                <a:latin typeface="Segoe WPC"/>
              </a:rPr>
              <a:t>5. Case:</a:t>
            </a:r>
            <a:r>
              <a:rPr lang="en-US" sz="900" b="0" i="0" dirty="0">
                <a:effectLst/>
                <a:latin typeface="Segoe WPC"/>
              </a:rPr>
              <a:t> </a:t>
            </a:r>
            <a:r>
              <a:rPr lang="en-US" sz="900" b="0" i="0" dirty="0" err="1">
                <a:effectLst/>
                <a:latin typeface="Segoe WPC"/>
              </a:rPr>
              <a:t>Metallgesellschaft</a:t>
            </a:r>
            <a:r>
              <a:rPr lang="en-US" sz="900" b="0" i="0" dirty="0">
                <a:effectLst/>
                <a:latin typeface="Segoe WPC"/>
              </a:rPr>
              <a:t> Refining and Marketing, Inc. or MGRM Hedging Crisis (1993)</a:t>
            </a:r>
            <a:br>
              <a:rPr lang="en-US" sz="900" b="0" i="0" dirty="0">
                <a:effectLst/>
                <a:latin typeface="Segoe WPC"/>
              </a:rPr>
            </a:br>
            <a:r>
              <a:rPr lang="en-US" sz="900" b="1" i="0" dirty="0">
                <a:effectLst/>
                <a:latin typeface="Segoe WPC"/>
              </a:rPr>
              <a:t>Main Risk:</a:t>
            </a:r>
            <a:r>
              <a:rPr lang="en-US" sz="900" b="0" i="0" dirty="0">
                <a:effectLst/>
                <a:latin typeface="Segoe WPC"/>
              </a:rPr>
              <a:t> Hedging strategy risk + liquidity risk</a:t>
            </a:r>
            <a:br>
              <a:rPr lang="en-US" sz="900" b="0" i="0" dirty="0">
                <a:effectLst/>
                <a:latin typeface="Segoe WPC"/>
              </a:rPr>
            </a:br>
            <a:r>
              <a:rPr lang="en-US" sz="900" b="1" i="0" dirty="0">
                <a:effectLst/>
                <a:latin typeface="Segoe WPC"/>
              </a:rPr>
              <a:t>What Went Wrong:</a:t>
            </a:r>
            <a:r>
              <a:rPr lang="en-US" sz="900" b="0" i="0" dirty="0">
                <a:effectLst/>
                <a:latin typeface="Segoe WPC"/>
              </a:rPr>
              <a:t> MGRM hedged long-term fixed-price oil commitments with rolling short-term futures contracts. The strategy may have worked economically in the long run, but falling oil prices caused large margin calls and severe cash-flow stress, leading management to liquidate the hedge at a loss.</a:t>
            </a:r>
            <a:br>
              <a:rPr lang="en-US" sz="900" b="0" i="0" dirty="0">
                <a:effectLst/>
                <a:latin typeface="Segoe WPC"/>
              </a:rPr>
            </a:br>
            <a:r>
              <a:rPr lang="en-US" sz="900" b="1" i="0" dirty="0">
                <a:effectLst/>
                <a:latin typeface="Segoe WPC"/>
              </a:rPr>
              <a:t>Key Lesson:</a:t>
            </a:r>
            <a:r>
              <a:rPr lang="en-US" sz="900" b="0" i="0" dirty="0">
                <a:effectLst/>
                <a:latin typeface="Segoe WPC"/>
              </a:rPr>
              <a:t> A hedge can fail if liquidity needs and management understanding are not aligned with the strategy.</a:t>
            </a:r>
          </a:p>
          <a:p>
            <a:pPr algn="l">
              <a:spcAft>
                <a:spcPts val="1200"/>
              </a:spcAft>
              <a:buNone/>
            </a:pPr>
            <a:r>
              <a:rPr lang="en-US" sz="900" b="1" i="0" dirty="0">
                <a:effectLst/>
                <a:latin typeface="Segoe WPC"/>
              </a:rPr>
              <a:t>6. Case:</a:t>
            </a:r>
            <a:r>
              <a:rPr lang="en-US" sz="900" b="0" i="0" dirty="0">
                <a:effectLst/>
                <a:latin typeface="Segoe WPC"/>
              </a:rPr>
              <a:t> Victor </a:t>
            </a:r>
            <a:r>
              <a:rPr lang="en-US" sz="900" b="0" i="0" dirty="0" err="1">
                <a:effectLst/>
                <a:latin typeface="Segoe WPC"/>
              </a:rPr>
              <a:t>Niederhoffer</a:t>
            </a:r>
            <a:r>
              <a:rPr lang="en-US" sz="900" b="0" i="0" dirty="0">
                <a:effectLst/>
                <a:latin typeface="Segoe WPC"/>
              </a:rPr>
              <a:t> Hedge Fund Collapse (1997)</a:t>
            </a:r>
            <a:br>
              <a:rPr lang="en-US" sz="900" b="0" i="0" dirty="0">
                <a:effectLst/>
                <a:latin typeface="Segoe WPC"/>
              </a:rPr>
            </a:br>
            <a:r>
              <a:rPr lang="en-US" sz="900" b="1" i="0" dirty="0">
                <a:effectLst/>
                <a:latin typeface="Segoe WPC"/>
              </a:rPr>
              <a:t>Main Risk:</a:t>
            </a:r>
            <a:r>
              <a:rPr lang="en-US" sz="900" b="0" i="0" dirty="0">
                <a:effectLst/>
                <a:latin typeface="Segoe WPC"/>
              </a:rPr>
              <a:t> Model risk</a:t>
            </a:r>
            <a:br>
              <a:rPr lang="en-US" sz="900" b="0" i="0" dirty="0">
                <a:effectLst/>
                <a:latin typeface="Segoe WPC"/>
              </a:rPr>
            </a:br>
            <a:r>
              <a:rPr lang="en-US" sz="900" b="1" i="0" dirty="0">
                <a:effectLst/>
                <a:latin typeface="Segoe WPC"/>
              </a:rPr>
              <a:t>What Went Wrong:</a:t>
            </a:r>
            <a:r>
              <a:rPr lang="en-US" sz="900" b="0" i="0" dirty="0">
                <a:effectLst/>
                <a:latin typeface="Segoe WPC"/>
              </a:rPr>
              <a:t> The fund sold large quantities of deep out-of-the-money naked put options on the S&amp;P 500, assuming that a very large one-day market drop was extremely unlikely. A sharp market decline triggered huge losses and margin calls.</a:t>
            </a:r>
            <a:br>
              <a:rPr lang="en-US" sz="900" b="0" i="0" dirty="0">
                <a:effectLst/>
                <a:latin typeface="Segoe WPC"/>
              </a:rPr>
            </a:br>
            <a:r>
              <a:rPr lang="en-US" sz="900" b="1" i="0" dirty="0">
                <a:effectLst/>
                <a:latin typeface="Segoe WPC"/>
              </a:rPr>
              <a:t>Key Lesson:</a:t>
            </a:r>
            <a:r>
              <a:rPr lang="en-US" sz="900" b="0" i="0" dirty="0">
                <a:effectLst/>
                <a:latin typeface="Segoe WPC"/>
              </a:rPr>
              <a:t> Strategies that earn small steady profits can hide rare but catastrophic tail risk.</a:t>
            </a:r>
          </a:p>
        </p:txBody>
      </p:sp>
      <p:sp>
        <p:nvSpPr>
          <p:cNvPr id="7" name="CuadroTexto 6">
            <a:extLst>
              <a:ext uri="{FF2B5EF4-FFF2-40B4-BE49-F238E27FC236}">
                <a16:creationId xmlns:a16="http://schemas.microsoft.com/office/drawing/2014/main" id="{DE2D107B-DA57-08F9-9206-EB4ACA0DD1D7}"/>
              </a:ext>
            </a:extLst>
          </p:cNvPr>
          <p:cNvSpPr txBox="1"/>
          <p:nvPr/>
        </p:nvSpPr>
        <p:spPr>
          <a:xfrm>
            <a:off x="5677469" y="641599"/>
            <a:ext cx="6454822" cy="6217087"/>
          </a:xfrm>
          <a:prstGeom prst="rect">
            <a:avLst/>
          </a:prstGeom>
          <a:noFill/>
        </p:spPr>
        <p:txBody>
          <a:bodyPr wrap="square">
            <a:spAutoFit/>
          </a:bodyPr>
          <a:lstStyle/>
          <a:p>
            <a:pPr algn="l">
              <a:spcAft>
                <a:spcPts val="1200"/>
              </a:spcAft>
              <a:buNone/>
            </a:pPr>
            <a:r>
              <a:rPr lang="en-US" sz="800" b="1" i="0" dirty="0">
                <a:effectLst/>
                <a:latin typeface="Segoe WPC"/>
              </a:rPr>
              <a:t>7. Case:</a:t>
            </a:r>
            <a:r>
              <a:rPr lang="en-US" sz="800" b="0" i="0" dirty="0">
                <a:effectLst/>
                <a:latin typeface="Segoe WPC"/>
              </a:rPr>
              <a:t> Long-Term Capital Management or LTCM Collapse (1998)</a:t>
            </a:r>
            <a:br>
              <a:rPr lang="en-US" sz="800" b="0" i="0" dirty="0">
                <a:effectLst/>
                <a:latin typeface="Segoe WPC"/>
              </a:rPr>
            </a:br>
            <a:r>
              <a:rPr lang="en-US" sz="800" b="1" i="0" dirty="0">
                <a:effectLst/>
                <a:latin typeface="Segoe WPC"/>
              </a:rPr>
              <a:t>Main Risk:</a:t>
            </a:r>
            <a:r>
              <a:rPr lang="en-US" sz="800" b="0" i="0" dirty="0">
                <a:effectLst/>
                <a:latin typeface="Segoe WPC"/>
              </a:rPr>
              <a:t> Model risk + liquidity risk + leverage risk</a:t>
            </a:r>
            <a:br>
              <a:rPr lang="en-US" sz="800" b="0" i="0" dirty="0">
                <a:effectLst/>
                <a:latin typeface="Segoe WPC"/>
              </a:rPr>
            </a:br>
            <a:r>
              <a:rPr lang="en-US" sz="800" b="1" i="0" dirty="0">
                <a:effectLst/>
                <a:latin typeface="Segoe WPC"/>
              </a:rPr>
              <a:t>What Went Wrong:</a:t>
            </a:r>
            <a:r>
              <a:rPr lang="en-US" sz="800" b="0" i="0" dirty="0">
                <a:effectLst/>
                <a:latin typeface="Segoe WPC"/>
              </a:rPr>
              <a:t> LTCM used highly leveraged relative-value trades based on the assumption that spreads, correlations, and market behavior would eventually revert to normal. During crisis, spreads widened, liquidity vanished, and correlations broke down.</a:t>
            </a:r>
            <a:br>
              <a:rPr lang="en-US" sz="800" b="0" i="0" dirty="0">
                <a:effectLst/>
                <a:latin typeface="Segoe WPC"/>
              </a:rPr>
            </a:br>
            <a:r>
              <a:rPr lang="en-US" sz="800" b="1" i="0" dirty="0">
                <a:effectLst/>
                <a:latin typeface="Segoe WPC"/>
              </a:rPr>
              <a:t>Key Lesson:</a:t>
            </a:r>
            <a:r>
              <a:rPr lang="en-US" sz="800" b="0" i="0" dirty="0">
                <a:effectLst/>
                <a:latin typeface="Segoe WPC"/>
              </a:rPr>
              <a:t> Models that work in normal markets can fail badly in stressed markets, especially under high leverage.</a:t>
            </a:r>
          </a:p>
          <a:p>
            <a:pPr algn="l">
              <a:spcAft>
                <a:spcPts val="1200"/>
              </a:spcAft>
              <a:buNone/>
            </a:pPr>
            <a:r>
              <a:rPr lang="en-US" sz="800" b="1" i="0" dirty="0">
                <a:effectLst/>
                <a:latin typeface="Segoe WPC"/>
              </a:rPr>
              <a:t>8. Case:</a:t>
            </a:r>
            <a:r>
              <a:rPr lang="en-US" sz="800" b="0" i="0" dirty="0">
                <a:effectLst/>
                <a:latin typeface="Segoe WPC"/>
              </a:rPr>
              <a:t> JPMorgan Chase “London Whale” Losses (2012)</a:t>
            </a:r>
            <a:br>
              <a:rPr lang="en-US" sz="800" b="0" i="0" dirty="0">
                <a:effectLst/>
                <a:latin typeface="Segoe WPC"/>
              </a:rPr>
            </a:br>
            <a:r>
              <a:rPr lang="en-US" sz="800" b="1" i="0" dirty="0">
                <a:effectLst/>
                <a:latin typeface="Segoe WPC"/>
              </a:rPr>
              <a:t>Main Risk:</a:t>
            </a:r>
            <a:r>
              <a:rPr lang="en-US" sz="800" b="0" i="0" dirty="0">
                <a:effectLst/>
                <a:latin typeface="Segoe WPC"/>
              </a:rPr>
              <a:t> Model risk + governance failure + operational risk</a:t>
            </a:r>
            <a:br>
              <a:rPr lang="en-US" sz="800" b="0" i="0" dirty="0">
                <a:effectLst/>
                <a:latin typeface="Segoe WPC"/>
              </a:rPr>
            </a:br>
            <a:r>
              <a:rPr lang="en-US" sz="800" b="1" i="0" dirty="0">
                <a:effectLst/>
                <a:latin typeface="Segoe WPC"/>
              </a:rPr>
              <a:t>What Went Wrong:</a:t>
            </a:r>
            <a:r>
              <a:rPr lang="en-US" sz="800" b="0" i="0" dirty="0">
                <a:effectLst/>
                <a:latin typeface="Segoe WPC"/>
              </a:rPr>
              <a:t> JPMorgan’s Chief Investment Office built a massive synthetic credit derivatives position, repeatedly breached risk limits, changed valuation methods to hide losses, and adopted a flawed </a:t>
            </a:r>
            <a:r>
              <a:rPr lang="en-US" sz="800" b="0" i="0" dirty="0" err="1">
                <a:effectLst/>
                <a:latin typeface="Segoe WPC"/>
              </a:rPr>
              <a:t>VaR</a:t>
            </a:r>
            <a:r>
              <a:rPr lang="en-US" sz="800" b="0" i="0" dirty="0">
                <a:effectLst/>
                <a:latin typeface="Segoe WPC"/>
              </a:rPr>
              <a:t> model that artificially lowered measured risk.</a:t>
            </a:r>
            <a:br>
              <a:rPr lang="en-US" sz="800" b="0" i="0" dirty="0">
                <a:effectLst/>
                <a:latin typeface="Segoe WPC"/>
              </a:rPr>
            </a:br>
            <a:r>
              <a:rPr lang="en-US" sz="800" b="1" i="0" dirty="0">
                <a:effectLst/>
                <a:latin typeface="Segoe WPC"/>
              </a:rPr>
              <a:t>Key Lesson:</a:t>
            </a:r>
            <a:r>
              <a:rPr lang="en-US" sz="800" b="0" i="0" dirty="0">
                <a:effectLst/>
                <a:latin typeface="Segoe WPC"/>
              </a:rPr>
              <a:t> Risk models become dangerous when governance is weak and managers manipulate metrics instead of reducing exposure.</a:t>
            </a:r>
          </a:p>
          <a:p>
            <a:pPr algn="l">
              <a:spcAft>
                <a:spcPts val="1200"/>
              </a:spcAft>
              <a:buNone/>
            </a:pPr>
            <a:r>
              <a:rPr lang="en-US" sz="800" b="1" i="0" dirty="0">
                <a:effectLst/>
                <a:latin typeface="Segoe WPC"/>
              </a:rPr>
              <a:t>9. Case:</a:t>
            </a:r>
            <a:r>
              <a:rPr lang="en-US" sz="800" b="0" i="0" dirty="0">
                <a:effectLst/>
                <a:latin typeface="Segoe WPC"/>
              </a:rPr>
              <a:t> Barings Bank Collapse (1995)</a:t>
            </a:r>
            <a:br>
              <a:rPr lang="en-US" sz="800" b="0" i="0" dirty="0">
                <a:effectLst/>
                <a:latin typeface="Segoe WPC"/>
              </a:rPr>
            </a:br>
            <a:r>
              <a:rPr lang="en-US" sz="800" b="1" i="0" dirty="0">
                <a:effectLst/>
                <a:latin typeface="Segoe WPC"/>
              </a:rPr>
              <a:t>Main Risk:</a:t>
            </a:r>
            <a:r>
              <a:rPr lang="en-US" sz="800" b="0" i="0" dirty="0">
                <a:effectLst/>
                <a:latin typeface="Segoe WPC"/>
              </a:rPr>
              <a:t> Rogue trading + misleading reporting</a:t>
            </a:r>
            <a:br>
              <a:rPr lang="en-US" sz="800" b="0" i="0" dirty="0">
                <a:effectLst/>
                <a:latin typeface="Segoe WPC"/>
              </a:rPr>
            </a:br>
            <a:r>
              <a:rPr lang="en-US" sz="800" b="1" i="0" dirty="0">
                <a:effectLst/>
                <a:latin typeface="Segoe WPC"/>
              </a:rPr>
              <a:t>What Went Wrong:</a:t>
            </a:r>
            <a:r>
              <a:rPr lang="en-US" sz="800" b="0" i="0" dirty="0">
                <a:effectLst/>
                <a:latin typeface="Segoe WPC"/>
              </a:rPr>
              <a:t> Nick Leeson secretly built speculative positions while claiming to run an arbitrage strategy, and he was able to hide the losses because he controlled both front-office trading and back-office reporting.</a:t>
            </a:r>
            <a:br>
              <a:rPr lang="en-US" sz="800" b="0" i="0" dirty="0">
                <a:effectLst/>
                <a:latin typeface="Segoe WPC"/>
              </a:rPr>
            </a:br>
            <a:r>
              <a:rPr lang="en-US" sz="800" b="1" i="0" dirty="0">
                <a:effectLst/>
                <a:latin typeface="Segoe WPC"/>
              </a:rPr>
              <a:t>Key Lesson:</a:t>
            </a:r>
            <a:r>
              <a:rPr lang="en-US" sz="800" b="0" i="0" dirty="0">
                <a:effectLst/>
                <a:latin typeface="Segoe WPC"/>
              </a:rPr>
              <a:t> Trading and reporting must be separated, and unusually large profits must be independently investigated.</a:t>
            </a:r>
          </a:p>
          <a:p>
            <a:pPr algn="l">
              <a:spcAft>
                <a:spcPts val="1200"/>
              </a:spcAft>
              <a:buNone/>
            </a:pPr>
            <a:r>
              <a:rPr lang="en-US" sz="800" b="1" i="0" dirty="0">
                <a:effectLst/>
                <a:latin typeface="Segoe WPC"/>
              </a:rPr>
              <a:t>10. Case:</a:t>
            </a:r>
            <a:r>
              <a:rPr lang="en-US" sz="800" b="0" i="0" dirty="0">
                <a:effectLst/>
                <a:latin typeface="Segoe WPC"/>
              </a:rPr>
              <a:t> Orange County Bankruptcy (1994)</a:t>
            </a:r>
            <a:br>
              <a:rPr lang="en-US" sz="800" b="0" i="0" dirty="0">
                <a:effectLst/>
                <a:latin typeface="Segoe WPC"/>
              </a:rPr>
            </a:br>
            <a:r>
              <a:rPr lang="en-US" sz="800" b="1" i="0" dirty="0">
                <a:effectLst/>
                <a:latin typeface="Segoe WPC"/>
              </a:rPr>
              <a:t>Main Risk:</a:t>
            </a:r>
            <a:r>
              <a:rPr lang="en-US" sz="800" b="0" i="0" dirty="0">
                <a:effectLst/>
                <a:latin typeface="Segoe WPC"/>
              </a:rPr>
              <a:t> Leverage risk + interest rate risk + structured product risk</a:t>
            </a:r>
            <a:br>
              <a:rPr lang="en-US" sz="800" b="0" i="0" dirty="0">
                <a:effectLst/>
                <a:latin typeface="Segoe WPC"/>
              </a:rPr>
            </a:br>
            <a:r>
              <a:rPr lang="en-US" sz="800" b="1" i="0" dirty="0">
                <a:effectLst/>
                <a:latin typeface="Segoe WPC"/>
              </a:rPr>
              <a:t>What Went Wrong:</a:t>
            </a:r>
            <a:r>
              <a:rPr lang="en-US" sz="800" b="0" i="0" dirty="0">
                <a:effectLst/>
                <a:latin typeface="Segoe WPC"/>
              </a:rPr>
              <a:t> Orange County used repo borrowing to leverage investments in inverse floaters, which lose value when interest rates rise. When the Federal Reserve increased rates sharply, losses were magnified and funding pressure intensified.</a:t>
            </a:r>
            <a:br>
              <a:rPr lang="en-US" sz="800" b="0" i="0" dirty="0">
                <a:effectLst/>
                <a:latin typeface="Segoe WPC"/>
              </a:rPr>
            </a:br>
            <a:r>
              <a:rPr lang="en-US" sz="800" b="1" i="0" dirty="0">
                <a:effectLst/>
                <a:latin typeface="Segoe WPC"/>
              </a:rPr>
              <a:t>Key Lesson:</a:t>
            </a:r>
            <a:r>
              <a:rPr lang="en-US" sz="800" b="0" i="0" dirty="0">
                <a:effectLst/>
                <a:latin typeface="Segoe WPC"/>
              </a:rPr>
              <a:t> Leverage and complex products can turn a rate bet into a major public-sector disaster.</a:t>
            </a:r>
          </a:p>
          <a:p>
            <a:pPr algn="l">
              <a:spcAft>
                <a:spcPts val="1200"/>
              </a:spcAft>
              <a:buNone/>
            </a:pPr>
            <a:r>
              <a:rPr lang="en-US" sz="800" b="1" i="0" dirty="0">
                <a:effectLst/>
                <a:latin typeface="Segoe WPC"/>
              </a:rPr>
              <a:t>11. Case:</a:t>
            </a:r>
            <a:r>
              <a:rPr lang="en-US" sz="800" b="0" i="0" dirty="0">
                <a:effectLst/>
                <a:latin typeface="Segoe WPC"/>
              </a:rPr>
              <a:t> Sachsen Landesbank Subprime Exposure (2007)</a:t>
            </a:r>
            <a:br>
              <a:rPr lang="en-US" sz="800" b="0" i="0" dirty="0">
                <a:effectLst/>
                <a:latin typeface="Segoe WPC"/>
              </a:rPr>
            </a:br>
            <a:r>
              <a:rPr lang="en-US" sz="800" b="1" i="0" dirty="0">
                <a:effectLst/>
                <a:latin typeface="Segoe WPC"/>
              </a:rPr>
              <a:t>Main Risk:</a:t>
            </a:r>
            <a:r>
              <a:rPr lang="en-US" sz="800" b="0" i="0" dirty="0">
                <a:effectLst/>
                <a:latin typeface="Segoe WPC"/>
              </a:rPr>
              <a:t> Hidden structured credit risk + off-balance-sheet risk</a:t>
            </a:r>
            <a:br>
              <a:rPr lang="en-US" sz="800" b="0" i="0" dirty="0">
                <a:effectLst/>
                <a:latin typeface="Segoe WPC"/>
              </a:rPr>
            </a:br>
            <a:r>
              <a:rPr lang="en-US" sz="800" b="1" i="0" dirty="0">
                <a:effectLst/>
                <a:latin typeface="Segoe WPC"/>
              </a:rPr>
              <a:t>What Went Wrong:</a:t>
            </a:r>
            <a:r>
              <a:rPr lang="en-US" sz="800" b="0" i="0" dirty="0">
                <a:effectLst/>
                <a:latin typeface="Segoe WPC"/>
              </a:rPr>
              <a:t> Sachsen Landesbank supported off-balance-sheet vehicles loaded with highly rated U.S. mortgage-related securities. When subprime markets collapsed, the bank was forced to absorb losses it had not fully recognized as its own.</a:t>
            </a:r>
            <a:br>
              <a:rPr lang="en-US" sz="800" b="0" i="0" dirty="0">
                <a:effectLst/>
                <a:latin typeface="Segoe WPC"/>
              </a:rPr>
            </a:br>
            <a:r>
              <a:rPr lang="en-US" sz="800" b="1" i="0" dirty="0">
                <a:effectLst/>
                <a:latin typeface="Segoe WPC"/>
              </a:rPr>
              <a:t>Key Lesson:</a:t>
            </a:r>
            <a:r>
              <a:rPr lang="en-US" sz="800" b="0" i="0" dirty="0">
                <a:effectLst/>
                <a:latin typeface="Segoe WPC"/>
              </a:rPr>
              <a:t> Off-balance-sheet structures and AAA ratings do not remove real economic risk.</a:t>
            </a:r>
          </a:p>
          <a:p>
            <a:pPr algn="l">
              <a:spcAft>
                <a:spcPts val="1200"/>
              </a:spcAft>
              <a:buNone/>
            </a:pPr>
            <a:r>
              <a:rPr lang="en-US" sz="800" b="1" i="0" dirty="0">
                <a:effectLst/>
                <a:latin typeface="Segoe WPC"/>
              </a:rPr>
              <a:t>12. Case:</a:t>
            </a:r>
            <a:r>
              <a:rPr lang="en-US" sz="800" b="0" i="0" dirty="0">
                <a:effectLst/>
                <a:latin typeface="Segoe WPC"/>
              </a:rPr>
              <a:t> Volkswagen Emissions Scandal (2015)</a:t>
            </a:r>
            <a:br>
              <a:rPr lang="en-US" sz="800" b="0" i="0" dirty="0">
                <a:effectLst/>
                <a:latin typeface="Segoe WPC"/>
              </a:rPr>
            </a:br>
            <a:r>
              <a:rPr lang="en-US" sz="800" b="1" i="0" dirty="0">
                <a:effectLst/>
                <a:latin typeface="Segoe WPC"/>
              </a:rPr>
              <a:t>Main Risk:</a:t>
            </a:r>
            <a:r>
              <a:rPr lang="en-US" sz="800" b="0" i="0" dirty="0">
                <a:effectLst/>
                <a:latin typeface="Segoe WPC"/>
              </a:rPr>
              <a:t> Reputation risk</a:t>
            </a:r>
            <a:br>
              <a:rPr lang="en-US" sz="800" b="0" i="0" dirty="0">
                <a:effectLst/>
                <a:latin typeface="Segoe WPC"/>
              </a:rPr>
            </a:br>
            <a:r>
              <a:rPr lang="en-US" sz="800" b="1" i="0" dirty="0">
                <a:effectLst/>
                <a:latin typeface="Segoe WPC"/>
              </a:rPr>
              <a:t>What Went Wrong:</a:t>
            </a:r>
            <a:r>
              <a:rPr lang="en-US" sz="800" b="0" i="0" dirty="0">
                <a:effectLst/>
                <a:latin typeface="Segoe WPC"/>
              </a:rPr>
              <a:t> Volkswagen programmed diesel vehicles to pass regulatory emissions tests while emitting far more pollution in real driving conditions. The deception led to fines, lawsuits, and severe reputational damage.</a:t>
            </a:r>
            <a:br>
              <a:rPr lang="en-US" sz="800" b="0" i="0" dirty="0">
                <a:effectLst/>
                <a:latin typeface="Segoe WPC"/>
              </a:rPr>
            </a:br>
            <a:r>
              <a:rPr lang="en-US" sz="800" b="1" i="0" dirty="0">
                <a:effectLst/>
                <a:latin typeface="Segoe WPC"/>
              </a:rPr>
              <a:t>Key Lesson:</a:t>
            </a:r>
            <a:r>
              <a:rPr lang="en-US" sz="800" b="0" i="0" dirty="0">
                <a:effectLst/>
                <a:latin typeface="Segoe WPC"/>
              </a:rPr>
              <a:t> Ethical misconduct can destroy firm value even if the original intent was to boost performance.</a:t>
            </a:r>
          </a:p>
          <a:p>
            <a:pPr algn="l">
              <a:spcAft>
                <a:spcPts val="1200"/>
              </a:spcAft>
              <a:buNone/>
            </a:pPr>
            <a:r>
              <a:rPr lang="en-US" sz="800" b="1" i="0" dirty="0">
                <a:effectLst/>
                <a:latin typeface="Segoe WPC"/>
              </a:rPr>
              <a:t>13. Case:</a:t>
            </a:r>
            <a:r>
              <a:rPr lang="en-US" sz="800" b="0" i="0" dirty="0">
                <a:effectLst/>
                <a:latin typeface="Segoe WPC"/>
              </a:rPr>
              <a:t> Enron Bankruptcy (2001)</a:t>
            </a:r>
            <a:br>
              <a:rPr lang="en-US" sz="800" b="0" i="0" dirty="0">
                <a:effectLst/>
                <a:latin typeface="Segoe WPC"/>
              </a:rPr>
            </a:br>
            <a:r>
              <a:rPr lang="en-US" sz="800" b="1" i="0" dirty="0">
                <a:effectLst/>
                <a:latin typeface="Segoe WPC"/>
              </a:rPr>
              <a:t>Main Risk:</a:t>
            </a:r>
            <a:r>
              <a:rPr lang="en-US" sz="800" b="0" i="0" dirty="0">
                <a:effectLst/>
                <a:latin typeface="Segoe WPC"/>
              </a:rPr>
              <a:t> Corporate governance failure + accounting fraud</a:t>
            </a:r>
            <a:br>
              <a:rPr lang="en-US" sz="800" b="0" i="0" dirty="0">
                <a:effectLst/>
                <a:latin typeface="Segoe WPC"/>
              </a:rPr>
            </a:br>
            <a:r>
              <a:rPr lang="en-US" sz="800" b="1" i="0" dirty="0">
                <a:effectLst/>
                <a:latin typeface="Segoe WPC"/>
              </a:rPr>
              <a:t>What Went Wrong:</a:t>
            </a:r>
            <a:r>
              <a:rPr lang="en-US" sz="800" b="0" i="0" dirty="0">
                <a:effectLst/>
                <a:latin typeface="Segoe WPC"/>
              </a:rPr>
              <a:t> Enron used misleading accounting, abused special purpose vehicles, and hid losses while executives acted in their own interest. The board and auditors failed to provide effective oversight.</a:t>
            </a:r>
            <a:br>
              <a:rPr lang="en-US" sz="800" b="0" i="0" dirty="0">
                <a:effectLst/>
                <a:latin typeface="Segoe WPC"/>
              </a:rPr>
            </a:br>
            <a:r>
              <a:rPr lang="en-US" sz="800" b="1" i="0" dirty="0">
                <a:effectLst/>
                <a:latin typeface="Segoe WPC"/>
              </a:rPr>
              <a:t>Key Lesson:</a:t>
            </a:r>
            <a:r>
              <a:rPr lang="en-US" sz="800" b="0" i="0" dirty="0">
                <a:effectLst/>
                <a:latin typeface="Segoe WPC"/>
              </a:rPr>
              <a:t> Weak governance, agency problems, and opaque accounting can destroy even admired firms.</a:t>
            </a:r>
          </a:p>
          <a:p>
            <a:pPr algn="l">
              <a:spcAft>
                <a:spcPts val="1200"/>
              </a:spcAft>
              <a:buNone/>
            </a:pPr>
            <a:r>
              <a:rPr lang="en-US" sz="800" b="1" i="0" dirty="0">
                <a:effectLst/>
                <a:latin typeface="Segoe WPC"/>
              </a:rPr>
              <a:t>14. Case:</a:t>
            </a:r>
            <a:r>
              <a:rPr lang="en-US" sz="800" b="0" i="0" dirty="0">
                <a:effectLst/>
                <a:latin typeface="Segoe WPC"/>
              </a:rPr>
              <a:t> Cyber Risk in Financial Institutions</a:t>
            </a:r>
            <a:br>
              <a:rPr lang="en-US" sz="800" b="0" i="0" dirty="0">
                <a:effectLst/>
                <a:latin typeface="Segoe WPC"/>
              </a:rPr>
            </a:br>
            <a:r>
              <a:rPr lang="en-US" sz="800" b="1" i="0" dirty="0">
                <a:effectLst/>
                <a:latin typeface="Segoe WPC"/>
              </a:rPr>
              <a:t>Main Risk:</a:t>
            </a:r>
            <a:r>
              <a:rPr lang="en-US" sz="800" b="0" i="0" dirty="0">
                <a:effectLst/>
                <a:latin typeface="Segoe WPC"/>
              </a:rPr>
              <a:t> Cyber risk + operational risk</a:t>
            </a:r>
            <a:br>
              <a:rPr lang="en-US" sz="800" b="0" i="0" dirty="0">
                <a:effectLst/>
                <a:latin typeface="Segoe WPC"/>
              </a:rPr>
            </a:br>
            <a:r>
              <a:rPr lang="en-US" sz="800" b="1" i="0" dirty="0">
                <a:effectLst/>
                <a:latin typeface="Segoe WPC"/>
              </a:rPr>
              <a:t>What Went Wrong:</a:t>
            </a:r>
            <a:r>
              <a:rPr lang="en-US" sz="800" b="0" i="0" dirty="0">
                <a:effectLst/>
                <a:latin typeface="Segoe WPC"/>
              </a:rPr>
              <a:t> Banks face growing threats from hacking, fraud, identity theft, ATM attacks, and internal misuse of systems and customer information.</a:t>
            </a:r>
            <a:br>
              <a:rPr lang="en-US" sz="800" b="0" i="0" dirty="0">
                <a:effectLst/>
                <a:latin typeface="Segoe WPC"/>
              </a:rPr>
            </a:br>
            <a:r>
              <a:rPr lang="en-US" sz="800" b="1" i="0" dirty="0">
                <a:effectLst/>
                <a:latin typeface="Segoe WPC"/>
              </a:rPr>
              <a:t>Key Lesson:</a:t>
            </a:r>
            <a:r>
              <a:rPr lang="en-US" sz="800" b="0" i="0" dirty="0">
                <a:effectLst/>
                <a:latin typeface="Segoe WPC"/>
              </a:rPr>
              <a:t> Cyber risk is now a core enterprise risk and requires constant investment, protection, and oversight.</a:t>
            </a:r>
          </a:p>
        </p:txBody>
      </p:sp>
    </p:spTree>
    <p:extLst>
      <p:ext uri="{BB962C8B-B14F-4D97-AF65-F5344CB8AC3E}">
        <p14:creationId xmlns:p14="http://schemas.microsoft.com/office/powerpoint/2010/main" val="1213083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02C084-8048-D1A8-382B-503B482A5D7D}"/>
              </a:ext>
            </a:extLst>
          </p:cNvPr>
          <p:cNvSpPr>
            <a:spLocks noGrp="1"/>
          </p:cNvSpPr>
          <p:nvPr>
            <p:ph type="title"/>
          </p:nvPr>
        </p:nvSpPr>
        <p:spPr>
          <a:xfrm>
            <a:off x="0" y="94174"/>
            <a:ext cx="5740400" cy="533190"/>
          </a:xfrm>
        </p:spPr>
        <p:txBody>
          <a:bodyPr>
            <a:normAutofit fontScale="90000"/>
          </a:bodyPr>
          <a:lstStyle/>
          <a:p>
            <a:pPr algn="ctr"/>
            <a:r>
              <a:rPr lang="en-US" sz="2400" dirty="0"/>
              <a:t>Anatomy of the </a:t>
            </a:r>
            <a:r>
              <a:rPr lang="en-US" sz="2400" dirty="0" err="1"/>
              <a:t>GreatFinancial</a:t>
            </a:r>
            <a:r>
              <a:rPr lang="en-US" sz="2400" dirty="0"/>
              <a:t> Crisis of 2007-2009</a:t>
            </a:r>
            <a:endParaRPr lang="es-PE" sz="2400" dirty="0"/>
          </a:p>
        </p:txBody>
      </p:sp>
      <p:sp>
        <p:nvSpPr>
          <p:cNvPr id="5" name="CuadroTexto 4">
            <a:extLst>
              <a:ext uri="{FF2B5EF4-FFF2-40B4-BE49-F238E27FC236}">
                <a16:creationId xmlns:a16="http://schemas.microsoft.com/office/drawing/2014/main" id="{9DB52491-967E-9260-AA76-5BF39A9ADF65}"/>
              </a:ext>
            </a:extLst>
          </p:cNvPr>
          <p:cNvSpPr txBox="1"/>
          <p:nvPr/>
        </p:nvSpPr>
        <p:spPr>
          <a:xfrm>
            <a:off x="0" y="540109"/>
            <a:ext cx="6096000" cy="6401753"/>
          </a:xfrm>
          <a:prstGeom prst="rect">
            <a:avLst/>
          </a:prstGeom>
          <a:noFill/>
        </p:spPr>
        <p:txBody>
          <a:bodyPr wrap="square">
            <a:spAutoFit/>
          </a:bodyPr>
          <a:lstStyle/>
          <a:p>
            <a:pPr algn="l">
              <a:spcAft>
                <a:spcPts val="1200"/>
              </a:spcAft>
              <a:buNone/>
            </a:pPr>
            <a:r>
              <a:rPr lang="en-US" sz="900" b="1" i="0" dirty="0">
                <a:effectLst/>
                <a:latin typeface="Segoe WPC"/>
              </a:rPr>
              <a:t>1. Stage:</a:t>
            </a:r>
            <a:r>
              <a:rPr lang="en-US" sz="900" b="0" i="0" dirty="0">
                <a:effectLst/>
                <a:latin typeface="Segoe WPC"/>
              </a:rPr>
              <a:t> Pre-Crisis Build-Up</a:t>
            </a:r>
            <a:br>
              <a:rPr lang="en-US" sz="900" b="0" i="0" dirty="0">
                <a:effectLst/>
                <a:latin typeface="Segoe WPC"/>
              </a:rPr>
            </a:br>
            <a:r>
              <a:rPr lang="en-US" sz="900" b="1" i="0" dirty="0">
                <a:effectLst/>
                <a:latin typeface="Segoe WPC"/>
              </a:rPr>
              <a:t>Core Problem:</a:t>
            </a:r>
            <a:r>
              <a:rPr lang="en-US" sz="900" b="0" i="0" dirty="0">
                <a:effectLst/>
                <a:latin typeface="Segoe WPC"/>
              </a:rPr>
              <a:t> Excess credit growth, housing bubble, leverage, and financial innovation outpaced risk management.</a:t>
            </a:r>
            <a:br>
              <a:rPr lang="en-US" sz="900" b="0" i="0" dirty="0">
                <a:effectLst/>
                <a:latin typeface="Segoe WPC"/>
              </a:rPr>
            </a:br>
            <a:r>
              <a:rPr lang="en-US" sz="900" b="1" i="0" dirty="0">
                <a:effectLst/>
                <a:latin typeface="Segoe WPC"/>
              </a:rPr>
              <a:t>What Happened:</a:t>
            </a:r>
            <a:r>
              <a:rPr lang="en-US" sz="900" b="0" i="0" dirty="0">
                <a:effectLst/>
                <a:latin typeface="Segoe WPC"/>
              </a:rPr>
              <a:t> In the years before 2007, the U.S. experienced rapid credit expansion, rising house prices, and growing leverage throughout the financial system. Securitization increased the supply of credit assets but also increased complexity.</a:t>
            </a:r>
            <a:br>
              <a:rPr lang="en-US" sz="900" b="0" i="0" dirty="0">
                <a:effectLst/>
                <a:latin typeface="Segoe WPC"/>
              </a:rPr>
            </a:br>
            <a:r>
              <a:rPr lang="en-US" sz="900" b="1" i="0" dirty="0">
                <a:effectLst/>
                <a:latin typeface="Segoe WPC"/>
              </a:rPr>
              <a:t>Why It Mattered:</a:t>
            </a:r>
            <a:r>
              <a:rPr lang="en-US" sz="900" b="0" i="0" dirty="0">
                <a:effectLst/>
                <a:latin typeface="Segoe WPC"/>
              </a:rPr>
              <a:t> The system became fragile before the crisis was even visible.</a:t>
            </a:r>
            <a:br>
              <a:rPr lang="en-US" sz="900" b="0" i="0" dirty="0">
                <a:effectLst/>
                <a:latin typeface="Segoe WPC"/>
              </a:rPr>
            </a:br>
            <a:r>
              <a:rPr lang="en-US" sz="900" b="1" i="0" dirty="0">
                <a:effectLst/>
                <a:latin typeface="Segoe WPC"/>
              </a:rPr>
              <a:t>Key Lesson:</a:t>
            </a:r>
            <a:r>
              <a:rPr lang="en-US" sz="900" b="0" i="0" dirty="0">
                <a:effectLst/>
                <a:latin typeface="Segoe WPC"/>
              </a:rPr>
              <a:t> Financial crises usually begin with a long buildup of leverage, weak incentives, and hidden fragility.</a:t>
            </a:r>
          </a:p>
          <a:p>
            <a:pPr algn="l">
              <a:spcAft>
                <a:spcPts val="1200"/>
              </a:spcAft>
              <a:buNone/>
            </a:pPr>
            <a:r>
              <a:rPr lang="en-US" sz="900" b="1" i="0" dirty="0">
                <a:effectLst/>
                <a:latin typeface="Segoe WPC"/>
              </a:rPr>
              <a:t>2. Stage:</a:t>
            </a:r>
            <a:r>
              <a:rPr lang="en-US" sz="900" b="0" i="0" dirty="0">
                <a:effectLst/>
                <a:latin typeface="Segoe WPC"/>
              </a:rPr>
              <a:t> Subprime Mortgage Boom</a:t>
            </a:r>
            <a:br>
              <a:rPr lang="en-US" sz="900" b="0" i="0" dirty="0">
                <a:effectLst/>
                <a:latin typeface="Segoe WPC"/>
              </a:rPr>
            </a:br>
            <a:r>
              <a:rPr lang="en-US" sz="900" b="1" i="0" dirty="0">
                <a:effectLst/>
                <a:latin typeface="Segoe WPC"/>
              </a:rPr>
              <a:t>Core Problem:</a:t>
            </a:r>
            <a:r>
              <a:rPr lang="en-US" sz="900" b="0" i="0" dirty="0">
                <a:effectLst/>
                <a:latin typeface="Segoe WPC"/>
              </a:rPr>
              <a:t> Risky mortgages were expanded aggressively to weak borrowers.</a:t>
            </a:r>
            <a:br>
              <a:rPr lang="en-US" sz="900" b="0" i="0" dirty="0">
                <a:effectLst/>
                <a:latin typeface="Segoe WPC"/>
              </a:rPr>
            </a:br>
            <a:r>
              <a:rPr lang="en-US" sz="900" b="1" i="0" dirty="0">
                <a:effectLst/>
                <a:latin typeface="Segoe WPC"/>
              </a:rPr>
              <a:t>What Happened:</a:t>
            </a:r>
            <a:r>
              <a:rPr lang="en-US" sz="900" b="0" i="0" dirty="0">
                <a:effectLst/>
                <a:latin typeface="Segoe WPC"/>
              </a:rPr>
              <a:t> Subprime lending rose from a small share of the mortgage market in 2001 to about 20% of originations by 2006. Many loans had teaser rates, low or zero down payments, weak documentation, or no verification of income and assets.</a:t>
            </a:r>
            <a:br>
              <a:rPr lang="en-US" sz="900" b="0" i="0" dirty="0">
                <a:effectLst/>
                <a:latin typeface="Segoe WPC"/>
              </a:rPr>
            </a:br>
            <a:r>
              <a:rPr lang="en-US" sz="900" b="1" i="0" dirty="0">
                <a:effectLst/>
                <a:latin typeface="Segoe WPC"/>
              </a:rPr>
              <a:t>Why It Mattered:</a:t>
            </a:r>
            <a:r>
              <a:rPr lang="en-US" sz="900" b="0" i="0" dirty="0">
                <a:effectLst/>
                <a:latin typeface="Segoe WPC"/>
              </a:rPr>
              <a:t> Borrowers were highly vulnerable to rising rates and falling house prices.</a:t>
            </a:r>
            <a:br>
              <a:rPr lang="en-US" sz="900" b="0" i="0" dirty="0">
                <a:effectLst/>
                <a:latin typeface="Segoe WPC"/>
              </a:rPr>
            </a:br>
            <a:r>
              <a:rPr lang="en-US" sz="900" b="1" i="0" dirty="0">
                <a:effectLst/>
                <a:latin typeface="Segoe WPC"/>
              </a:rPr>
              <a:t>Key Lesson:</a:t>
            </a:r>
            <a:r>
              <a:rPr lang="en-US" sz="900" b="0" i="0" dirty="0">
                <a:effectLst/>
                <a:latin typeface="Segoe WPC"/>
              </a:rPr>
              <a:t> Weak underwriting standards can create systemic problems when lending grows too quickly.</a:t>
            </a:r>
          </a:p>
          <a:p>
            <a:pPr algn="l">
              <a:spcAft>
                <a:spcPts val="1200"/>
              </a:spcAft>
              <a:buNone/>
            </a:pPr>
            <a:r>
              <a:rPr lang="en-US" sz="900" b="1" i="0" dirty="0">
                <a:effectLst/>
                <a:latin typeface="Segoe WPC"/>
              </a:rPr>
              <a:t>3. Stage:</a:t>
            </a:r>
            <a:r>
              <a:rPr lang="en-US" sz="900" b="0" i="0" dirty="0">
                <a:effectLst/>
                <a:latin typeface="Segoe WPC"/>
              </a:rPr>
              <a:t> Originate-to-Distribute Model</a:t>
            </a:r>
            <a:br>
              <a:rPr lang="en-US" sz="900" b="0" i="0" dirty="0">
                <a:effectLst/>
                <a:latin typeface="Segoe WPC"/>
              </a:rPr>
            </a:br>
            <a:r>
              <a:rPr lang="en-US" sz="900" b="1" i="0" dirty="0">
                <a:effectLst/>
                <a:latin typeface="Segoe WPC"/>
              </a:rPr>
              <a:t>Core Problem:</a:t>
            </a:r>
            <a:r>
              <a:rPr lang="en-US" sz="900" b="0" i="0" dirty="0">
                <a:effectLst/>
                <a:latin typeface="Segoe WPC"/>
              </a:rPr>
              <a:t> Loan originators no longer kept the credit risk.</a:t>
            </a:r>
            <a:br>
              <a:rPr lang="en-US" sz="900" b="0" i="0" dirty="0">
                <a:effectLst/>
                <a:latin typeface="Segoe WPC"/>
              </a:rPr>
            </a:br>
            <a:r>
              <a:rPr lang="en-US" sz="900" b="1" i="0" dirty="0">
                <a:effectLst/>
                <a:latin typeface="Segoe WPC"/>
              </a:rPr>
              <a:t>What Happened:</a:t>
            </a:r>
            <a:r>
              <a:rPr lang="en-US" sz="900" b="0" i="0" dirty="0">
                <a:effectLst/>
                <a:latin typeface="Segoe WPC"/>
              </a:rPr>
              <a:t> Banks originated mortgages and sold them into securitizations, passing credit risk to investors. Because losses would be borne elsewhere, lenders had less incentive to screen borrowers carefully.</a:t>
            </a:r>
            <a:br>
              <a:rPr lang="en-US" sz="900" b="0" i="0" dirty="0">
                <a:effectLst/>
                <a:latin typeface="Segoe WPC"/>
              </a:rPr>
            </a:br>
            <a:r>
              <a:rPr lang="en-US" sz="900" b="1" i="0" dirty="0">
                <a:effectLst/>
                <a:latin typeface="Segoe WPC"/>
              </a:rPr>
              <a:t>Why It Mattered:</a:t>
            </a:r>
            <a:r>
              <a:rPr lang="en-US" sz="900" b="0" i="0" dirty="0">
                <a:effectLst/>
                <a:latin typeface="Segoe WPC"/>
              </a:rPr>
              <a:t> The model weakened due diligence and encouraged volume over quality.</a:t>
            </a:r>
            <a:br>
              <a:rPr lang="en-US" sz="900" b="0" i="0" dirty="0">
                <a:effectLst/>
                <a:latin typeface="Segoe WPC"/>
              </a:rPr>
            </a:br>
            <a:r>
              <a:rPr lang="en-US" sz="900" b="1" i="0" dirty="0">
                <a:effectLst/>
                <a:latin typeface="Segoe WPC"/>
              </a:rPr>
              <a:t>Key Lesson:</a:t>
            </a:r>
            <a:r>
              <a:rPr lang="en-US" sz="900" b="0" i="0" dirty="0">
                <a:effectLst/>
                <a:latin typeface="Segoe WPC"/>
              </a:rPr>
              <a:t> When originators do not retain risk, moral hazard becomes a major threat.</a:t>
            </a:r>
          </a:p>
          <a:p>
            <a:pPr algn="l">
              <a:spcAft>
                <a:spcPts val="1200"/>
              </a:spcAft>
              <a:buNone/>
            </a:pPr>
            <a:r>
              <a:rPr lang="en-US" sz="900" b="1" i="0" dirty="0">
                <a:effectLst/>
                <a:latin typeface="Segoe WPC"/>
              </a:rPr>
              <a:t>4. Stage:</a:t>
            </a:r>
            <a:r>
              <a:rPr lang="en-US" sz="900" b="0" i="0" dirty="0">
                <a:effectLst/>
                <a:latin typeface="Segoe WPC"/>
              </a:rPr>
              <a:t> Securitization and Structured Products</a:t>
            </a:r>
            <a:br>
              <a:rPr lang="en-US" sz="900" b="0" i="0" dirty="0">
                <a:effectLst/>
                <a:latin typeface="Segoe WPC"/>
              </a:rPr>
            </a:br>
            <a:r>
              <a:rPr lang="en-US" sz="900" b="1" i="0" dirty="0">
                <a:effectLst/>
                <a:latin typeface="Segoe WPC"/>
              </a:rPr>
              <a:t>Core Problem:</a:t>
            </a:r>
            <a:r>
              <a:rPr lang="en-US" sz="900" b="0" i="0" dirty="0">
                <a:effectLst/>
                <a:latin typeface="Segoe WPC"/>
              </a:rPr>
              <a:t> Risky mortgage pools were transformed into apparently safe securities.</a:t>
            </a:r>
            <a:br>
              <a:rPr lang="en-US" sz="900" b="0" i="0" dirty="0">
                <a:effectLst/>
                <a:latin typeface="Segoe WPC"/>
              </a:rPr>
            </a:br>
            <a:r>
              <a:rPr lang="en-US" sz="900" b="1" i="0" dirty="0">
                <a:effectLst/>
                <a:latin typeface="Segoe WPC"/>
              </a:rPr>
              <a:t>What Happened:</a:t>
            </a:r>
            <a:r>
              <a:rPr lang="en-US" sz="900" b="0" i="0" dirty="0">
                <a:effectLst/>
                <a:latin typeface="Segoe WPC"/>
              </a:rPr>
              <a:t> </a:t>
            </a:r>
            <a:r>
              <a:rPr lang="en-US" sz="900" b="0" i="0" dirty="0" err="1">
                <a:effectLst/>
                <a:latin typeface="Segoe WPC"/>
              </a:rPr>
              <a:t>Securitizers</a:t>
            </a:r>
            <a:r>
              <a:rPr lang="en-US" sz="900" b="0" i="0" dirty="0">
                <a:effectLst/>
                <a:latin typeface="Segoe WPC"/>
              </a:rPr>
              <a:t> pooled subprime mortgages, split the cash flows into tranches, and sold senior tranches as highly rated securities such as CDOs and other ABS products.</a:t>
            </a:r>
            <a:br>
              <a:rPr lang="en-US" sz="900" b="0" i="0" dirty="0">
                <a:effectLst/>
                <a:latin typeface="Segoe WPC"/>
              </a:rPr>
            </a:br>
            <a:r>
              <a:rPr lang="en-US" sz="900" b="1" i="0" dirty="0">
                <a:effectLst/>
                <a:latin typeface="Segoe WPC"/>
              </a:rPr>
              <a:t>Why It Mattered:</a:t>
            </a:r>
            <a:r>
              <a:rPr lang="en-US" sz="900" b="0" i="0" dirty="0">
                <a:effectLst/>
                <a:latin typeface="Segoe WPC"/>
              </a:rPr>
              <a:t> Investors believed they were buying safe yield, but the underlying collateral was much weaker than the ratings implied.</a:t>
            </a:r>
            <a:br>
              <a:rPr lang="en-US" sz="900" b="0" i="0" dirty="0">
                <a:effectLst/>
                <a:latin typeface="Segoe WPC"/>
              </a:rPr>
            </a:br>
            <a:r>
              <a:rPr lang="en-US" sz="900" b="1" i="0" dirty="0">
                <a:effectLst/>
                <a:latin typeface="Segoe WPC"/>
              </a:rPr>
              <a:t>Key Lesson:</a:t>
            </a:r>
            <a:r>
              <a:rPr lang="en-US" sz="900" b="0" i="0" dirty="0">
                <a:effectLst/>
                <a:latin typeface="Segoe WPC"/>
              </a:rPr>
              <a:t> Financial engineering can repackage risk, but it cannot eliminate poor asset quality.</a:t>
            </a:r>
          </a:p>
          <a:p>
            <a:pPr algn="l">
              <a:spcAft>
                <a:spcPts val="1200"/>
              </a:spcAft>
              <a:buNone/>
            </a:pPr>
            <a:r>
              <a:rPr lang="en-US" sz="900" b="1" i="0" dirty="0">
                <a:effectLst/>
                <a:latin typeface="Segoe WPC"/>
              </a:rPr>
              <a:t>5. Stage:</a:t>
            </a:r>
            <a:r>
              <a:rPr lang="en-US" sz="900" b="0" i="0" dirty="0">
                <a:effectLst/>
                <a:latin typeface="Segoe WPC"/>
              </a:rPr>
              <a:t> Rating Agency Failure</a:t>
            </a:r>
            <a:br>
              <a:rPr lang="en-US" sz="900" b="0" i="0" dirty="0">
                <a:effectLst/>
                <a:latin typeface="Segoe WPC"/>
              </a:rPr>
            </a:br>
            <a:r>
              <a:rPr lang="en-US" sz="900" b="1" i="0" dirty="0">
                <a:effectLst/>
                <a:latin typeface="Segoe WPC"/>
              </a:rPr>
              <a:t>Core Problem:</a:t>
            </a:r>
            <a:r>
              <a:rPr lang="en-US" sz="900" b="0" i="0" dirty="0">
                <a:effectLst/>
                <a:latin typeface="Segoe WPC"/>
              </a:rPr>
              <a:t> Credit ratings overstated the safety of structured products.</a:t>
            </a:r>
            <a:br>
              <a:rPr lang="en-US" sz="900" b="0" i="0" dirty="0">
                <a:effectLst/>
                <a:latin typeface="Segoe WPC"/>
              </a:rPr>
            </a:br>
            <a:r>
              <a:rPr lang="en-US" sz="900" b="1" i="0" dirty="0">
                <a:effectLst/>
                <a:latin typeface="Segoe WPC"/>
              </a:rPr>
              <a:t>What Happened:</a:t>
            </a:r>
            <a:r>
              <a:rPr lang="en-US" sz="900" b="0" i="0" dirty="0">
                <a:effectLst/>
                <a:latin typeface="Segoe WPC"/>
              </a:rPr>
              <a:t> Rating agencies used historical assumptions that did not reflect deteriorating loan quality, fraudulent documentation, and new risky mortgage features. They also relied heavily on issuer-provided data.</a:t>
            </a:r>
            <a:br>
              <a:rPr lang="en-US" sz="900" b="0" i="0" dirty="0">
                <a:effectLst/>
                <a:latin typeface="Segoe WPC"/>
              </a:rPr>
            </a:br>
            <a:r>
              <a:rPr lang="en-US" sz="900" b="1" i="0" dirty="0">
                <a:effectLst/>
                <a:latin typeface="Segoe WPC"/>
              </a:rPr>
              <a:t>Why It Mattered:</a:t>
            </a:r>
            <a:r>
              <a:rPr lang="en-US" sz="900" b="0" i="0" dirty="0">
                <a:effectLst/>
                <a:latin typeface="Segoe WPC"/>
              </a:rPr>
              <a:t> Investors used ratings as a substitute for their own due diligence and underestimated risk.</a:t>
            </a:r>
            <a:br>
              <a:rPr lang="en-US" sz="900" b="0" i="0" dirty="0">
                <a:effectLst/>
                <a:latin typeface="Segoe WPC"/>
              </a:rPr>
            </a:br>
            <a:r>
              <a:rPr lang="en-US" sz="900" b="1" i="0" dirty="0">
                <a:effectLst/>
                <a:latin typeface="Segoe WPC"/>
              </a:rPr>
              <a:t>Key Lesson:</a:t>
            </a:r>
            <a:r>
              <a:rPr lang="en-US" sz="900" b="0" i="0" dirty="0">
                <a:effectLst/>
                <a:latin typeface="Segoe WPC"/>
              </a:rPr>
              <a:t> Ratings are not a substitute for independent credit analysis.</a:t>
            </a:r>
          </a:p>
          <a:p>
            <a:pPr algn="l">
              <a:spcAft>
                <a:spcPts val="1200"/>
              </a:spcAft>
              <a:buNone/>
            </a:pPr>
            <a:r>
              <a:rPr lang="en-US" sz="900" b="1" i="0" dirty="0">
                <a:effectLst/>
                <a:latin typeface="Segoe WPC"/>
              </a:rPr>
              <a:t>6. Stage:</a:t>
            </a:r>
            <a:r>
              <a:rPr lang="en-US" sz="900" b="0" i="0" dirty="0">
                <a:effectLst/>
                <a:latin typeface="Segoe WPC"/>
              </a:rPr>
              <a:t> Delinquencies Begin to Rise</a:t>
            </a:r>
            <a:br>
              <a:rPr lang="en-US" sz="900" b="0" i="0" dirty="0">
                <a:effectLst/>
                <a:latin typeface="Segoe WPC"/>
              </a:rPr>
            </a:br>
            <a:r>
              <a:rPr lang="en-US" sz="900" b="1" i="0" dirty="0">
                <a:effectLst/>
                <a:latin typeface="Segoe WPC"/>
              </a:rPr>
              <a:t>Core Problem:</a:t>
            </a:r>
            <a:r>
              <a:rPr lang="en-US" sz="900" b="0" i="0" dirty="0">
                <a:effectLst/>
                <a:latin typeface="Segoe WPC"/>
              </a:rPr>
              <a:t> Subprime borrowers could no longer refinance or afford resets.</a:t>
            </a:r>
            <a:br>
              <a:rPr lang="en-US" sz="900" b="0" i="0" dirty="0">
                <a:effectLst/>
                <a:latin typeface="Segoe WPC"/>
              </a:rPr>
            </a:br>
            <a:r>
              <a:rPr lang="en-US" sz="900" b="1" i="0" dirty="0">
                <a:effectLst/>
                <a:latin typeface="Segoe WPC"/>
              </a:rPr>
              <a:t>What Happened:</a:t>
            </a:r>
            <a:r>
              <a:rPr lang="en-US" sz="900" b="0" i="0" dirty="0">
                <a:effectLst/>
                <a:latin typeface="Segoe WPC"/>
              </a:rPr>
              <a:t> As housing prices fell and interest rates rose, many adjustable-rate subprime mortgages reset to much higher payments. Borrowers who expected to refinance could not do so, and delinquencies rose sharply.</a:t>
            </a:r>
            <a:br>
              <a:rPr lang="en-US" sz="900" b="0" i="0" dirty="0">
                <a:effectLst/>
                <a:latin typeface="Segoe WPC"/>
              </a:rPr>
            </a:br>
            <a:r>
              <a:rPr lang="en-US" sz="900" b="1" i="0" dirty="0">
                <a:effectLst/>
                <a:latin typeface="Segoe WPC"/>
              </a:rPr>
              <a:t>Why It Mattered:</a:t>
            </a:r>
            <a:r>
              <a:rPr lang="en-US" sz="900" b="0" i="0" dirty="0">
                <a:effectLst/>
                <a:latin typeface="Segoe WPC"/>
              </a:rPr>
              <a:t> Mortgage defaults triggered losses, downgrades, and falling valuations across securitized products.</a:t>
            </a:r>
            <a:br>
              <a:rPr lang="en-US" sz="900" b="0" i="0" dirty="0">
                <a:effectLst/>
                <a:latin typeface="Segoe WPC"/>
              </a:rPr>
            </a:br>
            <a:r>
              <a:rPr lang="en-US" sz="900" b="1" i="0" dirty="0">
                <a:effectLst/>
                <a:latin typeface="Segoe WPC"/>
              </a:rPr>
              <a:t>Key Lesson:</a:t>
            </a:r>
            <a:r>
              <a:rPr lang="en-US" sz="900" b="0" i="0" dirty="0">
                <a:effectLst/>
                <a:latin typeface="Segoe WPC"/>
              </a:rPr>
              <a:t> A fragile credit structure breaks quickly when refinancing assumptions fail.</a:t>
            </a:r>
          </a:p>
        </p:txBody>
      </p:sp>
      <p:sp>
        <p:nvSpPr>
          <p:cNvPr id="7" name="CuadroTexto 6">
            <a:extLst>
              <a:ext uri="{FF2B5EF4-FFF2-40B4-BE49-F238E27FC236}">
                <a16:creationId xmlns:a16="http://schemas.microsoft.com/office/drawing/2014/main" id="{BA0B10BD-E29E-29E5-6F54-100360428A7C}"/>
              </a:ext>
            </a:extLst>
          </p:cNvPr>
          <p:cNvSpPr txBox="1"/>
          <p:nvPr/>
        </p:nvSpPr>
        <p:spPr>
          <a:xfrm>
            <a:off x="5994400" y="94174"/>
            <a:ext cx="6197600" cy="6817251"/>
          </a:xfrm>
          <a:prstGeom prst="rect">
            <a:avLst/>
          </a:prstGeom>
          <a:noFill/>
        </p:spPr>
        <p:txBody>
          <a:bodyPr wrap="square">
            <a:spAutoFit/>
          </a:bodyPr>
          <a:lstStyle/>
          <a:p>
            <a:pPr algn="l">
              <a:spcAft>
                <a:spcPts val="1200"/>
              </a:spcAft>
              <a:buNone/>
            </a:pPr>
            <a:r>
              <a:rPr lang="en-US" sz="900" b="1" i="0" dirty="0">
                <a:effectLst/>
                <a:latin typeface="Segoe WPC"/>
              </a:rPr>
              <a:t>7. Stage:</a:t>
            </a:r>
            <a:r>
              <a:rPr lang="en-US" sz="900" b="0" i="0" dirty="0">
                <a:effectLst/>
                <a:latin typeface="Segoe WPC"/>
              </a:rPr>
              <a:t> Short-Term Wholesale Funding Vulnerability</a:t>
            </a:r>
            <a:br>
              <a:rPr lang="en-US" sz="900" b="0" i="0" dirty="0">
                <a:effectLst/>
                <a:latin typeface="Segoe WPC"/>
              </a:rPr>
            </a:br>
            <a:r>
              <a:rPr lang="en-US" sz="900" b="1" i="0" dirty="0">
                <a:effectLst/>
                <a:latin typeface="Segoe WPC"/>
              </a:rPr>
              <a:t>Core Problem:</a:t>
            </a:r>
            <a:r>
              <a:rPr lang="en-US" sz="900" b="0" i="0" dirty="0">
                <a:effectLst/>
                <a:latin typeface="Segoe WPC"/>
              </a:rPr>
              <a:t> The system depended heavily on repo and ABCP funding.</a:t>
            </a:r>
            <a:br>
              <a:rPr lang="en-US" sz="900" b="0" i="0" dirty="0">
                <a:effectLst/>
                <a:latin typeface="Segoe WPC"/>
              </a:rPr>
            </a:br>
            <a:r>
              <a:rPr lang="en-US" sz="900" b="1" i="0" dirty="0">
                <a:effectLst/>
                <a:latin typeface="Segoe WPC"/>
              </a:rPr>
              <a:t>What Happened:</a:t>
            </a:r>
            <a:r>
              <a:rPr lang="en-US" sz="900" b="0" i="0" dirty="0">
                <a:effectLst/>
                <a:latin typeface="Segoe WPC"/>
              </a:rPr>
              <a:t> Many institutions and SIVs funded long-term or illiquid assets with short-term instruments such as repos and asset-backed commercial paper. This worked only as long as investors kept rolling the funding.</a:t>
            </a:r>
            <a:br>
              <a:rPr lang="en-US" sz="900" b="0" i="0" dirty="0">
                <a:effectLst/>
                <a:latin typeface="Segoe WPC"/>
              </a:rPr>
            </a:br>
            <a:r>
              <a:rPr lang="en-US" sz="900" b="1" i="0" dirty="0">
                <a:effectLst/>
                <a:latin typeface="Segoe WPC"/>
              </a:rPr>
              <a:t>Why It Mattered:</a:t>
            </a:r>
            <a:r>
              <a:rPr lang="en-US" sz="900" b="0" i="0" dirty="0">
                <a:effectLst/>
                <a:latin typeface="Segoe WPC"/>
              </a:rPr>
              <a:t> Once confidence fell, short-term funding disappeared almost overnight.</a:t>
            </a:r>
            <a:br>
              <a:rPr lang="en-US" sz="900" b="0" i="0" dirty="0">
                <a:effectLst/>
                <a:latin typeface="Segoe WPC"/>
              </a:rPr>
            </a:br>
            <a:r>
              <a:rPr lang="en-US" sz="900" b="1" i="0" dirty="0">
                <a:effectLst/>
                <a:latin typeface="Segoe WPC"/>
              </a:rPr>
              <a:t>Key Lesson:</a:t>
            </a:r>
            <a:r>
              <a:rPr lang="en-US" sz="900" b="0" i="0" dirty="0">
                <a:effectLst/>
                <a:latin typeface="Segoe WPC"/>
              </a:rPr>
              <a:t> Heavy reliance on short-term wholesale funding creates extreme liquidity fragility.</a:t>
            </a:r>
          </a:p>
          <a:p>
            <a:pPr algn="l">
              <a:spcAft>
                <a:spcPts val="1200"/>
              </a:spcAft>
              <a:buNone/>
            </a:pPr>
            <a:r>
              <a:rPr lang="en-US" sz="900" b="1" i="0" dirty="0">
                <a:effectLst/>
                <a:latin typeface="Segoe WPC"/>
              </a:rPr>
              <a:t>8. Stage:</a:t>
            </a:r>
            <a:r>
              <a:rPr lang="en-US" sz="900" b="0" i="0" dirty="0">
                <a:effectLst/>
                <a:latin typeface="Segoe WPC"/>
              </a:rPr>
              <a:t> Liquidity Crunch</a:t>
            </a:r>
            <a:br>
              <a:rPr lang="en-US" sz="900" b="0" i="0" dirty="0">
                <a:effectLst/>
                <a:latin typeface="Segoe WPC"/>
              </a:rPr>
            </a:br>
            <a:r>
              <a:rPr lang="en-US" sz="900" b="1" i="0" dirty="0">
                <a:effectLst/>
                <a:latin typeface="Segoe WPC"/>
              </a:rPr>
              <a:t>Core Problem:</a:t>
            </a:r>
            <a:r>
              <a:rPr lang="en-US" sz="900" b="0" i="0" dirty="0">
                <a:effectLst/>
                <a:latin typeface="Segoe WPC"/>
              </a:rPr>
              <a:t> Falling collateral quality and uncertainty caused funding markets to freeze.</a:t>
            </a:r>
            <a:br>
              <a:rPr lang="en-US" sz="900" b="0" i="0" dirty="0">
                <a:effectLst/>
                <a:latin typeface="Segoe WPC"/>
              </a:rPr>
            </a:br>
            <a:r>
              <a:rPr lang="en-US" sz="900" b="1" i="0" dirty="0">
                <a:effectLst/>
                <a:latin typeface="Segoe WPC"/>
              </a:rPr>
              <a:t>What Happened:</a:t>
            </a:r>
            <a:r>
              <a:rPr lang="en-US" sz="900" b="0" i="0" dirty="0">
                <a:effectLst/>
                <a:latin typeface="Segoe WPC"/>
              </a:rPr>
              <a:t> As doubts grew about mortgage-backed collateral, repo haircuts rose sharply and ABCP markets stopped functioning. SIVs could not refinance, hedge funds had to sell assets, and banks were forced to bring exposures back onto their balance sheets.</a:t>
            </a:r>
            <a:br>
              <a:rPr lang="en-US" sz="900" b="0" i="0" dirty="0">
                <a:effectLst/>
                <a:latin typeface="Segoe WPC"/>
              </a:rPr>
            </a:br>
            <a:r>
              <a:rPr lang="en-US" sz="900" b="1" i="0" dirty="0">
                <a:effectLst/>
                <a:latin typeface="Segoe WPC"/>
              </a:rPr>
              <a:t>Why It Mattered:</a:t>
            </a:r>
            <a:r>
              <a:rPr lang="en-US" sz="900" b="0" i="0" dirty="0">
                <a:effectLst/>
                <a:latin typeface="Segoe WPC"/>
              </a:rPr>
              <a:t> A liquidity problem quickly became a solvency problem for highly leveraged institutions.</a:t>
            </a:r>
            <a:br>
              <a:rPr lang="en-US" sz="900" b="0" i="0" dirty="0">
                <a:effectLst/>
                <a:latin typeface="Segoe WPC"/>
              </a:rPr>
            </a:br>
            <a:r>
              <a:rPr lang="en-US" sz="900" b="1" i="0" dirty="0">
                <a:effectLst/>
                <a:latin typeface="Segoe WPC"/>
              </a:rPr>
              <a:t>Key Lesson:</a:t>
            </a:r>
            <a:r>
              <a:rPr lang="en-US" sz="900" b="0" i="0" dirty="0">
                <a:effectLst/>
                <a:latin typeface="Segoe WPC"/>
              </a:rPr>
              <a:t> In a crisis, liquidity can vanish before losses are fully recognized.</a:t>
            </a:r>
          </a:p>
          <a:p>
            <a:pPr algn="l">
              <a:spcAft>
                <a:spcPts val="1200"/>
              </a:spcAft>
              <a:buNone/>
            </a:pPr>
            <a:r>
              <a:rPr lang="en-US" sz="900" b="1" i="0" dirty="0">
                <a:effectLst/>
                <a:latin typeface="Segoe WPC"/>
              </a:rPr>
              <a:t>9. Stage:</a:t>
            </a:r>
            <a:r>
              <a:rPr lang="en-US" sz="900" b="0" i="0" dirty="0">
                <a:effectLst/>
                <a:latin typeface="Segoe WPC"/>
              </a:rPr>
              <a:t> Valuation Uncertainty and Transparency Failure</a:t>
            </a:r>
            <a:br>
              <a:rPr lang="en-US" sz="900" b="0" i="0" dirty="0">
                <a:effectLst/>
                <a:latin typeface="Segoe WPC"/>
              </a:rPr>
            </a:br>
            <a:r>
              <a:rPr lang="en-US" sz="900" b="1" i="0" dirty="0">
                <a:effectLst/>
                <a:latin typeface="Segoe WPC"/>
              </a:rPr>
              <a:t>Core Problem:</a:t>
            </a:r>
            <a:r>
              <a:rPr lang="en-US" sz="900" b="0" i="0" dirty="0">
                <a:effectLst/>
                <a:latin typeface="Segoe WPC"/>
              </a:rPr>
              <a:t> Investors could not reliably value complex structured products or understand who held them.</a:t>
            </a:r>
            <a:br>
              <a:rPr lang="en-US" sz="900" b="0" i="0" dirty="0">
                <a:effectLst/>
                <a:latin typeface="Segoe WPC"/>
              </a:rPr>
            </a:br>
            <a:r>
              <a:rPr lang="en-US" sz="900" b="1" i="0" dirty="0">
                <a:effectLst/>
                <a:latin typeface="Segoe WPC"/>
              </a:rPr>
              <a:t>What Happened:</a:t>
            </a:r>
            <a:r>
              <a:rPr lang="en-US" sz="900" b="0" i="0" dirty="0">
                <a:effectLst/>
                <a:latin typeface="Segoe WPC"/>
              </a:rPr>
              <a:t> Structured products were extremely difficult to price because of complex waterfalls, heterogeneous collateral pools, and model dependence. Many institutions lacked transparency about exposures, off-balance-sheet vehicles, and contingent commitments.</a:t>
            </a:r>
            <a:br>
              <a:rPr lang="en-US" sz="900" b="0" i="0" dirty="0">
                <a:effectLst/>
                <a:latin typeface="Segoe WPC"/>
              </a:rPr>
            </a:br>
            <a:r>
              <a:rPr lang="en-US" sz="900" b="1" i="0" dirty="0">
                <a:effectLst/>
                <a:latin typeface="Segoe WPC"/>
              </a:rPr>
              <a:t>Why It Mattered:</a:t>
            </a:r>
            <a:r>
              <a:rPr lang="en-US" sz="900" b="0" i="0" dirty="0">
                <a:effectLst/>
                <a:latin typeface="Segoe WPC"/>
              </a:rPr>
              <a:t> Uncertainty about valuation destroyed trust between market participants and froze lending.</a:t>
            </a:r>
            <a:br>
              <a:rPr lang="en-US" sz="900" b="0" i="0" dirty="0">
                <a:effectLst/>
                <a:latin typeface="Segoe WPC"/>
              </a:rPr>
            </a:br>
            <a:r>
              <a:rPr lang="en-US" sz="900" b="1" i="0" dirty="0">
                <a:effectLst/>
                <a:latin typeface="Segoe WPC"/>
              </a:rPr>
              <a:t>Key Lesson:</a:t>
            </a:r>
            <a:r>
              <a:rPr lang="en-US" sz="900" b="0" i="0" dirty="0">
                <a:effectLst/>
                <a:latin typeface="Segoe WPC"/>
              </a:rPr>
              <a:t> When transparency disappears, markets stop functioning even before all losses are known.</a:t>
            </a:r>
          </a:p>
          <a:p>
            <a:pPr algn="l">
              <a:spcAft>
                <a:spcPts val="1200"/>
              </a:spcAft>
              <a:buNone/>
            </a:pPr>
            <a:r>
              <a:rPr lang="en-US" sz="900" b="1" i="0" dirty="0">
                <a:effectLst/>
                <a:latin typeface="Segoe WPC"/>
              </a:rPr>
              <a:t>10. Stage:</a:t>
            </a:r>
            <a:r>
              <a:rPr lang="en-US" sz="900" b="0" i="0" dirty="0">
                <a:effectLst/>
                <a:latin typeface="Segoe WPC"/>
              </a:rPr>
              <a:t> Peak of the Crisis in 2008</a:t>
            </a:r>
            <a:br>
              <a:rPr lang="en-US" sz="900" b="0" i="0" dirty="0">
                <a:effectLst/>
                <a:latin typeface="Segoe WPC"/>
              </a:rPr>
            </a:br>
            <a:r>
              <a:rPr lang="en-US" sz="900" b="1" i="0" dirty="0">
                <a:effectLst/>
                <a:latin typeface="Segoe WPC"/>
              </a:rPr>
              <a:t>Core Problem:</a:t>
            </a:r>
            <a:r>
              <a:rPr lang="en-US" sz="900" b="0" i="0" dirty="0">
                <a:effectLst/>
                <a:latin typeface="Segoe WPC"/>
              </a:rPr>
              <a:t> The financial system entered a full panic.</a:t>
            </a:r>
            <a:br>
              <a:rPr lang="en-US" sz="900" b="0" i="0" dirty="0">
                <a:effectLst/>
                <a:latin typeface="Segoe WPC"/>
              </a:rPr>
            </a:br>
            <a:r>
              <a:rPr lang="en-US" sz="900" b="1" i="0" dirty="0">
                <a:effectLst/>
                <a:latin typeface="Segoe WPC"/>
              </a:rPr>
              <a:t>What Happened:</a:t>
            </a:r>
            <a:r>
              <a:rPr lang="en-US" sz="900" b="0" i="0" dirty="0">
                <a:effectLst/>
                <a:latin typeface="Segoe WPC"/>
              </a:rPr>
              <a:t> Lehman Brothers failed, Bear Stearns was absorbed, Fannie Mae and Freddie Mac were nationalized, AIG was rescued, and major investment banks converted to bank holding companies. In Europe, banks required massive state support and some sovereigns were later weakened by rescue costs.</a:t>
            </a:r>
            <a:br>
              <a:rPr lang="en-US" sz="900" b="0" i="0" dirty="0">
                <a:effectLst/>
                <a:latin typeface="Segoe WPC"/>
              </a:rPr>
            </a:br>
            <a:r>
              <a:rPr lang="en-US" sz="900" b="1" i="0" dirty="0">
                <a:effectLst/>
                <a:latin typeface="Segoe WPC"/>
              </a:rPr>
              <a:t>Why It Mattered:</a:t>
            </a:r>
            <a:r>
              <a:rPr lang="en-US" sz="900" b="0" i="0" dirty="0">
                <a:effectLst/>
                <a:latin typeface="Segoe WPC"/>
              </a:rPr>
              <a:t> The crisis spread from subprime mortgages to the global banking system and then to the real economy.</a:t>
            </a:r>
            <a:br>
              <a:rPr lang="en-US" sz="900" b="0" i="0" dirty="0">
                <a:effectLst/>
                <a:latin typeface="Segoe WPC"/>
              </a:rPr>
            </a:br>
            <a:r>
              <a:rPr lang="en-US" sz="900" b="1" i="0" dirty="0">
                <a:effectLst/>
                <a:latin typeface="Segoe WPC"/>
              </a:rPr>
              <a:t>Key Lesson:</a:t>
            </a:r>
            <a:r>
              <a:rPr lang="en-US" sz="900" b="0" i="0" dirty="0">
                <a:effectLst/>
                <a:latin typeface="Segoe WPC"/>
              </a:rPr>
              <a:t> A financial crisis becomes systemic when failures spread across institutions, markets, and countries.</a:t>
            </a:r>
          </a:p>
          <a:p>
            <a:pPr algn="l">
              <a:spcAft>
                <a:spcPts val="1200"/>
              </a:spcAft>
              <a:buNone/>
            </a:pPr>
            <a:r>
              <a:rPr lang="en-US" sz="900" b="1" i="0" dirty="0">
                <a:effectLst/>
                <a:latin typeface="Segoe WPC"/>
              </a:rPr>
              <a:t>11. Stage:</a:t>
            </a:r>
            <a:r>
              <a:rPr lang="en-US" sz="900" b="0" i="0" dirty="0">
                <a:effectLst/>
                <a:latin typeface="Segoe WPC"/>
              </a:rPr>
              <a:t> Central Bank and Government Intervention</a:t>
            </a:r>
            <a:br>
              <a:rPr lang="en-US" sz="900" b="0" i="0" dirty="0">
                <a:effectLst/>
                <a:latin typeface="Segoe WPC"/>
              </a:rPr>
            </a:br>
            <a:r>
              <a:rPr lang="en-US" sz="900" b="1" i="0" dirty="0">
                <a:effectLst/>
                <a:latin typeface="Segoe WPC"/>
              </a:rPr>
              <a:t>Core Problem:</a:t>
            </a:r>
            <a:r>
              <a:rPr lang="en-US" sz="900" b="0" i="0" dirty="0">
                <a:effectLst/>
                <a:latin typeface="Segoe WPC"/>
              </a:rPr>
              <a:t> Private markets could no longer provide enough liquidity or capital.</a:t>
            </a:r>
            <a:br>
              <a:rPr lang="en-US" sz="900" b="0" i="0" dirty="0">
                <a:effectLst/>
                <a:latin typeface="Segoe WPC"/>
              </a:rPr>
            </a:br>
            <a:r>
              <a:rPr lang="en-US" sz="900" b="1" i="0" dirty="0">
                <a:effectLst/>
                <a:latin typeface="Segoe WPC"/>
              </a:rPr>
              <a:t>What Happened:</a:t>
            </a:r>
            <a:r>
              <a:rPr lang="en-US" sz="900" b="0" i="0" dirty="0">
                <a:effectLst/>
                <a:latin typeface="Segoe WPC"/>
              </a:rPr>
              <a:t> The Federal Reserve and other central banks created emergency liquidity facilities, supported money markets, financed purchases of high-quality assets, and governments recapitalized institutions through programs such as TARP.</a:t>
            </a:r>
            <a:br>
              <a:rPr lang="en-US" sz="900" b="0" i="0" dirty="0">
                <a:effectLst/>
                <a:latin typeface="Segoe WPC"/>
              </a:rPr>
            </a:br>
            <a:r>
              <a:rPr lang="en-US" sz="900" b="1" i="0" dirty="0">
                <a:effectLst/>
                <a:latin typeface="Segoe WPC"/>
              </a:rPr>
              <a:t>Why It Mattered:</a:t>
            </a:r>
            <a:r>
              <a:rPr lang="en-US" sz="900" b="0" i="0" dirty="0">
                <a:effectLst/>
                <a:latin typeface="Segoe WPC"/>
              </a:rPr>
              <a:t> These actions helped prevent a complete collapse of the financial system.</a:t>
            </a:r>
            <a:br>
              <a:rPr lang="en-US" sz="900" b="0" i="0" dirty="0">
                <a:effectLst/>
                <a:latin typeface="Segoe WPC"/>
              </a:rPr>
            </a:br>
            <a:r>
              <a:rPr lang="en-US" sz="900" b="1" i="0" dirty="0">
                <a:effectLst/>
                <a:latin typeface="Segoe WPC"/>
              </a:rPr>
              <a:t>Key Lesson:</a:t>
            </a:r>
            <a:r>
              <a:rPr lang="en-US" sz="900" b="0" i="0" dirty="0">
                <a:effectLst/>
                <a:latin typeface="Segoe WPC"/>
              </a:rPr>
              <a:t> In systemic crises, central banks become lenders of last resort and governments often become </a:t>
            </a:r>
            <a:r>
              <a:rPr lang="en-US" sz="900" b="0" i="0" dirty="0" err="1">
                <a:effectLst/>
                <a:latin typeface="Segoe WPC"/>
              </a:rPr>
              <a:t>recapitalizers</a:t>
            </a:r>
            <a:r>
              <a:rPr lang="en-US" sz="900" b="0" i="0" dirty="0">
                <a:effectLst/>
                <a:latin typeface="Segoe WPC"/>
              </a:rPr>
              <a:t> of last resort.</a:t>
            </a:r>
          </a:p>
          <a:p>
            <a:pPr algn="l">
              <a:spcAft>
                <a:spcPts val="1200"/>
              </a:spcAft>
              <a:buNone/>
            </a:pPr>
            <a:r>
              <a:rPr lang="en-US" sz="900" b="1" i="0" dirty="0">
                <a:effectLst/>
                <a:latin typeface="Segoe WPC"/>
              </a:rPr>
              <a:t>12. Stage:</a:t>
            </a:r>
            <a:r>
              <a:rPr lang="en-US" sz="900" b="0" i="0" dirty="0">
                <a:effectLst/>
                <a:latin typeface="Segoe WPC"/>
              </a:rPr>
              <a:t> Systemic Risk in Action</a:t>
            </a:r>
            <a:br>
              <a:rPr lang="en-US" sz="900" b="0" i="0" dirty="0">
                <a:effectLst/>
                <a:latin typeface="Segoe WPC"/>
              </a:rPr>
            </a:br>
            <a:r>
              <a:rPr lang="en-US" sz="900" b="1" i="0" dirty="0">
                <a:effectLst/>
                <a:latin typeface="Segoe WPC"/>
              </a:rPr>
              <a:t>Core Problem:</a:t>
            </a:r>
            <a:r>
              <a:rPr lang="en-US" sz="900" b="0" i="0" dirty="0">
                <a:effectLst/>
                <a:latin typeface="Segoe WPC"/>
              </a:rPr>
              <a:t> Problems in one market spread rapidly across the system.</a:t>
            </a:r>
            <a:br>
              <a:rPr lang="en-US" sz="900" b="0" i="0" dirty="0">
                <a:effectLst/>
                <a:latin typeface="Segoe WPC"/>
              </a:rPr>
            </a:br>
            <a:r>
              <a:rPr lang="en-US" sz="900" b="1" i="0" dirty="0">
                <a:effectLst/>
                <a:latin typeface="Segoe WPC"/>
              </a:rPr>
              <a:t>What Happened:</a:t>
            </a:r>
            <a:r>
              <a:rPr lang="en-US" sz="900" b="0" i="0" dirty="0">
                <a:effectLst/>
                <a:latin typeface="Segoe WPC"/>
              </a:rPr>
              <a:t> Losses in subprime mortgages spread to ABS, CDOs, repo, ABCP, hedge funds, banks, interbank lending, and then to the broader economy. As trust collapsed, institutions hoarded cash, sold assets, and cut lending.</a:t>
            </a:r>
            <a:br>
              <a:rPr lang="en-US" sz="900" b="0" i="0" dirty="0">
                <a:effectLst/>
                <a:latin typeface="Segoe WPC"/>
              </a:rPr>
            </a:br>
            <a:r>
              <a:rPr lang="en-US" sz="900" b="1" i="0" dirty="0">
                <a:effectLst/>
                <a:latin typeface="Segoe WPC"/>
              </a:rPr>
              <a:t>Why It Mattered:</a:t>
            </a:r>
            <a:r>
              <a:rPr lang="en-US" sz="900" b="0" i="0" dirty="0">
                <a:effectLst/>
                <a:latin typeface="Segoe WPC"/>
              </a:rPr>
              <a:t> The crisis showed how interconnected markets can amplify local shocks into global disasters.</a:t>
            </a:r>
            <a:br>
              <a:rPr lang="en-US" sz="900" b="0" i="0" dirty="0">
                <a:effectLst/>
                <a:latin typeface="Segoe WPC"/>
              </a:rPr>
            </a:br>
            <a:r>
              <a:rPr lang="en-US" sz="900" b="1" i="0" dirty="0">
                <a:effectLst/>
                <a:latin typeface="Segoe WPC"/>
              </a:rPr>
              <a:t>Key Lesson:</a:t>
            </a:r>
            <a:r>
              <a:rPr lang="en-US" sz="900" b="0" i="0" dirty="0">
                <a:effectLst/>
                <a:latin typeface="Segoe WPC"/>
              </a:rPr>
              <a:t> Systemic risk is not just about losses, but about contagion, opacity, and interconnected funding dependence.</a:t>
            </a:r>
          </a:p>
        </p:txBody>
      </p:sp>
    </p:spTree>
    <p:extLst>
      <p:ext uri="{BB962C8B-B14F-4D97-AF65-F5344CB8AC3E}">
        <p14:creationId xmlns:p14="http://schemas.microsoft.com/office/powerpoint/2010/main" val="1146381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76DFAD-CEB6-2DD9-D4BB-320EAE802F02}"/>
              </a:ext>
            </a:extLst>
          </p:cNvPr>
          <p:cNvSpPr>
            <a:spLocks noGrp="1"/>
          </p:cNvSpPr>
          <p:nvPr>
            <p:ph type="title"/>
          </p:nvPr>
        </p:nvSpPr>
        <p:spPr>
          <a:xfrm>
            <a:off x="76200" y="0"/>
            <a:ext cx="10515600" cy="685800"/>
          </a:xfrm>
        </p:spPr>
        <p:txBody>
          <a:bodyPr>
            <a:normAutofit/>
          </a:bodyPr>
          <a:lstStyle/>
          <a:p>
            <a:r>
              <a:rPr lang="en-US" sz="2400" dirty="0"/>
              <a:t>GARP Code Conduct</a:t>
            </a:r>
            <a:endParaRPr lang="es-PE" sz="2400" dirty="0"/>
          </a:p>
        </p:txBody>
      </p:sp>
      <p:sp>
        <p:nvSpPr>
          <p:cNvPr id="7" name="CuadroTexto 6">
            <a:extLst>
              <a:ext uri="{FF2B5EF4-FFF2-40B4-BE49-F238E27FC236}">
                <a16:creationId xmlns:a16="http://schemas.microsoft.com/office/drawing/2014/main" id="{0D554488-9606-BBEE-88FD-C9B7F6DC049F}"/>
              </a:ext>
            </a:extLst>
          </p:cNvPr>
          <p:cNvSpPr txBox="1"/>
          <p:nvPr/>
        </p:nvSpPr>
        <p:spPr>
          <a:xfrm>
            <a:off x="170545" y="685800"/>
            <a:ext cx="6103256" cy="5863144"/>
          </a:xfrm>
          <a:prstGeom prst="rect">
            <a:avLst/>
          </a:prstGeom>
          <a:noFill/>
        </p:spPr>
        <p:txBody>
          <a:bodyPr wrap="square">
            <a:spAutoFit/>
          </a:bodyPr>
          <a:lstStyle/>
          <a:p>
            <a:pPr algn="l">
              <a:spcAft>
                <a:spcPts val="1200"/>
              </a:spcAft>
              <a:buNone/>
            </a:pPr>
            <a:r>
              <a:rPr lang="en-US" sz="900" b="1" i="0" dirty="0">
                <a:effectLst/>
                <a:latin typeface="Segoe WPC"/>
              </a:rPr>
              <a:t>1. Principle:</a:t>
            </a:r>
            <a:r>
              <a:rPr lang="en-US" sz="900" b="0" i="0" dirty="0">
                <a:effectLst/>
                <a:latin typeface="Segoe WPC"/>
              </a:rPr>
              <a:t> Purpose of the GARP Code of Conduct</a:t>
            </a:r>
            <a:br>
              <a:rPr lang="en-US" sz="900" b="0" i="0" dirty="0">
                <a:effectLst/>
                <a:latin typeface="Segoe WPC"/>
              </a:rPr>
            </a:br>
            <a:r>
              <a:rPr lang="en-US" sz="900" b="1" i="0" dirty="0">
                <a:effectLst/>
                <a:latin typeface="Segoe WPC"/>
              </a:rPr>
              <a:t>What It Means:</a:t>
            </a:r>
            <a:r>
              <a:rPr lang="en-US" sz="900" b="0" i="0" dirty="0">
                <a:effectLst/>
                <a:latin typeface="Segoe WPC"/>
              </a:rPr>
              <a:t> The Code sets ethical expectations for GARP members, FRM and ERP holders/candidates, board members, committee members, and staff.</a:t>
            </a:r>
            <a:br>
              <a:rPr lang="en-US" sz="900" b="0" i="0" dirty="0">
                <a:effectLst/>
                <a:latin typeface="Segoe WPC"/>
              </a:rPr>
            </a:br>
            <a:r>
              <a:rPr lang="en-US" sz="900" b="1" i="0" dirty="0">
                <a:effectLst/>
                <a:latin typeface="Segoe WPC"/>
              </a:rPr>
              <a:t>Key Duty:</a:t>
            </a:r>
            <a:r>
              <a:rPr lang="en-US" sz="900" b="0" i="0" dirty="0">
                <a:effectLst/>
                <a:latin typeface="Segoe WPC"/>
              </a:rPr>
              <a:t> Support the advancement of the risk profession through high ethical standards, integrity, and proper disclosure.</a:t>
            </a:r>
            <a:br>
              <a:rPr lang="en-US" sz="900" b="0" i="0" dirty="0">
                <a:effectLst/>
                <a:latin typeface="Segoe WPC"/>
              </a:rPr>
            </a:br>
            <a:r>
              <a:rPr lang="en-US" sz="900" b="1" i="0" dirty="0">
                <a:effectLst/>
                <a:latin typeface="Segoe WPC"/>
              </a:rPr>
              <a:t>Red Flag:</a:t>
            </a:r>
            <a:r>
              <a:rPr lang="en-US" sz="900" b="0" i="0" dirty="0">
                <a:effectLst/>
                <a:latin typeface="Segoe WPC"/>
              </a:rPr>
              <a:t> Treating ethics as only a legal compliance issue instead of a professional responsibility.</a:t>
            </a:r>
          </a:p>
          <a:p>
            <a:pPr algn="l">
              <a:spcAft>
                <a:spcPts val="1200"/>
              </a:spcAft>
              <a:buNone/>
            </a:pPr>
            <a:r>
              <a:rPr lang="en-US" sz="900" b="1" i="0" dirty="0">
                <a:effectLst/>
                <a:latin typeface="Segoe WPC"/>
              </a:rPr>
              <a:t>2. Principle:</a:t>
            </a:r>
            <a:r>
              <a:rPr lang="en-US" sz="900" b="0" i="0" dirty="0">
                <a:effectLst/>
                <a:latin typeface="Segoe WPC"/>
              </a:rPr>
              <a:t> Ethics Goes Beyond Law</a:t>
            </a:r>
            <a:br>
              <a:rPr lang="en-US" sz="900" b="0" i="0" dirty="0">
                <a:effectLst/>
                <a:latin typeface="Segoe WPC"/>
              </a:rPr>
            </a:br>
            <a:r>
              <a:rPr lang="en-US" sz="900" b="1" i="0" dirty="0">
                <a:effectLst/>
                <a:latin typeface="Segoe WPC"/>
              </a:rPr>
              <a:t>What It Means:</a:t>
            </a:r>
            <a:r>
              <a:rPr lang="en-US" sz="900" b="0" i="0" dirty="0">
                <a:effectLst/>
                <a:latin typeface="Segoe WPC"/>
              </a:rPr>
              <a:t> Ethical conduct is not just following the letter of rules and regulations, but also following their spirit.</a:t>
            </a:r>
            <a:br>
              <a:rPr lang="en-US" sz="900" b="0" i="0" dirty="0">
                <a:effectLst/>
                <a:latin typeface="Segoe WPC"/>
              </a:rPr>
            </a:br>
            <a:r>
              <a:rPr lang="en-US" sz="900" b="1" i="0" dirty="0">
                <a:effectLst/>
                <a:latin typeface="Segoe WPC"/>
              </a:rPr>
              <a:t>Key Duty:</a:t>
            </a:r>
            <a:r>
              <a:rPr lang="en-US" sz="900" b="0" i="0" dirty="0">
                <a:effectLst/>
                <a:latin typeface="Segoe WPC"/>
              </a:rPr>
              <a:t> Consider ethical consequences even when no explicit rule has been broken.</a:t>
            </a:r>
            <a:br>
              <a:rPr lang="en-US" sz="900" b="0" i="0" dirty="0">
                <a:effectLst/>
                <a:latin typeface="Segoe WPC"/>
              </a:rPr>
            </a:br>
            <a:r>
              <a:rPr lang="en-US" sz="900" b="1" i="0" dirty="0">
                <a:effectLst/>
                <a:latin typeface="Segoe WPC"/>
              </a:rPr>
              <a:t>Red Flag:</a:t>
            </a:r>
            <a:r>
              <a:rPr lang="en-US" sz="900" b="0" i="0" dirty="0">
                <a:effectLst/>
                <a:latin typeface="Segoe WPC"/>
              </a:rPr>
              <a:t> Using technically legal behavior to justify conduct that is misleading or unfair.</a:t>
            </a:r>
          </a:p>
          <a:p>
            <a:pPr algn="l">
              <a:spcAft>
                <a:spcPts val="1200"/>
              </a:spcAft>
              <a:buNone/>
            </a:pPr>
            <a:r>
              <a:rPr lang="en-US" sz="900" b="1" i="0" dirty="0">
                <a:effectLst/>
                <a:latin typeface="Segoe WPC"/>
              </a:rPr>
              <a:t>3. Principle:</a:t>
            </a:r>
            <a:r>
              <a:rPr lang="en-US" sz="900" b="0" i="0" dirty="0">
                <a:effectLst/>
                <a:latin typeface="Segoe WPC"/>
              </a:rPr>
              <a:t> Professional Integrity and Ethical Conduct</a:t>
            </a:r>
            <a:br>
              <a:rPr lang="en-US" sz="900" b="0" i="0" dirty="0">
                <a:effectLst/>
                <a:latin typeface="Segoe WPC"/>
              </a:rPr>
            </a:br>
            <a:r>
              <a:rPr lang="en-US" sz="900" b="1" i="0" dirty="0">
                <a:effectLst/>
                <a:latin typeface="Segoe WPC"/>
              </a:rPr>
              <a:t>What It Means:</a:t>
            </a:r>
            <a:r>
              <a:rPr lang="en-US" sz="900" b="0" i="0" dirty="0">
                <a:effectLst/>
                <a:latin typeface="Segoe WPC"/>
              </a:rPr>
              <a:t> GARP members must act with honesty, integrity, and competence in all professional activities.</a:t>
            </a:r>
            <a:br>
              <a:rPr lang="en-US" sz="900" b="0" i="0" dirty="0">
                <a:effectLst/>
                <a:latin typeface="Segoe WPC"/>
              </a:rPr>
            </a:br>
            <a:r>
              <a:rPr lang="en-US" sz="900" b="1" i="0" dirty="0">
                <a:effectLst/>
                <a:latin typeface="Segoe WPC"/>
              </a:rPr>
              <a:t>Key Duty:</a:t>
            </a:r>
            <a:r>
              <a:rPr lang="en-US" sz="900" b="0" i="0" dirty="0">
                <a:effectLst/>
                <a:latin typeface="Segoe WPC"/>
              </a:rPr>
              <a:t> Avoid dishonesty, deception, and manipulative practices in measurement, assessment, and reporting.</a:t>
            </a:r>
            <a:br>
              <a:rPr lang="en-US" sz="900" b="0" i="0" dirty="0">
                <a:effectLst/>
                <a:latin typeface="Segoe WPC"/>
              </a:rPr>
            </a:br>
            <a:r>
              <a:rPr lang="en-US" sz="900" b="1" i="0" dirty="0">
                <a:effectLst/>
                <a:latin typeface="Segoe WPC"/>
              </a:rPr>
              <a:t>Red Flag:</a:t>
            </a:r>
            <a:r>
              <a:rPr lang="en-US" sz="900" b="0" i="0" dirty="0">
                <a:effectLst/>
                <a:latin typeface="Segoe WPC"/>
              </a:rPr>
              <a:t> Creating distorted analyses or processes to gain business advantage at the expense of truthfulness.</a:t>
            </a:r>
          </a:p>
          <a:p>
            <a:pPr algn="l">
              <a:spcAft>
                <a:spcPts val="1200"/>
              </a:spcAft>
              <a:buNone/>
            </a:pPr>
            <a:r>
              <a:rPr lang="en-US" sz="900" b="1" i="0" dirty="0">
                <a:effectLst/>
                <a:latin typeface="Segoe WPC"/>
              </a:rPr>
              <a:t>4. Principle:</a:t>
            </a:r>
            <a:r>
              <a:rPr lang="en-US" sz="900" b="0" i="0" dirty="0">
                <a:effectLst/>
                <a:latin typeface="Segoe WPC"/>
              </a:rPr>
              <a:t> Conflicts of Interest</a:t>
            </a:r>
            <a:br>
              <a:rPr lang="en-US" sz="900" b="0" i="0" dirty="0">
                <a:effectLst/>
                <a:latin typeface="Segoe WPC"/>
              </a:rPr>
            </a:br>
            <a:r>
              <a:rPr lang="en-US" sz="900" b="1" i="0" dirty="0">
                <a:effectLst/>
                <a:latin typeface="Segoe WPC"/>
              </a:rPr>
              <a:t>What It Means:</a:t>
            </a:r>
            <a:r>
              <a:rPr lang="en-US" sz="900" b="0" i="0" dirty="0">
                <a:effectLst/>
                <a:latin typeface="Segoe WPC"/>
              </a:rPr>
              <a:t> Members must promote the interests of relevant stakeholders and fully disclose actual or potential conflicts.</a:t>
            </a:r>
            <a:br>
              <a:rPr lang="en-US" sz="900" b="0" i="0" dirty="0">
                <a:effectLst/>
                <a:latin typeface="Segoe WPC"/>
              </a:rPr>
            </a:br>
            <a:r>
              <a:rPr lang="en-US" sz="900" b="1" i="0" dirty="0">
                <a:effectLst/>
                <a:latin typeface="Segoe WPC"/>
              </a:rPr>
              <a:t>Key Duty:</a:t>
            </a:r>
            <a:r>
              <a:rPr lang="en-US" sz="900" b="0" i="0" dirty="0">
                <a:effectLst/>
                <a:latin typeface="Segoe WPC"/>
              </a:rPr>
              <a:t> Disclose, manage, and avoid conflicts whenever possible.</a:t>
            </a:r>
            <a:br>
              <a:rPr lang="en-US" sz="900" b="0" i="0" dirty="0">
                <a:effectLst/>
                <a:latin typeface="Segoe WPC"/>
              </a:rPr>
            </a:br>
            <a:r>
              <a:rPr lang="en-US" sz="900" b="1" i="0" dirty="0">
                <a:effectLst/>
                <a:latin typeface="Segoe WPC"/>
              </a:rPr>
              <a:t>Red Flag:</a:t>
            </a:r>
            <a:r>
              <a:rPr lang="en-US" sz="900" b="0" i="0" dirty="0">
                <a:effectLst/>
                <a:latin typeface="Segoe WPC"/>
              </a:rPr>
              <a:t> Providing risk advice while hiding incentives, biases, or conflicting loyalties.</a:t>
            </a:r>
          </a:p>
          <a:p>
            <a:pPr algn="l">
              <a:spcAft>
                <a:spcPts val="1200"/>
              </a:spcAft>
              <a:buNone/>
            </a:pPr>
            <a:r>
              <a:rPr lang="en-US" sz="900" b="1" i="0" dirty="0">
                <a:effectLst/>
                <a:latin typeface="Segoe WPC"/>
              </a:rPr>
              <a:t>5. Principle:</a:t>
            </a:r>
            <a:r>
              <a:rPr lang="en-US" sz="900" b="0" i="0" dirty="0">
                <a:effectLst/>
                <a:latin typeface="Segoe WPC"/>
              </a:rPr>
              <a:t> Confidentiality</a:t>
            </a:r>
            <a:br>
              <a:rPr lang="en-US" sz="900" b="0" i="0" dirty="0">
                <a:effectLst/>
                <a:latin typeface="Segoe WPC"/>
              </a:rPr>
            </a:br>
            <a:r>
              <a:rPr lang="en-US" sz="900" b="1" i="0" dirty="0">
                <a:effectLst/>
                <a:latin typeface="Segoe WPC"/>
              </a:rPr>
              <a:t>What It Means:</a:t>
            </a:r>
            <a:r>
              <a:rPr lang="en-US" sz="900" b="0" i="0" dirty="0">
                <a:effectLst/>
                <a:latin typeface="Segoe WPC"/>
              </a:rPr>
              <a:t> Confidential information must be protected from intentional or accidental disclosure.</a:t>
            </a:r>
            <a:br>
              <a:rPr lang="en-US" sz="900" b="0" i="0" dirty="0">
                <a:effectLst/>
                <a:latin typeface="Segoe WPC"/>
              </a:rPr>
            </a:br>
            <a:r>
              <a:rPr lang="en-US" sz="900" b="1" i="0" dirty="0">
                <a:effectLst/>
                <a:latin typeface="Segoe WPC"/>
              </a:rPr>
              <a:t>Key Duty:</a:t>
            </a:r>
            <a:r>
              <a:rPr lang="en-US" sz="900" b="0" i="0" dirty="0">
                <a:effectLst/>
                <a:latin typeface="Segoe WPC"/>
              </a:rPr>
              <a:t> Safeguard employer, client, and work-related confidential information and never use it for personal benefit.</a:t>
            </a:r>
            <a:br>
              <a:rPr lang="en-US" sz="900" b="0" i="0" dirty="0">
                <a:effectLst/>
                <a:latin typeface="Segoe WPC"/>
              </a:rPr>
            </a:br>
            <a:r>
              <a:rPr lang="en-US" sz="900" b="1" i="0" dirty="0">
                <a:effectLst/>
                <a:latin typeface="Segoe WPC"/>
              </a:rPr>
              <a:t>Red Flag:</a:t>
            </a:r>
            <a:r>
              <a:rPr lang="en-US" sz="900" b="0" i="0" dirty="0">
                <a:effectLst/>
                <a:latin typeface="Segoe WPC"/>
              </a:rPr>
              <a:t> Sharing confidential information without permission or using it for private gain.</a:t>
            </a:r>
          </a:p>
          <a:p>
            <a:pPr algn="l">
              <a:spcAft>
                <a:spcPts val="1200"/>
              </a:spcAft>
              <a:buNone/>
            </a:pPr>
            <a:r>
              <a:rPr lang="en-US" sz="900" b="1" i="0" dirty="0">
                <a:effectLst/>
                <a:latin typeface="Segoe WPC"/>
              </a:rPr>
              <a:t>6. Principle:</a:t>
            </a:r>
            <a:r>
              <a:rPr lang="en-US" sz="900" b="0" i="0" dirty="0">
                <a:effectLst/>
                <a:latin typeface="Segoe WPC"/>
              </a:rPr>
              <a:t> Fundamental Responsibilities</a:t>
            </a:r>
            <a:br>
              <a:rPr lang="en-US" sz="900" b="0" i="0" dirty="0">
                <a:effectLst/>
                <a:latin typeface="Segoe WPC"/>
              </a:rPr>
            </a:br>
            <a:r>
              <a:rPr lang="en-US" sz="900" b="1" i="0" dirty="0">
                <a:effectLst/>
                <a:latin typeface="Segoe WPC"/>
              </a:rPr>
              <a:t>What It Means:</a:t>
            </a:r>
            <a:r>
              <a:rPr lang="en-US" sz="900" b="0" i="0" dirty="0">
                <a:effectLst/>
                <a:latin typeface="Segoe WPC"/>
              </a:rPr>
              <a:t> Ethical responsibility cannot be delegated or outsourced.</a:t>
            </a:r>
            <a:br>
              <a:rPr lang="en-US" sz="900" b="0" i="0" dirty="0">
                <a:effectLst/>
                <a:latin typeface="Segoe WPC"/>
              </a:rPr>
            </a:br>
            <a:r>
              <a:rPr lang="en-US" sz="900" b="1" i="0" dirty="0">
                <a:effectLst/>
                <a:latin typeface="Segoe WPC"/>
              </a:rPr>
              <a:t>Key Duty:</a:t>
            </a:r>
            <a:r>
              <a:rPr lang="en-US" sz="900" b="0" i="0" dirty="0">
                <a:effectLst/>
                <a:latin typeface="Segoe WPC"/>
              </a:rPr>
              <a:t> Maintain professional skill, continue improving expertise, understand client or employer needs, and avoid overstating certainty or precision.</a:t>
            </a:r>
            <a:br>
              <a:rPr lang="en-US" sz="900" b="0" i="0" dirty="0">
                <a:effectLst/>
                <a:latin typeface="Segoe WPC"/>
              </a:rPr>
            </a:br>
            <a:r>
              <a:rPr lang="en-US" sz="900" b="1" i="0" dirty="0">
                <a:effectLst/>
                <a:latin typeface="Segoe WPC"/>
              </a:rPr>
              <a:t>Red Flag:</a:t>
            </a:r>
            <a:r>
              <a:rPr lang="en-US" sz="900" b="0" i="0" dirty="0">
                <a:effectLst/>
                <a:latin typeface="Segoe WPC"/>
              </a:rPr>
              <a:t> Claiming that someone else, a model, or a third party is responsible for ethical failures in your work.</a:t>
            </a:r>
          </a:p>
          <a:p>
            <a:pPr algn="l">
              <a:spcAft>
                <a:spcPts val="1200"/>
              </a:spcAft>
              <a:buNone/>
            </a:pPr>
            <a:r>
              <a:rPr lang="en-US" sz="900" b="1" i="0" dirty="0">
                <a:effectLst/>
                <a:latin typeface="Segoe WPC"/>
              </a:rPr>
              <a:t>7. Principle:</a:t>
            </a:r>
            <a:r>
              <a:rPr lang="en-US" sz="900" b="0" i="0" dirty="0">
                <a:effectLst/>
                <a:latin typeface="Segoe WPC"/>
              </a:rPr>
              <a:t> Best Practices</a:t>
            </a:r>
            <a:br>
              <a:rPr lang="en-US" sz="900" b="0" i="0" dirty="0">
                <a:effectLst/>
                <a:latin typeface="Segoe WPC"/>
              </a:rPr>
            </a:br>
            <a:r>
              <a:rPr lang="en-US" sz="900" b="1" i="0" dirty="0">
                <a:effectLst/>
                <a:latin typeface="Segoe WPC"/>
              </a:rPr>
              <a:t>What It Means:</a:t>
            </a:r>
            <a:r>
              <a:rPr lang="en-US" sz="900" b="0" i="0" dirty="0">
                <a:effectLst/>
                <a:latin typeface="Segoe WPC"/>
              </a:rPr>
              <a:t> GARP members should follow generally accepted risk management standards and consider the wider impact of their work.</a:t>
            </a:r>
            <a:br>
              <a:rPr lang="en-US" sz="900" b="0" i="0" dirty="0">
                <a:effectLst/>
                <a:latin typeface="Segoe WPC"/>
              </a:rPr>
            </a:br>
            <a:r>
              <a:rPr lang="en-US" sz="900" b="1" i="0" dirty="0">
                <a:effectLst/>
                <a:latin typeface="Segoe WPC"/>
              </a:rPr>
              <a:t>Key Duty:</a:t>
            </a:r>
            <a:r>
              <a:rPr lang="en-US" sz="900" b="0" i="0" dirty="0">
                <a:effectLst/>
                <a:latin typeface="Segoe WPC"/>
              </a:rPr>
              <a:t> Apply best practices in supervised work and recognize that risk management affects colleagues, clients, markets, and the broader community.</a:t>
            </a:r>
            <a:br>
              <a:rPr lang="en-US" sz="900" b="0" i="0" dirty="0">
                <a:effectLst/>
                <a:latin typeface="Segoe WPC"/>
              </a:rPr>
            </a:br>
            <a:r>
              <a:rPr lang="en-US" sz="900" b="1" i="0" dirty="0">
                <a:effectLst/>
                <a:latin typeface="Segoe WPC"/>
              </a:rPr>
              <a:t>Red Flag:</a:t>
            </a:r>
            <a:r>
              <a:rPr lang="en-US" sz="900" b="0" i="0" dirty="0">
                <a:effectLst/>
                <a:latin typeface="Segoe WPC"/>
              </a:rPr>
              <a:t> Ignoring accepted standards or treating risk management as isolated from wider consequences.</a:t>
            </a:r>
          </a:p>
        </p:txBody>
      </p:sp>
      <p:sp>
        <p:nvSpPr>
          <p:cNvPr id="9" name="CuadroTexto 8">
            <a:extLst>
              <a:ext uri="{FF2B5EF4-FFF2-40B4-BE49-F238E27FC236}">
                <a16:creationId xmlns:a16="http://schemas.microsoft.com/office/drawing/2014/main" id="{48F10577-1ACD-71C6-F409-2C0687C32320}"/>
              </a:ext>
            </a:extLst>
          </p:cNvPr>
          <p:cNvSpPr txBox="1"/>
          <p:nvPr/>
        </p:nvSpPr>
        <p:spPr>
          <a:xfrm>
            <a:off x="6096000" y="752769"/>
            <a:ext cx="6103256" cy="5016758"/>
          </a:xfrm>
          <a:prstGeom prst="rect">
            <a:avLst/>
          </a:prstGeom>
          <a:noFill/>
        </p:spPr>
        <p:txBody>
          <a:bodyPr wrap="square">
            <a:spAutoFit/>
          </a:bodyPr>
          <a:lstStyle/>
          <a:p>
            <a:pPr algn="l">
              <a:spcAft>
                <a:spcPts val="1200"/>
              </a:spcAft>
              <a:buNone/>
            </a:pPr>
            <a:r>
              <a:rPr lang="en-US" sz="900" b="1" i="0" dirty="0">
                <a:effectLst/>
                <a:latin typeface="Segoe WPC"/>
              </a:rPr>
              <a:t>8. Principle:</a:t>
            </a:r>
            <a:r>
              <a:rPr lang="en-US" sz="900" b="0" i="0" dirty="0">
                <a:effectLst/>
                <a:latin typeface="Segoe WPC"/>
              </a:rPr>
              <a:t> Communication and Disclosure</a:t>
            </a:r>
            <a:br>
              <a:rPr lang="en-US" sz="900" b="0" i="0" dirty="0">
                <a:effectLst/>
                <a:latin typeface="Segoe WPC"/>
              </a:rPr>
            </a:br>
            <a:r>
              <a:rPr lang="en-US" sz="900" b="1" i="0" dirty="0">
                <a:effectLst/>
                <a:latin typeface="Segoe WPC"/>
              </a:rPr>
              <a:t>What It Means:</a:t>
            </a:r>
            <a:r>
              <a:rPr lang="en-US" sz="900" b="0" i="0" dirty="0">
                <a:effectLst/>
                <a:latin typeface="Segoe WPC"/>
              </a:rPr>
              <a:t> Communications must be clear, accurate, appropriate for the audience, and consistent with professional standards.</a:t>
            </a:r>
            <a:br>
              <a:rPr lang="en-US" sz="900" b="0" i="0" dirty="0">
                <a:effectLst/>
                <a:latin typeface="Segoe WPC"/>
              </a:rPr>
            </a:br>
            <a:r>
              <a:rPr lang="en-US" sz="900" b="1" i="0" dirty="0">
                <a:effectLst/>
                <a:latin typeface="Segoe WPC"/>
              </a:rPr>
              <a:t>Key Duty:</a:t>
            </a:r>
            <a:r>
              <a:rPr lang="en-US" sz="900" b="0" i="0" dirty="0">
                <a:effectLst/>
                <a:latin typeface="Segoe WPC"/>
              </a:rPr>
              <a:t> Distinguish fact from opinion, avoid false statements, and communicate limits of knowledge or analysis.</a:t>
            </a:r>
            <a:br>
              <a:rPr lang="en-US" sz="900" b="0" i="0" dirty="0">
                <a:effectLst/>
                <a:latin typeface="Segoe WPC"/>
              </a:rPr>
            </a:br>
            <a:r>
              <a:rPr lang="en-US" sz="900" b="1" i="0" dirty="0">
                <a:effectLst/>
                <a:latin typeface="Segoe WPC"/>
              </a:rPr>
              <a:t>Red Flag:</a:t>
            </a:r>
            <a:r>
              <a:rPr lang="en-US" sz="900" b="0" i="0" dirty="0">
                <a:effectLst/>
                <a:latin typeface="Segoe WPC"/>
              </a:rPr>
              <a:t> Misrepresenting analysis, hiding assumptions, or presenting opinion as fact.</a:t>
            </a:r>
          </a:p>
          <a:p>
            <a:pPr algn="l">
              <a:spcAft>
                <a:spcPts val="1200"/>
              </a:spcAft>
              <a:buNone/>
            </a:pPr>
            <a:r>
              <a:rPr lang="en-US" sz="900" b="1" i="0" dirty="0">
                <a:effectLst/>
                <a:latin typeface="Segoe WPC"/>
              </a:rPr>
              <a:t>9. Principle:</a:t>
            </a:r>
            <a:r>
              <a:rPr lang="en-US" sz="900" b="0" i="0" dirty="0">
                <a:effectLst/>
                <a:latin typeface="Segoe WPC"/>
              </a:rPr>
              <a:t> Independence and Objectivity</a:t>
            </a:r>
            <a:br>
              <a:rPr lang="en-US" sz="900" b="0" i="0" dirty="0">
                <a:effectLst/>
                <a:latin typeface="Segoe WPC"/>
              </a:rPr>
            </a:br>
            <a:r>
              <a:rPr lang="en-US" sz="900" b="1" i="0" dirty="0">
                <a:effectLst/>
                <a:latin typeface="Segoe WPC"/>
              </a:rPr>
              <a:t>What It Means:</a:t>
            </a:r>
            <a:r>
              <a:rPr lang="en-US" sz="900" b="0" i="0" dirty="0">
                <a:effectLst/>
                <a:latin typeface="Segoe WPC"/>
              </a:rPr>
              <a:t> Members must exercise independent judgment and avoid influences that impair objectivity.</a:t>
            </a:r>
            <a:br>
              <a:rPr lang="en-US" sz="900" b="0" i="0" dirty="0">
                <a:effectLst/>
                <a:latin typeface="Segoe WPC"/>
              </a:rPr>
            </a:br>
            <a:r>
              <a:rPr lang="en-US" sz="900" b="1" i="0" dirty="0">
                <a:effectLst/>
                <a:latin typeface="Segoe WPC"/>
              </a:rPr>
              <a:t>Key Duty:</a:t>
            </a:r>
            <a:r>
              <a:rPr lang="en-US" sz="900" b="0" i="0" dirty="0">
                <a:effectLst/>
                <a:latin typeface="Segoe WPC"/>
              </a:rPr>
              <a:t> Do not offer, solicit, or accept gifts, benefits, or compensation that could compromise professional independence.</a:t>
            </a:r>
            <a:br>
              <a:rPr lang="en-US" sz="900" b="0" i="0" dirty="0">
                <a:effectLst/>
                <a:latin typeface="Segoe WPC"/>
              </a:rPr>
            </a:br>
            <a:r>
              <a:rPr lang="en-US" sz="900" b="1" i="0" dirty="0">
                <a:effectLst/>
                <a:latin typeface="Segoe WPC"/>
              </a:rPr>
              <a:t>Red Flag:</a:t>
            </a:r>
            <a:r>
              <a:rPr lang="en-US" sz="900" b="0" i="0" dirty="0">
                <a:effectLst/>
                <a:latin typeface="Segoe WPC"/>
              </a:rPr>
              <a:t> Letting compensation, favors, or internal pressure influence risk decisions or reporting.</a:t>
            </a:r>
          </a:p>
          <a:p>
            <a:pPr algn="l">
              <a:spcAft>
                <a:spcPts val="1200"/>
              </a:spcAft>
              <a:buNone/>
            </a:pPr>
            <a:r>
              <a:rPr lang="en-US" sz="900" b="1" i="0" dirty="0">
                <a:effectLst/>
                <a:latin typeface="Segoe WPC"/>
              </a:rPr>
              <a:t>10. Principle:</a:t>
            </a:r>
            <a:r>
              <a:rPr lang="en-US" sz="900" b="0" i="0" dirty="0">
                <a:effectLst/>
                <a:latin typeface="Segoe WPC"/>
              </a:rPr>
              <a:t> Compliance with Laws, Rules, and the Code</a:t>
            </a:r>
            <a:br>
              <a:rPr lang="en-US" sz="900" b="0" i="0" dirty="0">
                <a:effectLst/>
                <a:latin typeface="Segoe WPC"/>
              </a:rPr>
            </a:br>
            <a:r>
              <a:rPr lang="en-US" sz="900" b="1" i="0" dirty="0">
                <a:effectLst/>
                <a:latin typeface="Segoe WPC"/>
              </a:rPr>
              <a:t>What It Means:</a:t>
            </a:r>
            <a:r>
              <a:rPr lang="en-US" sz="900" b="0" i="0" dirty="0">
                <a:effectLst/>
                <a:latin typeface="Segoe WPC"/>
              </a:rPr>
              <a:t> Members must comply with applicable laws, regulations, and the GARP Code itself.</a:t>
            </a:r>
            <a:br>
              <a:rPr lang="en-US" sz="900" b="0" i="0" dirty="0">
                <a:effectLst/>
                <a:latin typeface="Segoe WPC"/>
              </a:rPr>
            </a:br>
            <a:r>
              <a:rPr lang="en-US" sz="900" b="1" i="0" dirty="0">
                <a:effectLst/>
                <a:latin typeface="Segoe WPC"/>
              </a:rPr>
              <a:t>Key Duty:</a:t>
            </a:r>
            <a:r>
              <a:rPr lang="en-US" sz="900" b="0" i="0" dirty="0">
                <a:effectLst/>
                <a:latin typeface="Segoe WPC"/>
              </a:rPr>
              <a:t> Avoid participating in or assisting violations, and apply the higher standard when local custom and professional ethics conflict.</a:t>
            </a:r>
            <a:br>
              <a:rPr lang="en-US" sz="900" b="0" i="0" dirty="0">
                <a:effectLst/>
                <a:latin typeface="Segoe WPC"/>
              </a:rPr>
            </a:br>
            <a:r>
              <a:rPr lang="en-US" sz="900" b="1" i="0" dirty="0">
                <a:effectLst/>
                <a:latin typeface="Segoe WPC"/>
              </a:rPr>
              <a:t>Red Flag:</a:t>
            </a:r>
            <a:r>
              <a:rPr lang="en-US" sz="900" b="0" i="0" dirty="0">
                <a:effectLst/>
                <a:latin typeface="Segoe WPC"/>
              </a:rPr>
              <a:t> Hiding behind local practice or management orders to justify unethical or non-compliant conduct.</a:t>
            </a:r>
          </a:p>
          <a:p>
            <a:pPr algn="l">
              <a:spcAft>
                <a:spcPts val="1200"/>
              </a:spcAft>
              <a:buNone/>
            </a:pPr>
            <a:r>
              <a:rPr lang="en-US" sz="900" b="1" i="0" dirty="0">
                <a:effectLst/>
                <a:latin typeface="Segoe WPC"/>
              </a:rPr>
              <a:t>11. Principle:</a:t>
            </a:r>
            <a:r>
              <a:rPr lang="en-US" sz="900" b="0" i="0" dirty="0">
                <a:effectLst/>
                <a:latin typeface="Segoe WPC"/>
              </a:rPr>
              <a:t> Proper Use of Risk Management Services</a:t>
            </a:r>
            <a:br>
              <a:rPr lang="en-US" sz="900" b="0" i="0" dirty="0">
                <a:effectLst/>
                <a:latin typeface="Segoe WPC"/>
              </a:rPr>
            </a:br>
            <a:r>
              <a:rPr lang="en-US" sz="900" b="1" i="0" dirty="0">
                <a:effectLst/>
                <a:latin typeface="Segoe WPC"/>
              </a:rPr>
              <a:t>What It Means:</a:t>
            </a:r>
            <a:r>
              <a:rPr lang="en-US" sz="900" b="0" i="0" dirty="0">
                <a:effectLst/>
                <a:latin typeface="Segoe WPC"/>
              </a:rPr>
              <a:t> Members must take reasonable steps to ensure their work is not used for fraudulent, illegal, or improper purposes.</a:t>
            </a:r>
            <a:br>
              <a:rPr lang="en-US" sz="900" b="0" i="0" dirty="0">
                <a:effectLst/>
                <a:latin typeface="Segoe WPC"/>
              </a:rPr>
            </a:br>
            <a:r>
              <a:rPr lang="en-US" sz="900" b="1" i="0" dirty="0">
                <a:effectLst/>
                <a:latin typeface="Segoe WPC"/>
              </a:rPr>
              <a:t>Key Duty:</a:t>
            </a:r>
            <a:r>
              <a:rPr lang="en-US" sz="900" b="0" i="0" dirty="0">
                <a:effectLst/>
                <a:latin typeface="Segoe WPC"/>
              </a:rPr>
              <a:t> Be alert to misuse of models, reports, recommendations, and risk processes.</a:t>
            </a:r>
            <a:br>
              <a:rPr lang="en-US" sz="900" b="0" i="0" dirty="0">
                <a:effectLst/>
                <a:latin typeface="Segoe WPC"/>
              </a:rPr>
            </a:br>
            <a:r>
              <a:rPr lang="en-US" sz="900" b="1" i="0" dirty="0">
                <a:effectLst/>
                <a:latin typeface="Segoe WPC"/>
              </a:rPr>
              <a:t>Red Flag:</a:t>
            </a:r>
            <a:r>
              <a:rPr lang="en-US" sz="900" b="0" i="0" dirty="0">
                <a:effectLst/>
                <a:latin typeface="Segoe WPC"/>
              </a:rPr>
              <a:t> Knowing that a model, analysis, or recommendation is being used deceptively and doing nothing.</a:t>
            </a:r>
          </a:p>
          <a:p>
            <a:pPr algn="l">
              <a:spcAft>
                <a:spcPts val="1200"/>
              </a:spcAft>
              <a:buNone/>
            </a:pPr>
            <a:r>
              <a:rPr lang="en-US" sz="900" b="1" i="0" dirty="0">
                <a:effectLst/>
                <a:latin typeface="Segoe WPC"/>
              </a:rPr>
              <a:t>12. Principle:</a:t>
            </a:r>
            <a:r>
              <a:rPr lang="en-US" sz="900" b="0" i="0" dirty="0">
                <a:effectLst/>
                <a:latin typeface="Segoe WPC"/>
              </a:rPr>
              <a:t> General Accepted Practices</a:t>
            </a:r>
            <a:br>
              <a:rPr lang="en-US" sz="900" b="0" i="0" dirty="0">
                <a:effectLst/>
                <a:latin typeface="Segoe WPC"/>
              </a:rPr>
            </a:br>
            <a:r>
              <a:rPr lang="en-US" sz="900" b="1" i="0" dirty="0">
                <a:effectLst/>
                <a:latin typeface="Segoe WPC"/>
              </a:rPr>
              <a:t>What It Means:</a:t>
            </a:r>
            <a:r>
              <a:rPr lang="en-US" sz="900" b="0" i="0" dirty="0">
                <a:effectLst/>
                <a:latin typeface="Segoe WPC"/>
              </a:rPr>
              <a:t> Risk services must be performed diligently, objectively, and independently from interested parties.</a:t>
            </a:r>
            <a:br>
              <a:rPr lang="en-US" sz="900" b="0" i="0" dirty="0">
                <a:effectLst/>
                <a:latin typeface="Segoe WPC"/>
              </a:rPr>
            </a:br>
            <a:r>
              <a:rPr lang="en-US" sz="900" b="1" i="0" dirty="0">
                <a:effectLst/>
                <a:latin typeface="Segoe WPC"/>
              </a:rPr>
              <a:t>Key Duty:</a:t>
            </a:r>
            <a:r>
              <a:rPr lang="en-US" sz="900" b="0" i="0" dirty="0">
                <a:effectLst/>
                <a:latin typeface="Segoe WPC"/>
              </a:rPr>
              <a:t> Collect, analyze, and distribute risk information with professional objectivity and disclose any departure from accepted practice.</a:t>
            </a:r>
            <a:br>
              <a:rPr lang="en-US" sz="900" b="0" i="0" dirty="0">
                <a:effectLst/>
                <a:latin typeface="Segoe WPC"/>
              </a:rPr>
            </a:br>
            <a:r>
              <a:rPr lang="en-US" sz="900" b="1" i="0" dirty="0">
                <a:effectLst/>
                <a:latin typeface="Segoe WPC"/>
              </a:rPr>
              <a:t>Red Flag:</a:t>
            </a:r>
            <a:r>
              <a:rPr lang="en-US" sz="900" b="0" i="0" dirty="0">
                <a:effectLst/>
                <a:latin typeface="Segoe WPC"/>
              </a:rPr>
              <a:t> Producing biased analysis, weak diligence, or unsupported conclusions.</a:t>
            </a:r>
          </a:p>
          <a:p>
            <a:pPr algn="l">
              <a:spcAft>
                <a:spcPts val="1200"/>
              </a:spcAft>
              <a:buNone/>
            </a:pPr>
            <a:r>
              <a:rPr lang="en-US" sz="900" b="1" i="0" dirty="0">
                <a:effectLst/>
                <a:latin typeface="Segoe WPC"/>
              </a:rPr>
              <a:t>13. Principle:</a:t>
            </a:r>
            <a:r>
              <a:rPr lang="en-US" sz="900" b="0" i="0" dirty="0">
                <a:effectLst/>
                <a:latin typeface="Segoe WPC"/>
              </a:rPr>
              <a:t> Applicability and Enforcement</a:t>
            </a:r>
            <a:br>
              <a:rPr lang="en-US" sz="900" b="0" i="0" dirty="0">
                <a:effectLst/>
                <a:latin typeface="Segoe WPC"/>
              </a:rPr>
            </a:br>
            <a:r>
              <a:rPr lang="en-US" sz="900" b="1" i="0" dirty="0">
                <a:effectLst/>
                <a:latin typeface="Segoe WPC"/>
              </a:rPr>
              <a:t>What It Means:</a:t>
            </a:r>
            <a:r>
              <a:rPr lang="en-US" sz="900" b="0" i="0" dirty="0">
                <a:effectLst/>
                <a:latin typeface="Segoe WPC"/>
              </a:rPr>
              <a:t> Every GARP member is responsible for knowing and following the Code. Violations can lead to suspension, removal from membership roles, or loss of the right to use GARP designations such as FRM.</a:t>
            </a:r>
            <a:br>
              <a:rPr lang="en-US" sz="900" b="0" i="0" dirty="0">
                <a:effectLst/>
                <a:latin typeface="Segoe WPC"/>
              </a:rPr>
            </a:br>
            <a:r>
              <a:rPr lang="en-US" sz="900" b="1" i="0" dirty="0">
                <a:effectLst/>
                <a:latin typeface="Segoe WPC"/>
              </a:rPr>
              <a:t>Key Duty:</a:t>
            </a:r>
            <a:r>
              <a:rPr lang="en-US" sz="900" b="0" i="0" dirty="0">
                <a:effectLst/>
                <a:latin typeface="Segoe WPC"/>
              </a:rPr>
              <a:t> Treat the Code as binding professional guidance, not as a symbolic statement.</a:t>
            </a:r>
            <a:br>
              <a:rPr lang="en-US" sz="900" b="0" i="0" dirty="0">
                <a:effectLst/>
                <a:latin typeface="Segoe WPC"/>
              </a:rPr>
            </a:br>
            <a:r>
              <a:rPr lang="en-US" sz="900" b="1" i="0" dirty="0">
                <a:effectLst/>
                <a:latin typeface="Segoe WPC"/>
              </a:rPr>
              <a:t>Red Flag:</a:t>
            </a:r>
            <a:r>
              <a:rPr lang="en-US" sz="900" b="0" i="0" dirty="0">
                <a:effectLst/>
                <a:latin typeface="Segoe WPC"/>
              </a:rPr>
              <a:t> Assuming ethical breaches only matter if they trigger legal penalties.</a:t>
            </a:r>
          </a:p>
        </p:txBody>
      </p:sp>
    </p:spTree>
    <p:extLst>
      <p:ext uri="{BB962C8B-B14F-4D97-AF65-F5344CB8AC3E}">
        <p14:creationId xmlns:p14="http://schemas.microsoft.com/office/powerpoint/2010/main" val="1143910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5FBE2-D978-8BD0-5F47-25207B4DF29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0E2B81-ACBD-22DA-161A-8BAD8E418E9A}"/>
              </a:ext>
            </a:extLst>
          </p:cNvPr>
          <p:cNvSpPr>
            <a:spLocks noGrp="1"/>
          </p:cNvSpPr>
          <p:nvPr>
            <p:ph type="title"/>
          </p:nvPr>
        </p:nvSpPr>
        <p:spPr/>
        <p:txBody>
          <a:bodyPr/>
          <a:lstStyle/>
          <a:p>
            <a:r>
              <a:rPr lang="en-US" dirty="0"/>
              <a:t>Quantitative Analysis</a:t>
            </a:r>
            <a:endParaRPr lang="es-PE" dirty="0"/>
          </a:p>
        </p:txBody>
      </p:sp>
    </p:spTree>
    <p:extLst>
      <p:ext uri="{BB962C8B-B14F-4D97-AF65-F5344CB8AC3E}">
        <p14:creationId xmlns:p14="http://schemas.microsoft.com/office/powerpoint/2010/main" val="2352418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483683-0F6B-BAF5-C289-4B88FA8EB307}"/>
              </a:ext>
            </a:extLst>
          </p:cNvPr>
          <p:cNvSpPr>
            <a:spLocks noGrp="1"/>
          </p:cNvSpPr>
          <p:nvPr>
            <p:ph type="title"/>
          </p:nvPr>
        </p:nvSpPr>
        <p:spPr>
          <a:xfrm>
            <a:off x="0" y="0"/>
            <a:ext cx="10515600" cy="834571"/>
          </a:xfrm>
        </p:spPr>
        <p:txBody>
          <a:bodyPr>
            <a:normAutofit/>
          </a:bodyPr>
          <a:lstStyle/>
          <a:p>
            <a:r>
              <a:rPr lang="es-PE" sz="3200" dirty="0"/>
              <a:t>Fundamentals </a:t>
            </a:r>
            <a:r>
              <a:rPr lang="es-PE" sz="3200" dirty="0" err="1"/>
              <a:t>of</a:t>
            </a:r>
            <a:r>
              <a:rPr lang="es-PE" sz="3200" dirty="0"/>
              <a:t> </a:t>
            </a:r>
            <a:r>
              <a:rPr lang="es-PE" sz="3200" dirty="0" err="1"/>
              <a:t>Probability</a:t>
            </a:r>
            <a:endParaRPr lang="es-PE" sz="32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D4B31039-DA0F-350E-78EF-745771A2F8AE}"/>
                  </a:ext>
                </a:extLst>
              </p:cNvPr>
              <p:cNvSpPr txBox="1"/>
              <p:nvPr/>
            </p:nvSpPr>
            <p:spPr>
              <a:xfrm>
                <a:off x="79830" y="586694"/>
                <a:ext cx="6457448" cy="6005298"/>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a:t>
                </a:r>
                <a:r>
                  <a:rPr lang="es-PE" sz="900" b="1" i="0" dirty="0" err="1">
                    <a:solidFill>
                      <a:schemeClr val="tx1"/>
                    </a:solidFill>
                    <a:effectLst/>
                    <a:latin typeface="Segoe WPC"/>
                  </a:rPr>
                  <a:t>Sample</a:t>
                </a:r>
                <a:r>
                  <a:rPr lang="es-PE" sz="900" b="1" i="0" dirty="0">
                    <a:solidFill>
                      <a:schemeClr val="tx1"/>
                    </a:solidFill>
                    <a:effectLst/>
                    <a:latin typeface="Segoe WPC"/>
                  </a:rPr>
                  <a:t> </a:t>
                </a:r>
                <a:r>
                  <a:rPr lang="es-PE" sz="900" b="1" i="0" dirty="0" err="1">
                    <a:solidFill>
                      <a:schemeClr val="tx1"/>
                    </a:solidFill>
                    <a:effectLst/>
                    <a:latin typeface="Segoe WPC"/>
                  </a:rPr>
                  <a:t>Space</a:t>
                </a:r>
                <a:r>
                  <a:rPr lang="es-PE" sz="900" b="1" i="0" dirty="0">
                    <a:solidFill>
                      <a:schemeClr val="tx1"/>
                    </a:solidFill>
                    <a:effectLst/>
                    <a:latin typeface="Segoe WPC"/>
                  </a:rPr>
                  <a:t>, </a:t>
                </a:r>
                <a:r>
                  <a:rPr lang="es-PE" sz="900" b="1" i="0" dirty="0" err="1">
                    <a:solidFill>
                      <a:schemeClr val="tx1"/>
                    </a:solidFill>
                    <a:effectLst/>
                    <a:latin typeface="Segoe WPC"/>
                  </a:rPr>
                  <a:t>Event</a:t>
                </a:r>
                <a:r>
                  <a:rPr lang="es-PE" sz="900" b="1" i="0" dirty="0">
                    <a:solidFill>
                      <a:schemeClr val="tx1"/>
                    </a:solidFill>
                    <a:effectLst/>
                    <a:latin typeface="Segoe WPC"/>
                  </a:rPr>
                  <a:t> </a:t>
                </a:r>
                <a:r>
                  <a:rPr lang="es-PE" sz="900" b="1" i="0" dirty="0" err="1">
                    <a:solidFill>
                      <a:schemeClr val="tx1"/>
                    </a:solidFill>
                    <a:effectLst/>
                    <a:latin typeface="Segoe WPC"/>
                  </a:rPr>
                  <a:t>Space</a:t>
                </a:r>
                <a:r>
                  <a:rPr lang="es-PE" sz="900" b="1" i="0" dirty="0">
                    <a:solidFill>
                      <a:schemeClr val="tx1"/>
                    </a:solidFill>
                    <a:effectLst/>
                    <a:latin typeface="Segoe WPC"/>
                  </a:rPr>
                  <a:t>, and </a:t>
                </a:r>
                <a:r>
                  <a:rPr lang="es-PE" sz="900" b="1" i="0" dirty="0" err="1">
                    <a:solidFill>
                      <a:schemeClr val="tx1"/>
                    </a:solidFill>
                    <a:effectLst/>
                    <a:latin typeface="Segoe WPC"/>
                  </a:rPr>
                  <a:t>Events</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space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𝛺</m:t>
                    </m:r>
                  </m:oMath>
                </a14:m>
                <a:r>
                  <a:rPr lang="es-PE" sz="900" b="0" i="0" dirty="0">
                    <a:solidFill>
                      <a:schemeClr val="tx1"/>
                    </a:solidFill>
                    <a:effectLst/>
                    <a:latin typeface="Segoe WPC"/>
                  </a:rPr>
                  <a:t> </a:t>
                </a:r>
                <a:r>
                  <a:rPr lang="es-PE" sz="900" b="0" i="0" dirty="0" err="1">
                    <a:solidFill>
                      <a:schemeClr val="tx1"/>
                    </a:solidFill>
                    <a:effectLst/>
                    <a:latin typeface="Segoe WPC"/>
                  </a:rPr>
                  <a:t>contains</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possible</a:t>
                </a:r>
                <a:r>
                  <a:rPr lang="es-PE" sz="900" b="0" i="0" dirty="0">
                    <a:solidFill>
                      <a:schemeClr val="tx1"/>
                    </a:solidFill>
                    <a:effectLst/>
                    <a:latin typeface="Segoe WPC"/>
                  </a:rPr>
                  <a:t> </a:t>
                </a:r>
                <a:r>
                  <a:rPr lang="es-PE" sz="900" b="0" i="0" dirty="0" err="1">
                    <a:solidFill>
                      <a:schemeClr val="tx1"/>
                    </a:solidFill>
                    <a:effectLst/>
                    <a:latin typeface="Segoe WPC"/>
                  </a:rPr>
                  <a:t>outcomes</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event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subset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space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Everything</a:t>
                </a:r>
                <a:r>
                  <a:rPr lang="es-PE" sz="900" b="0" i="0" dirty="0">
                    <a:solidFill>
                      <a:schemeClr val="tx1"/>
                    </a:solidFill>
                    <a:effectLst/>
                    <a:latin typeface="Segoe WPC"/>
                  </a:rPr>
                  <a:t> in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starts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defining</a:t>
                </a:r>
                <a:r>
                  <a:rPr lang="es-PE" sz="900" b="0" i="0" dirty="0">
                    <a:solidFill>
                      <a:schemeClr val="tx1"/>
                    </a:solidFill>
                    <a:effectLst/>
                    <a:latin typeface="Segoe WPC"/>
                  </a:rPr>
                  <a:t> </a:t>
                </a:r>
                <a:r>
                  <a:rPr lang="es-PE" sz="900" b="0" i="0" dirty="0" err="1">
                    <a:solidFill>
                      <a:schemeClr val="tx1"/>
                    </a:solidFill>
                    <a:effectLst/>
                    <a:latin typeface="Segoe WPC"/>
                  </a:rPr>
                  <a:t>what</a:t>
                </a:r>
                <a:r>
                  <a:rPr lang="es-PE" sz="900" b="0" i="0" dirty="0">
                    <a:solidFill>
                      <a:schemeClr val="tx1"/>
                    </a:solidFill>
                    <a:effectLst/>
                    <a:latin typeface="Segoe WPC"/>
                  </a:rPr>
                  <a:t> </a:t>
                </a:r>
                <a:r>
                  <a:rPr lang="es-PE" sz="900" b="0" i="0" dirty="0" err="1">
                    <a:solidFill>
                      <a:schemeClr val="tx1"/>
                    </a:solidFill>
                    <a:effectLst/>
                    <a:latin typeface="Segoe WPC"/>
                  </a:rPr>
                  <a:t>outcomes</a:t>
                </a:r>
                <a:r>
                  <a:rPr lang="es-PE" sz="900" b="0" i="0" dirty="0">
                    <a:solidFill>
                      <a:schemeClr val="tx1"/>
                    </a:solidFill>
                    <a:effectLst/>
                    <a:latin typeface="Segoe WPC"/>
                  </a:rPr>
                  <a:t> are </a:t>
                </a:r>
                <a:r>
                  <a:rPr lang="es-PE" sz="900" b="0" i="0" dirty="0" err="1">
                    <a:solidFill>
                      <a:schemeClr val="tx1"/>
                    </a:solidFill>
                    <a:effectLst/>
                    <a:latin typeface="Segoe WPC"/>
                  </a:rPr>
                  <a:t>possible</a:t>
                </a:r>
                <a:r>
                  <a:rPr lang="es-PE" sz="900" b="0" i="0" dirty="0">
                    <a:solidFill>
                      <a:schemeClr val="tx1"/>
                    </a:solidFill>
                    <a:effectLst/>
                    <a:latin typeface="Segoe WPC"/>
                  </a:rPr>
                  <a:t> and </a:t>
                </a:r>
                <a:r>
                  <a:rPr lang="es-PE" sz="900" b="0" i="0" dirty="0" err="1">
                    <a:solidFill>
                      <a:schemeClr val="tx1"/>
                    </a:solidFill>
                    <a:effectLst/>
                    <a:latin typeface="Segoe WPC"/>
                  </a:rPr>
                  <a:t>what</a:t>
                </a:r>
                <a:r>
                  <a:rPr lang="es-PE" sz="900" b="0" i="0" dirty="0">
                    <a:solidFill>
                      <a:schemeClr val="tx1"/>
                    </a:solidFill>
                    <a:effectLst/>
                    <a:latin typeface="Segoe WPC"/>
                  </a:rPr>
                  <a:t> </a:t>
                </a:r>
                <a:r>
                  <a:rPr lang="es-PE" sz="900" b="0" i="0" dirty="0" err="1">
                    <a:solidFill>
                      <a:schemeClr val="tx1"/>
                    </a:solidFill>
                    <a:effectLst/>
                    <a:latin typeface="Segoe WPC"/>
                  </a:rPr>
                  <a:t>event</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care </a:t>
                </a:r>
                <a:r>
                  <a:rPr lang="es-PE" sz="900" b="0" i="0" dirty="0" err="1">
                    <a:solidFill>
                      <a:schemeClr val="tx1"/>
                    </a:solidFill>
                    <a:effectLst/>
                    <a:latin typeface="Segoe WPC"/>
                  </a:rPr>
                  <a:t>about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confuse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1" i="0" dirty="0" err="1">
                    <a:solidFill>
                      <a:schemeClr val="tx1"/>
                    </a:solidFill>
                    <a:effectLst/>
                    <a:latin typeface="Segoe WPC"/>
                  </a:rPr>
                  <a:t>sample</a:t>
                </a:r>
                <a:r>
                  <a:rPr lang="es-PE" sz="900" b="1" i="0" dirty="0">
                    <a:solidFill>
                      <a:schemeClr val="tx1"/>
                    </a:solidFill>
                    <a:effectLst/>
                    <a:latin typeface="Segoe WPC"/>
                  </a:rPr>
                  <a:t> </a:t>
                </a:r>
                <a:r>
                  <a:rPr lang="es-PE" sz="900" b="1" i="0" dirty="0" err="1">
                    <a:solidFill>
                      <a:schemeClr val="tx1"/>
                    </a:solidFill>
                    <a:effectLst/>
                    <a:latin typeface="Segoe WPC"/>
                  </a:rPr>
                  <a:t>space</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1" i="0" dirty="0" err="1">
                    <a:solidFill>
                      <a:schemeClr val="tx1"/>
                    </a:solidFill>
                    <a:effectLst/>
                    <a:latin typeface="Segoe WPC"/>
                  </a:rPr>
                  <a:t>event</a:t>
                </a:r>
                <a:r>
                  <a:rPr lang="es-PE" sz="900" b="0" i="0" dirty="0">
                    <a:solidFill>
                      <a:schemeClr val="tx1"/>
                    </a:solidFill>
                    <a:effectLst/>
                    <a:latin typeface="Segoe WPC"/>
                  </a:rPr>
                  <a:t> </a:t>
                </a:r>
                <a:r>
                  <a:rPr lang="es-PE" sz="900" b="0" i="0" dirty="0" err="1">
                    <a:solidFill>
                      <a:schemeClr val="tx1"/>
                    </a:solidFill>
                    <a:effectLst/>
                    <a:latin typeface="Segoe WPC"/>
                  </a:rPr>
                  <a:t>inside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space</a:t>
                </a:r>
                <a:r>
                  <a:rPr lang="es-PE" sz="900" b="0" i="0" dirty="0">
                    <a:solidFill>
                      <a:schemeClr val="tx1"/>
                    </a:solidFill>
                    <a:effectLst/>
                    <a:latin typeface="Segoe WPC"/>
                  </a:rPr>
                  <a:t>.</a:t>
                </a:r>
                <a:endParaRPr lang="es-PE" sz="900" dirty="0">
                  <a:solidFill>
                    <a:schemeClr val="tx1"/>
                  </a:solidFill>
                </a:endParaRPr>
              </a:p>
              <a:p>
                <a:pPr algn="l">
                  <a:spcAft>
                    <a:spcPts val="600"/>
                  </a:spcAft>
                  <a:buNone/>
                </a:pPr>
                <a:r>
                  <a:rPr lang="es-PE" sz="900" b="1" i="0" dirty="0">
                    <a:solidFill>
                      <a:schemeClr val="tx1"/>
                    </a:solidFill>
                    <a:effectLst/>
                    <a:latin typeface="Segoe WPC"/>
                  </a:rPr>
                  <a:t>2. Basic Set </a:t>
                </a:r>
                <a:r>
                  <a:rPr lang="es-PE" sz="900" b="1" i="0" dirty="0" err="1">
                    <a:solidFill>
                      <a:schemeClr val="tx1"/>
                    </a:solidFill>
                    <a:effectLst/>
                    <a:latin typeface="Segoe WPC"/>
                  </a:rPr>
                  <a:t>Operations</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a:t>
                </a:r>
                <a:r>
                  <a:rPr lang="es-PE" sz="900" b="0" i="0" dirty="0" err="1">
                    <a:solidFill>
                      <a:schemeClr val="tx1"/>
                    </a:solidFill>
                    <a:effectLst/>
                    <a:latin typeface="Segoe WPC"/>
                  </a:rPr>
                  <a:t>Events</a:t>
                </a:r>
                <a:r>
                  <a:rPr lang="es-PE" sz="900" b="0" i="0" dirty="0">
                    <a:solidFill>
                      <a:schemeClr val="tx1"/>
                    </a:solidFill>
                    <a:effectLst/>
                    <a:latin typeface="Segoe WPC"/>
                  </a:rPr>
                  <a:t> </a:t>
                </a:r>
                <a:r>
                  <a:rPr lang="es-PE" sz="900" b="0" i="0" dirty="0" err="1">
                    <a:solidFill>
                      <a:schemeClr val="tx1"/>
                    </a:solidFill>
                    <a:effectLst/>
                    <a:latin typeface="Segoe WPC"/>
                  </a:rPr>
                  <a:t>behave</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sets, so </a:t>
                </a:r>
                <a:r>
                  <a:rPr lang="es-PE" sz="900" b="0" i="0" dirty="0" err="1">
                    <a:solidFill>
                      <a:schemeClr val="tx1"/>
                    </a:solidFill>
                    <a:effectLst/>
                    <a:latin typeface="Segoe WPC"/>
                  </a:rPr>
                  <a:t>we</a:t>
                </a:r>
                <a:r>
                  <a:rPr lang="es-PE" sz="900" b="0" i="0" dirty="0">
                    <a:solidFill>
                      <a:schemeClr val="tx1"/>
                    </a:solidFill>
                    <a:effectLst/>
                    <a:latin typeface="Segoe WPC"/>
                  </a:rPr>
                  <a:t> use </a:t>
                </a:r>
                <a:r>
                  <a:rPr lang="es-PE" sz="900" b="0" i="0" dirty="0" err="1">
                    <a:solidFill>
                      <a:schemeClr val="tx1"/>
                    </a:solidFill>
                    <a:effectLst/>
                    <a:latin typeface="Segoe WPC"/>
                  </a:rPr>
                  <a:t>union</a:t>
                </a:r>
                <a:r>
                  <a:rPr lang="es-PE" sz="900" b="0" i="0" dirty="0">
                    <a:solidFill>
                      <a:schemeClr val="tx1"/>
                    </a:solidFill>
                    <a:effectLst/>
                    <a:latin typeface="Segoe WPC"/>
                  </a:rPr>
                  <a:t>, </a:t>
                </a:r>
                <a:r>
                  <a:rPr lang="es-PE" sz="900" b="0" i="0" dirty="0" err="1">
                    <a:solidFill>
                      <a:schemeClr val="tx1"/>
                    </a:solidFill>
                    <a:effectLst/>
                    <a:latin typeface="Segoe WPC"/>
                  </a:rPr>
                  <a:t>intersection</a:t>
                </a:r>
                <a:r>
                  <a:rPr lang="es-PE" sz="900" b="0" i="0" dirty="0">
                    <a:solidFill>
                      <a:schemeClr val="tx1"/>
                    </a:solidFill>
                    <a:effectLst/>
                    <a:latin typeface="Segoe WPC"/>
                  </a:rPr>
                  <a:t>, and </a:t>
                </a:r>
                <a:r>
                  <a:rPr lang="es-PE" sz="900" b="0" i="0" dirty="0" err="1">
                    <a:solidFill>
                      <a:schemeClr val="tx1"/>
                    </a:solidFill>
                    <a:effectLst/>
                    <a:latin typeface="Segoe WPC"/>
                  </a:rPr>
                  <a:t>complement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endParaRPr lang="es-PE" sz="900" b="0" i="0" dirty="0">
                  <a:solidFill>
                    <a:schemeClr val="tx1"/>
                  </a:solidFill>
                  <a:effectLst/>
                  <a:latin typeface="Segoe WPC"/>
                </a:endParaRPr>
              </a:p>
              <a:p>
                <a:pPr algn="l">
                  <a:spcAft>
                    <a:spcPts val="600"/>
                  </a:spcAft>
                  <a:buNone/>
                </a:pP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𝐵</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𝐵</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𝐵</m:t>
                          </m:r>
                        </m:e>
                      </m:d>
                    </m:oMath>
                  </m:oMathPara>
                </a14:m>
                <a:endParaRPr lang="ar-AE" sz="900" b="0" i="0" dirty="0">
                  <a:solidFill>
                    <a:schemeClr val="tx1"/>
                  </a:solidFill>
                  <a:effectLst/>
                  <a:latin typeface="Segoe WPC"/>
                </a:endParaRPr>
              </a:p>
              <a:p>
                <a:pPr algn="l">
                  <a:spcAft>
                    <a:spcPts val="600"/>
                  </a:spcAft>
                  <a:buNone/>
                </a:pP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rule </a:t>
                </a:r>
                <a:r>
                  <a:rPr lang="es-PE" sz="900" b="0" i="0" dirty="0" err="1">
                    <a:solidFill>
                      <a:schemeClr val="tx1"/>
                    </a:solidFill>
                    <a:effectLst/>
                    <a:latin typeface="Segoe WPC"/>
                  </a:rPr>
                  <a:t>used</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events</a:t>
                </a:r>
                <a:r>
                  <a:rPr lang="es-PE" sz="900" b="0" i="0" dirty="0">
                    <a:solidFill>
                      <a:schemeClr val="tx1"/>
                    </a:solidFill>
                    <a:effectLst/>
                    <a:latin typeface="Segoe WPC"/>
                  </a:rPr>
                  <a:t> </a:t>
                </a:r>
                <a:r>
                  <a:rPr lang="es-PE" sz="900" b="0" i="0" dirty="0" err="1">
                    <a:solidFill>
                      <a:schemeClr val="tx1"/>
                    </a:solidFill>
                    <a:effectLst/>
                    <a:latin typeface="Segoe WPC"/>
                  </a:rPr>
                  <a:t>overlap</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forget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subtract</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𝐵</m:t>
                        </m:r>
                      </m:e>
                    </m:d>
                  </m:oMath>
                </a14:m>
                <a:r>
                  <a:rPr lang="ar-A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double</a:t>
                </a:r>
                <a:r>
                  <a:rPr lang="es-PE" sz="900" b="0" i="0" dirty="0">
                    <a:solidFill>
                      <a:schemeClr val="tx1"/>
                    </a:solidFill>
                    <a:effectLst/>
                    <a:latin typeface="Segoe WPC"/>
                  </a:rPr>
                  <a:t> </a:t>
                </a:r>
                <a:r>
                  <a:rPr lang="es-PE" sz="900" b="0" i="0" dirty="0" err="1">
                    <a:solidFill>
                      <a:schemeClr val="tx1"/>
                    </a:solidFill>
                    <a:effectLst/>
                    <a:latin typeface="Segoe WPC"/>
                  </a:rPr>
                  <a:t>count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overlap</a:t>
                </a:r>
                <a:r>
                  <a:rPr lang="es-PE" sz="900" b="0" i="0" dirty="0">
                    <a:solidFill>
                      <a:schemeClr val="tx1"/>
                    </a:solidFill>
                    <a:effectLst/>
                    <a:latin typeface="Segoe WPC"/>
                  </a:rPr>
                  <a:t>.</a:t>
                </a:r>
                <a:endParaRPr lang="es-PE" sz="900" dirty="0">
                  <a:solidFill>
                    <a:schemeClr val="tx1"/>
                  </a:solidFill>
                </a:endParaRPr>
              </a:p>
              <a:p>
                <a:pPr algn="l">
                  <a:spcAft>
                    <a:spcPts val="600"/>
                  </a:spcAft>
                  <a:buNone/>
                </a:pPr>
                <a:r>
                  <a:rPr lang="es-PE" sz="900" b="1" i="0" dirty="0">
                    <a:solidFill>
                      <a:schemeClr val="tx1"/>
                    </a:solidFill>
                    <a:effectLst/>
                    <a:latin typeface="Segoe WPC"/>
                  </a:rPr>
                  <a:t>3. </a:t>
                </a:r>
                <a:r>
                  <a:rPr lang="es-PE" sz="900" b="1" i="0" dirty="0" err="1">
                    <a:solidFill>
                      <a:schemeClr val="tx1"/>
                    </a:solidFill>
                    <a:effectLst/>
                    <a:latin typeface="Segoe WPC"/>
                  </a:rPr>
                  <a:t>Axioms</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a:t>
                </a:r>
                <a:r>
                  <a:rPr lang="es-PE" sz="900" b="1" i="0" dirty="0" err="1">
                    <a:solidFill>
                      <a:schemeClr val="tx1"/>
                    </a:solidFill>
                    <a:effectLst/>
                    <a:latin typeface="Segoe WPC"/>
                  </a:rPr>
                  <a:t>Probability</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built</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three</a:t>
                </a:r>
                <a:r>
                  <a:rPr lang="es-PE" sz="900" b="0" i="0" dirty="0">
                    <a:solidFill>
                      <a:schemeClr val="tx1"/>
                    </a:solidFill>
                    <a:effectLst/>
                    <a:latin typeface="Segoe WPC"/>
                  </a:rPr>
                  <a:t> </a:t>
                </a:r>
                <a:r>
                  <a:rPr lang="es-PE" sz="900" b="0" i="0" dirty="0" err="1">
                    <a:solidFill>
                      <a:schemeClr val="tx1"/>
                    </a:solidFill>
                    <a:effectLst/>
                    <a:latin typeface="Segoe WPC"/>
                  </a:rPr>
                  <a:t>core</a:t>
                </a:r>
                <a:r>
                  <a:rPr lang="es-PE" sz="900" b="0" i="0" dirty="0">
                    <a:solidFill>
                      <a:schemeClr val="tx1"/>
                    </a:solidFill>
                    <a:effectLst/>
                    <a:latin typeface="Segoe WPC"/>
                  </a:rPr>
                  <a:t> rules.</a:t>
                </a:r>
                <a:br>
                  <a:rPr lang="es-PE" sz="900" b="0" i="0" dirty="0">
                    <a:solidFill>
                      <a:schemeClr val="tx1"/>
                    </a:solidFill>
                    <a:effectLst/>
                    <a:latin typeface="Segoe WPC"/>
                  </a:rPr>
                </a:br>
                <a:r>
                  <a:rPr lang="es-PE" sz="900" b="1" i="0" dirty="0">
                    <a:solidFill>
                      <a:schemeClr val="tx1"/>
                    </a:solidFill>
                    <a:effectLst/>
                    <a:latin typeface="Segoe WPC"/>
                  </a:rPr>
                  <a:t>Key Formula:</a:t>
                </a:r>
                <a:endParaRPr lang="es-PE" sz="900" b="0" i="0" dirty="0">
                  <a:solidFill>
                    <a:schemeClr val="tx1"/>
                  </a:solidFill>
                  <a:effectLst/>
                  <a:latin typeface="Segoe WPC"/>
                </a:endParaRPr>
              </a:p>
              <a:p>
                <a:pPr algn="l">
                  <a:spcBef>
                    <a:spcPts val="300"/>
                  </a:spcBef>
                  <a:spcAft>
                    <a:spcPts val="600"/>
                  </a:spcAft>
                  <a:buFont typeface="Arial" panose="020B0604020202020204" pitchFamily="34" charset="0"/>
                  <a:buChar char="•"/>
                </a:pPr>
                <a14:m>
                  <m:oMath xmlns:m="http://schemas.openxmlformats.org/officeDocument/2006/math">
                    <m:r>
                      <a:rPr lang="es-P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oMath>
                </a14:m>
                <a:endParaRPr lang="ar-AE" sz="900" b="0" i="0" dirty="0">
                  <a:solidFill>
                    <a:schemeClr val="tx1"/>
                  </a:solidFill>
                  <a:effectLst/>
                  <a:latin typeface="Segoe WPC"/>
                </a:endParaRPr>
              </a:p>
              <a:p>
                <a:pPr algn="l">
                  <a:spcBef>
                    <a:spcPts val="300"/>
                  </a:spcBef>
                  <a:spcAft>
                    <a:spcPts val="600"/>
                  </a:spcAft>
                  <a:buFont typeface="Arial" panose="020B0604020202020204" pitchFamily="34" charset="0"/>
                  <a:buChar char="•"/>
                </a:pPr>
                <a14:m>
                  <m:oMath xmlns:m="http://schemas.openxmlformats.org/officeDocument/2006/math">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𝛺</m:t>
                        </m:r>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oMath>
                </a14:m>
                <a:endParaRPr lang="ar-AE" sz="900" b="0" i="0" dirty="0">
                  <a:solidFill>
                    <a:schemeClr val="tx1"/>
                  </a:solidFill>
                  <a:effectLst/>
                  <a:latin typeface="Segoe WPC"/>
                </a:endParaRPr>
              </a:p>
              <a:p>
                <a:pPr algn="l">
                  <a:spcBef>
                    <a:spcPts val="300"/>
                  </a:spcBef>
                  <a:spcAft>
                    <a:spcPts val="600"/>
                  </a:spcAft>
                  <a:buFont typeface="Arial" panose="020B0604020202020204" pitchFamily="34" charset="0"/>
                  <a:buChar char="•"/>
                </a:pP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𝐴</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𝐵</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m:t>
                    </m:r>
                  </m:oMath>
                </a14:m>
                <a:r>
                  <a:rPr lang="es-P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𝐵</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𝐵</m:t>
                        </m:r>
                      </m:e>
                    </m:d>
                  </m:oMath>
                </a14:m>
                <a:endParaRPr lang="ar-AE" sz="900" b="0" i="0" dirty="0">
                  <a:solidFill>
                    <a:schemeClr val="tx1"/>
                  </a:solidFill>
                  <a:effectLst/>
                  <a:latin typeface="Segoe WPC"/>
                </a:endParaRPr>
              </a:p>
              <a:p>
                <a:pPr algn="l">
                  <a:spcAft>
                    <a:spcPts val="600"/>
                  </a:spcAft>
                  <a:buNone/>
                </a:pP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are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foundations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later</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rules.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Mutually</a:t>
                </a:r>
                <a:r>
                  <a:rPr lang="es-PE" sz="900" b="0" i="0" dirty="0">
                    <a:solidFill>
                      <a:schemeClr val="tx1"/>
                    </a:solidFill>
                    <a:effectLst/>
                    <a:latin typeface="Segoe WPC"/>
                  </a:rPr>
                  <a:t> exclusive”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required</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simple </a:t>
                </a:r>
                <a:r>
                  <a:rPr lang="es-PE" sz="900" b="0" i="0" dirty="0" err="1">
                    <a:solidFill>
                      <a:schemeClr val="tx1"/>
                    </a:solidFill>
                    <a:effectLst/>
                    <a:latin typeface="Segoe WPC"/>
                  </a:rPr>
                  <a:t>addition</a:t>
                </a:r>
                <a:r>
                  <a:rPr lang="es-PE" sz="900" b="0" i="0" dirty="0">
                    <a:solidFill>
                      <a:schemeClr val="tx1"/>
                    </a:solidFill>
                    <a:effectLst/>
                    <a:latin typeface="Segoe WPC"/>
                  </a:rPr>
                  <a:t>.</a:t>
                </a:r>
                <a:endParaRPr lang="es-PE" sz="900" dirty="0">
                  <a:solidFill>
                    <a:schemeClr val="tx1"/>
                  </a:solidFill>
                </a:endParaRPr>
              </a:p>
              <a:p>
                <a:pPr algn="l">
                  <a:spcAft>
                    <a:spcPts val="600"/>
                  </a:spcAft>
                  <a:buNone/>
                </a:pPr>
                <a:r>
                  <a:rPr lang="es-PE" sz="900" b="1" i="0" dirty="0">
                    <a:solidFill>
                      <a:schemeClr val="tx1"/>
                    </a:solidFill>
                    <a:effectLst/>
                    <a:latin typeface="Segoe WPC"/>
                  </a:rPr>
                  <a:t>4. </a:t>
                </a:r>
                <a:r>
                  <a:rPr lang="es-PE" sz="900" b="1" i="0" dirty="0" err="1">
                    <a:solidFill>
                      <a:schemeClr val="tx1"/>
                    </a:solidFill>
                    <a:effectLst/>
                    <a:latin typeface="Segoe WPC"/>
                  </a:rPr>
                  <a:t>Complement</a:t>
                </a:r>
                <a:r>
                  <a:rPr lang="es-PE" sz="900" b="1" i="0" dirty="0">
                    <a:solidFill>
                      <a:schemeClr val="tx1"/>
                    </a:solidFill>
                    <a:effectLst/>
                    <a:latin typeface="Segoe WPC"/>
                  </a:rPr>
                  <a:t> Rule</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event</a:t>
                </a:r>
                <a:r>
                  <a:rPr lang="es-PE" sz="900" b="0" i="0" dirty="0">
                    <a:solidFill>
                      <a:schemeClr val="tx1"/>
                    </a:solidFill>
                    <a:effectLst/>
                    <a:latin typeface="Segoe WPC"/>
                  </a:rPr>
                  <a:t> and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complement</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add</a:t>
                </a:r>
                <a:r>
                  <a:rPr lang="es-PE" sz="900" b="0" i="0" dirty="0">
                    <a:solidFill>
                      <a:schemeClr val="tx1"/>
                    </a:solidFill>
                    <a:effectLst/>
                    <a:latin typeface="Segoe WPC"/>
                  </a:rPr>
                  <a:t> up </a:t>
                </a:r>
                <a:r>
                  <a:rPr lang="es-PE" sz="900" b="0" i="0" dirty="0" err="1">
                    <a:solidFill>
                      <a:schemeClr val="tx1"/>
                    </a:solidFill>
                    <a:effectLst/>
                    <a:latin typeface="Segoe WPC"/>
                  </a:rPr>
                  <a:t>to</a:t>
                </a:r>
                <a:r>
                  <a:rPr lang="es-PE" sz="900" b="0" i="0" dirty="0">
                    <a:solidFill>
                      <a:schemeClr val="tx1"/>
                    </a:solidFill>
                    <a:effectLst/>
                    <a:latin typeface="Segoe WPC"/>
                  </a:rPr>
                  <a:t> 1.</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endParaRPr lang="es-PE" sz="900" b="0" i="0" dirty="0">
                  <a:solidFill>
                    <a:schemeClr val="tx1"/>
                  </a:solidFill>
                  <a:effectLst/>
                  <a:latin typeface="Segoe WPC"/>
                </a:endParaRPr>
              </a:p>
              <a:p>
                <a:pPr algn="l">
                  <a:spcAft>
                    <a:spcPts val="600"/>
                  </a:spcAft>
                  <a:buNone/>
                </a:pP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𝐴</m:t>
                              </m:r>
                            </m:e>
                            <m:sup>
                              <m:r>
                                <a:rPr lang="ar-AE" sz="900" i="1">
                                  <a:solidFill>
                                    <a:schemeClr val="tx1"/>
                                  </a:solidFill>
                                  <a:latin typeface="Cambria Math" panose="02040503050406030204" pitchFamily="18" charset="0"/>
                                </a:rPr>
                                <m:t>𝑐</m:t>
                              </m:r>
                            </m:sup>
                          </m:sSup>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e>
                      </m:d>
                    </m:oMath>
                  </m:oMathPara>
                </a14:m>
                <a:endParaRPr lang="ar-AE" sz="900" b="0" i="0" dirty="0">
                  <a:solidFill>
                    <a:schemeClr val="tx1"/>
                  </a:solidFill>
                  <a:effectLst/>
                  <a:latin typeface="Segoe WPC"/>
                </a:endParaRPr>
              </a:p>
              <a:p>
                <a:pPr algn="l">
                  <a:spcAft>
                    <a:spcPts val="600"/>
                  </a:spcAft>
                  <a:buNone/>
                </a:pP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easier</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compute “</a:t>
                </a:r>
                <a:r>
                  <a:rPr lang="es-PE" sz="900" b="0" i="0" dirty="0" err="1">
                    <a:solidFill>
                      <a:schemeClr val="tx1"/>
                    </a:solidFill>
                    <a:effectLst/>
                    <a:latin typeface="Segoe WPC"/>
                  </a:rPr>
                  <a:t>not</a:t>
                </a:r>
                <a:r>
                  <a:rPr lang="es-PE" sz="900" b="0" i="0" dirty="0">
                    <a:solidFill>
                      <a:schemeClr val="tx1"/>
                    </a:solidFill>
                    <a:effectLst/>
                    <a:latin typeface="Segoe WPC"/>
                  </a:rPr>
                  <a:t> A” </a:t>
                </a:r>
                <a:r>
                  <a:rPr lang="es-PE" sz="900" b="0" i="0" dirty="0" err="1">
                    <a:solidFill>
                      <a:schemeClr val="tx1"/>
                    </a:solidFill>
                    <a:effectLst/>
                    <a:latin typeface="Segoe WPC"/>
                  </a:rPr>
                  <a:t>first</a:t>
                </a:r>
                <a:r>
                  <a:rPr lang="es-PE" sz="900" b="0" i="0" dirty="0">
                    <a:solidFill>
                      <a:schemeClr val="tx1"/>
                    </a:solidFill>
                    <a:effectLst/>
                    <a:latin typeface="Segoe WPC"/>
                  </a:rPr>
                  <a:t> and </a:t>
                </a:r>
                <a:r>
                  <a:rPr lang="es-PE" sz="900" b="0" i="0" dirty="0" err="1">
                    <a:solidFill>
                      <a:schemeClr val="tx1"/>
                    </a:solidFill>
                    <a:effectLst/>
                    <a:latin typeface="Segoe WPC"/>
                  </a:rPr>
                  <a:t>then</a:t>
                </a:r>
                <a:r>
                  <a:rPr lang="es-PE" sz="900" b="0" i="0" dirty="0">
                    <a:solidFill>
                      <a:schemeClr val="tx1"/>
                    </a:solidFill>
                    <a:effectLst/>
                    <a:latin typeface="Segoe WPC"/>
                  </a:rPr>
                  <a:t> </a:t>
                </a:r>
                <a:r>
                  <a:rPr lang="es-PE" sz="900" b="0" i="0" dirty="0" err="1">
                    <a:solidFill>
                      <a:schemeClr val="tx1"/>
                    </a:solidFill>
                    <a:effectLst/>
                    <a:latin typeface="Segoe WPC"/>
                  </a:rPr>
                  <a:t>subtract</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1.</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fastest</a:t>
                </a:r>
                <a:r>
                  <a:rPr lang="es-PE" sz="900" b="0" i="0" dirty="0">
                    <a:solidFill>
                      <a:schemeClr val="tx1"/>
                    </a:solidFill>
                    <a:effectLst/>
                    <a:latin typeface="Segoe WPC"/>
                  </a:rPr>
                  <a:t> </a:t>
                </a:r>
                <a:r>
                  <a:rPr lang="es-PE" sz="900" b="0" i="0" dirty="0" err="1">
                    <a:solidFill>
                      <a:schemeClr val="tx1"/>
                    </a:solidFill>
                    <a:effectLst/>
                    <a:latin typeface="Segoe WPC"/>
                  </a:rPr>
                  <a:t>shortcuts</a:t>
                </a:r>
                <a:r>
                  <a:rPr lang="es-PE" sz="900" b="0" i="0" dirty="0">
                    <a:solidFill>
                      <a:schemeClr val="tx1"/>
                    </a:solidFill>
                    <a:effectLst/>
                    <a:latin typeface="Segoe WPC"/>
                  </a:rPr>
                  <a:t> in </a:t>
                </a:r>
                <a:r>
                  <a:rPr lang="es-PE" sz="900" b="0" i="0" dirty="0" err="1">
                    <a:solidFill>
                      <a:schemeClr val="tx1"/>
                    </a:solidFill>
                    <a:effectLst/>
                    <a:latin typeface="Segoe WPC"/>
                  </a:rPr>
                  <a:t>exam</a:t>
                </a:r>
                <a:r>
                  <a:rPr lang="es-PE" sz="900" b="0" i="0" dirty="0">
                    <a:solidFill>
                      <a:schemeClr val="tx1"/>
                    </a:solidFill>
                    <a:effectLst/>
                    <a:latin typeface="Segoe WPC"/>
                  </a:rPr>
                  <a:t> </a:t>
                </a:r>
                <a:r>
                  <a:rPr lang="es-PE" sz="900" b="0" i="0" dirty="0" err="1">
                    <a:solidFill>
                      <a:schemeClr val="tx1"/>
                    </a:solidFill>
                    <a:effectLst/>
                    <a:latin typeface="Segoe WPC"/>
                  </a:rPr>
                  <a:t>questions</a:t>
                </a:r>
                <a:r>
                  <a:rPr lang="es-PE" sz="900" b="0" i="0" dirty="0">
                    <a:solidFill>
                      <a:schemeClr val="tx1"/>
                    </a:solidFill>
                    <a:effectLst/>
                    <a:latin typeface="Segoe WPC"/>
                  </a:rPr>
                  <a:t>.</a:t>
                </a:r>
                <a:endParaRPr lang="es-PE" sz="900" dirty="0">
                  <a:solidFill>
                    <a:schemeClr val="tx1"/>
                  </a:solidFill>
                </a:endParaRPr>
              </a:p>
              <a:p>
                <a:pPr algn="l">
                  <a:spcAft>
                    <a:spcPts val="600"/>
                  </a:spcAft>
                  <a:buNone/>
                </a:pPr>
                <a:r>
                  <a:rPr lang="es-PE" sz="900" b="1" i="0" dirty="0">
                    <a:solidFill>
                      <a:schemeClr val="tx1"/>
                    </a:solidFill>
                    <a:effectLst/>
                    <a:latin typeface="Segoe WPC"/>
                  </a:rPr>
                  <a:t>5. </a:t>
                </a:r>
                <a:r>
                  <a:rPr lang="es-PE" sz="900" b="1" i="0" dirty="0" err="1">
                    <a:solidFill>
                      <a:schemeClr val="tx1"/>
                    </a:solidFill>
                    <a:effectLst/>
                    <a:latin typeface="Segoe WPC"/>
                  </a:rPr>
                  <a:t>Conditional</a:t>
                </a:r>
                <a:r>
                  <a:rPr lang="es-PE" sz="900" b="1" i="0" dirty="0">
                    <a:solidFill>
                      <a:schemeClr val="tx1"/>
                    </a:solidFill>
                    <a:effectLst/>
                    <a:latin typeface="Segoe WPC"/>
                  </a:rPr>
                  <a:t> </a:t>
                </a:r>
                <a:r>
                  <a:rPr lang="es-PE" sz="900" b="1" i="0" dirty="0" err="1">
                    <a:solidFill>
                      <a:schemeClr val="tx1"/>
                    </a:solidFill>
                    <a:effectLst/>
                    <a:latin typeface="Segoe WPC"/>
                  </a:rPr>
                  <a:t>Probability</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a:t>
                </a:r>
                <a:r>
                  <a:rPr lang="es-PE" sz="900" b="0" i="0" dirty="0" err="1">
                    <a:solidFill>
                      <a:schemeClr val="tx1"/>
                    </a:solidFill>
                    <a:effectLst/>
                    <a:latin typeface="Segoe WPC"/>
                  </a:rPr>
                  <a:t>Conditional</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event</a:t>
                </a:r>
                <a:r>
                  <a:rPr lang="es-PE" sz="900" b="0" i="0" dirty="0">
                    <a:solidFill>
                      <a:schemeClr val="tx1"/>
                    </a:solidFill>
                    <a:effectLst/>
                    <a:latin typeface="Segoe WPC"/>
                  </a:rPr>
                  <a:t> </a:t>
                </a:r>
                <a:r>
                  <a:rPr lang="es-PE" sz="900" b="0" i="0" dirty="0" err="1">
                    <a:solidFill>
                      <a:schemeClr val="tx1"/>
                    </a:solidFill>
                    <a:effectLst/>
                    <a:latin typeface="Segoe WPC"/>
                  </a:rPr>
                  <a:t>given</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another</a:t>
                </a:r>
                <a:r>
                  <a:rPr lang="es-PE" sz="900" b="0" i="0" dirty="0">
                    <a:solidFill>
                      <a:schemeClr val="tx1"/>
                    </a:solidFill>
                    <a:effectLst/>
                    <a:latin typeface="Segoe WPC"/>
                  </a:rPr>
                  <a:t> </a:t>
                </a:r>
                <a:r>
                  <a:rPr lang="es-PE" sz="900" b="0" i="0" dirty="0" err="1">
                    <a:solidFill>
                      <a:schemeClr val="tx1"/>
                    </a:solidFill>
                    <a:effectLst/>
                    <a:latin typeface="Segoe WPC"/>
                  </a:rPr>
                  <a:t>event</a:t>
                </a:r>
                <a:r>
                  <a:rPr lang="es-PE" sz="900" b="0" i="0" dirty="0">
                    <a:solidFill>
                      <a:schemeClr val="tx1"/>
                    </a:solidFill>
                    <a:effectLst/>
                    <a:latin typeface="Segoe WPC"/>
                  </a:rPr>
                  <a:t> has </a:t>
                </a:r>
                <a:r>
                  <a:rPr lang="es-PE" sz="900" b="0" i="0" dirty="0" err="1">
                    <a:solidFill>
                      <a:schemeClr val="tx1"/>
                    </a:solidFill>
                    <a:effectLst/>
                    <a:latin typeface="Segoe WPC"/>
                  </a:rPr>
                  <a:t>occurred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𝐵</m:t>
                          </m:r>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𝐵</m:t>
                              </m:r>
                            </m:e>
                          </m:d>
                        </m:num>
                        <m:den>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𝐵</m:t>
                              </m:r>
                            </m:e>
                          </m:d>
                        </m:den>
                      </m:f>
                    </m:oMath>
                  </m:oMathPara>
                </a14:m>
                <a:endParaRPr lang="ar-AE" sz="900" b="0" i="0" dirty="0">
                  <a:solidFill>
                    <a:schemeClr val="tx1"/>
                  </a:solidFill>
                  <a:effectLst/>
                  <a:latin typeface="Segoe WPC"/>
                </a:endParaRPr>
              </a:p>
              <a:p>
                <a:pPr algn="l">
                  <a:spcAft>
                    <a:spcPts val="600"/>
                  </a:spcAft>
                  <a:buNone/>
                </a:pP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gets</a:t>
                </a:r>
                <a:r>
                  <a:rPr lang="es-PE" sz="900" b="0" i="0" dirty="0">
                    <a:solidFill>
                      <a:schemeClr val="tx1"/>
                    </a:solidFill>
                    <a:effectLst/>
                    <a:latin typeface="Segoe WPC"/>
                  </a:rPr>
                  <a:t> </a:t>
                </a:r>
                <a:r>
                  <a:rPr lang="es-PE" sz="900" b="0" i="0" dirty="0" err="1">
                    <a:solidFill>
                      <a:schemeClr val="tx1"/>
                    </a:solidFill>
                    <a:effectLst/>
                    <a:latin typeface="Segoe WPC"/>
                  </a:rPr>
                  <a:t>updated</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new </a:t>
                </a:r>
                <a:r>
                  <a:rPr lang="es-PE" sz="900" b="0" i="0" dirty="0" err="1">
                    <a:solidFill>
                      <a:schemeClr val="tx1"/>
                    </a:solidFill>
                    <a:effectLst/>
                    <a:latin typeface="Segoe WPC"/>
                  </a:rPr>
                  <a:t>information</a:t>
                </a:r>
                <a:r>
                  <a:rPr lang="es-PE" sz="900" b="0" i="0" dirty="0">
                    <a:solidFill>
                      <a:schemeClr val="tx1"/>
                    </a:solidFill>
                    <a:effectLst/>
                    <a:latin typeface="Segoe WPC"/>
                  </a:rPr>
                  <a:t> </a:t>
                </a:r>
                <a:r>
                  <a:rPr lang="es-PE" sz="900" b="0" i="0" dirty="0" err="1">
                    <a:solidFill>
                      <a:schemeClr val="tx1"/>
                    </a:solidFill>
                    <a:effectLst/>
                    <a:latin typeface="Segoe WPC"/>
                  </a:rPr>
                  <a:t>arrives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Conditional</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as </a:t>
                </a:r>
                <a:r>
                  <a:rPr lang="es-PE" sz="900" b="0" i="0" dirty="0" err="1">
                    <a:solidFill>
                      <a:schemeClr val="tx1"/>
                    </a:solidFill>
                    <a:effectLst/>
                    <a:latin typeface="Segoe WPC"/>
                  </a:rPr>
                  <a:t>joint</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a:t>
                </a:r>
              </a:p>
            </p:txBody>
          </p:sp>
        </mc:Choice>
        <mc:Fallback xmlns="">
          <p:sp>
            <p:nvSpPr>
              <p:cNvPr id="5" name="CuadroTexto 4">
                <a:extLst>
                  <a:ext uri="{FF2B5EF4-FFF2-40B4-BE49-F238E27FC236}">
                    <a16:creationId xmlns:a16="http://schemas.microsoft.com/office/drawing/2014/main" id="{D4B31039-DA0F-350E-78EF-745771A2F8AE}"/>
                  </a:ext>
                </a:extLst>
              </p:cNvPr>
              <p:cNvSpPr txBox="1">
                <a:spLocks noRot="1" noChangeAspect="1" noMove="1" noResize="1" noEditPoints="1" noAdjustHandles="1" noChangeArrowheads="1" noChangeShapeType="1" noTextEdit="1"/>
              </p:cNvSpPr>
              <p:nvPr/>
            </p:nvSpPr>
            <p:spPr>
              <a:xfrm>
                <a:off x="79830" y="586694"/>
                <a:ext cx="6457448" cy="6005298"/>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FAF4032D-3838-9988-87E7-95B9321EE6FD}"/>
                  </a:ext>
                </a:extLst>
              </p:cNvPr>
              <p:cNvSpPr txBox="1"/>
              <p:nvPr/>
            </p:nvSpPr>
            <p:spPr>
              <a:xfrm>
                <a:off x="6317343" y="163042"/>
                <a:ext cx="6172200" cy="6992363"/>
              </a:xfrm>
              <a:prstGeom prst="rect">
                <a:avLst/>
              </a:prstGeom>
              <a:noFill/>
            </p:spPr>
            <p:txBody>
              <a:bodyPr wrap="square">
                <a:spAutoFit/>
              </a:bodyPr>
              <a:lstStyle/>
              <a:p>
                <a:pPr>
                  <a:spcAft>
                    <a:spcPts val="600"/>
                  </a:spcAft>
                </a:pPr>
                <a:r>
                  <a:rPr lang="es-PE" sz="900" b="1" i="0" dirty="0">
                    <a:solidFill>
                      <a:schemeClr val="tx1"/>
                    </a:solidFill>
                    <a:effectLst/>
                    <a:latin typeface="Segoe WPC"/>
                  </a:rPr>
                  <a:t>6. </a:t>
                </a:r>
                <a:r>
                  <a:rPr lang="es-PE" sz="900" b="1" i="0" dirty="0" err="1">
                    <a:solidFill>
                      <a:schemeClr val="tx1"/>
                    </a:solidFill>
                    <a:effectLst/>
                    <a:latin typeface="Segoe WPC"/>
                  </a:rPr>
                  <a:t>Law</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Total </a:t>
                </a:r>
                <a:r>
                  <a:rPr lang="es-PE" sz="900" b="1" i="0" dirty="0" err="1">
                    <a:solidFill>
                      <a:schemeClr val="tx1"/>
                    </a:solidFill>
                    <a:effectLst/>
                    <a:latin typeface="Segoe WPC"/>
                  </a:rPr>
                  <a:t>Probability</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Total </a:t>
                </a:r>
                <a:r>
                  <a:rPr lang="es-PE" sz="900" b="0" i="0" dirty="0" err="1">
                    <a:solidFill>
                      <a:schemeClr val="tx1"/>
                    </a:solidFill>
                    <a:effectLst/>
                    <a:latin typeface="Segoe WPC"/>
                  </a:rPr>
                  <a:t>probability</a:t>
                </a:r>
                <a:r>
                  <a:rPr lang="es-PE" sz="900" b="0" i="0" dirty="0">
                    <a:solidFill>
                      <a:schemeClr val="tx1"/>
                    </a:solidFill>
                    <a:effectLst/>
                    <a:latin typeface="Segoe WPC"/>
                  </a:rPr>
                  <a:t> can be </a:t>
                </a:r>
                <a:r>
                  <a:rPr lang="es-PE" sz="900" b="0" i="0" dirty="0" err="1">
                    <a:solidFill>
                      <a:schemeClr val="tx1"/>
                    </a:solidFill>
                    <a:effectLst/>
                    <a:latin typeface="Segoe WPC"/>
                  </a:rPr>
                  <a:t>rebuilt</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conditional</a:t>
                </a:r>
                <a:r>
                  <a:rPr lang="es-PE" sz="900" b="0" i="0" dirty="0">
                    <a:solidFill>
                      <a:schemeClr val="tx1"/>
                    </a:solidFill>
                    <a:effectLst/>
                    <a:latin typeface="Segoe WPC"/>
                  </a:rPr>
                  <a:t> </a:t>
                </a:r>
                <a:r>
                  <a:rPr lang="es-PE" sz="900" b="0" i="0" dirty="0" err="1">
                    <a:solidFill>
                      <a:schemeClr val="tx1"/>
                    </a:solidFill>
                    <a:effectLst/>
                    <a:latin typeface="Segoe WPC"/>
                  </a:rPr>
                  <a:t>probabilities</a:t>
                </a:r>
                <a:r>
                  <a:rPr lang="es-PE" sz="900" b="0" i="0" dirty="0">
                    <a:solidFill>
                      <a:schemeClr val="tx1"/>
                    </a:solidFill>
                    <a:effectLst/>
                    <a:latin typeface="Segoe WPC"/>
                  </a:rPr>
                  <a:t> </a:t>
                </a:r>
                <a:r>
                  <a:rPr lang="es-PE" sz="900" b="0" i="0" dirty="0" err="1">
                    <a:solidFill>
                      <a:schemeClr val="tx1"/>
                    </a:solidFill>
                    <a:effectLst/>
                    <a:latin typeface="Segoe WPC"/>
                  </a:rPr>
                  <a:t>across</a:t>
                </a:r>
                <a:r>
                  <a:rPr lang="es-PE" sz="900" b="0" i="0" dirty="0">
                    <a:solidFill>
                      <a:schemeClr val="tx1"/>
                    </a:solidFill>
                    <a:effectLst/>
                    <a:latin typeface="Segoe WPC"/>
                  </a:rPr>
                  <a:t> </a:t>
                </a:r>
                <a:r>
                  <a:rPr lang="es-PE" sz="900" b="0" i="0" dirty="0" err="1">
                    <a:solidFill>
                      <a:schemeClr val="tx1"/>
                    </a:solidFill>
                    <a:effectLst/>
                    <a:latin typeface="Segoe WPC"/>
                  </a:rPr>
                  <a:t>mutually</a:t>
                </a:r>
                <a:r>
                  <a:rPr lang="es-PE" sz="900" b="0" i="0" dirty="0">
                    <a:solidFill>
                      <a:schemeClr val="tx1"/>
                    </a:solidFill>
                    <a:effectLst/>
                    <a:latin typeface="Segoe WPC"/>
                  </a:rPr>
                  <a:t> exclusive cases.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 </a:t>
                </a:r>
                <a:r>
                  <a:rPr lang="en-US" sz="900" b="1" dirty="0">
                    <a:latin typeface="Segoe WPC"/>
                  </a:rPr>
                  <a:t>Split the world into B1, B2, B3, ...A happens partly in B1, partly in B2, partly in B3 </a:t>
                </a:r>
              </a:p>
              <a:p>
                <a:pPr>
                  <a:spcAft>
                    <a:spcPts val="600"/>
                  </a:spcAft>
                </a:pPr>
                <a:r>
                  <a:rPr lang="en-US" sz="900" b="1" dirty="0">
                    <a:latin typeface="Segoe WPC"/>
                  </a:rPr>
                  <a:t>Add those pieces together</a:t>
                </a:r>
                <a:endParaRPr lang="es-PE" sz="900" b="0" i="0" dirty="0">
                  <a:solidFill>
                    <a:schemeClr val="tx1"/>
                  </a:solidFill>
                  <a:effectLst/>
                  <a:latin typeface="Segoe WPC"/>
                </a:endParaRPr>
              </a:p>
              <a:p>
                <a:pPr algn="l">
                  <a:spcAft>
                    <a:spcPts val="600"/>
                  </a:spcAft>
                  <a:buNone/>
                </a:pP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e>
                      </m:d>
                      <m:r>
                        <a:rPr lang="ar-AE" sz="900" i="0">
                          <a:solidFill>
                            <a:schemeClr val="tx1"/>
                          </a:solidFill>
                          <a:latin typeface="Cambria Math" panose="02040503050406030204" pitchFamily="18" charset="0"/>
                        </a:rPr>
                        <m:t>=</m:t>
                      </m:r>
                      <m:nary>
                        <m:naryPr>
                          <m:chr m:val="∑"/>
                          <m:limLoc m:val="subSup"/>
                          <m:grow m:val="on"/>
                          <m:supHide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sub>
                        <m:sup/>
                        <m:e>
                          <m:r>
                            <a:rPr lang="ar-AE" sz="900" i="1">
                              <a:solidFill>
                                <a:schemeClr val="tx1"/>
                              </a:solidFill>
                              <a:latin typeface="Cambria Math" panose="02040503050406030204" pitchFamily="18" charset="0"/>
                            </a:rPr>
                            <m:t>𝑃</m:t>
                          </m:r>
                        </m:e>
                      </m:nary>
                      <m:r>
                        <a:rPr lang="ar-AE" sz="900" i="1">
                          <a:solidFill>
                            <a:schemeClr val="tx1"/>
                          </a:solidFill>
                          <a:latin typeface="Cambria Math" panose="02040503050406030204" pitchFamily="18" charset="0"/>
                        </a:rPr>
                        <m:t>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𝐵</m:t>
                              </m:r>
                            </m:e>
                            <m:sub>
                              <m:r>
                                <a:rPr lang="ar-AE" sz="900" i="1">
                                  <a:solidFill>
                                    <a:schemeClr val="tx1"/>
                                  </a:solidFill>
                                  <a:latin typeface="Cambria Math" panose="02040503050406030204" pitchFamily="18" charset="0"/>
                                </a:rPr>
                                <m:t>𝑖</m:t>
                              </m:r>
                            </m:sub>
                          </m:sSub>
                        </m:e>
                      </m:d>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𝐵</m:t>
                              </m:r>
                            </m:e>
                            <m:sub>
                              <m:r>
                                <a:rPr lang="ar-AE" sz="900" i="1">
                                  <a:solidFill>
                                    <a:schemeClr val="tx1"/>
                                  </a:solidFill>
                                  <a:latin typeface="Cambria Math" panose="02040503050406030204" pitchFamily="18" charset="0"/>
                                </a:rPr>
                                <m:t>𝑖</m:t>
                              </m:r>
                            </m:sub>
                          </m:sSub>
                        </m:e>
                      </m:d>
                    </m:oMath>
                  </m:oMathPara>
                </a14:m>
                <a:endParaRPr lang="ar-AE" sz="900" b="0" i="0" dirty="0">
                  <a:solidFill>
                    <a:schemeClr val="tx1"/>
                  </a:solidFill>
                  <a:effectLst/>
                  <a:latin typeface="Segoe WPC"/>
                </a:endParaRPr>
              </a:p>
              <a:p>
                <a:pPr algn="l">
                  <a:spcAft>
                    <a:spcPts val="600"/>
                  </a:spcAft>
                  <a:buNone/>
                </a:pP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event</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several</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scenarios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populations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𝐵</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form</a:t>
                </a:r>
                <a:r>
                  <a:rPr lang="es-PE" sz="900" b="0" i="0" dirty="0">
                    <a:solidFill>
                      <a:schemeClr val="tx1"/>
                    </a:solidFill>
                    <a:effectLst/>
                    <a:latin typeface="Segoe WPC"/>
                  </a:rPr>
                  <a:t> a complete </a:t>
                </a:r>
                <a:r>
                  <a:rPr lang="es-PE" sz="900" b="0" i="0" dirty="0" err="1">
                    <a:solidFill>
                      <a:schemeClr val="tx1"/>
                    </a:solidFill>
                    <a:effectLst/>
                    <a:latin typeface="Segoe WPC"/>
                  </a:rPr>
                  <a:t>partition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space</a:t>
                </a:r>
                <a:r>
                  <a:rPr lang="es-PE" sz="900" b="0" i="0" dirty="0">
                    <a:solidFill>
                      <a:schemeClr val="tx1"/>
                    </a:solidFill>
                    <a:effectLst/>
                    <a:latin typeface="Segoe WPC"/>
                  </a:rPr>
                  <a:t>.</a:t>
                </a:r>
                <a:br>
                  <a:rPr lang="es-PE" sz="900" dirty="0">
                    <a:solidFill>
                      <a:schemeClr val="tx1"/>
                    </a:solidFill>
                  </a:rPr>
                </a:br>
                <a:endParaRPr lang="es-PE" sz="900" dirty="0">
                  <a:solidFill>
                    <a:schemeClr val="tx1"/>
                  </a:solidFill>
                </a:endParaRPr>
              </a:p>
              <a:p>
                <a:pPr>
                  <a:spcAft>
                    <a:spcPts val="600"/>
                  </a:spcAft>
                </a:pPr>
                <a:r>
                  <a:rPr lang="es-PE" sz="900" b="1" i="0" dirty="0">
                    <a:solidFill>
                      <a:schemeClr val="tx1"/>
                    </a:solidFill>
                    <a:effectLst/>
                    <a:latin typeface="Segoe WPC"/>
                  </a:rPr>
                  <a:t>7. Independence</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events</a:t>
                </a:r>
                <a:r>
                  <a:rPr lang="es-PE" sz="900" b="0" i="0" dirty="0">
                    <a:solidFill>
                      <a:schemeClr val="tx1"/>
                    </a:solidFill>
                    <a:effectLst/>
                    <a:latin typeface="Segoe WPC"/>
                  </a:rPr>
                  <a:t> are </a:t>
                </a:r>
                <a:r>
                  <a:rPr lang="es-PE" sz="900" b="0" i="0" dirty="0" err="1">
                    <a:solidFill>
                      <a:schemeClr val="tx1"/>
                    </a:solidFill>
                    <a:effectLst/>
                    <a:latin typeface="Segoe WPC"/>
                  </a:rPr>
                  <a:t>independent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knowing</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occurred</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change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 </a:t>
                </a:r>
                <a:r>
                  <a:rPr lang="en-US" sz="900" b="1" dirty="0">
                    <a:latin typeface="Segoe WPC"/>
                  </a:rPr>
                  <a:t>If A and B are independent: Knowing A happened tells you nothing new about B</a:t>
                </a:r>
                <a:endParaRPr lang="es-PE" sz="900" b="0" i="0" dirty="0">
                  <a:solidFill>
                    <a:schemeClr val="tx1"/>
                  </a:solidFill>
                  <a:effectLst/>
                  <a:latin typeface="Segoe WPC"/>
                </a:endParaRPr>
              </a:p>
              <a:p>
                <a:pPr algn="l">
                  <a:spcAft>
                    <a:spcPts val="600"/>
                  </a:spcAft>
                  <a:buNone/>
                </a:pP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𝐵</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e>
                      </m:d>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𝐵</m:t>
                          </m:r>
                        </m:e>
                      </m:d>
                    </m:oMath>
                  </m:oMathPara>
                </a14:m>
                <a:endParaRPr lang="ar-AE" sz="900" b="0" i="0" dirty="0">
                  <a:solidFill>
                    <a:schemeClr val="tx1"/>
                  </a:solidFill>
                  <a:effectLst/>
                  <a:latin typeface="Segoe WPC"/>
                </a:endParaRPr>
              </a:p>
              <a:p>
                <a:pPr algn="l">
                  <a:spcAft>
                    <a:spcPts val="600"/>
                  </a:spcAft>
                  <a:buNone/>
                </a:pPr>
                <a:r>
                  <a:rPr lang="es-PE" sz="900" b="0" i="0" dirty="0" err="1">
                    <a:solidFill>
                      <a:schemeClr val="tx1"/>
                    </a:solidFill>
                    <a:effectLst/>
                    <a:latin typeface="Segoe WPC"/>
                  </a:rPr>
                  <a:t>Equivalent</a:t>
                </a:r>
                <a:r>
                  <a:rPr lang="es-PE" sz="900" b="0" i="0" dirty="0">
                    <a:solidFill>
                      <a:schemeClr val="tx1"/>
                    </a:solidFill>
                    <a:effectLst/>
                    <a:latin typeface="Segoe WPC"/>
                  </a:rPr>
                  <a:t> </a:t>
                </a:r>
                <a:r>
                  <a:rPr lang="es-PE" sz="900" b="0" i="0" dirty="0" err="1">
                    <a:solidFill>
                      <a:schemeClr val="tx1"/>
                    </a:solidFill>
                    <a:effectLst/>
                    <a:latin typeface="Segoe WPC"/>
                  </a:rPr>
                  <a:t>form</a:t>
                </a:r>
                <a:r>
                  <a:rPr lang="es-PE" sz="900" b="0" i="0" dirty="0">
                    <a:solidFill>
                      <a:schemeClr val="tx1"/>
                    </a:solidFill>
                    <a:effectLst/>
                    <a:latin typeface="Segoe WPC"/>
                  </a:rPr>
                  <a:t>:</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𝐵</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e>
                      </m:d>
                    </m:oMath>
                  </m:oMathPara>
                </a14:m>
                <a:endParaRPr lang="ar-AE" sz="900" b="0" i="0" dirty="0">
                  <a:solidFill>
                    <a:schemeClr val="tx1"/>
                  </a:solidFill>
                  <a:effectLst/>
                  <a:latin typeface="Segoe WPC"/>
                </a:endParaRPr>
              </a:p>
              <a:p>
                <a:pPr algn="l">
                  <a:spcAft>
                    <a:spcPts val="600"/>
                  </a:spcAft>
                  <a:buNone/>
                </a:pP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Independence </a:t>
                </a:r>
                <a:r>
                  <a:rPr lang="es-PE" sz="900" b="0" i="0" dirty="0" err="1">
                    <a:solidFill>
                      <a:schemeClr val="tx1"/>
                    </a:solidFill>
                    <a:effectLst/>
                    <a:latin typeface="Segoe WPC"/>
                  </a:rPr>
                  <a:t>simplifies</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calculations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1" i="0" dirty="0" err="1">
                    <a:solidFill>
                      <a:schemeClr val="tx1"/>
                    </a:solidFill>
                    <a:effectLst/>
                    <a:latin typeface="Segoe WPC"/>
                  </a:rPr>
                  <a:t>Mutually</a:t>
                </a:r>
                <a:r>
                  <a:rPr lang="es-PE" sz="900" b="1" i="0" dirty="0">
                    <a:solidFill>
                      <a:schemeClr val="tx1"/>
                    </a:solidFill>
                    <a:effectLst/>
                    <a:latin typeface="Segoe WPC"/>
                  </a:rPr>
                  <a:t> exclusive</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mean </a:t>
                </a:r>
                <a:r>
                  <a:rPr lang="es-PE" sz="900" b="1" i="0" dirty="0" err="1">
                    <a:solidFill>
                      <a:schemeClr val="tx1"/>
                    </a:solidFill>
                    <a:effectLst/>
                    <a:latin typeface="Segoe WPC"/>
                  </a:rPr>
                  <a:t>independent</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events</a:t>
                </a:r>
                <a:r>
                  <a:rPr lang="es-PE" sz="900" b="0" i="0" dirty="0">
                    <a:solidFill>
                      <a:schemeClr val="tx1"/>
                    </a:solidFill>
                    <a:effectLst/>
                    <a:latin typeface="Segoe WPC"/>
                  </a:rPr>
                  <a:t> are </a:t>
                </a:r>
                <a:r>
                  <a:rPr lang="es-PE" sz="900" b="0" i="0" dirty="0" err="1">
                    <a:solidFill>
                      <a:schemeClr val="tx1"/>
                    </a:solidFill>
                    <a:effectLst/>
                    <a:latin typeface="Segoe WPC"/>
                  </a:rPr>
                  <a:t>mutually</a:t>
                </a:r>
                <a:r>
                  <a:rPr lang="es-PE" sz="900" b="0" i="0" dirty="0">
                    <a:solidFill>
                      <a:schemeClr val="tx1"/>
                    </a:solidFill>
                    <a:effectLst/>
                    <a:latin typeface="Segoe WPC"/>
                  </a:rPr>
                  <a:t> exclusive, </a:t>
                </a:r>
                <a:r>
                  <a:rPr lang="es-PE" sz="900" b="0" i="0" dirty="0" err="1">
                    <a:solidFill>
                      <a:schemeClr val="tx1"/>
                    </a:solidFill>
                    <a:effectLst/>
                    <a:latin typeface="Segoe WPC"/>
                  </a:rPr>
                  <a:t>one</a:t>
                </a:r>
                <a:r>
                  <a:rPr lang="es-PE" sz="900" b="0" i="0" dirty="0">
                    <a:solidFill>
                      <a:schemeClr val="tx1"/>
                    </a:solidFill>
                    <a:effectLst/>
                    <a:latin typeface="Segoe WPC"/>
                  </a:rPr>
                  <a:t> happening rules </a:t>
                </a:r>
                <a:r>
                  <a:rPr lang="es-PE" sz="900" b="0" i="0" dirty="0" err="1">
                    <a:solidFill>
                      <a:schemeClr val="tx1"/>
                    </a:solidFill>
                    <a:effectLst/>
                    <a:latin typeface="Segoe WPC"/>
                  </a:rPr>
                  <a:t>out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a:t>
                </a:r>
                <a:br>
                  <a:rPr lang="es-PE" sz="900" dirty="0">
                    <a:solidFill>
                      <a:schemeClr val="tx1"/>
                    </a:solidFill>
                  </a:rPr>
                </a:br>
                <a:endParaRPr lang="es-PE" sz="900" dirty="0">
                  <a:solidFill>
                    <a:schemeClr val="tx1"/>
                  </a:solidFill>
                </a:endParaRPr>
              </a:p>
              <a:p>
                <a:pPr algn="l">
                  <a:spcAft>
                    <a:spcPts val="600"/>
                  </a:spcAft>
                  <a:buNone/>
                </a:pPr>
                <a:r>
                  <a:rPr lang="es-PE" sz="900" b="1" i="0" dirty="0">
                    <a:solidFill>
                      <a:schemeClr val="tx1"/>
                    </a:solidFill>
                    <a:effectLst/>
                    <a:latin typeface="Segoe WPC"/>
                  </a:rPr>
                  <a:t>8. </a:t>
                </a:r>
                <a:r>
                  <a:rPr lang="es-PE" sz="900" b="1" i="0" dirty="0" err="1">
                    <a:solidFill>
                      <a:schemeClr val="tx1"/>
                    </a:solidFill>
                    <a:effectLst/>
                    <a:latin typeface="Segoe WPC"/>
                  </a:rPr>
                  <a:t>Conditional</a:t>
                </a:r>
                <a:r>
                  <a:rPr lang="es-PE" sz="900" b="1" i="0" dirty="0">
                    <a:solidFill>
                      <a:schemeClr val="tx1"/>
                    </a:solidFill>
                    <a:effectLst/>
                    <a:latin typeface="Segoe WPC"/>
                  </a:rPr>
                  <a:t> Independence</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events</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be </a:t>
                </a:r>
                <a:r>
                  <a:rPr lang="es-PE" sz="900" b="0" i="0" dirty="0" err="1">
                    <a:solidFill>
                      <a:schemeClr val="tx1"/>
                    </a:solidFill>
                    <a:effectLst/>
                    <a:latin typeface="Segoe WPC"/>
                  </a:rPr>
                  <a:t>dependent</a:t>
                </a:r>
                <a:r>
                  <a:rPr lang="es-PE" sz="900" b="0" i="0" dirty="0">
                    <a:solidFill>
                      <a:schemeClr val="tx1"/>
                    </a:solidFill>
                    <a:effectLst/>
                    <a:latin typeface="Segoe WPC"/>
                  </a:rPr>
                  <a:t> </a:t>
                </a:r>
                <a:r>
                  <a:rPr lang="es-PE" sz="900" b="0" i="0" dirty="0" err="1">
                    <a:solidFill>
                      <a:schemeClr val="tx1"/>
                    </a:solidFill>
                    <a:effectLst/>
                    <a:latin typeface="Segoe WPC"/>
                  </a:rPr>
                  <a:t>overall</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independent</a:t>
                </a:r>
                <a:r>
                  <a:rPr lang="es-PE" sz="900" b="0" i="0" dirty="0">
                    <a:solidFill>
                      <a:schemeClr val="tx1"/>
                    </a:solidFill>
                    <a:effectLst/>
                    <a:latin typeface="Segoe WPC"/>
                  </a:rPr>
                  <a:t> once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condition</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 </a:t>
                </a:r>
                <a:r>
                  <a:rPr lang="es-PE" sz="900" b="0" i="0" dirty="0" err="1">
                    <a:solidFill>
                      <a:schemeClr val="tx1"/>
                    </a:solidFill>
                    <a:effectLst/>
                    <a:latin typeface="Segoe WPC"/>
                  </a:rPr>
                  <a:t>third</a:t>
                </a:r>
                <a:r>
                  <a:rPr lang="es-PE" sz="900" b="0" i="0" dirty="0">
                    <a:solidFill>
                      <a:schemeClr val="tx1"/>
                    </a:solidFill>
                    <a:effectLst/>
                    <a:latin typeface="Segoe WPC"/>
                  </a:rPr>
                  <a:t> </a:t>
                </a:r>
                <a:r>
                  <a:rPr lang="es-PE" sz="900" b="0" i="0" dirty="0" err="1">
                    <a:solidFill>
                      <a:schemeClr val="tx1"/>
                    </a:solidFill>
                    <a:effectLst/>
                    <a:latin typeface="Segoe WPC"/>
                  </a:rPr>
                  <a:t>event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endParaRPr lang="es-PE" sz="900" b="0" i="0" dirty="0">
                  <a:solidFill>
                    <a:schemeClr val="tx1"/>
                  </a:solidFill>
                  <a:effectLst/>
                  <a:latin typeface="Segoe WPC"/>
                </a:endParaRPr>
              </a:p>
              <a:p>
                <a:pPr algn="l">
                  <a:spcAft>
                    <a:spcPts val="600"/>
                  </a:spcAft>
                  <a:buNone/>
                </a:pP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𝐵</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𝐶</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𝐶</m:t>
                          </m:r>
                        </m:e>
                      </m:d>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𝐵</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𝐶</m:t>
                          </m:r>
                        </m:e>
                      </m:d>
                    </m:oMath>
                  </m:oMathPara>
                </a14:m>
                <a:endParaRPr lang="ar-AE" sz="900" b="0" i="0" dirty="0">
                  <a:solidFill>
                    <a:schemeClr val="tx1"/>
                  </a:solidFill>
                  <a:effectLst/>
                  <a:latin typeface="Segoe WPC"/>
                </a:endParaRPr>
              </a:p>
              <a:p>
                <a:pPr algn="l">
                  <a:spcAft>
                    <a:spcPts val="600"/>
                  </a:spcAft>
                  <a:buNone/>
                </a:pP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Very</a:t>
                </a:r>
                <a:r>
                  <a:rPr lang="es-PE" sz="900" b="0" i="0" dirty="0">
                    <a:solidFill>
                      <a:schemeClr val="tx1"/>
                    </a:solidFill>
                    <a:effectLst/>
                    <a:latin typeface="Segoe WPC"/>
                  </a:rPr>
                  <a:t> </a:t>
                </a:r>
                <a:r>
                  <a:rPr lang="es-PE" sz="900" b="0" i="0" dirty="0" err="1">
                    <a:solidFill>
                      <a:schemeClr val="tx1"/>
                    </a:solidFill>
                    <a:effectLst/>
                    <a:latin typeface="Segoe WPC"/>
                  </a:rPr>
                  <a:t>important</a:t>
                </a:r>
                <a:r>
                  <a:rPr lang="es-PE" sz="900" b="0" i="0" dirty="0">
                    <a:solidFill>
                      <a:schemeClr val="tx1"/>
                    </a:solidFill>
                    <a:effectLst/>
                    <a:latin typeface="Segoe WPC"/>
                  </a:rPr>
                  <a:t> in </a:t>
                </a:r>
                <a:r>
                  <a:rPr lang="es-PE" sz="900" b="0" i="0" dirty="0" err="1">
                    <a:solidFill>
                      <a:schemeClr val="tx1"/>
                    </a:solidFill>
                    <a:effectLst/>
                    <a:latin typeface="Segoe WPC"/>
                  </a:rPr>
                  <a:t>statistics</a:t>
                </a:r>
                <a:r>
                  <a:rPr lang="es-PE" sz="900" b="0" i="0" dirty="0">
                    <a:solidFill>
                      <a:schemeClr val="tx1"/>
                    </a:solidFill>
                    <a:effectLst/>
                    <a:latin typeface="Segoe WPC"/>
                  </a:rPr>
                  <a:t>, </a:t>
                </a:r>
                <a:r>
                  <a:rPr lang="es-PE" sz="900" b="0" i="0" dirty="0" err="1">
                    <a:solidFill>
                      <a:schemeClr val="tx1"/>
                    </a:solidFill>
                    <a:effectLst/>
                    <a:latin typeface="Segoe WPC"/>
                  </a:rPr>
                  <a:t>econometrics</a:t>
                </a:r>
                <a:r>
                  <a:rPr lang="es-PE" sz="900" b="0" i="0" dirty="0">
                    <a:solidFill>
                      <a:schemeClr val="tx1"/>
                    </a:solidFill>
                    <a:effectLst/>
                    <a:latin typeface="Segoe WPC"/>
                  </a:rPr>
                  <a:t>, and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modeling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Unconditional</a:t>
                </a:r>
                <a:r>
                  <a:rPr lang="es-PE" sz="900" b="0" i="0" dirty="0">
                    <a:solidFill>
                      <a:schemeClr val="tx1"/>
                    </a:solidFill>
                    <a:effectLst/>
                    <a:latin typeface="Segoe WPC"/>
                  </a:rPr>
                  <a:t> </a:t>
                </a:r>
                <a:r>
                  <a:rPr lang="es-PE" sz="900" b="0" i="0" dirty="0" err="1">
                    <a:solidFill>
                      <a:schemeClr val="tx1"/>
                    </a:solidFill>
                    <a:effectLst/>
                    <a:latin typeface="Segoe WPC"/>
                  </a:rPr>
                  <a:t>independence</a:t>
                </a:r>
                <a:r>
                  <a:rPr lang="es-PE" sz="900" b="0" i="0" dirty="0">
                    <a:solidFill>
                      <a:schemeClr val="tx1"/>
                    </a:solidFill>
                    <a:effectLst/>
                    <a:latin typeface="Segoe WPC"/>
                  </a:rPr>
                  <a:t> and </a:t>
                </a:r>
                <a:r>
                  <a:rPr lang="es-PE" sz="900" b="0" i="0" dirty="0" err="1">
                    <a:solidFill>
                      <a:schemeClr val="tx1"/>
                    </a:solidFill>
                    <a:effectLst/>
                    <a:latin typeface="Segoe WPC"/>
                  </a:rPr>
                  <a:t>conditional</a:t>
                </a:r>
                <a:r>
                  <a:rPr lang="es-PE" sz="900" b="0" i="0" dirty="0">
                    <a:solidFill>
                      <a:schemeClr val="tx1"/>
                    </a:solidFill>
                    <a:effectLst/>
                    <a:latin typeface="Segoe WPC"/>
                  </a:rPr>
                  <a:t> </a:t>
                </a:r>
                <a:r>
                  <a:rPr lang="es-PE" sz="900" b="0" i="0" dirty="0" err="1">
                    <a:solidFill>
                      <a:schemeClr val="tx1"/>
                    </a:solidFill>
                    <a:effectLst/>
                    <a:latin typeface="Segoe WPC"/>
                  </a:rPr>
                  <a:t>independence</a:t>
                </a:r>
                <a:r>
                  <a:rPr lang="es-PE" sz="900" b="0" i="0" dirty="0">
                    <a:solidFill>
                      <a:schemeClr val="tx1"/>
                    </a:solidFill>
                    <a:effectLst/>
                    <a:latin typeface="Segoe WPC"/>
                  </a:rPr>
                  <a:t> are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thing</a:t>
                </a:r>
                <a:r>
                  <a:rPr lang="es-PE" sz="900" b="0" i="0" dirty="0">
                    <a:solidFill>
                      <a:schemeClr val="tx1"/>
                    </a:solidFill>
                    <a:effectLst/>
                    <a:latin typeface="Segoe WPC"/>
                  </a:rPr>
                  <a:t>.</a:t>
                </a:r>
              </a:p>
              <a:p>
                <a:pPr>
                  <a:spcAft>
                    <a:spcPts val="600"/>
                  </a:spcAft>
                  <a:buNone/>
                </a:pPr>
                <a:br>
                  <a:rPr lang="es-PE" sz="900" dirty="0">
                    <a:solidFill>
                      <a:schemeClr val="tx1"/>
                    </a:solidFill>
                  </a:rPr>
                </a:br>
                <a:endParaRPr lang="es-PE" sz="900" dirty="0">
                  <a:solidFill>
                    <a:schemeClr val="tx1"/>
                  </a:solidFill>
                </a:endParaRPr>
              </a:p>
              <a:p>
                <a:pPr algn="l">
                  <a:spcAft>
                    <a:spcPts val="600"/>
                  </a:spcAft>
                  <a:buNone/>
                </a:pPr>
                <a:r>
                  <a:rPr lang="es-PE" sz="900" b="1" i="0" dirty="0">
                    <a:solidFill>
                      <a:schemeClr val="tx1"/>
                    </a:solidFill>
                    <a:effectLst/>
                    <a:latin typeface="Segoe WPC"/>
                  </a:rPr>
                  <a:t>9. Bayes’ Rule</a:t>
                </a:r>
                <a:br>
                  <a:rPr lang="es-PE" sz="900" b="0" i="0" dirty="0">
                    <a:solidFill>
                      <a:schemeClr val="tx1"/>
                    </a:solidFill>
                    <a:effectLst/>
                    <a:latin typeface="Segoe WPC"/>
                  </a:rPr>
                </a:br>
                <a:r>
                  <a:rPr lang="es-PE" sz="900" b="1" i="0" dirty="0">
                    <a:solidFill>
                      <a:schemeClr val="tx1"/>
                    </a:solidFill>
                    <a:effectLst/>
                    <a:latin typeface="Segoe WPC"/>
                  </a:rPr>
                  <a:t>Concept:</a:t>
                </a:r>
                <a:r>
                  <a:rPr lang="es-PE" sz="900" b="0" i="0" dirty="0">
                    <a:solidFill>
                      <a:schemeClr val="tx1"/>
                    </a:solidFill>
                    <a:effectLst/>
                    <a:latin typeface="Segoe WPC"/>
                  </a:rPr>
                  <a:t> Bayes’ rule reverses a </a:t>
                </a:r>
                <a:r>
                  <a:rPr lang="es-PE" sz="900" b="0" i="0" dirty="0" err="1">
                    <a:solidFill>
                      <a:schemeClr val="tx1"/>
                    </a:solidFill>
                    <a:effectLst/>
                    <a:latin typeface="Segoe WPC"/>
                  </a:rPr>
                  <a:t>conditional</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and </a:t>
                </a:r>
                <a:r>
                  <a:rPr lang="es-PE" sz="900" b="0" i="0" dirty="0" err="1">
                    <a:solidFill>
                      <a:schemeClr val="tx1"/>
                    </a:solidFill>
                    <a:effectLst/>
                    <a:latin typeface="Segoe WPC"/>
                  </a:rPr>
                  <a:t>updates</a:t>
                </a:r>
                <a:r>
                  <a:rPr lang="es-PE" sz="900" b="0" i="0" dirty="0">
                    <a:solidFill>
                      <a:schemeClr val="tx1"/>
                    </a:solidFill>
                    <a:effectLst/>
                    <a:latin typeface="Segoe WPC"/>
                  </a:rPr>
                  <a:t> </a:t>
                </a:r>
                <a:r>
                  <a:rPr lang="es-PE" sz="900" b="0" i="0" dirty="0" err="1">
                    <a:solidFill>
                      <a:schemeClr val="tx1"/>
                    </a:solidFill>
                    <a:effectLst/>
                    <a:latin typeface="Segoe WPC"/>
                  </a:rPr>
                  <a:t>beliefs</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new </a:t>
                </a:r>
                <a:r>
                  <a:rPr lang="es-PE" sz="900" b="0" i="0" dirty="0" err="1">
                    <a:solidFill>
                      <a:schemeClr val="tx1"/>
                    </a:solidFill>
                    <a:effectLst/>
                    <a:latin typeface="Segoe WPC"/>
                  </a:rPr>
                  <a:t>information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endParaRPr lang="es-PE" sz="900" b="0" i="0" dirty="0">
                  <a:solidFill>
                    <a:schemeClr val="tx1"/>
                  </a:solidFill>
                  <a:effectLst/>
                  <a:latin typeface="Segoe WPC"/>
                </a:endParaRPr>
              </a:p>
              <a:p>
                <a:pPr algn="l">
                  <a:spcAft>
                    <a:spcPts val="600"/>
                  </a:spcAft>
                  <a:buNone/>
                </a:pP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𝐵</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𝐴</m:t>
                          </m:r>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𝐵</m:t>
                              </m:r>
                            </m:e>
                          </m:d>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𝐵</m:t>
                              </m:r>
                            </m:e>
                          </m:d>
                        </m:num>
                        <m:den>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e>
                          </m:d>
                        </m:den>
                      </m:f>
                    </m:oMath>
                  </m:oMathPara>
                </a14:m>
                <a:endParaRPr lang="ar-AE" sz="900" b="0" i="0" dirty="0">
                  <a:solidFill>
                    <a:schemeClr val="tx1"/>
                  </a:solidFill>
                  <a:effectLst/>
                  <a:latin typeface="Segoe WPC"/>
                </a:endParaRPr>
              </a:p>
              <a:p>
                <a:pPr algn="l">
                  <a:spcAft>
                    <a:spcPts val="600"/>
                  </a:spcAft>
                  <a:buNone/>
                </a:pPr>
                <a:r>
                  <a:rPr lang="es-PE" sz="900" b="0" i="0" dirty="0" err="1">
                    <a:solidFill>
                      <a:schemeClr val="tx1"/>
                    </a:solidFill>
                    <a:effectLst/>
                    <a:latin typeface="Segoe WPC"/>
                  </a:rPr>
                  <a:t>With</a:t>
                </a:r>
                <a:r>
                  <a:rPr lang="es-PE" sz="900" b="0" i="0" dirty="0">
                    <a:solidFill>
                      <a:schemeClr val="tx1"/>
                    </a:solidFill>
                    <a:effectLst/>
                    <a:latin typeface="Segoe WPC"/>
                  </a:rPr>
                  <a:t> total </a:t>
                </a:r>
                <a:r>
                  <a:rPr lang="es-PE" sz="900" b="0" i="0" dirty="0" err="1">
                    <a:solidFill>
                      <a:schemeClr val="tx1"/>
                    </a:solidFill>
                    <a:effectLst/>
                    <a:latin typeface="Segoe WPC"/>
                  </a:rPr>
                  <a:t>probability</a:t>
                </a:r>
                <a:r>
                  <a:rPr lang="es-PE" sz="900" b="0" i="0" dirty="0">
                    <a:solidFill>
                      <a:schemeClr val="tx1"/>
                    </a:solidFill>
                    <a:effectLst/>
                    <a:latin typeface="Segoe WPC"/>
                  </a:rPr>
                  <a:t> in </a:t>
                </a:r>
                <a:r>
                  <a:rPr lang="es-PE" sz="900" b="0" i="0" dirty="0" err="1">
                    <a:solidFill>
                      <a:schemeClr val="tx1"/>
                    </a:solidFill>
                    <a:effectLst/>
                    <a:latin typeface="Segoe WPC"/>
                  </a:rPr>
                  <a:t>denominator</a:t>
                </a:r>
                <a:r>
                  <a:rPr lang="es-PE" sz="900" b="0" i="0" dirty="0">
                    <a:solidFill>
                      <a:schemeClr val="tx1"/>
                    </a:solidFill>
                    <a:effectLst/>
                    <a:latin typeface="Segoe WPC"/>
                  </a:rPr>
                  <a:t>:</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𝐵</m:t>
                          </m:r>
                        </m:e>
                      </m:d>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𝐵</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𝐵</m:t>
                              </m:r>
                            </m:e>
                            <m:sup>
                              <m:r>
                                <a:rPr lang="ar-AE" sz="900" i="1">
                                  <a:solidFill>
                                    <a:schemeClr val="tx1"/>
                                  </a:solidFill>
                                  <a:latin typeface="Cambria Math" panose="02040503050406030204" pitchFamily="18" charset="0"/>
                                </a:rPr>
                                <m:t>𝑐</m:t>
                              </m:r>
                            </m:sup>
                          </m:sSup>
                        </m:e>
                      </m:d>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𝐵</m:t>
                              </m:r>
                            </m:e>
                            <m:sup>
                              <m:r>
                                <a:rPr lang="ar-AE" sz="900" i="1">
                                  <a:solidFill>
                                    <a:schemeClr val="tx1"/>
                                  </a:solidFill>
                                  <a:latin typeface="Cambria Math" panose="02040503050406030204" pitchFamily="18" charset="0"/>
                                </a:rPr>
                                <m:t>𝑐</m:t>
                              </m:r>
                            </m:sup>
                          </m:sSup>
                        </m:e>
                      </m:d>
                    </m:oMath>
                  </m:oMathPara>
                </a14:m>
                <a:endParaRPr lang="ar-AE" sz="900" b="0" i="0" dirty="0">
                  <a:solidFill>
                    <a:schemeClr val="tx1"/>
                  </a:solidFill>
                  <a:effectLst/>
                  <a:latin typeface="Segoe WPC"/>
                </a:endParaRPr>
              </a:p>
              <a:p>
                <a:pPr algn="l">
                  <a:spcAft>
                    <a:spcPts val="600"/>
                  </a:spcAft>
                  <a:buNone/>
                </a:pP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It</a:t>
                </a:r>
                <a:r>
                  <a:rPr lang="es-PE" sz="900" b="1" i="0" dirty="0">
                    <a:solidFill>
                      <a:schemeClr val="tx1"/>
                    </a:solidFill>
                    <a:effectLst/>
                    <a:latin typeface="Segoe WPC"/>
                  </a:rPr>
                  <a:t> </a:t>
                </a:r>
                <a:r>
                  <a:rPr lang="es-PE" sz="900" b="1" i="0" dirty="0" err="1">
                    <a:solidFill>
                      <a:schemeClr val="tx1"/>
                    </a:solidFill>
                    <a:effectLst/>
                    <a:latin typeface="Segoe WPC"/>
                  </a:rPr>
                  <a:t>Matters</a:t>
                </a:r>
                <a:r>
                  <a:rPr lang="es-PE" sz="900" b="1" i="0" dirty="0">
                    <a:solidFill>
                      <a:schemeClr val="tx1"/>
                    </a:solidFill>
                    <a:effectLst/>
                    <a:latin typeface="Segoe WPC"/>
                  </a:rPr>
                  <a:t>:</a:t>
                </a:r>
                <a:r>
                  <a:rPr lang="es-PE" sz="900" b="0" i="0" dirty="0">
                    <a:solidFill>
                      <a:schemeClr val="tx1"/>
                    </a:solidFill>
                    <a:effectLst/>
                    <a:latin typeface="Segoe WPC"/>
                  </a:rPr>
                  <a:t> Bayes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formal rule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updating</a:t>
                </a:r>
                <a:r>
                  <a:rPr lang="es-PE" sz="900" b="0" i="0" dirty="0">
                    <a:solidFill>
                      <a:schemeClr val="tx1"/>
                    </a:solidFill>
                    <a:effectLst/>
                    <a:latin typeface="Segoe WPC"/>
                  </a:rPr>
                  <a:t> </a:t>
                </a:r>
                <a:r>
                  <a:rPr lang="es-PE" sz="900" b="0" i="0" dirty="0" err="1">
                    <a:solidFill>
                      <a:schemeClr val="tx1"/>
                    </a:solidFill>
                    <a:effectLst/>
                    <a:latin typeface="Segoe WPC"/>
                  </a:rPr>
                  <a:t>probabilities</a:t>
                </a:r>
                <a:r>
                  <a:rPr lang="es-PE" sz="900" b="0" i="0" dirty="0">
                    <a:solidFill>
                      <a:schemeClr val="tx1"/>
                    </a:solidFill>
                    <a:effectLst/>
                    <a:latin typeface="Segoe WPC"/>
                  </a:rPr>
                  <a:t> after </a:t>
                </a:r>
                <a:r>
                  <a:rPr lang="es-PE" sz="900" b="0" i="0" dirty="0" err="1">
                    <a:solidFill>
                      <a:schemeClr val="tx1"/>
                    </a:solidFill>
                    <a:effectLst/>
                    <a:latin typeface="Segoe WPC"/>
                  </a:rPr>
                  <a:t>observing</a:t>
                </a:r>
                <a:r>
                  <a:rPr lang="es-PE" sz="900" b="0" i="0" dirty="0">
                    <a:solidFill>
                      <a:schemeClr val="tx1"/>
                    </a:solidFill>
                    <a:effectLst/>
                    <a:latin typeface="Segoe WPC"/>
                  </a:rPr>
                  <a:t> data.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Students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confuse </a:t>
                </a:r>
                <a14:m>
                  <m:oMath xmlns:m="http://schemas.openxmlformats.org/officeDocument/2006/math">
                    <m:r>
                      <a:rPr lang="es-P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𝐵</m:t>
                        </m:r>
                      </m:e>
                    </m:d>
                  </m:oMath>
                </a14:m>
                <a:r>
                  <a:rPr lang="ar-A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𝐵</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𝐴</m:t>
                        </m:r>
                      </m:e>
                    </m:d>
                  </m:oMath>
                </a14:m>
                <a:r>
                  <a:rPr lang="ar-AE" sz="900" b="0" i="0" dirty="0">
                    <a:solidFill>
                      <a:schemeClr val="tx1"/>
                    </a:solidFill>
                    <a:effectLst/>
                    <a:latin typeface="Segoe WPC"/>
                  </a:rPr>
                  <a:t>.</a:t>
                </a:r>
              </a:p>
              <a:p>
                <a:pPr>
                  <a:spcAft>
                    <a:spcPts val="600"/>
                  </a:spcAft>
                  <a:buNone/>
                </a:pPr>
                <a:endParaRPr lang="es-PE" sz="900" b="0" i="0" dirty="0">
                  <a:solidFill>
                    <a:schemeClr val="tx1"/>
                  </a:solidFill>
                  <a:effectLst/>
                  <a:latin typeface="Segoe WPC"/>
                </a:endParaRPr>
              </a:p>
            </p:txBody>
          </p:sp>
        </mc:Choice>
        <mc:Fallback xmlns="">
          <p:sp>
            <p:nvSpPr>
              <p:cNvPr id="7" name="CuadroTexto 6">
                <a:extLst>
                  <a:ext uri="{FF2B5EF4-FFF2-40B4-BE49-F238E27FC236}">
                    <a16:creationId xmlns:a16="http://schemas.microsoft.com/office/drawing/2014/main" id="{FAF4032D-3838-9988-87E7-95B9321EE6FD}"/>
                  </a:ext>
                </a:extLst>
              </p:cNvPr>
              <p:cNvSpPr txBox="1">
                <a:spLocks noRot="1" noChangeAspect="1" noMove="1" noResize="1" noEditPoints="1" noAdjustHandles="1" noChangeArrowheads="1" noChangeShapeType="1" noTextEdit="1"/>
              </p:cNvSpPr>
              <p:nvPr/>
            </p:nvSpPr>
            <p:spPr>
              <a:xfrm>
                <a:off x="6317343" y="163042"/>
                <a:ext cx="6172200" cy="6992363"/>
              </a:xfrm>
              <a:prstGeom prst="rect">
                <a:avLst/>
              </a:prstGeom>
              <a:blipFill>
                <a:blip r:embed="rId3"/>
                <a:stretch>
                  <a:fillRect/>
                </a:stretch>
              </a:blipFill>
            </p:spPr>
            <p:txBody>
              <a:bodyPr/>
              <a:lstStyle/>
              <a:p>
                <a:r>
                  <a:rPr lang="es-PE">
                    <a:noFill/>
                  </a:rPr>
                  <a:t> </a:t>
                </a:r>
              </a:p>
            </p:txBody>
          </p:sp>
        </mc:Fallback>
      </mc:AlternateContent>
      <p:pic>
        <p:nvPicPr>
          <p:cNvPr id="9" name="Imagen 8">
            <a:extLst>
              <a:ext uri="{FF2B5EF4-FFF2-40B4-BE49-F238E27FC236}">
                <a16:creationId xmlns:a16="http://schemas.microsoft.com/office/drawing/2014/main" id="{5FEBC53B-F338-1117-1996-B3B3AA42D3AC}"/>
              </a:ext>
            </a:extLst>
          </p:cNvPr>
          <p:cNvPicPr>
            <a:picLocks noChangeAspect="1"/>
          </p:cNvPicPr>
          <p:nvPr/>
        </p:nvPicPr>
        <p:blipFill>
          <a:blip r:embed="rId4"/>
          <a:stretch>
            <a:fillRect/>
          </a:stretch>
        </p:blipFill>
        <p:spPr>
          <a:xfrm>
            <a:off x="3857802" y="2608063"/>
            <a:ext cx="2344402" cy="1450350"/>
          </a:xfrm>
          <a:prstGeom prst="rect">
            <a:avLst/>
          </a:prstGeom>
        </p:spPr>
      </p:pic>
    </p:spTree>
    <p:extLst>
      <p:ext uri="{BB962C8B-B14F-4D97-AF65-F5344CB8AC3E}">
        <p14:creationId xmlns:p14="http://schemas.microsoft.com/office/powerpoint/2010/main" val="2528679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ACEF2E-A075-8015-18BA-97F4F40818D4}"/>
              </a:ext>
            </a:extLst>
          </p:cNvPr>
          <p:cNvSpPr>
            <a:spLocks noGrp="1"/>
          </p:cNvSpPr>
          <p:nvPr>
            <p:ph type="title"/>
          </p:nvPr>
        </p:nvSpPr>
        <p:spPr>
          <a:xfrm>
            <a:off x="114868" y="146761"/>
            <a:ext cx="10515600" cy="542451"/>
          </a:xfrm>
        </p:spPr>
        <p:txBody>
          <a:bodyPr>
            <a:normAutofit fontScale="90000"/>
          </a:bodyPr>
          <a:lstStyle/>
          <a:p>
            <a:r>
              <a:rPr lang="en-US" dirty="0"/>
              <a:t>Random Variables</a:t>
            </a:r>
            <a:endParaRPr lang="es-PE"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F70D2ECD-AB55-340D-7E43-42E17BE145BC}"/>
                  </a:ext>
                </a:extLst>
              </p:cNvPr>
              <p:cNvSpPr txBox="1"/>
              <p:nvPr/>
            </p:nvSpPr>
            <p:spPr>
              <a:xfrm>
                <a:off x="114868" y="638423"/>
                <a:ext cx="6097136" cy="6072816"/>
              </a:xfrm>
              <a:prstGeom prst="rect">
                <a:avLst/>
              </a:prstGeom>
              <a:noFill/>
            </p:spPr>
            <p:txBody>
              <a:bodyPr wrap="square">
                <a:spAutoFit/>
              </a:bodyPr>
              <a:lstStyle/>
              <a:p>
                <a:pPr algn="l">
                  <a:spcAft>
                    <a:spcPts val="1200"/>
                  </a:spcAft>
                  <a:buNone/>
                </a:pPr>
                <a:r>
                  <a:rPr lang="es-PE" sz="800" b="1" i="0" dirty="0">
                    <a:solidFill>
                      <a:schemeClr val="tx1"/>
                    </a:solidFill>
                    <a:effectLst/>
                    <a:latin typeface="Segoe WPC"/>
                  </a:rPr>
                  <a:t>1. </a:t>
                </a:r>
                <a:r>
                  <a:rPr lang="es-PE" sz="800" b="1" i="0" dirty="0" err="1">
                    <a:solidFill>
                      <a:schemeClr val="tx1"/>
                    </a:solidFill>
                    <a:effectLst/>
                    <a:latin typeface="Segoe WPC"/>
                  </a:rPr>
                  <a:t>Random</a:t>
                </a:r>
                <a:r>
                  <a:rPr lang="es-PE" sz="800" b="1" i="0" dirty="0">
                    <a:solidFill>
                      <a:schemeClr val="tx1"/>
                    </a:solidFill>
                    <a:effectLst/>
                    <a:latin typeface="Segoe WPC"/>
                  </a:rPr>
                  <a:t> Variable</a:t>
                </a:r>
                <a:br>
                  <a:rPr lang="es-PE" sz="800" b="0" i="0" dirty="0">
                    <a:solidFill>
                      <a:schemeClr val="tx1"/>
                    </a:solidFill>
                    <a:effectLst/>
                    <a:latin typeface="Segoe WPC"/>
                  </a:rPr>
                </a:br>
                <a:r>
                  <a:rPr lang="es-PE" sz="800" b="1" i="0" dirty="0" err="1">
                    <a:solidFill>
                      <a:schemeClr val="tx1"/>
                    </a:solidFill>
                    <a:effectLst/>
                    <a:latin typeface="Segoe WPC"/>
                  </a:rPr>
                  <a:t>Statistical</a:t>
                </a:r>
                <a:r>
                  <a:rPr lang="es-PE" sz="800" b="1" i="0" dirty="0">
                    <a:solidFill>
                      <a:schemeClr val="tx1"/>
                    </a:solidFill>
                    <a:effectLst/>
                    <a:latin typeface="Segoe WPC"/>
                  </a:rPr>
                  <a:t> </a:t>
                </a:r>
                <a:r>
                  <a:rPr lang="es-PE" sz="800" b="1" i="0" dirty="0" err="1">
                    <a:solidFill>
                      <a:schemeClr val="tx1"/>
                    </a:solidFill>
                    <a:effectLst/>
                    <a:latin typeface="Segoe WPC"/>
                  </a:rPr>
                  <a:t>Object</a:t>
                </a:r>
                <a:r>
                  <a:rPr lang="es-PE" sz="800" b="1" i="0" dirty="0">
                    <a:solidFill>
                      <a:schemeClr val="tx1"/>
                    </a:solidFill>
                    <a:effectLst/>
                    <a:latin typeface="Segoe WPC"/>
                  </a:rPr>
                  <a:t>:</a:t>
                </a:r>
                <a:r>
                  <a:rPr lang="es-PE" sz="800" b="0" i="0" dirty="0">
                    <a:solidFill>
                      <a:schemeClr val="tx1"/>
                    </a:solidFill>
                    <a:effectLst/>
                    <a:latin typeface="Segoe WPC"/>
                  </a:rPr>
                  <a:t> A </a:t>
                </a:r>
                <a:r>
                  <a:rPr lang="es-PE" sz="800" b="0" i="0" dirty="0" err="1">
                    <a:solidFill>
                      <a:schemeClr val="tx1"/>
                    </a:solidFill>
                    <a:effectLst/>
                    <a:latin typeface="Segoe WPC"/>
                  </a:rPr>
                  <a:t>function</a:t>
                </a:r>
                <a:r>
                  <a:rPr lang="es-PE" sz="800" b="0" i="0" dirty="0">
                    <a:solidFill>
                      <a:schemeClr val="tx1"/>
                    </a:solidFill>
                    <a:effectLst/>
                    <a:latin typeface="Segoe WPC"/>
                  </a:rPr>
                  <a:t> </a:t>
                </a:r>
                <a:r>
                  <a:rPr lang="es-PE" sz="800" b="0" i="0" dirty="0" err="1">
                    <a:solidFill>
                      <a:schemeClr val="tx1"/>
                    </a:solidFill>
                    <a:effectLst/>
                    <a:latin typeface="Segoe WPC"/>
                  </a:rPr>
                  <a:t>that</a:t>
                </a:r>
                <a:r>
                  <a:rPr lang="es-PE" sz="800" b="0" i="0" dirty="0">
                    <a:solidFill>
                      <a:schemeClr val="tx1"/>
                    </a:solidFill>
                    <a:effectLst/>
                    <a:latin typeface="Segoe WPC"/>
                  </a:rPr>
                  <a:t> </a:t>
                </a:r>
                <a:r>
                  <a:rPr lang="es-PE" sz="800" b="0" i="0" dirty="0" err="1">
                    <a:solidFill>
                      <a:schemeClr val="tx1"/>
                    </a:solidFill>
                    <a:effectLst/>
                    <a:latin typeface="Segoe WPC"/>
                  </a:rPr>
                  <a:t>maps</a:t>
                </a:r>
                <a:r>
                  <a:rPr lang="es-PE" sz="800" b="0" i="0" dirty="0">
                    <a:solidFill>
                      <a:schemeClr val="tx1"/>
                    </a:solidFill>
                    <a:effectLst/>
                    <a:latin typeface="Segoe WPC"/>
                  </a:rPr>
                  <a:t> </a:t>
                </a:r>
                <a:r>
                  <a:rPr lang="es-PE" sz="800" b="0" i="0" dirty="0" err="1">
                    <a:solidFill>
                      <a:schemeClr val="tx1"/>
                    </a:solidFill>
                    <a:effectLst/>
                    <a:latin typeface="Segoe WPC"/>
                  </a:rPr>
                  <a:t>an</a:t>
                </a:r>
                <a:r>
                  <a:rPr lang="es-PE" sz="800" b="0" i="0" dirty="0">
                    <a:solidFill>
                      <a:schemeClr val="tx1"/>
                    </a:solidFill>
                    <a:effectLst/>
                    <a:latin typeface="Segoe WPC"/>
                  </a:rPr>
                  <a:t> </a:t>
                </a:r>
                <a:r>
                  <a:rPr lang="es-PE" sz="800" b="0" i="0" dirty="0" err="1">
                    <a:solidFill>
                      <a:schemeClr val="tx1"/>
                    </a:solidFill>
                    <a:effectLst/>
                    <a:latin typeface="Segoe WPC"/>
                  </a:rPr>
                  <a:t>outcome</a:t>
                </a:r>
                <a:r>
                  <a:rPr lang="es-PE" sz="800" b="0" i="0" dirty="0">
                    <a:solidFill>
                      <a:schemeClr val="tx1"/>
                    </a:solidFill>
                    <a:effectLst/>
                    <a:latin typeface="Segoe WPC"/>
                  </a:rPr>
                  <a:t> </a:t>
                </a:r>
                <a:r>
                  <a:rPr lang="es-PE" sz="800" b="0" i="0" dirty="0" err="1">
                    <a:solidFill>
                      <a:schemeClr val="tx1"/>
                    </a:solidFill>
                    <a:effectLst/>
                    <a:latin typeface="Segoe WPC"/>
                  </a:rPr>
                  <a:t>to</a:t>
                </a:r>
                <a:r>
                  <a:rPr lang="es-PE" sz="800" b="0" i="0" dirty="0">
                    <a:solidFill>
                      <a:schemeClr val="tx1"/>
                    </a:solidFill>
                    <a:effectLst/>
                    <a:latin typeface="Segoe WPC"/>
                  </a:rPr>
                  <a:t> a </a:t>
                </a:r>
                <a:r>
                  <a:rPr lang="es-PE" sz="800" b="0" i="0" dirty="0" err="1">
                    <a:solidFill>
                      <a:schemeClr val="tx1"/>
                    </a:solidFill>
                    <a:effectLst/>
                    <a:latin typeface="Segoe WPC"/>
                  </a:rPr>
                  <a:t>numerical</a:t>
                </a:r>
                <a:r>
                  <a:rPr lang="es-PE" sz="800" b="0" i="0" dirty="0">
                    <a:solidFill>
                      <a:schemeClr val="tx1"/>
                    </a:solidFill>
                    <a:effectLst/>
                    <a:latin typeface="Segoe WPC"/>
                  </a:rPr>
                  <a:t> </a:t>
                </a:r>
                <a:r>
                  <a:rPr lang="es-PE" sz="800" b="0" i="0" dirty="0" err="1">
                    <a:solidFill>
                      <a:schemeClr val="tx1"/>
                    </a:solidFill>
                    <a:effectLst/>
                    <a:latin typeface="Segoe WPC"/>
                  </a:rPr>
                  <a:t>value</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err="1">
                    <a:solidFill>
                      <a:schemeClr val="tx1"/>
                    </a:solidFill>
                    <a:effectLst/>
                    <a:latin typeface="Segoe WPC"/>
                  </a:rPr>
                  <a:t>Plain</a:t>
                </a:r>
                <a:r>
                  <a:rPr lang="es-PE" sz="800" b="1" i="0" dirty="0">
                    <a:solidFill>
                      <a:schemeClr val="tx1"/>
                    </a:solidFill>
                    <a:effectLst/>
                    <a:latin typeface="Segoe WPC"/>
                  </a:rPr>
                  <a:t>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It</a:t>
                </a:r>
                <a:r>
                  <a:rPr lang="es-PE" sz="800" b="0" i="0" dirty="0">
                    <a:solidFill>
                      <a:schemeClr val="tx1"/>
                    </a:solidFill>
                    <a:effectLst/>
                    <a:latin typeface="Segoe WPC"/>
                  </a:rPr>
                  <a:t> </a:t>
                </a:r>
                <a:r>
                  <a:rPr lang="es-PE" sz="800" b="0" i="0" dirty="0" err="1">
                    <a:solidFill>
                      <a:schemeClr val="tx1"/>
                    </a:solidFill>
                    <a:effectLst/>
                    <a:latin typeface="Segoe WPC"/>
                  </a:rPr>
                  <a:t>converts</a:t>
                </a:r>
                <a:r>
                  <a:rPr lang="es-PE" sz="800" b="0" i="0" dirty="0">
                    <a:solidFill>
                      <a:schemeClr val="tx1"/>
                    </a:solidFill>
                    <a:effectLst/>
                    <a:latin typeface="Segoe WPC"/>
                  </a:rPr>
                  <a:t> </a:t>
                </a:r>
                <a:r>
                  <a:rPr lang="es-PE" sz="800" b="0" i="0" dirty="0" err="1">
                    <a:solidFill>
                      <a:schemeClr val="tx1"/>
                    </a:solidFill>
                    <a:effectLst/>
                    <a:latin typeface="Segoe WPC"/>
                  </a:rPr>
                  <a:t>uncertainty</a:t>
                </a:r>
                <a:r>
                  <a:rPr lang="es-PE" sz="800" b="0" i="0" dirty="0">
                    <a:solidFill>
                      <a:schemeClr val="tx1"/>
                    </a:solidFill>
                    <a:effectLst/>
                    <a:latin typeface="Segoe WPC"/>
                  </a:rPr>
                  <a:t> </a:t>
                </a:r>
                <a:r>
                  <a:rPr lang="es-PE" sz="800" b="0" i="0" dirty="0" err="1">
                    <a:solidFill>
                      <a:schemeClr val="tx1"/>
                    </a:solidFill>
                    <a:effectLst/>
                    <a:latin typeface="Segoe WPC"/>
                  </a:rPr>
                  <a:t>into</a:t>
                </a:r>
                <a:r>
                  <a:rPr lang="es-PE" sz="800" b="0" i="0" dirty="0">
                    <a:solidFill>
                      <a:schemeClr val="tx1"/>
                    </a:solidFill>
                    <a:effectLst/>
                    <a:latin typeface="Segoe WPC"/>
                  </a:rPr>
                  <a:t> </a:t>
                </a:r>
                <a:r>
                  <a:rPr lang="es-PE" sz="800" b="0" i="0" dirty="0" err="1">
                    <a:solidFill>
                      <a:schemeClr val="tx1"/>
                    </a:solidFill>
                    <a:effectLst/>
                    <a:latin typeface="Segoe WPC"/>
                  </a:rPr>
                  <a:t>numbers</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a:solidFill>
                      <a:schemeClr val="tx1"/>
                    </a:solidFill>
                    <a:effectLst/>
                    <a:latin typeface="Segoe WPC"/>
                  </a:rPr>
                  <a:t>Visual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Outcome</a:t>
                </a:r>
                <a:r>
                  <a:rPr lang="es-PE" sz="800" b="0" i="0" dirty="0">
                    <a:solidFill>
                      <a:schemeClr val="tx1"/>
                    </a:solidFill>
                    <a:effectLst/>
                    <a:latin typeface="Segoe WPC"/>
                  </a:rPr>
                  <a:t> </a:t>
                </a:r>
                <a14:m>
                  <m:oMath xmlns:m="http://schemas.openxmlformats.org/officeDocument/2006/math">
                    <m:r>
                      <a:rPr lang="es-PE" sz="800" i="1">
                        <a:solidFill>
                          <a:schemeClr val="tx1"/>
                        </a:solidFill>
                        <a:latin typeface="Cambria Math" panose="02040503050406030204" pitchFamily="18" charset="0"/>
                      </a:rPr>
                      <m:t>𝜔</m:t>
                    </m:r>
                    <m:r>
                      <a:rPr lang="es-PE" sz="800" i="0">
                        <a:solidFill>
                          <a:schemeClr val="tx1"/>
                        </a:solidFill>
                        <a:latin typeface="Cambria Math" panose="02040503050406030204" pitchFamily="18" charset="0"/>
                      </a:rPr>
                      <m:t>→</m:t>
                    </m:r>
                  </m:oMath>
                </a14:m>
                <a:r>
                  <a:rPr lang="es-PE" sz="800" b="0" i="0" dirty="0">
                    <a:solidFill>
                      <a:schemeClr val="tx1"/>
                    </a:solidFill>
                    <a:effectLst/>
                    <a:latin typeface="Segoe WPC"/>
                  </a:rPr>
                  <a:t> </a:t>
                </a:r>
                <a:r>
                  <a:rPr lang="es-PE" sz="800" b="0" i="0" dirty="0" err="1">
                    <a:solidFill>
                      <a:schemeClr val="tx1"/>
                    </a:solidFill>
                    <a:effectLst/>
                    <a:latin typeface="Segoe WPC"/>
                  </a:rPr>
                  <a:t>number</a:t>
                </a:r>
                <a:r>
                  <a:rPr lang="es-PE" sz="800" b="0" i="0" dirty="0">
                    <a:solidFill>
                      <a:schemeClr val="tx1"/>
                    </a:solidFill>
                    <a:effectLst/>
                    <a:latin typeface="Segoe WPC"/>
                  </a:rPr>
                  <a:t> </a:t>
                </a:r>
                <a14:m>
                  <m:oMath xmlns:m="http://schemas.openxmlformats.org/officeDocument/2006/math">
                    <m:r>
                      <a:rPr lang="es-PE" sz="800" i="1">
                        <a:solidFill>
                          <a:schemeClr val="tx1"/>
                        </a:solidFill>
                        <a:latin typeface="Cambria Math" panose="02040503050406030204" pitchFamily="18" charset="0"/>
                      </a:rPr>
                      <m:t>𝑥</m:t>
                    </m:r>
                  </m:oMath>
                </a14:m>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a:solidFill>
                      <a:schemeClr val="tx1"/>
                    </a:solidFill>
                    <a:effectLst/>
                    <a:latin typeface="Segoe WPC"/>
                  </a:rPr>
                  <a:t>Key Formula:</a:t>
                </a:r>
                <a:r>
                  <a:rPr lang="es-PE" sz="800" b="0" i="0" dirty="0">
                    <a:solidFill>
                      <a:schemeClr val="tx1"/>
                    </a:solidFill>
                    <a:effectLst/>
                    <a:latin typeface="Segoe WPC"/>
                  </a:rPr>
                  <a:t> </a:t>
                </a:r>
                <a14:m>
                  <m:oMath xmlns:m="http://schemas.openxmlformats.org/officeDocument/2006/math">
                    <m:r>
                      <a:rPr lang="es-PE" sz="800" i="1">
                        <a:solidFill>
                          <a:schemeClr val="tx1"/>
                        </a:solidFill>
                        <a:latin typeface="Cambria Math" panose="02040503050406030204" pitchFamily="18" charset="0"/>
                      </a:rPr>
                      <m:t>𝑥</m:t>
                    </m:r>
                    <m:r>
                      <a:rPr lang="es-PE" sz="800" i="0">
                        <a:solidFill>
                          <a:schemeClr val="tx1"/>
                        </a:solidFill>
                        <a:latin typeface="Cambria Math" panose="02040503050406030204" pitchFamily="18" charset="0"/>
                      </a:rPr>
                      <m:t>=</m:t>
                    </m:r>
                    <m:r>
                      <a:rPr lang="es-PE" sz="800" i="1">
                        <a:solidFill>
                          <a:schemeClr val="tx1"/>
                        </a:solidFill>
                        <a:latin typeface="Cambria Math" panose="02040503050406030204" pitchFamily="18" charset="0"/>
                      </a:rPr>
                      <m:t>𝑋</m:t>
                    </m:r>
                    <m:d>
                      <m:dPr>
                        <m:ctrlPr>
                          <a:rPr lang="ar-AE" sz="800" i="1">
                            <a:solidFill>
                              <a:schemeClr val="tx1"/>
                            </a:solidFill>
                            <a:latin typeface="Cambria Math" panose="02040503050406030204" pitchFamily="18" charset="0"/>
                          </a:rPr>
                        </m:ctrlPr>
                      </m:dPr>
                      <m:e>
                        <m:r>
                          <a:rPr lang="ar-AE" sz="800" i="1">
                            <a:solidFill>
                              <a:schemeClr val="tx1"/>
                            </a:solidFill>
                            <a:latin typeface="Cambria Math" panose="02040503050406030204" pitchFamily="18" charset="0"/>
                          </a:rPr>
                          <m:t>𝜔</m:t>
                        </m:r>
                      </m:e>
                    </m:d>
                  </m:oMath>
                </a14:m>
                <a:br>
                  <a:rPr lang="ar-AE" sz="800" b="0" i="0" dirty="0">
                    <a:solidFill>
                      <a:schemeClr val="tx1"/>
                    </a:solidFill>
                    <a:effectLst/>
                    <a:latin typeface="Segoe WPC"/>
                  </a:rPr>
                </a:br>
                <a:r>
                  <a:rPr lang="es-PE" sz="800" b="1" i="0" dirty="0" err="1">
                    <a:solidFill>
                      <a:schemeClr val="tx1"/>
                    </a:solidFill>
                    <a:effectLst/>
                    <a:latin typeface="Segoe WPC"/>
                  </a:rPr>
                  <a:t>Interpretation</a:t>
                </a:r>
                <a:r>
                  <a:rPr lang="es-PE" sz="800" b="1" i="0" dirty="0">
                    <a:solidFill>
                      <a:schemeClr val="tx1"/>
                    </a:solidFill>
                    <a:effectLst/>
                    <a:latin typeface="Segoe WPC"/>
                  </a:rPr>
                  <a:t>:</a:t>
                </a:r>
                <a:r>
                  <a:rPr lang="es-PE" sz="800" b="0" i="0" dirty="0">
                    <a:solidFill>
                      <a:schemeClr val="tx1"/>
                    </a:solidFill>
                    <a:effectLst/>
                    <a:latin typeface="Segoe WPC"/>
                  </a:rPr>
                  <a:t> </a:t>
                </a:r>
                <a14:m>
                  <m:oMath xmlns:m="http://schemas.openxmlformats.org/officeDocument/2006/math">
                    <m:r>
                      <a:rPr lang="es-PE" sz="800" i="1">
                        <a:solidFill>
                          <a:schemeClr val="tx1"/>
                        </a:solidFill>
                        <a:latin typeface="Cambria Math" panose="02040503050406030204" pitchFamily="18" charset="0"/>
                      </a:rPr>
                      <m:t>𝑋</m:t>
                    </m:r>
                  </m:oMath>
                </a14:m>
                <a:r>
                  <a:rPr lang="es-PE" sz="800" b="0" i="0" dirty="0">
                    <a:solidFill>
                      <a:schemeClr val="tx1"/>
                    </a:solidFill>
                    <a:effectLst/>
                    <a:latin typeface="Segoe WPC"/>
                  </a:rPr>
                  <a:t> </a:t>
                </a:r>
                <a:r>
                  <a:rPr lang="es-PE" sz="800" b="0" i="0" dirty="0" err="1">
                    <a:solidFill>
                      <a:schemeClr val="tx1"/>
                    </a:solidFill>
                    <a:effectLst/>
                    <a:latin typeface="Segoe WPC"/>
                  </a:rPr>
                  <a:t>is</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a:t>
                </a:r>
                <a:r>
                  <a:rPr lang="es-PE" sz="800" b="0" i="0" dirty="0" err="1">
                    <a:solidFill>
                      <a:schemeClr val="tx1"/>
                    </a:solidFill>
                    <a:effectLst/>
                    <a:latin typeface="Segoe WPC"/>
                  </a:rPr>
                  <a:t>random</a:t>
                </a:r>
                <a:r>
                  <a:rPr lang="es-PE" sz="800" b="0" i="0" dirty="0">
                    <a:solidFill>
                      <a:schemeClr val="tx1"/>
                    </a:solidFill>
                    <a:effectLst/>
                    <a:latin typeface="Segoe WPC"/>
                  </a:rPr>
                  <a:t> variable; </a:t>
                </a:r>
                <a14:m>
                  <m:oMath xmlns:m="http://schemas.openxmlformats.org/officeDocument/2006/math">
                    <m:r>
                      <a:rPr lang="es-PE" sz="800" i="1">
                        <a:solidFill>
                          <a:schemeClr val="tx1"/>
                        </a:solidFill>
                        <a:latin typeface="Cambria Math" panose="02040503050406030204" pitchFamily="18" charset="0"/>
                      </a:rPr>
                      <m:t>𝑥</m:t>
                    </m:r>
                  </m:oMath>
                </a14:m>
                <a:r>
                  <a:rPr lang="es-PE" sz="800" b="0" i="0" dirty="0">
                    <a:solidFill>
                      <a:schemeClr val="tx1"/>
                    </a:solidFill>
                    <a:effectLst/>
                    <a:latin typeface="Segoe WPC"/>
                  </a:rPr>
                  <a:t> </a:t>
                </a:r>
                <a:r>
                  <a:rPr lang="es-PE" sz="800" b="0" i="0" dirty="0" err="1">
                    <a:solidFill>
                      <a:schemeClr val="tx1"/>
                    </a:solidFill>
                    <a:effectLst/>
                    <a:latin typeface="Segoe WPC"/>
                  </a:rPr>
                  <a:t>is</a:t>
                </a:r>
                <a:r>
                  <a:rPr lang="es-PE" sz="800" b="0" i="0" dirty="0">
                    <a:solidFill>
                      <a:schemeClr val="tx1"/>
                    </a:solidFill>
                    <a:effectLst/>
                    <a:latin typeface="Segoe WPC"/>
                  </a:rPr>
                  <a:t> </a:t>
                </a:r>
                <a:r>
                  <a:rPr lang="es-PE" sz="800" b="0" i="0" dirty="0" err="1">
                    <a:solidFill>
                      <a:schemeClr val="tx1"/>
                    </a:solidFill>
                    <a:effectLst/>
                    <a:latin typeface="Segoe WPC"/>
                  </a:rPr>
                  <a:t>one</a:t>
                </a:r>
                <a:r>
                  <a:rPr lang="es-PE" sz="800" b="0" i="0" dirty="0">
                    <a:solidFill>
                      <a:schemeClr val="tx1"/>
                    </a:solidFill>
                    <a:effectLst/>
                    <a:latin typeface="Segoe WPC"/>
                  </a:rPr>
                  <a:t> </a:t>
                </a:r>
                <a:r>
                  <a:rPr lang="es-PE" sz="800" b="0" i="0" dirty="0" err="1">
                    <a:solidFill>
                      <a:schemeClr val="tx1"/>
                    </a:solidFill>
                    <a:effectLst/>
                    <a:latin typeface="Segoe WPC"/>
                  </a:rPr>
                  <a:t>realized</a:t>
                </a:r>
                <a:r>
                  <a:rPr lang="es-PE" sz="800" b="0" i="0" dirty="0">
                    <a:solidFill>
                      <a:schemeClr val="tx1"/>
                    </a:solidFill>
                    <a:effectLst/>
                    <a:latin typeface="Segoe WPC"/>
                  </a:rPr>
                  <a:t> </a:t>
                </a:r>
                <a:r>
                  <a:rPr lang="es-PE" sz="800" b="0" i="0" dirty="0" err="1">
                    <a:solidFill>
                      <a:schemeClr val="tx1"/>
                    </a:solidFill>
                    <a:effectLst/>
                    <a:latin typeface="Segoe WPC"/>
                  </a:rPr>
                  <a:t>value</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err="1">
                    <a:solidFill>
                      <a:schemeClr val="tx1"/>
                    </a:solidFill>
                    <a:effectLst/>
                    <a:latin typeface="Segoe WPC"/>
                  </a:rPr>
                  <a:t>Exam</a:t>
                </a:r>
                <a:r>
                  <a:rPr lang="es-PE" sz="800" b="1" i="0" dirty="0">
                    <a:solidFill>
                      <a:schemeClr val="tx1"/>
                    </a:solidFill>
                    <a:effectLst/>
                    <a:latin typeface="Segoe WPC"/>
                  </a:rPr>
                  <a:t> </a:t>
                </a:r>
                <a:r>
                  <a:rPr lang="es-PE" sz="800" b="1" i="0" dirty="0" err="1">
                    <a:solidFill>
                      <a:schemeClr val="tx1"/>
                    </a:solidFill>
                    <a:effectLst/>
                    <a:latin typeface="Segoe WPC"/>
                  </a:rPr>
                  <a:t>Trap</a:t>
                </a:r>
                <a:r>
                  <a:rPr lang="es-PE" sz="800" b="1" i="0" dirty="0">
                    <a:solidFill>
                      <a:schemeClr val="tx1"/>
                    </a:solidFill>
                    <a:effectLst/>
                    <a:latin typeface="Segoe WPC"/>
                  </a:rPr>
                  <a:t>:</a:t>
                </a:r>
                <a:r>
                  <a:rPr lang="es-PE" sz="800" b="0" i="0" dirty="0">
                    <a:solidFill>
                      <a:schemeClr val="tx1"/>
                    </a:solidFill>
                    <a:effectLst/>
                    <a:latin typeface="Segoe WPC"/>
                  </a:rPr>
                  <a:t> Do </a:t>
                </a:r>
                <a:r>
                  <a:rPr lang="es-PE" sz="800" b="0" i="0" dirty="0" err="1">
                    <a:solidFill>
                      <a:schemeClr val="tx1"/>
                    </a:solidFill>
                    <a:effectLst/>
                    <a:latin typeface="Segoe WPC"/>
                  </a:rPr>
                  <a:t>not</a:t>
                </a:r>
                <a:r>
                  <a:rPr lang="es-PE" sz="800" b="0" i="0" dirty="0">
                    <a:solidFill>
                      <a:schemeClr val="tx1"/>
                    </a:solidFill>
                    <a:effectLst/>
                    <a:latin typeface="Segoe WPC"/>
                  </a:rPr>
                  <a:t> confuse </a:t>
                </a:r>
                <a:r>
                  <a:rPr lang="es-PE" sz="800" b="0" i="0" dirty="0" err="1">
                    <a:solidFill>
                      <a:schemeClr val="tx1"/>
                    </a:solidFill>
                    <a:effectLst/>
                    <a:latin typeface="Segoe WPC"/>
                  </a:rPr>
                  <a:t>the</a:t>
                </a:r>
                <a:r>
                  <a:rPr lang="es-PE" sz="800" b="0" i="0" dirty="0">
                    <a:solidFill>
                      <a:schemeClr val="tx1"/>
                    </a:solidFill>
                    <a:effectLst/>
                    <a:latin typeface="Segoe WPC"/>
                  </a:rPr>
                  <a:t> </a:t>
                </a:r>
                <a:r>
                  <a:rPr lang="es-PE" sz="800" b="0" i="0" dirty="0" err="1">
                    <a:solidFill>
                      <a:schemeClr val="tx1"/>
                    </a:solidFill>
                    <a:effectLst/>
                    <a:latin typeface="Segoe WPC"/>
                  </a:rPr>
                  <a:t>random</a:t>
                </a:r>
                <a:r>
                  <a:rPr lang="es-PE" sz="800" b="0" i="0" dirty="0">
                    <a:solidFill>
                      <a:schemeClr val="tx1"/>
                    </a:solidFill>
                    <a:effectLst/>
                    <a:latin typeface="Segoe WPC"/>
                  </a:rPr>
                  <a:t> variable </a:t>
                </a:r>
                <a:r>
                  <a:rPr lang="es-PE" sz="800" b="0" i="0" dirty="0" err="1">
                    <a:solidFill>
                      <a:schemeClr val="tx1"/>
                    </a:solidFill>
                    <a:effectLst/>
                    <a:latin typeface="Segoe WPC"/>
                  </a:rPr>
                  <a:t>with</a:t>
                </a:r>
                <a:r>
                  <a:rPr lang="es-PE" sz="800" b="0" i="0" dirty="0">
                    <a:solidFill>
                      <a:schemeClr val="tx1"/>
                    </a:solidFill>
                    <a:effectLst/>
                    <a:latin typeface="Segoe WPC"/>
                  </a:rPr>
                  <a:t> </a:t>
                </a:r>
                <a:r>
                  <a:rPr lang="es-PE" sz="800" b="0" i="0" dirty="0" err="1">
                    <a:solidFill>
                      <a:schemeClr val="tx1"/>
                    </a:solidFill>
                    <a:effectLst/>
                    <a:latin typeface="Segoe WPC"/>
                  </a:rPr>
                  <a:t>its</a:t>
                </a:r>
                <a:r>
                  <a:rPr lang="es-PE" sz="800" b="0" i="0" dirty="0">
                    <a:solidFill>
                      <a:schemeClr val="tx1"/>
                    </a:solidFill>
                    <a:effectLst/>
                    <a:latin typeface="Segoe WPC"/>
                  </a:rPr>
                  <a:t> </a:t>
                </a:r>
                <a:r>
                  <a:rPr lang="es-PE" sz="800" b="0" i="0" dirty="0" err="1">
                    <a:solidFill>
                      <a:schemeClr val="tx1"/>
                    </a:solidFill>
                    <a:effectLst/>
                    <a:latin typeface="Segoe WPC"/>
                  </a:rPr>
                  <a:t>realization</a:t>
                </a:r>
                <a:r>
                  <a:rPr lang="es-PE" sz="800" b="0" i="0" dirty="0">
                    <a:solidFill>
                      <a:schemeClr val="tx1"/>
                    </a:solidFill>
                    <a:effectLst/>
                    <a:latin typeface="Segoe WPC"/>
                  </a:rPr>
                  <a:t>.</a:t>
                </a:r>
              </a:p>
              <a:p>
                <a:pPr algn="l">
                  <a:spcAft>
                    <a:spcPts val="1200"/>
                  </a:spcAft>
                  <a:buNone/>
                </a:pPr>
                <a:r>
                  <a:rPr lang="es-PE" sz="800" b="1" i="0" dirty="0">
                    <a:solidFill>
                      <a:schemeClr val="tx1"/>
                    </a:solidFill>
                    <a:effectLst/>
                    <a:latin typeface="Segoe WPC"/>
                  </a:rPr>
                  <a:t>2. Discrete vs </a:t>
                </a:r>
                <a:r>
                  <a:rPr lang="es-PE" sz="800" b="1" i="0" dirty="0" err="1">
                    <a:solidFill>
                      <a:schemeClr val="tx1"/>
                    </a:solidFill>
                    <a:effectLst/>
                    <a:latin typeface="Segoe WPC"/>
                  </a:rPr>
                  <a:t>Continuous</a:t>
                </a:r>
                <a:r>
                  <a:rPr lang="es-PE" sz="800" b="1" i="0" dirty="0">
                    <a:solidFill>
                      <a:schemeClr val="tx1"/>
                    </a:solidFill>
                    <a:effectLst/>
                    <a:latin typeface="Segoe WPC"/>
                  </a:rPr>
                  <a:t> </a:t>
                </a:r>
                <a:r>
                  <a:rPr lang="es-PE" sz="800" b="1" i="0" dirty="0" err="1">
                    <a:solidFill>
                      <a:schemeClr val="tx1"/>
                    </a:solidFill>
                    <a:effectLst/>
                    <a:latin typeface="Segoe WPC"/>
                  </a:rPr>
                  <a:t>Random</a:t>
                </a:r>
                <a:r>
                  <a:rPr lang="es-PE" sz="800" b="1" i="0" dirty="0">
                    <a:solidFill>
                      <a:schemeClr val="tx1"/>
                    </a:solidFill>
                    <a:effectLst/>
                    <a:latin typeface="Segoe WPC"/>
                  </a:rPr>
                  <a:t> Variables</a:t>
                </a:r>
                <a:br>
                  <a:rPr lang="es-PE" sz="800" b="0" i="0" dirty="0">
                    <a:solidFill>
                      <a:schemeClr val="tx1"/>
                    </a:solidFill>
                    <a:effectLst/>
                    <a:latin typeface="Segoe WPC"/>
                  </a:rPr>
                </a:br>
                <a:r>
                  <a:rPr lang="es-PE" sz="800" b="1" i="0" dirty="0" err="1">
                    <a:solidFill>
                      <a:schemeClr val="tx1"/>
                    </a:solidFill>
                    <a:effectLst/>
                    <a:latin typeface="Segoe WPC"/>
                  </a:rPr>
                  <a:t>Statistical</a:t>
                </a:r>
                <a:r>
                  <a:rPr lang="es-PE" sz="800" b="1" i="0" dirty="0">
                    <a:solidFill>
                      <a:schemeClr val="tx1"/>
                    </a:solidFill>
                    <a:effectLst/>
                    <a:latin typeface="Segoe WPC"/>
                  </a:rPr>
                  <a:t> </a:t>
                </a:r>
                <a:r>
                  <a:rPr lang="es-PE" sz="800" b="1" i="0" dirty="0" err="1">
                    <a:solidFill>
                      <a:schemeClr val="tx1"/>
                    </a:solidFill>
                    <a:effectLst/>
                    <a:latin typeface="Segoe WPC"/>
                  </a:rPr>
                  <a:t>Object</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Two</a:t>
                </a:r>
                <a:r>
                  <a:rPr lang="es-PE" sz="800" b="0" i="0" dirty="0">
                    <a:solidFill>
                      <a:schemeClr val="tx1"/>
                    </a:solidFill>
                    <a:effectLst/>
                    <a:latin typeface="Segoe WPC"/>
                  </a:rPr>
                  <a:t> </a:t>
                </a:r>
                <a:r>
                  <a:rPr lang="es-PE" sz="800" b="0" i="0" dirty="0" err="1">
                    <a:solidFill>
                      <a:schemeClr val="tx1"/>
                    </a:solidFill>
                    <a:effectLst/>
                    <a:latin typeface="Segoe WPC"/>
                  </a:rPr>
                  <a:t>main</a:t>
                </a:r>
                <a:r>
                  <a:rPr lang="es-PE" sz="800" b="0" i="0" dirty="0">
                    <a:solidFill>
                      <a:schemeClr val="tx1"/>
                    </a:solidFill>
                    <a:effectLst/>
                    <a:latin typeface="Segoe WPC"/>
                  </a:rPr>
                  <a:t> </a:t>
                </a:r>
                <a:r>
                  <a:rPr lang="es-PE" sz="800" b="0" i="0" dirty="0" err="1">
                    <a:solidFill>
                      <a:schemeClr val="tx1"/>
                    </a:solidFill>
                    <a:effectLst/>
                    <a:latin typeface="Segoe WPC"/>
                  </a:rPr>
                  <a:t>classes</a:t>
                </a:r>
                <a:r>
                  <a:rPr lang="es-PE" sz="800" b="0" i="0" dirty="0">
                    <a:solidFill>
                      <a:schemeClr val="tx1"/>
                    </a:solidFill>
                    <a:effectLst/>
                    <a:latin typeface="Segoe WPC"/>
                  </a:rPr>
                  <a:t> </a:t>
                </a:r>
                <a:r>
                  <a:rPr lang="es-PE" sz="800" b="0" i="0" dirty="0" err="1">
                    <a:solidFill>
                      <a:schemeClr val="tx1"/>
                    </a:solidFill>
                    <a:effectLst/>
                    <a:latin typeface="Segoe WPC"/>
                  </a:rPr>
                  <a:t>of</a:t>
                </a:r>
                <a:r>
                  <a:rPr lang="es-PE" sz="800" b="0" i="0" dirty="0">
                    <a:solidFill>
                      <a:schemeClr val="tx1"/>
                    </a:solidFill>
                    <a:effectLst/>
                    <a:latin typeface="Segoe WPC"/>
                  </a:rPr>
                  <a:t> </a:t>
                </a:r>
                <a:r>
                  <a:rPr lang="es-PE" sz="800" b="0" i="0" dirty="0" err="1">
                    <a:solidFill>
                      <a:schemeClr val="tx1"/>
                    </a:solidFill>
                    <a:effectLst/>
                    <a:latin typeface="Segoe WPC"/>
                  </a:rPr>
                  <a:t>random</a:t>
                </a:r>
                <a:r>
                  <a:rPr lang="es-PE" sz="800" b="0" i="0" dirty="0">
                    <a:solidFill>
                      <a:schemeClr val="tx1"/>
                    </a:solidFill>
                    <a:effectLst/>
                    <a:latin typeface="Segoe WPC"/>
                  </a:rPr>
                  <a:t> variables.</a:t>
                </a:r>
                <a:br>
                  <a:rPr lang="es-PE" sz="800" b="0" i="0" dirty="0">
                    <a:solidFill>
                      <a:schemeClr val="tx1"/>
                    </a:solidFill>
                    <a:effectLst/>
                    <a:latin typeface="Segoe WPC"/>
                  </a:rPr>
                </a:br>
                <a:r>
                  <a:rPr lang="es-PE" sz="800" b="1" i="0" dirty="0" err="1">
                    <a:solidFill>
                      <a:schemeClr val="tx1"/>
                    </a:solidFill>
                    <a:effectLst/>
                    <a:latin typeface="Segoe WPC"/>
                  </a:rPr>
                  <a:t>Plain</a:t>
                </a:r>
                <a:r>
                  <a:rPr lang="es-PE" sz="800" b="1" i="0" dirty="0">
                    <a:solidFill>
                      <a:schemeClr val="tx1"/>
                    </a:solidFill>
                    <a:effectLst/>
                    <a:latin typeface="Segoe WPC"/>
                  </a:rPr>
                  <a:t>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Discrete variables </a:t>
                </a:r>
                <a:r>
                  <a:rPr lang="es-PE" sz="800" b="0" i="0" dirty="0" err="1">
                    <a:solidFill>
                      <a:schemeClr val="tx1"/>
                    </a:solidFill>
                    <a:effectLst/>
                    <a:latin typeface="Segoe WPC"/>
                  </a:rPr>
                  <a:t>jump</a:t>
                </a:r>
                <a:r>
                  <a:rPr lang="es-PE" sz="800" b="0" i="0" dirty="0">
                    <a:solidFill>
                      <a:schemeClr val="tx1"/>
                    </a:solidFill>
                    <a:effectLst/>
                    <a:latin typeface="Segoe WPC"/>
                  </a:rPr>
                  <a:t> </a:t>
                </a:r>
                <a:r>
                  <a:rPr lang="es-PE" sz="800" b="0" i="0" dirty="0" err="1">
                    <a:solidFill>
                      <a:schemeClr val="tx1"/>
                    </a:solidFill>
                    <a:effectLst/>
                    <a:latin typeface="Segoe WPC"/>
                  </a:rPr>
                  <a:t>across</a:t>
                </a:r>
                <a:r>
                  <a:rPr lang="es-PE" sz="800" b="0" i="0" dirty="0">
                    <a:solidFill>
                      <a:schemeClr val="tx1"/>
                    </a:solidFill>
                    <a:effectLst/>
                    <a:latin typeface="Segoe WPC"/>
                  </a:rPr>
                  <a:t> </a:t>
                </a:r>
                <a:r>
                  <a:rPr lang="es-PE" sz="800" b="0" i="0" dirty="0" err="1">
                    <a:solidFill>
                      <a:schemeClr val="tx1"/>
                    </a:solidFill>
                    <a:effectLst/>
                    <a:latin typeface="Segoe WPC"/>
                  </a:rPr>
                  <a:t>distinct</a:t>
                </a:r>
                <a:r>
                  <a:rPr lang="es-PE" sz="800" b="0" i="0" dirty="0">
                    <a:solidFill>
                      <a:schemeClr val="tx1"/>
                    </a:solidFill>
                    <a:effectLst/>
                    <a:latin typeface="Segoe WPC"/>
                  </a:rPr>
                  <a:t> </a:t>
                </a:r>
                <a:r>
                  <a:rPr lang="es-PE" sz="800" b="0" i="0" dirty="0" err="1">
                    <a:solidFill>
                      <a:schemeClr val="tx1"/>
                    </a:solidFill>
                    <a:effectLst/>
                    <a:latin typeface="Segoe WPC"/>
                  </a:rPr>
                  <a:t>values</a:t>
                </a:r>
                <a:r>
                  <a:rPr lang="es-PE" sz="800" b="0" i="0" dirty="0">
                    <a:solidFill>
                      <a:schemeClr val="tx1"/>
                    </a:solidFill>
                    <a:effectLst/>
                    <a:latin typeface="Segoe WPC"/>
                  </a:rPr>
                  <a:t>; </a:t>
                </a:r>
                <a:r>
                  <a:rPr lang="es-PE" sz="800" b="0" i="0" dirty="0" err="1">
                    <a:solidFill>
                      <a:schemeClr val="tx1"/>
                    </a:solidFill>
                    <a:effectLst/>
                    <a:latin typeface="Segoe WPC"/>
                  </a:rPr>
                  <a:t>continuous</a:t>
                </a:r>
                <a:r>
                  <a:rPr lang="es-PE" sz="800" b="0" i="0" dirty="0">
                    <a:solidFill>
                      <a:schemeClr val="tx1"/>
                    </a:solidFill>
                    <a:effectLst/>
                    <a:latin typeface="Segoe WPC"/>
                  </a:rPr>
                  <a:t> variables can </a:t>
                </a:r>
                <a:r>
                  <a:rPr lang="es-PE" sz="800" b="0" i="0" dirty="0" err="1">
                    <a:solidFill>
                      <a:schemeClr val="tx1"/>
                    </a:solidFill>
                    <a:effectLst/>
                    <a:latin typeface="Segoe WPC"/>
                  </a:rPr>
                  <a:t>take</a:t>
                </a:r>
                <a:r>
                  <a:rPr lang="es-PE" sz="800" b="0" i="0" dirty="0">
                    <a:solidFill>
                      <a:schemeClr val="tx1"/>
                    </a:solidFill>
                    <a:effectLst/>
                    <a:latin typeface="Segoe WPC"/>
                  </a:rPr>
                  <a:t> </a:t>
                </a:r>
                <a:r>
                  <a:rPr lang="es-PE" sz="800" b="0" i="0" dirty="0" err="1">
                    <a:solidFill>
                      <a:schemeClr val="tx1"/>
                    </a:solidFill>
                    <a:effectLst/>
                    <a:latin typeface="Segoe WPC"/>
                  </a:rPr>
                  <a:t>any</a:t>
                </a:r>
                <a:r>
                  <a:rPr lang="es-PE" sz="800" b="0" i="0" dirty="0">
                    <a:solidFill>
                      <a:schemeClr val="tx1"/>
                    </a:solidFill>
                    <a:effectLst/>
                    <a:latin typeface="Segoe WPC"/>
                  </a:rPr>
                  <a:t> </a:t>
                </a:r>
                <a:r>
                  <a:rPr lang="es-PE" sz="800" b="0" i="0" dirty="0" err="1">
                    <a:solidFill>
                      <a:schemeClr val="tx1"/>
                    </a:solidFill>
                    <a:effectLst/>
                    <a:latin typeface="Segoe WPC"/>
                  </a:rPr>
                  <a:t>value</a:t>
                </a:r>
                <a:r>
                  <a:rPr lang="es-PE" sz="800" b="0" i="0" dirty="0">
                    <a:solidFill>
                      <a:schemeClr val="tx1"/>
                    </a:solidFill>
                    <a:effectLst/>
                    <a:latin typeface="Segoe WPC"/>
                  </a:rPr>
                  <a:t> in </a:t>
                </a:r>
                <a:r>
                  <a:rPr lang="es-PE" sz="800" b="0" i="0" dirty="0" err="1">
                    <a:solidFill>
                      <a:schemeClr val="tx1"/>
                    </a:solidFill>
                    <a:effectLst/>
                    <a:latin typeface="Segoe WPC"/>
                  </a:rPr>
                  <a:t>an</a:t>
                </a:r>
                <a:r>
                  <a:rPr lang="es-PE" sz="800" b="0" i="0" dirty="0">
                    <a:solidFill>
                      <a:schemeClr val="tx1"/>
                    </a:solidFill>
                    <a:effectLst/>
                    <a:latin typeface="Segoe WPC"/>
                  </a:rPr>
                  <a:t> </a:t>
                </a:r>
                <a:r>
                  <a:rPr lang="es-PE" sz="800" b="0" i="0" dirty="0" err="1">
                    <a:solidFill>
                      <a:schemeClr val="tx1"/>
                    </a:solidFill>
                    <a:effectLst/>
                    <a:latin typeface="Segoe WPC"/>
                  </a:rPr>
                  <a:t>interval</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a:solidFill>
                      <a:schemeClr val="tx1"/>
                    </a:solidFill>
                    <a:effectLst/>
                    <a:latin typeface="Segoe WPC"/>
                  </a:rPr>
                  <a:t>Visual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Discrete = </a:t>
                </a:r>
                <a:r>
                  <a:rPr lang="es-PE" sz="800" b="0" i="0" dirty="0" err="1">
                    <a:solidFill>
                      <a:schemeClr val="tx1"/>
                    </a:solidFill>
                    <a:effectLst/>
                    <a:latin typeface="Segoe WPC"/>
                  </a:rPr>
                  <a:t>bars</a:t>
                </a:r>
                <a:r>
                  <a:rPr lang="es-PE" sz="800" b="0" i="0" dirty="0">
                    <a:solidFill>
                      <a:schemeClr val="tx1"/>
                    </a:solidFill>
                    <a:effectLst/>
                    <a:latin typeface="Segoe WPC"/>
                  </a:rPr>
                  <a:t>; </a:t>
                </a:r>
                <a:r>
                  <a:rPr lang="es-PE" sz="800" b="0" i="0" dirty="0" err="1">
                    <a:solidFill>
                      <a:schemeClr val="tx1"/>
                    </a:solidFill>
                    <a:effectLst/>
                    <a:latin typeface="Segoe WPC"/>
                  </a:rPr>
                  <a:t>continuous</a:t>
                </a:r>
                <a:r>
                  <a:rPr lang="es-PE" sz="800" b="0" i="0" dirty="0">
                    <a:solidFill>
                      <a:schemeClr val="tx1"/>
                    </a:solidFill>
                    <a:effectLst/>
                    <a:latin typeface="Segoe WPC"/>
                  </a:rPr>
                  <a:t> = </a:t>
                </a:r>
                <a:r>
                  <a:rPr lang="es-PE" sz="800" b="0" i="0" dirty="0" err="1">
                    <a:solidFill>
                      <a:schemeClr val="tx1"/>
                    </a:solidFill>
                    <a:effectLst/>
                    <a:latin typeface="Segoe WPC"/>
                  </a:rPr>
                  <a:t>smooth</a:t>
                </a:r>
                <a:r>
                  <a:rPr lang="es-PE" sz="800" b="0" i="0" dirty="0">
                    <a:solidFill>
                      <a:schemeClr val="tx1"/>
                    </a:solidFill>
                    <a:effectLst/>
                    <a:latin typeface="Segoe WPC"/>
                  </a:rPr>
                  <a:t> curve.</a:t>
                </a:r>
                <a:br>
                  <a:rPr lang="es-PE" sz="800" b="0" i="0" dirty="0">
                    <a:solidFill>
                      <a:schemeClr val="tx1"/>
                    </a:solidFill>
                    <a:effectLst/>
                    <a:latin typeface="Segoe WPC"/>
                  </a:rPr>
                </a:br>
                <a:r>
                  <a:rPr lang="es-PE" sz="800" b="1" i="0" dirty="0">
                    <a:solidFill>
                      <a:schemeClr val="tx1"/>
                    </a:solidFill>
                    <a:effectLst/>
                    <a:latin typeface="Segoe WPC"/>
                  </a:rPr>
                  <a:t>Key Formula:</a:t>
                </a:r>
                <a:r>
                  <a:rPr lang="es-PE" sz="800" b="0" i="0" dirty="0">
                    <a:solidFill>
                      <a:schemeClr val="tx1"/>
                    </a:solidFill>
                    <a:effectLst/>
                    <a:latin typeface="Segoe WPC"/>
                  </a:rPr>
                  <a:t> </a:t>
                </a:r>
                <a:r>
                  <a:rPr lang="es-PE" sz="800" b="0" i="0" dirty="0" err="1">
                    <a:solidFill>
                      <a:schemeClr val="tx1"/>
                    </a:solidFill>
                    <a:effectLst/>
                    <a:latin typeface="Segoe WPC"/>
                  </a:rPr>
                  <a:t>None</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err="1">
                    <a:solidFill>
                      <a:schemeClr val="tx1"/>
                    </a:solidFill>
                    <a:effectLst/>
                    <a:latin typeface="Segoe WPC"/>
                  </a:rPr>
                  <a:t>Interpretation</a:t>
                </a:r>
                <a:r>
                  <a:rPr lang="es-PE" sz="800" b="1" i="0" dirty="0">
                    <a:solidFill>
                      <a:schemeClr val="tx1"/>
                    </a:solidFill>
                    <a:effectLst/>
                    <a:latin typeface="Segoe WPC"/>
                  </a:rPr>
                  <a:t>:</a:t>
                </a:r>
                <a:r>
                  <a:rPr lang="es-PE" sz="800" b="0" i="0" dirty="0">
                    <a:solidFill>
                      <a:schemeClr val="tx1"/>
                    </a:solidFill>
                    <a:effectLst/>
                    <a:latin typeface="Segoe WPC"/>
                  </a:rPr>
                  <a:t> Defaults and dice are </a:t>
                </a:r>
                <a:r>
                  <a:rPr lang="es-PE" sz="800" b="0" i="0" dirty="0" err="1">
                    <a:solidFill>
                      <a:schemeClr val="tx1"/>
                    </a:solidFill>
                    <a:effectLst/>
                    <a:latin typeface="Segoe WPC"/>
                  </a:rPr>
                  <a:t>usually</a:t>
                </a:r>
                <a:r>
                  <a:rPr lang="es-PE" sz="800" b="0" i="0" dirty="0">
                    <a:solidFill>
                      <a:schemeClr val="tx1"/>
                    </a:solidFill>
                    <a:effectLst/>
                    <a:latin typeface="Segoe WPC"/>
                  </a:rPr>
                  <a:t> discrete; </a:t>
                </a:r>
                <a:r>
                  <a:rPr lang="es-PE" sz="800" b="0" i="0" dirty="0" err="1">
                    <a:solidFill>
                      <a:schemeClr val="tx1"/>
                    </a:solidFill>
                    <a:effectLst/>
                    <a:latin typeface="Segoe WPC"/>
                  </a:rPr>
                  <a:t>returns</a:t>
                </a:r>
                <a:r>
                  <a:rPr lang="es-PE" sz="800" b="0" i="0" dirty="0">
                    <a:solidFill>
                      <a:schemeClr val="tx1"/>
                    </a:solidFill>
                    <a:effectLst/>
                    <a:latin typeface="Segoe WPC"/>
                  </a:rPr>
                  <a:t> and </a:t>
                </a:r>
                <a:r>
                  <a:rPr lang="es-PE" sz="800" b="0" i="0" dirty="0" err="1">
                    <a:solidFill>
                      <a:schemeClr val="tx1"/>
                    </a:solidFill>
                    <a:effectLst/>
                    <a:latin typeface="Segoe WPC"/>
                  </a:rPr>
                  <a:t>yields</a:t>
                </a:r>
                <a:r>
                  <a:rPr lang="es-PE" sz="800" b="0" i="0" dirty="0">
                    <a:solidFill>
                      <a:schemeClr val="tx1"/>
                    </a:solidFill>
                    <a:effectLst/>
                    <a:latin typeface="Segoe WPC"/>
                  </a:rPr>
                  <a:t> are </a:t>
                </a:r>
                <a:r>
                  <a:rPr lang="es-PE" sz="800" b="0" i="0" dirty="0" err="1">
                    <a:solidFill>
                      <a:schemeClr val="tx1"/>
                    </a:solidFill>
                    <a:effectLst/>
                    <a:latin typeface="Segoe WPC"/>
                  </a:rPr>
                  <a:t>usually</a:t>
                </a:r>
                <a:r>
                  <a:rPr lang="es-PE" sz="800" b="0" i="0" dirty="0">
                    <a:solidFill>
                      <a:schemeClr val="tx1"/>
                    </a:solidFill>
                    <a:effectLst/>
                    <a:latin typeface="Segoe WPC"/>
                  </a:rPr>
                  <a:t> </a:t>
                </a:r>
                <a:r>
                  <a:rPr lang="es-PE" sz="800" b="0" i="0" dirty="0" err="1">
                    <a:solidFill>
                      <a:schemeClr val="tx1"/>
                    </a:solidFill>
                    <a:effectLst/>
                    <a:latin typeface="Segoe WPC"/>
                  </a:rPr>
                  <a:t>modeled</a:t>
                </a:r>
                <a:r>
                  <a:rPr lang="es-PE" sz="800" b="0" i="0" dirty="0">
                    <a:solidFill>
                      <a:schemeClr val="tx1"/>
                    </a:solidFill>
                    <a:effectLst/>
                    <a:latin typeface="Segoe WPC"/>
                  </a:rPr>
                  <a:t> as </a:t>
                </a:r>
                <a:r>
                  <a:rPr lang="es-PE" sz="800" b="0" i="0" dirty="0" err="1">
                    <a:solidFill>
                      <a:schemeClr val="tx1"/>
                    </a:solidFill>
                    <a:effectLst/>
                    <a:latin typeface="Segoe WPC"/>
                  </a:rPr>
                  <a:t>continuous</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err="1">
                    <a:solidFill>
                      <a:schemeClr val="tx1"/>
                    </a:solidFill>
                    <a:effectLst/>
                    <a:latin typeface="Segoe WPC"/>
                  </a:rPr>
                  <a:t>Exam</a:t>
                </a:r>
                <a:r>
                  <a:rPr lang="es-PE" sz="800" b="1" i="0" dirty="0">
                    <a:solidFill>
                      <a:schemeClr val="tx1"/>
                    </a:solidFill>
                    <a:effectLst/>
                    <a:latin typeface="Segoe WPC"/>
                  </a:rPr>
                  <a:t> </a:t>
                </a:r>
                <a:r>
                  <a:rPr lang="es-PE" sz="800" b="1" i="0" dirty="0" err="1">
                    <a:solidFill>
                      <a:schemeClr val="tx1"/>
                    </a:solidFill>
                    <a:effectLst/>
                    <a:latin typeface="Segoe WPC"/>
                  </a:rPr>
                  <a:t>Trap</a:t>
                </a:r>
                <a:r>
                  <a:rPr lang="es-PE" sz="800" b="1" i="0" dirty="0">
                    <a:solidFill>
                      <a:schemeClr val="tx1"/>
                    </a:solidFill>
                    <a:effectLst/>
                    <a:latin typeface="Segoe WPC"/>
                  </a:rPr>
                  <a:t>:</a:t>
                </a:r>
                <a:r>
                  <a:rPr lang="es-PE" sz="800" b="0" i="0" dirty="0">
                    <a:solidFill>
                      <a:schemeClr val="tx1"/>
                    </a:solidFill>
                    <a:effectLst/>
                    <a:latin typeface="Segoe WPC"/>
                  </a:rPr>
                  <a:t> A </a:t>
                </a:r>
                <a:r>
                  <a:rPr lang="es-PE" sz="800" b="0" i="0" dirty="0" err="1">
                    <a:solidFill>
                      <a:schemeClr val="tx1"/>
                    </a:solidFill>
                    <a:effectLst/>
                    <a:latin typeface="Segoe WPC"/>
                  </a:rPr>
                  <a:t>continuous</a:t>
                </a:r>
                <a:r>
                  <a:rPr lang="es-PE" sz="800" b="0" i="0" dirty="0">
                    <a:solidFill>
                      <a:schemeClr val="tx1"/>
                    </a:solidFill>
                    <a:effectLst/>
                    <a:latin typeface="Segoe WPC"/>
                  </a:rPr>
                  <a:t> variable has </a:t>
                </a:r>
                <a:r>
                  <a:rPr lang="es-PE" sz="800" b="0" i="0" dirty="0" err="1">
                    <a:solidFill>
                      <a:schemeClr val="tx1"/>
                    </a:solidFill>
                    <a:effectLst/>
                    <a:latin typeface="Segoe WPC"/>
                  </a:rPr>
                  <a:t>probability</a:t>
                </a:r>
                <a:r>
                  <a:rPr lang="es-PE" sz="800" b="0" i="0" dirty="0">
                    <a:solidFill>
                      <a:schemeClr val="tx1"/>
                    </a:solidFill>
                    <a:effectLst/>
                    <a:latin typeface="Segoe WPC"/>
                  </a:rPr>
                  <a:t> 0 at </a:t>
                </a:r>
                <a:r>
                  <a:rPr lang="es-PE" sz="800" b="0" i="0" dirty="0" err="1">
                    <a:solidFill>
                      <a:schemeClr val="tx1"/>
                    </a:solidFill>
                    <a:effectLst/>
                    <a:latin typeface="Segoe WPC"/>
                  </a:rPr>
                  <a:t>any</a:t>
                </a:r>
                <a:r>
                  <a:rPr lang="es-PE" sz="800" b="0" i="0" dirty="0">
                    <a:solidFill>
                      <a:schemeClr val="tx1"/>
                    </a:solidFill>
                    <a:effectLst/>
                    <a:latin typeface="Segoe WPC"/>
                  </a:rPr>
                  <a:t> single </a:t>
                </a:r>
                <a:r>
                  <a:rPr lang="es-PE" sz="800" b="0" i="0" dirty="0" err="1">
                    <a:solidFill>
                      <a:schemeClr val="tx1"/>
                    </a:solidFill>
                    <a:effectLst/>
                    <a:latin typeface="Segoe WPC"/>
                  </a:rPr>
                  <a:t>point</a:t>
                </a:r>
                <a:r>
                  <a:rPr lang="es-PE" sz="800" b="0" i="0" dirty="0">
                    <a:solidFill>
                      <a:schemeClr val="tx1"/>
                    </a:solidFill>
                    <a:effectLst/>
                    <a:latin typeface="Segoe WPC"/>
                  </a:rPr>
                  <a:t>.</a:t>
                </a:r>
              </a:p>
              <a:p>
                <a:pPr algn="l">
                  <a:spcAft>
                    <a:spcPts val="1200"/>
                  </a:spcAft>
                  <a:buNone/>
                </a:pPr>
                <a:r>
                  <a:rPr lang="es-PE" sz="800" b="1" i="0" dirty="0">
                    <a:solidFill>
                      <a:schemeClr val="tx1"/>
                    </a:solidFill>
                    <a:effectLst/>
                    <a:latin typeface="Segoe WPC"/>
                  </a:rPr>
                  <a:t>3. </a:t>
                </a:r>
                <a:r>
                  <a:rPr lang="es-PE" sz="800" b="1" i="0" dirty="0" err="1">
                    <a:solidFill>
                      <a:schemeClr val="tx1"/>
                    </a:solidFill>
                    <a:effectLst/>
                    <a:latin typeface="Segoe WPC"/>
                  </a:rPr>
                  <a:t>Probability</a:t>
                </a:r>
                <a:r>
                  <a:rPr lang="es-PE" sz="800" b="1" i="0" dirty="0">
                    <a:solidFill>
                      <a:schemeClr val="tx1"/>
                    </a:solidFill>
                    <a:effectLst/>
                    <a:latin typeface="Segoe WPC"/>
                  </a:rPr>
                  <a:t> </a:t>
                </a:r>
                <a:r>
                  <a:rPr lang="es-PE" sz="800" b="1" i="0" dirty="0" err="1">
                    <a:solidFill>
                      <a:schemeClr val="tx1"/>
                    </a:solidFill>
                    <a:effectLst/>
                    <a:latin typeface="Segoe WPC"/>
                  </a:rPr>
                  <a:t>Mass</a:t>
                </a:r>
                <a:r>
                  <a:rPr lang="es-PE" sz="800" b="1" i="0" dirty="0">
                    <a:solidFill>
                      <a:schemeClr val="tx1"/>
                    </a:solidFill>
                    <a:effectLst/>
                    <a:latin typeface="Segoe WPC"/>
                  </a:rPr>
                  <a:t> </a:t>
                </a:r>
                <a:r>
                  <a:rPr lang="es-PE" sz="800" b="1" i="0" dirty="0" err="1">
                    <a:solidFill>
                      <a:schemeClr val="tx1"/>
                    </a:solidFill>
                    <a:effectLst/>
                    <a:latin typeface="Segoe WPC"/>
                  </a:rPr>
                  <a:t>Function</a:t>
                </a:r>
                <a:r>
                  <a:rPr lang="es-PE" sz="800" b="1" i="0" dirty="0">
                    <a:solidFill>
                      <a:schemeClr val="tx1"/>
                    </a:solidFill>
                    <a:effectLst/>
                    <a:latin typeface="Segoe WPC"/>
                  </a:rPr>
                  <a:t> (PMF)</a:t>
                </a:r>
                <a:br>
                  <a:rPr lang="es-PE" sz="800" b="0" i="0" dirty="0">
                    <a:solidFill>
                      <a:schemeClr val="tx1"/>
                    </a:solidFill>
                    <a:effectLst/>
                    <a:latin typeface="Segoe WPC"/>
                  </a:rPr>
                </a:br>
                <a:r>
                  <a:rPr lang="es-PE" sz="800" b="1" i="0" dirty="0" err="1">
                    <a:solidFill>
                      <a:schemeClr val="tx1"/>
                    </a:solidFill>
                    <a:effectLst/>
                    <a:latin typeface="Segoe WPC"/>
                  </a:rPr>
                  <a:t>Statistical</a:t>
                </a:r>
                <a:r>
                  <a:rPr lang="es-PE" sz="800" b="1" i="0" dirty="0">
                    <a:solidFill>
                      <a:schemeClr val="tx1"/>
                    </a:solidFill>
                    <a:effectLst/>
                    <a:latin typeface="Segoe WPC"/>
                  </a:rPr>
                  <a:t> </a:t>
                </a:r>
                <a:r>
                  <a:rPr lang="es-PE" sz="800" b="1" i="0" dirty="0" err="1">
                    <a:solidFill>
                      <a:schemeClr val="tx1"/>
                    </a:solidFill>
                    <a:effectLst/>
                    <a:latin typeface="Segoe WPC"/>
                  </a:rPr>
                  <a:t>Object</a:t>
                </a:r>
                <a:r>
                  <a:rPr lang="es-PE" sz="800" b="1" i="0" dirty="0">
                    <a:solidFill>
                      <a:schemeClr val="tx1"/>
                    </a:solidFill>
                    <a:effectLst/>
                    <a:latin typeface="Segoe WPC"/>
                  </a:rPr>
                  <a:t>:</a:t>
                </a:r>
                <a:r>
                  <a:rPr lang="es-PE" sz="800" b="0" i="0" dirty="0">
                    <a:solidFill>
                      <a:schemeClr val="tx1"/>
                    </a:solidFill>
                    <a:effectLst/>
                    <a:latin typeface="Segoe WPC"/>
                  </a:rPr>
                  <a:t> A </a:t>
                </a:r>
                <a:r>
                  <a:rPr lang="es-PE" sz="800" b="0" i="0" dirty="0" err="1">
                    <a:solidFill>
                      <a:schemeClr val="tx1"/>
                    </a:solidFill>
                    <a:effectLst/>
                    <a:latin typeface="Segoe WPC"/>
                  </a:rPr>
                  <a:t>function</a:t>
                </a:r>
                <a:r>
                  <a:rPr lang="es-PE" sz="800" b="0" i="0" dirty="0">
                    <a:solidFill>
                      <a:schemeClr val="tx1"/>
                    </a:solidFill>
                    <a:effectLst/>
                    <a:latin typeface="Segoe WPC"/>
                  </a:rPr>
                  <a:t> </a:t>
                </a:r>
                <a:r>
                  <a:rPr lang="es-PE" sz="800" b="0" i="0" dirty="0" err="1">
                    <a:solidFill>
                      <a:schemeClr val="tx1"/>
                    </a:solidFill>
                    <a:effectLst/>
                    <a:latin typeface="Segoe WPC"/>
                  </a:rPr>
                  <a:t>giving</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a:t>
                </a:r>
                <a:r>
                  <a:rPr lang="es-PE" sz="800" b="0" i="0" dirty="0" err="1">
                    <a:solidFill>
                      <a:schemeClr val="tx1"/>
                    </a:solidFill>
                    <a:effectLst/>
                    <a:latin typeface="Segoe WPC"/>
                  </a:rPr>
                  <a:t>probability</a:t>
                </a:r>
                <a:r>
                  <a:rPr lang="es-PE" sz="800" b="0" i="0" dirty="0">
                    <a:solidFill>
                      <a:schemeClr val="tx1"/>
                    </a:solidFill>
                    <a:effectLst/>
                    <a:latin typeface="Segoe WPC"/>
                  </a:rPr>
                  <a:t> </a:t>
                </a:r>
                <a:r>
                  <a:rPr lang="es-PE" sz="800" b="0" i="0" dirty="0" err="1">
                    <a:solidFill>
                      <a:schemeClr val="tx1"/>
                    </a:solidFill>
                    <a:effectLst/>
                    <a:latin typeface="Segoe WPC"/>
                  </a:rPr>
                  <a:t>of</a:t>
                </a:r>
                <a:r>
                  <a:rPr lang="es-PE" sz="800" b="0" i="0" dirty="0">
                    <a:solidFill>
                      <a:schemeClr val="tx1"/>
                    </a:solidFill>
                    <a:effectLst/>
                    <a:latin typeface="Segoe WPC"/>
                  </a:rPr>
                  <a:t> </a:t>
                </a:r>
                <a:r>
                  <a:rPr lang="es-PE" sz="800" b="0" i="0" dirty="0" err="1">
                    <a:solidFill>
                      <a:schemeClr val="tx1"/>
                    </a:solidFill>
                    <a:effectLst/>
                    <a:latin typeface="Segoe WPC"/>
                  </a:rPr>
                  <a:t>each</a:t>
                </a:r>
                <a:r>
                  <a:rPr lang="es-PE" sz="800" b="0" i="0" dirty="0">
                    <a:solidFill>
                      <a:schemeClr val="tx1"/>
                    </a:solidFill>
                    <a:effectLst/>
                    <a:latin typeface="Segoe WPC"/>
                  </a:rPr>
                  <a:t> </a:t>
                </a:r>
                <a:r>
                  <a:rPr lang="es-PE" sz="800" b="0" i="0" dirty="0" err="1">
                    <a:solidFill>
                      <a:schemeClr val="tx1"/>
                    </a:solidFill>
                    <a:effectLst/>
                    <a:latin typeface="Segoe WPC"/>
                  </a:rPr>
                  <a:t>value</a:t>
                </a:r>
                <a:r>
                  <a:rPr lang="es-PE" sz="800" b="0" i="0" dirty="0">
                    <a:solidFill>
                      <a:schemeClr val="tx1"/>
                    </a:solidFill>
                    <a:effectLst/>
                    <a:latin typeface="Segoe WPC"/>
                  </a:rPr>
                  <a:t> </a:t>
                </a:r>
                <a:r>
                  <a:rPr lang="es-PE" sz="800" b="0" i="0" dirty="0" err="1">
                    <a:solidFill>
                      <a:schemeClr val="tx1"/>
                    </a:solidFill>
                    <a:effectLst/>
                    <a:latin typeface="Segoe WPC"/>
                  </a:rPr>
                  <a:t>for</a:t>
                </a:r>
                <a:r>
                  <a:rPr lang="es-PE" sz="800" b="0" i="0" dirty="0">
                    <a:solidFill>
                      <a:schemeClr val="tx1"/>
                    </a:solidFill>
                    <a:effectLst/>
                    <a:latin typeface="Segoe WPC"/>
                  </a:rPr>
                  <a:t> a discrete </a:t>
                </a:r>
                <a:r>
                  <a:rPr lang="es-PE" sz="800" b="0" i="0" dirty="0" err="1">
                    <a:solidFill>
                      <a:schemeClr val="tx1"/>
                    </a:solidFill>
                    <a:effectLst/>
                    <a:latin typeface="Segoe WPC"/>
                  </a:rPr>
                  <a:t>random</a:t>
                </a:r>
                <a:r>
                  <a:rPr lang="es-PE" sz="800" b="0" i="0" dirty="0">
                    <a:solidFill>
                      <a:schemeClr val="tx1"/>
                    </a:solidFill>
                    <a:effectLst/>
                    <a:latin typeface="Segoe WPC"/>
                  </a:rPr>
                  <a:t> variable.</a:t>
                </a:r>
                <a:br>
                  <a:rPr lang="es-PE" sz="800" b="0" i="0" dirty="0">
                    <a:solidFill>
                      <a:schemeClr val="tx1"/>
                    </a:solidFill>
                    <a:effectLst/>
                    <a:latin typeface="Segoe WPC"/>
                  </a:rPr>
                </a:br>
                <a:r>
                  <a:rPr lang="es-PE" sz="800" b="1" i="0" dirty="0" err="1">
                    <a:solidFill>
                      <a:schemeClr val="tx1"/>
                    </a:solidFill>
                    <a:effectLst/>
                    <a:latin typeface="Segoe WPC"/>
                  </a:rPr>
                  <a:t>Plain</a:t>
                </a:r>
                <a:r>
                  <a:rPr lang="es-PE" sz="800" b="1" i="0" dirty="0">
                    <a:solidFill>
                      <a:schemeClr val="tx1"/>
                    </a:solidFill>
                    <a:effectLst/>
                    <a:latin typeface="Segoe WPC"/>
                  </a:rPr>
                  <a:t>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It</a:t>
                </a:r>
                <a:r>
                  <a:rPr lang="es-PE" sz="800" b="0" i="0" dirty="0">
                    <a:solidFill>
                      <a:schemeClr val="tx1"/>
                    </a:solidFill>
                    <a:effectLst/>
                    <a:latin typeface="Segoe WPC"/>
                  </a:rPr>
                  <a:t> </a:t>
                </a:r>
                <a:r>
                  <a:rPr lang="es-PE" sz="800" b="0" i="0" dirty="0" err="1">
                    <a:solidFill>
                      <a:schemeClr val="tx1"/>
                    </a:solidFill>
                    <a:effectLst/>
                    <a:latin typeface="Segoe WPC"/>
                  </a:rPr>
                  <a:t>tells</a:t>
                </a:r>
                <a:r>
                  <a:rPr lang="es-PE" sz="800" b="0" i="0" dirty="0">
                    <a:solidFill>
                      <a:schemeClr val="tx1"/>
                    </a:solidFill>
                    <a:effectLst/>
                    <a:latin typeface="Segoe WPC"/>
                  </a:rPr>
                  <a:t> </a:t>
                </a:r>
                <a:r>
                  <a:rPr lang="es-PE" sz="800" b="0" i="0" dirty="0" err="1">
                    <a:solidFill>
                      <a:schemeClr val="tx1"/>
                    </a:solidFill>
                    <a:effectLst/>
                    <a:latin typeface="Segoe WPC"/>
                  </a:rPr>
                  <a:t>you</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chance </a:t>
                </a:r>
                <a:r>
                  <a:rPr lang="es-PE" sz="800" b="0" i="0" dirty="0" err="1">
                    <a:solidFill>
                      <a:schemeClr val="tx1"/>
                    </a:solidFill>
                    <a:effectLst/>
                    <a:latin typeface="Segoe WPC"/>
                  </a:rPr>
                  <a:t>of</a:t>
                </a:r>
                <a:r>
                  <a:rPr lang="es-PE" sz="800" b="0" i="0" dirty="0">
                    <a:solidFill>
                      <a:schemeClr val="tx1"/>
                    </a:solidFill>
                    <a:effectLst/>
                    <a:latin typeface="Segoe WPC"/>
                  </a:rPr>
                  <a:t> </a:t>
                </a:r>
                <a:r>
                  <a:rPr lang="es-PE" sz="800" b="0" i="0" dirty="0" err="1">
                    <a:solidFill>
                      <a:schemeClr val="tx1"/>
                    </a:solidFill>
                    <a:effectLst/>
                    <a:latin typeface="Segoe WPC"/>
                  </a:rPr>
                  <a:t>each</a:t>
                </a:r>
                <a:r>
                  <a:rPr lang="es-PE" sz="800" b="0" i="0" dirty="0">
                    <a:solidFill>
                      <a:schemeClr val="tx1"/>
                    </a:solidFill>
                    <a:effectLst/>
                    <a:latin typeface="Segoe WPC"/>
                  </a:rPr>
                  <a:t> </a:t>
                </a:r>
                <a:r>
                  <a:rPr lang="es-PE" sz="800" b="0" i="0" dirty="0" err="1">
                    <a:solidFill>
                      <a:schemeClr val="tx1"/>
                    </a:solidFill>
                    <a:effectLst/>
                    <a:latin typeface="Segoe WPC"/>
                  </a:rPr>
                  <a:t>exact</a:t>
                </a:r>
                <a:r>
                  <a:rPr lang="es-PE" sz="800" b="0" i="0" dirty="0">
                    <a:solidFill>
                      <a:schemeClr val="tx1"/>
                    </a:solidFill>
                    <a:effectLst/>
                    <a:latin typeface="Segoe WPC"/>
                  </a:rPr>
                  <a:t> </a:t>
                </a:r>
                <a:r>
                  <a:rPr lang="es-PE" sz="800" b="0" i="0" dirty="0" err="1">
                    <a:solidFill>
                      <a:schemeClr val="tx1"/>
                    </a:solidFill>
                    <a:effectLst/>
                    <a:latin typeface="Segoe WPC"/>
                  </a:rPr>
                  <a:t>outcome</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a:solidFill>
                      <a:schemeClr val="tx1"/>
                    </a:solidFill>
                    <a:effectLst/>
                    <a:latin typeface="Segoe WPC"/>
                  </a:rPr>
                  <a:t>Visual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A bar chart </a:t>
                </a:r>
                <a:r>
                  <a:rPr lang="es-PE" sz="800" b="0" i="0" dirty="0" err="1">
                    <a:solidFill>
                      <a:schemeClr val="tx1"/>
                    </a:solidFill>
                    <a:effectLst/>
                    <a:latin typeface="Segoe WPC"/>
                  </a:rPr>
                  <a:t>over</a:t>
                </a:r>
                <a:r>
                  <a:rPr lang="es-PE" sz="800" b="0" i="0" dirty="0">
                    <a:solidFill>
                      <a:schemeClr val="tx1"/>
                    </a:solidFill>
                    <a:effectLst/>
                    <a:latin typeface="Segoe WPC"/>
                  </a:rPr>
                  <a:t> </a:t>
                </a:r>
                <a:r>
                  <a:rPr lang="es-PE" sz="800" b="0" i="0" dirty="0" err="1">
                    <a:solidFill>
                      <a:schemeClr val="tx1"/>
                    </a:solidFill>
                    <a:effectLst/>
                    <a:latin typeface="Segoe WPC"/>
                  </a:rPr>
                  <a:t>possible</a:t>
                </a:r>
                <a:r>
                  <a:rPr lang="es-PE" sz="800" b="0" i="0" dirty="0">
                    <a:solidFill>
                      <a:schemeClr val="tx1"/>
                    </a:solidFill>
                    <a:effectLst/>
                    <a:latin typeface="Segoe WPC"/>
                  </a:rPr>
                  <a:t> </a:t>
                </a:r>
                <a:r>
                  <a:rPr lang="es-PE" sz="800" b="0" i="0" dirty="0" err="1">
                    <a:solidFill>
                      <a:schemeClr val="tx1"/>
                    </a:solidFill>
                    <a:effectLst/>
                    <a:latin typeface="Segoe WPC"/>
                  </a:rPr>
                  <a:t>values</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a:solidFill>
                      <a:schemeClr val="tx1"/>
                    </a:solidFill>
                    <a:effectLst/>
                    <a:latin typeface="Segoe WPC"/>
                  </a:rPr>
                  <a:t>Key Formula:</a:t>
                </a:r>
                <a:r>
                  <a:rPr lang="es-PE" sz="800" b="0" i="0" dirty="0">
                    <a:solidFill>
                      <a:schemeClr val="tx1"/>
                    </a:solidFill>
                    <a:effectLst/>
                    <a:latin typeface="Segoe WPC"/>
                  </a:rPr>
                  <a:t> </a:t>
                </a:r>
                <a14:m>
                  <m:oMath xmlns:m="http://schemas.openxmlformats.org/officeDocument/2006/math">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𝑓</m:t>
                        </m:r>
                      </m:e>
                      <m:sub>
                        <m:r>
                          <a:rPr lang="ar-AE" sz="800" i="1">
                            <a:solidFill>
                              <a:schemeClr val="tx1"/>
                            </a:solidFill>
                            <a:latin typeface="Cambria Math" panose="02040503050406030204" pitchFamily="18" charset="0"/>
                          </a:rPr>
                          <m:t>𝑋</m:t>
                        </m:r>
                      </m:sub>
                    </m:sSub>
                    <m:d>
                      <m:dPr>
                        <m:ctrlPr>
                          <a:rPr lang="ar-AE" sz="800" i="1">
                            <a:solidFill>
                              <a:schemeClr val="tx1"/>
                            </a:solidFill>
                            <a:latin typeface="Cambria Math" panose="02040503050406030204" pitchFamily="18" charset="0"/>
                          </a:rPr>
                        </m:ctrlPr>
                      </m:dPr>
                      <m:e>
                        <m:r>
                          <a:rPr lang="ar-AE" sz="800" i="1">
                            <a:solidFill>
                              <a:schemeClr val="tx1"/>
                            </a:solidFill>
                            <a:latin typeface="Cambria Math" panose="02040503050406030204" pitchFamily="18" charset="0"/>
                          </a:rPr>
                          <m:t>𝑥</m:t>
                        </m:r>
                      </m:e>
                    </m:d>
                    <m:r>
                      <a:rPr lang="ar-AE" sz="800" i="0">
                        <a:solidFill>
                          <a:schemeClr val="tx1"/>
                        </a:solidFill>
                        <a:latin typeface="Cambria Math" panose="02040503050406030204" pitchFamily="18" charset="0"/>
                      </a:rPr>
                      <m:t>=</m:t>
                    </m:r>
                    <m:r>
                      <a:rPr lang="ar-AE" sz="800" i="1">
                        <a:solidFill>
                          <a:schemeClr val="tx1"/>
                        </a:solidFill>
                        <a:latin typeface="Cambria Math" panose="02040503050406030204" pitchFamily="18" charset="0"/>
                      </a:rPr>
                      <m:t>𝑃𝑟</m:t>
                    </m:r>
                    <m:d>
                      <m:dPr>
                        <m:ctrlPr>
                          <a:rPr lang="ar-AE" sz="800" i="1">
                            <a:solidFill>
                              <a:schemeClr val="tx1"/>
                            </a:solidFill>
                            <a:latin typeface="Cambria Math" panose="02040503050406030204" pitchFamily="18" charset="0"/>
                          </a:rPr>
                        </m:ctrlPr>
                      </m:dPr>
                      <m:e>
                        <m:r>
                          <a:rPr lang="ar-AE" sz="800" i="1">
                            <a:solidFill>
                              <a:schemeClr val="tx1"/>
                            </a:solidFill>
                            <a:latin typeface="Cambria Math" panose="02040503050406030204" pitchFamily="18" charset="0"/>
                          </a:rPr>
                          <m:t>𝑋</m:t>
                        </m:r>
                        <m:r>
                          <a:rPr lang="ar-AE" sz="800" i="0">
                            <a:solidFill>
                              <a:schemeClr val="tx1"/>
                            </a:solidFill>
                            <a:latin typeface="Cambria Math" panose="02040503050406030204" pitchFamily="18" charset="0"/>
                          </a:rPr>
                          <m:t>=</m:t>
                        </m:r>
                        <m:r>
                          <a:rPr lang="ar-AE" sz="800" i="1">
                            <a:solidFill>
                              <a:schemeClr val="tx1"/>
                            </a:solidFill>
                            <a:latin typeface="Cambria Math" panose="02040503050406030204" pitchFamily="18" charset="0"/>
                          </a:rPr>
                          <m:t>𝑥</m:t>
                        </m:r>
                      </m:e>
                    </m:d>
                  </m:oMath>
                </a14:m>
                <a:br>
                  <a:rPr lang="ar-AE" sz="800" b="0" i="0" dirty="0">
                    <a:solidFill>
                      <a:schemeClr val="tx1"/>
                    </a:solidFill>
                    <a:effectLst/>
                    <a:latin typeface="Segoe WPC"/>
                  </a:rPr>
                </a:br>
                <a:r>
                  <a:rPr lang="es-PE" sz="800" b="1" i="0" dirty="0" err="1">
                    <a:solidFill>
                      <a:schemeClr val="tx1"/>
                    </a:solidFill>
                    <a:effectLst/>
                    <a:latin typeface="Segoe WPC"/>
                  </a:rPr>
                  <a:t>Interpretation</a:t>
                </a:r>
                <a:r>
                  <a:rPr lang="es-PE" sz="800" b="1" i="0" dirty="0">
                    <a:solidFill>
                      <a:schemeClr val="tx1"/>
                    </a:solidFill>
                    <a:effectLst/>
                    <a:latin typeface="Segoe WPC"/>
                  </a:rPr>
                  <a:t>:</a:t>
                </a:r>
                <a:r>
                  <a:rPr lang="es-PE" sz="800" b="0" i="0" dirty="0">
                    <a:solidFill>
                      <a:schemeClr val="tx1"/>
                    </a:solidFill>
                    <a:effectLst/>
                    <a:latin typeface="Segoe WPC"/>
                  </a:rPr>
                  <a:t> Use PMF </a:t>
                </a:r>
                <a:r>
                  <a:rPr lang="es-PE" sz="800" b="0" i="0" dirty="0" err="1">
                    <a:solidFill>
                      <a:schemeClr val="tx1"/>
                    </a:solidFill>
                    <a:effectLst/>
                    <a:latin typeface="Segoe WPC"/>
                  </a:rPr>
                  <a:t>for</a:t>
                </a:r>
                <a:r>
                  <a:rPr lang="es-PE" sz="800" b="0" i="0" dirty="0">
                    <a:solidFill>
                      <a:schemeClr val="tx1"/>
                    </a:solidFill>
                    <a:effectLst/>
                    <a:latin typeface="Segoe WPC"/>
                  </a:rPr>
                  <a:t> </a:t>
                </a:r>
                <a:r>
                  <a:rPr lang="es-PE" sz="800" b="0" i="0" dirty="0" err="1">
                    <a:solidFill>
                      <a:schemeClr val="tx1"/>
                    </a:solidFill>
                    <a:effectLst/>
                    <a:latin typeface="Segoe WPC"/>
                  </a:rPr>
                  <a:t>exact</a:t>
                </a:r>
                <a:r>
                  <a:rPr lang="es-PE" sz="800" b="0" i="0" dirty="0">
                    <a:solidFill>
                      <a:schemeClr val="tx1"/>
                    </a:solidFill>
                    <a:effectLst/>
                    <a:latin typeface="Segoe WPC"/>
                  </a:rPr>
                  <a:t> </a:t>
                </a:r>
                <a:r>
                  <a:rPr lang="es-PE" sz="800" b="0" i="0" dirty="0" err="1">
                    <a:solidFill>
                      <a:schemeClr val="tx1"/>
                    </a:solidFill>
                    <a:effectLst/>
                    <a:latin typeface="Segoe WPC"/>
                  </a:rPr>
                  <a:t>probabilities</a:t>
                </a:r>
                <a:r>
                  <a:rPr lang="es-PE" sz="800" b="0" i="0" dirty="0">
                    <a:solidFill>
                      <a:schemeClr val="tx1"/>
                    </a:solidFill>
                    <a:effectLst/>
                    <a:latin typeface="Segoe WPC"/>
                  </a:rPr>
                  <a:t> in discrete </a:t>
                </a:r>
                <a:r>
                  <a:rPr lang="es-PE" sz="800" b="0" i="0" dirty="0" err="1">
                    <a:solidFill>
                      <a:schemeClr val="tx1"/>
                    </a:solidFill>
                    <a:effectLst/>
                    <a:latin typeface="Segoe WPC"/>
                  </a:rPr>
                  <a:t>settings</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err="1">
                    <a:solidFill>
                      <a:schemeClr val="tx1"/>
                    </a:solidFill>
                    <a:effectLst/>
                    <a:latin typeface="Segoe WPC"/>
                  </a:rPr>
                  <a:t>Exam</a:t>
                </a:r>
                <a:r>
                  <a:rPr lang="es-PE" sz="800" b="1" i="0" dirty="0">
                    <a:solidFill>
                      <a:schemeClr val="tx1"/>
                    </a:solidFill>
                    <a:effectLst/>
                    <a:latin typeface="Segoe WPC"/>
                  </a:rPr>
                  <a:t> </a:t>
                </a:r>
                <a:r>
                  <a:rPr lang="es-PE" sz="800" b="1" i="0" dirty="0" err="1">
                    <a:solidFill>
                      <a:schemeClr val="tx1"/>
                    </a:solidFill>
                    <a:effectLst/>
                    <a:latin typeface="Segoe WPC"/>
                  </a:rPr>
                  <a:t>Trap</a:t>
                </a:r>
                <a:r>
                  <a:rPr lang="es-PE" sz="800" b="1" i="0" dirty="0">
                    <a:solidFill>
                      <a:schemeClr val="tx1"/>
                    </a:solidFill>
                    <a:effectLst/>
                    <a:latin typeface="Segoe WPC"/>
                  </a:rPr>
                  <a:t>:</a:t>
                </a:r>
                <a:r>
                  <a:rPr lang="es-PE" sz="800" b="0" i="0" dirty="0">
                    <a:solidFill>
                      <a:schemeClr val="tx1"/>
                    </a:solidFill>
                    <a:effectLst/>
                    <a:latin typeface="Segoe WPC"/>
                  </a:rPr>
                  <a:t> PMF </a:t>
                </a:r>
                <a:r>
                  <a:rPr lang="es-PE" sz="800" b="0" i="0" dirty="0" err="1">
                    <a:solidFill>
                      <a:schemeClr val="tx1"/>
                    </a:solidFill>
                    <a:effectLst/>
                    <a:latin typeface="Segoe WPC"/>
                  </a:rPr>
                  <a:t>is</a:t>
                </a:r>
                <a:r>
                  <a:rPr lang="es-PE" sz="800" b="0" i="0" dirty="0">
                    <a:solidFill>
                      <a:schemeClr val="tx1"/>
                    </a:solidFill>
                    <a:effectLst/>
                    <a:latin typeface="Segoe WPC"/>
                  </a:rPr>
                  <a:t> </a:t>
                </a:r>
                <a:r>
                  <a:rPr lang="es-PE" sz="800" b="0" i="0" dirty="0" err="1">
                    <a:solidFill>
                      <a:schemeClr val="tx1"/>
                    </a:solidFill>
                    <a:effectLst/>
                    <a:latin typeface="Segoe WPC"/>
                  </a:rPr>
                  <a:t>not</a:t>
                </a:r>
                <a:r>
                  <a:rPr lang="es-PE" sz="800" b="0" i="0" dirty="0">
                    <a:solidFill>
                      <a:schemeClr val="tx1"/>
                    </a:solidFill>
                    <a:effectLst/>
                    <a:latin typeface="Segoe WPC"/>
                  </a:rPr>
                  <a:t> </a:t>
                </a:r>
                <a:r>
                  <a:rPr lang="es-PE" sz="800" b="0" i="0" dirty="0" err="1">
                    <a:solidFill>
                      <a:schemeClr val="tx1"/>
                    </a:solidFill>
                    <a:effectLst/>
                    <a:latin typeface="Segoe WPC"/>
                  </a:rPr>
                  <a:t>used</a:t>
                </a:r>
                <a:r>
                  <a:rPr lang="es-PE" sz="800" b="0" i="0" dirty="0">
                    <a:solidFill>
                      <a:schemeClr val="tx1"/>
                    </a:solidFill>
                    <a:effectLst/>
                    <a:latin typeface="Segoe WPC"/>
                  </a:rPr>
                  <a:t> </a:t>
                </a:r>
                <a:r>
                  <a:rPr lang="es-PE" sz="800" b="0" i="0" dirty="0" err="1">
                    <a:solidFill>
                      <a:schemeClr val="tx1"/>
                    </a:solidFill>
                    <a:effectLst/>
                    <a:latin typeface="Segoe WPC"/>
                  </a:rPr>
                  <a:t>for</a:t>
                </a:r>
                <a:r>
                  <a:rPr lang="es-PE" sz="800" b="0" i="0" dirty="0">
                    <a:solidFill>
                      <a:schemeClr val="tx1"/>
                    </a:solidFill>
                    <a:effectLst/>
                    <a:latin typeface="Segoe WPC"/>
                  </a:rPr>
                  <a:t> </a:t>
                </a:r>
                <a:r>
                  <a:rPr lang="es-PE" sz="800" b="0" i="0" dirty="0" err="1">
                    <a:solidFill>
                      <a:schemeClr val="tx1"/>
                    </a:solidFill>
                    <a:effectLst/>
                    <a:latin typeface="Segoe WPC"/>
                  </a:rPr>
                  <a:t>continuous</a:t>
                </a:r>
                <a:r>
                  <a:rPr lang="es-PE" sz="800" b="0" i="0" dirty="0">
                    <a:solidFill>
                      <a:schemeClr val="tx1"/>
                    </a:solidFill>
                    <a:effectLst/>
                    <a:latin typeface="Segoe WPC"/>
                  </a:rPr>
                  <a:t> </a:t>
                </a:r>
                <a:r>
                  <a:rPr lang="es-PE" sz="800" b="0" i="0" dirty="0" err="1">
                    <a:solidFill>
                      <a:schemeClr val="tx1"/>
                    </a:solidFill>
                    <a:effectLst/>
                    <a:latin typeface="Segoe WPC"/>
                  </a:rPr>
                  <a:t>random</a:t>
                </a:r>
                <a:r>
                  <a:rPr lang="es-PE" sz="800" b="0" i="0" dirty="0">
                    <a:solidFill>
                      <a:schemeClr val="tx1"/>
                    </a:solidFill>
                    <a:effectLst/>
                    <a:latin typeface="Segoe WPC"/>
                  </a:rPr>
                  <a:t> variables.</a:t>
                </a:r>
              </a:p>
              <a:p>
                <a:pPr algn="l">
                  <a:spcAft>
                    <a:spcPts val="1200"/>
                  </a:spcAft>
                  <a:buNone/>
                </a:pPr>
                <a:r>
                  <a:rPr lang="es-PE" sz="800" b="1" i="0" dirty="0">
                    <a:solidFill>
                      <a:schemeClr val="tx1"/>
                    </a:solidFill>
                    <a:effectLst/>
                    <a:latin typeface="Segoe WPC"/>
                  </a:rPr>
                  <a:t>4. Cumulative </a:t>
                </a:r>
                <a:r>
                  <a:rPr lang="es-PE" sz="800" b="1" i="0" dirty="0" err="1">
                    <a:solidFill>
                      <a:schemeClr val="tx1"/>
                    </a:solidFill>
                    <a:effectLst/>
                    <a:latin typeface="Segoe WPC"/>
                  </a:rPr>
                  <a:t>Distribution</a:t>
                </a:r>
                <a:r>
                  <a:rPr lang="es-PE" sz="800" b="1" i="0" dirty="0">
                    <a:solidFill>
                      <a:schemeClr val="tx1"/>
                    </a:solidFill>
                    <a:effectLst/>
                    <a:latin typeface="Segoe WPC"/>
                  </a:rPr>
                  <a:t> </a:t>
                </a:r>
                <a:r>
                  <a:rPr lang="es-PE" sz="800" b="1" i="0" dirty="0" err="1">
                    <a:solidFill>
                      <a:schemeClr val="tx1"/>
                    </a:solidFill>
                    <a:effectLst/>
                    <a:latin typeface="Segoe WPC"/>
                  </a:rPr>
                  <a:t>Function</a:t>
                </a:r>
                <a:r>
                  <a:rPr lang="es-PE" sz="800" b="1" i="0" dirty="0">
                    <a:solidFill>
                      <a:schemeClr val="tx1"/>
                    </a:solidFill>
                    <a:effectLst/>
                    <a:latin typeface="Segoe WPC"/>
                  </a:rPr>
                  <a:t> (CDF)</a:t>
                </a:r>
                <a:br>
                  <a:rPr lang="es-PE" sz="800" b="0" i="0" dirty="0">
                    <a:solidFill>
                      <a:schemeClr val="tx1"/>
                    </a:solidFill>
                    <a:effectLst/>
                    <a:latin typeface="Segoe WPC"/>
                  </a:rPr>
                </a:br>
                <a:r>
                  <a:rPr lang="es-PE" sz="800" b="1" i="0" dirty="0" err="1">
                    <a:solidFill>
                      <a:schemeClr val="tx1"/>
                    </a:solidFill>
                    <a:effectLst/>
                    <a:latin typeface="Segoe WPC"/>
                  </a:rPr>
                  <a:t>Statistical</a:t>
                </a:r>
                <a:r>
                  <a:rPr lang="es-PE" sz="800" b="1" i="0" dirty="0">
                    <a:solidFill>
                      <a:schemeClr val="tx1"/>
                    </a:solidFill>
                    <a:effectLst/>
                    <a:latin typeface="Segoe WPC"/>
                  </a:rPr>
                  <a:t> </a:t>
                </a:r>
                <a:r>
                  <a:rPr lang="es-PE" sz="800" b="1" i="0" dirty="0" err="1">
                    <a:solidFill>
                      <a:schemeClr val="tx1"/>
                    </a:solidFill>
                    <a:effectLst/>
                    <a:latin typeface="Segoe WPC"/>
                  </a:rPr>
                  <a:t>Object</a:t>
                </a:r>
                <a:r>
                  <a:rPr lang="es-PE" sz="800" b="1" i="0" dirty="0">
                    <a:solidFill>
                      <a:schemeClr val="tx1"/>
                    </a:solidFill>
                    <a:effectLst/>
                    <a:latin typeface="Segoe WPC"/>
                  </a:rPr>
                  <a:t>:</a:t>
                </a:r>
                <a:r>
                  <a:rPr lang="es-PE" sz="800" b="0" i="0" dirty="0">
                    <a:solidFill>
                      <a:schemeClr val="tx1"/>
                    </a:solidFill>
                    <a:effectLst/>
                    <a:latin typeface="Segoe WPC"/>
                  </a:rPr>
                  <a:t> A </a:t>
                </a:r>
                <a:r>
                  <a:rPr lang="es-PE" sz="800" b="0" i="0" dirty="0" err="1">
                    <a:solidFill>
                      <a:schemeClr val="tx1"/>
                    </a:solidFill>
                    <a:effectLst/>
                    <a:latin typeface="Segoe WPC"/>
                  </a:rPr>
                  <a:t>function</a:t>
                </a:r>
                <a:r>
                  <a:rPr lang="es-PE" sz="800" b="0" i="0" dirty="0">
                    <a:solidFill>
                      <a:schemeClr val="tx1"/>
                    </a:solidFill>
                    <a:effectLst/>
                    <a:latin typeface="Segoe WPC"/>
                  </a:rPr>
                  <a:t> </a:t>
                </a:r>
                <a:r>
                  <a:rPr lang="es-PE" sz="800" b="0" i="0" dirty="0" err="1">
                    <a:solidFill>
                      <a:schemeClr val="tx1"/>
                    </a:solidFill>
                    <a:effectLst/>
                    <a:latin typeface="Segoe WPC"/>
                  </a:rPr>
                  <a:t>giving</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a:t>
                </a:r>
                <a:r>
                  <a:rPr lang="es-PE" sz="800" b="0" i="0" dirty="0" err="1">
                    <a:solidFill>
                      <a:schemeClr val="tx1"/>
                    </a:solidFill>
                    <a:effectLst/>
                    <a:latin typeface="Segoe WPC"/>
                  </a:rPr>
                  <a:t>probability</a:t>
                </a:r>
                <a:r>
                  <a:rPr lang="es-PE" sz="800" b="0" i="0" dirty="0">
                    <a:solidFill>
                      <a:schemeClr val="tx1"/>
                    </a:solidFill>
                    <a:effectLst/>
                    <a:latin typeface="Segoe WPC"/>
                  </a:rPr>
                  <a:t> </a:t>
                </a:r>
                <a:r>
                  <a:rPr lang="es-PE" sz="800" b="0" i="0" dirty="0" err="1">
                    <a:solidFill>
                      <a:schemeClr val="tx1"/>
                    </a:solidFill>
                    <a:effectLst/>
                    <a:latin typeface="Segoe WPC"/>
                  </a:rPr>
                  <a:t>that</a:t>
                </a:r>
                <a:r>
                  <a:rPr lang="es-PE" sz="800" b="0" i="0" dirty="0">
                    <a:solidFill>
                      <a:schemeClr val="tx1"/>
                    </a:solidFill>
                    <a:effectLst/>
                    <a:latin typeface="Segoe WPC"/>
                  </a:rPr>
                  <a:t> </a:t>
                </a:r>
                <a14:m>
                  <m:oMath xmlns:m="http://schemas.openxmlformats.org/officeDocument/2006/math">
                    <m:r>
                      <a:rPr lang="es-PE" sz="800" i="1">
                        <a:solidFill>
                          <a:schemeClr val="tx1"/>
                        </a:solidFill>
                        <a:latin typeface="Cambria Math" panose="02040503050406030204" pitchFamily="18" charset="0"/>
                      </a:rPr>
                      <m:t>𝑋</m:t>
                    </m:r>
                  </m:oMath>
                </a14:m>
                <a:r>
                  <a:rPr lang="es-PE" sz="800" b="0" i="0" dirty="0">
                    <a:solidFill>
                      <a:schemeClr val="tx1"/>
                    </a:solidFill>
                    <a:effectLst/>
                    <a:latin typeface="Segoe WPC"/>
                  </a:rPr>
                  <a:t> </a:t>
                </a:r>
                <a:r>
                  <a:rPr lang="es-PE" sz="800" b="0" i="0" dirty="0" err="1">
                    <a:solidFill>
                      <a:schemeClr val="tx1"/>
                    </a:solidFill>
                    <a:effectLst/>
                    <a:latin typeface="Segoe WPC"/>
                  </a:rPr>
                  <a:t>is</a:t>
                </a:r>
                <a:r>
                  <a:rPr lang="es-PE" sz="800" b="0" i="0" dirty="0">
                    <a:solidFill>
                      <a:schemeClr val="tx1"/>
                    </a:solidFill>
                    <a:effectLst/>
                    <a:latin typeface="Segoe WPC"/>
                  </a:rPr>
                  <a:t> </a:t>
                </a:r>
                <a:r>
                  <a:rPr lang="es-PE" sz="800" b="0" i="0" dirty="0" err="1">
                    <a:solidFill>
                      <a:schemeClr val="tx1"/>
                    </a:solidFill>
                    <a:effectLst/>
                    <a:latin typeface="Segoe WPC"/>
                  </a:rPr>
                  <a:t>less</a:t>
                </a:r>
                <a:r>
                  <a:rPr lang="es-PE" sz="800" b="0" i="0" dirty="0">
                    <a:solidFill>
                      <a:schemeClr val="tx1"/>
                    </a:solidFill>
                    <a:effectLst/>
                    <a:latin typeface="Segoe WPC"/>
                  </a:rPr>
                  <a:t> </a:t>
                </a:r>
                <a:r>
                  <a:rPr lang="es-PE" sz="800" b="0" i="0" dirty="0" err="1">
                    <a:solidFill>
                      <a:schemeClr val="tx1"/>
                    </a:solidFill>
                    <a:effectLst/>
                    <a:latin typeface="Segoe WPC"/>
                  </a:rPr>
                  <a:t>than</a:t>
                </a:r>
                <a:r>
                  <a:rPr lang="es-PE" sz="800" b="0" i="0" dirty="0">
                    <a:solidFill>
                      <a:schemeClr val="tx1"/>
                    </a:solidFill>
                    <a:effectLst/>
                    <a:latin typeface="Segoe WPC"/>
                  </a:rPr>
                  <a:t> </a:t>
                </a:r>
                <a:r>
                  <a:rPr lang="es-PE" sz="800" b="0" i="0" dirty="0" err="1">
                    <a:solidFill>
                      <a:schemeClr val="tx1"/>
                    </a:solidFill>
                    <a:effectLst/>
                    <a:latin typeface="Segoe WPC"/>
                  </a:rPr>
                  <a:t>or</a:t>
                </a:r>
                <a:r>
                  <a:rPr lang="es-PE" sz="800" b="0" i="0" dirty="0">
                    <a:solidFill>
                      <a:schemeClr val="tx1"/>
                    </a:solidFill>
                    <a:effectLst/>
                    <a:latin typeface="Segoe WPC"/>
                  </a:rPr>
                  <a:t> </a:t>
                </a:r>
                <a:r>
                  <a:rPr lang="es-PE" sz="800" b="0" i="0" dirty="0" err="1">
                    <a:solidFill>
                      <a:schemeClr val="tx1"/>
                    </a:solidFill>
                    <a:effectLst/>
                    <a:latin typeface="Segoe WPC"/>
                  </a:rPr>
                  <a:t>equal</a:t>
                </a:r>
                <a:r>
                  <a:rPr lang="es-PE" sz="800" b="0" i="0" dirty="0">
                    <a:solidFill>
                      <a:schemeClr val="tx1"/>
                    </a:solidFill>
                    <a:effectLst/>
                    <a:latin typeface="Segoe WPC"/>
                  </a:rPr>
                  <a:t> </a:t>
                </a:r>
                <a:r>
                  <a:rPr lang="es-PE" sz="800" b="0" i="0" dirty="0" err="1">
                    <a:solidFill>
                      <a:schemeClr val="tx1"/>
                    </a:solidFill>
                    <a:effectLst/>
                    <a:latin typeface="Segoe WPC"/>
                  </a:rPr>
                  <a:t>to</a:t>
                </a:r>
                <a:r>
                  <a:rPr lang="es-PE" sz="800" b="0" i="0" dirty="0">
                    <a:solidFill>
                      <a:schemeClr val="tx1"/>
                    </a:solidFill>
                    <a:effectLst/>
                    <a:latin typeface="Segoe WPC"/>
                  </a:rPr>
                  <a:t> </a:t>
                </a:r>
                <a14:m>
                  <m:oMath xmlns:m="http://schemas.openxmlformats.org/officeDocument/2006/math">
                    <m:r>
                      <a:rPr lang="es-PE" sz="800" i="1">
                        <a:solidFill>
                          <a:schemeClr val="tx1"/>
                        </a:solidFill>
                        <a:latin typeface="Cambria Math" panose="02040503050406030204" pitchFamily="18" charset="0"/>
                      </a:rPr>
                      <m:t>𝑥</m:t>
                    </m:r>
                  </m:oMath>
                </a14:m>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err="1">
                    <a:solidFill>
                      <a:schemeClr val="tx1"/>
                    </a:solidFill>
                    <a:effectLst/>
                    <a:latin typeface="Segoe WPC"/>
                  </a:rPr>
                  <a:t>Plain</a:t>
                </a:r>
                <a:r>
                  <a:rPr lang="es-PE" sz="800" b="1" i="0" dirty="0">
                    <a:solidFill>
                      <a:schemeClr val="tx1"/>
                    </a:solidFill>
                    <a:effectLst/>
                    <a:latin typeface="Segoe WPC"/>
                  </a:rPr>
                  <a:t>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It</a:t>
                </a:r>
                <a:r>
                  <a:rPr lang="es-PE" sz="800" b="0" i="0" dirty="0">
                    <a:solidFill>
                      <a:schemeClr val="tx1"/>
                    </a:solidFill>
                    <a:effectLst/>
                    <a:latin typeface="Segoe WPC"/>
                  </a:rPr>
                  <a:t> </a:t>
                </a:r>
                <a:r>
                  <a:rPr lang="es-PE" sz="800" b="0" i="0" dirty="0" err="1">
                    <a:solidFill>
                      <a:schemeClr val="tx1"/>
                    </a:solidFill>
                    <a:effectLst/>
                    <a:latin typeface="Segoe WPC"/>
                  </a:rPr>
                  <a:t>accumulates</a:t>
                </a:r>
                <a:r>
                  <a:rPr lang="es-PE" sz="800" b="0" i="0" dirty="0">
                    <a:solidFill>
                      <a:schemeClr val="tx1"/>
                    </a:solidFill>
                    <a:effectLst/>
                    <a:latin typeface="Segoe WPC"/>
                  </a:rPr>
                  <a:t> </a:t>
                </a:r>
                <a:r>
                  <a:rPr lang="es-PE" sz="800" b="0" i="0" dirty="0" err="1">
                    <a:solidFill>
                      <a:schemeClr val="tx1"/>
                    </a:solidFill>
                    <a:effectLst/>
                    <a:latin typeface="Segoe WPC"/>
                  </a:rPr>
                  <a:t>probability</a:t>
                </a:r>
                <a:r>
                  <a:rPr lang="es-PE" sz="800" b="0" i="0" dirty="0">
                    <a:solidFill>
                      <a:schemeClr val="tx1"/>
                    </a:solidFill>
                    <a:effectLst/>
                    <a:latin typeface="Segoe WPC"/>
                  </a:rPr>
                  <a:t> </a:t>
                </a:r>
                <a:r>
                  <a:rPr lang="es-PE" sz="800" b="0" i="0" dirty="0" err="1">
                    <a:solidFill>
                      <a:schemeClr val="tx1"/>
                    </a:solidFill>
                    <a:effectLst/>
                    <a:latin typeface="Segoe WPC"/>
                  </a:rPr>
                  <a:t>from</a:t>
                </a:r>
                <a:r>
                  <a:rPr lang="es-PE" sz="800" b="0" i="0" dirty="0">
                    <a:solidFill>
                      <a:schemeClr val="tx1"/>
                    </a:solidFill>
                    <a:effectLst/>
                    <a:latin typeface="Segoe WPC"/>
                  </a:rPr>
                  <a:t> </a:t>
                </a:r>
                <a:r>
                  <a:rPr lang="es-PE" sz="800" b="0" i="0" dirty="0" err="1">
                    <a:solidFill>
                      <a:schemeClr val="tx1"/>
                    </a:solidFill>
                    <a:effectLst/>
                    <a:latin typeface="Segoe WPC"/>
                  </a:rPr>
                  <a:t>left</a:t>
                </a:r>
                <a:r>
                  <a:rPr lang="es-PE" sz="800" b="0" i="0" dirty="0">
                    <a:solidFill>
                      <a:schemeClr val="tx1"/>
                    </a:solidFill>
                    <a:effectLst/>
                    <a:latin typeface="Segoe WPC"/>
                  </a:rPr>
                  <a:t> </a:t>
                </a:r>
                <a:r>
                  <a:rPr lang="es-PE" sz="800" b="0" i="0" dirty="0" err="1">
                    <a:solidFill>
                      <a:schemeClr val="tx1"/>
                    </a:solidFill>
                    <a:effectLst/>
                    <a:latin typeface="Segoe WPC"/>
                  </a:rPr>
                  <a:t>to</a:t>
                </a:r>
                <a:r>
                  <a:rPr lang="es-PE" sz="800" b="0" i="0" dirty="0">
                    <a:solidFill>
                      <a:schemeClr val="tx1"/>
                    </a:solidFill>
                    <a:effectLst/>
                    <a:latin typeface="Segoe WPC"/>
                  </a:rPr>
                  <a:t> </a:t>
                </a:r>
                <a:r>
                  <a:rPr lang="es-PE" sz="800" b="0" i="0" dirty="0" err="1">
                    <a:solidFill>
                      <a:schemeClr val="tx1"/>
                    </a:solidFill>
                    <a:effectLst/>
                    <a:latin typeface="Segoe WPC"/>
                  </a:rPr>
                  <a:t>right</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a:solidFill>
                      <a:schemeClr val="tx1"/>
                    </a:solidFill>
                    <a:effectLst/>
                    <a:latin typeface="Segoe WPC"/>
                  </a:rPr>
                  <a:t>Visual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An</a:t>
                </a:r>
                <a:r>
                  <a:rPr lang="es-PE" sz="800" b="0" i="0" dirty="0">
                    <a:solidFill>
                      <a:schemeClr val="tx1"/>
                    </a:solidFill>
                    <a:effectLst/>
                    <a:latin typeface="Segoe WPC"/>
                  </a:rPr>
                  <a:t> </a:t>
                </a:r>
                <a:r>
                  <a:rPr lang="es-PE" sz="800" b="0" i="0" dirty="0" err="1">
                    <a:solidFill>
                      <a:schemeClr val="tx1"/>
                    </a:solidFill>
                    <a:effectLst/>
                    <a:latin typeface="Segoe WPC"/>
                  </a:rPr>
                  <a:t>increasing</a:t>
                </a:r>
                <a:r>
                  <a:rPr lang="es-PE" sz="800" b="0" i="0" dirty="0">
                    <a:solidFill>
                      <a:schemeClr val="tx1"/>
                    </a:solidFill>
                    <a:effectLst/>
                    <a:latin typeface="Segoe WPC"/>
                  </a:rPr>
                  <a:t> </a:t>
                </a:r>
                <a:r>
                  <a:rPr lang="es-PE" sz="800" b="0" i="0" dirty="0" err="1">
                    <a:solidFill>
                      <a:schemeClr val="tx1"/>
                    </a:solidFill>
                    <a:effectLst/>
                    <a:latin typeface="Segoe WPC"/>
                  </a:rPr>
                  <a:t>staircase</a:t>
                </a:r>
                <a:r>
                  <a:rPr lang="es-PE" sz="800" b="0" i="0" dirty="0">
                    <a:solidFill>
                      <a:schemeClr val="tx1"/>
                    </a:solidFill>
                    <a:effectLst/>
                    <a:latin typeface="Segoe WPC"/>
                  </a:rPr>
                  <a:t> </a:t>
                </a:r>
                <a:r>
                  <a:rPr lang="es-PE" sz="800" b="0" i="0" dirty="0" err="1">
                    <a:solidFill>
                      <a:schemeClr val="tx1"/>
                    </a:solidFill>
                    <a:effectLst/>
                    <a:latin typeface="Segoe WPC"/>
                  </a:rPr>
                  <a:t>or</a:t>
                </a:r>
                <a:r>
                  <a:rPr lang="es-PE" sz="800" b="0" i="0" dirty="0">
                    <a:solidFill>
                      <a:schemeClr val="tx1"/>
                    </a:solidFill>
                    <a:effectLst/>
                    <a:latin typeface="Segoe WPC"/>
                  </a:rPr>
                  <a:t> </a:t>
                </a:r>
                <a:r>
                  <a:rPr lang="es-PE" sz="800" b="0" i="0" dirty="0" err="1">
                    <a:solidFill>
                      <a:schemeClr val="tx1"/>
                    </a:solidFill>
                    <a:effectLst/>
                    <a:latin typeface="Segoe WPC"/>
                  </a:rPr>
                  <a:t>smooth</a:t>
                </a:r>
                <a:r>
                  <a:rPr lang="es-PE" sz="800" b="0" i="0" dirty="0">
                    <a:solidFill>
                      <a:schemeClr val="tx1"/>
                    </a:solidFill>
                    <a:effectLst/>
                    <a:latin typeface="Segoe WPC"/>
                  </a:rPr>
                  <a:t> S-</a:t>
                </a:r>
                <a:r>
                  <a:rPr lang="es-PE" sz="800" b="0" i="0" dirty="0" err="1">
                    <a:solidFill>
                      <a:schemeClr val="tx1"/>
                    </a:solidFill>
                    <a:effectLst/>
                    <a:latin typeface="Segoe WPC"/>
                  </a:rPr>
                  <a:t>shaped</a:t>
                </a:r>
                <a:r>
                  <a:rPr lang="es-PE" sz="800" b="0" i="0" dirty="0">
                    <a:solidFill>
                      <a:schemeClr val="tx1"/>
                    </a:solidFill>
                    <a:effectLst/>
                    <a:latin typeface="Segoe WPC"/>
                  </a:rPr>
                  <a:t> curve.</a:t>
                </a:r>
                <a:br>
                  <a:rPr lang="es-PE" sz="800" b="0" i="0" dirty="0">
                    <a:solidFill>
                      <a:schemeClr val="tx1"/>
                    </a:solidFill>
                    <a:effectLst/>
                    <a:latin typeface="Segoe WPC"/>
                  </a:rPr>
                </a:br>
                <a:r>
                  <a:rPr lang="es-PE" sz="800" b="1" i="0" dirty="0">
                    <a:solidFill>
                      <a:schemeClr val="tx1"/>
                    </a:solidFill>
                    <a:effectLst/>
                    <a:latin typeface="Segoe WPC"/>
                  </a:rPr>
                  <a:t>Key Formula:</a:t>
                </a:r>
                <a:r>
                  <a:rPr lang="es-PE" sz="800" b="0" i="0" dirty="0">
                    <a:solidFill>
                      <a:schemeClr val="tx1"/>
                    </a:solidFill>
                    <a:effectLst/>
                    <a:latin typeface="Segoe WPC"/>
                  </a:rPr>
                  <a:t> </a:t>
                </a:r>
                <a14:m>
                  <m:oMath xmlns:m="http://schemas.openxmlformats.org/officeDocument/2006/math">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𝐹</m:t>
                        </m:r>
                      </m:e>
                      <m:sub>
                        <m:r>
                          <a:rPr lang="ar-AE" sz="800" i="1">
                            <a:solidFill>
                              <a:schemeClr val="tx1"/>
                            </a:solidFill>
                            <a:latin typeface="Cambria Math" panose="02040503050406030204" pitchFamily="18" charset="0"/>
                          </a:rPr>
                          <m:t>𝑋</m:t>
                        </m:r>
                      </m:sub>
                    </m:sSub>
                    <m:d>
                      <m:dPr>
                        <m:ctrlPr>
                          <a:rPr lang="ar-AE" sz="800" i="1">
                            <a:solidFill>
                              <a:schemeClr val="tx1"/>
                            </a:solidFill>
                            <a:latin typeface="Cambria Math" panose="02040503050406030204" pitchFamily="18" charset="0"/>
                          </a:rPr>
                        </m:ctrlPr>
                      </m:dPr>
                      <m:e>
                        <m:r>
                          <a:rPr lang="ar-AE" sz="800" i="1">
                            <a:solidFill>
                              <a:schemeClr val="tx1"/>
                            </a:solidFill>
                            <a:latin typeface="Cambria Math" panose="02040503050406030204" pitchFamily="18" charset="0"/>
                          </a:rPr>
                          <m:t>𝑥</m:t>
                        </m:r>
                      </m:e>
                    </m:d>
                    <m:r>
                      <a:rPr lang="ar-AE" sz="800" i="0">
                        <a:solidFill>
                          <a:schemeClr val="tx1"/>
                        </a:solidFill>
                        <a:latin typeface="Cambria Math" panose="02040503050406030204" pitchFamily="18" charset="0"/>
                      </a:rPr>
                      <m:t>=</m:t>
                    </m:r>
                    <m:r>
                      <a:rPr lang="ar-AE" sz="800" i="1">
                        <a:solidFill>
                          <a:schemeClr val="tx1"/>
                        </a:solidFill>
                        <a:latin typeface="Cambria Math" panose="02040503050406030204" pitchFamily="18" charset="0"/>
                      </a:rPr>
                      <m:t>𝑃𝑟</m:t>
                    </m:r>
                    <m:d>
                      <m:dPr>
                        <m:ctrlPr>
                          <a:rPr lang="ar-AE" sz="800" i="1">
                            <a:solidFill>
                              <a:schemeClr val="tx1"/>
                            </a:solidFill>
                            <a:latin typeface="Cambria Math" panose="02040503050406030204" pitchFamily="18" charset="0"/>
                          </a:rPr>
                        </m:ctrlPr>
                      </m:dPr>
                      <m:e>
                        <m:r>
                          <a:rPr lang="ar-AE" sz="800" i="1">
                            <a:solidFill>
                              <a:schemeClr val="tx1"/>
                            </a:solidFill>
                            <a:latin typeface="Cambria Math" panose="02040503050406030204" pitchFamily="18" charset="0"/>
                          </a:rPr>
                          <m:t>𝑋</m:t>
                        </m:r>
                        <m:r>
                          <a:rPr lang="ar-AE" sz="800" i="0">
                            <a:solidFill>
                              <a:schemeClr val="tx1"/>
                            </a:solidFill>
                            <a:latin typeface="Cambria Math" panose="02040503050406030204" pitchFamily="18" charset="0"/>
                          </a:rPr>
                          <m:t>≤</m:t>
                        </m:r>
                        <m:r>
                          <a:rPr lang="ar-AE" sz="800" i="1">
                            <a:solidFill>
                              <a:schemeClr val="tx1"/>
                            </a:solidFill>
                            <a:latin typeface="Cambria Math" panose="02040503050406030204" pitchFamily="18" charset="0"/>
                          </a:rPr>
                          <m:t>𝑥</m:t>
                        </m:r>
                      </m:e>
                    </m:d>
                  </m:oMath>
                </a14:m>
                <a:br>
                  <a:rPr lang="ar-AE" sz="800" b="0" i="0" dirty="0">
                    <a:solidFill>
                      <a:schemeClr val="tx1"/>
                    </a:solidFill>
                    <a:effectLst/>
                    <a:latin typeface="Segoe WPC"/>
                  </a:rPr>
                </a:br>
                <a:r>
                  <a:rPr lang="es-PE" sz="800" b="1" i="0" dirty="0" err="1">
                    <a:solidFill>
                      <a:schemeClr val="tx1"/>
                    </a:solidFill>
                    <a:effectLst/>
                    <a:latin typeface="Segoe WPC"/>
                  </a:rPr>
                  <a:t>Interpretation</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CDF </a:t>
                </a:r>
                <a:r>
                  <a:rPr lang="es-PE" sz="800" b="0" i="0" dirty="0" err="1">
                    <a:solidFill>
                      <a:schemeClr val="tx1"/>
                    </a:solidFill>
                    <a:effectLst/>
                    <a:latin typeface="Segoe WPC"/>
                  </a:rPr>
                  <a:t>tells</a:t>
                </a:r>
                <a:r>
                  <a:rPr lang="es-PE" sz="800" b="0" i="0" dirty="0">
                    <a:solidFill>
                      <a:schemeClr val="tx1"/>
                    </a:solidFill>
                    <a:effectLst/>
                    <a:latin typeface="Segoe WPC"/>
                  </a:rPr>
                  <a:t> </a:t>
                </a:r>
                <a:r>
                  <a:rPr lang="es-PE" sz="800" b="0" i="0" dirty="0" err="1">
                    <a:solidFill>
                      <a:schemeClr val="tx1"/>
                    </a:solidFill>
                    <a:effectLst/>
                    <a:latin typeface="Segoe WPC"/>
                  </a:rPr>
                  <a:t>you</a:t>
                </a:r>
                <a:r>
                  <a:rPr lang="es-PE" sz="800" b="0" i="0" dirty="0">
                    <a:solidFill>
                      <a:schemeClr val="tx1"/>
                    </a:solidFill>
                    <a:effectLst/>
                    <a:latin typeface="Segoe WPC"/>
                  </a:rPr>
                  <a:t> </a:t>
                </a:r>
                <a:r>
                  <a:rPr lang="es-PE" sz="800" b="0" i="0" dirty="0" err="1">
                    <a:solidFill>
                      <a:schemeClr val="tx1"/>
                    </a:solidFill>
                    <a:effectLst/>
                    <a:latin typeface="Segoe WPC"/>
                  </a:rPr>
                  <a:t>how</a:t>
                </a:r>
                <a:r>
                  <a:rPr lang="es-PE" sz="800" b="0" i="0" dirty="0">
                    <a:solidFill>
                      <a:schemeClr val="tx1"/>
                    </a:solidFill>
                    <a:effectLst/>
                    <a:latin typeface="Segoe WPC"/>
                  </a:rPr>
                  <a:t> </a:t>
                </a:r>
                <a:r>
                  <a:rPr lang="es-PE" sz="800" b="0" i="0" dirty="0" err="1">
                    <a:solidFill>
                      <a:schemeClr val="tx1"/>
                    </a:solidFill>
                    <a:effectLst/>
                    <a:latin typeface="Segoe WPC"/>
                  </a:rPr>
                  <a:t>much</a:t>
                </a:r>
                <a:r>
                  <a:rPr lang="es-PE" sz="800" b="0" i="0" dirty="0">
                    <a:solidFill>
                      <a:schemeClr val="tx1"/>
                    </a:solidFill>
                    <a:effectLst/>
                    <a:latin typeface="Segoe WPC"/>
                  </a:rPr>
                  <a:t> </a:t>
                </a:r>
                <a:r>
                  <a:rPr lang="es-PE" sz="800" b="0" i="0" dirty="0" err="1">
                    <a:solidFill>
                      <a:schemeClr val="tx1"/>
                    </a:solidFill>
                    <a:effectLst/>
                    <a:latin typeface="Segoe WPC"/>
                  </a:rPr>
                  <a:t>probability</a:t>
                </a:r>
                <a:r>
                  <a:rPr lang="es-PE" sz="800" b="0" i="0" dirty="0">
                    <a:solidFill>
                      <a:schemeClr val="tx1"/>
                    </a:solidFill>
                    <a:effectLst/>
                    <a:latin typeface="Segoe WPC"/>
                  </a:rPr>
                  <a:t> has </a:t>
                </a:r>
                <a:r>
                  <a:rPr lang="es-PE" sz="800" b="0" i="0" dirty="0" err="1">
                    <a:solidFill>
                      <a:schemeClr val="tx1"/>
                    </a:solidFill>
                    <a:effectLst/>
                    <a:latin typeface="Segoe WPC"/>
                  </a:rPr>
                  <a:t>already</a:t>
                </a:r>
                <a:r>
                  <a:rPr lang="es-PE" sz="800" b="0" i="0" dirty="0">
                    <a:solidFill>
                      <a:schemeClr val="tx1"/>
                    </a:solidFill>
                    <a:effectLst/>
                    <a:latin typeface="Segoe WPC"/>
                  </a:rPr>
                  <a:t> </a:t>
                </a:r>
                <a:r>
                  <a:rPr lang="es-PE" sz="800" b="0" i="0" dirty="0" err="1">
                    <a:solidFill>
                      <a:schemeClr val="tx1"/>
                    </a:solidFill>
                    <a:effectLst/>
                    <a:latin typeface="Segoe WPC"/>
                  </a:rPr>
                  <a:t>accumulated</a:t>
                </a:r>
                <a:r>
                  <a:rPr lang="es-PE" sz="800" b="0" i="0" dirty="0">
                    <a:solidFill>
                      <a:schemeClr val="tx1"/>
                    </a:solidFill>
                    <a:effectLst/>
                    <a:latin typeface="Segoe WPC"/>
                  </a:rPr>
                  <a:t> up </a:t>
                </a:r>
                <a:r>
                  <a:rPr lang="es-PE" sz="800" b="0" i="0" dirty="0" err="1">
                    <a:solidFill>
                      <a:schemeClr val="tx1"/>
                    </a:solidFill>
                    <a:effectLst/>
                    <a:latin typeface="Segoe WPC"/>
                  </a:rPr>
                  <a:t>to</a:t>
                </a:r>
                <a:r>
                  <a:rPr lang="es-PE" sz="800" b="0" i="0" dirty="0">
                    <a:solidFill>
                      <a:schemeClr val="tx1"/>
                    </a:solidFill>
                    <a:effectLst/>
                    <a:latin typeface="Segoe WPC"/>
                  </a:rPr>
                  <a:t> </a:t>
                </a:r>
                <a14:m>
                  <m:oMath xmlns:m="http://schemas.openxmlformats.org/officeDocument/2006/math">
                    <m:r>
                      <a:rPr lang="es-PE" sz="800" i="1">
                        <a:solidFill>
                          <a:schemeClr val="tx1"/>
                        </a:solidFill>
                        <a:latin typeface="Cambria Math" panose="02040503050406030204" pitchFamily="18" charset="0"/>
                      </a:rPr>
                      <m:t>𝑥</m:t>
                    </m:r>
                  </m:oMath>
                </a14:m>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err="1">
                    <a:solidFill>
                      <a:schemeClr val="tx1"/>
                    </a:solidFill>
                    <a:effectLst/>
                    <a:latin typeface="Segoe WPC"/>
                  </a:rPr>
                  <a:t>Exam</a:t>
                </a:r>
                <a:r>
                  <a:rPr lang="es-PE" sz="800" b="1" i="0" dirty="0">
                    <a:solidFill>
                      <a:schemeClr val="tx1"/>
                    </a:solidFill>
                    <a:effectLst/>
                    <a:latin typeface="Segoe WPC"/>
                  </a:rPr>
                  <a:t> </a:t>
                </a:r>
                <a:r>
                  <a:rPr lang="es-PE" sz="800" b="1" i="0" dirty="0" err="1">
                    <a:solidFill>
                      <a:schemeClr val="tx1"/>
                    </a:solidFill>
                    <a:effectLst/>
                    <a:latin typeface="Segoe WPC"/>
                  </a:rPr>
                  <a:t>Trap</a:t>
                </a:r>
                <a:r>
                  <a:rPr lang="es-PE" sz="800" b="1" i="0" dirty="0">
                    <a:solidFill>
                      <a:schemeClr val="tx1"/>
                    </a:solidFill>
                    <a:effectLst/>
                    <a:latin typeface="Segoe WPC"/>
                  </a:rPr>
                  <a:t>:</a:t>
                </a:r>
                <a:r>
                  <a:rPr lang="es-PE" sz="800" b="0" i="0" dirty="0">
                    <a:solidFill>
                      <a:schemeClr val="tx1"/>
                    </a:solidFill>
                    <a:effectLst/>
                    <a:latin typeface="Segoe WPC"/>
                  </a:rPr>
                  <a:t> CDF </a:t>
                </a:r>
                <a:r>
                  <a:rPr lang="es-PE" sz="800" b="0" i="0" dirty="0" err="1">
                    <a:solidFill>
                      <a:schemeClr val="tx1"/>
                    </a:solidFill>
                    <a:effectLst/>
                    <a:latin typeface="Segoe WPC"/>
                  </a:rPr>
                  <a:t>is</a:t>
                </a:r>
                <a:r>
                  <a:rPr lang="es-PE" sz="800" b="0" i="0" dirty="0">
                    <a:solidFill>
                      <a:schemeClr val="tx1"/>
                    </a:solidFill>
                    <a:effectLst/>
                    <a:latin typeface="Segoe WPC"/>
                  </a:rPr>
                  <a:t> cumulative </a:t>
                </a:r>
                <a:r>
                  <a:rPr lang="es-PE" sz="800" b="0" i="0" dirty="0" err="1">
                    <a:solidFill>
                      <a:schemeClr val="tx1"/>
                    </a:solidFill>
                    <a:effectLst/>
                    <a:latin typeface="Segoe WPC"/>
                  </a:rPr>
                  <a:t>probability</a:t>
                </a:r>
                <a:r>
                  <a:rPr lang="es-PE" sz="800" b="0" i="0" dirty="0">
                    <a:solidFill>
                      <a:schemeClr val="tx1"/>
                    </a:solidFill>
                    <a:effectLst/>
                    <a:latin typeface="Segoe WPC"/>
                  </a:rPr>
                  <a:t>, </a:t>
                </a:r>
                <a:r>
                  <a:rPr lang="es-PE" sz="800" b="0" i="0" dirty="0" err="1">
                    <a:solidFill>
                      <a:schemeClr val="tx1"/>
                    </a:solidFill>
                    <a:effectLst/>
                    <a:latin typeface="Segoe WPC"/>
                  </a:rPr>
                  <a:t>not</a:t>
                </a:r>
                <a:r>
                  <a:rPr lang="es-PE" sz="800" b="0" i="0" dirty="0">
                    <a:solidFill>
                      <a:schemeClr val="tx1"/>
                    </a:solidFill>
                    <a:effectLst/>
                    <a:latin typeface="Segoe WPC"/>
                  </a:rPr>
                  <a:t> </a:t>
                </a:r>
                <a:r>
                  <a:rPr lang="es-PE" sz="800" b="0" i="0" dirty="0" err="1">
                    <a:solidFill>
                      <a:schemeClr val="tx1"/>
                    </a:solidFill>
                    <a:effectLst/>
                    <a:latin typeface="Segoe WPC"/>
                  </a:rPr>
                  <a:t>point</a:t>
                </a:r>
                <a:r>
                  <a:rPr lang="es-PE" sz="800" b="0" i="0" dirty="0">
                    <a:solidFill>
                      <a:schemeClr val="tx1"/>
                    </a:solidFill>
                    <a:effectLst/>
                    <a:latin typeface="Segoe WPC"/>
                  </a:rPr>
                  <a:t> </a:t>
                </a:r>
                <a:r>
                  <a:rPr lang="es-PE" sz="800" b="0" i="0" dirty="0" err="1">
                    <a:solidFill>
                      <a:schemeClr val="tx1"/>
                    </a:solidFill>
                    <a:effectLst/>
                    <a:latin typeface="Segoe WPC"/>
                  </a:rPr>
                  <a:t>probability</a:t>
                </a:r>
                <a:r>
                  <a:rPr lang="es-PE" sz="800" b="0" i="0" dirty="0">
                    <a:solidFill>
                      <a:schemeClr val="tx1"/>
                    </a:solidFill>
                    <a:effectLst/>
                    <a:latin typeface="Segoe WPC"/>
                  </a:rPr>
                  <a:t>.</a:t>
                </a:r>
              </a:p>
              <a:p>
                <a:pPr algn="l">
                  <a:spcAft>
                    <a:spcPts val="1200"/>
                  </a:spcAft>
                  <a:buNone/>
                </a:pPr>
                <a:r>
                  <a:rPr lang="es-PE" sz="800" b="1" i="0" dirty="0">
                    <a:solidFill>
                      <a:schemeClr val="tx1"/>
                    </a:solidFill>
                    <a:effectLst/>
                    <a:latin typeface="Segoe WPC"/>
                  </a:rPr>
                  <a:t>5. </a:t>
                </a:r>
                <a:r>
                  <a:rPr lang="es-PE" sz="800" b="1" i="0" dirty="0" err="1">
                    <a:solidFill>
                      <a:schemeClr val="tx1"/>
                    </a:solidFill>
                    <a:effectLst/>
                    <a:latin typeface="Segoe WPC"/>
                  </a:rPr>
                  <a:t>Expectation</a:t>
                </a:r>
                <a:br>
                  <a:rPr lang="es-PE" sz="800" b="0" i="0" dirty="0">
                    <a:solidFill>
                      <a:schemeClr val="tx1"/>
                    </a:solidFill>
                    <a:effectLst/>
                    <a:latin typeface="Segoe WPC"/>
                  </a:rPr>
                </a:br>
                <a:r>
                  <a:rPr lang="es-PE" sz="800" b="1" i="0" dirty="0" err="1">
                    <a:solidFill>
                      <a:schemeClr val="tx1"/>
                    </a:solidFill>
                    <a:effectLst/>
                    <a:latin typeface="Segoe WPC"/>
                  </a:rPr>
                  <a:t>Statistical</a:t>
                </a:r>
                <a:r>
                  <a:rPr lang="es-PE" sz="800" b="1" i="0" dirty="0">
                    <a:solidFill>
                      <a:schemeClr val="tx1"/>
                    </a:solidFill>
                    <a:effectLst/>
                    <a:latin typeface="Segoe WPC"/>
                  </a:rPr>
                  <a:t> </a:t>
                </a:r>
                <a:r>
                  <a:rPr lang="es-PE" sz="800" b="1" i="0" dirty="0" err="1">
                    <a:solidFill>
                      <a:schemeClr val="tx1"/>
                    </a:solidFill>
                    <a:effectLst/>
                    <a:latin typeface="Segoe WPC"/>
                  </a:rPr>
                  <a:t>Object</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a:t>
                </a:r>
                <a:r>
                  <a:rPr lang="es-PE" sz="800" b="0" i="0" dirty="0" err="1">
                    <a:solidFill>
                      <a:schemeClr val="tx1"/>
                    </a:solidFill>
                    <a:effectLst/>
                    <a:latin typeface="Segoe WPC"/>
                  </a:rPr>
                  <a:t>probability-weighted</a:t>
                </a:r>
                <a:r>
                  <a:rPr lang="es-PE" sz="800" b="0" i="0" dirty="0">
                    <a:solidFill>
                      <a:schemeClr val="tx1"/>
                    </a:solidFill>
                    <a:effectLst/>
                    <a:latin typeface="Segoe WPC"/>
                  </a:rPr>
                  <a:t> </a:t>
                </a:r>
                <a:r>
                  <a:rPr lang="es-PE" sz="800" b="0" i="0" dirty="0" err="1">
                    <a:solidFill>
                      <a:schemeClr val="tx1"/>
                    </a:solidFill>
                    <a:effectLst/>
                    <a:latin typeface="Segoe WPC"/>
                  </a:rPr>
                  <a:t>average</a:t>
                </a:r>
                <a:r>
                  <a:rPr lang="es-PE" sz="800" b="0" i="0" dirty="0">
                    <a:solidFill>
                      <a:schemeClr val="tx1"/>
                    </a:solidFill>
                    <a:effectLst/>
                    <a:latin typeface="Segoe WPC"/>
                  </a:rPr>
                  <a:t> </a:t>
                </a:r>
                <a:r>
                  <a:rPr lang="es-PE" sz="800" b="0" i="0" dirty="0" err="1">
                    <a:solidFill>
                      <a:schemeClr val="tx1"/>
                    </a:solidFill>
                    <a:effectLst/>
                    <a:latin typeface="Segoe WPC"/>
                  </a:rPr>
                  <a:t>of</a:t>
                </a:r>
                <a:r>
                  <a:rPr lang="es-PE" sz="800" b="0" i="0" dirty="0">
                    <a:solidFill>
                      <a:schemeClr val="tx1"/>
                    </a:solidFill>
                    <a:effectLst/>
                    <a:latin typeface="Segoe WPC"/>
                  </a:rPr>
                  <a:t> a </a:t>
                </a:r>
                <a:r>
                  <a:rPr lang="es-PE" sz="800" b="0" i="0" dirty="0" err="1">
                    <a:solidFill>
                      <a:schemeClr val="tx1"/>
                    </a:solidFill>
                    <a:effectLst/>
                    <a:latin typeface="Segoe WPC"/>
                  </a:rPr>
                  <a:t>random</a:t>
                </a:r>
                <a:r>
                  <a:rPr lang="es-PE" sz="800" b="0" i="0" dirty="0">
                    <a:solidFill>
                      <a:schemeClr val="tx1"/>
                    </a:solidFill>
                    <a:effectLst/>
                    <a:latin typeface="Segoe WPC"/>
                  </a:rPr>
                  <a:t> variable.</a:t>
                </a:r>
                <a:br>
                  <a:rPr lang="es-PE" sz="800" b="0" i="0" dirty="0">
                    <a:solidFill>
                      <a:schemeClr val="tx1"/>
                    </a:solidFill>
                    <a:effectLst/>
                    <a:latin typeface="Segoe WPC"/>
                  </a:rPr>
                </a:br>
                <a:r>
                  <a:rPr lang="es-PE" sz="800" b="1" i="0" dirty="0" err="1">
                    <a:solidFill>
                      <a:schemeClr val="tx1"/>
                    </a:solidFill>
                    <a:effectLst/>
                    <a:latin typeface="Segoe WPC"/>
                  </a:rPr>
                  <a:t>Plain</a:t>
                </a:r>
                <a:r>
                  <a:rPr lang="es-PE" sz="800" b="1" i="0" dirty="0">
                    <a:solidFill>
                      <a:schemeClr val="tx1"/>
                    </a:solidFill>
                    <a:effectLst/>
                    <a:latin typeface="Segoe WPC"/>
                  </a:rPr>
                  <a:t>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It</a:t>
                </a:r>
                <a:r>
                  <a:rPr lang="es-PE" sz="800" b="0" i="0" dirty="0">
                    <a:solidFill>
                      <a:schemeClr val="tx1"/>
                    </a:solidFill>
                    <a:effectLst/>
                    <a:latin typeface="Segoe WPC"/>
                  </a:rPr>
                  <a:t> </a:t>
                </a:r>
                <a:r>
                  <a:rPr lang="es-PE" sz="800" b="0" i="0" dirty="0" err="1">
                    <a:solidFill>
                      <a:schemeClr val="tx1"/>
                    </a:solidFill>
                    <a:effectLst/>
                    <a:latin typeface="Segoe WPC"/>
                  </a:rPr>
                  <a:t>is</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a:t>
                </a:r>
                <a:r>
                  <a:rPr lang="es-PE" sz="800" b="0" i="0" dirty="0" err="1">
                    <a:solidFill>
                      <a:schemeClr val="tx1"/>
                    </a:solidFill>
                    <a:effectLst/>
                    <a:latin typeface="Segoe WPC"/>
                  </a:rPr>
                  <a:t>long</a:t>
                </a:r>
                <a:r>
                  <a:rPr lang="es-PE" sz="800" b="0" i="0" dirty="0">
                    <a:solidFill>
                      <a:schemeClr val="tx1"/>
                    </a:solidFill>
                    <a:effectLst/>
                    <a:latin typeface="Segoe WPC"/>
                  </a:rPr>
                  <a:t>-run </a:t>
                </a:r>
                <a:r>
                  <a:rPr lang="es-PE" sz="800" b="0" i="0" dirty="0" err="1">
                    <a:solidFill>
                      <a:schemeClr val="tx1"/>
                    </a:solidFill>
                    <a:effectLst/>
                    <a:latin typeface="Segoe WPC"/>
                  </a:rPr>
                  <a:t>average</a:t>
                </a:r>
                <a:r>
                  <a:rPr lang="es-PE" sz="800" b="0" i="0" dirty="0">
                    <a:solidFill>
                      <a:schemeClr val="tx1"/>
                    </a:solidFill>
                    <a:effectLst/>
                    <a:latin typeface="Segoe WPC"/>
                  </a:rPr>
                  <a:t> </a:t>
                </a:r>
                <a:r>
                  <a:rPr lang="es-PE" sz="800" b="0" i="0" dirty="0" err="1">
                    <a:solidFill>
                      <a:schemeClr val="tx1"/>
                    </a:solidFill>
                    <a:effectLst/>
                    <a:latin typeface="Segoe WPC"/>
                  </a:rPr>
                  <a:t>outcome</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a:solidFill>
                      <a:schemeClr val="tx1"/>
                    </a:solidFill>
                    <a:effectLst/>
                    <a:latin typeface="Segoe WPC"/>
                  </a:rPr>
                  <a:t>Visual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A </a:t>
                </a:r>
                <a:r>
                  <a:rPr lang="es-PE" sz="800" b="0" i="0" dirty="0" err="1">
                    <a:solidFill>
                      <a:schemeClr val="tx1"/>
                    </a:solidFill>
                    <a:effectLst/>
                    <a:latin typeface="Segoe WPC"/>
                  </a:rPr>
                  <a:t>balancing</a:t>
                </a:r>
                <a:r>
                  <a:rPr lang="es-PE" sz="800" b="0" i="0" dirty="0">
                    <a:solidFill>
                      <a:schemeClr val="tx1"/>
                    </a:solidFill>
                    <a:effectLst/>
                    <a:latin typeface="Segoe WPC"/>
                  </a:rPr>
                  <a:t> </a:t>
                </a:r>
                <a:r>
                  <a:rPr lang="es-PE" sz="800" b="0" i="0" dirty="0" err="1">
                    <a:solidFill>
                      <a:schemeClr val="tx1"/>
                    </a:solidFill>
                    <a:effectLst/>
                    <a:latin typeface="Segoe WPC"/>
                  </a:rPr>
                  <a:t>point</a:t>
                </a:r>
                <a:r>
                  <a:rPr lang="es-PE" sz="800" b="0" i="0" dirty="0">
                    <a:solidFill>
                      <a:schemeClr val="tx1"/>
                    </a:solidFill>
                    <a:effectLst/>
                    <a:latin typeface="Segoe WPC"/>
                  </a:rPr>
                  <a:t> </a:t>
                </a:r>
                <a:r>
                  <a:rPr lang="es-PE" sz="800" b="0" i="0" dirty="0" err="1">
                    <a:solidFill>
                      <a:schemeClr val="tx1"/>
                    </a:solidFill>
                    <a:effectLst/>
                    <a:latin typeface="Segoe WPC"/>
                  </a:rPr>
                  <a:t>of</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a:t>
                </a:r>
                <a:r>
                  <a:rPr lang="es-PE" sz="800" b="0" i="0" dirty="0" err="1">
                    <a:solidFill>
                      <a:schemeClr val="tx1"/>
                    </a:solidFill>
                    <a:effectLst/>
                    <a:latin typeface="Segoe WPC"/>
                  </a:rPr>
                  <a:t>distribution</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a:solidFill>
                      <a:schemeClr val="tx1"/>
                    </a:solidFill>
                    <a:effectLst/>
                    <a:latin typeface="Segoe WPC"/>
                  </a:rPr>
                  <a:t>Key Formula:</a:t>
                </a:r>
                <a:r>
                  <a:rPr lang="es-PE" sz="800" b="0" i="0" dirty="0">
                    <a:solidFill>
                      <a:schemeClr val="tx1"/>
                    </a:solidFill>
                    <a:effectLst/>
                    <a:latin typeface="Segoe WPC"/>
                  </a:rPr>
                  <a:t> </a:t>
                </a:r>
                <a14:m>
                  <m:oMath xmlns:m="http://schemas.openxmlformats.org/officeDocument/2006/math">
                    <m:r>
                      <a:rPr lang="es-PE" sz="800" i="1">
                        <a:solidFill>
                          <a:schemeClr val="tx1"/>
                        </a:solidFill>
                        <a:latin typeface="Cambria Math" panose="02040503050406030204" pitchFamily="18" charset="0"/>
                      </a:rPr>
                      <m:t>𝐸</m:t>
                    </m:r>
                    <m:d>
                      <m:dPr>
                        <m:begChr m:val="["/>
                        <m:endChr m:val="]"/>
                        <m:ctrlPr>
                          <a:rPr lang="ar-AE" sz="800" i="1">
                            <a:solidFill>
                              <a:schemeClr val="tx1"/>
                            </a:solidFill>
                            <a:latin typeface="Cambria Math" panose="02040503050406030204" pitchFamily="18" charset="0"/>
                          </a:rPr>
                        </m:ctrlPr>
                      </m:dPr>
                      <m:e>
                        <m:r>
                          <a:rPr lang="ar-AE" sz="800" i="1">
                            <a:solidFill>
                              <a:schemeClr val="tx1"/>
                            </a:solidFill>
                            <a:latin typeface="Cambria Math" panose="02040503050406030204" pitchFamily="18" charset="0"/>
                          </a:rPr>
                          <m:t>𝑋</m:t>
                        </m:r>
                      </m:e>
                    </m:d>
                    <m:r>
                      <a:rPr lang="ar-AE" sz="800" i="0">
                        <a:solidFill>
                          <a:schemeClr val="tx1"/>
                        </a:solidFill>
                        <a:latin typeface="Cambria Math" panose="02040503050406030204" pitchFamily="18" charset="0"/>
                      </a:rPr>
                      <m:t>=</m:t>
                    </m:r>
                    <m:nary>
                      <m:naryPr>
                        <m:chr m:val="∑"/>
                        <m:grow m:val="on"/>
                        <m:subHide m:val="on"/>
                        <m:supHide m:val="on"/>
                        <m:ctrlPr>
                          <a:rPr lang="ar-AE" sz="800" i="1">
                            <a:solidFill>
                              <a:schemeClr val="tx1"/>
                            </a:solidFill>
                            <a:latin typeface="Cambria Math" panose="02040503050406030204" pitchFamily="18" charset="0"/>
                          </a:rPr>
                        </m:ctrlPr>
                      </m:naryPr>
                      <m:sub/>
                      <m:sup/>
                      <m:e>
                        <m:r>
                          <a:rPr lang="ar-AE" sz="800" i="1">
                            <a:solidFill>
                              <a:schemeClr val="tx1"/>
                            </a:solidFill>
                            <a:latin typeface="Cambria Math" panose="02040503050406030204" pitchFamily="18" charset="0"/>
                          </a:rPr>
                          <m:t>𝑥</m:t>
                        </m:r>
                      </m:e>
                    </m:nary>
                    <m:r>
                      <m:rPr>
                        <m:nor/>
                      </m:rPr>
                      <a:rPr lang="ar-AE" sz="800" b="0" i="1">
                        <a:solidFill>
                          <a:schemeClr val="tx1"/>
                        </a:solidFill>
                        <a:latin typeface="Cambria Math" panose="02040503050406030204" pitchFamily="18" charset="0"/>
                      </a:rPr>
                      <m:t> </m:t>
                    </m:r>
                    <m:r>
                      <a:rPr lang="ar-AE" sz="800" b="0" i="1">
                        <a:solidFill>
                          <a:schemeClr val="tx1"/>
                        </a:solidFill>
                        <a:latin typeface="Cambria Math" panose="02040503050406030204" pitchFamily="18" charset="0"/>
                      </a:rPr>
                      <m:t>𝑃𝑟</m:t>
                    </m:r>
                    <m:d>
                      <m:dPr>
                        <m:ctrlPr>
                          <a:rPr lang="ar-AE" sz="800" b="0" i="1">
                            <a:solidFill>
                              <a:schemeClr val="tx1"/>
                            </a:solidFill>
                            <a:latin typeface="Cambria Math" panose="02040503050406030204" pitchFamily="18" charset="0"/>
                          </a:rPr>
                        </m:ctrlPr>
                      </m:dPr>
                      <m:e>
                        <m:r>
                          <a:rPr lang="ar-AE" sz="800" b="0" i="1">
                            <a:solidFill>
                              <a:schemeClr val="tx1"/>
                            </a:solidFill>
                            <a:latin typeface="Cambria Math" panose="02040503050406030204" pitchFamily="18" charset="0"/>
                          </a:rPr>
                          <m:t>𝑋</m:t>
                        </m:r>
                        <m:r>
                          <a:rPr lang="ar-AE" sz="800" b="0" i="0">
                            <a:solidFill>
                              <a:schemeClr val="tx1"/>
                            </a:solidFill>
                            <a:latin typeface="Cambria Math" panose="02040503050406030204" pitchFamily="18" charset="0"/>
                          </a:rPr>
                          <m:t>=</m:t>
                        </m:r>
                        <m:r>
                          <a:rPr lang="ar-AE" sz="800" b="0" i="1">
                            <a:solidFill>
                              <a:schemeClr val="tx1"/>
                            </a:solidFill>
                            <a:latin typeface="Cambria Math" panose="02040503050406030204" pitchFamily="18" charset="0"/>
                          </a:rPr>
                          <m:t>𝑥</m:t>
                        </m:r>
                      </m:e>
                    </m:d>
                  </m:oMath>
                </a14:m>
                <a:r>
                  <a:rPr lang="ar-AE" sz="800" b="0" i="0" dirty="0">
                    <a:solidFill>
                      <a:schemeClr val="tx1"/>
                    </a:solidFill>
                    <a:effectLst/>
                    <a:latin typeface="Segoe WPC"/>
                  </a:rPr>
                  <a:t> </a:t>
                </a:r>
                <a:r>
                  <a:rPr lang="es-PE" sz="800" b="0" i="0" dirty="0" err="1">
                    <a:solidFill>
                      <a:schemeClr val="tx1"/>
                    </a:solidFill>
                    <a:effectLst/>
                    <a:latin typeface="Segoe WPC"/>
                  </a:rPr>
                  <a:t>for</a:t>
                </a:r>
                <a:r>
                  <a:rPr lang="es-PE" sz="800" b="0" i="0" dirty="0">
                    <a:solidFill>
                      <a:schemeClr val="tx1"/>
                    </a:solidFill>
                    <a:effectLst/>
                    <a:latin typeface="Segoe WPC"/>
                  </a:rPr>
                  <a:t> discrete variables, and </a:t>
                </a:r>
                <a14:m>
                  <m:oMath xmlns:m="http://schemas.openxmlformats.org/officeDocument/2006/math">
                    <m:r>
                      <a:rPr lang="es-PE" sz="800" i="1">
                        <a:solidFill>
                          <a:schemeClr val="tx1"/>
                        </a:solidFill>
                        <a:latin typeface="Cambria Math" panose="02040503050406030204" pitchFamily="18" charset="0"/>
                      </a:rPr>
                      <m:t>𝐸</m:t>
                    </m:r>
                    <m:d>
                      <m:dPr>
                        <m:begChr m:val="["/>
                        <m:endChr m:val="]"/>
                        <m:ctrlPr>
                          <a:rPr lang="ar-AE" sz="800" i="1">
                            <a:solidFill>
                              <a:schemeClr val="tx1"/>
                            </a:solidFill>
                            <a:latin typeface="Cambria Math" panose="02040503050406030204" pitchFamily="18" charset="0"/>
                          </a:rPr>
                        </m:ctrlPr>
                      </m:dPr>
                      <m:e>
                        <m:r>
                          <a:rPr lang="ar-AE" sz="800" i="1">
                            <a:solidFill>
                              <a:schemeClr val="tx1"/>
                            </a:solidFill>
                            <a:latin typeface="Cambria Math" panose="02040503050406030204" pitchFamily="18" charset="0"/>
                          </a:rPr>
                          <m:t>𝑋</m:t>
                        </m:r>
                      </m:e>
                    </m:d>
                    <m:r>
                      <a:rPr lang="ar-AE" sz="800" i="0">
                        <a:solidFill>
                          <a:schemeClr val="tx1"/>
                        </a:solidFill>
                        <a:latin typeface="Cambria Math" panose="02040503050406030204" pitchFamily="18" charset="0"/>
                      </a:rPr>
                      <m:t>=</m:t>
                    </m:r>
                    <m:nary>
                      <m:naryPr>
                        <m:grow m:val="on"/>
                        <m:subHide m:val="on"/>
                        <m:supHide m:val="on"/>
                        <m:ctrlPr>
                          <a:rPr lang="ar-AE" sz="800" i="1">
                            <a:solidFill>
                              <a:schemeClr val="tx1"/>
                            </a:solidFill>
                            <a:latin typeface="Cambria Math" panose="02040503050406030204" pitchFamily="18" charset="0"/>
                          </a:rPr>
                        </m:ctrlPr>
                      </m:naryPr>
                      <m:sub/>
                      <m:sup/>
                      <m:e>
                        <m:r>
                          <a:rPr lang="ar-AE" sz="800" i="1">
                            <a:solidFill>
                              <a:schemeClr val="tx1"/>
                            </a:solidFill>
                            <a:latin typeface="Cambria Math" panose="02040503050406030204" pitchFamily="18" charset="0"/>
                          </a:rPr>
                          <m:t>𝑥</m:t>
                        </m:r>
                      </m:e>
                    </m:nary>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𝑓</m:t>
                        </m:r>
                      </m:e>
                      <m:sub>
                        <m:r>
                          <a:rPr lang="ar-AE" sz="800" i="1">
                            <a:solidFill>
                              <a:schemeClr val="tx1"/>
                            </a:solidFill>
                            <a:latin typeface="Cambria Math" panose="02040503050406030204" pitchFamily="18" charset="0"/>
                          </a:rPr>
                          <m:t>𝑋</m:t>
                        </m:r>
                      </m:sub>
                    </m:sSub>
                    <m:d>
                      <m:dPr>
                        <m:ctrlPr>
                          <a:rPr lang="ar-AE" sz="800" i="1">
                            <a:solidFill>
                              <a:schemeClr val="tx1"/>
                            </a:solidFill>
                            <a:latin typeface="Cambria Math" panose="02040503050406030204" pitchFamily="18" charset="0"/>
                          </a:rPr>
                        </m:ctrlPr>
                      </m:dPr>
                      <m:e>
                        <m:r>
                          <a:rPr lang="ar-AE" sz="800" i="1">
                            <a:solidFill>
                              <a:schemeClr val="tx1"/>
                            </a:solidFill>
                            <a:latin typeface="Cambria Math" panose="02040503050406030204" pitchFamily="18" charset="0"/>
                          </a:rPr>
                          <m:t>𝑥</m:t>
                        </m:r>
                      </m:e>
                    </m:d>
                    <m:r>
                      <m:rPr>
                        <m:nor/>
                      </m:rPr>
                      <a:rPr lang="ar-AE" sz="800" b="0" i="1">
                        <a:solidFill>
                          <a:schemeClr val="tx1"/>
                        </a:solidFill>
                        <a:latin typeface="Cambria Math" panose="02040503050406030204" pitchFamily="18" charset="0"/>
                      </a:rPr>
                      <m:t> </m:t>
                    </m:r>
                    <m:r>
                      <a:rPr lang="ar-AE" sz="800" b="0" i="1">
                        <a:solidFill>
                          <a:schemeClr val="tx1"/>
                        </a:solidFill>
                        <a:latin typeface="Cambria Math" panose="02040503050406030204" pitchFamily="18" charset="0"/>
                      </a:rPr>
                      <m:t>𝑑𝑥</m:t>
                    </m:r>
                  </m:oMath>
                </a14:m>
                <a:r>
                  <a:rPr lang="ar-AE" sz="800" b="0" i="0" dirty="0">
                    <a:solidFill>
                      <a:schemeClr val="tx1"/>
                    </a:solidFill>
                    <a:effectLst/>
                    <a:latin typeface="Segoe WPC"/>
                  </a:rPr>
                  <a:t> </a:t>
                </a:r>
                <a:r>
                  <a:rPr lang="es-PE" sz="800" b="0" i="0" dirty="0" err="1">
                    <a:solidFill>
                      <a:schemeClr val="tx1"/>
                    </a:solidFill>
                    <a:effectLst/>
                    <a:latin typeface="Segoe WPC"/>
                  </a:rPr>
                  <a:t>for</a:t>
                </a:r>
                <a:r>
                  <a:rPr lang="es-PE" sz="800" b="0" i="0" dirty="0">
                    <a:solidFill>
                      <a:schemeClr val="tx1"/>
                    </a:solidFill>
                    <a:effectLst/>
                    <a:latin typeface="Segoe WPC"/>
                  </a:rPr>
                  <a:t> </a:t>
                </a:r>
                <a:r>
                  <a:rPr lang="es-PE" sz="800" b="0" i="0" dirty="0" err="1">
                    <a:solidFill>
                      <a:schemeClr val="tx1"/>
                    </a:solidFill>
                    <a:effectLst/>
                    <a:latin typeface="Segoe WPC"/>
                  </a:rPr>
                  <a:t>continuous</a:t>
                </a:r>
                <a:r>
                  <a:rPr lang="es-PE" sz="800" b="0" i="0" dirty="0">
                    <a:solidFill>
                      <a:schemeClr val="tx1"/>
                    </a:solidFill>
                    <a:effectLst/>
                    <a:latin typeface="Segoe WPC"/>
                  </a:rPr>
                  <a:t> variables.</a:t>
                </a:r>
                <a:br>
                  <a:rPr lang="es-PE" sz="800" b="0" i="0" dirty="0">
                    <a:solidFill>
                      <a:schemeClr val="tx1"/>
                    </a:solidFill>
                    <a:effectLst/>
                    <a:latin typeface="Segoe WPC"/>
                  </a:rPr>
                </a:br>
                <a:r>
                  <a:rPr lang="es-PE" sz="800" b="1" i="0" dirty="0" err="1">
                    <a:solidFill>
                      <a:schemeClr val="tx1"/>
                    </a:solidFill>
                    <a:effectLst/>
                    <a:latin typeface="Segoe WPC"/>
                  </a:rPr>
                  <a:t>Interpretation</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Expected</a:t>
                </a:r>
                <a:r>
                  <a:rPr lang="es-PE" sz="800" b="0" i="0" dirty="0">
                    <a:solidFill>
                      <a:schemeClr val="tx1"/>
                    </a:solidFill>
                    <a:effectLst/>
                    <a:latin typeface="Segoe WPC"/>
                  </a:rPr>
                  <a:t> </a:t>
                </a:r>
                <a:r>
                  <a:rPr lang="es-PE" sz="800" b="0" i="0" dirty="0" err="1">
                    <a:solidFill>
                      <a:schemeClr val="tx1"/>
                    </a:solidFill>
                    <a:effectLst/>
                    <a:latin typeface="Segoe WPC"/>
                  </a:rPr>
                  <a:t>value</a:t>
                </a:r>
                <a:r>
                  <a:rPr lang="es-PE" sz="800" b="0" i="0" dirty="0">
                    <a:solidFill>
                      <a:schemeClr val="tx1"/>
                    </a:solidFill>
                    <a:effectLst/>
                    <a:latin typeface="Segoe WPC"/>
                  </a:rPr>
                  <a:t> </a:t>
                </a:r>
                <a:r>
                  <a:rPr lang="es-PE" sz="800" b="0" i="0" dirty="0" err="1">
                    <a:solidFill>
                      <a:schemeClr val="tx1"/>
                    </a:solidFill>
                    <a:effectLst/>
                    <a:latin typeface="Segoe WPC"/>
                  </a:rPr>
                  <a:t>summarizes</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central </a:t>
                </a:r>
                <a:r>
                  <a:rPr lang="es-PE" sz="800" b="0" i="0" dirty="0" err="1">
                    <a:solidFill>
                      <a:schemeClr val="tx1"/>
                    </a:solidFill>
                    <a:effectLst/>
                    <a:latin typeface="Segoe WPC"/>
                  </a:rPr>
                  <a:t>level</a:t>
                </a:r>
                <a:r>
                  <a:rPr lang="es-PE" sz="800" b="0" i="0" dirty="0">
                    <a:solidFill>
                      <a:schemeClr val="tx1"/>
                    </a:solidFill>
                    <a:effectLst/>
                    <a:latin typeface="Segoe WPC"/>
                  </a:rPr>
                  <a:t> </a:t>
                </a:r>
                <a:r>
                  <a:rPr lang="es-PE" sz="800" b="0" i="0" dirty="0" err="1">
                    <a:solidFill>
                      <a:schemeClr val="tx1"/>
                    </a:solidFill>
                    <a:effectLst/>
                    <a:latin typeface="Segoe WPC"/>
                  </a:rPr>
                  <a:t>of</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a:t>
                </a:r>
                <a:r>
                  <a:rPr lang="es-PE" sz="800" b="0" i="0" dirty="0" err="1">
                    <a:solidFill>
                      <a:schemeClr val="tx1"/>
                    </a:solidFill>
                    <a:effectLst/>
                    <a:latin typeface="Segoe WPC"/>
                  </a:rPr>
                  <a:t>distribution</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err="1">
                    <a:solidFill>
                      <a:schemeClr val="tx1"/>
                    </a:solidFill>
                    <a:effectLst/>
                    <a:latin typeface="Segoe WPC"/>
                  </a:rPr>
                  <a:t>Exam</a:t>
                </a:r>
                <a:r>
                  <a:rPr lang="es-PE" sz="800" b="1" i="0" dirty="0">
                    <a:solidFill>
                      <a:schemeClr val="tx1"/>
                    </a:solidFill>
                    <a:effectLst/>
                    <a:latin typeface="Segoe WPC"/>
                  </a:rPr>
                  <a:t> </a:t>
                </a:r>
                <a:r>
                  <a:rPr lang="es-PE" sz="800" b="1" i="0" dirty="0" err="1">
                    <a:solidFill>
                      <a:schemeClr val="tx1"/>
                    </a:solidFill>
                    <a:effectLst/>
                    <a:latin typeface="Segoe WPC"/>
                  </a:rPr>
                  <a:t>Trap</a:t>
                </a:r>
                <a:r>
                  <a:rPr lang="es-PE" sz="800" b="1" i="0" dirty="0">
                    <a:solidFill>
                      <a:schemeClr val="tx1"/>
                    </a:solidFill>
                    <a:effectLst/>
                    <a:latin typeface="Segoe WPC"/>
                  </a:rPr>
                  <a:t>:</a:t>
                </a:r>
                <a:r>
                  <a:rPr lang="es-PE" sz="800" b="0" i="0" dirty="0">
                    <a:solidFill>
                      <a:schemeClr val="tx1"/>
                    </a:solidFill>
                    <a:effectLst/>
                    <a:latin typeface="Segoe WPC"/>
                  </a:rPr>
                  <a:t> In general, </a:t>
                </a:r>
                <a14:m>
                  <m:oMath xmlns:m="http://schemas.openxmlformats.org/officeDocument/2006/math">
                    <m:r>
                      <a:rPr lang="es-PE" sz="800" i="1">
                        <a:solidFill>
                          <a:schemeClr val="tx1"/>
                        </a:solidFill>
                        <a:latin typeface="Cambria Math" panose="02040503050406030204" pitchFamily="18" charset="0"/>
                      </a:rPr>
                      <m:t>𝐸</m:t>
                    </m:r>
                    <m:d>
                      <m:dPr>
                        <m:begChr m:val="["/>
                        <m:endChr m:val="]"/>
                        <m:ctrlPr>
                          <a:rPr lang="ar-AE" sz="800" i="1">
                            <a:solidFill>
                              <a:schemeClr val="tx1"/>
                            </a:solidFill>
                            <a:latin typeface="Cambria Math" panose="02040503050406030204" pitchFamily="18" charset="0"/>
                          </a:rPr>
                        </m:ctrlPr>
                      </m:dPr>
                      <m:e>
                        <m:r>
                          <a:rPr lang="ar-AE" sz="800" i="1">
                            <a:solidFill>
                              <a:schemeClr val="tx1"/>
                            </a:solidFill>
                            <a:latin typeface="Cambria Math" panose="02040503050406030204" pitchFamily="18" charset="0"/>
                          </a:rPr>
                          <m:t>𝑔</m:t>
                        </m:r>
                        <m:d>
                          <m:dPr>
                            <m:ctrlPr>
                              <a:rPr lang="ar-AE" sz="800" i="1">
                                <a:solidFill>
                                  <a:schemeClr val="tx1"/>
                                </a:solidFill>
                                <a:latin typeface="Cambria Math" panose="02040503050406030204" pitchFamily="18" charset="0"/>
                              </a:rPr>
                            </m:ctrlPr>
                          </m:dPr>
                          <m:e>
                            <m:r>
                              <a:rPr lang="ar-AE" sz="800" i="1">
                                <a:solidFill>
                                  <a:schemeClr val="tx1"/>
                                </a:solidFill>
                                <a:latin typeface="Cambria Math" panose="02040503050406030204" pitchFamily="18" charset="0"/>
                              </a:rPr>
                              <m:t>𝑋</m:t>
                            </m:r>
                          </m:e>
                        </m:d>
                      </m:e>
                    </m:d>
                    <m:r>
                      <a:rPr lang="ar-AE" sz="800" i="0">
                        <a:solidFill>
                          <a:schemeClr val="tx1"/>
                        </a:solidFill>
                        <a:latin typeface="Cambria Math" panose="02040503050406030204" pitchFamily="18" charset="0"/>
                      </a:rPr>
                      <m:t>≠</m:t>
                    </m:r>
                    <m:r>
                      <a:rPr lang="ar-AE" sz="800" i="1">
                        <a:solidFill>
                          <a:schemeClr val="tx1"/>
                        </a:solidFill>
                        <a:latin typeface="Cambria Math" panose="02040503050406030204" pitchFamily="18" charset="0"/>
                      </a:rPr>
                      <m:t>𝑔</m:t>
                    </m:r>
                    <m:d>
                      <m:dPr>
                        <m:ctrlPr>
                          <a:rPr lang="ar-AE" sz="800" i="1">
                            <a:solidFill>
                              <a:schemeClr val="tx1"/>
                            </a:solidFill>
                            <a:latin typeface="Cambria Math" panose="02040503050406030204" pitchFamily="18" charset="0"/>
                          </a:rPr>
                        </m:ctrlPr>
                      </m:dPr>
                      <m:e>
                        <m:r>
                          <a:rPr lang="ar-AE" sz="800" i="1">
                            <a:solidFill>
                              <a:schemeClr val="tx1"/>
                            </a:solidFill>
                            <a:latin typeface="Cambria Math" panose="02040503050406030204" pitchFamily="18" charset="0"/>
                          </a:rPr>
                          <m:t>𝐸</m:t>
                        </m:r>
                        <m:d>
                          <m:dPr>
                            <m:begChr m:val="["/>
                            <m:endChr m:val="]"/>
                            <m:ctrlPr>
                              <a:rPr lang="ar-AE" sz="800" i="1">
                                <a:solidFill>
                                  <a:schemeClr val="tx1"/>
                                </a:solidFill>
                                <a:latin typeface="Cambria Math" panose="02040503050406030204" pitchFamily="18" charset="0"/>
                              </a:rPr>
                            </m:ctrlPr>
                          </m:dPr>
                          <m:e>
                            <m:r>
                              <a:rPr lang="ar-AE" sz="800" i="1">
                                <a:solidFill>
                                  <a:schemeClr val="tx1"/>
                                </a:solidFill>
                                <a:latin typeface="Cambria Math" panose="02040503050406030204" pitchFamily="18" charset="0"/>
                              </a:rPr>
                              <m:t>𝑋</m:t>
                            </m:r>
                          </m:e>
                        </m:d>
                      </m:e>
                    </m:d>
                  </m:oMath>
                </a14:m>
                <a:r>
                  <a:rPr lang="ar-AE" sz="800" b="0" i="0" dirty="0">
                    <a:solidFill>
                      <a:schemeClr val="tx1"/>
                    </a:solidFill>
                    <a:effectLst/>
                    <a:latin typeface="Segoe WPC"/>
                  </a:rPr>
                  <a:t> </a:t>
                </a:r>
                <a:r>
                  <a:rPr lang="es-PE" sz="800" b="0" i="0" dirty="0" err="1">
                    <a:solidFill>
                      <a:schemeClr val="tx1"/>
                    </a:solidFill>
                    <a:effectLst/>
                    <a:latin typeface="Segoe WPC"/>
                  </a:rPr>
                  <a:t>for</a:t>
                </a:r>
                <a:r>
                  <a:rPr lang="es-PE" sz="800" b="0" i="0" dirty="0">
                    <a:solidFill>
                      <a:schemeClr val="tx1"/>
                    </a:solidFill>
                    <a:effectLst/>
                    <a:latin typeface="Segoe WPC"/>
                  </a:rPr>
                  <a:t> </a:t>
                </a:r>
                <a:r>
                  <a:rPr lang="es-PE" sz="800" b="0" i="0" dirty="0" err="1">
                    <a:solidFill>
                      <a:schemeClr val="tx1"/>
                    </a:solidFill>
                    <a:effectLst/>
                    <a:latin typeface="Segoe WPC"/>
                  </a:rPr>
                  <a:t>nonlinear</a:t>
                </a:r>
                <a:r>
                  <a:rPr lang="es-PE" sz="800" b="0" i="0" dirty="0">
                    <a:solidFill>
                      <a:schemeClr val="tx1"/>
                    </a:solidFill>
                    <a:effectLst/>
                    <a:latin typeface="Segoe WPC"/>
                  </a:rPr>
                  <a:t> </a:t>
                </a:r>
                <a:r>
                  <a:rPr lang="es-PE" sz="800" b="0" i="0" dirty="0" err="1">
                    <a:solidFill>
                      <a:schemeClr val="tx1"/>
                    </a:solidFill>
                    <a:effectLst/>
                    <a:latin typeface="Segoe WPC"/>
                  </a:rPr>
                  <a:t>functions</a:t>
                </a:r>
                <a:r>
                  <a:rPr lang="es-PE" sz="800" b="0" i="0" dirty="0">
                    <a:solidFill>
                      <a:schemeClr val="tx1"/>
                    </a:solidFill>
                    <a:effectLst/>
                    <a:latin typeface="Segoe WPC"/>
                  </a:rPr>
                  <a:t>.</a:t>
                </a:r>
              </a:p>
              <a:p>
                <a:pPr algn="l">
                  <a:spcAft>
                    <a:spcPts val="1200"/>
                  </a:spcAft>
                  <a:buNone/>
                </a:pPr>
                <a:r>
                  <a:rPr lang="es-PE" sz="800" b="1" i="0" dirty="0">
                    <a:solidFill>
                      <a:schemeClr val="tx1"/>
                    </a:solidFill>
                    <a:effectLst/>
                    <a:latin typeface="Segoe WPC"/>
                  </a:rPr>
                  <a:t>6. </a:t>
                </a:r>
                <a:r>
                  <a:rPr lang="es-PE" sz="800" b="1" i="0" dirty="0" err="1">
                    <a:solidFill>
                      <a:schemeClr val="tx1"/>
                    </a:solidFill>
                    <a:effectLst/>
                    <a:latin typeface="Segoe WPC"/>
                  </a:rPr>
                  <a:t>Moments</a:t>
                </a:r>
                <a:br>
                  <a:rPr lang="es-PE" sz="800" b="0" i="0" dirty="0">
                    <a:solidFill>
                      <a:schemeClr val="tx1"/>
                    </a:solidFill>
                    <a:effectLst/>
                    <a:latin typeface="Segoe WPC"/>
                  </a:rPr>
                </a:br>
                <a:r>
                  <a:rPr lang="es-PE" sz="800" b="1" i="0" dirty="0" err="1">
                    <a:solidFill>
                      <a:schemeClr val="tx1"/>
                    </a:solidFill>
                    <a:effectLst/>
                    <a:latin typeface="Segoe WPC"/>
                  </a:rPr>
                  <a:t>Statistical</a:t>
                </a:r>
                <a:r>
                  <a:rPr lang="es-PE" sz="800" b="1" i="0" dirty="0">
                    <a:solidFill>
                      <a:schemeClr val="tx1"/>
                    </a:solidFill>
                    <a:effectLst/>
                    <a:latin typeface="Segoe WPC"/>
                  </a:rPr>
                  <a:t> </a:t>
                </a:r>
                <a:r>
                  <a:rPr lang="es-PE" sz="800" b="1" i="0" dirty="0" err="1">
                    <a:solidFill>
                      <a:schemeClr val="tx1"/>
                    </a:solidFill>
                    <a:effectLst/>
                    <a:latin typeface="Segoe WPC"/>
                  </a:rPr>
                  <a:t>Object</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Expected</a:t>
                </a:r>
                <a:r>
                  <a:rPr lang="es-PE" sz="800" b="0" i="0" dirty="0">
                    <a:solidFill>
                      <a:schemeClr val="tx1"/>
                    </a:solidFill>
                    <a:effectLst/>
                    <a:latin typeface="Segoe WPC"/>
                  </a:rPr>
                  <a:t> </a:t>
                </a:r>
                <a:r>
                  <a:rPr lang="es-PE" sz="800" b="0" i="0" dirty="0" err="1">
                    <a:solidFill>
                      <a:schemeClr val="tx1"/>
                    </a:solidFill>
                    <a:effectLst/>
                    <a:latin typeface="Segoe WPC"/>
                  </a:rPr>
                  <a:t>values</a:t>
                </a:r>
                <a:r>
                  <a:rPr lang="es-PE" sz="800" b="0" i="0" dirty="0">
                    <a:solidFill>
                      <a:schemeClr val="tx1"/>
                    </a:solidFill>
                    <a:effectLst/>
                    <a:latin typeface="Segoe WPC"/>
                  </a:rPr>
                  <a:t> </a:t>
                </a:r>
                <a:r>
                  <a:rPr lang="es-PE" sz="800" b="0" i="0" dirty="0" err="1">
                    <a:solidFill>
                      <a:schemeClr val="tx1"/>
                    </a:solidFill>
                    <a:effectLst/>
                    <a:latin typeface="Segoe WPC"/>
                  </a:rPr>
                  <a:t>of</a:t>
                </a:r>
                <a:r>
                  <a:rPr lang="es-PE" sz="800" b="0" i="0" dirty="0">
                    <a:solidFill>
                      <a:schemeClr val="tx1"/>
                    </a:solidFill>
                    <a:effectLst/>
                    <a:latin typeface="Segoe WPC"/>
                  </a:rPr>
                  <a:t> </a:t>
                </a:r>
                <a:r>
                  <a:rPr lang="es-PE" sz="800" b="0" i="0" dirty="0" err="1">
                    <a:solidFill>
                      <a:schemeClr val="tx1"/>
                    </a:solidFill>
                    <a:effectLst/>
                    <a:latin typeface="Segoe WPC"/>
                  </a:rPr>
                  <a:t>functions</a:t>
                </a:r>
                <a:r>
                  <a:rPr lang="es-PE" sz="800" b="0" i="0" dirty="0">
                    <a:solidFill>
                      <a:schemeClr val="tx1"/>
                    </a:solidFill>
                    <a:effectLst/>
                    <a:latin typeface="Segoe WPC"/>
                  </a:rPr>
                  <a:t> </a:t>
                </a:r>
                <a:r>
                  <a:rPr lang="es-PE" sz="800" b="0" i="0" dirty="0" err="1">
                    <a:solidFill>
                      <a:schemeClr val="tx1"/>
                    </a:solidFill>
                    <a:effectLst/>
                    <a:latin typeface="Segoe WPC"/>
                  </a:rPr>
                  <a:t>of</a:t>
                </a:r>
                <a:r>
                  <a:rPr lang="es-PE" sz="800" b="0" i="0" dirty="0">
                    <a:solidFill>
                      <a:schemeClr val="tx1"/>
                    </a:solidFill>
                    <a:effectLst/>
                    <a:latin typeface="Segoe WPC"/>
                  </a:rPr>
                  <a:t> a </a:t>
                </a:r>
                <a:r>
                  <a:rPr lang="es-PE" sz="800" b="0" i="0" dirty="0" err="1">
                    <a:solidFill>
                      <a:schemeClr val="tx1"/>
                    </a:solidFill>
                    <a:effectLst/>
                    <a:latin typeface="Segoe WPC"/>
                  </a:rPr>
                  <a:t>random</a:t>
                </a:r>
                <a:r>
                  <a:rPr lang="es-PE" sz="800" b="0" i="0" dirty="0">
                    <a:solidFill>
                      <a:schemeClr val="tx1"/>
                    </a:solidFill>
                    <a:effectLst/>
                    <a:latin typeface="Segoe WPC"/>
                  </a:rPr>
                  <a:t> variable </a:t>
                </a:r>
                <a:r>
                  <a:rPr lang="es-PE" sz="800" b="0" i="0" dirty="0" err="1">
                    <a:solidFill>
                      <a:schemeClr val="tx1"/>
                    </a:solidFill>
                    <a:effectLst/>
                    <a:latin typeface="Segoe WPC"/>
                  </a:rPr>
                  <a:t>used</a:t>
                </a:r>
                <a:r>
                  <a:rPr lang="es-PE" sz="800" b="0" i="0" dirty="0">
                    <a:solidFill>
                      <a:schemeClr val="tx1"/>
                    </a:solidFill>
                    <a:effectLst/>
                    <a:latin typeface="Segoe WPC"/>
                  </a:rPr>
                  <a:t> </a:t>
                </a:r>
                <a:r>
                  <a:rPr lang="es-PE" sz="800" b="0" i="0" dirty="0" err="1">
                    <a:solidFill>
                      <a:schemeClr val="tx1"/>
                    </a:solidFill>
                    <a:effectLst/>
                    <a:latin typeface="Segoe WPC"/>
                  </a:rPr>
                  <a:t>to</a:t>
                </a:r>
                <a:r>
                  <a:rPr lang="es-PE" sz="800" b="0" i="0" dirty="0">
                    <a:solidFill>
                      <a:schemeClr val="tx1"/>
                    </a:solidFill>
                    <a:effectLst/>
                    <a:latin typeface="Segoe WPC"/>
                  </a:rPr>
                  <a:t> </a:t>
                </a:r>
                <a:r>
                  <a:rPr lang="es-PE" sz="800" b="0" i="0" dirty="0" err="1">
                    <a:solidFill>
                      <a:schemeClr val="tx1"/>
                    </a:solidFill>
                    <a:effectLst/>
                    <a:latin typeface="Segoe WPC"/>
                  </a:rPr>
                  <a:t>summarize</a:t>
                </a:r>
                <a:r>
                  <a:rPr lang="es-PE" sz="800" b="0" i="0" dirty="0">
                    <a:solidFill>
                      <a:schemeClr val="tx1"/>
                    </a:solidFill>
                    <a:effectLst/>
                    <a:latin typeface="Segoe WPC"/>
                  </a:rPr>
                  <a:t> </a:t>
                </a:r>
                <a:r>
                  <a:rPr lang="es-PE" sz="800" b="0" i="0" dirty="0" err="1">
                    <a:solidFill>
                      <a:schemeClr val="tx1"/>
                    </a:solidFill>
                    <a:effectLst/>
                    <a:latin typeface="Segoe WPC"/>
                  </a:rPr>
                  <a:t>its</a:t>
                </a:r>
                <a:r>
                  <a:rPr lang="es-PE" sz="800" b="0" i="0" dirty="0">
                    <a:solidFill>
                      <a:schemeClr val="tx1"/>
                    </a:solidFill>
                    <a:effectLst/>
                    <a:latin typeface="Segoe WPC"/>
                  </a:rPr>
                  <a:t> </a:t>
                </a:r>
                <a:r>
                  <a:rPr lang="es-PE" sz="800" b="0" i="0" dirty="0" err="1">
                    <a:solidFill>
                      <a:schemeClr val="tx1"/>
                    </a:solidFill>
                    <a:effectLst/>
                    <a:latin typeface="Segoe WPC"/>
                  </a:rPr>
                  <a:t>shape</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err="1">
                    <a:solidFill>
                      <a:schemeClr val="tx1"/>
                    </a:solidFill>
                    <a:effectLst/>
                    <a:latin typeface="Segoe WPC"/>
                  </a:rPr>
                  <a:t>Plain</a:t>
                </a:r>
                <a:r>
                  <a:rPr lang="es-PE" sz="800" b="1" i="0" dirty="0">
                    <a:solidFill>
                      <a:schemeClr val="tx1"/>
                    </a:solidFill>
                    <a:effectLst/>
                    <a:latin typeface="Segoe WPC"/>
                  </a:rPr>
                  <a:t>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Moments</a:t>
                </a:r>
                <a:r>
                  <a:rPr lang="es-PE" sz="800" b="0" i="0" dirty="0">
                    <a:solidFill>
                      <a:schemeClr val="tx1"/>
                    </a:solidFill>
                    <a:effectLst/>
                    <a:latin typeface="Segoe WPC"/>
                  </a:rPr>
                  <a:t> describe center, spread, </a:t>
                </a:r>
                <a:r>
                  <a:rPr lang="es-PE" sz="800" b="0" i="0" dirty="0" err="1">
                    <a:solidFill>
                      <a:schemeClr val="tx1"/>
                    </a:solidFill>
                    <a:effectLst/>
                    <a:latin typeface="Segoe WPC"/>
                  </a:rPr>
                  <a:t>asymmetry</a:t>
                </a:r>
                <a:r>
                  <a:rPr lang="es-PE" sz="800" b="0" i="0" dirty="0">
                    <a:solidFill>
                      <a:schemeClr val="tx1"/>
                    </a:solidFill>
                    <a:effectLst/>
                    <a:latin typeface="Segoe WPC"/>
                  </a:rPr>
                  <a:t>, and </a:t>
                </a:r>
                <a:r>
                  <a:rPr lang="es-PE" sz="800" b="0" i="0" dirty="0" err="1">
                    <a:solidFill>
                      <a:schemeClr val="tx1"/>
                    </a:solidFill>
                    <a:effectLst/>
                    <a:latin typeface="Segoe WPC"/>
                  </a:rPr>
                  <a:t>tail</a:t>
                </a:r>
                <a:r>
                  <a:rPr lang="es-PE" sz="800" b="0" i="0" dirty="0">
                    <a:solidFill>
                      <a:schemeClr val="tx1"/>
                    </a:solidFill>
                    <a:effectLst/>
                    <a:latin typeface="Segoe WPC"/>
                  </a:rPr>
                  <a:t> </a:t>
                </a:r>
                <a:r>
                  <a:rPr lang="es-PE" sz="800" b="0" i="0" dirty="0" err="1">
                    <a:solidFill>
                      <a:schemeClr val="tx1"/>
                    </a:solidFill>
                    <a:effectLst/>
                    <a:latin typeface="Segoe WPC"/>
                  </a:rPr>
                  <a:t>heaviness</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a:solidFill>
                      <a:schemeClr val="tx1"/>
                    </a:solidFill>
                    <a:effectLst/>
                    <a:latin typeface="Segoe WPC"/>
                  </a:rPr>
                  <a:t>Visual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Mean </a:t>
                </a:r>
                <a:r>
                  <a:rPr lang="es-PE" sz="800" b="0" i="0" dirty="0" err="1">
                    <a:solidFill>
                      <a:schemeClr val="tx1"/>
                    </a:solidFill>
                    <a:effectLst/>
                    <a:latin typeface="Segoe WPC"/>
                  </a:rPr>
                  <a:t>shifts</a:t>
                </a:r>
                <a:r>
                  <a:rPr lang="es-PE" sz="800" b="0" i="0" dirty="0">
                    <a:solidFill>
                      <a:schemeClr val="tx1"/>
                    </a:solidFill>
                    <a:effectLst/>
                    <a:latin typeface="Segoe WPC"/>
                  </a:rPr>
                  <a:t> </a:t>
                </a:r>
                <a:r>
                  <a:rPr lang="es-PE" sz="800" b="0" i="0" dirty="0" err="1">
                    <a:solidFill>
                      <a:schemeClr val="tx1"/>
                    </a:solidFill>
                    <a:effectLst/>
                    <a:latin typeface="Segoe WPC"/>
                  </a:rPr>
                  <a:t>location</a:t>
                </a:r>
                <a:r>
                  <a:rPr lang="es-PE" sz="800" b="0" i="0" dirty="0">
                    <a:solidFill>
                      <a:schemeClr val="tx1"/>
                    </a:solidFill>
                    <a:effectLst/>
                    <a:latin typeface="Segoe WPC"/>
                  </a:rPr>
                  <a:t>; </a:t>
                </a:r>
                <a:r>
                  <a:rPr lang="es-PE" sz="800" b="0" i="0" dirty="0" err="1">
                    <a:solidFill>
                      <a:schemeClr val="tx1"/>
                    </a:solidFill>
                    <a:effectLst/>
                    <a:latin typeface="Segoe WPC"/>
                  </a:rPr>
                  <a:t>variance</a:t>
                </a:r>
                <a:r>
                  <a:rPr lang="es-PE" sz="800" b="0" i="0" dirty="0">
                    <a:solidFill>
                      <a:schemeClr val="tx1"/>
                    </a:solidFill>
                    <a:effectLst/>
                    <a:latin typeface="Segoe WPC"/>
                  </a:rPr>
                  <a:t> </a:t>
                </a:r>
                <a:r>
                  <a:rPr lang="es-PE" sz="800" b="0" i="0" dirty="0" err="1">
                    <a:solidFill>
                      <a:schemeClr val="tx1"/>
                    </a:solidFill>
                    <a:effectLst/>
                    <a:latin typeface="Segoe WPC"/>
                  </a:rPr>
                  <a:t>widens</a:t>
                </a:r>
                <a:r>
                  <a:rPr lang="es-PE" sz="800" b="0" i="0" dirty="0">
                    <a:solidFill>
                      <a:schemeClr val="tx1"/>
                    </a:solidFill>
                    <a:effectLst/>
                    <a:latin typeface="Segoe WPC"/>
                  </a:rPr>
                  <a:t> </a:t>
                </a:r>
                <a:r>
                  <a:rPr lang="es-PE" sz="800" b="0" i="0" dirty="0" err="1">
                    <a:solidFill>
                      <a:schemeClr val="tx1"/>
                    </a:solidFill>
                    <a:effectLst/>
                    <a:latin typeface="Segoe WPC"/>
                  </a:rPr>
                  <a:t>or</a:t>
                </a:r>
                <a:r>
                  <a:rPr lang="es-PE" sz="800" b="0" i="0" dirty="0">
                    <a:solidFill>
                      <a:schemeClr val="tx1"/>
                    </a:solidFill>
                    <a:effectLst/>
                    <a:latin typeface="Segoe WPC"/>
                  </a:rPr>
                  <a:t> </a:t>
                </a:r>
                <a:r>
                  <a:rPr lang="es-PE" sz="800" b="0" i="0" dirty="0" err="1">
                    <a:solidFill>
                      <a:schemeClr val="tx1"/>
                    </a:solidFill>
                    <a:effectLst/>
                    <a:latin typeface="Segoe WPC"/>
                  </a:rPr>
                  <a:t>narrows</a:t>
                </a:r>
                <a:r>
                  <a:rPr lang="es-PE" sz="800" b="0" i="0" dirty="0">
                    <a:solidFill>
                      <a:schemeClr val="tx1"/>
                    </a:solidFill>
                    <a:effectLst/>
                    <a:latin typeface="Segoe WPC"/>
                  </a:rPr>
                  <a:t>; </a:t>
                </a:r>
                <a:r>
                  <a:rPr lang="es-PE" sz="800" b="0" i="0" dirty="0" err="1">
                    <a:solidFill>
                      <a:schemeClr val="tx1"/>
                    </a:solidFill>
                    <a:effectLst/>
                    <a:latin typeface="Segoe WPC"/>
                  </a:rPr>
                  <a:t>skew</a:t>
                </a:r>
                <a:r>
                  <a:rPr lang="es-PE" sz="800" b="0" i="0" dirty="0">
                    <a:solidFill>
                      <a:schemeClr val="tx1"/>
                    </a:solidFill>
                    <a:effectLst/>
                    <a:latin typeface="Segoe WPC"/>
                  </a:rPr>
                  <a:t> </a:t>
                </a:r>
                <a:r>
                  <a:rPr lang="es-PE" sz="800" b="0" i="0" dirty="0" err="1">
                    <a:solidFill>
                      <a:schemeClr val="tx1"/>
                    </a:solidFill>
                    <a:effectLst/>
                    <a:latin typeface="Segoe WPC"/>
                  </a:rPr>
                  <a:t>tilts</a:t>
                </a:r>
                <a:r>
                  <a:rPr lang="es-PE" sz="800" b="0" i="0" dirty="0">
                    <a:solidFill>
                      <a:schemeClr val="tx1"/>
                    </a:solidFill>
                    <a:effectLst/>
                    <a:latin typeface="Segoe WPC"/>
                  </a:rPr>
                  <a:t>; </a:t>
                </a:r>
                <a:r>
                  <a:rPr lang="es-PE" sz="800" b="0" i="0" dirty="0" err="1">
                    <a:solidFill>
                      <a:schemeClr val="tx1"/>
                    </a:solidFill>
                    <a:effectLst/>
                    <a:latin typeface="Segoe WPC"/>
                  </a:rPr>
                  <a:t>kurtosis</a:t>
                </a:r>
                <a:r>
                  <a:rPr lang="es-PE" sz="800" b="0" i="0" dirty="0">
                    <a:solidFill>
                      <a:schemeClr val="tx1"/>
                    </a:solidFill>
                    <a:effectLst/>
                    <a:latin typeface="Segoe WPC"/>
                  </a:rPr>
                  <a:t> </a:t>
                </a:r>
                <a:r>
                  <a:rPr lang="es-PE" sz="800" b="0" i="0" dirty="0" err="1">
                    <a:solidFill>
                      <a:schemeClr val="tx1"/>
                    </a:solidFill>
                    <a:effectLst/>
                    <a:latin typeface="Segoe WPC"/>
                  </a:rPr>
                  <a:t>fattens</a:t>
                </a:r>
                <a:r>
                  <a:rPr lang="es-PE" sz="800" b="0" i="0" dirty="0">
                    <a:solidFill>
                      <a:schemeClr val="tx1"/>
                    </a:solidFill>
                    <a:effectLst/>
                    <a:latin typeface="Segoe WPC"/>
                  </a:rPr>
                  <a:t> </a:t>
                </a:r>
                <a:r>
                  <a:rPr lang="es-PE" sz="800" b="0" i="0" dirty="0" err="1">
                    <a:solidFill>
                      <a:schemeClr val="tx1"/>
                    </a:solidFill>
                    <a:effectLst/>
                    <a:latin typeface="Segoe WPC"/>
                  </a:rPr>
                  <a:t>tails</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a:solidFill>
                      <a:schemeClr val="tx1"/>
                    </a:solidFill>
                    <a:effectLst/>
                    <a:latin typeface="Segoe WPC"/>
                  </a:rPr>
                  <a:t>Key Formula:</a:t>
                </a:r>
                <a:r>
                  <a:rPr lang="es-PE" sz="800" b="0" i="0" dirty="0">
                    <a:solidFill>
                      <a:schemeClr val="tx1"/>
                    </a:solidFill>
                    <a:effectLst/>
                    <a:latin typeface="Segoe WPC"/>
                  </a:rPr>
                  <a:t> </a:t>
                </a:r>
                <a14:m>
                  <m:oMath xmlns:m="http://schemas.openxmlformats.org/officeDocument/2006/math">
                    <m:r>
                      <a:rPr lang="es-PE" sz="800" i="1">
                        <a:solidFill>
                          <a:schemeClr val="tx1"/>
                        </a:solidFill>
                        <a:latin typeface="Cambria Math" panose="02040503050406030204" pitchFamily="18" charset="0"/>
                      </a:rPr>
                      <m:t>𝜇</m:t>
                    </m:r>
                    <m:r>
                      <a:rPr lang="es-PE" sz="800" i="0">
                        <a:solidFill>
                          <a:schemeClr val="tx1"/>
                        </a:solidFill>
                        <a:latin typeface="Cambria Math" panose="02040503050406030204" pitchFamily="18" charset="0"/>
                      </a:rPr>
                      <m:t>=</m:t>
                    </m:r>
                    <m:r>
                      <a:rPr lang="es-PE" sz="800" i="1">
                        <a:solidFill>
                          <a:schemeClr val="tx1"/>
                        </a:solidFill>
                        <a:latin typeface="Cambria Math" panose="02040503050406030204" pitchFamily="18" charset="0"/>
                      </a:rPr>
                      <m:t>𝐸</m:t>
                    </m:r>
                    <m:d>
                      <m:dPr>
                        <m:begChr m:val="["/>
                        <m:endChr m:val="]"/>
                        <m:ctrlPr>
                          <a:rPr lang="ar-AE" sz="800" i="1">
                            <a:solidFill>
                              <a:schemeClr val="tx1"/>
                            </a:solidFill>
                            <a:latin typeface="Cambria Math" panose="02040503050406030204" pitchFamily="18" charset="0"/>
                          </a:rPr>
                        </m:ctrlPr>
                      </m:dPr>
                      <m:e>
                        <m:r>
                          <a:rPr lang="ar-AE" sz="800" i="1">
                            <a:solidFill>
                              <a:schemeClr val="tx1"/>
                            </a:solidFill>
                            <a:latin typeface="Cambria Math" panose="02040503050406030204" pitchFamily="18" charset="0"/>
                          </a:rPr>
                          <m:t>𝑋</m:t>
                        </m:r>
                      </m:e>
                    </m:d>
                  </m:oMath>
                </a14:m>
                <a:r>
                  <a:rPr lang="ar-AE" sz="800" b="0" i="0" dirty="0">
                    <a:solidFill>
                      <a:schemeClr val="tx1"/>
                    </a:solidFill>
                    <a:effectLst/>
                    <a:latin typeface="Segoe WPC"/>
                  </a:rPr>
                  <a:t>, </a:t>
                </a:r>
                <a14:m>
                  <m:oMath xmlns:m="http://schemas.openxmlformats.org/officeDocument/2006/math">
                    <m:sSup>
                      <m:sSupPr>
                        <m:ctrlPr>
                          <a:rPr lang="ar-AE" sz="800" i="1">
                            <a:solidFill>
                              <a:schemeClr val="tx1"/>
                            </a:solidFill>
                            <a:latin typeface="Cambria Math" panose="02040503050406030204" pitchFamily="18" charset="0"/>
                          </a:rPr>
                        </m:ctrlPr>
                      </m:sSupPr>
                      <m:e>
                        <m:r>
                          <a:rPr lang="ar-AE" sz="800" i="1">
                            <a:solidFill>
                              <a:schemeClr val="tx1"/>
                            </a:solidFill>
                            <a:latin typeface="Cambria Math" panose="02040503050406030204" pitchFamily="18" charset="0"/>
                          </a:rPr>
                          <m:t>𝜎</m:t>
                        </m:r>
                      </m:e>
                      <m:sup>
                        <m:r>
                          <a:rPr lang="ar-AE" sz="800" i="0">
                            <a:solidFill>
                              <a:schemeClr val="tx1"/>
                            </a:solidFill>
                            <a:latin typeface="Cambria Math" panose="02040503050406030204" pitchFamily="18" charset="0"/>
                          </a:rPr>
                          <m:t>2</m:t>
                        </m:r>
                      </m:sup>
                    </m:sSup>
                    <m:r>
                      <a:rPr lang="ar-AE" sz="800" i="0">
                        <a:solidFill>
                          <a:schemeClr val="tx1"/>
                        </a:solidFill>
                        <a:latin typeface="Cambria Math" panose="02040503050406030204" pitchFamily="18" charset="0"/>
                      </a:rPr>
                      <m:t>=</m:t>
                    </m:r>
                    <m:r>
                      <a:rPr lang="ar-AE" sz="800" i="1">
                        <a:solidFill>
                          <a:schemeClr val="tx1"/>
                        </a:solidFill>
                        <a:latin typeface="Cambria Math" panose="02040503050406030204" pitchFamily="18" charset="0"/>
                      </a:rPr>
                      <m:t>𝐸</m:t>
                    </m:r>
                    <m:d>
                      <m:dPr>
                        <m:begChr m:val="["/>
                        <m:endChr m:val=""/>
                        <m:ctrlPr>
                          <a:rPr lang="ar-AE" sz="800" i="1">
                            <a:solidFill>
                              <a:schemeClr val="tx1"/>
                            </a:solidFill>
                            <a:latin typeface="Cambria Math" panose="02040503050406030204" pitchFamily="18" charset="0"/>
                          </a:rPr>
                        </m:ctrlPr>
                      </m:dPr>
                      <m:e>
                        <m:d>
                          <m:dPr>
                            <m:endChr m:val="]"/>
                            <m:ctrlPr>
                              <a:rPr lang="ar-AE" sz="800" i="1">
                                <a:solidFill>
                                  <a:schemeClr val="tx1"/>
                                </a:solidFill>
                                <a:latin typeface="Cambria Math" panose="02040503050406030204" pitchFamily="18" charset="0"/>
                              </a:rPr>
                            </m:ctrlPr>
                          </m:dPr>
                          <m:e>
                            <m:r>
                              <a:rPr lang="ar-AE" sz="800" i="1">
                                <a:solidFill>
                                  <a:schemeClr val="tx1"/>
                                </a:solidFill>
                                <a:latin typeface="Cambria Math" panose="02040503050406030204" pitchFamily="18" charset="0"/>
                              </a:rPr>
                              <m:t>𝑋</m:t>
                            </m:r>
                            <m:r>
                              <a:rPr lang="ar-AE" sz="800" i="0">
                                <a:solidFill>
                                  <a:schemeClr val="tx1"/>
                                </a:solidFill>
                                <a:latin typeface="Cambria Math" panose="02040503050406030204" pitchFamily="18" charset="0"/>
                              </a:rPr>
                              <m:t>−</m:t>
                            </m:r>
                            <m:r>
                              <a:rPr lang="ar-AE" sz="800" i="1">
                                <a:solidFill>
                                  <a:schemeClr val="tx1"/>
                                </a:solidFill>
                                <a:latin typeface="Cambria Math" panose="02040503050406030204" pitchFamily="18" charset="0"/>
                              </a:rPr>
                              <m:t>𝜇</m:t>
                            </m:r>
                            <m:sSup>
                              <m:sSupPr>
                                <m:ctrlPr>
                                  <a:rPr lang="ar-AE" sz="800" i="1">
                                    <a:solidFill>
                                      <a:schemeClr val="tx1"/>
                                    </a:solidFill>
                                    <a:latin typeface="Cambria Math" panose="02040503050406030204" pitchFamily="18" charset="0"/>
                                  </a:rPr>
                                </m:ctrlPr>
                              </m:sSupPr>
                              <m:e>
                                <m:d>
                                  <m:dPr>
                                    <m:begChr m:val=""/>
                                    <m:endChr m:val=""/>
                                    <m:ctrlPr>
                                      <a:rPr lang="ar-AE" sz="800" i="1">
                                        <a:solidFill>
                                          <a:schemeClr val="tx1"/>
                                        </a:solidFill>
                                        <a:latin typeface="Cambria Math" panose="02040503050406030204" pitchFamily="18" charset="0"/>
                                      </a:rPr>
                                    </m:ctrlPr>
                                  </m:dPr>
                                  <m:e>
                                    <m:r>
                                      <a:rPr lang="ar-AE" sz="800" i="0">
                                        <a:solidFill>
                                          <a:schemeClr val="tx1"/>
                                        </a:solidFill>
                                        <a:latin typeface="Cambria Math" panose="02040503050406030204" pitchFamily="18" charset="0"/>
                                      </a:rPr>
                                      <m:t>)</m:t>
                                    </m:r>
                                  </m:e>
                                </m:d>
                              </m:e>
                              <m:sup>
                                <m:r>
                                  <a:rPr lang="ar-AE" sz="800" i="0">
                                    <a:solidFill>
                                      <a:schemeClr val="tx1"/>
                                    </a:solidFill>
                                    <a:latin typeface="Cambria Math" panose="02040503050406030204" pitchFamily="18" charset="0"/>
                                  </a:rPr>
                                  <m:t>2</m:t>
                                </m:r>
                              </m:sup>
                            </m:sSup>
                          </m:e>
                        </m:d>
                      </m:e>
                    </m:d>
                  </m:oMath>
                </a14:m>
                <a:br>
                  <a:rPr lang="ar-AE" sz="800" b="0" i="0" dirty="0">
                    <a:solidFill>
                      <a:schemeClr val="tx1"/>
                    </a:solidFill>
                    <a:effectLst/>
                    <a:latin typeface="Segoe WPC"/>
                  </a:rPr>
                </a:br>
                <a:r>
                  <a:rPr lang="es-PE" sz="800" b="1" i="0" dirty="0" err="1">
                    <a:solidFill>
                      <a:schemeClr val="tx1"/>
                    </a:solidFill>
                    <a:effectLst/>
                    <a:latin typeface="Segoe WPC"/>
                  </a:rPr>
                  <a:t>Interpretation</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Moments</a:t>
                </a:r>
                <a:r>
                  <a:rPr lang="es-PE" sz="800" b="0" i="0" dirty="0">
                    <a:solidFill>
                      <a:schemeClr val="tx1"/>
                    </a:solidFill>
                    <a:effectLst/>
                    <a:latin typeface="Segoe WPC"/>
                  </a:rPr>
                  <a:t> are </a:t>
                </a:r>
                <a:r>
                  <a:rPr lang="es-PE" sz="800" b="0" i="0" dirty="0" err="1">
                    <a:solidFill>
                      <a:schemeClr val="tx1"/>
                    </a:solidFill>
                    <a:effectLst/>
                    <a:latin typeface="Segoe WPC"/>
                  </a:rPr>
                  <a:t>the</a:t>
                </a:r>
                <a:r>
                  <a:rPr lang="es-PE" sz="800" b="0" i="0" dirty="0">
                    <a:solidFill>
                      <a:schemeClr val="tx1"/>
                    </a:solidFill>
                    <a:effectLst/>
                    <a:latin typeface="Segoe WPC"/>
                  </a:rPr>
                  <a:t> </a:t>
                </a:r>
                <a:r>
                  <a:rPr lang="es-PE" sz="800" b="0" i="0" dirty="0" err="1">
                    <a:solidFill>
                      <a:schemeClr val="tx1"/>
                    </a:solidFill>
                    <a:effectLst/>
                    <a:latin typeface="Segoe WPC"/>
                  </a:rPr>
                  <a:t>main</a:t>
                </a:r>
                <a:r>
                  <a:rPr lang="es-PE" sz="800" b="0" i="0" dirty="0">
                    <a:solidFill>
                      <a:schemeClr val="tx1"/>
                    </a:solidFill>
                    <a:effectLst/>
                    <a:latin typeface="Segoe WPC"/>
                  </a:rPr>
                  <a:t> </a:t>
                </a:r>
                <a:r>
                  <a:rPr lang="es-PE" sz="800" b="0" i="0" dirty="0" err="1">
                    <a:solidFill>
                      <a:schemeClr val="tx1"/>
                    </a:solidFill>
                    <a:effectLst/>
                    <a:latin typeface="Segoe WPC"/>
                  </a:rPr>
                  <a:t>summary</a:t>
                </a:r>
                <a:r>
                  <a:rPr lang="es-PE" sz="800" b="0" i="0" dirty="0">
                    <a:solidFill>
                      <a:schemeClr val="tx1"/>
                    </a:solidFill>
                    <a:effectLst/>
                    <a:latin typeface="Segoe WPC"/>
                  </a:rPr>
                  <a:t> </a:t>
                </a:r>
                <a:r>
                  <a:rPr lang="es-PE" sz="800" b="0" i="0" dirty="0" err="1">
                    <a:solidFill>
                      <a:schemeClr val="tx1"/>
                    </a:solidFill>
                    <a:effectLst/>
                    <a:latin typeface="Segoe WPC"/>
                  </a:rPr>
                  <a:t>tools</a:t>
                </a:r>
                <a:r>
                  <a:rPr lang="es-PE" sz="800" b="0" i="0" dirty="0">
                    <a:solidFill>
                      <a:schemeClr val="tx1"/>
                    </a:solidFill>
                    <a:effectLst/>
                    <a:latin typeface="Segoe WPC"/>
                  </a:rPr>
                  <a:t> in </a:t>
                </a:r>
                <a:r>
                  <a:rPr lang="es-PE" sz="800" b="0" i="0" dirty="0" err="1">
                    <a:solidFill>
                      <a:schemeClr val="tx1"/>
                    </a:solidFill>
                    <a:effectLst/>
                    <a:latin typeface="Segoe WPC"/>
                  </a:rPr>
                  <a:t>finance</a:t>
                </a:r>
                <a:r>
                  <a:rPr lang="es-PE" sz="800" b="0" i="0" dirty="0">
                    <a:solidFill>
                      <a:schemeClr val="tx1"/>
                    </a:solidFill>
                    <a:effectLst/>
                    <a:latin typeface="Segoe WPC"/>
                  </a:rPr>
                  <a:t> and </a:t>
                </a:r>
                <a:r>
                  <a:rPr lang="es-PE" sz="800" b="0" i="0" dirty="0" err="1">
                    <a:solidFill>
                      <a:schemeClr val="tx1"/>
                    </a:solidFill>
                    <a:effectLst/>
                    <a:latin typeface="Segoe WPC"/>
                  </a:rPr>
                  <a:t>risk</a:t>
                </a:r>
                <a:r>
                  <a:rPr lang="es-PE" sz="800" b="0" i="0" dirty="0">
                    <a:solidFill>
                      <a:schemeClr val="tx1"/>
                    </a:solidFill>
                    <a:effectLst/>
                    <a:latin typeface="Segoe WPC"/>
                  </a:rPr>
                  <a:t> </a:t>
                </a:r>
                <a:r>
                  <a:rPr lang="es-PE" sz="800" b="0" i="0" dirty="0" err="1">
                    <a:solidFill>
                      <a:schemeClr val="tx1"/>
                    </a:solidFill>
                    <a:effectLst/>
                    <a:latin typeface="Segoe WPC"/>
                  </a:rPr>
                  <a:t>management</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err="1">
                    <a:solidFill>
                      <a:schemeClr val="tx1"/>
                    </a:solidFill>
                    <a:effectLst/>
                    <a:latin typeface="Segoe WPC"/>
                  </a:rPr>
                  <a:t>Exam</a:t>
                </a:r>
                <a:r>
                  <a:rPr lang="es-PE" sz="800" b="1" i="0" dirty="0">
                    <a:solidFill>
                      <a:schemeClr val="tx1"/>
                    </a:solidFill>
                    <a:effectLst/>
                    <a:latin typeface="Segoe WPC"/>
                  </a:rPr>
                  <a:t> </a:t>
                </a:r>
                <a:r>
                  <a:rPr lang="es-PE" sz="800" b="1" i="0" dirty="0" err="1">
                    <a:solidFill>
                      <a:schemeClr val="tx1"/>
                    </a:solidFill>
                    <a:effectLst/>
                    <a:latin typeface="Segoe WPC"/>
                  </a:rPr>
                  <a:t>Trap</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Variance</a:t>
                </a:r>
                <a:r>
                  <a:rPr lang="es-PE" sz="800" b="0" i="0" dirty="0">
                    <a:solidFill>
                      <a:schemeClr val="tx1"/>
                    </a:solidFill>
                    <a:effectLst/>
                    <a:latin typeface="Segoe WPC"/>
                  </a:rPr>
                  <a:t> </a:t>
                </a:r>
                <a:r>
                  <a:rPr lang="es-PE" sz="800" b="0" i="0" dirty="0" err="1">
                    <a:solidFill>
                      <a:schemeClr val="tx1"/>
                    </a:solidFill>
                    <a:effectLst/>
                    <a:latin typeface="Segoe WPC"/>
                  </a:rPr>
                  <a:t>is</a:t>
                </a:r>
                <a:r>
                  <a:rPr lang="es-PE" sz="800" b="0" i="0" dirty="0">
                    <a:solidFill>
                      <a:schemeClr val="tx1"/>
                    </a:solidFill>
                    <a:effectLst/>
                    <a:latin typeface="Segoe WPC"/>
                  </a:rPr>
                  <a:t> in </a:t>
                </a:r>
                <a:r>
                  <a:rPr lang="es-PE" sz="800" b="0" i="0" dirty="0" err="1">
                    <a:solidFill>
                      <a:schemeClr val="tx1"/>
                    </a:solidFill>
                    <a:effectLst/>
                    <a:latin typeface="Segoe WPC"/>
                  </a:rPr>
                  <a:t>squared</a:t>
                </a:r>
                <a:r>
                  <a:rPr lang="es-PE" sz="800" b="0" i="0" dirty="0">
                    <a:solidFill>
                      <a:schemeClr val="tx1"/>
                    </a:solidFill>
                    <a:effectLst/>
                    <a:latin typeface="Segoe WPC"/>
                  </a:rPr>
                  <a:t> </a:t>
                </a:r>
                <a:r>
                  <a:rPr lang="es-PE" sz="800" b="0" i="0" dirty="0" err="1">
                    <a:solidFill>
                      <a:schemeClr val="tx1"/>
                    </a:solidFill>
                    <a:effectLst/>
                    <a:latin typeface="Segoe WPC"/>
                  </a:rPr>
                  <a:t>units</a:t>
                </a:r>
                <a:r>
                  <a:rPr lang="es-PE" sz="800" b="0" i="0" dirty="0">
                    <a:solidFill>
                      <a:schemeClr val="tx1"/>
                    </a:solidFill>
                    <a:effectLst/>
                    <a:latin typeface="Segoe WPC"/>
                  </a:rPr>
                  <a:t>; standard </a:t>
                </a:r>
                <a:r>
                  <a:rPr lang="es-PE" sz="800" b="0" i="0" dirty="0" err="1">
                    <a:solidFill>
                      <a:schemeClr val="tx1"/>
                    </a:solidFill>
                    <a:effectLst/>
                    <a:latin typeface="Segoe WPC"/>
                  </a:rPr>
                  <a:t>deviation</a:t>
                </a:r>
                <a:r>
                  <a:rPr lang="es-PE" sz="800" b="0" i="0" dirty="0">
                    <a:solidFill>
                      <a:schemeClr val="tx1"/>
                    </a:solidFill>
                    <a:effectLst/>
                    <a:latin typeface="Segoe WPC"/>
                  </a:rPr>
                  <a:t> </a:t>
                </a:r>
                <a:r>
                  <a:rPr lang="es-PE" sz="800" b="0" i="0" dirty="0" err="1">
                    <a:solidFill>
                      <a:schemeClr val="tx1"/>
                    </a:solidFill>
                    <a:effectLst/>
                    <a:latin typeface="Segoe WPC"/>
                  </a:rPr>
                  <a:t>is</a:t>
                </a:r>
                <a:r>
                  <a:rPr lang="es-PE" sz="800" b="0" i="0" dirty="0">
                    <a:solidFill>
                      <a:schemeClr val="tx1"/>
                    </a:solidFill>
                    <a:effectLst/>
                    <a:latin typeface="Segoe WPC"/>
                  </a:rPr>
                  <a:t> </a:t>
                </a:r>
                <a:r>
                  <a:rPr lang="es-PE" sz="800" b="0" i="0" dirty="0" err="1">
                    <a:solidFill>
                      <a:schemeClr val="tx1"/>
                    </a:solidFill>
                    <a:effectLst/>
                    <a:latin typeface="Segoe WPC"/>
                  </a:rPr>
                  <a:t>usually</a:t>
                </a:r>
                <a:r>
                  <a:rPr lang="es-PE" sz="800" b="0" i="0" dirty="0">
                    <a:solidFill>
                      <a:schemeClr val="tx1"/>
                    </a:solidFill>
                    <a:effectLst/>
                    <a:latin typeface="Segoe WPC"/>
                  </a:rPr>
                  <a:t> </a:t>
                </a:r>
                <a:r>
                  <a:rPr lang="es-PE" sz="800" b="0" i="0" dirty="0" err="1">
                    <a:solidFill>
                      <a:schemeClr val="tx1"/>
                    </a:solidFill>
                    <a:effectLst/>
                    <a:latin typeface="Segoe WPC"/>
                  </a:rPr>
                  <a:t>easier</a:t>
                </a:r>
                <a:r>
                  <a:rPr lang="es-PE" sz="800" b="0" i="0" dirty="0">
                    <a:solidFill>
                      <a:schemeClr val="tx1"/>
                    </a:solidFill>
                    <a:effectLst/>
                    <a:latin typeface="Segoe WPC"/>
                  </a:rPr>
                  <a:t> </a:t>
                </a:r>
                <a:r>
                  <a:rPr lang="es-PE" sz="800" b="0" i="0" dirty="0" err="1">
                    <a:solidFill>
                      <a:schemeClr val="tx1"/>
                    </a:solidFill>
                    <a:effectLst/>
                    <a:latin typeface="Segoe WPC"/>
                  </a:rPr>
                  <a:t>to</a:t>
                </a:r>
                <a:r>
                  <a:rPr lang="es-PE" sz="800" b="0" i="0" dirty="0">
                    <a:solidFill>
                      <a:schemeClr val="tx1"/>
                    </a:solidFill>
                    <a:effectLst/>
                    <a:latin typeface="Segoe WPC"/>
                  </a:rPr>
                  <a:t> </a:t>
                </a:r>
                <a:r>
                  <a:rPr lang="es-PE" sz="800" b="0" i="0" dirty="0" err="1">
                    <a:solidFill>
                      <a:schemeClr val="tx1"/>
                    </a:solidFill>
                    <a:effectLst/>
                    <a:latin typeface="Segoe WPC"/>
                  </a:rPr>
                  <a:t>interpret</a:t>
                </a:r>
                <a:r>
                  <a:rPr lang="es-PE" sz="800" b="0" i="0" dirty="0">
                    <a:solidFill>
                      <a:schemeClr val="tx1"/>
                    </a:solidFill>
                    <a:effectLst/>
                    <a:latin typeface="Segoe WPC"/>
                  </a:rPr>
                  <a:t>.</a:t>
                </a:r>
              </a:p>
            </p:txBody>
          </p:sp>
        </mc:Choice>
        <mc:Fallback xmlns="">
          <p:sp>
            <p:nvSpPr>
              <p:cNvPr id="5" name="CuadroTexto 4">
                <a:extLst>
                  <a:ext uri="{FF2B5EF4-FFF2-40B4-BE49-F238E27FC236}">
                    <a16:creationId xmlns:a16="http://schemas.microsoft.com/office/drawing/2014/main" id="{F70D2ECD-AB55-340D-7E43-42E17BE145BC}"/>
                  </a:ext>
                </a:extLst>
              </p:cNvPr>
              <p:cNvSpPr txBox="1">
                <a:spLocks noRot="1" noChangeAspect="1" noMove="1" noResize="1" noEditPoints="1" noAdjustHandles="1" noChangeArrowheads="1" noChangeShapeType="1" noTextEdit="1"/>
              </p:cNvSpPr>
              <p:nvPr/>
            </p:nvSpPr>
            <p:spPr>
              <a:xfrm>
                <a:off x="114868" y="638423"/>
                <a:ext cx="6097136" cy="6072816"/>
              </a:xfrm>
              <a:prstGeom prst="rect">
                <a:avLst/>
              </a:prstGeom>
              <a:blipFill>
                <a:blip r:embed="rId2"/>
                <a:stretch>
                  <a:fillRect b="-1305"/>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5FEF8E6E-6AAB-B882-28D9-8FB0E1EFF412}"/>
                  </a:ext>
                </a:extLst>
              </p:cNvPr>
              <p:cNvSpPr txBox="1"/>
              <p:nvPr/>
            </p:nvSpPr>
            <p:spPr>
              <a:xfrm>
                <a:off x="5336275" y="-40943"/>
                <a:ext cx="7240138" cy="7102394"/>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7. </a:t>
                </a:r>
                <a:r>
                  <a:rPr lang="es-PE" sz="900" b="1" i="0" dirty="0" err="1">
                    <a:solidFill>
                      <a:schemeClr val="tx1"/>
                    </a:solidFill>
                    <a:effectLst/>
                    <a:latin typeface="Segoe WPC"/>
                  </a:rPr>
                  <a:t>Skewness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third</a:t>
                </a:r>
                <a:r>
                  <a:rPr lang="es-PE" sz="900" b="0" i="0" dirty="0">
                    <a:solidFill>
                      <a:schemeClr val="tx1"/>
                    </a:solidFill>
                    <a:effectLst/>
                    <a:latin typeface="Segoe WPC"/>
                  </a:rPr>
                  <a:t> </a:t>
                </a:r>
                <a:r>
                  <a:rPr lang="es-PE" sz="900" b="0" i="0" dirty="0" err="1">
                    <a:solidFill>
                      <a:schemeClr val="tx1"/>
                    </a:solidFill>
                    <a:effectLst/>
                    <a:latin typeface="Segoe WPC"/>
                  </a:rPr>
                  <a:t>standardized</a:t>
                </a:r>
                <a:r>
                  <a:rPr lang="es-PE" sz="900" b="0" i="0" dirty="0">
                    <a:solidFill>
                      <a:schemeClr val="tx1"/>
                    </a:solidFill>
                    <a:effectLst/>
                    <a:latin typeface="Segoe WPC"/>
                  </a:rPr>
                  <a:t> </a:t>
                </a:r>
                <a:r>
                  <a:rPr lang="es-PE" sz="900" b="0" i="0" dirty="0" err="1">
                    <a:solidFill>
                      <a:schemeClr val="tx1"/>
                    </a:solidFill>
                    <a:effectLst/>
                    <a:latin typeface="Segoe WPC"/>
                  </a:rPr>
                  <a:t>moment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asymmetry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Negative </a:t>
                </a:r>
                <a:r>
                  <a:rPr lang="es-PE" sz="900" b="0" i="0" dirty="0" err="1">
                    <a:solidFill>
                      <a:schemeClr val="tx1"/>
                    </a:solidFill>
                    <a:effectLst/>
                    <a:latin typeface="Segoe WPC"/>
                  </a:rPr>
                  <a:t>skew</a:t>
                </a:r>
                <a:r>
                  <a:rPr lang="es-PE" sz="900" b="0" i="0" dirty="0">
                    <a:solidFill>
                      <a:schemeClr val="tx1"/>
                    </a:solidFill>
                    <a:effectLst/>
                    <a:latin typeface="Segoe WPC"/>
                  </a:rPr>
                  <a:t> = </a:t>
                </a:r>
                <a:r>
                  <a:rPr lang="es-PE" sz="900" b="0" i="0" dirty="0" err="1">
                    <a:solidFill>
                      <a:schemeClr val="tx1"/>
                    </a:solidFill>
                    <a:effectLst/>
                    <a:latin typeface="Segoe WPC"/>
                  </a:rPr>
                  <a:t>longer</a:t>
                </a:r>
                <a:r>
                  <a:rPr lang="es-PE" sz="900" b="0" i="0" dirty="0">
                    <a:solidFill>
                      <a:schemeClr val="tx1"/>
                    </a:solidFill>
                    <a:effectLst/>
                    <a:latin typeface="Segoe WPC"/>
                  </a:rPr>
                  <a:t> </a:t>
                </a:r>
                <a:r>
                  <a:rPr lang="es-PE" sz="900" b="0" i="0" dirty="0" err="1">
                    <a:solidFill>
                      <a:schemeClr val="tx1"/>
                    </a:solidFill>
                    <a:effectLst/>
                    <a:latin typeface="Segoe WPC"/>
                  </a:rPr>
                  <a:t>left</a:t>
                </a:r>
                <a:r>
                  <a:rPr lang="es-PE" sz="900" b="0" i="0" dirty="0">
                    <a:solidFill>
                      <a:schemeClr val="tx1"/>
                    </a:solidFill>
                    <a:effectLst/>
                    <a:latin typeface="Segoe WPC"/>
                  </a:rPr>
                  <a:t> </a:t>
                </a:r>
                <a:r>
                  <a:rPr lang="es-PE" sz="900" b="0" i="0" dirty="0" err="1">
                    <a:solidFill>
                      <a:schemeClr val="tx1"/>
                    </a:solidFill>
                    <a:effectLst/>
                    <a:latin typeface="Segoe WPC"/>
                  </a:rPr>
                  <a:t>tail</a:t>
                </a:r>
                <a:r>
                  <a:rPr lang="es-PE" sz="900" b="0" i="0" dirty="0">
                    <a:solidFill>
                      <a:schemeClr val="tx1"/>
                    </a:solidFill>
                    <a:effectLst/>
                    <a:latin typeface="Segoe WPC"/>
                  </a:rPr>
                  <a:t>; positive </a:t>
                </a:r>
                <a:r>
                  <a:rPr lang="es-PE" sz="900" b="0" i="0" dirty="0" err="1">
                    <a:solidFill>
                      <a:schemeClr val="tx1"/>
                    </a:solidFill>
                    <a:effectLst/>
                    <a:latin typeface="Segoe WPC"/>
                  </a:rPr>
                  <a:t>skew</a:t>
                </a:r>
                <a:r>
                  <a:rPr lang="es-PE" sz="900" b="0" i="0" dirty="0">
                    <a:solidFill>
                      <a:schemeClr val="tx1"/>
                    </a:solidFill>
                    <a:effectLst/>
                    <a:latin typeface="Segoe WPC"/>
                  </a:rPr>
                  <a:t> = </a:t>
                </a:r>
                <a:r>
                  <a:rPr lang="es-PE" sz="900" b="0" i="0" dirty="0" err="1">
                    <a:solidFill>
                      <a:schemeClr val="tx1"/>
                    </a:solidFill>
                    <a:effectLst/>
                    <a:latin typeface="Segoe WPC"/>
                  </a:rPr>
                  <a:t>longer</a:t>
                </a:r>
                <a:r>
                  <a:rPr lang="es-PE" sz="900" b="0" i="0" dirty="0">
                    <a:solidFill>
                      <a:schemeClr val="tx1"/>
                    </a:solidFill>
                    <a:effectLst/>
                    <a:latin typeface="Segoe WPC"/>
                  </a:rPr>
                  <a:t> </a:t>
                </a:r>
                <a:r>
                  <a:rPr lang="es-PE" sz="900" b="0" i="0" dirty="0" err="1">
                    <a:solidFill>
                      <a:schemeClr val="tx1"/>
                    </a:solidFill>
                    <a:effectLst/>
                    <a:latin typeface="Segoe WPC"/>
                  </a:rPr>
                  <a:t>right</a:t>
                </a:r>
                <a:r>
                  <a:rPr lang="es-PE" sz="900" b="0" i="0" dirty="0">
                    <a:solidFill>
                      <a:schemeClr val="tx1"/>
                    </a:solidFill>
                    <a:effectLst/>
                    <a:latin typeface="Segoe WPC"/>
                  </a:rPr>
                  <a:t> </a:t>
                </a:r>
                <a:r>
                  <a:rPr lang="es-PE" sz="900" b="0" i="0" dirty="0" err="1">
                    <a:solidFill>
                      <a:schemeClr val="tx1"/>
                    </a:solidFill>
                    <a:effectLst/>
                    <a:latin typeface="Segoe WPC"/>
                  </a:rPr>
                  <a:t>tail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skew</m:t>
                    </m:r>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𝑋</m:t>
                        </m:r>
                      </m:e>
                    </m:d>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𝐸</m:t>
                    </m:r>
                    <m:d>
                      <m:dPr>
                        <m:begChr m:val="["/>
                        <m:endChr m:val="]"/>
                        <m:ctrlPr>
                          <a:rPr lang="ar-AE" sz="900" b="0" i="1">
                            <a:solidFill>
                              <a:schemeClr val="tx1"/>
                            </a:solidFill>
                            <a:latin typeface="Cambria Math" panose="02040503050406030204" pitchFamily="18" charset="0"/>
                          </a:rPr>
                        </m:ctrlPr>
                      </m:dPr>
                      <m:e>
                        <m:sSup>
                          <m:sSupPr>
                            <m:ctrlPr>
                              <a:rPr lang="ar-AE" sz="900" b="0" i="1">
                                <a:solidFill>
                                  <a:schemeClr val="tx1"/>
                                </a:solidFill>
                                <a:latin typeface="Cambria Math" panose="02040503050406030204" pitchFamily="18" charset="0"/>
                              </a:rPr>
                            </m:ctrlPr>
                          </m:sSupPr>
                          <m:e>
                            <m:d>
                              <m:dPr>
                                <m:ctrlPr>
                                  <a:rPr lang="ar-AE" sz="900" b="0" i="1">
                                    <a:solidFill>
                                      <a:schemeClr val="tx1"/>
                                    </a:solidFill>
                                    <a:latin typeface="Cambria Math" panose="02040503050406030204" pitchFamily="18" charset="0"/>
                                  </a:rPr>
                                </m:ctrlPr>
                              </m:dPr>
                              <m:e>
                                <m:f>
                                  <m:fPr>
                                    <m:ctrlPr>
                                      <a:rPr lang="ar-AE" sz="900" b="0" i="1">
                                        <a:solidFill>
                                          <a:schemeClr val="tx1"/>
                                        </a:solidFill>
                                        <a:latin typeface="Cambria Math" panose="02040503050406030204" pitchFamily="18" charset="0"/>
                                      </a:rPr>
                                    </m:ctrlPr>
                                  </m:fPr>
                                  <m:num>
                                    <m:r>
                                      <a:rPr lang="ar-AE" sz="900" b="0" i="1">
                                        <a:solidFill>
                                          <a:schemeClr val="tx1"/>
                                        </a:solidFill>
                                        <a:latin typeface="Cambria Math" panose="02040503050406030204" pitchFamily="18" charset="0"/>
                                      </a:rPr>
                                      <m:t>𝑋</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𝜇</m:t>
                                    </m:r>
                                  </m:num>
                                  <m:den>
                                    <m:r>
                                      <a:rPr lang="ar-AE" sz="900" b="0" i="1">
                                        <a:solidFill>
                                          <a:schemeClr val="tx1"/>
                                        </a:solidFill>
                                        <a:latin typeface="Cambria Math" panose="02040503050406030204" pitchFamily="18" charset="0"/>
                                      </a:rPr>
                                      <m:t>𝜎</m:t>
                                    </m:r>
                                  </m:den>
                                </m:f>
                              </m:e>
                            </m:d>
                          </m:e>
                          <m:sup>
                            <m:r>
                              <a:rPr lang="ar-AE" sz="900" b="0" i="0">
                                <a:solidFill>
                                  <a:schemeClr val="tx1"/>
                                </a:solidFill>
                                <a:latin typeface="Cambria Math" panose="02040503050406030204" pitchFamily="18" charset="0"/>
                              </a:rPr>
                              <m:t>3</m:t>
                            </m:r>
                          </m:sup>
                        </m:sSup>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Negative </a:t>
                </a:r>
                <a:r>
                  <a:rPr lang="es-PE" sz="900" b="0" i="0" dirty="0" err="1">
                    <a:solidFill>
                      <a:schemeClr val="tx1"/>
                    </a:solidFill>
                    <a:effectLst/>
                    <a:latin typeface="Segoe WPC"/>
                  </a:rPr>
                  <a:t>skew</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bad</a:t>
                </a:r>
                <a:r>
                  <a:rPr lang="es-PE" sz="900" b="0" i="0" dirty="0">
                    <a:solidFill>
                      <a:schemeClr val="tx1"/>
                    </a:solidFill>
                    <a:effectLst/>
                    <a:latin typeface="Segoe WPC"/>
                  </a:rPr>
                  <a:t> </a:t>
                </a:r>
                <a:r>
                  <a:rPr lang="es-PE" sz="900" b="0" i="0" dirty="0" err="1">
                    <a:solidFill>
                      <a:schemeClr val="tx1"/>
                    </a:solidFill>
                    <a:effectLst/>
                    <a:latin typeface="Segoe WPC"/>
                  </a:rPr>
                  <a:t>downside</a:t>
                </a:r>
                <a:r>
                  <a:rPr lang="es-PE" sz="900" b="0" i="0" dirty="0">
                    <a:solidFill>
                      <a:schemeClr val="tx1"/>
                    </a:solidFill>
                    <a:effectLst/>
                    <a:latin typeface="Segoe WPC"/>
                  </a:rPr>
                  <a:t> </a:t>
                </a:r>
                <a:r>
                  <a:rPr lang="es-PE" sz="900" b="0" i="0" dirty="0" err="1">
                    <a:solidFill>
                      <a:schemeClr val="tx1"/>
                    </a:solidFill>
                    <a:effectLst/>
                    <a:latin typeface="Segoe WPC"/>
                  </a:rPr>
                  <a:t>tail</a:t>
                </a:r>
                <a:r>
                  <a:rPr lang="es-PE" sz="900" b="0" i="0" dirty="0">
                    <a:solidFill>
                      <a:schemeClr val="tx1"/>
                    </a:solidFill>
                    <a:effectLst/>
                    <a:latin typeface="Segoe WPC"/>
                  </a:rPr>
                  <a:t> </a:t>
                </a:r>
                <a:r>
                  <a:rPr lang="es-PE" sz="900" b="0" i="0" dirty="0" err="1">
                    <a:solidFill>
                      <a:schemeClr val="tx1"/>
                    </a:solidFill>
                    <a:effectLst/>
                    <a:latin typeface="Segoe WPC"/>
                  </a:rPr>
                  <a:t>events</a:t>
                </a:r>
                <a:r>
                  <a:rPr lang="es-PE" sz="900" b="0" i="0" dirty="0">
                    <a:solidFill>
                      <a:schemeClr val="tx1"/>
                    </a:solidFill>
                    <a:effectLst/>
                    <a:latin typeface="Segoe WPC"/>
                  </a:rPr>
                  <a:t> are more </a:t>
                </a:r>
                <a:r>
                  <a:rPr lang="es-PE" sz="900" b="0" i="0" dirty="0" err="1">
                    <a:solidFill>
                      <a:schemeClr val="tx1"/>
                    </a:solidFill>
                    <a:effectLst/>
                    <a:latin typeface="Segoe WPC"/>
                  </a:rPr>
                  <a:t>likely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Skewness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about</a:t>
                </a:r>
                <a:r>
                  <a:rPr lang="es-PE" sz="900" b="0" i="0" dirty="0">
                    <a:solidFill>
                      <a:schemeClr val="tx1"/>
                    </a:solidFill>
                    <a:effectLst/>
                    <a:latin typeface="Segoe WPC"/>
                  </a:rPr>
                  <a:t> </a:t>
                </a:r>
                <a:r>
                  <a:rPr lang="es-PE" sz="900" b="0" i="0" dirty="0" err="1">
                    <a:solidFill>
                      <a:schemeClr val="tx1"/>
                    </a:solidFill>
                    <a:effectLst/>
                    <a:latin typeface="Segoe WPC"/>
                  </a:rPr>
                  <a:t>asymmetry</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dispersion</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8. </a:t>
                </a:r>
                <a:r>
                  <a:rPr lang="es-PE" sz="900" b="1" i="0" dirty="0" err="1">
                    <a:solidFill>
                      <a:schemeClr val="tx1"/>
                    </a:solidFill>
                    <a:effectLst/>
                    <a:latin typeface="Segoe WPC"/>
                  </a:rPr>
                  <a:t>Kurtosis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fourth</a:t>
                </a:r>
                <a:r>
                  <a:rPr lang="es-PE" sz="900" b="0" i="0" dirty="0">
                    <a:solidFill>
                      <a:schemeClr val="tx1"/>
                    </a:solidFill>
                    <a:effectLst/>
                    <a:latin typeface="Segoe WPC"/>
                  </a:rPr>
                  <a:t> </a:t>
                </a:r>
                <a:r>
                  <a:rPr lang="es-PE" sz="900" b="0" i="0" dirty="0" err="1">
                    <a:solidFill>
                      <a:schemeClr val="tx1"/>
                    </a:solidFill>
                    <a:effectLst/>
                    <a:latin typeface="Segoe WPC"/>
                  </a:rPr>
                  <a:t>standardized</a:t>
                </a:r>
                <a:r>
                  <a:rPr lang="es-PE" sz="900" b="0" i="0" dirty="0">
                    <a:solidFill>
                      <a:schemeClr val="tx1"/>
                    </a:solidFill>
                    <a:effectLst/>
                    <a:latin typeface="Segoe WPC"/>
                  </a:rPr>
                  <a:t> </a:t>
                </a:r>
                <a:r>
                  <a:rPr lang="es-PE" sz="900" b="0" i="0" dirty="0" err="1">
                    <a:solidFill>
                      <a:schemeClr val="tx1"/>
                    </a:solidFill>
                    <a:effectLst/>
                    <a:latin typeface="Segoe WPC"/>
                  </a:rPr>
                  <a:t>moment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tail</a:t>
                </a:r>
                <a:r>
                  <a:rPr lang="es-PE" sz="900" b="0" i="0" dirty="0">
                    <a:solidFill>
                      <a:schemeClr val="tx1"/>
                    </a:solidFill>
                    <a:effectLst/>
                    <a:latin typeface="Segoe WPC"/>
                  </a:rPr>
                  <a:t> </a:t>
                </a:r>
                <a:r>
                  <a:rPr lang="es-PE" sz="900" b="0" i="0" dirty="0" err="1">
                    <a:solidFill>
                      <a:schemeClr val="tx1"/>
                    </a:solidFill>
                    <a:effectLst/>
                    <a:latin typeface="Segoe WPC"/>
                  </a:rPr>
                  <a:t>heaviness</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likelihood</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deviations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kurtosis</a:t>
                </a:r>
                <a:r>
                  <a:rPr lang="es-PE" sz="900" b="0" i="0" dirty="0">
                    <a:solidFill>
                      <a:schemeClr val="tx1"/>
                    </a:solidFill>
                    <a:effectLst/>
                    <a:latin typeface="Segoe WPC"/>
                  </a:rPr>
                  <a:t> = </a:t>
                </a:r>
                <a:r>
                  <a:rPr lang="es-PE" sz="900" b="0" i="0" dirty="0" err="1">
                    <a:solidFill>
                      <a:schemeClr val="tx1"/>
                    </a:solidFill>
                    <a:effectLst/>
                    <a:latin typeface="Segoe WPC"/>
                  </a:rPr>
                  <a:t>fatter</a:t>
                </a:r>
                <a:r>
                  <a:rPr lang="es-PE" sz="900" b="0" i="0" dirty="0">
                    <a:solidFill>
                      <a:schemeClr val="tx1"/>
                    </a:solidFill>
                    <a:effectLst/>
                    <a:latin typeface="Segoe WPC"/>
                  </a:rPr>
                  <a:t> </a:t>
                </a:r>
                <a:r>
                  <a:rPr lang="es-PE" sz="900" b="0" i="0" dirty="0" err="1">
                    <a:solidFill>
                      <a:schemeClr val="tx1"/>
                    </a:solidFill>
                    <a:effectLst/>
                    <a:latin typeface="Segoe WPC"/>
                  </a:rPr>
                  <a:t>tails</a:t>
                </a:r>
                <a:r>
                  <a:rPr lang="es-PE" sz="900" b="0" i="0" dirty="0">
                    <a:solidFill>
                      <a:schemeClr val="tx1"/>
                    </a:solidFill>
                    <a:effectLst/>
                    <a:latin typeface="Segoe WPC"/>
                  </a:rPr>
                  <a:t> and more extreme </a:t>
                </a:r>
                <a:r>
                  <a:rPr lang="es-PE" sz="900" b="0" i="0" dirty="0" err="1">
                    <a:solidFill>
                      <a:schemeClr val="tx1"/>
                    </a:solidFill>
                    <a:effectLst/>
                    <a:latin typeface="Segoe WPC"/>
                  </a:rPr>
                  <a:t>outcomes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kurt</m:t>
                    </m:r>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𝑋</m:t>
                        </m:r>
                      </m:e>
                    </m:d>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𝐸</m:t>
                    </m:r>
                    <m:d>
                      <m:dPr>
                        <m:begChr m:val="["/>
                        <m:endChr m:val="]"/>
                        <m:ctrlPr>
                          <a:rPr lang="ar-AE" sz="900" b="0" i="1">
                            <a:solidFill>
                              <a:schemeClr val="tx1"/>
                            </a:solidFill>
                            <a:latin typeface="Cambria Math" panose="02040503050406030204" pitchFamily="18" charset="0"/>
                          </a:rPr>
                        </m:ctrlPr>
                      </m:dPr>
                      <m:e>
                        <m:sSup>
                          <m:sSupPr>
                            <m:ctrlPr>
                              <a:rPr lang="ar-AE" sz="900" b="0" i="1">
                                <a:solidFill>
                                  <a:schemeClr val="tx1"/>
                                </a:solidFill>
                                <a:latin typeface="Cambria Math" panose="02040503050406030204" pitchFamily="18" charset="0"/>
                              </a:rPr>
                            </m:ctrlPr>
                          </m:sSupPr>
                          <m:e>
                            <m:d>
                              <m:dPr>
                                <m:ctrlPr>
                                  <a:rPr lang="ar-AE" sz="900" b="0" i="1">
                                    <a:solidFill>
                                      <a:schemeClr val="tx1"/>
                                    </a:solidFill>
                                    <a:latin typeface="Cambria Math" panose="02040503050406030204" pitchFamily="18" charset="0"/>
                                  </a:rPr>
                                </m:ctrlPr>
                              </m:dPr>
                              <m:e>
                                <m:f>
                                  <m:fPr>
                                    <m:ctrlPr>
                                      <a:rPr lang="ar-AE" sz="900" b="0" i="1">
                                        <a:solidFill>
                                          <a:schemeClr val="tx1"/>
                                        </a:solidFill>
                                        <a:latin typeface="Cambria Math" panose="02040503050406030204" pitchFamily="18" charset="0"/>
                                      </a:rPr>
                                    </m:ctrlPr>
                                  </m:fPr>
                                  <m:num>
                                    <m:r>
                                      <a:rPr lang="ar-AE" sz="900" b="0" i="1">
                                        <a:solidFill>
                                          <a:schemeClr val="tx1"/>
                                        </a:solidFill>
                                        <a:latin typeface="Cambria Math" panose="02040503050406030204" pitchFamily="18" charset="0"/>
                                      </a:rPr>
                                      <m:t>𝑋</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𝜇</m:t>
                                    </m:r>
                                  </m:num>
                                  <m:den>
                                    <m:r>
                                      <a:rPr lang="ar-AE" sz="900" b="0" i="1">
                                        <a:solidFill>
                                          <a:schemeClr val="tx1"/>
                                        </a:solidFill>
                                        <a:latin typeface="Cambria Math" panose="02040503050406030204" pitchFamily="18" charset="0"/>
                                      </a:rPr>
                                      <m:t>𝜎</m:t>
                                    </m:r>
                                  </m:den>
                                </m:f>
                              </m:e>
                            </m:d>
                          </m:e>
                          <m:sup>
                            <m:r>
                              <a:rPr lang="ar-AE" sz="900" b="0" i="0">
                                <a:solidFill>
                                  <a:schemeClr val="tx1"/>
                                </a:solidFill>
                                <a:latin typeface="Cambria Math" panose="02040503050406030204" pitchFamily="18" charset="0"/>
                              </a:rPr>
                              <m:t>4</m:t>
                            </m:r>
                          </m:sup>
                        </m:sSup>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Financial</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kurtosis</a:t>
                </a:r>
                <a:r>
                  <a:rPr lang="es-PE" sz="900" b="0" i="0" dirty="0">
                    <a:solidFill>
                      <a:schemeClr val="tx1"/>
                    </a:solidFill>
                    <a:effectLst/>
                    <a:latin typeface="Segoe WPC"/>
                  </a:rPr>
                  <a:t> </a:t>
                </a:r>
                <a:r>
                  <a:rPr lang="es-PE" sz="900" b="0" i="0" dirty="0" err="1">
                    <a:solidFill>
                      <a:schemeClr val="tx1"/>
                    </a:solidFill>
                    <a:effectLst/>
                    <a:latin typeface="Segoe WPC"/>
                  </a:rPr>
                  <a:t>greater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3, </a:t>
                </a:r>
                <a:r>
                  <a:rPr lang="es-PE" sz="900" b="0" i="0" dirty="0" err="1">
                    <a:solidFill>
                      <a:schemeClr val="tx1"/>
                    </a:solidFill>
                    <a:effectLst/>
                    <a:latin typeface="Segoe WPC"/>
                  </a:rPr>
                  <a:t>meaning</a:t>
                </a:r>
                <a:r>
                  <a:rPr lang="es-PE" sz="900" b="0" i="0" dirty="0">
                    <a:solidFill>
                      <a:schemeClr val="tx1"/>
                    </a:solidFill>
                    <a:effectLst/>
                    <a:latin typeface="Segoe WPC"/>
                  </a:rPr>
                  <a:t> </a:t>
                </a:r>
                <a:r>
                  <a:rPr lang="es-PE" sz="900" b="0" i="0" dirty="0" err="1">
                    <a:solidFill>
                      <a:schemeClr val="tx1"/>
                    </a:solidFill>
                    <a:effectLst/>
                    <a:latin typeface="Segoe WPC"/>
                  </a:rPr>
                  <a:t>fat</a:t>
                </a:r>
                <a:r>
                  <a:rPr lang="es-PE" sz="900" b="0" i="0" dirty="0">
                    <a:solidFill>
                      <a:schemeClr val="tx1"/>
                    </a:solidFill>
                    <a:effectLst/>
                    <a:latin typeface="Segoe WPC"/>
                  </a:rPr>
                  <a:t> </a:t>
                </a:r>
                <a:r>
                  <a:rPr lang="es-PE" sz="900" b="0" i="0" dirty="0" err="1">
                    <a:solidFill>
                      <a:schemeClr val="tx1"/>
                    </a:solidFill>
                    <a:effectLst/>
                    <a:latin typeface="Segoe WPC"/>
                  </a:rPr>
                  <a:t>tails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High </a:t>
                </a:r>
                <a:r>
                  <a:rPr lang="es-PE" sz="900" b="0" i="0" dirty="0" err="1">
                    <a:solidFill>
                      <a:schemeClr val="tx1"/>
                    </a:solidFill>
                    <a:effectLst/>
                    <a:latin typeface="Segoe WPC"/>
                  </a:rPr>
                  <a:t>kurtosis</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mean “more </a:t>
                </a:r>
                <a:r>
                  <a:rPr lang="es-PE" sz="900" b="0" i="0" dirty="0" err="1">
                    <a:solidFill>
                      <a:schemeClr val="tx1"/>
                    </a:solidFill>
                    <a:effectLst/>
                    <a:latin typeface="Segoe WPC"/>
                  </a:rPr>
                  <a:t>peaked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key</a:t>
                </a:r>
                <a:r>
                  <a:rPr lang="es-PE" sz="900" b="0" i="0" dirty="0">
                    <a:solidFill>
                      <a:schemeClr val="tx1"/>
                    </a:solidFill>
                    <a:effectLst/>
                    <a:latin typeface="Segoe WPC"/>
                  </a:rPr>
                  <a:t> </a:t>
                </a:r>
                <a:r>
                  <a:rPr lang="es-PE" sz="900" b="0" i="0" dirty="0" err="1">
                    <a:solidFill>
                      <a:schemeClr val="tx1"/>
                    </a:solidFill>
                    <a:effectLst/>
                    <a:latin typeface="Segoe WPC"/>
                  </a:rPr>
                  <a:t>exam</a:t>
                </a:r>
                <a:r>
                  <a:rPr lang="es-PE" sz="900" b="0" i="0" dirty="0">
                    <a:solidFill>
                      <a:schemeClr val="tx1"/>
                    </a:solidFill>
                    <a:effectLst/>
                    <a:latin typeface="Segoe WPC"/>
                  </a:rPr>
                  <a:t> idea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heavier</a:t>
                </a:r>
                <a:r>
                  <a:rPr lang="es-PE" sz="900" b="0" i="0" dirty="0">
                    <a:solidFill>
                      <a:schemeClr val="tx1"/>
                    </a:solidFill>
                    <a:effectLst/>
                    <a:latin typeface="Segoe WPC"/>
                  </a:rPr>
                  <a:t> </a:t>
                </a:r>
                <a:r>
                  <a:rPr lang="es-PE" sz="900" b="0" i="0" dirty="0" err="1">
                    <a:solidFill>
                      <a:schemeClr val="tx1"/>
                    </a:solidFill>
                    <a:effectLst/>
                    <a:latin typeface="Segoe WPC"/>
                  </a:rPr>
                  <a:t>tails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9. </a:t>
                </a:r>
                <a:r>
                  <a:rPr lang="es-PE" sz="900" b="1" i="0" dirty="0" err="1">
                    <a:solidFill>
                      <a:schemeClr val="tx1"/>
                    </a:solidFill>
                    <a:effectLst/>
                    <a:latin typeface="Segoe WPC"/>
                  </a:rPr>
                  <a:t>Quantiles</a:t>
                </a:r>
                <a:r>
                  <a:rPr lang="es-PE" sz="900" b="1" i="0" dirty="0">
                    <a:solidFill>
                      <a:schemeClr val="tx1"/>
                    </a:solidFill>
                    <a:effectLst/>
                    <a:latin typeface="Segoe WPC"/>
                  </a:rPr>
                  <a:t>, Median, and IQR</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based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quantile</a:t>
                </a:r>
                <a:r>
                  <a:rPr lang="es-PE" sz="900" b="0" i="0" dirty="0">
                    <a:solidFill>
                      <a:schemeClr val="tx1"/>
                    </a:solidFill>
                    <a:effectLst/>
                    <a:latin typeface="Segoe WPC"/>
                  </a:rPr>
                  <a:t> </a:t>
                </a:r>
                <a:r>
                  <a:rPr lang="es-PE" sz="900" b="0" i="0" dirty="0" err="1">
                    <a:solidFill>
                      <a:schemeClr val="tx1"/>
                    </a:solidFill>
                    <a:effectLst/>
                    <a:latin typeface="Segoe WPC"/>
                  </a:rPr>
                  <a:t>function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inverse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CDF.</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Quantiles</a:t>
                </a:r>
                <a:r>
                  <a:rPr lang="es-PE" sz="900" b="0" i="0" dirty="0">
                    <a:solidFill>
                      <a:schemeClr val="tx1"/>
                    </a:solidFill>
                    <a:effectLst/>
                    <a:latin typeface="Segoe WPC"/>
                  </a:rPr>
                  <a:t> </a:t>
                </a:r>
                <a:r>
                  <a:rPr lang="es-PE" sz="900" b="0" i="0" dirty="0" err="1">
                    <a:solidFill>
                      <a:schemeClr val="tx1"/>
                    </a:solidFill>
                    <a:effectLst/>
                    <a:latin typeface="Segoe WPC"/>
                  </a:rPr>
                  <a:t>split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buckets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Read</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vertical axis, </a:t>
                </a:r>
                <a:r>
                  <a:rPr lang="es-PE" sz="900" b="0" i="0" dirty="0" err="1">
                    <a:solidFill>
                      <a:schemeClr val="tx1"/>
                    </a:solidFill>
                    <a:effectLst/>
                    <a:latin typeface="Segoe WPC"/>
                  </a:rPr>
                  <a:t>then</a:t>
                </a:r>
                <a:r>
                  <a:rPr lang="es-PE" sz="900" b="0" i="0" dirty="0">
                    <a:solidFill>
                      <a:schemeClr val="tx1"/>
                    </a:solidFill>
                    <a:effectLst/>
                    <a:latin typeface="Segoe WPC"/>
                  </a:rPr>
                  <a:t> </a:t>
                </a:r>
                <a:r>
                  <a:rPr lang="es-PE" sz="900" b="0" i="0" dirty="0" err="1">
                    <a:solidFill>
                      <a:schemeClr val="tx1"/>
                    </a:solidFill>
                    <a:effectLst/>
                    <a:latin typeface="Segoe WPC"/>
                  </a:rPr>
                  <a:t>map</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back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horizontal axis.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𝑄</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𝛼</m:t>
                        </m:r>
                      </m:e>
                    </m:d>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𝐹</m:t>
                        </m:r>
                      </m:e>
                      <m:sub>
                        <m:r>
                          <a:rPr lang="ar-AE" sz="900" i="1">
                            <a:solidFill>
                              <a:schemeClr val="tx1"/>
                            </a:solidFill>
                            <a:latin typeface="Cambria Math" panose="02040503050406030204" pitchFamily="18" charset="0"/>
                          </a:rPr>
                          <m:t>𝑋</m:t>
                        </m:r>
                      </m:sub>
                      <m:sup>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p>
                    </m:sSubSup>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𝛼</m:t>
                        </m:r>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Median = 50% </a:t>
                </a:r>
                <a:r>
                  <a:rPr lang="es-PE" sz="900" b="0" i="0" dirty="0" err="1">
                    <a:solidFill>
                      <a:schemeClr val="tx1"/>
                    </a:solidFill>
                    <a:effectLst/>
                    <a:latin typeface="Segoe WPC"/>
                  </a:rPr>
                  <a:t>quantile</a:t>
                </a:r>
                <a:r>
                  <a:rPr lang="es-PE" sz="900" b="0" i="0" dirty="0">
                    <a:solidFill>
                      <a:schemeClr val="tx1"/>
                    </a:solidFill>
                    <a:effectLst/>
                    <a:latin typeface="Segoe WPC"/>
                  </a:rPr>
                  <a:t>; IQR = 75% </a:t>
                </a:r>
                <a:r>
                  <a:rPr lang="es-PE" sz="900" b="0" i="0" dirty="0" err="1">
                    <a:solidFill>
                      <a:schemeClr val="tx1"/>
                    </a:solidFill>
                    <a:effectLst/>
                    <a:latin typeface="Segoe WPC"/>
                  </a:rPr>
                  <a:t>quantile</a:t>
                </a:r>
                <a:r>
                  <a:rPr lang="es-PE" sz="900" b="0" i="0" dirty="0">
                    <a:solidFill>
                      <a:schemeClr val="tx1"/>
                    </a:solidFill>
                    <a:effectLst/>
                    <a:latin typeface="Segoe WPC"/>
                  </a:rPr>
                  <a:t> </a:t>
                </a:r>
                <a:r>
                  <a:rPr lang="es-PE" sz="900" b="0" i="0" dirty="0" err="1">
                    <a:solidFill>
                      <a:schemeClr val="tx1"/>
                    </a:solidFill>
                    <a:effectLst/>
                    <a:latin typeface="Segoe WPC"/>
                  </a:rPr>
                  <a:t>minus</a:t>
                </a:r>
                <a:r>
                  <a:rPr lang="es-PE" sz="900" b="0" i="0" dirty="0">
                    <a:solidFill>
                      <a:schemeClr val="tx1"/>
                    </a:solidFill>
                    <a:effectLst/>
                    <a:latin typeface="Segoe WPC"/>
                  </a:rPr>
                  <a:t> 25% </a:t>
                </a:r>
                <a:r>
                  <a:rPr lang="es-PE" sz="900" b="0" i="0" dirty="0" err="1">
                    <a:solidFill>
                      <a:schemeClr val="tx1"/>
                    </a:solidFill>
                    <a:effectLst/>
                    <a:latin typeface="Segoe WPC"/>
                  </a:rPr>
                  <a:t>quantile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Mean and median are </a:t>
                </a:r>
                <a:r>
                  <a:rPr lang="es-PE" sz="900" b="0" i="0" dirty="0" err="1">
                    <a:solidFill>
                      <a:schemeClr val="tx1"/>
                    </a:solidFill>
                    <a:effectLst/>
                    <a:latin typeface="Segoe WPC"/>
                  </a:rPr>
                  <a:t>equal</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in </a:t>
                </a:r>
                <a:r>
                  <a:rPr lang="es-PE" sz="900" b="0" i="0" dirty="0" err="1">
                    <a:solidFill>
                      <a:schemeClr val="tx1"/>
                    </a:solidFill>
                    <a:effectLst/>
                    <a:latin typeface="Segoe WPC"/>
                  </a:rPr>
                  <a:t>symmetric</a:t>
                </a:r>
                <a:r>
                  <a:rPr lang="es-PE" sz="900" b="0" i="0" dirty="0">
                    <a:solidFill>
                      <a:schemeClr val="tx1"/>
                    </a:solidFill>
                    <a:effectLst/>
                    <a:latin typeface="Segoe WPC"/>
                  </a:rPr>
                  <a:t> </a:t>
                </a:r>
                <a:r>
                  <a:rPr lang="es-PE" sz="900" b="0" i="0" dirty="0" err="1">
                    <a:solidFill>
                      <a:schemeClr val="tx1"/>
                    </a:solidFill>
                    <a:effectLst/>
                    <a:latin typeface="Segoe WPC"/>
                  </a:rPr>
                  <a:t>distributions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10. </a:t>
                </a:r>
                <a:r>
                  <a:rPr lang="es-PE" sz="900" b="1" i="0" dirty="0" err="1">
                    <a:solidFill>
                      <a:schemeClr val="tx1"/>
                    </a:solidFill>
                    <a:effectLst/>
                    <a:latin typeface="Segoe WPC"/>
                  </a:rPr>
                  <a:t>Continuous</a:t>
                </a:r>
                <a:r>
                  <a:rPr lang="es-PE" sz="900" b="1" i="0" dirty="0">
                    <a:solidFill>
                      <a:schemeClr val="tx1"/>
                    </a:solidFill>
                    <a:effectLst/>
                    <a:latin typeface="Segoe WPC"/>
                  </a:rPr>
                  <a:t> </a:t>
                </a:r>
                <a:r>
                  <a:rPr lang="es-PE" sz="900" b="1" i="0" dirty="0" err="1">
                    <a:solidFill>
                      <a:schemeClr val="tx1"/>
                    </a:solidFill>
                    <a:effectLst/>
                    <a:latin typeface="Segoe WPC"/>
                  </a:rPr>
                  <a:t>Random</a:t>
                </a:r>
                <a:r>
                  <a:rPr lang="es-PE" sz="900" b="1" i="0" dirty="0">
                    <a:solidFill>
                      <a:schemeClr val="tx1"/>
                    </a:solidFill>
                    <a:effectLst/>
                    <a:latin typeface="Segoe WPC"/>
                  </a:rPr>
                  <a:t> Variables and </a:t>
                </a:r>
                <a:r>
                  <a:rPr lang="es-PE" sz="900" b="1" i="0" dirty="0" err="1">
                    <a:solidFill>
                      <a:schemeClr val="tx1"/>
                    </a:solidFill>
                    <a:effectLst/>
                    <a:latin typeface="Segoe WPC"/>
                  </a:rPr>
                  <a:t>PDFs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Continuous</a:t>
                </a:r>
                <a:r>
                  <a:rPr lang="es-PE" sz="900" b="0" i="0" dirty="0">
                    <a:solidFill>
                      <a:schemeClr val="tx1"/>
                    </a:solidFill>
                    <a:effectLst/>
                    <a:latin typeface="Segoe WPC"/>
                  </a:rPr>
                  <a:t> variables use a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density</a:t>
                </a:r>
                <a:r>
                  <a:rPr lang="es-PE" sz="900" b="0" i="0" dirty="0">
                    <a:solidFill>
                      <a:schemeClr val="tx1"/>
                    </a:solidFill>
                    <a:effectLst/>
                    <a:latin typeface="Segoe WPC"/>
                  </a:rPr>
                  <a:t> </a:t>
                </a:r>
                <a:r>
                  <a:rPr lang="es-PE" sz="900" b="0" i="0" dirty="0" err="1">
                    <a:solidFill>
                      <a:schemeClr val="tx1"/>
                    </a:solidFill>
                    <a:effectLst/>
                    <a:latin typeface="Segoe WPC"/>
                  </a:rPr>
                  <a:t>function</a:t>
                </a:r>
                <a:r>
                  <a:rPr lang="es-PE" sz="900" b="0" i="0" dirty="0">
                    <a:solidFill>
                      <a:schemeClr val="tx1"/>
                    </a:solidFill>
                    <a:effectLst/>
                    <a:latin typeface="Segoe WPC"/>
                  </a:rPr>
                  <a:t> </a:t>
                </a:r>
                <a:r>
                  <a:rPr lang="es-PE" sz="900" b="0" i="0" dirty="0" err="1">
                    <a:solidFill>
                      <a:schemeClr val="tx1"/>
                    </a:solidFill>
                    <a:effectLst/>
                    <a:latin typeface="Segoe WPC"/>
                  </a:rPr>
                  <a:t>instead</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 PMF.</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comes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area</a:t>
                </a:r>
                <a:r>
                  <a:rPr lang="es-PE" sz="900" b="0" i="0" dirty="0">
                    <a:solidFill>
                      <a:schemeClr val="tx1"/>
                    </a:solidFill>
                    <a:effectLst/>
                    <a:latin typeface="Segoe WPC"/>
                  </a:rPr>
                  <a:t> </a:t>
                </a:r>
                <a:r>
                  <a:rPr lang="es-PE" sz="900" b="0" i="0" dirty="0" err="1">
                    <a:solidFill>
                      <a:schemeClr val="tx1"/>
                    </a:solidFill>
                    <a:effectLst/>
                    <a:latin typeface="Segoe WPC"/>
                  </a:rPr>
                  <a:t>under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curve,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height</a:t>
                </a:r>
                <a:r>
                  <a:rPr lang="es-PE" sz="900" b="0" i="0" dirty="0">
                    <a:solidFill>
                      <a:schemeClr val="tx1"/>
                    </a:solidFill>
                    <a:effectLst/>
                    <a:latin typeface="Segoe WPC"/>
                  </a:rPr>
                  <a:t> at a </a:t>
                </a:r>
                <a:r>
                  <a:rPr lang="es-PE" sz="900" b="0" i="0" dirty="0" err="1">
                    <a:solidFill>
                      <a:schemeClr val="tx1"/>
                    </a:solidFill>
                    <a:effectLst/>
                    <a:latin typeface="Segoe WPC"/>
                  </a:rPr>
                  <a:t>point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smooth</a:t>
                </a:r>
                <a:r>
                  <a:rPr lang="es-PE" sz="900" b="0" i="0" dirty="0">
                    <a:solidFill>
                      <a:schemeClr val="tx1"/>
                    </a:solidFill>
                    <a:effectLst/>
                    <a:latin typeface="Segoe WPC"/>
                  </a:rPr>
                  <a:t> </a:t>
                </a:r>
                <a:r>
                  <a:rPr lang="es-PE" sz="900" b="0" i="0" dirty="0" err="1">
                    <a:solidFill>
                      <a:schemeClr val="tx1"/>
                    </a:solidFill>
                    <a:effectLst/>
                    <a:latin typeface="Segoe WPC"/>
                  </a:rPr>
                  <a:t>density</a:t>
                </a:r>
                <a:r>
                  <a:rPr lang="es-PE" sz="900" b="0" i="0" dirty="0">
                    <a:solidFill>
                      <a:schemeClr val="tx1"/>
                    </a:solidFill>
                    <a:effectLst/>
                    <a:latin typeface="Segoe WPC"/>
                  </a:rPr>
                  <a:t> curve </a:t>
                </a:r>
                <a:r>
                  <a:rPr lang="es-PE" sz="900" b="0" i="0" dirty="0" err="1">
                    <a:solidFill>
                      <a:schemeClr val="tx1"/>
                    </a:solidFill>
                    <a:effectLst/>
                    <a:latin typeface="Segoe WPC"/>
                  </a:rPr>
                  <a:t>where</a:t>
                </a:r>
                <a:r>
                  <a:rPr lang="es-PE" sz="900" b="0" i="0" dirty="0">
                    <a:solidFill>
                      <a:schemeClr val="tx1"/>
                    </a:solidFill>
                    <a:effectLst/>
                    <a:latin typeface="Segoe WPC"/>
                  </a:rPr>
                  <a:t> </a:t>
                </a:r>
                <a:r>
                  <a:rPr lang="es-PE" sz="900" b="0" i="0" dirty="0" err="1">
                    <a:solidFill>
                      <a:schemeClr val="tx1"/>
                    </a:solidFill>
                    <a:effectLst/>
                    <a:latin typeface="Segoe WPC"/>
                  </a:rPr>
                  <a:t>intervals</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𝑎</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𝑋</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𝑏</m:t>
                        </m:r>
                      </m:e>
                    </m:d>
                    <m:r>
                      <a:rPr lang="ar-AE" sz="900" i="0">
                        <a:solidFill>
                          <a:schemeClr val="tx1"/>
                        </a:solidFill>
                        <a:latin typeface="Cambria Math" panose="02040503050406030204" pitchFamily="18" charset="0"/>
                      </a:rPr>
                      <m:t>=</m:t>
                    </m:r>
                    <m:nary>
                      <m:naryPr>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𝑎</m:t>
                        </m:r>
                      </m:sub>
                      <m:sup>
                        <m:r>
                          <a:rPr lang="ar-AE" sz="900" i="1">
                            <a:solidFill>
                              <a:schemeClr val="tx1"/>
                            </a:solidFill>
                            <a:latin typeface="Cambria Math" panose="02040503050406030204" pitchFamily="18" charset="0"/>
                          </a:rPr>
                          <m:t>𝑏</m:t>
                        </m:r>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1">
                                <a:solidFill>
                                  <a:schemeClr val="tx1"/>
                                </a:solidFill>
                                <a:latin typeface="Cambria Math" panose="02040503050406030204" pitchFamily="18" charset="0"/>
                              </a:rPr>
                              <m:t>𝑋</m:t>
                            </m:r>
                          </m:sub>
                        </m:sSub>
                      </m:e>
                    </m:nary>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𝑥</m:t>
                        </m:r>
                      </m:e>
                    </m:d>
                    <m:r>
                      <m:rPr>
                        <m:nor/>
                      </m:rPr>
                      <a:rPr lang="ar-AE" sz="900" b="0" i="1">
                        <a:solidFill>
                          <a:schemeClr val="tx1"/>
                        </a:solidFill>
                        <a:latin typeface="Cambria Math" panose="02040503050406030204" pitchFamily="18" charset="0"/>
                      </a:rPr>
                      <m:t> </m:t>
                    </m:r>
                    <m:r>
                      <a:rPr lang="ar-AE" sz="900" b="0" i="1">
                        <a:solidFill>
                          <a:schemeClr val="tx1"/>
                        </a:solidFill>
                        <a:latin typeface="Cambria Math" panose="02040503050406030204" pitchFamily="18" charset="0"/>
                      </a:rPr>
                      <m:t>𝑑𝑥</m:t>
                    </m:r>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PDF shows relative </a:t>
                </a:r>
                <a:r>
                  <a:rPr lang="es-PE" sz="900" b="0" i="0" dirty="0" err="1">
                    <a:solidFill>
                      <a:schemeClr val="tx1"/>
                    </a:solidFill>
                    <a:effectLst/>
                    <a:latin typeface="Segoe WPC"/>
                  </a:rPr>
                  <a:t>likelihood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CDF shows </a:t>
                </a:r>
                <a:r>
                  <a:rPr lang="es-PE" sz="900" b="0" i="0" dirty="0" err="1">
                    <a:solidFill>
                      <a:schemeClr val="tx1"/>
                    </a:solidFill>
                    <a:effectLst/>
                    <a:latin typeface="Segoe WPC"/>
                  </a:rPr>
                  <a:t>accumulated</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1">
                            <a:solidFill>
                              <a:schemeClr val="tx1"/>
                            </a:solidFill>
                            <a:latin typeface="Cambria Math" panose="02040503050406030204" pitchFamily="18" charset="0"/>
                          </a:rPr>
                          <m:t>𝑋</m:t>
                        </m:r>
                      </m:sub>
                    </m:sSub>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𝑥</m:t>
                        </m:r>
                      </m:e>
                    </m:d>
                  </m:oMath>
                </a14:m>
                <a:r>
                  <a:rPr lang="ar-AE" sz="900" b="0" i="0" dirty="0">
                    <a:solidFill>
                      <a:schemeClr val="tx1"/>
                    </a:solidFill>
                    <a:effectLst/>
                    <a:latin typeface="Segoe WPC"/>
                  </a:rPr>
                  <a:t> </a:t>
                </a:r>
                <a:r>
                  <a:rPr lang="es-PE" sz="900" b="0" i="0" dirty="0" err="1">
                    <a:solidFill>
                      <a:schemeClr val="tx1"/>
                    </a:solidFill>
                    <a:effectLst/>
                    <a:latin typeface="Segoe WPC"/>
                  </a:rPr>
                  <a:t>itself</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 </a:t>
                </a:r>
                <a:r>
                  <a:rPr lang="es-PE" sz="900" b="0" i="0" dirty="0" err="1">
                    <a:solidFill>
                      <a:schemeClr val="tx1"/>
                    </a:solidFill>
                    <a:effectLst/>
                    <a:latin typeface="Segoe WPC"/>
                  </a:rPr>
                  <a:t>probability</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11. Linear </a:t>
                </a:r>
                <a:r>
                  <a:rPr lang="es-PE" sz="900" b="1" i="0" dirty="0" err="1">
                    <a:solidFill>
                      <a:schemeClr val="tx1"/>
                    </a:solidFill>
                    <a:effectLst/>
                    <a:latin typeface="Segoe WPC"/>
                  </a:rPr>
                  <a:t>Transformations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Rescaling</a:t>
                </a:r>
                <a:r>
                  <a:rPr lang="es-PE" sz="900" b="0" i="0" dirty="0">
                    <a:solidFill>
                      <a:schemeClr val="tx1"/>
                    </a:solidFill>
                    <a:effectLst/>
                    <a:latin typeface="Segoe WPC"/>
                  </a:rPr>
                  <a:t> and </a:t>
                </a:r>
                <a:r>
                  <a:rPr lang="es-PE" sz="900" b="0" i="0" dirty="0" err="1">
                    <a:solidFill>
                      <a:schemeClr val="tx1"/>
                    </a:solidFill>
                    <a:effectLst/>
                    <a:latin typeface="Segoe WPC"/>
                  </a:rPr>
                  <a:t>shifting</a:t>
                </a:r>
                <a:r>
                  <a:rPr lang="es-PE" sz="900" b="0" i="0" dirty="0">
                    <a:solidFill>
                      <a:schemeClr val="tx1"/>
                    </a:solidFill>
                    <a:effectLst/>
                    <a:latin typeface="Segoe WPC"/>
                  </a:rPr>
                  <a:t> a </a:t>
                </a:r>
                <a:r>
                  <a:rPr lang="es-PE" sz="900" b="0" i="0" dirty="0" err="1">
                    <a:solidFill>
                      <a:schemeClr val="tx1"/>
                    </a:solidFill>
                    <a:effectLst/>
                    <a:latin typeface="Segoe WPC"/>
                  </a:rPr>
                  <a:t>random</a:t>
                </a:r>
                <a:r>
                  <a:rPr lang="es-PE" sz="900" b="0" i="0" dirty="0">
                    <a:solidFill>
                      <a:schemeClr val="tx1"/>
                    </a:solidFill>
                    <a:effectLst/>
                    <a:latin typeface="Segoe WPC"/>
                  </a:rPr>
                  <a:t> variable.</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Add</a:t>
                </a:r>
                <a:r>
                  <a:rPr lang="es-PE" sz="900" b="0" i="0" dirty="0">
                    <a:solidFill>
                      <a:schemeClr val="tx1"/>
                    </a:solidFill>
                    <a:effectLst/>
                    <a:latin typeface="Segoe WPC"/>
                  </a:rPr>
                  <a:t> a </a:t>
                </a:r>
                <a:r>
                  <a:rPr lang="es-PE" sz="900" b="0" i="0" dirty="0" err="1">
                    <a:solidFill>
                      <a:schemeClr val="tx1"/>
                    </a:solidFill>
                    <a:effectLst/>
                    <a:latin typeface="Segoe WPC"/>
                  </a:rPr>
                  <a:t>constant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center; </a:t>
                </a:r>
                <a:r>
                  <a:rPr lang="es-PE" sz="900" b="0" i="0" dirty="0" err="1">
                    <a:solidFill>
                      <a:schemeClr val="tx1"/>
                    </a:solidFill>
                    <a:effectLst/>
                    <a:latin typeface="Segoe WPC"/>
                  </a:rPr>
                  <a:t>multiply</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 </a:t>
                </a:r>
                <a:r>
                  <a:rPr lang="es-PE" sz="900" b="0" i="0" dirty="0" err="1">
                    <a:solidFill>
                      <a:schemeClr val="tx1"/>
                    </a:solidFill>
                    <a:effectLst/>
                    <a:latin typeface="Segoe WPC"/>
                  </a:rPr>
                  <a:t>constant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change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scale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Shift </a:t>
                </a:r>
                <a:r>
                  <a:rPr lang="es-PE" sz="900" b="0" i="0" dirty="0" err="1">
                    <a:solidFill>
                      <a:schemeClr val="tx1"/>
                    </a:solidFill>
                    <a:effectLst/>
                    <a:latin typeface="Segoe WPC"/>
                  </a:rPr>
                  <a:t>left</a:t>
                </a:r>
                <a:r>
                  <a:rPr lang="es-PE" sz="900" b="0" i="0" dirty="0">
                    <a:solidFill>
                      <a:schemeClr val="tx1"/>
                    </a:solidFill>
                    <a:effectLst/>
                    <a:latin typeface="Segoe WPC"/>
                  </a:rPr>
                  <a:t>/</a:t>
                </a:r>
                <a:r>
                  <a:rPr lang="es-PE" sz="900" b="0" i="0" dirty="0" err="1">
                    <a:solidFill>
                      <a:schemeClr val="tx1"/>
                    </a:solidFill>
                    <a:effectLst/>
                    <a:latin typeface="Segoe WPC"/>
                  </a:rPr>
                  <a:t>right</a:t>
                </a:r>
                <a:r>
                  <a:rPr lang="es-PE" sz="900" b="0" i="0" dirty="0">
                    <a:solidFill>
                      <a:schemeClr val="tx1"/>
                    </a:solidFill>
                    <a:effectLst/>
                    <a:latin typeface="Segoe WPC"/>
                  </a:rPr>
                  <a:t>, </a:t>
                </a:r>
                <a:r>
                  <a:rPr lang="es-PE" sz="900" b="0" i="0" dirty="0" err="1">
                    <a:solidFill>
                      <a:schemeClr val="tx1"/>
                    </a:solidFill>
                    <a:effectLst/>
                    <a:latin typeface="Segoe WPC"/>
                  </a:rPr>
                  <a:t>stretch</a:t>
                </a:r>
                <a:r>
                  <a:rPr lang="es-PE" sz="900" b="0" i="0" dirty="0">
                    <a:solidFill>
                      <a:schemeClr val="tx1"/>
                    </a:solidFill>
                    <a:effectLst/>
                    <a:latin typeface="Segoe WPC"/>
                  </a:rPr>
                  <a:t>/</a:t>
                </a:r>
                <a:r>
                  <a:rPr lang="es-PE" sz="900" b="0" i="0" dirty="0" err="1">
                    <a:solidFill>
                      <a:schemeClr val="tx1"/>
                    </a:solidFill>
                    <a:effectLst/>
                    <a:latin typeface="Segoe WPC"/>
                  </a:rPr>
                  <a:t>compress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𝑎</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𝑏𝑋</m:t>
                    </m:r>
                  </m:oMath>
                </a14:m>
                <a:r>
                  <a:rPr lang="es-P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𝑎</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𝑏𝐸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e>
                    </m:d>
                  </m:oMath>
                </a14:m>
                <a:r>
                  <a:rPr lang="ar-AE" sz="900" b="0" i="0" dirty="0">
                    <a:solidFill>
                      <a:schemeClr val="tx1"/>
                    </a:solidFill>
                    <a:effectLst/>
                    <a:latin typeface="Segoe WPC"/>
                  </a:rPr>
                  <a:t> </a:t>
                </a:r>
                <a:r>
                  <a:rPr lang="es-PE" sz="900" b="0" i="0" dirty="0">
                    <a:solidFill>
                      <a:schemeClr val="tx1"/>
                    </a:solidFill>
                    <a:effectLst/>
                    <a:latin typeface="Segoe WPC"/>
                  </a:rPr>
                  <a:t>and </a:t>
                </a:r>
                <a14:m>
                  <m:oMath xmlns:m="http://schemas.openxmlformats.org/officeDocument/2006/math">
                    <m:r>
                      <m:rPr>
                        <m:nor/>
                      </m:rPr>
                      <a:rPr lang="es-PE" sz="900" b="0">
                        <a:solidFill>
                          <a:schemeClr val="tx1"/>
                        </a:solidFill>
                      </a:rPr>
                      <m:t>Var</m:t>
                    </m:r>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𝑌</m:t>
                        </m:r>
                      </m:e>
                    </m:d>
                    <m:r>
                      <a:rPr lang="ar-AE" sz="900" b="0" i="0">
                        <a:solidFill>
                          <a:schemeClr val="tx1"/>
                        </a:solidFill>
                        <a:latin typeface="Cambria Math" panose="02040503050406030204" pitchFamily="18" charset="0"/>
                      </a:rPr>
                      <m:t>=</m:t>
                    </m:r>
                    <m:sSup>
                      <m:sSupPr>
                        <m:ctrlPr>
                          <a:rPr lang="ar-AE" sz="900" b="0" i="1">
                            <a:solidFill>
                              <a:schemeClr val="tx1"/>
                            </a:solidFill>
                            <a:latin typeface="Cambria Math" panose="02040503050406030204" pitchFamily="18" charset="0"/>
                          </a:rPr>
                        </m:ctrlPr>
                      </m:sSupPr>
                      <m:e>
                        <m:r>
                          <a:rPr lang="ar-AE" sz="900" b="0" i="1">
                            <a:solidFill>
                              <a:schemeClr val="tx1"/>
                            </a:solidFill>
                            <a:latin typeface="Cambria Math" panose="02040503050406030204" pitchFamily="18" charset="0"/>
                          </a:rPr>
                          <m:t>𝑏</m:t>
                        </m:r>
                      </m:e>
                      <m:sup>
                        <m:r>
                          <a:rPr lang="ar-AE" sz="900" b="0" i="0">
                            <a:solidFill>
                              <a:schemeClr val="tx1"/>
                            </a:solidFill>
                            <a:latin typeface="Cambria Math" panose="02040503050406030204" pitchFamily="18" charset="0"/>
                          </a:rPr>
                          <m:t>2</m:t>
                        </m:r>
                      </m:sup>
                    </m:sSup>
                    <m:r>
                      <m:rPr>
                        <m:nor/>
                      </m:rPr>
                      <a:rPr lang="es-PE" sz="900" b="0" i="1">
                        <a:solidFill>
                          <a:schemeClr val="tx1"/>
                        </a:solidFill>
                        <a:latin typeface="Cambria Math" panose="02040503050406030204" pitchFamily="18" charset="0"/>
                      </a:rPr>
                      <m:t>Var</m:t>
                    </m:r>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𝑋</m:t>
                        </m:r>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Mean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shifts</a:t>
                </a:r>
                <a:r>
                  <a:rPr lang="es-PE" sz="900" b="0" i="0" dirty="0">
                    <a:solidFill>
                      <a:schemeClr val="tx1"/>
                    </a:solidFill>
                    <a:effectLst/>
                    <a:latin typeface="Segoe WPC"/>
                  </a:rPr>
                  <a:t> and </a:t>
                </a:r>
                <a:r>
                  <a:rPr lang="es-PE" sz="900" b="0" i="0" dirty="0" err="1">
                    <a:solidFill>
                      <a:schemeClr val="tx1"/>
                    </a:solidFill>
                    <a:effectLst/>
                    <a:latin typeface="Segoe WPC"/>
                  </a:rPr>
                  <a:t>scaling</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scaling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unaffected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adding</a:t>
                </a:r>
                <a:r>
                  <a:rPr lang="es-PE" sz="900" b="0" i="0" dirty="0">
                    <a:solidFill>
                      <a:schemeClr val="tx1"/>
                    </a:solidFill>
                    <a:effectLst/>
                    <a:latin typeface="Segoe WPC"/>
                  </a:rPr>
                  <a:t> a </a:t>
                </a:r>
                <a:r>
                  <a:rPr lang="es-PE" sz="900" b="0" i="0" dirty="0" err="1">
                    <a:solidFill>
                      <a:schemeClr val="tx1"/>
                    </a:solidFill>
                    <a:effectLst/>
                    <a:latin typeface="Segoe WPC"/>
                  </a:rPr>
                  <a:t>constant</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12. </a:t>
                </a:r>
                <a:r>
                  <a:rPr lang="es-PE" sz="900" b="1" i="0" dirty="0" err="1">
                    <a:solidFill>
                      <a:schemeClr val="tx1"/>
                    </a:solidFill>
                    <a:effectLst/>
                    <a:latin typeface="Segoe WPC"/>
                  </a:rPr>
                  <a:t>Jensen’s</a:t>
                </a:r>
                <a:r>
                  <a:rPr lang="es-PE" sz="900" b="1" i="0" dirty="0">
                    <a:solidFill>
                      <a:schemeClr val="tx1"/>
                    </a:solidFill>
                    <a:effectLst/>
                    <a:latin typeface="Segoe WPC"/>
                  </a:rPr>
                  <a:t> </a:t>
                </a:r>
                <a:r>
                  <a:rPr lang="es-PE" sz="900" b="1" i="0" dirty="0" err="1">
                    <a:solidFill>
                      <a:schemeClr val="tx1"/>
                    </a:solidFill>
                    <a:effectLst/>
                    <a:latin typeface="Segoe WPC"/>
                  </a:rPr>
                  <a:t>Inequality</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rule </a:t>
                </a:r>
                <a:r>
                  <a:rPr lang="es-PE" sz="900" b="0" i="0" dirty="0" err="1">
                    <a:solidFill>
                      <a:schemeClr val="tx1"/>
                    </a:solidFill>
                    <a:effectLst/>
                    <a:latin typeface="Segoe WPC"/>
                  </a:rPr>
                  <a:t>comparing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expectation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 </a:t>
                </a:r>
                <a:r>
                  <a:rPr lang="es-PE" sz="900" b="0" i="0" dirty="0" err="1">
                    <a:solidFill>
                      <a:schemeClr val="tx1"/>
                    </a:solidFill>
                    <a:effectLst/>
                    <a:latin typeface="Segoe WPC"/>
                  </a:rPr>
                  <a:t>nonlinear</a:t>
                </a:r>
                <a:r>
                  <a:rPr lang="es-PE" sz="900" b="0" i="0" dirty="0">
                    <a:solidFill>
                      <a:schemeClr val="tx1"/>
                    </a:solidFill>
                    <a:effectLst/>
                    <a:latin typeface="Segoe WPC"/>
                  </a:rPr>
                  <a:t> </a:t>
                </a:r>
                <a:r>
                  <a:rPr lang="es-PE" sz="900" b="0" i="0" dirty="0" err="1">
                    <a:solidFill>
                      <a:schemeClr val="tx1"/>
                    </a:solidFill>
                    <a:effectLst/>
                    <a:latin typeface="Segoe WPC"/>
                  </a:rPr>
                  <a:t>function</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function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expectation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convex</a:t>
                </a:r>
                <a:r>
                  <a:rPr lang="es-PE" sz="900" b="0" i="0" dirty="0">
                    <a:solidFill>
                      <a:schemeClr val="tx1"/>
                    </a:solidFill>
                    <a:effectLst/>
                    <a:latin typeface="Segoe WPC"/>
                  </a:rPr>
                  <a:t> </a:t>
                </a:r>
                <a:r>
                  <a:rPr lang="es-PE" sz="900" b="0" i="0" dirty="0" err="1">
                    <a:solidFill>
                      <a:schemeClr val="tx1"/>
                    </a:solidFill>
                    <a:effectLst/>
                    <a:latin typeface="Segoe WPC"/>
                  </a:rPr>
                  <a:t>functions</a:t>
                </a:r>
                <a:r>
                  <a:rPr lang="es-PE" sz="900" b="0" i="0" dirty="0">
                    <a:solidFill>
                      <a:schemeClr val="tx1"/>
                    </a:solidFill>
                    <a:effectLst/>
                    <a:latin typeface="Segoe WPC"/>
                  </a:rPr>
                  <a:t>, </a:t>
                </a:r>
                <a:r>
                  <a:rPr lang="es-PE" sz="900" b="0" i="0" dirty="0" err="1">
                    <a:solidFill>
                      <a:schemeClr val="tx1"/>
                    </a:solidFill>
                    <a:effectLst/>
                    <a:latin typeface="Segoe WPC"/>
                  </a:rPr>
                  <a:t>averaging</a:t>
                </a:r>
                <a:r>
                  <a:rPr lang="es-PE" sz="900" b="0" i="0" dirty="0">
                    <a:solidFill>
                      <a:schemeClr val="tx1"/>
                    </a:solidFill>
                    <a:effectLst/>
                    <a:latin typeface="Segoe WPC"/>
                  </a:rPr>
                  <a:t> </a:t>
                </a:r>
                <a:r>
                  <a:rPr lang="es-PE" sz="900" b="0" i="0" dirty="0" err="1">
                    <a:solidFill>
                      <a:schemeClr val="tx1"/>
                    </a:solidFill>
                    <a:effectLst/>
                    <a:latin typeface="Segoe WPC"/>
                  </a:rPr>
                  <a:t>first</a:t>
                </a:r>
                <a:r>
                  <a:rPr lang="es-PE" sz="900" b="0" i="0" dirty="0">
                    <a:solidFill>
                      <a:schemeClr val="tx1"/>
                    </a:solidFill>
                    <a:effectLst/>
                    <a:latin typeface="Segoe WPC"/>
                  </a:rPr>
                  <a:t> and </a:t>
                </a:r>
                <a:r>
                  <a:rPr lang="es-PE" sz="900" b="0" i="0" dirty="0" err="1">
                    <a:solidFill>
                      <a:schemeClr val="tx1"/>
                    </a:solidFill>
                    <a:effectLst/>
                    <a:latin typeface="Segoe WPC"/>
                  </a:rPr>
                  <a:t>transforming</a:t>
                </a:r>
                <a:r>
                  <a:rPr lang="es-PE" sz="900" b="0" i="0" dirty="0">
                    <a:solidFill>
                      <a:schemeClr val="tx1"/>
                    </a:solidFill>
                    <a:effectLst/>
                    <a:latin typeface="Segoe WPC"/>
                  </a:rPr>
                  <a:t> </a:t>
                </a:r>
                <a:r>
                  <a:rPr lang="es-PE" sz="900" b="0" i="0" dirty="0" err="1">
                    <a:solidFill>
                      <a:schemeClr val="tx1"/>
                    </a:solidFill>
                    <a:effectLst/>
                    <a:latin typeface="Segoe WPC"/>
                  </a:rPr>
                  <a:t>later</a:t>
                </a:r>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 </a:t>
                </a:r>
                <a:r>
                  <a:rPr lang="es-PE" sz="900" b="0" i="0" dirty="0" err="1">
                    <a:solidFill>
                      <a:schemeClr val="tx1"/>
                    </a:solidFill>
                    <a:effectLst/>
                    <a:latin typeface="Segoe WPC"/>
                  </a:rPr>
                  <a:t>smaller</a:t>
                </a:r>
                <a:r>
                  <a:rPr lang="es-PE" sz="900" b="0" i="0" dirty="0">
                    <a:solidFill>
                      <a:schemeClr val="tx1"/>
                    </a:solidFill>
                    <a:effectLst/>
                    <a:latin typeface="Segoe WPC"/>
                  </a:rPr>
                  <a:t> </a:t>
                </a:r>
                <a:r>
                  <a:rPr lang="es-PE" sz="900" b="0" i="0" dirty="0" err="1">
                    <a:solidFill>
                      <a:schemeClr val="tx1"/>
                    </a:solidFill>
                    <a:effectLst/>
                    <a:latin typeface="Segoe WPC"/>
                  </a:rPr>
                  <a:t>result</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transforming</a:t>
                </a:r>
                <a:r>
                  <a:rPr lang="es-PE" sz="900" b="0" i="0" dirty="0">
                    <a:solidFill>
                      <a:schemeClr val="tx1"/>
                    </a:solidFill>
                    <a:effectLst/>
                    <a:latin typeface="Segoe WPC"/>
                  </a:rPr>
                  <a:t> </a:t>
                </a:r>
                <a:r>
                  <a:rPr lang="es-PE" sz="900" b="0" i="0" dirty="0" err="1">
                    <a:solidFill>
                      <a:schemeClr val="tx1"/>
                    </a:solidFill>
                    <a:effectLst/>
                    <a:latin typeface="Segoe WPC"/>
                  </a:rPr>
                  <a:t>first</a:t>
                </a:r>
                <a:r>
                  <a:rPr lang="es-PE" sz="900" b="0" i="0" dirty="0">
                    <a:solidFill>
                      <a:schemeClr val="tx1"/>
                    </a:solidFill>
                    <a:effectLst/>
                    <a:latin typeface="Segoe WPC"/>
                  </a:rPr>
                  <a:t> and </a:t>
                </a:r>
                <a:r>
                  <a:rPr lang="es-PE" sz="900" b="0" i="0" dirty="0" err="1">
                    <a:solidFill>
                      <a:schemeClr val="tx1"/>
                    </a:solidFill>
                    <a:effectLst/>
                    <a:latin typeface="Segoe WPC"/>
                  </a:rPr>
                  <a:t>then</a:t>
                </a:r>
                <a:r>
                  <a:rPr lang="es-PE" sz="900" b="0" i="0" dirty="0">
                    <a:solidFill>
                      <a:schemeClr val="tx1"/>
                    </a:solidFill>
                    <a:effectLst/>
                    <a:latin typeface="Segoe WPC"/>
                  </a:rPr>
                  <a:t> </a:t>
                </a:r>
                <a:r>
                  <a:rPr lang="es-PE" sz="900" b="0" i="0" dirty="0" err="1">
                    <a:solidFill>
                      <a:schemeClr val="tx1"/>
                    </a:solidFill>
                    <a:effectLst/>
                    <a:latin typeface="Segoe WPC"/>
                  </a:rPr>
                  <a:t>averaging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chord</a:t>
                </a:r>
                <a:r>
                  <a:rPr lang="es-PE" sz="900" b="0" i="0" dirty="0">
                    <a:solidFill>
                      <a:schemeClr val="tx1"/>
                    </a:solidFill>
                    <a:effectLst/>
                    <a:latin typeface="Segoe WPC"/>
                  </a:rPr>
                  <a:t> </a:t>
                </a:r>
                <a:r>
                  <a:rPr lang="es-PE" sz="900" b="0" i="0" dirty="0" err="1">
                    <a:solidFill>
                      <a:schemeClr val="tx1"/>
                    </a:solidFill>
                    <a:effectLst/>
                    <a:latin typeface="Segoe WPC"/>
                  </a:rPr>
                  <a:t>lies</a:t>
                </a:r>
                <a:r>
                  <a:rPr lang="es-PE" sz="900" b="0" i="0" dirty="0">
                    <a:solidFill>
                      <a:schemeClr val="tx1"/>
                    </a:solidFill>
                    <a:effectLst/>
                    <a:latin typeface="Segoe WPC"/>
                  </a:rPr>
                  <a:t> </a:t>
                </a:r>
                <a:r>
                  <a:rPr lang="es-PE" sz="900" b="0" i="0" dirty="0" err="1">
                    <a:solidFill>
                      <a:schemeClr val="tx1"/>
                    </a:solidFill>
                    <a:effectLst/>
                    <a:latin typeface="Segoe WPC"/>
                  </a:rPr>
                  <a:t>above</a:t>
                </a:r>
                <a:r>
                  <a:rPr lang="es-PE" sz="900" b="0" i="0" dirty="0">
                    <a:solidFill>
                      <a:schemeClr val="tx1"/>
                    </a:solidFill>
                    <a:effectLst/>
                    <a:latin typeface="Segoe WPC"/>
                  </a:rPr>
                  <a:t> a </a:t>
                </a:r>
                <a:r>
                  <a:rPr lang="es-PE" sz="900" b="0" i="0" dirty="0" err="1">
                    <a:solidFill>
                      <a:schemeClr val="tx1"/>
                    </a:solidFill>
                    <a:effectLst/>
                    <a:latin typeface="Segoe WPC"/>
                  </a:rPr>
                  <a:t>convex</a:t>
                </a:r>
                <a:r>
                  <a:rPr lang="es-PE" sz="900" b="0" i="0" dirty="0">
                    <a:solidFill>
                      <a:schemeClr val="tx1"/>
                    </a:solidFill>
                    <a:effectLst/>
                    <a:latin typeface="Segoe WPC"/>
                  </a:rPr>
                  <a:t> curve and </a:t>
                </a:r>
                <a:r>
                  <a:rPr lang="es-PE" sz="900" b="0" i="0" dirty="0" err="1">
                    <a:solidFill>
                      <a:schemeClr val="tx1"/>
                    </a:solidFill>
                    <a:effectLst/>
                    <a:latin typeface="Segoe WPC"/>
                  </a:rPr>
                  <a:t>below</a:t>
                </a:r>
                <a:r>
                  <a:rPr lang="es-PE" sz="900" b="0" i="0" dirty="0">
                    <a:solidFill>
                      <a:schemeClr val="tx1"/>
                    </a:solidFill>
                    <a:effectLst/>
                    <a:latin typeface="Segoe WPC"/>
                  </a:rPr>
                  <a:t> a </a:t>
                </a:r>
                <a:r>
                  <a:rPr lang="es-PE" sz="900" b="0" i="0" dirty="0" err="1">
                    <a:solidFill>
                      <a:schemeClr val="tx1"/>
                    </a:solidFill>
                    <a:effectLst/>
                    <a:latin typeface="Segoe WPC"/>
                  </a:rPr>
                  <a:t>concave</a:t>
                </a:r>
                <a:r>
                  <a:rPr lang="es-PE" sz="900" b="0" i="0" dirty="0">
                    <a:solidFill>
                      <a:schemeClr val="tx1"/>
                    </a:solidFill>
                    <a:effectLst/>
                    <a:latin typeface="Segoe WPC"/>
                  </a:rPr>
                  <a:t> curve.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𝑔</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convex</a:t>
                </a:r>
                <a:r>
                  <a:rPr lang="es-P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𝑔</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e>
                        </m:d>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𝑔</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e>
                        </m:d>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Very</a:t>
                </a:r>
                <a:r>
                  <a:rPr lang="es-PE" sz="900" b="0" i="0" dirty="0">
                    <a:solidFill>
                      <a:schemeClr val="tx1"/>
                    </a:solidFill>
                    <a:effectLst/>
                    <a:latin typeface="Segoe WPC"/>
                  </a:rPr>
                  <a:t> </a:t>
                </a:r>
                <a:r>
                  <a:rPr lang="es-PE" sz="900" b="0" i="0" dirty="0" err="1">
                    <a:solidFill>
                      <a:schemeClr val="tx1"/>
                    </a:solidFill>
                    <a:effectLst/>
                    <a:latin typeface="Segoe WPC"/>
                  </a:rPr>
                  <a:t>important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and </a:t>
                </a:r>
                <a:r>
                  <a:rPr lang="es-PE" sz="900" b="0" i="0" dirty="0" err="1">
                    <a:solidFill>
                      <a:schemeClr val="tx1"/>
                    </a:solidFill>
                    <a:effectLst/>
                    <a:latin typeface="Segoe WPC"/>
                  </a:rPr>
                  <a:t>nonlinear</a:t>
                </a:r>
                <a:r>
                  <a:rPr lang="es-PE" sz="900" b="0" i="0" dirty="0">
                    <a:solidFill>
                      <a:schemeClr val="tx1"/>
                    </a:solidFill>
                    <a:effectLst/>
                    <a:latin typeface="Segoe WPC"/>
                  </a:rPr>
                  <a:t> </a:t>
                </a:r>
                <a:r>
                  <a:rPr lang="es-PE" sz="900" b="0" i="0" dirty="0" err="1">
                    <a:solidFill>
                      <a:schemeClr val="tx1"/>
                    </a:solidFill>
                    <a:effectLst/>
                    <a:latin typeface="Segoe WPC"/>
                  </a:rPr>
                  <a:t>payoffs</a:t>
                </a:r>
                <a:r>
                  <a:rPr lang="es-PE" sz="900" b="0" i="0" dirty="0">
                    <a:solidFill>
                      <a:schemeClr val="tx1"/>
                    </a:solidFill>
                    <a:effectLst/>
                    <a:latin typeface="Segoe WPC"/>
                  </a:rPr>
                  <a:t>. </a:t>
                </a: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Students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incorrectly</a:t>
                </a:r>
                <a:r>
                  <a:rPr lang="es-PE" sz="900" b="0" i="0" dirty="0">
                    <a:solidFill>
                      <a:schemeClr val="tx1"/>
                    </a:solidFill>
                    <a:effectLst/>
                    <a:latin typeface="Segoe WPC"/>
                  </a:rPr>
                  <a:t> </a:t>
                </a:r>
                <a:r>
                  <a:rPr lang="es-PE" sz="900" b="0" i="0" dirty="0" err="1">
                    <a:solidFill>
                      <a:schemeClr val="tx1"/>
                    </a:solidFill>
                    <a:effectLst/>
                    <a:latin typeface="Segoe WPC"/>
                  </a:rPr>
                  <a:t>assume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𝑔</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e>
                        </m:d>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𝑔</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e>
                        </m:d>
                      </m:e>
                    </m:d>
                  </m:oMath>
                </a14:m>
                <a:r>
                  <a:rPr lang="ar-AE" sz="900" b="0" i="0" dirty="0">
                    <a:solidFill>
                      <a:schemeClr val="tx1"/>
                    </a:solidFill>
                    <a:effectLst/>
                    <a:latin typeface="Segoe WPC"/>
                  </a:rPr>
                  <a:t>.</a:t>
                </a:r>
              </a:p>
            </p:txBody>
          </p:sp>
        </mc:Choice>
        <mc:Fallback xmlns="">
          <p:sp>
            <p:nvSpPr>
              <p:cNvPr id="7" name="CuadroTexto 6">
                <a:extLst>
                  <a:ext uri="{FF2B5EF4-FFF2-40B4-BE49-F238E27FC236}">
                    <a16:creationId xmlns:a16="http://schemas.microsoft.com/office/drawing/2014/main" id="{5FEF8E6E-6AAB-B882-28D9-8FB0E1EFF412}"/>
                  </a:ext>
                </a:extLst>
              </p:cNvPr>
              <p:cNvSpPr txBox="1">
                <a:spLocks noRot="1" noChangeAspect="1" noMove="1" noResize="1" noEditPoints="1" noAdjustHandles="1" noChangeArrowheads="1" noChangeShapeType="1" noTextEdit="1"/>
              </p:cNvSpPr>
              <p:nvPr/>
            </p:nvSpPr>
            <p:spPr>
              <a:xfrm>
                <a:off x="5336275" y="-40943"/>
                <a:ext cx="7240138" cy="7102394"/>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603202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A97006E-6118-BF00-8B7B-488B9A6C403E}"/>
              </a:ext>
            </a:extLst>
          </p:cNvPr>
          <p:cNvPicPr>
            <a:picLocks noChangeAspect="1"/>
          </p:cNvPicPr>
          <p:nvPr/>
        </p:nvPicPr>
        <p:blipFill>
          <a:blip r:embed="rId2"/>
          <a:stretch>
            <a:fillRect/>
          </a:stretch>
        </p:blipFill>
        <p:spPr>
          <a:xfrm>
            <a:off x="879827" y="388734"/>
            <a:ext cx="9929200" cy="6154979"/>
          </a:xfrm>
          <a:prstGeom prst="rect">
            <a:avLst/>
          </a:prstGeom>
        </p:spPr>
      </p:pic>
    </p:spTree>
    <p:extLst>
      <p:ext uri="{BB962C8B-B14F-4D97-AF65-F5344CB8AC3E}">
        <p14:creationId xmlns:p14="http://schemas.microsoft.com/office/powerpoint/2010/main" val="1801546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12B8096-5554-A7CE-C9BD-45270CC8DA34}"/>
              </a:ext>
            </a:extLst>
          </p:cNvPr>
          <p:cNvSpPr>
            <a:spLocks noGrp="1"/>
          </p:cNvSpPr>
          <p:nvPr>
            <p:ph type="title"/>
          </p:nvPr>
        </p:nvSpPr>
        <p:spPr>
          <a:xfrm>
            <a:off x="-1" y="1"/>
            <a:ext cx="6320971" cy="469900"/>
          </a:xfrm>
        </p:spPr>
        <p:txBody>
          <a:bodyPr>
            <a:normAutofit/>
          </a:bodyPr>
          <a:lstStyle/>
          <a:p>
            <a:r>
              <a:rPr lang="en-US" sz="2400" dirty="0"/>
              <a:t>Common Univariate Random Variables</a:t>
            </a:r>
            <a:endParaRPr lang="es-PE" sz="240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5FE7AC02-63E7-C527-7B3D-1FB857B19D13}"/>
                  </a:ext>
                </a:extLst>
              </p:cNvPr>
              <p:cNvSpPr txBox="1"/>
              <p:nvPr/>
            </p:nvSpPr>
            <p:spPr>
              <a:xfrm>
                <a:off x="64827" y="413131"/>
                <a:ext cx="6520123" cy="6524991"/>
              </a:xfrm>
              <a:prstGeom prst="rect">
                <a:avLst/>
              </a:prstGeom>
              <a:noFill/>
            </p:spPr>
            <p:txBody>
              <a:bodyPr wrap="square">
                <a:spAutoFit/>
              </a:bodyPr>
              <a:lstStyle/>
              <a:p>
                <a:pPr algn="l">
                  <a:spcAft>
                    <a:spcPts val="600"/>
                  </a:spcAft>
                  <a:buNone/>
                </a:pPr>
                <a:r>
                  <a:rPr lang="es-PE" sz="900" b="1" i="0" u="sng" dirty="0">
                    <a:solidFill>
                      <a:schemeClr val="tx1"/>
                    </a:solidFill>
                    <a:effectLst/>
                    <a:latin typeface="Segoe WPC"/>
                  </a:rPr>
                  <a:t>1. Bernoulli </a:t>
                </a:r>
                <a:r>
                  <a:rPr lang="es-PE" sz="900" b="1" i="0" u="sng" dirty="0" err="1">
                    <a:solidFill>
                      <a:schemeClr val="tx1"/>
                    </a:solidFill>
                    <a:effectLst/>
                    <a:latin typeface="Segoe WPC"/>
                  </a:rPr>
                  <a:t>Distribution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discrete </a:t>
                </a:r>
                <a:r>
                  <a:rPr lang="es-PE" sz="900" b="0" i="0" dirty="0" err="1">
                    <a:solidFill>
                      <a:schemeClr val="tx1"/>
                    </a:solidFill>
                    <a:effectLst/>
                    <a:latin typeface="Segoe WPC"/>
                  </a:rPr>
                  <a:t>random</a:t>
                </a:r>
                <a:r>
                  <a:rPr lang="es-PE" sz="900" b="0" i="0" dirty="0">
                    <a:solidFill>
                      <a:schemeClr val="tx1"/>
                    </a:solidFill>
                    <a:effectLst/>
                    <a:latin typeface="Segoe WPC"/>
                  </a:rPr>
                  <a:t> variable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takes</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0 </a:t>
                </a:r>
                <a:r>
                  <a:rPr lang="es-PE" sz="900" b="0" i="0" dirty="0" err="1">
                    <a:solidFill>
                      <a:schemeClr val="tx1"/>
                    </a:solidFill>
                    <a:effectLst/>
                    <a:latin typeface="Segoe WPC"/>
                  </a:rPr>
                  <a:t>or</a:t>
                </a:r>
                <a:r>
                  <a:rPr lang="es-PE" sz="900" b="0" i="0" dirty="0">
                    <a:solidFill>
                      <a:schemeClr val="tx1"/>
                    </a:solidFill>
                    <a:effectLst/>
                    <a:latin typeface="Segoe WPC"/>
                  </a:rPr>
                  <a:t> 1.</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a single </a:t>
                </a:r>
                <a:r>
                  <a:rPr lang="es-PE" sz="900" b="0" i="0" dirty="0" err="1">
                    <a:solidFill>
                      <a:schemeClr val="tx1"/>
                    </a:solidFill>
                    <a:effectLst/>
                    <a:latin typeface="Segoe WPC"/>
                  </a:rPr>
                  <a:t>binary</a:t>
                </a:r>
                <a:r>
                  <a:rPr lang="es-PE" sz="900" b="0" i="0" dirty="0">
                    <a:solidFill>
                      <a:schemeClr val="tx1"/>
                    </a:solidFill>
                    <a:effectLst/>
                    <a:latin typeface="Segoe WPC"/>
                  </a:rPr>
                  <a:t> </a:t>
                </a:r>
                <a:r>
                  <a:rPr lang="es-PE" sz="900" b="0" i="0" dirty="0" err="1">
                    <a:solidFill>
                      <a:schemeClr val="tx1"/>
                    </a:solidFill>
                    <a:effectLst/>
                    <a:latin typeface="Segoe WPC"/>
                  </a:rPr>
                  <a:t>event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bars</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0 and </a:t>
                </a:r>
                <a:r>
                  <a:rPr lang="es-PE" sz="900" b="0" i="0" dirty="0" err="1">
                    <a:solidFill>
                      <a:schemeClr val="tx1"/>
                    </a:solidFill>
                    <a:effectLst/>
                    <a:latin typeface="Segoe WPC"/>
                  </a:rPr>
                  <a:t>one</a:t>
                </a:r>
                <a:r>
                  <a:rPr lang="es-PE" sz="900" b="0" i="0" dirty="0">
                    <a:solidFill>
                      <a:schemeClr val="tx1"/>
                    </a:solidFill>
                    <a:effectLst/>
                    <a:latin typeface="Segoe WPC"/>
                  </a:rPr>
                  <a:t> at 1.</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Bernoulli</m:t>
                      </m:r>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𝑝</m:t>
                          </m:r>
                        </m:e>
                      </m:d>
                    </m:oMath>
                    <m:oMath xmlns:m="http://schemas.openxmlformats.org/officeDocument/2006/math">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r>
                        <a:rPr lang="ar-AE" sz="900" i="0">
                          <a:solidFill>
                            <a:schemeClr val="tx1"/>
                          </a:solidFill>
                          <a:latin typeface="Cambria Math" panose="02040503050406030204" pitchFamily="18" charset="0"/>
                        </a:rPr>
                        <m:t>, </m:t>
                      </m:r>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oMath>
                    <m:oMath xmlns:m="http://schemas.openxmlformats.org/officeDocument/2006/math">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r>
                        <a:rPr lang="ar-AE" sz="900" i="0">
                          <a:solidFill>
                            <a:schemeClr val="tx1"/>
                          </a:solidFill>
                          <a:latin typeface="Cambria Math" panose="02040503050406030204" pitchFamily="18" charset="0"/>
                        </a:rPr>
                        <m:t>, </m:t>
                      </m:r>
                      <m:r>
                        <a:rPr lang="ar-A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e>
                      </m:d>
                    </m:oMath>
                  </m:oMathPara>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default/no default, </a:t>
                </a:r>
                <a:r>
                  <a:rPr lang="es-PE" sz="900" b="0" i="0" dirty="0" err="1">
                    <a:solidFill>
                      <a:schemeClr val="tx1"/>
                    </a:solidFill>
                    <a:effectLst/>
                    <a:latin typeface="Segoe WPC"/>
                  </a:rPr>
                  <a:t>fraud</a:t>
                </a:r>
                <a:r>
                  <a:rPr lang="es-PE" sz="900" b="0" i="0" dirty="0">
                    <a:solidFill>
                      <a:schemeClr val="tx1"/>
                    </a:solidFill>
                    <a:effectLst/>
                    <a:latin typeface="Segoe WPC"/>
                  </a:rPr>
                  <a:t>/no </a:t>
                </a:r>
                <a:r>
                  <a:rPr lang="es-PE" sz="900" b="0" i="0" dirty="0" err="1">
                    <a:solidFill>
                      <a:schemeClr val="tx1"/>
                    </a:solidFill>
                    <a:effectLst/>
                    <a:latin typeface="Segoe WPC"/>
                  </a:rPr>
                  <a:t>fraud</a:t>
                </a:r>
                <a:r>
                  <a:rPr lang="es-PE" sz="900" b="0" i="0" dirty="0">
                    <a:solidFill>
                      <a:schemeClr val="tx1"/>
                    </a:solidFill>
                    <a:effectLst/>
                    <a:latin typeface="Segoe WPC"/>
                  </a:rPr>
                  <a:t>, hit/miss, </a:t>
                </a:r>
                <a:r>
                  <a:rPr lang="es-PE" sz="900" b="0" i="0" dirty="0" err="1">
                    <a:solidFill>
                      <a:schemeClr val="tx1"/>
                    </a:solidFill>
                    <a:effectLst/>
                    <a:latin typeface="Segoe WPC"/>
                  </a:rPr>
                  <a:t>success</a:t>
                </a:r>
                <a:r>
                  <a:rPr lang="es-PE" sz="900" b="0" i="0" dirty="0">
                    <a:solidFill>
                      <a:schemeClr val="tx1"/>
                    </a:solidFill>
                    <a:effectLst/>
                    <a:latin typeface="Segoe WPC"/>
                  </a:rPr>
                  <a:t>/</a:t>
                </a:r>
                <a:r>
                  <a:rPr lang="es-PE" sz="900" b="0" i="0" dirty="0" err="1">
                    <a:solidFill>
                      <a:schemeClr val="tx1"/>
                    </a:solidFill>
                    <a:effectLst/>
                    <a:latin typeface="Segoe WPC"/>
                  </a:rPr>
                  <a:t>failure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In </a:t>
                </a:r>
                <a:r>
                  <a:rPr lang="es-PE" sz="900" b="0" i="0" dirty="0" err="1">
                    <a:solidFill>
                      <a:schemeClr val="tx1"/>
                    </a:solidFill>
                    <a:effectLst/>
                    <a:latin typeface="Segoe WPC"/>
                  </a:rPr>
                  <a:t>finance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1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labels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bad</a:t>
                </a:r>
                <a:r>
                  <a:rPr lang="es-PE" sz="900" b="0" i="0" dirty="0">
                    <a:solidFill>
                      <a:schemeClr val="tx1"/>
                    </a:solidFill>
                    <a:effectLst/>
                    <a:latin typeface="Segoe WPC"/>
                  </a:rPr>
                  <a:t> </a:t>
                </a:r>
                <a:r>
                  <a:rPr lang="es-PE" sz="900" b="0" i="0" dirty="0" err="1">
                    <a:solidFill>
                      <a:schemeClr val="tx1"/>
                    </a:solidFill>
                    <a:effectLst/>
                    <a:latin typeface="Segoe WPC"/>
                  </a:rPr>
                  <a:t>event</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default.</a:t>
                </a:r>
              </a:p>
              <a:p>
                <a:pPr algn="l">
                  <a:spcAft>
                    <a:spcPts val="600"/>
                  </a:spcAft>
                  <a:buNone/>
                </a:pPr>
                <a:r>
                  <a:rPr lang="es-PE" sz="900" b="1" i="0" u="sng" dirty="0">
                    <a:solidFill>
                      <a:schemeClr val="tx1"/>
                    </a:solidFill>
                    <a:effectLst/>
                    <a:latin typeface="Segoe WPC"/>
                  </a:rPr>
                  <a:t>2. Binomial </a:t>
                </a:r>
                <a:r>
                  <a:rPr lang="es-PE" sz="900" b="1" i="0" u="sng" dirty="0" err="1">
                    <a:solidFill>
                      <a:schemeClr val="tx1"/>
                    </a:solidFill>
                    <a:effectLst/>
                    <a:latin typeface="Segoe WPC"/>
                  </a:rPr>
                  <a:t>Distribution</a:t>
                </a:r>
                <a:br>
                  <a:rPr lang="es-PE" sz="900" b="0" i="0" u="sng"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sum </a:t>
                </a:r>
                <a:r>
                  <a:rPr lang="es-PE" sz="900" b="0" i="0" dirty="0" err="1">
                    <a:solidFill>
                      <a:schemeClr val="tx1"/>
                    </a:solidFill>
                    <a:effectLst/>
                    <a:latin typeface="Segoe WPC"/>
                  </a:rPr>
                  <a:t>of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𝑛</m:t>
                    </m:r>
                  </m:oMath>
                </a14:m>
                <a:r>
                  <a:rPr lang="es-PE" sz="900" b="0" i="0" dirty="0">
                    <a:solidFill>
                      <a:schemeClr val="tx1"/>
                    </a:solidFill>
                    <a:effectLst/>
                    <a:latin typeface="Segoe WPC"/>
                  </a:rPr>
                  <a:t> </a:t>
                </a:r>
                <a:r>
                  <a:rPr lang="es-PE" sz="900" b="0" i="0" dirty="0" err="1">
                    <a:solidFill>
                      <a:schemeClr val="tx1"/>
                    </a:solidFill>
                    <a:effectLst/>
                    <a:latin typeface="Segoe WPC"/>
                  </a:rPr>
                  <a:t>independent</a:t>
                </a:r>
                <a:r>
                  <a:rPr lang="es-PE" sz="900" b="0" i="0" dirty="0">
                    <a:solidFill>
                      <a:schemeClr val="tx1"/>
                    </a:solidFill>
                    <a:effectLst/>
                    <a:latin typeface="Segoe WPC"/>
                  </a:rPr>
                  <a:t> Bernoulli </a:t>
                </a:r>
                <a:r>
                  <a:rPr lang="es-PE" sz="900" b="0" i="0" dirty="0" err="1">
                    <a:solidFill>
                      <a:schemeClr val="tx1"/>
                    </a:solidFill>
                    <a:effectLst/>
                    <a:latin typeface="Segoe WPC"/>
                  </a:rPr>
                  <a:t>random</a:t>
                </a:r>
                <a:r>
                  <a:rPr lang="es-PE" sz="900" b="0" i="0" dirty="0">
                    <a:solidFill>
                      <a:schemeClr val="tx1"/>
                    </a:solidFill>
                    <a:effectLst/>
                    <a:latin typeface="Segoe WPC"/>
                  </a:rPr>
                  <a:t> variables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success</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𝑝</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counts</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successes</a:t>
                </a:r>
                <a:r>
                  <a:rPr lang="es-PE" sz="900" b="0" i="0" dirty="0">
                    <a:solidFill>
                      <a:schemeClr val="tx1"/>
                    </a:solidFill>
                    <a:effectLst/>
                    <a:latin typeface="Segoe WPC"/>
                  </a:rPr>
                  <a:t> </a:t>
                </a:r>
                <a:r>
                  <a:rPr lang="es-PE" sz="900" b="0" i="0" dirty="0" err="1">
                    <a:solidFill>
                      <a:schemeClr val="tx1"/>
                    </a:solidFill>
                    <a:effectLst/>
                    <a:latin typeface="Segoe WPC"/>
                  </a:rPr>
                  <a:t>occur</a:t>
                </a:r>
                <a:r>
                  <a:rPr lang="es-PE" sz="900" b="0" i="0" dirty="0">
                    <a:solidFill>
                      <a:schemeClr val="tx1"/>
                    </a:solidFill>
                    <a:effectLst/>
                    <a:latin typeface="Segoe WPC"/>
                  </a:rPr>
                  <a:t> in a </a:t>
                </a:r>
                <a:r>
                  <a:rPr lang="es-PE" sz="900" b="0" i="0" dirty="0" err="1">
                    <a:solidFill>
                      <a:schemeClr val="tx1"/>
                    </a:solidFill>
                    <a:effectLst/>
                    <a:latin typeface="Segoe WPC"/>
                  </a:rPr>
                  <a:t>fixed</a:t>
                </a:r>
                <a:r>
                  <a:rPr lang="es-PE" sz="900" b="0" i="0" dirty="0">
                    <a:solidFill>
                      <a:schemeClr val="tx1"/>
                    </a:solidFill>
                    <a:effectLst/>
                    <a:latin typeface="Segoe WPC"/>
                  </a:rPr>
                  <a:t> </a:t>
                </a:r>
                <a:r>
                  <a:rPr lang="es-PE" sz="900" b="0" i="0" dirty="0" err="1">
                    <a:solidFill>
                      <a:schemeClr val="tx1"/>
                    </a:solidFill>
                    <a:effectLst/>
                    <a:latin typeface="Segoe WPC"/>
                  </a:rPr>
                  <a:t>number</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trials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count</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0</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1</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2</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𝑛</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𝐵</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𝑛</m:t>
                          </m:r>
                        </m:e>
                        <m:e>
                          <m:r>
                            <a:rPr lang="ar-AE" sz="900" i="1">
                              <a:solidFill>
                                <a:schemeClr val="tx1"/>
                              </a:solidFill>
                              <a:latin typeface="Cambria Math" panose="02040503050406030204" pitchFamily="18" charset="0"/>
                            </a:rPr>
                            <m:t>𝑝</m:t>
                          </m:r>
                        </m:e>
                      </m:d>
                    </m:oMath>
                    <m:oMath xmlns:m="http://schemas.openxmlformats.org/officeDocument/2006/math">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𝑦</m:t>
                          </m:r>
                        </m:e>
                      </m:d>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𝑛</m:t>
                              </m:r>
                            </m:num>
                            <m:den>
                              <m:r>
                                <a:rPr lang="ar-AE" sz="900" i="1">
                                  <a:solidFill>
                                    <a:schemeClr val="tx1"/>
                                  </a:solidFill>
                                  <a:latin typeface="Cambria Math" panose="02040503050406030204" pitchFamily="18" charset="0"/>
                                </a:rPr>
                                <m:t>𝑦</m:t>
                              </m:r>
                            </m:den>
                          </m:f>
                        </m:e>
                      </m:d>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𝑝</m:t>
                          </m:r>
                        </m:e>
                        <m:sup>
                          <m:r>
                            <a:rPr lang="ar-AE" sz="900" i="1">
                              <a:solidFill>
                                <a:schemeClr val="tx1"/>
                              </a:solidFill>
                              <a:latin typeface="Cambria Math" panose="02040503050406030204" pitchFamily="18" charset="0"/>
                            </a:rPr>
                            <m:t>𝑦</m:t>
                          </m:r>
                        </m:sup>
                      </m:sSup>
                      <m:d>
                        <m:dPr>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𝑦</m:t>
                              </m:r>
                            </m:sup>
                          </m:sSup>
                        </m:e>
                      </m:d>
                    </m:oMath>
                    <m:oMath xmlns:m="http://schemas.openxmlformats.org/officeDocument/2006/math">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𝑛𝑝</m:t>
                      </m:r>
                      <m:r>
                        <a:rPr lang="ar-AE" sz="900" i="0">
                          <a:solidFill>
                            <a:schemeClr val="tx1"/>
                          </a:solidFill>
                          <a:latin typeface="Cambria Math" panose="02040503050406030204" pitchFamily="18" charset="0"/>
                        </a:rPr>
                        <m:t>, </m:t>
                      </m:r>
                      <m:r>
                        <a:rPr lang="ar-A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𝑛𝑝</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e>
                      </m:d>
                    </m:oMath>
                  </m:oMathPara>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modeling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number</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defaults, </a:t>
                </a:r>
                <a:r>
                  <a:rPr lang="es-PE" sz="900" b="0" i="0" dirty="0" err="1">
                    <a:solidFill>
                      <a:schemeClr val="tx1"/>
                    </a:solidFill>
                    <a:effectLst/>
                    <a:latin typeface="Segoe WPC"/>
                  </a:rPr>
                  <a:t>wins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exceptions</a:t>
                </a:r>
                <a:r>
                  <a:rPr lang="es-PE" sz="900" b="0" i="0" dirty="0">
                    <a:solidFill>
                      <a:schemeClr val="tx1"/>
                    </a:solidFill>
                    <a:effectLst/>
                    <a:latin typeface="Segoe WPC"/>
                  </a:rPr>
                  <a:t> in a </a:t>
                </a:r>
                <a:r>
                  <a:rPr lang="es-PE" sz="900" b="0" i="0" dirty="0" err="1">
                    <a:solidFill>
                      <a:schemeClr val="tx1"/>
                    </a:solidFill>
                    <a:effectLst/>
                    <a:latin typeface="Segoe WPC"/>
                  </a:rPr>
                  <a:t>fixed</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Binomial </a:t>
                </a:r>
                <a:r>
                  <a:rPr lang="es-PE" sz="900" b="0" i="0" dirty="0" err="1">
                    <a:solidFill>
                      <a:schemeClr val="tx1"/>
                    </a:solidFill>
                    <a:effectLst/>
                    <a:latin typeface="Segoe WPC"/>
                  </a:rPr>
                  <a:t>requires</a:t>
                </a:r>
                <a:r>
                  <a:rPr lang="es-PE" sz="900" b="0" i="0" dirty="0">
                    <a:solidFill>
                      <a:schemeClr val="tx1"/>
                    </a:solidFill>
                    <a:effectLst/>
                    <a:latin typeface="Segoe WPC"/>
                  </a:rPr>
                  <a:t> a </a:t>
                </a:r>
                <a:r>
                  <a:rPr lang="es-PE" sz="900" b="0" i="0" dirty="0" err="1">
                    <a:solidFill>
                      <a:schemeClr val="tx1"/>
                    </a:solidFill>
                    <a:effectLst/>
                    <a:latin typeface="Segoe WPC"/>
                  </a:rPr>
                  <a:t>fixed</a:t>
                </a:r>
                <a:r>
                  <a:rPr lang="es-PE" sz="900" b="0" i="0" dirty="0">
                    <a:solidFill>
                      <a:schemeClr val="tx1"/>
                    </a:solidFill>
                    <a:effectLst/>
                    <a:latin typeface="Segoe WPC"/>
                  </a:rPr>
                  <a:t> </a:t>
                </a:r>
                <a:r>
                  <a:rPr lang="es-PE" sz="900" b="0" i="0" dirty="0" err="1">
                    <a:solidFill>
                      <a:schemeClr val="tx1"/>
                    </a:solidFill>
                    <a:effectLst/>
                    <a:latin typeface="Segoe WPC"/>
                  </a:rPr>
                  <a:t>number</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independent</a:t>
                </a:r>
                <a:r>
                  <a:rPr lang="es-PE" sz="900" b="0" i="0" dirty="0">
                    <a:solidFill>
                      <a:schemeClr val="tx1"/>
                    </a:solidFill>
                    <a:effectLst/>
                    <a:latin typeface="Segoe WPC"/>
                  </a:rPr>
                  <a:t> </a:t>
                </a:r>
                <a:r>
                  <a:rPr lang="es-PE" sz="900" b="0" i="0" dirty="0" err="1">
                    <a:solidFill>
                      <a:schemeClr val="tx1"/>
                    </a:solidFill>
                    <a:effectLst/>
                    <a:latin typeface="Segoe WPC"/>
                  </a:rPr>
                  <a:t>trials</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confuse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Poisson </a:t>
                </a:r>
                <a:r>
                  <a:rPr lang="es-PE" sz="900" b="0" i="0" dirty="0" err="1">
                    <a:solidFill>
                      <a:schemeClr val="tx1"/>
                    </a:solidFill>
                    <a:effectLst/>
                    <a:latin typeface="Segoe WPC"/>
                  </a:rPr>
                  <a:t>event-counting</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time.</a:t>
                </a:r>
              </a:p>
              <a:p>
                <a:pPr algn="l">
                  <a:spcAft>
                    <a:spcPts val="600"/>
                  </a:spcAft>
                  <a:buNone/>
                </a:pPr>
                <a:r>
                  <a:rPr lang="es-PE" sz="900" b="1" i="0" u="sng" dirty="0">
                    <a:solidFill>
                      <a:schemeClr val="tx1"/>
                    </a:solidFill>
                    <a:effectLst/>
                    <a:latin typeface="Segoe WPC"/>
                  </a:rPr>
                  <a:t>3. Poisson </a:t>
                </a:r>
                <a:r>
                  <a:rPr lang="es-PE" sz="900" b="1" i="0" u="sng" dirty="0" err="1">
                    <a:solidFill>
                      <a:schemeClr val="tx1"/>
                    </a:solidFill>
                    <a:effectLst/>
                    <a:latin typeface="Segoe WPC"/>
                  </a:rPr>
                  <a:t>Distribution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discrete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number</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events</a:t>
                </a:r>
                <a:r>
                  <a:rPr lang="es-PE" sz="900" b="0" i="0" dirty="0">
                    <a:solidFill>
                      <a:schemeClr val="tx1"/>
                    </a:solidFill>
                    <a:effectLst/>
                    <a:latin typeface="Segoe WPC"/>
                  </a:rPr>
                  <a:t> in a </a:t>
                </a:r>
                <a:r>
                  <a:rPr lang="es-PE" sz="900" b="0" i="0" dirty="0" err="1">
                    <a:solidFill>
                      <a:schemeClr val="tx1"/>
                    </a:solidFill>
                    <a:effectLst/>
                    <a:latin typeface="Segoe WPC"/>
                  </a:rPr>
                  <a:t>fixed</a:t>
                </a:r>
                <a:r>
                  <a:rPr lang="es-PE" sz="900" b="0" i="0" dirty="0">
                    <a:solidFill>
                      <a:schemeClr val="tx1"/>
                    </a:solidFill>
                    <a:effectLst/>
                    <a:latin typeface="Segoe WPC"/>
                  </a:rPr>
                  <a:t> </a:t>
                </a:r>
                <a:r>
                  <a:rPr lang="es-PE" sz="900" b="0" i="0" dirty="0" err="1">
                    <a:solidFill>
                      <a:schemeClr val="tx1"/>
                    </a:solidFill>
                    <a:effectLst/>
                    <a:latin typeface="Segoe WPC"/>
                  </a:rPr>
                  <a:t>interval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counts</a:t>
                </a:r>
                <a:r>
                  <a:rPr lang="es-PE" sz="900" b="0" i="0" dirty="0">
                    <a:solidFill>
                      <a:schemeClr val="tx1"/>
                    </a:solidFill>
                    <a:effectLst/>
                    <a:latin typeface="Segoe WPC"/>
                  </a:rPr>
                  <a:t> </a:t>
                </a:r>
                <a:r>
                  <a:rPr lang="es-PE" sz="900" b="0" i="0" dirty="0" err="1">
                    <a:solidFill>
                      <a:schemeClr val="tx1"/>
                    </a:solidFill>
                    <a:effectLst/>
                    <a:latin typeface="Segoe WPC"/>
                  </a:rPr>
                  <a:t>arrivals</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time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space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Nonnegative</a:t>
                </a:r>
                <a:r>
                  <a:rPr lang="es-PE" sz="900" b="0" i="0" dirty="0">
                    <a:solidFill>
                      <a:schemeClr val="tx1"/>
                    </a:solidFill>
                    <a:effectLst/>
                    <a:latin typeface="Segoe WPC"/>
                  </a:rPr>
                  <a:t> </a:t>
                </a:r>
                <a:r>
                  <a:rPr lang="es-PE" sz="900" b="0" i="0" dirty="0" err="1">
                    <a:solidFill>
                      <a:schemeClr val="tx1"/>
                    </a:solidFill>
                    <a:effectLst/>
                    <a:latin typeface="Segoe WPC"/>
                  </a:rPr>
                  <a:t>integer</a:t>
                </a:r>
                <a:r>
                  <a:rPr lang="es-PE" sz="900" b="0" i="0" dirty="0">
                    <a:solidFill>
                      <a:schemeClr val="tx1"/>
                    </a:solidFill>
                    <a:effectLst/>
                    <a:latin typeface="Segoe WPC"/>
                  </a:rPr>
                  <a:t> </a:t>
                </a:r>
                <a:r>
                  <a:rPr lang="es-PE" sz="900" b="0" i="0" dirty="0" err="1">
                    <a:solidFill>
                      <a:schemeClr val="tx1"/>
                    </a:solidFill>
                    <a:effectLst/>
                    <a:latin typeface="Segoe WPC"/>
                  </a:rPr>
                  <a:t>bars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right-skewed</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𝜆</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small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Poisson</m:t>
                      </m:r>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𝜆</m:t>
                          </m:r>
                        </m:e>
                      </m:d>
                    </m:oMath>
                    <m:oMath xmlns:m="http://schemas.openxmlformats.org/officeDocument/2006/math">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𝑦</m:t>
                          </m:r>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𝜆</m:t>
                              </m:r>
                            </m:e>
                            <m:sup>
                              <m:r>
                                <a:rPr lang="ar-AE" sz="900" i="1">
                                  <a:solidFill>
                                    <a:schemeClr val="tx1"/>
                                  </a:solidFill>
                                  <a:latin typeface="Cambria Math" panose="02040503050406030204" pitchFamily="18" charset="0"/>
                                </a:rPr>
                                <m:t>𝑦</m:t>
                              </m:r>
                            </m:sup>
                          </m:sSup>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𝜆</m:t>
                              </m:r>
                            </m:sup>
                          </m:sSup>
                        </m:num>
                        <m:den>
                          <m:r>
                            <a:rPr lang="ar-AE" sz="900" i="1">
                              <a:solidFill>
                                <a:schemeClr val="tx1"/>
                              </a:solidFill>
                              <a:latin typeface="Cambria Math" panose="02040503050406030204" pitchFamily="18" charset="0"/>
                            </a:rPr>
                            <m:t>𝑦</m:t>
                          </m:r>
                          <m:r>
                            <a:rPr lang="ar-AE" sz="900" i="0">
                              <a:solidFill>
                                <a:schemeClr val="tx1"/>
                              </a:solidFill>
                              <a:latin typeface="Cambria Math" panose="02040503050406030204" pitchFamily="18" charset="0"/>
                            </a:rPr>
                            <m:t>!</m:t>
                          </m:r>
                        </m:den>
                      </m:f>
                    </m:oMath>
                    <m:oMath xmlns:m="http://schemas.openxmlformats.org/officeDocument/2006/math">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𝜆</m:t>
                      </m:r>
                      <m:r>
                        <a:rPr lang="ar-AE" sz="900" i="0">
                          <a:solidFill>
                            <a:schemeClr val="tx1"/>
                          </a:solidFill>
                          <a:latin typeface="Cambria Math" panose="02040503050406030204" pitchFamily="18" charset="0"/>
                        </a:rPr>
                        <m:t>, </m:t>
                      </m:r>
                      <m:r>
                        <a:rPr lang="ar-A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𝜆</m:t>
                      </m:r>
                    </m:oMath>
                  </m:oMathPara>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defaults per </a:t>
                </a:r>
                <a:r>
                  <a:rPr lang="es-PE" sz="900" b="0" i="0" dirty="0" err="1">
                    <a:solidFill>
                      <a:schemeClr val="tx1"/>
                    </a:solidFill>
                    <a:effectLst/>
                    <a:latin typeface="Segoe WPC"/>
                  </a:rPr>
                  <a:t>month</a:t>
                </a:r>
                <a:r>
                  <a:rPr lang="es-PE" sz="900" b="0" i="0" dirty="0">
                    <a:solidFill>
                      <a:schemeClr val="tx1"/>
                    </a:solidFill>
                    <a:effectLst/>
                    <a:latin typeface="Segoe WPC"/>
                  </a:rPr>
                  <a:t>, </a:t>
                </a:r>
                <a:r>
                  <a:rPr lang="es-PE" sz="900" b="0" i="0" dirty="0" err="1">
                    <a:solidFill>
                      <a:schemeClr val="tx1"/>
                    </a:solidFill>
                    <a:effectLst/>
                    <a:latin typeface="Segoe WPC"/>
                  </a:rPr>
                  <a:t>claims</a:t>
                </a:r>
                <a:r>
                  <a:rPr lang="es-PE" sz="900" b="0" i="0" dirty="0">
                    <a:solidFill>
                      <a:schemeClr val="tx1"/>
                    </a:solidFill>
                    <a:effectLst/>
                    <a:latin typeface="Segoe WPC"/>
                  </a:rPr>
                  <a:t> per </a:t>
                </a:r>
                <a:r>
                  <a:rPr lang="es-PE" sz="900" b="0" i="0" dirty="0" err="1">
                    <a:solidFill>
                      <a:schemeClr val="tx1"/>
                    </a:solidFill>
                    <a:effectLst/>
                    <a:latin typeface="Segoe WPC"/>
                  </a:rPr>
                  <a:t>day</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operational</a:t>
                </a:r>
                <a:r>
                  <a:rPr lang="es-PE" sz="900" b="0" i="0" dirty="0">
                    <a:solidFill>
                      <a:schemeClr val="tx1"/>
                    </a:solidFill>
                    <a:effectLst/>
                    <a:latin typeface="Segoe WPC"/>
                  </a:rPr>
                  <a:t> </a:t>
                </a:r>
                <a:r>
                  <a:rPr lang="es-PE" sz="900" b="0" i="0" dirty="0" err="1">
                    <a:solidFill>
                      <a:schemeClr val="tx1"/>
                    </a:solidFill>
                    <a:effectLst/>
                    <a:latin typeface="Segoe WPC"/>
                  </a:rPr>
                  <a:t>loss</a:t>
                </a:r>
                <a:r>
                  <a:rPr lang="es-PE" sz="900" b="0" i="0" dirty="0">
                    <a:solidFill>
                      <a:schemeClr val="tx1"/>
                    </a:solidFill>
                    <a:effectLst/>
                    <a:latin typeface="Segoe WPC"/>
                  </a:rPr>
                  <a:t> </a:t>
                </a:r>
                <a:r>
                  <a:rPr lang="es-PE" sz="900" b="0" i="0" dirty="0" err="1">
                    <a:solidFill>
                      <a:schemeClr val="tx1"/>
                    </a:solidFill>
                    <a:effectLst/>
                    <a:latin typeface="Segoe WPC"/>
                  </a:rPr>
                  <a:t>events</a:t>
                </a:r>
                <a:r>
                  <a:rPr lang="es-PE" sz="900" b="0" i="0" dirty="0">
                    <a:solidFill>
                      <a:schemeClr val="tx1"/>
                    </a:solidFill>
                    <a:effectLst/>
                    <a:latin typeface="Segoe WPC"/>
                  </a:rPr>
                  <a:t> per </a:t>
                </a:r>
                <a:r>
                  <a:rPr lang="es-PE" sz="900" b="0" i="0" dirty="0" err="1">
                    <a:solidFill>
                      <a:schemeClr val="tx1"/>
                    </a:solidFill>
                    <a:effectLst/>
                    <a:latin typeface="Segoe WPC"/>
                  </a:rPr>
                  <a:t>period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Poisson </a:t>
                </a:r>
                <a:r>
                  <a:rPr lang="es-PE" sz="900" b="0" i="0" dirty="0" err="1">
                    <a:solidFill>
                      <a:schemeClr val="tx1"/>
                    </a:solidFill>
                    <a:effectLst/>
                    <a:latin typeface="Segoe WPC"/>
                  </a:rPr>
                  <a:t>models</a:t>
                </a:r>
                <a:r>
                  <a:rPr lang="es-PE" sz="900" b="0" i="0" dirty="0">
                    <a:solidFill>
                      <a:schemeClr val="tx1"/>
                    </a:solidFill>
                    <a:effectLst/>
                    <a:latin typeface="Segoe WPC"/>
                  </a:rPr>
                  <a:t> </a:t>
                </a:r>
                <a:r>
                  <a:rPr lang="es-PE" sz="900" b="0" i="0" dirty="0" err="1">
                    <a:solidFill>
                      <a:schemeClr val="tx1"/>
                    </a:solidFill>
                    <a:effectLst/>
                    <a:latin typeface="Segoe WPC"/>
                  </a:rPr>
                  <a:t>counts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waiting</a:t>
                </a:r>
                <a:r>
                  <a:rPr lang="es-PE" sz="900" b="0" i="0" dirty="0">
                    <a:solidFill>
                      <a:schemeClr val="tx1"/>
                    </a:solidFill>
                    <a:effectLst/>
                    <a:latin typeface="Segoe WPC"/>
                  </a:rPr>
                  <a:t> time; </a:t>
                </a:r>
                <a:r>
                  <a:rPr lang="es-PE" sz="900" b="0" i="0" dirty="0" err="1">
                    <a:solidFill>
                      <a:schemeClr val="tx1"/>
                    </a:solidFill>
                    <a:effectLst/>
                    <a:latin typeface="Segoe WPC"/>
                  </a:rPr>
                  <a:t>waiting</a:t>
                </a:r>
                <a:r>
                  <a:rPr lang="es-PE" sz="900" b="0" i="0" dirty="0">
                    <a:solidFill>
                      <a:schemeClr val="tx1"/>
                    </a:solidFill>
                    <a:effectLst/>
                    <a:latin typeface="Segoe WPC"/>
                  </a:rPr>
                  <a:t> time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exponential</a:t>
                </a:r>
                <a:r>
                  <a:rPr lang="es-PE" sz="900" b="0" i="0" dirty="0">
                    <a:solidFill>
                      <a:schemeClr val="tx1"/>
                    </a:solidFill>
                    <a:effectLst/>
                    <a:latin typeface="Segoe WPC"/>
                  </a:rPr>
                  <a:t>.</a:t>
                </a:r>
              </a:p>
              <a:p>
                <a:pPr algn="l">
                  <a:spcAft>
                    <a:spcPts val="600"/>
                  </a:spcAft>
                  <a:buNone/>
                </a:pPr>
                <a:r>
                  <a:rPr lang="es-PE" sz="900" b="1" i="0" u="sng" dirty="0">
                    <a:solidFill>
                      <a:schemeClr val="tx1"/>
                    </a:solidFill>
                    <a:effectLst/>
                    <a:latin typeface="Segoe WPC"/>
                  </a:rPr>
                  <a:t>4. </a:t>
                </a:r>
                <a:r>
                  <a:rPr lang="es-PE" sz="900" b="1" i="0" u="sng" dirty="0" err="1">
                    <a:solidFill>
                      <a:schemeClr val="tx1"/>
                    </a:solidFill>
                    <a:effectLst/>
                    <a:latin typeface="Segoe WPC"/>
                  </a:rPr>
                  <a:t>Uniform</a:t>
                </a:r>
                <a:r>
                  <a:rPr lang="es-PE" sz="900" b="1" i="0" u="sng" dirty="0">
                    <a:solidFill>
                      <a:schemeClr val="tx1"/>
                    </a:solidFill>
                    <a:effectLst/>
                    <a:latin typeface="Segoe WPC"/>
                  </a:rPr>
                  <a:t> </a:t>
                </a:r>
                <a:r>
                  <a:rPr lang="es-PE" sz="900" b="1" i="0" u="sng" dirty="0" err="1">
                    <a:solidFill>
                      <a:schemeClr val="tx1"/>
                    </a:solidFill>
                    <a:effectLst/>
                    <a:latin typeface="Segoe WPC"/>
                  </a:rPr>
                  <a:t>Distribution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continuous</a:t>
                </a:r>
                <a:r>
                  <a:rPr lang="es-PE" sz="900" b="0" i="0" dirty="0">
                    <a:solidFill>
                      <a:schemeClr val="tx1"/>
                    </a:solidFill>
                    <a:effectLst/>
                    <a:latin typeface="Segoe WPC"/>
                  </a:rPr>
                  <a:t> </a:t>
                </a:r>
                <a:r>
                  <a:rPr lang="es-PE" sz="900" b="0" i="0" dirty="0" err="1">
                    <a:solidFill>
                      <a:schemeClr val="tx1"/>
                    </a:solidFill>
                    <a:effectLst/>
                    <a:latin typeface="Segoe WPC"/>
                  </a:rPr>
                  <a:t>random</a:t>
                </a:r>
                <a:r>
                  <a:rPr lang="es-PE" sz="900" b="0" i="0" dirty="0">
                    <a:solidFill>
                      <a:schemeClr val="tx1"/>
                    </a:solidFill>
                    <a:effectLst/>
                    <a:latin typeface="Segoe WPC"/>
                  </a:rPr>
                  <a:t> variable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equal</a:t>
                </a:r>
                <a:r>
                  <a:rPr lang="es-PE" sz="900" b="0" i="0" dirty="0">
                    <a:solidFill>
                      <a:schemeClr val="tx1"/>
                    </a:solidFill>
                    <a:effectLst/>
                    <a:latin typeface="Segoe WPC"/>
                  </a:rPr>
                  <a:t> </a:t>
                </a:r>
                <a:r>
                  <a:rPr lang="es-PE" sz="900" b="0" i="0" dirty="0" err="1">
                    <a:solidFill>
                      <a:schemeClr val="tx1"/>
                    </a:solidFill>
                    <a:effectLst/>
                    <a:latin typeface="Segoe WPC"/>
                  </a:rPr>
                  <a:t>density</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interval</a:t>
                </a:r>
                <a:r>
                  <a:rPr lang="es-PE" sz="900" b="0" i="0" dirty="0">
                    <a:solidFill>
                      <a:schemeClr val="tx1"/>
                    </a:solidFill>
                    <a:effectLst/>
                    <a:latin typeface="Segoe WPC"/>
                  </a:rPr>
                  <a:t> </a:t>
                </a:r>
                <a14:m>
                  <m:oMath xmlns:m="http://schemas.openxmlformats.org/officeDocument/2006/math">
                    <m:d>
                      <m:dPr>
                        <m:begChr m:val="["/>
                        <m:endChr m:val="]"/>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𝑎</m:t>
                        </m:r>
                      </m:e>
                      <m:e>
                        <m:r>
                          <a:rPr lang="ar-AE" sz="900" i="1">
                            <a:solidFill>
                              <a:schemeClr val="tx1"/>
                            </a:solidFill>
                            <a:latin typeface="Cambria Math" panose="02040503050406030204" pitchFamily="18" charset="0"/>
                          </a:rPr>
                          <m:t>𝑏</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Every</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interval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equally</a:t>
                </a:r>
                <a:r>
                  <a:rPr lang="es-PE" sz="900" b="0" i="0" dirty="0">
                    <a:solidFill>
                      <a:schemeClr val="tx1"/>
                    </a:solidFill>
                    <a:effectLst/>
                    <a:latin typeface="Segoe WPC"/>
                  </a:rPr>
                  <a:t> </a:t>
                </a:r>
                <a:r>
                  <a:rPr lang="es-PE" sz="900" b="0" i="0" dirty="0" err="1">
                    <a:solidFill>
                      <a:schemeClr val="tx1"/>
                    </a:solidFill>
                    <a:effectLst/>
                    <a:latin typeface="Segoe WPC"/>
                  </a:rPr>
                  <a:t>likely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flat </a:t>
                </a:r>
                <a:r>
                  <a:rPr lang="es-PE" sz="900" b="0" i="0" dirty="0" err="1">
                    <a:solidFill>
                      <a:schemeClr val="tx1"/>
                    </a:solidFill>
                    <a:effectLst/>
                    <a:latin typeface="Segoe WPC"/>
                  </a:rPr>
                  <a:t>rectangle</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𝑎</m:t>
                    </m:r>
                  </m:oMath>
                </a14:m>
                <a:r>
                  <a:rPr lang="es-PE" sz="900" b="0" i="0" dirty="0">
                    <a:solidFill>
                      <a:schemeClr val="tx1"/>
                    </a:solidFill>
                    <a:effectLst/>
                    <a:latin typeface="Segoe WPC"/>
                  </a:rPr>
                  <a:t> and </a:t>
                </a:r>
                <a14:m>
                  <m:oMath xmlns:m="http://schemas.openxmlformats.org/officeDocument/2006/math">
                    <m:r>
                      <a:rPr lang="es-PE" sz="900" i="1">
                        <a:solidFill>
                          <a:schemeClr val="tx1"/>
                        </a:solidFill>
                        <a:latin typeface="Cambria Math" panose="02040503050406030204" pitchFamily="18" charset="0"/>
                      </a:rPr>
                      <m:t>𝑏</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𝑈</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𝑎</m:t>
                          </m:r>
                        </m:e>
                        <m:e>
                          <m:r>
                            <a:rPr lang="ar-AE" sz="900" i="1">
                              <a:solidFill>
                                <a:schemeClr val="tx1"/>
                              </a:solidFill>
                              <a:latin typeface="Cambria Math" panose="02040503050406030204" pitchFamily="18" charset="0"/>
                            </a:rPr>
                            <m:t>𝑏</m:t>
                          </m:r>
                        </m:e>
                      </m:d>
                    </m:oMath>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1">
                              <a:solidFill>
                                <a:schemeClr val="tx1"/>
                              </a:solidFill>
                              <a:latin typeface="Cambria Math" panose="02040503050406030204" pitchFamily="18" charset="0"/>
                            </a:rPr>
                            <m:t>𝑌</m:t>
                          </m:r>
                        </m:sub>
                      </m:sSub>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𝑦</m:t>
                          </m:r>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1">
                              <a:solidFill>
                                <a:schemeClr val="tx1"/>
                              </a:solidFill>
                              <a:latin typeface="Cambria Math" panose="02040503050406030204" pitchFamily="18" charset="0"/>
                            </a:rPr>
                            <m:t>𝑏</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𝑎</m:t>
                          </m:r>
                        </m:den>
                      </m:f>
                      <m:r>
                        <a:rPr lang="ar-AE" sz="900" i="0">
                          <a:solidFill>
                            <a:schemeClr val="tx1"/>
                          </a:solidFill>
                          <a:latin typeface="Cambria Math" panose="02040503050406030204" pitchFamily="18" charset="0"/>
                        </a:rPr>
                        <m:t>, </m:t>
                      </m:r>
                      <m:r>
                        <a:rPr lang="ar-AE" sz="900" i="1">
                          <a:solidFill>
                            <a:schemeClr val="tx1"/>
                          </a:solidFill>
                          <a:latin typeface="Cambria Math" panose="02040503050406030204" pitchFamily="18" charset="0"/>
                        </a:rPr>
                        <m:t>𝑎</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𝑦</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𝑏</m:t>
                      </m:r>
                    </m:oMath>
                    <m:oMath xmlns:m="http://schemas.openxmlformats.org/officeDocument/2006/math">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𝑎</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𝑏</m:t>
                          </m:r>
                        </m:num>
                        <m:den>
                          <m:r>
                            <a:rPr lang="ar-AE" sz="900" i="0">
                              <a:solidFill>
                                <a:schemeClr val="tx1"/>
                              </a:solidFill>
                              <a:latin typeface="Cambria Math" panose="02040503050406030204" pitchFamily="18" charset="0"/>
                            </a:rPr>
                            <m:t>2</m:t>
                          </m:r>
                        </m:den>
                      </m:f>
                      <m:r>
                        <a:rPr lang="ar-AE" sz="900" i="0">
                          <a:solidFill>
                            <a:schemeClr val="tx1"/>
                          </a:solidFill>
                          <a:latin typeface="Cambria Math" panose="02040503050406030204" pitchFamily="18" charset="0"/>
                        </a:rPr>
                        <m:t>, </m:t>
                      </m:r>
                      <m:r>
                        <a:rPr lang="ar-A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d>
                            <m:dPr>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𝑏</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𝑎</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e>
                          </m:d>
                        </m:num>
                        <m:den>
                          <m:r>
                            <a:rPr lang="ar-AE" sz="900" i="0">
                              <a:solidFill>
                                <a:schemeClr val="tx1"/>
                              </a:solidFill>
                              <a:latin typeface="Cambria Math" panose="02040503050406030204" pitchFamily="18" charset="0"/>
                            </a:rPr>
                            <m:t>12</m:t>
                          </m:r>
                        </m:den>
                      </m:f>
                    </m:oMath>
                  </m:oMathPara>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Important</a:t>
                </a:r>
                <a:r>
                  <a:rPr lang="es-PE" sz="900" b="0" i="0" dirty="0">
                    <a:solidFill>
                      <a:schemeClr val="tx1"/>
                    </a:solidFill>
                    <a:effectLst/>
                    <a:latin typeface="Segoe WPC"/>
                  </a:rPr>
                  <a:t> as a </a:t>
                </a:r>
                <a:r>
                  <a:rPr lang="es-PE" sz="900" b="0" i="0" dirty="0" err="1">
                    <a:solidFill>
                      <a:schemeClr val="tx1"/>
                    </a:solidFill>
                    <a:effectLst/>
                    <a:latin typeface="Segoe WPC"/>
                  </a:rPr>
                  <a:t>basic</a:t>
                </a:r>
                <a:r>
                  <a:rPr lang="es-PE" sz="900" b="0" i="0" dirty="0">
                    <a:solidFill>
                      <a:schemeClr val="tx1"/>
                    </a:solidFill>
                    <a:effectLst/>
                    <a:latin typeface="Segoe WPC"/>
                  </a:rPr>
                  <a:t> </a:t>
                </a:r>
                <a:r>
                  <a:rPr lang="es-PE" sz="900" b="0" i="0" dirty="0" err="1">
                    <a:solidFill>
                      <a:schemeClr val="tx1"/>
                    </a:solidFill>
                    <a:effectLst/>
                    <a:latin typeface="Segoe WPC"/>
                  </a:rPr>
                  <a:t>simulation</a:t>
                </a:r>
                <a:r>
                  <a:rPr lang="es-PE" sz="900" b="0" i="0" dirty="0">
                    <a:solidFill>
                      <a:schemeClr val="tx1"/>
                    </a:solidFill>
                    <a:effectLst/>
                    <a:latin typeface="Segoe WPC"/>
                  </a:rPr>
                  <a:t> </a:t>
                </a:r>
                <a:r>
                  <a:rPr lang="es-PE" sz="900" b="0" i="0" dirty="0" err="1">
                    <a:solidFill>
                      <a:schemeClr val="tx1"/>
                    </a:solidFill>
                    <a:effectLst/>
                    <a:latin typeface="Segoe WPC"/>
                  </a:rPr>
                  <a:t>building</a:t>
                </a:r>
                <a:r>
                  <a:rPr lang="es-PE" sz="900" b="0" i="0" dirty="0">
                    <a:solidFill>
                      <a:schemeClr val="tx1"/>
                    </a:solidFill>
                    <a:effectLst/>
                    <a:latin typeface="Segoe WPC"/>
                  </a:rPr>
                  <a:t> block.</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Constant</a:t>
                </a:r>
                <a:r>
                  <a:rPr lang="es-PE" sz="900" b="0" i="0" dirty="0">
                    <a:solidFill>
                      <a:schemeClr val="tx1"/>
                    </a:solidFill>
                    <a:effectLst/>
                    <a:latin typeface="Segoe WPC"/>
                  </a:rPr>
                  <a:t> </a:t>
                </a:r>
                <a:r>
                  <a:rPr lang="es-PE" sz="900" b="0" i="0" dirty="0" err="1">
                    <a:solidFill>
                      <a:schemeClr val="tx1"/>
                    </a:solidFill>
                    <a:effectLst/>
                    <a:latin typeface="Segoe WPC"/>
                  </a:rPr>
                  <a:t>density</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mean </a:t>
                </a:r>
                <a:r>
                  <a:rPr lang="es-PE" sz="900" b="0" i="0" dirty="0" err="1">
                    <a:solidFill>
                      <a:schemeClr val="tx1"/>
                    </a:solidFill>
                    <a:effectLst/>
                    <a:latin typeface="Segoe WPC"/>
                  </a:rPr>
                  <a:t>constant</a:t>
                </a:r>
                <a:r>
                  <a:rPr lang="es-PE" sz="900" b="0" i="0" dirty="0">
                    <a:solidFill>
                      <a:schemeClr val="tx1"/>
                    </a:solidFill>
                    <a:effectLst/>
                    <a:latin typeface="Segoe WPC"/>
                  </a:rPr>
                  <a:t> cumulative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CDF </a:t>
                </a:r>
                <a:r>
                  <a:rPr lang="es-PE" sz="900" b="0" i="0" dirty="0" err="1">
                    <a:solidFill>
                      <a:schemeClr val="tx1"/>
                    </a:solidFill>
                    <a:effectLst/>
                    <a:latin typeface="Segoe WPC"/>
                  </a:rPr>
                  <a:t>is</a:t>
                </a:r>
                <a:r>
                  <a:rPr lang="es-PE" sz="900" b="0" i="0" dirty="0">
                    <a:solidFill>
                      <a:schemeClr val="tx1"/>
                    </a:solidFill>
                    <a:effectLst/>
                    <a:latin typeface="Segoe WPC"/>
                  </a:rPr>
                  <a:t> linear.</a:t>
                </a:r>
              </a:p>
            </p:txBody>
          </p:sp>
        </mc:Choice>
        <mc:Fallback xmlns="">
          <p:sp>
            <p:nvSpPr>
              <p:cNvPr id="6" name="CuadroTexto 5">
                <a:extLst>
                  <a:ext uri="{FF2B5EF4-FFF2-40B4-BE49-F238E27FC236}">
                    <a16:creationId xmlns:a16="http://schemas.microsoft.com/office/drawing/2014/main" id="{5FE7AC02-63E7-C527-7B3D-1FB857B19D13}"/>
                  </a:ext>
                </a:extLst>
              </p:cNvPr>
              <p:cNvSpPr txBox="1">
                <a:spLocks noRot="1" noChangeAspect="1" noMove="1" noResize="1" noEditPoints="1" noAdjustHandles="1" noChangeArrowheads="1" noChangeShapeType="1" noTextEdit="1"/>
              </p:cNvSpPr>
              <p:nvPr/>
            </p:nvSpPr>
            <p:spPr>
              <a:xfrm>
                <a:off x="64827" y="413131"/>
                <a:ext cx="6520123" cy="6524991"/>
              </a:xfrm>
              <a:prstGeom prst="rect">
                <a:avLst/>
              </a:prstGeom>
              <a:blipFill>
                <a:blip r:embed="rId2"/>
                <a:stretch>
                  <a:fillRect b="-3178"/>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A7252649-D90C-BB2F-E53E-C3B03E42F622}"/>
                  </a:ext>
                </a:extLst>
              </p:cNvPr>
              <p:cNvSpPr txBox="1"/>
              <p:nvPr/>
            </p:nvSpPr>
            <p:spPr>
              <a:xfrm>
                <a:off x="6584950" y="85584"/>
                <a:ext cx="6143624" cy="5397119"/>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5. Normal </a:t>
                </a:r>
                <a:r>
                  <a:rPr lang="es-PE" sz="900" b="1" i="0" dirty="0" err="1">
                    <a:solidFill>
                      <a:schemeClr val="tx1"/>
                    </a:solidFill>
                    <a:effectLst/>
                    <a:latin typeface="Segoe WPC"/>
                  </a:rPr>
                  <a:t>Distribution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symmetric</a:t>
                </a:r>
                <a:r>
                  <a:rPr lang="es-PE" sz="900" b="0" i="0" dirty="0">
                    <a:solidFill>
                      <a:schemeClr val="tx1"/>
                    </a:solidFill>
                    <a:effectLst/>
                    <a:latin typeface="Segoe WPC"/>
                  </a:rPr>
                  <a:t> </a:t>
                </a:r>
                <a:r>
                  <a:rPr lang="es-PE" sz="900" b="0" i="0" dirty="0" err="1">
                    <a:solidFill>
                      <a:schemeClr val="tx1"/>
                    </a:solidFill>
                    <a:effectLst/>
                    <a:latin typeface="Segoe WPC"/>
                  </a:rPr>
                  <a:t>continuous</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defined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mean and </a:t>
                </a:r>
                <a:r>
                  <a:rPr lang="es-PE" sz="900" b="0" i="0" dirty="0" err="1">
                    <a:solidFill>
                      <a:schemeClr val="tx1"/>
                    </a:solidFill>
                    <a:effectLst/>
                    <a:latin typeface="Segoe WPC"/>
                  </a:rPr>
                  <a:t>variance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bell-shaped</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centered</a:t>
                </a:r>
                <a:r>
                  <a:rPr lang="es-PE" sz="900" b="0" i="0" dirty="0">
                    <a:solidFill>
                      <a:schemeClr val="tx1"/>
                    </a:solidFill>
                    <a:effectLst/>
                    <a:latin typeface="Segoe WPC"/>
                  </a:rPr>
                  <a:t> at </a:t>
                </a:r>
                <a14:m>
                  <m:oMath xmlns:m="http://schemas.openxmlformats.org/officeDocument/2006/math">
                    <m:r>
                      <a:rPr lang="es-PE" sz="900" i="1">
                        <a:solidFill>
                          <a:schemeClr val="tx1"/>
                        </a:solidFill>
                        <a:latin typeface="Cambria Math" panose="02040503050406030204" pitchFamily="18" charset="0"/>
                      </a:rPr>
                      <m:t>𝜇</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Symmetric</a:t>
                </a:r>
                <a:r>
                  <a:rPr lang="es-PE" sz="900" b="0" i="0" dirty="0">
                    <a:solidFill>
                      <a:schemeClr val="tx1"/>
                    </a:solidFill>
                    <a:effectLst/>
                    <a:latin typeface="Segoe WPC"/>
                  </a:rPr>
                  <a:t> </a:t>
                </a:r>
                <a:r>
                  <a:rPr lang="es-PE" sz="900" b="0" i="0" dirty="0" err="1">
                    <a:solidFill>
                      <a:schemeClr val="tx1"/>
                    </a:solidFill>
                    <a:effectLst/>
                    <a:latin typeface="Segoe WPC"/>
                  </a:rPr>
                  <a:t>bell</a:t>
                </a:r>
                <a:r>
                  <a:rPr lang="es-PE" sz="900" b="0" i="0" dirty="0">
                    <a:solidFill>
                      <a:schemeClr val="tx1"/>
                    </a:solidFill>
                    <a:effectLst/>
                    <a:latin typeface="Segoe WPC"/>
                  </a:rPr>
                  <a:t> curve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most</a:t>
                </a:r>
                <a:r>
                  <a:rPr lang="es-PE" sz="900" b="0" i="0" dirty="0">
                    <a:solidFill>
                      <a:schemeClr val="tx1"/>
                    </a:solidFill>
                    <a:effectLst/>
                    <a:latin typeface="Segoe WPC"/>
                  </a:rPr>
                  <a:t> </a:t>
                </a:r>
                <a:r>
                  <a:rPr lang="es-PE" sz="900" b="0" i="0" dirty="0" err="1">
                    <a:solidFill>
                      <a:schemeClr val="tx1"/>
                    </a:solidFill>
                    <a:effectLst/>
                    <a:latin typeface="Segoe WPC"/>
                  </a:rPr>
                  <a:t>mass</a:t>
                </a:r>
                <a:r>
                  <a:rPr lang="es-PE" sz="900" b="0" i="0" dirty="0">
                    <a:solidFill>
                      <a:schemeClr val="tx1"/>
                    </a:solidFill>
                    <a:effectLst/>
                    <a:latin typeface="Segoe WPC"/>
                  </a:rPr>
                  <a:t> </a:t>
                </a:r>
                <a:r>
                  <a:rPr lang="es-PE" sz="900" b="0" i="0" dirty="0" err="1">
                    <a:solidFill>
                      <a:schemeClr val="tx1"/>
                    </a:solidFill>
                    <a:effectLst/>
                    <a:latin typeface="Segoe WPC"/>
                  </a:rPr>
                  <a:t>around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mean.</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𝑁</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𝜇</m:t>
                          </m:r>
                        </m:e>
                        <m:e>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e>
                      </m:d>
                    </m:oMath>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1">
                              <a:solidFill>
                                <a:schemeClr val="tx1"/>
                              </a:solidFill>
                              <a:latin typeface="Cambria Math" panose="02040503050406030204" pitchFamily="18" charset="0"/>
                            </a:rPr>
                            <m:t>𝑌</m:t>
                          </m:r>
                        </m:sub>
                      </m:sSub>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𝑦</m:t>
                          </m:r>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ad>
                            <m:radPr>
                              <m:degHide m:val="on"/>
                              <m:ctrlPr>
                                <a:rPr lang="ar-AE" sz="900" i="1">
                                  <a:solidFill>
                                    <a:schemeClr val="tx1"/>
                                  </a:solidFill>
                                  <a:latin typeface="Cambria Math" panose="02040503050406030204" pitchFamily="18" charset="0"/>
                                </a:rPr>
                              </m:ctrlPr>
                            </m:radPr>
                            <m:deg/>
                            <m:e>
                              <m:r>
                                <a:rPr lang="ar-AE" sz="900" i="0">
                                  <a:solidFill>
                                    <a:schemeClr val="tx1"/>
                                  </a:solidFill>
                                  <a:latin typeface="Cambria Math" panose="02040503050406030204" pitchFamily="18" charset="0"/>
                                </a:rPr>
                                <m:t>2</m:t>
                              </m:r>
                              <m:r>
                                <a:rPr lang="ar-AE" sz="900" i="1">
                                  <a:solidFill>
                                    <a:schemeClr val="tx1"/>
                                  </a:solidFill>
                                  <a:latin typeface="Cambria Math" panose="02040503050406030204" pitchFamily="18" charset="0"/>
                                </a:rPr>
                                <m:t>𝜋</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e>
                          </m:rad>
                        </m:den>
                      </m:f>
                      <m:func>
                        <m:funcPr>
                          <m:ctrlPr>
                            <a:rPr lang="ar-AE" sz="900" i="1">
                              <a:solidFill>
                                <a:schemeClr val="tx1"/>
                              </a:solidFill>
                              <a:latin typeface="Cambria Math" panose="02040503050406030204" pitchFamily="18" charset="0"/>
                            </a:rPr>
                          </m:ctrlPr>
                        </m:funcPr>
                        <m:fName>
                          <m:r>
                            <m:rPr>
                              <m:sty m:val="p"/>
                            </m:rPr>
                            <a:rPr lang="es-PE" sz="900" i="0">
                              <a:solidFill>
                                <a:schemeClr val="tx1"/>
                              </a:solidFill>
                              <a:latin typeface="Cambria Math" panose="02040503050406030204" pitchFamily="18" charset="0"/>
                            </a:rPr>
                            <m:t>exp</m:t>
                          </m:r>
                        </m:fName>
                        <m:e>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d>
                                    <m:dPr>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𝑦</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𝜇</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e>
                                  </m:d>
                                </m:num>
                                <m:den>
                                  <m:r>
                                    <a:rPr lang="ar-AE" sz="900" i="0">
                                      <a:solidFill>
                                        <a:schemeClr val="tx1"/>
                                      </a:solidFill>
                                      <a:latin typeface="Cambria Math" panose="02040503050406030204" pitchFamily="18" charset="0"/>
                                    </a:rPr>
                                    <m:t>2</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den>
                              </m:f>
                            </m:e>
                          </m:d>
                        </m:e>
                      </m:func>
                    </m:oMath>
                  </m:oMathPara>
                </a14:m>
                <a:br>
                  <a:rPr lang="ar-AE" sz="900" b="0" i="0" dirty="0">
                    <a:solidFill>
                      <a:schemeClr val="tx1"/>
                    </a:solidFill>
                    <a:effectLst/>
                    <a:latin typeface="Segoe WPC"/>
                  </a:rPr>
                </a:br>
                <a:r>
                  <a:rPr lang="es-PE" sz="900" b="0" i="0" dirty="0" err="1">
                    <a:solidFill>
                      <a:schemeClr val="tx1"/>
                    </a:solidFill>
                    <a:effectLst/>
                    <a:latin typeface="Segoe WPC"/>
                  </a:rPr>
                  <a:t>Standardization</a:t>
                </a:r>
                <a:r>
                  <a:rPr lang="es-PE" sz="900" b="0" i="0" dirty="0">
                    <a:solidFill>
                      <a:schemeClr val="tx1"/>
                    </a:solidFill>
                    <a:effectLst/>
                    <a:latin typeface="Segoe WPC"/>
                  </a:rPr>
                  <a:t>:</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𝑍</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𝑌</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𝜇</m:t>
                          </m:r>
                        </m:num>
                        <m:den>
                          <m:r>
                            <a:rPr lang="ar-AE" sz="900" i="1">
                              <a:solidFill>
                                <a:schemeClr val="tx1"/>
                              </a:solidFill>
                              <a:latin typeface="Cambria Math" panose="02040503050406030204" pitchFamily="18" charset="0"/>
                            </a:rPr>
                            <m:t>𝜎</m:t>
                          </m:r>
                        </m:den>
                      </m:f>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𝑁</m:t>
                      </m:r>
                      <m:d>
                        <m:dPr>
                          <m:sep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0</m:t>
                          </m:r>
                        </m:e>
                        <m:e>
                          <m:r>
                            <a:rPr lang="ar-AE" sz="900" i="0">
                              <a:solidFill>
                                <a:schemeClr val="tx1"/>
                              </a:solidFill>
                              <a:latin typeface="Cambria Math" panose="02040503050406030204" pitchFamily="18" charset="0"/>
                            </a:rPr>
                            <m:t>1</m:t>
                          </m:r>
                        </m:e>
                      </m:d>
                    </m:oMath>
                  </m:oMathPara>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Central in </a:t>
                </a:r>
                <a:r>
                  <a:rPr lang="es-PE" sz="900" b="0" i="0" dirty="0" err="1">
                    <a:solidFill>
                      <a:schemeClr val="tx1"/>
                    </a:solidFill>
                    <a:effectLst/>
                    <a:latin typeface="Segoe WPC"/>
                  </a:rPr>
                  <a:t>finance</a:t>
                </a:r>
                <a:r>
                  <a:rPr lang="es-PE" sz="900" b="0" i="0" dirty="0">
                    <a:solidFill>
                      <a:schemeClr val="tx1"/>
                    </a:solidFill>
                    <a:effectLst/>
                    <a:latin typeface="Segoe WPC"/>
                  </a:rPr>
                  <a:t>, </a:t>
                </a:r>
                <a:r>
                  <a:rPr lang="es-PE" sz="900" b="0" i="0" dirty="0" err="1">
                    <a:solidFill>
                      <a:schemeClr val="tx1"/>
                    </a:solidFill>
                    <a:effectLst/>
                    <a:latin typeface="Segoe WPC"/>
                  </a:rPr>
                  <a:t>hypothesis</a:t>
                </a:r>
                <a:r>
                  <a:rPr lang="es-PE" sz="900" b="0" i="0" dirty="0">
                    <a:solidFill>
                      <a:schemeClr val="tx1"/>
                    </a:solidFill>
                    <a:effectLst/>
                    <a:latin typeface="Segoe WPC"/>
                  </a:rPr>
                  <a:t> </a:t>
                </a:r>
                <a:r>
                  <a:rPr lang="es-PE" sz="900" b="0" i="0" dirty="0" err="1">
                    <a:solidFill>
                      <a:schemeClr val="tx1"/>
                    </a:solidFill>
                    <a:effectLst/>
                    <a:latin typeface="Segoe WPC"/>
                  </a:rPr>
                  <a:t>testing</a:t>
                </a:r>
                <a:r>
                  <a:rPr lang="es-PE" sz="900" b="0" i="0" dirty="0">
                    <a:solidFill>
                      <a:schemeClr val="tx1"/>
                    </a:solidFill>
                    <a:effectLst/>
                    <a:latin typeface="Segoe WPC"/>
                  </a:rPr>
                  <a:t>, and </a:t>
                </a:r>
                <a:r>
                  <a:rPr lang="es-PE" sz="900" b="0" i="0" dirty="0" err="1">
                    <a:solidFill>
                      <a:schemeClr val="tx1"/>
                    </a:solidFill>
                    <a:effectLst/>
                    <a:latin typeface="Segoe WPC"/>
                  </a:rPr>
                  <a:t>approximation</a:t>
                </a:r>
                <a:r>
                  <a:rPr lang="es-PE" sz="900" b="0" i="0" dirty="0">
                    <a:solidFill>
                      <a:schemeClr val="tx1"/>
                    </a:solidFill>
                    <a:effectLst/>
                    <a:latin typeface="Segoe WPC"/>
                  </a:rPr>
                  <a:t> </a:t>
                </a:r>
                <a:r>
                  <a:rPr lang="es-PE" sz="900" b="0" i="0" dirty="0" err="1">
                    <a:solidFill>
                      <a:schemeClr val="tx1"/>
                    </a:solidFill>
                    <a:effectLst/>
                    <a:latin typeface="Segoe WPC"/>
                  </a:rPr>
                  <a:t>results</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a:t>
                </a:r>
                <a:r>
                  <a:rPr lang="es-PE" sz="900" b="0" i="0" dirty="0" err="1">
                    <a:solidFill>
                      <a:schemeClr val="tx1"/>
                    </a:solidFill>
                    <a:effectLst/>
                    <a:latin typeface="Segoe WPC"/>
                  </a:rPr>
                  <a:t>the</a:t>
                </a:r>
                <a:r>
                  <a:rPr lang="es-PE" sz="900" b="0" i="0" dirty="0">
                    <a:solidFill>
                      <a:schemeClr val="tx1"/>
                    </a:solidFill>
                    <a:effectLst/>
                    <a:latin typeface="Segoe WPC"/>
                  </a:rPr>
                  <a:t> CLT.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Real </a:t>
                </a:r>
                <a:r>
                  <a:rPr lang="es-PE" sz="900" b="0" i="0" dirty="0" err="1">
                    <a:solidFill>
                      <a:schemeClr val="tx1"/>
                    </a:solidFill>
                    <a:effectLst/>
                    <a:latin typeface="Segoe WPC"/>
                  </a:rPr>
                  <a:t>financial</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are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exactly</a:t>
                </a:r>
                <a:r>
                  <a:rPr lang="es-PE" sz="900" b="0" i="0" dirty="0">
                    <a:solidFill>
                      <a:schemeClr val="tx1"/>
                    </a:solidFill>
                    <a:effectLst/>
                    <a:latin typeface="Segoe WPC"/>
                  </a:rPr>
                  <a:t> normal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tend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show </a:t>
                </a:r>
                <a:r>
                  <a:rPr lang="es-PE" sz="900" b="0" i="0" dirty="0" err="1">
                    <a:solidFill>
                      <a:schemeClr val="tx1"/>
                    </a:solidFill>
                    <a:effectLst/>
                    <a:latin typeface="Segoe WPC"/>
                  </a:rPr>
                  <a:t>fat</a:t>
                </a:r>
                <a:r>
                  <a:rPr lang="es-PE" sz="900" b="0" i="0" dirty="0">
                    <a:solidFill>
                      <a:schemeClr val="tx1"/>
                    </a:solidFill>
                    <a:effectLst/>
                    <a:latin typeface="Segoe WPC"/>
                  </a:rPr>
                  <a:t> </a:t>
                </a:r>
                <a:r>
                  <a:rPr lang="es-PE" sz="900" b="0" i="0" dirty="0" err="1">
                    <a:solidFill>
                      <a:schemeClr val="tx1"/>
                    </a:solidFill>
                    <a:effectLst/>
                    <a:latin typeface="Segoe WPC"/>
                  </a:rPr>
                  <a:t>tails</a:t>
                </a:r>
                <a:r>
                  <a:rPr lang="es-PE" sz="900" b="0" i="0" dirty="0">
                    <a:solidFill>
                      <a:schemeClr val="tx1"/>
                    </a:solidFill>
                    <a:effectLst/>
                    <a:latin typeface="Segoe WPC"/>
                  </a:rPr>
                  <a:t> and </a:t>
                </a:r>
                <a:r>
                  <a:rPr lang="es-PE" sz="900" b="0" i="0" dirty="0" err="1">
                    <a:solidFill>
                      <a:schemeClr val="tx1"/>
                    </a:solidFill>
                    <a:effectLst/>
                    <a:latin typeface="Segoe WPC"/>
                  </a:rPr>
                  <a:t>sometimes</a:t>
                </a:r>
                <a:r>
                  <a:rPr lang="es-PE" sz="900" b="0" i="0" dirty="0">
                    <a:solidFill>
                      <a:schemeClr val="tx1"/>
                    </a:solidFill>
                    <a:effectLst/>
                    <a:latin typeface="Segoe WPC"/>
                  </a:rPr>
                  <a:t> </a:t>
                </a:r>
                <a:r>
                  <a:rPr lang="es-PE" sz="900" b="0" i="0" dirty="0" err="1">
                    <a:solidFill>
                      <a:schemeClr val="tx1"/>
                    </a:solidFill>
                    <a:effectLst/>
                    <a:latin typeface="Segoe WPC"/>
                  </a:rPr>
                  <a:t>skewness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6. </a:t>
                </a:r>
                <a:r>
                  <a:rPr lang="es-PE" sz="900" b="1" i="0" dirty="0" err="1">
                    <a:solidFill>
                      <a:schemeClr val="tx1"/>
                    </a:solidFill>
                    <a:effectLst/>
                    <a:latin typeface="Segoe WPC"/>
                  </a:rPr>
                  <a:t>Lognormal</a:t>
                </a:r>
                <a:r>
                  <a:rPr lang="es-PE" sz="900" b="1" i="0" dirty="0">
                    <a:solidFill>
                      <a:schemeClr val="tx1"/>
                    </a:solidFill>
                    <a:effectLst/>
                    <a:latin typeface="Segoe WPC"/>
                  </a:rPr>
                  <a:t> </a:t>
                </a:r>
                <a:r>
                  <a:rPr lang="es-PE" sz="900" b="1" i="0" dirty="0" err="1">
                    <a:solidFill>
                      <a:schemeClr val="tx1"/>
                    </a:solidFill>
                    <a:effectLst/>
                    <a:latin typeface="Segoe WPC"/>
                  </a:rPr>
                  <a:t>Distribution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positive </a:t>
                </a:r>
                <a:r>
                  <a:rPr lang="es-PE" sz="900" b="0" i="0" dirty="0" err="1">
                    <a:solidFill>
                      <a:schemeClr val="tx1"/>
                    </a:solidFill>
                    <a:effectLst/>
                    <a:latin typeface="Segoe WPC"/>
                  </a:rPr>
                  <a:t>random</a:t>
                </a:r>
                <a:r>
                  <a:rPr lang="es-PE" sz="900" b="0" i="0" dirty="0">
                    <a:solidFill>
                      <a:schemeClr val="tx1"/>
                    </a:solidFill>
                    <a:effectLst/>
                    <a:latin typeface="Segoe WPC"/>
                  </a:rPr>
                  <a:t> variable </a:t>
                </a:r>
                <a:r>
                  <a:rPr lang="es-PE" sz="900" b="0" i="0" dirty="0" err="1">
                    <a:solidFill>
                      <a:schemeClr val="tx1"/>
                    </a:solidFill>
                    <a:effectLst/>
                    <a:latin typeface="Segoe WPC"/>
                  </a:rPr>
                  <a:t>whose</a:t>
                </a:r>
                <a:r>
                  <a:rPr lang="es-PE" sz="900" b="0" i="0" dirty="0">
                    <a:solidFill>
                      <a:schemeClr val="tx1"/>
                    </a:solidFill>
                    <a:effectLst/>
                    <a:latin typeface="Segoe WPC"/>
                  </a:rPr>
                  <a:t> </a:t>
                </a:r>
                <a:r>
                  <a:rPr lang="es-PE" sz="900" b="0" i="0" dirty="0" err="1">
                    <a:solidFill>
                      <a:schemeClr val="tx1"/>
                    </a:solidFill>
                    <a:effectLst/>
                    <a:latin typeface="Segoe WPC"/>
                  </a:rPr>
                  <a:t>logarithm</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normally</a:t>
                </a:r>
                <a:r>
                  <a:rPr lang="es-PE" sz="900" b="0" i="0" dirty="0">
                    <a:solidFill>
                      <a:schemeClr val="tx1"/>
                    </a:solidFill>
                    <a:effectLst/>
                    <a:latin typeface="Segoe WPC"/>
                  </a:rPr>
                  <a:t> </a:t>
                </a:r>
                <a:r>
                  <a:rPr lang="es-PE" sz="900" b="0" i="0" dirty="0" err="1">
                    <a:solidFill>
                      <a:schemeClr val="tx1"/>
                    </a:solidFill>
                    <a:effectLst/>
                    <a:latin typeface="Segoe WPC"/>
                  </a:rPr>
                  <a:t>distributed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log </a:t>
                </a:r>
                <a:r>
                  <a:rPr lang="es-PE" sz="900" b="0" i="0" dirty="0" err="1">
                    <a:solidFill>
                      <a:schemeClr val="tx1"/>
                    </a:solidFill>
                    <a:effectLst/>
                    <a:latin typeface="Segoe WPC"/>
                  </a:rPr>
                  <a:t>is</a:t>
                </a:r>
                <a:r>
                  <a:rPr lang="es-PE" sz="900" b="0" i="0" dirty="0">
                    <a:solidFill>
                      <a:schemeClr val="tx1"/>
                    </a:solidFill>
                    <a:effectLst/>
                    <a:latin typeface="Segoe WPC"/>
                  </a:rPr>
                  <a:t> normal, </a:t>
                </a:r>
                <a:r>
                  <a:rPr lang="es-PE" sz="900" b="0" i="0" dirty="0" err="1">
                    <a:solidFill>
                      <a:schemeClr val="tx1"/>
                    </a:solidFill>
                    <a:effectLst/>
                    <a:latin typeface="Segoe WPC"/>
                  </a:rPr>
                  <a:t>the</a:t>
                </a:r>
                <a:r>
                  <a:rPr lang="es-PE" sz="900" b="0" i="0" dirty="0">
                    <a:solidFill>
                      <a:schemeClr val="tx1"/>
                    </a:solidFill>
                    <a:effectLst/>
                    <a:latin typeface="Segoe WPC"/>
                  </a:rPr>
                  <a:t> original variable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lognormal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Right-skewed</a:t>
                </a:r>
                <a:r>
                  <a:rPr lang="es-PE" sz="900" b="0" i="0" dirty="0">
                    <a:solidFill>
                      <a:schemeClr val="tx1"/>
                    </a:solidFill>
                    <a:effectLst/>
                    <a:latin typeface="Segoe WPC"/>
                  </a:rPr>
                  <a:t> curve </a:t>
                </a:r>
                <a:r>
                  <a:rPr lang="es-PE" sz="900" b="0" i="0" dirty="0" err="1">
                    <a:solidFill>
                      <a:schemeClr val="tx1"/>
                    </a:solidFill>
                    <a:effectLst/>
                    <a:latin typeface="Segoe WPC"/>
                  </a:rPr>
                  <a:t>bounded</a:t>
                </a:r>
                <a:r>
                  <a:rPr lang="es-PE" sz="900" b="0" i="0" dirty="0">
                    <a:solidFill>
                      <a:schemeClr val="tx1"/>
                    </a:solidFill>
                    <a:effectLst/>
                    <a:latin typeface="Segoe WPC"/>
                  </a:rPr>
                  <a:t> </a:t>
                </a:r>
                <a:r>
                  <a:rPr lang="es-PE" sz="900" b="0" i="0" dirty="0" err="1">
                    <a:solidFill>
                      <a:schemeClr val="tx1"/>
                    </a:solidFill>
                    <a:effectLst/>
                    <a:latin typeface="Segoe WPC"/>
                  </a:rPr>
                  <a:t>below</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𝑋</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𝑁</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𝜇</m:t>
                        </m:r>
                      </m:e>
                      <m:e>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e>
                    </m:d>
                  </m:oMath>
                </a14:m>
                <a:r>
                  <a:rPr lang="ar-A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1">
                            <a:solidFill>
                              <a:schemeClr val="tx1"/>
                            </a:solidFill>
                            <a:latin typeface="Cambria Math" panose="02040503050406030204" pitchFamily="18" charset="0"/>
                          </a:rPr>
                          <m:t>𝑋</m:t>
                        </m:r>
                      </m:sup>
                    </m:sSup>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lognormal</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Lognormal</m:t>
                      </m:r>
                      <m:d>
                        <m:dPr>
                          <m:sepChr m:val=","/>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𝜇</m:t>
                          </m:r>
                        </m:e>
                        <m:e>
                          <m:sSup>
                            <m:sSupPr>
                              <m:ctrlPr>
                                <a:rPr lang="ar-AE" sz="900" b="0" i="1">
                                  <a:solidFill>
                                    <a:schemeClr val="tx1"/>
                                  </a:solidFill>
                                  <a:latin typeface="Cambria Math" panose="02040503050406030204" pitchFamily="18" charset="0"/>
                                </a:rPr>
                              </m:ctrlPr>
                            </m:sSupPr>
                            <m:e>
                              <m:r>
                                <a:rPr lang="ar-AE" sz="900" b="0" i="1">
                                  <a:solidFill>
                                    <a:schemeClr val="tx1"/>
                                  </a:solidFill>
                                  <a:latin typeface="Cambria Math" panose="02040503050406030204" pitchFamily="18" charset="0"/>
                                </a:rPr>
                                <m:t>𝜎</m:t>
                              </m:r>
                            </m:e>
                            <m:sup>
                              <m:r>
                                <a:rPr lang="ar-AE" sz="900" b="0" i="0">
                                  <a:solidFill>
                                    <a:schemeClr val="tx1"/>
                                  </a:solidFill>
                                  <a:latin typeface="Cambria Math" panose="02040503050406030204" pitchFamily="18" charset="0"/>
                                </a:rPr>
                                <m:t>2</m:t>
                              </m:r>
                            </m:sup>
                          </m:sSup>
                        </m:e>
                      </m:d>
                    </m:oMath>
                    <m:oMath xmlns:m="http://schemas.openxmlformats.org/officeDocument/2006/math">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1">
                              <a:solidFill>
                                <a:schemeClr val="tx1"/>
                              </a:solidFill>
                              <a:latin typeface="Cambria Math" panose="02040503050406030204" pitchFamily="18" charset="0"/>
                            </a:rPr>
                            <m:t>𝜇</m:t>
                          </m:r>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sup>
                      </m:sSup>
                    </m:oMath>
                  </m:oMathPara>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stock </a:t>
                </a:r>
                <a:r>
                  <a:rPr lang="es-PE" sz="900" b="0" i="0" dirty="0" err="1">
                    <a:solidFill>
                      <a:schemeClr val="tx1"/>
                    </a:solidFill>
                    <a:effectLst/>
                    <a:latin typeface="Segoe WPC"/>
                  </a:rPr>
                  <a:t>prices</a:t>
                </a:r>
                <a:r>
                  <a:rPr lang="es-PE" sz="900" b="0" i="0" dirty="0">
                    <a:solidFill>
                      <a:schemeClr val="tx1"/>
                    </a:solidFill>
                    <a:effectLst/>
                    <a:latin typeface="Segoe WPC"/>
                  </a:rPr>
                  <a:t> and </a:t>
                </a:r>
                <a:r>
                  <a:rPr lang="es-PE" sz="900" b="0" i="0" dirty="0" err="1">
                    <a:solidFill>
                      <a:schemeClr val="tx1"/>
                    </a:solidFill>
                    <a:effectLst/>
                    <a:latin typeface="Segoe WPC"/>
                  </a:rPr>
                  <a:t>other</a:t>
                </a:r>
                <a:r>
                  <a:rPr lang="es-PE" sz="900" b="0" i="0" dirty="0">
                    <a:solidFill>
                      <a:schemeClr val="tx1"/>
                    </a:solidFill>
                    <a:effectLst/>
                    <a:latin typeface="Segoe WPC"/>
                  </a:rPr>
                  <a:t> </a:t>
                </a:r>
                <a:r>
                  <a:rPr lang="es-PE" sz="900" b="0" i="0" dirty="0" err="1">
                    <a:solidFill>
                      <a:schemeClr val="tx1"/>
                    </a:solidFill>
                    <a:effectLst/>
                    <a:latin typeface="Segoe WPC"/>
                  </a:rPr>
                  <a:t>strictly</a:t>
                </a:r>
                <a:r>
                  <a:rPr lang="es-PE" sz="900" b="0" i="0" dirty="0">
                    <a:solidFill>
                      <a:schemeClr val="tx1"/>
                    </a:solidFill>
                    <a:effectLst/>
                    <a:latin typeface="Segoe WPC"/>
                  </a:rPr>
                  <a:t> positive </a:t>
                </a:r>
                <a:r>
                  <a:rPr lang="es-PE" sz="900" b="0" i="0" dirty="0" err="1">
                    <a:solidFill>
                      <a:schemeClr val="tx1"/>
                    </a:solidFill>
                    <a:effectLst/>
                    <a:latin typeface="Segoe WPC"/>
                  </a:rPr>
                  <a:t>quantities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lognormal</a:t>
                </a:r>
                <a:r>
                  <a:rPr lang="es-PE" sz="900" b="0" i="0" dirty="0">
                    <a:solidFill>
                      <a:schemeClr val="tx1"/>
                    </a:solidFill>
                    <a:effectLst/>
                    <a:latin typeface="Segoe WPC"/>
                  </a:rPr>
                  <a:t> variable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symmetric</a:t>
                </a:r>
                <a:r>
                  <a:rPr lang="es-PE" sz="900" b="0" i="0" dirty="0">
                    <a:solidFill>
                      <a:schemeClr val="tx1"/>
                    </a:solidFill>
                    <a:effectLst/>
                    <a:latin typeface="Segoe WPC"/>
                  </a:rPr>
                  <a:t>, </a:t>
                </a:r>
                <a:r>
                  <a:rPr lang="es-PE" sz="900" b="0" i="0" dirty="0" err="1">
                    <a:solidFill>
                      <a:schemeClr val="tx1"/>
                    </a:solidFill>
                    <a:effectLst/>
                    <a:latin typeface="Segoe WPC"/>
                  </a:rPr>
                  <a:t>even</a:t>
                </a:r>
                <a:r>
                  <a:rPr lang="es-PE" sz="900" b="0" i="0" dirty="0">
                    <a:solidFill>
                      <a:schemeClr val="tx1"/>
                    </a:solidFill>
                    <a:effectLst/>
                    <a:latin typeface="Segoe WPC"/>
                  </a:rPr>
                  <a:t> </a:t>
                </a:r>
                <a:r>
                  <a:rPr lang="es-PE" sz="900" b="0" i="0" dirty="0" err="1">
                    <a:solidFill>
                      <a:schemeClr val="tx1"/>
                    </a:solidFill>
                    <a:effectLst/>
                    <a:latin typeface="Segoe WPC"/>
                  </a:rPr>
                  <a:t>though</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logarithm</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normal.</a:t>
                </a:r>
              </a:p>
              <a:p>
                <a:pPr algn="l">
                  <a:spcAft>
                    <a:spcPts val="1200"/>
                  </a:spcAft>
                  <a:buNone/>
                </a:pPr>
                <a:r>
                  <a:rPr lang="es-PE" sz="900" b="1" i="0" dirty="0">
                    <a:solidFill>
                      <a:schemeClr val="tx1"/>
                    </a:solidFill>
                    <a:effectLst/>
                    <a:latin typeface="Segoe WPC"/>
                  </a:rPr>
                  <a:t>7. Chi-</a:t>
                </a:r>
                <a:r>
                  <a:rPr lang="es-PE" sz="900" b="1" i="0" dirty="0" err="1">
                    <a:solidFill>
                      <a:schemeClr val="tx1"/>
                    </a:solidFill>
                    <a:effectLst/>
                    <a:latin typeface="Segoe WPC"/>
                  </a:rPr>
                  <a:t>Squared</a:t>
                </a:r>
                <a:r>
                  <a:rPr lang="es-PE" sz="900" b="1" i="0" dirty="0">
                    <a:solidFill>
                      <a:schemeClr val="tx1"/>
                    </a:solidFill>
                    <a:effectLst/>
                    <a:latin typeface="Segoe WPC"/>
                  </a:rPr>
                  <a:t> </a:t>
                </a:r>
                <a:r>
                  <a:rPr lang="es-PE" sz="900" b="1" i="0" dirty="0" err="1">
                    <a:solidFill>
                      <a:schemeClr val="tx1"/>
                    </a:solidFill>
                    <a:effectLst/>
                    <a:latin typeface="Segoe WPC"/>
                  </a:rPr>
                  <a:t>Distribution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sum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squared</a:t>
                </a:r>
                <a:r>
                  <a:rPr lang="es-PE" sz="900" b="0" i="0" dirty="0">
                    <a:solidFill>
                      <a:schemeClr val="tx1"/>
                    </a:solidFill>
                    <a:effectLst/>
                    <a:latin typeface="Segoe WPC"/>
                  </a:rPr>
                  <a:t> </a:t>
                </a:r>
                <a:r>
                  <a:rPr lang="es-PE" sz="900" b="0" i="0" dirty="0" err="1">
                    <a:solidFill>
                      <a:schemeClr val="tx1"/>
                    </a:solidFill>
                    <a:effectLst/>
                    <a:latin typeface="Segoe WPC"/>
                  </a:rPr>
                  <a:t>independent</a:t>
                </a:r>
                <a:r>
                  <a:rPr lang="es-PE" sz="900" b="0" i="0" dirty="0">
                    <a:solidFill>
                      <a:schemeClr val="tx1"/>
                    </a:solidFill>
                    <a:effectLst/>
                    <a:latin typeface="Segoe WPC"/>
                  </a:rPr>
                  <a:t> standard normal </a:t>
                </a:r>
                <a:r>
                  <a:rPr lang="es-PE" sz="900" b="0" i="0" dirty="0" err="1">
                    <a:solidFill>
                      <a:schemeClr val="tx1"/>
                    </a:solidFill>
                    <a:effectLst/>
                    <a:latin typeface="Segoe WPC"/>
                  </a:rPr>
                  <a:t>random</a:t>
                </a:r>
                <a:r>
                  <a:rPr lang="es-PE" sz="900" b="0" i="0" dirty="0">
                    <a:solidFill>
                      <a:schemeClr val="tx1"/>
                    </a:solidFill>
                    <a:effectLst/>
                    <a:latin typeface="Segoe WPC"/>
                  </a:rPr>
                  <a:t> variables.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accumulated</a:t>
                </a:r>
                <a:r>
                  <a:rPr lang="es-PE" sz="900" b="0" i="0" dirty="0">
                    <a:solidFill>
                      <a:schemeClr val="tx1"/>
                    </a:solidFill>
                    <a:effectLst/>
                    <a:latin typeface="Segoe WPC"/>
                  </a:rPr>
                  <a:t> </a:t>
                </a:r>
                <a:r>
                  <a:rPr lang="es-PE" sz="900" b="0" i="0" dirty="0" err="1">
                    <a:solidFill>
                      <a:schemeClr val="tx1"/>
                    </a:solidFill>
                    <a:effectLst/>
                    <a:latin typeface="Segoe WPC"/>
                  </a:rPr>
                  <a:t>squared</a:t>
                </a:r>
                <a:r>
                  <a:rPr lang="es-PE" sz="900" b="0" i="0" dirty="0">
                    <a:solidFill>
                      <a:schemeClr val="tx1"/>
                    </a:solidFill>
                    <a:effectLst/>
                    <a:latin typeface="Segoe WPC"/>
                  </a:rPr>
                  <a:t> shocks.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Positive-</a:t>
                </a:r>
                <a:r>
                  <a:rPr lang="es-PE" sz="900" b="0" i="0" dirty="0" err="1">
                    <a:solidFill>
                      <a:schemeClr val="tx1"/>
                    </a:solidFill>
                    <a:effectLst/>
                    <a:latin typeface="Segoe WPC"/>
                  </a:rPr>
                  <a:t>only</a:t>
                </a:r>
                <a:r>
                  <a:rPr lang="es-PE" sz="900" b="0" i="0" dirty="0">
                    <a:solidFill>
                      <a:schemeClr val="tx1"/>
                    </a:solidFill>
                    <a:effectLst/>
                    <a:latin typeface="Segoe WPC"/>
                  </a:rPr>
                  <a:t> and </a:t>
                </a:r>
                <a:r>
                  <a:rPr lang="es-PE" sz="900" b="0" i="0" dirty="0" err="1">
                    <a:solidFill>
                      <a:schemeClr val="tx1"/>
                    </a:solidFill>
                    <a:effectLst/>
                    <a:latin typeface="Segoe WPC"/>
                  </a:rPr>
                  <a:t>right-skewed</a:t>
                </a:r>
                <a:r>
                  <a:rPr lang="es-PE" sz="900" b="0" i="0" dirty="0">
                    <a:solidFill>
                      <a:schemeClr val="tx1"/>
                    </a:solidFill>
                    <a:effectLst/>
                    <a:latin typeface="Segoe WPC"/>
                  </a:rPr>
                  <a:t>, </a:t>
                </a:r>
                <a:r>
                  <a:rPr lang="es-PE" sz="900" b="0" i="0" dirty="0" err="1">
                    <a:solidFill>
                      <a:schemeClr val="tx1"/>
                    </a:solidFill>
                    <a:effectLst/>
                    <a:latin typeface="Segoe WPC"/>
                  </a:rPr>
                  <a:t>shifting</a:t>
                </a:r>
                <a:r>
                  <a:rPr lang="es-PE" sz="900" b="0" i="0" dirty="0">
                    <a:solidFill>
                      <a:schemeClr val="tx1"/>
                    </a:solidFill>
                    <a:effectLst/>
                    <a:latin typeface="Segoe WPC"/>
                  </a:rPr>
                  <a:t> </a:t>
                </a:r>
                <a:r>
                  <a:rPr lang="es-PE" sz="900" b="0" i="0" dirty="0" err="1">
                    <a:solidFill>
                      <a:schemeClr val="tx1"/>
                    </a:solidFill>
                    <a:effectLst/>
                    <a:latin typeface="Segoe WPC"/>
                  </a:rPr>
                  <a:t>right</a:t>
                </a:r>
                <a:r>
                  <a:rPr lang="es-PE" sz="900" b="0" i="0" dirty="0">
                    <a:solidFill>
                      <a:schemeClr val="tx1"/>
                    </a:solidFill>
                    <a:effectLst/>
                    <a:latin typeface="Segoe WPC"/>
                  </a:rPr>
                  <a:t> as </a:t>
                </a:r>
                <a:r>
                  <a:rPr lang="es-PE" sz="900" b="0" i="0" dirty="0" err="1">
                    <a:solidFill>
                      <a:schemeClr val="tx1"/>
                    </a:solidFill>
                    <a:effectLst/>
                    <a:latin typeface="Segoe WPC"/>
                  </a:rPr>
                  <a:t>degrees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freedom</a:t>
                </a:r>
                <a:r>
                  <a:rPr lang="es-PE" sz="900" b="0" i="0" dirty="0">
                    <a:solidFill>
                      <a:schemeClr val="tx1"/>
                    </a:solidFill>
                    <a:effectLst/>
                    <a:latin typeface="Segoe WPC"/>
                  </a:rPr>
                  <a:t> </a:t>
                </a:r>
                <a:r>
                  <a:rPr lang="es-PE" sz="900" b="0" i="0" dirty="0" err="1">
                    <a:solidFill>
                      <a:schemeClr val="tx1"/>
                    </a:solidFill>
                    <a:effectLst/>
                    <a:latin typeface="Segoe WPC"/>
                  </a:rPr>
                  <a:t>increase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𝑍</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𝑍</m:t>
                        </m:r>
                      </m:e>
                      <m:sub>
                        <m:r>
                          <a:rPr lang="ar-AE" sz="900" i="1">
                            <a:solidFill>
                              <a:schemeClr val="tx1"/>
                            </a:solidFill>
                            <a:latin typeface="Cambria Math" panose="02040503050406030204" pitchFamily="18" charset="0"/>
                          </a:rPr>
                          <m:t>𝜈</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𝑁</m:t>
                    </m:r>
                    <m:d>
                      <m:dPr>
                        <m:sep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0</m:t>
                        </m:r>
                      </m:e>
                      <m:e>
                        <m:r>
                          <a:rPr lang="ar-AE" sz="900" i="0">
                            <a:solidFill>
                              <a:schemeClr val="tx1"/>
                            </a:solidFill>
                            <a:latin typeface="Cambria Math" panose="02040503050406030204" pitchFamily="18" charset="0"/>
                          </a:rPr>
                          <m:t>1</m:t>
                        </m:r>
                      </m:e>
                    </m:d>
                  </m:oMath>
                </a14:m>
                <a:r>
                  <a:rPr lang="ar-AE" sz="900" b="0" i="0" dirty="0">
                    <a:solidFill>
                      <a:schemeClr val="tx1"/>
                    </a:solidFill>
                    <a:effectLst/>
                    <a:latin typeface="Segoe WPC"/>
                  </a:rPr>
                  <a:t> </a:t>
                </a:r>
                <a:r>
                  <a:rPr lang="es-PE" sz="900" b="0" i="0" dirty="0" err="1">
                    <a:solidFill>
                      <a:schemeClr val="tx1"/>
                    </a:solidFill>
                    <a:effectLst/>
                    <a:latin typeface="Segoe WPC"/>
                  </a:rPr>
                  <a:t>independently</a:t>
                </a:r>
                <a:r>
                  <a:rPr lang="es-PE" sz="900" b="0" i="0" dirty="0">
                    <a:solidFill>
                      <a:schemeClr val="tx1"/>
                    </a:solidFill>
                    <a:effectLst/>
                    <a:latin typeface="Segoe WPC"/>
                  </a:rPr>
                  <a:t>, </a:t>
                </a:r>
                <a:r>
                  <a:rPr lang="es-PE" sz="900" b="0" i="0" dirty="0" err="1">
                    <a:solidFill>
                      <a:schemeClr val="tx1"/>
                    </a:solidFill>
                    <a:effectLst/>
                    <a:latin typeface="Segoe WPC"/>
                  </a:rPr>
                  <a:t>then</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𝜈</m:t>
                          </m:r>
                        </m:sup>
                        <m:e>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𝑍</m:t>
                              </m:r>
                            </m:e>
                            <m:sub>
                              <m:r>
                                <a:rPr lang="ar-AE" sz="900" i="1">
                                  <a:solidFill>
                                    <a:schemeClr val="tx1"/>
                                  </a:solidFill>
                                  <a:latin typeface="Cambria Math" panose="02040503050406030204" pitchFamily="18" charset="0"/>
                                </a:rPr>
                                <m:t>𝑖</m:t>
                              </m:r>
                            </m:sub>
                            <m:sup>
                              <m:r>
                                <a:rPr lang="ar-AE" sz="900" i="0">
                                  <a:solidFill>
                                    <a:schemeClr val="tx1"/>
                                  </a:solidFill>
                                  <a:latin typeface="Cambria Math" panose="02040503050406030204" pitchFamily="18" charset="0"/>
                                </a:rPr>
                                <m:t>2</m:t>
                              </m:r>
                            </m:sup>
                          </m:sSubSup>
                        </m:e>
                      </m:nary>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𝜒</m:t>
                          </m:r>
                        </m:e>
                        <m:sub>
                          <m:r>
                            <a:rPr lang="ar-AE" sz="900" i="1">
                              <a:solidFill>
                                <a:schemeClr val="tx1"/>
                              </a:solidFill>
                              <a:latin typeface="Cambria Math" panose="02040503050406030204" pitchFamily="18" charset="0"/>
                            </a:rPr>
                            <m:t>𝜈</m:t>
                          </m:r>
                        </m:sub>
                        <m:sup>
                          <m:r>
                            <a:rPr lang="ar-AE" sz="900" i="0">
                              <a:solidFill>
                                <a:schemeClr val="tx1"/>
                              </a:solidFill>
                              <a:latin typeface="Cambria Math" panose="02040503050406030204" pitchFamily="18" charset="0"/>
                            </a:rPr>
                            <m:t>2</m:t>
                          </m:r>
                        </m:sup>
                      </m:sSubSup>
                    </m:oMath>
                    <m:oMath xmlns:m="http://schemas.openxmlformats.org/officeDocument/2006/math">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𝜈</m:t>
                      </m:r>
                      <m:r>
                        <a:rPr lang="ar-AE" sz="900" i="0">
                          <a:solidFill>
                            <a:schemeClr val="tx1"/>
                          </a:solidFill>
                          <a:latin typeface="Cambria Math" panose="02040503050406030204" pitchFamily="18" charset="0"/>
                        </a:rPr>
                        <m:t>, </m:t>
                      </m:r>
                      <m:r>
                        <a:rPr lang="ar-A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r>
                        <a:rPr lang="ar-AE" sz="900" i="1">
                          <a:solidFill>
                            <a:schemeClr val="tx1"/>
                          </a:solidFill>
                          <a:latin typeface="Cambria Math" panose="02040503050406030204" pitchFamily="18" charset="0"/>
                        </a:rPr>
                        <m:t>𝜈</m:t>
                      </m:r>
                    </m:oMath>
                  </m:oMathPara>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Important</a:t>
                </a:r>
                <a:r>
                  <a:rPr lang="es-PE" sz="900" b="0" i="0" dirty="0">
                    <a:solidFill>
                      <a:schemeClr val="tx1"/>
                    </a:solidFill>
                    <a:effectLst/>
                    <a:latin typeface="Segoe WPC"/>
                  </a:rPr>
                  <a:t> in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estimation</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diagnostics</a:t>
                </a:r>
                <a:r>
                  <a:rPr lang="es-PE" sz="900" b="0" i="0" dirty="0">
                    <a:solidFill>
                      <a:schemeClr val="tx1"/>
                    </a:solidFill>
                    <a:effectLst/>
                    <a:latin typeface="Segoe WPC"/>
                  </a:rPr>
                  <a:t>, and </a:t>
                </a:r>
                <a:r>
                  <a:rPr lang="es-PE" sz="900" b="0" i="0" dirty="0" err="1">
                    <a:solidFill>
                      <a:schemeClr val="tx1"/>
                    </a:solidFill>
                    <a:effectLst/>
                    <a:latin typeface="Segoe WPC"/>
                  </a:rPr>
                  <a:t>statistical</a:t>
                </a:r>
                <a:r>
                  <a:rPr lang="es-PE" sz="900" b="0" i="0" dirty="0">
                    <a:solidFill>
                      <a:schemeClr val="tx1"/>
                    </a:solidFill>
                    <a:effectLst/>
                    <a:latin typeface="Segoe WPC"/>
                  </a:rPr>
                  <a:t> </a:t>
                </a:r>
                <a:r>
                  <a:rPr lang="es-PE" sz="900" b="0" i="0" dirty="0" err="1">
                    <a:solidFill>
                      <a:schemeClr val="tx1"/>
                    </a:solidFill>
                    <a:effectLst/>
                    <a:latin typeface="Segoe WPC"/>
                  </a:rPr>
                  <a:t>testing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takes</a:t>
                </a:r>
                <a:r>
                  <a:rPr lang="es-PE" sz="900" b="0" i="0" dirty="0">
                    <a:solidFill>
                      <a:schemeClr val="tx1"/>
                    </a:solidFill>
                    <a:effectLst/>
                    <a:latin typeface="Segoe WPC"/>
                  </a:rPr>
                  <a:t> positive </a:t>
                </a:r>
                <a:r>
                  <a:rPr lang="es-PE" sz="900" b="0" i="0" dirty="0" err="1">
                    <a:solidFill>
                      <a:schemeClr val="tx1"/>
                    </a:solidFill>
                    <a:effectLst/>
                    <a:latin typeface="Segoe WPC"/>
                  </a:rPr>
                  <a:t>values</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confuse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normal.</a:t>
                </a:r>
              </a:p>
            </p:txBody>
          </p:sp>
        </mc:Choice>
        <mc:Fallback xmlns="">
          <p:sp>
            <p:nvSpPr>
              <p:cNvPr id="8" name="CuadroTexto 7">
                <a:extLst>
                  <a:ext uri="{FF2B5EF4-FFF2-40B4-BE49-F238E27FC236}">
                    <a16:creationId xmlns:a16="http://schemas.microsoft.com/office/drawing/2014/main" id="{A7252649-D90C-BB2F-E53E-C3B03E42F622}"/>
                  </a:ext>
                </a:extLst>
              </p:cNvPr>
              <p:cNvSpPr txBox="1">
                <a:spLocks noRot="1" noChangeAspect="1" noMove="1" noResize="1" noEditPoints="1" noAdjustHandles="1" noChangeArrowheads="1" noChangeShapeType="1" noTextEdit="1"/>
              </p:cNvSpPr>
              <p:nvPr/>
            </p:nvSpPr>
            <p:spPr>
              <a:xfrm>
                <a:off x="6584950" y="85584"/>
                <a:ext cx="6143624" cy="5397119"/>
              </a:xfrm>
              <a:prstGeom prst="rect">
                <a:avLst/>
              </a:prstGeom>
              <a:blipFill>
                <a:blip r:embed="rId3"/>
                <a:stretch>
                  <a:fillRect b="-5085"/>
                </a:stretch>
              </a:blipFill>
            </p:spPr>
            <p:txBody>
              <a:bodyPr/>
              <a:lstStyle/>
              <a:p>
                <a:r>
                  <a:rPr lang="es-PE">
                    <a:noFill/>
                  </a:rPr>
                  <a:t> </a:t>
                </a:r>
              </a:p>
            </p:txBody>
          </p:sp>
        </mc:Fallback>
      </mc:AlternateContent>
    </p:spTree>
    <p:extLst>
      <p:ext uri="{BB962C8B-B14F-4D97-AF65-F5344CB8AC3E}">
        <p14:creationId xmlns:p14="http://schemas.microsoft.com/office/powerpoint/2010/main" val="3979194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DAC6CAD4-26D3-0DB9-B2F7-795B1763189C}"/>
                  </a:ext>
                </a:extLst>
              </p:cNvPr>
              <p:cNvSpPr txBox="1"/>
              <p:nvPr/>
            </p:nvSpPr>
            <p:spPr>
              <a:xfrm>
                <a:off x="274804" y="435300"/>
                <a:ext cx="5306846" cy="5040932"/>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8. </a:t>
                </a:r>
                <a:r>
                  <a:rPr lang="es-PE" sz="900" b="1" i="0" dirty="0" err="1">
                    <a:solidFill>
                      <a:schemeClr val="tx1"/>
                    </a:solidFill>
                    <a:effectLst/>
                    <a:latin typeface="Segoe WPC"/>
                  </a:rPr>
                  <a:t>Student’s</a:t>
                </a:r>
                <a:r>
                  <a:rPr lang="es-PE" sz="900" b="1" i="0" dirty="0">
                    <a:solidFill>
                      <a:schemeClr val="tx1"/>
                    </a:solidFill>
                    <a:effectLst/>
                    <a:latin typeface="Segoe WPC"/>
                  </a:rPr>
                  <a:t> t </a:t>
                </a:r>
                <a:r>
                  <a:rPr lang="es-PE" sz="900" b="1" i="0" dirty="0" err="1">
                    <a:solidFill>
                      <a:schemeClr val="tx1"/>
                    </a:solidFill>
                    <a:effectLst/>
                    <a:latin typeface="Segoe WPC"/>
                  </a:rPr>
                  <a:t>Distribution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heavy-</a:t>
                </a:r>
                <a:r>
                  <a:rPr lang="es-PE" sz="900" b="0" i="0" dirty="0" err="1">
                    <a:solidFill>
                      <a:schemeClr val="tx1"/>
                    </a:solidFill>
                    <a:effectLst/>
                    <a:latin typeface="Segoe WPC"/>
                  </a:rPr>
                  <a:t>tailed</a:t>
                </a:r>
                <a:r>
                  <a:rPr lang="es-PE" sz="900" b="0" i="0" dirty="0">
                    <a:solidFill>
                      <a:schemeClr val="tx1"/>
                    </a:solidFill>
                    <a:effectLst/>
                    <a:latin typeface="Segoe WPC"/>
                  </a:rPr>
                  <a:t> alternative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normal </a:t>
                </a:r>
                <a:r>
                  <a:rPr lang="es-PE" sz="900" b="0" i="0" dirty="0" err="1">
                    <a:solidFill>
                      <a:schemeClr val="tx1"/>
                    </a:solidFill>
                    <a:effectLst/>
                    <a:latin typeface="Segoe WPC"/>
                  </a:rPr>
                  <a:t>controlled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degrees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freedom</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𝜈</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looks </a:t>
                </a:r>
                <a:r>
                  <a:rPr lang="es-PE" sz="900" b="0" i="0" dirty="0" err="1">
                    <a:solidFill>
                      <a:schemeClr val="tx1"/>
                    </a:solidFill>
                    <a:effectLst/>
                    <a:latin typeface="Segoe WPC"/>
                  </a:rPr>
                  <a:t>like</a:t>
                </a:r>
                <a:r>
                  <a:rPr lang="es-PE" sz="900" b="0" i="0" dirty="0">
                    <a:solidFill>
                      <a:schemeClr val="tx1"/>
                    </a:solidFill>
                    <a:effectLst/>
                    <a:latin typeface="Segoe WPC"/>
                  </a:rPr>
                  <a:t> a normal,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fatter</a:t>
                </a:r>
                <a:r>
                  <a:rPr lang="es-PE" sz="900" b="0" i="0" dirty="0">
                    <a:solidFill>
                      <a:schemeClr val="tx1"/>
                    </a:solidFill>
                    <a:effectLst/>
                    <a:latin typeface="Segoe WPC"/>
                  </a:rPr>
                  <a:t> </a:t>
                </a:r>
                <a:r>
                  <a:rPr lang="es-PE" sz="900" b="0" i="0" dirty="0" err="1">
                    <a:solidFill>
                      <a:schemeClr val="tx1"/>
                    </a:solidFill>
                    <a:effectLst/>
                    <a:latin typeface="Segoe WPC"/>
                  </a:rPr>
                  <a:t>tails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Bell-</a:t>
                </a:r>
                <a:r>
                  <a:rPr lang="es-PE" sz="900" b="0" i="0" dirty="0" err="1">
                    <a:solidFill>
                      <a:schemeClr val="tx1"/>
                    </a:solidFill>
                    <a:effectLst/>
                    <a:latin typeface="Segoe WPC"/>
                  </a:rPr>
                  <a:t>shaped</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normal,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more </a:t>
                </a:r>
                <a:r>
                  <a:rPr lang="es-PE" sz="900" b="0" i="0" dirty="0" err="1">
                    <a:solidFill>
                      <a:schemeClr val="tx1"/>
                    </a:solidFill>
                    <a:effectLst/>
                    <a:latin typeface="Segoe WPC"/>
                  </a:rPr>
                  <a:t>probability</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tails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𝑡</m:t>
                          </m:r>
                        </m:e>
                        <m:sub>
                          <m:r>
                            <a:rPr lang="ar-AE" sz="900" i="1">
                              <a:solidFill>
                                <a:schemeClr val="tx1"/>
                              </a:solidFill>
                              <a:latin typeface="Cambria Math" panose="02040503050406030204" pitchFamily="18" charset="0"/>
                            </a:rPr>
                            <m:t>𝜈</m:t>
                          </m:r>
                        </m:sub>
                      </m:sSub>
                    </m:oMath>
                    <m:oMath xmlns:m="http://schemas.openxmlformats.org/officeDocument/2006/math">
                      <m:r>
                        <a:rPr lang="ar-AE" sz="900" i="1">
                          <a:solidFill>
                            <a:schemeClr val="tx1"/>
                          </a:solidFill>
                          <a:latin typeface="Cambria Math" panose="02040503050406030204" pitchFamily="18" charset="0"/>
                        </a:rPr>
                        <m:t>𝑌</m:t>
                      </m:r>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𝑍</m:t>
                          </m:r>
                        </m:num>
                        <m:den>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𝑊</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𝜈</m:t>
                              </m:r>
                            </m:e>
                          </m:rad>
                        </m:den>
                      </m:f>
                    </m:oMath>
                  </m:oMathPara>
                </a14:m>
                <a:br>
                  <a:rPr lang="ar-AE" sz="900" b="0" i="0" dirty="0">
                    <a:solidFill>
                      <a:schemeClr val="tx1"/>
                    </a:solidFill>
                    <a:effectLst/>
                    <a:latin typeface="Segoe WPC"/>
                  </a:rPr>
                </a:br>
                <a:r>
                  <a:rPr lang="es-PE" sz="900" b="0" i="0" dirty="0" err="1">
                    <a:solidFill>
                      <a:schemeClr val="tx1"/>
                    </a:solidFill>
                    <a:effectLst/>
                    <a:latin typeface="Segoe WPC"/>
                  </a:rPr>
                  <a:t>where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𝑍</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𝑁</m:t>
                    </m:r>
                    <m:d>
                      <m:dPr>
                        <m:sep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0</m:t>
                        </m:r>
                      </m:e>
                      <m:e>
                        <m:r>
                          <a:rPr lang="ar-AE" sz="900" i="0">
                            <a:solidFill>
                              <a:schemeClr val="tx1"/>
                            </a:solidFill>
                            <a:latin typeface="Cambria Math" panose="02040503050406030204" pitchFamily="18" charset="0"/>
                          </a:rPr>
                          <m:t>1</m:t>
                        </m:r>
                      </m:e>
                    </m:d>
                  </m:oMath>
                </a14:m>
                <a:r>
                  <a:rPr lang="ar-AE" sz="900" b="0" i="0" dirty="0">
                    <a:solidFill>
                      <a:schemeClr val="tx1"/>
                    </a:solidFill>
                    <a:effectLst/>
                    <a:latin typeface="Segoe WPC"/>
                  </a:rPr>
                  <a:t>, </a:t>
                </a:r>
                <a14:m>
                  <m:oMath xmlns:m="http://schemas.openxmlformats.org/officeDocument/2006/math">
                    <m:r>
                      <a:rPr lang="ar-AE" sz="900" i="1">
                        <a:solidFill>
                          <a:schemeClr val="tx1"/>
                        </a:solidFill>
                        <a:latin typeface="Cambria Math" panose="02040503050406030204" pitchFamily="18" charset="0"/>
                      </a:rPr>
                      <m:t>𝑊</m:t>
                    </m:r>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𝜒</m:t>
                        </m:r>
                      </m:e>
                      <m:sub>
                        <m:r>
                          <a:rPr lang="ar-AE" sz="900" i="1">
                            <a:solidFill>
                              <a:schemeClr val="tx1"/>
                            </a:solidFill>
                            <a:latin typeface="Cambria Math" panose="02040503050406030204" pitchFamily="18" charset="0"/>
                          </a:rPr>
                          <m:t>𝜈</m:t>
                        </m:r>
                      </m:sub>
                      <m:sup>
                        <m:r>
                          <a:rPr lang="ar-AE" sz="900" i="0">
                            <a:solidFill>
                              <a:schemeClr val="tx1"/>
                            </a:solidFill>
                            <a:latin typeface="Cambria Math" panose="02040503050406030204" pitchFamily="18" charset="0"/>
                          </a:rPr>
                          <m:t>2</m:t>
                        </m:r>
                      </m:sup>
                    </m:sSubSup>
                  </m:oMath>
                </a14:m>
                <a:r>
                  <a:rPr lang="ar-AE" sz="900" b="0" i="0" dirty="0">
                    <a:solidFill>
                      <a:schemeClr val="tx1"/>
                    </a:solidFill>
                    <a:effectLst/>
                    <a:latin typeface="Segoe WPC"/>
                  </a:rPr>
                  <a:t>, </a:t>
                </a:r>
                <a:r>
                  <a:rPr lang="es-PE" sz="900" b="0" i="0" dirty="0">
                    <a:solidFill>
                      <a:schemeClr val="tx1"/>
                    </a:solidFill>
                    <a:effectLst/>
                    <a:latin typeface="Segoe WPC"/>
                  </a:rPr>
                  <a:t>and </a:t>
                </a:r>
                <a14:m>
                  <m:oMath xmlns:m="http://schemas.openxmlformats.org/officeDocument/2006/math">
                    <m:r>
                      <a:rPr lang="es-PE" sz="900" i="1">
                        <a:solidFill>
                          <a:schemeClr val="tx1"/>
                        </a:solidFill>
                        <a:latin typeface="Cambria Math" panose="02040503050406030204" pitchFamily="18" charset="0"/>
                      </a:rPr>
                      <m:t>𝑍</m:t>
                    </m:r>
                  </m:oMath>
                </a14:m>
                <a:r>
                  <a:rPr lang="es-PE" sz="900" b="0" i="0" dirty="0">
                    <a:solidFill>
                      <a:schemeClr val="tx1"/>
                    </a:solidFill>
                    <a:effectLst/>
                    <a:latin typeface="Segoe WPC"/>
                  </a:rPr>
                  <a:t> and </a:t>
                </a:r>
                <a14:m>
                  <m:oMath xmlns:m="http://schemas.openxmlformats.org/officeDocument/2006/math">
                    <m:r>
                      <a:rPr lang="es-PE" sz="900" i="1">
                        <a:solidFill>
                          <a:schemeClr val="tx1"/>
                        </a:solidFill>
                        <a:latin typeface="Cambria Math" panose="02040503050406030204" pitchFamily="18" charset="0"/>
                      </a:rPr>
                      <m:t>𝑊</m:t>
                    </m:r>
                  </m:oMath>
                </a14:m>
                <a:r>
                  <a:rPr lang="es-PE" sz="900" b="0" i="0" dirty="0">
                    <a:solidFill>
                      <a:schemeClr val="tx1"/>
                    </a:solidFill>
                    <a:effectLst/>
                    <a:latin typeface="Segoe WPC"/>
                  </a:rPr>
                  <a:t> are </a:t>
                </a:r>
                <a:r>
                  <a:rPr lang="es-PE" sz="900" b="0" i="0" dirty="0" err="1">
                    <a:solidFill>
                      <a:schemeClr val="tx1"/>
                    </a:solidFill>
                    <a:effectLst/>
                    <a:latin typeface="Segoe WPC"/>
                  </a:rPr>
                  <a:t>independent</a:t>
                </a:r>
                <a:br>
                  <a:rPr lang="es-PE" sz="900" b="0" i="0" dirty="0">
                    <a:solidFill>
                      <a:schemeClr val="tx1"/>
                    </a:solidFill>
                    <a:effectLst/>
                    <a:latin typeface="Segoe WPC"/>
                  </a:rPr>
                </a:br>
                <a14:m>
                  <m:oMath xmlns:m="http://schemas.openxmlformats.org/officeDocument/2006/math">
                    <m:r>
                      <a:rPr lang="es-P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𝜈</m:t>
                    </m:r>
                    <m:r>
                      <a:rPr lang="es-PE" sz="900" i="0">
                        <a:solidFill>
                          <a:schemeClr val="tx1"/>
                        </a:solidFill>
                        <a:latin typeface="Cambria Math" panose="02040503050406030204" pitchFamily="18" charset="0"/>
                      </a:rPr>
                      <m:t>&gt;</m:t>
                    </m:r>
                    <m:r>
                      <a:rPr lang="es-PE" sz="900" i="0">
                        <a:solidFill>
                          <a:schemeClr val="tx1"/>
                        </a:solidFill>
                        <a:latin typeface="Cambria Math" panose="02040503050406030204" pitchFamily="18" charset="0"/>
                      </a:rPr>
                      <m:t>1</m:t>
                    </m:r>
                  </m:oMath>
                </a14:m>
                <a:br>
                  <a:rPr lang="es-PE" sz="900" b="0" i="0" dirty="0">
                    <a:solidFill>
                      <a:schemeClr val="tx1"/>
                    </a:solidFill>
                    <a:effectLst/>
                    <a:latin typeface="Segoe WPC"/>
                  </a:rPr>
                </a:br>
                <a14:m>
                  <m:oMath xmlns:m="http://schemas.openxmlformats.org/officeDocument/2006/math">
                    <m:r>
                      <a:rPr lang="es-P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𝜈</m:t>
                        </m:r>
                      </m:num>
                      <m:den>
                        <m:r>
                          <a:rPr lang="ar-AE" sz="900" i="1">
                            <a:solidFill>
                              <a:schemeClr val="tx1"/>
                            </a:solidFill>
                            <a:latin typeface="Cambria Math" panose="02040503050406030204" pitchFamily="18" charset="0"/>
                          </a:rPr>
                          <m:t>𝜈</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den>
                    </m:f>
                  </m:oMath>
                </a14:m>
                <a:r>
                  <a:rPr lang="ar-A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𝜈</m:t>
                    </m:r>
                    <m:r>
                      <a:rPr lang="es-PE" sz="900" i="0">
                        <a:solidFill>
                          <a:schemeClr val="tx1"/>
                        </a:solidFill>
                        <a:latin typeface="Cambria Math" panose="02040503050406030204" pitchFamily="18" charset="0"/>
                      </a:rPr>
                      <m:t>&gt;</m:t>
                    </m:r>
                    <m:r>
                      <a:rPr lang="es-PE" sz="900" i="0">
                        <a:solidFill>
                          <a:schemeClr val="tx1"/>
                        </a:solidFill>
                        <a:latin typeface="Cambria Math" panose="02040503050406030204" pitchFamily="18" charset="0"/>
                      </a:rPr>
                      <m:t>2</m:t>
                    </m:r>
                  </m:oMath>
                </a14:m>
                <a:br>
                  <a:rPr lang="es-PE" sz="900" b="0" i="0" dirty="0">
                    <a:solidFill>
                      <a:schemeClr val="tx1"/>
                    </a:solidFill>
                    <a:effectLst/>
                    <a:latin typeface="Segoe WPC"/>
                  </a:rPr>
                </a:br>
                <a14:m>
                  <m:oMath xmlns:m="http://schemas.openxmlformats.org/officeDocument/2006/math">
                    <m:r>
                      <m:rPr>
                        <m:nor/>
                      </m:rPr>
                      <a:rPr lang="es-PE" sz="900" b="0">
                        <a:solidFill>
                          <a:schemeClr val="tx1"/>
                        </a:solidFill>
                      </a:rPr>
                      <m:t>kurtosis</m:t>
                    </m:r>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𝑌</m:t>
                        </m:r>
                      </m:e>
                    </m:d>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3</m:t>
                    </m:r>
                    <m:r>
                      <a:rPr lang="ar-AE" sz="900" b="0" i="0">
                        <a:solidFill>
                          <a:schemeClr val="tx1"/>
                        </a:solidFill>
                        <a:latin typeface="Cambria Math" panose="02040503050406030204" pitchFamily="18" charset="0"/>
                      </a:rPr>
                      <m:t>+</m:t>
                    </m:r>
                    <m:f>
                      <m:fPr>
                        <m:ctrlPr>
                          <a:rPr lang="ar-AE" sz="900" b="0" i="1">
                            <a:solidFill>
                              <a:schemeClr val="tx1"/>
                            </a:solidFill>
                            <a:latin typeface="Cambria Math" panose="02040503050406030204" pitchFamily="18" charset="0"/>
                          </a:rPr>
                        </m:ctrlPr>
                      </m:fPr>
                      <m:num>
                        <m:r>
                          <a:rPr lang="ar-AE" sz="900" b="0" i="0">
                            <a:solidFill>
                              <a:schemeClr val="tx1"/>
                            </a:solidFill>
                            <a:latin typeface="Cambria Math" panose="02040503050406030204" pitchFamily="18" charset="0"/>
                          </a:rPr>
                          <m:t>6</m:t>
                        </m:r>
                      </m:num>
                      <m:den>
                        <m:r>
                          <a:rPr lang="ar-AE" sz="900" b="0" i="1">
                            <a:solidFill>
                              <a:schemeClr val="tx1"/>
                            </a:solidFill>
                            <a:latin typeface="Cambria Math" panose="02040503050406030204" pitchFamily="18" charset="0"/>
                          </a:rPr>
                          <m:t>𝜈</m:t>
                        </m:r>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4</m:t>
                        </m:r>
                      </m:den>
                    </m:f>
                  </m:oMath>
                </a14:m>
                <a:r>
                  <a:rPr lang="ar-A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𝜈</m:t>
                    </m:r>
                    <m:r>
                      <a:rPr lang="es-PE" sz="900" i="0">
                        <a:solidFill>
                          <a:schemeClr val="tx1"/>
                        </a:solidFill>
                        <a:latin typeface="Cambria Math" panose="02040503050406030204" pitchFamily="18" charset="0"/>
                      </a:rPr>
                      <m:t>&gt;</m:t>
                    </m:r>
                    <m:r>
                      <a:rPr lang="es-PE" sz="900" i="0">
                        <a:solidFill>
                          <a:schemeClr val="tx1"/>
                        </a:solidFill>
                        <a:latin typeface="Cambria Math" panose="02040503050406030204" pitchFamily="18" charset="0"/>
                      </a:rPr>
                      <m:t>4</m:t>
                    </m:r>
                  </m:oMath>
                </a14:m>
                <a:br>
                  <a:rPr lang="es-PE" sz="900" b="0" i="0" dirty="0">
                    <a:solidFill>
                      <a:schemeClr val="tx1"/>
                    </a:solidFill>
                    <a:effectLst/>
                    <a:latin typeface="Segoe WPC"/>
                  </a:rPr>
                </a:br>
                <a:r>
                  <a:rPr lang="es-PE" sz="900" b="0" i="0" dirty="0" err="1">
                    <a:solidFill>
                      <a:schemeClr val="tx1"/>
                    </a:solidFill>
                    <a:effectLst/>
                    <a:latin typeface="Segoe WPC"/>
                  </a:rPr>
                  <a:t>Limit</a:t>
                </a:r>
                <a:r>
                  <a:rPr lang="es-PE" sz="900" b="0" i="0" dirty="0">
                    <a:solidFill>
                      <a:schemeClr val="tx1"/>
                    </a:solidFill>
                    <a:effectLst/>
                    <a:latin typeface="Segoe WPC"/>
                  </a:rPr>
                  <a:t> </a:t>
                </a:r>
                <a:r>
                  <a:rPr lang="es-PE" sz="900" b="0" i="0" dirty="0" err="1">
                    <a:solidFill>
                      <a:schemeClr val="tx1"/>
                    </a:solidFill>
                    <a:effectLst/>
                    <a:latin typeface="Segoe WPC"/>
                  </a:rPr>
                  <a:t>result</a:t>
                </a:r>
                <a:r>
                  <a:rPr lang="es-PE" sz="900" b="0" i="0" dirty="0">
                    <a:solidFill>
                      <a:schemeClr val="tx1"/>
                    </a:solidFill>
                    <a:effectLst/>
                    <a:latin typeface="Segoe WPC"/>
                  </a:rPr>
                  <a:t>:</a:t>
                </a:r>
                <a:br>
                  <a:rPr lang="es-PE" sz="900" b="0" i="0" dirty="0">
                    <a:solidFill>
                      <a:schemeClr val="tx1"/>
                    </a:solidFill>
                    <a:effectLst/>
                    <a:latin typeface="Segoe WPC"/>
                  </a:rPr>
                </a:b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𝑡</m:t>
                        </m:r>
                      </m:e>
                      <m:sub>
                        <m:r>
                          <a:rPr lang="ar-AE" sz="900" i="1">
                            <a:solidFill>
                              <a:schemeClr val="tx1"/>
                            </a:solidFill>
                            <a:latin typeface="Cambria Math" panose="02040503050406030204" pitchFamily="18" charset="0"/>
                          </a:rPr>
                          <m:t>𝜈</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𝑁</m:t>
                    </m:r>
                    <m:d>
                      <m:dPr>
                        <m:sep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0</m:t>
                        </m:r>
                      </m:e>
                      <m:e>
                        <m:r>
                          <a:rPr lang="ar-AE" sz="900" i="0">
                            <a:solidFill>
                              <a:schemeClr val="tx1"/>
                            </a:solidFill>
                            <a:latin typeface="Cambria Math" panose="02040503050406030204" pitchFamily="18" charset="0"/>
                          </a:rPr>
                          <m:t>1</m:t>
                        </m:r>
                      </m:e>
                    </m:d>
                  </m:oMath>
                </a14:m>
                <a:r>
                  <a:rPr lang="ar-AE" sz="900" b="0" i="0" dirty="0">
                    <a:solidFill>
                      <a:schemeClr val="tx1"/>
                    </a:solidFill>
                    <a:effectLst/>
                    <a:latin typeface="Segoe WPC"/>
                  </a:rPr>
                  <a:t> </a:t>
                </a:r>
                <a:r>
                  <a:rPr lang="es-PE" sz="900" b="0" i="0" dirty="0">
                    <a:solidFill>
                      <a:schemeClr val="tx1"/>
                    </a:solidFill>
                    <a:effectLst/>
                    <a:latin typeface="Segoe WPC"/>
                  </a:rPr>
                  <a:t>as </a:t>
                </a:r>
                <a14:m>
                  <m:oMath xmlns:m="http://schemas.openxmlformats.org/officeDocument/2006/math">
                    <m:r>
                      <a:rPr lang="es-PE" sz="900" i="1">
                        <a:solidFill>
                          <a:schemeClr val="tx1"/>
                        </a:solidFill>
                        <a:latin typeface="Cambria Math" panose="02040503050406030204" pitchFamily="18" charset="0"/>
                      </a:rPr>
                      <m:t>𝜈</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are heavy-</a:t>
                </a:r>
                <a:r>
                  <a:rPr lang="es-PE" sz="900" b="0" i="0" dirty="0" err="1">
                    <a:solidFill>
                      <a:schemeClr val="tx1"/>
                    </a:solidFill>
                    <a:effectLst/>
                    <a:latin typeface="Segoe WPC"/>
                  </a:rPr>
                  <a:t>tailed</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samples</a:t>
                </a:r>
                <a:r>
                  <a:rPr lang="es-PE" sz="900" b="0" i="0" dirty="0">
                    <a:solidFill>
                      <a:schemeClr val="tx1"/>
                    </a:solidFill>
                    <a:effectLst/>
                    <a:latin typeface="Segoe WPC"/>
                  </a:rPr>
                  <a:t> are </a:t>
                </a:r>
                <a:r>
                  <a:rPr lang="es-PE" sz="900" b="0" i="0" dirty="0" err="1">
                    <a:solidFill>
                      <a:schemeClr val="tx1"/>
                    </a:solidFill>
                    <a:effectLst/>
                    <a:latin typeface="Segoe WPC"/>
                  </a:rPr>
                  <a:t>small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Mean, </a:t>
                </a:r>
                <a:r>
                  <a:rPr lang="es-PE" sz="900" b="0" i="0" dirty="0" err="1">
                    <a:solidFill>
                      <a:schemeClr val="tx1"/>
                    </a:solidFill>
                    <a:effectLst/>
                    <a:latin typeface="Segoe WPC"/>
                  </a:rPr>
                  <a:t>variance</a:t>
                </a:r>
                <a:r>
                  <a:rPr lang="es-PE" sz="900" b="0" i="0" dirty="0">
                    <a:solidFill>
                      <a:schemeClr val="tx1"/>
                    </a:solidFill>
                    <a:effectLst/>
                    <a:latin typeface="Segoe WPC"/>
                  </a:rPr>
                  <a:t>, and </a:t>
                </a:r>
                <a:r>
                  <a:rPr lang="es-PE" sz="900" b="0" i="0" dirty="0" err="1">
                    <a:solidFill>
                      <a:schemeClr val="tx1"/>
                    </a:solidFill>
                    <a:effectLst/>
                    <a:latin typeface="Segoe WPC"/>
                  </a:rPr>
                  <a:t>kurtosis</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always</a:t>
                </a:r>
                <a:r>
                  <a:rPr lang="es-PE" sz="900" b="0" i="0" dirty="0">
                    <a:solidFill>
                      <a:schemeClr val="tx1"/>
                    </a:solidFill>
                    <a:effectLst/>
                    <a:latin typeface="Segoe WPC"/>
                  </a:rPr>
                  <a:t> </a:t>
                </a:r>
                <a:r>
                  <a:rPr lang="es-PE" sz="900" b="0" i="0" dirty="0" err="1">
                    <a:solidFill>
                      <a:schemeClr val="tx1"/>
                    </a:solidFill>
                    <a:effectLst/>
                    <a:latin typeface="Segoe WPC"/>
                  </a:rPr>
                  <a:t>exist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condition</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𝜈</m:t>
                    </m:r>
                  </m:oMath>
                </a14:m>
                <a:r>
                  <a:rPr lang="es-PE" sz="900" b="0" i="0" dirty="0">
                    <a:solidFill>
                      <a:schemeClr val="tx1"/>
                    </a:solidFill>
                    <a:effectLst/>
                    <a:latin typeface="Segoe WPC"/>
                  </a:rPr>
                  <a:t> </a:t>
                </a:r>
                <a:r>
                  <a:rPr lang="es-PE" sz="900" b="0" i="0" dirty="0" err="1">
                    <a:solidFill>
                      <a:schemeClr val="tx1"/>
                    </a:solidFill>
                    <a:effectLst/>
                    <a:latin typeface="Segoe WPC"/>
                  </a:rPr>
                  <a:t>matters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9. F </a:t>
                </a:r>
                <a:r>
                  <a:rPr lang="es-PE" sz="900" b="1" i="0" dirty="0" err="1">
                    <a:solidFill>
                      <a:schemeClr val="tx1"/>
                    </a:solidFill>
                    <a:effectLst/>
                    <a:latin typeface="Segoe WPC"/>
                  </a:rPr>
                  <a:t>Distribution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ratio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scaled</a:t>
                </a:r>
                <a:r>
                  <a:rPr lang="es-PE" sz="900" b="0" i="0" dirty="0">
                    <a:solidFill>
                      <a:schemeClr val="tx1"/>
                    </a:solidFill>
                    <a:effectLst/>
                    <a:latin typeface="Segoe WPC"/>
                  </a:rPr>
                  <a:t> chi-</a:t>
                </a:r>
                <a:r>
                  <a:rPr lang="es-PE" sz="900" b="0" i="0" dirty="0" err="1">
                    <a:solidFill>
                      <a:schemeClr val="tx1"/>
                    </a:solidFill>
                    <a:effectLst/>
                    <a:latin typeface="Segoe WPC"/>
                  </a:rPr>
                  <a:t>squared</a:t>
                </a:r>
                <a:r>
                  <a:rPr lang="es-PE" sz="900" b="0" i="0" dirty="0">
                    <a:solidFill>
                      <a:schemeClr val="tx1"/>
                    </a:solidFill>
                    <a:effectLst/>
                    <a:latin typeface="Segoe WPC"/>
                  </a:rPr>
                  <a:t> </a:t>
                </a:r>
                <a:r>
                  <a:rPr lang="es-PE" sz="900" b="0" i="0" dirty="0" err="1">
                    <a:solidFill>
                      <a:schemeClr val="tx1"/>
                    </a:solidFill>
                    <a:effectLst/>
                    <a:latin typeface="Segoe WPC"/>
                  </a:rPr>
                  <a:t>random</a:t>
                </a:r>
                <a:r>
                  <a:rPr lang="es-PE" sz="900" b="0" i="0" dirty="0">
                    <a:solidFill>
                      <a:schemeClr val="tx1"/>
                    </a:solidFill>
                    <a:effectLst/>
                    <a:latin typeface="Segoe WPC"/>
                  </a:rPr>
                  <a:t> variables.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compares relative </a:t>
                </a:r>
                <a:r>
                  <a:rPr lang="es-PE" sz="900" b="0" i="0" dirty="0" err="1">
                    <a:solidFill>
                      <a:schemeClr val="tx1"/>
                    </a:solidFill>
                    <a:effectLst/>
                    <a:latin typeface="Segoe WPC"/>
                  </a:rPr>
                  <a:t>variation</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sources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Positive-</a:t>
                </a:r>
                <a:r>
                  <a:rPr lang="es-PE" sz="900" b="0" i="0" dirty="0" err="1">
                    <a:solidFill>
                      <a:schemeClr val="tx1"/>
                    </a:solidFill>
                    <a:effectLst/>
                    <a:latin typeface="Segoe WPC"/>
                  </a:rPr>
                  <a:t>only</a:t>
                </a:r>
                <a:r>
                  <a:rPr lang="es-PE" sz="900" b="0" i="0" dirty="0">
                    <a:solidFill>
                      <a:schemeClr val="tx1"/>
                    </a:solidFill>
                    <a:effectLst/>
                    <a:latin typeface="Segoe WPC"/>
                  </a:rPr>
                  <a:t> and </a:t>
                </a:r>
                <a:r>
                  <a:rPr lang="es-PE" sz="900" b="0" i="0" dirty="0" err="1">
                    <a:solidFill>
                      <a:schemeClr val="tx1"/>
                    </a:solidFill>
                    <a:effectLst/>
                    <a:latin typeface="Segoe WPC"/>
                  </a:rPr>
                  <a:t>right-skewed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𝐹</m:t>
                          </m:r>
                        </m:e>
                        <m: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𝜈</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𝜈</m:t>
                              </m:r>
                            </m:e>
                            <m:sub>
                              <m:r>
                                <a:rPr lang="ar-AE" sz="900" i="0">
                                  <a:solidFill>
                                    <a:schemeClr val="tx1"/>
                                  </a:solidFill>
                                  <a:latin typeface="Cambria Math" panose="02040503050406030204" pitchFamily="18" charset="0"/>
                                </a:rPr>
                                <m:t>2</m:t>
                              </m:r>
                            </m:sub>
                          </m:sSub>
                        </m:sub>
                      </m:sSub>
                    </m:oMath>
                    <m:oMath xmlns:m="http://schemas.openxmlformats.org/officeDocument/2006/math">
                      <m:r>
                        <a:rPr lang="ar-AE" sz="900" i="1">
                          <a:solidFill>
                            <a:schemeClr val="tx1"/>
                          </a:solidFill>
                          <a:latin typeface="Cambria Math" panose="02040503050406030204" pitchFamily="18" charset="0"/>
                        </a:rPr>
                        <m:t>𝑌</m:t>
                      </m:r>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𝑊</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𝜈</m:t>
                              </m:r>
                            </m:e>
                            <m:sub>
                              <m:r>
                                <a:rPr lang="ar-AE" sz="900" i="0">
                                  <a:solidFill>
                                    <a:schemeClr val="tx1"/>
                                  </a:solidFill>
                                  <a:latin typeface="Cambria Math" panose="02040503050406030204" pitchFamily="18" charset="0"/>
                                </a:rPr>
                                <m:t>1</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𝑊</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𝜈</m:t>
                              </m:r>
                            </m:e>
                            <m:sub>
                              <m:r>
                                <a:rPr lang="ar-AE" sz="900" i="0">
                                  <a:solidFill>
                                    <a:schemeClr val="tx1"/>
                                  </a:solidFill>
                                  <a:latin typeface="Cambria Math" panose="02040503050406030204" pitchFamily="18" charset="0"/>
                                </a:rPr>
                                <m:t>2</m:t>
                              </m:r>
                            </m:sub>
                          </m:sSub>
                        </m:den>
                      </m:f>
                    </m:oMath>
                  </m:oMathPara>
                </a14:m>
                <a:br>
                  <a:rPr lang="ar-AE" sz="900" b="0" i="0" dirty="0">
                    <a:solidFill>
                      <a:schemeClr val="tx1"/>
                    </a:solidFill>
                    <a:effectLst/>
                    <a:latin typeface="Segoe WPC"/>
                  </a:rPr>
                </a:br>
                <a:r>
                  <a:rPr lang="es-PE" sz="900" b="0" i="0" dirty="0" err="1">
                    <a:solidFill>
                      <a:schemeClr val="tx1"/>
                    </a:solidFill>
                    <a:effectLst/>
                    <a:latin typeface="Segoe WPC"/>
                  </a:rPr>
                  <a:t>where</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𝑊</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𝜒</m:t>
                        </m:r>
                      </m:e>
                      <m: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𝜈</m:t>
                            </m:r>
                          </m:e>
                          <m:sub>
                            <m:r>
                              <a:rPr lang="ar-AE" sz="900" i="0">
                                <a:solidFill>
                                  <a:schemeClr val="tx1"/>
                                </a:solidFill>
                                <a:latin typeface="Cambria Math" panose="02040503050406030204" pitchFamily="18" charset="0"/>
                              </a:rPr>
                              <m:t>1</m:t>
                            </m:r>
                          </m:sub>
                        </m:sSub>
                      </m:sub>
                      <m:sup>
                        <m:r>
                          <a:rPr lang="ar-AE" sz="900" i="0">
                            <a:solidFill>
                              <a:schemeClr val="tx1"/>
                            </a:solidFill>
                            <a:latin typeface="Cambria Math" panose="02040503050406030204" pitchFamily="18" charset="0"/>
                          </a:rPr>
                          <m:t>2</m:t>
                        </m:r>
                      </m:sup>
                    </m:sSubSup>
                  </m:oMath>
                </a14:m>
                <a:r>
                  <a:rPr lang="ar-A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𝑊</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𝜒</m:t>
                        </m:r>
                      </m:e>
                      <m: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𝜈</m:t>
                            </m:r>
                          </m:e>
                          <m:sub>
                            <m:r>
                              <a:rPr lang="ar-AE" sz="900" i="0">
                                <a:solidFill>
                                  <a:schemeClr val="tx1"/>
                                </a:solidFill>
                                <a:latin typeface="Cambria Math" panose="02040503050406030204" pitchFamily="18" charset="0"/>
                              </a:rPr>
                              <m:t>2</m:t>
                            </m:r>
                          </m:sub>
                        </m:sSub>
                      </m:sub>
                      <m:sup>
                        <m:r>
                          <a:rPr lang="ar-AE" sz="900" i="0">
                            <a:solidFill>
                              <a:schemeClr val="tx1"/>
                            </a:solidFill>
                            <a:latin typeface="Cambria Math" panose="02040503050406030204" pitchFamily="18" charset="0"/>
                          </a:rPr>
                          <m:t>2</m:t>
                        </m:r>
                      </m:sup>
                    </m:sSubSup>
                  </m:oMath>
                </a14:m>
                <a:r>
                  <a:rPr lang="ar-AE" sz="900" b="0" i="0" dirty="0">
                    <a:solidFill>
                      <a:schemeClr val="tx1"/>
                    </a:solidFill>
                    <a:effectLst/>
                    <a:latin typeface="Segoe WPC"/>
                  </a:rPr>
                  <a:t>, </a:t>
                </a:r>
                <a:r>
                  <a:rPr lang="es-PE" sz="900" b="0" i="0" dirty="0">
                    <a:solidFill>
                      <a:schemeClr val="tx1"/>
                    </a:solidFill>
                    <a:effectLst/>
                    <a:latin typeface="Segoe WPC"/>
                  </a:rPr>
                  <a:t>and </a:t>
                </a:r>
                <a:r>
                  <a:rPr lang="es-PE" sz="900" b="0" i="0" dirty="0" err="1">
                    <a:solidFill>
                      <a:schemeClr val="tx1"/>
                    </a:solidFill>
                    <a:effectLst/>
                    <a:latin typeface="Segoe WPC"/>
                  </a:rPr>
                  <a:t>they</a:t>
                </a:r>
                <a:r>
                  <a:rPr lang="es-PE" sz="900" b="0" i="0" dirty="0">
                    <a:solidFill>
                      <a:schemeClr val="tx1"/>
                    </a:solidFill>
                    <a:effectLst/>
                    <a:latin typeface="Segoe WPC"/>
                  </a:rPr>
                  <a:t> are </a:t>
                </a:r>
                <a:r>
                  <a:rPr lang="es-PE" sz="900" b="0" i="0" dirty="0" err="1">
                    <a:solidFill>
                      <a:schemeClr val="tx1"/>
                    </a:solidFill>
                    <a:effectLst/>
                    <a:latin typeface="Segoe WPC"/>
                  </a:rPr>
                  <a:t>independent</a:t>
                </a:r>
                <a:br>
                  <a:rPr lang="es-PE" sz="900" b="0" i="0" dirty="0">
                    <a:solidFill>
                      <a:schemeClr val="tx1"/>
                    </a:solidFill>
                    <a:effectLst/>
                    <a:latin typeface="Segoe WPC"/>
                  </a:rPr>
                </a:br>
                <a14:m>
                  <m:oMath xmlns:m="http://schemas.openxmlformats.org/officeDocument/2006/math">
                    <m:r>
                      <a:rPr lang="es-P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𝜈</m:t>
                            </m:r>
                          </m:e>
                          <m:sub>
                            <m:r>
                              <a:rPr lang="ar-AE" sz="900" i="0">
                                <a:solidFill>
                                  <a:schemeClr val="tx1"/>
                                </a:solidFill>
                                <a:latin typeface="Cambria Math" panose="02040503050406030204" pitchFamily="18" charset="0"/>
                              </a:rPr>
                              <m:t>2</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𝜈</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den>
                    </m:f>
                  </m:oMath>
                </a14:m>
                <a:r>
                  <a:rPr lang="ar-A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𝜈</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&gt;</m:t>
                    </m:r>
                    <m:r>
                      <a:rPr lang="ar-AE" sz="900" i="0">
                        <a:solidFill>
                          <a:schemeClr val="tx1"/>
                        </a:solidFill>
                        <a:latin typeface="Cambria Math" panose="02040503050406030204" pitchFamily="18" charset="0"/>
                      </a:rPr>
                      <m:t>2</m:t>
                    </m:r>
                  </m:oMath>
                </a14:m>
                <a:br>
                  <a:rPr lang="ar-AE" sz="900" b="0" i="0" dirty="0">
                    <a:solidFill>
                      <a:schemeClr val="tx1"/>
                    </a:solidFill>
                    <a:effectLst/>
                    <a:latin typeface="Segoe WPC"/>
                  </a:rPr>
                </a:br>
                <a14:m>
                  <m:oMath xmlns:m="http://schemas.openxmlformats.org/officeDocument/2006/math">
                    <m:r>
                      <a:rPr lang="ar-A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2</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𝜈</m:t>
                            </m:r>
                          </m:e>
                          <m:sub>
                            <m:r>
                              <a:rPr lang="ar-AE" sz="900" i="0">
                                <a:solidFill>
                                  <a:schemeClr val="tx1"/>
                                </a:solidFill>
                                <a:latin typeface="Cambria Math" panose="02040503050406030204" pitchFamily="18" charset="0"/>
                              </a:rPr>
                              <m:t>2</m:t>
                            </m:r>
                          </m:sub>
                          <m:sup>
                            <m:r>
                              <a:rPr lang="ar-AE" sz="900" i="0">
                                <a:solidFill>
                                  <a:schemeClr val="tx1"/>
                                </a:solidFill>
                                <a:latin typeface="Cambria Math" panose="02040503050406030204" pitchFamily="18" charset="0"/>
                              </a:rPr>
                              <m:t>2</m:t>
                            </m:r>
                          </m:sup>
                        </m:sSubSup>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𝜈</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𝜈</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e>
                        </m:d>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𝜈</m:t>
                            </m:r>
                          </m:e>
                          <m:sub>
                            <m:r>
                              <a:rPr lang="ar-AE" sz="900" i="0">
                                <a:solidFill>
                                  <a:schemeClr val="tx1"/>
                                </a:solidFill>
                                <a:latin typeface="Cambria Math" panose="02040503050406030204" pitchFamily="18" charset="0"/>
                              </a:rPr>
                              <m:t>1</m:t>
                            </m:r>
                          </m:sub>
                        </m:sSub>
                        <m:d>
                          <m:dPr>
                            <m:end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𝜈</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𝜈</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4</m:t>
                                </m:r>
                              </m:e>
                            </m:d>
                          </m:e>
                        </m:d>
                      </m:den>
                    </m:f>
                  </m:oMath>
                </a14:m>
                <a:r>
                  <a:rPr lang="ar-A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𝜈</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&gt;</m:t>
                    </m:r>
                    <m:r>
                      <a:rPr lang="ar-AE" sz="900" i="0">
                        <a:solidFill>
                          <a:schemeClr val="tx1"/>
                        </a:solidFill>
                        <a:latin typeface="Cambria Math" panose="02040503050406030204" pitchFamily="18" charset="0"/>
                      </a:rPr>
                      <m:t>4</m:t>
                    </m:r>
                  </m:oMath>
                </a14:m>
                <a:br>
                  <a:rPr lang="ar-AE" sz="900" b="0" i="0" dirty="0">
                    <a:solidFill>
                      <a:schemeClr val="tx1"/>
                    </a:solidFill>
                    <a:effectLst/>
                    <a:latin typeface="Segoe WPC"/>
                  </a:rPr>
                </a:br>
                <a:r>
                  <a:rPr lang="es-PE" sz="900" b="0" i="0" dirty="0" err="1">
                    <a:solidFill>
                      <a:schemeClr val="tx1"/>
                    </a:solidFill>
                    <a:effectLst/>
                    <a:latin typeface="Segoe WPC"/>
                  </a:rPr>
                  <a:t>Relation</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t:</a:t>
                </a:r>
                <a:br>
                  <a:rPr lang="es-PE" sz="900" b="0" i="0" dirty="0">
                    <a:solidFill>
                      <a:schemeClr val="tx1"/>
                    </a:solidFill>
                    <a:effectLst/>
                    <a:latin typeface="Segoe WPC"/>
                  </a:rPr>
                </a:b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𝑇</m:t>
                    </m:r>
                    <m:r>
                      <a:rPr lang="es-P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𝑡</m:t>
                        </m:r>
                      </m:e>
                      <m:sub>
                        <m:r>
                          <a:rPr lang="ar-AE" sz="900" i="1">
                            <a:solidFill>
                              <a:schemeClr val="tx1"/>
                            </a:solidFill>
                            <a:latin typeface="Cambria Math" panose="02040503050406030204" pitchFamily="18" charset="0"/>
                          </a:rPr>
                          <m:t>𝜈</m:t>
                        </m:r>
                      </m:sub>
                    </m:sSub>
                  </m:oMath>
                </a14:m>
                <a:r>
                  <a:rPr lang="ar-A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𝑇</m:t>
                        </m:r>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𝐹</m:t>
                        </m:r>
                      </m:e>
                      <m:sub>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𝜈</m:t>
                        </m:r>
                      </m:sub>
                    </m:sSub>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Common</a:t>
                </a:r>
                <a:r>
                  <a:rPr lang="es-PE" sz="900" b="0" i="0" dirty="0">
                    <a:solidFill>
                      <a:schemeClr val="tx1"/>
                    </a:solidFill>
                    <a:effectLst/>
                    <a:latin typeface="Segoe WPC"/>
                  </a:rPr>
                  <a:t> in </a:t>
                </a:r>
                <a:r>
                  <a:rPr lang="es-PE" sz="900" b="0" i="0" dirty="0" err="1">
                    <a:solidFill>
                      <a:schemeClr val="tx1"/>
                    </a:solidFill>
                    <a:effectLst/>
                    <a:latin typeface="Segoe WPC"/>
                  </a:rPr>
                  <a:t>hypothesis</a:t>
                </a:r>
                <a:r>
                  <a:rPr lang="es-PE" sz="900" b="0" i="0" dirty="0">
                    <a:solidFill>
                      <a:schemeClr val="tx1"/>
                    </a:solidFill>
                    <a:effectLst/>
                    <a:latin typeface="Segoe WPC"/>
                  </a:rPr>
                  <a:t> </a:t>
                </a:r>
                <a:r>
                  <a:rPr lang="es-PE" sz="900" b="0" i="0" dirty="0" err="1">
                    <a:solidFill>
                      <a:schemeClr val="tx1"/>
                    </a:solidFill>
                    <a:effectLst/>
                    <a:latin typeface="Segoe WPC"/>
                  </a:rPr>
                  <a:t>testing</a:t>
                </a:r>
                <a:r>
                  <a:rPr lang="es-PE" sz="900" b="0" i="0" dirty="0">
                    <a:solidFill>
                      <a:schemeClr val="tx1"/>
                    </a:solidFill>
                    <a:effectLst/>
                    <a:latin typeface="Segoe WPC"/>
                  </a:rPr>
                  <a:t>, </a:t>
                </a:r>
                <a:r>
                  <a:rPr lang="es-PE" sz="900" b="0" i="0" dirty="0" err="1">
                    <a:solidFill>
                      <a:schemeClr val="tx1"/>
                    </a:solidFill>
                    <a:effectLst/>
                    <a:latin typeface="Segoe WPC"/>
                  </a:rPr>
                  <a:t>especially</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comparing</a:t>
                </a:r>
                <a:r>
                  <a:rPr lang="es-PE" sz="900" b="0" i="0" dirty="0">
                    <a:solidFill>
                      <a:schemeClr val="tx1"/>
                    </a:solidFill>
                    <a:effectLst/>
                    <a:latin typeface="Segoe WPC"/>
                  </a:rPr>
                  <a:t> </a:t>
                </a:r>
                <a:r>
                  <a:rPr lang="es-PE" sz="900" b="0" i="0" dirty="0" err="1">
                    <a:solidFill>
                      <a:schemeClr val="tx1"/>
                    </a:solidFill>
                    <a:effectLst/>
                    <a:latin typeface="Segoe WPC"/>
                  </a:rPr>
                  <a:t>restricted</a:t>
                </a:r>
                <a:r>
                  <a:rPr lang="es-PE" sz="900" b="0" i="0" dirty="0">
                    <a:solidFill>
                      <a:schemeClr val="tx1"/>
                    </a:solidFill>
                    <a:effectLst/>
                    <a:latin typeface="Segoe WPC"/>
                  </a:rPr>
                  <a:t> and </a:t>
                </a:r>
                <a:r>
                  <a:rPr lang="es-PE" sz="900" b="0" i="0" dirty="0" err="1">
                    <a:solidFill>
                      <a:schemeClr val="tx1"/>
                    </a:solidFill>
                    <a:effectLst/>
                    <a:latin typeface="Segoe WPC"/>
                  </a:rPr>
                  <a:t>unrestricted</a:t>
                </a:r>
                <a:r>
                  <a:rPr lang="es-PE" sz="900" b="0" i="0" dirty="0">
                    <a:solidFill>
                      <a:schemeClr val="tx1"/>
                    </a:solidFill>
                    <a:effectLst/>
                    <a:latin typeface="Segoe WPC"/>
                  </a:rPr>
                  <a:t> </a:t>
                </a:r>
                <a:r>
                  <a:rPr lang="es-PE" sz="900" b="0" i="0" dirty="0" err="1">
                    <a:solidFill>
                      <a:schemeClr val="tx1"/>
                    </a:solidFill>
                    <a:effectLst/>
                    <a:latin typeface="Segoe WPC"/>
                  </a:rPr>
                  <a:t>variation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has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degrees-of-freedom</a:t>
                </a:r>
                <a:r>
                  <a:rPr lang="es-PE" sz="900" b="0" i="0" dirty="0">
                    <a:solidFill>
                      <a:schemeClr val="tx1"/>
                    </a:solidFill>
                    <a:effectLst/>
                    <a:latin typeface="Segoe WPC"/>
                  </a:rPr>
                  <a:t> </a:t>
                </a:r>
                <a:r>
                  <a:rPr lang="es-PE" sz="900" b="0" i="0" dirty="0" err="1">
                    <a:solidFill>
                      <a:schemeClr val="tx1"/>
                    </a:solidFill>
                    <a:effectLst/>
                    <a:latin typeface="Segoe WPC"/>
                  </a:rPr>
                  <a:t>parameters</a:t>
                </a:r>
                <a:r>
                  <a:rPr lang="es-PE" sz="900" b="0" i="0" dirty="0">
                    <a:solidFill>
                      <a:schemeClr val="tx1"/>
                    </a:solidFill>
                    <a:effectLst/>
                    <a:latin typeface="Segoe WPC"/>
                  </a:rPr>
                  <a:t>, and </a:t>
                </a:r>
                <a:r>
                  <a:rPr lang="es-PE" sz="900" b="0" i="0" dirty="0" err="1">
                    <a:solidFill>
                      <a:schemeClr val="tx1"/>
                    </a:solidFill>
                    <a:effectLst/>
                    <a:latin typeface="Segoe WPC"/>
                  </a:rPr>
                  <a:t>existence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moments</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𝜈</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a:t>
                </a:r>
              </a:p>
            </p:txBody>
          </p:sp>
        </mc:Choice>
        <mc:Fallback xmlns="">
          <p:sp>
            <p:nvSpPr>
              <p:cNvPr id="5" name="CuadroTexto 4">
                <a:extLst>
                  <a:ext uri="{FF2B5EF4-FFF2-40B4-BE49-F238E27FC236}">
                    <a16:creationId xmlns:a16="http://schemas.microsoft.com/office/drawing/2014/main" id="{DAC6CAD4-26D3-0DB9-B2F7-795B1763189C}"/>
                  </a:ext>
                </a:extLst>
              </p:cNvPr>
              <p:cNvSpPr txBox="1">
                <a:spLocks noRot="1" noChangeAspect="1" noMove="1" noResize="1" noEditPoints="1" noAdjustHandles="1" noChangeArrowheads="1" noChangeShapeType="1" noTextEdit="1"/>
              </p:cNvSpPr>
              <p:nvPr/>
            </p:nvSpPr>
            <p:spPr>
              <a:xfrm>
                <a:off x="274804" y="435300"/>
                <a:ext cx="5306846" cy="5040932"/>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C90EEB02-DA48-2EC6-A734-AA34126DC01B}"/>
                  </a:ext>
                </a:extLst>
              </p:cNvPr>
              <p:cNvSpPr txBox="1"/>
              <p:nvPr/>
            </p:nvSpPr>
            <p:spPr>
              <a:xfrm>
                <a:off x="5773572" y="114118"/>
                <a:ext cx="6143624" cy="6629764"/>
              </a:xfrm>
              <a:prstGeom prst="rect">
                <a:avLst/>
              </a:prstGeom>
              <a:noFill/>
            </p:spPr>
            <p:txBody>
              <a:bodyPr wrap="square">
                <a:spAutoFit/>
              </a:bodyPr>
              <a:lstStyle/>
              <a:p>
                <a:pPr algn="l">
                  <a:spcAft>
                    <a:spcPts val="1200"/>
                  </a:spcAft>
                  <a:buNone/>
                </a:pPr>
                <a:r>
                  <a:rPr lang="ar-AE" sz="900" b="1" i="0" dirty="0">
                    <a:solidFill>
                      <a:schemeClr val="tx1"/>
                    </a:solidFill>
                    <a:effectLst/>
                    <a:latin typeface="Segoe WPC"/>
                  </a:rPr>
                  <a:t>10</a:t>
                </a:r>
                <a:r>
                  <a:rPr lang="en-US" sz="900" b="1" i="0" dirty="0">
                    <a:solidFill>
                      <a:schemeClr val="tx1"/>
                    </a:solidFill>
                    <a:effectLst/>
                    <a:latin typeface="Segoe WPC"/>
                  </a:rPr>
                  <a:t>, </a:t>
                </a:r>
                <a:r>
                  <a:rPr lang="ar-AE" sz="900" b="1" i="0" dirty="0">
                    <a:solidFill>
                      <a:schemeClr val="tx1"/>
                    </a:solidFill>
                    <a:effectLst/>
                    <a:latin typeface="Segoe WPC"/>
                  </a:rPr>
                  <a:t>. </a:t>
                </a:r>
                <a:r>
                  <a:rPr lang="es-PE" sz="900" b="1" i="0" dirty="0" err="1">
                    <a:solidFill>
                      <a:schemeClr val="tx1"/>
                    </a:solidFill>
                    <a:effectLst/>
                    <a:latin typeface="Segoe WPC"/>
                  </a:rPr>
                  <a:t>Exponential</a:t>
                </a:r>
                <a:r>
                  <a:rPr lang="es-PE" sz="900" b="1" i="0" dirty="0">
                    <a:solidFill>
                      <a:schemeClr val="tx1"/>
                    </a:solidFill>
                    <a:effectLst/>
                    <a:latin typeface="Segoe WPC"/>
                  </a:rPr>
                  <a:t> </a:t>
                </a:r>
                <a:r>
                  <a:rPr lang="es-PE" sz="900" b="1" i="0" dirty="0" err="1">
                    <a:solidFill>
                      <a:schemeClr val="tx1"/>
                    </a:solidFill>
                    <a:effectLst/>
                    <a:latin typeface="Segoe WPC"/>
                  </a:rPr>
                  <a:t>Distribution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continuous</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waiting</a:t>
                </a:r>
                <a:r>
                  <a:rPr lang="es-PE" sz="900" b="0" i="0" dirty="0">
                    <a:solidFill>
                      <a:schemeClr val="tx1"/>
                    </a:solidFill>
                    <a:effectLst/>
                    <a:latin typeface="Segoe WPC"/>
                  </a:rPr>
                  <a:t> time </a:t>
                </a:r>
                <a:r>
                  <a:rPr lang="es-PE" sz="900" b="0" i="0" dirty="0" err="1">
                    <a:solidFill>
                      <a:schemeClr val="tx1"/>
                    </a:solidFill>
                    <a:effectLst/>
                    <a:latin typeface="Segoe WPC"/>
                  </a:rPr>
                  <a:t>until</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event</a:t>
                </a:r>
                <a:r>
                  <a:rPr lang="es-PE" sz="900" b="0" i="0" dirty="0">
                    <a:solidFill>
                      <a:schemeClr val="tx1"/>
                    </a:solidFill>
                    <a:effectLst/>
                    <a:latin typeface="Segoe WPC"/>
                  </a:rPr>
                  <a:t> </a:t>
                </a:r>
                <a:r>
                  <a:rPr lang="es-PE" sz="900" b="0" i="0" dirty="0" err="1">
                    <a:solidFill>
                      <a:schemeClr val="tx1"/>
                    </a:solidFill>
                    <a:effectLst/>
                    <a:latin typeface="Segoe WPC"/>
                  </a:rPr>
                  <a:t>occurs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wait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next</a:t>
                </a:r>
                <a:r>
                  <a:rPr lang="es-PE" sz="900" b="0" i="0" dirty="0">
                    <a:solidFill>
                      <a:schemeClr val="tx1"/>
                    </a:solidFill>
                    <a:effectLst/>
                    <a:latin typeface="Segoe WPC"/>
                  </a:rPr>
                  <a:t> </a:t>
                </a:r>
                <a:r>
                  <a:rPr lang="es-PE" sz="900" b="0" i="0" dirty="0" err="1">
                    <a:solidFill>
                      <a:schemeClr val="tx1"/>
                    </a:solidFill>
                    <a:effectLst/>
                    <a:latin typeface="Segoe WPC"/>
                  </a:rPr>
                  <a:t>arrival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Starts</a:t>
                </a:r>
                <a:r>
                  <a:rPr lang="es-PE" sz="900" b="0" i="0" dirty="0">
                    <a:solidFill>
                      <a:schemeClr val="tx1"/>
                    </a:solidFill>
                    <a:effectLst/>
                    <a:latin typeface="Segoe WPC"/>
                  </a:rPr>
                  <a:t> </a:t>
                </a:r>
                <a:r>
                  <a:rPr lang="es-PE" sz="900" b="0" i="0" dirty="0" err="1">
                    <a:solidFill>
                      <a:schemeClr val="tx1"/>
                    </a:solidFill>
                    <a:effectLst/>
                    <a:latin typeface="Segoe WPC"/>
                  </a:rPr>
                  <a:t>high</a:t>
                </a:r>
                <a:r>
                  <a:rPr lang="es-PE" sz="900" b="0" i="0" dirty="0">
                    <a:solidFill>
                      <a:schemeClr val="tx1"/>
                    </a:solidFill>
                    <a:effectLst/>
                    <a:latin typeface="Segoe WPC"/>
                  </a:rPr>
                  <a:t> </a:t>
                </a:r>
                <a:r>
                  <a:rPr lang="es-PE" sz="900" b="0" i="0" dirty="0" err="1">
                    <a:solidFill>
                      <a:schemeClr val="tx1"/>
                    </a:solidFill>
                    <a:effectLst/>
                    <a:latin typeface="Segoe WPC"/>
                  </a:rPr>
                  <a:t>near</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 and declines </a:t>
                </a:r>
                <a:r>
                  <a:rPr lang="es-PE" sz="900" b="0" i="0" dirty="0" err="1">
                    <a:solidFill>
                      <a:schemeClr val="tx1"/>
                    </a:solidFill>
                    <a:effectLst/>
                    <a:latin typeface="Segoe WPC"/>
                  </a:rPr>
                  <a:t>exponentially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Exponential</m:t>
                      </m:r>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𝛽</m:t>
                          </m:r>
                        </m:e>
                      </m:d>
                    </m:oMath>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1">
                              <a:solidFill>
                                <a:schemeClr val="tx1"/>
                              </a:solidFill>
                              <a:latin typeface="Cambria Math" panose="02040503050406030204" pitchFamily="18" charset="0"/>
                            </a:rPr>
                            <m:t>𝑌</m:t>
                          </m:r>
                        </m:sub>
                      </m:sSub>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𝑦</m:t>
                          </m:r>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1">
                              <a:solidFill>
                                <a:schemeClr val="tx1"/>
                              </a:solidFill>
                              <a:latin typeface="Cambria Math" panose="02040503050406030204" pitchFamily="18" charset="0"/>
                            </a:rPr>
                            <m:t>𝛽</m:t>
                          </m:r>
                        </m:den>
                      </m:f>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𝑦</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𝛽</m:t>
                          </m:r>
                        </m:sup>
                      </m:sSup>
                      <m:r>
                        <a:rPr lang="ar-AE" sz="900" i="0">
                          <a:solidFill>
                            <a:schemeClr val="tx1"/>
                          </a:solidFill>
                          <a:latin typeface="Cambria Math" panose="02040503050406030204" pitchFamily="18" charset="0"/>
                        </a:rPr>
                        <m:t>, </m:t>
                      </m:r>
                      <m:r>
                        <a:rPr lang="ar-AE" sz="900" i="1">
                          <a:solidFill>
                            <a:schemeClr val="tx1"/>
                          </a:solidFill>
                          <a:latin typeface="Cambria Math" panose="02040503050406030204" pitchFamily="18" charset="0"/>
                        </a:rPr>
                        <m:t>𝑦</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oMath>
                    <m:oMath xmlns:m="http://schemas.openxmlformats.org/officeDocument/2006/math">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𝛽</m:t>
                      </m:r>
                      <m:r>
                        <a:rPr lang="ar-AE" sz="900" i="0">
                          <a:solidFill>
                            <a:schemeClr val="tx1"/>
                          </a:solidFill>
                          <a:latin typeface="Cambria Math" panose="02040503050406030204" pitchFamily="18" charset="0"/>
                        </a:rPr>
                        <m:t>, </m:t>
                      </m:r>
                      <m:r>
                        <a:rPr lang="ar-A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𝛽</m:t>
                          </m:r>
                        </m:e>
                        <m:sup>
                          <m:r>
                            <a:rPr lang="ar-AE" sz="900" i="0">
                              <a:solidFill>
                                <a:schemeClr val="tx1"/>
                              </a:solidFill>
                              <a:latin typeface="Cambria Math" panose="02040503050406030204" pitchFamily="18" charset="0"/>
                            </a:rPr>
                            <m:t>2</m:t>
                          </m:r>
                        </m:sup>
                      </m:sSup>
                    </m:oMath>
                  </m:oMathPara>
                </a14:m>
                <a:br>
                  <a:rPr lang="ar-AE" sz="900" b="0" i="0" dirty="0">
                    <a:solidFill>
                      <a:schemeClr val="tx1"/>
                    </a:solidFill>
                    <a:effectLst/>
                    <a:latin typeface="Segoe WPC"/>
                  </a:rPr>
                </a:br>
                <a:r>
                  <a:rPr lang="es-PE" sz="900" b="0" i="0" dirty="0" err="1">
                    <a:solidFill>
                      <a:schemeClr val="tx1"/>
                    </a:solidFill>
                    <a:effectLst/>
                    <a:latin typeface="Segoe WPC"/>
                  </a:rPr>
                  <a:t>Memoryless</a:t>
                </a:r>
                <a:r>
                  <a:rPr lang="es-PE" sz="900" b="0" i="0" dirty="0">
                    <a:solidFill>
                      <a:schemeClr val="tx1"/>
                    </a:solidFill>
                    <a:effectLst/>
                    <a:latin typeface="Segoe WPC"/>
                  </a:rPr>
                  <a:t> </a:t>
                </a:r>
                <a:r>
                  <a:rPr lang="es-PE" sz="900" b="0" i="0" dirty="0" err="1">
                    <a:solidFill>
                      <a:schemeClr val="tx1"/>
                    </a:solidFill>
                    <a:effectLst/>
                    <a:latin typeface="Segoe WPC"/>
                  </a:rPr>
                  <a:t>property</a:t>
                </a:r>
                <a:r>
                  <a:rPr lang="es-PE" sz="900" b="0" i="0" dirty="0">
                    <a:solidFill>
                      <a:schemeClr val="tx1"/>
                    </a:solidFill>
                    <a:effectLst/>
                    <a:latin typeface="Segoe WPC"/>
                  </a:rPr>
                  <a:t>:</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r>
                            <a:rPr lang="ar-AE" sz="900" i="0">
                              <a:solidFill>
                                <a:schemeClr val="tx1"/>
                              </a:solidFill>
                              <a:latin typeface="Cambria Math" panose="02040503050406030204" pitchFamily="18" charset="0"/>
                            </a:rPr>
                            <m:t>&gt;</m:t>
                          </m:r>
                          <m:r>
                            <a:rPr lang="ar-AE" sz="900" i="1">
                              <a:solidFill>
                                <a:schemeClr val="tx1"/>
                              </a:solidFill>
                              <a:latin typeface="Cambria Math" panose="02040503050406030204" pitchFamily="18" charset="0"/>
                            </a:rPr>
                            <m:t>𝑠</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𝑌</m:t>
                          </m:r>
                          <m:r>
                            <a:rPr lang="ar-AE" sz="900" i="0">
                              <a:solidFill>
                                <a:schemeClr val="tx1"/>
                              </a:solidFill>
                              <a:latin typeface="Cambria Math" panose="02040503050406030204" pitchFamily="18" charset="0"/>
                            </a:rPr>
                            <m:t>&gt;</m:t>
                          </m:r>
                          <m:r>
                            <a:rPr lang="ar-AE" sz="900" i="1">
                              <a:solidFill>
                                <a:schemeClr val="tx1"/>
                              </a:solidFill>
                              <a:latin typeface="Cambria Math" panose="02040503050406030204" pitchFamily="18" charset="0"/>
                            </a:rPr>
                            <m:t>𝑠</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r>
                            <a:rPr lang="ar-AE" sz="900" i="0">
                              <a:solidFill>
                                <a:schemeClr val="tx1"/>
                              </a:solidFill>
                              <a:latin typeface="Cambria Math" panose="02040503050406030204" pitchFamily="18" charset="0"/>
                            </a:rPr>
                            <m:t>&gt;</m:t>
                          </m:r>
                          <m:r>
                            <a:rPr lang="ar-AE" sz="900" i="1">
                              <a:solidFill>
                                <a:schemeClr val="tx1"/>
                              </a:solidFill>
                              <a:latin typeface="Cambria Math" panose="02040503050406030204" pitchFamily="18" charset="0"/>
                            </a:rPr>
                            <m:t>𝑡</m:t>
                          </m:r>
                        </m:e>
                      </m:d>
                    </m:oMath>
                  </m:oMathPara>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Closely</a:t>
                </a:r>
                <a:r>
                  <a:rPr lang="es-PE" sz="900" b="0" i="0" dirty="0">
                    <a:solidFill>
                      <a:schemeClr val="tx1"/>
                    </a:solidFill>
                    <a:effectLst/>
                    <a:latin typeface="Segoe WPC"/>
                  </a:rPr>
                  <a:t> </a:t>
                </a:r>
                <a:r>
                  <a:rPr lang="es-PE" sz="900" b="0" i="0" dirty="0" err="1">
                    <a:solidFill>
                      <a:schemeClr val="tx1"/>
                    </a:solidFill>
                    <a:effectLst/>
                    <a:latin typeface="Segoe WPC"/>
                  </a:rPr>
                  <a:t>related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Poisson </a:t>
                </a:r>
                <a:r>
                  <a:rPr lang="es-PE" sz="900" b="0" i="0" dirty="0" err="1">
                    <a:solidFill>
                      <a:schemeClr val="tx1"/>
                    </a:solidFill>
                    <a:effectLst/>
                    <a:latin typeface="Segoe WPC"/>
                  </a:rPr>
                  <a:t>counts</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Poisson </a:t>
                </a:r>
                <a:r>
                  <a:rPr lang="es-PE" sz="900" b="0" i="0" dirty="0" err="1">
                    <a:solidFill>
                      <a:schemeClr val="tx1"/>
                    </a:solidFill>
                    <a:effectLst/>
                    <a:latin typeface="Segoe WPC"/>
                  </a:rPr>
                  <a:t>counts</a:t>
                </a:r>
                <a:r>
                  <a:rPr lang="es-PE" sz="900" b="0" i="0" dirty="0">
                    <a:solidFill>
                      <a:schemeClr val="tx1"/>
                    </a:solidFill>
                    <a:effectLst/>
                    <a:latin typeface="Segoe WPC"/>
                  </a:rPr>
                  <a:t> </a:t>
                </a:r>
                <a:r>
                  <a:rPr lang="es-PE" sz="900" b="0" i="0" dirty="0" err="1">
                    <a:solidFill>
                      <a:schemeClr val="tx1"/>
                    </a:solidFill>
                    <a:effectLst/>
                    <a:latin typeface="Segoe WPC"/>
                  </a:rPr>
                  <a:t>events</a:t>
                </a:r>
                <a:r>
                  <a:rPr lang="es-PE" sz="900" b="0" i="0" dirty="0">
                    <a:solidFill>
                      <a:schemeClr val="tx1"/>
                    </a:solidFill>
                    <a:effectLst/>
                    <a:latin typeface="Segoe WPC"/>
                  </a:rPr>
                  <a:t>, </a:t>
                </a:r>
                <a:r>
                  <a:rPr lang="es-PE" sz="900" b="0" i="0" dirty="0" err="1">
                    <a:solidFill>
                      <a:schemeClr val="tx1"/>
                    </a:solidFill>
                    <a:effectLst/>
                    <a:latin typeface="Segoe WPC"/>
                  </a:rPr>
                  <a:t>exponential</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time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them</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Memoryless</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mean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horizons</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equal</a:t>
                </a:r>
                <a:r>
                  <a:rPr lang="es-PE" sz="900" b="0" i="0" dirty="0">
                    <a:solidFill>
                      <a:schemeClr val="tx1"/>
                    </a:solidFill>
                    <a:effectLst/>
                    <a:latin typeface="Segoe WPC"/>
                  </a:rPr>
                  <a:t> </a:t>
                </a:r>
                <a:r>
                  <a:rPr lang="es-PE" sz="900" b="0" i="0" dirty="0" err="1">
                    <a:solidFill>
                      <a:schemeClr val="tx1"/>
                    </a:solidFill>
                    <a:effectLst/>
                    <a:latin typeface="Segoe WPC"/>
                  </a:rPr>
                  <a:t>unconditional</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conditional</a:t>
                </a:r>
                <a:r>
                  <a:rPr lang="es-PE" sz="900" b="0" i="0" dirty="0">
                    <a:solidFill>
                      <a:schemeClr val="tx1"/>
                    </a:solidFill>
                    <a:effectLst/>
                    <a:latin typeface="Segoe WPC"/>
                  </a:rPr>
                  <a:t> </a:t>
                </a:r>
                <a:r>
                  <a:rPr lang="es-PE" sz="900" b="0" i="0" dirty="0" err="1">
                    <a:solidFill>
                      <a:schemeClr val="tx1"/>
                    </a:solidFill>
                    <a:effectLst/>
                    <a:latin typeface="Segoe WPC"/>
                  </a:rPr>
                  <a:t>statement</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11. Beta </a:t>
                </a:r>
                <a:r>
                  <a:rPr lang="es-PE" sz="900" b="1" i="0" dirty="0" err="1">
                    <a:solidFill>
                      <a:schemeClr val="tx1"/>
                    </a:solidFill>
                    <a:effectLst/>
                    <a:latin typeface="Segoe WPC"/>
                  </a:rPr>
                  <a:t>Distribution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continuous</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supported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14:m>
                  <m:oMath xmlns:m="http://schemas.openxmlformats.org/officeDocument/2006/math">
                    <m:d>
                      <m:dPr>
                        <m:begChr m:val="["/>
                        <m:endChr m:val="]"/>
                        <m:sepChr m:val=","/>
                        <m:ctrlPr>
                          <a:rPr lang="ar-AE" sz="900" i="1">
                            <a:solidFill>
                              <a:schemeClr val="tx1"/>
                            </a:solidFill>
                            <a:latin typeface="Cambria Math" panose="02040503050406030204" pitchFamily="18" charset="0"/>
                          </a:rPr>
                        </m:ctrlPr>
                      </m:dPr>
                      <m:e>
                        <m:r>
                          <a:rPr lang="ar-AE" sz="900">
                            <a:solidFill>
                              <a:schemeClr val="tx1"/>
                            </a:solidFill>
                            <a:latin typeface="Cambria Math" panose="02040503050406030204" pitchFamily="18" charset="0"/>
                          </a:rPr>
                          <m:t>0</m:t>
                        </m:r>
                      </m:e>
                      <m:e>
                        <m:r>
                          <a:rPr lang="ar-AE" sz="900" i="0">
                            <a:solidFill>
                              <a:schemeClr val="tx1"/>
                            </a:solidFill>
                            <a:latin typeface="Cambria Math" panose="02040503050406030204" pitchFamily="18" charset="0"/>
                          </a:rPr>
                          <m:t>1</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flexible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probabilities</a:t>
                </a:r>
                <a:r>
                  <a:rPr lang="es-PE" sz="900" b="0" i="0" dirty="0">
                    <a:solidFill>
                      <a:schemeClr val="tx1"/>
                    </a:solidFill>
                    <a:effectLst/>
                    <a:latin typeface="Segoe WPC"/>
                  </a:rPr>
                  <a:t> and </a:t>
                </a:r>
                <a:r>
                  <a:rPr lang="es-PE" sz="900" b="0" i="0" dirty="0" err="1">
                    <a:solidFill>
                      <a:schemeClr val="tx1"/>
                    </a:solidFill>
                    <a:effectLst/>
                    <a:latin typeface="Segoe WPC"/>
                  </a:rPr>
                  <a:t>proportions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Can be flat, U-</a:t>
                </a:r>
                <a:r>
                  <a:rPr lang="es-PE" sz="900" b="0" i="0" dirty="0" err="1">
                    <a:solidFill>
                      <a:schemeClr val="tx1"/>
                    </a:solidFill>
                    <a:effectLst/>
                    <a:latin typeface="Segoe WPC"/>
                  </a:rPr>
                  <a:t>shaped</a:t>
                </a:r>
                <a:r>
                  <a:rPr lang="es-PE" sz="900" b="0" i="0" dirty="0">
                    <a:solidFill>
                      <a:schemeClr val="tx1"/>
                    </a:solidFill>
                    <a:effectLst/>
                    <a:latin typeface="Segoe WPC"/>
                  </a:rPr>
                  <a:t>, </a:t>
                </a:r>
                <a:r>
                  <a:rPr lang="es-PE" sz="900" b="0" i="0" dirty="0" err="1">
                    <a:solidFill>
                      <a:schemeClr val="tx1"/>
                    </a:solidFill>
                    <a:effectLst/>
                    <a:latin typeface="Segoe WPC"/>
                  </a:rPr>
                  <a:t>bell-shaped</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skewed</a:t>
                </a:r>
                <a:r>
                  <a:rPr lang="es-PE" sz="900" b="0" i="0" dirty="0">
                    <a:solidFill>
                      <a:schemeClr val="tx1"/>
                    </a:solidFill>
                    <a:effectLst/>
                    <a:latin typeface="Segoe WPC"/>
                  </a:rPr>
                  <a:t> </a:t>
                </a:r>
                <a:r>
                  <a:rPr lang="es-PE" sz="900" b="0" i="0" dirty="0" err="1">
                    <a:solidFill>
                      <a:schemeClr val="tx1"/>
                    </a:solidFill>
                    <a:effectLst/>
                    <a:latin typeface="Segoe WPC"/>
                  </a:rPr>
                  <a:t>depending</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parameters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Beta</m:t>
                      </m:r>
                      <m:d>
                        <m:dPr>
                          <m:sepChr m:val=","/>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𝛼</m:t>
                          </m:r>
                        </m:e>
                        <m:e>
                          <m:r>
                            <a:rPr lang="ar-AE" sz="900" b="0" i="1">
                              <a:solidFill>
                                <a:schemeClr val="tx1"/>
                              </a:solidFill>
                              <a:latin typeface="Cambria Math" panose="02040503050406030204" pitchFamily="18" charset="0"/>
                            </a:rPr>
                            <m:t>𝛽</m:t>
                          </m:r>
                        </m:e>
                      </m:d>
                    </m:oMath>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1">
                              <a:solidFill>
                                <a:schemeClr val="tx1"/>
                              </a:solidFill>
                              <a:latin typeface="Cambria Math" panose="02040503050406030204" pitchFamily="18" charset="0"/>
                            </a:rPr>
                            <m:t>𝑌</m:t>
                          </m:r>
                        </m:sub>
                      </m:sSub>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𝑦</m:t>
                          </m:r>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𝑦</m:t>
                              </m:r>
                            </m:e>
                            <m:sup>
                              <m:r>
                                <a:rPr lang="ar-AE" sz="900" i="1">
                                  <a:solidFill>
                                    <a:schemeClr val="tx1"/>
                                  </a:solidFill>
                                  <a:latin typeface="Cambria Math" panose="02040503050406030204" pitchFamily="18" charset="0"/>
                                </a:rPr>
                                <m:t>𝛼</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p>
                          </m:sSup>
                          <m:d>
                            <m:dPr>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𝑦</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1">
                                      <a:solidFill>
                                        <a:schemeClr val="tx1"/>
                                      </a:solidFill>
                                      <a:latin typeface="Cambria Math" panose="02040503050406030204" pitchFamily="18" charset="0"/>
                                    </a:rPr>
                                    <m:t>𝛽</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p>
                              </m:sSup>
                            </m:e>
                          </m:d>
                        </m:num>
                        <m:den>
                          <m:r>
                            <a:rPr lang="ar-AE" sz="900" i="1">
                              <a:solidFill>
                                <a:schemeClr val="tx1"/>
                              </a:solidFill>
                              <a:latin typeface="Cambria Math" panose="02040503050406030204" pitchFamily="18" charset="0"/>
                            </a:rPr>
                            <m:t>𝐵</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𝛼</m:t>
                              </m:r>
                            </m:e>
                            <m:e>
                              <m:r>
                                <a:rPr lang="ar-AE" sz="900" i="1">
                                  <a:solidFill>
                                    <a:schemeClr val="tx1"/>
                                  </a:solidFill>
                                  <a:latin typeface="Cambria Math" panose="02040503050406030204" pitchFamily="18" charset="0"/>
                                </a:rPr>
                                <m:t>𝛽</m:t>
                              </m:r>
                            </m:e>
                          </m:d>
                        </m:den>
                      </m:f>
                      <m:r>
                        <a:rPr lang="ar-AE" sz="900" i="0">
                          <a:solidFill>
                            <a:schemeClr val="tx1"/>
                          </a:solidFill>
                          <a:latin typeface="Cambria Math" panose="02040503050406030204" pitchFamily="18" charset="0"/>
                        </a:rPr>
                        <m:t>, </m:t>
                      </m:r>
                      <m:r>
                        <a:rPr lang="ar-AE" sz="900" i="0">
                          <a:solidFill>
                            <a:schemeClr val="tx1"/>
                          </a:solidFill>
                          <a:latin typeface="Cambria Math" panose="02040503050406030204" pitchFamily="18" charset="0"/>
                        </a:rPr>
                        <m:t>0</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𝑦</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oMath>
                    <m:oMath xmlns:m="http://schemas.openxmlformats.org/officeDocument/2006/math">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𝛼</m:t>
                          </m:r>
                        </m:num>
                        <m:den>
                          <m:r>
                            <a:rPr lang="ar-AE" sz="900" i="1">
                              <a:solidFill>
                                <a:schemeClr val="tx1"/>
                              </a:solidFill>
                              <a:latin typeface="Cambria Math" panose="02040503050406030204" pitchFamily="18" charset="0"/>
                            </a:rPr>
                            <m:t>𝛼</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𝛽</m:t>
                          </m:r>
                        </m:den>
                      </m:f>
                    </m:oMath>
                    <m:oMath xmlns:m="http://schemas.openxmlformats.org/officeDocument/2006/math">
                      <m:r>
                        <a:rPr lang="ar-A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𝛼𝛽</m:t>
                          </m:r>
                        </m:num>
                        <m:den>
                          <m:d>
                            <m:dPr>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𝛼</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𝛽</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𝛼</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𝛽</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e>
                              </m:d>
                            </m:e>
                          </m:d>
                        </m:den>
                      </m:f>
                    </m:oMath>
                  </m:oMathPara>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recovery</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probabilities</a:t>
                </a:r>
                <a:r>
                  <a:rPr lang="es-PE" sz="900" b="0" i="0" dirty="0">
                    <a:solidFill>
                      <a:schemeClr val="tx1"/>
                    </a:solidFill>
                    <a:effectLst/>
                    <a:latin typeface="Segoe WPC"/>
                  </a:rPr>
                  <a:t>, and </a:t>
                </a:r>
                <a:r>
                  <a:rPr lang="es-PE" sz="900" b="0" i="0" dirty="0" err="1">
                    <a:solidFill>
                      <a:schemeClr val="tx1"/>
                    </a:solidFill>
                    <a:effectLst/>
                    <a:latin typeface="Segoe WPC"/>
                  </a:rPr>
                  <a:t>bounded</a:t>
                </a:r>
                <a:r>
                  <a:rPr lang="es-PE" sz="900" b="0" i="0" dirty="0">
                    <a:solidFill>
                      <a:schemeClr val="tx1"/>
                    </a:solidFill>
                    <a:effectLst/>
                    <a:latin typeface="Segoe WPC"/>
                  </a:rPr>
                  <a:t> variables.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shape</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 </a:t>
                </a:r>
                <a:r>
                  <a:rPr lang="es-PE" sz="900" b="0" i="0" dirty="0" err="1">
                    <a:solidFill>
                      <a:schemeClr val="tx1"/>
                    </a:solidFill>
                    <a:effectLst/>
                    <a:latin typeface="Segoe WPC"/>
                  </a:rPr>
                  <a:t>lot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𝛼</m:t>
                    </m:r>
                  </m:oMath>
                </a14:m>
                <a:r>
                  <a:rPr lang="es-PE" sz="900" b="0" i="0" dirty="0">
                    <a:solidFill>
                      <a:schemeClr val="tx1"/>
                    </a:solidFill>
                    <a:effectLst/>
                    <a:latin typeface="Segoe WPC"/>
                  </a:rPr>
                  <a:t> and </a:t>
                </a:r>
                <a14:m>
                  <m:oMath xmlns:m="http://schemas.openxmlformats.org/officeDocument/2006/math">
                    <m:r>
                      <a:rPr lang="es-PE" sz="900" i="1">
                        <a:solidFill>
                          <a:schemeClr val="tx1"/>
                        </a:solidFill>
                        <a:latin typeface="Cambria Math" panose="02040503050406030204" pitchFamily="18" charset="0"/>
                      </a:rPr>
                      <m:t>𝛽</m:t>
                    </m:r>
                  </m:oMath>
                </a14:m>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think</a:t>
                </a:r>
                <a:r>
                  <a:rPr lang="es-PE" sz="900" b="0" i="0" dirty="0">
                    <a:solidFill>
                      <a:schemeClr val="tx1"/>
                    </a:solidFill>
                    <a:effectLst/>
                    <a:latin typeface="Segoe WPC"/>
                  </a:rPr>
                  <a:t> beta </a:t>
                </a:r>
                <a:r>
                  <a:rPr lang="es-PE" sz="900" b="0" i="0" dirty="0" err="1">
                    <a:solidFill>
                      <a:schemeClr val="tx1"/>
                    </a:solidFill>
                    <a:effectLst/>
                    <a:latin typeface="Segoe WPC"/>
                  </a:rPr>
                  <a:t>always</a:t>
                </a:r>
                <a:r>
                  <a:rPr lang="es-PE" sz="900" b="0" i="0" dirty="0">
                    <a:solidFill>
                      <a:schemeClr val="tx1"/>
                    </a:solidFill>
                    <a:effectLst/>
                    <a:latin typeface="Segoe WPC"/>
                  </a:rPr>
                  <a:t> looks </a:t>
                </a:r>
                <a:r>
                  <a:rPr lang="es-PE" sz="900" b="0" i="0" dirty="0" err="1">
                    <a:solidFill>
                      <a:schemeClr val="tx1"/>
                    </a:solidFill>
                    <a:effectLst/>
                    <a:latin typeface="Segoe WPC"/>
                  </a:rPr>
                  <a:t>bell-shaped</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12. Mixture </a:t>
                </a:r>
                <a:r>
                  <a:rPr lang="es-PE" sz="900" b="1" i="0" dirty="0" err="1">
                    <a:solidFill>
                      <a:schemeClr val="tx1"/>
                    </a:solidFill>
                    <a:effectLst/>
                    <a:latin typeface="Segoe WPC"/>
                  </a:rPr>
                  <a:t>Distributions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formed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combining</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more </a:t>
                </a:r>
                <a:r>
                  <a:rPr lang="es-PE" sz="900" b="0" i="0" dirty="0" err="1">
                    <a:solidFill>
                      <a:schemeClr val="tx1"/>
                    </a:solidFill>
                    <a:effectLst/>
                    <a:latin typeface="Segoe WPC"/>
                  </a:rPr>
                  <a:t>component</a:t>
                </a:r>
                <a:r>
                  <a:rPr lang="es-PE" sz="900" b="0" i="0" dirty="0">
                    <a:solidFill>
                      <a:schemeClr val="tx1"/>
                    </a:solidFill>
                    <a:effectLst/>
                    <a:latin typeface="Segoe WPC"/>
                  </a:rPr>
                  <a:t> </a:t>
                </a:r>
                <a:r>
                  <a:rPr lang="es-PE" sz="900" b="0" i="0" dirty="0" err="1">
                    <a:solidFill>
                      <a:schemeClr val="tx1"/>
                    </a:solidFill>
                    <a:effectLst/>
                    <a:latin typeface="Segoe WPC"/>
                  </a:rPr>
                  <a:t>distributions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First</a:t>
                </a:r>
                <a:r>
                  <a:rPr lang="es-PE" sz="900" b="0" i="0" dirty="0">
                    <a:solidFill>
                      <a:schemeClr val="tx1"/>
                    </a:solidFill>
                    <a:effectLst/>
                    <a:latin typeface="Segoe WPC"/>
                  </a:rPr>
                  <a:t> </a:t>
                </a:r>
                <a:r>
                  <a:rPr lang="es-PE" sz="900" b="0" i="0" dirty="0" err="1">
                    <a:solidFill>
                      <a:schemeClr val="tx1"/>
                    </a:solidFill>
                    <a:effectLst/>
                    <a:latin typeface="Segoe WPC"/>
                  </a:rPr>
                  <a:t>choose</a:t>
                </a:r>
                <a:r>
                  <a:rPr lang="es-PE" sz="900" b="0" i="0" dirty="0">
                    <a:solidFill>
                      <a:schemeClr val="tx1"/>
                    </a:solidFill>
                    <a:effectLst/>
                    <a:latin typeface="Segoe WPC"/>
                  </a:rPr>
                  <a:t> a </a:t>
                </a:r>
                <a:r>
                  <a:rPr lang="es-PE" sz="900" b="0" i="0" dirty="0" err="1">
                    <a:solidFill>
                      <a:schemeClr val="tx1"/>
                    </a:solidFill>
                    <a:effectLst/>
                    <a:latin typeface="Segoe WPC"/>
                  </a:rPr>
                  <a:t>regime</a:t>
                </a:r>
                <a:r>
                  <a:rPr lang="es-PE" sz="900" b="0" i="0" dirty="0">
                    <a:solidFill>
                      <a:schemeClr val="tx1"/>
                    </a:solidFill>
                    <a:effectLst/>
                    <a:latin typeface="Segoe WPC"/>
                  </a:rPr>
                  <a:t>/</a:t>
                </a:r>
                <a:r>
                  <a:rPr lang="es-PE" sz="900" b="0" i="0" dirty="0" err="1">
                    <a:solidFill>
                      <a:schemeClr val="tx1"/>
                    </a:solidFill>
                    <a:effectLst/>
                    <a:latin typeface="Segoe WPC"/>
                  </a:rPr>
                  <a:t>component</a:t>
                </a:r>
                <a:r>
                  <a:rPr lang="es-P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r>
                  <a:rPr lang="es-PE" sz="900" b="0" i="0" dirty="0" err="1">
                    <a:solidFill>
                      <a:schemeClr val="tx1"/>
                    </a:solidFill>
                    <a:effectLst/>
                    <a:latin typeface="Segoe WPC"/>
                  </a:rPr>
                  <a:t>draw</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weighted</a:t>
                </a:r>
                <a:r>
                  <a:rPr lang="es-PE" sz="900" b="0" i="0" dirty="0">
                    <a:solidFill>
                      <a:schemeClr val="tx1"/>
                    </a:solidFill>
                    <a:effectLst/>
                    <a:latin typeface="Segoe WPC"/>
                  </a:rPr>
                  <a:t> </a:t>
                </a:r>
                <a:r>
                  <a:rPr lang="es-PE" sz="900" b="0" i="0" dirty="0" err="1">
                    <a:solidFill>
                      <a:schemeClr val="tx1"/>
                    </a:solidFill>
                    <a:effectLst/>
                    <a:latin typeface="Segoe WPC"/>
                  </a:rPr>
                  <a:t>blend</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can </a:t>
                </a:r>
                <a:r>
                  <a:rPr lang="es-PE" sz="900" b="0" i="0" dirty="0" err="1">
                    <a:solidFill>
                      <a:schemeClr val="tx1"/>
                    </a:solidFill>
                    <a:effectLst/>
                    <a:latin typeface="Segoe WPC"/>
                  </a:rPr>
                  <a:t>become</a:t>
                </a:r>
                <a:r>
                  <a:rPr lang="es-PE" sz="900" b="0" i="0" dirty="0">
                    <a:solidFill>
                      <a:schemeClr val="tx1"/>
                    </a:solidFill>
                    <a:effectLst/>
                    <a:latin typeface="Segoe WPC"/>
                  </a:rPr>
                  <a:t> </a:t>
                </a:r>
                <a:r>
                  <a:rPr lang="es-PE" sz="900" b="0" i="0" dirty="0" err="1">
                    <a:solidFill>
                      <a:schemeClr val="tx1"/>
                    </a:solidFill>
                    <a:effectLst/>
                    <a:latin typeface="Segoe WPC"/>
                  </a:rPr>
                  <a:t>skewed</a:t>
                </a:r>
                <a:r>
                  <a:rPr lang="es-PE" sz="900" b="0" i="0" dirty="0">
                    <a:solidFill>
                      <a:schemeClr val="tx1"/>
                    </a:solidFill>
                    <a:effectLst/>
                    <a:latin typeface="Segoe WPC"/>
                  </a:rPr>
                  <a:t>, </a:t>
                </a:r>
                <a:r>
                  <a:rPr lang="es-PE" sz="900" b="0" i="0" dirty="0" err="1">
                    <a:solidFill>
                      <a:schemeClr val="tx1"/>
                    </a:solidFill>
                    <a:effectLst/>
                    <a:latin typeface="Segoe WPC"/>
                  </a:rPr>
                  <a:t>fat-tailed</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bimodal.</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𝑊</m:t>
                    </m:r>
                    <m:r>
                      <a:rPr lang="es-PE" sz="90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Bernoulli</m:t>
                    </m:r>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𝑝</m:t>
                        </m:r>
                      </m:e>
                    </m:d>
                  </m:oMath>
                </a14:m>
                <a:r>
                  <a:rPr lang="ar-A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 </a:t>
                </a:r>
                <a:r>
                  <a:rPr lang="es-PE" sz="900" b="0" i="0" dirty="0" err="1">
                    <a:solidFill>
                      <a:schemeClr val="tx1"/>
                    </a:solidFill>
                    <a:effectLst/>
                    <a:latin typeface="Segoe WPC"/>
                  </a:rPr>
                  <a:t>two-component</a:t>
                </a:r>
                <a:r>
                  <a:rPr lang="es-PE" sz="900" b="0" i="0" dirty="0">
                    <a:solidFill>
                      <a:schemeClr val="tx1"/>
                    </a:solidFill>
                    <a:effectLst/>
                    <a:latin typeface="Segoe WPC"/>
                  </a:rPr>
                  <a:t> mixture </a:t>
                </a:r>
                <a:r>
                  <a:rPr lang="es-PE" sz="900" b="0" i="0" dirty="0" err="1">
                    <a:solidFill>
                      <a:schemeClr val="tx1"/>
                    </a:solidFill>
                    <a:effectLst/>
                    <a:latin typeface="Segoe WPC"/>
                  </a:rPr>
                  <a:t>is</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𝑊</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𝑊</m:t>
                          </m:r>
                        </m:e>
                      </m:d>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2</m:t>
                          </m:r>
                        </m:sub>
                      </m:sSub>
                    </m:oMath>
                  </m:oMathPara>
                </a14:m>
                <a:br>
                  <a:rPr lang="ar-AE" sz="900" b="0" i="0" dirty="0">
                    <a:solidFill>
                      <a:schemeClr val="tx1"/>
                    </a:solidFill>
                    <a:effectLst/>
                    <a:latin typeface="Segoe WPC"/>
                  </a:rPr>
                </a:br>
                <a:r>
                  <a:rPr lang="es-PE" sz="900" b="0" i="0" dirty="0">
                    <a:solidFill>
                      <a:schemeClr val="tx1"/>
                    </a:solidFill>
                    <a:effectLst/>
                    <a:latin typeface="Segoe WPC"/>
                  </a:rPr>
                  <a:t>CDF and PDF:</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𝐹</m:t>
                          </m:r>
                        </m:e>
                        <m:sub>
                          <m:r>
                            <a:rPr lang="ar-AE" sz="900" i="1">
                              <a:solidFill>
                                <a:schemeClr val="tx1"/>
                              </a:solidFill>
                              <a:latin typeface="Cambria Math" panose="02040503050406030204" pitchFamily="18" charset="0"/>
                            </a:rPr>
                            <m:t>𝑌</m:t>
                          </m:r>
                        </m:sub>
                      </m:sSub>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𝑦</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𝐹</m:t>
                          </m:r>
                        </m:e>
                        <m: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sub>
                          </m:sSub>
                        </m:sub>
                      </m:sSub>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𝑦</m:t>
                          </m:r>
                        </m:e>
                      </m:d>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e>
                      </m:d>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𝐹</m:t>
                          </m:r>
                        </m:e>
                        <m: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2</m:t>
                              </m:r>
                            </m:sub>
                          </m:sSub>
                        </m:sub>
                      </m:sSub>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𝑦</m:t>
                          </m:r>
                        </m:e>
                      </m:d>
                    </m:oMath>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1">
                              <a:solidFill>
                                <a:schemeClr val="tx1"/>
                              </a:solidFill>
                              <a:latin typeface="Cambria Math" panose="02040503050406030204" pitchFamily="18" charset="0"/>
                            </a:rPr>
                            <m:t>𝑌</m:t>
                          </m:r>
                        </m:sub>
                      </m:sSub>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𝑦</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sub>
                          </m:sSub>
                        </m:sub>
                      </m:sSub>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𝑦</m:t>
                          </m:r>
                        </m:e>
                      </m:d>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e>
                      </m:d>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2</m:t>
                              </m:r>
                            </m:sub>
                          </m:sSub>
                        </m:sub>
                      </m:sSub>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𝑦</m:t>
                          </m:r>
                        </m:e>
                      </m:d>
                    </m:oMath>
                  </m:oMathPara>
                </a14:m>
                <a:br>
                  <a:rPr lang="ar-AE" sz="900" b="0" i="0" dirty="0">
                    <a:solidFill>
                      <a:schemeClr val="tx1"/>
                    </a:solidFill>
                    <a:effectLst/>
                    <a:latin typeface="Segoe WPC"/>
                  </a:rPr>
                </a:br>
                <a:r>
                  <a:rPr lang="es-PE" sz="900" b="0" i="0" dirty="0">
                    <a:solidFill>
                      <a:schemeClr val="tx1"/>
                    </a:solidFill>
                    <a:effectLst/>
                    <a:latin typeface="Segoe WPC"/>
                  </a:rPr>
                  <a:t>Mean:</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𝑝𝐸</m:t>
                      </m:r>
                      <m:d>
                        <m:dPr>
                          <m:begChr m:val="["/>
                          <m:end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sub>
                          </m:sSub>
                        </m:e>
                      </m:d>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e>
                      </m:d>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2</m:t>
                              </m:r>
                            </m:sub>
                          </m:sSub>
                        </m:e>
                      </m:d>
                    </m:oMath>
                  </m:oMathPara>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Very</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in </a:t>
                </a:r>
                <a:r>
                  <a:rPr lang="es-PE" sz="900" b="0" i="0" dirty="0" err="1">
                    <a:solidFill>
                      <a:schemeClr val="tx1"/>
                    </a:solidFill>
                    <a:effectLst/>
                    <a:latin typeface="Segoe WPC"/>
                  </a:rPr>
                  <a:t>finance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mixtures can capture </a:t>
                </a:r>
                <a:r>
                  <a:rPr lang="es-PE" sz="900" b="0" i="0" dirty="0" err="1">
                    <a:solidFill>
                      <a:schemeClr val="tx1"/>
                    </a:solidFill>
                    <a:effectLst/>
                    <a:latin typeface="Segoe WPC"/>
                  </a:rPr>
                  <a:t>skewness</a:t>
                </a:r>
                <a:r>
                  <a:rPr lang="es-PE" sz="900" b="0" i="0" dirty="0">
                    <a:solidFill>
                      <a:schemeClr val="tx1"/>
                    </a:solidFill>
                    <a:effectLst/>
                    <a:latin typeface="Segoe WPC"/>
                  </a:rPr>
                  <a:t>, </a:t>
                </a:r>
                <a:r>
                  <a:rPr lang="es-PE" sz="900" b="0" i="0" dirty="0" err="1">
                    <a:solidFill>
                      <a:schemeClr val="tx1"/>
                    </a:solidFill>
                    <a:effectLst/>
                    <a:latin typeface="Segoe WPC"/>
                  </a:rPr>
                  <a:t>excess</a:t>
                </a:r>
                <a:r>
                  <a:rPr lang="es-PE" sz="900" b="0" i="0" dirty="0">
                    <a:solidFill>
                      <a:schemeClr val="tx1"/>
                    </a:solidFill>
                    <a:effectLst/>
                    <a:latin typeface="Segoe WPC"/>
                  </a:rPr>
                  <a:t> </a:t>
                </a:r>
                <a:r>
                  <a:rPr lang="es-PE" sz="900" b="0" i="0" dirty="0" err="1">
                    <a:solidFill>
                      <a:schemeClr val="tx1"/>
                    </a:solidFill>
                    <a:effectLst/>
                    <a:latin typeface="Segoe WPC"/>
                  </a:rPr>
                  <a:t>kurtosis</a:t>
                </a:r>
                <a:r>
                  <a:rPr lang="es-PE" sz="900" b="0" i="0" dirty="0">
                    <a:solidFill>
                      <a:schemeClr val="tx1"/>
                    </a:solidFill>
                    <a:effectLst/>
                    <a:latin typeface="Segoe WPC"/>
                  </a:rPr>
                  <a:t>, and </a:t>
                </a:r>
                <a:r>
                  <a:rPr lang="es-PE" sz="900" b="0" i="0" dirty="0" err="1">
                    <a:solidFill>
                      <a:schemeClr val="tx1"/>
                    </a:solidFill>
                    <a:effectLst/>
                    <a:latin typeface="Segoe WPC"/>
                  </a:rPr>
                  <a:t>regime</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better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 single normal.</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mixture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normals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generally</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itself</a:t>
                </a:r>
                <a:r>
                  <a:rPr lang="es-PE" sz="900" b="0" i="0" dirty="0">
                    <a:solidFill>
                      <a:schemeClr val="tx1"/>
                    </a:solidFill>
                    <a:effectLst/>
                    <a:latin typeface="Segoe WPC"/>
                  </a:rPr>
                  <a:t> normal.</a:t>
                </a:r>
              </a:p>
            </p:txBody>
          </p:sp>
        </mc:Choice>
        <mc:Fallback xmlns="">
          <p:sp>
            <p:nvSpPr>
              <p:cNvPr id="8" name="CuadroTexto 7">
                <a:extLst>
                  <a:ext uri="{FF2B5EF4-FFF2-40B4-BE49-F238E27FC236}">
                    <a16:creationId xmlns:a16="http://schemas.microsoft.com/office/drawing/2014/main" id="{C90EEB02-DA48-2EC6-A734-AA34126DC01B}"/>
                  </a:ext>
                </a:extLst>
              </p:cNvPr>
              <p:cNvSpPr txBox="1">
                <a:spLocks noRot="1" noChangeAspect="1" noMove="1" noResize="1" noEditPoints="1" noAdjustHandles="1" noChangeArrowheads="1" noChangeShapeType="1" noTextEdit="1"/>
              </p:cNvSpPr>
              <p:nvPr/>
            </p:nvSpPr>
            <p:spPr>
              <a:xfrm>
                <a:off x="5773572" y="114118"/>
                <a:ext cx="6143624" cy="6629764"/>
              </a:xfrm>
              <a:prstGeom prst="rect">
                <a:avLst/>
              </a:prstGeom>
              <a:blipFill>
                <a:blip r:embed="rId3"/>
                <a:stretch>
                  <a:fillRect/>
                </a:stretch>
              </a:blipFill>
            </p:spPr>
            <p:txBody>
              <a:bodyPr/>
              <a:lstStyle/>
              <a:p>
                <a:r>
                  <a:rPr lang="es-PE">
                    <a:noFill/>
                  </a:rPr>
                  <a:t> </a:t>
                </a:r>
              </a:p>
            </p:txBody>
          </p:sp>
        </mc:Fallback>
      </mc:AlternateContent>
      <p:sp>
        <p:nvSpPr>
          <p:cNvPr id="11" name="Título 1">
            <a:extLst>
              <a:ext uri="{FF2B5EF4-FFF2-40B4-BE49-F238E27FC236}">
                <a16:creationId xmlns:a16="http://schemas.microsoft.com/office/drawing/2014/main" id="{DFA79909-A524-9D9F-4DE2-E9E6A1A4ADC8}"/>
              </a:ext>
            </a:extLst>
          </p:cNvPr>
          <p:cNvSpPr txBox="1">
            <a:spLocks/>
          </p:cNvSpPr>
          <p:nvPr/>
        </p:nvSpPr>
        <p:spPr>
          <a:xfrm>
            <a:off x="-1" y="1"/>
            <a:ext cx="6320971" cy="4699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a:lstStyle>
          <a:p>
            <a:r>
              <a:rPr lang="en-US" sz="2400"/>
              <a:t>Common Univariate Random Variables</a:t>
            </a:r>
            <a:endParaRPr lang="es-PE" sz="2400" dirty="0"/>
          </a:p>
        </p:txBody>
      </p:sp>
    </p:spTree>
    <p:extLst>
      <p:ext uri="{BB962C8B-B14F-4D97-AF65-F5344CB8AC3E}">
        <p14:creationId xmlns:p14="http://schemas.microsoft.com/office/powerpoint/2010/main" val="2620786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61E2900-30E8-0335-4D4B-77CC1005D438}"/>
              </a:ext>
            </a:extLst>
          </p:cNvPr>
          <p:cNvPicPr>
            <a:picLocks noChangeAspect="1"/>
          </p:cNvPicPr>
          <p:nvPr/>
        </p:nvPicPr>
        <p:blipFill>
          <a:blip r:embed="rId2"/>
          <a:stretch>
            <a:fillRect/>
          </a:stretch>
        </p:blipFill>
        <p:spPr>
          <a:xfrm>
            <a:off x="2322286" y="0"/>
            <a:ext cx="7017658" cy="6858000"/>
          </a:xfrm>
          <a:prstGeom prst="rect">
            <a:avLst/>
          </a:prstGeom>
        </p:spPr>
      </p:pic>
    </p:spTree>
    <p:extLst>
      <p:ext uri="{BB962C8B-B14F-4D97-AF65-F5344CB8AC3E}">
        <p14:creationId xmlns:p14="http://schemas.microsoft.com/office/powerpoint/2010/main" val="1284231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288C4-7FA6-68DD-6128-414A90A0F376}"/>
              </a:ext>
            </a:extLst>
          </p:cNvPr>
          <p:cNvSpPr>
            <a:spLocks noGrp="1"/>
          </p:cNvSpPr>
          <p:nvPr>
            <p:ph type="title"/>
          </p:nvPr>
        </p:nvSpPr>
        <p:spPr>
          <a:xfrm>
            <a:off x="97971" y="154668"/>
            <a:ext cx="10515600" cy="280761"/>
          </a:xfrm>
        </p:spPr>
        <p:txBody>
          <a:bodyPr>
            <a:normAutofit fontScale="90000"/>
          </a:bodyPr>
          <a:lstStyle/>
          <a:p>
            <a:r>
              <a:rPr lang="en-US" sz="3200" dirty="0"/>
              <a:t>Sample Moments</a:t>
            </a:r>
            <a:endParaRPr lang="es-PE" sz="3200"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81F763AF-7923-4582-6A1C-ACBD0AF91AE0}"/>
                  </a:ext>
                </a:extLst>
              </p:cNvPr>
              <p:cNvSpPr txBox="1"/>
              <p:nvPr/>
            </p:nvSpPr>
            <p:spPr>
              <a:xfrm>
                <a:off x="97971" y="435429"/>
                <a:ext cx="6114142" cy="6255623"/>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1. </a:t>
                </a:r>
                <a:r>
                  <a:rPr lang="es-PE" sz="900" b="1" i="0" dirty="0" err="1">
                    <a:solidFill>
                      <a:schemeClr val="tx1"/>
                    </a:solidFill>
                    <a:effectLst/>
                    <a:latin typeface="Segoe WPC"/>
                  </a:rPr>
                  <a:t>Population</a:t>
                </a:r>
                <a:r>
                  <a:rPr lang="es-PE" sz="900" b="1" i="0" dirty="0">
                    <a:solidFill>
                      <a:schemeClr val="tx1"/>
                    </a:solidFill>
                    <a:effectLst/>
                    <a:latin typeface="Segoe WPC"/>
                  </a:rPr>
                  <a:t> vs </a:t>
                </a:r>
                <a:r>
                  <a:rPr lang="es-PE" sz="900" b="1" i="0" dirty="0" err="1">
                    <a:solidFill>
                      <a:schemeClr val="tx1"/>
                    </a:solidFill>
                    <a:effectLst/>
                    <a:latin typeface="Segoe WPC"/>
                  </a:rPr>
                  <a:t>Sample</a:t>
                </a:r>
                <a:r>
                  <a:rPr lang="es-PE" sz="900" b="1" i="0" dirty="0">
                    <a:solidFill>
                      <a:schemeClr val="tx1"/>
                    </a:solidFill>
                    <a:effectLst/>
                    <a:latin typeface="Segoe WPC"/>
                  </a:rPr>
                  <a:t> </a:t>
                </a:r>
                <a:r>
                  <a:rPr lang="es-PE" sz="900" b="1" i="0" dirty="0" err="1">
                    <a:solidFill>
                      <a:schemeClr val="tx1"/>
                    </a:solidFill>
                    <a:effectLst/>
                    <a:latin typeface="Segoe WPC"/>
                  </a:rPr>
                  <a:t>Moments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Population</a:t>
                </a:r>
                <a:r>
                  <a:rPr lang="es-PE" sz="900" b="0" i="0" dirty="0">
                    <a:solidFill>
                      <a:schemeClr val="tx1"/>
                    </a:solidFill>
                    <a:effectLst/>
                    <a:latin typeface="Segoe WPC"/>
                  </a:rPr>
                  <a:t> </a:t>
                </a:r>
                <a:r>
                  <a:rPr lang="es-PE" sz="900" b="0" i="0" dirty="0" err="1">
                    <a:solidFill>
                      <a:schemeClr val="tx1"/>
                    </a:solidFill>
                    <a:effectLst/>
                    <a:latin typeface="Segoe WPC"/>
                  </a:rPr>
                  <a:t>moments</a:t>
                </a:r>
                <a:r>
                  <a:rPr lang="es-PE" sz="900" b="0" i="0" dirty="0">
                    <a:solidFill>
                      <a:schemeClr val="tx1"/>
                    </a:solidFill>
                    <a:effectLst/>
                    <a:latin typeface="Segoe WPC"/>
                  </a:rPr>
                  <a:t> are true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unknown</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moments</a:t>
                </a:r>
                <a:r>
                  <a:rPr lang="es-PE" sz="900" b="0" i="0" dirty="0">
                    <a:solidFill>
                      <a:schemeClr val="tx1"/>
                    </a:solidFill>
                    <a:effectLst/>
                    <a:latin typeface="Segoe WPC"/>
                  </a:rPr>
                  <a:t> are </a:t>
                </a:r>
                <a:r>
                  <a:rPr lang="es-PE" sz="900" b="0" i="0" dirty="0" err="1">
                    <a:solidFill>
                      <a:schemeClr val="tx1"/>
                    </a:solidFill>
                    <a:effectLst/>
                    <a:latin typeface="Segoe WPC"/>
                  </a:rPr>
                  <a:t>their</a:t>
                </a:r>
                <a:r>
                  <a:rPr lang="es-PE" sz="900" b="0" i="0" dirty="0">
                    <a:solidFill>
                      <a:schemeClr val="tx1"/>
                    </a:solidFill>
                    <a:effectLst/>
                    <a:latin typeface="Segoe WPC"/>
                  </a:rPr>
                  <a:t> </a:t>
                </a:r>
                <a:r>
                  <a:rPr lang="es-PE" sz="900" b="0" i="0" dirty="0" err="1">
                    <a:solidFill>
                      <a:schemeClr val="tx1"/>
                    </a:solidFill>
                    <a:effectLst/>
                    <a:latin typeface="Segoe WPC"/>
                  </a:rPr>
                  <a:t>estimates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data.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Population</a:t>
                </a:r>
                <a:r>
                  <a:rPr lang="es-PE" sz="900" b="0" i="0" dirty="0">
                    <a:solidFill>
                      <a:schemeClr val="tx1"/>
                    </a:solidFill>
                    <a:effectLst/>
                    <a:latin typeface="Segoe WPC"/>
                  </a:rPr>
                  <a:t> = </a:t>
                </a:r>
                <a:r>
                  <a:rPr lang="es-PE" sz="900" b="0" i="0" dirty="0" err="1">
                    <a:solidFill>
                      <a:schemeClr val="tx1"/>
                    </a:solidFill>
                    <a:effectLst/>
                    <a:latin typeface="Segoe WPC"/>
                  </a:rPr>
                  <a:t>theory</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 </a:t>
                </a:r>
                <a:r>
                  <a:rPr lang="es-PE" sz="900" b="0" i="0" dirty="0" err="1">
                    <a:solidFill>
                      <a:schemeClr val="tx1"/>
                    </a:solidFill>
                    <a:effectLst/>
                    <a:latin typeface="Segoe WPC"/>
                  </a:rPr>
                  <a:t>what</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calculate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Data are a </a:t>
                </a:r>
                <a:r>
                  <a:rPr lang="es-PE" sz="900" b="0" i="0" dirty="0" err="1">
                    <a:solidFill>
                      <a:schemeClr val="tx1"/>
                    </a:solidFill>
                    <a:effectLst/>
                    <a:latin typeface="Segoe WPC"/>
                  </a:rPr>
                  <a:t>noisy</a:t>
                </a:r>
                <a:r>
                  <a:rPr lang="es-PE" sz="900" b="0" i="0" dirty="0">
                    <a:solidFill>
                      <a:schemeClr val="tx1"/>
                    </a:solidFill>
                    <a:effectLst/>
                    <a:latin typeface="Segoe WPC"/>
                  </a:rPr>
                  <a:t> </a:t>
                </a:r>
                <a:r>
                  <a:rPr lang="es-PE" sz="900" b="0" i="0" dirty="0" err="1">
                    <a:solidFill>
                      <a:schemeClr val="tx1"/>
                    </a:solidFill>
                    <a:effectLst/>
                    <a:latin typeface="Segoe WPC"/>
                  </a:rPr>
                  <a:t>window</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true </a:t>
                </a:r>
                <a:r>
                  <a:rPr lang="es-PE" sz="900" b="0" i="0" dirty="0" err="1">
                    <a:solidFill>
                      <a:schemeClr val="tx1"/>
                    </a:solidFill>
                    <a:effectLst/>
                    <a:latin typeface="Segoe WPC"/>
                  </a:rPr>
                  <a:t>distribution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𝜇</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e>
                    </m:d>
                  </m:oMath>
                </a14:m>
                <a:r>
                  <a:rPr lang="ar-AE" sz="900" b="0" i="0" dirty="0">
                    <a:solidFill>
                      <a:schemeClr val="tx1"/>
                    </a:solidFill>
                    <a:effectLst/>
                    <a:latin typeface="Segoe WPC"/>
                  </a:rPr>
                  <a:t>, </a:t>
                </a:r>
                <a14:m>
                  <m:oMath xmlns:m="http://schemas.openxmlformats.org/officeDocument/2006/math">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1">
                            <a:solidFill>
                              <a:schemeClr val="tx1"/>
                            </a:solidFill>
                            <a:latin typeface="Cambria Math" panose="02040503050406030204" pitchFamily="18" charset="0"/>
                          </a:rPr>
                          <m:t>𝑛</m:t>
                        </m:r>
                      </m:den>
                    </m:f>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𝑛</m:t>
                        </m:r>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1">
                                <a:solidFill>
                                  <a:schemeClr val="tx1"/>
                                </a:solidFill>
                                <a:latin typeface="Cambria Math" panose="02040503050406030204" pitchFamily="18" charset="0"/>
                              </a:rPr>
                              <m:t>𝑖</m:t>
                            </m:r>
                          </m:sub>
                        </m:sSub>
                      </m:e>
                    </m:nary>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In </a:t>
                </a:r>
                <a:r>
                  <a:rPr lang="es-PE" sz="900" b="0" i="0" dirty="0" err="1">
                    <a:solidFill>
                      <a:schemeClr val="tx1"/>
                    </a:solidFill>
                    <a:effectLst/>
                    <a:latin typeface="Segoe WPC"/>
                  </a:rPr>
                  <a:t>practice</a:t>
                </a:r>
                <a:r>
                  <a:rPr lang="es-PE" sz="900" b="0" i="0" dirty="0">
                    <a:solidFill>
                      <a:schemeClr val="tx1"/>
                    </a:solidFill>
                    <a:effectLst/>
                    <a:latin typeface="Segoe WPC"/>
                  </a:rPr>
                  <a:t>, </a:t>
                </a:r>
                <a:r>
                  <a:rPr lang="es-PE" sz="900" b="0" i="0" dirty="0" err="1">
                    <a:solidFill>
                      <a:schemeClr val="tx1"/>
                    </a:solidFill>
                    <a:effectLst/>
                    <a:latin typeface="Segoe WPC"/>
                  </a:rPr>
                  <a:t>we</a:t>
                </a:r>
                <a:r>
                  <a:rPr lang="es-PE" sz="900" b="0" i="0" dirty="0">
                    <a:solidFill>
                      <a:schemeClr val="tx1"/>
                    </a:solidFill>
                    <a:effectLst/>
                    <a:latin typeface="Segoe WPC"/>
                  </a:rPr>
                  <a:t> </a:t>
                </a:r>
                <a:r>
                  <a:rPr lang="es-PE" sz="900" b="0" i="0" dirty="0" err="1">
                    <a:solidFill>
                      <a:schemeClr val="tx1"/>
                    </a:solidFill>
                    <a:effectLst/>
                    <a:latin typeface="Segoe WPC"/>
                  </a:rPr>
                  <a:t>estimate</a:t>
                </a:r>
                <a:r>
                  <a:rPr lang="es-PE" sz="900" b="0" i="0" dirty="0">
                    <a:solidFill>
                      <a:schemeClr val="tx1"/>
                    </a:solidFill>
                    <a:effectLst/>
                    <a:latin typeface="Segoe WPC"/>
                  </a:rPr>
                  <a:t> </a:t>
                </a:r>
                <a:r>
                  <a:rPr lang="es-PE" sz="900" b="0" i="0" dirty="0" err="1">
                    <a:solidFill>
                      <a:schemeClr val="tx1"/>
                    </a:solidFill>
                    <a:effectLst/>
                    <a:latin typeface="Segoe WPC"/>
                  </a:rPr>
                  <a:t>unknown</a:t>
                </a:r>
                <a:r>
                  <a:rPr lang="es-PE" sz="900" b="0" i="0" dirty="0">
                    <a:solidFill>
                      <a:schemeClr val="tx1"/>
                    </a:solidFill>
                    <a:effectLst/>
                    <a:latin typeface="Segoe WPC"/>
                  </a:rPr>
                  <a:t> </a:t>
                </a:r>
                <a:r>
                  <a:rPr lang="es-PE" sz="900" b="0" i="0" dirty="0" err="1">
                    <a:solidFill>
                      <a:schemeClr val="tx1"/>
                    </a:solidFill>
                    <a:effectLst/>
                    <a:latin typeface="Segoe WPC"/>
                  </a:rPr>
                  <a:t>population</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statistics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confuse a </a:t>
                </a:r>
                <a:r>
                  <a:rPr lang="es-PE" sz="900" b="0" i="0" dirty="0" err="1">
                    <a:solidFill>
                      <a:schemeClr val="tx1"/>
                    </a:solidFill>
                    <a:effectLst/>
                    <a:latin typeface="Segoe WPC"/>
                  </a:rPr>
                  <a:t>parameter</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estimator</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2. </a:t>
                </a:r>
                <a:r>
                  <a:rPr lang="es-PE" sz="900" b="1" i="0" dirty="0" err="1">
                    <a:solidFill>
                      <a:schemeClr val="tx1"/>
                    </a:solidFill>
                    <a:effectLst/>
                    <a:latin typeface="Segoe WPC"/>
                  </a:rPr>
                  <a:t>Estimator</a:t>
                </a:r>
                <a:r>
                  <a:rPr lang="es-PE" sz="900" b="1" i="0" dirty="0">
                    <a:solidFill>
                      <a:schemeClr val="tx1"/>
                    </a:solidFill>
                    <a:effectLst/>
                    <a:latin typeface="Segoe WPC"/>
                  </a:rPr>
                  <a:t> vs </a:t>
                </a:r>
                <a:r>
                  <a:rPr lang="es-PE" sz="900" b="1" i="0" dirty="0" err="1">
                    <a:solidFill>
                      <a:schemeClr val="tx1"/>
                    </a:solidFill>
                    <a:effectLst/>
                    <a:latin typeface="Segoe WPC"/>
                  </a:rPr>
                  <a:t>Estimate</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estimator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formula;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estimate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produced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formula.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Estimator</a:t>
                </a:r>
                <a:r>
                  <a:rPr lang="es-PE" sz="900" b="0" i="0" dirty="0">
                    <a:solidFill>
                      <a:schemeClr val="tx1"/>
                    </a:solidFill>
                    <a:effectLst/>
                    <a:latin typeface="Segoe WPC"/>
                  </a:rPr>
                  <a:t> = rule, </a:t>
                </a:r>
                <a:r>
                  <a:rPr lang="es-PE" sz="900" b="0" i="0" dirty="0" err="1">
                    <a:solidFill>
                      <a:schemeClr val="tx1"/>
                    </a:solidFill>
                    <a:effectLst/>
                    <a:latin typeface="Segoe WPC"/>
                  </a:rPr>
                  <a:t>estimate</a:t>
                </a:r>
                <a:r>
                  <a:rPr lang="es-PE" sz="900" b="0" i="0" dirty="0">
                    <a:solidFill>
                      <a:schemeClr val="tx1"/>
                    </a:solidFill>
                    <a:effectLst/>
                    <a:latin typeface="Segoe WPC"/>
                  </a:rPr>
                  <a:t> = </a:t>
                </a:r>
                <a:r>
                  <a:rPr lang="es-PE" sz="900" b="0" i="0" dirty="0" err="1">
                    <a:solidFill>
                      <a:schemeClr val="tx1"/>
                    </a:solidFill>
                    <a:effectLst/>
                    <a:latin typeface="Segoe WPC"/>
                  </a:rPr>
                  <a:t>result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Data </a:t>
                </a:r>
                <a14:m>
                  <m:oMath xmlns:m="http://schemas.openxmlformats.org/officeDocument/2006/math">
                    <m:r>
                      <a:rPr lang="es-PE" sz="900">
                        <a:solidFill>
                          <a:schemeClr val="tx1"/>
                        </a:solidFill>
                        <a:latin typeface="Cambria Math" panose="02040503050406030204" pitchFamily="18" charset="0"/>
                      </a:rPr>
                      <m:t>→</m:t>
                    </m:r>
                  </m:oMath>
                </a14:m>
                <a:r>
                  <a:rPr lang="es-PE" sz="900" b="0" i="0" dirty="0">
                    <a:solidFill>
                      <a:schemeClr val="tx1"/>
                    </a:solidFill>
                    <a:effectLst/>
                    <a:latin typeface="Segoe WPC"/>
                  </a:rPr>
                  <a:t> formula </a:t>
                </a:r>
                <a14:m>
                  <m:oMath xmlns:m="http://schemas.openxmlformats.org/officeDocument/2006/math">
                    <m:r>
                      <a:rPr lang="es-PE" sz="900">
                        <a:solidFill>
                          <a:schemeClr val="tx1"/>
                        </a:solidFill>
                        <a:latin typeface="Cambria Math" panose="02040503050406030204" pitchFamily="18" charset="0"/>
                      </a:rPr>
                      <m:t>→</m:t>
                    </m:r>
                  </m:oMath>
                </a14:m>
                <a:r>
                  <a:rPr lang="es-PE" sz="900" b="0" i="0" dirty="0">
                    <a:solidFill>
                      <a:schemeClr val="tx1"/>
                    </a:solidFill>
                    <a:effectLst/>
                    <a:latin typeface="Segoe WPC"/>
                  </a:rPr>
                  <a:t> </a:t>
                </a:r>
                <a:r>
                  <a:rPr lang="es-PE" sz="900" b="0" i="0" dirty="0" err="1">
                    <a:solidFill>
                      <a:schemeClr val="tx1"/>
                    </a:solidFill>
                    <a:effectLst/>
                    <a:latin typeface="Segoe WPC"/>
                  </a:rPr>
                  <a:t>number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𝜃</m:t>
                        </m:r>
                      </m:e>
                    </m:acc>
                  </m:oMath>
                </a14:m>
                <a:r>
                  <a:rPr lang="ar-AE" sz="900" b="0" i="0" dirty="0">
                    <a:solidFill>
                      <a:schemeClr val="tx1"/>
                    </a:solidFill>
                    <a:effectLst/>
                    <a:latin typeface="Segoe WPC"/>
                  </a:rPr>
                  <a:t> </a:t>
                </a:r>
                <a:r>
                  <a:rPr lang="es-PE" sz="900" b="0" i="0" dirty="0">
                    <a:solidFill>
                      <a:schemeClr val="tx1"/>
                    </a:solidFill>
                    <a:effectLst/>
                    <a:latin typeface="Segoe WPC"/>
                  </a:rPr>
                  <a:t>denotes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estimator</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𝜃</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Before</a:t>
                </a:r>
                <a:r>
                  <a:rPr lang="es-PE" sz="900" b="0" i="0" dirty="0">
                    <a:solidFill>
                      <a:schemeClr val="tx1"/>
                    </a:solidFill>
                    <a:effectLst/>
                    <a:latin typeface="Segoe WPC"/>
                  </a:rPr>
                  <a:t> </a:t>
                </a:r>
                <a:r>
                  <a:rPr lang="es-PE" sz="900" b="0" i="0" dirty="0" err="1">
                    <a:solidFill>
                      <a:schemeClr val="tx1"/>
                    </a:solidFill>
                    <a:effectLst/>
                    <a:latin typeface="Segoe WPC"/>
                  </a:rPr>
                  <a:t>seeing</a:t>
                </a:r>
                <a:r>
                  <a:rPr lang="es-PE" sz="900" b="0" i="0" dirty="0">
                    <a:solidFill>
                      <a:schemeClr val="tx1"/>
                    </a:solidFill>
                    <a:effectLst/>
                    <a:latin typeface="Segoe WPC"/>
                  </a:rPr>
                  <a:t> data,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estimator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random</a:t>
                </a:r>
                <a:r>
                  <a:rPr lang="es-PE" sz="900" b="0" i="0" dirty="0">
                    <a:solidFill>
                      <a:schemeClr val="tx1"/>
                    </a:solidFill>
                    <a:effectLst/>
                    <a:latin typeface="Segoe WPC"/>
                  </a:rPr>
                  <a:t>; after </a:t>
                </a:r>
                <a:r>
                  <a:rPr lang="es-PE" sz="900" b="0" i="0" dirty="0" err="1">
                    <a:solidFill>
                      <a:schemeClr val="tx1"/>
                    </a:solidFill>
                    <a:effectLst/>
                    <a:latin typeface="Segoe WPC"/>
                  </a:rPr>
                  <a:t>seeing</a:t>
                </a:r>
                <a:r>
                  <a:rPr lang="es-PE" sz="900" b="0" i="0" dirty="0">
                    <a:solidFill>
                      <a:schemeClr val="tx1"/>
                    </a:solidFill>
                    <a:effectLst/>
                    <a:latin typeface="Segoe WPC"/>
                  </a:rPr>
                  <a:t> data,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estimate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fixed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are </a:t>
                </a:r>
                <a:r>
                  <a:rPr lang="es-PE" sz="900" b="0" i="0" dirty="0" err="1">
                    <a:solidFill>
                      <a:schemeClr val="tx1"/>
                    </a:solidFill>
                    <a:effectLst/>
                    <a:latin typeface="Segoe WPC"/>
                  </a:rPr>
                  <a:t>related</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thing</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3. </a:t>
                </a:r>
                <a:r>
                  <a:rPr lang="es-PE" sz="900" b="1" i="0" dirty="0" err="1">
                    <a:solidFill>
                      <a:schemeClr val="tx1"/>
                    </a:solidFill>
                    <a:effectLst/>
                    <a:latin typeface="Segoe WPC"/>
                  </a:rPr>
                  <a:t>Sample</a:t>
                </a:r>
                <a:r>
                  <a:rPr lang="es-PE" sz="900" b="1" i="0" dirty="0">
                    <a:solidFill>
                      <a:schemeClr val="tx1"/>
                    </a:solidFill>
                    <a:effectLst/>
                    <a:latin typeface="Segoe WPC"/>
                  </a:rPr>
                  <a:t> Mean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standard </a:t>
                </a:r>
                <a:r>
                  <a:rPr lang="es-PE" sz="900" b="0" i="0" dirty="0" err="1">
                    <a:solidFill>
                      <a:schemeClr val="tx1"/>
                    </a:solidFill>
                    <a:effectLst/>
                    <a:latin typeface="Segoe WPC"/>
                  </a:rPr>
                  <a:t>estimator</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population</a:t>
                </a:r>
                <a:r>
                  <a:rPr lang="es-PE" sz="900" b="0" i="0" dirty="0">
                    <a:solidFill>
                      <a:schemeClr val="tx1"/>
                    </a:solidFill>
                    <a:effectLst/>
                    <a:latin typeface="Segoe WPC"/>
                  </a:rPr>
                  <a:t> mean.</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center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observed</a:t>
                </a:r>
                <a:r>
                  <a:rPr lang="es-PE" sz="900" b="0" i="0" dirty="0">
                    <a:solidFill>
                      <a:schemeClr val="tx1"/>
                    </a:solidFill>
                    <a:effectLst/>
                    <a:latin typeface="Segoe WPC"/>
                  </a:rPr>
                  <a:t> data.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1">
                            <a:solidFill>
                              <a:schemeClr val="tx1"/>
                            </a:solidFill>
                            <a:latin typeface="Cambria Math" panose="02040503050406030204" pitchFamily="18" charset="0"/>
                          </a:rPr>
                          <m:t>𝑛</m:t>
                        </m:r>
                      </m:den>
                    </m:f>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𝑛</m:t>
                        </m:r>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1">
                                <a:solidFill>
                                  <a:schemeClr val="tx1"/>
                                </a:solidFill>
                                <a:latin typeface="Cambria Math" panose="02040503050406030204" pitchFamily="18" charset="0"/>
                              </a:rPr>
                              <m:t>𝑖</m:t>
                            </m:r>
                          </m:sub>
                        </m:sSub>
                      </m:e>
                    </m:nary>
                  </m:oMath>
                </a14:m>
                <a:r>
                  <a:rPr lang="ar-AE" sz="900" b="0" i="0" dirty="0">
                    <a:solidFill>
                      <a:schemeClr val="tx1"/>
                    </a:solidFill>
                    <a:effectLst/>
                    <a:latin typeface="Segoe WPC"/>
                  </a:rPr>
                  <a:t>, </a:t>
                </a:r>
                <a14:m>
                  <m:oMath xmlns:m="http://schemas.openxmlformats.org/officeDocument/2006/math">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𝜇</m:t>
                    </m:r>
                  </m:oMath>
                </a14:m>
                <a:r>
                  <a:rPr lang="ar-AE" sz="900" b="0" i="0" dirty="0">
                    <a:solidFill>
                      <a:schemeClr val="tx1"/>
                    </a:solidFill>
                    <a:effectLst/>
                    <a:latin typeface="Segoe WPC"/>
                  </a:rPr>
                  <a:t>, </a:t>
                </a:r>
                <a14:m>
                  <m:oMath xmlns:m="http://schemas.openxmlformats.org/officeDocument/2006/math">
                    <m:r>
                      <a:rPr lang="ar-A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num>
                      <m:den>
                        <m:r>
                          <a:rPr lang="ar-AE" sz="900" i="1">
                            <a:solidFill>
                              <a:schemeClr val="tx1"/>
                            </a:solidFill>
                            <a:latin typeface="Cambria Math" panose="02040503050406030204" pitchFamily="18" charset="0"/>
                          </a:rPr>
                          <m:t>𝑛</m:t>
                        </m:r>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mean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unbiased</a:t>
                </a:r>
                <a:r>
                  <a:rPr lang="es-PE" sz="900" b="0" i="0" dirty="0">
                    <a:solidFill>
                      <a:schemeClr val="tx1"/>
                    </a:solidFill>
                    <a:effectLst/>
                    <a:latin typeface="Segoe WPC"/>
                  </a:rPr>
                  <a:t> and </a:t>
                </a:r>
                <a:r>
                  <a:rPr lang="es-PE" sz="900" b="0" i="0" dirty="0" err="1">
                    <a:solidFill>
                      <a:schemeClr val="tx1"/>
                    </a:solidFill>
                    <a:effectLst/>
                    <a:latin typeface="Segoe WPC"/>
                  </a:rPr>
                  <a:t>gets</a:t>
                </a:r>
                <a:r>
                  <a:rPr lang="es-PE" sz="900" b="0" i="0" dirty="0">
                    <a:solidFill>
                      <a:schemeClr val="tx1"/>
                    </a:solidFill>
                    <a:effectLst/>
                    <a:latin typeface="Segoe WPC"/>
                  </a:rPr>
                  <a:t> more precise as </a:t>
                </a:r>
                <a14:m>
                  <m:oMath xmlns:m="http://schemas.openxmlformats.org/officeDocument/2006/math">
                    <m:r>
                      <a:rPr lang="es-PE" sz="900" i="1">
                        <a:solidFill>
                          <a:schemeClr val="tx1"/>
                        </a:solidFill>
                        <a:latin typeface="Cambria Math" panose="02040503050406030204" pitchFamily="18" charset="0"/>
                      </a:rPr>
                      <m:t>𝑛</m:t>
                    </m:r>
                  </m:oMath>
                </a14:m>
                <a:r>
                  <a:rPr lang="es-PE" sz="900" b="0" i="0" dirty="0">
                    <a:solidFill>
                      <a:schemeClr val="tx1"/>
                    </a:solidFill>
                    <a:effectLst/>
                    <a:latin typeface="Segoe WPC"/>
                  </a:rPr>
                  <a:t> </a:t>
                </a:r>
                <a:r>
                  <a:rPr lang="es-PE" sz="900" b="0" i="0" dirty="0" err="1">
                    <a:solidFill>
                      <a:schemeClr val="tx1"/>
                    </a:solidFill>
                    <a:effectLst/>
                    <a:latin typeface="Segoe WPC"/>
                  </a:rPr>
                  <a:t>grows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e>
                    </m:d>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as </a:t>
                </a:r>
                <a14:m>
                  <m:oMath xmlns:m="http://schemas.openxmlformats.org/officeDocument/2006/math">
                    <m:r>
                      <a:rPr lang="es-P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e>
                    </m:d>
                  </m:oMath>
                </a14:m>
                <a:r>
                  <a:rPr lang="ar-AE" sz="900" b="0" i="0" dirty="0">
                    <a:solidFill>
                      <a:schemeClr val="tx1"/>
                    </a:solidFill>
                    <a:effectLst/>
                    <a:latin typeface="Segoe WPC"/>
                  </a:rPr>
                  <a:t>.</a:t>
                </a:r>
              </a:p>
              <a:p>
                <a:pPr algn="l">
                  <a:spcAft>
                    <a:spcPts val="1200"/>
                  </a:spcAft>
                  <a:buNone/>
                </a:pPr>
                <a:r>
                  <a:rPr lang="ar-AE" sz="900" b="1" i="0" dirty="0">
                    <a:solidFill>
                      <a:schemeClr val="tx1"/>
                    </a:solidFill>
                    <a:effectLst/>
                    <a:latin typeface="Segoe WPC"/>
                  </a:rPr>
                  <a:t>4. </a:t>
                </a:r>
                <a:r>
                  <a:rPr lang="es-PE" sz="900" b="1" i="0" dirty="0" err="1">
                    <a:solidFill>
                      <a:schemeClr val="tx1"/>
                    </a:solidFill>
                    <a:effectLst/>
                    <a:latin typeface="Segoe WPC"/>
                  </a:rPr>
                  <a:t>Bias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error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estimator</a:t>
                </a:r>
                <a:r>
                  <a:rPr lang="es-PE" sz="900" b="0" i="0" dirty="0">
                    <a:solidFill>
                      <a:schemeClr val="tx1"/>
                    </a:solidFill>
                    <a:effectLst/>
                    <a:latin typeface="Segoe WPC"/>
                  </a:rPr>
                  <a:t> relative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true </a:t>
                </a:r>
                <a:r>
                  <a:rPr lang="es-PE" sz="900" b="0" i="0" dirty="0" err="1">
                    <a:solidFill>
                      <a:schemeClr val="tx1"/>
                    </a:solidFill>
                    <a:effectLst/>
                    <a:latin typeface="Segoe WPC"/>
                  </a:rPr>
                  <a:t>parameter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tells</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estimator</a:t>
                </a:r>
                <a:r>
                  <a:rPr lang="es-PE" sz="900" b="0" i="0" dirty="0">
                    <a:solidFill>
                      <a:schemeClr val="tx1"/>
                    </a:solidFill>
                    <a:effectLst/>
                    <a:latin typeface="Segoe WPC"/>
                  </a:rPr>
                  <a:t> </a:t>
                </a:r>
                <a:r>
                  <a:rPr lang="es-PE" sz="900" b="0" i="0" dirty="0" err="1">
                    <a:solidFill>
                      <a:schemeClr val="tx1"/>
                    </a:solidFill>
                    <a:effectLst/>
                    <a:latin typeface="Segoe WPC"/>
                  </a:rPr>
                  <a:t>systematically</a:t>
                </a:r>
                <a:r>
                  <a:rPr lang="es-PE" sz="900" b="0" i="0" dirty="0">
                    <a:solidFill>
                      <a:schemeClr val="tx1"/>
                    </a:solidFill>
                    <a:effectLst/>
                    <a:latin typeface="Segoe WPC"/>
                  </a:rPr>
                  <a:t> </a:t>
                </a:r>
                <a:r>
                  <a:rPr lang="es-PE" sz="900" b="0" i="0" dirty="0" err="1">
                    <a:solidFill>
                      <a:schemeClr val="tx1"/>
                    </a:solidFill>
                    <a:effectLst/>
                    <a:latin typeface="Segoe WPC"/>
                  </a:rPr>
                  <a:t>misses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target.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Centered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target = </a:t>
                </a:r>
                <a:r>
                  <a:rPr lang="es-PE" sz="900" b="0" i="0" dirty="0" err="1">
                    <a:solidFill>
                      <a:schemeClr val="tx1"/>
                    </a:solidFill>
                    <a:effectLst/>
                    <a:latin typeface="Segoe WPC"/>
                  </a:rPr>
                  <a:t>unbiased</a:t>
                </a:r>
                <a:r>
                  <a:rPr lang="es-PE" sz="900" b="0" i="0" dirty="0">
                    <a:solidFill>
                      <a:schemeClr val="tx1"/>
                    </a:solidFill>
                    <a:effectLst/>
                    <a:latin typeface="Segoe WPC"/>
                  </a:rPr>
                  <a:t>; </a:t>
                </a:r>
                <a:r>
                  <a:rPr lang="es-PE" sz="900" b="0" i="0" dirty="0" err="1">
                    <a:solidFill>
                      <a:schemeClr val="tx1"/>
                    </a:solidFill>
                    <a:effectLst/>
                    <a:latin typeface="Segoe WPC"/>
                  </a:rPr>
                  <a:t>shifted</a:t>
                </a:r>
                <a:r>
                  <a:rPr lang="es-PE" sz="900" b="0" i="0" dirty="0">
                    <a:solidFill>
                      <a:schemeClr val="tx1"/>
                    </a:solidFill>
                    <a:effectLst/>
                    <a:latin typeface="Segoe WPC"/>
                  </a:rPr>
                  <a:t> </a:t>
                </a:r>
                <a:r>
                  <a:rPr lang="es-PE" sz="900" b="0" i="0" dirty="0" err="1">
                    <a:solidFill>
                      <a:schemeClr val="tx1"/>
                    </a:solidFill>
                    <a:effectLst/>
                    <a:latin typeface="Segoe WPC"/>
                  </a:rPr>
                  <a:t>away</a:t>
                </a:r>
                <a:r>
                  <a:rPr lang="es-PE" sz="900" b="0" i="0" dirty="0">
                    <a:solidFill>
                      <a:schemeClr val="tx1"/>
                    </a:solidFill>
                    <a:effectLst/>
                    <a:latin typeface="Segoe WPC"/>
                  </a:rPr>
                  <a:t> = </a:t>
                </a:r>
                <a:r>
                  <a:rPr lang="es-PE" sz="900" b="0" i="0" dirty="0" err="1">
                    <a:solidFill>
                      <a:schemeClr val="tx1"/>
                    </a:solidFill>
                    <a:effectLst/>
                    <a:latin typeface="Segoe WPC"/>
                  </a:rPr>
                  <a:t>biased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𝐵𝑖𝑎𝑠</m:t>
                    </m:r>
                    <m:d>
                      <m:dPr>
                        <m:ctrlPr>
                          <a:rPr lang="ar-AE" sz="900" i="1">
                            <a:solidFill>
                              <a:schemeClr val="tx1"/>
                            </a:solidFill>
                            <a:latin typeface="Cambria Math" panose="02040503050406030204" pitchFamily="18" charset="0"/>
                          </a:rPr>
                        </m:ctrlPr>
                      </m:d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𝜃</m:t>
                            </m:r>
                          </m:e>
                        </m:acc>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𝜃</m:t>
                            </m:r>
                          </m:e>
                        </m:acc>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𝜃</m:t>
                    </m:r>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mean has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bias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Unbiased</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mean </a:t>
                </a:r>
                <a:r>
                  <a:rPr lang="es-PE" sz="900" b="0" i="0" dirty="0" err="1">
                    <a:solidFill>
                      <a:schemeClr val="tx1"/>
                    </a:solidFill>
                    <a:effectLst/>
                    <a:latin typeface="Segoe WPC"/>
                  </a:rPr>
                  <a:t>accurate</a:t>
                </a:r>
                <a:r>
                  <a:rPr lang="es-PE" sz="900" b="0" i="0" dirty="0">
                    <a:solidFill>
                      <a:schemeClr val="tx1"/>
                    </a:solidFill>
                    <a:effectLst/>
                    <a:latin typeface="Segoe WPC"/>
                  </a:rPr>
                  <a:t> in </a:t>
                </a:r>
                <a:r>
                  <a:rPr lang="es-PE" sz="900" b="0" i="0" dirty="0" err="1">
                    <a:solidFill>
                      <a:schemeClr val="tx1"/>
                    </a:solidFill>
                    <a:effectLst/>
                    <a:latin typeface="Segoe WPC"/>
                  </a:rPr>
                  <a:t>every</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5. </a:t>
                </a:r>
                <a:r>
                  <a:rPr lang="es-PE" sz="900" b="1" i="0" dirty="0" err="1">
                    <a:solidFill>
                      <a:schemeClr val="tx1"/>
                    </a:solidFill>
                    <a:effectLst/>
                    <a:latin typeface="Segoe WPC"/>
                  </a:rPr>
                  <a:t>Sample</a:t>
                </a:r>
                <a:r>
                  <a:rPr lang="es-PE" sz="900" b="1" i="0" dirty="0">
                    <a:solidFill>
                      <a:schemeClr val="tx1"/>
                    </a:solidFill>
                    <a:effectLst/>
                    <a:latin typeface="Segoe WPC"/>
                  </a:rPr>
                  <a:t> </a:t>
                </a:r>
                <a:r>
                  <a:rPr lang="es-PE" sz="900" b="1" i="0" dirty="0" err="1">
                    <a:solidFill>
                      <a:schemeClr val="tx1"/>
                    </a:solidFill>
                    <a:effectLst/>
                    <a:latin typeface="Segoe WPC"/>
                  </a:rPr>
                  <a:t>Variance</a:t>
                </a:r>
                <a:r>
                  <a:rPr lang="es-PE" sz="900" b="1" i="0" dirty="0">
                    <a:solidFill>
                      <a:schemeClr val="tx1"/>
                    </a:solidFill>
                    <a:effectLst/>
                    <a:latin typeface="Segoe WPC"/>
                  </a:rPr>
                  <a:t> and Standard Error</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Estimators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dispersion</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data and </a:t>
                </a:r>
                <a:r>
                  <a:rPr lang="es-PE" sz="900" b="0" i="0" dirty="0" err="1">
                    <a:solidFill>
                      <a:schemeClr val="tx1"/>
                    </a:solidFill>
                    <a:effectLst/>
                    <a:latin typeface="Segoe WPC"/>
                  </a:rPr>
                  <a:t>uncertainty</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estimator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spread in data; standard error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precision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mean.</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More data </a:t>
                </a:r>
                <a:r>
                  <a:rPr lang="es-PE" sz="900" b="0" i="0" dirty="0" err="1">
                    <a:solidFill>
                      <a:schemeClr val="tx1"/>
                    </a:solidFill>
                    <a:effectLst/>
                    <a:latin typeface="Segoe WPC"/>
                  </a:rPr>
                  <a:t>shrink</a:t>
                </a:r>
                <a:r>
                  <a:rPr lang="es-PE" sz="900" b="0" i="0" dirty="0">
                    <a:solidFill>
                      <a:schemeClr val="tx1"/>
                    </a:solidFill>
                    <a:effectLst/>
                    <a:latin typeface="Segoe WPC"/>
                  </a:rPr>
                  <a:t> </a:t>
                </a:r>
                <a:r>
                  <a:rPr lang="es-PE" sz="900" b="0" i="0" dirty="0" err="1">
                    <a:solidFill>
                      <a:schemeClr val="tx1"/>
                    </a:solidFill>
                    <a:effectLst/>
                    <a:latin typeface="Segoe WPC"/>
                  </a:rPr>
                  <a:t>estimator</a:t>
                </a:r>
                <a:r>
                  <a:rPr lang="es-PE" sz="900" b="0" i="0" dirty="0">
                    <a:solidFill>
                      <a:schemeClr val="tx1"/>
                    </a:solidFill>
                    <a:effectLst/>
                    <a:latin typeface="Segoe WPC"/>
                  </a:rPr>
                  <a:t> </a:t>
                </a:r>
                <a:r>
                  <a:rPr lang="es-PE" sz="900" b="0" i="0" dirty="0" err="1">
                    <a:solidFill>
                      <a:schemeClr val="tx1"/>
                    </a:solidFill>
                    <a:effectLst/>
                    <a:latin typeface="Segoe WPC"/>
                  </a:rPr>
                  <a:t>uncertainty</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raw data </a:t>
                </a:r>
                <a:r>
                  <a:rPr lang="es-PE" sz="900" b="0" i="0" dirty="0" err="1">
                    <a:solidFill>
                      <a:schemeClr val="tx1"/>
                    </a:solidFill>
                    <a:effectLst/>
                    <a:latin typeface="Segoe WPC"/>
                  </a:rPr>
                  <a:t>volatility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𝑠</m:t>
                          </m:r>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den>
                      </m:f>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𝑛</m:t>
                          </m:r>
                        </m:sup>
                        <m:e>
                          <m:r>
                            <a:rPr lang="ar-AE" sz="900" i="0">
                              <a:solidFill>
                                <a:schemeClr val="tx1"/>
                              </a:solidFill>
                              <a:latin typeface="Cambria Math" panose="02040503050406030204" pitchFamily="18" charset="0"/>
                            </a:rPr>
                            <m:t>(</m:t>
                          </m:r>
                        </m:e>
                      </m:nary>
                      <m:d>
                        <m:dPr>
                          <m:begChr m:val=""/>
                          <m:end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e>
                      </m:d>
                    </m:oMath>
                    <m:oMath xmlns:m="http://schemas.openxmlformats.org/officeDocument/2006/math">
                      <m:r>
                        <a:rPr lang="ar-AE" sz="900" i="1">
                          <a:solidFill>
                            <a:schemeClr val="tx1"/>
                          </a:solidFill>
                          <a:latin typeface="Cambria Math" panose="02040503050406030204" pitchFamily="18" charset="0"/>
                        </a:rPr>
                        <m:t>𝑆𝐸</m:t>
                      </m:r>
                      <m:d>
                        <m:dPr>
                          <m:ctrlPr>
                            <a:rPr lang="ar-AE" sz="900" i="1">
                              <a:solidFill>
                                <a:schemeClr val="tx1"/>
                              </a:solidFill>
                              <a:latin typeface="Cambria Math" panose="02040503050406030204" pitchFamily="18" charset="0"/>
                            </a:rPr>
                          </m:ctrlPr>
                        </m:d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𝑠</m:t>
                          </m:r>
                        </m:num>
                        <m:den>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𝑛</m:t>
                              </m:r>
                            </m:e>
                          </m:rad>
                        </m:den>
                      </m:f>
                    </m:oMath>
                  </m:oMathPara>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Dividing</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𝑛</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1</m:t>
                    </m:r>
                  </m:oMath>
                </a14:m>
                <a:r>
                  <a:rPr lang="es-PE" sz="900" b="0" i="0" dirty="0">
                    <a:solidFill>
                      <a:schemeClr val="tx1"/>
                    </a:solidFill>
                    <a:effectLst/>
                    <a:latin typeface="Segoe WPC"/>
                  </a:rPr>
                  <a:t> </a:t>
                </a:r>
                <a:r>
                  <a:rPr lang="es-PE" sz="900" b="0" i="0" dirty="0" err="1">
                    <a:solidFill>
                      <a:schemeClr val="tx1"/>
                    </a:solidFill>
                    <a:effectLst/>
                    <a:latin typeface="Segoe WPC"/>
                  </a:rPr>
                  <a:t>corrects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finite-</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bias</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estimator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Standard </a:t>
                </a:r>
                <a:r>
                  <a:rPr lang="es-PE" sz="900" b="0" i="0" dirty="0" err="1">
                    <a:solidFill>
                      <a:schemeClr val="tx1"/>
                    </a:solidFill>
                    <a:effectLst/>
                    <a:latin typeface="Segoe WPC"/>
                  </a:rPr>
                  <a:t>deviation</a:t>
                </a:r>
                <a:r>
                  <a:rPr lang="es-PE" sz="900" b="0" i="0" dirty="0">
                    <a:solidFill>
                      <a:schemeClr val="tx1"/>
                    </a:solidFill>
                    <a:effectLst/>
                    <a:latin typeface="Segoe WPC"/>
                  </a:rPr>
                  <a:t> and standard error are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objects</a:t>
                </a:r>
                <a:r>
                  <a:rPr lang="es-PE" sz="900" b="0" i="0" dirty="0">
                    <a:solidFill>
                      <a:schemeClr val="tx1"/>
                    </a:solidFill>
                    <a:effectLst/>
                    <a:latin typeface="Segoe WPC"/>
                  </a:rPr>
                  <a:t>.</a:t>
                </a:r>
              </a:p>
            </p:txBody>
          </p:sp>
        </mc:Choice>
        <mc:Fallback xmlns="">
          <p:sp>
            <p:nvSpPr>
              <p:cNvPr id="9" name="CuadroTexto 8">
                <a:extLst>
                  <a:ext uri="{FF2B5EF4-FFF2-40B4-BE49-F238E27FC236}">
                    <a16:creationId xmlns:a16="http://schemas.microsoft.com/office/drawing/2014/main" id="{81F763AF-7923-4582-6A1C-ACBD0AF91AE0}"/>
                  </a:ext>
                </a:extLst>
              </p:cNvPr>
              <p:cNvSpPr txBox="1">
                <a:spLocks noRot="1" noChangeAspect="1" noMove="1" noResize="1" noEditPoints="1" noAdjustHandles="1" noChangeArrowheads="1" noChangeShapeType="1" noTextEdit="1"/>
              </p:cNvSpPr>
              <p:nvPr/>
            </p:nvSpPr>
            <p:spPr>
              <a:xfrm>
                <a:off x="97971" y="435429"/>
                <a:ext cx="6114142" cy="6255623"/>
              </a:xfrm>
              <a:prstGeom prst="rect">
                <a:avLst/>
              </a:prstGeom>
              <a:blipFill>
                <a:blip r:embed="rId2"/>
                <a:stretch>
                  <a:fillRect b="-2142"/>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28A44042-3FFD-3658-2088-FBD5A0E5B941}"/>
                  </a:ext>
                </a:extLst>
              </p:cNvPr>
              <p:cNvSpPr txBox="1"/>
              <p:nvPr/>
            </p:nvSpPr>
            <p:spPr>
              <a:xfrm>
                <a:off x="5685518" y="0"/>
                <a:ext cx="6408511" cy="6979924"/>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6. BLUE Mean </a:t>
                </a:r>
                <a:r>
                  <a:rPr lang="es-PE" sz="900" b="1" i="0" dirty="0" err="1">
                    <a:solidFill>
                      <a:schemeClr val="tx1"/>
                    </a:solidFill>
                    <a:effectLst/>
                    <a:latin typeface="Segoe WPC"/>
                  </a:rPr>
                  <a:t>Estimator</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mean </a:t>
                </a:r>
                <a:r>
                  <a:rPr lang="es-PE" sz="900" b="0" i="0" dirty="0" err="1">
                    <a:solidFill>
                      <a:schemeClr val="tx1"/>
                    </a:solidFill>
                    <a:effectLst/>
                    <a:latin typeface="Segoe WPC"/>
                  </a:rPr>
                  <a:t>is</a:t>
                </a:r>
                <a:r>
                  <a:rPr lang="es-PE" sz="900" b="0" i="0" dirty="0">
                    <a:solidFill>
                      <a:schemeClr val="tx1"/>
                    </a:solidFill>
                    <a:effectLst/>
                    <a:latin typeface="Segoe WPC"/>
                  </a:rPr>
                  <a:t> BLUE </a:t>
                </a:r>
                <a:r>
                  <a:rPr lang="es-PE" sz="900" b="0" i="0" dirty="0" err="1">
                    <a:solidFill>
                      <a:schemeClr val="tx1"/>
                    </a:solidFill>
                    <a:effectLst/>
                    <a:latin typeface="Segoe WPC"/>
                  </a:rPr>
                  <a:t>under</a:t>
                </a:r>
                <a:r>
                  <a:rPr lang="es-PE" sz="900" b="0" i="0" dirty="0">
                    <a:solidFill>
                      <a:schemeClr val="tx1"/>
                    </a:solidFill>
                    <a:effectLst/>
                    <a:latin typeface="Segoe WPC"/>
                  </a:rPr>
                  <a:t> </a:t>
                </a:r>
                <a:r>
                  <a:rPr lang="es-PE" sz="900" b="0" i="0" dirty="0" err="1">
                    <a:solidFill>
                      <a:schemeClr val="tx1"/>
                    </a:solidFill>
                    <a:effectLst/>
                    <a:latin typeface="Segoe WPC"/>
                  </a:rPr>
                  <a:t>iid</a:t>
                </a:r>
                <a:r>
                  <a:rPr lang="es-PE" sz="900" b="0" i="0" dirty="0">
                    <a:solidFill>
                      <a:schemeClr val="tx1"/>
                    </a:solidFill>
                    <a:effectLst/>
                    <a:latin typeface="Segoe WPC"/>
                  </a:rPr>
                  <a:t> </a:t>
                </a:r>
                <a:r>
                  <a:rPr lang="es-PE" sz="900" b="0" i="0" dirty="0" err="1">
                    <a:solidFill>
                      <a:schemeClr val="tx1"/>
                    </a:solidFill>
                    <a:effectLst/>
                    <a:latin typeface="Segoe WPC"/>
                  </a:rPr>
                  <a:t>assumptions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Among</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linear </a:t>
                </a:r>
                <a:r>
                  <a:rPr lang="es-PE" sz="900" b="0" i="0" dirty="0" err="1">
                    <a:solidFill>
                      <a:schemeClr val="tx1"/>
                    </a:solidFill>
                    <a:effectLst/>
                    <a:latin typeface="Segoe WPC"/>
                  </a:rPr>
                  <a:t>unbiased</a:t>
                </a:r>
                <a:r>
                  <a:rPr lang="es-PE" sz="900" b="0" i="0" dirty="0">
                    <a:solidFill>
                      <a:schemeClr val="tx1"/>
                    </a:solidFill>
                    <a:effectLst/>
                    <a:latin typeface="Segoe WPC"/>
                  </a:rPr>
                  <a:t> </a:t>
                </a:r>
                <a:r>
                  <a:rPr lang="es-PE" sz="900" b="0" i="0" dirty="0" err="1">
                    <a:solidFill>
                      <a:schemeClr val="tx1"/>
                    </a:solidFill>
                    <a:effectLst/>
                    <a:latin typeface="Segoe WPC"/>
                  </a:rPr>
                  <a:t>estimators</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has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smallest</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stay</a:t>
                </a:r>
                <a:r>
                  <a:rPr lang="es-PE" sz="900" b="0" i="0" dirty="0">
                    <a:solidFill>
                      <a:schemeClr val="tx1"/>
                    </a:solidFill>
                    <a:effectLst/>
                    <a:latin typeface="Segoe WPC"/>
                  </a:rPr>
                  <a:t> linear and </a:t>
                </a:r>
                <a:r>
                  <a:rPr lang="es-PE" sz="900" b="0" i="0" dirty="0" err="1">
                    <a:solidFill>
                      <a:schemeClr val="tx1"/>
                    </a:solidFill>
                    <a:effectLst/>
                    <a:latin typeface="Segoe WPC"/>
                  </a:rPr>
                  <a:t>unbiased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mean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most</a:t>
                </a:r>
                <a:r>
                  <a:rPr lang="es-PE" sz="900" b="0" i="0" dirty="0">
                    <a:solidFill>
                      <a:schemeClr val="tx1"/>
                    </a:solidFill>
                    <a:effectLst/>
                    <a:latin typeface="Segoe WPC"/>
                  </a:rPr>
                  <a:t> </a:t>
                </a:r>
                <a:r>
                  <a:rPr lang="es-PE" sz="900" b="0" i="0" dirty="0" err="1">
                    <a:solidFill>
                      <a:schemeClr val="tx1"/>
                    </a:solidFill>
                    <a:effectLst/>
                    <a:latin typeface="Segoe WPC"/>
                  </a:rPr>
                  <a:t>efficient</a:t>
                </a:r>
                <a:r>
                  <a:rPr lang="es-PE" sz="900" b="0" i="0" dirty="0">
                    <a:solidFill>
                      <a:schemeClr val="tx1"/>
                    </a:solidFill>
                    <a:effectLst/>
                    <a:latin typeface="Segoe WPC"/>
                  </a:rPr>
                  <a:t> </a:t>
                </a:r>
                <a:r>
                  <a:rPr lang="es-PE" sz="900" b="0" i="0" dirty="0" err="1">
                    <a:solidFill>
                      <a:schemeClr val="tx1"/>
                    </a:solidFill>
                    <a:effectLst/>
                    <a:latin typeface="Segoe WPC"/>
                  </a:rPr>
                  <a:t>choice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BLUE = </a:t>
                </a:r>
                <a:r>
                  <a:rPr lang="es-PE" sz="900" b="0" i="0" dirty="0" err="1">
                    <a:solidFill>
                      <a:schemeClr val="tx1"/>
                    </a:solidFill>
                    <a:effectLst/>
                    <a:latin typeface="Segoe WPC"/>
                  </a:rPr>
                  <a:t>Best</a:t>
                </a:r>
                <a:r>
                  <a:rPr lang="es-PE" sz="900" b="0" i="0" dirty="0">
                    <a:solidFill>
                      <a:schemeClr val="tx1"/>
                    </a:solidFill>
                    <a:effectLst/>
                    <a:latin typeface="Segoe WPC"/>
                  </a:rPr>
                  <a:t> Linear </a:t>
                </a:r>
                <a:r>
                  <a:rPr lang="es-PE" sz="900" b="0" i="0" dirty="0" err="1">
                    <a:solidFill>
                      <a:schemeClr val="tx1"/>
                    </a:solidFill>
                    <a:effectLst/>
                    <a:latin typeface="Segoe WPC"/>
                  </a:rPr>
                  <a:t>Unbiased</a:t>
                </a:r>
                <a:r>
                  <a:rPr lang="es-PE" sz="900" b="0" i="0" dirty="0">
                    <a:solidFill>
                      <a:schemeClr val="tx1"/>
                    </a:solidFill>
                    <a:effectLst/>
                    <a:latin typeface="Segoe WPC"/>
                  </a:rPr>
                  <a:t> </a:t>
                </a:r>
                <a:r>
                  <a:rPr lang="es-PE" sz="900" b="0" i="0" dirty="0" err="1">
                    <a:solidFill>
                      <a:schemeClr val="tx1"/>
                    </a:solidFill>
                    <a:effectLst/>
                    <a:latin typeface="Segoe WPC"/>
                  </a:rPr>
                  <a:t>Estimator</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strong</a:t>
                </a:r>
                <a:r>
                  <a:rPr lang="es-PE" sz="900" b="0" i="0" dirty="0">
                    <a:solidFill>
                      <a:schemeClr val="tx1"/>
                    </a:solidFill>
                    <a:effectLst/>
                    <a:latin typeface="Segoe WPC"/>
                  </a:rPr>
                  <a:t> </a:t>
                </a:r>
                <a:r>
                  <a:rPr lang="es-PE" sz="900" b="0" i="0" dirty="0" err="1">
                    <a:solidFill>
                      <a:schemeClr val="tx1"/>
                    </a:solidFill>
                    <a:effectLst/>
                    <a:latin typeface="Segoe WPC"/>
                  </a:rPr>
                  <a:t>reason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mean </a:t>
                </a:r>
                <a:r>
                  <a:rPr lang="es-PE" sz="900" b="0" i="0" dirty="0" err="1">
                    <a:solidFill>
                      <a:schemeClr val="tx1"/>
                    </a:solidFill>
                    <a:effectLst/>
                    <a:latin typeface="Segoe WPC"/>
                  </a:rPr>
                  <a:t>is</a:t>
                </a:r>
                <a:r>
                  <a:rPr lang="es-PE" sz="900" b="0" i="0" dirty="0">
                    <a:solidFill>
                      <a:schemeClr val="tx1"/>
                    </a:solidFill>
                    <a:effectLst/>
                    <a:latin typeface="Segoe WPC"/>
                  </a:rPr>
                  <a:t> so </a:t>
                </a:r>
                <a:r>
                  <a:rPr lang="es-PE" sz="900" b="0" i="0" dirty="0" err="1">
                    <a:solidFill>
                      <a:schemeClr val="tx1"/>
                    </a:solidFill>
                    <a:effectLst/>
                    <a:latin typeface="Segoe WPC"/>
                  </a:rPr>
                  <a:t>important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BLUE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mean </a:t>
                </a:r>
                <a:r>
                  <a:rPr lang="es-PE" sz="900" b="0" i="0" dirty="0" err="1">
                    <a:solidFill>
                      <a:schemeClr val="tx1"/>
                    </a:solidFill>
                    <a:effectLst/>
                    <a:latin typeface="Segoe WPC"/>
                  </a:rPr>
                  <a:t>best</a:t>
                </a:r>
                <a:r>
                  <a:rPr lang="es-PE" sz="900" b="0" i="0" dirty="0">
                    <a:solidFill>
                      <a:schemeClr val="tx1"/>
                    </a:solidFill>
                    <a:effectLst/>
                    <a:latin typeface="Segoe WPC"/>
                  </a:rPr>
                  <a:t> </a:t>
                </a:r>
                <a:r>
                  <a:rPr lang="es-PE" sz="900" b="0" i="0" dirty="0" err="1">
                    <a:solidFill>
                      <a:schemeClr val="tx1"/>
                    </a:solidFill>
                    <a:effectLst/>
                    <a:latin typeface="Segoe WPC"/>
                  </a:rPr>
                  <a:t>among</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possible</a:t>
                </a:r>
                <a:r>
                  <a:rPr lang="es-PE" sz="900" b="0" i="0" dirty="0">
                    <a:solidFill>
                      <a:schemeClr val="tx1"/>
                    </a:solidFill>
                    <a:effectLst/>
                    <a:latin typeface="Segoe WPC"/>
                  </a:rPr>
                  <a:t> </a:t>
                </a:r>
                <a:r>
                  <a:rPr lang="es-PE" sz="900" b="0" i="0" dirty="0" err="1">
                    <a:solidFill>
                      <a:schemeClr val="tx1"/>
                    </a:solidFill>
                    <a:effectLst/>
                    <a:latin typeface="Segoe WPC"/>
                  </a:rPr>
                  <a:t>estimators</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7. </a:t>
                </a:r>
                <a:r>
                  <a:rPr lang="es-PE" sz="900" b="1" i="0" dirty="0" err="1">
                    <a:solidFill>
                      <a:schemeClr val="tx1"/>
                    </a:solidFill>
                    <a:effectLst/>
                    <a:latin typeface="Segoe WPC"/>
                  </a:rPr>
                  <a:t>Consistency</a:t>
                </a:r>
                <a:r>
                  <a:rPr lang="es-PE" sz="900" b="1" i="0" dirty="0">
                    <a:solidFill>
                      <a:schemeClr val="tx1"/>
                    </a:solidFill>
                    <a:effectLst/>
                    <a:latin typeface="Segoe WPC"/>
                  </a:rPr>
                  <a:t> and </a:t>
                </a:r>
                <a:r>
                  <a:rPr lang="es-PE" sz="900" b="1" i="0" dirty="0" err="1">
                    <a:solidFill>
                      <a:schemeClr val="tx1"/>
                    </a:solidFill>
                    <a:effectLst/>
                    <a:latin typeface="Segoe WPC"/>
                  </a:rPr>
                  <a:t>the</a:t>
                </a:r>
                <a:r>
                  <a:rPr lang="es-PE" sz="900" b="1" i="0" dirty="0">
                    <a:solidFill>
                      <a:schemeClr val="tx1"/>
                    </a:solidFill>
                    <a:effectLst/>
                    <a:latin typeface="Segoe WPC"/>
                  </a:rPr>
                  <a:t> </a:t>
                </a:r>
                <a:r>
                  <a:rPr lang="es-PE" sz="900" b="1" i="0" dirty="0" err="1">
                    <a:solidFill>
                      <a:schemeClr val="tx1"/>
                    </a:solidFill>
                    <a:effectLst/>
                    <a:latin typeface="Segoe WPC"/>
                  </a:rPr>
                  <a:t>Law</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a:t>
                </a:r>
                <a:r>
                  <a:rPr lang="es-PE" sz="900" b="1" i="0" dirty="0" err="1">
                    <a:solidFill>
                      <a:schemeClr val="tx1"/>
                    </a:solidFill>
                    <a:effectLst/>
                    <a:latin typeface="Segoe WPC"/>
                  </a:rPr>
                  <a:t>Large</a:t>
                </a:r>
                <a:r>
                  <a:rPr lang="es-PE" sz="900" b="1" i="0" dirty="0">
                    <a:solidFill>
                      <a:schemeClr val="tx1"/>
                    </a:solidFill>
                    <a:effectLst/>
                    <a:latin typeface="Segoe WPC"/>
                  </a:rPr>
                  <a:t> </a:t>
                </a:r>
                <a:r>
                  <a:rPr lang="es-PE" sz="900" b="1" i="0" dirty="0" err="1">
                    <a:solidFill>
                      <a:schemeClr val="tx1"/>
                    </a:solidFill>
                    <a:effectLst/>
                    <a:latin typeface="Segoe WPC"/>
                  </a:rPr>
                  <a:t>Numbers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Consistency</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estimator</a:t>
                </a:r>
                <a:r>
                  <a:rPr lang="es-PE" sz="900" b="0" i="0" dirty="0">
                    <a:solidFill>
                      <a:schemeClr val="tx1"/>
                    </a:solidFill>
                    <a:effectLst/>
                    <a:latin typeface="Segoe WPC"/>
                  </a:rPr>
                  <a:t> converges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true </a:t>
                </a:r>
                <a:r>
                  <a:rPr lang="es-PE" sz="900" b="0" i="0" dirty="0" err="1">
                    <a:solidFill>
                      <a:schemeClr val="tx1"/>
                    </a:solidFill>
                    <a:effectLst/>
                    <a:latin typeface="Segoe WPC"/>
                  </a:rPr>
                  <a:t>value</a:t>
                </a:r>
                <a:r>
                  <a:rPr lang="es-PE" sz="900" b="0" i="0" dirty="0">
                    <a:solidFill>
                      <a:schemeClr val="tx1"/>
                    </a:solidFill>
                    <a:effectLst/>
                    <a:latin typeface="Segoe WPC"/>
                  </a:rPr>
                  <a:t> as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size</a:t>
                </a:r>
                <a:r>
                  <a:rPr lang="es-PE" sz="900" b="0" i="0" dirty="0">
                    <a:solidFill>
                      <a:schemeClr val="tx1"/>
                    </a:solidFill>
                    <a:effectLst/>
                    <a:latin typeface="Segoe WPC"/>
                  </a:rPr>
                  <a:t> </a:t>
                </a:r>
                <a:r>
                  <a:rPr lang="es-PE" sz="900" b="0" i="0" dirty="0" err="1">
                    <a:solidFill>
                      <a:schemeClr val="tx1"/>
                    </a:solidFill>
                    <a:effectLst/>
                    <a:latin typeface="Segoe WPC"/>
                  </a:rPr>
                  <a:t>grows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enough</a:t>
                </a:r>
                <a:r>
                  <a:rPr lang="es-PE" sz="900" b="0" i="0" dirty="0">
                    <a:solidFill>
                      <a:schemeClr val="tx1"/>
                    </a:solidFill>
                    <a:effectLst/>
                    <a:latin typeface="Segoe WPC"/>
                  </a:rPr>
                  <a:t> data,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estimate</a:t>
                </a:r>
                <a:r>
                  <a:rPr lang="es-PE" sz="900" b="0" i="0" dirty="0">
                    <a:solidFill>
                      <a:schemeClr val="tx1"/>
                    </a:solidFill>
                    <a:effectLst/>
                    <a:latin typeface="Segoe WPC"/>
                  </a:rPr>
                  <a:t> </a:t>
                </a:r>
                <a:r>
                  <a:rPr lang="es-PE" sz="900" b="0" i="0" dirty="0" err="1">
                    <a:solidFill>
                      <a:schemeClr val="tx1"/>
                    </a:solidFill>
                    <a:effectLst/>
                    <a:latin typeface="Segoe WPC"/>
                  </a:rPr>
                  <a:t>gets</a:t>
                </a:r>
                <a:r>
                  <a:rPr lang="es-PE" sz="900" b="0" i="0" dirty="0">
                    <a:solidFill>
                      <a:schemeClr val="tx1"/>
                    </a:solidFill>
                    <a:effectLst/>
                    <a:latin typeface="Segoe WPC"/>
                  </a:rPr>
                  <a:t> </a:t>
                </a:r>
                <a:r>
                  <a:rPr lang="es-PE" sz="900" b="0" i="0" dirty="0" err="1">
                    <a:solidFill>
                      <a:schemeClr val="tx1"/>
                    </a:solidFill>
                    <a:effectLst/>
                    <a:latin typeface="Segoe WPC"/>
                  </a:rPr>
                  <a:t>very</a:t>
                </a:r>
                <a:r>
                  <a:rPr lang="es-PE" sz="900" b="0" i="0" dirty="0">
                    <a:solidFill>
                      <a:schemeClr val="tx1"/>
                    </a:solidFill>
                    <a:effectLst/>
                    <a:latin typeface="Segoe WPC"/>
                  </a:rPr>
                  <a:t> </a:t>
                </a:r>
                <a:r>
                  <a:rPr lang="es-PE" sz="900" b="0" i="0" dirty="0" err="1">
                    <a:solidFill>
                      <a:schemeClr val="tx1"/>
                    </a:solidFill>
                    <a:effectLst/>
                    <a:latin typeface="Segoe WPC"/>
                  </a:rPr>
                  <a:t>close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truth</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sampling</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collapses</a:t>
                </a:r>
                <a:r>
                  <a:rPr lang="es-PE" sz="900" b="0" i="0" dirty="0">
                    <a:solidFill>
                      <a:schemeClr val="tx1"/>
                    </a:solidFill>
                    <a:effectLst/>
                    <a:latin typeface="Segoe WPC"/>
                  </a:rPr>
                  <a:t> </a:t>
                </a:r>
                <a:r>
                  <a:rPr lang="es-PE" sz="900" b="0" i="0" dirty="0" err="1">
                    <a:solidFill>
                      <a:schemeClr val="tx1"/>
                    </a:solidFill>
                    <a:effectLst/>
                    <a:latin typeface="Segoe WPC"/>
                  </a:rPr>
                  <a:t>around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parameter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e>
                      <m:sub>
                        <m:r>
                          <a:rPr lang="ar-AE" sz="900" i="1">
                            <a:solidFill>
                              <a:schemeClr val="tx1"/>
                            </a:solidFill>
                            <a:latin typeface="Cambria Math" panose="02040503050406030204" pitchFamily="18" charset="0"/>
                          </a:rPr>
                          <m:t>𝑛</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𝜇</m:t>
                    </m:r>
                  </m:oMath>
                </a14:m>
                <a:r>
                  <a:rPr lang="ar-AE" sz="900" b="0" i="0" dirty="0">
                    <a:solidFill>
                      <a:schemeClr val="tx1"/>
                    </a:solidFill>
                    <a:effectLst/>
                    <a:latin typeface="Segoe WPC"/>
                  </a:rPr>
                  <a:t> </a:t>
                </a:r>
                <a:r>
                  <a:rPr lang="es-PE" sz="900" b="0" i="0" dirty="0">
                    <a:solidFill>
                      <a:schemeClr val="tx1"/>
                    </a:solidFill>
                    <a:effectLst/>
                    <a:latin typeface="Segoe WPC"/>
                  </a:rPr>
                  <a:t>as </a:t>
                </a:r>
                <a14:m>
                  <m:oMath xmlns:m="http://schemas.openxmlformats.org/officeDocument/2006/math">
                    <m:r>
                      <a:rPr lang="es-PE" sz="900" i="1">
                        <a:solidFill>
                          <a:schemeClr val="tx1"/>
                        </a:solidFill>
                        <a:latin typeface="Cambria Math" panose="02040503050406030204" pitchFamily="18" charset="0"/>
                      </a:rPr>
                      <m:t>𝑛</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LLN </a:t>
                </a:r>
                <a:r>
                  <a:rPr lang="es-PE" sz="900" b="0" i="0" dirty="0" err="1">
                    <a:solidFill>
                      <a:schemeClr val="tx1"/>
                    </a:solidFill>
                    <a:effectLst/>
                    <a:latin typeface="Segoe WPC"/>
                  </a:rPr>
                  <a:t>explains</a:t>
                </a:r>
                <a:r>
                  <a:rPr lang="es-PE" sz="900" b="0" i="0" dirty="0">
                    <a:solidFill>
                      <a:schemeClr val="tx1"/>
                    </a:solidFill>
                    <a:effectLst/>
                    <a:latin typeface="Segoe WPC"/>
                  </a:rPr>
                  <a:t> </a:t>
                </a:r>
                <a:r>
                  <a:rPr lang="es-PE" sz="900" b="0" i="0" dirty="0" err="1">
                    <a:solidFill>
                      <a:schemeClr val="tx1"/>
                    </a:solidFill>
                    <a:effectLst/>
                    <a:latin typeface="Segoe WPC"/>
                  </a:rPr>
                  <a:t>why</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samples</a:t>
                </a:r>
                <a:r>
                  <a:rPr lang="es-PE" sz="900" b="0" i="0" dirty="0">
                    <a:solidFill>
                      <a:schemeClr val="tx1"/>
                    </a:solidFill>
                    <a:effectLst/>
                    <a:latin typeface="Segoe WPC"/>
                  </a:rPr>
                  <a:t> are </a:t>
                </a:r>
                <a:r>
                  <a:rPr lang="es-PE" sz="900" b="0" i="0" dirty="0" err="1">
                    <a:solidFill>
                      <a:schemeClr val="tx1"/>
                    </a:solidFill>
                    <a:effectLst/>
                    <a:latin typeface="Segoe WPC"/>
                  </a:rPr>
                  <a:t>valuable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Consistency</a:t>
                </a:r>
                <a:r>
                  <a:rPr lang="es-PE" sz="900" b="0" i="0" dirty="0">
                    <a:solidFill>
                      <a:schemeClr val="tx1"/>
                    </a:solidFill>
                    <a:effectLst/>
                    <a:latin typeface="Segoe WPC"/>
                  </a:rPr>
                  <a:t> and </a:t>
                </a:r>
                <a:r>
                  <a:rPr lang="es-PE" sz="900" b="0" i="0" dirty="0" err="1">
                    <a:solidFill>
                      <a:schemeClr val="tx1"/>
                    </a:solidFill>
                    <a:effectLst/>
                    <a:latin typeface="Segoe WPC"/>
                  </a:rPr>
                  <a:t>unbiasedness</a:t>
                </a:r>
                <a:r>
                  <a:rPr lang="es-PE" sz="900" b="0" i="0" dirty="0">
                    <a:solidFill>
                      <a:schemeClr val="tx1"/>
                    </a:solidFill>
                    <a:effectLst/>
                    <a:latin typeface="Segoe WPC"/>
                  </a:rPr>
                  <a:t> are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thing</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8. Central </a:t>
                </a:r>
                <a:r>
                  <a:rPr lang="es-PE" sz="900" b="1" i="0" dirty="0" err="1">
                    <a:solidFill>
                      <a:schemeClr val="tx1"/>
                    </a:solidFill>
                    <a:effectLst/>
                    <a:latin typeface="Segoe WPC"/>
                  </a:rPr>
                  <a:t>Limit</a:t>
                </a:r>
                <a:r>
                  <a:rPr lang="es-PE" sz="900" b="1" i="0" dirty="0">
                    <a:solidFill>
                      <a:schemeClr val="tx1"/>
                    </a:solidFill>
                    <a:effectLst/>
                    <a:latin typeface="Segoe WPC"/>
                  </a:rPr>
                  <a:t> </a:t>
                </a:r>
                <a:r>
                  <a:rPr lang="es-PE" sz="900" b="1" i="0" dirty="0" err="1">
                    <a:solidFill>
                      <a:schemeClr val="tx1"/>
                    </a:solidFill>
                    <a:effectLst/>
                    <a:latin typeface="Segoe WPC"/>
                  </a:rPr>
                  <a:t>Theorem</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CLT describes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sampling</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mean in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samples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Even</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data are </a:t>
                </a:r>
                <a:r>
                  <a:rPr lang="es-PE" sz="900" b="0" i="0" dirty="0" err="1">
                    <a:solidFill>
                      <a:schemeClr val="tx1"/>
                    </a:solidFill>
                    <a:effectLst/>
                    <a:latin typeface="Segoe WPC"/>
                  </a:rPr>
                  <a:t>not</a:t>
                </a:r>
                <a:r>
                  <a:rPr lang="es-PE" sz="900" b="0" i="0" dirty="0">
                    <a:solidFill>
                      <a:schemeClr val="tx1"/>
                    </a:solidFill>
                    <a:effectLst/>
                    <a:latin typeface="Segoe WPC"/>
                  </a:rPr>
                  <a:t> normal,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mean </a:t>
                </a:r>
                <a:r>
                  <a:rPr lang="es-PE" sz="900" b="0" i="0" dirty="0" err="1">
                    <a:solidFill>
                      <a:schemeClr val="tx1"/>
                    </a:solidFill>
                    <a:effectLst/>
                    <a:latin typeface="Segoe WPC"/>
                  </a:rPr>
                  <a:t>becomes</a:t>
                </a:r>
                <a:r>
                  <a:rPr lang="es-PE" sz="900" b="0" i="0" dirty="0">
                    <a:solidFill>
                      <a:schemeClr val="tx1"/>
                    </a:solidFill>
                    <a:effectLst/>
                    <a:latin typeface="Segoe WPC"/>
                  </a:rPr>
                  <a:t> </a:t>
                </a:r>
                <a:r>
                  <a:rPr lang="es-PE" sz="900" b="0" i="0" dirty="0" err="1">
                    <a:solidFill>
                      <a:schemeClr val="tx1"/>
                    </a:solidFill>
                    <a:effectLst/>
                    <a:latin typeface="Segoe WPC"/>
                  </a:rPr>
                  <a:t>approximately</a:t>
                </a:r>
                <a:r>
                  <a:rPr lang="es-PE" sz="900" b="0" i="0" dirty="0">
                    <a:solidFill>
                      <a:schemeClr val="tx1"/>
                    </a:solidFill>
                    <a:effectLst/>
                    <a:latin typeface="Segoe WPC"/>
                  </a:rPr>
                  <a:t> normal.</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skewed</a:t>
                </a:r>
                <a:r>
                  <a:rPr lang="es-PE" sz="900" b="0" i="0" dirty="0">
                    <a:solidFill>
                      <a:schemeClr val="tx1"/>
                    </a:solidFill>
                    <a:effectLst/>
                    <a:latin typeface="Segoe WPC"/>
                  </a:rPr>
                  <a:t> raw </a:t>
                </a:r>
                <a:r>
                  <a:rPr lang="es-PE" sz="900" b="0" i="0" dirty="0" err="1">
                    <a:solidFill>
                      <a:schemeClr val="tx1"/>
                    </a:solidFill>
                    <a:effectLst/>
                    <a:latin typeface="Segoe WPC"/>
                  </a:rPr>
                  <a:t>distribution</a:t>
                </a:r>
                <a:r>
                  <a:rPr lang="es-PE" sz="900" b="0" i="0" dirty="0">
                    <a:solidFill>
                      <a:schemeClr val="tx1"/>
                    </a:solidFill>
                    <a:effectLst/>
                    <a:latin typeface="Segoe WPC"/>
                  </a:rPr>
                  <a:t> can </a:t>
                </a:r>
                <a:r>
                  <a:rPr lang="es-PE" sz="900" b="0" i="0" dirty="0" err="1">
                    <a:solidFill>
                      <a:schemeClr val="tx1"/>
                    </a:solidFill>
                    <a:effectLst/>
                    <a:latin typeface="Segoe WPC"/>
                  </a:rPr>
                  <a:t>still</a:t>
                </a:r>
                <a:r>
                  <a:rPr lang="es-PE" sz="900" b="0" i="0" dirty="0">
                    <a:solidFill>
                      <a:schemeClr val="tx1"/>
                    </a:solidFill>
                    <a:effectLst/>
                    <a:latin typeface="Segoe WPC"/>
                  </a:rPr>
                  <a:t> produce a </a:t>
                </a:r>
                <a:r>
                  <a:rPr lang="es-PE" sz="900" b="0" i="0" dirty="0" err="1">
                    <a:solidFill>
                      <a:schemeClr val="tx1"/>
                    </a:solidFill>
                    <a:effectLst/>
                    <a:latin typeface="Segoe WPC"/>
                  </a:rPr>
                  <a:t>bell-shaped</a:t>
                </a:r>
                <a:r>
                  <a:rPr lang="es-PE" sz="900" b="0" i="0" dirty="0">
                    <a:solidFill>
                      <a:schemeClr val="tx1"/>
                    </a:solidFill>
                    <a:effectLst/>
                    <a:latin typeface="Segoe WPC"/>
                  </a:rPr>
                  <a:t> mean </a:t>
                </a:r>
                <a:r>
                  <a:rPr lang="es-PE" sz="900" b="0" i="0" dirty="0" err="1">
                    <a:solidFill>
                      <a:schemeClr val="tx1"/>
                    </a:solidFill>
                    <a:effectLst/>
                    <a:latin typeface="Segoe WPC"/>
                  </a:rPr>
                  <a:t>estimator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𝑛</m:t>
                          </m:r>
                        </m:e>
                      </m:rad>
                      <m:d>
                        <m:dPr>
                          <m:ctrlPr>
                            <a:rPr lang="ar-AE" sz="900" i="1">
                              <a:solidFill>
                                <a:schemeClr val="tx1"/>
                              </a:solidFill>
                              <a:latin typeface="Cambria Math" panose="02040503050406030204" pitchFamily="18" charset="0"/>
                            </a:rPr>
                          </m:ctrlPr>
                        </m:d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𝜇</m:t>
                          </m:r>
                        </m:e>
                      </m:d>
                      <m:groupChr>
                        <m:groupChrPr>
                          <m:chr m:val="→"/>
                          <m:vertJc m:val="bot"/>
                          <m:ctrlPr>
                            <a:rPr lang="ar-AE" sz="900" i="1">
                              <a:solidFill>
                                <a:schemeClr val="tx1"/>
                              </a:solidFill>
                              <a:latin typeface="Cambria Math" panose="02040503050406030204" pitchFamily="18" charset="0"/>
                            </a:rPr>
                          </m:ctrlPr>
                        </m:groupChrPr>
                        <m:e>
                          <m:box>
                            <m:boxPr>
                              <m:ctrlPr>
                                <a:rPr lang="ar-AE" sz="900" i="1">
                                  <a:solidFill>
                                    <a:schemeClr val="tx1"/>
                                  </a:solidFill>
                                  <a:latin typeface="Cambria Math" panose="02040503050406030204" pitchFamily="18" charset="0"/>
                                </a:rPr>
                              </m:ctrlPr>
                            </m:boxPr>
                            <m:e>
                              <m:r>
                                <a:rPr lang="ar-AE" sz="900" i="1">
                                  <a:solidFill>
                                    <a:schemeClr val="tx1"/>
                                  </a:solidFill>
                                  <a:latin typeface="Cambria Math" panose="02040503050406030204" pitchFamily="18" charset="0"/>
                                </a:rPr>
                                <m:t>𝑑</m:t>
                              </m:r>
                            </m:e>
                          </m:box>
                        </m:e>
                      </m:groupChr>
                      <m:r>
                        <a:rPr lang="ar-AE" sz="900" i="1">
                          <a:solidFill>
                            <a:schemeClr val="tx1"/>
                          </a:solidFill>
                          <a:latin typeface="Cambria Math" panose="02040503050406030204" pitchFamily="18" charset="0"/>
                        </a:rPr>
                        <m:t>𝑁</m:t>
                      </m:r>
                      <m:d>
                        <m:dPr>
                          <m:sep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0</m:t>
                          </m:r>
                        </m:e>
                        <m:e>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e>
                      </m:d>
                    </m:oMath>
                  </m:oMathPara>
                </a14:m>
                <a:br>
                  <a:rPr lang="ar-AE" sz="900" b="0" i="0" dirty="0">
                    <a:solidFill>
                      <a:schemeClr val="tx1"/>
                    </a:solidFill>
                    <a:effectLst/>
                    <a:latin typeface="Segoe WPC"/>
                  </a:rPr>
                </a:br>
                <a:r>
                  <a:rPr lang="es-PE" sz="900" b="0" i="0" dirty="0" err="1">
                    <a:solidFill>
                      <a:schemeClr val="tx1"/>
                    </a:solidFill>
                    <a:effectLst/>
                    <a:latin typeface="Segoe WPC"/>
                  </a:rPr>
                  <a:t>Equivalent</a:t>
                </a:r>
                <a:r>
                  <a:rPr lang="es-PE" sz="900" b="0" i="0" dirty="0">
                    <a:solidFill>
                      <a:schemeClr val="tx1"/>
                    </a:solidFill>
                    <a:effectLst/>
                    <a:latin typeface="Segoe WPC"/>
                  </a:rPr>
                  <a:t> </a:t>
                </a:r>
                <a:r>
                  <a:rPr lang="es-PE" sz="900" b="0" i="0" dirty="0" err="1">
                    <a:solidFill>
                      <a:schemeClr val="tx1"/>
                    </a:solidFill>
                    <a:effectLst/>
                    <a:latin typeface="Segoe WPC"/>
                  </a:rPr>
                  <a:t>form</a:t>
                </a:r>
                <a:r>
                  <a:rPr lang="es-PE" sz="900" b="0" i="0" dirty="0">
                    <a:solidFill>
                      <a:schemeClr val="tx1"/>
                    </a:solidFill>
                    <a:effectLst/>
                    <a:latin typeface="Segoe WPC"/>
                  </a:rPr>
                  <a:t>: </a:t>
                </a:r>
                <a14:m>
                  <m:oMath xmlns:m="http://schemas.openxmlformats.org/officeDocument/2006/math">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𝑁</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𝜇</m:t>
                        </m:r>
                      </m:e>
                      <m:e>
                        <m:f>
                          <m:fPr>
                            <m:ctrlPr>
                              <a:rPr lang="ar-AE" sz="900" i="1">
                                <a:solidFill>
                                  <a:schemeClr val="tx1"/>
                                </a:solidFill>
                                <a:latin typeface="Cambria Math" panose="02040503050406030204" pitchFamily="18" charset="0"/>
                              </a:rPr>
                            </m:ctrlPr>
                          </m:fPr>
                          <m:num>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num>
                          <m:den>
                            <m:r>
                              <a:rPr lang="ar-AE" sz="900" i="1">
                                <a:solidFill>
                                  <a:schemeClr val="tx1"/>
                                </a:solidFill>
                                <a:latin typeface="Cambria Math" panose="02040503050406030204" pitchFamily="18" charset="0"/>
                              </a:rPr>
                              <m:t>𝑛</m:t>
                            </m:r>
                          </m:den>
                        </m:f>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foundation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inference</a:t>
                </a:r>
                <a:r>
                  <a:rPr lang="es-PE" sz="900" b="0" i="0" dirty="0">
                    <a:solidFill>
                      <a:schemeClr val="tx1"/>
                    </a:solidFill>
                    <a:effectLst/>
                    <a:latin typeface="Segoe WPC"/>
                  </a:rPr>
                  <a:t> and </a:t>
                </a:r>
                <a:r>
                  <a:rPr lang="es-PE" sz="900" b="0" i="0" dirty="0" err="1">
                    <a:solidFill>
                      <a:schemeClr val="tx1"/>
                    </a:solidFill>
                    <a:effectLst/>
                    <a:latin typeface="Segoe WPC"/>
                  </a:rPr>
                  <a:t>hypothesis</a:t>
                </a:r>
                <a:r>
                  <a:rPr lang="es-PE" sz="900" b="0" i="0" dirty="0">
                    <a:solidFill>
                      <a:schemeClr val="tx1"/>
                    </a:solidFill>
                    <a:effectLst/>
                    <a:latin typeface="Segoe WPC"/>
                  </a:rPr>
                  <a:t> </a:t>
                </a:r>
                <a:r>
                  <a:rPr lang="es-PE" sz="900" b="0" i="0" dirty="0" err="1">
                    <a:solidFill>
                      <a:schemeClr val="tx1"/>
                    </a:solidFill>
                    <a:effectLst/>
                    <a:latin typeface="Segoe WPC"/>
                  </a:rPr>
                  <a:t>testing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CLT </a:t>
                </a:r>
                <a:r>
                  <a:rPr lang="es-PE" sz="900" b="0" i="0" dirty="0" err="1">
                    <a:solidFill>
                      <a:schemeClr val="tx1"/>
                    </a:solidFill>
                    <a:effectLst/>
                    <a:latin typeface="Segoe WPC"/>
                  </a:rPr>
                  <a:t>applies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mean,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necessarily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data </a:t>
                </a:r>
                <a:r>
                  <a:rPr lang="es-PE" sz="900" b="0" i="0" dirty="0" err="1">
                    <a:solidFill>
                      <a:schemeClr val="tx1"/>
                    </a:solidFill>
                    <a:effectLst/>
                    <a:latin typeface="Segoe WPC"/>
                  </a:rPr>
                  <a:t>themselves</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9. </a:t>
                </a:r>
                <a:r>
                  <a:rPr lang="es-PE" sz="900" b="1" i="0" dirty="0" err="1">
                    <a:solidFill>
                      <a:schemeClr val="tx1"/>
                    </a:solidFill>
                    <a:effectLst/>
                    <a:latin typeface="Segoe WPC"/>
                  </a:rPr>
                  <a:t>Higher</a:t>
                </a:r>
                <a:r>
                  <a:rPr lang="es-PE" sz="900" b="1" i="0" dirty="0">
                    <a:solidFill>
                      <a:schemeClr val="tx1"/>
                    </a:solidFill>
                    <a:effectLst/>
                    <a:latin typeface="Segoe WPC"/>
                  </a:rPr>
                  <a:t> </a:t>
                </a:r>
                <a:r>
                  <a:rPr lang="es-PE" sz="900" b="1" i="0" dirty="0" err="1">
                    <a:solidFill>
                      <a:schemeClr val="tx1"/>
                    </a:solidFill>
                    <a:effectLst/>
                    <a:latin typeface="Segoe WPC"/>
                  </a:rPr>
                  <a:t>Sample</a:t>
                </a:r>
                <a:r>
                  <a:rPr lang="es-PE" sz="900" b="1" i="0" dirty="0">
                    <a:solidFill>
                      <a:schemeClr val="tx1"/>
                    </a:solidFill>
                    <a:effectLst/>
                    <a:latin typeface="Segoe WPC"/>
                  </a:rPr>
                  <a:t> </a:t>
                </a:r>
                <a:r>
                  <a:rPr lang="es-PE" sz="900" b="1" i="0" dirty="0" err="1">
                    <a:solidFill>
                      <a:schemeClr val="tx1"/>
                    </a:solidFill>
                    <a:effectLst/>
                    <a:latin typeface="Segoe WPC"/>
                  </a:rPr>
                  <a:t>Moments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skewness</a:t>
                </a:r>
                <a:r>
                  <a:rPr lang="es-PE" sz="900" b="0" i="0" dirty="0">
                    <a:solidFill>
                      <a:schemeClr val="tx1"/>
                    </a:solidFill>
                    <a:effectLst/>
                    <a:latin typeface="Segoe WPC"/>
                  </a:rPr>
                  <a:t> and </a:t>
                </a:r>
                <a:r>
                  <a:rPr lang="es-PE" sz="900" b="0" i="0" dirty="0" err="1">
                    <a:solidFill>
                      <a:schemeClr val="tx1"/>
                    </a:solidFill>
                    <a:effectLst/>
                    <a:latin typeface="Segoe WPC"/>
                  </a:rPr>
                  <a:t>kurtosis</a:t>
                </a:r>
                <a:r>
                  <a:rPr lang="es-PE" sz="900" b="0" i="0" dirty="0">
                    <a:solidFill>
                      <a:schemeClr val="tx1"/>
                    </a:solidFill>
                    <a:effectLst/>
                    <a:latin typeface="Segoe WPC"/>
                  </a:rPr>
                  <a:t> </a:t>
                </a:r>
                <a:r>
                  <a:rPr lang="es-PE" sz="900" b="0" i="0" dirty="0" err="1">
                    <a:solidFill>
                      <a:schemeClr val="tx1"/>
                    </a:solidFill>
                    <a:effectLst/>
                    <a:latin typeface="Segoe WPC"/>
                  </a:rPr>
                  <a:t>estimate</a:t>
                </a:r>
                <a:r>
                  <a:rPr lang="es-PE" sz="900" b="0" i="0" dirty="0">
                    <a:solidFill>
                      <a:schemeClr val="tx1"/>
                    </a:solidFill>
                    <a:effectLst/>
                    <a:latin typeface="Segoe WPC"/>
                  </a:rPr>
                  <a:t> </a:t>
                </a:r>
                <a:r>
                  <a:rPr lang="es-PE" sz="900" b="0" i="0" dirty="0" err="1">
                    <a:solidFill>
                      <a:schemeClr val="tx1"/>
                    </a:solidFill>
                    <a:effectLst/>
                    <a:latin typeface="Segoe WPC"/>
                  </a:rPr>
                  <a:t>asymmetry</a:t>
                </a:r>
                <a:r>
                  <a:rPr lang="es-PE" sz="900" b="0" i="0" dirty="0">
                    <a:solidFill>
                      <a:schemeClr val="tx1"/>
                    </a:solidFill>
                    <a:effectLst/>
                    <a:latin typeface="Segoe WPC"/>
                  </a:rPr>
                  <a:t> and </a:t>
                </a:r>
                <a:r>
                  <a:rPr lang="es-PE" sz="900" b="0" i="0" dirty="0" err="1">
                    <a:solidFill>
                      <a:schemeClr val="tx1"/>
                    </a:solidFill>
                    <a:effectLst/>
                    <a:latin typeface="Segoe WPC"/>
                  </a:rPr>
                  <a:t>tail</a:t>
                </a:r>
                <a:r>
                  <a:rPr lang="es-PE" sz="900" b="0" i="0" dirty="0">
                    <a:solidFill>
                      <a:schemeClr val="tx1"/>
                    </a:solidFill>
                    <a:effectLst/>
                    <a:latin typeface="Segoe WPC"/>
                  </a:rPr>
                  <a:t> </a:t>
                </a:r>
                <a:r>
                  <a:rPr lang="es-PE" sz="900" b="0" i="0" dirty="0" err="1">
                    <a:solidFill>
                      <a:schemeClr val="tx1"/>
                    </a:solidFill>
                    <a:effectLst/>
                    <a:latin typeface="Segoe WPC"/>
                  </a:rPr>
                  <a:t>heaviness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Skewness</a:t>
                </a:r>
                <a:r>
                  <a:rPr lang="es-PE" sz="900" b="0" i="0" dirty="0">
                    <a:solidFill>
                      <a:schemeClr val="tx1"/>
                    </a:solidFill>
                    <a:effectLst/>
                    <a:latin typeface="Segoe WPC"/>
                  </a:rPr>
                  <a:t> </a:t>
                </a:r>
                <a:r>
                  <a:rPr lang="es-PE" sz="900" b="0" i="0" dirty="0" err="1">
                    <a:solidFill>
                      <a:schemeClr val="tx1"/>
                    </a:solidFill>
                    <a:effectLst/>
                    <a:latin typeface="Segoe WPC"/>
                  </a:rPr>
                  <a:t>tells</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which</a:t>
                </a:r>
                <a:r>
                  <a:rPr lang="es-PE" sz="900" b="0" i="0" dirty="0">
                    <a:solidFill>
                      <a:schemeClr val="tx1"/>
                    </a:solidFill>
                    <a:effectLst/>
                    <a:latin typeface="Segoe WPC"/>
                  </a:rPr>
                  <a:t> </a:t>
                </a:r>
                <a:r>
                  <a:rPr lang="es-PE" sz="900" b="0" i="0" dirty="0" err="1">
                    <a:solidFill>
                      <a:schemeClr val="tx1"/>
                    </a:solidFill>
                    <a:effectLst/>
                    <a:latin typeface="Segoe WPC"/>
                  </a:rPr>
                  <a:t>tail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longer</a:t>
                </a:r>
                <a:r>
                  <a:rPr lang="es-PE" sz="900" b="0" i="0" dirty="0">
                    <a:solidFill>
                      <a:schemeClr val="tx1"/>
                    </a:solidFill>
                    <a:effectLst/>
                    <a:latin typeface="Segoe WPC"/>
                  </a:rPr>
                  <a:t>; </a:t>
                </a:r>
                <a:r>
                  <a:rPr lang="es-PE" sz="900" b="0" i="0" dirty="0" err="1">
                    <a:solidFill>
                      <a:schemeClr val="tx1"/>
                    </a:solidFill>
                    <a:effectLst/>
                    <a:latin typeface="Segoe WPC"/>
                  </a:rPr>
                  <a:t>kurtosis</a:t>
                </a:r>
                <a:r>
                  <a:rPr lang="es-PE" sz="900" b="0" i="0" dirty="0">
                    <a:solidFill>
                      <a:schemeClr val="tx1"/>
                    </a:solidFill>
                    <a:effectLst/>
                    <a:latin typeface="Segoe WPC"/>
                  </a:rPr>
                  <a:t> </a:t>
                </a:r>
                <a:r>
                  <a:rPr lang="es-PE" sz="900" b="0" i="0" dirty="0" err="1">
                    <a:solidFill>
                      <a:schemeClr val="tx1"/>
                    </a:solidFill>
                    <a:effectLst/>
                    <a:latin typeface="Segoe WPC"/>
                  </a:rPr>
                  <a:t>tells</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extreme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tails</a:t>
                </a:r>
                <a:r>
                  <a:rPr lang="es-PE" sz="900" b="0" i="0" dirty="0">
                    <a:solidFill>
                      <a:schemeClr val="tx1"/>
                    </a:solidFill>
                    <a:effectLst/>
                    <a:latin typeface="Segoe WPC"/>
                  </a:rPr>
                  <a:t> are.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Left-leaning</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right-leaning</a:t>
                </a:r>
                <a:r>
                  <a:rPr lang="es-PE" sz="900" b="0" i="0" dirty="0">
                    <a:solidFill>
                      <a:schemeClr val="tx1"/>
                    </a:solidFill>
                    <a:effectLst/>
                    <a:latin typeface="Segoe WPC"/>
                  </a:rPr>
                  <a:t> </a:t>
                </a:r>
                <a:r>
                  <a:rPr lang="es-PE" sz="900" b="0" i="0" dirty="0" err="1">
                    <a:solidFill>
                      <a:schemeClr val="tx1"/>
                    </a:solidFill>
                    <a:effectLst/>
                    <a:latin typeface="Segoe WPC"/>
                  </a:rPr>
                  <a:t>shape</a:t>
                </a:r>
                <a:r>
                  <a:rPr lang="es-PE" sz="900" b="0" i="0" dirty="0">
                    <a:solidFill>
                      <a:schemeClr val="tx1"/>
                    </a:solidFill>
                    <a:effectLst/>
                    <a:latin typeface="Segoe WPC"/>
                  </a:rPr>
                  <a:t>, plus </a:t>
                </a:r>
                <a:r>
                  <a:rPr lang="es-PE" sz="900" b="0" i="0" dirty="0" err="1">
                    <a:solidFill>
                      <a:schemeClr val="tx1"/>
                    </a:solidFill>
                    <a:effectLst/>
                    <a:latin typeface="Segoe WPC"/>
                  </a:rPr>
                  <a:t>fat</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thin</a:t>
                </a:r>
                <a:r>
                  <a:rPr lang="es-PE" sz="900" b="0" i="0" dirty="0">
                    <a:solidFill>
                      <a:schemeClr val="tx1"/>
                    </a:solidFill>
                    <a:effectLst/>
                    <a:latin typeface="Segoe WPC"/>
                  </a:rPr>
                  <a:t> </a:t>
                </a:r>
                <a:r>
                  <a:rPr lang="es-PE" sz="900" b="0" i="0" dirty="0" err="1">
                    <a:solidFill>
                      <a:schemeClr val="tx1"/>
                    </a:solidFill>
                    <a:effectLst/>
                    <a:latin typeface="Segoe WPC"/>
                  </a:rPr>
                  <a:t>tails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𝑠</m:t>
                          </m:r>
                        </m:e>
                      </m:acc>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e>
                            <m:sub>
                              <m:r>
                                <a:rPr lang="ar-AE" sz="900" i="0">
                                  <a:solidFill>
                                    <a:schemeClr val="tx1"/>
                                  </a:solidFill>
                                  <a:latin typeface="Cambria Math" panose="02040503050406030204" pitchFamily="18" charset="0"/>
                                </a:rPr>
                                <m:t>3</m:t>
                              </m:r>
                            </m:sub>
                          </m:sSub>
                        </m:num>
                        <m:den>
                          <m:sSup>
                            <m:sSupPr>
                              <m:ctrlPr>
                                <a:rPr lang="ar-AE" sz="900" i="1">
                                  <a:solidFill>
                                    <a:schemeClr val="tx1"/>
                                  </a:solidFill>
                                  <a:latin typeface="Cambria Math" panose="02040503050406030204" pitchFamily="18" charset="0"/>
                                </a:rPr>
                              </m:ctrlPr>
                            </m:sSup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e>
                            <m:sup>
                              <m:r>
                                <a:rPr lang="ar-AE" sz="900" i="0">
                                  <a:solidFill>
                                    <a:schemeClr val="tx1"/>
                                  </a:solidFill>
                                  <a:latin typeface="Cambria Math" panose="02040503050406030204" pitchFamily="18" charset="0"/>
                                </a:rPr>
                                <m:t>3</m:t>
                              </m:r>
                            </m:sup>
                          </m:sSup>
                        </m:den>
                      </m:f>
                    </m:oMath>
                    <m:oMath xmlns:m="http://schemas.openxmlformats.org/officeDocument/2006/math">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𝜅</m:t>
                          </m:r>
                        </m:e>
                      </m:acc>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e>
                            <m:sub>
                              <m:r>
                                <a:rPr lang="ar-AE" sz="900" i="0">
                                  <a:solidFill>
                                    <a:schemeClr val="tx1"/>
                                  </a:solidFill>
                                  <a:latin typeface="Cambria Math" panose="02040503050406030204" pitchFamily="18" charset="0"/>
                                </a:rPr>
                                <m:t>4</m:t>
                              </m:r>
                            </m:sub>
                          </m:sSub>
                        </m:num>
                        <m:den>
                          <m:sSup>
                            <m:sSupPr>
                              <m:ctrlPr>
                                <a:rPr lang="ar-AE" sz="900" i="1">
                                  <a:solidFill>
                                    <a:schemeClr val="tx1"/>
                                  </a:solidFill>
                                  <a:latin typeface="Cambria Math" panose="02040503050406030204" pitchFamily="18" charset="0"/>
                                </a:rPr>
                              </m:ctrlPr>
                            </m:sSup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e>
                            <m:sup>
                              <m:r>
                                <a:rPr lang="ar-AE" sz="900" i="0">
                                  <a:solidFill>
                                    <a:schemeClr val="tx1"/>
                                  </a:solidFill>
                                  <a:latin typeface="Cambria Math" panose="02040503050406030204" pitchFamily="18" charset="0"/>
                                </a:rPr>
                                <m:t>4</m:t>
                              </m:r>
                            </m:sup>
                          </m:sSup>
                        </m:den>
                      </m:f>
                    </m:oMath>
                  </m:oMathPara>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Financial</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show negative </a:t>
                </a:r>
                <a:r>
                  <a:rPr lang="es-PE" sz="900" b="0" i="0" dirty="0" err="1">
                    <a:solidFill>
                      <a:schemeClr val="tx1"/>
                    </a:solidFill>
                    <a:effectLst/>
                    <a:latin typeface="Segoe WPC"/>
                  </a:rPr>
                  <a:t>skewness</a:t>
                </a:r>
                <a:r>
                  <a:rPr lang="es-PE" sz="900" b="0" i="0" dirty="0">
                    <a:solidFill>
                      <a:schemeClr val="tx1"/>
                    </a:solidFill>
                    <a:effectLst/>
                    <a:latin typeface="Segoe WPC"/>
                  </a:rPr>
                  <a:t> and </a:t>
                </a:r>
                <a:r>
                  <a:rPr lang="es-PE" sz="900" b="0" i="0" dirty="0" err="1">
                    <a:solidFill>
                      <a:schemeClr val="tx1"/>
                    </a:solidFill>
                    <a:effectLst/>
                    <a:latin typeface="Segoe WPC"/>
                  </a:rPr>
                  <a:t>excess</a:t>
                </a:r>
                <a:r>
                  <a:rPr lang="es-PE" sz="900" b="0" i="0" dirty="0">
                    <a:solidFill>
                      <a:schemeClr val="tx1"/>
                    </a:solidFill>
                    <a:effectLst/>
                    <a:latin typeface="Segoe WPC"/>
                  </a:rPr>
                  <a:t> </a:t>
                </a:r>
                <a:r>
                  <a:rPr lang="es-PE" sz="900" b="0" i="0" dirty="0" err="1">
                    <a:solidFill>
                      <a:schemeClr val="tx1"/>
                    </a:solidFill>
                    <a:effectLst/>
                    <a:latin typeface="Segoe WPC"/>
                  </a:rPr>
                  <a:t>kurtosis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Kurtosis</a:t>
                </a:r>
                <a:r>
                  <a:rPr lang="es-PE" sz="900" b="0" i="0" dirty="0">
                    <a:solidFill>
                      <a:schemeClr val="tx1"/>
                    </a:solidFill>
                    <a:effectLst/>
                    <a:latin typeface="Segoe WPC"/>
                  </a:rPr>
                  <a:t> </a:t>
                </a:r>
                <a:r>
                  <a:rPr lang="es-PE" sz="900" b="0" i="0" dirty="0" err="1">
                    <a:solidFill>
                      <a:schemeClr val="tx1"/>
                    </a:solidFill>
                    <a:effectLst/>
                    <a:latin typeface="Segoe WPC"/>
                  </a:rPr>
                  <a:t>mainly</a:t>
                </a:r>
                <a:r>
                  <a:rPr lang="es-PE" sz="900" b="0" i="0" dirty="0">
                    <a:solidFill>
                      <a:schemeClr val="tx1"/>
                    </a:solidFill>
                    <a:effectLst/>
                    <a:latin typeface="Segoe WPC"/>
                  </a:rPr>
                  <a:t> </a:t>
                </a:r>
                <a:r>
                  <a:rPr lang="es-PE" sz="900" b="0" i="0" dirty="0" err="1">
                    <a:solidFill>
                      <a:schemeClr val="tx1"/>
                    </a:solidFill>
                    <a:effectLst/>
                    <a:latin typeface="Segoe WPC"/>
                  </a:rPr>
                  <a:t>signals</a:t>
                </a:r>
                <a:r>
                  <a:rPr lang="es-PE" sz="900" b="0" i="0" dirty="0">
                    <a:solidFill>
                      <a:schemeClr val="tx1"/>
                    </a:solidFill>
                    <a:effectLst/>
                    <a:latin typeface="Segoe WPC"/>
                  </a:rPr>
                  <a:t> </a:t>
                </a:r>
                <a:r>
                  <a:rPr lang="es-PE" sz="900" b="0" i="0" dirty="0" err="1">
                    <a:solidFill>
                      <a:schemeClr val="tx1"/>
                    </a:solidFill>
                    <a:effectLst/>
                    <a:latin typeface="Segoe WPC"/>
                  </a:rPr>
                  <a:t>tail</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a:t>
                </a:r>
                <a:r>
                  <a:rPr lang="es-PE" sz="900" b="0" i="0" dirty="0" err="1">
                    <a:solidFill>
                      <a:schemeClr val="tx1"/>
                    </a:solidFill>
                    <a:effectLst/>
                    <a:latin typeface="Segoe WPC"/>
                  </a:rPr>
                  <a:t>peakedness</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10. </a:t>
                </a:r>
                <a:r>
                  <a:rPr lang="es-PE" sz="900" b="1" i="0" dirty="0" err="1">
                    <a:solidFill>
                      <a:schemeClr val="tx1"/>
                    </a:solidFill>
                    <a:effectLst/>
                    <a:latin typeface="Segoe WPC"/>
                  </a:rPr>
                  <a:t>Quantiles</a:t>
                </a:r>
                <a:r>
                  <a:rPr lang="es-PE" sz="900" b="1" i="0" dirty="0">
                    <a:solidFill>
                      <a:schemeClr val="tx1"/>
                    </a:solidFill>
                    <a:effectLst/>
                    <a:latin typeface="Segoe WPC"/>
                  </a:rPr>
                  <a:t>, </a:t>
                </a:r>
                <a:r>
                  <a:rPr lang="es-PE" sz="900" b="1" i="0" dirty="0" err="1">
                    <a:solidFill>
                      <a:schemeClr val="tx1"/>
                    </a:solidFill>
                    <a:effectLst/>
                    <a:latin typeface="Segoe WPC"/>
                  </a:rPr>
                  <a:t>Covariance</a:t>
                </a:r>
                <a:r>
                  <a:rPr lang="es-PE" sz="900" b="1" i="0" dirty="0">
                    <a:solidFill>
                      <a:schemeClr val="tx1"/>
                    </a:solidFill>
                    <a:effectLst/>
                    <a:latin typeface="Segoe WPC"/>
                  </a:rPr>
                  <a:t>, and </a:t>
                </a:r>
                <a:r>
                  <a:rPr lang="es-PE" sz="900" b="1" i="0" dirty="0" err="1">
                    <a:solidFill>
                      <a:schemeClr val="tx1"/>
                    </a:solidFill>
                    <a:effectLst/>
                    <a:latin typeface="Segoe WPC"/>
                  </a:rPr>
                  <a:t>Correlation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Quantiles</a:t>
                </a:r>
                <a:r>
                  <a:rPr lang="es-PE" sz="900" b="0" i="0" dirty="0">
                    <a:solidFill>
                      <a:schemeClr val="tx1"/>
                    </a:solidFill>
                    <a:effectLst/>
                    <a:latin typeface="Segoe WPC"/>
                  </a:rPr>
                  <a:t> describe </a:t>
                </a:r>
                <a:r>
                  <a:rPr lang="es-PE" sz="900" b="0" i="0" dirty="0" err="1">
                    <a:solidFill>
                      <a:schemeClr val="tx1"/>
                    </a:solidFill>
                    <a:effectLst/>
                    <a:latin typeface="Segoe WPC"/>
                  </a:rPr>
                  <a:t>location</a:t>
                </a:r>
                <a:r>
                  <a:rPr lang="es-PE" sz="900" b="0" i="0" dirty="0">
                    <a:solidFill>
                      <a:schemeClr val="tx1"/>
                    </a:solidFill>
                    <a:effectLst/>
                    <a:latin typeface="Segoe WPC"/>
                  </a:rPr>
                  <a:t>/spread </a:t>
                </a:r>
                <a:r>
                  <a:rPr lang="es-PE" sz="900" b="0" i="0" dirty="0" err="1">
                    <a:solidFill>
                      <a:schemeClr val="tx1"/>
                    </a:solidFill>
                    <a:effectLst/>
                    <a:latin typeface="Segoe WPC"/>
                  </a:rPr>
                  <a:t>robustly</a:t>
                </a:r>
                <a:r>
                  <a:rPr lang="es-PE" sz="900" b="0" i="0" dirty="0">
                    <a:solidFill>
                      <a:schemeClr val="tx1"/>
                    </a:solidFill>
                    <a:effectLst/>
                    <a:latin typeface="Segoe WPC"/>
                  </a:rPr>
                  <a:t>; </a:t>
                </a:r>
                <a:r>
                  <a:rPr lang="es-PE" sz="900" b="0" i="0" dirty="0" err="1">
                    <a:solidFill>
                      <a:schemeClr val="tx1"/>
                    </a:solidFill>
                    <a:effectLst/>
                    <a:latin typeface="Segoe WPC"/>
                  </a:rPr>
                  <a:t>covariance</a:t>
                </a:r>
                <a:r>
                  <a:rPr lang="es-PE" sz="900" b="0" i="0" dirty="0">
                    <a:solidFill>
                      <a:schemeClr val="tx1"/>
                    </a:solidFill>
                    <a:effectLst/>
                    <a:latin typeface="Segoe WPC"/>
                  </a:rPr>
                  <a:t> and </a:t>
                </a:r>
                <a:r>
                  <a:rPr lang="es-PE" sz="900" b="0" i="0" dirty="0" err="1">
                    <a:solidFill>
                      <a:schemeClr val="tx1"/>
                    </a:solidFill>
                    <a:effectLst/>
                    <a:latin typeface="Segoe WPC"/>
                  </a:rPr>
                  <a:t>correlation</a:t>
                </a:r>
                <a:r>
                  <a:rPr lang="es-PE" sz="900" b="0" i="0" dirty="0">
                    <a:solidFill>
                      <a:schemeClr val="tx1"/>
                    </a:solidFill>
                    <a:effectLst/>
                    <a:latin typeface="Segoe WPC"/>
                  </a:rPr>
                  <a:t> describe </a:t>
                </a:r>
                <a:r>
                  <a:rPr lang="es-PE" sz="900" b="0" i="0" dirty="0" err="1">
                    <a:solidFill>
                      <a:schemeClr val="tx1"/>
                    </a:solidFill>
                    <a:effectLst/>
                    <a:latin typeface="Segoe WPC"/>
                  </a:rPr>
                  <a:t>dependence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Median and IQR are </a:t>
                </a:r>
                <a:r>
                  <a:rPr lang="es-PE" sz="900" b="0" i="0" dirty="0" err="1">
                    <a:solidFill>
                      <a:schemeClr val="tx1"/>
                    </a:solidFill>
                    <a:effectLst/>
                    <a:latin typeface="Segoe WPC"/>
                  </a:rPr>
                  <a:t>robust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outliers</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tells</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variables </a:t>
                </a:r>
                <a:r>
                  <a:rPr lang="es-PE" sz="900" b="0" i="0" dirty="0" err="1">
                    <a:solidFill>
                      <a:schemeClr val="tx1"/>
                    </a:solidFill>
                    <a:effectLst/>
                    <a:latin typeface="Segoe WPC"/>
                  </a:rPr>
                  <a:t>move</a:t>
                </a:r>
                <a:r>
                  <a:rPr lang="es-PE" sz="900" b="0" i="0" dirty="0">
                    <a:solidFill>
                      <a:schemeClr val="tx1"/>
                    </a:solidFill>
                    <a:effectLst/>
                    <a:latin typeface="Segoe WPC"/>
                  </a:rPr>
                  <a:t> </a:t>
                </a:r>
                <a:r>
                  <a:rPr lang="es-PE" sz="900" b="0" i="0" dirty="0" err="1">
                    <a:solidFill>
                      <a:schemeClr val="tx1"/>
                    </a:solidFill>
                    <a:effectLst/>
                    <a:latin typeface="Segoe WPC"/>
                  </a:rPr>
                  <a:t>together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Ordered</a:t>
                </a:r>
                <a:r>
                  <a:rPr lang="es-PE" sz="900" b="0" i="0" dirty="0">
                    <a:solidFill>
                      <a:schemeClr val="tx1"/>
                    </a:solidFill>
                    <a:effectLst/>
                    <a:latin typeface="Segoe WPC"/>
                  </a:rPr>
                  <a:t> data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quantiles</a:t>
                </a:r>
                <a:r>
                  <a:rPr lang="es-PE" sz="900" b="0" i="0" dirty="0">
                    <a:solidFill>
                      <a:schemeClr val="tx1"/>
                    </a:solidFill>
                    <a:effectLst/>
                    <a:latin typeface="Segoe WPC"/>
                  </a:rPr>
                  <a:t>, </a:t>
                </a:r>
                <a:r>
                  <a:rPr lang="es-PE" sz="900" b="0" i="0" dirty="0" err="1">
                    <a:solidFill>
                      <a:schemeClr val="tx1"/>
                    </a:solidFill>
                    <a:effectLst/>
                    <a:latin typeface="Segoe WPC"/>
                  </a:rPr>
                  <a:t>scatter-style</a:t>
                </a:r>
                <a:r>
                  <a:rPr lang="es-PE" sz="900" b="0" i="0" dirty="0">
                    <a:solidFill>
                      <a:schemeClr val="tx1"/>
                    </a:solidFill>
                    <a:effectLst/>
                    <a:latin typeface="Segoe WPC"/>
                  </a:rPr>
                  <a:t> </a:t>
                </a:r>
                <a:r>
                  <a:rPr lang="es-PE" sz="900" b="0" i="0" dirty="0" err="1">
                    <a:solidFill>
                      <a:schemeClr val="tx1"/>
                    </a:solidFill>
                    <a:effectLst/>
                    <a:latin typeface="Segoe WPC"/>
                  </a:rPr>
                  <a:t>co-movement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𝐼𝑄𝑅</m:t>
                      </m:r>
                      <m:r>
                        <a:rPr lang="es-P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𝑞</m:t>
                          </m:r>
                        </m:e>
                        <m:sub>
                          <m:r>
                            <a:rPr lang="ar-AE" sz="900" i="0">
                              <a:solidFill>
                                <a:schemeClr val="tx1"/>
                              </a:solidFill>
                              <a:latin typeface="Cambria Math" panose="02040503050406030204" pitchFamily="18" charset="0"/>
                            </a:rPr>
                            <m:t>0</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75</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𝑞</m:t>
                          </m:r>
                        </m:e>
                        <m:sub>
                          <m:r>
                            <a:rPr lang="ar-AE" sz="900" i="0">
                              <a:solidFill>
                                <a:schemeClr val="tx1"/>
                              </a:solidFill>
                              <a:latin typeface="Cambria Math" panose="02040503050406030204" pitchFamily="18" charset="0"/>
                            </a:rPr>
                            <m:t>0</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25</m:t>
                          </m:r>
                        </m:sub>
                      </m:sSub>
                    </m:oMath>
                    <m:oMath xmlns:m="http://schemas.openxmlformats.org/officeDocument/2006/math">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e>
                        <m:sub>
                          <m:r>
                            <a:rPr lang="ar-AE" sz="900" i="1">
                              <a:solidFill>
                                <a:schemeClr val="tx1"/>
                              </a:solidFill>
                              <a:latin typeface="Cambria Math" panose="02040503050406030204" pitchFamily="18" charset="0"/>
                            </a:rPr>
                            <m:t>𝑋𝑌</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1">
                              <a:solidFill>
                                <a:schemeClr val="tx1"/>
                              </a:solidFill>
                              <a:latin typeface="Cambria Math" panose="02040503050406030204" pitchFamily="18" charset="0"/>
                            </a:rPr>
                            <m:t>𝑛</m:t>
                          </m:r>
                        </m:den>
                      </m:f>
                      <m:nary>
                        <m:naryPr>
                          <m:chr m:val="∑"/>
                          <m:grow m:val="on"/>
                          <m:subHide m:val="on"/>
                          <m:supHide m:val="on"/>
                          <m:ctrlPr>
                            <a:rPr lang="ar-AE" sz="900" i="1">
                              <a:solidFill>
                                <a:schemeClr val="tx1"/>
                              </a:solidFill>
                              <a:latin typeface="Cambria Math" panose="02040503050406030204" pitchFamily="18" charset="0"/>
                            </a:rPr>
                          </m:ctrlPr>
                        </m:naryPr>
                        <m:sub/>
                        <m:sup/>
                        <m:e>
                          <m:r>
                            <a:rPr lang="ar-AE" sz="900" i="0">
                              <a:solidFill>
                                <a:schemeClr val="tx1"/>
                              </a:solidFill>
                              <a:latin typeface="Cambria Math" panose="02040503050406030204" pitchFamily="18" charset="0"/>
                            </a:rPr>
                            <m:t>(</m:t>
                          </m:r>
                        </m:e>
                      </m:nary>
                      <m:d>
                        <m:dPr>
                          <m:beg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e>
                            <m:sub>
                              <m:r>
                                <a:rPr lang="ar-AE" sz="900" i="1">
                                  <a:solidFill>
                                    <a:schemeClr val="tx1"/>
                                  </a:solidFill>
                                  <a:latin typeface="Cambria Math" panose="02040503050406030204" pitchFamily="18" charset="0"/>
                                </a:rPr>
                                <m:t>𝑋</m:t>
                              </m:r>
                            </m:sub>
                          </m:sSub>
                        </m:e>
                      </m:d>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e>
                            <m:sub>
                              <m:r>
                                <a:rPr lang="ar-AE" sz="900" i="1">
                                  <a:solidFill>
                                    <a:schemeClr val="tx1"/>
                                  </a:solidFill>
                                  <a:latin typeface="Cambria Math" panose="02040503050406030204" pitchFamily="18" charset="0"/>
                                </a:rPr>
                                <m:t>𝑌</m:t>
                              </m:r>
                            </m:sub>
                          </m:sSub>
                        </m:e>
                      </m:d>
                    </m:oMath>
                    <m:oMath xmlns:m="http://schemas.openxmlformats.org/officeDocument/2006/math">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𝜌</m:t>
                              </m:r>
                            </m:e>
                          </m:acc>
                        </m:e>
                        <m:sub>
                          <m:r>
                            <a:rPr lang="ar-AE" sz="900" i="1">
                              <a:solidFill>
                                <a:schemeClr val="tx1"/>
                              </a:solidFill>
                              <a:latin typeface="Cambria Math" panose="02040503050406030204" pitchFamily="18" charset="0"/>
                            </a:rPr>
                            <m:t>𝑋𝑌</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e>
                            <m:sub>
                              <m:r>
                                <a:rPr lang="ar-AE" sz="900" i="1">
                                  <a:solidFill>
                                    <a:schemeClr val="tx1"/>
                                  </a:solidFill>
                                  <a:latin typeface="Cambria Math" panose="02040503050406030204" pitchFamily="18" charset="0"/>
                                </a:rPr>
                                <m:t>𝑋𝑌</m:t>
                              </m:r>
                            </m:sub>
                          </m:sSub>
                        </m:num>
                        <m:den>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e>
                            <m:sub>
                              <m:r>
                                <a:rPr lang="ar-AE" sz="900" i="1">
                                  <a:solidFill>
                                    <a:schemeClr val="tx1"/>
                                  </a:solidFill>
                                  <a:latin typeface="Cambria Math" panose="02040503050406030204" pitchFamily="18" charset="0"/>
                                </a:rPr>
                                <m:t>𝑋</m:t>
                              </m:r>
                            </m:sub>
                          </m:sSub>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e>
                            <m:sub>
                              <m:r>
                                <a:rPr lang="ar-AE" sz="900" i="1">
                                  <a:solidFill>
                                    <a:schemeClr val="tx1"/>
                                  </a:solidFill>
                                  <a:latin typeface="Cambria Math" panose="02040503050406030204" pitchFamily="18" charset="0"/>
                                </a:rPr>
                                <m:t>𝑌</m:t>
                              </m:r>
                            </m:sub>
                          </m:sSub>
                        </m:den>
                      </m:f>
                    </m:oMath>
                  </m:oMathPara>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Use </a:t>
                </a:r>
                <a:r>
                  <a:rPr lang="es-PE" sz="900" b="0" i="0" dirty="0" err="1">
                    <a:solidFill>
                      <a:schemeClr val="tx1"/>
                    </a:solidFill>
                    <a:effectLst/>
                    <a:latin typeface="Segoe WPC"/>
                  </a:rPr>
                  <a:t>quantiles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robust</a:t>
                </a:r>
                <a:r>
                  <a:rPr lang="es-PE" sz="900" b="0" i="0" dirty="0">
                    <a:solidFill>
                      <a:schemeClr val="tx1"/>
                    </a:solidFill>
                    <a:effectLst/>
                    <a:latin typeface="Segoe WPC"/>
                  </a:rPr>
                  <a:t> </a:t>
                </a:r>
                <a:r>
                  <a:rPr lang="es-PE" sz="900" b="0" i="0" dirty="0" err="1">
                    <a:solidFill>
                      <a:schemeClr val="tx1"/>
                    </a:solidFill>
                    <a:effectLst/>
                    <a:latin typeface="Segoe WPC"/>
                  </a:rPr>
                  <a:t>summaries</a:t>
                </a:r>
                <a:r>
                  <a:rPr lang="es-PE" sz="900" b="0" i="0" dirty="0">
                    <a:solidFill>
                      <a:schemeClr val="tx1"/>
                    </a:solidFill>
                    <a:effectLst/>
                    <a:latin typeface="Segoe WPC"/>
                  </a:rPr>
                  <a:t> and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scale</a:t>
                </a:r>
                <a:r>
                  <a:rPr lang="es-PE" sz="900" b="0" i="0" dirty="0">
                    <a:solidFill>
                      <a:schemeClr val="tx1"/>
                    </a:solidFill>
                    <a:effectLst/>
                    <a:latin typeface="Segoe WPC"/>
                  </a:rPr>
                  <a:t>-free </a:t>
                </a:r>
                <a:r>
                  <a:rPr lang="es-PE" sz="900" b="0" i="0" dirty="0" err="1">
                    <a:solidFill>
                      <a:schemeClr val="tx1"/>
                    </a:solidFill>
                    <a:effectLst/>
                    <a:latin typeface="Segoe WPC"/>
                  </a:rPr>
                  <a:t>dependence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Zero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imply</a:t>
                </a:r>
                <a:r>
                  <a:rPr lang="es-PE" sz="900" b="0" i="0" dirty="0">
                    <a:solidFill>
                      <a:schemeClr val="tx1"/>
                    </a:solidFill>
                    <a:effectLst/>
                    <a:latin typeface="Segoe WPC"/>
                  </a:rPr>
                  <a:t> </a:t>
                </a:r>
                <a:r>
                  <a:rPr lang="es-PE" sz="900" b="0" i="0" dirty="0" err="1">
                    <a:solidFill>
                      <a:schemeClr val="tx1"/>
                    </a:solidFill>
                    <a:effectLst/>
                    <a:latin typeface="Segoe WPC"/>
                  </a:rPr>
                  <a:t>independence</a:t>
                </a:r>
                <a:r>
                  <a:rPr lang="es-PE" sz="900" b="0" i="0" dirty="0">
                    <a:solidFill>
                      <a:schemeClr val="tx1"/>
                    </a:solidFill>
                    <a:effectLst/>
                    <a:latin typeface="Segoe WPC"/>
                  </a:rPr>
                  <a:t>.</a:t>
                </a:r>
              </a:p>
            </p:txBody>
          </p:sp>
        </mc:Choice>
        <mc:Fallback xmlns="">
          <p:sp>
            <p:nvSpPr>
              <p:cNvPr id="11" name="CuadroTexto 10">
                <a:extLst>
                  <a:ext uri="{FF2B5EF4-FFF2-40B4-BE49-F238E27FC236}">
                    <a16:creationId xmlns:a16="http://schemas.microsoft.com/office/drawing/2014/main" id="{28A44042-3FFD-3658-2088-FBD5A0E5B941}"/>
                  </a:ext>
                </a:extLst>
              </p:cNvPr>
              <p:cNvSpPr txBox="1">
                <a:spLocks noRot="1" noChangeAspect="1" noMove="1" noResize="1" noEditPoints="1" noAdjustHandles="1" noChangeArrowheads="1" noChangeShapeType="1" noTextEdit="1"/>
              </p:cNvSpPr>
              <p:nvPr/>
            </p:nvSpPr>
            <p:spPr>
              <a:xfrm>
                <a:off x="5685518" y="0"/>
                <a:ext cx="6408511" cy="6979924"/>
              </a:xfrm>
              <a:prstGeom prst="rect">
                <a:avLst/>
              </a:prstGeom>
              <a:blipFill>
                <a:blip r:embed="rId3"/>
                <a:stretch>
                  <a:fillRect b="-873"/>
                </a:stretch>
              </a:blipFill>
            </p:spPr>
            <p:txBody>
              <a:bodyPr/>
              <a:lstStyle/>
              <a:p>
                <a:r>
                  <a:rPr lang="es-PE">
                    <a:noFill/>
                  </a:rPr>
                  <a:t> </a:t>
                </a:r>
              </a:p>
            </p:txBody>
          </p:sp>
        </mc:Fallback>
      </mc:AlternateContent>
    </p:spTree>
    <p:extLst>
      <p:ext uri="{BB962C8B-B14F-4D97-AF65-F5344CB8AC3E}">
        <p14:creationId xmlns:p14="http://schemas.microsoft.com/office/powerpoint/2010/main" val="1569678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EFE0FB-22B4-CF6A-EC2E-B1FB53CD41EF}"/>
              </a:ext>
            </a:extLst>
          </p:cNvPr>
          <p:cNvSpPr>
            <a:spLocks noGrp="1"/>
          </p:cNvSpPr>
          <p:nvPr>
            <p:ph type="title"/>
          </p:nvPr>
        </p:nvSpPr>
        <p:spPr>
          <a:xfrm>
            <a:off x="0" y="1"/>
            <a:ext cx="10515600" cy="239484"/>
          </a:xfrm>
        </p:spPr>
        <p:txBody>
          <a:bodyPr>
            <a:noAutofit/>
          </a:bodyPr>
          <a:lstStyle/>
          <a:p>
            <a:r>
              <a:rPr lang="en-US" sz="2800" dirty="0" err="1"/>
              <a:t>Hypotjesis</a:t>
            </a:r>
            <a:r>
              <a:rPr lang="en-US" sz="2800" dirty="0"/>
              <a:t> testing</a:t>
            </a:r>
            <a:endParaRPr lang="es-PE" sz="2800"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04E0011-25E0-B513-01EE-6D97A1EA5452}"/>
                  </a:ext>
                </a:extLst>
              </p:cNvPr>
              <p:cNvSpPr txBox="1"/>
              <p:nvPr/>
            </p:nvSpPr>
            <p:spPr>
              <a:xfrm>
                <a:off x="0" y="239485"/>
                <a:ext cx="6369050" cy="6792052"/>
              </a:xfrm>
              <a:prstGeom prst="rect">
                <a:avLst/>
              </a:prstGeom>
              <a:noFill/>
            </p:spPr>
            <p:txBody>
              <a:bodyPr wrap="square">
                <a:spAutoFit/>
              </a:bodyPr>
              <a:lstStyle/>
              <a:p>
                <a:pPr algn="l">
                  <a:spcBef>
                    <a:spcPts val="300"/>
                  </a:spcBef>
                  <a:spcAft>
                    <a:spcPts val="300"/>
                  </a:spcAft>
                  <a:buFont typeface="+mj-lt"/>
                  <a:buAutoNum type="arabicPeriod"/>
                </a:pPr>
                <a:r>
                  <a:rPr lang="es-PE" sz="900" b="1" i="0" dirty="0">
                    <a:solidFill>
                      <a:schemeClr val="tx1"/>
                    </a:solidFill>
                    <a:effectLst/>
                    <a:latin typeface="Segoe WPC"/>
                  </a:rPr>
                  <a:t>Null vs Alternative </a:t>
                </a:r>
                <a:r>
                  <a:rPr lang="es-PE" sz="900" b="1" i="0" dirty="0" err="1">
                    <a:solidFill>
                      <a:schemeClr val="tx1"/>
                    </a:solidFill>
                    <a:effectLst/>
                    <a:latin typeface="Segoe WPC"/>
                  </a:rPr>
                  <a:t>Hypothesis</a:t>
                </a:r>
                <a:br>
                  <a:rPr lang="es-PE" sz="900" b="0" i="0" dirty="0">
                    <a:solidFill>
                      <a:schemeClr val="tx1"/>
                    </a:solidFill>
                    <a:effectLst/>
                    <a:latin typeface="Segoe WPC"/>
                  </a:rPr>
                </a:br>
                <a:r>
                  <a:rPr lang="es-PE" sz="900" b="0" i="0" dirty="0" err="1">
                    <a:solidFill>
                      <a:schemeClr val="tx1"/>
                    </a:solidFill>
                    <a:effectLst/>
                    <a:latin typeface="Segoe WPC"/>
                  </a:rPr>
                  <a:t>Statistical</a:t>
                </a:r>
                <a:r>
                  <a:rPr lang="es-PE" sz="900" b="0" i="0" dirty="0">
                    <a:solidFill>
                      <a:schemeClr val="tx1"/>
                    </a:solidFill>
                    <a:effectLst/>
                    <a:latin typeface="Segoe WPC"/>
                  </a:rPr>
                  <a:t> </a:t>
                </a:r>
                <a:r>
                  <a:rPr lang="es-PE" sz="900" b="0" i="0" dirty="0" err="1">
                    <a:solidFill>
                      <a:schemeClr val="tx1"/>
                    </a:solidFill>
                    <a:effectLst/>
                    <a:latin typeface="Segoe WPC"/>
                  </a:rPr>
                  <a:t>Object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 </a:t>
                </a:r>
                <a:r>
                  <a:rPr lang="es-PE" sz="900" b="0" i="0" dirty="0" err="1">
                    <a:solidFill>
                      <a:schemeClr val="tx1"/>
                    </a:solidFill>
                    <a:effectLst/>
                    <a:latin typeface="Segoe WPC"/>
                  </a:rPr>
                  <a:t>hypothesis</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benchmark</a:t>
                </a:r>
                <a:r>
                  <a:rPr lang="es-PE" sz="900" b="0" i="0" dirty="0">
                    <a:solidFill>
                      <a:schemeClr val="tx1"/>
                    </a:solidFill>
                    <a:effectLst/>
                    <a:latin typeface="Segoe WPC"/>
                  </a:rPr>
                  <a:t> </a:t>
                </a:r>
                <a:r>
                  <a:rPr lang="es-PE" sz="900" b="0" i="0" dirty="0" err="1">
                    <a:solidFill>
                      <a:schemeClr val="tx1"/>
                    </a:solidFill>
                    <a:effectLst/>
                    <a:latin typeface="Segoe WPC"/>
                  </a:rPr>
                  <a:t>claim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alternative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what</a:t>
                </a:r>
                <a:r>
                  <a:rPr lang="es-PE" sz="900" b="0" i="0" dirty="0">
                    <a:solidFill>
                      <a:schemeClr val="tx1"/>
                    </a:solidFill>
                    <a:effectLst/>
                    <a:latin typeface="Segoe WPC"/>
                  </a:rPr>
                  <a:t> </a:t>
                </a:r>
                <a:r>
                  <a:rPr lang="es-PE" sz="900" b="0" i="0" dirty="0" err="1">
                    <a:solidFill>
                      <a:schemeClr val="tx1"/>
                    </a:solidFill>
                    <a:effectLst/>
                    <a:latin typeface="Segoe WPC"/>
                  </a:rPr>
                  <a:t>we</a:t>
                </a:r>
                <a:r>
                  <a:rPr lang="es-PE" sz="900" b="0" i="0" dirty="0">
                    <a:solidFill>
                      <a:schemeClr val="tx1"/>
                    </a:solidFill>
                    <a:effectLst/>
                    <a:latin typeface="Segoe WPC"/>
                  </a:rPr>
                  <a:t> </a:t>
                </a:r>
                <a:r>
                  <a:rPr lang="es-PE" sz="900" b="0" i="0" dirty="0" err="1">
                    <a:solidFill>
                      <a:schemeClr val="tx1"/>
                    </a:solidFill>
                    <a:effectLst/>
                    <a:latin typeface="Segoe WPC"/>
                  </a:rPr>
                  <a:t>support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data </a:t>
                </a:r>
                <a:r>
                  <a:rPr lang="es-PE" sz="900" b="0" i="0" dirty="0" err="1">
                    <a:solidFill>
                      <a:schemeClr val="tx1"/>
                    </a:solidFill>
                    <a:effectLst/>
                    <a:latin typeface="Segoe WPC"/>
                  </a:rPr>
                  <a:t>contradict</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0" i="0" dirty="0" err="1">
                    <a:solidFill>
                      <a:schemeClr val="tx1"/>
                    </a:solidFill>
                    <a:effectLst/>
                    <a:latin typeface="Segoe WPC"/>
                  </a:rPr>
                  <a:t>Plain</a:t>
                </a:r>
                <a:r>
                  <a:rPr lang="es-PE" sz="900" b="0" i="0" dirty="0">
                    <a:solidFill>
                      <a:schemeClr val="tx1"/>
                    </a:solidFill>
                    <a:effectLst/>
                    <a:latin typeface="Segoe WPC"/>
                  </a:rPr>
                  <a:t> </a:t>
                </a:r>
                <a:r>
                  <a:rPr lang="es-PE" sz="900" b="0" i="0" dirty="0" err="1">
                    <a:solidFill>
                      <a:schemeClr val="tx1"/>
                    </a:solidFill>
                    <a:effectLst/>
                    <a:latin typeface="Segoe WPC"/>
                  </a:rPr>
                  <a:t>Intuition</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 = </a:t>
                </a:r>
                <a:r>
                  <a:rPr lang="es-PE" sz="900" b="0" i="0" dirty="0">
                    <a:solidFill>
                      <a:schemeClr val="tx1"/>
                    </a:solidFill>
                    <a:effectLst/>
                    <a:latin typeface="Segoe WPC"/>
                  </a:rPr>
                  <a:t>default </a:t>
                </a:r>
                <a:r>
                  <a:rPr lang="es-PE" sz="900" b="0" i="0" dirty="0" err="1">
                    <a:solidFill>
                      <a:schemeClr val="tx1"/>
                    </a:solidFill>
                    <a:effectLst/>
                    <a:latin typeface="Segoe WPC"/>
                  </a:rPr>
                  <a:t>assumption</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 </a:t>
                </a:r>
                <a:r>
                  <a:rPr lang="es-PE" sz="900" b="0" i="0" dirty="0" err="1">
                    <a:solidFill>
                      <a:schemeClr val="tx1"/>
                    </a:solidFill>
                    <a:effectLst/>
                    <a:latin typeface="Segoe WPC"/>
                  </a:rPr>
                  <a:t>competing</a:t>
                </a:r>
                <a:r>
                  <a:rPr lang="es-PE" sz="900" b="0" i="0" dirty="0">
                    <a:solidFill>
                      <a:schemeClr val="tx1"/>
                    </a:solidFill>
                    <a:effectLst/>
                    <a:latin typeface="Segoe WPC"/>
                  </a:rPr>
                  <a:t> </a:t>
                </a:r>
                <a:r>
                  <a:rPr lang="es-PE" sz="900" b="0" i="0" dirty="0" err="1">
                    <a:solidFill>
                      <a:schemeClr val="tx1"/>
                    </a:solidFill>
                    <a:effectLst/>
                    <a:latin typeface="Segoe WPC"/>
                  </a:rPr>
                  <a:t>claim</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Visual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Start</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centered</a:t>
                </a:r>
                <a:r>
                  <a:rPr lang="es-PE" sz="900" b="0" i="0" dirty="0">
                    <a:solidFill>
                      <a:schemeClr val="tx1"/>
                    </a:solidFill>
                    <a:effectLst/>
                    <a:latin typeface="Segoe WPC"/>
                  </a:rPr>
                  <a:t>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and </a:t>
                </a:r>
                <a:r>
                  <a:rPr lang="es-PE" sz="900" b="0" i="0" dirty="0" err="1">
                    <a:solidFill>
                      <a:schemeClr val="tx1"/>
                    </a:solidFill>
                    <a:effectLst/>
                    <a:latin typeface="Segoe WPC"/>
                  </a:rPr>
                  <a:t>see</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result</a:t>
                </a:r>
                <a:r>
                  <a:rPr lang="es-PE" sz="900" b="0" i="0" dirty="0">
                    <a:solidFill>
                      <a:schemeClr val="tx1"/>
                    </a:solidFill>
                    <a:effectLst/>
                    <a:latin typeface="Segoe WPC"/>
                  </a:rPr>
                  <a:t> </a:t>
                </a:r>
                <a:r>
                  <a:rPr lang="es-PE" sz="900" b="0" i="0" dirty="0" err="1">
                    <a:solidFill>
                      <a:schemeClr val="tx1"/>
                    </a:solidFill>
                    <a:effectLst/>
                    <a:latin typeface="Segoe WPC"/>
                  </a:rPr>
                  <a:t>falls</a:t>
                </a:r>
                <a:r>
                  <a:rPr lang="es-PE" sz="900" b="0" i="0" dirty="0">
                    <a:solidFill>
                      <a:schemeClr val="tx1"/>
                    </a:solidFill>
                    <a:effectLst/>
                    <a:latin typeface="Segoe WPC"/>
                  </a:rPr>
                  <a:t> </a:t>
                </a:r>
                <a:r>
                  <a:rPr lang="es-PE" sz="900" b="0" i="0" dirty="0" err="1">
                    <a:solidFill>
                      <a:schemeClr val="tx1"/>
                    </a:solidFill>
                    <a:effectLst/>
                    <a:latin typeface="Segoe WPC"/>
                  </a:rPr>
                  <a:t>too</a:t>
                </a:r>
                <a:r>
                  <a:rPr lang="es-PE" sz="900" b="0" i="0" dirty="0">
                    <a:solidFill>
                      <a:schemeClr val="tx1"/>
                    </a:solidFill>
                    <a:effectLst/>
                    <a:latin typeface="Segoe WPC"/>
                  </a:rPr>
                  <a:t> </a:t>
                </a:r>
                <a:r>
                  <a:rPr lang="es-PE" sz="900" b="0" i="0" dirty="0" err="1">
                    <a:solidFill>
                      <a:schemeClr val="tx1"/>
                    </a:solidFill>
                    <a:effectLst/>
                    <a:latin typeface="Segoe WPC"/>
                  </a:rPr>
                  <a:t>far</a:t>
                </a:r>
                <a:r>
                  <a:rPr lang="es-PE" sz="900" b="0" i="0" dirty="0">
                    <a:solidFill>
                      <a:schemeClr val="tx1"/>
                    </a:solidFill>
                    <a:effectLst/>
                    <a:latin typeface="Segoe WPC"/>
                  </a:rPr>
                  <a:t> </a:t>
                </a:r>
                <a:r>
                  <a:rPr lang="es-PE" sz="900" b="0" i="0" dirty="0" err="1">
                    <a:solidFill>
                      <a:schemeClr val="tx1"/>
                    </a:solidFill>
                    <a:effectLst/>
                    <a:latin typeface="Segoe WPC"/>
                  </a:rPr>
                  <a:t>away</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Key Formula: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𝜇</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𝜇</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𝜇</m:t>
                    </m:r>
                    <m:r>
                      <a:rPr lang="ar-AE" sz="900" i="0">
                        <a:solidFill>
                          <a:schemeClr val="tx1"/>
                        </a:solidFill>
                        <a:latin typeface="Cambria Math" panose="02040503050406030204" pitchFamily="18" charset="0"/>
                      </a:rPr>
                      <m:t>&gt;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𝜇</m:t>
                    </m:r>
                    <m:r>
                      <a:rPr lang="ar-AE" sz="900" i="0">
                        <a:solidFill>
                          <a:schemeClr val="tx1"/>
                        </a:solidFill>
                        <a:latin typeface="Cambria Math" panose="02040503050406030204" pitchFamily="18" charset="0"/>
                      </a:rPr>
                      <m:t>&lt;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0">
                            <a:solidFill>
                              <a:schemeClr val="tx1"/>
                            </a:solidFill>
                            <a:latin typeface="Cambria Math" panose="02040503050406030204" pitchFamily="18" charset="0"/>
                          </a:rPr>
                          <m:t>0</m:t>
                        </m:r>
                      </m:sub>
                    </m:sSub>
                  </m:oMath>
                </a14:m>
                <a:br>
                  <a:rPr lang="ar-AE" sz="900" b="0" i="0" dirty="0">
                    <a:solidFill>
                      <a:schemeClr val="tx1"/>
                    </a:solidFill>
                    <a:effectLst/>
                    <a:latin typeface="Segoe WPC"/>
                  </a:rPr>
                </a:br>
                <a:r>
                  <a:rPr lang="es-PE" sz="900" b="0" i="0" dirty="0" err="1">
                    <a:solidFill>
                      <a:schemeClr val="tx1"/>
                    </a:solidFill>
                    <a:effectLst/>
                    <a:latin typeface="Segoe WPC"/>
                  </a:rPr>
                  <a:t>Interpretation</a:t>
                </a:r>
                <a:r>
                  <a:rPr lang="es-PE" sz="900" b="0" i="0" dirty="0">
                    <a:solidFill>
                      <a:schemeClr val="tx1"/>
                    </a:solidFill>
                    <a:effectLst/>
                    <a:latin typeface="Segoe WPC"/>
                  </a:rPr>
                  <a:t>: </a:t>
                </a:r>
                <a:r>
                  <a:rPr lang="es-PE" sz="900" b="0" i="0" dirty="0" err="1">
                    <a:solidFill>
                      <a:schemeClr val="tx1"/>
                    </a:solidFill>
                    <a:effectLst/>
                    <a:latin typeface="Segoe WPC"/>
                  </a:rPr>
                  <a:t>Hypothesis</a:t>
                </a:r>
                <a:r>
                  <a:rPr lang="es-PE" sz="900" b="0" i="0" dirty="0">
                    <a:solidFill>
                      <a:schemeClr val="tx1"/>
                    </a:solidFill>
                    <a:effectLst/>
                    <a:latin typeface="Segoe WPC"/>
                  </a:rPr>
                  <a:t> </a:t>
                </a:r>
                <a:r>
                  <a:rPr lang="es-PE" sz="900" b="0" i="0" dirty="0" err="1">
                    <a:solidFill>
                      <a:schemeClr val="tx1"/>
                    </a:solidFill>
                    <a:effectLst/>
                    <a:latin typeface="Segoe WPC"/>
                  </a:rPr>
                  <a:t>testing</a:t>
                </a:r>
                <a:r>
                  <a:rPr lang="es-PE" sz="900" b="0" i="0" dirty="0">
                    <a:solidFill>
                      <a:schemeClr val="tx1"/>
                    </a:solidFill>
                    <a:effectLst/>
                    <a:latin typeface="Segoe WPC"/>
                  </a:rPr>
                  <a:t> </a:t>
                </a:r>
                <a:r>
                  <a:rPr lang="es-PE" sz="900" b="0" i="0" dirty="0" err="1">
                    <a:solidFill>
                      <a:schemeClr val="tx1"/>
                    </a:solidFill>
                    <a:effectLst/>
                    <a:latin typeface="Segoe WPC"/>
                  </a:rPr>
                  <a:t>asks</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consistent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Exam</a:t>
                </a:r>
                <a:r>
                  <a:rPr lang="es-PE" sz="900" b="0" i="0" dirty="0">
                    <a:solidFill>
                      <a:schemeClr val="tx1"/>
                    </a:solidFill>
                    <a:effectLst/>
                    <a:latin typeface="Segoe WPC"/>
                  </a:rPr>
                  <a:t> </a:t>
                </a:r>
                <a:r>
                  <a:rPr lang="es-PE" sz="900" b="0" i="0" dirty="0" err="1">
                    <a:solidFill>
                      <a:schemeClr val="tx1"/>
                    </a:solidFill>
                    <a:effectLst/>
                    <a:latin typeface="Segoe WPC"/>
                  </a:rPr>
                  <a:t>Trap</a:t>
                </a:r>
                <a:r>
                  <a:rPr lang="es-PE" sz="900" b="0" i="0" dirty="0">
                    <a:solidFill>
                      <a:schemeClr val="tx1"/>
                    </a:solidFill>
                    <a:effectLst/>
                    <a:latin typeface="Segoe WPC"/>
                  </a:rPr>
                  <a:t>: </a:t>
                </a:r>
                <a:r>
                  <a:rPr lang="es-PE" sz="900" b="0" i="0" dirty="0" err="1">
                    <a:solidFill>
                      <a:schemeClr val="tx1"/>
                    </a:solidFill>
                    <a:effectLst/>
                    <a:latin typeface="Segoe WPC"/>
                  </a:rPr>
                  <a:t>Failing</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reject</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mean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true.</a:t>
                </a:r>
              </a:p>
              <a:p>
                <a:pPr algn="l">
                  <a:spcBef>
                    <a:spcPts val="300"/>
                  </a:spcBef>
                  <a:spcAft>
                    <a:spcPts val="300"/>
                  </a:spcAft>
                  <a:buFont typeface="+mj-lt"/>
                  <a:buAutoNum type="arabicPeriod"/>
                </a:pPr>
                <a:r>
                  <a:rPr lang="es-PE" sz="900" b="1" i="0" dirty="0" err="1">
                    <a:solidFill>
                      <a:schemeClr val="tx1"/>
                    </a:solidFill>
                    <a:effectLst/>
                    <a:latin typeface="Segoe WPC"/>
                  </a:rPr>
                  <a:t>One-Sided</a:t>
                </a:r>
                <a:r>
                  <a:rPr lang="es-PE" sz="900" b="1" i="0" dirty="0">
                    <a:solidFill>
                      <a:schemeClr val="tx1"/>
                    </a:solidFill>
                    <a:effectLst/>
                    <a:latin typeface="Segoe WPC"/>
                  </a:rPr>
                  <a:t> vs </a:t>
                </a:r>
                <a:r>
                  <a:rPr lang="es-PE" sz="900" b="1" i="0" dirty="0" err="1">
                    <a:solidFill>
                      <a:schemeClr val="tx1"/>
                    </a:solidFill>
                    <a:effectLst/>
                    <a:latin typeface="Segoe WPC"/>
                  </a:rPr>
                  <a:t>Two-Sided</a:t>
                </a:r>
                <a:r>
                  <a:rPr lang="es-PE" sz="900" b="1" i="0" dirty="0">
                    <a:solidFill>
                      <a:schemeClr val="tx1"/>
                    </a:solidFill>
                    <a:effectLst/>
                    <a:latin typeface="Segoe WPC"/>
                  </a:rPr>
                  <a:t> Test</a:t>
                </a:r>
                <a:br>
                  <a:rPr lang="es-PE" sz="900" b="0" i="0" dirty="0">
                    <a:solidFill>
                      <a:schemeClr val="tx1"/>
                    </a:solidFill>
                    <a:effectLst/>
                    <a:latin typeface="Segoe WPC"/>
                  </a:rPr>
                </a:br>
                <a:r>
                  <a:rPr lang="es-PE" sz="900" b="0" i="0" dirty="0" err="1">
                    <a:solidFill>
                      <a:schemeClr val="tx1"/>
                    </a:solidFill>
                    <a:effectLst/>
                    <a:latin typeface="Segoe WPC"/>
                  </a:rPr>
                  <a:t>Statistical</a:t>
                </a:r>
                <a:r>
                  <a:rPr lang="es-PE" sz="900" b="0" i="0" dirty="0">
                    <a:solidFill>
                      <a:schemeClr val="tx1"/>
                    </a:solidFill>
                    <a:effectLst/>
                    <a:latin typeface="Segoe WPC"/>
                  </a:rPr>
                  <a:t> </a:t>
                </a:r>
                <a:r>
                  <a:rPr lang="es-PE" sz="900" b="0" i="0" dirty="0" err="1">
                    <a:solidFill>
                      <a:schemeClr val="tx1"/>
                    </a:solidFill>
                    <a:effectLst/>
                    <a:latin typeface="Segoe WPC"/>
                  </a:rPr>
                  <a:t>Object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alternative can be </a:t>
                </a:r>
                <a:r>
                  <a:rPr lang="es-PE" sz="900" b="0" i="0" dirty="0" err="1">
                    <a:solidFill>
                      <a:schemeClr val="tx1"/>
                    </a:solidFill>
                    <a:effectLst/>
                    <a:latin typeface="Segoe WPC"/>
                  </a:rPr>
                  <a:t>directional</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non-</a:t>
                </a:r>
                <a:r>
                  <a:rPr lang="es-PE" sz="900" b="0" i="0" dirty="0" err="1">
                    <a:solidFill>
                      <a:schemeClr val="tx1"/>
                    </a:solidFill>
                    <a:effectLst/>
                    <a:latin typeface="Segoe WPC"/>
                  </a:rPr>
                  <a:t>directional</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Plain</a:t>
                </a:r>
                <a:r>
                  <a:rPr lang="es-PE" sz="900" b="0" i="0" dirty="0">
                    <a:solidFill>
                      <a:schemeClr val="tx1"/>
                    </a:solidFill>
                    <a:effectLst/>
                    <a:latin typeface="Segoe WPC"/>
                  </a:rPr>
                  <a:t>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Two-sided</a:t>
                </a:r>
                <a:r>
                  <a:rPr lang="es-PE" sz="900" b="0" i="0" dirty="0">
                    <a:solidFill>
                      <a:schemeClr val="tx1"/>
                    </a:solidFill>
                    <a:effectLst/>
                    <a:latin typeface="Segoe WPC"/>
                  </a:rPr>
                  <a:t> </a:t>
                </a:r>
                <a:r>
                  <a:rPr lang="es-PE" sz="900" b="0" i="0" dirty="0" err="1">
                    <a:solidFill>
                      <a:schemeClr val="tx1"/>
                    </a:solidFill>
                    <a:effectLst/>
                    <a:latin typeface="Segoe WPC"/>
                  </a:rPr>
                  <a:t>tests</a:t>
                </a:r>
                <a:r>
                  <a:rPr lang="es-PE" sz="900" b="0" i="0" dirty="0">
                    <a:solidFill>
                      <a:schemeClr val="tx1"/>
                    </a:solidFill>
                    <a:effectLst/>
                    <a:latin typeface="Segoe WPC"/>
                  </a:rPr>
                  <a:t> </a:t>
                </a:r>
                <a:r>
                  <a:rPr lang="es-PE" sz="900" b="0" i="0" dirty="0" err="1">
                    <a:solidFill>
                      <a:schemeClr val="tx1"/>
                    </a:solidFill>
                    <a:effectLst/>
                    <a:latin typeface="Segoe WPC"/>
                  </a:rPr>
                  <a:t>ask</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something</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one-sided</a:t>
                </a:r>
                <a:r>
                  <a:rPr lang="es-PE" sz="900" b="0" i="0" dirty="0">
                    <a:solidFill>
                      <a:schemeClr val="tx1"/>
                    </a:solidFill>
                    <a:effectLst/>
                    <a:latin typeface="Segoe WPC"/>
                  </a:rPr>
                  <a:t> </a:t>
                </a:r>
                <a:r>
                  <a:rPr lang="es-PE" sz="900" b="0" i="0" dirty="0" err="1">
                    <a:solidFill>
                      <a:schemeClr val="tx1"/>
                    </a:solidFill>
                    <a:effectLst/>
                    <a:latin typeface="Segoe WPC"/>
                  </a:rPr>
                  <a:t>tests</a:t>
                </a:r>
                <a:r>
                  <a:rPr lang="es-PE" sz="900" b="0" i="0" dirty="0">
                    <a:solidFill>
                      <a:schemeClr val="tx1"/>
                    </a:solidFill>
                    <a:effectLst/>
                    <a:latin typeface="Segoe WPC"/>
                  </a:rPr>
                  <a:t> </a:t>
                </a:r>
                <a:r>
                  <a:rPr lang="es-PE" sz="900" b="0" i="0" dirty="0" err="1">
                    <a:solidFill>
                      <a:schemeClr val="tx1"/>
                    </a:solidFill>
                    <a:effectLst/>
                    <a:latin typeface="Segoe WPC"/>
                  </a:rPr>
                  <a:t>ask</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specifically</a:t>
                </a:r>
                <a:r>
                  <a:rPr lang="es-PE" sz="900" b="0" i="0" dirty="0">
                    <a:solidFill>
                      <a:schemeClr val="tx1"/>
                    </a:solidFill>
                    <a:effectLst/>
                    <a:latin typeface="Segoe WPC"/>
                  </a:rPr>
                  <a:t> </a:t>
                </a:r>
                <a:r>
                  <a:rPr lang="es-PE" sz="900" b="0" i="0" dirty="0" err="1">
                    <a:solidFill>
                      <a:schemeClr val="tx1"/>
                    </a:solidFill>
                    <a:effectLst/>
                    <a:latin typeface="Segoe WPC"/>
                  </a:rPr>
                  <a:t>bigger</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smaller</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Visual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Two-sided</a:t>
                </a:r>
                <a:r>
                  <a:rPr lang="es-PE" sz="900" b="0" i="0" dirty="0">
                    <a:solidFill>
                      <a:schemeClr val="tx1"/>
                    </a:solidFill>
                    <a:effectLst/>
                    <a:latin typeface="Segoe WPC"/>
                  </a:rPr>
                  <a:t> =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tails</a:t>
                </a:r>
                <a:r>
                  <a:rPr lang="es-PE" sz="900" b="0" i="0" dirty="0">
                    <a:solidFill>
                      <a:schemeClr val="tx1"/>
                    </a:solidFill>
                    <a:effectLst/>
                    <a:latin typeface="Segoe WPC"/>
                  </a:rPr>
                  <a:t> </a:t>
                </a:r>
                <a:r>
                  <a:rPr lang="es-PE" sz="900" b="0" i="0" dirty="0" err="1">
                    <a:solidFill>
                      <a:schemeClr val="tx1"/>
                    </a:solidFill>
                    <a:effectLst/>
                    <a:latin typeface="Segoe WPC"/>
                  </a:rPr>
                  <a:t>matter</a:t>
                </a:r>
                <a:r>
                  <a:rPr lang="es-PE" sz="900" b="0" i="0" dirty="0">
                    <a:solidFill>
                      <a:schemeClr val="tx1"/>
                    </a:solidFill>
                    <a:effectLst/>
                    <a:latin typeface="Segoe WPC"/>
                  </a:rPr>
                  <a:t>; </a:t>
                </a:r>
                <a:r>
                  <a:rPr lang="es-PE" sz="900" b="0" i="0" dirty="0" err="1">
                    <a:solidFill>
                      <a:schemeClr val="tx1"/>
                    </a:solidFill>
                    <a:effectLst/>
                    <a:latin typeface="Segoe WPC"/>
                  </a:rPr>
                  <a:t>one-sided</a:t>
                </a:r>
                <a:r>
                  <a:rPr lang="es-PE" sz="900" b="0" i="0" dirty="0">
                    <a:solidFill>
                      <a:schemeClr val="tx1"/>
                    </a:solidFill>
                    <a:effectLst/>
                    <a:latin typeface="Segoe WPC"/>
                  </a:rPr>
                  <a:t> =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tail</a:t>
                </a:r>
                <a:r>
                  <a:rPr lang="es-PE" sz="900" b="0" i="0" dirty="0">
                    <a:solidFill>
                      <a:schemeClr val="tx1"/>
                    </a:solidFill>
                    <a:effectLst/>
                    <a:latin typeface="Segoe WPC"/>
                  </a:rPr>
                  <a:t> </a:t>
                </a:r>
                <a:r>
                  <a:rPr lang="es-PE" sz="900" b="0" i="0" dirty="0" err="1">
                    <a:solidFill>
                      <a:schemeClr val="tx1"/>
                    </a:solidFill>
                    <a:effectLst/>
                    <a:latin typeface="Segoe WPC"/>
                  </a:rPr>
                  <a:t>matters</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Key Formula: </a:t>
                </a:r>
                <a:r>
                  <a:rPr lang="es-PE" sz="900" b="0" i="0" dirty="0" err="1">
                    <a:solidFill>
                      <a:schemeClr val="tx1"/>
                    </a:solidFill>
                    <a:effectLst/>
                    <a:latin typeface="Segoe WPC"/>
                  </a:rPr>
                  <a:t>Two-sided</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𝜇</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 </a:t>
                </a:r>
                <a:r>
                  <a:rPr lang="es-PE" sz="900" b="0" i="0" dirty="0" err="1">
                    <a:solidFill>
                      <a:schemeClr val="tx1"/>
                    </a:solidFill>
                    <a:effectLst/>
                    <a:latin typeface="Segoe WPC"/>
                  </a:rPr>
                  <a:t>upper-tailed</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𝜇</m:t>
                    </m:r>
                    <m:r>
                      <a:rPr lang="ar-AE" sz="900" i="0">
                        <a:solidFill>
                          <a:schemeClr val="tx1"/>
                        </a:solidFill>
                        <a:latin typeface="Cambria Math" panose="02040503050406030204" pitchFamily="18" charset="0"/>
                      </a:rPr>
                      <m:t>&gt;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 </a:t>
                </a:r>
                <a:r>
                  <a:rPr lang="es-PE" sz="900" b="0" i="0" dirty="0" err="1">
                    <a:solidFill>
                      <a:schemeClr val="tx1"/>
                    </a:solidFill>
                    <a:effectLst/>
                    <a:latin typeface="Segoe WPC"/>
                  </a:rPr>
                  <a:t>lower-tailed</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𝜇</m:t>
                    </m:r>
                    <m:r>
                      <a:rPr lang="ar-AE" sz="900" i="0">
                        <a:solidFill>
                          <a:schemeClr val="tx1"/>
                        </a:solidFill>
                        <a:latin typeface="Cambria Math" panose="02040503050406030204" pitchFamily="18" charset="0"/>
                      </a:rPr>
                      <m:t>&lt;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0">
                            <a:solidFill>
                              <a:schemeClr val="tx1"/>
                            </a:solidFill>
                            <a:latin typeface="Cambria Math" panose="02040503050406030204" pitchFamily="18" charset="0"/>
                          </a:rPr>
                          <m:t>0</m:t>
                        </m:r>
                      </m:sub>
                    </m:sSub>
                  </m:oMath>
                </a14:m>
                <a:br>
                  <a:rPr lang="ar-AE" sz="900" b="0" i="0" dirty="0">
                    <a:solidFill>
                      <a:schemeClr val="tx1"/>
                    </a:solidFill>
                    <a:effectLst/>
                    <a:latin typeface="Segoe WPC"/>
                  </a:rPr>
                </a:br>
                <a:r>
                  <a:rPr lang="es-PE" sz="900" b="0" i="0" dirty="0" err="1">
                    <a:solidFill>
                      <a:schemeClr val="tx1"/>
                    </a:solidFill>
                    <a:effectLst/>
                    <a:latin typeface="Segoe WPC"/>
                  </a:rPr>
                  <a:t>Interpretation</a:t>
                </a:r>
                <a:r>
                  <a:rPr lang="es-PE" sz="900" b="0" i="0" dirty="0">
                    <a:solidFill>
                      <a:schemeClr val="tx1"/>
                    </a:solidFill>
                    <a:effectLst/>
                    <a:latin typeface="Segoe WPC"/>
                  </a:rPr>
                  <a:t>: </a:t>
                </a:r>
                <a:r>
                  <a:rPr lang="es-PE" sz="900" b="0" i="0" dirty="0" err="1">
                    <a:solidFill>
                      <a:schemeClr val="tx1"/>
                    </a:solidFill>
                    <a:effectLst/>
                    <a:latin typeface="Segoe WPC"/>
                  </a:rPr>
                  <a:t>One-sided</a:t>
                </a:r>
                <a:r>
                  <a:rPr lang="es-PE" sz="900" b="0" i="0" dirty="0">
                    <a:solidFill>
                      <a:schemeClr val="tx1"/>
                    </a:solidFill>
                    <a:effectLst/>
                    <a:latin typeface="Segoe WPC"/>
                  </a:rPr>
                  <a:t> </a:t>
                </a:r>
                <a:r>
                  <a:rPr lang="es-PE" sz="900" b="0" i="0" dirty="0" err="1">
                    <a:solidFill>
                      <a:schemeClr val="tx1"/>
                    </a:solidFill>
                    <a:effectLst/>
                    <a:latin typeface="Segoe WPC"/>
                  </a:rPr>
                  <a:t>tests</a:t>
                </a:r>
                <a:r>
                  <a:rPr lang="es-PE" sz="900" b="0" i="0" dirty="0">
                    <a:solidFill>
                      <a:schemeClr val="tx1"/>
                    </a:solidFill>
                    <a:effectLst/>
                    <a:latin typeface="Segoe WPC"/>
                  </a:rPr>
                  <a:t> are more </a:t>
                </a:r>
                <a:r>
                  <a:rPr lang="es-PE" sz="900" b="0" i="0" dirty="0" err="1">
                    <a:solidFill>
                      <a:schemeClr val="tx1"/>
                    </a:solidFill>
                    <a:effectLst/>
                    <a:latin typeface="Segoe WPC"/>
                  </a:rPr>
                  <a:t>powerful</a:t>
                </a:r>
                <a:r>
                  <a:rPr lang="es-PE" sz="900" b="0" i="0" dirty="0">
                    <a:solidFill>
                      <a:schemeClr val="tx1"/>
                    </a:solidFill>
                    <a:effectLst/>
                    <a:latin typeface="Segoe WPC"/>
                  </a:rPr>
                  <a:t> in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direction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Exam</a:t>
                </a:r>
                <a:r>
                  <a:rPr lang="es-PE" sz="900" b="0" i="0" dirty="0">
                    <a:solidFill>
                      <a:schemeClr val="tx1"/>
                    </a:solidFill>
                    <a:effectLst/>
                    <a:latin typeface="Segoe WPC"/>
                  </a:rPr>
                  <a:t> </a:t>
                </a:r>
                <a:r>
                  <a:rPr lang="es-PE" sz="900" b="0" i="0" dirty="0" err="1">
                    <a:solidFill>
                      <a:schemeClr val="tx1"/>
                    </a:solidFill>
                    <a:effectLst/>
                    <a:latin typeface="Segoe WPC"/>
                  </a:rPr>
                  <a:t>Trap</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use a </a:t>
                </a:r>
                <a:r>
                  <a:rPr lang="es-PE" sz="900" b="0" i="0" dirty="0" err="1">
                    <a:solidFill>
                      <a:schemeClr val="tx1"/>
                    </a:solidFill>
                    <a:effectLst/>
                    <a:latin typeface="Segoe WPC"/>
                  </a:rPr>
                  <a:t>one-sided</a:t>
                </a:r>
                <a:r>
                  <a:rPr lang="es-PE" sz="900" b="0" i="0" dirty="0">
                    <a:solidFill>
                      <a:schemeClr val="tx1"/>
                    </a:solidFill>
                    <a:effectLst/>
                    <a:latin typeface="Segoe WPC"/>
                  </a:rPr>
                  <a:t> test </a:t>
                </a:r>
                <a:r>
                  <a:rPr lang="es-PE" sz="900" b="0" i="0" dirty="0" err="1">
                    <a:solidFill>
                      <a:schemeClr val="tx1"/>
                    </a:solidFill>
                    <a:effectLst/>
                    <a:latin typeface="Segoe WPC"/>
                  </a:rPr>
                  <a:t>unless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question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truly</a:t>
                </a:r>
                <a:r>
                  <a:rPr lang="es-PE" sz="900" b="0" i="0" dirty="0">
                    <a:solidFill>
                      <a:schemeClr val="tx1"/>
                    </a:solidFill>
                    <a:effectLst/>
                    <a:latin typeface="Segoe WPC"/>
                  </a:rPr>
                  <a:t> </a:t>
                </a:r>
                <a:r>
                  <a:rPr lang="es-PE" sz="900" b="0" i="0" dirty="0" err="1">
                    <a:solidFill>
                      <a:schemeClr val="tx1"/>
                    </a:solidFill>
                    <a:effectLst/>
                    <a:latin typeface="Segoe WPC"/>
                  </a:rPr>
                  <a:t>directional</a:t>
                </a:r>
                <a:r>
                  <a:rPr lang="es-PE" sz="900" b="0" i="0" dirty="0">
                    <a:solidFill>
                      <a:schemeClr val="tx1"/>
                    </a:solidFill>
                    <a:effectLst/>
                    <a:latin typeface="Segoe WPC"/>
                  </a:rPr>
                  <a:t>.</a:t>
                </a:r>
              </a:p>
              <a:p>
                <a:pPr algn="l">
                  <a:spcBef>
                    <a:spcPts val="300"/>
                  </a:spcBef>
                  <a:spcAft>
                    <a:spcPts val="300"/>
                  </a:spcAft>
                  <a:buFont typeface="+mj-lt"/>
                  <a:buAutoNum type="arabicPeriod"/>
                </a:pPr>
                <a:r>
                  <a:rPr lang="es-PE" sz="900" b="1" i="0" dirty="0">
                    <a:solidFill>
                      <a:schemeClr val="tx1"/>
                    </a:solidFill>
                    <a:effectLst/>
                    <a:latin typeface="Segoe WPC"/>
                  </a:rPr>
                  <a:t>Test </a:t>
                </a:r>
                <a:r>
                  <a:rPr lang="es-PE" sz="900" b="1" i="0" dirty="0" err="1">
                    <a:solidFill>
                      <a:schemeClr val="tx1"/>
                    </a:solidFill>
                    <a:effectLst/>
                    <a:latin typeface="Segoe WPC"/>
                  </a:rPr>
                  <a:t>Statistic</a:t>
                </a:r>
                <a:br>
                  <a:rPr lang="es-PE" sz="900" b="0" i="0" dirty="0">
                    <a:solidFill>
                      <a:schemeClr val="tx1"/>
                    </a:solidFill>
                    <a:effectLst/>
                    <a:latin typeface="Segoe WPC"/>
                  </a:rPr>
                </a:br>
                <a:r>
                  <a:rPr lang="es-PE" sz="900" b="0" i="0" dirty="0" err="1">
                    <a:solidFill>
                      <a:schemeClr val="tx1"/>
                    </a:solidFill>
                    <a:effectLst/>
                    <a:latin typeface="Segoe WPC"/>
                  </a:rPr>
                  <a:t>Statistical</a:t>
                </a:r>
                <a:r>
                  <a:rPr lang="es-PE" sz="900" b="0" i="0" dirty="0">
                    <a:solidFill>
                      <a:schemeClr val="tx1"/>
                    </a:solidFill>
                    <a:effectLst/>
                    <a:latin typeface="Segoe WPC"/>
                  </a:rPr>
                  <a:t> </a:t>
                </a:r>
                <a:r>
                  <a:rPr lang="es-PE" sz="900" b="0" i="0" dirty="0" err="1">
                    <a:solidFill>
                      <a:schemeClr val="tx1"/>
                    </a:solidFill>
                    <a:effectLst/>
                    <a:latin typeface="Segoe WPC"/>
                  </a:rPr>
                  <a:t>Object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test </a:t>
                </a:r>
                <a:r>
                  <a:rPr lang="es-PE" sz="900" b="0" i="0" dirty="0" err="1">
                    <a:solidFill>
                      <a:schemeClr val="tx1"/>
                    </a:solidFill>
                    <a:effectLst/>
                    <a:latin typeface="Segoe WPC"/>
                  </a:rPr>
                  <a:t>statistic</a:t>
                </a:r>
                <a:r>
                  <a:rPr lang="es-PE" sz="900" b="0" i="0" dirty="0">
                    <a:solidFill>
                      <a:schemeClr val="tx1"/>
                    </a:solidFill>
                    <a:effectLst/>
                    <a:latin typeface="Segoe WPC"/>
                  </a:rPr>
                  <a:t> </a:t>
                </a:r>
                <a:r>
                  <a:rPr lang="es-PE" sz="900" b="0" i="0" dirty="0" err="1">
                    <a:solidFill>
                      <a:schemeClr val="tx1"/>
                    </a:solidFill>
                    <a:effectLst/>
                    <a:latin typeface="Segoe WPC"/>
                  </a:rPr>
                  <a:t>standardizes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distance</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estimate</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Plain</a:t>
                </a:r>
                <a:r>
                  <a:rPr lang="es-PE" sz="900" b="0" i="0" dirty="0">
                    <a:solidFill>
                      <a:schemeClr val="tx1"/>
                    </a:solidFill>
                    <a:effectLst/>
                    <a:latin typeface="Segoe WPC"/>
                  </a:rPr>
                  <a:t>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tells</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standard </a:t>
                </a:r>
                <a:r>
                  <a:rPr lang="es-PE" sz="900" b="0" i="0" dirty="0" err="1">
                    <a:solidFill>
                      <a:schemeClr val="tx1"/>
                    </a:solidFill>
                    <a:effectLst/>
                    <a:latin typeface="Segoe WPC"/>
                  </a:rPr>
                  <a:t>errors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estimate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Visual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farther</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more </a:t>
                </a:r>
                <a:r>
                  <a:rPr lang="es-PE" sz="900" b="0" i="0" dirty="0" err="1">
                    <a:solidFill>
                      <a:schemeClr val="tx1"/>
                    </a:solidFill>
                    <a:effectLst/>
                    <a:latin typeface="Segoe WPC"/>
                  </a:rPr>
                  <a:t>unusual</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under</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0" i="0" dirty="0">
                    <a:solidFill>
                      <a:schemeClr val="tx1"/>
                    </a:solidFill>
                    <a:effectLst/>
                    <a:latin typeface="Segoe WPC"/>
                  </a:rPr>
                  <a:t>Key Formula: </a:t>
                </a:r>
                <a14:m>
                  <m:oMath xmlns:m="http://schemas.openxmlformats.org/officeDocument/2006/math">
                    <m:r>
                      <a:rPr lang="es-PE" sz="900" i="1">
                        <a:solidFill>
                          <a:schemeClr val="tx1"/>
                        </a:solidFill>
                        <a:latin typeface="Cambria Math" panose="02040503050406030204" pitchFamily="18" charset="0"/>
                      </a:rPr>
                      <m:t>𝑇</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0">
                                <a:solidFill>
                                  <a:schemeClr val="tx1"/>
                                </a:solidFill>
                                <a:latin typeface="Cambria Math" panose="02040503050406030204" pitchFamily="18" charset="0"/>
                              </a:rPr>
                              <m:t>0</m:t>
                            </m:r>
                          </m:sub>
                        </m:sSub>
                      </m:num>
                      <m:den>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r>
                          <a:rPr lang="ar-AE" sz="900" i="0">
                            <a:solidFill>
                              <a:schemeClr val="tx1"/>
                            </a:solidFill>
                            <a:latin typeface="Cambria Math" panose="02040503050406030204" pitchFamily="18" charset="0"/>
                          </a:rPr>
                          <m:t>/</m:t>
                        </m:r>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𝑛</m:t>
                            </m:r>
                          </m:e>
                        </m:rad>
                      </m:den>
                    </m:f>
                  </m:oMath>
                </a14:m>
                <a:br>
                  <a:rPr lang="ar-AE" sz="900" b="0" i="0" dirty="0">
                    <a:solidFill>
                      <a:schemeClr val="tx1"/>
                    </a:solidFill>
                    <a:effectLst/>
                    <a:latin typeface="Segoe WPC"/>
                  </a:rPr>
                </a:br>
                <a:r>
                  <a:rPr lang="es-PE" sz="900" b="0" i="0" dirty="0" err="1">
                    <a:solidFill>
                      <a:schemeClr val="tx1"/>
                    </a:solidFill>
                    <a:effectLst/>
                    <a:latin typeface="Segoe WPC"/>
                  </a:rPr>
                  <a:t>Interpretation</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absolute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𝑇</m:t>
                    </m:r>
                  </m:oMath>
                </a14:m>
                <a:r>
                  <a:rPr lang="es-PE" sz="900" b="0" i="0" dirty="0">
                    <a:solidFill>
                      <a:schemeClr val="tx1"/>
                    </a:solidFill>
                    <a:effectLst/>
                    <a:latin typeface="Segoe WPC"/>
                  </a:rPr>
                  <a:t> </a:t>
                </a:r>
                <a:r>
                  <a:rPr lang="es-PE" sz="900" b="0" i="0" dirty="0" err="1">
                    <a:solidFill>
                      <a:schemeClr val="tx1"/>
                    </a:solidFill>
                    <a:effectLst/>
                    <a:latin typeface="Segoe WPC"/>
                  </a:rPr>
                  <a:t>provide</a:t>
                </a:r>
                <a:r>
                  <a:rPr lang="es-PE" sz="900" b="0" i="0" dirty="0">
                    <a:solidFill>
                      <a:schemeClr val="tx1"/>
                    </a:solidFill>
                    <a:effectLst/>
                    <a:latin typeface="Segoe WPC"/>
                  </a:rPr>
                  <a:t> </a:t>
                </a:r>
                <a:r>
                  <a:rPr lang="es-PE" sz="900" b="0" i="0" dirty="0" err="1">
                    <a:solidFill>
                      <a:schemeClr val="tx1"/>
                    </a:solidFill>
                    <a:effectLst/>
                    <a:latin typeface="Segoe WPC"/>
                  </a:rPr>
                  <a:t>evidence</a:t>
                </a:r>
                <a:r>
                  <a:rPr lang="es-PE" sz="900" b="0" i="0" dirty="0">
                    <a:solidFill>
                      <a:schemeClr val="tx1"/>
                    </a:solidFill>
                    <a:effectLst/>
                    <a:latin typeface="Segoe WPC"/>
                  </a:rPr>
                  <a:t> </a:t>
                </a:r>
                <a:r>
                  <a:rPr lang="es-PE" sz="900" b="0" i="0" dirty="0" err="1">
                    <a:solidFill>
                      <a:schemeClr val="tx1"/>
                    </a:solidFill>
                    <a:effectLst/>
                    <a:latin typeface="Segoe WPC"/>
                  </a:rPr>
                  <a:t>against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Exam</a:t>
                </a:r>
                <a:r>
                  <a:rPr lang="es-PE" sz="900" b="0" i="0" dirty="0">
                    <a:solidFill>
                      <a:schemeClr val="tx1"/>
                    </a:solidFill>
                    <a:effectLst/>
                    <a:latin typeface="Segoe WPC"/>
                  </a:rPr>
                  <a:t> </a:t>
                </a:r>
                <a:r>
                  <a:rPr lang="es-PE" sz="900" b="0" i="0" dirty="0" err="1">
                    <a:solidFill>
                      <a:schemeClr val="tx1"/>
                    </a:solidFill>
                    <a:effectLst/>
                    <a:latin typeface="Segoe WPC"/>
                  </a:rPr>
                  <a:t>Trap</a:t>
                </a:r>
                <a:r>
                  <a:rPr lang="es-PE" sz="900" b="0" i="0" dirty="0">
                    <a:solidFill>
                      <a:schemeClr val="tx1"/>
                    </a:solidFill>
                    <a:effectLst/>
                    <a:latin typeface="Segoe WPC"/>
                  </a:rPr>
                  <a:t>: Use </a:t>
                </a:r>
                <a:r>
                  <a:rPr lang="es-PE" sz="900" b="0" i="0" dirty="0" err="1">
                    <a:solidFill>
                      <a:schemeClr val="tx1"/>
                    </a:solidFill>
                    <a:effectLst/>
                    <a:latin typeface="Segoe WPC"/>
                  </a:rPr>
                  <a:t>the</a:t>
                </a:r>
                <a:r>
                  <a:rPr lang="es-PE" sz="900" b="0" i="0" dirty="0">
                    <a:solidFill>
                      <a:schemeClr val="tx1"/>
                    </a:solidFill>
                    <a:effectLst/>
                    <a:latin typeface="Segoe WPC"/>
                  </a:rPr>
                  <a:t> standard error,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standard </a:t>
                </a:r>
                <a:r>
                  <a:rPr lang="es-PE" sz="900" b="0" i="0" dirty="0" err="1">
                    <a:solidFill>
                      <a:schemeClr val="tx1"/>
                    </a:solidFill>
                    <a:effectLst/>
                    <a:latin typeface="Segoe WPC"/>
                  </a:rPr>
                  <a:t>deviation</a:t>
                </a:r>
                <a:r>
                  <a:rPr lang="es-PE" sz="900" b="0" i="0" dirty="0">
                    <a:solidFill>
                      <a:schemeClr val="tx1"/>
                    </a:solidFill>
                    <a:effectLst/>
                    <a:latin typeface="Segoe WPC"/>
                  </a:rPr>
                  <a:t> alone.</a:t>
                </a:r>
              </a:p>
              <a:p>
                <a:pPr algn="l">
                  <a:spcBef>
                    <a:spcPts val="300"/>
                  </a:spcBef>
                  <a:spcAft>
                    <a:spcPts val="300"/>
                  </a:spcAft>
                  <a:buFont typeface="+mj-lt"/>
                  <a:buAutoNum type="arabicPeriod"/>
                </a:pPr>
                <a:r>
                  <a:rPr lang="es-PE" sz="900" b="1" i="0" dirty="0" err="1">
                    <a:solidFill>
                      <a:schemeClr val="tx1"/>
                    </a:solidFill>
                    <a:effectLst/>
                    <a:latin typeface="Segoe WPC"/>
                  </a:rPr>
                  <a:t>Type</a:t>
                </a:r>
                <a:r>
                  <a:rPr lang="es-PE" sz="900" b="1" i="0" dirty="0">
                    <a:solidFill>
                      <a:schemeClr val="tx1"/>
                    </a:solidFill>
                    <a:effectLst/>
                    <a:latin typeface="Segoe WPC"/>
                  </a:rPr>
                  <a:t> I Error and </a:t>
                </a:r>
                <a:r>
                  <a:rPr lang="es-PE" sz="900" b="1" i="0" dirty="0" err="1">
                    <a:solidFill>
                      <a:schemeClr val="tx1"/>
                    </a:solidFill>
                    <a:effectLst/>
                    <a:latin typeface="Segoe WPC"/>
                  </a:rPr>
                  <a:t>Size</a:t>
                </a:r>
                <a:br>
                  <a:rPr lang="es-PE" sz="900" b="0" i="0" dirty="0">
                    <a:solidFill>
                      <a:schemeClr val="tx1"/>
                    </a:solidFill>
                    <a:effectLst/>
                    <a:latin typeface="Segoe WPC"/>
                  </a:rPr>
                </a:br>
                <a:r>
                  <a:rPr lang="es-PE" sz="900" b="0" i="0" dirty="0" err="1">
                    <a:solidFill>
                      <a:schemeClr val="tx1"/>
                    </a:solidFill>
                    <a:effectLst/>
                    <a:latin typeface="Segoe WPC"/>
                  </a:rPr>
                  <a:t>Statistical</a:t>
                </a:r>
                <a:r>
                  <a:rPr lang="es-PE" sz="900" b="0" i="0" dirty="0">
                    <a:solidFill>
                      <a:schemeClr val="tx1"/>
                    </a:solidFill>
                    <a:effectLst/>
                    <a:latin typeface="Segoe WPC"/>
                  </a:rPr>
                  <a:t> </a:t>
                </a:r>
                <a:r>
                  <a:rPr lang="es-PE" sz="900" b="0" i="0" dirty="0" err="1">
                    <a:solidFill>
                      <a:schemeClr val="tx1"/>
                    </a:solidFill>
                    <a:effectLst/>
                    <a:latin typeface="Segoe WPC"/>
                  </a:rPr>
                  <a:t>Object</a:t>
                </a:r>
                <a:r>
                  <a:rPr lang="es-PE" sz="900" b="0" i="0" dirty="0">
                    <a:solidFill>
                      <a:schemeClr val="tx1"/>
                    </a:solidFill>
                    <a:effectLst/>
                    <a:latin typeface="Segoe WPC"/>
                  </a:rPr>
                  <a:t>: A </a:t>
                </a:r>
                <a:r>
                  <a:rPr lang="es-PE" sz="900" b="0" i="0" dirty="0" err="1">
                    <a:solidFill>
                      <a:schemeClr val="tx1"/>
                    </a:solidFill>
                    <a:effectLst/>
                    <a:latin typeface="Segoe WPC"/>
                  </a:rPr>
                  <a:t>Type</a:t>
                </a:r>
                <a:r>
                  <a:rPr lang="es-PE" sz="900" b="0" i="0" dirty="0">
                    <a:solidFill>
                      <a:schemeClr val="tx1"/>
                    </a:solidFill>
                    <a:effectLst/>
                    <a:latin typeface="Segoe WPC"/>
                  </a:rPr>
                  <a:t> I error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rejecting</a:t>
                </a:r>
                <a:r>
                  <a:rPr lang="es-PE" sz="900" b="0" i="0" dirty="0">
                    <a:solidFill>
                      <a:schemeClr val="tx1"/>
                    </a:solidFill>
                    <a:effectLst/>
                    <a:latin typeface="Segoe WPC"/>
                  </a:rPr>
                  <a:t> a true </a:t>
                </a:r>
                <a:r>
                  <a:rPr lang="es-PE" sz="900" b="0" i="0" dirty="0" err="1">
                    <a:solidFill>
                      <a:schemeClr val="tx1"/>
                    </a:solidFill>
                    <a:effectLst/>
                    <a:latin typeface="Segoe WPC"/>
                  </a:rPr>
                  <a:t>null</a:t>
                </a:r>
                <a:r>
                  <a:rPr lang="es-PE" sz="900" b="0" i="0" dirty="0">
                    <a:solidFill>
                      <a:schemeClr val="tx1"/>
                    </a:solidFill>
                    <a:effectLst/>
                    <a:latin typeface="Segoe WPC"/>
                  </a:rPr>
                  <a:t> </a:t>
                </a:r>
                <a:r>
                  <a:rPr lang="es-PE" sz="900" b="0" i="0" dirty="0" err="1">
                    <a:solidFill>
                      <a:schemeClr val="tx1"/>
                    </a:solidFill>
                    <a:effectLst/>
                    <a:latin typeface="Segoe WPC"/>
                  </a:rPr>
                  <a:t>hypothesis</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Plain</a:t>
                </a:r>
                <a:r>
                  <a:rPr lang="es-PE" sz="900" b="0" i="0" dirty="0">
                    <a:solidFill>
                      <a:schemeClr val="tx1"/>
                    </a:solidFill>
                    <a:effectLst/>
                    <a:latin typeface="Segoe WPC"/>
                  </a:rPr>
                  <a:t>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false </a:t>
                </a:r>
                <a:r>
                  <a:rPr lang="es-PE" sz="900" b="0" i="0" dirty="0" err="1">
                    <a:solidFill>
                      <a:schemeClr val="tx1"/>
                    </a:solidFill>
                    <a:effectLst/>
                    <a:latin typeface="Segoe WPC"/>
                  </a:rPr>
                  <a:t>alarm</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Visual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rejection</a:t>
                </a:r>
                <a:r>
                  <a:rPr lang="es-PE" sz="900" b="0" i="0" dirty="0">
                    <a:solidFill>
                      <a:schemeClr val="tx1"/>
                    </a:solidFill>
                    <a:effectLst/>
                    <a:latin typeface="Segoe WPC"/>
                  </a:rPr>
                  <a:t> </a:t>
                </a:r>
                <a:r>
                  <a:rPr lang="es-PE" sz="900" b="0" i="0" dirty="0" err="1">
                    <a:solidFill>
                      <a:schemeClr val="tx1"/>
                    </a:solidFill>
                    <a:effectLst/>
                    <a:latin typeface="Segoe WPC"/>
                  </a:rPr>
                  <a:t>area</a:t>
                </a:r>
                <a:r>
                  <a:rPr lang="es-PE" sz="900" b="0" i="0" dirty="0">
                    <a:solidFill>
                      <a:schemeClr val="tx1"/>
                    </a:solidFill>
                    <a:effectLst/>
                    <a:latin typeface="Segoe WPC"/>
                  </a:rPr>
                  <a:t> </a:t>
                </a:r>
                <a:r>
                  <a:rPr lang="es-PE" sz="900" b="0" i="0" dirty="0" err="1">
                    <a:solidFill>
                      <a:schemeClr val="tx1"/>
                    </a:solidFill>
                    <a:effectLst/>
                    <a:latin typeface="Segoe WPC"/>
                  </a:rPr>
                  <a:t>under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Key Formula: </a:t>
                </a:r>
                <a14:m>
                  <m:oMath xmlns:m="http://schemas.openxmlformats.org/officeDocument/2006/math">
                    <m:r>
                      <a:rPr lang="es-PE" sz="900" i="1">
                        <a:solidFill>
                          <a:schemeClr val="tx1"/>
                        </a:solidFill>
                        <a:latin typeface="Cambria Math" panose="02040503050406030204" pitchFamily="18" charset="0"/>
                      </a:rPr>
                      <m:t>𝑃</m:t>
                    </m:r>
                    <m:d>
                      <m:dPr>
                        <m:ctrlPr>
                          <a:rPr lang="ar-AE" sz="900" i="1">
                            <a:solidFill>
                              <a:schemeClr val="tx1"/>
                            </a:solidFill>
                            <a:latin typeface="Cambria Math" panose="02040503050406030204" pitchFamily="18" charset="0"/>
                          </a:rPr>
                        </m:ctrlPr>
                      </m:dPr>
                      <m:e>
                        <m:r>
                          <m:rPr>
                            <m:nor/>
                          </m:rPr>
                          <a:rPr lang="es-PE" sz="900" b="0" i="1">
                            <a:solidFill>
                              <a:schemeClr val="tx1"/>
                            </a:solidFill>
                            <a:latin typeface="Cambria Math" panose="02040503050406030204" pitchFamily="18" charset="0"/>
                          </a:rPr>
                          <m:t>Type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I</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Error</m:t>
                        </m:r>
                      </m:e>
                    </m:d>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𝛼</m:t>
                    </m:r>
                  </m:oMath>
                </a14:m>
                <a:br>
                  <a:rPr lang="ar-AE" sz="900" b="0" i="0" dirty="0">
                    <a:solidFill>
                      <a:schemeClr val="tx1"/>
                    </a:solidFill>
                    <a:effectLst/>
                    <a:latin typeface="Segoe WPC"/>
                  </a:rPr>
                </a:br>
                <a:r>
                  <a:rPr lang="es-PE" sz="900" b="0" i="0" dirty="0" err="1">
                    <a:solidFill>
                      <a:schemeClr val="tx1"/>
                    </a:solidFill>
                    <a:effectLst/>
                    <a:latin typeface="Segoe WPC"/>
                  </a:rPr>
                  <a:t>Interpretation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size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𝛼</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chosen</a:t>
                </a:r>
                <a:r>
                  <a:rPr lang="es-PE" sz="900" b="0" i="0" dirty="0">
                    <a:solidFill>
                      <a:schemeClr val="tx1"/>
                    </a:solidFill>
                    <a:effectLst/>
                    <a:latin typeface="Segoe WPC"/>
                  </a:rPr>
                  <a:t> </a:t>
                </a:r>
                <a:r>
                  <a:rPr lang="es-PE" sz="900" b="0" i="0" dirty="0" err="1">
                    <a:solidFill>
                      <a:schemeClr val="tx1"/>
                    </a:solidFill>
                    <a:effectLst/>
                    <a:latin typeface="Segoe WPC"/>
                  </a:rPr>
                  <a:t>before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test, </a:t>
                </a:r>
                <a:r>
                  <a:rPr lang="es-PE" sz="900" b="0" i="0" dirty="0" err="1">
                    <a:solidFill>
                      <a:schemeClr val="tx1"/>
                    </a:solidFill>
                    <a:effectLst/>
                    <a:latin typeface="Segoe WPC"/>
                  </a:rPr>
                  <a:t>usually</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10</m:t>
                    </m:r>
                    <m:r>
                      <a:rPr lang="es-PE" sz="900" i="0">
                        <a:solidFill>
                          <a:schemeClr val="tx1"/>
                        </a:solidFill>
                        <a:latin typeface="Cambria Math" panose="02040503050406030204" pitchFamily="18" charset="0"/>
                      </a:rPr>
                      <m:t>%</m:t>
                    </m:r>
                  </m:oMath>
                </a14:m>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5</m:t>
                    </m:r>
                    <m:r>
                      <a:rPr lang="es-PE" sz="900" i="0">
                        <a:solidFill>
                          <a:schemeClr val="tx1"/>
                        </a:solidFill>
                        <a:latin typeface="Cambria Math" panose="02040503050406030204" pitchFamily="18" charset="0"/>
                      </a:rPr>
                      <m:t>%</m:t>
                    </m:r>
                  </m:oMath>
                </a14:m>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1</m:t>
                    </m:r>
                    <m:r>
                      <a:rPr lang="es-PE" sz="900" i="0">
                        <a:solidFill>
                          <a:schemeClr val="tx1"/>
                        </a:solidFill>
                        <a:latin typeface="Cambria Math" panose="02040503050406030204" pitchFamily="18" charset="0"/>
                      </a:rPr>
                      <m:t>%</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Exam</a:t>
                </a:r>
                <a:r>
                  <a:rPr lang="es-PE" sz="900" b="0" i="0" dirty="0">
                    <a:solidFill>
                      <a:schemeClr val="tx1"/>
                    </a:solidFill>
                    <a:effectLst/>
                    <a:latin typeface="Segoe WPC"/>
                  </a:rPr>
                  <a:t> </a:t>
                </a:r>
                <a:r>
                  <a:rPr lang="es-PE" sz="900" b="0" i="0" dirty="0" err="1">
                    <a:solidFill>
                      <a:schemeClr val="tx1"/>
                    </a:solidFill>
                    <a:effectLst/>
                    <a:latin typeface="Segoe WPC"/>
                  </a:rPr>
                  <a:t>Trap</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𝛼</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true.</a:t>
                </a:r>
              </a:p>
              <a:p>
                <a:pPr algn="l">
                  <a:spcBef>
                    <a:spcPts val="300"/>
                  </a:spcBef>
                  <a:spcAft>
                    <a:spcPts val="300"/>
                  </a:spcAft>
                  <a:buFont typeface="+mj-lt"/>
                  <a:buAutoNum type="arabicPeriod"/>
                </a:pPr>
                <a:r>
                  <a:rPr lang="es-PE" sz="900" b="1" i="0" dirty="0" err="1">
                    <a:solidFill>
                      <a:schemeClr val="tx1"/>
                    </a:solidFill>
                    <a:effectLst/>
                    <a:latin typeface="Segoe WPC"/>
                  </a:rPr>
                  <a:t>Critical</a:t>
                </a:r>
                <a:r>
                  <a:rPr lang="es-PE" sz="900" b="1" i="0" dirty="0">
                    <a:solidFill>
                      <a:schemeClr val="tx1"/>
                    </a:solidFill>
                    <a:effectLst/>
                    <a:latin typeface="Segoe WPC"/>
                  </a:rPr>
                  <a:t> </a:t>
                </a:r>
                <a:r>
                  <a:rPr lang="es-PE" sz="900" b="1" i="0" dirty="0" err="1">
                    <a:solidFill>
                      <a:schemeClr val="tx1"/>
                    </a:solidFill>
                    <a:effectLst/>
                    <a:latin typeface="Segoe WPC"/>
                  </a:rPr>
                  <a:t>Value</a:t>
                </a:r>
                <a:r>
                  <a:rPr lang="es-PE" sz="900" b="1" i="0" dirty="0">
                    <a:solidFill>
                      <a:schemeClr val="tx1"/>
                    </a:solidFill>
                    <a:effectLst/>
                    <a:latin typeface="Segoe WPC"/>
                  </a:rPr>
                  <a:t> and </a:t>
                </a:r>
                <a:r>
                  <a:rPr lang="es-PE" sz="900" b="1" i="0" dirty="0" err="1">
                    <a:solidFill>
                      <a:schemeClr val="tx1"/>
                    </a:solidFill>
                    <a:effectLst/>
                    <a:latin typeface="Segoe WPC"/>
                  </a:rPr>
                  <a:t>Decision</a:t>
                </a:r>
                <a:r>
                  <a:rPr lang="es-PE" sz="900" b="1" i="0" dirty="0">
                    <a:solidFill>
                      <a:schemeClr val="tx1"/>
                    </a:solidFill>
                    <a:effectLst/>
                    <a:latin typeface="Segoe WPC"/>
                  </a:rPr>
                  <a:t> Rule</a:t>
                </a:r>
                <a:br>
                  <a:rPr lang="es-PE" sz="900" b="0" i="0" dirty="0">
                    <a:solidFill>
                      <a:schemeClr val="tx1"/>
                    </a:solidFill>
                    <a:effectLst/>
                    <a:latin typeface="Segoe WPC"/>
                  </a:rPr>
                </a:br>
                <a:r>
                  <a:rPr lang="es-PE" sz="900" b="0" i="0" dirty="0" err="1">
                    <a:solidFill>
                      <a:schemeClr val="tx1"/>
                    </a:solidFill>
                    <a:effectLst/>
                    <a:latin typeface="Segoe WPC"/>
                  </a:rPr>
                  <a:t>Statistical</a:t>
                </a:r>
                <a:r>
                  <a:rPr lang="es-PE" sz="900" b="0" i="0" dirty="0">
                    <a:solidFill>
                      <a:schemeClr val="tx1"/>
                    </a:solidFill>
                    <a:effectLst/>
                    <a:latin typeface="Segoe WPC"/>
                  </a:rPr>
                  <a:t> </a:t>
                </a:r>
                <a:r>
                  <a:rPr lang="es-PE" sz="900" b="0" i="0" dirty="0" err="1">
                    <a:solidFill>
                      <a:schemeClr val="tx1"/>
                    </a:solidFill>
                    <a:effectLst/>
                    <a:latin typeface="Segoe WPC"/>
                  </a:rPr>
                  <a:t>Object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critical</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determines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rejection</a:t>
                </a:r>
                <a:r>
                  <a:rPr lang="es-PE" sz="900" b="0" i="0" dirty="0">
                    <a:solidFill>
                      <a:schemeClr val="tx1"/>
                    </a:solidFill>
                    <a:effectLst/>
                    <a:latin typeface="Segoe WPC"/>
                  </a:rPr>
                  <a:t> </a:t>
                </a:r>
                <a:r>
                  <a:rPr lang="es-PE" sz="900" b="0" i="0" dirty="0" err="1">
                    <a:solidFill>
                      <a:schemeClr val="tx1"/>
                    </a:solidFill>
                    <a:effectLst/>
                    <a:latin typeface="Segoe WPC"/>
                  </a:rPr>
                  <a:t>region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Plain</a:t>
                </a:r>
                <a:r>
                  <a:rPr lang="es-PE" sz="900" b="0" i="0" dirty="0">
                    <a:solidFill>
                      <a:schemeClr val="tx1"/>
                    </a:solidFill>
                    <a:effectLst/>
                    <a:latin typeface="Segoe WPC"/>
                  </a:rPr>
                  <a:t>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cutoff</a:t>
                </a:r>
                <a:r>
                  <a:rPr lang="es-PE" sz="900" b="0" i="0" dirty="0">
                    <a:solidFill>
                      <a:schemeClr val="tx1"/>
                    </a:solidFill>
                    <a:effectLst/>
                    <a:latin typeface="Segoe WPC"/>
                  </a:rPr>
                  <a:t> </a:t>
                </a:r>
                <a:r>
                  <a:rPr lang="es-PE" sz="900" b="0" i="0" dirty="0" err="1">
                    <a:solidFill>
                      <a:schemeClr val="tx1"/>
                    </a:solidFill>
                    <a:effectLst/>
                    <a:latin typeface="Segoe WPC"/>
                  </a:rPr>
                  <a:t>beyond</a:t>
                </a:r>
                <a:r>
                  <a:rPr lang="es-PE" sz="900" b="0" i="0" dirty="0">
                    <a:solidFill>
                      <a:schemeClr val="tx1"/>
                    </a:solidFill>
                    <a:effectLst/>
                    <a:latin typeface="Segoe WPC"/>
                  </a:rPr>
                  <a:t> </a:t>
                </a:r>
                <a:r>
                  <a:rPr lang="es-PE" sz="900" b="0" i="0" dirty="0" err="1">
                    <a:solidFill>
                      <a:schemeClr val="tx1"/>
                    </a:solidFill>
                    <a:effectLst/>
                    <a:latin typeface="Segoe WPC"/>
                  </a:rPr>
                  <a:t>which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result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too</a:t>
                </a:r>
                <a:r>
                  <a:rPr lang="es-PE" sz="900" b="0" i="0" dirty="0">
                    <a:solidFill>
                      <a:schemeClr val="tx1"/>
                    </a:solidFill>
                    <a:effectLst/>
                    <a:latin typeface="Segoe WPC"/>
                  </a:rPr>
                  <a:t> extreme </a:t>
                </a:r>
                <a:r>
                  <a:rPr lang="es-PE" sz="900" b="0" i="0" dirty="0" err="1">
                    <a:solidFill>
                      <a:schemeClr val="tx1"/>
                    </a:solidFill>
                    <a:effectLst/>
                    <a:latin typeface="Segoe WPC"/>
                  </a:rPr>
                  <a:t>under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Visual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test </a:t>
                </a:r>
                <a:r>
                  <a:rPr lang="es-PE" sz="900" b="0" i="0" dirty="0" err="1">
                    <a:solidFill>
                      <a:schemeClr val="tx1"/>
                    </a:solidFill>
                    <a:effectLst/>
                    <a:latin typeface="Segoe WPC"/>
                  </a:rPr>
                  <a:t>statistic</a:t>
                </a:r>
                <a:r>
                  <a:rPr lang="es-PE" sz="900" b="0" i="0" dirty="0">
                    <a:solidFill>
                      <a:schemeClr val="tx1"/>
                    </a:solidFill>
                    <a:effectLst/>
                    <a:latin typeface="Segoe WPC"/>
                  </a:rPr>
                  <a:t> </a:t>
                </a:r>
                <a:r>
                  <a:rPr lang="es-PE" sz="900" b="0" i="0" dirty="0" err="1">
                    <a:solidFill>
                      <a:schemeClr val="tx1"/>
                    </a:solidFill>
                    <a:effectLst/>
                    <a:latin typeface="Segoe WPC"/>
                  </a:rPr>
                  <a:t>crosses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cutoff</a:t>
                </a:r>
                <a:r>
                  <a:rPr lang="es-PE" sz="900" b="0" i="0" dirty="0">
                    <a:solidFill>
                      <a:schemeClr val="tx1"/>
                    </a:solidFill>
                    <a:effectLst/>
                    <a:latin typeface="Segoe WPC"/>
                  </a:rPr>
                  <a:t>, </a:t>
                </a:r>
                <a:r>
                  <a:rPr lang="es-PE" sz="900" b="0" i="0" dirty="0" err="1">
                    <a:solidFill>
                      <a:schemeClr val="tx1"/>
                    </a:solidFill>
                    <a:effectLst/>
                    <a:latin typeface="Segoe WPC"/>
                  </a:rPr>
                  <a:t>reject</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0" i="0" dirty="0">
                    <a:solidFill>
                      <a:schemeClr val="tx1"/>
                    </a:solidFill>
                    <a:effectLst/>
                    <a:latin typeface="Segoe WPC"/>
                  </a:rPr>
                  <a:t>Key Formula: </a:t>
                </a:r>
                <a:r>
                  <a:rPr lang="es-PE" sz="900" b="0" i="0" dirty="0" err="1">
                    <a:solidFill>
                      <a:schemeClr val="tx1"/>
                    </a:solidFill>
                    <a:effectLst/>
                    <a:latin typeface="Segoe WPC"/>
                  </a:rPr>
                  <a:t>Two-sided</a:t>
                </a:r>
                <a:r>
                  <a:rPr lang="es-PE" sz="900" b="0" i="0" dirty="0">
                    <a:solidFill>
                      <a:schemeClr val="tx1"/>
                    </a:solidFill>
                    <a:effectLst/>
                    <a:latin typeface="Segoe WPC"/>
                  </a:rPr>
                  <a:t>: </a:t>
                </a:r>
                <a:r>
                  <a:rPr lang="es-PE" sz="900" b="0" i="0" dirty="0" err="1">
                    <a:solidFill>
                      <a:schemeClr val="tx1"/>
                    </a:solidFill>
                    <a:effectLst/>
                    <a:latin typeface="Segoe WPC"/>
                  </a:rPr>
                  <a:t>reject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𝑇</m:t>
                    </m:r>
                    <m:r>
                      <a:rPr lang="es-PE" sz="900" i="0">
                        <a:solidFill>
                          <a:schemeClr val="tx1"/>
                        </a:solidFill>
                        <a:latin typeface="Cambria Math" panose="02040503050406030204" pitchFamily="18" charset="0"/>
                      </a:rPr>
                      <m:t>∣&gt;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𝑐</m:t>
                        </m:r>
                      </m:e>
                      <m:sub>
                        <m:r>
                          <a:rPr lang="ar-AE" sz="900" i="1">
                            <a:solidFill>
                              <a:schemeClr val="tx1"/>
                            </a:solidFill>
                            <a:latin typeface="Cambria Math" panose="02040503050406030204" pitchFamily="18" charset="0"/>
                          </a:rPr>
                          <m:t>𝛼</m:t>
                        </m:r>
                      </m:sub>
                    </m:sSub>
                  </m:oMath>
                </a14:m>
                <a:br>
                  <a:rPr lang="ar-AE" sz="900" b="0" i="0" dirty="0">
                    <a:solidFill>
                      <a:schemeClr val="tx1"/>
                    </a:solidFill>
                    <a:effectLst/>
                    <a:latin typeface="Segoe WPC"/>
                  </a:rPr>
                </a:br>
                <a:r>
                  <a:rPr lang="es-PE" sz="900" b="0" i="0" dirty="0" err="1">
                    <a:solidFill>
                      <a:schemeClr val="tx1"/>
                    </a:solidFill>
                    <a:effectLst/>
                    <a:latin typeface="Segoe WPC"/>
                  </a:rPr>
                  <a:t>Interpretation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decision</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test </a:t>
                </a:r>
                <a:r>
                  <a:rPr lang="es-PE" sz="900" b="0" i="0" dirty="0" err="1">
                    <a:solidFill>
                      <a:schemeClr val="tx1"/>
                    </a:solidFill>
                    <a:effectLst/>
                    <a:latin typeface="Segoe WPC"/>
                  </a:rPr>
                  <a:t>statistic</a:t>
                </a:r>
                <a:r>
                  <a:rPr lang="es-PE" sz="900" b="0" i="0" dirty="0">
                    <a:solidFill>
                      <a:schemeClr val="tx1"/>
                    </a:solidFill>
                    <a:effectLst/>
                    <a:latin typeface="Segoe WPC"/>
                  </a:rPr>
                  <a:t>, test </a:t>
                </a:r>
                <a:r>
                  <a:rPr lang="es-PE" sz="900" b="0" i="0" dirty="0" err="1">
                    <a:solidFill>
                      <a:schemeClr val="tx1"/>
                    </a:solidFill>
                    <a:effectLst/>
                    <a:latin typeface="Segoe WPC"/>
                  </a:rPr>
                  <a:t>size</a:t>
                </a:r>
                <a:r>
                  <a:rPr lang="es-PE" sz="900" b="0" i="0" dirty="0">
                    <a:solidFill>
                      <a:schemeClr val="tx1"/>
                    </a:solidFill>
                    <a:effectLst/>
                    <a:latin typeface="Segoe WPC"/>
                  </a:rPr>
                  <a:t>, and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test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one-sided</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two-sided</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Exam</a:t>
                </a:r>
                <a:r>
                  <a:rPr lang="es-PE" sz="900" b="0" i="0" dirty="0">
                    <a:solidFill>
                      <a:schemeClr val="tx1"/>
                    </a:solidFill>
                    <a:effectLst/>
                    <a:latin typeface="Segoe WPC"/>
                  </a:rPr>
                  <a:t> </a:t>
                </a:r>
                <a:r>
                  <a:rPr lang="es-PE" sz="900" b="0" i="0" dirty="0" err="1">
                    <a:solidFill>
                      <a:schemeClr val="tx1"/>
                    </a:solidFill>
                    <a:effectLst/>
                    <a:latin typeface="Segoe WPC"/>
                  </a:rPr>
                  <a:t>Trap</a:t>
                </a:r>
                <a:r>
                  <a:rPr lang="es-PE" sz="900" b="0" i="0" dirty="0">
                    <a:solidFill>
                      <a:schemeClr val="tx1"/>
                    </a:solidFill>
                    <a:effectLst/>
                    <a:latin typeface="Segoe WPC"/>
                  </a:rPr>
                  <a:t>: </a:t>
                </a:r>
                <a:r>
                  <a:rPr lang="es-PE" sz="900" b="0" i="0" dirty="0" err="1">
                    <a:solidFill>
                      <a:schemeClr val="tx1"/>
                    </a:solidFill>
                    <a:effectLst/>
                    <a:latin typeface="Segoe WPC"/>
                  </a:rPr>
                  <a:t>One-sided</a:t>
                </a:r>
                <a:r>
                  <a:rPr lang="es-PE" sz="900" b="0" i="0" dirty="0">
                    <a:solidFill>
                      <a:schemeClr val="tx1"/>
                    </a:solidFill>
                    <a:effectLst/>
                    <a:latin typeface="Segoe WPC"/>
                  </a:rPr>
                  <a:t> and </a:t>
                </a:r>
                <a:r>
                  <a:rPr lang="es-PE" sz="900" b="0" i="0" dirty="0" err="1">
                    <a:solidFill>
                      <a:schemeClr val="tx1"/>
                    </a:solidFill>
                    <a:effectLst/>
                    <a:latin typeface="Segoe WPC"/>
                  </a:rPr>
                  <a:t>two-sided</a:t>
                </a:r>
                <a:r>
                  <a:rPr lang="es-PE" sz="900" b="0" i="0" dirty="0">
                    <a:solidFill>
                      <a:schemeClr val="tx1"/>
                    </a:solidFill>
                    <a:effectLst/>
                    <a:latin typeface="Segoe WPC"/>
                  </a:rPr>
                  <a:t> </a:t>
                </a:r>
                <a:r>
                  <a:rPr lang="es-PE" sz="900" b="0" i="0" dirty="0" err="1">
                    <a:solidFill>
                      <a:schemeClr val="tx1"/>
                    </a:solidFill>
                    <a:effectLst/>
                    <a:latin typeface="Segoe WPC"/>
                  </a:rPr>
                  <a:t>tests</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use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critical</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a:t>
                </a:r>
              </a:p>
              <a:p>
                <a:pPr algn="l">
                  <a:spcBef>
                    <a:spcPts val="300"/>
                  </a:spcBef>
                  <a:spcAft>
                    <a:spcPts val="300"/>
                  </a:spcAft>
                  <a:buFont typeface="+mj-lt"/>
                  <a:buAutoNum type="arabicPeriod"/>
                </a:pPr>
                <a:r>
                  <a:rPr lang="es-PE" sz="900" b="1" i="0" dirty="0" err="1">
                    <a:solidFill>
                      <a:schemeClr val="tx1"/>
                    </a:solidFill>
                    <a:effectLst/>
                    <a:latin typeface="Segoe WPC"/>
                  </a:rPr>
                  <a:t>Type</a:t>
                </a:r>
                <a:r>
                  <a:rPr lang="es-PE" sz="900" b="1" i="0" dirty="0">
                    <a:solidFill>
                      <a:schemeClr val="tx1"/>
                    </a:solidFill>
                    <a:effectLst/>
                    <a:latin typeface="Segoe WPC"/>
                  </a:rPr>
                  <a:t> II Error and </a:t>
                </a:r>
                <a:r>
                  <a:rPr lang="es-PE" sz="900" b="1" i="0" dirty="0" err="1">
                    <a:solidFill>
                      <a:schemeClr val="tx1"/>
                    </a:solidFill>
                    <a:effectLst/>
                    <a:latin typeface="Segoe WPC"/>
                  </a:rPr>
                  <a:t>Power</a:t>
                </a:r>
                <a:br>
                  <a:rPr lang="es-PE" sz="900" b="0" i="0" dirty="0">
                    <a:solidFill>
                      <a:schemeClr val="tx1"/>
                    </a:solidFill>
                    <a:effectLst/>
                    <a:latin typeface="Segoe WPC"/>
                  </a:rPr>
                </a:br>
                <a:r>
                  <a:rPr lang="es-PE" sz="900" b="0" i="0" dirty="0" err="1">
                    <a:solidFill>
                      <a:schemeClr val="tx1"/>
                    </a:solidFill>
                    <a:effectLst/>
                    <a:latin typeface="Segoe WPC"/>
                  </a:rPr>
                  <a:t>Statistical</a:t>
                </a:r>
                <a:r>
                  <a:rPr lang="es-PE" sz="900" b="0" i="0" dirty="0">
                    <a:solidFill>
                      <a:schemeClr val="tx1"/>
                    </a:solidFill>
                    <a:effectLst/>
                    <a:latin typeface="Segoe WPC"/>
                  </a:rPr>
                  <a:t> </a:t>
                </a:r>
                <a:r>
                  <a:rPr lang="es-PE" sz="900" b="0" i="0" dirty="0" err="1">
                    <a:solidFill>
                      <a:schemeClr val="tx1"/>
                    </a:solidFill>
                    <a:effectLst/>
                    <a:latin typeface="Segoe WPC"/>
                  </a:rPr>
                  <a:t>Object</a:t>
                </a:r>
                <a:r>
                  <a:rPr lang="es-PE" sz="900" b="0" i="0" dirty="0">
                    <a:solidFill>
                      <a:schemeClr val="tx1"/>
                    </a:solidFill>
                    <a:effectLst/>
                    <a:latin typeface="Segoe WPC"/>
                  </a:rPr>
                  <a:t>: A </a:t>
                </a:r>
                <a:r>
                  <a:rPr lang="es-PE" sz="900" b="0" i="0" dirty="0" err="1">
                    <a:solidFill>
                      <a:schemeClr val="tx1"/>
                    </a:solidFill>
                    <a:effectLst/>
                    <a:latin typeface="Segoe WPC"/>
                  </a:rPr>
                  <a:t>Type</a:t>
                </a:r>
                <a:r>
                  <a:rPr lang="es-PE" sz="900" b="0" i="0" dirty="0">
                    <a:solidFill>
                      <a:schemeClr val="tx1"/>
                    </a:solidFill>
                    <a:effectLst/>
                    <a:latin typeface="Segoe WPC"/>
                  </a:rPr>
                  <a:t> II error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failing</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reject</a:t>
                </a:r>
                <a:r>
                  <a:rPr lang="es-PE" sz="900" b="0" i="0" dirty="0">
                    <a:solidFill>
                      <a:schemeClr val="tx1"/>
                    </a:solidFill>
                    <a:effectLst/>
                    <a:latin typeface="Segoe WPC"/>
                  </a:rPr>
                  <a:t> a false </a:t>
                </a:r>
                <a:r>
                  <a:rPr lang="es-PE" sz="900" b="0" i="0" dirty="0" err="1">
                    <a:solidFill>
                      <a:schemeClr val="tx1"/>
                    </a:solidFill>
                    <a:effectLst/>
                    <a:latin typeface="Segoe WPC"/>
                  </a:rPr>
                  <a:t>null</a:t>
                </a:r>
                <a:r>
                  <a:rPr lang="es-PE" sz="900" b="0" i="0" dirty="0">
                    <a:solidFill>
                      <a:schemeClr val="tx1"/>
                    </a:solidFill>
                    <a:effectLst/>
                    <a:latin typeface="Segoe WPC"/>
                  </a:rPr>
                  <a:t>; </a:t>
                </a:r>
                <a:r>
                  <a:rPr lang="es-PE" sz="900" b="0" i="0" dirty="0" err="1">
                    <a:solidFill>
                      <a:schemeClr val="tx1"/>
                    </a:solidFill>
                    <a:effectLst/>
                    <a:latin typeface="Segoe WPC"/>
                  </a:rPr>
                  <a:t>power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correctly</a:t>
                </a:r>
                <a:r>
                  <a:rPr lang="es-PE" sz="900" b="0" i="0" dirty="0">
                    <a:solidFill>
                      <a:schemeClr val="tx1"/>
                    </a:solidFill>
                    <a:effectLst/>
                    <a:latin typeface="Segoe WPC"/>
                  </a:rPr>
                  <a:t> </a:t>
                </a:r>
                <a:r>
                  <a:rPr lang="es-PE" sz="900" b="0" i="0" dirty="0" err="1">
                    <a:solidFill>
                      <a:schemeClr val="tx1"/>
                    </a:solidFill>
                    <a:effectLst/>
                    <a:latin typeface="Segoe WPC"/>
                  </a:rPr>
                  <a:t>rejecting</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Plain</a:t>
                </a:r>
                <a:r>
                  <a:rPr lang="es-PE" sz="900" b="0" i="0" dirty="0">
                    <a:solidFill>
                      <a:schemeClr val="tx1"/>
                    </a:solidFill>
                    <a:effectLst/>
                    <a:latin typeface="Segoe WPC"/>
                  </a:rPr>
                  <a:t>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Type</a:t>
                </a:r>
                <a:r>
                  <a:rPr lang="es-PE" sz="900" b="0" i="0" dirty="0">
                    <a:solidFill>
                      <a:schemeClr val="tx1"/>
                    </a:solidFill>
                    <a:effectLst/>
                    <a:latin typeface="Segoe WPC"/>
                  </a:rPr>
                  <a:t> II = </a:t>
                </a:r>
                <a:r>
                  <a:rPr lang="es-PE" sz="900" b="0" i="0" dirty="0" err="1">
                    <a:solidFill>
                      <a:schemeClr val="tx1"/>
                    </a:solidFill>
                    <a:effectLst/>
                    <a:latin typeface="Segoe WPC"/>
                  </a:rPr>
                  <a:t>missed</a:t>
                </a:r>
                <a:r>
                  <a:rPr lang="es-PE" sz="900" b="0" i="0" dirty="0">
                    <a:solidFill>
                      <a:schemeClr val="tx1"/>
                    </a:solidFill>
                    <a:effectLst/>
                    <a:latin typeface="Segoe WPC"/>
                  </a:rPr>
                  <a:t> </a:t>
                </a:r>
                <a:r>
                  <a:rPr lang="es-PE" sz="900" b="0" i="0" dirty="0" err="1">
                    <a:solidFill>
                      <a:schemeClr val="tx1"/>
                    </a:solidFill>
                    <a:effectLst/>
                    <a:latin typeface="Segoe WPC"/>
                  </a:rPr>
                  <a:t>detection</a:t>
                </a:r>
                <a:r>
                  <a:rPr lang="es-PE" sz="900" b="0" i="0" dirty="0">
                    <a:solidFill>
                      <a:schemeClr val="tx1"/>
                    </a:solidFill>
                    <a:effectLst/>
                    <a:latin typeface="Segoe WPC"/>
                  </a:rPr>
                  <a:t>; </a:t>
                </a:r>
                <a:r>
                  <a:rPr lang="es-PE" sz="900" b="0" i="0" dirty="0" err="1">
                    <a:solidFill>
                      <a:schemeClr val="tx1"/>
                    </a:solidFill>
                    <a:effectLst/>
                    <a:latin typeface="Segoe WPC"/>
                  </a:rPr>
                  <a:t>power</a:t>
                </a:r>
                <a:r>
                  <a:rPr lang="es-PE" sz="900" b="0" i="0" dirty="0">
                    <a:solidFill>
                      <a:schemeClr val="tx1"/>
                    </a:solidFill>
                    <a:effectLst/>
                    <a:latin typeface="Segoe WPC"/>
                  </a:rPr>
                  <a:t> = </a:t>
                </a:r>
                <a:r>
                  <a:rPr lang="es-PE" sz="900" b="0" i="0" dirty="0" err="1">
                    <a:solidFill>
                      <a:schemeClr val="tx1"/>
                    </a:solidFill>
                    <a:effectLst/>
                    <a:latin typeface="Segoe WPC"/>
                  </a:rPr>
                  <a:t>ability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detect</a:t>
                </a:r>
                <a:r>
                  <a:rPr lang="es-PE" sz="900" b="0" i="0" dirty="0">
                    <a:solidFill>
                      <a:schemeClr val="tx1"/>
                    </a:solidFill>
                    <a:effectLst/>
                    <a:latin typeface="Segoe WPC"/>
                  </a:rPr>
                  <a:t> a real </a:t>
                </a:r>
                <a:r>
                  <a:rPr lang="es-PE" sz="900" b="0" i="0" dirty="0" err="1">
                    <a:solidFill>
                      <a:schemeClr val="tx1"/>
                    </a:solidFill>
                    <a:effectLst/>
                    <a:latin typeface="Segoe WPC"/>
                  </a:rPr>
                  <a:t>effect</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Visual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overlap</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 and alternative </a:t>
                </a:r>
                <a:r>
                  <a:rPr lang="es-PE" sz="900" b="0" i="0" dirty="0" err="1">
                    <a:solidFill>
                      <a:schemeClr val="tx1"/>
                    </a:solidFill>
                    <a:effectLst/>
                    <a:latin typeface="Segoe WPC"/>
                  </a:rPr>
                  <a:t>distributions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power</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Key Formula: </a:t>
                </a:r>
                <a14:m>
                  <m:oMath xmlns:m="http://schemas.openxmlformats.org/officeDocument/2006/math">
                    <m:r>
                      <a:rPr lang="es-PE" sz="900" i="1">
                        <a:solidFill>
                          <a:schemeClr val="tx1"/>
                        </a:solidFill>
                        <a:latin typeface="Cambria Math" panose="02040503050406030204" pitchFamily="18" charset="0"/>
                      </a:rPr>
                      <m:t>𝑃</m:t>
                    </m:r>
                    <m:d>
                      <m:dPr>
                        <m:ctrlPr>
                          <a:rPr lang="ar-AE" sz="900" i="1">
                            <a:solidFill>
                              <a:schemeClr val="tx1"/>
                            </a:solidFill>
                            <a:latin typeface="Cambria Math" panose="02040503050406030204" pitchFamily="18" charset="0"/>
                          </a:rPr>
                        </m:ctrlPr>
                      </m:dPr>
                      <m:e>
                        <m:r>
                          <m:rPr>
                            <m:nor/>
                          </m:rPr>
                          <a:rPr lang="es-PE" sz="900" b="0" i="1">
                            <a:solidFill>
                              <a:schemeClr val="tx1"/>
                            </a:solidFill>
                            <a:latin typeface="Cambria Math" panose="02040503050406030204" pitchFamily="18" charset="0"/>
                          </a:rPr>
                          <m:t>Type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II</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Error</m:t>
                        </m:r>
                      </m:e>
                    </m:d>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𝛽</m:t>
                    </m:r>
                  </m:oMath>
                </a14:m>
                <a:r>
                  <a:rPr lang="ar-AE" sz="900" b="0" i="0" dirty="0">
                    <a:solidFill>
                      <a:schemeClr val="tx1"/>
                    </a:solidFill>
                    <a:effectLst/>
                    <a:latin typeface="Segoe WPC"/>
                  </a:rPr>
                  <a:t>, </a:t>
                </a:r>
                <a:r>
                  <a:rPr lang="es-PE" sz="900" b="0" i="0" dirty="0" err="1">
                    <a:solidFill>
                      <a:schemeClr val="tx1"/>
                    </a:solidFill>
                    <a:effectLst/>
                    <a:latin typeface="Segoe WPC"/>
                  </a:rPr>
                  <a:t>Power</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1</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𝛽</m:t>
                    </m:r>
                  </m:oMath>
                </a14:m>
                <a:br>
                  <a:rPr lang="es-PE" sz="900" b="0" i="0" dirty="0">
                    <a:solidFill>
                      <a:schemeClr val="tx1"/>
                    </a:solidFill>
                    <a:effectLst/>
                    <a:latin typeface="Segoe WPC"/>
                  </a:rPr>
                </a:br>
                <a:r>
                  <a:rPr lang="es-PE" sz="900" b="0" i="0" dirty="0" err="1">
                    <a:solidFill>
                      <a:schemeClr val="tx1"/>
                    </a:solidFill>
                    <a:effectLst/>
                    <a:latin typeface="Segoe WPC"/>
                  </a:rPr>
                  <a:t>Interpretation</a:t>
                </a:r>
                <a:r>
                  <a:rPr lang="es-PE" sz="900" b="0" i="0" dirty="0">
                    <a:solidFill>
                      <a:schemeClr val="tx1"/>
                    </a:solidFill>
                    <a:effectLst/>
                    <a:latin typeface="Segoe WPC"/>
                  </a:rPr>
                  <a:t>: A </a:t>
                </a:r>
                <a:r>
                  <a:rPr lang="es-PE" sz="900" b="0" i="0" dirty="0" err="1">
                    <a:solidFill>
                      <a:schemeClr val="tx1"/>
                    </a:solidFill>
                    <a:effectLst/>
                    <a:latin typeface="Segoe WPC"/>
                  </a:rPr>
                  <a:t>good</a:t>
                </a:r>
                <a:r>
                  <a:rPr lang="es-PE" sz="900" b="0" i="0" dirty="0">
                    <a:solidFill>
                      <a:schemeClr val="tx1"/>
                    </a:solidFill>
                    <a:effectLst/>
                    <a:latin typeface="Segoe WPC"/>
                  </a:rPr>
                  <a:t> test has </a:t>
                </a:r>
                <a:r>
                  <a:rPr lang="es-PE" sz="900" b="0" i="0" dirty="0" err="1">
                    <a:solidFill>
                      <a:schemeClr val="tx1"/>
                    </a:solidFill>
                    <a:effectLst/>
                    <a:latin typeface="Segoe WPC"/>
                  </a:rPr>
                  <a:t>low</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𝛽</m:t>
                    </m:r>
                  </m:oMath>
                </a14:m>
                <a:r>
                  <a:rPr lang="es-PE" sz="900" b="0" i="0" dirty="0">
                    <a:solidFill>
                      <a:schemeClr val="tx1"/>
                    </a:solidFill>
                    <a:effectLst/>
                    <a:latin typeface="Segoe WPC"/>
                  </a:rPr>
                  <a:t> and </a:t>
                </a:r>
                <a:r>
                  <a:rPr lang="es-PE" sz="900" b="0" i="0" dirty="0" err="1">
                    <a:solidFill>
                      <a:schemeClr val="tx1"/>
                    </a:solidFill>
                    <a:effectLst/>
                    <a:latin typeface="Segoe WPC"/>
                  </a:rPr>
                  <a:t>high</a:t>
                </a:r>
                <a:r>
                  <a:rPr lang="es-PE" sz="900" b="0" i="0" dirty="0">
                    <a:solidFill>
                      <a:schemeClr val="tx1"/>
                    </a:solidFill>
                    <a:effectLst/>
                    <a:latin typeface="Segoe WPC"/>
                  </a:rPr>
                  <a:t> </a:t>
                </a:r>
                <a:r>
                  <a:rPr lang="es-PE" sz="900" b="0" i="0" dirty="0" err="1">
                    <a:solidFill>
                      <a:schemeClr val="tx1"/>
                    </a:solidFill>
                    <a:effectLst/>
                    <a:latin typeface="Segoe WPC"/>
                  </a:rPr>
                  <a:t>power</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Exam</a:t>
                </a:r>
                <a:r>
                  <a:rPr lang="es-PE" sz="900" b="0" i="0" dirty="0">
                    <a:solidFill>
                      <a:schemeClr val="tx1"/>
                    </a:solidFill>
                    <a:effectLst/>
                    <a:latin typeface="Segoe WPC"/>
                  </a:rPr>
                  <a:t> </a:t>
                </a:r>
                <a:r>
                  <a:rPr lang="es-PE" sz="900" b="0" i="0" dirty="0" err="1">
                    <a:solidFill>
                      <a:schemeClr val="tx1"/>
                    </a:solidFill>
                    <a:effectLst/>
                    <a:latin typeface="Segoe WPC"/>
                  </a:rPr>
                  <a:t>Trap</a:t>
                </a:r>
                <a:r>
                  <a:rPr lang="es-PE" sz="900" b="0" i="0" dirty="0">
                    <a:solidFill>
                      <a:schemeClr val="tx1"/>
                    </a:solidFill>
                    <a:effectLst/>
                    <a:latin typeface="Segoe WPC"/>
                  </a:rPr>
                  <a:t>: </a:t>
                </a:r>
                <a:r>
                  <a:rPr lang="es-PE" sz="900" b="0" i="0" dirty="0" err="1">
                    <a:solidFill>
                      <a:schemeClr val="tx1"/>
                    </a:solidFill>
                    <a:effectLst/>
                    <a:latin typeface="Segoe WPC"/>
                  </a:rPr>
                  <a:t>Power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fixed</a:t>
                </a:r>
                <a:r>
                  <a:rPr lang="es-PE" sz="900" b="0" i="0" dirty="0">
                    <a:solidFill>
                      <a:schemeClr val="tx1"/>
                    </a:solidFill>
                    <a:effectLst/>
                    <a:latin typeface="Segoe WPC"/>
                  </a:rPr>
                  <a:t> in </a:t>
                </a:r>
                <a:r>
                  <a:rPr lang="es-PE" sz="900" b="0" i="0" dirty="0" err="1">
                    <a:solidFill>
                      <a:schemeClr val="tx1"/>
                    </a:solidFill>
                    <a:effectLst/>
                    <a:latin typeface="Segoe WPC"/>
                  </a:rPr>
                  <a:t>advance</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𝛼</m:t>
                    </m:r>
                  </m:oMath>
                </a14:m>
                <a:r>
                  <a:rPr lang="es-PE" sz="900" b="0" i="0" dirty="0">
                    <a:solidFill>
                      <a:schemeClr val="tx1"/>
                    </a:solidFill>
                    <a:effectLst/>
                    <a:latin typeface="Segoe WPC"/>
                  </a:rPr>
                  <a:t>.</a:t>
                </a:r>
              </a:p>
            </p:txBody>
          </p:sp>
        </mc:Choice>
        <mc:Fallback xmlns="">
          <p:sp>
            <p:nvSpPr>
              <p:cNvPr id="9" name="CuadroTexto 8">
                <a:extLst>
                  <a:ext uri="{FF2B5EF4-FFF2-40B4-BE49-F238E27FC236}">
                    <a16:creationId xmlns:a16="http://schemas.microsoft.com/office/drawing/2014/main" id="{C04E0011-25E0-B513-01EE-6D97A1EA5452}"/>
                  </a:ext>
                </a:extLst>
              </p:cNvPr>
              <p:cNvSpPr txBox="1">
                <a:spLocks noRot="1" noChangeAspect="1" noMove="1" noResize="1" noEditPoints="1" noAdjustHandles="1" noChangeArrowheads="1" noChangeShapeType="1" noTextEdit="1"/>
              </p:cNvSpPr>
              <p:nvPr/>
            </p:nvSpPr>
            <p:spPr>
              <a:xfrm>
                <a:off x="0" y="239485"/>
                <a:ext cx="6369050" cy="6792052"/>
              </a:xfrm>
              <a:prstGeom prst="rect">
                <a:avLst/>
              </a:prstGeom>
              <a:blipFill>
                <a:blip r:embed="rId2"/>
                <a:stretch>
                  <a:fillRect t="-180"/>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A72870D2-B7E8-BE0D-52B6-90ED7CEEBE8A}"/>
                  </a:ext>
                </a:extLst>
              </p:cNvPr>
              <p:cNvSpPr txBox="1"/>
              <p:nvPr/>
            </p:nvSpPr>
            <p:spPr>
              <a:xfrm>
                <a:off x="5969000" y="-76200"/>
                <a:ext cx="6610350" cy="6721007"/>
              </a:xfrm>
              <a:prstGeom prst="rect">
                <a:avLst/>
              </a:prstGeom>
              <a:noFill/>
            </p:spPr>
            <p:txBody>
              <a:bodyPr wrap="square">
                <a:spAutoFit/>
              </a:bodyPr>
              <a:lstStyle/>
              <a:p>
                <a:pPr algn="l">
                  <a:spcBef>
                    <a:spcPts val="300"/>
                  </a:spcBef>
                  <a:spcAft>
                    <a:spcPts val="300"/>
                  </a:spcAft>
                  <a:buFont typeface="+mj-lt"/>
                  <a:buAutoNum type="arabicPeriod"/>
                </a:pPr>
                <a:r>
                  <a:rPr lang="es-PE" sz="900" b="1" i="0" dirty="0">
                    <a:solidFill>
                      <a:schemeClr val="tx1"/>
                    </a:solidFill>
                    <a:effectLst/>
                    <a:latin typeface="Segoe WPC"/>
                  </a:rPr>
                  <a:t>What </a:t>
                </a:r>
                <a:r>
                  <a:rPr lang="es-PE" sz="900" b="1" i="0" dirty="0" err="1">
                    <a:solidFill>
                      <a:schemeClr val="tx1"/>
                    </a:solidFill>
                    <a:effectLst/>
                    <a:latin typeface="Segoe WPC"/>
                  </a:rPr>
                  <a:t>Affects</a:t>
                </a:r>
                <a:r>
                  <a:rPr lang="es-PE" sz="900" b="1" i="0" dirty="0">
                    <a:solidFill>
                      <a:schemeClr val="tx1"/>
                    </a:solidFill>
                    <a:effectLst/>
                    <a:latin typeface="Segoe WPC"/>
                  </a:rPr>
                  <a:t> </a:t>
                </a:r>
                <a:r>
                  <a:rPr lang="es-PE" sz="900" b="1" i="0" dirty="0" err="1">
                    <a:solidFill>
                      <a:schemeClr val="tx1"/>
                    </a:solidFill>
                    <a:effectLst/>
                    <a:latin typeface="Segoe WPC"/>
                  </a:rPr>
                  <a:t>Power</a:t>
                </a:r>
                <a:br>
                  <a:rPr lang="es-PE" sz="900" b="0" i="0" dirty="0">
                    <a:solidFill>
                      <a:schemeClr val="tx1"/>
                    </a:solidFill>
                    <a:effectLst/>
                    <a:latin typeface="Segoe WPC"/>
                  </a:rPr>
                </a:br>
                <a:r>
                  <a:rPr lang="es-PE" sz="900" b="0" i="0" dirty="0" err="1">
                    <a:solidFill>
                      <a:schemeClr val="tx1"/>
                    </a:solidFill>
                    <a:effectLst/>
                    <a:latin typeface="Segoe WPC"/>
                  </a:rPr>
                  <a:t>Statistical</a:t>
                </a:r>
                <a:r>
                  <a:rPr lang="es-PE" sz="900" b="0" i="0" dirty="0">
                    <a:solidFill>
                      <a:schemeClr val="tx1"/>
                    </a:solidFill>
                    <a:effectLst/>
                    <a:latin typeface="Segoe WPC"/>
                  </a:rPr>
                  <a:t> </a:t>
                </a:r>
                <a:r>
                  <a:rPr lang="es-PE" sz="900" b="0" i="0" dirty="0" err="1">
                    <a:solidFill>
                      <a:schemeClr val="tx1"/>
                    </a:solidFill>
                    <a:effectLst/>
                    <a:latin typeface="Segoe WPC"/>
                  </a:rPr>
                  <a:t>Object</a:t>
                </a:r>
                <a:r>
                  <a:rPr lang="es-PE" sz="900" b="0" i="0" dirty="0">
                    <a:solidFill>
                      <a:schemeClr val="tx1"/>
                    </a:solidFill>
                    <a:effectLst/>
                    <a:latin typeface="Segoe WPC"/>
                  </a:rPr>
                  <a:t>: </a:t>
                </a:r>
                <a:r>
                  <a:rPr lang="es-PE" sz="900" b="0" i="0" dirty="0" err="1">
                    <a:solidFill>
                      <a:schemeClr val="tx1"/>
                    </a:solidFill>
                    <a:effectLst/>
                    <a:latin typeface="Segoe WPC"/>
                  </a:rPr>
                  <a:t>Power</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size</a:t>
                </a:r>
                <a:r>
                  <a:rPr lang="es-PE" sz="900" b="0" i="0" dirty="0">
                    <a:solidFill>
                      <a:schemeClr val="tx1"/>
                    </a:solidFill>
                    <a:effectLst/>
                    <a:latin typeface="Segoe WPC"/>
                  </a:rPr>
                  <a:t>, </a:t>
                </a:r>
                <a:r>
                  <a:rPr lang="es-PE" sz="900" b="0" i="0" dirty="0" err="1">
                    <a:solidFill>
                      <a:schemeClr val="tx1"/>
                    </a:solidFill>
                    <a:effectLst/>
                    <a:latin typeface="Segoe WPC"/>
                  </a:rPr>
                  <a:t>effect</a:t>
                </a:r>
                <a:r>
                  <a:rPr lang="es-PE" sz="900" b="0" i="0" dirty="0">
                    <a:solidFill>
                      <a:schemeClr val="tx1"/>
                    </a:solidFill>
                    <a:effectLst/>
                    <a:latin typeface="Segoe WPC"/>
                  </a:rPr>
                  <a:t> </a:t>
                </a:r>
                <a:r>
                  <a:rPr lang="es-PE" sz="900" b="0" i="0" dirty="0" err="1">
                    <a:solidFill>
                      <a:schemeClr val="tx1"/>
                    </a:solidFill>
                    <a:effectLst/>
                    <a:latin typeface="Segoe WPC"/>
                  </a:rPr>
                  <a:t>size</a:t>
                </a:r>
                <a:r>
                  <a:rPr lang="es-PE" sz="900" b="0" i="0" dirty="0">
                    <a:solidFill>
                      <a:schemeClr val="tx1"/>
                    </a:solidFill>
                    <a:effectLst/>
                    <a:latin typeface="Segoe WPC"/>
                  </a:rPr>
                  <a:t>, and test </a:t>
                </a:r>
                <a:r>
                  <a:rPr lang="es-PE" sz="900" b="0" i="0" dirty="0" err="1">
                    <a:solidFill>
                      <a:schemeClr val="tx1"/>
                    </a:solidFill>
                    <a:effectLst/>
                    <a:latin typeface="Segoe WPC"/>
                  </a:rPr>
                  <a:t>size</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Plain</a:t>
                </a:r>
                <a:r>
                  <a:rPr lang="es-PE" sz="900" b="0" i="0" dirty="0">
                    <a:solidFill>
                      <a:schemeClr val="tx1"/>
                    </a:solidFill>
                    <a:effectLst/>
                    <a:latin typeface="Segoe WPC"/>
                  </a:rPr>
                  <a:t>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Bigger</a:t>
                </a:r>
                <a:r>
                  <a:rPr lang="es-PE" sz="900" b="0" i="0" dirty="0">
                    <a:solidFill>
                      <a:schemeClr val="tx1"/>
                    </a:solidFill>
                    <a:effectLst/>
                    <a:latin typeface="Segoe WPC"/>
                  </a:rPr>
                  <a:t> </a:t>
                </a:r>
                <a:r>
                  <a:rPr lang="es-PE" sz="900" b="0" i="0" dirty="0" err="1">
                    <a:solidFill>
                      <a:schemeClr val="tx1"/>
                    </a:solidFill>
                    <a:effectLst/>
                    <a:latin typeface="Segoe WPC"/>
                  </a:rPr>
                  <a:t>samples</a:t>
                </a:r>
                <a:r>
                  <a:rPr lang="es-PE" sz="900" b="0" i="0" dirty="0">
                    <a:solidFill>
                      <a:schemeClr val="tx1"/>
                    </a:solidFill>
                    <a:effectLst/>
                    <a:latin typeface="Segoe WPC"/>
                  </a:rPr>
                  <a:t> and </a:t>
                </a:r>
                <a:r>
                  <a:rPr lang="es-PE" sz="900" b="0" i="0" dirty="0" err="1">
                    <a:solidFill>
                      <a:schemeClr val="tx1"/>
                    </a:solidFill>
                    <a:effectLst/>
                    <a:latin typeface="Segoe WPC"/>
                  </a:rPr>
                  <a:t>bigger</a:t>
                </a:r>
                <a:r>
                  <a:rPr lang="es-PE" sz="900" b="0" i="0" dirty="0">
                    <a:solidFill>
                      <a:schemeClr val="tx1"/>
                    </a:solidFill>
                    <a:effectLst/>
                    <a:latin typeface="Segoe WPC"/>
                  </a:rPr>
                  <a:t> true </a:t>
                </a:r>
                <a:r>
                  <a:rPr lang="es-PE" sz="900" b="0" i="0" dirty="0" err="1">
                    <a:solidFill>
                      <a:schemeClr val="tx1"/>
                    </a:solidFill>
                    <a:effectLst/>
                    <a:latin typeface="Segoe WPC"/>
                  </a:rPr>
                  <a:t>effects</a:t>
                </a:r>
                <a:r>
                  <a:rPr lang="es-PE" sz="900" b="0" i="0" dirty="0">
                    <a:solidFill>
                      <a:schemeClr val="tx1"/>
                    </a:solidFill>
                    <a:effectLst/>
                    <a:latin typeface="Segoe WPC"/>
                  </a:rPr>
                  <a:t> are </a:t>
                </a:r>
                <a:r>
                  <a:rPr lang="es-PE" sz="900" b="0" i="0" dirty="0" err="1">
                    <a:solidFill>
                      <a:schemeClr val="tx1"/>
                    </a:solidFill>
                    <a:effectLst/>
                    <a:latin typeface="Segoe WPC"/>
                  </a:rPr>
                  <a:t>easier</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detect</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Visual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Larger</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𝑛</m:t>
                    </m:r>
                  </m:oMath>
                </a14:m>
                <a:r>
                  <a:rPr lang="es-PE" sz="900" b="0" i="0" dirty="0">
                    <a:solidFill>
                      <a:schemeClr val="tx1"/>
                    </a:solidFill>
                    <a:effectLst/>
                    <a:latin typeface="Segoe WPC"/>
                  </a:rPr>
                  <a:t> </a:t>
                </a:r>
                <a:r>
                  <a:rPr lang="es-PE" sz="900" b="0" i="0" dirty="0" err="1">
                    <a:solidFill>
                      <a:schemeClr val="tx1"/>
                    </a:solidFill>
                    <a:effectLst/>
                    <a:latin typeface="Segoe WPC"/>
                  </a:rPr>
                  <a:t>makes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sampling</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narrower</a:t>
                </a:r>
                <a:r>
                  <a:rPr lang="es-PE" sz="900" b="0" i="0" dirty="0">
                    <a:solidFill>
                      <a:schemeClr val="tx1"/>
                    </a:solidFill>
                    <a:effectLst/>
                    <a:latin typeface="Segoe WPC"/>
                  </a:rPr>
                  <a:t>, so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 and alternative are </a:t>
                </a:r>
                <a:r>
                  <a:rPr lang="es-PE" sz="900" b="0" i="0" dirty="0" err="1">
                    <a:solidFill>
                      <a:schemeClr val="tx1"/>
                    </a:solidFill>
                    <a:effectLst/>
                    <a:latin typeface="Segoe WPC"/>
                  </a:rPr>
                  <a:t>easier</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separate</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Key Formula: </a:t>
                </a:r>
                <a:r>
                  <a:rPr lang="es-PE" sz="900" b="0" i="0" dirty="0" err="1">
                    <a:solidFill>
                      <a:schemeClr val="tx1"/>
                    </a:solidFill>
                    <a:effectLst/>
                    <a:latin typeface="Segoe WPC"/>
                  </a:rPr>
                  <a:t>Power</a:t>
                </a:r>
                <a:r>
                  <a:rPr lang="es-PE" sz="900" b="0" i="0" dirty="0">
                    <a:solidFill>
                      <a:schemeClr val="tx1"/>
                    </a:solidFill>
                    <a:effectLst/>
                    <a:latin typeface="Segoe WPC"/>
                  </a:rPr>
                  <a:t> </a:t>
                </a:r>
                <a:r>
                  <a:rPr lang="es-PE" sz="900" b="0" i="0" dirty="0" err="1">
                    <a:solidFill>
                      <a:schemeClr val="tx1"/>
                    </a:solidFill>
                    <a:effectLst/>
                    <a:latin typeface="Segoe WPC"/>
                  </a:rPr>
                  <a:t>increases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𝑛</m:t>
                    </m:r>
                    <m:r>
                      <a:rPr lang="es-PE" sz="900" i="0">
                        <a:solidFill>
                          <a:schemeClr val="tx1"/>
                        </a:solidFill>
                        <a:latin typeface="Cambria Math" panose="02040503050406030204" pitchFamily="18" charset="0"/>
                      </a:rPr>
                      <m:t>↑</m:t>
                    </m:r>
                  </m:oMath>
                </a14:m>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𝜇</m:t>
                    </m:r>
                    <m:r>
                      <a:rPr lang="es-P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oMath>
                </a14:m>
                <a:r>
                  <a:rPr lang="ar-A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𝛼</m:t>
                    </m:r>
                    <m:r>
                      <a:rPr lang="es-PE" sz="900" i="0">
                        <a:solidFill>
                          <a:schemeClr val="tx1"/>
                        </a:solidFill>
                        <a:latin typeface="Cambria Math" panose="02040503050406030204" pitchFamily="18" charset="0"/>
                      </a:rPr>
                      <m:t>↑</m:t>
                    </m:r>
                  </m:oMath>
                </a14:m>
                <a:br>
                  <a:rPr lang="es-PE" sz="900" b="0" i="0" dirty="0">
                    <a:solidFill>
                      <a:schemeClr val="tx1"/>
                    </a:solidFill>
                    <a:effectLst/>
                    <a:latin typeface="Segoe WPC"/>
                  </a:rPr>
                </a:br>
                <a:r>
                  <a:rPr lang="es-PE" sz="900" b="0" i="0" dirty="0" err="1">
                    <a:solidFill>
                      <a:schemeClr val="tx1"/>
                    </a:solidFill>
                    <a:effectLst/>
                    <a:latin typeface="Segoe WPC"/>
                  </a:rPr>
                  <a:t>Interpretation</a:t>
                </a:r>
                <a:r>
                  <a:rPr lang="es-PE" sz="900" b="0" i="0" dirty="0">
                    <a:solidFill>
                      <a:schemeClr val="tx1"/>
                    </a:solidFill>
                    <a:effectLst/>
                    <a:latin typeface="Segoe WPC"/>
                  </a:rPr>
                  <a:t>: More data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make</a:t>
                </a:r>
                <a:r>
                  <a:rPr lang="es-PE" sz="900" b="0" i="0" dirty="0">
                    <a:solidFill>
                      <a:schemeClr val="tx1"/>
                    </a:solidFill>
                    <a:effectLst/>
                    <a:latin typeface="Segoe WPC"/>
                  </a:rPr>
                  <a:t> </a:t>
                </a:r>
                <a:r>
                  <a:rPr lang="es-PE" sz="900" b="0" i="0" dirty="0" err="1">
                    <a:solidFill>
                      <a:schemeClr val="tx1"/>
                    </a:solidFill>
                    <a:effectLst/>
                    <a:latin typeface="Segoe WPC"/>
                  </a:rPr>
                  <a:t>tests</a:t>
                </a:r>
                <a:r>
                  <a:rPr lang="es-PE" sz="900" b="0" i="0" dirty="0">
                    <a:solidFill>
                      <a:schemeClr val="tx1"/>
                    </a:solidFill>
                    <a:effectLst/>
                    <a:latin typeface="Segoe WPC"/>
                  </a:rPr>
                  <a:t> </a:t>
                </a:r>
                <a:r>
                  <a:rPr lang="es-PE" sz="900" b="0" i="0" dirty="0" err="1">
                    <a:solidFill>
                      <a:schemeClr val="tx1"/>
                    </a:solidFill>
                    <a:effectLst/>
                    <a:latin typeface="Segoe WPC"/>
                  </a:rPr>
                  <a:t>stronger</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Exam</a:t>
                </a:r>
                <a:r>
                  <a:rPr lang="es-PE" sz="900" b="0" i="0" dirty="0">
                    <a:solidFill>
                      <a:schemeClr val="tx1"/>
                    </a:solidFill>
                    <a:effectLst/>
                    <a:latin typeface="Segoe WPC"/>
                  </a:rPr>
                  <a:t> </a:t>
                </a:r>
                <a:r>
                  <a:rPr lang="es-PE" sz="900" b="0" i="0" dirty="0" err="1">
                    <a:solidFill>
                      <a:schemeClr val="tx1"/>
                    </a:solidFill>
                    <a:effectLst/>
                    <a:latin typeface="Segoe WPC"/>
                  </a:rPr>
                  <a:t>Trap</a:t>
                </a:r>
                <a:r>
                  <a:rPr lang="es-PE" sz="900" b="0" i="0" dirty="0">
                    <a:solidFill>
                      <a:schemeClr val="tx1"/>
                    </a:solidFill>
                    <a:effectLst/>
                    <a:latin typeface="Segoe WPC"/>
                  </a:rPr>
                  <a:t>: </a:t>
                </a:r>
                <a:r>
                  <a:rPr lang="es-PE" sz="900" b="0" i="0" dirty="0" err="1">
                    <a:solidFill>
                      <a:schemeClr val="tx1"/>
                    </a:solidFill>
                    <a:effectLst/>
                    <a:latin typeface="Segoe WPC"/>
                  </a:rPr>
                  <a:t>Increasing</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𝛼</m:t>
                    </m:r>
                  </m:oMath>
                </a14:m>
                <a:r>
                  <a:rPr lang="es-PE" sz="900" b="0" i="0" dirty="0">
                    <a:solidFill>
                      <a:schemeClr val="tx1"/>
                    </a:solidFill>
                    <a:effectLst/>
                    <a:latin typeface="Segoe WPC"/>
                  </a:rPr>
                  <a:t> raises </a:t>
                </a:r>
                <a:r>
                  <a:rPr lang="es-PE" sz="900" b="0" i="0" dirty="0" err="1">
                    <a:solidFill>
                      <a:schemeClr val="tx1"/>
                    </a:solidFill>
                    <a:effectLst/>
                    <a:latin typeface="Segoe WPC"/>
                  </a:rPr>
                  <a:t>power</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also</a:t>
                </a:r>
                <a:r>
                  <a:rPr lang="es-PE" sz="900" b="0" i="0" dirty="0">
                    <a:solidFill>
                      <a:schemeClr val="tx1"/>
                    </a:solidFill>
                    <a:effectLst/>
                    <a:latin typeface="Segoe WPC"/>
                  </a:rPr>
                  <a:t> raises </a:t>
                </a:r>
                <a:r>
                  <a:rPr lang="es-PE" sz="900" b="0" i="0" dirty="0" err="1">
                    <a:solidFill>
                      <a:schemeClr val="tx1"/>
                    </a:solidFill>
                    <a:effectLst/>
                    <a:latin typeface="Segoe WPC"/>
                  </a:rPr>
                  <a:t>Type</a:t>
                </a:r>
                <a:r>
                  <a:rPr lang="es-PE" sz="900" b="0" i="0" dirty="0">
                    <a:solidFill>
                      <a:schemeClr val="tx1"/>
                    </a:solidFill>
                    <a:effectLst/>
                    <a:latin typeface="Segoe WPC"/>
                  </a:rPr>
                  <a:t> I error.</a:t>
                </a:r>
              </a:p>
              <a:p>
                <a:pPr algn="l">
                  <a:spcBef>
                    <a:spcPts val="300"/>
                  </a:spcBef>
                  <a:spcAft>
                    <a:spcPts val="300"/>
                  </a:spcAft>
                  <a:buFont typeface="+mj-lt"/>
                  <a:buAutoNum type="arabicPeriod"/>
                </a:pPr>
                <a:r>
                  <a:rPr lang="es-PE" sz="900" b="1" i="0" dirty="0" err="1">
                    <a:solidFill>
                      <a:schemeClr val="tx1"/>
                    </a:solidFill>
                    <a:effectLst/>
                    <a:latin typeface="Segoe WPC"/>
                  </a:rPr>
                  <a:t>Confidence</a:t>
                </a:r>
                <a:r>
                  <a:rPr lang="es-PE" sz="900" b="1" i="0" dirty="0">
                    <a:solidFill>
                      <a:schemeClr val="tx1"/>
                    </a:solidFill>
                    <a:effectLst/>
                    <a:latin typeface="Segoe WPC"/>
                  </a:rPr>
                  <a:t> </a:t>
                </a:r>
                <a:r>
                  <a:rPr lang="es-PE" sz="900" b="1" i="0" dirty="0" err="1">
                    <a:solidFill>
                      <a:schemeClr val="tx1"/>
                    </a:solidFill>
                    <a:effectLst/>
                    <a:latin typeface="Segoe WPC"/>
                  </a:rPr>
                  <a:t>Intervals</a:t>
                </a:r>
                <a:br>
                  <a:rPr lang="es-PE" sz="900" b="0" i="0" dirty="0">
                    <a:solidFill>
                      <a:schemeClr val="tx1"/>
                    </a:solidFill>
                    <a:effectLst/>
                    <a:latin typeface="Segoe WPC"/>
                  </a:rPr>
                </a:br>
                <a:r>
                  <a:rPr lang="es-PE" sz="900" b="0" i="0" dirty="0" err="1">
                    <a:solidFill>
                      <a:schemeClr val="tx1"/>
                    </a:solidFill>
                    <a:effectLst/>
                    <a:latin typeface="Segoe WPC"/>
                  </a:rPr>
                  <a:t>Statistical</a:t>
                </a:r>
                <a:r>
                  <a:rPr lang="es-PE" sz="900" b="0" i="0" dirty="0">
                    <a:solidFill>
                      <a:schemeClr val="tx1"/>
                    </a:solidFill>
                    <a:effectLst/>
                    <a:latin typeface="Segoe WPC"/>
                  </a:rPr>
                  <a:t> </a:t>
                </a:r>
                <a:r>
                  <a:rPr lang="es-PE" sz="900" b="0" i="0" dirty="0" err="1">
                    <a:solidFill>
                      <a:schemeClr val="tx1"/>
                    </a:solidFill>
                    <a:effectLst/>
                    <a:latin typeface="Segoe WPC"/>
                  </a:rPr>
                  <a:t>Object</a:t>
                </a:r>
                <a:r>
                  <a:rPr lang="es-PE" sz="900" b="0" i="0" dirty="0">
                    <a:solidFill>
                      <a:schemeClr val="tx1"/>
                    </a:solidFill>
                    <a:effectLst/>
                    <a:latin typeface="Segoe WPC"/>
                  </a:rPr>
                  <a:t>: A </a:t>
                </a:r>
                <a:r>
                  <a:rPr lang="es-PE" sz="900" b="0" i="0" dirty="0" err="1">
                    <a:solidFill>
                      <a:schemeClr val="tx1"/>
                    </a:solidFill>
                    <a:effectLst/>
                    <a:latin typeface="Segoe WPC"/>
                  </a:rPr>
                  <a:t>confidence</a:t>
                </a:r>
                <a:r>
                  <a:rPr lang="es-PE" sz="900" b="0" i="0" dirty="0">
                    <a:solidFill>
                      <a:schemeClr val="tx1"/>
                    </a:solidFill>
                    <a:effectLst/>
                    <a:latin typeface="Segoe WPC"/>
                  </a:rPr>
                  <a:t> </a:t>
                </a:r>
                <a:r>
                  <a:rPr lang="es-PE" sz="900" b="0" i="0" dirty="0" err="1">
                    <a:solidFill>
                      <a:schemeClr val="tx1"/>
                    </a:solidFill>
                    <a:effectLst/>
                    <a:latin typeface="Segoe WPC"/>
                  </a:rPr>
                  <a:t>interval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set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parameter</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rejected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 </a:t>
                </a:r>
                <a:r>
                  <a:rPr lang="es-PE" sz="900" b="0" i="0" dirty="0" err="1">
                    <a:solidFill>
                      <a:schemeClr val="tx1"/>
                    </a:solidFill>
                    <a:effectLst/>
                    <a:latin typeface="Segoe WPC"/>
                  </a:rPr>
                  <a:t>hypothesis</a:t>
                </a:r>
                <a:r>
                  <a:rPr lang="es-PE" sz="900" b="0" i="0" dirty="0">
                    <a:solidFill>
                      <a:schemeClr val="tx1"/>
                    </a:solidFill>
                    <a:effectLst/>
                    <a:latin typeface="Segoe WPC"/>
                  </a:rPr>
                  <a:t> test.</a:t>
                </a:r>
                <a:br>
                  <a:rPr lang="es-PE" sz="900" b="0" i="0" dirty="0">
                    <a:solidFill>
                      <a:schemeClr val="tx1"/>
                    </a:solidFill>
                    <a:effectLst/>
                    <a:latin typeface="Segoe WPC"/>
                  </a:rPr>
                </a:br>
                <a:r>
                  <a:rPr lang="es-PE" sz="900" b="0" i="0" dirty="0" err="1">
                    <a:solidFill>
                      <a:schemeClr val="tx1"/>
                    </a:solidFill>
                    <a:effectLst/>
                    <a:latin typeface="Segoe WPC"/>
                  </a:rPr>
                  <a:t>Plain</a:t>
                </a:r>
                <a:r>
                  <a:rPr lang="es-PE" sz="900" b="0" i="0" dirty="0">
                    <a:solidFill>
                      <a:schemeClr val="tx1"/>
                    </a:solidFill>
                    <a:effectLst/>
                    <a:latin typeface="Segoe WPC"/>
                  </a:rPr>
                  <a:t>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plausible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parameter</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Visual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lies</a:t>
                </a:r>
                <a:r>
                  <a:rPr lang="es-PE" sz="900" b="0" i="0" dirty="0">
                    <a:solidFill>
                      <a:schemeClr val="tx1"/>
                    </a:solidFill>
                    <a:effectLst/>
                    <a:latin typeface="Segoe WPC"/>
                  </a:rPr>
                  <a:t> </a:t>
                </a:r>
                <a:r>
                  <a:rPr lang="es-PE" sz="900" b="0" i="0" dirty="0" err="1">
                    <a:solidFill>
                      <a:schemeClr val="tx1"/>
                    </a:solidFill>
                    <a:effectLst/>
                    <a:latin typeface="Segoe WPC"/>
                  </a:rPr>
                  <a:t>outside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interval</a:t>
                </a:r>
                <a:r>
                  <a:rPr lang="es-PE" sz="900" b="0" i="0" dirty="0">
                    <a:solidFill>
                      <a:schemeClr val="tx1"/>
                    </a:solidFill>
                    <a:effectLst/>
                    <a:latin typeface="Segoe WPC"/>
                  </a:rPr>
                  <a:t>, </a:t>
                </a:r>
                <a:r>
                  <a:rPr lang="es-PE" sz="900" b="0" i="0" dirty="0" err="1">
                    <a:solidFill>
                      <a:schemeClr val="tx1"/>
                    </a:solidFill>
                    <a:effectLst/>
                    <a:latin typeface="Segoe WPC"/>
                  </a:rPr>
                  <a:t>reject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Key Formula: </a:t>
                </a:r>
                <a14:m>
                  <m:oMath xmlns:m="http://schemas.openxmlformats.org/officeDocument/2006/math">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𝑐</m:t>
                        </m:r>
                      </m:e>
                      <m:sub>
                        <m:r>
                          <a:rPr lang="ar-AE" sz="900" i="1">
                            <a:solidFill>
                              <a:schemeClr val="tx1"/>
                            </a:solidFill>
                            <a:latin typeface="Cambria Math" panose="02040503050406030204" pitchFamily="18" charset="0"/>
                          </a:rPr>
                          <m:t>𝛼</m:t>
                        </m:r>
                      </m:sub>
                    </m:sSub>
                    <m:f>
                      <m:fPr>
                        <m:ctrlPr>
                          <a:rPr lang="ar-AE" sz="900" i="1">
                            <a:solidFill>
                              <a:schemeClr val="tx1"/>
                            </a:solidFill>
                            <a:latin typeface="Cambria Math" panose="02040503050406030204" pitchFamily="18" charset="0"/>
                          </a:rPr>
                        </m:ctrlPr>
                      </m:fPr>
                      <m:num>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num>
                      <m:den>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𝑛</m:t>
                            </m:r>
                          </m:e>
                        </m:rad>
                      </m:den>
                    </m:f>
                  </m:oMath>
                </a14:m>
                <a:br>
                  <a:rPr lang="ar-AE" sz="900" b="0" i="0" dirty="0">
                    <a:solidFill>
                      <a:schemeClr val="tx1"/>
                    </a:solidFill>
                    <a:effectLst/>
                    <a:latin typeface="Segoe WPC"/>
                  </a:rPr>
                </a:br>
                <a:r>
                  <a:rPr lang="es-PE" sz="900" b="0" i="0" dirty="0" err="1">
                    <a:solidFill>
                      <a:schemeClr val="tx1"/>
                    </a:solidFill>
                    <a:effectLst/>
                    <a:latin typeface="Segoe WPC"/>
                  </a:rPr>
                  <a:t>Interpretation</a:t>
                </a:r>
                <a:r>
                  <a:rPr lang="es-PE" sz="900" b="0" i="0" dirty="0">
                    <a:solidFill>
                      <a:schemeClr val="tx1"/>
                    </a:solidFill>
                    <a:effectLst/>
                    <a:latin typeface="Segoe WPC"/>
                  </a:rPr>
                  <a:t>: </a:t>
                </a:r>
                <a:r>
                  <a:rPr lang="es-PE" sz="900" b="0" i="0" dirty="0" err="1">
                    <a:solidFill>
                      <a:schemeClr val="tx1"/>
                    </a:solidFill>
                    <a:effectLst/>
                    <a:latin typeface="Segoe WPC"/>
                  </a:rPr>
                  <a:t>Confidence</a:t>
                </a:r>
                <a:r>
                  <a:rPr lang="es-PE" sz="900" b="0" i="0" dirty="0">
                    <a:solidFill>
                      <a:schemeClr val="tx1"/>
                    </a:solidFill>
                    <a:effectLst/>
                    <a:latin typeface="Segoe WPC"/>
                  </a:rPr>
                  <a:t> </a:t>
                </a:r>
                <a:r>
                  <a:rPr lang="es-PE" sz="900" b="0" i="0" dirty="0" err="1">
                    <a:solidFill>
                      <a:schemeClr val="tx1"/>
                    </a:solidFill>
                    <a:effectLst/>
                    <a:latin typeface="Segoe WPC"/>
                  </a:rPr>
                  <a:t>intervals</a:t>
                </a:r>
                <a:r>
                  <a:rPr lang="es-PE" sz="900" b="0" i="0" dirty="0">
                    <a:solidFill>
                      <a:schemeClr val="tx1"/>
                    </a:solidFill>
                    <a:effectLst/>
                    <a:latin typeface="Segoe WPC"/>
                  </a:rPr>
                  <a:t> and </a:t>
                </a:r>
                <a:r>
                  <a:rPr lang="es-PE" sz="900" b="0" i="0" dirty="0" err="1">
                    <a:solidFill>
                      <a:schemeClr val="tx1"/>
                    </a:solidFill>
                    <a:effectLst/>
                    <a:latin typeface="Segoe WPC"/>
                  </a:rPr>
                  <a:t>hypothesis</a:t>
                </a:r>
                <a:r>
                  <a:rPr lang="es-PE" sz="900" b="0" i="0" dirty="0">
                    <a:solidFill>
                      <a:schemeClr val="tx1"/>
                    </a:solidFill>
                    <a:effectLst/>
                    <a:latin typeface="Segoe WPC"/>
                  </a:rPr>
                  <a:t> </a:t>
                </a:r>
                <a:r>
                  <a:rPr lang="es-PE" sz="900" b="0" i="0" dirty="0" err="1">
                    <a:solidFill>
                      <a:schemeClr val="tx1"/>
                    </a:solidFill>
                    <a:effectLst/>
                    <a:latin typeface="Segoe WPC"/>
                  </a:rPr>
                  <a:t>tests</a:t>
                </a:r>
                <a:r>
                  <a:rPr lang="es-PE" sz="900" b="0" i="0" dirty="0">
                    <a:solidFill>
                      <a:schemeClr val="tx1"/>
                    </a:solidFill>
                    <a:effectLst/>
                    <a:latin typeface="Segoe WPC"/>
                  </a:rPr>
                  <a:t> </a:t>
                </a:r>
                <a:r>
                  <a:rPr lang="es-PE" sz="900" b="0" i="0" dirty="0" err="1">
                    <a:solidFill>
                      <a:schemeClr val="tx1"/>
                    </a:solidFill>
                    <a:effectLst/>
                    <a:latin typeface="Segoe WPC"/>
                  </a:rPr>
                  <a:t>give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conclusion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Exam</a:t>
                </a:r>
                <a:r>
                  <a:rPr lang="es-PE" sz="900" b="0" i="0" dirty="0">
                    <a:solidFill>
                      <a:schemeClr val="tx1"/>
                    </a:solidFill>
                    <a:effectLst/>
                    <a:latin typeface="Segoe WPC"/>
                  </a:rPr>
                  <a:t> </a:t>
                </a:r>
                <a:r>
                  <a:rPr lang="es-PE" sz="900" b="0" i="0" dirty="0" err="1">
                    <a:solidFill>
                      <a:schemeClr val="tx1"/>
                    </a:solidFill>
                    <a:effectLst/>
                    <a:latin typeface="Segoe WPC"/>
                  </a:rPr>
                  <a:t>Trap</a:t>
                </a:r>
                <a:r>
                  <a:rPr lang="es-PE" sz="900" b="0" i="0" dirty="0">
                    <a:solidFill>
                      <a:schemeClr val="tx1"/>
                    </a:solidFill>
                    <a:effectLst/>
                    <a:latin typeface="Segoe WPC"/>
                  </a:rPr>
                  <a:t>: </a:t>
                </a:r>
                <a:r>
                  <a:rPr lang="es-PE" sz="900" b="0" i="0" dirty="0" err="1">
                    <a:solidFill>
                      <a:schemeClr val="tx1"/>
                    </a:solidFill>
                    <a:effectLst/>
                    <a:latin typeface="Segoe WPC"/>
                  </a:rPr>
                  <a:t>One-sided</a:t>
                </a:r>
                <a:r>
                  <a:rPr lang="es-PE" sz="900" b="0" i="0" dirty="0">
                    <a:solidFill>
                      <a:schemeClr val="tx1"/>
                    </a:solidFill>
                    <a:effectLst/>
                    <a:latin typeface="Segoe WPC"/>
                  </a:rPr>
                  <a:t> and </a:t>
                </a:r>
                <a:r>
                  <a:rPr lang="es-PE" sz="900" b="0" i="0" dirty="0" err="1">
                    <a:solidFill>
                      <a:schemeClr val="tx1"/>
                    </a:solidFill>
                    <a:effectLst/>
                    <a:latin typeface="Segoe WPC"/>
                  </a:rPr>
                  <a:t>two-sided</a:t>
                </a:r>
                <a:r>
                  <a:rPr lang="es-PE" sz="900" b="0" i="0" dirty="0">
                    <a:solidFill>
                      <a:schemeClr val="tx1"/>
                    </a:solidFill>
                    <a:effectLst/>
                    <a:latin typeface="Segoe WPC"/>
                  </a:rPr>
                  <a:t> </a:t>
                </a:r>
                <a:r>
                  <a:rPr lang="es-PE" sz="900" b="0" i="0" dirty="0" err="1">
                    <a:solidFill>
                      <a:schemeClr val="tx1"/>
                    </a:solidFill>
                    <a:effectLst/>
                    <a:latin typeface="Segoe WPC"/>
                  </a:rPr>
                  <a:t>confidence</a:t>
                </a:r>
                <a:r>
                  <a:rPr lang="es-PE" sz="900" b="0" i="0" dirty="0">
                    <a:solidFill>
                      <a:schemeClr val="tx1"/>
                    </a:solidFill>
                    <a:effectLst/>
                    <a:latin typeface="Segoe WPC"/>
                  </a:rPr>
                  <a:t> </a:t>
                </a:r>
                <a:r>
                  <a:rPr lang="es-PE" sz="900" b="0" i="0" dirty="0" err="1">
                    <a:solidFill>
                      <a:schemeClr val="tx1"/>
                    </a:solidFill>
                    <a:effectLst/>
                    <a:latin typeface="Segoe WPC"/>
                  </a:rPr>
                  <a:t>intervals</a:t>
                </a:r>
                <a:r>
                  <a:rPr lang="es-PE" sz="900" b="0" i="0" dirty="0">
                    <a:solidFill>
                      <a:schemeClr val="tx1"/>
                    </a:solidFill>
                    <a:effectLst/>
                    <a:latin typeface="Segoe WPC"/>
                  </a:rPr>
                  <a:t> are </a:t>
                </a:r>
                <a:r>
                  <a:rPr lang="es-PE" sz="900" b="0" i="0" dirty="0" err="1">
                    <a:solidFill>
                      <a:schemeClr val="tx1"/>
                    </a:solidFill>
                    <a:effectLst/>
                    <a:latin typeface="Segoe WPC"/>
                  </a:rPr>
                  <a:t>different</a:t>
                </a:r>
                <a:r>
                  <a:rPr lang="es-PE" sz="900" b="0" i="0" dirty="0">
                    <a:solidFill>
                      <a:schemeClr val="tx1"/>
                    </a:solidFill>
                    <a:effectLst/>
                    <a:latin typeface="Segoe WPC"/>
                  </a:rPr>
                  <a:t>.</a:t>
                </a:r>
              </a:p>
              <a:p>
                <a:pPr algn="l">
                  <a:spcBef>
                    <a:spcPts val="300"/>
                  </a:spcBef>
                  <a:spcAft>
                    <a:spcPts val="300"/>
                  </a:spcAft>
                  <a:buFont typeface="+mj-lt"/>
                  <a:buAutoNum type="arabicPeriod"/>
                </a:pPr>
                <a:r>
                  <a:rPr lang="es-PE" sz="900" b="1" i="0" dirty="0">
                    <a:solidFill>
                      <a:schemeClr val="tx1"/>
                    </a:solidFill>
                    <a:effectLst/>
                    <a:latin typeface="Segoe WPC"/>
                  </a:rPr>
                  <a:t>p-</a:t>
                </a:r>
                <a:r>
                  <a:rPr lang="es-PE" sz="900" b="1" i="0" dirty="0" err="1">
                    <a:solidFill>
                      <a:schemeClr val="tx1"/>
                    </a:solidFill>
                    <a:effectLst/>
                    <a:latin typeface="Segoe WPC"/>
                  </a:rPr>
                  <a:t>value</a:t>
                </a:r>
                <a:br>
                  <a:rPr lang="es-PE" sz="900" b="0" i="0" dirty="0">
                    <a:solidFill>
                      <a:schemeClr val="tx1"/>
                    </a:solidFill>
                    <a:effectLst/>
                    <a:latin typeface="Segoe WPC"/>
                  </a:rPr>
                </a:br>
                <a:r>
                  <a:rPr lang="es-PE" sz="900" b="0" i="0" dirty="0" err="1">
                    <a:solidFill>
                      <a:schemeClr val="tx1"/>
                    </a:solidFill>
                    <a:effectLst/>
                    <a:latin typeface="Segoe WPC"/>
                  </a:rPr>
                  <a:t>Statistical</a:t>
                </a:r>
                <a:r>
                  <a:rPr lang="es-PE" sz="900" b="0" i="0" dirty="0">
                    <a:solidFill>
                      <a:schemeClr val="tx1"/>
                    </a:solidFill>
                    <a:effectLst/>
                    <a:latin typeface="Segoe WPC"/>
                  </a:rPr>
                  <a:t> </a:t>
                </a:r>
                <a:r>
                  <a:rPr lang="es-PE" sz="900" b="0" i="0" dirty="0" err="1">
                    <a:solidFill>
                      <a:schemeClr val="tx1"/>
                    </a:solidFill>
                    <a:effectLst/>
                    <a:latin typeface="Segoe WPC"/>
                  </a:rPr>
                  <a:t>Object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p-</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extreme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observed</a:t>
                </a:r>
                <a:r>
                  <a:rPr lang="es-PE" sz="900" b="0" i="0" dirty="0">
                    <a:solidFill>
                      <a:schemeClr val="tx1"/>
                    </a:solidFill>
                    <a:effectLst/>
                    <a:latin typeface="Segoe WPC"/>
                  </a:rPr>
                  <a:t> </a:t>
                </a:r>
                <a:r>
                  <a:rPr lang="es-PE" sz="900" b="0" i="0" dirty="0" err="1">
                    <a:solidFill>
                      <a:schemeClr val="tx1"/>
                    </a:solidFill>
                    <a:effectLst/>
                    <a:latin typeface="Segoe WPC"/>
                  </a:rPr>
                  <a:t>result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under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Plain</a:t>
                </a:r>
                <a:r>
                  <a:rPr lang="es-PE" sz="900" b="0" i="0" dirty="0">
                    <a:solidFill>
                      <a:schemeClr val="tx1"/>
                    </a:solidFill>
                    <a:effectLst/>
                    <a:latin typeface="Segoe WPC"/>
                  </a:rPr>
                  <a:t>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Smaller</a:t>
                </a:r>
                <a:r>
                  <a:rPr lang="es-PE" sz="900" b="0" i="0" dirty="0">
                    <a:solidFill>
                      <a:schemeClr val="tx1"/>
                    </a:solidFill>
                    <a:effectLst/>
                    <a:latin typeface="Segoe WPC"/>
                  </a:rPr>
                  <a:t> p-</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stronger</a:t>
                </a:r>
                <a:r>
                  <a:rPr lang="es-PE" sz="900" b="0" i="0" dirty="0">
                    <a:solidFill>
                      <a:schemeClr val="tx1"/>
                    </a:solidFill>
                    <a:effectLst/>
                    <a:latin typeface="Segoe WPC"/>
                  </a:rPr>
                  <a:t> </a:t>
                </a:r>
                <a:r>
                  <a:rPr lang="es-PE" sz="900" b="0" i="0" dirty="0" err="1">
                    <a:solidFill>
                      <a:schemeClr val="tx1"/>
                    </a:solidFill>
                    <a:effectLst/>
                    <a:latin typeface="Segoe WPC"/>
                  </a:rPr>
                  <a:t>evidence</a:t>
                </a:r>
                <a:r>
                  <a:rPr lang="es-PE" sz="900" b="0" i="0" dirty="0">
                    <a:solidFill>
                      <a:schemeClr val="tx1"/>
                    </a:solidFill>
                    <a:effectLst/>
                    <a:latin typeface="Segoe WPC"/>
                  </a:rPr>
                  <a:t> </a:t>
                </a:r>
                <a:r>
                  <a:rPr lang="es-PE" sz="900" b="0" i="0" dirty="0" err="1">
                    <a:solidFill>
                      <a:schemeClr val="tx1"/>
                    </a:solidFill>
                    <a:effectLst/>
                    <a:latin typeface="Segoe WPC"/>
                  </a:rPr>
                  <a:t>against</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0" i="0" dirty="0">
                    <a:solidFill>
                      <a:schemeClr val="tx1"/>
                    </a:solidFill>
                    <a:effectLst/>
                    <a:latin typeface="Segoe WPC"/>
                  </a:rPr>
                  <a:t>Visual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tail</a:t>
                </a:r>
                <a:r>
                  <a:rPr lang="es-PE" sz="900" b="0" i="0" dirty="0">
                    <a:solidFill>
                      <a:schemeClr val="tx1"/>
                    </a:solidFill>
                    <a:effectLst/>
                    <a:latin typeface="Segoe WPC"/>
                  </a:rPr>
                  <a:t> </a:t>
                </a:r>
                <a:r>
                  <a:rPr lang="es-PE" sz="900" b="0" i="0" dirty="0" err="1">
                    <a:solidFill>
                      <a:schemeClr val="tx1"/>
                    </a:solidFill>
                    <a:effectLst/>
                    <a:latin typeface="Segoe WPC"/>
                  </a:rPr>
                  <a:t>area</a:t>
                </a:r>
                <a:r>
                  <a:rPr lang="es-PE" sz="900" b="0" i="0" dirty="0">
                    <a:solidFill>
                      <a:schemeClr val="tx1"/>
                    </a:solidFill>
                    <a:effectLst/>
                    <a:latin typeface="Segoe WPC"/>
                  </a:rPr>
                  <a:t> </a:t>
                </a:r>
                <a:r>
                  <a:rPr lang="es-PE" sz="900" b="0" i="0" dirty="0" err="1">
                    <a:solidFill>
                      <a:schemeClr val="tx1"/>
                    </a:solidFill>
                    <a:effectLst/>
                    <a:latin typeface="Segoe WPC"/>
                  </a:rPr>
                  <a:t>beyond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observed</a:t>
                </a:r>
                <a:r>
                  <a:rPr lang="es-PE" sz="900" b="0" i="0" dirty="0">
                    <a:solidFill>
                      <a:schemeClr val="tx1"/>
                    </a:solidFill>
                    <a:effectLst/>
                    <a:latin typeface="Segoe WPC"/>
                  </a:rPr>
                  <a:t> test </a:t>
                </a:r>
                <a:r>
                  <a:rPr lang="es-PE" sz="900" b="0" i="0" dirty="0" err="1">
                    <a:solidFill>
                      <a:schemeClr val="tx1"/>
                    </a:solidFill>
                    <a:effectLst/>
                    <a:latin typeface="Segoe WPC"/>
                  </a:rPr>
                  <a:t>statistic</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Key Formula: </a:t>
                </a:r>
                <a:r>
                  <a:rPr lang="es-PE" sz="900" b="0" i="0" dirty="0" err="1">
                    <a:solidFill>
                      <a:schemeClr val="tx1"/>
                    </a:solidFill>
                    <a:effectLst/>
                    <a:latin typeface="Segoe WPC"/>
                  </a:rPr>
                  <a:t>Two-sided</a:t>
                </a:r>
                <a:r>
                  <a:rPr lang="es-PE" sz="900" b="0" i="0" dirty="0">
                    <a:solidFill>
                      <a:schemeClr val="tx1"/>
                    </a:solidFill>
                    <a:effectLst/>
                    <a:latin typeface="Segoe WPC"/>
                  </a:rPr>
                  <a:t> p-</a:t>
                </a:r>
                <a:r>
                  <a:rPr lang="es-PE" sz="900" b="0" i="0" dirty="0" err="1">
                    <a:solidFill>
                      <a:schemeClr val="tx1"/>
                    </a:solidFill>
                    <a:effectLst/>
                    <a:latin typeface="Segoe WPC"/>
                  </a:rPr>
                  <a:t>value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𝑝</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2</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𝛷</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𝑇</m:t>
                            </m:r>
                            <m:r>
                              <a:rPr lang="ar-AE" sz="900" i="0">
                                <a:solidFill>
                                  <a:schemeClr val="tx1"/>
                                </a:solidFill>
                                <a:latin typeface="Cambria Math" panose="02040503050406030204" pitchFamily="18" charset="0"/>
                              </a:rPr>
                              <m:t>∣</m:t>
                            </m:r>
                          </m:e>
                        </m:d>
                      </m:e>
                    </m:d>
                  </m:oMath>
                </a14:m>
                <a:br>
                  <a:rPr lang="ar-AE" sz="900" b="0" i="0" dirty="0">
                    <a:solidFill>
                      <a:schemeClr val="tx1"/>
                    </a:solidFill>
                    <a:effectLst/>
                    <a:latin typeface="Segoe WPC"/>
                  </a:rPr>
                </a:br>
                <a:r>
                  <a:rPr lang="es-PE" sz="900" b="0" i="0" dirty="0" err="1">
                    <a:solidFill>
                      <a:schemeClr val="tx1"/>
                    </a:solidFill>
                    <a:effectLst/>
                    <a:latin typeface="Segoe WPC"/>
                  </a:rPr>
                  <a:t>Interpretation</a:t>
                </a:r>
                <a:r>
                  <a:rPr lang="es-PE" sz="900" b="0" i="0" dirty="0">
                    <a:solidFill>
                      <a:schemeClr val="tx1"/>
                    </a:solidFill>
                    <a:effectLst/>
                    <a:latin typeface="Segoe WPC"/>
                  </a:rPr>
                  <a:t>: </a:t>
                </a:r>
                <a:r>
                  <a:rPr lang="es-PE" sz="900" b="0" i="0" dirty="0" err="1">
                    <a:solidFill>
                      <a:schemeClr val="tx1"/>
                    </a:solidFill>
                    <a:effectLst/>
                    <a:latin typeface="Segoe WPC"/>
                  </a:rPr>
                  <a:t>Reject</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𝑝</m:t>
                    </m:r>
                    <m:r>
                      <a:rPr lang="es-PE" sz="900" i="0">
                        <a:solidFill>
                          <a:schemeClr val="tx1"/>
                        </a:solidFill>
                        <a:latin typeface="Cambria Math" panose="02040503050406030204" pitchFamily="18" charset="0"/>
                      </a:rPr>
                      <m:t>&lt;</m:t>
                    </m:r>
                    <m:r>
                      <a:rPr lang="es-PE" sz="900" i="1">
                        <a:solidFill>
                          <a:schemeClr val="tx1"/>
                        </a:solidFill>
                        <a:latin typeface="Cambria Math" panose="02040503050406030204" pitchFamily="18" charset="0"/>
                      </a:rPr>
                      <m:t>𝛼</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Exam</a:t>
                </a:r>
                <a:r>
                  <a:rPr lang="es-PE" sz="900" b="0" i="0" dirty="0">
                    <a:solidFill>
                      <a:schemeClr val="tx1"/>
                    </a:solidFill>
                    <a:effectLst/>
                    <a:latin typeface="Segoe WPC"/>
                  </a:rPr>
                  <a:t> </a:t>
                </a:r>
                <a:r>
                  <a:rPr lang="es-PE" sz="900" b="0" i="0" dirty="0" err="1">
                    <a:solidFill>
                      <a:schemeClr val="tx1"/>
                    </a:solidFill>
                    <a:effectLst/>
                    <a:latin typeface="Segoe WPC"/>
                  </a:rPr>
                  <a:t>Trap</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p-</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true.</a:t>
                </a:r>
              </a:p>
              <a:p>
                <a:pPr algn="l">
                  <a:spcBef>
                    <a:spcPts val="300"/>
                  </a:spcBef>
                  <a:spcAft>
                    <a:spcPts val="300"/>
                  </a:spcAft>
                  <a:buFont typeface="+mj-lt"/>
                  <a:buAutoNum type="arabicPeriod"/>
                </a:pPr>
                <a:r>
                  <a:rPr lang="es-PE" sz="900" b="1" i="0" dirty="0">
                    <a:solidFill>
                      <a:schemeClr val="tx1"/>
                    </a:solidFill>
                    <a:effectLst/>
                    <a:latin typeface="Segoe WPC"/>
                  </a:rPr>
                  <a:t>Normal vs </a:t>
                </a:r>
                <a:r>
                  <a:rPr lang="es-PE" sz="900" b="1" i="0" dirty="0" err="1">
                    <a:solidFill>
                      <a:schemeClr val="tx1"/>
                    </a:solidFill>
                    <a:effectLst/>
                    <a:latin typeface="Segoe WPC"/>
                  </a:rPr>
                  <a:t>Student's</a:t>
                </a:r>
                <a:r>
                  <a:rPr lang="es-PE" sz="900" b="1" i="0" dirty="0">
                    <a:solidFill>
                      <a:schemeClr val="tx1"/>
                    </a:solidFill>
                    <a:effectLst/>
                    <a:latin typeface="Segoe WPC"/>
                  </a:rPr>
                  <a:t> t</a:t>
                </a:r>
                <a:br>
                  <a:rPr lang="es-PE" sz="900" b="0" i="0" dirty="0">
                    <a:solidFill>
                      <a:schemeClr val="tx1"/>
                    </a:solidFill>
                    <a:effectLst/>
                    <a:latin typeface="Segoe WPC"/>
                  </a:rPr>
                </a:br>
                <a:r>
                  <a:rPr lang="es-PE" sz="900" b="0" i="0" dirty="0" err="1">
                    <a:solidFill>
                      <a:schemeClr val="tx1"/>
                    </a:solidFill>
                    <a:effectLst/>
                    <a:latin typeface="Segoe WPC"/>
                  </a:rPr>
                  <a:t>Statistical</a:t>
                </a:r>
                <a:r>
                  <a:rPr lang="es-PE" sz="900" b="0" i="0" dirty="0">
                    <a:solidFill>
                      <a:schemeClr val="tx1"/>
                    </a:solidFill>
                    <a:effectLst/>
                    <a:latin typeface="Segoe WPC"/>
                  </a:rPr>
                  <a:t> </a:t>
                </a:r>
                <a:r>
                  <a:rPr lang="es-PE" sz="900" b="0" i="0" dirty="0" err="1">
                    <a:solidFill>
                      <a:schemeClr val="tx1"/>
                    </a:solidFill>
                    <a:effectLst/>
                    <a:latin typeface="Segoe WPC"/>
                  </a:rPr>
                  <a:t>Object</a:t>
                </a:r>
                <a:r>
                  <a:rPr lang="es-PE" sz="900" b="0" i="0" dirty="0">
                    <a:solidFill>
                      <a:schemeClr val="tx1"/>
                    </a:solidFill>
                    <a:effectLst/>
                    <a:latin typeface="Segoe WPC"/>
                  </a:rPr>
                  <a:t>: Small-</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tests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use </a:t>
                </a:r>
                <a:r>
                  <a:rPr lang="es-PE" sz="900" b="0" i="0" dirty="0" err="1">
                    <a:solidFill>
                      <a:schemeClr val="tx1"/>
                    </a:solidFill>
                    <a:effectLst/>
                    <a:latin typeface="Segoe WPC"/>
                  </a:rPr>
                  <a:t>Student's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𝑡</m:t>
                    </m:r>
                  </m:oMath>
                </a14:m>
                <a:r>
                  <a:rPr lang="es-PE" sz="900" b="0" i="0" dirty="0">
                    <a:solidFill>
                      <a:schemeClr val="tx1"/>
                    </a:solidFill>
                    <a:effectLst/>
                    <a:latin typeface="Segoe WPC"/>
                  </a:rPr>
                  <a:t> </a:t>
                </a:r>
                <a:r>
                  <a:rPr lang="es-PE" sz="900" b="0" i="0" dirty="0" err="1">
                    <a:solidFill>
                      <a:schemeClr val="tx1"/>
                    </a:solidFill>
                    <a:effectLst/>
                    <a:latin typeface="Segoe WPC"/>
                  </a:rPr>
                  <a:t>instead</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normal </a:t>
                </a:r>
                <a:r>
                  <a:rPr lang="es-PE" sz="900" b="0" i="0" dirty="0" err="1">
                    <a:solidFill>
                      <a:schemeClr val="tx1"/>
                    </a:solidFill>
                    <a:effectLst/>
                    <a:latin typeface="Segoe WPC"/>
                  </a:rPr>
                  <a:t>distribution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Plain</a:t>
                </a:r>
                <a:r>
                  <a:rPr lang="es-PE" sz="900" b="0" i="0" dirty="0">
                    <a:solidFill>
                      <a:schemeClr val="tx1"/>
                    </a:solidFill>
                    <a:effectLst/>
                    <a:latin typeface="Segoe WPC"/>
                  </a:rPr>
                  <a:t>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small</a:t>
                </a:r>
                <a:r>
                  <a:rPr lang="es-PE" sz="900" b="0" i="0" dirty="0">
                    <a:solidFill>
                      <a:schemeClr val="tx1"/>
                    </a:solidFill>
                    <a:effectLst/>
                    <a:latin typeface="Segoe WPC"/>
                  </a:rPr>
                  <a:t>, </a:t>
                </a:r>
                <a:r>
                  <a:rPr lang="es-PE" sz="900" b="0" i="0" dirty="0" err="1">
                    <a:solidFill>
                      <a:schemeClr val="tx1"/>
                    </a:solidFill>
                    <a:effectLst/>
                    <a:latin typeface="Segoe WPC"/>
                  </a:rPr>
                  <a:t>there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more </a:t>
                </a:r>
                <a:r>
                  <a:rPr lang="es-PE" sz="900" b="0" i="0" dirty="0" err="1">
                    <a:solidFill>
                      <a:schemeClr val="tx1"/>
                    </a:solidFill>
                    <a:effectLst/>
                    <a:latin typeface="Segoe WPC"/>
                  </a:rPr>
                  <a:t>uncertainty</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estimating</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Visual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𝑡</m:t>
                    </m:r>
                  </m:oMath>
                </a14:m>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 has </a:t>
                </a:r>
                <a:r>
                  <a:rPr lang="es-PE" sz="900" b="0" i="0" dirty="0" err="1">
                    <a:solidFill>
                      <a:schemeClr val="tx1"/>
                    </a:solidFill>
                    <a:effectLst/>
                    <a:latin typeface="Segoe WPC"/>
                  </a:rPr>
                  <a:t>fatter</a:t>
                </a:r>
                <a:r>
                  <a:rPr lang="es-PE" sz="900" b="0" i="0" dirty="0">
                    <a:solidFill>
                      <a:schemeClr val="tx1"/>
                    </a:solidFill>
                    <a:effectLst/>
                    <a:latin typeface="Segoe WPC"/>
                  </a:rPr>
                  <a:t> </a:t>
                </a:r>
                <a:r>
                  <a:rPr lang="es-PE" sz="900" b="0" i="0" dirty="0" err="1">
                    <a:solidFill>
                      <a:schemeClr val="tx1"/>
                    </a:solidFill>
                    <a:effectLst/>
                    <a:latin typeface="Segoe WPC"/>
                  </a:rPr>
                  <a:t>tails</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normal.</a:t>
                </a:r>
                <a:br>
                  <a:rPr lang="es-PE" sz="900" b="0" i="0" dirty="0">
                    <a:solidFill>
                      <a:schemeClr val="tx1"/>
                    </a:solidFill>
                    <a:effectLst/>
                    <a:latin typeface="Segoe WPC"/>
                  </a:rPr>
                </a:br>
                <a:r>
                  <a:rPr lang="es-PE" sz="900" b="0" i="0" dirty="0">
                    <a:solidFill>
                      <a:schemeClr val="tx1"/>
                    </a:solidFill>
                    <a:effectLst/>
                    <a:latin typeface="Segoe WPC"/>
                  </a:rPr>
                  <a:t>Key Formula: </a:t>
                </a:r>
                <a14:m>
                  <m:oMath xmlns:m="http://schemas.openxmlformats.org/officeDocument/2006/math">
                    <m:r>
                      <a:rPr lang="es-PE" sz="900" i="1">
                        <a:solidFill>
                          <a:schemeClr val="tx1"/>
                        </a:solidFill>
                        <a:latin typeface="Cambria Math" panose="02040503050406030204" pitchFamily="18" charset="0"/>
                      </a:rPr>
                      <m:t>𝑇</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0">
                                <a:solidFill>
                                  <a:schemeClr val="tx1"/>
                                </a:solidFill>
                                <a:latin typeface="Cambria Math" panose="02040503050406030204" pitchFamily="18" charset="0"/>
                              </a:rPr>
                              <m:t>0</m:t>
                            </m:r>
                          </m:sub>
                        </m:sSub>
                      </m:num>
                      <m:den>
                        <m:r>
                          <a:rPr lang="ar-AE" sz="900" i="1">
                            <a:solidFill>
                              <a:schemeClr val="tx1"/>
                            </a:solidFill>
                            <a:latin typeface="Cambria Math" panose="02040503050406030204" pitchFamily="18" charset="0"/>
                          </a:rPr>
                          <m:t>𝑠</m:t>
                        </m:r>
                        <m:r>
                          <a:rPr lang="ar-AE" sz="900" i="0">
                            <a:solidFill>
                              <a:schemeClr val="tx1"/>
                            </a:solidFill>
                            <a:latin typeface="Cambria Math" panose="02040503050406030204" pitchFamily="18" charset="0"/>
                          </a:rPr>
                          <m:t>/</m:t>
                        </m:r>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𝑛</m:t>
                            </m:r>
                          </m:e>
                        </m:rad>
                      </m:den>
                    </m:f>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𝑡</m:t>
                        </m:r>
                      </m:e>
                      <m:sub>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oMath>
                </a14:m>
                <a:br>
                  <a:rPr lang="ar-AE" sz="900" b="0" i="0" dirty="0">
                    <a:solidFill>
                      <a:schemeClr val="tx1"/>
                    </a:solidFill>
                    <a:effectLst/>
                    <a:latin typeface="Segoe WPC"/>
                  </a:rPr>
                </a:br>
                <a:r>
                  <a:rPr lang="es-PE" sz="900" b="0" i="0" dirty="0" err="1">
                    <a:solidFill>
                      <a:schemeClr val="tx1"/>
                    </a:solidFill>
                    <a:effectLst/>
                    <a:latin typeface="Segoe WPC"/>
                  </a:rPr>
                  <a:t>Interpretation</a:t>
                </a:r>
                <a:r>
                  <a:rPr lang="es-PE" sz="900" b="0" i="0" dirty="0">
                    <a:solidFill>
                      <a:schemeClr val="tx1"/>
                    </a:solidFill>
                    <a:effectLst/>
                    <a:latin typeface="Segoe WPC"/>
                  </a:rPr>
                  <a:t>: Use </a:t>
                </a:r>
                <a14:m>
                  <m:oMath xmlns:m="http://schemas.openxmlformats.org/officeDocument/2006/math">
                    <m:r>
                      <a:rPr lang="es-PE" sz="900" i="1">
                        <a:solidFill>
                          <a:schemeClr val="tx1"/>
                        </a:solidFill>
                        <a:latin typeface="Cambria Math" panose="02040503050406030204" pitchFamily="18" charset="0"/>
                      </a:rPr>
                      <m:t>𝑡</m:t>
                    </m:r>
                  </m:oMath>
                </a14:m>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small</a:t>
                </a:r>
                <a:r>
                  <a:rPr lang="es-PE" sz="900" b="0" i="0" dirty="0">
                    <a:solidFill>
                      <a:schemeClr val="tx1"/>
                    </a:solidFill>
                    <a:effectLst/>
                    <a:latin typeface="Segoe WPC"/>
                  </a:rPr>
                  <a:t> </a:t>
                </a:r>
                <a:r>
                  <a:rPr lang="es-PE" sz="900" b="0" i="0" dirty="0" err="1">
                    <a:solidFill>
                      <a:schemeClr val="tx1"/>
                    </a:solidFill>
                    <a:effectLst/>
                    <a:latin typeface="Segoe WPC"/>
                  </a:rPr>
                  <a:t>samples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samples</a:t>
                </a:r>
                <a:r>
                  <a:rPr lang="es-PE" sz="900" b="0" i="0" dirty="0">
                    <a:solidFill>
                      <a:schemeClr val="tx1"/>
                    </a:solidFill>
                    <a:effectLst/>
                    <a:latin typeface="Segoe WPC"/>
                  </a:rPr>
                  <a:t>, normal and </a:t>
                </a:r>
                <a14:m>
                  <m:oMath xmlns:m="http://schemas.openxmlformats.org/officeDocument/2006/math">
                    <m:r>
                      <a:rPr lang="es-PE" sz="900" i="1">
                        <a:solidFill>
                          <a:schemeClr val="tx1"/>
                        </a:solidFill>
                        <a:latin typeface="Cambria Math" panose="02040503050406030204" pitchFamily="18" charset="0"/>
                      </a:rPr>
                      <m:t>𝑡</m:t>
                    </m:r>
                  </m:oMath>
                </a14:m>
                <a:r>
                  <a:rPr lang="es-PE" sz="900" b="0" i="0" dirty="0">
                    <a:solidFill>
                      <a:schemeClr val="tx1"/>
                    </a:solidFill>
                    <a:effectLst/>
                    <a:latin typeface="Segoe WPC"/>
                  </a:rPr>
                  <a:t> are </a:t>
                </a:r>
                <a:r>
                  <a:rPr lang="es-PE" sz="900" b="0" i="0" dirty="0" err="1">
                    <a:solidFill>
                      <a:schemeClr val="tx1"/>
                    </a:solidFill>
                    <a:effectLst/>
                    <a:latin typeface="Segoe WPC"/>
                  </a:rPr>
                  <a:t>very</a:t>
                </a:r>
                <a:r>
                  <a:rPr lang="es-PE" sz="900" b="0" i="0" dirty="0">
                    <a:solidFill>
                      <a:schemeClr val="tx1"/>
                    </a:solidFill>
                    <a:effectLst/>
                    <a:latin typeface="Segoe WPC"/>
                  </a:rPr>
                  <a:t> similar.</a:t>
                </a:r>
                <a:br>
                  <a:rPr lang="es-PE" sz="900" b="0" i="0" dirty="0">
                    <a:solidFill>
                      <a:schemeClr val="tx1"/>
                    </a:solidFill>
                    <a:effectLst/>
                    <a:latin typeface="Segoe WPC"/>
                  </a:rPr>
                </a:br>
                <a:r>
                  <a:rPr lang="es-PE" sz="900" b="0" i="0" dirty="0" err="1">
                    <a:solidFill>
                      <a:schemeClr val="tx1"/>
                    </a:solidFill>
                    <a:effectLst/>
                    <a:latin typeface="Segoe WPC"/>
                  </a:rPr>
                  <a:t>Exam</a:t>
                </a:r>
                <a:r>
                  <a:rPr lang="es-PE" sz="900" b="0" i="0" dirty="0">
                    <a:solidFill>
                      <a:schemeClr val="tx1"/>
                    </a:solidFill>
                    <a:effectLst/>
                    <a:latin typeface="Segoe WPC"/>
                  </a:rPr>
                  <a:t> </a:t>
                </a:r>
                <a:r>
                  <a:rPr lang="es-PE" sz="900" b="0" i="0" dirty="0" err="1">
                    <a:solidFill>
                      <a:schemeClr val="tx1"/>
                    </a:solidFill>
                    <a:effectLst/>
                    <a:latin typeface="Segoe WPC"/>
                  </a:rPr>
                  <a:t>Trap</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𝑡</m:t>
                    </m:r>
                  </m:oMath>
                </a14:m>
                <a:r>
                  <a:rPr lang="es-PE" sz="900" b="0" i="0" dirty="0">
                    <a:solidFill>
                      <a:schemeClr val="tx1"/>
                    </a:solidFill>
                    <a:effectLst/>
                    <a:latin typeface="Segoe WPC"/>
                  </a:rPr>
                  <a:t> </a:t>
                </a:r>
                <a:r>
                  <a:rPr lang="es-PE" sz="900" b="0" i="0" dirty="0" err="1">
                    <a:solidFill>
                      <a:schemeClr val="tx1"/>
                    </a:solidFill>
                    <a:effectLst/>
                    <a:latin typeface="Segoe WPC"/>
                  </a:rPr>
                  <a:t>critical</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larger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normal </a:t>
                </a:r>
                <a:r>
                  <a:rPr lang="es-PE" sz="900" b="0" i="0" dirty="0" err="1">
                    <a:solidFill>
                      <a:schemeClr val="tx1"/>
                    </a:solidFill>
                    <a:effectLst/>
                    <a:latin typeface="Segoe WPC"/>
                  </a:rPr>
                  <a:t>critical</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a:t>
                </a:r>
              </a:p>
              <a:p>
                <a:pPr algn="l">
                  <a:spcBef>
                    <a:spcPts val="300"/>
                  </a:spcBef>
                  <a:spcAft>
                    <a:spcPts val="300"/>
                  </a:spcAft>
                  <a:buFont typeface="+mj-lt"/>
                  <a:buAutoNum type="arabicPeriod"/>
                </a:pPr>
                <a:r>
                  <a:rPr lang="es-PE" sz="900" b="1" i="0" dirty="0" err="1">
                    <a:solidFill>
                      <a:schemeClr val="tx1"/>
                    </a:solidFill>
                    <a:effectLst/>
                    <a:latin typeface="Segoe WPC"/>
                  </a:rPr>
                  <a:t>Testing</a:t>
                </a:r>
                <a:r>
                  <a:rPr lang="es-PE" sz="900" b="1" i="0" dirty="0">
                    <a:solidFill>
                      <a:schemeClr val="tx1"/>
                    </a:solidFill>
                    <a:effectLst/>
                    <a:latin typeface="Segoe WPC"/>
                  </a:rPr>
                  <a:t> </a:t>
                </a:r>
                <a:r>
                  <a:rPr lang="es-PE" sz="900" b="1" i="0" dirty="0" err="1">
                    <a:solidFill>
                      <a:schemeClr val="tx1"/>
                    </a:solidFill>
                    <a:effectLst/>
                    <a:latin typeface="Segoe WPC"/>
                  </a:rPr>
                  <a:t>Equality</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a:t>
                </a:r>
                <a:r>
                  <a:rPr lang="es-PE" sz="900" b="1" i="0" dirty="0" err="1">
                    <a:solidFill>
                      <a:schemeClr val="tx1"/>
                    </a:solidFill>
                    <a:effectLst/>
                    <a:latin typeface="Segoe WPC"/>
                  </a:rPr>
                  <a:t>Two</a:t>
                </a:r>
                <a:r>
                  <a:rPr lang="es-PE" sz="900" b="1" i="0" dirty="0">
                    <a:solidFill>
                      <a:schemeClr val="tx1"/>
                    </a:solidFill>
                    <a:effectLst/>
                    <a:latin typeface="Segoe WPC"/>
                  </a:rPr>
                  <a:t> </a:t>
                </a:r>
                <a:r>
                  <a:rPr lang="es-PE" sz="900" b="1" i="0" dirty="0" err="1">
                    <a:solidFill>
                      <a:schemeClr val="tx1"/>
                    </a:solidFill>
                    <a:effectLst/>
                    <a:latin typeface="Segoe WPC"/>
                  </a:rPr>
                  <a:t>Means</a:t>
                </a:r>
                <a:br>
                  <a:rPr lang="es-PE" sz="900" b="0" i="0" dirty="0">
                    <a:solidFill>
                      <a:schemeClr val="tx1"/>
                    </a:solidFill>
                    <a:effectLst/>
                    <a:latin typeface="Segoe WPC"/>
                  </a:rPr>
                </a:br>
                <a:r>
                  <a:rPr lang="es-PE" sz="900" b="0" i="0" dirty="0" err="1">
                    <a:solidFill>
                      <a:schemeClr val="tx1"/>
                    </a:solidFill>
                    <a:effectLst/>
                    <a:latin typeface="Segoe WPC"/>
                  </a:rPr>
                  <a:t>Statistical</a:t>
                </a:r>
                <a:r>
                  <a:rPr lang="es-PE" sz="900" b="0" i="0" dirty="0">
                    <a:solidFill>
                      <a:schemeClr val="tx1"/>
                    </a:solidFill>
                    <a:effectLst/>
                    <a:latin typeface="Segoe WPC"/>
                  </a:rPr>
                  <a:t> </a:t>
                </a:r>
                <a:r>
                  <a:rPr lang="es-PE" sz="900" b="0" i="0" dirty="0" err="1">
                    <a:solidFill>
                      <a:schemeClr val="tx1"/>
                    </a:solidFill>
                    <a:effectLst/>
                    <a:latin typeface="Segoe WPC"/>
                  </a:rPr>
                  <a:t>Object</a:t>
                </a:r>
                <a:r>
                  <a:rPr lang="es-PE" sz="900" b="0" i="0" dirty="0">
                    <a:solidFill>
                      <a:schemeClr val="tx1"/>
                    </a:solidFill>
                    <a:effectLst/>
                    <a:latin typeface="Segoe WPC"/>
                  </a:rPr>
                  <a:t>: </a:t>
                </a:r>
                <a:r>
                  <a:rPr lang="es-PE" sz="900" b="0" i="0" dirty="0" err="1">
                    <a:solidFill>
                      <a:schemeClr val="tx1"/>
                    </a:solidFill>
                    <a:effectLst/>
                    <a:latin typeface="Segoe WPC"/>
                  </a:rPr>
                  <a:t>Testing</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population</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are </a:t>
                </a:r>
                <a:r>
                  <a:rPr lang="es-PE" sz="900" b="0" i="0" dirty="0" err="1">
                    <a:solidFill>
                      <a:schemeClr val="tx1"/>
                    </a:solidFill>
                    <a:effectLst/>
                    <a:latin typeface="Segoe WPC"/>
                  </a:rPr>
                  <a:t>equal</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Plain</a:t>
                </a:r>
                <a:r>
                  <a:rPr lang="es-PE" sz="900" b="0" i="0" dirty="0">
                    <a:solidFill>
                      <a:schemeClr val="tx1"/>
                    </a:solidFill>
                    <a:effectLst/>
                    <a:latin typeface="Segoe WPC"/>
                  </a:rPr>
                  <a:t> </a:t>
                </a:r>
                <a:r>
                  <a:rPr lang="es-PE" sz="900" b="0" i="0" dirty="0" err="1">
                    <a:solidFill>
                      <a:schemeClr val="tx1"/>
                    </a:solidFill>
                    <a:effectLst/>
                    <a:latin typeface="Segoe WPC"/>
                  </a:rPr>
                  <a:t>Intuition</a:t>
                </a:r>
                <a:r>
                  <a:rPr lang="es-PE" sz="900" b="0" i="0" dirty="0">
                    <a:solidFill>
                      <a:schemeClr val="tx1"/>
                    </a:solidFill>
                    <a:effectLst/>
                    <a:latin typeface="Segoe WPC"/>
                  </a:rPr>
                  <a:t>: Test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difference</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Visual </a:t>
                </a:r>
                <a:r>
                  <a:rPr lang="es-PE" sz="900" b="0" i="0" dirty="0" err="1">
                    <a:solidFill>
                      <a:schemeClr val="tx1"/>
                    </a:solidFill>
                    <a:effectLst/>
                    <a:latin typeface="Segoe WPC"/>
                  </a:rPr>
                  <a:t>Intuition</a:t>
                </a:r>
                <a:r>
                  <a:rPr lang="es-PE" sz="900" b="0" i="0" dirty="0">
                    <a:solidFill>
                      <a:schemeClr val="tx1"/>
                    </a:solidFill>
                    <a:effectLst/>
                    <a:latin typeface="Segoe WPC"/>
                  </a:rPr>
                  <a:t>: Compare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averages</a:t>
                </a:r>
                <a:r>
                  <a:rPr lang="es-PE" sz="900" b="0" i="0" dirty="0">
                    <a:solidFill>
                      <a:schemeClr val="tx1"/>
                    </a:solidFill>
                    <a:effectLst/>
                    <a:latin typeface="Segoe WPC"/>
                  </a:rPr>
                  <a:t> relative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variability</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their</a:t>
                </a:r>
                <a:r>
                  <a:rPr lang="es-PE" sz="900" b="0" i="0" dirty="0">
                    <a:solidFill>
                      <a:schemeClr val="tx1"/>
                    </a:solidFill>
                    <a:effectLst/>
                    <a:latin typeface="Segoe WPC"/>
                  </a:rPr>
                  <a:t> </a:t>
                </a:r>
                <a:r>
                  <a:rPr lang="es-PE" sz="900" b="0" i="0" dirty="0" err="1">
                    <a:solidFill>
                      <a:schemeClr val="tx1"/>
                    </a:solidFill>
                    <a:effectLst/>
                    <a:latin typeface="Segoe WPC"/>
                  </a:rPr>
                  <a:t>difference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a:solidFill>
                      <a:schemeClr val="tx1"/>
                    </a:solidFill>
                    <a:effectLst/>
                    <a:latin typeface="Segoe WPC"/>
                  </a:rPr>
                  <a:t>Key Formula: </a:t>
                </a:r>
                <a:r>
                  <a:rPr lang="es-PE" sz="900" b="0" i="0" dirty="0" err="1">
                    <a:solidFill>
                      <a:schemeClr val="tx1"/>
                    </a:solidFill>
                    <a:effectLst/>
                    <a:latin typeface="Segoe WPC"/>
                  </a:rPr>
                  <a:t>Paired</a:t>
                </a:r>
                <a:r>
                  <a:rPr lang="es-PE" sz="900" b="0" i="0" dirty="0">
                    <a:solidFill>
                      <a:schemeClr val="tx1"/>
                    </a:solidFill>
                    <a:effectLst/>
                    <a:latin typeface="Segoe WPC"/>
                  </a:rPr>
                  <a:t> case: </a:t>
                </a:r>
                <a14:m>
                  <m:oMath xmlns:m="http://schemas.openxmlformats.org/officeDocument/2006/math">
                    <m:r>
                      <a:rPr lang="es-PE" sz="900" i="1">
                        <a:solidFill>
                          <a:schemeClr val="tx1"/>
                        </a:solidFill>
                        <a:latin typeface="Cambria Math" panose="02040503050406030204" pitchFamily="18" charset="0"/>
                      </a:rPr>
                      <m:t>𝑇</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e>
                          <m:sub>
                            <m:r>
                              <a:rPr lang="ar-AE" sz="900" i="1">
                                <a:solidFill>
                                  <a:schemeClr val="tx1"/>
                                </a:solidFill>
                                <a:latin typeface="Cambria Math" panose="02040503050406030204" pitchFamily="18" charset="0"/>
                              </a:rPr>
                              <m:t>𝑋</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e>
                          <m:sub>
                            <m:r>
                              <a:rPr lang="ar-AE" sz="900" i="1">
                                <a:solidFill>
                                  <a:schemeClr val="tx1"/>
                                </a:solidFill>
                                <a:latin typeface="Cambria Math" panose="02040503050406030204" pitchFamily="18" charset="0"/>
                              </a:rPr>
                              <m:t>𝑌</m:t>
                            </m:r>
                          </m:sub>
                        </m:sSub>
                      </m:num>
                      <m:den>
                        <m:rad>
                          <m:radPr>
                            <m:degHide m:val="on"/>
                            <m:ctrlPr>
                              <a:rPr lang="ar-AE" sz="900" i="1">
                                <a:solidFill>
                                  <a:schemeClr val="tx1"/>
                                </a:solidFill>
                                <a:latin typeface="Cambria Math" panose="02040503050406030204" pitchFamily="18" charset="0"/>
                              </a:rPr>
                            </m:ctrlPr>
                          </m:radPr>
                          <m:deg/>
                          <m:e>
                            <m:d>
                              <m:dPr>
                                <m:ctrlPr>
                                  <a:rPr lang="ar-AE" sz="900" i="1">
                                    <a:solidFill>
                                      <a:schemeClr val="tx1"/>
                                    </a:solidFill>
                                    <a:latin typeface="Cambria Math" panose="02040503050406030204" pitchFamily="18" charset="0"/>
                                  </a:rPr>
                                </m:ctrlPr>
                              </m:dPr>
                              <m:e>
                                <m:sSubSup>
                                  <m:sSubSupPr>
                                    <m:ctrlPr>
                                      <a:rPr lang="ar-AE" sz="900" i="1">
                                        <a:solidFill>
                                          <a:schemeClr val="tx1"/>
                                        </a:solidFill>
                                        <a:latin typeface="Cambria Math" panose="02040503050406030204" pitchFamily="18" charset="0"/>
                                      </a:rPr>
                                    </m:ctrlPr>
                                  </m:sSubSup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e>
                                  <m:sub>
                                    <m:r>
                                      <a:rPr lang="ar-AE" sz="900" i="1">
                                        <a:solidFill>
                                          <a:schemeClr val="tx1"/>
                                        </a:solidFill>
                                        <a:latin typeface="Cambria Math" panose="02040503050406030204" pitchFamily="18" charset="0"/>
                                      </a:rPr>
                                      <m:t>𝑋</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e>
                                  <m:sub>
                                    <m:r>
                                      <a:rPr lang="ar-AE" sz="900" i="1">
                                        <a:solidFill>
                                          <a:schemeClr val="tx1"/>
                                        </a:solidFill>
                                        <a:latin typeface="Cambria Math" panose="02040503050406030204" pitchFamily="18" charset="0"/>
                                      </a:rPr>
                                      <m:t>𝑌</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e>
                                  <m:sub>
                                    <m:r>
                                      <a:rPr lang="ar-AE" sz="900" i="1">
                                        <a:solidFill>
                                          <a:schemeClr val="tx1"/>
                                        </a:solidFill>
                                        <a:latin typeface="Cambria Math" panose="02040503050406030204" pitchFamily="18" charset="0"/>
                                      </a:rPr>
                                      <m:t>𝑋𝑌</m:t>
                                    </m:r>
                                  </m:sub>
                                </m:sSub>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𝑛</m:t>
                            </m:r>
                          </m:e>
                        </m:rad>
                      </m:den>
                    </m:f>
                  </m:oMath>
                </a14:m>
                <a:r>
                  <a:rPr lang="ar-AE" sz="900" b="0" i="0" dirty="0">
                    <a:solidFill>
                      <a:schemeClr val="tx1"/>
                    </a:solidFill>
                    <a:effectLst/>
                    <a:latin typeface="Segoe WPC"/>
                  </a:rPr>
                  <a:t>; </a:t>
                </a:r>
                <a:r>
                  <a:rPr lang="es-PE" sz="900" b="0" i="0" dirty="0" err="1">
                    <a:solidFill>
                      <a:schemeClr val="tx1"/>
                    </a:solidFill>
                    <a:effectLst/>
                    <a:latin typeface="Segoe WPC"/>
                  </a:rPr>
                  <a:t>independent</a:t>
                </a:r>
                <a:r>
                  <a:rPr lang="es-PE" sz="900" b="0" i="0" dirty="0">
                    <a:solidFill>
                      <a:schemeClr val="tx1"/>
                    </a:solidFill>
                    <a:effectLst/>
                    <a:latin typeface="Segoe WPC"/>
                  </a:rPr>
                  <a:t> case: </a:t>
                </a:r>
                <a14:m>
                  <m:oMath xmlns:m="http://schemas.openxmlformats.org/officeDocument/2006/math">
                    <m:r>
                      <a:rPr lang="es-PE" sz="900" i="1">
                        <a:solidFill>
                          <a:schemeClr val="tx1"/>
                        </a:solidFill>
                        <a:latin typeface="Cambria Math" panose="02040503050406030204" pitchFamily="18" charset="0"/>
                      </a:rPr>
                      <m:t>𝑇</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e>
                          <m:sub>
                            <m:r>
                              <a:rPr lang="ar-AE" sz="900" i="1">
                                <a:solidFill>
                                  <a:schemeClr val="tx1"/>
                                </a:solidFill>
                                <a:latin typeface="Cambria Math" panose="02040503050406030204" pitchFamily="18" charset="0"/>
                              </a:rPr>
                              <m:t>𝑋</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e>
                          <m:sub>
                            <m:r>
                              <a:rPr lang="ar-AE" sz="900" i="1">
                                <a:solidFill>
                                  <a:schemeClr val="tx1"/>
                                </a:solidFill>
                                <a:latin typeface="Cambria Math" panose="02040503050406030204" pitchFamily="18" charset="0"/>
                              </a:rPr>
                              <m:t>𝑌</m:t>
                            </m:r>
                          </m:sub>
                        </m:sSub>
                      </m:num>
                      <m:den>
                        <m:rad>
                          <m:radPr>
                            <m:degHide m:val="on"/>
                            <m:ctrlPr>
                              <a:rPr lang="ar-AE" sz="900" i="1">
                                <a:solidFill>
                                  <a:schemeClr val="tx1"/>
                                </a:solidFill>
                                <a:latin typeface="Cambria Math" panose="02040503050406030204" pitchFamily="18" charset="0"/>
                              </a:rPr>
                            </m:ctrlPr>
                          </m:radPr>
                          <m:deg/>
                          <m:e>
                            <m:sSubSup>
                              <m:sSubSupPr>
                                <m:ctrlPr>
                                  <a:rPr lang="ar-AE" sz="900" i="1">
                                    <a:solidFill>
                                      <a:schemeClr val="tx1"/>
                                    </a:solidFill>
                                    <a:latin typeface="Cambria Math" panose="02040503050406030204" pitchFamily="18" charset="0"/>
                                  </a:rPr>
                                </m:ctrlPr>
                              </m:sSubSup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e>
                              <m:sub>
                                <m:r>
                                  <a:rPr lang="ar-AE" sz="900" i="1">
                                    <a:solidFill>
                                      <a:schemeClr val="tx1"/>
                                    </a:solidFill>
                                    <a:latin typeface="Cambria Math" panose="02040503050406030204" pitchFamily="18" charset="0"/>
                                  </a:rPr>
                                  <m:t>𝑋</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𝑛</m:t>
                                </m:r>
                              </m:e>
                              <m:sub>
                                <m:r>
                                  <a:rPr lang="ar-AE" sz="900" i="1">
                                    <a:solidFill>
                                      <a:schemeClr val="tx1"/>
                                    </a:solidFill>
                                    <a:latin typeface="Cambria Math" panose="02040503050406030204" pitchFamily="18" charset="0"/>
                                  </a:rPr>
                                  <m:t>𝑋</m:t>
                                </m:r>
                              </m:sub>
                            </m:sSub>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e>
                              <m:sub>
                                <m:r>
                                  <a:rPr lang="ar-AE" sz="900" i="1">
                                    <a:solidFill>
                                      <a:schemeClr val="tx1"/>
                                    </a:solidFill>
                                    <a:latin typeface="Cambria Math" panose="02040503050406030204" pitchFamily="18" charset="0"/>
                                  </a:rPr>
                                  <m:t>𝑌</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𝑛</m:t>
                                </m:r>
                              </m:e>
                              <m:sub>
                                <m:r>
                                  <a:rPr lang="ar-AE" sz="900" i="1">
                                    <a:solidFill>
                                      <a:schemeClr val="tx1"/>
                                    </a:solidFill>
                                    <a:latin typeface="Cambria Math" panose="02040503050406030204" pitchFamily="18" charset="0"/>
                                  </a:rPr>
                                  <m:t>𝑌</m:t>
                                </m:r>
                              </m:sub>
                            </m:sSub>
                          </m:e>
                        </m:rad>
                      </m:den>
                    </m:f>
                  </m:oMath>
                </a14:m>
                <a:br>
                  <a:rPr lang="ar-AE" sz="900" b="0" i="0" dirty="0">
                    <a:solidFill>
                      <a:schemeClr val="tx1"/>
                    </a:solidFill>
                    <a:effectLst/>
                    <a:latin typeface="Segoe WPC"/>
                  </a:rPr>
                </a:br>
                <a:r>
                  <a:rPr lang="es-PE" sz="900" b="0" i="0" dirty="0" err="1">
                    <a:solidFill>
                      <a:schemeClr val="tx1"/>
                    </a:solidFill>
                    <a:effectLst/>
                    <a:latin typeface="Segoe WPC"/>
                  </a:rPr>
                  <a:t>Interpretation</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matters</a:t>
                </a:r>
                <a:r>
                  <a:rPr lang="es-PE" sz="900" b="0" i="0" dirty="0">
                    <a:solidFill>
                      <a:schemeClr val="tx1"/>
                    </a:solidFill>
                    <a:effectLst/>
                    <a:latin typeface="Segoe WPC"/>
                  </a:rPr>
                  <a:t> in </a:t>
                </a:r>
                <a:r>
                  <a:rPr lang="es-PE" sz="900" b="0" i="0" dirty="0" err="1">
                    <a:solidFill>
                      <a:schemeClr val="tx1"/>
                    </a:solidFill>
                    <a:effectLst/>
                    <a:latin typeface="Segoe WPC"/>
                  </a:rPr>
                  <a:t>paired</a:t>
                </a:r>
                <a:r>
                  <a:rPr lang="es-PE" sz="900" b="0" i="0" dirty="0">
                    <a:solidFill>
                      <a:schemeClr val="tx1"/>
                    </a:solidFill>
                    <a:effectLst/>
                    <a:latin typeface="Segoe WPC"/>
                  </a:rPr>
                  <a:t> </a:t>
                </a:r>
                <a:r>
                  <a:rPr lang="es-PE" sz="900" b="0" i="0" dirty="0" err="1">
                    <a:solidFill>
                      <a:schemeClr val="tx1"/>
                    </a:solidFill>
                    <a:effectLst/>
                    <a:latin typeface="Segoe WPC"/>
                  </a:rPr>
                  <a:t>samples</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Exam</a:t>
                </a:r>
                <a:r>
                  <a:rPr lang="es-PE" sz="900" b="0" i="0" dirty="0">
                    <a:solidFill>
                      <a:schemeClr val="tx1"/>
                    </a:solidFill>
                    <a:effectLst/>
                    <a:latin typeface="Segoe WPC"/>
                  </a:rPr>
                  <a:t> </a:t>
                </a:r>
                <a:r>
                  <a:rPr lang="es-PE" sz="900" b="0" i="0" dirty="0" err="1">
                    <a:solidFill>
                      <a:schemeClr val="tx1"/>
                    </a:solidFill>
                    <a:effectLst/>
                    <a:latin typeface="Segoe WPC"/>
                  </a:rPr>
                  <a:t>Trap</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use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independent-samples</a:t>
                </a:r>
                <a:r>
                  <a:rPr lang="es-PE" sz="900" b="0" i="0" dirty="0">
                    <a:solidFill>
                      <a:schemeClr val="tx1"/>
                    </a:solidFill>
                    <a:effectLst/>
                    <a:latin typeface="Segoe WPC"/>
                  </a:rPr>
                  <a:t> formula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paired</a:t>
                </a:r>
                <a:r>
                  <a:rPr lang="es-PE" sz="900" b="0" i="0" dirty="0">
                    <a:solidFill>
                      <a:schemeClr val="tx1"/>
                    </a:solidFill>
                    <a:effectLst/>
                    <a:latin typeface="Segoe WPC"/>
                  </a:rPr>
                  <a:t> data.</a:t>
                </a:r>
              </a:p>
              <a:p>
                <a:pPr algn="l">
                  <a:spcBef>
                    <a:spcPts val="300"/>
                  </a:spcBef>
                  <a:spcAft>
                    <a:spcPts val="300"/>
                  </a:spcAft>
                  <a:buFont typeface="+mj-lt"/>
                  <a:buAutoNum type="arabicPeriod"/>
                </a:pPr>
                <a:r>
                  <a:rPr lang="es-PE" sz="900" b="1" i="0" dirty="0" err="1">
                    <a:solidFill>
                      <a:schemeClr val="tx1"/>
                    </a:solidFill>
                    <a:effectLst/>
                    <a:latin typeface="Segoe WPC"/>
                  </a:rPr>
                  <a:t>Multiple</a:t>
                </a:r>
                <a:r>
                  <a:rPr lang="es-PE" sz="900" b="1" i="0" dirty="0">
                    <a:solidFill>
                      <a:schemeClr val="tx1"/>
                    </a:solidFill>
                    <a:effectLst/>
                    <a:latin typeface="Segoe WPC"/>
                  </a:rPr>
                  <a:t> </a:t>
                </a:r>
                <a:r>
                  <a:rPr lang="es-PE" sz="900" b="1" i="0" dirty="0" err="1">
                    <a:solidFill>
                      <a:schemeClr val="tx1"/>
                    </a:solidFill>
                    <a:effectLst/>
                    <a:latin typeface="Segoe WPC"/>
                  </a:rPr>
                  <a:t>Testing</a:t>
                </a:r>
                <a:br>
                  <a:rPr lang="es-PE" sz="900" b="0" i="0" dirty="0">
                    <a:solidFill>
                      <a:schemeClr val="tx1"/>
                    </a:solidFill>
                    <a:effectLst/>
                    <a:latin typeface="Segoe WPC"/>
                  </a:rPr>
                </a:br>
                <a:r>
                  <a:rPr lang="es-PE" sz="900" b="0" i="0" dirty="0" err="1">
                    <a:solidFill>
                      <a:schemeClr val="tx1"/>
                    </a:solidFill>
                    <a:effectLst/>
                    <a:latin typeface="Segoe WPC"/>
                  </a:rPr>
                  <a:t>Statistical</a:t>
                </a:r>
                <a:r>
                  <a:rPr lang="es-PE" sz="900" b="0" i="0" dirty="0">
                    <a:solidFill>
                      <a:schemeClr val="tx1"/>
                    </a:solidFill>
                    <a:effectLst/>
                    <a:latin typeface="Segoe WPC"/>
                  </a:rPr>
                  <a:t> </a:t>
                </a:r>
                <a:r>
                  <a:rPr lang="es-PE" sz="900" b="0" i="0" dirty="0" err="1">
                    <a:solidFill>
                      <a:schemeClr val="tx1"/>
                    </a:solidFill>
                    <a:effectLst/>
                    <a:latin typeface="Segoe WPC"/>
                  </a:rPr>
                  <a:t>Object</a:t>
                </a:r>
                <a:r>
                  <a:rPr lang="es-PE" sz="900" b="0" i="0" dirty="0">
                    <a:solidFill>
                      <a:schemeClr val="tx1"/>
                    </a:solidFill>
                    <a:effectLst/>
                    <a:latin typeface="Segoe WPC"/>
                  </a:rPr>
                  <a:t>: </a:t>
                </a:r>
                <a:r>
                  <a:rPr lang="es-PE" sz="900" b="0" i="0" dirty="0" err="1">
                    <a:solidFill>
                      <a:schemeClr val="tx1"/>
                    </a:solidFill>
                    <a:effectLst/>
                    <a:latin typeface="Segoe WPC"/>
                  </a:rPr>
                  <a:t>Repeatedly</a:t>
                </a:r>
                <a:r>
                  <a:rPr lang="es-PE" sz="900" b="0" i="0" dirty="0">
                    <a:solidFill>
                      <a:schemeClr val="tx1"/>
                    </a:solidFill>
                    <a:effectLst/>
                    <a:latin typeface="Segoe WPC"/>
                  </a:rPr>
                  <a:t> </a:t>
                </a:r>
                <a:r>
                  <a:rPr lang="es-PE" sz="900" b="0" i="0" dirty="0" err="1">
                    <a:solidFill>
                      <a:schemeClr val="tx1"/>
                    </a:solidFill>
                    <a:effectLst/>
                    <a:latin typeface="Segoe WPC"/>
                  </a:rPr>
                  <a:t>testing</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hypotheses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dataset</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Plain</a:t>
                </a:r>
                <a:r>
                  <a:rPr lang="es-PE" sz="900" b="0" i="0" dirty="0">
                    <a:solidFill>
                      <a:schemeClr val="tx1"/>
                    </a:solidFill>
                    <a:effectLst/>
                    <a:latin typeface="Segoe WPC"/>
                  </a:rPr>
                  <a:t>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test </a:t>
                </a:r>
                <a:r>
                  <a:rPr lang="es-PE" sz="900" b="0" i="0" dirty="0" err="1">
                    <a:solidFill>
                      <a:schemeClr val="tx1"/>
                    </a:solidFill>
                    <a:effectLst/>
                    <a:latin typeface="Segoe WPC"/>
                  </a:rPr>
                  <a:t>enough</a:t>
                </a:r>
                <a:r>
                  <a:rPr lang="es-PE" sz="900" b="0" i="0" dirty="0">
                    <a:solidFill>
                      <a:schemeClr val="tx1"/>
                    </a:solidFill>
                    <a:effectLst/>
                    <a:latin typeface="Segoe WPC"/>
                  </a:rPr>
                  <a:t> ideas, </a:t>
                </a:r>
                <a:r>
                  <a:rPr lang="es-PE" sz="900" b="0" i="0" dirty="0" err="1">
                    <a:solidFill>
                      <a:schemeClr val="tx1"/>
                    </a:solidFill>
                    <a:effectLst/>
                    <a:latin typeface="Segoe WPC"/>
                  </a:rPr>
                  <a:t>some</a:t>
                </a:r>
                <a:r>
                  <a:rPr lang="es-PE" sz="900" b="0" i="0" dirty="0">
                    <a:solidFill>
                      <a:schemeClr val="tx1"/>
                    </a:solidFill>
                    <a:effectLst/>
                    <a:latin typeface="Segoe WPC"/>
                  </a:rPr>
                  <a:t> </a:t>
                </a:r>
                <a:r>
                  <a:rPr lang="es-PE" sz="900" b="0" i="0" dirty="0" err="1">
                    <a:solidFill>
                      <a:schemeClr val="tx1"/>
                    </a:solidFill>
                    <a:effectLst/>
                    <a:latin typeface="Segoe WPC"/>
                  </a:rPr>
                  <a:t>will</a:t>
                </a:r>
                <a:r>
                  <a:rPr lang="es-PE" sz="900" b="0" i="0" dirty="0">
                    <a:solidFill>
                      <a:schemeClr val="tx1"/>
                    </a:solidFill>
                    <a:effectLst/>
                    <a:latin typeface="Segoe WPC"/>
                  </a:rPr>
                  <a:t> look </a:t>
                </a:r>
                <a:r>
                  <a:rPr lang="es-PE" sz="900" b="0" i="0" dirty="0" err="1">
                    <a:solidFill>
                      <a:schemeClr val="tx1"/>
                    </a:solidFill>
                    <a:effectLst/>
                    <a:latin typeface="Segoe WPC"/>
                  </a:rPr>
                  <a:t>significant</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luck</a:t>
                </a:r>
                <a:r>
                  <a:rPr lang="es-PE" sz="900" b="0" i="0" dirty="0">
                    <a:solidFill>
                      <a:schemeClr val="tx1"/>
                    </a:solidFill>
                    <a:effectLst/>
                    <a:latin typeface="Segoe WPC"/>
                  </a:rPr>
                  <a:t> alone.</a:t>
                </a:r>
                <a:br>
                  <a:rPr lang="es-PE" sz="900" b="0" i="0" dirty="0">
                    <a:solidFill>
                      <a:schemeClr val="tx1"/>
                    </a:solidFill>
                    <a:effectLst/>
                    <a:latin typeface="Segoe WPC"/>
                  </a:rPr>
                </a:br>
                <a:r>
                  <a:rPr lang="es-PE" sz="900" b="0" i="0" dirty="0">
                    <a:solidFill>
                      <a:schemeClr val="tx1"/>
                    </a:solidFill>
                    <a:effectLst/>
                    <a:latin typeface="Segoe WPC"/>
                  </a:rPr>
                  <a:t>Visual </a:t>
                </a:r>
                <a:r>
                  <a:rPr lang="es-PE" sz="900" b="0" i="0" dirty="0" err="1">
                    <a:solidFill>
                      <a:schemeClr val="tx1"/>
                    </a:solidFill>
                    <a:effectLst/>
                    <a:latin typeface="Segoe WPC"/>
                  </a:rPr>
                  <a:t>Intuition</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extra test </a:t>
                </a:r>
                <a:r>
                  <a:rPr lang="es-PE" sz="900" b="0" i="0" dirty="0" err="1">
                    <a:solidFill>
                      <a:schemeClr val="tx1"/>
                    </a:solidFill>
                    <a:effectLst/>
                    <a:latin typeface="Segoe WPC"/>
                  </a:rPr>
                  <a:t>creates</a:t>
                </a:r>
                <a:r>
                  <a:rPr lang="es-PE" sz="900" b="0" i="0" dirty="0">
                    <a:solidFill>
                      <a:schemeClr val="tx1"/>
                    </a:solidFill>
                    <a:effectLst/>
                    <a:latin typeface="Segoe WPC"/>
                  </a:rPr>
                  <a:t> </a:t>
                </a:r>
                <a:r>
                  <a:rPr lang="es-PE" sz="900" b="0" i="0" dirty="0" err="1">
                    <a:solidFill>
                      <a:schemeClr val="tx1"/>
                    </a:solidFill>
                    <a:effectLst/>
                    <a:latin typeface="Segoe WPC"/>
                  </a:rPr>
                  <a:t>another</a:t>
                </a:r>
                <a:r>
                  <a:rPr lang="es-PE" sz="900" b="0" i="0" dirty="0">
                    <a:solidFill>
                      <a:schemeClr val="tx1"/>
                    </a:solidFill>
                    <a:effectLst/>
                    <a:latin typeface="Segoe WPC"/>
                  </a:rPr>
                  <a:t> chance </a:t>
                </a:r>
                <a:r>
                  <a:rPr lang="es-PE" sz="900" b="0" i="0" dirty="0" err="1">
                    <a:solidFill>
                      <a:schemeClr val="tx1"/>
                    </a:solidFill>
                    <a:effectLst/>
                    <a:latin typeface="Segoe WPC"/>
                  </a:rPr>
                  <a:t>of</a:t>
                </a:r>
                <a:r>
                  <a:rPr lang="es-PE" sz="900" b="0" i="0" dirty="0">
                    <a:solidFill>
                      <a:schemeClr val="tx1"/>
                    </a:solidFill>
                    <a:effectLst/>
                    <a:latin typeface="Segoe WPC"/>
                  </a:rPr>
                  <a:t> a false positive.</a:t>
                </a:r>
                <a:br>
                  <a:rPr lang="es-PE" sz="900" b="0" i="0" dirty="0">
                    <a:solidFill>
                      <a:schemeClr val="tx1"/>
                    </a:solidFill>
                    <a:effectLst/>
                    <a:latin typeface="Segoe WPC"/>
                  </a:rPr>
                </a:br>
                <a:r>
                  <a:rPr lang="es-PE" sz="900" b="0" i="0" dirty="0">
                    <a:solidFill>
                      <a:schemeClr val="tx1"/>
                    </a:solidFill>
                    <a:effectLst/>
                    <a:latin typeface="Segoe WPC"/>
                  </a:rPr>
                  <a:t>Key Formula: </a:t>
                </a:r>
                <a14:m>
                  <m:oMath xmlns:m="http://schemas.openxmlformats.org/officeDocument/2006/math">
                    <m:r>
                      <a:rPr lang="es-PE" sz="900" i="1">
                        <a:solidFill>
                          <a:schemeClr val="tx1"/>
                        </a:solidFill>
                        <a:latin typeface="Cambria Math" panose="02040503050406030204" pitchFamily="18" charset="0"/>
                      </a:rPr>
                      <m:t>𝑃</m:t>
                    </m:r>
                    <m:d>
                      <m:dPr>
                        <m:ctrlPr>
                          <a:rPr lang="ar-AE" sz="900" i="1">
                            <a:solidFill>
                              <a:schemeClr val="tx1"/>
                            </a:solidFill>
                            <a:latin typeface="Cambria Math" panose="02040503050406030204" pitchFamily="18" charset="0"/>
                          </a:rPr>
                        </m:ctrlPr>
                      </m:dPr>
                      <m:e>
                        <m:r>
                          <m:rPr>
                            <m:nor/>
                          </m:rPr>
                          <a:rPr lang="es-PE" sz="900" b="0" i="1">
                            <a:solidFill>
                              <a:schemeClr val="tx1"/>
                            </a:solidFill>
                            <a:latin typeface="Cambria Math" panose="02040503050406030204" pitchFamily="18" charset="0"/>
                          </a:rPr>
                          <m:t>at</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least</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one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false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rejection</m:t>
                        </m:r>
                      </m:e>
                    </m:d>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1</m:t>
                    </m:r>
                    <m:r>
                      <a:rPr lang="ar-AE" sz="900" b="0" i="0">
                        <a:solidFill>
                          <a:schemeClr val="tx1"/>
                        </a:solidFill>
                        <a:latin typeface="Cambria Math" panose="02040503050406030204" pitchFamily="18" charset="0"/>
                      </a:rPr>
                      <m:t>−</m:t>
                    </m:r>
                    <m:d>
                      <m:dPr>
                        <m:endChr m:val=""/>
                        <m:ctrlPr>
                          <a:rPr lang="ar-AE" sz="900" b="0" i="1">
                            <a:solidFill>
                              <a:schemeClr val="tx1"/>
                            </a:solidFill>
                            <a:latin typeface="Cambria Math" panose="02040503050406030204" pitchFamily="18" charset="0"/>
                          </a:rPr>
                        </m:ctrlPr>
                      </m:dPr>
                      <m:e>
                        <m:r>
                          <a:rPr lang="ar-AE" sz="900" b="0" i="0">
                            <a:solidFill>
                              <a:schemeClr val="tx1"/>
                            </a:solidFill>
                            <a:latin typeface="Cambria Math" panose="02040503050406030204" pitchFamily="18" charset="0"/>
                          </a:rPr>
                          <m:t>1</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𝛼</m:t>
                        </m:r>
                        <m:sSup>
                          <m:sSupPr>
                            <m:ctrlPr>
                              <a:rPr lang="ar-AE" sz="900" b="0" i="1">
                                <a:solidFill>
                                  <a:schemeClr val="tx1"/>
                                </a:solidFill>
                                <a:latin typeface="Cambria Math" panose="02040503050406030204" pitchFamily="18" charset="0"/>
                              </a:rPr>
                            </m:ctrlPr>
                          </m:sSupPr>
                          <m:e>
                            <m:d>
                              <m:dPr>
                                <m:begChr m:val=""/>
                                <m:endChr m:val=""/>
                                <m:ctrlPr>
                                  <a:rPr lang="ar-AE" sz="900" b="0" i="1">
                                    <a:solidFill>
                                      <a:schemeClr val="tx1"/>
                                    </a:solidFill>
                                    <a:latin typeface="Cambria Math" panose="02040503050406030204" pitchFamily="18" charset="0"/>
                                  </a:rPr>
                                </m:ctrlPr>
                              </m:dPr>
                              <m:e>
                                <m:r>
                                  <a:rPr lang="ar-AE" sz="900" b="0" i="0">
                                    <a:solidFill>
                                      <a:schemeClr val="tx1"/>
                                    </a:solidFill>
                                    <a:latin typeface="Cambria Math" panose="02040503050406030204" pitchFamily="18" charset="0"/>
                                  </a:rPr>
                                  <m:t>)</m:t>
                                </m:r>
                              </m:e>
                            </m:d>
                          </m:e>
                          <m:sup>
                            <m:r>
                              <a:rPr lang="ar-AE" sz="900" b="0" i="1">
                                <a:solidFill>
                                  <a:schemeClr val="tx1"/>
                                </a:solidFill>
                                <a:latin typeface="Cambria Math" panose="02040503050406030204" pitchFamily="18" charset="0"/>
                              </a:rPr>
                              <m:t>𝑚</m:t>
                            </m:r>
                          </m:sup>
                        </m:sSup>
                      </m:e>
                    </m:d>
                  </m:oMath>
                </a14:m>
                <a:br>
                  <a:rPr lang="ar-AE" sz="900" b="0" i="0" dirty="0">
                    <a:solidFill>
                      <a:schemeClr val="tx1"/>
                    </a:solidFill>
                    <a:effectLst/>
                    <a:latin typeface="Segoe WPC"/>
                  </a:rPr>
                </a:br>
                <a:r>
                  <a:rPr lang="es-PE" sz="900" b="0" i="0" dirty="0" err="1">
                    <a:solidFill>
                      <a:schemeClr val="tx1"/>
                    </a:solidFill>
                    <a:effectLst/>
                    <a:latin typeface="Segoe WPC"/>
                  </a:rPr>
                  <a:t>Interpretation</a:t>
                </a:r>
                <a:r>
                  <a:rPr lang="es-PE" sz="900" b="0" i="0" dirty="0">
                    <a:solidFill>
                      <a:schemeClr val="tx1"/>
                    </a:solidFill>
                    <a:effectLst/>
                    <a:latin typeface="Segoe WPC"/>
                  </a:rPr>
                  <a:t>: </a:t>
                </a:r>
                <a:r>
                  <a:rPr lang="es-PE" sz="900" b="0" i="0" dirty="0" err="1">
                    <a:solidFill>
                      <a:schemeClr val="tx1"/>
                    </a:solidFill>
                    <a:effectLst/>
                    <a:latin typeface="Segoe WPC"/>
                  </a:rPr>
                  <a:t>Multiple</a:t>
                </a:r>
                <a:r>
                  <a:rPr lang="es-PE" sz="900" b="0" i="0" dirty="0">
                    <a:solidFill>
                      <a:schemeClr val="tx1"/>
                    </a:solidFill>
                    <a:effectLst/>
                    <a:latin typeface="Segoe WPC"/>
                  </a:rPr>
                  <a:t> </a:t>
                </a:r>
                <a:r>
                  <a:rPr lang="es-PE" sz="900" b="0" i="0" dirty="0" err="1">
                    <a:solidFill>
                      <a:schemeClr val="tx1"/>
                    </a:solidFill>
                    <a:effectLst/>
                    <a:latin typeface="Segoe WPC"/>
                  </a:rPr>
                  <a:t>testing</a:t>
                </a:r>
                <a:r>
                  <a:rPr lang="es-PE" sz="900" b="0" i="0" dirty="0">
                    <a:solidFill>
                      <a:schemeClr val="tx1"/>
                    </a:solidFill>
                    <a:effectLst/>
                    <a:latin typeface="Segoe WPC"/>
                  </a:rPr>
                  <a:t> </a:t>
                </a:r>
                <a:r>
                  <a:rPr lang="es-PE" sz="900" b="0" i="0" dirty="0" err="1">
                    <a:solidFill>
                      <a:schemeClr val="tx1"/>
                    </a:solidFill>
                    <a:effectLst/>
                    <a:latin typeface="Segoe WPC"/>
                  </a:rPr>
                  <a:t>increases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chance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spurious</a:t>
                </a:r>
                <a:r>
                  <a:rPr lang="es-PE" sz="900" b="0" i="0" dirty="0">
                    <a:solidFill>
                      <a:schemeClr val="tx1"/>
                    </a:solidFill>
                    <a:effectLst/>
                    <a:latin typeface="Segoe WPC"/>
                  </a:rPr>
                  <a:t> </a:t>
                </a:r>
                <a:r>
                  <a:rPr lang="es-PE" sz="900" b="0" i="0" dirty="0" err="1">
                    <a:solidFill>
                      <a:schemeClr val="tx1"/>
                    </a:solidFill>
                    <a:effectLst/>
                    <a:latin typeface="Segoe WPC"/>
                  </a:rPr>
                  <a:t>findings</a:t>
                </a:r>
                <a:r>
                  <a:rPr lang="es-PE" sz="900" b="0" i="0" dirty="0">
                    <a:solidFill>
                      <a:schemeClr val="tx1"/>
                    </a:solidFill>
                    <a:effectLst/>
                    <a:latin typeface="Segoe WPC"/>
                  </a:rPr>
                  <a:t>.</a:t>
                </a:r>
                <a:br>
                  <a:rPr lang="es-PE" sz="900" b="0" i="0" dirty="0">
                    <a:solidFill>
                      <a:schemeClr val="tx1"/>
                    </a:solidFill>
                    <a:effectLst/>
                    <a:latin typeface="Segoe WPC"/>
                  </a:rPr>
                </a:br>
                <a:r>
                  <a:rPr lang="es-PE" sz="900" b="0" i="0" dirty="0" err="1">
                    <a:solidFill>
                      <a:schemeClr val="tx1"/>
                    </a:solidFill>
                    <a:effectLst/>
                    <a:latin typeface="Segoe WPC"/>
                  </a:rPr>
                  <a:t>Exam</a:t>
                </a:r>
                <a:r>
                  <a:rPr lang="es-PE" sz="900" b="0" i="0" dirty="0">
                    <a:solidFill>
                      <a:schemeClr val="tx1"/>
                    </a:solidFill>
                    <a:effectLst/>
                    <a:latin typeface="Segoe WPC"/>
                  </a:rPr>
                  <a:t> </a:t>
                </a:r>
                <a:r>
                  <a:rPr lang="es-PE" sz="900" b="0" i="0" dirty="0" err="1">
                    <a:solidFill>
                      <a:schemeClr val="tx1"/>
                    </a:solidFill>
                    <a:effectLst/>
                    <a:latin typeface="Segoe WPC"/>
                  </a:rPr>
                  <a:t>Trap</a:t>
                </a:r>
                <a:r>
                  <a:rPr lang="es-PE" sz="900" b="0" i="0" dirty="0">
                    <a:solidFill>
                      <a:schemeClr val="tx1"/>
                    </a:solidFill>
                    <a:effectLst/>
                    <a:latin typeface="Segoe WPC"/>
                  </a:rPr>
                  <a:t>: A </a:t>
                </a:r>
                <a14:m>
                  <m:oMath xmlns:m="http://schemas.openxmlformats.org/officeDocument/2006/math">
                    <m:r>
                      <a:rPr lang="es-PE" sz="900">
                        <a:solidFill>
                          <a:schemeClr val="tx1"/>
                        </a:solidFill>
                        <a:latin typeface="Cambria Math" panose="02040503050406030204" pitchFamily="18" charset="0"/>
                      </a:rPr>
                      <m:t>5</m:t>
                    </m:r>
                    <m:r>
                      <a:rPr lang="es-PE" sz="900" i="0">
                        <a:solidFill>
                          <a:schemeClr val="tx1"/>
                        </a:solidFill>
                        <a:latin typeface="Cambria Math" panose="02040503050406030204" pitchFamily="18" charset="0"/>
                      </a:rPr>
                      <m:t>%</m:t>
                    </m:r>
                  </m:oMath>
                </a14:m>
                <a:r>
                  <a:rPr lang="es-PE" sz="900" b="0" i="0" dirty="0">
                    <a:solidFill>
                      <a:schemeClr val="tx1"/>
                    </a:solidFill>
                    <a:effectLst/>
                    <a:latin typeface="Segoe WPC"/>
                  </a:rPr>
                  <a:t> </a:t>
                </a:r>
                <a:r>
                  <a:rPr lang="es-PE" sz="900" b="0" i="0" dirty="0" err="1">
                    <a:solidFill>
                      <a:schemeClr val="tx1"/>
                    </a:solidFill>
                    <a:effectLst/>
                    <a:latin typeface="Segoe WPC"/>
                  </a:rPr>
                  <a:t>significance</a:t>
                </a:r>
                <a:r>
                  <a:rPr lang="es-PE" sz="900" b="0" i="0" dirty="0">
                    <a:solidFill>
                      <a:schemeClr val="tx1"/>
                    </a:solidFill>
                    <a:effectLst/>
                    <a:latin typeface="Segoe WPC"/>
                  </a:rPr>
                  <a:t> </a:t>
                </a:r>
                <a:r>
                  <a:rPr lang="es-PE" sz="900" b="0" i="0" dirty="0" err="1">
                    <a:solidFill>
                      <a:schemeClr val="tx1"/>
                    </a:solidFill>
                    <a:effectLst/>
                    <a:latin typeface="Segoe WPC"/>
                  </a:rPr>
                  <a:t>level</a:t>
                </a:r>
                <a:r>
                  <a:rPr lang="es-PE" sz="900" b="0" i="0" dirty="0">
                    <a:solidFill>
                      <a:schemeClr val="tx1"/>
                    </a:solidFill>
                    <a:effectLst/>
                    <a:latin typeface="Segoe WPC"/>
                  </a:rPr>
                  <a:t> </a:t>
                </a:r>
                <a:r>
                  <a:rPr lang="es-PE" sz="900" b="0" i="0" dirty="0" err="1">
                    <a:solidFill>
                      <a:schemeClr val="tx1"/>
                    </a:solidFill>
                    <a:effectLst/>
                    <a:latin typeface="Segoe WPC"/>
                  </a:rPr>
                  <a:t>applies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test,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tests</a:t>
                </a:r>
                <a:r>
                  <a:rPr lang="es-PE" sz="900" b="0" i="0" dirty="0">
                    <a:solidFill>
                      <a:schemeClr val="tx1"/>
                    </a:solidFill>
                    <a:effectLst/>
                    <a:latin typeface="Segoe WPC"/>
                  </a:rPr>
                  <a:t> </a:t>
                </a:r>
                <a:r>
                  <a:rPr lang="es-PE" sz="900" b="0" i="0" dirty="0" err="1">
                    <a:solidFill>
                      <a:schemeClr val="tx1"/>
                    </a:solidFill>
                    <a:effectLst/>
                    <a:latin typeface="Segoe WPC"/>
                  </a:rPr>
                  <a:t>together</a:t>
                </a:r>
                <a:r>
                  <a:rPr lang="es-PE" sz="900" b="0" i="0" dirty="0">
                    <a:solidFill>
                      <a:schemeClr val="tx1"/>
                    </a:solidFill>
                    <a:effectLst/>
                    <a:latin typeface="Segoe WPC"/>
                  </a:rPr>
                  <a:t>.</a:t>
                </a:r>
              </a:p>
            </p:txBody>
          </p:sp>
        </mc:Choice>
        <mc:Fallback xmlns="">
          <p:sp>
            <p:nvSpPr>
              <p:cNvPr id="11" name="CuadroTexto 10">
                <a:extLst>
                  <a:ext uri="{FF2B5EF4-FFF2-40B4-BE49-F238E27FC236}">
                    <a16:creationId xmlns:a16="http://schemas.microsoft.com/office/drawing/2014/main" id="{A72870D2-B7E8-BE0D-52B6-90ED7CEEBE8A}"/>
                  </a:ext>
                </a:extLst>
              </p:cNvPr>
              <p:cNvSpPr txBox="1">
                <a:spLocks noRot="1" noChangeAspect="1" noMove="1" noResize="1" noEditPoints="1" noAdjustHandles="1" noChangeArrowheads="1" noChangeShapeType="1" noTextEdit="1"/>
              </p:cNvSpPr>
              <p:nvPr/>
            </p:nvSpPr>
            <p:spPr>
              <a:xfrm>
                <a:off x="5969000" y="-76200"/>
                <a:ext cx="6610350" cy="6721007"/>
              </a:xfrm>
              <a:prstGeom prst="rect">
                <a:avLst/>
              </a:prstGeom>
              <a:blipFill>
                <a:blip r:embed="rId3"/>
                <a:stretch>
                  <a:fillRect t="-181" b="-4896"/>
                </a:stretch>
              </a:blipFill>
            </p:spPr>
            <p:txBody>
              <a:bodyPr/>
              <a:lstStyle/>
              <a:p>
                <a:r>
                  <a:rPr lang="es-PE">
                    <a:noFill/>
                  </a:rPr>
                  <a:t> </a:t>
                </a:r>
              </a:p>
            </p:txBody>
          </p:sp>
        </mc:Fallback>
      </mc:AlternateContent>
      <p:pic>
        <p:nvPicPr>
          <p:cNvPr id="13" name="Imagen 12">
            <a:extLst>
              <a:ext uri="{FF2B5EF4-FFF2-40B4-BE49-F238E27FC236}">
                <a16:creationId xmlns:a16="http://schemas.microsoft.com/office/drawing/2014/main" id="{CA91A946-BE17-E6FD-98E4-4ED8E8622D4A}"/>
              </a:ext>
            </a:extLst>
          </p:cNvPr>
          <p:cNvPicPr>
            <a:picLocks noChangeAspect="1"/>
          </p:cNvPicPr>
          <p:nvPr/>
        </p:nvPicPr>
        <p:blipFill>
          <a:blip r:embed="rId4"/>
          <a:stretch>
            <a:fillRect/>
          </a:stretch>
        </p:blipFill>
        <p:spPr>
          <a:xfrm>
            <a:off x="4518196" y="3635511"/>
            <a:ext cx="4956003" cy="1234939"/>
          </a:xfrm>
          <a:prstGeom prst="rect">
            <a:avLst/>
          </a:prstGeom>
        </p:spPr>
      </p:pic>
    </p:spTree>
    <p:extLst>
      <p:ext uri="{BB962C8B-B14F-4D97-AF65-F5344CB8AC3E}">
        <p14:creationId xmlns:p14="http://schemas.microsoft.com/office/powerpoint/2010/main" val="377768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3B2BA-DEA6-DA02-056D-EA1E36D0391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DA69331-9CE4-92C2-15A2-1D65CD1BFD9E}"/>
              </a:ext>
            </a:extLst>
          </p:cNvPr>
          <p:cNvSpPr>
            <a:spLocks noGrp="1"/>
          </p:cNvSpPr>
          <p:nvPr>
            <p:ph type="title"/>
          </p:nvPr>
        </p:nvSpPr>
        <p:spPr>
          <a:xfrm>
            <a:off x="-107950" y="0"/>
            <a:ext cx="10515600" cy="327025"/>
          </a:xfrm>
        </p:spPr>
        <p:txBody>
          <a:bodyPr>
            <a:normAutofit fontScale="90000"/>
          </a:bodyPr>
          <a:lstStyle/>
          <a:p>
            <a:r>
              <a:rPr lang="en-US" sz="2800" dirty="0"/>
              <a:t>Linear Regression</a:t>
            </a:r>
            <a:endParaRPr lang="es-PE" sz="2800" dirty="0"/>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78D135DA-FF79-E04A-491E-F12650F1BCF9}"/>
                  </a:ext>
                </a:extLst>
              </p:cNvPr>
              <p:cNvSpPr txBox="1"/>
              <p:nvPr/>
            </p:nvSpPr>
            <p:spPr>
              <a:xfrm>
                <a:off x="-1" y="264680"/>
                <a:ext cx="6408057" cy="6668685"/>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1. Linear </a:t>
                </a:r>
                <a:r>
                  <a:rPr lang="es-PE" sz="900" b="1" i="0" dirty="0" err="1">
                    <a:solidFill>
                      <a:schemeClr val="tx1"/>
                    </a:solidFill>
                    <a:effectLst/>
                    <a:latin typeface="Segoe WPC"/>
                  </a:rPr>
                  <a:t>Regression</a:t>
                </a:r>
                <a:r>
                  <a:rPr lang="es-PE" sz="900" b="1" i="0" dirty="0">
                    <a:solidFill>
                      <a:schemeClr val="tx1"/>
                    </a:solidFill>
                    <a:effectLst/>
                    <a:latin typeface="Segoe WPC"/>
                  </a:rPr>
                  <a:t> </a:t>
                </a:r>
                <a:r>
                  <a:rPr lang="es-PE" sz="900" b="1" i="0" dirty="0" err="1">
                    <a:solidFill>
                      <a:schemeClr val="tx1"/>
                    </a:solidFill>
                    <a:effectLst/>
                    <a:latin typeface="Segoe WPC"/>
                  </a:rPr>
                  <a:t>Setup</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Linear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a </a:t>
                </a:r>
                <a:r>
                  <a:rPr lang="es-PE" sz="900" b="0" i="0" dirty="0" err="1">
                    <a:solidFill>
                      <a:schemeClr val="tx1"/>
                    </a:solidFill>
                    <a:effectLst/>
                    <a:latin typeface="Segoe WPC"/>
                  </a:rPr>
                  <a:t>dependent</a:t>
                </a:r>
                <a:r>
                  <a:rPr lang="es-PE" sz="900" b="0" i="0" dirty="0">
                    <a:solidFill>
                      <a:schemeClr val="tx1"/>
                    </a:solidFill>
                    <a:effectLst/>
                    <a:latin typeface="Segoe WPC"/>
                  </a:rPr>
                  <a:t> variable </a:t>
                </a:r>
                <a14:m>
                  <m:oMath xmlns:m="http://schemas.openxmlformats.org/officeDocument/2006/math">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explanatory</a:t>
                </a:r>
                <a:r>
                  <a:rPr lang="es-PE" sz="900" b="0" i="0" dirty="0">
                    <a:solidFill>
                      <a:schemeClr val="tx1"/>
                    </a:solidFill>
                    <a:effectLst/>
                    <a:latin typeface="Segoe WPC"/>
                  </a:rPr>
                  <a:t> variable </a:t>
                </a:r>
                <a14:m>
                  <m:oMath xmlns:m="http://schemas.openxmlformats.org/officeDocument/2006/math">
                    <m:r>
                      <a:rPr lang="es-PE" sz="900" i="1">
                        <a:solidFill>
                          <a:schemeClr val="tx1"/>
                        </a:solidFill>
                        <a:latin typeface="Cambria Math" panose="02040503050406030204" pitchFamily="18" charset="0"/>
                      </a:rPr>
                      <m:t>𝑋</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𝑋</m:t>
                    </m:r>
                  </m:oMath>
                </a14:m>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Fit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best</a:t>
                </a:r>
                <a:r>
                  <a:rPr lang="es-PE" sz="900" b="0" i="0" dirty="0">
                    <a:solidFill>
                      <a:schemeClr val="tx1"/>
                    </a:solidFill>
                    <a:effectLst/>
                    <a:latin typeface="Segoe WPC"/>
                  </a:rPr>
                  <a:t> </a:t>
                </a:r>
                <a:r>
                  <a:rPr lang="es-PE" sz="900" b="0" i="0" dirty="0" err="1">
                    <a:solidFill>
                      <a:schemeClr val="tx1"/>
                    </a:solidFill>
                    <a:effectLst/>
                    <a:latin typeface="Segoe WPC"/>
                  </a:rPr>
                  <a:t>straight</a:t>
                </a:r>
                <a:r>
                  <a:rPr lang="es-PE" sz="900" b="0" i="0" dirty="0">
                    <a:solidFill>
                      <a:schemeClr val="tx1"/>
                    </a:solidFill>
                    <a:effectLst/>
                    <a:latin typeface="Segoe WPC"/>
                  </a:rPr>
                  <a:t> line </a:t>
                </a:r>
                <a:r>
                  <a:rPr lang="es-PE" sz="900" b="0" i="0" dirty="0" err="1">
                    <a:solidFill>
                      <a:schemeClr val="tx1"/>
                    </a:solidFill>
                    <a:effectLst/>
                    <a:latin typeface="Segoe WPC"/>
                  </a:rPr>
                  <a:t>through</a:t>
                </a:r>
                <a:r>
                  <a:rPr lang="es-PE" sz="900" b="0" i="0" dirty="0">
                    <a:solidFill>
                      <a:schemeClr val="tx1"/>
                    </a:solidFill>
                    <a:effectLst/>
                    <a:latin typeface="Segoe WPC"/>
                  </a:rPr>
                  <a:t> a </a:t>
                </a:r>
                <a:r>
                  <a:rPr lang="es-PE" sz="900" b="0" i="0" dirty="0" err="1">
                    <a:solidFill>
                      <a:schemeClr val="tx1"/>
                    </a:solidFill>
                    <a:effectLst/>
                    <a:latin typeface="Segoe WPC"/>
                  </a:rPr>
                  <a:t>scatterplot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𝑎</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𝛽</m:t>
                    </m:r>
                    <m:r>
                      <a:rPr lang="es-PE" sz="900" i="1">
                        <a:solidFill>
                          <a:schemeClr val="tx1"/>
                        </a:solidFill>
                        <a:latin typeface="Cambria Math" panose="02040503050406030204" pitchFamily="18" charset="0"/>
                      </a:rPr>
                      <m:t>𝑋</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𝜀</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𝑎</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intercept</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𝛽</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slope</a:t>
                </a:r>
                <a:r>
                  <a:rPr lang="es-PE" sz="900" b="0" i="0" dirty="0">
                    <a:solidFill>
                      <a:schemeClr val="tx1"/>
                    </a:solidFill>
                    <a:effectLst/>
                    <a:latin typeface="Segoe WPC"/>
                  </a:rPr>
                  <a:t>, and </a:t>
                </a:r>
                <a14:m>
                  <m:oMath xmlns:m="http://schemas.openxmlformats.org/officeDocument/2006/math">
                    <m:r>
                      <a:rPr lang="es-PE" sz="900" i="1">
                        <a:solidFill>
                          <a:schemeClr val="tx1"/>
                        </a:solidFill>
                        <a:latin typeface="Cambria Math" panose="02040503050406030204" pitchFamily="18" charset="0"/>
                      </a:rPr>
                      <m:t>𝜀</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unexplained</a:t>
                </a:r>
                <a:r>
                  <a:rPr lang="es-PE" sz="900" b="0" i="0" dirty="0">
                    <a:solidFill>
                      <a:schemeClr val="tx1"/>
                    </a:solidFill>
                    <a:effectLst/>
                    <a:latin typeface="Segoe WPC"/>
                  </a:rPr>
                  <a:t> shock.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explains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𝑋</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confuse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2. </a:t>
                </a:r>
                <a:r>
                  <a:rPr lang="es-PE" sz="900" b="1" i="0" dirty="0" err="1">
                    <a:solidFill>
                      <a:schemeClr val="tx1"/>
                    </a:solidFill>
                    <a:effectLst/>
                    <a:latin typeface="Segoe WPC"/>
                  </a:rPr>
                  <a:t>Intercept</a:t>
                </a:r>
                <a:r>
                  <a:rPr lang="es-PE" sz="900" b="1" i="0" dirty="0">
                    <a:solidFill>
                      <a:schemeClr val="tx1"/>
                    </a:solidFill>
                    <a:effectLst/>
                    <a:latin typeface="Segoe WPC"/>
                  </a:rPr>
                  <a:t> and </a:t>
                </a:r>
                <a:r>
                  <a:rPr lang="es-PE" sz="900" b="1" i="0" dirty="0" err="1">
                    <a:solidFill>
                      <a:schemeClr val="tx1"/>
                    </a:solidFill>
                    <a:effectLst/>
                    <a:latin typeface="Segoe WPC"/>
                  </a:rPr>
                  <a:t>Slope</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key</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are </a:t>
                </a:r>
                <a14:m>
                  <m:oMath xmlns:m="http://schemas.openxmlformats.org/officeDocument/2006/math">
                    <m:r>
                      <a:rPr lang="es-PE" sz="900" i="1">
                        <a:solidFill>
                          <a:schemeClr val="tx1"/>
                        </a:solidFill>
                        <a:latin typeface="Cambria Math" panose="02040503050406030204" pitchFamily="18" charset="0"/>
                      </a:rPr>
                      <m:t>𝑎</m:t>
                    </m:r>
                  </m:oMath>
                </a14:m>
                <a:r>
                  <a:rPr lang="es-PE" sz="900" b="0" i="0" dirty="0">
                    <a:solidFill>
                      <a:schemeClr val="tx1"/>
                    </a:solidFill>
                    <a:effectLst/>
                    <a:latin typeface="Segoe WPC"/>
                  </a:rPr>
                  <a:t> and </a:t>
                </a:r>
                <a14:m>
                  <m:oMath xmlns:m="http://schemas.openxmlformats.org/officeDocument/2006/math">
                    <m:r>
                      <a:rPr lang="es-PE" sz="900" i="1">
                        <a:solidFill>
                          <a:schemeClr val="tx1"/>
                        </a:solidFill>
                        <a:latin typeface="Cambria Math" panose="02040503050406030204" pitchFamily="18" charset="0"/>
                      </a:rPr>
                      <m:t>𝛽</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𝑎</m:t>
                    </m:r>
                  </m:oMath>
                </a14:m>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baseline</a:t>
                </a:r>
                <a:r>
                  <a:rPr lang="es-PE" sz="900" b="0" i="0" dirty="0">
                    <a:solidFill>
                      <a:schemeClr val="tx1"/>
                    </a:solidFill>
                    <a:effectLst/>
                    <a:latin typeface="Segoe WPC"/>
                  </a:rPr>
                  <a:t> </a:t>
                </a:r>
                <a:r>
                  <a:rPr lang="es-PE" sz="900" b="0" i="0" dirty="0" err="1">
                    <a:solidFill>
                      <a:schemeClr val="tx1"/>
                    </a:solidFill>
                    <a:effectLst/>
                    <a:latin typeface="Segoe WPC"/>
                  </a:rPr>
                  <a:t>level</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𝛽</m:t>
                    </m:r>
                  </m:oMath>
                </a14:m>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sensitivity</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𝑋</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𝑎</m:t>
                    </m:r>
                  </m:oMath>
                </a14:m>
                <a:r>
                  <a:rPr lang="es-PE" sz="900" b="0" i="0" dirty="0">
                    <a:solidFill>
                      <a:schemeClr val="tx1"/>
                    </a:solidFill>
                    <a:effectLst/>
                    <a:latin typeface="Segoe WPC"/>
                  </a:rPr>
                  <a:t> </a:t>
                </a:r>
                <a:r>
                  <a:rPr lang="es-PE" sz="900" b="0" i="0" dirty="0" err="1">
                    <a:solidFill>
                      <a:schemeClr val="tx1"/>
                    </a:solidFill>
                    <a:effectLst/>
                    <a:latin typeface="Segoe WPC"/>
                  </a:rPr>
                  <a:t>shifts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line up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down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𝛽</m:t>
                    </m:r>
                  </m:oMath>
                </a14:m>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steepness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𝑌</m:t>
                        </m:r>
                      </m:e>
                    </m:acc>
                    <m:r>
                      <a:rPr lang="ar-AE" sz="900" i="0">
                        <a:solidFill>
                          <a:schemeClr val="tx1"/>
                        </a:solidFill>
                        <a:latin typeface="Cambria Math" panose="02040503050406030204" pitchFamily="18" charset="0"/>
                      </a:rPr>
                      <m:t>=</m:t>
                    </m:r>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𝑎</m:t>
                        </m:r>
                      </m:e>
                    </m:acc>
                    <m:r>
                      <a:rPr lang="ar-AE" sz="900" i="0">
                        <a:solidFill>
                          <a:schemeClr val="tx1"/>
                        </a:solidFill>
                        <a:latin typeface="Cambria Math" panose="02040503050406030204" pitchFamily="18" charset="0"/>
                      </a:rPr>
                      <m:t>+</m:t>
                    </m:r>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𝛽</m:t>
                        </m:r>
                      </m:e>
                    </m:acc>
                    <m:r>
                      <a:rPr lang="ar-AE" sz="900" i="1">
                        <a:solidFill>
                          <a:schemeClr val="tx1"/>
                        </a:solidFill>
                        <a:latin typeface="Cambria Math" panose="02040503050406030204" pitchFamily="18" charset="0"/>
                      </a:rPr>
                      <m:t>𝑋</m:t>
                    </m:r>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one-unit</a:t>
                </a:r>
                <a:r>
                  <a:rPr lang="es-PE" sz="900" b="0" i="0" dirty="0">
                    <a:solidFill>
                      <a:schemeClr val="tx1"/>
                    </a:solidFill>
                    <a:effectLst/>
                    <a:latin typeface="Segoe WPC"/>
                  </a:rPr>
                  <a:t> </a:t>
                </a:r>
                <a:r>
                  <a:rPr lang="es-PE" sz="900" b="0" i="0" dirty="0" err="1">
                    <a:solidFill>
                      <a:schemeClr val="tx1"/>
                    </a:solidFill>
                    <a:effectLst/>
                    <a:latin typeface="Segoe WPC"/>
                  </a:rPr>
                  <a:t>increase</a:t>
                </a:r>
                <a:r>
                  <a:rPr lang="es-PE" sz="900" b="0" i="0" dirty="0">
                    <a:solidFill>
                      <a:schemeClr val="tx1"/>
                    </a:solidFill>
                    <a:effectLst/>
                    <a:latin typeface="Segoe WPC"/>
                  </a:rPr>
                  <a:t> in </a:t>
                </a:r>
                <a14:m>
                  <m:oMath xmlns:m="http://schemas.openxmlformats.org/officeDocument/2006/math">
                    <m:r>
                      <a:rPr lang="es-PE" sz="900" i="1">
                        <a:solidFill>
                          <a:schemeClr val="tx1"/>
                        </a:solidFill>
                        <a:latin typeface="Cambria Math" panose="02040503050406030204" pitchFamily="18" charset="0"/>
                      </a:rPr>
                      <m:t>𝑋</m:t>
                    </m:r>
                  </m:oMath>
                </a14:m>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predicted</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𝛽</m:t>
                    </m:r>
                  </m:oMath>
                </a14:m>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intercept</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literally</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𝑋</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0</m:t>
                    </m:r>
                  </m:oMath>
                </a14:m>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𝑋</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0</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meaningful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over-interpret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intercept</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unrealistic</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3. </a:t>
                </a:r>
                <a:r>
                  <a:rPr lang="es-PE" sz="900" b="1" i="0" dirty="0" err="1">
                    <a:solidFill>
                      <a:schemeClr val="tx1"/>
                    </a:solidFill>
                    <a:effectLst/>
                    <a:latin typeface="Segoe WPC"/>
                  </a:rPr>
                  <a:t>What</a:t>
                </a:r>
                <a:r>
                  <a:rPr lang="es-PE" sz="900" b="1" i="0" dirty="0">
                    <a:solidFill>
                      <a:schemeClr val="tx1"/>
                    </a:solidFill>
                    <a:effectLst/>
                    <a:latin typeface="Segoe WPC"/>
                  </a:rPr>
                  <a:t> </a:t>
                </a:r>
                <a:r>
                  <a:rPr lang="es-PE" sz="900" b="1" i="0" dirty="0" err="1">
                    <a:solidFill>
                      <a:schemeClr val="tx1"/>
                    </a:solidFill>
                    <a:effectLst/>
                    <a:latin typeface="Segoe WPC"/>
                  </a:rPr>
                  <a:t>Counts</a:t>
                </a:r>
                <a:r>
                  <a:rPr lang="es-PE" sz="900" b="1" i="0" dirty="0">
                    <a:solidFill>
                      <a:schemeClr val="tx1"/>
                    </a:solidFill>
                    <a:effectLst/>
                    <a:latin typeface="Segoe WPC"/>
                  </a:rPr>
                  <a:t> as Linear</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linear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be linear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unknown</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additive</a:t>
                </a:r>
                <a:r>
                  <a:rPr lang="es-PE" sz="900" b="0" i="0" dirty="0">
                    <a:solidFill>
                      <a:schemeClr val="tx1"/>
                    </a:solidFill>
                    <a:effectLst/>
                    <a:latin typeface="Segoe WPC"/>
                  </a:rPr>
                  <a:t> error, and use observable </a:t>
                </a:r>
                <a:r>
                  <a:rPr lang="es-PE" sz="900" b="0" i="0" dirty="0" err="1">
                    <a:solidFill>
                      <a:schemeClr val="tx1"/>
                    </a:solidFill>
                    <a:effectLst/>
                    <a:latin typeface="Segoe WPC"/>
                  </a:rPr>
                  <a:t>regressors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Variables </a:t>
                </a:r>
                <a:r>
                  <a:rPr lang="es-PE" sz="900" b="0" i="0" dirty="0" err="1">
                    <a:solidFill>
                      <a:schemeClr val="tx1"/>
                    </a:solidFill>
                    <a:effectLst/>
                    <a:latin typeface="Segoe WPC"/>
                  </a:rPr>
                  <a:t>may</a:t>
                </a:r>
                <a:r>
                  <a:rPr lang="es-PE" sz="900" b="0" i="0" dirty="0">
                    <a:solidFill>
                      <a:schemeClr val="tx1"/>
                    </a:solidFill>
                    <a:effectLst/>
                    <a:latin typeface="Segoe WPC"/>
                  </a:rPr>
                  <a:t> be </a:t>
                </a:r>
                <a:r>
                  <a:rPr lang="es-PE" sz="900" b="0" i="0" dirty="0" err="1">
                    <a:solidFill>
                      <a:schemeClr val="tx1"/>
                    </a:solidFill>
                    <a:effectLst/>
                    <a:latin typeface="Segoe WPC"/>
                  </a:rPr>
                  <a:t>transformed</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enter</a:t>
                </a:r>
                <a:r>
                  <a:rPr lang="es-PE" sz="900" b="0" i="0" dirty="0">
                    <a:solidFill>
                      <a:schemeClr val="tx1"/>
                    </a:solidFill>
                    <a:effectLst/>
                    <a:latin typeface="Segoe WPC"/>
                  </a:rPr>
                  <a:t> </a:t>
                </a:r>
                <a:r>
                  <a:rPr lang="es-PE" sz="900" b="0" i="0" dirty="0" err="1">
                    <a:solidFill>
                      <a:schemeClr val="tx1"/>
                    </a:solidFill>
                    <a:effectLst/>
                    <a:latin typeface="Segoe WPC"/>
                  </a:rPr>
                  <a:t>linearly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can </a:t>
                </a:r>
                <a:r>
                  <a:rPr lang="es-PE" sz="900" b="0" i="0" dirty="0" err="1">
                    <a:solidFill>
                      <a:schemeClr val="tx1"/>
                    </a:solidFill>
                    <a:effectLst/>
                    <a:latin typeface="Segoe WPC"/>
                  </a:rPr>
                  <a:t>fit</a:t>
                </a:r>
                <a:r>
                  <a:rPr lang="es-PE" sz="900" b="0" i="0" dirty="0">
                    <a:solidFill>
                      <a:schemeClr val="tx1"/>
                    </a:solidFill>
                    <a:effectLst/>
                    <a:latin typeface="Segoe WPC"/>
                  </a:rPr>
                  <a:t> curves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adding</a:t>
                </a:r>
                <a:r>
                  <a:rPr lang="es-PE" sz="900" b="0" i="0" dirty="0">
                    <a:solidFill>
                      <a:schemeClr val="tx1"/>
                    </a:solidFill>
                    <a:effectLst/>
                    <a:latin typeface="Segoe WPC"/>
                  </a:rPr>
                  <a:t> </a:t>
                </a:r>
                <a:r>
                  <a:rPr lang="es-PE" sz="900" b="0" i="0" dirty="0" err="1">
                    <a:solidFill>
                      <a:schemeClr val="tx1"/>
                    </a:solidFill>
                    <a:effectLst/>
                    <a:latin typeface="Segoe WPC"/>
                  </a:rPr>
                  <a:t>transformed</a:t>
                </a:r>
                <a:r>
                  <a:rPr lang="es-PE" sz="900" b="0" i="0" dirty="0">
                    <a:solidFill>
                      <a:schemeClr val="tx1"/>
                    </a:solidFill>
                    <a:effectLst/>
                    <a:latin typeface="Segoe WPC"/>
                  </a:rPr>
                  <a:t> </a:t>
                </a:r>
                <a:r>
                  <a:rPr lang="es-PE" sz="900" b="0" i="0" dirty="0" err="1">
                    <a:solidFill>
                      <a:schemeClr val="tx1"/>
                    </a:solidFill>
                    <a:effectLst/>
                    <a:latin typeface="Segoe WPC"/>
                  </a:rPr>
                  <a:t>versions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𝑋</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Valid</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𝑎</m:t>
                    </m:r>
                    <m:r>
                      <a:rPr lang="es-P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1</m:t>
                        </m:r>
                      </m:sub>
                    </m:sSub>
                    <m:r>
                      <a:rPr lang="ar-AE" sz="900" i="1">
                        <a:solidFill>
                          <a:schemeClr val="tx1"/>
                        </a:solidFill>
                        <a:latin typeface="Cambria Math" panose="02040503050406030204" pitchFamily="18" charset="0"/>
                      </a:rPr>
                      <m:t>𝑋</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2</m:t>
                        </m:r>
                      </m:sub>
                    </m:sSub>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𝑋</m:t>
                        </m:r>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𝜀</m:t>
                    </m:r>
                  </m:oMath>
                </a14:m>
                <a:r>
                  <a:rPr lang="ar-AE" sz="900" b="0" i="0" dirty="0">
                    <a:solidFill>
                      <a:schemeClr val="tx1"/>
                    </a:solidFill>
                    <a:effectLst/>
                    <a:latin typeface="Segoe WPC"/>
                  </a:rPr>
                  <a:t>. </a:t>
                </a:r>
                <a:r>
                  <a:rPr lang="es-PE" sz="900" b="0" i="0" dirty="0" err="1">
                    <a:solidFill>
                      <a:schemeClr val="tx1"/>
                    </a:solidFill>
                    <a:effectLst/>
                    <a:latin typeface="Segoe WPC"/>
                  </a:rPr>
                  <a:t>Invalid</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unknown</a:t>
                </a:r>
                <a:r>
                  <a:rPr lang="es-PE" sz="900" b="0" i="0" dirty="0">
                    <a:solidFill>
                      <a:schemeClr val="tx1"/>
                    </a:solidFill>
                    <a:effectLst/>
                    <a:latin typeface="Segoe WPC"/>
                  </a:rPr>
                  <a:t> </a:t>
                </a:r>
                <a:r>
                  <a:rPr lang="es-PE" sz="900" b="0" i="0" dirty="0" err="1">
                    <a:solidFill>
                      <a:schemeClr val="tx1"/>
                    </a:solidFill>
                    <a:effectLst/>
                    <a:latin typeface="Segoe WPC"/>
                  </a:rPr>
                  <a:t>parameter</a:t>
                </a:r>
                <a:r>
                  <a:rPr lang="es-PE" sz="900" b="0" i="0" dirty="0">
                    <a:solidFill>
                      <a:schemeClr val="tx1"/>
                    </a:solidFill>
                    <a:effectLst/>
                    <a:latin typeface="Segoe WPC"/>
                  </a:rPr>
                  <a:t> </a:t>
                </a:r>
                <a:r>
                  <a:rPr lang="es-PE" sz="900" b="0" i="0" dirty="0" err="1">
                    <a:solidFill>
                      <a:schemeClr val="tx1"/>
                    </a:solidFill>
                    <a:effectLst/>
                    <a:latin typeface="Segoe WPC"/>
                  </a:rPr>
                  <a:t>enters</a:t>
                </a:r>
                <a:r>
                  <a:rPr lang="es-PE" sz="900" b="0" i="0" dirty="0">
                    <a:solidFill>
                      <a:schemeClr val="tx1"/>
                    </a:solidFill>
                    <a:effectLst/>
                    <a:latin typeface="Segoe WPC"/>
                  </a:rPr>
                  <a:t> </a:t>
                </a:r>
                <a:r>
                  <a:rPr lang="es-PE" sz="900" b="0" i="0" dirty="0" err="1">
                    <a:solidFill>
                      <a:schemeClr val="tx1"/>
                    </a:solidFill>
                    <a:effectLst/>
                    <a:latin typeface="Segoe WPC"/>
                  </a:rPr>
                  <a:t>nonlinearly</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𝑎</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𝛽</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𝑋</m:t>
                        </m:r>
                      </m:e>
                      <m:sup>
                        <m:r>
                          <a:rPr lang="ar-AE" sz="900" i="1">
                            <a:solidFill>
                              <a:schemeClr val="tx1"/>
                            </a:solidFill>
                            <a:latin typeface="Cambria Math" panose="02040503050406030204" pitchFamily="18" charset="0"/>
                          </a:rPr>
                          <m:t>𝛾</m:t>
                        </m:r>
                      </m:sup>
                    </m:s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𝜀</m:t>
                    </m:r>
                  </m:oMath>
                </a14:m>
                <a:r>
                  <a:rPr lang="ar-A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unknown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𝛾</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Linear </a:t>
                </a:r>
                <a:r>
                  <a:rPr lang="es-PE" sz="900" b="0" i="0" dirty="0" err="1">
                    <a:solidFill>
                      <a:schemeClr val="tx1"/>
                    </a:solidFill>
                    <a:effectLst/>
                    <a:latin typeface="Segoe WPC"/>
                  </a:rPr>
                  <a:t>regression</a:t>
                </a:r>
                <a:r>
                  <a:rPr lang="es-PE" sz="900" b="0" i="0" dirty="0">
                    <a:solidFill>
                      <a:schemeClr val="tx1"/>
                    </a:solidFill>
                    <a:effectLst/>
                    <a:latin typeface="Segoe WPC"/>
                  </a:rPr>
                  <a:t> can </a:t>
                </a:r>
                <a:r>
                  <a:rPr lang="es-PE" sz="900" b="0" i="0" dirty="0" err="1">
                    <a:solidFill>
                      <a:schemeClr val="tx1"/>
                    </a:solidFill>
                    <a:effectLst/>
                    <a:latin typeface="Segoe WPC"/>
                  </a:rPr>
                  <a:t>represent</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nonlinear</a:t>
                </a:r>
                <a:r>
                  <a:rPr lang="es-PE" sz="900" b="0" i="0" dirty="0">
                    <a:solidFill>
                      <a:schemeClr val="tx1"/>
                    </a:solidFill>
                    <a:effectLst/>
                    <a:latin typeface="Segoe WPC"/>
                  </a:rPr>
                  <a:t> </a:t>
                </a:r>
                <a:r>
                  <a:rPr lang="es-PE" sz="900" b="0" i="0" dirty="0" err="1">
                    <a:solidFill>
                      <a:schemeClr val="tx1"/>
                    </a:solidFill>
                    <a:effectLst/>
                    <a:latin typeface="Segoe WPC"/>
                  </a:rPr>
                  <a:t>relationships</a:t>
                </a:r>
                <a:r>
                  <a:rPr lang="es-PE" sz="900" b="0" i="0" dirty="0">
                    <a:solidFill>
                      <a:schemeClr val="tx1"/>
                    </a:solidFill>
                    <a:effectLst/>
                    <a:latin typeface="Segoe WPC"/>
                  </a:rPr>
                  <a:t> after </a:t>
                </a:r>
                <a:r>
                  <a:rPr lang="es-PE" sz="900" b="0" i="0" dirty="0" err="1">
                    <a:solidFill>
                      <a:schemeClr val="tx1"/>
                    </a:solidFill>
                    <a:effectLst/>
                    <a:latin typeface="Segoe WPC"/>
                  </a:rPr>
                  <a:t>rewriting</a:t>
                </a:r>
                <a:r>
                  <a:rPr lang="es-PE" sz="900" b="0" i="0" dirty="0">
                    <a:solidFill>
                      <a:schemeClr val="tx1"/>
                    </a:solidFill>
                    <a:effectLst/>
                    <a:latin typeface="Segoe WPC"/>
                  </a:rPr>
                  <a:t> </a:t>
                </a:r>
                <a:r>
                  <a:rPr lang="es-PE" sz="900" b="0" i="0" dirty="0" err="1">
                    <a:solidFill>
                      <a:schemeClr val="tx1"/>
                    </a:solidFill>
                    <a:effectLst/>
                    <a:latin typeface="Segoe WPC"/>
                  </a:rPr>
                  <a:t>them</a:t>
                </a:r>
                <a:r>
                  <a:rPr lang="es-PE" sz="900" b="0" i="0" dirty="0">
                    <a:solidFill>
                      <a:schemeClr val="tx1"/>
                    </a:solidFill>
                    <a:effectLst/>
                    <a:latin typeface="Segoe WPC"/>
                  </a:rPr>
                  <a:t> </a:t>
                </a:r>
                <a:r>
                  <a:rPr lang="es-PE" sz="900" b="0" i="0" dirty="0" err="1">
                    <a:solidFill>
                      <a:schemeClr val="tx1"/>
                    </a:solidFill>
                    <a:effectLst/>
                    <a:latin typeface="Segoe WPC"/>
                  </a:rPr>
                  <a:t>properly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“Linear” </a:t>
                </a:r>
                <a:r>
                  <a:rPr lang="es-PE" sz="900" b="0" i="0" dirty="0" err="1">
                    <a:solidFill>
                      <a:schemeClr val="tx1"/>
                    </a:solidFill>
                    <a:effectLst/>
                    <a:latin typeface="Segoe WPC"/>
                  </a:rPr>
                  <a:t>refers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parameters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necessarily</a:t>
                </a:r>
                <a:r>
                  <a:rPr lang="es-PE" sz="900" b="0" i="0" dirty="0">
                    <a:solidFill>
                      <a:schemeClr val="tx1"/>
                    </a:solidFill>
                    <a:effectLst/>
                    <a:latin typeface="Segoe WPC"/>
                  </a:rPr>
                  <a:t> variables.</a:t>
                </a:r>
              </a:p>
              <a:p>
                <a:pPr algn="l">
                  <a:spcAft>
                    <a:spcPts val="1200"/>
                  </a:spcAft>
                  <a:buNone/>
                </a:pPr>
                <a:r>
                  <a:rPr lang="es-PE" sz="900" b="1" i="0" dirty="0">
                    <a:solidFill>
                      <a:schemeClr val="tx1"/>
                    </a:solidFill>
                    <a:effectLst/>
                    <a:latin typeface="Segoe WPC"/>
                  </a:rPr>
                  <a:t>4. </a:t>
                </a:r>
                <a:r>
                  <a:rPr lang="es-PE" sz="900" b="1" i="0" dirty="0" err="1">
                    <a:solidFill>
                      <a:schemeClr val="tx1"/>
                    </a:solidFill>
                    <a:effectLst/>
                    <a:latin typeface="Segoe WPC"/>
                  </a:rPr>
                  <a:t>Transformations</a:t>
                </a:r>
                <a:r>
                  <a:rPr lang="es-PE" sz="900" b="1" i="0" dirty="0">
                    <a:solidFill>
                      <a:schemeClr val="tx1"/>
                    </a:solidFill>
                    <a:effectLst/>
                    <a:latin typeface="Segoe WPC"/>
                  </a:rPr>
                  <a:t> and </a:t>
                </a:r>
                <a:r>
                  <a:rPr lang="es-PE" sz="900" b="1" i="0" dirty="0" err="1">
                    <a:solidFill>
                      <a:schemeClr val="tx1"/>
                    </a:solidFill>
                    <a:effectLst/>
                    <a:latin typeface="Segoe WPC"/>
                  </a:rPr>
                  <a:t>Dummies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Logs and </a:t>
                </a:r>
                <a:r>
                  <a:rPr lang="es-PE" sz="900" b="0" i="0" dirty="0" err="1">
                    <a:solidFill>
                      <a:schemeClr val="tx1"/>
                    </a:solidFill>
                    <a:effectLst/>
                    <a:latin typeface="Segoe WPC"/>
                  </a:rPr>
                  <a:t>dummy</a:t>
                </a:r>
                <a:r>
                  <a:rPr lang="es-PE" sz="900" b="0" i="0" dirty="0">
                    <a:solidFill>
                      <a:schemeClr val="tx1"/>
                    </a:solidFill>
                    <a:effectLst/>
                    <a:latin typeface="Segoe WPC"/>
                  </a:rPr>
                  <a:t> variables </a:t>
                </a:r>
                <a:r>
                  <a:rPr lang="es-PE" sz="900" b="0" i="0" dirty="0" err="1">
                    <a:solidFill>
                      <a:schemeClr val="tx1"/>
                    </a:solidFill>
                    <a:effectLst/>
                    <a:latin typeface="Segoe WPC"/>
                  </a:rPr>
                  <a:t>make</a:t>
                </a:r>
                <a:r>
                  <a:rPr lang="es-PE" sz="900" b="0" i="0" dirty="0">
                    <a:solidFill>
                      <a:schemeClr val="tx1"/>
                    </a:solidFill>
                    <a:effectLst/>
                    <a:latin typeface="Segoe WPC"/>
                  </a:rPr>
                  <a:t> linear </a:t>
                </a:r>
                <a:r>
                  <a:rPr lang="es-PE" sz="900" b="0" i="0" dirty="0" err="1">
                    <a:solidFill>
                      <a:schemeClr val="tx1"/>
                    </a:solidFill>
                    <a:effectLst/>
                    <a:latin typeface="Segoe WPC"/>
                  </a:rPr>
                  <a:t>regression</a:t>
                </a:r>
                <a:r>
                  <a:rPr lang="es-PE" sz="900" b="0" i="0" dirty="0">
                    <a:solidFill>
                      <a:schemeClr val="tx1"/>
                    </a:solidFill>
                    <a:effectLst/>
                    <a:latin typeface="Segoe WPC"/>
                  </a:rPr>
                  <a:t> more flexible.</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Logs can </a:t>
                </a:r>
                <a:r>
                  <a:rPr lang="es-PE" sz="900" b="0" i="0" dirty="0" err="1">
                    <a:solidFill>
                      <a:schemeClr val="tx1"/>
                    </a:solidFill>
                    <a:effectLst/>
                    <a:latin typeface="Segoe WPC"/>
                  </a:rPr>
                  <a:t>linearize</a:t>
                </a:r>
                <a:r>
                  <a:rPr lang="es-PE" sz="900" b="0" i="0" dirty="0">
                    <a:solidFill>
                      <a:schemeClr val="tx1"/>
                    </a:solidFill>
                    <a:effectLst/>
                    <a:latin typeface="Segoe WPC"/>
                  </a:rPr>
                  <a:t> multiplicative </a:t>
                </a:r>
                <a:r>
                  <a:rPr lang="es-PE" sz="900" b="0" i="0" dirty="0" err="1">
                    <a:solidFill>
                      <a:schemeClr val="tx1"/>
                    </a:solidFill>
                    <a:effectLst/>
                    <a:latin typeface="Segoe WPC"/>
                  </a:rPr>
                  <a:t>relationships</a:t>
                </a:r>
                <a:r>
                  <a:rPr lang="es-PE" sz="900" b="0" i="0" dirty="0">
                    <a:solidFill>
                      <a:schemeClr val="tx1"/>
                    </a:solidFill>
                    <a:effectLst/>
                    <a:latin typeface="Segoe WPC"/>
                  </a:rPr>
                  <a:t>, and </a:t>
                </a:r>
                <a:r>
                  <a:rPr lang="es-PE" sz="900" b="0" i="0" dirty="0" err="1">
                    <a:solidFill>
                      <a:schemeClr val="tx1"/>
                    </a:solidFill>
                    <a:effectLst/>
                    <a:latin typeface="Segoe WPC"/>
                  </a:rPr>
                  <a:t>dummies</a:t>
                </a:r>
                <a:r>
                  <a:rPr lang="es-PE" sz="900" b="0" i="0" dirty="0">
                    <a:solidFill>
                      <a:schemeClr val="tx1"/>
                    </a:solidFill>
                    <a:effectLst/>
                    <a:latin typeface="Segoe WPC"/>
                  </a:rPr>
                  <a:t> can shift </a:t>
                </a:r>
                <a:r>
                  <a:rPr lang="es-PE" sz="900" b="0" i="0" dirty="0" err="1">
                    <a:solidFill>
                      <a:schemeClr val="tx1"/>
                    </a:solidFill>
                    <a:effectLst/>
                    <a:latin typeface="Segoe WPC"/>
                  </a:rPr>
                  <a:t>intercepts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slopes</a:t>
                </a:r>
                <a:r>
                  <a:rPr lang="es-PE" sz="900" b="0" i="0" dirty="0">
                    <a:solidFill>
                      <a:schemeClr val="tx1"/>
                    </a:solidFill>
                    <a:effectLst/>
                    <a:latin typeface="Segoe WPC"/>
                  </a:rPr>
                  <a:t> </a:t>
                </a:r>
                <a:r>
                  <a:rPr lang="es-PE" sz="900" b="0" i="0" dirty="0" err="1">
                    <a:solidFill>
                      <a:schemeClr val="tx1"/>
                    </a:solidFill>
                    <a:effectLst/>
                    <a:latin typeface="Segoe WPC"/>
                  </a:rPr>
                  <a:t>across</a:t>
                </a:r>
                <a:r>
                  <a:rPr lang="es-PE" sz="900" b="0" i="0" dirty="0">
                    <a:solidFill>
                      <a:schemeClr val="tx1"/>
                    </a:solidFill>
                    <a:effectLst/>
                    <a:latin typeface="Segoe WPC"/>
                  </a:rPr>
                  <a:t> </a:t>
                </a:r>
                <a:r>
                  <a:rPr lang="es-PE" sz="900" b="0" i="0" dirty="0" err="1">
                    <a:solidFill>
                      <a:schemeClr val="tx1"/>
                    </a:solidFill>
                    <a:effectLst/>
                    <a:latin typeface="Segoe WPC"/>
                  </a:rPr>
                  <a:t>groups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Logging</a:t>
                </a:r>
                <a:r>
                  <a:rPr lang="es-PE" sz="900" b="0" i="0" dirty="0">
                    <a:solidFill>
                      <a:schemeClr val="tx1"/>
                    </a:solidFill>
                    <a:effectLst/>
                    <a:latin typeface="Segoe WPC"/>
                  </a:rPr>
                  <a:t> can </a:t>
                </a:r>
                <a:r>
                  <a:rPr lang="es-PE" sz="900" b="0" i="0" dirty="0" err="1">
                    <a:solidFill>
                      <a:schemeClr val="tx1"/>
                    </a:solidFill>
                    <a:effectLst/>
                    <a:latin typeface="Segoe WPC"/>
                  </a:rPr>
                  <a:t>straighten</a:t>
                </a:r>
                <a:r>
                  <a:rPr lang="es-PE" sz="900" b="0" i="0" dirty="0">
                    <a:solidFill>
                      <a:schemeClr val="tx1"/>
                    </a:solidFill>
                    <a:effectLst/>
                    <a:latin typeface="Segoe WPC"/>
                  </a:rPr>
                  <a:t> a curve; </a:t>
                </a:r>
                <a:r>
                  <a:rPr lang="es-PE" sz="900" b="0" i="0" dirty="0" err="1">
                    <a:solidFill>
                      <a:schemeClr val="tx1"/>
                    </a:solidFill>
                    <a:effectLst/>
                    <a:latin typeface="Segoe WPC"/>
                  </a:rPr>
                  <a:t>dummies</a:t>
                </a:r>
                <a:r>
                  <a:rPr lang="es-PE" sz="900" b="0" i="0" dirty="0">
                    <a:solidFill>
                      <a:schemeClr val="tx1"/>
                    </a:solidFill>
                    <a:effectLst/>
                    <a:latin typeface="Segoe WPC"/>
                  </a:rPr>
                  <a:t> can </a:t>
                </a:r>
                <a:r>
                  <a:rPr lang="es-PE" sz="900" b="0" i="0" dirty="0" err="1">
                    <a:solidFill>
                      <a:schemeClr val="tx1"/>
                    </a:solidFill>
                    <a:effectLst/>
                    <a:latin typeface="Segoe WPC"/>
                  </a:rPr>
                  <a:t>create</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lines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regimes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Log-log </a:t>
                </a:r>
                <a:r>
                  <a:rPr lang="es-PE" sz="900" b="0" i="0" dirty="0" err="1">
                    <a:solidFill>
                      <a:schemeClr val="tx1"/>
                    </a:solidFill>
                    <a:effectLst/>
                    <a:latin typeface="Segoe WPC"/>
                  </a:rPr>
                  <a:t>model</a:t>
                </a:r>
                <a:r>
                  <a:rPr lang="es-PE" sz="900" b="0" i="0" dirty="0">
                    <a:solidFill>
                      <a:schemeClr val="tx1"/>
                    </a:solidFill>
                    <a:effectLst/>
                    <a:latin typeface="Segoe WPC"/>
                  </a:rPr>
                  <a:t>: </a:t>
                </a:r>
                <a14:m>
                  <m:oMath xmlns:m="http://schemas.openxmlformats.org/officeDocument/2006/math">
                    <m:func>
                      <m:funcPr>
                        <m:ctrlPr>
                          <a:rPr lang="ar-AE" sz="900" i="1">
                            <a:solidFill>
                              <a:schemeClr val="tx1"/>
                            </a:solidFill>
                            <a:latin typeface="Cambria Math" panose="02040503050406030204" pitchFamily="18" charset="0"/>
                          </a:rPr>
                        </m:ctrlPr>
                      </m:funcPr>
                      <m:fName>
                        <m:r>
                          <m:rPr>
                            <m:sty m:val="p"/>
                          </m:rPr>
                          <a:rPr lang="es-PE" sz="900">
                            <a:solidFill>
                              <a:schemeClr val="tx1"/>
                            </a:solidFill>
                            <a:latin typeface="Cambria Math" panose="02040503050406030204" pitchFamily="18" charset="0"/>
                          </a:rPr>
                          <m:t>ln</m:t>
                        </m:r>
                      </m:fName>
                      <m:e>
                        <m:r>
                          <a:rPr lang="ar-AE" sz="900" i="1">
                            <a:solidFill>
                              <a:schemeClr val="tx1"/>
                            </a:solidFill>
                            <a:latin typeface="Cambria Math" panose="02040503050406030204" pitchFamily="18" charset="0"/>
                          </a:rPr>
                          <m:t>𝑌</m:t>
                        </m:r>
                      </m:e>
                    </m:func>
                    <m:r>
                      <a:rPr lang="ar-AE" sz="900" i="0">
                        <a:solidFill>
                          <a:schemeClr val="tx1"/>
                        </a:solidFill>
                        <a:latin typeface="Cambria Math" panose="02040503050406030204" pitchFamily="18" charset="0"/>
                      </a:rPr>
                      <m:t>=</m:t>
                    </m:r>
                    <m:func>
                      <m:funcPr>
                        <m:ctrlPr>
                          <a:rPr lang="ar-AE" sz="900" i="1">
                            <a:solidFill>
                              <a:schemeClr val="tx1"/>
                            </a:solidFill>
                            <a:latin typeface="Cambria Math" panose="02040503050406030204" pitchFamily="18" charset="0"/>
                          </a:rPr>
                        </m:ctrlPr>
                      </m:funcPr>
                      <m:fName>
                        <m:r>
                          <m:rPr>
                            <m:sty m:val="p"/>
                          </m:rPr>
                          <a:rPr lang="es-PE" sz="900" i="0">
                            <a:solidFill>
                              <a:schemeClr val="tx1"/>
                            </a:solidFill>
                            <a:latin typeface="Cambria Math" panose="02040503050406030204" pitchFamily="18" charset="0"/>
                          </a:rPr>
                          <m:t>ln</m:t>
                        </m:r>
                      </m:fName>
                      <m:e>
                        <m:r>
                          <a:rPr lang="ar-AE" sz="900" i="1">
                            <a:solidFill>
                              <a:schemeClr val="tx1"/>
                            </a:solidFill>
                            <a:latin typeface="Cambria Math" panose="02040503050406030204" pitchFamily="18" charset="0"/>
                          </a:rPr>
                          <m:t>𝑎</m:t>
                        </m:r>
                      </m:e>
                    </m:func>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𝛽</m:t>
                    </m:r>
                    <m:func>
                      <m:funcPr>
                        <m:ctrlPr>
                          <a:rPr lang="ar-AE" sz="900" i="1">
                            <a:solidFill>
                              <a:schemeClr val="tx1"/>
                            </a:solidFill>
                            <a:latin typeface="Cambria Math" panose="02040503050406030204" pitchFamily="18" charset="0"/>
                          </a:rPr>
                        </m:ctrlPr>
                      </m:funcPr>
                      <m:fName>
                        <m:r>
                          <m:rPr>
                            <m:sty m:val="p"/>
                          </m:rPr>
                          <a:rPr lang="es-PE" sz="900" i="0">
                            <a:solidFill>
                              <a:schemeClr val="tx1"/>
                            </a:solidFill>
                            <a:latin typeface="Cambria Math" panose="02040503050406030204" pitchFamily="18" charset="0"/>
                          </a:rPr>
                          <m:t>ln</m:t>
                        </m:r>
                      </m:fName>
                      <m:e>
                        <m:r>
                          <a:rPr lang="ar-AE" sz="900" i="1">
                            <a:solidFill>
                              <a:schemeClr val="tx1"/>
                            </a:solidFill>
                            <a:latin typeface="Cambria Math" panose="02040503050406030204" pitchFamily="18" charset="0"/>
                          </a:rPr>
                          <m:t>𝑋</m:t>
                        </m:r>
                      </m:e>
                    </m:func>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𝜀</m:t>
                    </m:r>
                  </m:oMath>
                </a14:m>
                <a:r>
                  <a:rPr lang="ar-AE" sz="900" b="0" i="0" dirty="0">
                    <a:solidFill>
                      <a:schemeClr val="tx1"/>
                    </a:solidFill>
                    <a:effectLst/>
                    <a:latin typeface="Segoe WPC"/>
                  </a:rPr>
                  <a:t>. </a:t>
                </a:r>
                <a:r>
                  <a:rPr lang="es-PE" sz="900" b="0" i="0" dirty="0" err="1">
                    <a:solidFill>
                      <a:schemeClr val="tx1"/>
                    </a:solidFill>
                    <a:effectLst/>
                    <a:latin typeface="Segoe WPC"/>
                  </a:rPr>
                  <a:t>Intercept</a:t>
                </a:r>
                <a:r>
                  <a:rPr lang="es-PE" sz="900" b="0" i="0" dirty="0">
                    <a:solidFill>
                      <a:schemeClr val="tx1"/>
                    </a:solidFill>
                    <a:effectLst/>
                    <a:latin typeface="Segoe WPC"/>
                  </a:rPr>
                  <a:t> </a:t>
                </a:r>
                <a:r>
                  <a:rPr lang="es-PE" sz="900" b="0" i="0" dirty="0" err="1">
                    <a:solidFill>
                      <a:schemeClr val="tx1"/>
                    </a:solidFill>
                    <a:effectLst/>
                    <a:latin typeface="Segoe WPC"/>
                  </a:rPr>
                  <a:t>dummy</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𝑎</m:t>
                    </m:r>
                    <m:r>
                      <a:rPr lang="es-P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𝑎</m:t>
                        </m:r>
                      </m:e>
                      <m:sub>
                        <m:r>
                          <a:rPr lang="ar-AE" sz="900" i="0">
                            <a:solidFill>
                              <a:schemeClr val="tx1"/>
                            </a:solidFill>
                            <a:latin typeface="Cambria Math" panose="02040503050406030204" pitchFamily="18" charset="0"/>
                          </a:rPr>
                          <m:t>1</m:t>
                        </m:r>
                      </m:sub>
                    </m:sSub>
                    <m:r>
                      <a:rPr lang="ar-AE" sz="900" i="1">
                        <a:solidFill>
                          <a:schemeClr val="tx1"/>
                        </a:solidFill>
                        <a:latin typeface="Cambria Math" panose="02040503050406030204" pitchFamily="18" charset="0"/>
                      </a:rPr>
                      <m:t>𝐷</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𝛽</m:t>
                    </m:r>
                    <m:r>
                      <a:rPr lang="ar-AE" sz="900" i="1">
                        <a:solidFill>
                          <a:schemeClr val="tx1"/>
                        </a:solidFill>
                        <a:latin typeface="Cambria Math" panose="02040503050406030204" pitchFamily="18" charset="0"/>
                      </a:rPr>
                      <m:t>𝑋</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𝜀</m:t>
                    </m:r>
                  </m:oMath>
                </a14:m>
                <a:r>
                  <a:rPr lang="ar-AE" sz="900" b="0" i="0" dirty="0">
                    <a:solidFill>
                      <a:schemeClr val="tx1"/>
                    </a:solidFill>
                    <a:effectLst/>
                    <a:latin typeface="Segoe WPC"/>
                  </a:rPr>
                  <a:t>. </a:t>
                </a:r>
                <a:r>
                  <a:rPr lang="es-PE" sz="900" b="0" i="0" dirty="0" err="1">
                    <a:solidFill>
                      <a:schemeClr val="tx1"/>
                    </a:solidFill>
                    <a:effectLst/>
                    <a:latin typeface="Segoe WPC"/>
                  </a:rPr>
                  <a:t>Slope</a:t>
                </a:r>
                <a:r>
                  <a:rPr lang="es-PE" sz="900" b="0" i="0" dirty="0">
                    <a:solidFill>
                      <a:schemeClr val="tx1"/>
                    </a:solidFill>
                    <a:effectLst/>
                    <a:latin typeface="Segoe WPC"/>
                  </a:rPr>
                  <a:t> </a:t>
                </a:r>
                <a:r>
                  <a:rPr lang="es-PE" sz="900" b="0" i="0" dirty="0" err="1">
                    <a:solidFill>
                      <a:schemeClr val="tx1"/>
                    </a:solidFill>
                    <a:effectLst/>
                    <a:latin typeface="Segoe WPC"/>
                  </a:rPr>
                  <a:t>dummy</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𝑎</m:t>
                    </m:r>
                    <m:r>
                      <a:rPr lang="es-P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1</m:t>
                        </m:r>
                      </m:sub>
                    </m:sSub>
                    <m:r>
                      <a:rPr lang="ar-AE" sz="900" i="1">
                        <a:solidFill>
                          <a:schemeClr val="tx1"/>
                        </a:solidFill>
                        <a:latin typeface="Cambria Math" panose="02040503050406030204" pitchFamily="18" charset="0"/>
                      </a:rPr>
                      <m:t>𝑋</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2</m:t>
                        </m:r>
                      </m:sub>
                    </m:sSub>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𝑋𝐷</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𝜀</m:t>
                    </m:r>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In a log-log </a:t>
                </a:r>
                <a:r>
                  <a:rPr lang="es-PE" sz="900" b="0" i="0" dirty="0" err="1">
                    <a:solidFill>
                      <a:schemeClr val="tx1"/>
                    </a:solidFill>
                    <a:effectLst/>
                    <a:latin typeface="Segoe WPC"/>
                  </a:rPr>
                  <a:t>model</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𝛽</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elasticity</a:t>
                </a:r>
                <a:r>
                  <a:rPr lang="es-PE" sz="900" b="0" i="0" dirty="0">
                    <a:solidFill>
                      <a:schemeClr val="tx1"/>
                    </a:solidFill>
                    <a:effectLst/>
                    <a:latin typeface="Segoe WPC"/>
                  </a:rPr>
                  <a:t>. A </a:t>
                </a:r>
                <a:r>
                  <a:rPr lang="es-PE" sz="900" b="0" i="0" dirty="0" err="1">
                    <a:solidFill>
                      <a:schemeClr val="tx1"/>
                    </a:solidFill>
                    <a:effectLst/>
                    <a:latin typeface="Segoe WPC"/>
                  </a:rPr>
                  <a:t>dummy</a:t>
                </a:r>
                <a:r>
                  <a:rPr lang="es-PE" sz="900" b="0" i="0" dirty="0">
                    <a:solidFill>
                      <a:schemeClr val="tx1"/>
                    </a:solidFill>
                    <a:effectLst/>
                    <a:latin typeface="Segoe WPC"/>
                  </a:rPr>
                  <a:t> alone </a:t>
                </a:r>
                <a:r>
                  <a:rPr lang="es-PE" sz="900" b="0" i="0" dirty="0" err="1">
                    <a:solidFill>
                      <a:schemeClr val="tx1"/>
                    </a:solidFill>
                    <a:effectLst/>
                    <a:latin typeface="Segoe WPC"/>
                  </a:rPr>
                  <a:t>shifts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intercept</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interaction</a:t>
                </a:r>
                <a:r>
                  <a:rPr lang="es-PE" sz="900" b="0" i="0" dirty="0">
                    <a:solidFill>
                      <a:schemeClr val="tx1"/>
                    </a:solidFill>
                    <a:effectLst/>
                    <a:latin typeface="Segoe WPC"/>
                  </a:rPr>
                  <a:t> </a:t>
                </a:r>
                <a:r>
                  <a:rPr lang="es-PE" sz="900" b="0" i="0" dirty="0" err="1">
                    <a:solidFill>
                      <a:schemeClr val="tx1"/>
                    </a:solidFill>
                    <a:effectLst/>
                    <a:latin typeface="Segoe WPC"/>
                  </a:rPr>
                  <a:t>dummy</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slope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Interpret</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transformed</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automatically</a:t>
                </a:r>
                <a:r>
                  <a:rPr lang="es-PE" sz="900" b="0" i="0" dirty="0">
                    <a:solidFill>
                      <a:schemeClr val="tx1"/>
                    </a:solidFill>
                    <a:effectLst/>
                    <a:latin typeface="Segoe WPC"/>
                  </a:rPr>
                  <a:t> in original </a:t>
                </a:r>
                <a:r>
                  <a:rPr lang="es-PE" sz="900" b="0" i="0" dirty="0" err="1">
                    <a:solidFill>
                      <a:schemeClr val="tx1"/>
                    </a:solidFill>
                    <a:effectLst/>
                    <a:latin typeface="Segoe WPC"/>
                  </a:rPr>
                  <a:t>units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5. OLS </a:t>
                </a:r>
                <a:r>
                  <a:rPr lang="es-PE" sz="900" b="1" i="0" dirty="0" err="1">
                    <a:solidFill>
                      <a:schemeClr val="tx1"/>
                    </a:solidFill>
                    <a:effectLst/>
                    <a:latin typeface="Segoe WPC"/>
                  </a:rPr>
                  <a:t>Estimation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Ordinary</a:t>
                </a:r>
                <a:r>
                  <a:rPr lang="es-PE" sz="900" b="0" i="0" dirty="0">
                    <a:solidFill>
                      <a:schemeClr val="tx1"/>
                    </a:solidFill>
                    <a:effectLst/>
                    <a:latin typeface="Segoe WPC"/>
                  </a:rPr>
                  <a:t> </a:t>
                </a:r>
                <a:r>
                  <a:rPr lang="es-PE" sz="900" b="0" i="0" dirty="0" err="1">
                    <a:solidFill>
                      <a:schemeClr val="tx1"/>
                    </a:solidFill>
                    <a:effectLst/>
                    <a:latin typeface="Segoe WPC"/>
                  </a:rPr>
                  <a:t>Least</a:t>
                </a:r>
                <a:r>
                  <a:rPr lang="es-PE" sz="900" b="0" i="0" dirty="0">
                    <a:solidFill>
                      <a:schemeClr val="tx1"/>
                    </a:solidFill>
                    <a:effectLst/>
                    <a:latin typeface="Segoe WPC"/>
                  </a:rPr>
                  <a:t> </a:t>
                </a:r>
                <a:r>
                  <a:rPr lang="es-PE" sz="900" b="0" i="0" dirty="0" err="1">
                    <a:solidFill>
                      <a:schemeClr val="tx1"/>
                    </a:solidFill>
                    <a:effectLst/>
                    <a:latin typeface="Segoe WPC"/>
                  </a:rPr>
                  <a:t>Squares</a:t>
                </a:r>
                <a:r>
                  <a:rPr lang="es-PE" sz="900" b="0" i="0" dirty="0">
                    <a:solidFill>
                      <a:schemeClr val="tx1"/>
                    </a:solidFill>
                    <a:effectLst/>
                    <a:latin typeface="Segoe WPC"/>
                  </a:rPr>
                  <a:t> </a:t>
                </a:r>
                <a:r>
                  <a:rPr lang="es-PE" sz="900" b="0" i="0" dirty="0" err="1">
                    <a:solidFill>
                      <a:schemeClr val="tx1"/>
                    </a:solidFill>
                    <a:effectLst/>
                    <a:latin typeface="Segoe WPC"/>
                  </a:rPr>
                  <a:t>estimates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line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minimizes</a:t>
                </a:r>
                <a:r>
                  <a:rPr lang="es-PE" sz="900" b="0" i="0" dirty="0">
                    <a:solidFill>
                      <a:schemeClr val="tx1"/>
                    </a:solidFill>
                    <a:effectLst/>
                    <a:latin typeface="Segoe WPC"/>
                  </a:rPr>
                  <a:t> </a:t>
                </a:r>
                <a:r>
                  <a:rPr lang="es-PE" sz="900" b="0" i="0" dirty="0" err="1">
                    <a:solidFill>
                      <a:schemeClr val="tx1"/>
                    </a:solidFill>
                    <a:effectLst/>
                    <a:latin typeface="Segoe WPC"/>
                  </a:rPr>
                  <a:t>squared</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Pick </a:t>
                </a:r>
                <a:r>
                  <a:rPr lang="es-PE" sz="900" b="0" i="0" dirty="0" err="1">
                    <a:solidFill>
                      <a:schemeClr val="tx1"/>
                    </a:solidFill>
                    <a:effectLst/>
                    <a:latin typeface="Segoe WPC"/>
                  </a:rPr>
                  <a:t>the</a:t>
                </a:r>
                <a:r>
                  <a:rPr lang="es-PE" sz="900" b="0" i="0" dirty="0">
                    <a:solidFill>
                      <a:schemeClr val="tx1"/>
                    </a:solidFill>
                    <a:effectLst/>
                    <a:latin typeface="Segoe WPC"/>
                  </a:rPr>
                  <a:t> line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makes</a:t>
                </a:r>
                <a:r>
                  <a:rPr lang="es-PE" sz="900" b="0" i="0" dirty="0">
                    <a:solidFill>
                      <a:schemeClr val="tx1"/>
                    </a:solidFill>
                    <a:effectLst/>
                    <a:latin typeface="Segoe WPC"/>
                  </a:rPr>
                  <a:t> </a:t>
                </a:r>
                <a:r>
                  <a:rPr lang="es-PE" sz="900" b="0" i="0" dirty="0" err="1">
                    <a:solidFill>
                      <a:schemeClr val="tx1"/>
                    </a:solidFill>
                    <a:effectLst/>
                    <a:latin typeface="Segoe WPC"/>
                  </a:rPr>
                  <a:t>prediction</a:t>
                </a:r>
                <a:r>
                  <a:rPr lang="es-PE" sz="900" b="0" i="0" dirty="0">
                    <a:solidFill>
                      <a:schemeClr val="tx1"/>
                    </a:solidFill>
                    <a:effectLst/>
                    <a:latin typeface="Segoe WPC"/>
                  </a:rPr>
                  <a:t> </a:t>
                </a:r>
                <a:r>
                  <a:rPr lang="es-PE" sz="900" b="0" i="0" dirty="0" err="1">
                    <a:solidFill>
                      <a:schemeClr val="tx1"/>
                    </a:solidFill>
                    <a:effectLst/>
                    <a:latin typeface="Segoe WPC"/>
                  </a:rPr>
                  <a:t>errors</a:t>
                </a:r>
                <a:r>
                  <a:rPr lang="es-PE" sz="900" b="0" i="0" dirty="0">
                    <a:solidFill>
                      <a:schemeClr val="tx1"/>
                    </a:solidFill>
                    <a:effectLst/>
                    <a:latin typeface="Segoe WPC"/>
                  </a:rPr>
                  <a:t> as </a:t>
                </a:r>
                <a:r>
                  <a:rPr lang="es-PE" sz="900" b="0" i="0" dirty="0" err="1">
                    <a:solidFill>
                      <a:schemeClr val="tx1"/>
                    </a:solidFill>
                    <a:effectLst/>
                    <a:latin typeface="Segoe WPC"/>
                  </a:rPr>
                  <a:t>small</a:t>
                </a:r>
                <a:r>
                  <a:rPr lang="es-PE" sz="900" b="0" i="0" dirty="0">
                    <a:solidFill>
                      <a:schemeClr val="tx1"/>
                    </a:solidFill>
                    <a:effectLst/>
                    <a:latin typeface="Segoe WPC"/>
                  </a:rPr>
                  <a:t> as </a:t>
                </a:r>
                <a:r>
                  <a:rPr lang="es-PE" sz="900" b="0" i="0" dirty="0" err="1">
                    <a:solidFill>
                      <a:schemeClr val="tx1"/>
                    </a:solidFill>
                    <a:effectLst/>
                    <a:latin typeface="Segoe WPC"/>
                  </a:rPr>
                  <a:t>possible</a:t>
                </a:r>
                <a:r>
                  <a:rPr lang="es-PE" sz="900" b="0" i="0" dirty="0">
                    <a:solidFill>
                      <a:schemeClr val="tx1"/>
                    </a:solidFill>
                    <a:effectLst/>
                    <a:latin typeface="Segoe WPC"/>
                  </a:rPr>
                  <a:t> </a:t>
                </a:r>
                <a:r>
                  <a:rPr lang="es-PE" sz="900" b="0" i="0" dirty="0" err="1">
                    <a:solidFill>
                      <a:schemeClr val="tx1"/>
                    </a:solidFill>
                    <a:effectLst/>
                    <a:latin typeface="Segoe WPC"/>
                  </a:rPr>
                  <a:t>overall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Minimize</a:t>
                </a:r>
                <a:r>
                  <a:rPr lang="es-PE" sz="900" b="0" i="0" dirty="0">
                    <a:solidFill>
                      <a:schemeClr val="tx1"/>
                    </a:solidFill>
                    <a:effectLst/>
                    <a:latin typeface="Segoe WPC"/>
                  </a:rPr>
                  <a:t> </a:t>
                </a:r>
                <a:r>
                  <a:rPr lang="es-PE" sz="900" b="0" i="0" dirty="0" err="1">
                    <a:solidFill>
                      <a:schemeClr val="tx1"/>
                    </a:solidFill>
                    <a:effectLst/>
                    <a:latin typeface="Segoe WPC"/>
                  </a:rPr>
                  <a:t>squared</a:t>
                </a:r>
                <a:r>
                  <a:rPr lang="es-PE" sz="900" b="0" i="0" dirty="0">
                    <a:solidFill>
                      <a:schemeClr val="tx1"/>
                    </a:solidFill>
                    <a:effectLst/>
                    <a:latin typeface="Segoe WPC"/>
                  </a:rPr>
                  <a:t> vertical </a:t>
                </a:r>
                <a:r>
                  <a:rPr lang="es-PE" sz="900" b="0" i="0" dirty="0" err="1">
                    <a:solidFill>
                      <a:schemeClr val="tx1"/>
                    </a:solidFill>
                    <a:effectLst/>
                    <a:latin typeface="Segoe WPC"/>
                  </a:rPr>
                  <a:t>distances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data </a:t>
                </a:r>
                <a:r>
                  <a:rPr lang="es-PE" sz="900" b="0" i="0" dirty="0" err="1">
                    <a:solidFill>
                      <a:schemeClr val="tx1"/>
                    </a:solidFill>
                    <a:effectLst/>
                    <a:latin typeface="Segoe WPC"/>
                  </a:rPr>
                  <a:t>points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fitted</a:t>
                </a:r>
                <a:r>
                  <a:rPr lang="es-PE" sz="900" b="0" i="0" dirty="0">
                    <a:solidFill>
                      <a:schemeClr val="tx1"/>
                    </a:solidFill>
                    <a:effectLst/>
                    <a:latin typeface="Segoe WPC"/>
                  </a:rPr>
                  <a:t> line.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d>
                      <m:dPr>
                        <m:sepChr m:val=","/>
                        <m:ctrlPr>
                          <a:rPr lang="ar-AE" sz="900" i="1">
                            <a:solidFill>
                              <a:schemeClr val="tx1"/>
                            </a:solidFill>
                            <a:latin typeface="Cambria Math" panose="02040503050406030204" pitchFamily="18" charset="0"/>
                          </a:rPr>
                        </m:ctrlPr>
                      </m:d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𝑎</m:t>
                            </m:r>
                          </m:e>
                        </m:acc>
                      </m:e>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𝛽</m:t>
                            </m:r>
                          </m:e>
                        </m:acc>
                      </m:e>
                    </m:d>
                    <m:r>
                      <a:rPr lang="ar-AE" sz="900" i="0">
                        <a:solidFill>
                          <a:schemeClr val="tx1"/>
                        </a:solidFill>
                        <a:latin typeface="Cambria Math" panose="02040503050406030204" pitchFamily="18" charset="0"/>
                      </a:rPr>
                      <m:t>=</m:t>
                    </m:r>
                    <m:func>
                      <m:funcPr>
                        <m:ctrlPr>
                          <a:rPr lang="ar-AE" sz="900" i="1">
                            <a:solidFill>
                              <a:schemeClr val="tx1"/>
                            </a:solidFill>
                            <a:latin typeface="Cambria Math" panose="02040503050406030204" pitchFamily="18" charset="0"/>
                          </a:rPr>
                        </m:ctrlPr>
                      </m:funcPr>
                      <m:fName>
                        <m:func>
                          <m:funcPr>
                            <m:ctrlPr>
                              <a:rPr lang="ar-AE" sz="900" i="1">
                                <a:solidFill>
                                  <a:schemeClr val="tx1"/>
                                </a:solidFill>
                                <a:latin typeface="Cambria Math" panose="02040503050406030204" pitchFamily="18" charset="0"/>
                              </a:rPr>
                            </m:ctrlPr>
                          </m:funcPr>
                          <m:fName>
                            <m:r>
                              <m:rPr>
                                <m:sty m:val="p"/>
                              </m:rPr>
                              <a:rPr lang="es-PE" sz="900" i="0">
                                <a:solidFill>
                                  <a:schemeClr val="tx1"/>
                                </a:solidFill>
                                <a:latin typeface="Cambria Math" panose="02040503050406030204" pitchFamily="18" charset="0"/>
                              </a:rPr>
                              <m:t>arg</m:t>
                            </m:r>
                          </m:fName>
                          <m:e>
                            <m:r>
                              <m:rPr>
                                <m:sty m:val="p"/>
                              </m:rPr>
                              <a:rPr lang="es-PE" sz="900" i="0">
                                <a:solidFill>
                                  <a:schemeClr val="tx1"/>
                                </a:solidFill>
                                <a:latin typeface="Cambria Math" panose="02040503050406030204" pitchFamily="18" charset="0"/>
                              </a:rPr>
                              <m:t>min</m:t>
                            </m:r>
                          </m:e>
                        </m:func>
                      </m:fName>
                      <m:e>
                        <m:r>
                          <a:rPr lang="ar-AE" sz="900" i="0">
                            <a:solidFill>
                              <a:schemeClr val="tx1"/>
                            </a:solidFill>
                            <a:latin typeface="Cambria Math" panose="02040503050406030204" pitchFamily="18" charset="0"/>
                          </a:rPr>
                          <m:t>∑</m:t>
                        </m:r>
                      </m:e>
                    </m:func>
                    <m:d>
                      <m:dPr>
                        <m:end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𝑦</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𝑎</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𝛽</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𝑖</m:t>
                            </m:r>
                          </m:sub>
                        </m:sSub>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e>
                    </m:d>
                  </m:oMath>
                </a14:m>
                <a:r>
                  <a:rPr lang="ar-AE" sz="900" b="0" i="0" dirty="0">
                    <a:solidFill>
                      <a:schemeClr val="tx1"/>
                    </a:solidFill>
                    <a:effectLst/>
                    <a:latin typeface="Segoe WPC"/>
                  </a:rPr>
                  <a:t>, </a:t>
                </a:r>
                <a14:m>
                  <m:oMath xmlns:m="http://schemas.openxmlformats.org/officeDocument/2006/math">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𝛽</m:t>
                        </m:r>
                      </m:e>
                    </m:acc>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nary>
                          <m:naryPr>
                            <m:chr m:val="∑"/>
                            <m:grow m:val="on"/>
                            <m:subHide m:val="on"/>
                            <m:supHide m:val="on"/>
                            <m:ctrlPr>
                              <a:rPr lang="ar-AE" sz="900" i="1">
                                <a:solidFill>
                                  <a:schemeClr val="tx1"/>
                                </a:solidFill>
                                <a:latin typeface="Cambria Math" panose="02040503050406030204" pitchFamily="18" charset="0"/>
                              </a:rPr>
                            </m:ctrlPr>
                          </m:naryPr>
                          <m:sub/>
                          <m:sup/>
                          <m:e>
                            <m:r>
                              <a:rPr lang="ar-AE" sz="900" i="0">
                                <a:solidFill>
                                  <a:schemeClr val="tx1"/>
                                </a:solidFill>
                                <a:latin typeface="Cambria Math" panose="02040503050406030204" pitchFamily="18" charset="0"/>
                              </a:rPr>
                              <m:t>(</m:t>
                            </m:r>
                          </m:e>
                        </m:nary>
                        <m:d>
                          <m:dPr>
                            <m:beg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limUpp>
                              <m:limUppPr>
                                <m:ctrlPr>
                                  <a:rPr lang="ar-AE" sz="900" i="1">
                                    <a:solidFill>
                                      <a:schemeClr val="tx1"/>
                                    </a:solidFill>
                                    <a:latin typeface="Cambria Math" panose="02040503050406030204" pitchFamily="18" charset="0"/>
                                  </a:rPr>
                                </m:ctrlPr>
                              </m:limUppPr>
                              <m:e>
                                <m:r>
                                  <a:rPr lang="ar-AE" sz="900" i="1">
                                    <a:solidFill>
                                      <a:schemeClr val="tx1"/>
                                    </a:solidFill>
                                    <a:latin typeface="Cambria Math" panose="02040503050406030204" pitchFamily="18" charset="0"/>
                                  </a:rPr>
                                  <m:t>𝑥</m:t>
                                </m:r>
                              </m:e>
                              <m:lim>
                                <m:r>
                                  <a:rPr lang="ar-AE" sz="900" i="0">
                                    <a:solidFill>
                                      <a:schemeClr val="tx1"/>
                                    </a:solidFill>
                                    <a:latin typeface="Cambria Math" panose="02040503050406030204" pitchFamily="18" charset="0"/>
                                  </a:rPr>
                                  <m:t>ˉ</m:t>
                                </m:r>
                              </m:lim>
                            </m:limUpp>
                          </m:e>
                        </m:d>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𝑦</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limUpp>
                              <m:limUppPr>
                                <m:ctrlPr>
                                  <a:rPr lang="ar-AE" sz="900" i="1">
                                    <a:solidFill>
                                      <a:schemeClr val="tx1"/>
                                    </a:solidFill>
                                    <a:latin typeface="Cambria Math" panose="02040503050406030204" pitchFamily="18" charset="0"/>
                                  </a:rPr>
                                </m:ctrlPr>
                              </m:limUppPr>
                              <m:e>
                                <m:r>
                                  <a:rPr lang="ar-AE" sz="900" i="1">
                                    <a:solidFill>
                                      <a:schemeClr val="tx1"/>
                                    </a:solidFill>
                                    <a:latin typeface="Cambria Math" panose="02040503050406030204" pitchFamily="18" charset="0"/>
                                  </a:rPr>
                                  <m:t>𝑦</m:t>
                                </m:r>
                              </m:e>
                              <m:lim>
                                <m:r>
                                  <a:rPr lang="ar-AE" sz="900" i="0">
                                    <a:solidFill>
                                      <a:schemeClr val="tx1"/>
                                    </a:solidFill>
                                    <a:latin typeface="Cambria Math" panose="02040503050406030204" pitchFamily="18" charset="0"/>
                                  </a:rPr>
                                  <m:t>ˉ</m:t>
                                </m:r>
                              </m:lim>
                            </m:limUpp>
                          </m:e>
                        </m:d>
                      </m:num>
                      <m:den>
                        <m:nary>
                          <m:naryPr>
                            <m:chr m:val="∑"/>
                            <m:grow m:val="on"/>
                            <m:subHide m:val="on"/>
                            <m:supHide m:val="on"/>
                            <m:ctrlPr>
                              <a:rPr lang="ar-AE" sz="900" i="1">
                                <a:solidFill>
                                  <a:schemeClr val="tx1"/>
                                </a:solidFill>
                                <a:latin typeface="Cambria Math" panose="02040503050406030204" pitchFamily="18" charset="0"/>
                              </a:rPr>
                            </m:ctrlPr>
                          </m:naryPr>
                          <m:sub/>
                          <m:sup/>
                          <m:e>
                            <m:r>
                              <a:rPr lang="ar-AE" sz="900" i="0">
                                <a:solidFill>
                                  <a:schemeClr val="tx1"/>
                                </a:solidFill>
                                <a:latin typeface="Cambria Math" panose="02040503050406030204" pitchFamily="18" charset="0"/>
                              </a:rPr>
                              <m:t>(</m:t>
                            </m:r>
                          </m:e>
                        </m:nary>
                        <m:d>
                          <m:dPr>
                            <m:begChr m:val=""/>
                            <m:end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limUpp>
                              <m:limUppPr>
                                <m:ctrlPr>
                                  <a:rPr lang="ar-AE" sz="900" i="1">
                                    <a:solidFill>
                                      <a:schemeClr val="tx1"/>
                                    </a:solidFill>
                                    <a:latin typeface="Cambria Math" panose="02040503050406030204" pitchFamily="18" charset="0"/>
                                  </a:rPr>
                                </m:ctrlPr>
                              </m:limUppPr>
                              <m:e>
                                <m:r>
                                  <a:rPr lang="ar-AE" sz="900" i="1">
                                    <a:solidFill>
                                      <a:schemeClr val="tx1"/>
                                    </a:solidFill>
                                    <a:latin typeface="Cambria Math" panose="02040503050406030204" pitchFamily="18" charset="0"/>
                                  </a:rPr>
                                  <m:t>𝑥</m:t>
                                </m:r>
                              </m:e>
                              <m:lim>
                                <m:r>
                                  <a:rPr lang="ar-AE" sz="900" i="0">
                                    <a:solidFill>
                                      <a:schemeClr val="tx1"/>
                                    </a:solidFill>
                                    <a:latin typeface="Cambria Math" panose="02040503050406030204" pitchFamily="18" charset="0"/>
                                  </a:rPr>
                                  <m:t>ˉ</m:t>
                                </m:r>
                              </m:lim>
                            </m:limUpp>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e>
                        </m:d>
                      </m:den>
                    </m:f>
                  </m:oMath>
                </a14:m>
                <a:r>
                  <a:rPr lang="ar-AE" sz="900" b="0" i="0" dirty="0">
                    <a:solidFill>
                      <a:schemeClr val="tx1"/>
                    </a:solidFill>
                    <a:effectLst/>
                    <a:latin typeface="Segoe WPC"/>
                  </a:rPr>
                  <a:t>, </a:t>
                </a:r>
                <a:r>
                  <a:rPr lang="es-PE" sz="900" b="0" i="0" dirty="0">
                    <a:solidFill>
                      <a:schemeClr val="tx1"/>
                    </a:solidFill>
                    <a:effectLst/>
                    <a:latin typeface="Segoe WPC"/>
                  </a:rPr>
                  <a:t>and </a:t>
                </a:r>
                <a14:m>
                  <m:oMath xmlns:m="http://schemas.openxmlformats.org/officeDocument/2006/math">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𝑎</m:t>
                        </m:r>
                      </m:e>
                    </m:acc>
                    <m:r>
                      <a:rPr lang="ar-AE" sz="900" i="0">
                        <a:solidFill>
                          <a:schemeClr val="tx1"/>
                        </a:solidFill>
                        <a:latin typeface="Cambria Math" panose="02040503050406030204" pitchFamily="18" charset="0"/>
                      </a:rPr>
                      <m:t>=</m:t>
                    </m:r>
                    <m:limUpp>
                      <m:limUppPr>
                        <m:ctrlPr>
                          <a:rPr lang="ar-AE" sz="900" i="1">
                            <a:solidFill>
                              <a:schemeClr val="tx1"/>
                            </a:solidFill>
                            <a:latin typeface="Cambria Math" panose="02040503050406030204" pitchFamily="18" charset="0"/>
                          </a:rPr>
                        </m:ctrlPr>
                      </m:limUppPr>
                      <m:e>
                        <m:r>
                          <a:rPr lang="ar-AE" sz="900" i="1">
                            <a:solidFill>
                              <a:schemeClr val="tx1"/>
                            </a:solidFill>
                            <a:latin typeface="Cambria Math" panose="02040503050406030204" pitchFamily="18" charset="0"/>
                          </a:rPr>
                          <m:t>𝑦</m:t>
                        </m:r>
                      </m:e>
                      <m:lim>
                        <m:r>
                          <a:rPr lang="ar-AE" sz="900" i="0">
                            <a:solidFill>
                              <a:schemeClr val="tx1"/>
                            </a:solidFill>
                            <a:latin typeface="Cambria Math" panose="02040503050406030204" pitchFamily="18" charset="0"/>
                          </a:rPr>
                          <m:t>ˉ</m:t>
                        </m:r>
                      </m:lim>
                    </m:limUpp>
                    <m:r>
                      <a:rPr lang="ar-AE" sz="900" i="0">
                        <a:solidFill>
                          <a:schemeClr val="tx1"/>
                        </a:solidFill>
                        <a:latin typeface="Cambria Math" panose="02040503050406030204" pitchFamily="18" charset="0"/>
                      </a:rPr>
                      <m:t>−</m:t>
                    </m:r>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𝛽</m:t>
                        </m:r>
                      </m:e>
                    </m:acc>
                    <m:limUpp>
                      <m:limUppPr>
                        <m:ctrlPr>
                          <a:rPr lang="ar-AE" sz="900" i="1">
                            <a:solidFill>
                              <a:schemeClr val="tx1"/>
                            </a:solidFill>
                            <a:latin typeface="Cambria Math" panose="02040503050406030204" pitchFamily="18" charset="0"/>
                          </a:rPr>
                        </m:ctrlPr>
                      </m:limUppPr>
                      <m:e>
                        <m:r>
                          <a:rPr lang="ar-AE" sz="900" i="1">
                            <a:solidFill>
                              <a:schemeClr val="tx1"/>
                            </a:solidFill>
                            <a:latin typeface="Cambria Math" panose="02040503050406030204" pitchFamily="18" charset="0"/>
                          </a:rPr>
                          <m:t>𝑥</m:t>
                        </m:r>
                      </m:e>
                      <m:lim>
                        <m:r>
                          <a:rPr lang="ar-AE" sz="900" i="0">
                            <a:solidFill>
                              <a:schemeClr val="tx1"/>
                            </a:solidFill>
                            <a:latin typeface="Cambria Math" panose="02040503050406030204" pitchFamily="18" charset="0"/>
                          </a:rPr>
                          <m:t>ˉ</m:t>
                        </m:r>
                      </m:lim>
                    </m:limUpp>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slope</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covariance</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𝑋</m:t>
                    </m:r>
                  </m:oMath>
                </a14:m>
                <a:r>
                  <a:rPr lang="es-PE" sz="900" b="0" i="0" dirty="0">
                    <a:solidFill>
                      <a:schemeClr val="tx1"/>
                    </a:solidFill>
                    <a:effectLst/>
                    <a:latin typeface="Segoe WPC"/>
                  </a:rPr>
                  <a:t> and </a:t>
                </a:r>
                <a14:m>
                  <m:oMath xmlns:m="http://schemas.openxmlformats.org/officeDocument/2006/math">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relative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𝑋</m:t>
                    </m:r>
                  </m:oMath>
                </a14:m>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fitted</a:t>
                </a:r>
                <a:r>
                  <a:rPr lang="es-PE" sz="900" b="0" i="0" dirty="0">
                    <a:solidFill>
                      <a:schemeClr val="tx1"/>
                    </a:solidFill>
                    <a:effectLst/>
                    <a:latin typeface="Segoe WPC"/>
                  </a:rPr>
                  <a:t> line </a:t>
                </a:r>
                <a:r>
                  <a:rPr lang="es-PE" sz="900" b="0" i="0" dirty="0" err="1">
                    <a:solidFill>
                      <a:schemeClr val="tx1"/>
                    </a:solidFill>
                    <a:effectLst/>
                    <a:latin typeface="Segoe WPC"/>
                  </a:rPr>
                  <a:t>passes</a:t>
                </a:r>
                <a:r>
                  <a:rPr lang="es-PE" sz="900" b="0" i="0" dirty="0">
                    <a:solidFill>
                      <a:schemeClr val="tx1"/>
                    </a:solidFill>
                    <a:effectLst/>
                    <a:latin typeface="Segoe WPC"/>
                  </a:rPr>
                  <a:t> </a:t>
                </a:r>
                <a:r>
                  <a:rPr lang="es-PE" sz="900" b="0" i="0" dirty="0" err="1">
                    <a:solidFill>
                      <a:schemeClr val="tx1"/>
                    </a:solidFill>
                    <a:effectLst/>
                    <a:latin typeface="Segoe WPC"/>
                  </a:rPr>
                  <a:t>through</a:t>
                </a:r>
                <a:r>
                  <a:rPr lang="es-PE" sz="900" b="0" i="0" dirty="0">
                    <a:solidFill>
                      <a:schemeClr val="tx1"/>
                    </a:solidFill>
                    <a:effectLst/>
                    <a:latin typeface="Segoe WPC"/>
                  </a:rPr>
                  <a:t> </a:t>
                </a:r>
                <a14:m>
                  <m:oMath xmlns:m="http://schemas.openxmlformats.org/officeDocument/2006/math">
                    <m:d>
                      <m:dPr>
                        <m:sepChr m:val=","/>
                        <m:ctrlPr>
                          <a:rPr lang="ar-AE" sz="900" i="1">
                            <a:solidFill>
                              <a:schemeClr val="tx1"/>
                            </a:solidFill>
                            <a:latin typeface="Cambria Math" panose="02040503050406030204" pitchFamily="18" charset="0"/>
                          </a:rPr>
                        </m:ctrlPr>
                      </m:dPr>
                      <m:e>
                        <m:limUpp>
                          <m:limUppPr>
                            <m:ctrlPr>
                              <a:rPr lang="ar-AE" sz="900" i="1">
                                <a:solidFill>
                                  <a:schemeClr val="tx1"/>
                                </a:solidFill>
                                <a:latin typeface="Cambria Math" panose="02040503050406030204" pitchFamily="18" charset="0"/>
                              </a:rPr>
                            </m:ctrlPr>
                          </m:limUppPr>
                          <m:e>
                            <m:r>
                              <a:rPr lang="ar-AE" sz="900" i="1">
                                <a:solidFill>
                                  <a:schemeClr val="tx1"/>
                                </a:solidFill>
                                <a:latin typeface="Cambria Math" panose="02040503050406030204" pitchFamily="18" charset="0"/>
                              </a:rPr>
                              <m:t>𝑥</m:t>
                            </m:r>
                          </m:e>
                          <m:lim>
                            <m:r>
                              <a:rPr lang="ar-AE" sz="900" i="0">
                                <a:solidFill>
                                  <a:schemeClr val="tx1"/>
                                </a:solidFill>
                                <a:latin typeface="Cambria Math" panose="02040503050406030204" pitchFamily="18" charset="0"/>
                              </a:rPr>
                              <m:t>ˉ</m:t>
                            </m:r>
                          </m:lim>
                        </m:limUpp>
                      </m:e>
                      <m:e>
                        <m:limUpp>
                          <m:limUppPr>
                            <m:ctrlPr>
                              <a:rPr lang="ar-AE" sz="900" i="1">
                                <a:solidFill>
                                  <a:schemeClr val="tx1"/>
                                </a:solidFill>
                                <a:latin typeface="Cambria Math" panose="02040503050406030204" pitchFamily="18" charset="0"/>
                              </a:rPr>
                            </m:ctrlPr>
                          </m:limUppPr>
                          <m:e>
                            <m:r>
                              <a:rPr lang="ar-AE" sz="900" i="1">
                                <a:solidFill>
                                  <a:schemeClr val="tx1"/>
                                </a:solidFill>
                                <a:latin typeface="Cambria Math" panose="02040503050406030204" pitchFamily="18" charset="0"/>
                              </a:rPr>
                              <m:t>𝑦</m:t>
                            </m:r>
                          </m:e>
                          <m:lim>
                            <m:r>
                              <a:rPr lang="ar-AE" sz="900" i="0">
                                <a:solidFill>
                                  <a:schemeClr val="tx1"/>
                                </a:solidFill>
                                <a:latin typeface="Cambria Math" panose="02040503050406030204" pitchFamily="18" charset="0"/>
                              </a:rPr>
                              <m:t>ˉ</m:t>
                            </m:r>
                          </m:lim>
                        </m:limUpp>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𝑋</m:t>
                    </m:r>
                  </m:oMath>
                </a14:m>
                <a:r>
                  <a:rPr lang="es-PE" sz="900" b="0" i="0" dirty="0">
                    <a:solidFill>
                      <a:schemeClr val="tx1"/>
                    </a:solidFill>
                    <a:effectLst/>
                    <a:latin typeface="Segoe WPC"/>
                  </a:rPr>
                  <a:t> has no </a:t>
                </a:r>
                <a:r>
                  <a:rPr lang="es-PE" sz="900" b="0" i="0" dirty="0" err="1">
                    <a:solidFill>
                      <a:schemeClr val="tx1"/>
                    </a:solidFill>
                    <a:effectLst/>
                    <a:latin typeface="Segoe WPC"/>
                  </a:rPr>
                  <a:t>variation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slope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undefined</a:t>
                </a:r>
                <a:r>
                  <a:rPr lang="es-PE" sz="900" b="0" i="0" dirty="0">
                    <a:solidFill>
                      <a:schemeClr val="tx1"/>
                    </a:solidFill>
                    <a:effectLst/>
                    <a:latin typeface="Segoe WPC"/>
                  </a:rPr>
                  <a:t>.</a:t>
                </a:r>
              </a:p>
            </p:txBody>
          </p:sp>
        </mc:Choice>
        <mc:Fallback xmlns="">
          <p:sp>
            <p:nvSpPr>
              <p:cNvPr id="14" name="CuadroTexto 13">
                <a:extLst>
                  <a:ext uri="{FF2B5EF4-FFF2-40B4-BE49-F238E27FC236}">
                    <a16:creationId xmlns:a16="http://schemas.microsoft.com/office/drawing/2014/main" id="{78D135DA-FF79-E04A-491E-F12650F1BCF9}"/>
                  </a:ext>
                </a:extLst>
              </p:cNvPr>
              <p:cNvSpPr txBox="1">
                <a:spLocks noRot="1" noChangeAspect="1" noMove="1" noResize="1" noEditPoints="1" noAdjustHandles="1" noChangeArrowheads="1" noChangeShapeType="1" noTextEdit="1"/>
              </p:cNvSpPr>
              <p:nvPr/>
            </p:nvSpPr>
            <p:spPr>
              <a:xfrm>
                <a:off x="-1" y="264680"/>
                <a:ext cx="6408057" cy="6668685"/>
              </a:xfrm>
              <a:prstGeom prst="rect">
                <a:avLst/>
              </a:prstGeom>
              <a:blipFill>
                <a:blip r:embed="rId2"/>
                <a:stretch>
                  <a:fillRect b="-823"/>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4C463D69-69B5-E26A-3F3E-2461F8251DF3}"/>
                  </a:ext>
                </a:extLst>
              </p:cNvPr>
              <p:cNvSpPr txBox="1"/>
              <p:nvPr/>
            </p:nvSpPr>
            <p:spPr>
              <a:xfrm>
                <a:off x="6349521" y="452981"/>
                <a:ext cx="5414849" cy="6238183"/>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6. </a:t>
                </a:r>
                <a:r>
                  <a:rPr lang="es-PE" sz="900" b="1" i="0" dirty="0" err="1">
                    <a:solidFill>
                      <a:schemeClr val="tx1"/>
                    </a:solidFill>
                    <a:effectLst/>
                    <a:latin typeface="Segoe WPC"/>
                  </a:rPr>
                  <a:t>Fitted</a:t>
                </a:r>
                <a:r>
                  <a:rPr lang="es-PE" sz="900" b="1" i="0" dirty="0">
                    <a:solidFill>
                      <a:schemeClr val="tx1"/>
                    </a:solidFill>
                    <a:effectLst/>
                    <a:latin typeface="Segoe WPC"/>
                  </a:rPr>
                  <a:t> </a:t>
                </a:r>
                <a:r>
                  <a:rPr lang="es-PE" sz="900" b="1" i="0" dirty="0" err="1">
                    <a:solidFill>
                      <a:schemeClr val="tx1"/>
                    </a:solidFill>
                    <a:effectLst/>
                    <a:latin typeface="Segoe WPC"/>
                  </a:rPr>
                  <a:t>Values</a:t>
                </a:r>
                <a:r>
                  <a:rPr lang="es-PE" sz="900" b="1" i="0" dirty="0">
                    <a:solidFill>
                      <a:schemeClr val="tx1"/>
                    </a:solidFill>
                    <a:effectLst/>
                    <a:latin typeface="Segoe WPC"/>
                  </a:rPr>
                  <a:t>, </a:t>
                </a:r>
                <a:r>
                  <a:rPr lang="es-PE" sz="900" b="1" i="0" dirty="0" err="1">
                    <a:solidFill>
                      <a:schemeClr val="tx1"/>
                    </a:solidFill>
                    <a:effectLst/>
                    <a:latin typeface="Segoe WPC"/>
                  </a:rPr>
                  <a:t>Residuals</a:t>
                </a:r>
                <a:r>
                  <a:rPr lang="es-PE" sz="900" b="1" i="0" dirty="0">
                    <a:solidFill>
                      <a:schemeClr val="tx1"/>
                    </a:solidFill>
                    <a:effectLst/>
                    <a:latin typeface="Segoe WPC"/>
                  </a:rPr>
                  <a:t>, and </a:t>
                </a:r>
                <a:r>
                  <a:rPr lang="es-PE" sz="900" b="1" i="0" dirty="0" err="1">
                    <a:solidFill>
                      <a:schemeClr val="tx1"/>
                    </a:solidFill>
                    <a:effectLst/>
                    <a:latin typeface="Segoe WPC"/>
                  </a:rPr>
                  <a:t>Fit</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OLS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fitted</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error-</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estimate</a:t>
                </a:r>
                <a:r>
                  <a:rPr lang="es-PE" sz="900" b="0" i="0" dirty="0">
                    <a:solidFill>
                      <a:schemeClr val="tx1"/>
                    </a:solidFill>
                    <a:effectLst/>
                    <a:latin typeface="Segoe WPC"/>
                  </a:rPr>
                  <a:t>, and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fitted</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prediction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residual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leftover</a:t>
                </a:r>
                <a:r>
                  <a:rPr lang="es-PE" sz="900" b="0" i="0" dirty="0">
                    <a:solidFill>
                      <a:schemeClr val="tx1"/>
                    </a:solidFill>
                    <a:effectLst/>
                    <a:latin typeface="Segoe WPC"/>
                  </a:rPr>
                  <a:t> error, and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well</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fits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are </a:t>
                </a:r>
                <a:r>
                  <a:rPr lang="es-PE" sz="900" b="0" i="0" dirty="0" err="1">
                    <a:solidFill>
                      <a:schemeClr val="tx1"/>
                    </a:solidFill>
                    <a:effectLst/>
                    <a:latin typeface="Segoe WPC"/>
                  </a:rPr>
                  <a:t>the</a:t>
                </a:r>
                <a:r>
                  <a:rPr lang="es-PE" sz="900" b="0" i="0" dirty="0">
                    <a:solidFill>
                      <a:schemeClr val="tx1"/>
                    </a:solidFill>
                    <a:effectLst/>
                    <a:latin typeface="Segoe WPC"/>
                  </a:rPr>
                  <a:t> vertical gaps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data </a:t>
                </a:r>
                <a:r>
                  <a:rPr lang="es-PE" sz="900" b="0" i="0" dirty="0" err="1">
                    <a:solidFill>
                      <a:schemeClr val="tx1"/>
                    </a:solidFill>
                    <a:effectLst/>
                    <a:latin typeface="Segoe WPC"/>
                  </a:rPr>
                  <a:t>points</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line; </a:t>
                </a:r>
                <a:r>
                  <a:rPr lang="es-PE" sz="900" b="0" i="0" dirty="0" err="1">
                    <a:solidFill>
                      <a:schemeClr val="tx1"/>
                    </a:solidFill>
                    <a:effectLst/>
                    <a:latin typeface="Segoe WPC"/>
                  </a:rPr>
                  <a:t>tighter</a:t>
                </a:r>
                <a:r>
                  <a:rPr lang="es-PE" sz="900" b="0" i="0" dirty="0">
                    <a:solidFill>
                      <a:schemeClr val="tx1"/>
                    </a:solidFill>
                    <a:effectLst/>
                    <a:latin typeface="Segoe WPC"/>
                  </a:rPr>
                  <a:t> gaps mean </a:t>
                </a:r>
                <a:r>
                  <a:rPr lang="es-PE" sz="900" b="0" i="0" dirty="0" err="1">
                    <a:solidFill>
                      <a:schemeClr val="tx1"/>
                    </a:solidFill>
                    <a:effectLst/>
                    <a:latin typeface="Segoe WPC"/>
                  </a:rPr>
                  <a:t>better</a:t>
                </a:r>
                <a:r>
                  <a:rPr lang="es-PE" sz="900" b="0" i="0" dirty="0">
                    <a:solidFill>
                      <a:schemeClr val="tx1"/>
                    </a:solidFill>
                    <a:effectLst/>
                    <a:latin typeface="Segoe WPC"/>
                  </a:rPr>
                  <a:t> </a:t>
                </a:r>
                <a:r>
                  <a:rPr lang="es-PE" sz="900" b="0" i="0" dirty="0" err="1">
                    <a:solidFill>
                      <a:schemeClr val="tx1"/>
                    </a:solidFill>
                    <a:effectLst/>
                    <a:latin typeface="Segoe WPC"/>
                  </a:rPr>
                  <a:t>fit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𝑦</m:t>
                            </m:r>
                          </m:e>
                        </m:acc>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𝑎</m:t>
                        </m:r>
                      </m:e>
                    </m:acc>
                    <m:r>
                      <a:rPr lang="ar-AE" sz="900" i="0">
                        <a:solidFill>
                          <a:schemeClr val="tx1"/>
                        </a:solidFill>
                        <a:latin typeface="Cambria Math" panose="02040503050406030204" pitchFamily="18" charset="0"/>
                      </a:rPr>
                      <m:t>+</m:t>
                    </m:r>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𝛽</m:t>
                        </m:r>
                      </m:e>
                    </m:acc>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𝑒</m:t>
                            </m:r>
                          </m:e>
                        </m:acc>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𝑦</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𝑦</m:t>
                            </m:r>
                          </m:e>
                        </m:acc>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𝑠</m:t>
                        </m:r>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nary>
                          <m:naryPr>
                            <m:chr m:val="∑"/>
                            <m:grow m:val="on"/>
                            <m:subHide m:val="on"/>
                            <m:supHide m:val="on"/>
                            <m:ctrlPr>
                              <a:rPr lang="ar-AE" sz="900" i="1">
                                <a:solidFill>
                                  <a:schemeClr val="tx1"/>
                                </a:solidFill>
                                <a:latin typeface="Cambria Math" panose="02040503050406030204" pitchFamily="18" charset="0"/>
                              </a:rPr>
                            </m:ctrlPr>
                          </m:naryPr>
                          <m:sub/>
                          <m:sup/>
                          <m:e>
                            <m:sSubSup>
                              <m:sSubSupPr>
                                <m:ctrlPr>
                                  <a:rPr lang="ar-AE" sz="900" i="1">
                                    <a:solidFill>
                                      <a:schemeClr val="tx1"/>
                                    </a:solidFill>
                                    <a:latin typeface="Cambria Math" panose="02040503050406030204" pitchFamily="18" charset="0"/>
                                  </a:rPr>
                                </m:ctrlPr>
                              </m:sSubSup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𝑒</m:t>
                                    </m:r>
                                  </m:e>
                                </m:acc>
                              </m:e>
                              <m:sub>
                                <m:r>
                                  <a:rPr lang="ar-AE" sz="900" i="1">
                                    <a:solidFill>
                                      <a:schemeClr val="tx1"/>
                                    </a:solidFill>
                                    <a:latin typeface="Cambria Math" panose="02040503050406030204" pitchFamily="18" charset="0"/>
                                  </a:rPr>
                                  <m:t>𝑖</m:t>
                                </m:r>
                              </m:sub>
                              <m:sup>
                                <m:r>
                                  <a:rPr lang="ar-AE" sz="900" i="0">
                                    <a:solidFill>
                                      <a:schemeClr val="tx1"/>
                                    </a:solidFill>
                                    <a:latin typeface="Cambria Math" panose="02040503050406030204" pitchFamily="18" charset="0"/>
                                  </a:rPr>
                                  <m:t>2</m:t>
                                </m:r>
                              </m:sup>
                            </m:sSubSup>
                          </m:e>
                        </m:nary>
                      </m:num>
                      <m:den>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den>
                    </m:f>
                  </m:oMath>
                </a14:m>
                <a:r>
                  <a:rPr lang="ar-AE" sz="900" b="0" i="0" dirty="0">
                    <a:solidFill>
                      <a:schemeClr val="tx1"/>
                    </a:solidFill>
                    <a:effectLst/>
                    <a:latin typeface="Segoe WPC"/>
                  </a:rPr>
                  <a:t>, </a:t>
                </a:r>
                <a14:m>
                  <m:oMath xmlns:m="http://schemas.openxmlformats.org/officeDocument/2006/math">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𝛽</m:t>
                        </m:r>
                      </m:e>
                    </m:acc>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𝜌</m:t>
                        </m:r>
                      </m:e>
                      <m:sub>
                        <m:r>
                          <a:rPr lang="ar-AE" sz="900" i="1">
                            <a:solidFill>
                              <a:schemeClr val="tx1"/>
                            </a:solidFill>
                            <a:latin typeface="Cambria Math" panose="02040503050406030204" pitchFamily="18" charset="0"/>
                          </a:rPr>
                          <m:t>𝑋𝑌</m:t>
                        </m:r>
                      </m:sub>
                    </m:sSub>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e>
                          <m:sub>
                            <m:r>
                              <a:rPr lang="ar-AE" sz="900" i="1">
                                <a:solidFill>
                                  <a:schemeClr val="tx1"/>
                                </a:solidFill>
                                <a:latin typeface="Cambria Math" panose="02040503050406030204" pitchFamily="18" charset="0"/>
                              </a:rPr>
                              <m:t>𝑌</m:t>
                            </m:r>
                          </m:sub>
                        </m:sSub>
                      </m:num>
                      <m:den>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e>
                          <m:sub>
                            <m:r>
                              <a:rPr lang="ar-AE" sz="900" i="1">
                                <a:solidFill>
                                  <a:schemeClr val="tx1"/>
                                </a:solidFill>
                                <a:latin typeface="Cambria Math" panose="02040503050406030204" pitchFamily="18" charset="0"/>
                              </a:rPr>
                              <m:t>𝑋</m:t>
                            </m:r>
                          </m:sub>
                        </m:sSub>
                      </m:den>
                    </m:f>
                  </m:oMath>
                </a14:m>
                <a:r>
                  <a:rPr lang="ar-AE" sz="900" b="0" i="0" dirty="0">
                    <a:solidFill>
                      <a:schemeClr val="tx1"/>
                    </a:solidFill>
                    <a:effectLst/>
                    <a:latin typeface="Segoe WPC"/>
                  </a:rPr>
                  <a:t>, </a:t>
                </a:r>
                <a:r>
                  <a:rPr lang="es-PE" sz="900" b="0" i="0" dirty="0">
                    <a:solidFill>
                      <a:schemeClr val="tx1"/>
                    </a:solidFill>
                    <a:effectLst/>
                    <a:latin typeface="Segoe WPC"/>
                  </a:rPr>
                  <a:t>and in simple </a:t>
                </a:r>
                <a:r>
                  <a:rPr lang="es-PE" sz="900" b="0" i="0" dirty="0" err="1">
                    <a:solidFill>
                      <a:schemeClr val="tx1"/>
                    </a:solidFill>
                    <a:effectLst/>
                    <a:latin typeface="Segoe WPC"/>
                  </a:rPr>
                  <a:t>regression</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𝜌</m:t>
                        </m:r>
                      </m:e>
                      <m:sub>
                        <m:r>
                          <a:rPr lang="ar-AE" sz="900" i="1">
                            <a:solidFill>
                              <a:schemeClr val="tx1"/>
                            </a:solidFill>
                            <a:latin typeface="Cambria Math" panose="02040503050406030204" pitchFamily="18" charset="0"/>
                          </a:rPr>
                          <m:t>𝑋𝑌</m:t>
                        </m:r>
                      </m:sub>
                      <m:sup>
                        <m:r>
                          <a:rPr lang="ar-AE" sz="900" i="0">
                            <a:solidFill>
                              <a:schemeClr val="tx1"/>
                            </a:solidFill>
                            <a:latin typeface="Cambria Math" panose="02040503050406030204" pitchFamily="18" charset="0"/>
                          </a:rPr>
                          <m:t>2</m:t>
                        </m:r>
                      </m:sup>
                    </m:sSubSup>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mean </a:t>
                </a:r>
                <a:r>
                  <a:rPr lang="es-PE" sz="900" b="0" i="0" dirty="0" err="1">
                    <a:solidFill>
                      <a:schemeClr val="tx1"/>
                    </a:solidFill>
                    <a:effectLst/>
                    <a:latin typeface="Segoe WPC"/>
                  </a:rPr>
                  <a:t>zero</a:t>
                </a:r>
                <a:r>
                  <a:rPr lang="es-PE" sz="900" b="0" i="0" dirty="0">
                    <a:solidFill>
                      <a:schemeClr val="tx1"/>
                    </a:solidFill>
                    <a:effectLst/>
                    <a:latin typeface="Segoe WPC"/>
                  </a:rPr>
                  <a:t> and are </a:t>
                </a:r>
                <a:r>
                  <a:rPr lang="es-PE" sz="900" b="0" i="0" dirty="0" err="1">
                    <a:solidFill>
                      <a:schemeClr val="tx1"/>
                    </a:solidFill>
                    <a:effectLst/>
                    <a:latin typeface="Segoe WPC"/>
                  </a:rPr>
                  <a:t>uncorrelated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𝑋</m:t>
                    </m:r>
                  </m:oMath>
                </a14:m>
                <a:r>
                  <a:rPr lang="es-PE" sz="900" b="0" i="0" dirty="0">
                    <a:solidFill>
                      <a:schemeClr val="tx1"/>
                    </a:solidFill>
                    <a:effectLst/>
                    <a:latin typeface="Segoe WPC"/>
                  </a:rPr>
                  <a:t> in OLS. In simple </a:t>
                </a:r>
                <a:r>
                  <a:rPr lang="es-PE" sz="900" b="0" i="0" dirty="0" err="1">
                    <a:solidFill>
                      <a:schemeClr val="tx1"/>
                    </a:solidFill>
                    <a:effectLst/>
                    <a:latin typeface="Segoe WPC"/>
                  </a:rPr>
                  <a:t>regression</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magnitude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sign</a:t>
                </a:r>
                <a:r>
                  <a:rPr lang="es-PE" sz="900" b="0" i="0" dirty="0">
                    <a:solidFill>
                      <a:schemeClr val="tx1"/>
                    </a:solidFill>
                    <a:effectLst/>
                    <a:latin typeface="Segoe WPC"/>
                  </a:rPr>
                  <a:t> comes </a:t>
                </a:r>
                <a:r>
                  <a:rPr lang="es-PE" sz="900" b="0" i="0" dirty="0" err="1">
                    <a:solidFill>
                      <a:schemeClr val="tx1"/>
                    </a:solidFill>
                    <a:effectLst/>
                    <a:latin typeface="Segoe WPC"/>
                  </a:rPr>
                  <a:t>from</a:t>
                </a:r>
                <a:r>
                  <a:rPr lang="es-PE" sz="900" b="0" i="0" dirty="0">
                    <a:solidFill>
                      <a:schemeClr val="tx1"/>
                    </a:solidFill>
                    <a:effectLst/>
                    <a:latin typeface="Segoe WPC"/>
                  </a:rPr>
                  <a:t> </a:t>
                </a:r>
                <a14:m>
                  <m:oMath xmlns:m="http://schemas.openxmlformats.org/officeDocument/2006/math">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𝛽</m:t>
                        </m:r>
                      </m:e>
                    </m:acc>
                  </m:oMath>
                </a14:m>
                <a:r>
                  <a:rPr lang="ar-AE" sz="900" b="0" i="0" dirty="0">
                    <a:solidFill>
                      <a:schemeClr val="tx1"/>
                    </a:solidFill>
                    <a:effectLst/>
                    <a:latin typeface="Segoe WPC"/>
                  </a:rPr>
                  <a:t>, </a:t>
                </a:r>
                <a:r>
                  <a:rPr lang="es-PE" sz="900" b="0" i="0" dirty="0">
                    <a:solidFill>
                      <a:schemeClr val="tx1"/>
                    </a:solidFill>
                    <a:effectLst/>
                    <a:latin typeface="Segoe WPC"/>
                  </a:rPr>
                  <a:t>so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𝜌</m:t>
                        </m:r>
                      </m:e>
                      <m:sub>
                        <m:r>
                          <a:rPr lang="ar-AE" sz="900" i="1">
                            <a:solidFill>
                              <a:schemeClr val="tx1"/>
                            </a:solidFill>
                            <a:latin typeface="Cambria Math" panose="02040503050406030204" pitchFamily="18" charset="0"/>
                          </a:rPr>
                          <m:t>𝑋𝑌</m:t>
                        </m:r>
                      </m:sub>
                    </m:sSub>
                    <m:r>
                      <a:rPr lang="ar-AE" sz="900" i="0">
                        <a:solidFill>
                          <a:schemeClr val="tx1"/>
                        </a:solidFill>
                        <a:latin typeface="Cambria Math" panose="02040503050406030204" pitchFamily="18" charset="0"/>
                      </a:rPr>
                      <m:t>=±</m:t>
                    </m:r>
                    <m:rad>
                      <m:radPr>
                        <m:degHide m:val="on"/>
                        <m:ctrlPr>
                          <a:rPr lang="ar-AE" sz="900" i="1">
                            <a:solidFill>
                              <a:schemeClr val="tx1"/>
                            </a:solidFill>
                            <a:latin typeface="Cambria Math" panose="02040503050406030204" pitchFamily="18" charset="0"/>
                          </a:rPr>
                        </m:ctrlPr>
                      </m:radPr>
                      <m:deg/>
                      <m:e>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e>
                    </m:ra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a:solidFill>
                      <a:schemeClr val="tx1"/>
                    </a:solidFill>
                    <a:effectLst/>
                    <a:latin typeface="Segoe WPC"/>
                  </a:rPr>
                  <a:t>alone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tell</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relationship</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positive </a:t>
                </a:r>
                <a:r>
                  <a:rPr lang="es-PE" sz="900" b="0" i="0" dirty="0" err="1">
                    <a:solidFill>
                      <a:schemeClr val="tx1"/>
                    </a:solidFill>
                    <a:effectLst/>
                    <a:latin typeface="Segoe WPC"/>
                  </a:rPr>
                  <a:t>or</a:t>
                </a:r>
                <a:r>
                  <a:rPr lang="es-PE" sz="900" b="0" i="0" dirty="0">
                    <a:solidFill>
                      <a:schemeClr val="tx1"/>
                    </a:solidFill>
                    <a:effectLst/>
                    <a:latin typeface="Segoe WPC"/>
                  </a:rPr>
                  <a:t> negative.</a:t>
                </a:r>
              </a:p>
              <a:p>
                <a:pPr algn="l">
                  <a:spcAft>
                    <a:spcPts val="1200"/>
                  </a:spcAft>
                  <a:buNone/>
                </a:pPr>
                <a:r>
                  <a:rPr lang="es-PE" sz="900" b="1" i="0" dirty="0">
                    <a:solidFill>
                      <a:schemeClr val="tx1"/>
                    </a:solidFill>
                    <a:effectLst/>
                    <a:latin typeface="Segoe WPC"/>
                  </a:rPr>
                  <a:t>7. Key OLS </a:t>
                </a:r>
                <a:r>
                  <a:rPr lang="es-PE" sz="900" b="1" i="0" dirty="0" err="1">
                    <a:solidFill>
                      <a:schemeClr val="tx1"/>
                    </a:solidFill>
                    <a:effectLst/>
                    <a:latin typeface="Segoe WPC"/>
                  </a:rPr>
                  <a:t>Assumptions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OLS </a:t>
                </a:r>
                <a:r>
                  <a:rPr lang="es-PE" sz="900" b="0" i="0" dirty="0" err="1">
                    <a:solidFill>
                      <a:schemeClr val="tx1"/>
                    </a:solidFill>
                    <a:effectLst/>
                    <a:latin typeface="Segoe WPC"/>
                  </a:rPr>
                  <a:t>needs</a:t>
                </a:r>
                <a:r>
                  <a:rPr lang="es-PE" sz="900" b="0" i="0" dirty="0">
                    <a:solidFill>
                      <a:schemeClr val="tx1"/>
                    </a:solidFill>
                    <a:effectLst/>
                    <a:latin typeface="Segoe WPC"/>
                  </a:rPr>
                  <a:t> </a:t>
                </a:r>
                <a:r>
                  <a:rPr lang="es-PE" sz="900" b="0" i="0" dirty="0" err="1">
                    <a:solidFill>
                      <a:schemeClr val="tx1"/>
                    </a:solidFill>
                    <a:effectLst/>
                    <a:latin typeface="Segoe WPC"/>
                  </a:rPr>
                  <a:t>assumptions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interpretation</a:t>
                </a:r>
                <a:r>
                  <a:rPr lang="es-PE" sz="900" b="0" i="0" dirty="0">
                    <a:solidFill>
                      <a:schemeClr val="tx1"/>
                    </a:solidFill>
                    <a:effectLst/>
                    <a:latin typeface="Segoe WPC"/>
                  </a:rPr>
                  <a:t> and </a:t>
                </a:r>
                <a:r>
                  <a:rPr lang="es-PE" sz="900" b="0" i="0" dirty="0" err="1">
                    <a:solidFill>
                      <a:schemeClr val="tx1"/>
                    </a:solidFill>
                    <a:effectLst/>
                    <a:latin typeface="Segoe WPC"/>
                  </a:rPr>
                  <a:t>valid</a:t>
                </a:r>
                <a:r>
                  <a:rPr lang="es-PE" sz="900" b="0" i="0" dirty="0">
                    <a:solidFill>
                      <a:schemeClr val="tx1"/>
                    </a:solidFill>
                    <a:effectLst/>
                    <a:latin typeface="Segoe WPC"/>
                  </a:rPr>
                  <a:t> </a:t>
                </a:r>
                <a:r>
                  <a:rPr lang="es-PE" sz="900" b="0" i="0" dirty="0" err="1">
                    <a:solidFill>
                      <a:schemeClr val="tx1"/>
                    </a:solidFill>
                    <a:effectLst/>
                    <a:latin typeface="Segoe WPC"/>
                  </a:rPr>
                  <a:t>inference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unexplained</a:t>
                </a:r>
                <a:r>
                  <a:rPr lang="es-PE" sz="900" b="0" i="0" dirty="0">
                    <a:solidFill>
                      <a:schemeClr val="tx1"/>
                    </a:solidFill>
                    <a:effectLst/>
                    <a:latin typeface="Segoe WPC"/>
                  </a:rPr>
                  <a:t> </a:t>
                </a:r>
                <a:r>
                  <a:rPr lang="es-PE" sz="900" b="0" i="0" dirty="0" err="1">
                    <a:solidFill>
                      <a:schemeClr val="tx1"/>
                    </a:solidFill>
                    <a:effectLst/>
                    <a:latin typeface="Segoe WPC"/>
                  </a:rPr>
                  <a:t>part</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behave</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random</a:t>
                </a:r>
                <a:r>
                  <a:rPr lang="es-PE" sz="900" b="0" i="0" dirty="0">
                    <a:solidFill>
                      <a:schemeClr val="tx1"/>
                    </a:solidFill>
                    <a:effectLst/>
                    <a:latin typeface="Segoe WPC"/>
                  </a:rPr>
                  <a:t> </a:t>
                </a:r>
                <a:r>
                  <a:rPr lang="es-PE" sz="900" b="0" i="0" dirty="0" err="1">
                    <a:solidFill>
                      <a:schemeClr val="tx1"/>
                    </a:solidFill>
                    <a:effectLst/>
                    <a:latin typeface="Segoe WPC"/>
                  </a:rPr>
                  <a:t>noise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line captures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systematic</a:t>
                </a:r>
                <a:r>
                  <a:rPr lang="es-PE" sz="900" b="0" i="0" dirty="0">
                    <a:solidFill>
                      <a:schemeClr val="tx1"/>
                    </a:solidFill>
                    <a:effectLst/>
                    <a:latin typeface="Segoe WPC"/>
                  </a:rPr>
                  <a:t> </a:t>
                </a:r>
                <a:r>
                  <a:rPr lang="es-PE" sz="900" b="0" i="0" dirty="0" err="1">
                    <a:solidFill>
                      <a:schemeClr val="tx1"/>
                    </a:solidFill>
                    <a:effectLst/>
                    <a:latin typeface="Segoe WPC"/>
                  </a:rPr>
                  <a:t>pattern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leftover</a:t>
                </a:r>
                <a:r>
                  <a:rPr lang="es-PE" sz="900" b="0" i="0" dirty="0">
                    <a:solidFill>
                      <a:schemeClr val="tx1"/>
                    </a:solidFill>
                    <a:effectLst/>
                    <a:latin typeface="Segoe WPC"/>
                  </a:rPr>
                  <a:t> </a:t>
                </a:r>
                <a:r>
                  <a:rPr lang="es-PE" sz="900" b="0" i="0" dirty="0" err="1">
                    <a:solidFill>
                      <a:schemeClr val="tx1"/>
                    </a:solidFill>
                    <a:effectLst/>
                    <a:latin typeface="Segoe WPC"/>
                  </a:rPr>
                  <a:t>part</a:t>
                </a:r>
                <a:r>
                  <a:rPr lang="es-PE" sz="900" b="0" i="0" dirty="0">
                    <a:solidFill>
                      <a:schemeClr val="tx1"/>
                    </a:solidFill>
                    <a:effectLst/>
                    <a:latin typeface="Segoe WPC"/>
                  </a:rPr>
                  <a:t> </a:t>
                </a:r>
                <a:r>
                  <a:rPr lang="es-PE" sz="900" b="0" i="0" dirty="0" err="1">
                    <a:solidFill>
                      <a:schemeClr val="tx1"/>
                    </a:solidFill>
                    <a:effectLst/>
                    <a:latin typeface="Segoe WPC"/>
                  </a:rPr>
                  <a:t>should</a:t>
                </a:r>
                <a:r>
                  <a:rPr lang="es-PE" sz="900" b="0" i="0" dirty="0">
                    <a:solidFill>
                      <a:schemeClr val="tx1"/>
                    </a:solidFill>
                    <a:effectLst/>
                    <a:latin typeface="Segoe WPC"/>
                  </a:rPr>
                  <a:t> look </a:t>
                </a:r>
                <a:r>
                  <a:rPr lang="es-PE" sz="900" b="0" i="0" dirty="0" err="1">
                    <a:solidFill>
                      <a:schemeClr val="tx1"/>
                    </a:solidFill>
                    <a:effectLst/>
                    <a:latin typeface="Segoe WPC"/>
                  </a:rPr>
                  <a:t>random</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stable</a:t>
                </a:r>
                <a:r>
                  <a:rPr lang="es-PE" sz="900" b="0" i="0" dirty="0">
                    <a:solidFill>
                      <a:schemeClr val="tx1"/>
                    </a:solidFill>
                    <a:effectLst/>
                    <a:latin typeface="Segoe WPC"/>
                  </a:rPr>
                  <a:t> spread.</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assumptions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𝜀</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𝑋</m:t>
                        </m:r>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 </a:t>
                </a:r>
                <a14:m>
                  <m:oMath xmlns:m="http://schemas.openxmlformats.org/officeDocument/2006/math">
                    <m:r>
                      <a:rPr lang="ar-A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𝜀</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𝑋</m:t>
                        </m:r>
                      </m:e>
                    </m:d>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14:m>
                  <m:oMath xmlns:m="http://schemas.openxmlformats.org/officeDocument/2006/math">
                    <m:r>
                      <a:rPr lang="ar-A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e>
                    </m:d>
                    <m:r>
                      <a:rPr lang="ar-AE" sz="900" i="0">
                        <a:solidFill>
                          <a:schemeClr val="tx1"/>
                        </a:solidFill>
                        <a:latin typeface="Cambria Math" panose="02040503050406030204" pitchFamily="18" charset="0"/>
                      </a:rPr>
                      <m:t>&gt;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 </a:t>
                </a:r>
                <a:r>
                  <a:rPr lang="es-PE" sz="900" b="0" i="0" dirty="0" err="1">
                    <a:solidFill>
                      <a:schemeClr val="tx1"/>
                    </a:solidFill>
                    <a:effectLst/>
                    <a:latin typeface="Segoe WPC"/>
                  </a:rPr>
                  <a:t>iid</a:t>
                </a:r>
                <a:r>
                  <a:rPr lang="es-PE" sz="900" b="0" i="0" dirty="0">
                    <a:solidFill>
                      <a:schemeClr val="tx1"/>
                    </a:solidFill>
                    <a:effectLst/>
                    <a:latin typeface="Segoe WPC"/>
                  </a:rPr>
                  <a:t> data, and no extreme </a:t>
                </a:r>
                <a:r>
                  <a:rPr lang="es-PE" sz="900" b="0" i="0" dirty="0" err="1">
                    <a:solidFill>
                      <a:schemeClr val="tx1"/>
                    </a:solidFill>
                    <a:effectLst/>
                    <a:latin typeface="Segoe WPC"/>
                  </a:rPr>
                  <a:t>outlier</a:t>
                </a:r>
                <a:r>
                  <a:rPr lang="es-PE" sz="900" b="0" i="0" dirty="0">
                    <a:solidFill>
                      <a:schemeClr val="tx1"/>
                    </a:solidFill>
                    <a:effectLst/>
                    <a:latin typeface="Segoe WPC"/>
                  </a:rPr>
                  <a:t> </a:t>
                </a:r>
                <a:r>
                  <a:rPr lang="es-PE" sz="900" b="0" i="0" dirty="0" err="1">
                    <a:solidFill>
                      <a:schemeClr val="tx1"/>
                    </a:solidFill>
                    <a:effectLst/>
                    <a:latin typeface="Segoe WPC"/>
                  </a:rPr>
                  <a:t>problem</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t>
                </a:r>
                <a:r>
                  <a:rPr lang="es-PE" sz="900" b="0" i="0" dirty="0" err="1">
                    <a:solidFill>
                      <a:schemeClr val="tx1"/>
                    </a:solidFill>
                    <a:effectLst/>
                    <a:latin typeface="Segoe WPC"/>
                  </a:rPr>
                  <a:t>assumptions</a:t>
                </a:r>
                <a:r>
                  <a:rPr lang="es-PE" sz="900" b="0" i="0" dirty="0">
                    <a:solidFill>
                      <a:schemeClr val="tx1"/>
                    </a:solidFill>
                    <a:effectLst/>
                    <a:latin typeface="Segoe WPC"/>
                  </a:rPr>
                  <a:t> </a:t>
                </a:r>
                <a:r>
                  <a:rPr lang="es-PE" sz="900" b="0" i="0" dirty="0" err="1">
                    <a:solidFill>
                      <a:schemeClr val="tx1"/>
                    </a:solidFill>
                    <a:effectLst/>
                    <a:latin typeface="Segoe WPC"/>
                  </a:rPr>
                  <a:t>support</a:t>
                </a:r>
                <a:r>
                  <a:rPr lang="es-PE" sz="900" b="0" i="0" dirty="0">
                    <a:solidFill>
                      <a:schemeClr val="tx1"/>
                    </a:solidFill>
                    <a:effectLst/>
                    <a:latin typeface="Segoe WPC"/>
                  </a:rPr>
                  <a:t> </a:t>
                </a:r>
                <a:r>
                  <a:rPr lang="es-PE" sz="900" b="0" i="0" dirty="0" err="1">
                    <a:solidFill>
                      <a:schemeClr val="tx1"/>
                    </a:solidFill>
                    <a:effectLst/>
                    <a:latin typeface="Segoe WPC"/>
                  </a:rPr>
                  <a:t>unbiasedness</a:t>
                </a:r>
                <a:r>
                  <a:rPr lang="es-PE" sz="900" b="0" i="0" dirty="0">
                    <a:solidFill>
                      <a:schemeClr val="tx1"/>
                    </a:solidFill>
                    <a:effectLst/>
                    <a:latin typeface="Segoe WPC"/>
                  </a:rPr>
                  <a:t>, </a:t>
                </a:r>
                <a:r>
                  <a:rPr lang="es-PE" sz="900" b="0" i="0" dirty="0" err="1">
                    <a:solidFill>
                      <a:schemeClr val="tx1"/>
                    </a:solidFill>
                    <a:effectLst/>
                    <a:latin typeface="Segoe WPC"/>
                  </a:rPr>
                  <a:t>consistency</a:t>
                </a:r>
                <a:r>
                  <a:rPr lang="es-PE" sz="900" b="0" i="0" dirty="0">
                    <a:solidFill>
                      <a:schemeClr val="tx1"/>
                    </a:solidFill>
                    <a:effectLst/>
                    <a:latin typeface="Segoe WPC"/>
                  </a:rPr>
                  <a:t>, </a:t>
                </a:r>
                <a:r>
                  <a:rPr lang="es-PE" sz="900" b="0" i="0" dirty="0" err="1">
                    <a:solidFill>
                      <a:schemeClr val="tx1"/>
                    </a:solidFill>
                    <a:effectLst/>
                    <a:latin typeface="Segoe WPC"/>
                  </a:rPr>
                  <a:t>asymptotic</a:t>
                </a:r>
                <a:r>
                  <a:rPr lang="es-PE" sz="900" b="0" i="0" dirty="0">
                    <a:solidFill>
                      <a:schemeClr val="tx1"/>
                    </a:solidFill>
                    <a:effectLst/>
                    <a:latin typeface="Segoe WPC"/>
                  </a:rPr>
                  <a:t> </a:t>
                </a:r>
                <a:r>
                  <a:rPr lang="es-PE" sz="900" b="0" i="0" dirty="0" err="1">
                    <a:solidFill>
                      <a:schemeClr val="tx1"/>
                    </a:solidFill>
                    <a:effectLst/>
                    <a:latin typeface="Segoe WPC"/>
                  </a:rPr>
                  <a:t>normality</a:t>
                </a:r>
                <a:r>
                  <a:rPr lang="es-PE" sz="900" b="0" i="0" dirty="0">
                    <a:solidFill>
                      <a:schemeClr val="tx1"/>
                    </a:solidFill>
                    <a:effectLst/>
                    <a:latin typeface="Segoe WPC"/>
                  </a:rPr>
                  <a:t>, and standard </a:t>
                </a:r>
                <a:r>
                  <a:rPr lang="es-PE" sz="900" b="0" i="0" dirty="0" err="1">
                    <a:solidFill>
                      <a:schemeClr val="tx1"/>
                    </a:solidFill>
                    <a:effectLst/>
                    <a:latin typeface="Segoe WPC"/>
                  </a:rPr>
                  <a:t>tests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can </a:t>
                </a:r>
                <a:r>
                  <a:rPr lang="es-PE" sz="900" b="0" i="0" dirty="0" err="1">
                    <a:solidFill>
                      <a:schemeClr val="tx1"/>
                    </a:solidFill>
                    <a:effectLst/>
                    <a:latin typeface="Segoe WPC"/>
                  </a:rPr>
                  <a:t>always</a:t>
                </a:r>
                <a:r>
                  <a:rPr lang="es-PE" sz="900" b="0" i="0" dirty="0">
                    <a:solidFill>
                      <a:schemeClr val="tx1"/>
                    </a:solidFill>
                    <a:effectLst/>
                    <a:latin typeface="Segoe WPC"/>
                  </a:rPr>
                  <a:t> compute OLS,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cannot</a:t>
                </a:r>
                <a:r>
                  <a:rPr lang="es-PE" sz="900" b="0" i="0" dirty="0">
                    <a:solidFill>
                      <a:schemeClr val="tx1"/>
                    </a:solidFill>
                    <a:effectLst/>
                    <a:latin typeface="Segoe WPC"/>
                  </a:rPr>
                  <a:t> </a:t>
                </a:r>
                <a:r>
                  <a:rPr lang="es-PE" sz="900" b="0" i="0" dirty="0" err="1">
                    <a:solidFill>
                      <a:schemeClr val="tx1"/>
                    </a:solidFill>
                    <a:effectLst/>
                    <a:latin typeface="Segoe WPC"/>
                  </a:rPr>
                  <a:t>always</a:t>
                </a:r>
                <a:r>
                  <a:rPr lang="es-PE" sz="900" b="0" i="0" dirty="0">
                    <a:solidFill>
                      <a:schemeClr val="tx1"/>
                    </a:solidFill>
                    <a:effectLst/>
                    <a:latin typeface="Segoe WPC"/>
                  </a:rPr>
                  <a:t> trust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inference</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8. </a:t>
                </a:r>
                <a:r>
                  <a:rPr lang="es-PE" sz="900" b="1" i="0" dirty="0" err="1">
                    <a:solidFill>
                      <a:schemeClr val="tx1"/>
                    </a:solidFill>
                    <a:effectLst/>
                    <a:latin typeface="Segoe WPC"/>
                  </a:rPr>
                  <a:t>Common</a:t>
                </a:r>
                <a:r>
                  <a:rPr lang="es-PE" sz="900" b="1" i="0" dirty="0">
                    <a:solidFill>
                      <a:schemeClr val="tx1"/>
                    </a:solidFill>
                    <a:effectLst/>
                    <a:latin typeface="Segoe WPC"/>
                  </a:rPr>
                  <a:t> </a:t>
                </a:r>
                <a:r>
                  <a:rPr lang="es-PE" sz="900" b="1" i="0" dirty="0" err="1">
                    <a:solidFill>
                      <a:schemeClr val="tx1"/>
                    </a:solidFill>
                    <a:effectLst/>
                    <a:latin typeface="Segoe WPC"/>
                  </a:rPr>
                  <a:t>Problems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Violations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OLS </a:t>
                </a:r>
                <a:r>
                  <a:rPr lang="es-PE" sz="900" b="0" i="0" dirty="0" err="1">
                    <a:solidFill>
                      <a:schemeClr val="tx1"/>
                    </a:solidFill>
                    <a:effectLst/>
                    <a:latin typeface="Segoe WPC"/>
                  </a:rPr>
                  <a:t>assumptions</a:t>
                </a:r>
                <a:r>
                  <a:rPr lang="es-PE" sz="900" b="0" i="0" dirty="0">
                    <a:solidFill>
                      <a:schemeClr val="tx1"/>
                    </a:solidFill>
                    <a:effectLst/>
                    <a:latin typeface="Segoe WPC"/>
                  </a:rPr>
                  <a:t> can </a:t>
                </a:r>
                <a:r>
                  <a:rPr lang="es-PE" sz="900" b="0" i="0" dirty="0" err="1">
                    <a:solidFill>
                      <a:schemeClr val="tx1"/>
                    </a:solidFill>
                    <a:effectLst/>
                    <a:latin typeface="Segoe WPC"/>
                  </a:rPr>
                  <a:t>bias</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distort</a:t>
                </a:r>
                <a:r>
                  <a:rPr lang="es-PE" sz="900" b="0" i="0" dirty="0">
                    <a:solidFill>
                      <a:schemeClr val="tx1"/>
                    </a:solidFill>
                    <a:effectLst/>
                    <a:latin typeface="Segoe WPC"/>
                  </a:rPr>
                  <a:t> standard </a:t>
                </a:r>
                <a:r>
                  <a:rPr lang="es-PE" sz="900" b="0" i="0" dirty="0" err="1">
                    <a:solidFill>
                      <a:schemeClr val="tx1"/>
                    </a:solidFill>
                    <a:effectLst/>
                    <a:latin typeface="Segoe WPC"/>
                  </a:rPr>
                  <a:t>errors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becomes</a:t>
                </a:r>
                <a:r>
                  <a:rPr lang="es-PE" sz="900" b="0" i="0" dirty="0">
                    <a:solidFill>
                      <a:schemeClr val="tx1"/>
                    </a:solidFill>
                    <a:effectLst/>
                    <a:latin typeface="Segoe WPC"/>
                  </a:rPr>
                  <a:t> </a:t>
                </a:r>
                <a:r>
                  <a:rPr lang="es-PE" sz="900" b="0" i="0" dirty="0" err="1">
                    <a:solidFill>
                      <a:schemeClr val="tx1"/>
                    </a:solidFill>
                    <a:effectLst/>
                    <a:latin typeface="Segoe WPC"/>
                  </a:rPr>
                  <a:t>misleading</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misses</a:t>
                </a:r>
                <a:r>
                  <a:rPr lang="es-PE" sz="900" b="0" i="0" dirty="0">
                    <a:solidFill>
                      <a:schemeClr val="tx1"/>
                    </a:solidFill>
                    <a:effectLst/>
                    <a:latin typeface="Segoe WPC"/>
                  </a:rPr>
                  <a:t> </a:t>
                </a:r>
                <a:r>
                  <a:rPr lang="es-PE" sz="900" b="0" i="0" dirty="0" err="1">
                    <a:solidFill>
                      <a:schemeClr val="tx1"/>
                    </a:solidFill>
                    <a:effectLst/>
                    <a:latin typeface="Segoe WPC"/>
                  </a:rPr>
                  <a:t>important</a:t>
                </a:r>
                <a:r>
                  <a:rPr lang="es-PE" sz="900" b="0" i="0" dirty="0">
                    <a:solidFill>
                      <a:schemeClr val="tx1"/>
                    </a:solidFill>
                    <a:effectLst/>
                    <a:latin typeface="Segoe WPC"/>
                  </a:rPr>
                  <a:t> </a:t>
                </a:r>
                <a:r>
                  <a:rPr lang="es-PE" sz="900" b="0" i="0" dirty="0" err="1">
                    <a:solidFill>
                      <a:schemeClr val="tx1"/>
                    </a:solidFill>
                    <a:effectLst/>
                    <a:latin typeface="Segoe WPC"/>
                  </a:rPr>
                  <a:t>structure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data are </a:t>
                </a:r>
                <a:r>
                  <a:rPr lang="es-PE" sz="900" b="0" i="0" dirty="0" err="1">
                    <a:solidFill>
                      <a:schemeClr val="tx1"/>
                    </a:solidFill>
                    <a:effectLst/>
                    <a:latin typeface="Segoe WPC"/>
                  </a:rPr>
                  <a:t>poor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Omitted</a:t>
                </a:r>
                <a:r>
                  <a:rPr lang="es-PE" sz="900" b="0" i="0" dirty="0">
                    <a:solidFill>
                      <a:schemeClr val="tx1"/>
                    </a:solidFill>
                    <a:effectLst/>
                    <a:latin typeface="Segoe WPC"/>
                  </a:rPr>
                  <a:t> </a:t>
                </a:r>
                <a:r>
                  <a:rPr lang="es-PE" sz="900" b="0" i="0" dirty="0" err="1">
                    <a:solidFill>
                      <a:schemeClr val="tx1"/>
                    </a:solidFill>
                    <a:effectLst/>
                    <a:latin typeface="Segoe WPC"/>
                  </a:rPr>
                  <a:t>factors</a:t>
                </a:r>
                <a:r>
                  <a:rPr lang="es-PE" sz="900" b="0" i="0" dirty="0">
                    <a:solidFill>
                      <a:schemeClr val="tx1"/>
                    </a:solidFill>
                    <a:effectLst/>
                    <a:latin typeface="Segoe WPC"/>
                  </a:rPr>
                  <a:t>, </a:t>
                </a:r>
                <a:r>
                  <a:rPr lang="es-PE" sz="900" b="0" i="0" dirty="0" err="1">
                    <a:solidFill>
                      <a:schemeClr val="tx1"/>
                    </a:solidFill>
                    <a:effectLst/>
                    <a:latin typeface="Segoe WPC"/>
                  </a:rPr>
                  <a:t>noisy</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t>
                </a:r>
                <a:r>
                  <a:rPr lang="es-PE" sz="900" b="0" i="0" dirty="0" err="1">
                    <a:solidFill>
                      <a:schemeClr val="tx1"/>
                    </a:solidFill>
                    <a:effectLst/>
                    <a:latin typeface="Segoe WPC"/>
                  </a:rPr>
                  <a:t>changing</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and extreme </a:t>
                </a:r>
                <a:r>
                  <a:rPr lang="es-PE" sz="900" b="0" i="0" dirty="0" err="1">
                    <a:solidFill>
                      <a:schemeClr val="tx1"/>
                    </a:solidFill>
                    <a:effectLst/>
                    <a:latin typeface="Segoe WPC"/>
                  </a:rPr>
                  <a:t>points</a:t>
                </a:r>
                <a:r>
                  <a:rPr lang="es-PE" sz="900" b="0" i="0" dirty="0">
                    <a:solidFill>
                      <a:schemeClr val="tx1"/>
                    </a:solidFill>
                    <a:effectLst/>
                    <a:latin typeface="Segoe WPC"/>
                  </a:rPr>
                  <a:t> </a:t>
                </a:r>
                <a:r>
                  <a:rPr lang="es-PE" sz="900" b="0" i="0" dirty="0" err="1">
                    <a:solidFill>
                      <a:schemeClr val="tx1"/>
                    </a:solidFill>
                    <a:effectLst/>
                    <a:latin typeface="Segoe WPC"/>
                  </a:rPr>
                  <a:t>pull</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fitted</a:t>
                </a:r>
                <a:r>
                  <a:rPr lang="es-PE" sz="900" b="0" i="0" dirty="0">
                    <a:solidFill>
                      <a:schemeClr val="tx1"/>
                    </a:solidFill>
                    <a:effectLst/>
                    <a:latin typeface="Segoe WPC"/>
                  </a:rPr>
                  <a:t> line </a:t>
                </a:r>
                <a:r>
                  <a:rPr lang="es-PE" sz="900" b="0" i="0" dirty="0" err="1">
                    <a:solidFill>
                      <a:schemeClr val="tx1"/>
                    </a:solidFill>
                    <a:effectLst/>
                    <a:latin typeface="Segoe WPC"/>
                  </a:rPr>
                  <a:t>away</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true </a:t>
                </a:r>
                <a:r>
                  <a:rPr lang="es-PE" sz="900" b="0" i="0" dirty="0" err="1">
                    <a:solidFill>
                      <a:schemeClr val="tx1"/>
                    </a:solidFill>
                    <a:effectLst/>
                    <a:latin typeface="Segoe WPC"/>
                  </a:rPr>
                  <a:t>relationship</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problems</a:t>
                </a:r>
                <a:r>
                  <a:rPr lang="es-PE" sz="900" b="0" i="0" dirty="0">
                    <a:solidFill>
                      <a:schemeClr val="tx1"/>
                    </a:solidFill>
                    <a:effectLst/>
                    <a:latin typeface="Segoe WPC"/>
                  </a:rPr>
                  <a:t>: </a:t>
                </a:r>
                <a:r>
                  <a:rPr lang="es-PE" sz="900" b="0" i="0" dirty="0" err="1">
                    <a:solidFill>
                      <a:schemeClr val="tx1"/>
                    </a:solidFill>
                    <a:effectLst/>
                    <a:latin typeface="Segoe WPC"/>
                  </a:rPr>
                  <a:t>omitted</a:t>
                </a:r>
                <a:r>
                  <a:rPr lang="es-PE" sz="900" b="0" i="0" dirty="0">
                    <a:solidFill>
                      <a:schemeClr val="tx1"/>
                    </a:solidFill>
                    <a:effectLst/>
                    <a:latin typeface="Segoe WPC"/>
                  </a:rPr>
                  <a:t> variables, </a:t>
                </a:r>
                <a:r>
                  <a:rPr lang="es-PE" sz="900" b="0" i="0" dirty="0" err="1">
                    <a:solidFill>
                      <a:schemeClr val="tx1"/>
                    </a:solidFill>
                    <a:effectLst/>
                    <a:latin typeface="Segoe WPC"/>
                  </a:rPr>
                  <a:t>simultaneity</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selection</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survivorship</a:t>
                </a:r>
                <a:r>
                  <a:rPr lang="es-PE" sz="900" b="0" i="0" dirty="0">
                    <a:solidFill>
                      <a:schemeClr val="tx1"/>
                    </a:solidFill>
                    <a:effectLst/>
                    <a:latin typeface="Segoe WPC"/>
                  </a:rPr>
                  <a:t> </a:t>
                </a:r>
                <a:r>
                  <a:rPr lang="es-PE" sz="900" b="0" i="0" dirty="0" err="1">
                    <a:solidFill>
                      <a:schemeClr val="tx1"/>
                    </a:solidFill>
                    <a:effectLst/>
                    <a:latin typeface="Segoe WPC"/>
                  </a:rPr>
                  <a:t>bias</a:t>
                </a:r>
                <a:r>
                  <a:rPr lang="es-PE" sz="900" b="0" i="0" dirty="0">
                    <a:solidFill>
                      <a:schemeClr val="tx1"/>
                    </a:solidFill>
                    <a:effectLst/>
                    <a:latin typeface="Segoe WPC"/>
                  </a:rPr>
                  <a:t>, </a:t>
                </a:r>
                <a:r>
                  <a:rPr lang="es-PE" sz="900" b="0" i="0" dirty="0" err="1">
                    <a:solidFill>
                      <a:schemeClr val="tx1"/>
                    </a:solidFill>
                    <a:effectLst/>
                    <a:latin typeface="Segoe WPC"/>
                  </a:rPr>
                  <a:t>attenuation</a:t>
                </a:r>
                <a:r>
                  <a:rPr lang="es-PE" sz="900" b="0" i="0" dirty="0">
                    <a:solidFill>
                      <a:schemeClr val="tx1"/>
                    </a:solidFill>
                    <a:effectLst/>
                    <a:latin typeface="Segoe WPC"/>
                  </a:rPr>
                  <a:t> </a:t>
                </a:r>
                <a:r>
                  <a:rPr lang="es-PE" sz="900" b="0" i="0" dirty="0" err="1">
                    <a:solidFill>
                      <a:schemeClr val="tx1"/>
                    </a:solidFill>
                    <a:effectLst/>
                    <a:latin typeface="Segoe WPC"/>
                  </a:rPr>
                  <a:t>bias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measurement</a:t>
                </a:r>
                <a:r>
                  <a:rPr lang="es-PE" sz="900" b="0" i="0" dirty="0">
                    <a:solidFill>
                      <a:schemeClr val="tx1"/>
                    </a:solidFill>
                    <a:effectLst/>
                    <a:latin typeface="Segoe WPC"/>
                  </a:rPr>
                  <a:t> error, </a:t>
                </a:r>
                <a:r>
                  <a:rPr lang="es-PE" sz="900" b="0" i="0" dirty="0" err="1">
                    <a:solidFill>
                      <a:schemeClr val="tx1"/>
                    </a:solidFill>
                    <a:effectLst/>
                    <a:latin typeface="Segoe WPC"/>
                  </a:rPr>
                  <a:t>heteroskedasticity</a:t>
                </a:r>
                <a:r>
                  <a:rPr lang="es-PE" sz="900" b="0" i="0" dirty="0">
                    <a:solidFill>
                      <a:schemeClr val="tx1"/>
                    </a:solidFill>
                    <a:effectLst/>
                    <a:latin typeface="Segoe WPC"/>
                  </a:rPr>
                  <a:t>, and </a:t>
                </a:r>
                <a:r>
                  <a:rPr lang="es-PE" sz="900" b="0" i="0" dirty="0" err="1">
                    <a:solidFill>
                      <a:schemeClr val="tx1"/>
                    </a:solidFill>
                    <a:effectLst/>
                    <a:latin typeface="Segoe WPC"/>
                  </a:rPr>
                  <a:t>outliers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Measurement</a:t>
                </a:r>
                <a:r>
                  <a:rPr lang="es-PE" sz="900" b="0" i="0" dirty="0">
                    <a:solidFill>
                      <a:schemeClr val="tx1"/>
                    </a:solidFill>
                    <a:effectLst/>
                    <a:latin typeface="Segoe WPC"/>
                  </a:rPr>
                  <a:t> error in </a:t>
                </a:r>
                <a14:m>
                  <m:oMath xmlns:m="http://schemas.openxmlformats.org/officeDocument/2006/math">
                    <m:r>
                      <a:rPr lang="es-PE" sz="900" i="1">
                        <a:solidFill>
                          <a:schemeClr val="tx1"/>
                        </a:solidFill>
                        <a:latin typeface="Cambria Math" panose="02040503050406030204" pitchFamily="18" charset="0"/>
                      </a:rPr>
                      <m:t>𝑋</m:t>
                    </m:r>
                  </m:oMath>
                </a14:m>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biases</a:t>
                </a:r>
                <a:r>
                  <a:rPr lang="es-PE" sz="900" b="0" i="0" dirty="0">
                    <a:solidFill>
                      <a:schemeClr val="tx1"/>
                    </a:solidFill>
                    <a:effectLst/>
                    <a:latin typeface="Segoe WPC"/>
                  </a:rPr>
                  <a:t> </a:t>
                </a:r>
                <a:r>
                  <a:rPr lang="es-PE" sz="900" b="0" i="0" dirty="0" err="1">
                    <a:solidFill>
                      <a:schemeClr val="tx1"/>
                    </a:solidFill>
                    <a:effectLst/>
                    <a:latin typeface="Segoe WPC"/>
                  </a:rPr>
                  <a:t>slopes</a:t>
                </a:r>
                <a:r>
                  <a:rPr lang="es-PE" sz="900" b="0" i="0" dirty="0">
                    <a:solidFill>
                      <a:schemeClr val="tx1"/>
                    </a:solidFill>
                    <a:effectLst/>
                    <a:latin typeface="Segoe WPC"/>
                  </a:rPr>
                  <a:t> </a:t>
                </a:r>
                <a:r>
                  <a:rPr lang="es-PE" sz="900" b="0" i="0" dirty="0" err="1">
                    <a:solidFill>
                      <a:schemeClr val="tx1"/>
                    </a:solidFill>
                    <a:effectLst/>
                    <a:latin typeface="Segoe WPC"/>
                  </a:rPr>
                  <a:t>toward</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heteroskedasticity</a:t>
                </a:r>
                <a:r>
                  <a:rPr lang="es-PE" sz="900" b="0" i="0" dirty="0">
                    <a:solidFill>
                      <a:schemeClr val="tx1"/>
                    </a:solidFill>
                    <a:effectLst/>
                    <a:latin typeface="Segoe WPC"/>
                  </a:rPr>
                  <a:t> </a:t>
                </a:r>
                <a:r>
                  <a:rPr lang="es-PE" sz="900" b="0" i="0" dirty="0" err="1">
                    <a:solidFill>
                      <a:schemeClr val="tx1"/>
                    </a:solidFill>
                    <a:effectLst/>
                    <a:latin typeface="Segoe WPC"/>
                  </a:rPr>
                  <a:t>affects</a:t>
                </a:r>
                <a:r>
                  <a:rPr lang="es-PE" sz="900" b="0" i="0" dirty="0">
                    <a:solidFill>
                      <a:schemeClr val="tx1"/>
                    </a:solidFill>
                    <a:effectLst/>
                    <a:latin typeface="Segoe WPC"/>
                  </a:rPr>
                  <a:t> standard-error </a:t>
                </a:r>
                <a:r>
                  <a:rPr lang="es-PE" sz="900" b="0" i="0" dirty="0" err="1">
                    <a:solidFill>
                      <a:schemeClr val="tx1"/>
                    </a:solidFill>
                    <a:effectLst/>
                    <a:latin typeface="Segoe WPC"/>
                  </a:rPr>
                  <a:t>reliability</a:t>
                </a:r>
                <a:r>
                  <a:rPr lang="es-PE" sz="900" b="0" i="0" dirty="0">
                    <a:solidFill>
                      <a:schemeClr val="tx1"/>
                    </a:solidFill>
                    <a:effectLst/>
                    <a:latin typeface="Segoe WPC"/>
                  </a:rPr>
                  <a:t>; </a:t>
                </a:r>
                <a:r>
                  <a:rPr lang="es-PE" sz="900" b="0" i="0" dirty="0" err="1">
                    <a:solidFill>
                      <a:schemeClr val="tx1"/>
                    </a:solidFill>
                    <a:effectLst/>
                    <a:latin typeface="Segoe WPC"/>
                  </a:rPr>
                  <a:t>outliers</a:t>
                </a:r>
                <a:r>
                  <a:rPr lang="es-PE" sz="900" b="0" i="0" dirty="0">
                    <a:solidFill>
                      <a:schemeClr val="tx1"/>
                    </a:solidFill>
                    <a:effectLst/>
                    <a:latin typeface="Segoe WPC"/>
                  </a:rPr>
                  <a:t> can </a:t>
                </a:r>
                <a:r>
                  <a:rPr lang="es-PE" sz="900" b="0" i="0" dirty="0" err="1">
                    <a:solidFill>
                      <a:schemeClr val="tx1"/>
                    </a:solidFill>
                    <a:effectLst/>
                    <a:latin typeface="Segoe WPC"/>
                  </a:rPr>
                  <a:t>strongly</a:t>
                </a:r>
                <a:r>
                  <a:rPr lang="es-PE" sz="900" b="0" i="0" dirty="0">
                    <a:solidFill>
                      <a:schemeClr val="tx1"/>
                    </a:solidFill>
                    <a:effectLst/>
                    <a:latin typeface="Segoe WPC"/>
                  </a:rPr>
                  <a:t> </a:t>
                </a:r>
                <a:r>
                  <a:rPr lang="es-PE" sz="900" b="0" i="0" dirty="0" err="1">
                    <a:solidFill>
                      <a:schemeClr val="tx1"/>
                    </a:solidFill>
                    <a:effectLst/>
                    <a:latin typeface="Segoe WPC"/>
                  </a:rPr>
                  <a:t>affect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fitted</a:t>
                </a:r>
                <a:r>
                  <a:rPr lang="es-PE" sz="900" b="0" i="0" dirty="0">
                    <a:solidFill>
                      <a:schemeClr val="tx1"/>
                    </a:solidFill>
                    <a:effectLst/>
                    <a:latin typeface="Segoe WPC"/>
                  </a:rPr>
                  <a:t> line.</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significant</a:t>
                </a:r>
                <a:r>
                  <a:rPr lang="es-PE" sz="900" b="0" i="0" dirty="0">
                    <a:solidFill>
                      <a:schemeClr val="tx1"/>
                    </a:solidFill>
                    <a:effectLst/>
                    <a:latin typeface="Segoe WPC"/>
                  </a:rPr>
                  <a:t> </a:t>
                </a:r>
                <a:r>
                  <a:rPr lang="es-PE" sz="900" b="0" i="0" dirty="0" err="1">
                    <a:solidFill>
                      <a:schemeClr val="tx1"/>
                    </a:solidFill>
                    <a:effectLst/>
                    <a:latin typeface="Segoe WPC"/>
                  </a:rPr>
                  <a:t>coefficient</a:t>
                </a:r>
                <a:r>
                  <a:rPr lang="es-PE" sz="900" b="0" i="0" dirty="0">
                    <a:solidFill>
                      <a:schemeClr val="tx1"/>
                    </a:solidFill>
                    <a:effectLst/>
                    <a:latin typeface="Segoe WPC"/>
                  </a:rPr>
                  <a:t> can </a:t>
                </a:r>
                <a:r>
                  <a:rPr lang="es-PE" sz="900" b="0" i="0" dirty="0" err="1">
                    <a:solidFill>
                      <a:schemeClr val="tx1"/>
                    </a:solidFill>
                    <a:effectLst/>
                    <a:latin typeface="Segoe WPC"/>
                  </a:rPr>
                  <a:t>still</a:t>
                </a:r>
                <a:r>
                  <a:rPr lang="es-PE" sz="900" b="0" i="0" dirty="0">
                    <a:solidFill>
                      <a:schemeClr val="tx1"/>
                    </a:solidFill>
                    <a:effectLst/>
                    <a:latin typeface="Segoe WPC"/>
                  </a:rPr>
                  <a:t> be </a:t>
                </a:r>
                <a:r>
                  <a:rPr lang="es-PE" sz="900" b="0" i="0" dirty="0" err="1">
                    <a:solidFill>
                      <a:schemeClr val="tx1"/>
                    </a:solidFill>
                    <a:effectLst/>
                    <a:latin typeface="Segoe WPC"/>
                  </a:rPr>
                  <a:t>misleading</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misspecified</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9. </a:t>
                </a:r>
                <a:r>
                  <a:rPr lang="es-PE" sz="900" b="1" i="0" dirty="0" err="1">
                    <a:solidFill>
                      <a:schemeClr val="tx1"/>
                    </a:solidFill>
                    <a:effectLst/>
                    <a:latin typeface="Segoe WPC"/>
                  </a:rPr>
                  <a:t>Properties</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OLS </a:t>
                </a:r>
                <a:r>
                  <a:rPr lang="es-PE" sz="900" b="1" i="0" dirty="0" err="1">
                    <a:solidFill>
                      <a:schemeClr val="tx1"/>
                    </a:solidFill>
                    <a:effectLst/>
                    <a:latin typeface="Segoe WPC"/>
                  </a:rPr>
                  <a:t>Estimators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Under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assumptions</a:t>
                </a:r>
                <a:r>
                  <a:rPr lang="es-PE" sz="900" b="0" i="0" dirty="0">
                    <a:solidFill>
                      <a:schemeClr val="tx1"/>
                    </a:solidFill>
                    <a:effectLst/>
                    <a:latin typeface="Segoe WPC"/>
                  </a:rPr>
                  <a:t>, OLS </a:t>
                </a:r>
                <a:r>
                  <a:rPr lang="es-PE" sz="900" b="0" i="0" dirty="0" err="1">
                    <a:solidFill>
                      <a:schemeClr val="tx1"/>
                    </a:solidFill>
                    <a:effectLst/>
                    <a:latin typeface="Segoe WPC"/>
                  </a:rPr>
                  <a:t>estimators</a:t>
                </a:r>
                <a:r>
                  <a:rPr lang="es-PE" sz="900" b="0" i="0" dirty="0">
                    <a:solidFill>
                      <a:schemeClr val="tx1"/>
                    </a:solidFill>
                    <a:effectLst/>
                    <a:latin typeface="Segoe WPC"/>
                  </a:rPr>
                  <a:t> are </a:t>
                </a:r>
                <a:r>
                  <a:rPr lang="es-PE" sz="900" b="0" i="0" dirty="0" err="1">
                    <a:solidFill>
                      <a:schemeClr val="tx1"/>
                    </a:solidFill>
                    <a:effectLst/>
                    <a:latin typeface="Segoe WPC"/>
                  </a:rPr>
                  <a:t>unbiased</a:t>
                </a:r>
                <a:r>
                  <a:rPr lang="es-PE" sz="900" b="0" i="0" dirty="0">
                    <a:solidFill>
                      <a:schemeClr val="tx1"/>
                    </a:solidFill>
                    <a:effectLst/>
                    <a:latin typeface="Segoe WPC"/>
                  </a:rPr>
                  <a:t>, </a:t>
                </a:r>
                <a:r>
                  <a:rPr lang="es-PE" sz="900" b="0" i="0" dirty="0" err="1">
                    <a:solidFill>
                      <a:schemeClr val="tx1"/>
                    </a:solidFill>
                    <a:effectLst/>
                    <a:latin typeface="Segoe WPC"/>
                  </a:rPr>
                  <a:t>consistent</a:t>
                </a:r>
                <a:r>
                  <a:rPr lang="es-PE" sz="900" b="0" i="0" dirty="0">
                    <a:solidFill>
                      <a:schemeClr val="tx1"/>
                    </a:solidFill>
                    <a:effectLst/>
                    <a:latin typeface="Segoe WPC"/>
                  </a:rPr>
                  <a:t>, and </a:t>
                </a:r>
                <a:r>
                  <a:rPr lang="es-PE" sz="900" b="0" i="0" dirty="0" err="1">
                    <a:solidFill>
                      <a:schemeClr val="tx1"/>
                    </a:solidFill>
                    <a:effectLst/>
                    <a:latin typeface="Segoe WPC"/>
                  </a:rPr>
                  <a:t>asymptotically</a:t>
                </a:r>
                <a:r>
                  <a:rPr lang="es-PE" sz="900" b="0" i="0" dirty="0">
                    <a:solidFill>
                      <a:schemeClr val="tx1"/>
                    </a:solidFill>
                    <a:effectLst/>
                    <a:latin typeface="Segoe WPC"/>
                  </a:rPr>
                  <a:t> normal.</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hit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truth</a:t>
                </a:r>
                <a:r>
                  <a:rPr lang="es-PE" sz="900" b="0" i="0" dirty="0">
                    <a:solidFill>
                      <a:schemeClr val="tx1"/>
                    </a:solidFill>
                    <a:effectLst/>
                    <a:latin typeface="Segoe WPC"/>
                  </a:rPr>
                  <a:t>, and </a:t>
                </a:r>
                <a:r>
                  <a:rPr lang="es-PE" sz="900" b="0" i="0" dirty="0" err="1">
                    <a:solidFill>
                      <a:schemeClr val="tx1"/>
                    </a:solidFill>
                    <a:effectLst/>
                    <a:latin typeface="Segoe WPC"/>
                  </a:rPr>
                  <a:t>with</a:t>
                </a:r>
                <a:r>
                  <a:rPr lang="es-PE" sz="900" b="0" i="0" dirty="0">
                    <a:solidFill>
                      <a:schemeClr val="tx1"/>
                    </a:solidFill>
                    <a:effectLst/>
                    <a:latin typeface="Segoe WPC"/>
                  </a:rPr>
                  <a:t> more data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get</a:t>
                </a:r>
                <a:r>
                  <a:rPr lang="es-PE" sz="900" b="0" i="0" dirty="0">
                    <a:solidFill>
                      <a:schemeClr val="tx1"/>
                    </a:solidFill>
                    <a:effectLst/>
                    <a:latin typeface="Segoe WPC"/>
                  </a:rPr>
                  <a:t> </a:t>
                </a:r>
                <a:r>
                  <a:rPr lang="es-PE" sz="900" b="0" i="0" dirty="0" err="1">
                    <a:solidFill>
                      <a:schemeClr val="tx1"/>
                    </a:solidFill>
                    <a:effectLst/>
                    <a:latin typeface="Segoe WPC"/>
                  </a:rPr>
                  <a:t>closer</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As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size</a:t>
                </a:r>
                <a:r>
                  <a:rPr lang="es-PE" sz="900" b="0" i="0" dirty="0">
                    <a:solidFill>
                      <a:schemeClr val="tx1"/>
                    </a:solidFill>
                    <a:effectLst/>
                    <a:latin typeface="Segoe WPC"/>
                  </a:rPr>
                  <a:t> </a:t>
                </a:r>
                <a:r>
                  <a:rPr lang="es-PE" sz="900" b="0" i="0" dirty="0" err="1">
                    <a:solidFill>
                      <a:schemeClr val="tx1"/>
                    </a:solidFill>
                    <a:effectLst/>
                    <a:latin typeface="Segoe WPC"/>
                  </a:rPr>
                  <a:t>grows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sampling</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tightens</a:t>
                </a:r>
                <a:r>
                  <a:rPr lang="es-PE" sz="900" b="0" i="0" dirty="0">
                    <a:solidFill>
                      <a:schemeClr val="tx1"/>
                    </a:solidFill>
                    <a:effectLst/>
                    <a:latin typeface="Segoe WPC"/>
                  </a:rPr>
                  <a:t> </a:t>
                </a:r>
                <a:r>
                  <a:rPr lang="es-PE" sz="900" b="0" i="0" dirty="0" err="1">
                    <a:solidFill>
                      <a:schemeClr val="tx1"/>
                    </a:solidFill>
                    <a:effectLst/>
                    <a:latin typeface="Segoe WPC"/>
                  </a:rPr>
                  <a:t>around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true </a:t>
                </a:r>
                <a:r>
                  <a:rPr lang="es-PE" sz="900" b="0" i="0" dirty="0" err="1">
                    <a:solidFill>
                      <a:schemeClr val="tx1"/>
                    </a:solidFill>
                    <a:effectLst/>
                    <a:latin typeface="Segoe WPC"/>
                  </a:rPr>
                  <a:t>parameter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𝑎</m:t>
                            </m:r>
                          </m:e>
                        </m:acc>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𝑎</m:t>
                    </m:r>
                  </m:oMath>
                </a14:m>
                <a:r>
                  <a:rPr lang="ar-AE" sz="900" b="0" i="0" dirty="0">
                    <a:solidFill>
                      <a:schemeClr val="tx1"/>
                    </a:solidFill>
                    <a:effectLst/>
                    <a:latin typeface="Segoe WPC"/>
                  </a:rPr>
                  <a:t>, </a:t>
                </a:r>
                <a14:m>
                  <m:oMath xmlns:m="http://schemas.openxmlformats.org/officeDocument/2006/math">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𝛽</m:t>
                            </m:r>
                          </m:e>
                        </m:acc>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𝛽</m:t>
                    </m:r>
                  </m:oMath>
                </a14:m>
                <a:r>
                  <a:rPr lang="ar-AE" sz="900" b="0" i="0" dirty="0">
                    <a:solidFill>
                      <a:schemeClr val="tx1"/>
                    </a:solidFill>
                    <a:effectLst/>
                    <a:latin typeface="Segoe WPC"/>
                  </a:rPr>
                  <a:t>, </a:t>
                </a:r>
                <a:r>
                  <a:rPr lang="es-PE" sz="900" b="0" i="0" dirty="0">
                    <a:solidFill>
                      <a:schemeClr val="tx1"/>
                    </a:solidFill>
                    <a:effectLst/>
                    <a:latin typeface="Segoe WPC"/>
                  </a:rPr>
                  <a:t>and </a:t>
                </a:r>
                <a14:m>
                  <m:oMath xmlns:m="http://schemas.openxmlformats.org/officeDocument/2006/math">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𝛽</m:t>
                        </m:r>
                      </m:e>
                    </m:acc>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𝑁</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𝛽</m:t>
                        </m:r>
                      </m:e>
                      <m:e>
                        <m:f>
                          <m:fPr>
                            <m:ctrlPr>
                              <a:rPr lang="ar-AE" sz="900" i="1">
                                <a:solidFill>
                                  <a:schemeClr val="tx1"/>
                                </a:solidFill>
                                <a:latin typeface="Cambria Math" panose="02040503050406030204" pitchFamily="18" charset="0"/>
                              </a:rPr>
                            </m:ctrlPr>
                          </m:fPr>
                          <m:num>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num>
                          <m:den>
                            <m:r>
                              <a:rPr lang="ar-AE" sz="900" i="1">
                                <a:solidFill>
                                  <a:schemeClr val="tx1"/>
                                </a:solidFill>
                                <a:latin typeface="Cambria Math" panose="02040503050406030204" pitchFamily="18" charset="0"/>
                              </a:rPr>
                              <m:t>𝑛</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𝑋</m:t>
                                </m:r>
                              </m:sub>
                              <m:sup>
                                <m:r>
                                  <a:rPr lang="ar-AE" sz="900" i="0">
                                    <a:solidFill>
                                      <a:schemeClr val="tx1"/>
                                    </a:solidFill>
                                    <a:latin typeface="Cambria Math" panose="02040503050406030204" pitchFamily="18" charset="0"/>
                                  </a:rPr>
                                  <m:t>2</m:t>
                                </m:r>
                              </m:sup>
                            </m:sSubSup>
                          </m:den>
                        </m:f>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Estimation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more precise </a:t>
                </a:r>
                <a:r>
                  <a:rPr lang="es-PE" sz="900" b="0" i="0" dirty="0" err="1">
                    <a:solidFill>
                      <a:schemeClr val="tx1"/>
                    </a:solidFill>
                    <a:effectLst/>
                    <a:latin typeface="Segoe WPC"/>
                  </a:rPr>
                  <a:t>when</a:t>
                </a:r>
                <a:r>
                  <a:rPr lang="es-PE" sz="900" b="0" i="0" dirty="0">
                    <a:solidFill>
                      <a:schemeClr val="tx1"/>
                    </a:solidFill>
                    <a:effectLst/>
                    <a:latin typeface="Segoe WPC"/>
                  </a:rPr>
                  <a:t> shocks are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noisy</a:t>
                </a:r>
                <a:r>
                  <a:rPr lang="es-PE" sz="900" b="0" i="0" dirty="0">
                    <a:solidFill>
                      <a:schemeClr val="tx1"/>
                    </a:solidFill>
                    <a:effectLst/>
                    <a:latin typeface="Segoe WPC"/>
                  </a:rPr>
                  <a:t> and </a:t>
                </a:r>
                <a:r>
                  <a:rPr lang="es-PE" sz="900" b="0" i="0" dirty="0" err="1">
                    <a:solidFill>
                      <a:schemeClr val="tx1"/>
                    </a:solidFill>
                    <a:effectLst/>
                    <a:latin typeface="Segoe WPC"/>
                  </a:rPr>
                  <a:t>when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𝑋</m:t>
                    </m:r>
                  </m:oMath>
                </a14:m>
                <a:r>
                  <a:rPr lang="es-PE" sz="900" b="0" i="0" dirty="0">
                    <a:solidFill>
                      <a:schemeClr val="tx1"/>
                    </a:solidFill>
                    <a:effectLst/>
                    <a:latin typeface="Segoe WPC"/>
                  </a:rPr>
                  <a:t> has more </a:t>
                </a:r>
                <a:r>
                  <a:rPr lang="es-PE" sz="900" b="0" i="0" dirty="0" err="1">
                    <a:solidFill>
                      <a:schemeClr val="tx1"/>
                    </a:solidFill>
                    <a:effectLst/>
                    <a:latin typeface="Segoe WPC"/>
                  </a:rPr>
                  <a:t>variation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Unbiased</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mean </a:t>
                </a:r>
                <a:r>
                  <a:rPr lang="es-PE" sz="900" b="0" i="0" dirty="0" err="1">
                    <a:solidFill>
                      <a:schemeClr val="tx1"/>
                    </a:solidFill>
                    <a:effectLst/>
                    <a:latin typeface="Segoe WPC"/>
                  </a:rPr>
                  <a:t>exact</a:t>
                </a:r>
                <a:r>
                  <a:rPr lang="es-PE" sz="900" b="0" i="0" dirty="0">
                    <a:solidFill>
                      <a:schemeClr val="tx1"/>
                    </a:solidFill>
                    <a:effectLst/>
                    <a:latin typeface="Segoe WPC"/>
                  </a:rPr>
                  <a:t> in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a:t>
                </a:r>
              </a:p>
            </p:txBody>
          </p:sp>
        </mc:Choice>
        <mc:Fallback xmlns="">
          <p:sp>
            <p:nvSpPr>
              <p:cNvPr id="16" name="CuadroTexto 15">
                <a:extLst>
                  <a:ext uri="{FF2B5EF4-FFF2-40B4-BE49-F238E27FC236}">
                    <a16:creationId xmlns:a16="http://schemas.microsoft.com/office/drawing/2014/main" id="{4C463D69-69B5-E26A-3F3E-2461F8251DF3}"/>
                  </a:ext>
                </a:extLst>
              </p:cNvPr>
              <p:cNvSpPr txBox="1">
                <a:spLocks noRot="1" noChangeAspect="1" noMove="1" noResize="1" noEditPoints="1" noAdjustHandles="1" noChangeArrowheads="1" noChangeShapeType="1" noTextEdit="1"/>
              </p:cNvSpPr>
              <p:nvPr/>
            </p:nvSpPr>
            <p:spPr>
              <a:xfrm>
                <a:off x="6349521" y="452981"/>
                <a:ext cx="5414849" cy="6238183"/>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2254741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30D809-8FF2-0ADA-8137-1CE30255F94D}"/>
              </a:ext>
            </a:extLst>
          </p:cNvPr>
          <p:cNvSpPr>
            <a:spLocks noGrp="1"/>
          </p:cNvSpPr>
          <p:nvPr>
            <p:ph type="title"/>
          </p:nvPr>
        </p:nvSpPr>
        <p:spPr>
          <a:xfrm>
            <a:off x="0" y="-151974"/>
            <a:ext cx="10515600" cy="554583"/>
          </a:xfrm>
        </p:spPr>
        <p:txBody>
          <a:bodyPr>
            <a:normAutofit/>
          </a:bodyPr>
          <a:lstStyle/>
          <a:p>
            <a:r>
              <a:rPr lang="en-US" sz="2400" dirty="0"/>
              <a:t>Reg.</a:t>
            </a:r>
            <a:r>
              <a:rPr lang="en-US" sz="2800" dirty="0"/>
              <a:t> with multiple variables</a:t>
            </a:r>
            <a:endParaRPr lang="es-PE" sz="2800"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888D5C8E-E132-B4CF-01DF-1126E0F3BBDF}"/>
                  </a:ext>
                </a:extLst>
              </p:cNvPr>
              <p:cNvSpPr txBox="1"/>
              <p:nvPr/>
            </p:nvSpPr>
            <p:spPr>
              <a:xfrm>
                <a:off x="0" y="208413"/>
                <a:ext cx="6393976" cy="6540060"/>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1. </a:t>
                </a:r>
                <a:r>
                  <a:rPr lang="es-PE" sz="900" b="1" i="0" dirty="0" err="1">
                    <a:solidFill>
                      <a:schemeClr val="tx1"/>
                    </a:solidFill>
                    <a:effectLst/>
                    <a:latin typeface="Segoe WPC"/>
                  </a:rPr>
                  <a:t>Multiple</a:t>
                </a:r>
                <a:r>
                  <a:rPr lang="es-PE" sz="900" b="1" i="0" dirty="0">
                    <a:solidFill>
                      <a:schemeClr val="tx1"/>
                    </a:solidFill>
                    <a:effectLst/>
                    <a:latin typeface="Segoe WPC"/>
                  </a:rPr>
                  <a:t> </a:t>
                </a:r>
                <a:r>
                  <a:rPr lang="es-PE" sz="900" b="1" i="0" dirty="0" err="1">
                    <a:solidFill>
                      <a:schemeClr val="tx1"/>
                    </a:solidFill>
                    <a:effectLst/>
                    <a:latin typeface="Segoe WPC"/>
                  </a:rPr>
                  <a:t>Regression</a:t>
                </a:r>
                <a:r>
                  <a:rPr lang="es-PE" sz="900" b="1" i="0" dirty="0">
                    <a:solidFill>
                      <a:schemeClr val="tx1"/>
                    </a:solidFill>
                    <a:effectLst/>
                    <a:latin typeface="Segoe WPC"/>
                  </a:rPr>
                  <a:t> </a:t>
                </a:r>
                <a:r>
                  <a:rPr lang="es-PE" sz="900" b="1" i="0" dirty="0" err="1">
                    <a:solidFill>
                      <a:schemeClr val="tx1"/>
                    </a:solidFill>
                    <a:effectLst/>
                    <a:latin typeface="Segoe WPC"/>
                  </a:rPr>
                  <a:t>Model</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Multiple</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extends</a:t>
                </a:r>
                <a:r>
                  <a:rPr lang="es-PE" sz="900" b="0" i="0" dirty="0">
                    <a:solidFill>
                      <a:schemeClr val="tx1"/>
                    </a:solidFill>
                    <a:effectLst/>
                    <a:latin typeface="Segoe WPC"/>
                  </a:rPr>
                  <a:t> OLS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several</a:t>
                </a:r>
                <a:r>
                  <a:rPr lang="es-PE" sz="900" b="0" i="0" dirty="0">
                    <a:solidFill>
                      <a:schemeClr val="tx1"/>
                    </a:solidFill>
                    <a:effectLst/>
                    <a:latin typeface="Segoe WPC"/>
                  </a:rPr>
                  <a:t> </a:t>
                </a:r>
                <a:r>
                  <a:rPr lang="es-PE" sz="900" b="0" i="0" dirty="0" err="1">
                    <a:solidFill>
                      <a:schemeClr val="tx1"/>
                    </a:solidFill>
                    <a:effectLst/>
                    <a:latin typeface="Segoe WPC"/>
                  </a:rPr>
                  <a:t>explanatory</a:t>
                </a:r>
                <a:r>
                  <a:rPr lang="es-PE" sz="900" b="0" i="0" dirty="0">
                    <a:solidFill>
                      <a:schemeClr val="tx1"/>
                    </a:solidFill>
                    <a:effectLst/>
                    <a:latin typeface="Segoe WPC"/>
                  </a:rPr>
                  <a:t> variables.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effect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variable </a:t>
                </a:r>
                <a:r>
                  <a:rPr lang="es-PE" sz="900" b="0" i="0" dirty="0" err="1">
                    <a:solidFill>
                      <a:schemeClr val="tx1"/>
                    </a:solidFill>
                    <a:effectLst/>
                    <a:latin typeface="Segoe WPC"/>
                  </a:rPr>
                  <a:t>on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holding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others</a:t>
                </a:r>
                <a:r>
                  <a:rPr lang="es-PE" sz="900" b="0" i="0" dirty="0">
                    <a:solidFill>
                      <a:schemeClr val="tx1"/>
                    </a:solidFill>
                    <a:effectLst/>
                    <a:latin typeface="Segoe WPC"/>
                  </a:rPr>
                  <a:t> </a:t>
                </a:r>
                <a:r>
                  <a:rPr lang="es-PE" sz="900" b="0" i="0" dirty="0" err="1">
                    <a:solidFill>
                      <a:schemeClr val="tx1"/>
                    </a:solidFill>
                    <a:effectLst/>
                    <a:latin typeface="Segoe WPC"/>
                  </a:rPr>
                  <a:t>fixed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Instead</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best-fit</a:t>
                </a:r>
                <a:r>
                  <a:rPr lang="es-PE" sz="900" b="0" i="0" dirty="0">
                    <a:solidFill>
                      <a:schemeClr val="tx1"/>
                    </a:solidFill>
                    <a:effectLst/>
                    <a:latin typeface="Segoe WPC"/>
                  </a:rPr>
                  <a:t> line,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fits</a:t>
                </a:r>
                <a:r>
                  <a:rPr lang="es-PE" sz="900" b="0" i="0" dirty="0">
                    <a:solidFill>
                      <a:schemeClr val="tx1"/>
                    </a:solidFill>
                    <a:effectLst/>
                    <a:latin typeface="Segoe WPC"/>
                  </a:rPr>
                  <a:t> a </a:t>
                </a:r>
                <a:r>
                  <a:rPr lang="es-PE" sz="900" b="0" i="0" dirty="0" err="1">
                    <a:solidFill>
                      <a:schemeClr val="tx1"/>
                    </a:solidFill>
                    <a:effectLst/>
                    <a:latin typeface="Segoe WPC"/>
                  </a:rPr>
                  <a:t>hyperplane</a:t>
                </a:r>
                <a:r>
                  <a:rPr lang="es-PE" sz="900" b="0" i="0" dirty="0">
                    <a:solidFill>
                      <a:schemeClr val="tx1"/>
                    </a:solidFill>
                    <a:effectLst/>
                    <a:latin typeface="Segoe WPC"/>
                  </a:rPr>
                  <a:t> in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dimensions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𝑎</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1</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2</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2</m:t>
                        </m:r>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1">
                            <a:solidFill>
                              <a:schemeClr val="tx1"/>
                            </a:solidFill>
                            <a:latin typeface="Cambria Math" panose="02040503050406030204" pitchFamily="18" charset="0"/>
                          </a:rPr>
                          <m:t>𝑘</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1">
                            <a:solidFill>
                              <a:schemeClr val="tx1"/>
                            </a:solidFill>
                            <a:latin typeface="Cambria Math" panose="02040503050406030204" pitchFamily="18" charset="0"/>
                          </a:rPr>
                          <m:t>𝑘𝑖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𝑒</m:t>
                        </m:r>
                      </m:e>
                      <m:sub>
                        <m:r>
                          <a:rPr lang="ar-AE" sz="900" i="1">
                            <a:solidFill>
                              <a:schemeClr val="tx1"/>
                            </a:solidFill>
                            <a:latin typeface="Cambria Math" panose="02040503050406030204" pitchFamily="18" charset="0"/>
                          </a:rPr>
                          <m:t>𝑖</m:t>
                        </m:r>
                      </m:sub>
                    </m:sSub>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coefficient</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distinct</a:t>
                </a:r>
                <a:r>
                  <a:rPr lang="es-PE" sz="900" b="0" i="0" dirty="0">
                    <a:solidFill>
                      <a:schemeClr val="tx1"/>
                    </a:solidFill>
                    <a:effectLst/>
                    <a:latin typeface="Segoe WPC"/>
                  </a:rPr>
                  <a:t> </a:t>
                </a:r>
                <a:r>
                  <a:rPr lang="es-PE" sz="900" b="0" i="0" dirty="0" err="1">
                    <a:solidFill>
                      <a:schemeClr val="tx1"/>
                    </a:solidFill>
                    <a:effectLst/>
                    <a:latin typeface="Segoe WPC"/>
                  </a:rPr>
                  <a:t>contribution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regressor</a:t>
                </a:r>
                <a:r>
                  <a:rPr lang="es-PE" sz="900" b="0" i="0" dirty="0">
                    <a:solidFill>
                      <a:schemeClr val="tx1"/>
                    </a:solidFill>
                    <a:effectLst/>
                    <a:latin typeface="Segoe WPC"/>
                  </a:rPr>
                  <a:t> after </a:t>
                </a:r>
                <a:r>
                  <a:rPr lang="es-PE" sz="900" b="0" i="0" dirty="0" err="1">
                    <a:solidFill>
                      <a:schemeClr val="tx1"/>
                    </a:solidFill>
                    <a:effectLst/>
                    <a:latin typeface="Segoe WPC"/>
                  </a:rPr>
                  <a:t>controlling</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others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“holding </a:t>
                </a:r>
                <a:r>
                  <a:rPr lang="es-PE" sz="900" b="0" i="0" dirty="0" err="1">
                    <a:solidFill>
                      <a:schemeClr val="tx1"/>
                    </a:solidFill>
                    <a:effectLst/>
                    <a:latin typeface="Segoe WPC"/>
                  </a:rPr>
                  <a:t>other</a:t>
                </a:r>
                <a:r>
                  <a:rPr lang="es-PE" sz="900" b="0" i="0" dirty="0">
                    <a:solidFill>
                      <a:schemeClr val="tx1"/>
                    </a:solidFill>
                    <a:effectLst/>
                    <a:latin typeface="Segoe WPC"/>
                  </a:rPr>
                  <a:t> variables </a:t>
                </a:r>
                <a:r>
                  <a:rPr lang="es-PE" sz="900" b="0" i="0" dirty="0" err="1">
                    <a:solidFill>
                      <a:schemeClr val="tx1"/>
                    </a:solidFill>
                    <a:effectLst/>
                    <a:latin typeface="Segoe WPC"/>
                  </a:rPr>
                  <a:t>constant</a:t>
                </a:r>
                <a:r>
                  <a:rPr lang="es-PE" sz="900" b="0" i="0" dirty="0">
                    <a:solidFill>
                      <a:schemeClr val="tx1"/>
                    </a:solidFill>
                    <a:effectLst/>
                    <a:latin typeface="Segoe WPC"/>
                  </a:rPr>
                  <a:t>” </a:t>
                </a:r>
                <a:r>
                  <a:rPr lang="es-PE" sz="900" b="0" i="0" dirty="0" err="1">
                    <a:solidFill>
                      <a:schemeClr val="tx1"/>
                    </a:solidFill>
                    <a:effectLst/>
                    <a:latin typeface="Segoe WPC"/>
                  </a:rPr>
                  <a:t>interpretation</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works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are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exact</a:t>
                </a:r>
                <a:r>
                  <a:rPr lang="es-PE" sz="900" b="0" i="0" dirty="0">
                    <a:solidFill>
                      <a:schemeClr val="tx1"/>
                    </a:solidFill>
                    <a:effectLst/>
                    <a:latin typeface="Segoe WPC"/>
                  </a:rPr>
                  <a:t> </a:t>
                </a:r>
                <a:r>
                  <a:rPr lang="es-PE" sz="900" b="0" i="0" dirty="0" err="1">
                    <a:solidFill>
                      <a:schemeClr val="tx1"/>
                    </a:solidFill>
                    <a:effectLst/>
                    <a:latin typeface="Segoe WPC"/>
                  </a:rPr>
                  <a:t>functions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another</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2. </a:t>
                </a:r>
                <a:r>
                  <a:rPr lang="es-PE" sz="900" b="1" i="0" dirty="0" err="1">
                    <a:solidFill>
                      <a:schemeClr val="tx1"/>
                    </a:solidFill>
                    <a:effectLst/>
                    <a:latin typeface="Segoe WPC"/>
                  </a:rPr>
                  <a:t>Distinct</a:t>
                </a:r>
                <a:r>
                  <a:rPr lang="es-PE" sz="900" b="1" i="0" dirty="0">
                    <a:solidFill>
                      <a:schemeClr val="tx1"/>
                    </a:solidFill>
                    <a:effectLst/>
                    <a:latin typeface="Segoe WPC"/>
                  </a:rPr>
                  <a:t> Variables and </a:t>
                </a:r>
                <a:r>
                  <a:rPr lang="es-PE" sz="900" b="1" i="0" dirty="0" err="1">
                    <a:solidFill>
                      <a:schemeClr val="tx1"/>
                    </a:solidFill>
                    <a:effectLst/>
                    <a:latin typeface="Segoe WPC"/>
                  </a:rPr>
                  <a:t>Partial</a:t>
                </a:r>
                <a:r>
                  <a:rPr lang="es-PE" sz="900" b="1" i="0" dirty="0">
                    <a:solidFill>
                      <a:schemeClr val="tx1"/>
                    </a:solidFill>
                    <a:effectLst/>
                    <a:latin typeface="Segoe WPC"/>
                  </a:rPr>
                  <a:t> </a:t>
                </a:r>
                <a:r>
                  <a:rPr lang="es-PE" sz="900" b="1" i="0" dirty="0" err="1">
                    <a:solidFill>
                      <a:schemeClr val="tx1"/>
                    </a:solidFill>
                    <a:effectLst/>
                    <a:latin typeface="Segoe WPC"/>
                  </a:rPr>
                  <a:t>Effects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are </a:t>
                </a:r>
                <a:r>
                  <a:rPr lang="es-PE" sz="900" b="0" i="0" dirty="0" err="1">
                    <a:solidFill>
                      <a:schemeClr val="tx1"/>
                    </a:solidFill>
                    <a:effectLst/>
                    <a:latin typeface="Segoe WPC"/>
                  </a:rPr>
                  <a:t>easiest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interpret</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explanatory</a:t>
                </a:r>
                <a:r>
                  <a:rPr lang="es-PE" sz="900" b="0" i="0" dirty="0">
                    <a:solidFill>
                      <a:schemeClr val="tx1"/>
                    </a:solidFill>
                    <a:effectLst/>
                    <a:latin typeface="Segoe WPC"/>
                  </a:rPr>
                  <a:t> variables are </a:t>
                </a:r>
                <a:r>
                  <a:rPr lang="es-PE" sz="900" b="0" i="0" dirty="0" err="1">
                    <a:solidFill>
                      <a:schemeClr val="tx1"/>
                    </a:solidFill>
                    <a:effectLst/>
                    <a:latin typeface="Segoe WPC"/>
                  </a:rPr>
                  <a:t>distinct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regressor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built</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another</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cannot</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literally</a:t>
                </a:r>
                <a:r>
                  <a:rPr lang="es-PE" sz="900" b="0" i="0" dirty="0">
                    <a:solidFill>
                      <a:schemeClr val="tx1"/>
                    </a:solidFill>
                    <a:effectLst/>
                    <a:latin typeface="Segoe WPC"/>
                  </a:rPr>
                  <a:t> </a:t>
                </a:r>
                <a:r>
                  <a:rPr lang="es-PE" sz="900" b="0" i="0" dirty="0" err="1">
                    <a:solidFill>
                      <a:schemeClr val="tx1"/>
                    </a:solidFill>
                    <a:effectLst/>
                    <a:latin typeface="Segoe WPC"/>
                  </a:rPr>
                  <a:t>keeping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 </a:t>
                </a:r>
                <a:r>
                  <a:rPr lang="es-PE" sz="900" b="0" i="0" dirty="0" err="1">
                    <a:solidFill>
                      <a:schemeClr val="tx1"/>
                    </a:solidFill>
                    <a:effectLst/>
                    <a:latin typeface="Segoe WPC"/>
                  </a:rPr>
                  <a:t>fixed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distinct</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coefficient</a:t>
                </a:r>
                <a:r>
                  <a:rPr lang="es-PE" sz="900" b="0" i="0" dirty="0">
                    <a:solidFill>
                      <a:schemeClr val="tx1"/>
                    </a:solidFill>
                    <a:effectLst/>
                    <a:latin typeface="Segoe WPC"/>
                  </a:rPr>
                  <a:t> captures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own</a:t>
                </a:r>
                <a:r>
                  <a:rPr lang="es-PE" sz="900" b="0" i="0" dirty="0">
                    <a:solidFill>
                      <a:schemeClr val="tx1"/>
                    </a:solidFill>
                    <a:effectLst/>
                    <a:latin typeface="Segoe WPC"/>
                  </a:rPr>
                  <a:t> </a:t>
                </a:r>
                <a:r>
                  <a:rPr lang="es-PE" sz="900" b="0" i="0" dirty="0" err="1">
                    <a:solidFill>
                      <a:schemeClr val="tx1"/>
                    </a:solidFill>
                    <a:effectLst/>
                    <a:latin typeface="Segoe WPC"/>
                  </a:rPr>
                  <a:t>direction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movement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overlapping</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t>
                </a:r>
                <a:r>
                  <a:rPr lang="es-PE" sz="900" b="0" i="0" dirty="0" err="1">
                    <a:solidFill>
                      <a:schemeClr val="tx1"/>
                    </a:solidFill>
                    <a:effectLst/>
                    <a:latin typeface="Segoe WPC"/>
                  </a:rPr>
                  <a:t>effects</a:t>
                </a:r>
                <a:r>
                  <a:rPr lang="es-PE" sz="900" b="0" i="0" dirty="0">
                    <a:solidFill>
                      <a:schemeClr val="tx1"/>
                    </a:solidFill>
                    <a:effectLst/>
                    <a:latin typeface="Segoe WPC"/>
                  </a:rPr>
                  <a:t> </a:t>
                </a:r>
                <a:r>
                  <a:rPr lang="es-PE" sz="900" b="0" i="0" dirty="0" err="1">
                    <a:solidFill>
                      <a:schemeClr val="tx1"/>
                    </a:solidFill>
                    <a:effectLst/>
                    <a:latin typeface="Segoe WPC"/>
                  </a:rPr>
                  <a:t>mix</a:t>
                </a:r>
                <a:r>
                  <a:rPr lang="es-PE" sz="900" b="0" i="0" dirty="0">
                    <a:solidFill>
                      <a:schemeClr val="tx1"/>
                    </a:solidFill>
                    <a:effectLst/>
                    <a:latin typeface="Segoe WPC"/>
                  </a:rPr>
                  <a:t> </a:t>
                </a:r>
                <a:r>
                  <a:rPr lang="es-PE" sz="900" b="0" i="0" dirty="0" err="1">
                    <a:solidFill>
                      <a:schemeClr val="tx1"/>
                    </a:solidFill>
                    <a:effectLst/>
                    <a:latin typeface="Segoe WPC"/>
                  </a:rPr>
                  <a:t>together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𝑎</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1</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2</m:t>
                        </m:r>
                      </m:sub>
                    </m:sSub>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r>
                          <a:rPr lang="ar-AE" sz="900" i="1">
                            <a:solidFill>
                              <a:schemeClr val="tx1"/>
                            </a:solidFill>
                            <a:latin typeface="Cambria Math" panose="02040503050406030204" pitchFamily="18" charset="0"/>
                          </a:rPr>
                          <m:t>𝑖</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𝑒</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 </a:t>
                </a:r>
                <a:r>
                  <a:rPr lang="es-PE" sz="900" b="0" i="0" dirty="0" err="1">
                    <a:solidFill>
                      <a:schemeClr val="tx1"/>
                    </a:solidFill>
                    <a:effectLst/>
                    <a:latin typeface="Segoe WPC"/>
                  </a:rPr>
                  <a:t>small</a:t>
                </a:r>
                <a:r>
                  <a:rPr lang="es-PE" sz="900" b="0" i="0" dirty="0">
                    <a:solidFill>
                      <a:schemeClr val="tx1"/>
                    </a:solidFill>
                    <a:effectLst/>
                    <a:latin typeface="Segoe WPC"/>
                  </a:rPr>
                  <a:t> </a:t>
                </a:r>
                <a:r>
                  <a:rPr lang="es-PE" sz="900" b="0" i="0" dirty="0" err="1">
                    <a:solidFill>
                      <a:schemeClr val="tx1"/>
                    </a:solidFill>
                    <a:effectLst/>
                    <a:latin typeface="Segoe WPC"/>
                  </a:rPr>
                  <a:t>change</a:t>
                </a:r>
                <a:r>
                  <a:rPr lang="es-PE" sz="900" b="0" i="0" dirty="0">
                    <a:solidFill>
                      <a:schemeClr val="tx1"/>
                    </a:solidFill>
                    <a:effectLst/>
                    <a:latin typeface="Segoe WPC"/>
                  </a:rPr>
                  <a:t> in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14:m>
                  <m:oMath xmlns:m="http://schemas.openxmlformats.org/officeDocument/2006/math">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2</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sub>
                        </m:sSub>
                      </m:e>
                    </m:d>
                    <m:r>
                      <a:rPr lang="ar-AE" sz="900" i="1">
                        <a:solidFill>
                          <a:schemeClr val="tx1"/>
                        </a:solidFill>
                        <a:latin typeface="Cambria Math" panose="02040503050406030204" pitchFamily="18" charset="0"/>
                      </a:rPr>
                      <m:t>𝛥</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sub>
                    </m:sSub>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variable, </a:t>
                </a:r>
                <a:r>
                  <a:rPr lang="es-PE" sz="900" b="0" i="0" dirty="0" err="1">
                    <a:solidFill>
                      <a:schemeClr val="tx1"/>
                    </a:solidFill>
                    <a:effectLst/>
                    <a:latin typeface="Segoe WPC"/>
                  </a:rPr>
                  <a:t>the</a:t>
                </a:r>
                <a:r>
                  <a:rPr lang="es-PE" sz="900" b="0" i="0" dirty="0">
                    <a:solidFill>
                      <a:schemeClr val="tx1"/>
                    </a:solidFill>
                    <a:effectLst/>
                    <a:latin typeface="Segoe WPC"/>
                  </a:rPr>
                  <a:t> total </a:t>
                </a:r>
                <a:r>
                  <a:rPr lang="es-PE" sz="900" b="0" i="0" dirty="0" err="1">
                    <a:solidFill>
                      <a:schemeClr val="tx1"/>
                    </a:solidFill>
                    <a:effectLst/>
                    <a:latin typeface="Segoe WPC"/>
                  </a:rPr>
                  <a:t>effect</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level</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variable.</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interpret</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coefficient</a:t>
                </a:r>
                <a:r>
                  <a:rPr lang="es-PE" sz="900" b="0" i="0" dirty="0">
                    <a:solidFill>
                      <a:schemeClr val="tx1"/>
                    </a:solidFill>
                    <a:effectLst/>
                    <a:latin typeface="Segoe WPC"/>
                  </a:rPr>
                  <a:t> alone as </a:t>
                </a:r>
                <a:r>
                  <a:rPr lang="es-PE" sz="900" b="0" i="0" dirty="0" err="1">
                    <a:solidFill>
                      <a:schemeClr val="tx1"/>
                    </a:solidFill>
                    <a:effectLst/>
                    <a:latin typeface="Segoe WPC"/>
                  </a:rPr>
                  <a:t>the</a:t>
                </a:r>
                <a:r>
                  <a:rPr lang="es-PE" sz="900" b="0" i="0" dirty="0">
                    <a:solidFill>
                      <a:schemeClr val="tx1"/>
                    </a:solidFill>
                    <a:effectLst/>
                    <a:latin typeface="Segoe WPC"/>
                  </a:rPr>
                  <a:t> full marginal </a:t>
                </a:r>
                <a:r>
                  <a:rPr lang="es-PE" sz="900" b="0" i="0" dirty="0" err="1">
                    <a:solidFill>
                      <a:schemeClr val="tx1"/>
                    </a:solidFill>
                    <a:effectLst/>
                    <a:latin typeface="Segoe WPC"/>
                  </a:rPr>
                  <a:t>effect</a:t>
                </a:r>
                <a:r>
                  <a:rPr lang="es-PE" sz="900" b="0" i="0" dirty="0">
                    <a:solidFill>
                      <a:schemeClr val="tx1"/>
                    </a:solidFill>
                    <a:effectLst/>
                    <a:latin typeface="Segoe WPC"/>
                  </a:rPr>
                  <a:t> in </a:t>
                </a:r>
                <a:r>
                  <a:rPr lang="es-PE" sz="900" b="0" i="0" dirty="0" err="1">
                    <a:solidFill>
                      <a:schemeClr val="tx1"/>
                    </a:solidFill>
                    <a:effectLst/>
                    <a:latin typeface="Segoe WPC"/>
                  </a:rPr>
                  <a:t>models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transformed</a:t>
                </a:r>
                <a:r>
                  <a:rPr lang="es-PE" sz="900" b="0" i="0" dirty="0">
                    <a:solidFill>
                      <a:schemeClr val="tx1"/>
                    </a:solidFill>
                    <a:effectLst/>
                    <a:latin typeface="Segoe WPC"/>
                  </a:rPr>
                  <a:t> </a:t>
                </a:r>
                <a:r>
                  <a:rPr lang="es-PE" sz="900" b="0" i="0" dirty="0" err="1">
                    <a:solidFill>
                      <a:schemeClr val="tx1"/>
                    </a:solidFill>
                    <a:effectLst/>
                    <a:latin typeface="Segoe WPC"/>
                  </a:rPr>
                  <a:t>versions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variable.</a:t>
                </a:r>
              </a:p>
              <a:p>
                <a:pPr algn="l">
                  <a:spcAft>
                    <a:spcPts val="1200"/>
                  </a:spcAft>
                  <a:buNone/>
                </a:pPr>
                <a:r>
                  <a:rPr lang="es-PE" sz="900" b="1" i="0" dirty="0">
                    <a:solidFill>
                      <a:schemeClr val="tx1"/>
                    </a:solidFill>
                    <a:effectLst/>
                    <a:latin typeface="Segoe WPC"/>
                  </a:rPr>
                  <a:t>3. </a:t>
                </a:r>
                <a:r>
                  <a:rPr lang="es-PE" sz="900" b="1" i="0" dirty="0" err="1">
                    <a:solidFill>
                      <a:schemeClr val="tx1"/>
                    </a:solidFill>
                    <a:effectLst/>
                    <a:latin typeface="Segoe WPC"/>
                  </a:rPr>
                  <a:t>Partialling-Out</a:t>
                </a:r>
                <a:r>
                  <a:rPr lang="es-PE" sz="900" b="1" i="0" dirty="0">
                    <a:solidFill>
                      <a:schemeClr val="tx1"/>
                    </a:solidFill>
                    <a:effectLst/>
                    <a:latin typeface="Segoe WPC"/>
                  </a:rPr>
                  <a:t> </a:t>
                </a:r>
                <a:r>
                  <a:rPr lang="es-PE" sz="900" b="1" i="0" dirty="0" err="1">
                    <a:solidFill>
                      <a:schemeClr val="tx1"/>
                    </a:solidFill>
                    <a:effectLst/>
                    <a:latin typeface="Segoe WPC"/>
                  </a:rPr>
                  <a:t>Interpretation</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OLS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In a </a:t>
                </a:r>
                <a:r>
                  <a:rPr lang="es-PE" sz="900" b="0" i="0" dirty="0" err="1">
                    <a:solidFill>
                      <a:schemeClr val="tx1"/>
                    </a:solidFill>
                    <a:effectLst/>
                    <a:latin typeface="Segoe WPC"/>
                  </a:rPr>
                  <a:t>two</a:t>
                </a:r>
                <a:r>
                  <a:rPr lang="es-PE" sz="900" b="0" i="0" dirty="0">
                    <a:solidFill>
                      <a:schemeClr val="tx1"/>
                    </a:solidFill>
                    <a:effectLst/>
                    <a:latin typeface="Segoe WPC"/>
                  </a:rPr>
                  <a:t>-variable </a:t>
                </a:r>
                <a:r>
                  <a:rPr lang="es-PE" sz="900" b="0" i="0" dirty="0" err="1">
                    <a:solidFill>
                      <a:schemeClr val="tx1"/>
                    </a:solidFill>
                    <a:effectLst/>
                    <a:latin typeface="Segoe WPC"/>
                  </a:rPr>
                  <a:t>regression</a:t>
                </a:r>
                <a:r>
                  <a:rPr lang="es-PE" sz="900" b="0" i="0" dirty="0">
                    <a:solidFill>
                      <a:schemeClr val="tx1"/>
                    </a:solidFill>
                    <a:effectLst/>
                    <a:latin typeface="Segoe WPC"/>
                  </a:rPr>
                  <a:t>, a </a:t>
                </a:r>
                <a:r>
                  <a:rPr lang="es-PE" sz="900" b="0" i="0" dirty="0" err="1">
                    <a:solidFill>
                      <a:schemeClr val="tx1"/>
                    </a:solidFill>
                    <a:effectLst/>
                    <a:latin typeface="Segoe WPC"/>
                  </a:rPr>
                  <a:t>coefficient</a:t>
                </a:r>
                <a:r>
                  <a:rPr lang="es-PE" sz="900" b="0" i="0" dirty="0">
                    <a:solidFill>
                      <a:schemeClr val="tx1"/>
                    </a:solidFill>
                    <a:effectLst/>
                    <a:latin typeface="Segoe WPC"/>
                  </a:rPr>
                  <a:t> can be </a:t>
                </a:r>
                <a:r>
                  <a:rPr lang="es-PE" sz="900" b="0" i="0" dirty="0" err="1">
                    <a:solidFill>
                      <a:schemeClr val="tx1"/>
                    </a:solidFill>
                    <a:effectLst/>
                    <a:latin typeface="Segoe WPC"/>
                  </a:rPr>
                  <a:t>recovered</a:t>
                </a:r>
                <a:r>
                  <a:rPr lang="es-PE" sz="900" b="0" i="0" dirty="0">
                    <a:solidFill>
                      <a:schemeClr val="tx1"/>
                    </a:solidFill>
                    <a:effectLst/>
                    <a:latin typeface="Segoe WPC"/>
                  </a:rPr>
                  <a:t> </a:t>
                </a:r>
                <a:r>
                  <a:rPr lang="es-PE" sz="900" b="0" i="0" dirty="0" err="1">
                    <a:solidFill>
                      <a:schemeClr val="tx1"/>
                    </a:solidFill>
                    <a:effectLst/>
                    <a:latin typeface="Segoe WPC"/>
                  </a:rPr>
                  <a:t>through</a:t>
                </a:r>
                <a:r>
                  <a:rPr lang="es-PE" sz="900" b="0" i="0" dirty="0">
                    <a:solidFill>
                      <a:schemeClr val="tx1"/>
                    </a:solidFill>
                    <a:effectLst/>
                    <a:latin typeface="Segoe WPC"/>
                  </a:rPr>
                  <a:t> residual </a:t>
                </a:r>
                <a:r>
                  <a:rPr lang="es-PE" sz="900" b="0" i="0" dirty="0" err="1">
                    <a:solidFill>
                      <a:schemeClr val="tx1"/>
                    </a:solidFill>
                    <a:effectLst/>
                    <a:latin typeface="Segoe WPC"/>
                  </a:rPr>
                  <a:t>regressions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estimate</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first</a:t>
                </a:r>
                <a:r>
                  <a:rPr lang="es-PE" sz="900" b="0" i="0" dirty="0">
                    <a:solidFill>
                      <a:schemeClr val="tx1"/>
                    </a:solidFill>
                    <a:effectLst/>
                    <a:latin typeface="Segoe WPC"/>
                  </a:rPr>
                  <a:t> </a:t>
                </a:r>
                <a:r>
                  <a:rPr lang="es-PE" sz="900" b="0" i="0" dirty="0" err="1">
                    <a:solidFill>
                      <a:schemeClr val="tx1"/>
                    </a:solidFill>
                    <a:effectLst/>
                    <a:latin typeface="Segoe WPC"/>
                  </a:rPr>
                  <a:t>remove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effect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and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r>
                  <a:rPr lang="es-PE" sz="900" b="0" i="0" dirty="0" err="1">
                    <a:solidFill>
                      <a:schemeClr val="tx1"/>
                    </a:solidFill>
                    <a:effectLst/>
                    <a:latin typeface="Segoe WPC"/>
                  </a:rPr>
                  <a:t>regress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remaining</a:t>
                </a:r>
                <a:r>
                  <a:rPr lang="es-PE" sz="900" b="0" i="0" dirty="0">
                    <a:solidFill>
                      <a:schemeClr val="tx1"/>
                    </a:solidFill>
                    <a:effectLst/>
                    <a:latin typeface="Segoe WPC"/>
                  </a:rPr>
                  <a:t> </a:t>
                </a:r>
                <a:r>
                  <a:rPr lang="es-PE" sz="900" b="0" i="0" dirty="0" err="1">
                    <a:solidFill>
                      <a:schemeClr val="tx1"/>
                    </a:solidFill>
                    <a:effectLst/>
                    <a:latin typeface="Segoe WPC"/>
                  </a:rPr>
                  <a:t>part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remaining</a:t>
                </a:r>
                <a:r>
                  <a:rPr lang="es-PE" sz="900" b="0" i="0" dirty="0">
                    <a:solidFill>
                      <a:schemeClr val="tx1"/>
                    </a:solidFill>
                    <a:effectLst/>
                    <a:latin typeface="Segoe WPC"/>
                  </a:rPr>
                  <a:t> </a:t>
                </a:r>
                <a:r>
                  <a:rPr lang="es-PE" sz="900" b="0" i="0" dirty="0" err="1">
                    <a:solidFill>
                      <a:schemeClr val="tx1"/>
                    </a:solidFill>
                    <a:effectLst/>
                    <a:latin typeface="Segoe WPC"/>
                  </a:rPr>
                  <a:t>part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Strip</a:t>
                </a:r>
                <a:r>
                  <a:rPr lang="es-PE" sz="900" b="0" i="0" dirty="0">
                    <a:solidFill>
                      <a:schemeClr val="tx1"/>
                    </a:solidFill>
                    <a:effectLst/>
                    <a:latin typeface="Segoe WPC"/>
                  </a:rPr>
                  <a:t> </a:t>
                </a:r>
                <a:r>
                  <a:rPr lang="es-PE" sz="900" b="0" i="0" dirty="0" err="1">
                    <a:solidFill>
                      <a:schemeClr val="tx1"/>
                    </a:solidFill>
                    <a:effectLst/>
                    <a:latin typeface="Segoe WPC"/>
                  </a:rPr>
                  <a:t>out</a:t>
                </a:r>
                <a:r>
                  <a:rPr lang="es-PE" sz="900" b="0" i="0" dirty="0">
                    <a:solidFill>
                      <a:schemeClr val="tx1"/>
                    </a:solidFill>
                    <a:effectLst/>
                    <a:latin typeface="Segoe WPC"/>
                  </a:rPr>
                  <a:t> </a:t>
                </a:r>
                <a:r>
                  <a:rPr lang="es-PE" sz="900" b="0" i="0" dirty="0" err="1">
                    <a:solidFill>
                      <a:schemeClr val="tx1"/>
                    </a:solidFill>
                    <a:effectLst/>
                    <a:latin typeface="Segoe WPC"/>
                  </a:rPr>
                  <a:t>what</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variables share </a:t>
                </a:r>
                <a:r>
                  <a:rPr lang="es-PE" sz="900" b="0" i="0" dirty="0" err="1">
                    <a:solidFill>
                      <a:schemeClr val="tx1"/>
                    </a:solidFill>
                    <a:effectLst/>
                    <a:latin typeface="Segoe WPC"/>
                  </a:rPr>
                  <a:t>with</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r>
                  <a:rPr lang="es-PE" sz="900" b="0" i="0" dirty="0" err="1">
                    <a:solidFill>
                      <a:schemeClr val="tx1"/>
                    </a:solidFill>
                    <a:effectLst/>
                    <a:latin typeface="Segoe WPC"/>
                  </a:rPr>
                  <a:t>measure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clean</a:t>
                </a:r>
                <a:r>
                  <a:rPr lang="es-PE" sz="900" b="0" i="0" dirty="0">
                    <a:solidFill>
                      <a:schemeClr val="tx1"/>
                    </a:solidFill>
                    <a:effectLst/>
                    <a:latin typeface="Segoe WPC"/>
                  </a:rPr>
                  <a:t> residual </a:t>
                </a:r>
                <a:r>
                  <a:rPr lang="es-PE" sz="900" b="0" i="0" dirty="0" err="1">
                    <a:solidFill>
                      <a:schemeClr val="tx1"/>
                    </a:solidFill>
                    <a:effectLst/>
                    <a:latin typeface="Segoe WPC"/>
                  </a:rPr>
                  <a:t>relationship</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Regress</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err="1">
                    <a:solidFill>
                      <a:schemeClr val="tx1"/>
                    </a:solidFill>
                    <a:effectLst/>
                    <a:latin typeface="Segoe WPC"/>
                  </a:rPr>
                  <a:t>regress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r>
                  <a:rPr lang="es-PE" sz="900" b="0" i="0" dirty="0" err="1">
                    <a:solidFill>
                      <a:schemeClr val="tx1"/>
                    </a:solidFill>
                    <a:effectLst/>
                    <a:latin typeface="Segoe WPC"/>
                  </a:rPr>
                  <a:t>regress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residual </a:t>
                </a:r>
                <a:r>
                  <a:rPr lang="es-PE" sz="900" b="0" i="0" dirty="0" err="1">
                    <a:solidFill>
                      <a:schemeClr val="tx1"/>
                    </a:solidFill>
                    <a:effectLst/>
                    <a:latin typeface="Segoe WPC"/>
                  </a:rPr>
                  <a:t>of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residual </a:t>
                </a:r>
                <a:r>
                  <a:rPr lang="es-PE" sz="900" b="0" i="0" dirty="0" err="1">
                    <a:solidFill>
                      <a:schemeClr val="tx1"/>
                    </a:solidFill>
                    <a:effectLst/>
                    <a:latin typeface="Segoe WPC"/>
                  </a:rPr>
                  <a:t>of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slope</a:t>
                </a:r>
                <a:r>
                  <a:rPr lang="es-PE" sz="900" b="0" i="0" dirty="0">
                    <a:solidFill>
                      <a:schemeClr val="tx1"/>
                    </a:solidFill>
                    <a:effectLst/>
                    <a:latin typeface="Segoe WPC"/>
                  </a:rPr>
                  <a:t> </a:t>
                </a:r>
                <a:r>
                  <a:rPr lang="es-PE" sz="900" b="0" i="0" dirty="0" err="1">
                    <a:solidFill>
                      <a:schemeClr val="tx1"/>
                    </a:solidFill>
                    <a:effectLst/>
                    <a:latin typeface="Segoe WPC"/>
                  </a:rPr>
                  <a:t>equals</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𝛽</m:t>
                            </m:r>
                          </m:e>
                        </m:acc>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full </a:t>
                </a:r>
                <a:r>
                  <a:rPr lang="es-PE" sz="900" b="0" i="0" dirty="0" err="1">
                    <a:solidFill>
                      <a:schemeClr val="tx1"/>
                    </a:solidFill>
                    <a:effectLst/>
                    <a:latin typeface="Segoe WPC"/>
                  </a:rPr>
                  <a:t>model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shows </a:t>
                </a:r>
                <a:r>
                  <a:rPr lang="es-PE" sz="900" b="0" i="0" dirty="0" err="1">
                    <a:solidFill>
                      <a:schemeClr val="tx1"/>
                    </a:solidFill>
                    <a:effectLst/>
                    <a:latin typeface="Segoe WPC"/>
                  </a:rPr>
                  <a:t>why</a:t>
                </a:r>
                <a:r>
                  <a:rPr lang="es-PE" sz="900" b="0" i="0" dirty="0">
                    <a:solidFill>
                      <a:schemeClr val="tx1"/>
                    </a:solidFill>
                    <a:effectLst/>
                    <a:latin typeface="Segoe WPC"/>
                  </a:rPr>
                  <a:t> </a:t>
                </a:r>
                <a:r>
                  <a:rPr lang="es-PE" sz="900" b="0" i="0" dirty="0" err="1">
                    <a:solidFill>
                      <a:schemeClr val="tx1"/>
                    </a:solidFill>
                    <a:effectLst/>
                    <a:latin typeface="Segoe WPC"/>
                  </a:rPr>
                  <a:t>multiple</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a:t>
                </a:r>
                <a:r>
                  <a:rPr lang="es-PE" sz="900" b="0" i="0" dirty="0" err="1">
                    <a:solidFill>
                      <a:schemeClr val="tx1"/>
                    </a:solidFill>
                    <a:effectLst/>
                    <a:latin typeface="Segoe WPC"/>
                  </a:rPr>
                  <a:t>measure</a:t>
                </a:r>
                <a:r>
                  <a:rPr lang="es-PE" sz="900" b="0" i="0" dirty="0">
                    <a:solidFill>
                      <a:schemeClr val="tx1"/>
                    </a:solidFill>
                    <a:effectLst/>
                    <a:latin typeface="Segoe WPC"/>
                  </a:rPr>
                  <a:t> </a:t>
                </a:r>
                <a:r>
                  <a:rPr lang="es-PE" sz="900" b="0" i="0" dirty="0" err="1">
                    <a:solidFill>
                      <a:schemeClr val="tx1"/>
                    </a:solidFill>
                    <a:effectLst/>
                    <a:latin typeface="Segoe WPC"/>
                  </a:rPr>
                  <a:t>conditional</a:t>
                </a:r>
                <a:r>
                  <a:rPr lang="es-PE" sz="900" b="0" i="0" dirty="0">
                    <a:solidFill>
                      <a:schemeClr val="tx1"/>
                    </a:solidFill>
                    <a:effectLst/>
                    <a:latin typeface="Segoe WPC"/>
                  </a:rPr>
                  <a:t> </a:t>
                </a:r>
                <a:r>
                  <a:rPr lang="es-PE" sz="900" b="0" i="0" dirty="0" err="1">
                    <a:solidFill>
                      <a:schemeClr val="tx1"/>
                    </a:solidFill>
                    <a:effectLst/>
                    <a:latin typeface="Segoe WPC"/>
                  </a:rPr>
                  <a:t>effects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coefficient</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multiple</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slope</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 simple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variable alone.</a:t>
                </a:r>
              </a:p>
              <a:p>
                <a:pPr algn="l">
                  <a:spcAft>
                    <a:spcPts val="1200"/>
                  </a:spcAft>
                  <a:buNone/>
                </a:pPr>
                <a:r>
                  <a:rPr lang="es-PE" sz="900" b="1" i="0" dirty="0">
                    <a:solidFill>
                      <a:schemeClr val="tx1"/>
                    </a:solidFill>
                    <a:effectLst/>
                    <a:latin typeface="Segoe WPC"/>
                  </a:rPr>
                  <a:t>4. </a:t>
                </a:r>
                <a:r>
                  <a:rPr lang="es-PE" sz="900" b="1" i="0" dirty="0" err="1">
                    <a:solidFill>
                      <a:schemeClr val="tx1"/>
                    </a:solidFill>
                    <a:effectLst/>
                    <a:latin typeface="Segoe WPC"/>
                  </a:rPr>
                  <a:t>Assumptions</a:t>
                </a:r>
                <a:r>
                  <a:rPr lang="es-PE" sz="900" b="1" i="0" dirty="0">
                    <a:solidFill>
                      <a:schemeClr val="tx1"/>
                    </a:solidFill>
                    <a:effectLst/>
                    <a:latin typeface="Segoe WPC"/>
                  </a:rPr>
                  <a:t> in </a:t>
                </a:r>
                <a:r>
                  <a:rPr lang="es-PE" sz="900" b="1" i="0" dirty="0" err="1">
                    <a:solidFill>
                      <a:schemeClr val="tx1"/>
                    </a:solidFill>
                    <a:effectLst/>
                    <a:latin typeface="Segoe WPC"/>
                  </a:rPr>
                  <a:t>Multiple</a:t>
                </a:r>
                <a:r>
                  <a:rPr lang="es-PE" sz="900" b="1" i="0" dirty="0">
                    <a:solidFill>
                      <a:schemeClr val="tx1"/>
                    </a:solidFill>
                    <a:effectLst/>
                    <a:latin typeface="Segoe WPC"/>
                  </a:rPr>
                  <a:t> </a:t>
                </a:r>
                <a:r>
                  <a:rPr lang="es-PE" sz="900" b="1" i="0" dirty="0" err="1">
                    <a:solidFill>
                      <a:schemeClr val="tx1"/>
                    </a:solidFill>
                    <a:effectLst/>
                    <a:latin typeface="Segoe WPC"/>
                  </a:rPr>
                  <a:t>Regression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Multiple</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keeps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OLS </a:t>
                </a:r>
                <a:r>
                  <a:rPr lang="es-PE" sz="900" b="0" i="0" dirty="0" err="1">
                    <a:solidFill>
                      <a:schemeClr val="tx1"/>
                    </a:solidFill>
                    <a:effectLst/>
                    <a:latin typeface="Segoe WPC"/>
                  </a:rPr>
                  <a:t>assumptions</a:t>
                </a:r>
                <a:r>
                  <a:rPr lang="es-PE" sz="900" b="0" i="0" dirty="0">
                    <a:solidFill>
                      <a:schemeClr val="tx1"/>
                    </a:solidFill>
                    <a:effectLst/>
                    <a:latin typeface="Segoe WPC"/>
                  </a:rPr>
                  <a:t> and </a:t>
                </a:r>
                <a:r>
                  <a:rPr lang="es-PE" sz="900" b="0" i="0" dirty="0" err="1">
                    <a:solidFill>
                      <a:schemeClr val="tx1"/>
                    </a:solidFill>
                    <a:effectLst/>
                    <a:latin typeface="Segoe WPC"/>
                  </a:rPr>
                  <a:t>adds</a:t>
                </a:r>
                <a:r>
                  <a:rPr lang="es-PE" sz="900" b="0" i="0" dirty="0">
                    <a:solidFill>
                      <a:schemeClr val="tx1"/>
                    </a:solidFill>
                    <a:effectLst/>
                    <a:latin typeface="Segoe WPC"/>
                  </a:rPr>
                  <a:t> no </a:t>
                </a:r>
                <a:r>
                  <a:rPr lang="es-PE" sz="900" b="0" i="0" dirty="0" err="1">
                    <a:solidFill>
                      <a:schemeClr val="tx1"/>
                    </a:solidFill>
                    <a:effectLst/>
                    <a:latin typeface="Segoe WPC"/>
                  </a:rPr>
                  <a:t>perfect</a:t>
                </a:r>
                <a:r>
                  <a:rPr lang="es-PE" sz="900" b="0" i="0" dirty="0">
                    <a:solidFill>
                      <a:schemeClr val="tx1"/>
                    </a:solidFill>
                    <a:effectLst/>
                    <a:latin typeface="Segoe WPC"/>
                  </a:rPr>
                  <a:t> </a:t>
                </a:r>
                <a:r>
                  <a:rPr lang="es-PE" sz="900" b="0" i="0" dirty="0" err="1">
                    <a:solidFill>
                      <a:schemeClr val="tx1"/>
                    </a:solidFill>
                    <a:effectLst/>
                    <a:latin typeface="Segoe WPC"/>
                  </a:rPr>
                  <a:t>collinearity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regressor</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contribute</a:t>
                </a:r>
                <a:r>
                  <a:rPr lang="es-PE" sz="900" b="0" i="0" dirty="0">
                    <a:solidFill>
                      <a:schemeClr val="tx1"/>
                    </a:solidFill>
                    <a:effectLst/>
                    <a:latin typeface="Segoe WPC"/>
                  </a:rPr>
                  <a:t> </a:t>
                </a:r>
                <a:r>
                  <a:rPr lang="es-PE" sz="900" b="0" i="0" dirty="0" err="1">
                    <a:solidFill>
                      <a:schemeClr val="tx1"/>
                    </a:solidFill>
                    <a:effectLst/>
                    <a:latin typeface="Segoe WPC"/>
                  </a:rPr>
                  <a:t>some</a:t>
                </a:r>
                <a:r>
                  <a:rPr lang="es-PE" sz="900" b="0" i="0" dirty="0">
                    <a:solidFill>
                      <a:schemeClr val="tx1"/>
                    </a:solidFill>
                    <a:effectLst/>
                    <a:latin typeface="Segoe WPC"/>
                  </a:rPr>
                  <a:t> </a:t>
                </a:r>
                <a:r>
                  <a:rPr lang="es-PE" sz="900" b="0" i="0" dirty="0" err="1">
                    <a:solidFill>
                      <a:schemeClr val="tx1"/>
                    </a:solidFill>
                    <a:effectLst/>
                    <a:latin typeface="Segoe WPC"/>
                  </a:rPr>
                  <a:t>unique</a:t>
                </a:r>
                <a:r>
                  <a:rPr lang="es-PE" sz="900" b="0" i="0" dirty="0">
                    <a:solidFill>
                      <a:schemeClr val="tx1"/>
                    </a:solidFill>
                    <a:effectLst/>
                    <a:latin typeface="Segoe WPC"/>
                  </a:rPr>
                  <a:t> </a:t>
                </a:r>
                <a:r>
                  <a:rPr lang="es-PE" sz="900" b="0" i="0" dirty="0" err="1">
                    <a:solidFill>
                      <a:schemeClr val="tx1"/>
                    </a:solidFill>
                    <a:effectLst/>
                    <a:latin typeface="Segoe WPC"/>
                  </a:rPr>
                  <a:t>variation</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error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behave</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random</a:t>
                </a:r>
                <a:r>
                  <a:rPr lang="es-PE" sz="900" b="0" i="0" dirty="0">
                    <a:solidFill>
                      <a:schemeClr val="tx1"/>
                    </a:solidFill>
                    <a:effectLst/>
                    <a:latin typeface="Segoe WPC"/>
                  </a:rPr>
                  <a:t> </a:t>
                </a:r>
                <a:r>
                  <a:rPr lang="es-PE" sz="900" b="0" i="0" dirty="0" err="1">
                    <a:solidFill>
                      <a:schemeClr val="tx1"/>
                    </a:solidFill>
                    <a:effectLst/>
                    <a:latin typeface="Segoe WPC"/>
                  </a:rPr>
                  <a:t>noise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Every</a:t>
                </a:r>
                <a:r>
                  <a:rPr lang="es-PE" sz="900" b="0" i="0" dirty="0">
                    <a:solidFill>
                      <a:schemeClr val="tx1"/>
                    </a:solidFill>
                    <a:effectLst/>
                    <a:latin typeface="Segoe WPC"/>
                  </a:rPr>
                  <a:t> </a:t>
                </a:r>
                <a:r>
                  <a:rPr lang="es-PE" sz="900" b="0" i="0" dirty="0" err="1">
                    <a:solidFill>
                      <a:schemeClr val="tx1"/>
                    </a:solidFill>
                    <a:effectLst/>
                    <a:latin typeface="Segoe WPC"/>
                  </a:rPr>
                  <a:t>regressor</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add</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own</a:t>
                </a:r>
                <a:r>
                  <a:rPr lang="es-PE" sz="900" b="0" i="0" dirty="0">
                    <a:solidFill>
                      <a:schemeClr val="tx1"/>
                    </a:solidFill>
                    <a:effectLst/>
                    <a:latin typeface="Segoe WPC"/>
                  </a:rPr>
                  <a:t> </a:t>
                </a:r>
                <a:r>
                  <a:rPr lang="es-PE" sz="900" b="0" i="0" dirty="0" err="1">
                    <a:solidFill>
                      <a:schemeClr val="tx1"/>
                    </a:solidFill>
                    <a:effectLst/>
                    <a:latin typeface="Segoe WPC"/>
                  </a:rPr>
                  <a:t>dimension</a:t>
                </a:r>
                <a:r>
                  <a:rPr lang="es-PE" sz="900" b="0" i="0" dirty="0">
                    <a:solidFill>
                      <a:schemeClr val="tx1"/>
                    </a:solidFill>
                    <a:effectLst/>
                    <a:latin typeface="Segoe WPC"/>
                  </a:rPr>
                  <a:t> </a:t>
                </a:r>
                <a:r>
                  <a:rPr lang="es-PE" sz="900" b="0" i="0" dirty="0" err="1">
                    <a:solidFill>
                      <a:schemeClr val="tx1"/>
                    </a:solidFill>
                    <a:effectLst/>
                    <a:latin typeface="Segoe WPC"/>
                  </a:rPr>
                  <a:t>instead</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lying</a:t>
                </a:r>
                <a:r>
                  <a:rPr lang="es-PE" sz="900" b="0" i="0" dirty="0">
                    <a:solidFill>
                      <a:schemeClr val="tx1"/>
                    </a:solidFill>
                    <a:effectLst/>
                    <a:latin typeface="Segoe WPC"/>
                  </a:rPr>
                  <a:t> </a:t>
                </a:r>
                <a:r>
                  <a:rPr lang="es-PE" sz="900" b="0" i="0" dirty="0" err="1">
                    <a:solidFill>
                      <a:schemeClr val="tx1"/>
                    </a:solidFill>
                    <a:effectLst/>
                    <a:latin typeface="Segoe WPC"/>
                  </a:rPr>
                  <a:t>exactly</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top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another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assumptions</a:t>
                </a:r>
                <a:r>
                  <a:rPr lang="es-PE" sz="900" b="0" i="0" dirty="0">
                    <a:solidFill>
                      <a:schemeClr val="tx1"/>
                    </a:solidFill>
                    <a:effectLst/>
                    <a:latin typeface="Segoe WPC"/>
                  </a:rPr>
                  <a:t>: no </a:t>
                </a:r>
                <a:r>
                  <a:rPr lang="es-PE" sz="900" b="0" i="0" dirty="0" err="1">
                    <a:solidFill>
                      <a:schemeClr val="tx1"/>
                    </a:solidFill>
                    <a:effectLst/>
                    <a:latin typeface="Segoe WPC"/>
                  </a:rPr>
                  <a:t>perfect</a:t>
                </a:r>
                <a:r>
                  <a:rPr lang="es-PE" sz="900" b="0" i="0" dirty="0">
                    <a:solidFill>
                      <a:schemeClr val="tx1"/>
                    </a:solidFill>
                    <a:effectLst/>
                    <a:latin typeface="Segoe WPC"/>
                  </a:rPr>
                  <a:t> </a:t>
                </a:r>
                <a:r>
                  <a:rPr lang="es-PE" sz="900" b="0" i="0" dirty="0" err="1">
                    <a:solidFill>
                      <a:schemeClr val="tx1"/>
                    </a:solidFill>
                    <a:effectLst/>
                    <a:latin typeface="Segoe WPC"/>
                  </a:rPr>
                  <a:t>collinearity</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m:t>
                    </m:r>
                    <m:d>
                      <m:dPr>
                        <m:begChr m:val="["/>
                        <m:endChr m:val="]"/>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𝑒</m:t>
                            </m:r>
                          </m:e>
                          <m:sub>
                            <m:r>
                              <a:rPr lang="ar-AE" sz="900" i="1">
                                <a:solidFill>
                                  <a:schemeClr val="tx1"/>
                                </a:solidFill>
                                <a:latin typeface="Cambria Math" panose="02040503050406030204" pitchFamily="18" charset="0"/>
                              </a:rPr>
                              <m:t>𝑖</m:t>
                            </m:r>
                          </m:sub>
                        </m:sSub>
                      </m:e>
                      <m:e>
                        <m:r>
                          <a:rPr lang="ar-AE" sz="900" i="0">
                            <a:solidFill>
                              <a:schemeClr val="tx1"/>
                            </a:solidFill>
                            <a:latin typeface="Cambria Math" panose="02040503050406030204" pitchFamily="18" charset="0"/>
                          </a:rPr>
                          <m:t>∣</m:t>
                        </m:r>
                      </m:e>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1">
                                <a:solidFill>
                                  <a:schemeClr val="tx1"/>
                                </a:solidFill>
                                <a:latin typeface="Cambria Math" panose="02040503050406030204" pitchFamily="18" charset="0"/>
                              </a:rPr>
                              <m:t>𝑘𝑖</m:t>
                            </m:r>
                          </m:sub>
                        </m:sSub>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 </a:t>
                </a:r>
                <a:r>
                  <a:rPr lang="es-PE" sz="900" b="0" i="0" dirty="0" err="1">
                    <a:solidFill>
                      <a:schemeClr val="tx1"/>
                    </a:solidFill>
                    <a:effectLst/>
                    <a:latin typeface="Segoe WPC"/>
                  </a:rPr>
                  <a:t>iid</a:t>
                </a:r>
                <a:r>
                  <a:rPr lang="es-PE" sz="900" b="0" i="0" dirty="0">
                    <a:solidFill>
                      <a:schemeClr val="tx1"/>
                    </a:solidFill>
                    <a:effectLst/>
                    <a:latin typeface="Segoe WPC"/>
                  </a:rPr>
                  <a:t> data, finite </a:t>
                </a:r>
                <a:r>
                  <a:rPr lang="es-PE" sz="900" b="0" i="0" dirty="0" err="1">
                    <a:solidFill>
                      <a:schemeClr val="tx1"/>
                    </a:solidFill>
                    <a:effectLst/>
                    <a:latin typeface="Segoe WPC"/>
                  </a:rPr>
                  <a:t>variances</a:t>
                </a:r>
                <a:r>
                  <a:rPr lang="es-PE" sz="900" b="0" i="0" dirty="0">
                    <a:solidFill>
                      <a:schemeClr val="tx1"/>
                    </a:solidFill>
                    <a:effectLst/>
                    <a:latin typeface="Segoe WPC"/>
                  </a:rPr>
                  <a:t>, and </a:t>
                </a:r>
                <a:r>
                  <a:rPr lang="es-PE" sz="900" b="0" i="0" dirty="0" err="1">
                    <a:solidFill>
                      <a:schemeClr val="tx1"/>
                    </a:solidFill>
                    <a:effectLst/>
                    <a:latin typeface="Segoe WPC"/>
                  </a:rPr>
                  <a:t>constant</a:t>
                </a:r>
                <a:r>
                  <a:rPr lang="es-PE" sz="900" b="0" i="0" dirty="0">
                    <a:solidFill>
                      <a:schemeClr val="tx1"/>
                    </a:solidFill>
                    <a:effectLst/>
                    <a:latin typeface="Segoe WPC"/>
                  </a:rPr>
                  <a:t> error </a:t>
                </a:r>
                <a:r>
                  <a:rPr lang="es-PE" sz="900" b="0" i="0" dirty="0" err="1">
                    <a:solidFill>
                      <a:schemeClr val="tx1"/>
                    </a:solidFill>
                    <a:effectLst/>
                    <a:latin typeface="Segoe WPC"/>
                  </a:rPr>
                  <a:t>variance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t>
                </a:r>
                <a:r>
                  <a:rPr lang="es-PE" sz="900" b="0" i="0" dirty="0" err="1">
                    <a:solidFill>
                      <a:schemeClr val="tx1"/>
                    </a:solidFill>
                    <a:effectLst/>
                    <a:latin typeface="Segoe WPC"/>
                  </a:rPr>
                  <a:t>assumptions</a:t>
                </a:r>
                <a:r>
                  <a:rPr lang="es-PE" sz="900" b="0" i="0" dirty="0">
                    <a:solidFill>
                      <a:schemeClr val="tx1"/>
                    </a:solidFill>
                    <a:effectLst/>
                    <a:latin typeface="Segoe WPC"/>
                  </a:rPr>
                  <a:t> </a:t>
                </a:r>
                <a:r>
                  <a:rPr lang="es-PE" sz="900" b="0" i="0" dirty="0" err="1">
                    <a:solidFill>
                      <a:schemeClr val="tx1"/>
                    </a:solidFill>
                    <a:effectLst/>
                    <a:latin typeface="Segoe WPC"/>
                  </a:rPr>
                  <a:t>allow</a:t>
                </a:r>
                <a:r>
                  <a:rPr lang="es-PE" sz="900" b="0" i="0" dirty="0">
                    <a:solidFill>
                      <a:schemeClr val="tx1"/>
                    </a:solidFill>
                    <a:effectLst/>
                    <a:latin typeface="Segoe WPC"/>
                  </a:rPr>
                  <a:t> </a:t>
                </a:r>
                <a:r>
                  <a:rPr lang="es-PE" sz="900" b="0" i="0" dirty="0" err="1">
                    <a:solidFill>
                      <a:schemeClr val="tx1"/>
                    </a:solidFill>
                    <a:effectLst/>
                    <a:latin typeface="Segoe WPC"/>
                  </a:rPr>
                  <a:t>meaningful</a:t>
                </a:r>
                <a:r>
                  <a:rPr lang="es-PE" sz="900" b="0" i="0" dirty="0">
                    <a:solidFill>
                      <a:schemeClr val="tx1"/>
                    </a:solidFill>
                    <a:effectLst/>
                    <a:latin typeface="Segoe WPC"/>
                  </a:rPr>
                  <a:t> </a:t>
                </a:r>
                <a:r>
                  <a:rPr lang="es-PE" sz="900" b="0" i="0" dirty="0" err="1">
                    <a:solidFill>
                      <a:schemeClr val="tx1"/>
                    </a:solidFill>
                    <a:effectLst/>
                    <a:latin typeface="Segoe WPC"/>
                  </a:rPr>
                  <a:t>coefficient</a:t>
                </a:r>
                <a:r>
                  <a:rPr lang="es-PE" sz="900" b="0" i="0" dirty="0">
                    <a:solidFill>
                      <a:schemeClr val="tx1"/>
                    </a:solidFill>
                    <a:effectLst/>
                    <a:latin typeface="Segoe WPC"/>
                  </a:rPr>
                  <a:t> </a:t>
                </a:r>
                <a:r>
                  <a:rPr lang="es-PE" sz="900" b="0" i="0" dirty="0" err="1">
                    <a:solidFill>
                      <a:schemeClr val="tx1"/>
                    </a:solidFill>
                    <a:effectLst/>
                    <a:latin typeface="Segoe WPC"/>
                  </a:rPr>
                  <a:t>interpretation</a:t>
                </a:r>
                <a:r>
                  <a:rPr lang="es-PE" sz="900" b="0" i="0" dirty="0">
                    <a:solidFill>
                      <a:schemeClr val="tx1"/>
                    </a:solidFill>
                    <a:effectLst/>
                    <a:latin typeface="Segoe WPC"/>
                  </a:rPr>
                  <a:t> and </a:t>
                </a:r>
                <a:r>
                  <a:rPr lang="es-PE" sz="900" b="0" i="0" dirty="0" err="1">
                    <a:solidFill>
                      <a:schemeClr val="tx1"/>
                    </a:solidFill>
                    <a:effectLst/>
                    <a:latin typeface="Segoe WPC"/>
                  </a:rPr>
                  <a:t>valid</a:t>
                </a:r>
                <a:r>
                  <a:rPr lang="es-PE" sz="900" b="0" i="0" dirty="0">
                    <a:solidFill>
                      <a:schemeClr val="tx1"/>
                    </a:solidFill>
                    <a:effectLst/>
                    <a:latin typeface="Segoe WPC"/>
                  </a:rPr>
                  <a:t> </a:t>
                </a:r>
                <a:r>
                  <a:rPr lang="es-PE" sz="900" b="0" i="0" dirty="0" err="1">
                    <a:solidFill>
                      <a:schemeClr val="tx1"/>
                    </a:solidFill>
                    <a:effectLst/>
                    <a:latin typeface="Segoe WPC"/>
                  </a:rPr>
                  <a:t>inference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are </a:t>
                </a:r>
                <a:r>
                  <a:rPr lang="es-PE" sz="900" b="0" i="0" dirty="0" err="1">
                    <a:solidFill>
                      <a:schemeClr val="tx1"/>
                    </a:solidFill>
                    <a:effectLst/>
                    <a:latin typeface="Segoe WPC"/>
                  </a:rPr>
                  <a:t>perfectly</a:t>
                </a:r>
                <a:r>
                  <a:rPr lang="es-PE" sz="900" b="0" i="0" dirty="0">
                    <a:solidFill>
                      <a:schemeClr val="tx1"/>
                    </a:solidFill>
                    <a:effectLst/>
                    <a:latin typeface="Segoe WPC"/>
                  </a:rPr>
                  <a:t> </a:t>
                </a:r>
                <a:r>
                  <a:rPr lang="es-PE" sz="900" b="0" i="0" dirty="0" err="1">
                    <a:solidFill>
                      <a:schemeClr val="tx1"/>
                    </a:solidFill>
                    <a:effectLst/>
                    <a:latin typeface="Segoe WPC"/>
                  </a:rPr>
                  <a:t>collinear</a:t>
                </a:r>
                <a:r>
                  <a:rPr lang="es-PE" sz="900" b="0" i="0" dirty="0">
                    <a:solidFill>
                      <a:schemeClr val="tx1"/>
                    </a:solidFill>
                    <a:effectLst/>
                    <a:latin typeface="Segoe WPC"/>
                  </a:rPr>
                  <a:t>, </a:t>
                </a:r>
                <a:r>
                  <a:rPr lang="es-PE" sz="900" b="0" i="0" dirty="0" err="1">
                    <a:solidFill>
                      <a:schemeClr val="tx1"/>
                    </a:solidFill>
                    <a:effectLst/>
                    <a:latin typeface="Segoe WPC"/>
                  </a:rPr>
                  <a:t>their</a:t>
                </a:r>
                <a:r>
                  <a:rPr lang="es-PE" sz="900" b="0" i="0" dirty="0">
                    <a:solidFill>
                      <a:schemeClr val="tx1"/>
                    </a:solidFill>
                    <a:effectLst/>
                    <a:latin typeface="Segoe WPC"/>
                  </a:rPr>
                  <a:t> </a:t>
                </a:r>
                <a:r>
                  <a:rPr lang="es-PE" sz="900" b="0" i="0" dirty="0" err="1">
                    <a:solidFill>
                      <a:schemeClr val="tx1"/>
                    </a:solidFill>
                    <a:effectLst/>
                    <a:latin typeface="Segoe WPC"/>
                  </a:rPr>
                  <a:t>separate</a:t>
                </a:r>
                <a:r>
                  <a:rPr lang="es-PE" sz="900" b="0" i="0" dirty="0">
                    <a:solidFill>
                      <a:schemeClr val="tx1"/>
                    </a:solidFill>
                    <a:effectLst/>
                    <a:latin typeface="Segoe WPC"/>
                  </a:rPr>
                  <a:t> </a:t>
                </a:r>
                <a:r>
                  <a:rPr lang="es-PE" sz="900" b="0" i="0" dirty="0" err="1">
                    <a:solidFill>
                      <a:schemeClr val="tx1"/>
                    </a:solidFill>
                    <a:effectLst/>
                    <a:latin typeface="Segoe WPC"/>
                  </a:rPr>
                  <a:t>effects</a:t>
                </a:r>
                <a:r>
                  <a:rPr lang="es-PE" sz="900" b="0" i="0" dirty="0">
                    <a:solidFill>
                      <a:schemeClr val="tx1"/>
                    </a:solidFill>
                    <a:effectLst/>
                    <a:latin typeface="Segoe WPC"/>
                  </a:rPr>
                  <a:t> </a:t>
                </a:r>
                <a:r>
                  <a:rPr lang="es-PE" sz="900" b="0" i="0" dirty="0" err="1">
                    <a:solidFill>
                      <a:schemeClr val="tx1"/>
                    </a:solidFill>
                    <a:effectLst/>
                    <a:latin typeface="Segoe WPC"/>
                  </a:rPr>
                  <a:t>cannot</a:t>
                </a:r>
                <a:r>
                  <a:rPr lang="es-PE" sz="900" b="0" i="0" dirty="0">
                    <a:solidFill>
                      <a:schemeClr val="tx1"/>
                    </a:solidFill>
                    <a:effectLst/>
                    <a:latin typeface="Segoe WPC"/>
                  </a:rPr>
                  <a:t> be </a:t>
                </a:r>
                <a:r>
                  <a:rPr lang="es-PE" sz="900" b="0" i="0" dirty="0" err="1">
                    <a:solidFill>
                      <a:schemeClr val="tx1"/>
                    </a:solidFill>
                    <a:effectLst/>
                    <a:latin typeface="Segoe WPC"/>
                  </a:rPr>
                  <a:t>estimated</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5. Multi-Factor </a:t>
                </a:r>
                <a:r>
                  <a:rPr lang="es-PE" sz="900" b="1" i="0" dirty="0" err="1">
                    <a:solidFill>
                      <a:schemeClr val="tx1"/>
                    </a:solidFill>
                    <a:effectLst/>
                    <a:latin typeface="Segoe WPC"/>
                  </a:rPr>
                  <a:t>Risk</a:t>
                </a:r>
                <a:r>
                  <a:rPr lang="es-PE" sz="900" b="1" i="0" dirty="0">
                    <a:solidFill>
                      <a:schemeClr val="tx1"/>
                    </a:solidFill>
                    <a:effectLst/>
                    <a:latin typeface="Segoe WPC"/>
                  </a:rPr>
                  <a:t> </a:t>
                </a:r>
                <a:r>
                  <a:rPr lang="es-PE" sz="900" b="1" i="0" dirty="0" err="1">
                    <a:solidFill>
                      <a:schemeClr val="tx1"/>
                    </a:solidFill>
                    <a:effectLst/>
                    <a:latin typeface="Segoe WPC"/>
                  </a:rPr>
                  <a:t>Models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Multiple</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used</a:t>
                </a:r>
                <a:r>
                  <a:rPr lang="es-PE" sz="900" b="0" i="0" dirty="0">
                    <a:solidFill>
                      <a:schemeClr val="tx1"/>
                    </a:solidFill>
                    <a:effectLst/>
                    <a:latin typeface="Segoe WPC"/>
                  </a:rPr>
                  <a:t> in </a:t>
                </a:r>
                <a:r>
                  <a:rPr lang="es-PE" sz="900" b="0" i="0" dirty="0" err="1">
                    <a:solidFill>
                      <a:schemeClr val="tx1"/>
                    </a:solidFill>
                    <a:effectLst/>
                    <a:latin typeface="Segoe WPC"/>
                  </a:rPr>
                  <a:t>finance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estimate</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several</a:t>
                </a:r>
                <a:r>
                  <a:rPr lang="es-PE" sz="900" b="0" i="0" dirty="0">
                    <a:solidFill>
                      <a:schemeClr val="tx1"/>
                    </a:solidFill>
                    <a:effectLst/>
                    <a:latin typeface="Segoe WPC"/>
                  </a:rPr>
                  <a:t> </a:t>
                </a:r>
                <a:r>
                  <a:rPr lang="es-PE" sz="900" b="0" i="0" dirty="0" err="1">
                    <a:solidFill>
                      <a:schemeClr val="tx1"/>
                    </a:solidFill>
                    <a:effectLst/>
                    <a:latin typeface="Segoe WPC"/>
                  </a:rPr>
                  <a:t>factors</a:t>
                </a:r>
                <a:r>
                  <a:rPr lang="es-PE" sz="900" b="0" i="0" dirty="0">
                    <a:solidFill>
                      <a:schemeClr val="tx1"/>
                    </a:solidFill>
                    <a:effectLst/>
                    <a:latin typeface="Segoe WPC"/>
                  </a:rPr>
                  <a:t> at once.</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alone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enough</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 </a:t>
                </a:r>
                <a:r>
                  <a:rPr lang="es-PE" sz="900" b="0" i="0" dirty="0" err="1">
                    <a:solidFill>
                      <a:schemeClr val="tx1"/>
                    </a:solidFill>
                    <a:effectLst/>
                    <a:latin typeface="Segoe WPC"/>
                  </a:rPr>
                  <a:t>factors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size</a:t>
                </a:r>
                <a:r>
                  <a:rPr lang="es-PE" sz="900" b="0" i="0" dirty="0">
                    <a:solidFill>
                      <a:schemeClr val="tx1"/>
                    </a:solidFill>
                    <a:effectLst/>
                    <a:latin typeface="Segoe WPC"/>
                  </a:rPr>
                  <a:t> and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also</a:t>
                </a:r>
                <a:r>
                  <a:rPr lang="es-PE" sz="900" b="0" i="0" dirty="0">
                    <a:solidFill>
                      <a:schemeClr val="tx1"/>
                    </a:solidFill>
                    <a:effectLst/>
                    <a:latin typeface="Segoe WPC"/>
                  </a:rPr>
                  <a:t> </a:t>
                </a:r>
                <a:r>
                  <a:rPr lang="es-PE" sz="900" b="0" i="0" dirty="0" err="1">
                    <a:solidFill>
                      <a:schemeClr val="tx1"/>
                    </a:solidFill>
                    <a:effectLst/>
                    <a:latin typeface="Segoe WPC"/>
                  </a:rPr>
                  <a:t>explain</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separates</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sources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instead</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forcing</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variation</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factor.</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𝑃𝑖</m:t>
                        </m:r>
                      </m:sub>
                      <m:sup>
                        <m:r>
                          <a:rPr lang="ar-AE" sz="900" i="0">
                            <a:solidFill>
                              <a:schemeClr val="tx1"/>
                            </a:solidFill>
                            <a:latin typeface="Cambria Math" panose="02040503050406030204" pitchFamily="18" charset="0"/>
                          </a:rPr>
                          <m:t>∗</m:t>
                        </m:r>
                      </m:sup>
                    </m:sSub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𝑎</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1">
                            <a:solidFill>
                              <a:schemeClr val="tx1"/>
                            </a:solidFill>
                            <a:latin typeface="Cambria Math" panose="02040503050406030204" pitchFamily="18" charset="0"/>
                          </a:rPr>
                          <m:t>𝑚</m:t>
                        </m:r>
                      </m:sub>
                    </m:sSub>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𝑀𝑖</m:t>
                        </m:r>
                      </m:sub>
                      <m:sup>
                        <m:r>
                          <a:rPr lang="ar-AE" sz="900" i="0">
                            <a:solidFill>
                              <a:schemeClr val="tx1"/>
                            </a:solidFill>
                            <a:latin typeface="Cambria Math" panose="02040503050406030204" pitchFamily="18" charset="0"/>
                          </a:rPr>
                          <m:t>∗</m:t>
                        </m:r>
                      </m:sup>
                    </m:sSubSup>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1">
                            <a:solidFill>
                              <a:schemeClr val="tx1"/>
                            </a:solidFill>
                            <a:latin typeface="Cambria Math" panose="02040503050406030204" pitchFamily="18" charset="0"/>
                          </a:rPr>
                          <m:t>𝑠</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𝑆𝑖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1">
                            <a:solidFill>
                              <a:schemeClr val="tx1"/>
                            </a:solidFill>
                            <a:latin typeface="Cambria Math" panose="02040503050406030204" pitchFamily="18" charset="0"/>
                          </a:rPr>
                          <m:t>𝑣</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𝑉𝑖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𝑒</m:t>
                        </m:r>
                      </m:e>
                      <m:sub>
                        <m:r>
                          <a:rPr lang="ar-AE" sz="900" i="1">
                            <a:solidFill>
                              <a:schemeClr val="tx1"/>
                            </a:solidFill>
                            <a:latin typeface="Cambria Math" panose="02040503050406030204" pitchFamily="18" charset="0"/>
                          </a:rPr>
                          <m:t>𝑖</m:t>
                        </m:r>
                      </m:sub>
                    </m:sSub>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beta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factor after </a:t>
                </a:r>
                <a:r>
                  <a:rPr lang="es-PE" sz="900" b="0" i="0" dirty="0" err="1">
                    <a:solidFill>
                      <a:schemeClr val="tx1"/>
                    </a:solidFill>
                    <a:effectLst/>
                    <a:latin typeface="Segoe WPC"/>
                  </a:rPr>
                  <a:t>controlling</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others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loading</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 </a:t>
                </a:r>
                <a:r>
                  <a:rPr lang="es-PE" sz="900" b="0" i="0" dirty="0" err="1">
                    <a:solidFill>
                      <a:schemeClr val="tx1"/>
                    </a:solidFill>
                    <a:effectLst/>
                    <a:latin typeface="Segoe WPC"/>
                  </a:rPr>
                  <a:t>one</a:t>
                </a:r>
                <a:r>
                  <a:rPr lang="es-PE" sz="900" b="0" i="0" dirty="0">
                    <a:solidFill>
                      <a:schemeClr val="tx1"/>
                    </a:solidFill>
                    <a:effectLst/>
                    <a:latin typeface="Segoe WPC"/>
                  </a:rPr>
                  <a:t>-factor </a:t>
                </a:r>
                <a:r>
                  <a:rPr lang="es-PE" sz="900" b="0" i="0" dirty="0" err="1">
                    <a:solidFill>
                      <a:schemeClr val="tx1"/>
                    </a:solidFill>
                    <a:effectLst/>
                    <a:latin typeface="Segoe WPC"/>
                  </a:rPr>
                  <a:t>regression</a:t>
                </a:r>
                <a:r>
                  <a:rPr lang="es-PE" sz="900" b="0" i="0" dirty="0">
                    <a:solidFill>
                      <a:schemeClr val="tx1"/>
                    </a:solidFill>
                    <a:effectLst/>
                    <a:latin typeface="Segoe WPC"/>
                  </a:rPr>
                  <a:t> can </a:t>
                </a:r>
                <a:r>
                  <a:rPr lang="es-PE" sz="900" b="0" i="0" dirty="0" err="1">
                    <a:solidFill>
                      <a:schemeClr val="tx1"/>
                    </a:solidFill>
                    <a:effectLst/>
                    <a:latin typeface="Segoe WPC"/>
                  </a:rPr>
                  <a:t>change</a:t>
                </a:r>
                <a:r>
                  <a:rPr lang="es-PE" sz="900" b="0" i="0" dirty="0">
                    <a:solidFill>
                      <a:schemeClr val="tx1"/>
                    </a:solidFill>
                    <a:effectLst/>
                    <a:latin typeface="Segoe WPC"/>
                  </a:rPr>
                  <a:t> once </a:t>
                </a:r>
                <a:r>
                  <a:rPr lang="es-PE" sz="900" b="0" i="0" dirty="0" err="1">
                    <a:solidFill>
                      <a:schemeClr val="tx1"/>
                    </a:solidFill>
                    <a:effectLst/>
                    <a:latin typeface="Segoe WPC"/>
                  </a:rPr>
                  <a:t>correlated</a:t>
                </a:r>
                <a:r>
                  <a:rPr lang="es-PE" sz="900" b="0" i="0" dirty="0">
                    <a:solidFill>
                      <a:schemeClr val="tx1"/>
                    </a:solidFill>
                    <a:effectLst/>
                    <a:latin typeface="Segoe WPC"/>
                  </a:rPr>
                  <a:t> </a:t>
                </a:r>
                <a:r>
                  <a:rPr lang="es-PE" sz="900" b="0" i="0" dirty="0" err="1">
                    <a:solidFill>
                      <a:schemeClr val="tx1"/>
                    </a:solidFill>
                    <a:effectLst/>
                    <a:latin typeface="Segoe WPC"/>
                  </a:rPr>
                  <a:t>factors</a:t>
                </a:r>
                <a:r>
                  <a:rPr lang="es-PE" sz="900" b="0" i="0" dirty="0">
                    <a:solidFill>
                      <a:schemeClr val="tx1"/>
                    </a:solidFill>
                    <a:effectLst/>
                    <a:latin typeface="Segoe WPC"/>
                  </a:rPr>
                  <a:t> are </a:t>
                </a:r>
                <a:r>
                  <a:rPr lang="es-PE" sz="900" b="0" i="0" dirty="0" err="1">
                    <a:solidFill>
                      <a:schemeClr val="tx1"/>
                    </a:solidFill>
                    <a:effectLst/>
                    <a:latin typeface="Segoe WPC"/>
                  </a:rPr>
                  <a:t>added</a:t>
                </a:r>
                <a:r>
                  <a:rPr lang="es-PE" sz="900" b="0" i="0" dirty="0">
                    <a:solidFill>
                      <a:schemeClr val="tx1"/>
                    </a:solidFill>
                    <a:effectLst/>
                    <a:latin typeface="Segoe WPC"/>
                  </a:rPr>
                  <a:t>.</a:t>
                </a:r>
              </a:p>
            </p:txBody>
          </p:sp>
        </mc:Choice>
        <mc:Fallback xmlns="">
          <p:sp>
            <p:nvSpPr>
              <p:cNvPr id="9" name="CuadroTexto 8">
                <a:extLst>
                  <a:ext uri="{FF2B5EF4-FFF2-40B4-BE49-F238E27FC236}">
                    <a16:creationId xmlns:a16="http://schemas.microsoft.com/office/drawing/2014/main" id="{888D5C8E-E132-B4CF-01DF-1126E0F3BBDF}"/>
                  </a:ext>
                </a:extLst>
              </p:cNvPr>
              <p:cNvSpPr txBox="1">
                <a:spLocks noRot="1" noChangeAspect="1" noMove="1" noResize="1" noEditPoints="1" noAdjustHandles="1" noChangeArrowheads="1" noChangeShapeType="1" noTextEdit="1"/>
              </p:cNvSpPr>
              <p:nvPr/>
            </p:nvSpPr>
            <p:spPr>
              <a:xfrm>
                <a:off x="0" y="208413"/>
                <a:ext cx="6393976" cy="6540060"/>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25A06B99-EE5A-4BE5-2FE7-79F8EA6AD52F}"/>
                  </a:ext>
                </a:extLst>
              </p:cNvPr>
              <p:cNvSpPr txBox="1"/>
              <p:nvPr/>
            </p:nvSpPr>
            <p:spPr>
              <a:xfrm>
                <a:off x="6190966" y="-28447"/>
                <a:ext cx="6144904" cy="7013780"/>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6. </a:t>
                </a:r>
                <a:r>
                  <a:rPr lang="es-PE" sz="900" b="1" i="0" dirty="0" err="1">
                    <a:solidFill>
                      <a:schemeClr val="tx1"/>
                    </a:solidFill>
                    <a:effectLst/>
                    <a:latin typeface="Segoe WPC"/>
                  </a:rPr>
                  <a:t>Model</a:t>
                </a:r>
                <a:r>
                  <a:rPr lang="es-PE" sz="900" b="1" i="0" dirty="0">
                    <a:solidFill>
                      <a:schemeClr val="tx1"/>
                    </a:solidFill>
                    <a:effectLst/>
                    <a:latin typeface="Segoe WPC"/>
                  </a:rPr>
                  <a:t> </a:t>
                </a:r>
                <a:r>
                  <a:rPr lang="es-PE" sz="900" b="1" i="0" dirty="0" err="1">
                    <a:solidFill>
                      <a:schemeClr val="tx1"/>
                    </a:solidFill>
                    <a:effectLst/>
                    <a:latin typeface="Segoe WPC"/>
                  </a:rPr>
                  <a:t>Fit</a:t>
                </a:r>
                <a:r>
                  <a:rPr lang="es-PE" sz="900" b="1" i="0" dirty="0">
                    <a:solidFill>
                      <a:schemeClr val="tx1"/>
                    </a:solidFill>
                    <a:effectLst/>
                    <a:latin typeface="Segoe WPC"/>
                  </a:rPr>
                  <a:t> and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br>
                  <a:rPr lang="ar-A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fraction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total </a:t>
                </a:r>
                <a:r>
                  <a:rPr lang="es-PE" sz="900" b="0" i="0" dirty="0" err="1">
                    <a:solidFill>
                      <a:schemeClr val="tx1"/>
                    </a:solidFill>
                    <a:effectLst/>
                    <a:latin typeface="Segoe WPC"/>
                  </a:rPr>
                  <a:t>variation</a:t>
                </a:r>
                <a:r>
                  <a:rPr lang="es-PE" sz="900" b="0" i="0" dirty="0">
                    <a:solidFill>
                      <a:schemeClr val="tx1"/>
                    </a:solidFill>
                    <a:effectLst/>
                    <a:latin typeface="Segoe WPC"/>
                  </a:rPr>
                  <a:t> in </a:t>
                </a:r>
                <a14:m>
                  <m:oMath xmlns:m="http://schemas.openxmlformats.org/officeDocument/2006/math">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a:t>
                </a:r>
                <a:r>
                  <a:rPr lang="es-PE" sz="900" b="0" i="0" dirty="0" err="1">
                    <a:solidFill>
                      <a:schemeClr val="tx1"/>
                    </a:solidFill>
                    <a:effectLst/>
                    <a:latin typeface="Segoe WPC"/>
                  </a:rPr>
                  <a:t>explained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tells</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much</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movement</a:t>
                </a:r>
                <a:r>
                  <a:rPr lang="es-PE" sz="900" b="0" i="0" dirty="0">
                    <a:solidFill>
                      <a:schemeClr val="tx1"/>
                    </a:solidFill>
                    <a:effectLst/>
                    <a:latin typeface="Segoe WPC"/>
                  </a:rPr>
                  <a:t> in </a:t>
                </a:r>
                <a14:m>
                  <m:oMath xmlns:m="http://schemas.openxmlformats.org/officeDocument/2006/math">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accounts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Total </a:t>
                </a:r>
                <a:r>
                  <a:rPr lang="es-PE" sz="900" b="0" i="0" dirty="0" err="1">
                    <a:solidFill>
                      <a:schemeClr val="tx1"/>
                    </a:solidFill>
                    <a:effectLst/>
                    <a:latin typeface="Segoe WPC"/>
                  </a:rPr>
                  <a:t>variation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split</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explained</a:t>
                </a:r>
                <a:r>
                  <a:rPr lang="es-PE" sz="900" b="0" i="0" dirty="0">
                    <a:solidFill>
                      <a:schemeClr val="tx1"/>
                    </a:solidFill>
                    <a:effectLst/>
                    <a:latin typeface="Segoe WPC"/>
                  </a:rPr>
                  <a:t> </a:t>
                </a:r>
                <a:r>
                  <a:rPr lang="es-PE" sz="900" b="0" i="0" dirty="0" err="1">
                    <a:solidFill>
                      <a:schemeClr val="tx1"/>
                    </a:solidFill>
                    <a:effectLst/>
                    <a:latin typeface="Segoe WPC"/>
                  </a:rPr>
                  <a:t>variation</a:t>
                </a:r>
                <a:r>
                  <a:rPr lang="es-PE" sz="900" b="0" i="0" dirty="0">
                    <a:solidFill>
                      <a:schemeClr val="tx1"/>
                    </a:solidFill>
                    <a:effectLst/>
                    <a:latin typeface="Segoe WPC"/>
                  </a:rPr>
                  <a:t> and </a:t>
                </a:r>
                <a:r>
                  <a:rPr lang="es-PE" sz="900" b="0" i="0" dirty="0" err="1">
                    <a:solidFill>
                      <a:schemeClr val="tx1"/>
                    </a:solidFill>
                    <a:effectLst/>
                    <a:latin typeface="Segoe WPC"/>
                  </a:rPr>
                  <a:t>unexplained</a:t>
                </a:r>
                <a:r>
                  <a:rPr lang="es-PE" sz="900" b="0" i="0" dirty="0">
                    <a:solidFill>
                      <a:schemeClr val="tx1"/>
                    </a:solidFill>
                    <a:effectLst/>
                    <a:latin typeface="Segoe WPC"/>
                  </a:rPr>
                  <a:t> residual </a:t>
                </a:r>
                <a:r>
                  <a:rPr lang="es-PE" sz="900" b="0" i="0" dirty="0" err="1">
                    <a:solidFill>
                      <a:schemeClr val="tx1"/>
                    </a:solidFill>
                    <a:effectLst/>
                    <a:latin typeface="Segoe WPC"/>
                  </a:rPr>
                  <a:t>variation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𝑇𝑆𝑆</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𝐸𝑆𝑆</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𝑅𝑆𝑆</m:t>
                    </m:r>
                  </m:oMath>
                </a14:m>
                <a:r>
                  <a:rPr lang="es-PE" sz="900" b="0" i="0" dirty="0">
                    <a:solidFill>
                      <a:schemeClr val="tx1"/>
                    </a:solidFill>
                    <a:effectLst/>
                    <a:latin typeface="Segoe WPC"/>
                  </a:rPr>
                  <a:t> and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𝐸𝑆𝑆</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𝑇𝑆𝑆</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𝑅𝑆𝑆</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𝑇𝑆𝑆</m:t>
                    </m:r>
                  </m:oMath>
                </a14:m>
                <a:r>
                  <a:rPr lang="ar-AE" sz="900" b="0" i="0" dirty="0">
                    <a:solidFill>
                      <a:schemeClr val="tx1"/>
                    </a:solidFill>
                    <a:effectLst/>
                    <a:latin typeface="Segoe WPC"/>
                  </a:rPr>
                  <a:t>; </a:t>
                </a:r>
                <a:r>
                  <a:rPr lang="es-PE" sz="900" b="0" i="0" dirty="0">
                    <a:solidFill>
                      <a:schemeClr val="tx1"/>
                    </a:solidFill>
                    <a:effectLst/>
                    <a:latin typeface="Segoe WPC"/>
                  </a:rPr>
                  <a:t>in </a:t>
                </a:r>
                <a:r>
                  <a:rPr lang="es-PE" sz="900" b="0" i="0" dirty="0" err="1">
                    <a:solidFill>
                      <a:schemeClr val="tx1"/>
                    </a:solidFill>
                    <a:effectLst/>
                    <a:latin typeface="Segoe WPC"/>
                  </a:rPr>
                  <a:t>multiple</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𝐶𝑜𝑟</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𝑟</m:t>
                        </m:r>
                      </m:e>
                      <m:sup>
                        <m:r>
                          <a:rPr lang="ar-AE" sz="900" i="0">
                            <a:solidFill>
                              <a:schemeClr val="tx1"/>
                            </a:solidFill>
                            <a:latin typeface="Cambria Math" panose="02040503050406030204" pitchFamily="18" charset="0"/>
                          </a:rPr>
                          <m:t>2</m:t>
                        </m:r>
                      </m:sup>
                    </m:sSup>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𝑌</m:t>
                            </m:r>
                          </m:e>
                        </m:acc>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OLS </a:t>
                </a:r>
                <a:r>
                  <a:rPr lang="es-PE" sz="900" b="0" i="0" dirty="0" err="1">
                    <a:solidFill>
                      <a:schemeClr val="tx1"/>
                    </a:solidFill>
                    <a:effectLst/>
                    <a:latin typeface="Segoe WPC"/>
                  </a:rPr>
                  <a:t>minimizes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𝑅𝑆𝑆</m:t>
                    </m:r>
                  </m:oMath>
                </a14:m>
                <a:r>
                  <a:rPr lang="es-PE" sz="900" b="0" i="0" dirty="0">
                    <a:solidFill>
                      <a:schemeClr val="tx1"/>
                    </a:solidFill>
                    <a:effectLst/>
                    <a:latin typeface="Segoe WPC"/>
                  </a:rPr>
                  <a:t> and </a:t>
                </a:r>
                <a:r>
                  <a:rPr lang="es-PE" sz="900" b="0" i="0" dirty="0" err="1">
                    <a:solidFill>
                      <a:schemeClr val="tx1"/>
                    </a:solidFill>
                    <a:effectLst/>
                    <a:latin typeface="Segoe WPC"/>
                  </a:rPr>
                  <a:t>therefore</a:t>
                </a:r>
                <a:r>
                  <a:rPr lang="es-PE" sz="900" b="0" i="0" dirty="0">
                    <a:solidFill>
                      <a:schemeClr val="tx1"/>
                    </a:solidFill>
                    <a:effectLst/>
                    <a:latin typeface="Segoe WPC"/>
                  </a:rPr>
                  <a:t> </a:t>
                </a:r>
                <a:r>
                  <a:rPr lang="es-PE" sz="900" b="0" i="0" dirty="0" err="1">
                    <a:solidFill>
                      <a:schemeClr val="tx1"/>
                    </a:solidFill>
                    <a:effectLst/>
                    <a:latin typeface="Segoe WPC"/>
                  </a:rPr>
                  <a:t>maximizes</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In </a:t>
                </a:r>
                <a:r>
                  <a:rPr lang="es-PE" sz="900" b="0" i="0" dirty="0" err="1">
                    <a:solidFill>
                      <a:schemeClr val="tx1"/>
                    </a:solidFill>
                    <a:effectLst/>
                    <a:latin typeface="Segoe WPC"/>
                  </a:rPr>
                  <a:t>multiple</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squared</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and </a:t>
                </a:r>
                <a:r>
                  <a:rPr lang="es-PE" sz="900" b="0" i="0" dirty="0" err="1">
                    <a:solidFill>
                      <a:schemeClr val="tx1"/>
                    </a:solidFill>
                    <a:effectLst/>
                    <a:latin typeface="Segoe WPC"/>
                  </a:rPr>
                  <a:t>any</a:t>
                </a:r>
                <a:r>
                  <a:rPr lang="es-PE" sz="900" b="0" i="0" dirty="0">
                    <a:solidFill>
                      <a:schemeClr val="tx1"/>
                    </a:solidFill>
                    <a:effectLst/>
                    <a:latin typeface="Segoe WPC"/>
                  </a:rPr>
                  <a:t> single </a:t>
                </a:r>
                <a:r>
                  <a:rPr lang="es-PE" sz="900" b="0" i="0" dirty="0" err="1">
                    <a:solidFill>
                      <a:schemeClr val="tx1"/>
                    </a:solidFill>
                    <a:effectLst/>
                    <a:latin typeface="Segoe WPC"/>
                  </a:rPr>
                  <a:t>regressor</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7. </a:t>
                </a:r>
                <a:r>
                  <a:rPr lang="es-PE" sz="900" b="1" i="0" dirty="0" err="1">
                    <a:solidFill>
                      <a:schemeClr val="tx1"/>
                    </a:solidFill>
                    <a:effectLst/>
                    <a:latin typeface="Segoe WPC"/>
                  </a:rPr>
                  <a:t>Limits</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r>
                  <a:rPr lang="ar-AE" sz="900" b="1" i="0" dirty="0">
                    <a:solidFill>
                      <a:schemeClr val="tx1"/>
                    </a:solidFill>
                    <a:effectLst/>
                    <a:latin typeface="Segoe WPC"/>
                  </a:rPr>
                  <a:t> </a:t>
                </a:r>
                <a:r>
                  <a:rPr lang="es-PE" sz="900" b="1" i="0" dirty="0">
                    <a:solidFill>
                      <a:schemeClr val="tx1"/>
                    </a:solidFill>
                    <a:effectLst/>
                    <a:latin typeface="Segoe WPC"/>
                  </a:rPr>
                  <a:t>and </a:t>
                </a:r>
                <a:r>
                  <a:rPr lang="es-PE" sz="900" b="1" i="0" dirty="0" err="1">
                    <a:solidFill>
                      <a:schemeClr val="tx1"/>
                    </a:solidFill>
                    <a:effectLst/>
                    <a:latin typeface="Segoe WPC"/>
                  </a:rPr>
                  <a:t>Adjusted</a:t>
                </a:r>
                <a:r>
                  <a:rPr lang="es-PE" sz="900" b="1"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br>
                  <a:rPr lang="ar-A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can be </a:t>
                </a:r>
                <a:r>
                  <a:rPr lang="es-PE" sz="900" b="0" i="0" dirty="0" err="1">
                    <a:solidFill>
                      <a:schemeClr val="tx1"/>
                    </a:solidFill>
                    <a:effectLst/>
                    <a:latin typeface="Segoe WPC"/>
                  </a:rPr>
                  <a:t>misleading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Adding</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t>
                </a:r>
                <a:r>
                  <a:rPr lang="es-PE" sz="900" b="0" i="0" dirty="0" err="1">
                    <a:solidFill>
                      <a:schemeClr val="tx1"/>
                    </a:solidFill>
                    <a:effectLst/>
                    <a:latin typeface="Segoe WPC"/>
                  </a:rPr>
                  <a:t>almost</a:t>
                </a:r>
                <a:r>
                  <a:rPr lang="es-PE" sz="900" b="0" i="0" dirty="0">
                    <a:solidFill>
                      <a:schemeClr val="tx1"/>
                    </a:solidFill>
                    <a:effectLst/>
                    <a:latin typeface="Segoe WPC"/>
                  </a:rPr>
                  <a:t> </a:t>
                </a:r>
                <a:r>
                  <a:rPr lang="es-PE" sz="900" b="0" i="0" dirty="0" err="1">
                    <a:solidFill>
                      <a:schemeClr val="tx1"/>
                    </a:solidFill>
                    <a:effectLst/>
                    <a:latin typeface="Segoe WPC"/>
                  </a:rPr>
                  <a:t>always</a:t>
                </a:r>
                <a:r>
                  <a:rPr lang="es-PE" sz="900" b="0" i="0" dirty="0">
                    <a:solidFill>
                      <a:schemeClr val="tx1"/>
                    </a:solidFill>
                    <a:effectLst/>
                    <a:latin typeface="Segoe WPC"/>
                  </a:rPr>
                  <a:t> </a:t>
                </a:r>
                <a:r>
                  <a:rPr lang="es-PE" sz="900" b="0" i="0" dirty="0" err="1">
                    <a:solidFill>
                      <a:schemeClr val="tx1"/>
                    </a:solidFill>
                    <a:effectLst/>
                    <a:latin typeface="Segoe WPC"/>
                  </a:rPr>
                  <a:t>improves</a:t>
                </a:r>
                <a:r>
                  <a:rPr lang="es-PE" sz="900" b="0" i="0" dirty="0">
                    <a:solidFill>
                      <a:schemeClr val="tx1"/>
                    </a:solidFill>
                    <a:effectLst/>
                    <a:latin typeface="Segoe WPC"/>
                  </a:rPr>
                  <a:t> </a:t>
                </a:r>
                <a:r>
                  <a:rPr lang="es-PE" sz="900" b="0" i="0" dirty="0" err="1">
                    <a:solidFill>
                      <a:schemeClr val="tx1"/>
                    </a:solidFill>
                    <a:effectLst/>
                    <a:latin typeface="Segoe WPC"/>
                  </a:rPr>
                  <a:t>in-sample</a:t>
                </a:r>
                <a:r>
                  <a:rPr lang="es-PE" sz="900" b="0" i="0" dirty="0">
                    <a:solidFill>
                      <a:schemeClr val="tx1"/>
                    </a:solidFill>
                    <a:effectLst/>
                    <a:latin typeface="Segoe WPC"/>
                  </a:rPr>
                  <a:t> </a:t>
                </a:r>
                <a:r>
                  <a:rPr lang="es-PE" sz="900" b="0" i="0" dirty="0" err="1">
                    <a:solidFill>
                      <a:schemeClr val="tx1"/>
                    </a:solidFill>
                    <a:effectLst/>
                    <a:latin typeface="Segoe WPC"/>
                  </a:rPr>
                  <a:t>fit</a:t>
                </a:r>
                <a:r>
                  <a:rPr lang="es-PE" sz="900" b="0" i="0" dirty="0">
                    <a:solidFill>
                      <a:schemeClr val="tx1"/>
                    </a:solidFill>
                    <a:effectLst/>
                    <a:latin typeface="Segoe WPC"/>
                  </a:rPr>
                  <a:t>, </a:t>
                </a:r>
                <a:r>
                  <a:rPr lang="es-PE" sz="900" b="0" i="0" dirty="0" err="1">
                    <a:solidFill>
                      <a:schemeClr val="tx1"/>
                    </a:solidFill>
                    <a:effectLst/>
                    <a:latin typeface="Segoe WPC"/>
                  </a:rPr>
                  <a:t>even</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add</a:t>
                </a:r>
                <a:r>
                  <a:rPr lang="es-PE" sz="900" b="0" i="0" dirty="0">
                    <a:solidFill>
                      <a:schemeClr val="tx1"/>
                    </a:solidFill>
                    <a:effectLst/>
                    <a:latin typeface="Segoe WPC"/>
                  </a:rPr>
                  <a:t> </a:t>
                </a:r>
                <a:r>
                  <a:rPr lang="es-PE" sz="900" b="0" i="0" dirty="0" err="1">
                    <a:solidFill>
                      <a:schemeClr val="tx1"/>
                    </a:solidFill>
                    <a:effectLst/>
                    <a:latin typeface="Segoe WPC"/>
                  </a:rPr>
                  <a:t>little</a:t>
                </a:r>
                <a:r>
                  <a:rPr lang="es-PE" sz="900" b="0" i="0" dirty="0">
                    <a:solidFill>
                      <a:schemeClr val="tx1"/>
                    </a:solidFill>
                    <a:effectLst/>
                    <a:latin typeface="Segoe WPC"/>
                  </a:rPr>
                  <a:t> real </a:t>
                </a:r>
                <a:r>
                  <a:rPr lang="es-PE" sz="900" b="0" i="0" dirty="0" err="1">
                    <a:solidFill>
                      <a:schemeClr val="tx1"/>
                    </a:solidFill>
                    <a:effectLst/>
                    <a:latin typeface="Segoe WPC"/>
                  </a:rPr>
                  <a:t>information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larger</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hugs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data more </a:t>
                </a:r>
                <a:r>
                  <a:rPr lang="es-PE" sz="900" b="0" i="0" dirty="0" err="1">
                    <a:solidFill>
                      <a:schemeClr val="tx1"/>
                    </a:solidFill>
                    <a:effectLst/>
                    <a:latin typeface="Segoe WPC"/>
                  </a:rPr>
                  <a:t>closely</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necessarily</a:t>
                </a:r>
                <a:r>
                  <a:rPr lang="es-PE" sz="900" b="0" i="0" dirty="0">
                    <a:solidFill>
                      <a:schemeClr val="tx1"/>
                    </a:solidFill>
                    <a:effectLst/>
                    <a:latin typeface="Segoe WPC"/>
                  </a:rPr>
                  <a:t> more </a:t>
                </a:r>
                <a:r>
                  <a:rPr lang="es-PE" sz="900" b="0" i="0" dirty="0" err="1">
                    <a:solidFill>
                      <a:schemeClr val="tx1"/>
                    </a:solidFill>
                    <a:effectLst/>
                    <a:latin typeface="Segoe WPC"/>
                  </a:rPr>
                  <a:t>meaningfully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limUpp>
                          <m:limUppPr>
                            <m:ctrlPr>
                              <a:rPr lang="ar-AE" sz="900" i="1">
                                <a:solidFill>
                                  <a:schemeClr val="tx1"/>
                                </a:solidFill>
                                <a:latin typeface="Cambria Math" panose="02040503050406030204" pitchFamily="18" charset="0"/>
                              </a:rPr>
                            </m:ctrlPr>
                          </m:limUppPr>
                          <m:e>
                            <m:r>
                              <a:rPr lang="ar-AE" sz="900" i="1">
                                <a:solidFill>
                                  <a:schemeClr val="tx1"/>
                                </a:solidFill>
                                <a:latin typeface="Cambria Math" panose="02040503050406030204" pitchFamily="18" charset="0"/>
                              </a:rPr>
                              <m:t>𝑅</m:t>
                            </m:r>
                          </m:e>
                          <m:lim>
                            <m:r>
                              <a:rPr lang="ar-AE" sz="900" i="0">
                                <a:solidFill>
                                  <a:schemeClr val="tx1"/>
                                </a:solidFill>
                                <a:latin typeface="Cambria Math" panose="02040503050406030204" pitchFamily="18" charset="0"/>
                              </a:rPr>
                              <m:t>ˉ</m:t>
                            </m:r>
                          </m:lim>
                        </m:limUpp>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𝑅𝑆𝑆</m:t>
                        </m:r>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𝑘</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e>
                        </m:d>
                      </m:num>
                      <m:den>
                        <m:r>
                          <a:rPr lang="ar-AE" sz="900" i="1">
                            <a:solidFill>
                              <a:schemeClr val="tx1"/>
                            </a:solidFill>
                            <a:latin typeface="Cambria Math" panose="02040503050406030204" pitchFamily="18" charset="0"/>
                          </a:rPr>
                          <m:t>𝑇𝑆𝑆</m:t>
                        </m:r>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e>
                        </m:d>
                      </m:den>
                    </m:f>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num>
                      <m:den>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𝑘</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den>
                    </m:f>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Adjusted</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err="1">
                    <a:solidFill>
                      <a:schemeClr val="tx1"/>
                    </a:solidFill>
                    <a:effectLst/>
                    <a:latin typeface="Segoe WPC"/>
                  </a:rPr>
                  <a:t>penalizes</a:t>
                </a:r>
                <a:r>
                  <a:rPr lang="es-PE" sz="900" b="0" i="0" dirty="0">
                    <a:solidFill>
                      <a:schemeClr val="tx1"/>
                    </a:solidFill>
                    <a:effectLst/>
                    <a:latin typeface="Segoe WPC"/>
                  </a:rPr>
                  <a:t> extra </a:t>
                </a:r>
                <a:r>
                  <a:rPr lang="es-PE" sz="900" b="0" i="0" dirty="0" err="1">
                    <a:solidFill>
                      <a:schemeClr val="tx1"/>
                    </a:solidFill>
                    <a:effectLst/>
                    <a:latin typeface="Segoe WPC"/>
                  </a:rPr>
                  <a:t>regressors</a:t>
                </a:r>
                <a:r>
                  <a:rPr lang="es-PE" sz="900" b="0" i="0" dirty="0">
                    <a:solidFill>
                      <a:schemeClr val="tx1"/>
                    </a:solidFill>
                    <a:effectLst/>
                    <a:latin typeface="Segoe WPC"/>
                  </a:rPr>
                  <a:t> and </a:t>
                </a:r>
                <a:r>
                  <a:rPr lang="es-PE" sz="900" b="0" i="0" dirty="0" err="1">
                    <a:solidFill>
                      <a:schemeClr val="tx1"/>
                    </a:solidFill>
                    <a:effectLst/>
                    <a:latin typeface="Segoe WPC"/>
                  </a:rPr>
                  <a:t>helps</a:t>
                </a:r>
                <a:r>
                  <a:rPr lang="es-PE" sz="900" b="0" i="0" dirty="0">
                    <a:solidFill>
                      <a:schemeClr val="tx1"/>
                    </a:solidFill>
                    <a:effectLst/>
                    <a:latin typeface="Segoe WPC"/>
                  </a:rPr>
                  <a:t> compare </a:t>
                </a:r>
                <a:r>
                  <a:rPr lang="es-PE" sz="900" b="0" i="0" dirty="0" err="1">
                    <a:solidFill>
                      <a:schemeClr val="tx1"/>
                    </a:solidFill>
                    <a:effectLst/>
                    <a:latin typeface="Segoe WPC"/>
                  </a:rPr>
                  <a:t>models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numbers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explanatory</a:t>
                </a:r>
                <a:r>
                  <a:rPr lang="es-PE" sz="900" b="0" i="0" dirty="0">
                    <a:solidFill>
                      <a:schemeClr val="tx1"/>
                    </a:solidFill>
                    <a:effectLst/>
                    <a:latin typeface="Segoe WPC"/>
                  </a:rPr>
                  <a:t> variables.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err="1">
                    <a:solidFill>
                      <a:schemeClr val="tx1"/>
                    </a:solidFill>
                    <a:effectLst/>
                    <a:latin typeface="Segoe WPC"/>
                  </a:rPr>
                  <a:t>always</a:t>
                </a:r>
                <a:r>
                  <a:rPr lang="es-PE" sz="900" b="0" i="0" dirty="0">
                    <a:solidFill>
                      <a:schemeClr val="tx1"/>
                    </a:solidFill>
                    <a:effectLst/>
                    <a:latin typeface="Segoe WPC"/>
                  </a:rPr>
                  <a:t> </a:t>
                </a:r>
                <a:r>
                  <a:rPr lang="es-PE" sz="900" b="0" i="0" dirty="0" err="1">
                    <a:solidFill>
                      <a:schemeClr val="tx1"/>
                    </a:solidFill>
                    <a:effectLst/>
                    <a:latin typeface="Segoe WPC"/>
                  </a:rPr>
                  <a:t>weakly</a:t>
                </a:r>
                <a:r>
                  <a:rPr lang="es-PE" sz="900" b="0" i="0" dirty="0">
                    <a:solidFill>
                      <a:schemeClr val="tx1"/>
                    </a:solidFill>
                    <a:effectLst/>
                    <a:latin typeface="Segoe WPC"/>
                  </a:rPr>
                  <a:t> </a:t>
                </a:r>
                <a:r>
                  <a:rPr lang="es-PE" sz="900" b="0" i="0" dirty="0" err="1">
                    <a:solidFill>
                      <a:schemeClr val="tx1"/>
                    </a:solidFill>
                    <a:effectLst/>
                    <a:latin typeface="Segoe WPC"/>
                  </a:rPr>
                  <a:t>rises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 </a:t>
                </a:r>
                <a:r>
                  <a:rPr lang="es-PE" sz="900" b="0" i="0" dirty="0" err="1">
                    <a:solidFill>
                      <a:schemeClr val="tx1"/>
                    </a:solidFill>
                    <a:effectLst/>
                    <a:latin typeface="Segoe WPC"/>
                  </a:rPr>
                  <a:t>regressor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added</a:t>
                </a:r>
                <a:r>
                  <a:rPr lang="es-PE" sz="900" b="0" i="0" dirty="0">
                    <a:solidFill>
                      <a:schemeClr val="tx1"/>
                    </a:solidFill>
                    <a:effectLst/>
                    <a:latin typeface="Segoe WPC"/>
                  </a:rPr>
                  <a:t>, </a:t>
                </a:r>
                <a:r>
                  <a:rPr lang="es-PE" sz="900" b="0" i="0" dirty="0" err="1">
                    <a:solidFill>
                      <a:schemeClr val="tx1"/>
                    </a:solidFill>
                    <a:effectLst/>
                    <a:latin typeface="Segoe WPC"/>
                  </a:rPr>
                  <a:t>cannot</a:t>
                </a:r>
                <a:r>
                  <a:rPr lang="es-PE" sz="900" b="0" i="0" dirty="0">
                    <a:solidFill>
                      <a:schemeClr val="tx1"/>
                    </a:solidFill>
                    <a:effectLst/>
                    <a:latin typeface="Segoe WPC"/>
                  </a:rPr>
                  <a:t> be </a:t>
                </a:r>
                <a:r>
                  <a:rPr lang="es-PE" sz="900" b="0" i="0" dirty="0" err="1">
                    <a:solidFill>
                      <a:schemeClr val="tx1"/>
                    </a:solidFill>
                    <a:effectLst/>
                    <a:latin typeface="Segoe WPC"/>
                  </a:rPr>
                  <a:t>compared</a:t>
                </a:r>
                <a:r>
                  <a:rPr lang="es-PE" sz="900" b="0" i="0" dirty="0">
                    <a:solidFill>
                      <a:schemeClr val="tx1"/>
                    </a:solidFill>
                    <a:effectLst/>
                    <a:latin typeface="Segoe WPC"/>
                  </a:rPr>
                  <a:t> </a:t>
                </a:r>
                <a:r>
                  <a:rPr lang="es-PE" sz="900" b="0" i="0" dirty="0" err="1">
                    <a:solidFill>
                      <a:schemeClr val="tx1"/>
                    </a:solidFill>
                    <a:effectLst/>
                    <a:latin typeface="Segoe WPC"/>
                  </a:rPr>
                  <a:t>across</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dependent</a:t>
                </a:r>
                <a:r>
                  <a:rPr lang="es-PE" sz="900" b="0" i="0" dirty="0">
                    <a:solidFill>
                      <a:schemeClr val="tx1"/>
                    </a:solidFill>
                    <a:effectLst/>
                    <a:latin typeface="Segoe WPC"/>
                  </a:rPr>
                  <a:t> variables, and has no universal “</a:t>
                </a:r>
                <a:r>
                  <a:rPr lang="es-PE" sz="900" b="0" i="0" dirty="0" err="1">
                    <a:solidFill>
                      <a:schemeClr val="tx1"/>
                    </a:solidFill>
                    <a:effectLst/>
                    <a:latin typeface="Segoe WPC"/>
                  </a:rPr>
                  <a:t>good</a:t>
                </a:r>
                <a:r>
                  <a:rPr lang="es-PE" sz="900" b="0" i="0" dirty="0">
                    <a:solidFill>
                      <a:schemeClr val="tx1"/>
                    </a:solidFill>
                    <a:effectLst/>
                    <a:latin typeface="Segoe WPC"/>
                  </a:rPr>
                  <a:t>” </a:t>
                </a:r>
                <a:r>
                  <a:rPr lang="es-PE" sz="900" b="0" i="0" dirty="0" err="1">
                    <a:solidFill>
                      <a:schemeClr val="tx1"/>
                    </a:solidFill>
                    <a:effectLst/>
                    <a:latin typeface="Segoe WPC"/>
                  </a:rPr>
                  <a:t>level</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8. t-</a:t>
                </a:r>
                <a:r>
                  <a:rPr lang="es-PE" sz="900" b="1" i="0" dirty="0" err="1">
                    <a:solidFill>
                      <a:schemeClr val="tx1"/>
                    </a:solidFill>
                    <a:effectLst/>
                    <a:latin typeface="Segoe WPC"/>
                  </a:rPr>
                  <a:t>Tests</a:t>
                </a:r>
                <a:r>
                  <a:rPr lang="es-PE" sz="900" b="1" i="0" dirty="0">
                    <a:solidFill>
                      <a:schemeClr val="tx1"/>
                    </a:solidFill>
                    <a:effectLst/>
                    <a:latin typeface="Segoe WPC"/>
                  </a:rPr>
                  <a:t> </a:t>
                </a:r>
                <a:r>
                  <a:rPr lang="es-PE" sz="900" b="1" i="0" dirty="0" err="1">
                    <a:solidFill>
                      <a:schemeClr val="tx1"/>
                    </a:solidFill>
                    <a:effectLst/>
                    <a:latin typeface="Segoe WPC"/>
                  </a:rPr>
                  <a:t>for</a:t>
                </a:r>
                <a:r>
                  <a:rPr lang="es-PE" sz="900" b="1" i="0" dirty="0">
                    <a:solidFill>
                      <a:schemeClr val="tx1"/>
                    </a:solidFill>
                    <a:effectLst/>
                    <a:latin typeface="Segoe WPC"/>
                  </a:rPr>
                  <a:t> Single </a:t>
                </a:r>
                <a:r>
                  <a:rPr lang="es-PE" sz="900" b="1" i="0" dirty="0" err="1">
                    <a:solidFill>
                      <a:schemeClr val="tx1"/>
                    </a:solidFill>
                    <a:effectLst/>
                    <a:latin typeface="Segoe WPC"/>
                  </a:rPr>
                  <a:t>Coefficients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single </a:t>
                </a:r>
                <a:r>
                  <a:rPr lang="es-PE" sz="900" b="0" i="0" dirty="0" err="1">
                    <a:solidFill>
                      <a:schemeClr val="tx1"/>
                    </a:solidFill>
                    <a:effectLst/>
                    <a:latin typeface="Segoe WPC"/>
                  </a:rPr>
                  <a:t>coefficient</a:t>
                </a:r>
                <a:r>
                  <a:rPr lang="es-PE" sz="900" b="0" i="0" dirty="0">
                    <a:solidFill>
                      <a:schemeClr val="tx1"/>
                    </a:solidFill>
                    <a:effectLst/>
                    <a:latin typeface="Segoe WPC"/>
                  </a:rPr>
                  <a:t> in </a:t>
                </a:r>
                <a:r>
                  <a:rPr lang="es-PE" sz="900" b="0" i="0" dirty="0" err="1">
                    <a:solidFill>
                      <a:schemeClr val="tx1"/>
                    </a:solidFill>
                    <a:effectLst/>
                    <a:latin typeface="Segoe WPC"/>
                  </a:rPr>
                  <a:t>multiple</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tested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 t-test.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Compare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estimated</a:t>
                </a:r>
                <a:r>
                  <a:rPr lang="es-PE" sz="900" b="0" i="0" dirty="0">
                    <a:solidFill>
                      <a:schemeClr val="tx1"/>
                    </a:solidFill>
                    <a:effectLst/>
                    <a:latin typeface="Segoe WPC"/>
                  </a:rPr>
                  <a:t> </a:t>
                </a:r>
                <a:r>
                  <a:rPr lang="es-PE" sz="900" b="0" i="0" dirty="0" err="1">
                    <a:solidFill>
                      <a:schemeClr val="tx1"/>
                    </a:solidFill>
                    <a:effectLst/>
                    <a:latin typeface="Segoe WPC"/>
                  </a:rPr>
                  <a:t>coefficient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standard error.</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coefficient</a:t>
                </a:r>
                <a:r>
                  <a:rPr lang="es-PE" sz="900" b="0" i="0" dirty="0">
                    <a:solidFill>
                      <a:schemeClr val="tx1"/>
                    </a:solidFill>
                    <a:effectLst/>
                    <a:latin typeface="Segoe WPC"/>
                  </a:rPr>
                  <a:t> </a:t>
                </a:r>
                <a:r>
                  <a:rPr lang="es-PE" sz="900" b="0" i="0" dirty="0" err="1">
                    <a:solidFill>
                      <a:schemeClr val="tx1"/>
                    </a:solidFill>
                    <a:effectLst/>
                    <a:latin typeface="Segoe WPC"/>
                  </a:rPr>
                  <a:t>far</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 relative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uncertainty</a:t>
                </a:r>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 </a:t>
                </a:r>
                <a:r>
                  <a:rPr lang="es-PE" sz="900" b="0" i="0" dirty="0" err="1">
                    <a:solidFill>
                      <a:schemeClr val="tx1"/>
                    </a:solidFill>
                    <a:effectLst/>
                    <a:latin typeface="Segoe WPC"/>
                  </a:rPr>
                  <a:t>large</a:t>
                </a:r>
                <a:r>
                  <a:rPr lang="es-PE" sz="900" b="0" i="0" dirty="0">
                    <a:solidFill>
                      <a:schemeClr val="tx1"/>
                    </a:solidFill>
                    <a:effectLst/>
                    <a:latin typeface="Segoe WPC"/>
                  </a:rPr>
                  <a:t> test </a:t>
                </a:r>
                <a:r>
                  <a:rPr lang="es-PE" sz="900" b="0" i="0" dirty="0" err="1">
                    <a:solidFill>
                      <a:schemeClr val="tx1"/>
                    </a:solidFill>
                    <a:effectLst/>
                    <a:latin typeface="Segoe WPC"/>
                  </a:rPr>
                  <a:t>statistic</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𝑇</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𝛽</m:t>
                                </m:r>
                              </m:e>
                            </m:acc>
                          </m:e>
                          <m:sub>
                            <m:r>
                              <a:rPr lang="ar-AE" sz="900" i="1">
                                <a:solidFill>
                                  <a:schemeClr val="tx1"/>
                                </a:solidFill>
                                <a:latin typeface="Cambria Math" panose="02040503050406030204" pitchFamily="18" charset="0"/>
                              </a:rPr>
                              <m:t>𝑗</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1">
                                <a:solidFill>
                                  <a:schemeClr val="tx1"/>
                                </a:solidFill>
                                <a:latin typeface="Cambria Math" panose="02040503050406030204" pitchFamily="18" charset="0"/>
                              </a:rPr>
                              <m:t>𝑗</m:t>
                            </m:r>
                            <m:r>
                              <a:rPr lang="ar-AE" sz="900" i="0">
                                <a:solidFill>
                                  <a:schemeClr val="tx1"/>
                                </a:solidFill>
                                <a:latin typeface="Cambria Math" panose="02040503050406030204" pitchFamily="18" charset="0"/>
                              </a:rPr>
                              <m:t>0</m:t>
                            </m:r>
                          </m:sub>
                        </m:sSub>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𝑠</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𝑒</m:t>
                    </m:r>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𝛽</m:t>
                                </m:r>
                              </m:e>
                            </m:acc>
                          </m:e>
                          <m:sub>
                            <m:r>
                              <a:rPr lang="ar-AE" sz="900" i="1">
                                <a:solidFill>
                                  <a:schemeClr val="tx1"/>
                                </a:solidFill>
                                <a:latin typeface="Cambria Math" panose="02040503050406030204" pitchFamily="18" charset="0"/>
                              </a:rPr>
                              <m:t>𝑗</m:t>
                            </m:r>
                          </m:sub>
                        </m:sSub>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absolute </a:t>
                </a:r>
                <a14:m>
                  <m:oMath xmlns:m="http://schemas.openxmlformats.org/officeDocument/2006/math">
                    <m:r>
                      <a:rPr lang="es-PE" sz="900" i="1">
                        <a:solidFill>
                          <a:schemeClr val="tx1"/>
                        </a:solidFill>
                        <a:latin typeface="Cambria Math" panose="02040503050406030204" pitchFamily="18" charset="0"/>
                      </a:rPr>
                      <m:t>𝑡</m:t>
                    </m:r>
                  </m:oMath>
                </a14:m>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indicate</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coefficient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statistically</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hypothesized</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t-test looks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as </a:t>
                </a:r>
                <a:r>
                  <a:rPr lang="es-PE" sz="900" b="0" i="0" dirty="0" err="1">
                    <a:solidFill>
                      <a:schemeClr val="tx1"/>
                    </a:solidFill>
                    <a:effectLst/>
                    <a:latin typeface="Segoe WPC"/>
                  </a:rPr>
                  <a:t>before</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standard error </a:t>
                </a:r>
                <a:r>
                  <a:rPr lang="es-PE" sz="900" b="0" i="0" dirty="0" err="1">
                    <a:solidFill>
                      <a:schemeClr val="tx1"/>
                    </a:solidFill>
                    <a:effectLst/>
                    <a:latin typeface="Segoe WPC"/>
                  </a:rPr>
                  <a:t>now</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9. F-</a:t>
                </a:r>
                <a:r>
                  <a:rPr lang="es-PE" sz="900" b="1" i="0" dirty="0" err="1">
                    <a:solidFill>
                      <a:schemeClr val="tx1"/>
                    </a:solidFill>
                    <a:effectLst/>
                    <a:latin typeface="Segoe WPC"/>
                  </a:rPr>
                  <a:t>Tests</a:t>
                </a:r>
                <a:r>
                  <a:rPr lang="es-PE" sz="900" b="1" i="0" dirty="0">
                    <a:solidFill>
                      <a:schemeClr val="tx1"/>
                    </a:solidFill>
                    <a:effectLst/>
                    <a:latin typeface="Segoe WPC"/>
                  </a:rPr>
                  <a:t> </a:t>
                </a:r>
                <a:r>
                  <a:rPr lang="es-PE" sz="900" b="1" i="0" dirty="0" err="1">
                    <a:solidFill>
                      <a:schemeClr val="tx1"/>
                    </a:solidFill>
                    <a:effectLst/>
                    <a:latin typeface="Segoe WPC"/>
                  </a:rPr>
                  <a:t>for</a:t>
                </a:r>
                <a:r>
                  <a:rPr lang="es-PE" sz="900" b="1" i="0" dirty="0">
                    <a:solidFill>
                      <a:schemeClr val="tx1"/>
                    </a:solidFill>
                    <a:effectLst/>
                    <a:latin typeface="Segoe WPC"/>
                  </a:rPr>
                  <a:t> </a:t>
                </a:r>
                <a:r>
                  <a:rPr lang="es-PE" sz="900" b="1" i="0" dirty="0" err="1">
                    <a:solidFill>
                      <a:schemeClr val="tx1"/>
                    </a:solidFill>
                    <a:effectLst/>
                    <a:latin typeface="Segoe WPC"/>
                  </a:rPr>
                  <a:t>Joint</a:t>
                </a:r>
                <a:r>
                  <a:rPr lang="es-PE" sz="900" b="1" i="0" dirty="0">
                    <a:solidFill>
                      <a:schemeClr val="tx1"/>
                    </a:solidFill>
                    <a:effectLst/>
                    <a:latin typeface="Segoe WPC"/>
                  </a:rPr>
                  <a:t> </a:t>
                </a:r>
                <a:r>
                  <a:rPr lang="es-PE" sz="900" b="1" i="0" dirty="0" err="1">
                    <a:solidFill>
                      <a:schemeClr val="tx1"/>
                    </a:solidFill>
                    <a:effectLst/>
                    <a:latin typeface="Segoe WPC"/>
                  </a:rPr>
                  <a:t>Hypotheses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F-test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used</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 </a:t>
                </a:r>
                <a:r>
                  <a:rPr lang="es-PE" sz="900" b="0" i="0" dirty="0" err="1">
                    <a:solidFill>
                      <a:schemeClr val="tx1"/>
                    </a:solidFill>
                    <a:effectLst/>
                    <a:latin typeface="Segoe WPC"/>
                  </a:rPr>
                  <a:t>imposes</a:t>
                </a:r>
                <a:r>
                  <a:rPr lang="es-PE" sz="900" b="0" i="0" dirty="0">
                    <a:solidFill>
                      <a:schemeClr val="tx1"/>
                    </a:solidFill>
                    <a:effectLst/>
                    <a:latin typeface="Segoe WPC"/>
                  </a:rPr>
                  <a:t> more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restriction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asks</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restricted</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fits</a:t>
                </a:r>
                <a:r>
                  <a:rPr lang="es-PE" sz="900" b="0" i="0" dirty="0">
                    <a:solidFill>
                      <a:schemeClr val="tx1"/>
                    </a:solidFill>
                    <a:effectLst/>
                    <a:latin typeface="Segoe WPC"/>
                  </a:rPr>
                  <a:t> </a:t>
                </a:r>
                <a:r>
                  <a:rPr lang="es-PE" sz="900" b="0" i="0" dirty="0" err="1">
                    <a:solidFill>
                      <a:schemeClr val="tx1"/>
                    </a:solidFill>
                    <a:effectLst/>
                    <a:latin typeface="Segoe WPC"/>
                  </a:rPr>
                  <a:t>much</a:t>
                </a:r>
                <a:r>
                  <a:rPr lang="es-PE" sz="900" b="0" i="0" dirty="0">
                    <a:solidFill>
                      <a:schemeClr val="tx1"/>
                    </a:solidFill>
                    <a:effectLst/>
                    <a:latin typeface="Segoe WPC"/>
                  </a:rPr>
                  <a:t> </a:t>
                </a:r>
                <a:r>
                  <a:rPr lang="es-PE" sz="900" b="0" i="0" dirty="0" err="1">
                    <a:solidFill>
                      <a:schemeClr val="tx1"/>
                    </a:solidFill>
                    <a:effectLst/>
                    <a:latin typeface="Segoe WPC"/>
                  </a:rPr>
                  <a:t>worse</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unrestricted</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Estimate</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versions</a:t>
                </a:r>
                <a:r>
                  <a:rPr lang="es-PE" sz="900" b="0" i="0" dirty="0">
                    <a:solidFill>
                      <a:schemeClr val="tx1"/>
                    </a:solidFill>
                    <a:effectLst/>
                    <a:latin typeface="Segoe WPC"/>
                  </a:rPr>
                  <a:t> and compare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loss</a:t>
                </a:r>
                <a:r>
                  <a:rPr lang="es-PE" sz="900" b="0" i="0" dirty="0">
                    <a:solidFill>
                      <a:schemeClr val="tx1"/>
                    </a:solidFill>
                    <a:effectLst/>
                    <a:latin typeface="Segoe WPC"/>
                  </a:rPr>
                  <a:t> in </a:t>
                </a:r>
                <a:r>
                  <a:rPr lang="es-PE" sz="900" b="0" i="0" dirty="0" err="1">
                    <a:solidFill>
                      <a:schemeClr val="tx1"/>
                    </a:solidFill>
                    <a:effectLst/>
                    <a:latin typeface="Segoe WPC"/>
                  </a:rPr>
                  <a:t>fit</a:t>
                </a:r>
                <a:r>
                  <a:rPr lang="es-PE" sz="900" b="0" i="0" dirty="0">
                    <a:solidFill>
                      <a:schemeClr val="tx1"/>
                    </a:solidFill>
                    <a:effectLst/>
                    <a:latin typeface="Segoe WPC"/>
                  </a:rPr>
                  <a:t> after </a:t>
                </a:r>
                <a:r>
                  <a:rPr lang="es-PE" sz="900" b="0" i="0" dirty="0" err="1">
                    <a:solidFill>
                      <a:schemeClr val="tx1"/>
                    </a:solidFill>
                    <a:effectLst/>
                    <a:latin typeface="Segoe WPC"/>
                  </a:rPr>
                  <a:t>imposing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𝐹</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𝑅𝑆</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𝑅</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𝑅𝑆</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𝑈</m:t>
                                </m:r>
                              </m:sub>
                            </m:sSub>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𝑞</m:t>
                        </m:r>
                      </m:num>
                      <m:den>
                        <m:r>
                          <a:rPr lang="ar-AE" sz="900" i="1">
                            <a:solidFill>
                              <a:schemeClr val="tx1"/>
                            </a:solidFill>
                            <a:latin typeface="Cambria Math" panose="02040503050406030204" pitchFamily="18" charset="0"/>
                          </a:rPr>
                          <m:t>𝑅𝑆</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𝑈</m:t>
                            </m:r>
                          </m:sub>
                        </m:sSub>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𝑘</m:t>
                                </m:r>
                              </m:e>
                              <m:sub>
                                <m:r>
                                  <a:rPr lang="ar-AE" sz="900" i="1">
                                    <a:solidFill>
                                      <a:schemeClr val="tx1"/>
                                    </a:solidFill>
                                    <a:latin typeface="Cambria Math" panose="02040503050406030204" pitchFamily="18" charset="0"/>
                                  </a:rPr>
                                  <m:t>𝑈</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e>
                        </m:d>
                      </m:den>
                    </m:f>
                  </m:oMath>
                </a14:m>
                <a:r>
                  <a:rPr lang="ar-A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equivalently</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𝐹</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d>
                          <m:dPr>
                            <m:ctrlPr>
                              <a:rPr lang="ar-AE" sz="900" i="1">
                                <a:solidFill>
                                  <a:schemeClr val="tx1"/>
                                </a:solidFill>
                                <a:latin typeface="Cambria Math" panose="02040503050406030204" pitchFamily="18" charset="0"/>
                              </a:rPr>
                            </m:ctrlPr>
                          </m:dPr>
                          <m:e>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𝑈</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𝑅</m:t>
                                </m:r>
                              </m:sub>
                              <m:sup>
                                <m:r>
                                  <a:rPr lang="ar-AE" sz="900" i="0">
                                    <a:solidFill>
                                      <a:schemeClr val="tx1"/>
                                    </a:solidFill>
                                    <a:latin typeface="Cambria Math" panose="02040503050406030204" pitchFamily="18" charset="0"/>
                                  </a:rPr>
                                  <m:t>2</m:t>
                                </m:r>
                              </m:sup>
                            </m:sSubSup>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𝑞</m:t>
                        </m:r>
                      </m:num>
                      <m:den>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𝑈</m:t>
                                </m:r>
                              </m:sub>
                              <m:sup>
                                <m:r>
                                  <a:rPr lang="ar-AE" sz="900" i="0">
                                    <a:solidFill>
                                      <a:schemeClr val="tx1"/>
                                    </a:solidFill>
                                    <a:latin typeface="Cambria Math" panose="02040503050406030204" pitchFamily="18" charset="0"/>
                                  </a:rPr>
                                  <m:t>2</m:t>
                                </m:r>
                              </m:sup>
                            </m:sSubSup>
                          </m:e>
                        </m:d>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𝑘</m:t>
                                </m:r>
                              </m:e>
                              <m:sub>
                                <m:r>
                                  <a:rPr lang="ar-AE" sz="900" i="1">
                                    <a:solidFill>
                                      <a:schemeClr val="tx1"/>
                                    </a:solidFill>
                                    <a:latin typeface="Cambria Math" panose="02040503050406030204" pitchFamily="18" charset="0"/>
                                  </a:rPr>
                                  <m:t>𝑈</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e>
                        </m:d>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restricted</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loses </a:t>
                </a:r>
                <a:r>
                  <a:rPr lang="es-PE" sz="900" b="0" i="0" dirty="0" err="1">
                    <a:solidFill>
                      <a:schemeClr val="tx1"/>
                    </a:solidFill>
                    <a:effectLst/>
                    <a:latin typeface="Segoe WPC"/>
                  </a:rPr>
                  <a:t>too</a:t>
                </a:r>
                <a:r>
                  <a:rPr lang="es-PE" sz="900" b="0" i="0" dirty="0">
                    <a:solidFill>
                      <a:schemeClr val="tx1"/>
                    </a:solidFill>
                    <a:effectLst/>
                    <a:latin typeface="Segoe WPC"/>
                  </a:rPr>
                  <a:t> </a:t>
                </a:r>
                <a:r>
                  <a:rPr lang="es-PE" sz="900" b="0" i="0" dirty="0" err="1">
                    <a:solidFill>
                      <a:schemeClr val="tx1"/>
                    </a:solidFill>
                    <a:effectLst/>
                    <a:latin typeface="Segoe WPC"/>
                  </a:rPr>
                  <a:t>much</a:t>
                </a:r>
                <a:r>
                  <a:rPr lang="es-PE" sz="900" b="0" i="0" dirty="0">
                    <a:solidFill>
                      <a:schemeClr val="tx1"/>
                    </a:solidFill>
                    <a:effectLst/>
                    <a:latin typeface="Segoe WPC"/>
                  </a:rPr>
                  <a:t> </a:t>
                </a:r>
                <a:r>
                  <a:rPr lang="es-PE" sz="900" b="0" i="0" dirty="0" err="1">
                    <a:solidFill>
                      <a:schemeClr val="tx1"/>
                    </a:solidFill>
                    <a:effectLst/>
                    <a:latin typeface="Segoe WPC"/>
                  </a:rPr>
                  <a:t>fit</a:t>
                </a:r>
                <a:r>
                  <a:rPr lang="es-PE" sz="900" b="0" i="0" dirty="0">
                    <a:solidFill>
                      <a:schemeClr val="tx1"/>
                    </a:solidFill>
                    <a:effectLst/>
                    <a:latin typeface="Segoe WPC"/>
                  </a:rPr>
                  <a:t>, </a:t>
                </a:r>
                <a:r>
                  <a:rPr lang="es-PE" sz="900" b="0" i="0" dirty="0" err="1">
                    <a:solidFill>
                      <a:schemeClr val="tx1"/>
                    </a:solidFill>
                    <a:effectLst/>
                    <a:latin typeface="Segoe WPC"/>
                  </a:rPr>
                  <a:t>reject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Use </a:t>
                </a:r>
                <a:r>
                  <a:rPr lang="es-PE" sz="900" b="0" i="0" dirty="0" err="1">
                    <a:solidFill>
                      <a:schemeClr val="tx1"/>
                    </a:solidFill>
                    <a:effectLst/>
                    <a:latin typeface="Segoe WPC"/>
                  </a:rPr>
                  <a:t>an</a:t>
                </a:r>
                <a:r>
                  <a:rPr lang="es-PE" sz="900" b="0" i="0" dirty="0">
                    <a:solidFill>
                      <a:schemeClr val="tx1"/>
                    </a:solidFill>
                    <a:effectLst/>
                    <a:latin typeface="Segoe WPC"/>
                  </a:rPr>
                  <a:t> F-test,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separate</a:t>
                </a:r>
                <a:r>
                  <a:rPr lang="es-PE" sz="900" b="0" i="0" dirty="0">
                    <a:solidFill>
                      <a:schemeClr val="tx1"/>
                    </a:solidFill>
                    <a:effectLst/>
                    <a:latin typeface="Segoe WPC"/>
                  </a:rPr>
                  <a:t> t-</a:t>
                </a:r>
                <a:r>
                  <a:rPr lang="es-PE" sz="900" b="0" i="0" dirty="0" err="1">
                    <a:solidFill>
                      <a:schemeClr val="tx1"/>
                    </a:solidFill>
                    <a:effectLst/>
                    <a:latin typeface="Segoe WPC"/>
                  </a:rPr>
                  <a:t>tests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testing</a:t>
                </a:r>
                <a:r>
                  <a:rPr lang="es-PE" sz="900" b="0" i="0" dirty="0">
                    <a:solidFill>
                      <a:schemeClr val="tx1"/>
                    </a:solidFill>
                    <a:effectLst/>
                    <a:latin typeface="Segoe WPC"/>
                  </a:rPr>
                  <a:t> </a:t>
                </a:r>
                <a:r>
                  <a:rPr lang="es-PE" sz="900" b="0" i="0" dirty="0" err="1">
                    <a:solidFill>
                      <a:schemeClr val="tx1"/>
                    </a:solidFill>
                    <a:effectLst/>
                    <a:latin typeface="Segoe WPC"/>
                  </a:rPr>
                  <a:t>several</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a:t>
                </a:r>
                <a:r>
                  <a:rPr lang="es-PE" sz="900" b="0" i="0" dirty="0" err="1">
                    <a:solidFill>
                      <a:schemeClr val="tx1"/>
                    </a:solidFill>
                    <a:effectLst/>
                    <a:latin typeface="Segoe WPC"/>
                  </a:rPr>
                  <a:t>jointly</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coefficient</a:t>
                </a:r>
                <a:r>
                  <a:rPr lang="es-PE" sz="900" b="0" i="0" dirty="0">
                    <a:solidFill>
                      <a:schemeClr val="tx1"/>
                    </a:solidFill>
                    <a:effectLst/>
                    <a:latin typeface="Segoe WPC"/>
                  </a:rPr>
                  <a:t> </a:t>
                </a:r>
                <a:r>
                  <a:rPr lang="es-PE" sz="900" b="0" i="0" dirty="0" err="1">
                    <a:solidFill>
                      <a:schemeClr val="tx1"/>
                    </a:solidFill>
                    <a:effectLst/>
                    <a:latin typeface="Segoe WPC"/>
                  </a:rPr>
                  <a:t>estimates</a:t>
                </a:r>
                <a:r>
                  <a:rPr lang="es-PE" sz="900" b="0" i="0" dirty="0">
                    <a:solidFill>
                      <a:schemeClr val="tx1"/>
                    </a:solidFill>
                    <a:effectLst/>
                    <a:latin typeface="Segoe WPC"/>
                  </a:rPr>
                  <a:t> can be </a:t>
                </a:r>
                <a:r>
                  <a:rPr lang="es-PE" sz="900" b="0" i="0" dirty="0" err="1">
                    <a:solidFill>
                      <a:schemeClr val="tx1"/>
                    </a:solidFill>
                    <a:effectLst/>
                    <a:latin typeface="Segoe WPC"/>
                  </a:rPr>
                  <a:t>correlated</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10. </a:t>
                </a:r>
                <a:r>
                  <a:rPr lang="es-PE" sz="900" b="1" i="0" dirty="0" err="1">
                    <a:solidFill>
                      <a:schemeClr val="tx1"/>
                    </a:solidFill>
                    <a:effectLst/>
                    <a:latin typeface="Segoe WPC"/>
                  </a:rPr>
                  <a:t>Confidence</a:t>
                </a:r>
                <a:r>
                  <a:rPr lang="es-PE" sz="900" b="1" i="0" dirty="0">
                    <a:solidFill>
                      <a:schemeClr val="tx1"/>
                    </a:solidFill>
                    <a:effectLst/>
                    <a:latin typeface="Segoe WPC"/>
                  </a:rPr>
                  <a:t> </a:t>
                </a:r>
                <a:r>
                  <a:rPr lang="es-PE" sz="900" b="1" i="0" dirty="0" err="1">
                    <a:solidFill>
                      <a:schemeClr val="tx1"/>
                    </a:solidFill>
                    <a:effectLst/>
                    <a:latin typeface="Segoe WPC"/>
                  </a:rPr>
                  <a:t>Regions</a:t>
                </a:r>
                <a:r>
                  <a:rPr lang="es-PE" sz="900" b="1" i="0" dirty="0">
                    <a:solidFill>
                      <a:schemeClr val="tx1"/>
                    </a:solidFill>
                    <a:effectLst/>
                    <a:latin typeface="Segoe WPC"/>
                  </a:rPr>
                  <a:t>, </a:t>
                </a:r>
                <a:r>
                  <a:rPr lang="es-PE" sz="900" b="1" i="0" dirty="0" err="1">
                    <a:solidFill>
                      <a:schemeClr val="tx1"/>
                    </a:solidFill>
                    <a:effectLst/>
                    <a:latin typeface="Segoe WPC"/>
                  </a:rPr>
                  <a:t>Conflicting</a:t>
                </a:r>
                <a:r>
                  <a:rPr lang="es-PE" sz="900" b="1" i="0" dirty="0">
                    <a:solidFill>
                      <a:schemeClr val="tx1"/>
                    </a:solidFill>
                    <a:effectLst/>
                    <a:latin typeface="Segoe WPC"/>
                  </a:rPr>
                  <a:t> </a:t>
                </a:r>
                <a:r>
                  <a:rPr lang="es-PE" sz="900" b="1" i="0" dirty="0" err="1">
                    <a:solidFill>
                      <a:schemeClr val="tx1"/>
                    </a:solidFill>
                    <a:effectLst/>
                    <a:latin typeface="Segoe WPC"/>
                  </a:rPr>
                  <a:t>Tests</a:t>
                </a:r>
                <a:r>
                  <a:rPr lang="es-PE" sz="900" b="1" i="0" dirty="0">
                    <a:solidFill>
                      <a:schemeClr val="tx1"/>
                    </a:solidFill>
                    <a:effectLst/>
                    <a:latin typeface="Segoe WPC"/>
                  </a:rPr>
                  <a:t>, and </a:t>
                </a:r>
                <a:r>
                  <a:rPr lang="es-PE" sz="900" b="1" i="0" dirty="0" err="1">
                    <a:solidFill>
                      <a:schemeClr val="tx1"/>
                    </a:solidFill>
                    <a:effectLst/>
                    <a:latin typeface="Segoe WPC"/>
                  </a:rPr>
                  <a:t>Overall</a:t>
                </a:r>
                <a:r>
                  <a:rPr lang="es-PE" sz="900" b="1" i="0" dirty="0">
                    <a:solidFill>
                      <a:schemeClr val="tx1"/>
                    </a:solidFill>
                    <a:effectLst/>
                    <a:latin typeface="Segoe WPC"/>
                  </a:rPr>
                  <a:t> F-</a:t>
                </a:r>
                <a:r>
                  <a:rPr lang="es-PE" sz="900" b="1" i="0" dirty="0" err="1">
                    <a:solidFill>
                      <a:schemeClr val="tx1"/>
                    </a:solidFill>
                    <a:effectLst/>
                    <a:latin typeface="Segoe WPC"/>
                  </a:rPr>
                  <a:t>Statistic</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Joint</a:t>
                </a:r>
                <a:r>
                  <a:rPr lang="es-PE" sz="900" b="0" i="0" dirty="0">
                    <a:solidFill>
                      <a:schemeClr val="tx1"/>
                    </a:solidFill>
                    <a:effectLst/>
                    <a:latin typeface="Segoe WPC"/>
                  </a:rPr>
                  <a:t> </a:t>
                </a:r>
                <a:r>
                  <a:rPr lang="es-PE" sz="900" b="0" i="0" dirty="0" err="1">
                    <a:solidFill>
                      <a:schemeClr val="tx1"/>
                    </a:solidFill>
                    <a:effectLst/>
                    <a:latin typeface="Segoe WPC"/>
                  </a:rPr>
                  <a:t>uncertainty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described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confidence</a:t>
                </a:r>
                <a:r>
                  <a:rPr lang="es-PE" sz="900" b="0" i="0" dirty="0">
                    <a:solidFill>
                      <a:schemeClr val="tx1"/>
                    </a:solidFill>
                    <a:effectLst/>
                    <a:latin typeface="Segoe WPC"/>
                  </a:rPr>
                  <a:t> </a:t>
                </a:r>
                <a:r>
                  <a:rPr lang="es-PE" sz="900" b="0" i="0" dirty="0" err="1">
                    <a:solidFill>
                      <a:schemeClr val="tx1"/>
                    </a:solidFill>
                    <a:effectLst/>
                    <a:latin typeface="Segoe WPC"/>
                  </a:rPr>
                  <a:t>regions</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overall</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 F-</a:t>
                </a:r>
                <a:r>
                  <a:rPr lang="es-PE" sz="900" b="0" i="0" dirty="0" err="1">
                    <a:solidFill>
                      <a:schemeClr val="tx1"/>
                    </a:solidFill>
                    <a:effectLst/>
                    <a:latin typeface="Segoe WPC"/>
                  </a:rPr>
                  <a:t>statistic</a:t>
                </a:r>
                <a:r>
                  <a:rPr lang="es-PE" sz="900" b="0" i="0" dirty="0">
                    <a:solidFill>
                      <a:schemeClr val="tx1"/>
                    </a:solidFill>
                    <a:effectLst/>
                    <a:latin typeface="Segoe WPC"/>
                  </a:rPr>
                  <a:t> </a:t>
                </a:r>
                <a:r>
                  <a:rPr lang="es-PE" sz="900" b="0" i="0" dirty="0" err="1">
                    <a:solidFill>
                      <a:schemeClr val="tx1"/>
                    </a:solidFill>
                    <a:effectLst/>
                    <a:latin typeface="Segoe WPC"/>
                  </a:rPr>
                  <a:t>tests</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slopes</a:t>
                </a:r>
                <a:r>
                  <a:rPr lang="es-PE" sz="900" b="0" i="0" dirty="0">
                    <a:solidFill>
                      <a:schemeClr val="tx1"/>
                    </a:solidFill>
                    <a:effectLst/>
                    <a:latin typeface="Segoe WPC"/>
                  </a:rPr>
                  <a:t> are </a:t>
                </a:r>
                <a:r>
                  <a:rPr lang="es-PE" sz="900" b="0" i="0" dirty="0" err="1">
                    <a:solidFill>
                      <a:schemeClr val="tx1"/>
                    </a:solidFill>
                    <a:effectLst/>
                    <a:latin typeface="Segoe WPC"/>
                  </a:rPr>
                  <a:t>zero</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are </a:t>
                </a:r>
                <a:r>
                  <a:rPr lang="es-PE" sz="900" b="0" i="0" dirty="0" err="1">
                    <a:solidFill>
                      <a:schemeClr val="tx1"/>
                    </a:solidFill>
                    <a:effectLst/>
                    <a:latin typeface="Segoe WPC"/>
                  </a:rPr>
                  <a:t>correlated</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be </a:t>
                </a:r>
                <a:r>
                  <a:rPr lang="es-PE" sz="900" b="0" i="0" dirty="0" err="1">
                    <a:solidFill>
                      <a:schemeClr val="tx1"/>
                    </a:solidFill>
                    <a:effectLst/>
                    <a:latin typeface="Segoe WPC"/>
                  </a:rPr>
                  <a:t>evaluated</a:t>
                </a:r>
                <a:r>
                  <a:rPr lang="es-PE" sz="900" b="0" i="0" dirty="0">
                    <a:solidFill>
                      <a:schemeClr val="tx1"/>
                    </a:solidFill>
                    <a:effectLst/>
                    <a:latin typeface="Segoe WPC"/>
                  </a:rPr>
                  <a:t> </a:t>
                </a:r>
                <a:r>
                  <a:rPr lang="es-PE" sz="900" b="0" i="0" dirty="0" err="1">
                    <a:solidFill>
                      <a:schemeClr val="tx1"/>
                    </a:solidFill>
                    <a:effectLst/>
                    <a:latin typeface="Segoe WPC"/>
                  </a:rPr>
                  <a:t>together</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Joint</a:t>
                </a:r>
                <a:r>
                  <a:rPr lang="es-PE" sz="900" b="0" i="0" dirty="0">
                    <a:solidFill>
                      <a:schemeClr val="tx1"/>
                    </a:solidFill>
                    <a:effectLst/>
                    <a:latin typeface="Segoe WPC"/>
                  </a:rPr>
                  <a:t> </a:t>
                </a:r>
                <a:r>
                  <a:rPr lang="es-PE" sz="900" b="0" i="0" dirty="0" err="1">
                    <a:solidFill>
                      <a:schemeClr val="tx1"/>
                    </a:solidFill>
                    <a:effectLst/>
                    <a:latin typeface="Segoe WPC"/>
                  </a:rPr>
                  <a:t>confidence</a:t>
                </a:r>
                <a:r>
                  <a:rPr lang="es-PE" sz="900" b="0" i="0" dirty="0">
                    <a:solidFill>
                      <a:schemeClr val="tx1"/>
                    </a:solidFill>
                    <a:effectLst/>
                    <a:latin typeface="Segoe WPC"/>
                  </a:rPr>
                  <a:t> sets are </a:t>
                </a:r>
                <a:r>
                  <a:rPr lang="es-PE" sz="900" b="0" i="0" dirty="0" err="1">
                    <a:solidFill>
                      <a:schemeClr val="tx1"/>
                    </a:solidFill>
                    <a:effectLst/>
                    <a:latin typeface="Segoe WPC"/>
                  </a:rPr>
                  <a:t>ellipses</a:t>
                </a:r>
                <a:r>
                  <a:rPr lang="es-PE" sz="900" b="0" i="0" dirty="0">
                    <a:solidFill>
                      <a:schemeClr val="tx1"/>
                    </a:solidFill>
                    <a:effectLst/>
                    <a:latin typeface="Segoe WPC"/>
                  </a:rPr>
                  <a:t> </a:t>
                </a:r>
                <a:r>
                  <a:rPr lang="es-PE" sz="900" b="0" i="0" dirty="0" err="1">
                    <a:solidFill>
                      <a:schemeClr val="tx1"/>
                    </a:solidFill>
                    <a:effectLst/>
                    <a:latin typeface="Segoe WPC"/>
                  </a:rPr>
                  <a:t>whose</a:t>
                </a:r>
                <a:r>
                  <a:rPr lang="es-PE" sz="900" b="0" i="0" dirty="0">
                    <a:solidFill>
                      <a:schemeClr val="tx1"/>
                    </a:solidFill>
                    <a:effectLst/>
                    <a:latin typeface="Segoe WPC"/>
                  </a:rPr>
                  <a:t> </a:t>
                </a:r>
                <a:r>
                  <a:rPr lang="es-PE" sz="900" b="0" i="0" dirty="0" err="1">
                    <a:solidFill>
                      <a:schemeClr val="tx1"/>
                    </a:solidFill>
                    <a:effectLst/>
                    <a:latin typeface="Segoe WPC"/>
                  </a:rPr>
                  <a:t>shape</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coefficient</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overall</a:t>
                </a:r>
                <a:r>
                  <a:rPr lang="es-PE" sz="900" b="0" i="0" dirty="0">
                    <a:solidFill>
                      <a:schemeClr val="tx1"/>
                    </a:solidFill>
                    <a:effectLst/>
                    <a:latin typeface="Segoe WPC"/>
                  </a:rPr>
                  <a:t> F-test compares </a:t>
                </a:r>
                <a:r>
                  <a:rPr lang="es-PE" sz="900" b="0" i="0" dirty="0" err="1">
                    <a:solidFill>
                      <a:schemeClr val="tx1"/>
                    </a:solidFill>
                    <a:effectLst/>
                    <a:latin typeface="Segoe WPC"/>
                  </a:rPr>
                  <a:t>the</a:t>
                </a:r>
                <a:r>
                  <a:rPr lang="es-PE" sz="900" b="0" i="0" dirty="0">
                    <a:solidFill>
                      <a:schemeClr val="tx1"/>
                    </a:solidFill>
                    <a:effectLst/>
                    <a:latin typeface="Segoe WPC"/>
                  </a:rPr>
                  <a:t> full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intercept-only</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Overall</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1">
                            <a:solidFill>
                              <a:schemeClr val="tx1"/>
                            </a:solidFill>
                            <a:latin typeface="Cambria Math" panose="02040503050406030204" pitchFamily="18" charset="0"/>
                          </a:rPr>
                          <m:t>𝑘</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 </a:t>
                </a:r>
                <a:r>
                  <a:rPr lang="es-PE" sz="900" b="0" i="0" dirty="0" err="1">
                    <a:solidFill>
                      <a:schemeClr val="tx1"/>
                    </a:solidFill>
                    <a:effectLst/>
                    <a:latin typeface="Segoe WPC"/>
                  </a:rPr>
                  <a:t>overall</a:t>
                </a:r>
                <a:r>
                  <a:rPr lang="es-PE" sz="900" b="0" i="0" dirty="0">
                    <a:solidFill>
                      <a:schemeClr val="tx1"/>
                    </a:solidFill>
                    <a:effectLst/>
                    <a:latin typeface="Segoe WPC"/>
                  </a:rPr>
                  <a:t> F-</a:t>
                </a:r>
                <a:r>
                  <a:rPr lang="es-PE" sz="900" b="0" i="0" dirty="0" err="1">
                    <a:solidFill>
                      <a:schemeClr val="tx1"/>
                    </a:solidFill>
                    <a:effectLst/>
                    <a:latin typeface="Segoe WPC"/>
                  </a:rPr>
                  <a:t>statistic</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𝐹</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𝑇𝑆𝑆</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𝑅𝑆</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𝑈</m:t>
                                </m:r>
                              </m:sub>
                            </m:sSub>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𝑘</m:t>
                        </m:r>
                      </m:num>
                      <m:den>
                        <m:r>
                          <a:rPr lang="ar-AE" sz="900" i="1">
                            <a:solidFill>
                              <a:schemeClr val="tx1"/>
                            </a:solidFill>
                            <a:latin typeface="Cambria Math" panose="02040503050406030204" pitchFamily="18" charset="0"/>
                          </a:rPr>
                          <m:t>𝑅𝑆</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𝑈</m:t>
                            </m:r>
                          </m:sub>
                        </m:sSub>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𝑘</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e>
                        </m:d>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overall</a:t>
                </a:r>
                <a:r>
                  <a:rPr lang="es-PE" sz="900" b="0" i="0" dirty="0">
                    <a:solidFill>
                      <a:schemeClr val="tx1"/>
                    </a:solidFill>
                    <a:effectLst/>
                    <a:latin typeface="Segoe WPC"/>
                  </a:rPr>
                  <a:t> F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explanatory</a:t>
                </a:r>
                <a:r>
                  <a:rPr lang="es-PE" sz="900" b="0" i="0" dirty="0">
                    <a:solidFill>
                      <a:schemeClr val="tx1"/>
                    </a:solidFill>
                    <a:effectLst/>
                    <a:latin typeface="Segoe WPC"/>
                  </a:rPr>
                  <a:t> variables </a:t>
                </a:r>
                <a:r>
                  <a:rPr lang="es-PE" sz="900" b="0" i="0" dirty="0" err="1">
                    <a:solidFill>
                      <a:schemeClr val="tx1"/>
                    </a:solidFill>
                    <a:effectLst/>
                    <a:latin typeface="Segoe WPC"/>
                  </a:rPr>
                  <a:t>jointly</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predictive </a:t>
                </a:r>
                <a:r>
                  <a:rPr lang="es-PE" sz="900" b="0" i="0" dirty="0" err="1">
                    <a:solidFill>
                      <a:schemeClr val="tx1"/>
                    </a:solidFill>
                    <a:effectLst/>
                    <a:latin typeface="Segoe WPC"/>
                  </a:rPr>
                  <a:t>power</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F-test </a:t>
                </a:r>
                <a:r>
                  <a:rPr lang="es-PE" sz="900" b="0" i="0" dirty="0" err="1">
                    <a:solidFill>
                      <a:schemeClr val="tx1"/>
                    </a:solidFill>
                    <a:effectLst/>
                    <a:latin typeface="Segoe WPC"/>
                  </a:rPr>
                  <a:t>rejects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individual t-</a:t>
                </a:r>
                <a:r>
                  <a:rPr lang="es-PE" sz="900" b="0" i="0" dirty="0" err="1">
                    <a:solidFill>
                      <a:schemeClr val="tx1"/>
                    </a:solidFill>
                    <a:effectLst/>
                    <a:latin typeface="Segoe WPC"/>
                  </a:rPr>
                  <a:t>tests</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multicollinearity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cause.</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Separate</a:t>
                </a:r>
                <a:r>
                  <a:rPr lang="es-PE" sz="900" b="0" i="0" dirty="0">
                    <a:solidFill>
                      <a:schemeClr val="tx1"/>
                    </a:solidFill>
                    <a:effectLst/>
                    <a:latin typeface="Segoe WPC"/>
                  </a:rPr>
                  <a:t> t-</a:t>
                </a:r>
                <a:r>
                  <a:rPr lang="es-PE" sz="900" b="0" i="0" dirty="0" err="1">
                    <a:solidFill>
                      <a:schemeClr val="tx1"/>
                    </a:solidFill>
                    <a:effectLst/>
                    <a:latin typeface="Segoe WPC"/>
                  </a:rPr>
                  <a:t>tests</a:t>
                </a:r>
                <a:r>
                  <a:rPr lang="es-PE" sz="900" b="0" i="0" dirty="0">
                    <a:solidFill>
                      <a:schemeClr val="tx1"/>
                    </a:solidFill>
                    <a:effectLst/>
                    <a:latin typeface="Segoe WPC"/>
                  </a:rPr>
                  <a:t> can miss </a:t>
                </a:r>
                <a:r>
                  <a:rPr lang="es-PE" sz="900" b="0" i="0" dirty="0" err="1">
                    <a:solidFill>
                      <a:schemeClr val="tx1"/>
                    </a:solidFill>
                    <a:effectLst/>
                    <a:latin typeface="Segoe WPC"/>
                  </a:rPr>
                  <a:t>joint</a:t>
                </a:r>
                <a:r>
                  <a:rPr lang="es-PE" sz="900" b="0" i="0" dirty="0">
                    <a:solidFill>
                      <a:schemeClr val="tx1"/>
                    </a:solidFill>
                    <a:effectLst/>
                    <a:latin typeface="Segoe WPC"/>
                  </a:rPr>
                  <a:t> </a:t>
                </a:r>
                <a:r>
                  <a:rPr lang="es-PE" sz="900" b="0" i="0" dirty="0" err="1">
                    <a:solidFill>
                      <a:schemeClr val="tx1"/>
                    </a:solidFill>
                    <a:effectLst/>
                    <a:latin typeface="Segoe WPC"/>
                  </a:rPr>
                  <a:t>significance</a:t>
                </a:r>
                <a:r>
                  <a:rPr lang="es-PE" sz="900" b="0" i="0" dirty="0">
                    <a:solidFill>
                      <a:schemeClr val="tx1"/>
                    </a:solidFill>
                    <a:effectLst/>
                    <a:latin typeface="Segoe WPC"/>
                  </a:rPr>
                  <a:t>, </a:t>
                </a:r>
                <a:r>
                  <a:rPr lang="es-PE" sz="900" b="0" i="0" dirty="0" err="1">
                    <a:solidFill>
                      <a:schemeClr val="tx1"/>
                    </a:solidFill>
                    <a:effectLst/>
                    <a:latin typeface="Segoe WPC"/>
                  </a:rPr>
                  <a:t>especially</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are </a:t>
                </a:r>
                <a:r>
                  <a:rPr lang="es-PE" sz="900" b="0" i="0" dirty="0" err="1">
                    <a:solidFill>
                      <a:schemeClr val="tx1"/>
                    </a:solidFill>
                    <a:effectLst/>
                    <a:latin typeface="Segoe WPC"/>
                  </a:rPr>
                  <a:t>highly</a:t>
                </a:r>
                <a:r>
                  <a:rPr lang="es-PE" sz="900" b="0" i="0" dirty="0">
                    <a:solidFill>
                      <a:schemeClr val="tx1"/>
                    </a:solidFill>
                    <a:effectLst/>
                    <a:latin typeface="Segoe WPC"/>
                  </a:rPr>
                  <a:t> </a:t>
                </a:r>
                <a:r>
                  <a:rPr lang="es-PE" sz="900" b="0" i="0" dirty="0" err="1">
                    <a:solidFill>
                      <a:schemeClr val="tx1"/>
                    </a:solidFill>
                    <a:effectLst/>
                    <a:latin typeface="Segoe WPC"/>
                  </a:rPr>
                  <a:t>correlated</a:t>
                </a:r>
                <a:r>
                  <a:rPr lang="es-PE" sz="900" b="0" i="0" dirty="0">
                    <a:solidFill>
                      <a:schemeClr val="tx1"/>
                    </a:solidFill>
                    <a:effectLst/>
                    <a:latin typeface="Segoe WPC"/>
                  </a:rPr>
                  <a:t>.</a:t>
                </a:r>
              </a:p>
            </p:txBody>
          </p:sp>
        </mc:Choice>
        <mc:Fallback xmlns="">
          <p:sp>
            <p:nvSpPr>
              <p:cNvPr id="11" name="CuadroTexto 10">
                <a:extLst>
                  <a:ext uri="{FF2B5EF4-FFF2-40B4-BE49-F238E27FC236}">
                    <a16:creationId xmlns:a16="http://schemas.microsoft.com/office/drawing/2014/main" id="{25A06B99-EE5A-4BE5-2FE7-79F8EA6AD52F}"/>
                  </a:ext>
                </a:extLst>
              </p:cNvPr>
              <p:cNvSpPr txBox="1">
                <a:spLocks noRot="1" noChangeAspect="1" noMove="1" noResize="1" noEditPoints="1" noAdjustHandles="1" noChangeArrowheads="1" noChangeShapeType="1" noTextEdit="1"/>
              </p:cNvSpPr>
              <p:nvPr/>
            </p:nvSpPr>
            <p:spPr>
              <a:xfrm>
                <a:off x="6190966" y="-28447"/>
                <a:ext cx="6144904" cy="7013780"/>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1373198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C0C32-D5F0-2158-BB5A-59A6EFE161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CBF5466-25C3-AB34-4E31-ABC1C603B2FF}"/>
              </a:ext>
            </a:extLst>
          </p:cNvPr>
          <p:cNvSpPr>
            <a:spLocks noGrp="1"/>
          </p:cNvSpPr>
          <p:nvPr>
            <p:ph type="title"/>
          </p:nvPr>
        </p:nvSpPr>
        <p:spPr>
          <a:xfrm>
            <a:off x="0" y="0"/>
            <a:ext cx="10515600" cy="423081"/>
          </a:xfrm>
        </p:spPr>
        <p:txBody>
          <a:bodyPr>
            <a:normAutofit fontScale="90000"/>
          </a:bodyPr>
          <a:lstStyle/>
          <a:p>
            <a:r>
              <a:rPr lang="es-PE" sz="2800" dirty="0" err="1"/>
              <a:t>Regression</a:t>
            </a:r>
            <a:r>
              <a:rPr lang="es-PE" sz="2800" dirty="0"/>
              <a:t> </a:t>
            </a:r>
            <a:r>
              <a:rPr lang="es-PE" sz="2800" dirty="0" err="1"/>
              <a:t>Diagnostics</a:t>
            </a:r>
            <a:endParaRPr lang="es-PE" sz="280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3CFEE8C9-8F10-B837-01E6-CCEB1A10CCCC}"/>
                  </a:ext>
                </a:extLst>
              </p:cNvPr>
              <p:cNvSpPr txBox="1"/>
              <p:nvPr/>
            </p:nvSpPr>
            <p:spPr>
              <a:xfrm>
                <a:off x="58002" y="312575"/>
                <a:ext cx="6458804" cy="6640087"/>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a:t>
                </a:r>
                <a:r>
                  <a:rPr lang="es-PE" sz="900" b="1" i="0" dirty="0" err="1">
                    <a:solidFill>
                      <a:schemeClr val="tx1"/>
                    </a:solidFill>
                    <a:effectLst/>
                    <a:latin typeface="Segoe WPC"/>
                  </a:rPr>
                  <a:t>Omitted</a:t>
                </a:r>
                <a:r>
                  <a:rPr lang="es-PE" sz="900" b="1" i="0" dirty="0">
                    <a:solidFill>
                      <a:schemeClr val="tx1"/>
                    </a:solidFill>
                    <a:effectLst/>
                    <a:latin typeface="Segoe WPC"/>
                  </a:rPr>
                  <a:t> Variables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omitted</a:t>
                </a:r>
                <a:r>
                  <a:rPr lang="es-PE" sz="900" b="0" i="0" dirty="0">
                    <a:solidFill>
                      <a:schemeClr val="tx1"/>
                    </a:solidFill>
                    <a:effectLst/>
                    <a:latin typeface="Segoe WPC"/>
                  </a:rPr>
                  <a:t> variable has a </a:t>
                </a:r>
                <a:r>
                  <a:rPr lang="es-PE" sz="900" b="0" i="0" dirty="0" err="1">
                    <a:solidFill>
                      <a:schemeClr val="tx1"/>
                    </a:solidFill>
                    <a:effectLst/>
                    <a:latin typeface="Segoe WPC"/>
                  </a:rPr>
                  <a:t>nonzero</a:t>
                </a:r>
                <a:r>
                  <a:rPr lang="es-PE" sz="900" b="0" i="0" dirty="0">
                    <a:solidFill>
                      <a:schemeClr val="tx1"/>
                    </a:solidFill>
                    <a:effectLst/>
                    <a:latin typeface="Segoe WPC"/>
                  </a:rPr>
                  <a:t> true </a:t>
                </a:r>
                <a:r>
                  <a:rPr lang="es-PE" sz="900" b="0" i="0" dirty="0" err="1">
                    <a:solidFill>
                      <a:schemeClr val="tx1"/>
                    </a:solidFill>
                    <a:effectLst/>
                    <a:latin typeface="Segoe WPC"/>
                  </a:rPr>
                  <a:t>coefficient</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excluded</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estimated</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included</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t>
                </a:r>
                <a:r>
                  <a:rPr lang="es-PE" sz="900" b="0" i="0" dirty="0" err="1">
                    <a:solidFill>
                      <a:schemeClr val="tx1"/>
                    </a:solidFill>
                    <a:effectLst/>
                    <a:latin typeface="Segoe WPC"/>
                  </a:rPr>
                  <a:t>absorb</a:t>
                </a:r>
                <a:r>
                  <a:rPr lang="es-PE" sz="900" b="0" i="0" dirty="0">
                    <a:solidFill>
                      <a:schemeClr val="tx1"/>
                    </a:solidFill>
                    <a:effectLst/>
                    <a:latin typeface="Segoe WPC"/>
                  </a:rPr>
                  <a:t> </a:t>
                </a:r>
                <a:r>
                  <a:rPr lang="es-PE" sz="900" b="0" i="0" dirty="0" err="1">
                    <a:solidFill>
                      <a:schemeClr val="tx1"/>
                    </a:solidFill>
                    <a:effectLst/>
                    <a:latin typeface="Segoe WPC"/>
                  </a:rPr>
                  <a:t>part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missing</a:t>
                </a:r>
                <a:r>
                  <a:rPr lang="es-PE" sz="900" b="0" i="0" dirty="0">
                    <a:solidFill>
                      <a:schemeClr val="tx1"/>
                    </a:solidFill>
                    <a:effectLst/>
                    <a:latin typeface="Segoe WPC"/>
                  </a:rPr>
                  <a:t> </a:t>
                </a:r>
                <a:r>
                  <a:rPr lang="es-PE" sz="900" b="0" i="0" dirty="0" err="1">
                    <a:solidFill>
                      <a:schemeClr val="tx1"/>
                    </a:solidFill>
                    <a:effectLst/>
                    <a:latin typeface="Segoe WPC"/>
                  </a:rPr>
                  <a:t>variable’s</a:t>
                </a:r>
                <a:r>
                  <a:rPr lang="es-PE" sz="900" b="0" i="0" dirty="0">
                    <a:solidFill>
                      <a:schemeClr val="tx1"/>
                    </a:solidFill>
                    <a:effectLst/>
                    <a:latin typeface="Segoe WPC"/>
                  </a:rPr>
                  <a:t> </a:t>
                </a:r>
                <a:r>
                  <a:rPr lang="es-PE" sz="900" b="0" i="0" dirty="0" err="1">
                    <a:solidFill>
                      <a:schemeClr val="tx1"/>
                    </a:solidFill>
                    <a:effectLst/>
                    <a:latin typeface="Segoe WPC"/>
                  </a:rPr>
                  <a:t>effect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fitted</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a:t>
                </a:r>
                <a:r>
                  <a:rPr lang="es-PE" sz="900" b="0" i="0" dirty="0" err="1">
                    <a:solidFill>
                      <a:schemeClr val="tx1"/>
                    </a:solidFill>
                    <a:effectLst/>
                    <a:latin typeface="Segoe WPC"/>
                  </a:rPr>
                  <a:t>bend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explain</a:t>
                </a:r>
                <a:r>
                  <a:rPr lang="es-PE" sz="900" b="0" i="0" dirty="0">
                    <a:solidFill>
                      <a:schemeClr val="tx1"/>
                    </a:solidFill>
                    <a:effectLst/>
                    <a:latin typeface="Segoe WPC"/>
                  </a:rPr>
                  <a:t> </a:t>
                </a:r>
                <a:r>
                  <a:rPr lang="es-PE" sz="900" b="0" i="0" dirty="0" err="1">
                    <a:solidFill>
                      <a:schemeClr val="tx1"/>
                    </a:solidFill>
                    <a:effectLst/>
                    <a:latin typeface="Segoe WPC"/>
                  </a:rPr>
                  <a:t>variation</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really</a:t>
                </a:r>
                <a:r>
                  <a:rPr lang="es-PE" sz="900" b="0" i="0" dirty="0">
                    <a:solidFill>
                      <a:schemeClr val="tx1"/>
                    </a:solidFill>
                    <a:effectLst/>
                    <a:latin typeface="Segoe WPC"/>
                  </a:rPr>
                  <a:t> </a:t>
                </a:r>
                <a:r>
                  <a:rPr lang="es-PE" sz="900" b="0" i="0" dirty="0" err="1">
                    <a:solidFill>
                      <a:schemeClr val="tx1"/>
                    </a:solidFill>
                    <a:effectLst/>
                    <a:latin typeface="Segoe WPC"/>
                  </a:rPr>
                  <a:t>belongs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omitted</a:t>
                </a:r>
                <a:r>
                  <a:rPr lang="es-PE" sz="900" b="0" i="0" dirty="0">
                    <a:solidFill>
                      <a:schemeClr val="tx1"/>
                    </a:solidFill>
                    <a:effectLst/>
                    <a:latin typeface="Segoe WPC"/>
                  </a:rPr>
                  <a:t> variable.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true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𝑎</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1</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2</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2</m:t>
                        </m:r>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omitted</a:t>
                </a:r>
                <a:r>
                  <a:rPr lang="es-P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𝛽</m:t>
                            </m:r>
                          </m:e>
                        </m:acc>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2</m:t>
                        </m:r>
                      </m:sub>
                    </m:sSub>
                    <m:r>
                      <a:rPr lang="ar-AE" sz="900" i="1">
                        <a:solidFill>
                          <a:schemeClr val="tx1"/>
                        </a:solidFill>
                        <a:latin typeface="Cambria Math" panose="02040503050406030204" pitchFamily="18" charset="0"/>
                      </a:rPr>
                      <m:t>𝛿</m:t>
                    </m:r>
                  </m:oMath>
                </a14:m>
                <a:r>
                  <a:rPr lang="ar-A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𝛿</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𝐶𝑜𝑣</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sub>
                        </m:sSub>
                      </m:e>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2</m:t>
                            </m:r>
                          </m:sub>
                        </m:sSub>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sub>
                        </m:sSub>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Omitted</a:t>
                </a:r>
                <a:r>
                  <a:rPr lang="es-PE" sz="900" b="0" i="0" dirty="0">
                    <a:solidFill>
                      <a:schemeClr val="tx1"/>
                    </a:solidFill>
                    <a:effectLst/>
                    <a:latin typeface="Segoe WPC"/>
                  </a:rPr>
                  <a:t>-variable </a:t>
                </a:r>
                <a:r>
                  <a:rPr lang="es-PE" sz="900" b="0" i="0" dirty="0" err="1">
                    <a:solidFill>
                      <a:schemeClr val="tx1"/>
                    </a:solidFill>
                    <a:effectLst/>
                    <a:latin typeface="Segoe WPC"/>
                  </a:rPr>
                  <a:t>bias</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omitted</a:t>
                </a:r>
                <a:r>
                  <a:rPr lang="es-PE" sz="900" b="0" i="0" dirty="0">
                    <a:solidFill>
                      <a:schemeClr val="tx1"/>
                    </a:solidFill>
                    <a:effectLst/>
                    <a:latin typeface="Segoe WPC"/>
                  </a:rPr>
                  <a:t> </a:t>
                </a:r>
                <a:r>
                  <a:rPr lang="es-PE" sz="900" b="0" i="0" dirty="0" err="1">
                    <a:solidFill>
                      <a:schemeClr val="tx1"/>
                    </a:solidFill>
                    <a:effectLst/>
                    <a:latin typeface="Segoe WPC"/>
                  </a:rPr>
                  <a:t>variable’s</a:t>
                </a:r>
                <a:r>
                  <a:rPr lang="es-PE" sz="900" b="0" i="0" dirty="0">
                    <a:solidFill>
                      <a:schemeClr val="tx1"/>
                    </a:solidFill>
                    <a:effectLst/>
                    <a:latin typeface="Segoe WPC"/>
                  </a:rPr>
                  <a:t> </a:t>
                </a:r>
                <a:r>
                  <a:rPr lang="es-PE" sz="900" b="0" i="0" dirty="0" err="1">
                    <a:solidFill>
                      <a:schemeClr val="tx1"/>
                    </a:solidFill>
                    <a:effectLst/>
                    <a:latin typeface="Segoe WPC"/>
                  </a:rPr>
                  <a:t>effect</a:t>
                </a:r>
                <a:r>
                  <a:rPr lang="es-PE" sz="900" b="0" i="0" dirty="0">
                    <a:solidFill>
                      <a:schemeClr val="tx1"/>
                    </a:solidFill>
                    <a:effectLst/>
                    <a:latin typeface="Segoe WPC"/>
                  </a:rPr>
                  <a:t> and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included</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a:t>
                </a:r>
                <a:r>
                  <a:rPr lang="es-PE" sz="900" b="0" i="0" dirty="0" err="1">
                    <a:solidFill>
                      <a:schemeClr val="tx1"/>
                    </a:solidFill>
                    <a:effectLst/>
                    <a:latin typeface="Segoe WPC"/>
                  </a:rPr>
                  <a:t>also</a:t>
                </a:r>
                <a:r>
                  <a:rPr lang="es-PE" sz="900" b="0" i="0" dirty="0">
                    <a:solidFill>
                      <a:schemeClr val="tx1"/>
                    </a:solidFill>
                    <a:effectLst/>
                    <a:latin typeface="Segoe WPC"/>
                  </a:rPr>
                  <a:t> </a:t>
                </a:r>
                <a:r>
                  <a:rPr lang="es-PE" sz="900" b="0" i="0" dirty="0" err="1">
                    <a:solidFill>
                      <a:schemeClr val="tx1"/>
                    </a:solidFill>
                    <a:effectLst/>
                    <a:latin typeface="Segoe WPC"/>
                  </a:rPr>
                  <a:t>become</a:t>
                </a:r>
                <a:r>
                  <a:rPr lang="es-PE" sz="900" b="0" i="0" dirty="0">
                    <a:solidFill>
                      <a:schemeClr val="tx1"/>
                    </a:solidFill>
                    <a:effectLst/>
                    <a:latin typeface="Segoe WPC"/>
                  </a:rPr>
                  <a:t> </a:t>
                </a:r>
                <a:r>
                  <a:rPr lang="es-PE" sz="900" b="0" i="0" dirty="0" err="1">
                    <a:solidFill>
                      <a:schemeClr val="tx1"/>
                    </a:solidFill>
                    <a:effectLst/>
                    <a:latin typeface="Segoe WPC"/>
                  </a:rPr>
                  <a:t>larger</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now</a:t>
                </a:r>
                <a:r>
                  <a:rPr lang="es-PE" sz="900" b="0" i="0" dirty="0">
                    <a:solidFill>
                      <a:schemeClr val="tx1"/>
                    </a:solidFill>
                    <a:effectLst/>
                    <a:latin typeface="Segoe WPC"/>
                  </a:rPr>
                  <a:t> </a:t>
                </a:r>
                <a:r>
                  <a:rPr lang="es-PE" sz="900" b="0" i="0" dirty="0" err="1">
                    <a:solidFill>
                      <a:schemeClr val="tx1"/>
                    </a:solidFill>
                    <a:effectLst/>
                    <a:latin typeface="Segoe WPC"/>
                  </a:rPr>
                  <a:t>contain</a:t>
                </a:r>
                <a:r>
                  <a:rPr lang="es-PE" sz="900" b="0" i="0" dirty="0">
                    <a:solidFill>
                      <a:schemeClr val="tx1"/>
                    </a:solidFill>
                    <a:effectLst/>
                    <a:latin typeface="Segoe WPC"/>
                  </a:rPr>
                  <a:t> </a:t>
                </a:r>
                <a:r>
                  <a:rPr lang="es-PE" sz="900" b="0" i="0" dirty="0" err="1">
                    <a:solidFill>
                      <a:schemeClr val="tx1"/>
                    </a:solidFill>
                    <a:effectLst/>
                    <a:latin typeface="Segoe WPC"/>
                  </a:rPr>
                  <a:t>part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omitted</a:t>
                </a:r>
                <a:r>
                  <a:rPr lang="es-PE" sz="900" b="0" i="0" dirty="0">
                    <a:solidFill>
                      <a:schemeClr val="tx1"/>
                    </a:solidFill>
                    <a:effectLst/>
                    <a:latin typeface="Segoe WPC"/>
                  </a:rPr>
                  <a:t> </a:t>
                </a:r>
                <a:r>
                  <a:rPr lang="es-PE" sz="900" b="0" i="0" dirty="0" err="1">
                    <a:solidFill>
                      <a:schemeClr val="tx1"/>
                    </a:solidFill>
                    <a:effectLst/>
                    <a:latin typeface="Segoe WPC"/>
                  </a:rPr>
                  <a:t>effect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Omitting</a:t>
                </a:r>
                <a:r>
                  <a:rPr lang="es-PE" sz="900" b="0" i="0" dirty="0">
                    <a:solidFill>
                      <a:schemeClr val="tx1"/>
                    </a:solidFill>
                    <a:effectLst/>
                    <a:latin typeface="Segoe WPC"/>
                  </a:rPr>
                  <a:t> a </a:t>
                </a:r>
                <a:r>
                  <a:rPr lang="es-PE" sz="900" b="0" i="0" dirty="0" err="1">
                    <a:solidFill>
                      <a:schemeClr val="tx1"/>
                    </a:solidFill>
                    <a:effectLst/>
                    <a:latin typeface="Segoe WPC"/>
                  </a:rPr>
                  <a:t>relevant</a:t>
                </a:r>
                <a:r>
                  <a:rPr lang="es-PE" sz="900" b="0" i="0" dirty="0">
                    <a:solidFill>
                      <a:schemeClr val="tx1"/>
                    </a:solidFill>
                    <a:effectLst/>
                    <a:latin typeface="Segoe WPC"/>
                  </a:rPr>
                  <a:t> variable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biases</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omitted</a:t>
                </a:r>
                <a:r>
                  <a:rPr lang="es-PE" sz="900" b="0" i="0" dirty="0">
                    <a:solidFill>
                      <a:schemeClr val="tx1"/>
                    </a:solidFill>
                    <a:effectLst/>
                    <a:latin typeface="Segoe WPC"/>
                  </a:rPr>
                  <a:t> variable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uncorrelated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included</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bias</a:t>
                </a:r>
                <a:r>
                  <a:rPr lang="es-PE" sz="900" b="0" i="0" dirty="0">
                    <a:solidFill>
                      <a:schemeClr val="tx1"/>
                    </a:solidFill>
                    <a:effectLst/>
                    <a:latin typeface="Segoe WPC"/>
                  </a:rPr>
                  <a:t> can be </a:t>
                </a:r>
                <a:r>
                  <a:rPr lang="es-PE" sz="900" b="0" i="0" dirty="0" err="1">
                    <a:solidFill>
                      <a:schemeClr val="tx1"/>
                    </a:solidFill>
                    <a:effectLst/>
                    <a:latin typeface="Segoe WPC"/>
                  </a:rPr>
                  <a:t>zero</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2. </a:t>
                </a:r>
                <a:r>
                  <a:rPr lang="es-PE" sz="900" b="1" i="0" dirty="0" err="1">
                    <a:solidFill>
                      <a:schemeClr val="tx1"/>
                    </a:solidFill>
                    <a:effectLst/>
                    <a:latin typeface="Segoe WPC"/>
                  </a:rPr>
                  <a:t>Extraneous</a:t>
                </a:r>
                <a:r>
                  <a:rPr lang="es-PE" sz="900" b="1" i="0" dirty="0">
                    <a:solidFill>
                      <a:schemeClr val="tx1"/>
                    </a:solidFill>
                    <a:effectLst/>
                    <a:latin typeface="Segoe WPC"/>
                  </a:rPr>
                  <a:t> </a:t>
                </a:r>
                <a:r>
                  <a:rPr lang="es-PE" sz="900" b="1" i="0" dirty="0" err="1">
                    <a:solidFill>
                      <a:schemeClr val="tx1"/>
                    </a:solidFill>
                    <a:effectLst/>
                    <a:latin typeface="Segoe WPC"/>
                  </a:rPr>
                  <a:t>Included</a:t>
                </a:r>
                <a:r>
                  <a:rPr lang="es-PE" sz="900" b="1" i="0" dirty="0">
                    <a:solidFill>
                      <a:schemeClr val="tx1"/>
                    </a:solidFill>
                    <a:effectLst/>
                    <a:latin typeface="Segoe WPC"/>
                  </a:rPr>
                  <a:t> Variables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extraneous</a:t>
                </a:r>
                <a:r>
                  <a:rPr lang="es-PE" sz="900" b="0" i="0" dirty="0">
                    <a:solidFill>
                      <a:schemeClr val="tx1"/>
                    </a:solidFill>
                    <a:effectLst/>
                    <a:latin typeface="Segoe WPC"/>
                  </a:rPr>
                  <a:t> variable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included</a:t>
                </a:r>
                <a:r>
                  <a:rPr lang="es-PE" sz="900" b="0" i="0" dirty="0">
                    <a:solidFill>
                      <a:schemeClr val="tx1"/>
                    </a:solidFill>
                    <a:effectLst/>
                    <a:latin typeface="Segoe WPC"/>
                  </a:rPr>
                  <a:t> </a:t>
                </a:r>
                <a:r>
                  <a:rPr lang="es-PE" sz="900" b="0" i="0" dirty="0" err="1">
                    <a:solidFill>
                      <a:schemeClr val="tx1"/>
                    </a:solidFill>
                    <a:effectLst/>
                    <a:latin typeface="Segoe WPC"/>
                  </a:rPr>
                  <a:t>even</a:t>
                </a:r>
                <a:r>
                  <a:rPr lang="es-PE" sz="900" b="0" i="0" dirty="0">
                    <a:solidFill>
                      <a:schemeClr val="tx1"/>
                    </a:solidFill>
                    <a:effectLst/>
                    <a:latin typeface="Segoe WPC"/>
                  </a:rPr>
                  <a:t> </a:t>
                </a:r>
                <a:r>
                  <a:rPr lang="es-PE" sz="900" b="0" i="0" dirty="0" err="1">
                    <a:solidFill>
                      <a:schemeClr val="tx1"/>
                    </a:solidFill>
                    <a:effectLst/>
                    <a:latin typeface="Segoe WPC"/>
                  </a:rPr>
                  <a:t>though</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true </a:t>
                </a:r>
                <a:r>
                  <a:rPr lang="es-PE" sz="900" b="0" i="0" dirty="0" err="1">
                    <a:solidFill>
                      <a:schemeClr val="tx1"/>
                    </a:solidFill>
                    <a:effectLst/>
                    <a:latin typeface="Segoe WPC"/>
                  </a:rPr>
                  <a:t>coefficient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Useless</a:t>
                </a:r>
                <a:r>
                  <a:rPr lang="es-PE" sz="900" b="0" i="0" dirty="0">
                    <a:solidFill>
                      <a:schemeClr val="tx1"/>
                    </a:solidFill>
                    <a:effectLst/>
                    <a:latin typeface="Segoe WPC"/>
                  </a:rPr>
                  <a:t> variables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bias</a:t>
                </a:r>
                <a:r>
                  <a:rPr lang="es-PE" sz="900" b="0" i="0" dirty="0">
                    <a:solidFill>
                      <a:schemeClr val="tx1"/>
                    </a:solidFill>
                    <a:effectLst/>
                    <a:latin typeface="Segoe WPC"/>
                  </a:rPr>
                  <a:t> OLS,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make</a:t>
                </a:r>
                <a:r>
                  <a:rPr lang="es-PE" sz="900" b="0" i="0" dirty="0">
                    <a:solidFill>
                      <a:schemeClr val="tx1"/>
                    </a:solidFill>
                    <a:effectLst/>
                    <a:latin typeface="Segoe WPC"/>
                  </a:rPr>
                  <a:t> </a:t>
                </a:r>
                <a:r>
                  <a:rPr lang="es-PE" sz="900" b="0" i="0" dirty="0" err="1">
                    <a:solidFill>
                      <a:schemeClr val="tx1"/>
                    </a:solidFill>
                    <a:effectLst/>
                    <a:latin typeface="Segoe WPC"/>
                  </a:rPr>
                  <a:t>estimation</a:t>
                </a:r>
                <a:r>
                  <a:rPr lang="es-PE" sz="900" b="0" i="0" dirty="0">
                    <a:solidFill>
                      <a:schemeClr val="tx1"/>
                    </a:solidFill>
                    <a:effectLst/>
                    <a:latin typeface="Segoe WPC"/>
                  </a:rPr>
                  <a:t> </a:t>
                </a:r>
                <a:r>
                  <a:rPr lang="es-PE" sz="900" b="0" i="0" dirty="0" err="1">
                    <a:solidFill>
                      <a:schemeClr val="tx1"/>
                    </a:solidFill>
                    <a:effectLst/>
                    <a:latin typeface="Segoe WPC"/>
                  </a:rPr>
                  <a:t>less</a:t>
                </a:r>
                <a:r>
                  <a:rPr lang="es-PE" sz="900" b="0" i="0" dirty="0">
                    <a:solidFill>
                      <a:schemeClr val="tx1"/>
                    </a:solidFill>
                    <a:effectLst/>
                    <a:latin typeface="Segoe WPC"/>
                  </a:rPr>
                  <a:t> precise.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Irrelevant</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compete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relevant</a:t>
                </a:r>
                <a:r>
                  <a:rPr lang="es-PE" sz="900" b="0" i="0" dirty="0">
                    <a:solidFill>
                      <a:schemeClr val="tx1"/>
                    </a:solidFill>
                    <a:effectLst/>
                    <a:latin typeface="Segoe WPC"/>
                  </a:rPr>
                  <a:t> </a:t>
                </a:r>
                <a:r>
                  <a:rPr lang="es-PE" sz="900" b="0" i="0" dirty="0" err="1">
                    <a:solidFill>
                      <a:schemeClr val="tx1"/>
                    </a:solidFill>
                    <a:effectLst/>
                    <a:latin typeface="Segoe WPC"/>
                  </a:rPr>
                  <a:t>ones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explanatory</a:t>
                </a:r>
                <a:r>
                  <a:rPr lang="es-PE" sz="900" b="0" i="0" dirty="0">
                    <a:solidFill>
                      <a:schemeClr val="tx1"/>
                    </a:solidFill>
                    <a:effectLst/>
                    <a:latin typeface="Segoe WPC"/>
                  </a:rPr>
                  <a:t> </a:t>
                </a:r>
                <a:r>
                  <a:rPr lang="es-PE" sz="900" b="0" i="0" dirty="0" err="1">
                    <a:solidFill>
                      <a:schemeClr val="tx1"/>
                    </a:solidFill>
                    <a:effectLst/>
                    <a:latin typeface="Segoe WPC"/>
                  </a:rPr>
                  <a:t>power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 </a:t>
                </a:r>
                <a:r>
                  <a:rPr lang="es-PE" sz="900" b="0" i="0" dirty="0" err="1">
                    <a:solidFill>
                      <a:schemeClr val="tx1"/>
                    </a:solidFill>
                    <a:effectLst/>
                    <a:latin typeface="Segoe WPC"/>
                  </a:rPr>
                  <a:t>useless</a:t>
                </a:r>
                <a:r>
                  <a:rPr lang="es-PE" sz="900" b="0" i="0" dirty="0">
                    <a:solidFill>
                      <a:schemeClr val="tx1"/>
                    </a:solidFill>
                    <a:effectLst/>
                    <a:latin typeface="Segoe WPC"/>
                  </a:rPr>
                  <a:t> </a:t>
                </a:r>
                <a:r>
                  <a:rPr lang="es-PE" sz="900" b="0" i="0" dirty="0" err="1">
                    <a:solidFill>
                      <a:schemeClr val="tx1"/>
                    </a:solidFill>
                    <a:effectLst/>
                    <a:latin typeface="Segoe WPC"/>
                  </a:rPr>
                  <a:t>regressor</a:t>
                </a:r>
                <a:r>
                  <a:rPr lang="es-PE" sz="900" b="0" i="0" dirty="0">
                    <a:solidFill>
                      <a:schemeClr val="tx1"/>
                    </a:solidFill>
                    <a:effectLst/>
                    <a:latin typeface="Segoe WPC"/>
                  </a:rPr>
                  <a:t> has true </a:t>
                </a:r>
                <a:r>
                  <a:rPr lang="es-PE" sz="900" b="0" i="0" dirty="0" err="1">
                    <a:solidFill>
                      <a:schemeClr val="tx1"/>
                    </a:solidFill>
                    <a:effectLst/>
                    <a:latin typeface="Segoe WPC"/>
                  </a:rPr>
                  <a:t>coefficient</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0</m:t>
                    </m:r>
                  </m:oMath>
                </a14:m>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including</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typically</a:t>
                </a:r>
                <a:r>
                  <a:rPr lang="es-PE" sz="900" b="0" i="0" dirty="0">
                    <a:solidFill>
                      <a:schemeClr val="tx1"/>
                    </a:solidFill>
                    <a:effectLst/>
                    <a:latin typeface="Segoe WPC"/>
                  </a:rPr>
                  <a:t> raises standard </a:t>
                </a:r>
                <a:r>
                  <a:rPr lang="es-PE" sz="900" b="0" i="0" dirty="0" err="1">
                    <a:solidFill>
                      <a:schemeClr val="tx1"/>
                    </a:solidFill>
                    <a:effectLst/>
                    <a:latin typeface="Segoe WPC"/>
                  </a:rPr>
                  <a:t>errors</a:t>
                </a:r>
                <a:r>
                  <a:rPr lang="es-PE" sz="900" b="0" i="0" dirty="0">
                    <a:solidFill>
                      <a:schemeClr val="tx1"/>
                    </a:solidFill>
                    <a:effectLst/>
                    <a:latin typeface="Segoe WPC"/>
                  </a:rPr>
                  <a:t> and can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adjusted</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reduce </a:t>
                </a:r>
                <a:r>
                  <a:rPr lang="es-PE" sz="900" b="0" i="0" dirty="0" err="1">
                    <a:solidFill>
                      <a:schemeClr val="tx1"/>
                    </a:solidFill>
                    <a:effectLst/>
                    <a:latin typeface="Segoe WPC"/>
                  </a:rPr>
                  <a:t>omission</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increase</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especially</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are </a:t>
                </a:r>
                <a:r>
                  <a:rPr lang="es-PE" sz="900" b="0" i="0" dirty="0" err="1">
                    <a:solidFill>
                      <a:schemeClr val="tx1"/>
                    </a:solidFill>
                    <a:effectLst/>
                    <a:latin typeface="Segoe WPC"/>
                  </a:rPr>
                  <a:t>correlated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Omitting</a:t>
                </a:r>
                <a:r>
                  <a:rPr lang="es-PE" sz="900" b="0" i="0" dirty="0">
                    <a:solidFill>
                      <a:schemeClr val="tx1"/>
                    </a:solidFill>
                    <a:effectLst/>
                    <a:latin typeface="Segoe WPC"/>
                  </a:rPr>
                  <a:t> </a:t>
                </a:r>
                <a:r>
                  <a:rPr lang="es-PE" sz="900" b="0" i="0" dirty="0" err="1">
                    <a:solidFill>
                      <a:schemeClr val="tx1"/>
                    </a:solidFill>
                    <a:effectLst/>
                    <a:latin typeface="Segoe WPC"/>
                  </a:rPr>
                  <a:t>relevant</a:t>
                </a:r>
                <a:r>
                  <a:rPr lang="es-PE" sz="900" b="0" i="0" dirty="0">
                    <a:solidFill>
                      <a:schemeClr val="tx1"/>
                    </a:solidFill>
                    <a:effectLst/>
                    <a:latin typeface="Segoe WPC"/>
                  </a:rPr>
                  <a:t> variables </a:t>
                </a:r>
                <a:r>
                  <a:rPr lang="es-PE" sz="900" b="0" i="0" dirty="0" err="1">
                    <a:solidFill>
                      <a:schemeClr val="tx1"/>
                    </a:solidFill>
                    <a:effectLst/>
                    <a:latin typeface="Segoe WPC"/>
                  </a:rPr>
                  <a:t>creates</a:t>
                </a:r>
                <a:r>
                  <a:rPr lang="es-PE" sz="900" b="0" i="0" dirty="0">
                    <a:solidFill>
                      <a:schemeClr val="tx1"/>
                    </a:solidFill>
                    <a:effectLst/>
                    <a:latin typeface="Segoe WPC"/>
                  </a:rPr>
                  <a:t> </a:t>
                </a:r>
                <a:r>
                  <a:rPr lang="es-PE" sz="900" b="0" i="0" dirty="0" err="1">
                    <a:solidFill>
                      <a:schemeClr val="tx1"/>
                    </a:solidFill>
                    <a:effectLst/>
                    <a:latin typeface="Segoe WPC"/>
                  </a:rPr>
                  <a:t>bias</a:t>
                </a:r>
                <a:r>
                  <a:rPr lang="es-PE" sz="900" b="0" i="0" dirty="0">
                    <a:solidFill>
                      <a:schemeClr val="tx1"/>
                    </a:solidFill>
                    <a:effectLst/>
                    <a:latin typeface="Segoe WPC"/>
                  </a:rPr>
                  <a:t>; </a:t>
                </a:r>
                <a:r>
                  <a:rPr lang="es-PE" sz="900" b="0" i="0" dirty="0" err="1">
                    <a:solidFill>
                      <a:schemeClr val="tx1"/>
                    </a:solidFill>
                    <a:effectLst/>
                    <a:latin typeface="Segoe WPC"/>
                  </a:rPr>
                  <a:t>including</a:t>
                </a:r>
                <a:r>
                  <a:rPr lang="es-PE" sz="900" b="0" i="0" dirty="0">
                    <a:solidFill>
                      <a:schemeClr val="tx1"/>
                    </a:solidFill>
                    <a:effectLst/>
                    <a:latin typeface="Segoe WPC"/>
                  </a:rPr>
                  <a:t> </a:t>
                </a:r>
                <a:r>
                  <a:rPr lang="es-PE" sz="900" b="0" i="0" dirty="0" err="1">
                    <a:solidFill>
                      <a:schemeClr val="tx1"/>
                    </a:solidFill>
                    <a:effectLst/>
                    <a:latin typeface="Segoe WPC"/>
                  </a:rPr>
                  <a:t>irrelevant</a:t>
                </a:r>
                <a:r>
                  <a:rPr lang="es-PE" sz="900" b="0" i="0" dirty="0">
                    <a:solidFill>
                      <a:schemeClr val="tx1"/>
                    </a:solidFill>
                    <a:effectLst/>
                    <a:latin typeface="Segoe WPC"/>
                  </a:rPr>
                  <a:t> variables </a:t>
                </a:r>
                <a:r>
                  <a:rPr lang="es-PE" sz="900" b="0" i="0" dirty="0" err="1">
                    <a:solidFill>
                      <a:schemeClr val="tx1"/>
                    </a:solidFill>
                    <a:effectLst/>
                    <a:latin typeface="Segoe WPC"/>
                  </a:rPr>
                  <a:t>mainly</a:t>
                </a:r>
                <a:r>
                  <a:rPr lang="es-PE" sz="900" b="0" i="0" dirty="0">
                    <a:solidFill>
                      <a:schemeClr val="tx1"/>
                    </a:solidFill>
                    <a:effectLst/>
                    <a:latin typeface="Segoe WPC"/>
                  </a:rPr>
                  <a:t> </a:t>
                </a:r>
                <a:r>
                  <a:rPr lang="es-PE" sz="900" b="0" i="0" dirty="0" err="1">
                    <a:solidFill>
                      <a:schemeClr val="tx1"/>
                    </a:solidFill>
                    <a:effectLst/>
                    <a:latin typeface="Segoe WPC"/>
                  </a:rPr>
                  <a:t>increases</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3. </a:t>
                </a:r>
                <a:r>
                  <a:rPr lang="es-PE" sz="900" b="1" i="0" dirty="0" err="1">
                    <a:solidFill>
                      <a:schemeClr val="tx1"/>
                    </a:solidFill>
                    <a:effectLst/>
                    <a:latin typeface="Segoe WPC"/>
                  </a:rPr>
                  <a:t>Bias-Variance</a:t>
                </a:r>
                <a:r>
                  <a:rPr lang="es-PE" sz="900" b="1" i="0" dirty="0">
                    <a:solidFill>
                      <a:schemeClr val="tx1"/>
                    </a:solidFill>
                    <a:effectLst/>
                    <a:latin typeface="Segoe WPC"/>
                  </a:rPr>
                  <a:t> </a:t>
                </a:r>
                <a:r>
                  <a:rPr lang="es-PE" sz="900" b="1" i="0" dirty="0" err="1">
                    <a:solidFill>
                      <a:schemeClr val="tx1"/>
                    </a:solidFill>
                    <a:effectLst/>
                    <a:latin typeface="Segoe WPC"/>
                  </a:rPr>
                  <a:t>Tradeoff</a:t>
                </a:r>
                <a:r>
                  <a:rPr lang="es-PE" sz="900" b="1" i="0" dirty="0">
                    <a:solidFill>
                      <a:schemeClr val="tx1"/>
                    </a:solidFill>
                    <a:effectLst/>
                    <a:latin typeface="Segoe WPC"/>
                  </a:rPr>
                  <a:t> and </a:t>
                </a:r>
                <a:r>
                  <a:rPr lang="es-PE" sz="900" b="1" i="0" dirty="0" err="1">
                    <a:solidFill>
                      <a:schemeClr val="tx1"/>
                    </a:solidFill>
                    <a:effectLst/>
                    <a:latin typeface="Segoe WPC"/>
                  </a:rPr>
                  <a:t>Model</a:t>
                </a:r>
                <a:r>
                  <a:rPr lang="es-PE" sz="900" b="1" i="0" dirty="0">
                    <a:solidFill>
                      <a:schemeClr val="tx1"/>
                    </a:solidFill>
                    <a:effectLst/>
                    <a:latin typeface="Segoe WPC"/>
                  </a:rPr>
                  <a:t> </a:t>
                </a:r>
                <a:r>
                  <a:rPr lang="es-PE" sz="900" b="1" i="0" dirty="0" err="1">
                    <a:solidFill>
                      <a:schemeClr val="tx1"/>
                    </a:solidFill>
                    <a:effectLst/>
                    <a:latin typeface="Segoe WPC"/>
                  </a:rPr>
                  <a:t>Selection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choice</a:t>
                </a:r>
                <a:r>
                  <a:rPr lang="es-PE" sz="900" b="0" i="0" dirty="0">
                    <a:solidFill>
                      <a:schemeClr val="tx1"/>
                    </a:solidFill>
                    <a:effectLst/>
                    <a:latin typeface="Segoe WPC"/>
                  </a:rPr>
                  <a:t> balances </a:t>
                </a:r>
                <a:r>
                  <a:rPr lang="es-PE" sz="900" b="0" i="0" dirty="0" err="1">
                    <a:solidFill>
                      <a:schemeClr val="tx1"/>
                    </a:solidFill>
                    <a:effectLst/>
                    <a:latin typeface="Segoe WPC"/>
                  </a:rPr>
                  <a:t>bias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excluding</a:t>
                </a:r>
                <a:r>
                  <a:rPr lang="es-PE" sz="900" b="0" i="0" dirty="0">
                    <a:solidFill>
                      <a:schemeClr val="tx1"/>
                    </a:solidFill>
                    <a:effectLst/>
                    <a:latin typeface="Segoe WPC"/>
                  </a:rPr>
                  <a:t> </a:t>
                </a:r>
                <a:r>
                  <a:rPr lang="es-PE" sz="900" b="0" i="0" dirty="0" err="1">
                    <a:solidFill>
                      <a:schemeClr val="tx1"/>
                    </a:solidFill>
                    <a:effectLst/>
                    <a:latin typeface="Segoe WPC"/>
                  </a:rPr>
                  <a:t>relevant</a:t>
                </a:r>
                <a:r>
                  <a:rPr lang="es-PE" sz="900" b="0" i="0" dirty="0">
                    <a:solidFill>
                      <a:schemeClr val="tx1"/>
                    </a:solidFill>
                    <a:effectLst/>
                    <a:latin typeface="Segoe WPC"/>
                  </a:rPr>
                  <a:t> variables </a:t>
                </a:r>
                <a:r>
                  <a:rPr lang="es-PE" sz="900" b="0" i="0" dirty="0" err="1">
                    <a:solidFill>
                      <a:schemeClr val="tx1"/>
                    </a:solidFill>
                    <a:effectLst/>
                    <a:latin typeface="Segoe WPC"/>
                  </a:rPr>
                  <a:t>against</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including</a:t>
                </a:r>
                <a:r>
                  <a:rPr lang="es-PE" sz="900" b="0" i="0" dirty="0">
                    <a:solidFill>
                      <a:schemeClr val="tx1"/>
                    </a:solidFill>
                    <a:effectLst/>
                    <a:latin typeface="Segoe WPC"/>
                  </a:rPr>
                  <a:t> </a:t>
                </a:r>
                <a:r>
                  <a:rPr lang="es-PE" sz="900" b="0" i="0" dirty="0" err="1">
                    <a:solidFill>
                      <a:schemeClr val="tx1"/>
                    </a:solidFill>
                    <a:effectLst/>
                    <a:latin typeface="Segoe WPC"/>
                  </a:rPr>
                  <a:t>irrelevant</a:t>
                </a:r>
                <a:r>
                  <a:rPr lang="es-PE" sz="900" b="0" i="0" dirty="0">
                    <a:solidFill>
                      <a:schemeClr val="tx1"/>
                    </a:solidFill>
                    <a:effectLst/>
                    <a:latin typeface="Segoe WPC"/>
                  </a:rPr>
                  <a:t> </a:t>
                </a:r>
                <a:r>
                  <a:rPr lang="es-PE" sz="900" b="0" i="0" dirty="0" err="1">
                    <a:solidFill>
                      <a:schemeClr val="tx1"/>
                    </a:solidFill>
                    <a:effectLst/>
                    <a:latin typeface="Segoe WPC"/>
                  </a:rPr>
                  <a:t>ones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Bigger</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are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biased</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less</a:t>
                </a:r>
                <a:r>
                  <a:rPr lang="es-PE" sz="900" b="0" i="0" dirty="0">
                    <a:solidFill>
                      <a:schemeClr val="tx1"/>
                    </a:solidFill>
                    <a:effectLst/>
                    <a:latin typeface="Segoe WPC"/>
                  </a:rPr>
                  <a:t> precise; </a:t>
                </a:r>
                <a:r>
                  <a:rPr lang="es-PE" sz="900" b="0" i="0" dirty="0" err="1">
                    <a:solidFill>
                      <a:schemeClr val="tx1"/>
                    </a:solidFill>
                    <a:effectLst/>
                    <a:latin typeface="Segoe WPC"/>
                  </a:rPr>
                  <a:t>smaller</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are more precise </a:t>
                </a:r>
                <a:r>
                  <a:rPr lang="es-PE" sz="900" b="0" i="0" dirty="0" err="1">
                    <a:solidFill>
                      <a:schemeClr val="tx1"/>
                    </a:solidFill>
                    <a:effectLst/>
                    <a:latin typeface="Segoe WPC"/>
                  </a:rPr>
                  <a:t>but</a:t>
                </a:r>
                <a:r>
                  <a:rPr lang="es-PE" sz="900" b="0" i="0" dirty="0">
                    <a:solidFill>
                      <a:schemeClr val="tx1"/>
                    </a:solidFill>
                    <a:effectLst/>
                    <a:latin typeface="Segoe WPC"/>
                  </a:rPr>
                  <a:t> more </a:t>
                </a:r>
                <a:r>
                  <a:rPr lang="es-PE" sz="900" b="0" i="0" dirty="0" err="1">
                    <a:solidFill>
                      <a:schemeClr val="tx1"/>
                    </a:solidFill>
                    <a:effectLst/>
                    <a:latin typeface="Segoe WPC"/>
                  </a:rPr>
                  <a:t>likely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miss </a:t>
                </a:r>
                <a:r>
                  <a:rPr lang="es-PE" sz="900" b="0" i="0" dirty="0" err="1">
                    <a:solidFill>
                      <a:schemeClr val="tx1"/>
                    </a:solidFill>
                    <a:effectLst/>
                    <a:latin typeface="Segoe WPC"/>
                  </a:rPr>
                  <a:t>something</a:t>
                </a:r>
                <a:r>
                  <a:rPr lang="es-PE" sz="900" b="0" i="0" dirty="0">
                    <a:solidFill>
                      <a:schemeClr val="tx1"/>
                    </a:solidFill>
                    <a:effectLst/>
                    <a:latin typeface="Segoe WPC"/>
                  </a:rPr>
                  <a:t> </a:t>
                </a:r>
                <a:r>
                  <a:rPr lang="es-PE" sz="900" b="0" i="0" dirty="0" err="1">
                    <a:solidFill>
                      <a:schemeClr val="tx1"/>
                    </a:solidFill>
                    <a:effectLst/>
                    <a:latin typeface="Segoe WPC"/>
                  </a:rPr>
                  <a:t>important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Adding</a:t>
                </a:r>
                <a:r>
                  <a:rPr lang="es-PE" sz="900" b="0" i="0" dirty="0">
                    <a:solidFill>
                      <a:schemeClr val="tx1"/>
                    </a:solidFill>
                    <a:effectLst/>
                    <a:latin typeface="Segoe WPC"/>
                  </a:rPr>
                  <a:t> variables </a:t>
                </a:r>
                <a:r>
                  <a:rPr lang="es-PE" sz="900" b="0" i="0" dirty="0" err="1">
                    <a:solidFill>
                      <a:schemeClr val="tx1"/>
                    </a:solidFill>
                    <a:effectLst/>
                    <a:latin typeface="Segoe WPC"/>
                  </a:rPr>
                  <a:t>improves</a:t>
                </a:r>
                <a:r>
                  <a:rPr lang="es-PE" sz="900" b="0" i="0" dirty="0">
                    <a:solidFill>
                      <a:schemeClr val="tx1"/>
                    </a:solidFill>
                    <a:effectLst/>
                    <a:latin typeface="Segoe WPC"/>
                  </a:rPr>
                  <a:t> </a:t>
                </a:r>
                <a:r>
                  <a:rPr lang="es-PE" sz="900" b="0" i="0" dirty="0" err="1">
                    <a:solidFill>
                      <a:schemeClr val="tx1"/>
                    </a:solidFill>
                    <a:effectLst/>
                    <a:latin typeface="Segoe WPC"/>
                  </a:rPr>
                  <a:t>flexibility</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widens</a:t>
                </a:r>
                <a:r>
                  <a:rPr lang="es-PE" sz="900" b="0" i="0" dirty="0">
                    <a:solidFill>
                      <a:schemeClr val="tx1"/>
                    </a:solidFill>
                    <a:effectLst/>
                    <a:latin typeface="Segoe WPC"/>
                  </a:rPr>
                  <a:t> </a:t>
                </a:r>
                <a:r>
                  <a:rPr lang="es-PE" sz="900" b="0" i="0" dirty="0" err="1">
                    <a:solidFill>
                      <a:schemeClr val="tx1"/>
                    </a:solidFill>
                    <a:effectLst/>
                    <a:latin typeface="Segoe WPC"/>
                  </a:rPr>
                  <a:t>uncertainty</a:t>
                </a:r>
                <a:r>
                  <a:rPr lang="es-PE" sz="900" b="0" i="0" dirty="0">
                    <a:solidFill>
                      <a:schemeClr val="tx1"/>
                    </a:solidFill>
                    <a:effectLst/>
                    <a:latin typeface="Segoe WPC"/>
                  </a:rPr>
                  <a:t> </a:t>
                </a:r>
                <a:r>
                  <a:rPr lang="es-PE" sz="900" b="0" i="0" dirty="0" err="1">
                    <a:solidFill>
                      <a:schemeClr val="tx1"/>
                    </a:solidFill>
                    <a:effectLst/>
                    <a:latin typeface="Segoe WPC"/>
                  </a:rPr>
                  <a:t>around</a:t>
                </a:r>
                <a:r>
                  <a:rPr lang="es-PE" sz="900" b="0" i="0" dirty="0">
                    <a:solidFill>
                      <a:schemeClr val="tx1"/>
                    </a:solidFill>
                    <a:effectLst/>
                    <a:latin typeface="Segoe WPC"/>
                  </a:rPr>
                  <a:t> </a:t>
                </a:r>
                <a:r>
                  <a:rPr lang="es-PE" sz="900" b="0" i="0" dirty="0" err="1">
                    <a:solidFill>
                      <a:schemeClr val="tx1"/>
                    </a:solidFill>
                    <a:effectLst/>
                    <a:latin typeface="Segoe WPC"/>
                  </a:rPr>
                  <a:t>coefficient</a:t>
                </a:r>
                <a:r>
                  <a:rPr lang="es-PE" sz="900" b="0" i="0" dirty="0">
                    <a:solidFill>
                      <a:schemeClr val="tx1"/>
                    </a:solidFill>
                    <a:effectLst/>
                    <a:latin typeface="Segoe WPC"/>
                  </a:rPr>
                  <a:t> </a:t>
                </a:r>
                <a:r>
                  <a:rPr lang="es-PE" sz="900" b="0" i="0" dirty="0" err="1">
                    <a:solidFill>
                      <a:schemeClr val="tx1"/>
                    </a:solidFill>
                    <a:effectLst/>
                    <a:latin typeface="Segoe WPC"/>
                  </a:rPr>
                  <a:t>estimates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Prediction</a:t>
                </a:r>
                <a:r>
                  <a:rPr lang="es-PE" sz="900" b="0" i="0" dirty="0">
                    <a:solidFill>
                      <a:schemeClr val="tx1"/>
                    </a:solidFill>
                    <a:effectLst/>
                    <a:latin typeface="Segoe WPC"/>
                  </a:rPr>
                  <a:t> error </a:t>
                </a:r>
                <a:r>
                  <a:rPr lang="es-PE" sz="900" b="0" i="0" dirty="0" err="1">
                    <a:solidFill>
                      <a:schemeClr val="tx1"/>
                    </a:solidFill>
                    <a:effectLst/>
                    <a:latin typeface="Segoe WPC"/>
                  </a:rPr>
                  <a:t>trades</a:t>
                </a:r>
                <a:r>
                  <a:rPr lang="es-PE" sz="900" b="0" i="0" dirty="0">
                    <a:solidFill>
                      <a:schemeClr val="tx1"/>
                    </a:solidFill>
                    <a:effectLst/>
                    <a:latin typeface="Segoe WPC"/>
                  </a:rPr>
                  <a:t> off </a:t>
                </a:r>
                <a14:m>
                  <m:oMath xmlns:m="http://schemas.openxmlformats.org/officeDocument/2006/math">
                    <m:r>
                      <a:rPr lang="es-PE" sz="900" i="1">
                        <a:solidFill>
                          <a:schemeClr val="tx1"/>
                        </a:solidFill>
                        <a:latin typeface="Cambria Math" panose="02040503050406030204" pitchFamily="18" charset="0"/>
                      </a:rPr>
                      <m:t>𝐵𝑖𝑎</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𝑠</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a:solidFill>
                      <a:schemeClr val="tx1"/>
                    </a:solidFill>
                    <a:effectLst/>
                    <a:latin typeface="Segoe WPC"/>
                  </a:rPr>
                  <a:t>and </a:t>
                </a:r>
                <a14:m>
                  <m:oMath xmlns:m="http://schemas.openxmlformats.org/officeDocument/2006/math">
                    <m:r>
                      <a:rPr lang="es-PE" sz="900" i="1">
                        <a:solidFill>
                          <a:schemeClr val="tx1"/>
                        </a:solidFill>
                        <a:latin typeface="Cambria Math" panose="02040503050406030204" pitchFamily="18" charset="0"/>
                      </a:rPr>
                      <m:t>𝑉𝑎𝑟𝑖𝑎𝑛𝑐𝑒</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selection</a:t>
                </a:r>
                <a:r>
                  <a:rPr lang="es-PE" sz="900" b="0" i="0" dirty="0">
                    <a:solidFill>
                      <a:schemeClr val="tx1"/>
                    </a:solidFill>
                    <a:effectLst/>
                    <a:latin typeface="Segoe WPC"/>
                  </a:rPr>
                  <a:t> </a:t>
                </a:r>
                <a:r>
                  <a:rPr lang="es-PE" sz="900" b="0" i="0" dirty="0" err="1">
                    <a:solidFill>
                      <a:schemeClr val="tx1"/>
                    </a:solidFill>
                    <a:effectLst/>
                    <a:latin typeface="Segoe WPC"/>
                  </a:rPr>
                  <a:t>aims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keep</a:t>
                </a:r>
                <a:r>
                  <a:rPr lang="es-PE" sz="900" b="0" i="0" dirty="0">
                    <a:solidFill>
                      <a:schemeClr val="tx1"/>
                    </a:solidFill>
                    <a:effectLst/>
                    <a:latin typeface="Segoe WPC"/>
                  </a:rPr>
                  <a:t> variables </a:t>
                </a:r>
                <a:r>
                  <a:rPr lang="es-PE" sz="900" b="0" i="0" dirty="0" err="1">
                    <a:solidFill>
                      <a:schemeClr val="tx1"/>
                    </a:solidFill>
                    <a:effectLst/>
                    <a:latin typeface="Segoe WPC"/>
                  </a:rPr>
                  <a:t>with</a:t>
                </a:r>
                <a:r>
                  <a:rPr lang="es-PE" sz="900" b="0" i="0" dirty="0">
                    <a:solidFill>
                      <a:schemeClr val="tx1"/>
                    </a:solidFill>
                    <a:effectLst/>
                    <a:latin typeface="Segoe WPC"/>
                  </a:rPr>
                  <a:t> real </a:t>
                </a:r>
                <a:r>
                  <a:rPr lang="es-PE" sz="900" b="0" i="0" dirty="0" err="1">
                    <a:solidFill>
                      <a:schemeClr val="tx1"/>
                    </a:solidFill>
                    <a:effectLst/>
                    <a:latin typeface="Segoe WPC"/>
                  </a:rPr>
                  <a:t>explanatory</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predictive </a:t>
                </a:r>
                <a:r>
                  <a:rPr lang="es-PE" sz="900" b="0" i="0" dirty="0" err="1">
                    <a:solidFill>
                      <a:schemeClr val="tx1"/>
                    </a:solidFill>
                    <a:effectLst/>
                    <a:latin typeface="Segoe WPC"/>
                  </a:rPr>
                  <a:t>power</a:t>
                </a:r>
                <a:r>
                  <a:rPr lang="es-PE" sz="900" b="0" i="0" dirty="0">
                    <a:solidFill>
                      <a:schemeClr val="tx1"/>
                    </a:solidFill>
                    <a:effectLst/>
                    <a:latin typeface="Segoe WPC"/>
                  </a:rPr>
                  <a:t> and </a:t>
                </a:r>
                <a:r>
                  <a:rPr lang="es-PE" sz="900" b="0" i="0" dirty="0" err="1">
                    <a:solidFill>
                      <a:schemeClr val="tx1"/>
                    </a:solidFill>
                    <a:effectLst/>
                    <a:latin typeface="Segoe WPC"/>
                  </a:rPr>
                  <a:t>discard</a:t>
                </a:r>
                <a:r>
                  <a:rPr lang="es-PE" sz="900" b="0" i="0" dirty="0">
                    <a:solidFill>
                      <a:schemeClr val="tx1"/>
                    </a:solidFill>
                    <a:effectLst/>
                    <a:latin typeface="Segoe WPC"/>
                  </a:rPr>
                  <a:t> </a:t>
                </a:r>
                <a:r>
                  <a:rPr lang="es-PE" sz="900" b="0" i="0" dirty="0" err="1">
                    <a:solidFill>
                      <a:schemeClr val="tx1"/>
                    </a:solidFill>
                    <a:effectLst/>
                    <a:latin typeface="Segoe WPC"/>
                  </a:rPr>
                  <a:t>noise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most</a:t>
                </a:r>
                <a:r>
                  <a:rPr lang="es-PE" sz="900" b="0" i="0" dirty="0">
                    <a:solidFill>
                      <a:schemeClr val="tx1"/>
                    </a:solidFill>
                    <a:effectLst/>
                    <a:latin typeface="Segoe WPC"/>
                  </a:rPr>
                  <a:t> complete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automatically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best</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4. </a:t>
                </a:r>
                <a:r>
                  <a:rPr lang="es-PE" sz="900" b="1" i="0" dirty="0" err="1">
                    <a:solidFill>
                      <a:schemeClr val="tx1"/>
                    </a:solidFill>
                    <a:effectLst/>
                    <a:latin typeface="Segoe WPC"/>
                  </a:rPr>
                  <a:t>Two</a:t>
                </a:r>
                <a:r>
                  <a:rPr lang="es-PE" sz="900" b="1" i="0" dirty="0">
                    <a:solidFill>
                      <a:schemeClr val="tx1"/>
                    </a:solidFill>
                    <a:effectLst/>
                    <a:latin typeface="Segoe WPC"/>
                  </a:rPr>
                  <a:t> </a:t>
                </a:r>
                <a:r>
                  <a:rPr lang="es-PE" sz="900" b="1" i="0" dirty="0" err="1">
                    <a:solidFill>
                      <a:schemeClr val="tx1"/>
                    </a:solidFill>
                    <a:effectLst/>
                    <a:latin typeface="Segoe WPC"/>
                  </a:rPr>
                  <a:t>Model</a:t>
                </a:r>
                <a:r>
                  <a:rPr lang="es-PE" sz="900" b="1" i="0" dirty="0">
                    <a:solidFill>
                      <a:schemeClr val="tx1"/>
                    </a:solidFill>
                    <a:effectLst/>
                    <a:latin typeface="Segoe WPC"/>
                  </a:rPr>
                  <a:t> </a:t>
                </a:r>
                <a:r>
                  <a:rPr lang="es-PE" sz="900" b="1" i="0" dirty="0" err="1">
                    <a:solidFill>
                      <a:schemeClr val="tx1"/>
                    </a:solidFill>
                    <a:effectLst/>
                    <a:latin typeface="Segoe WPC"/>
                  </a:rPr>
                  <a:t>Selection</a:t>
                </a:r>
                <a:r>
                  <a:rPr lang="es-PE" sz="900" b="1" i="0" dirty="0">
                    <a:solidFill>
                      <a:schemeClr val="tx1"/>
                    </a:solidFill>
                    <a:effectLst/>
                    <a:latin typeface="Segoe WPC"/>
                  </a:rPr>
                  <a:t> </a:t>
                </a:r>
                <a:r>
                  <a:rPr lang="es-PE" sz="900" b="1" i="0" dirty="0" err="1">
                    <a:solidFill>
                      <a:schemeClr val="tx1"/>
                    </a:solidFill>
                    <a:effectLst/>
                    <a:latin typeface="Segoe WPC"/>
                  </a:rPr>
                  <a:t>Procedures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common</a:t>
                </a:r>
                <a:r>
                  <a:rPr lang="es-PE" sz="900" b="0" i="0" dirty="0">
                    <a:solidFill>
                      <a:schemeClr val="tx1"/>
                    </a:solidFill>
                    <a:effectLst/>
                    <a:latin typeface="Segoe WPC"/>
                  </a:rPr>
                  <a:t> </a:t>
                </a:r>
                <a:r>
                  <a:rPr lang="es-PE" sz="900" b="0" i="0" dirty="0" err="1">
                    <a:solidFill>
                      <a:schemeClr val="tx1"/>
                    </a:solidFill>
                    <a:effectLst/>
                    <a:latin typeface="Segoe WPC"/>
                  </a:rPr>
                  <a:t>methods</a:t>
                </a:r>
                <a:r>
                  <a:rPr lang="es-PE" sz="900" b="0" i="0" dirty="0">
                    <a:solidFill>
                      <a:schemeClr val="tx1"/>
                    </a:solidFill>
                    <a:effectLst/>
                    <a:latin typeface="Segoe WPC"/>
                  </a:rPr>
                  <a:t> are general-</a:t>
                </a:r>
                <a:r>
                  <a:rPr lang="es-PE" sz="900" b="0" i="0" dirty="0" err="1">
                    <a:solidFill>
                      <a:schemeClr val="tx1"/>
                    </a:solidFill>
                    <a:effectLst/>
                    <a:latin typeface="Segoe WPC"/>
                  </a:rPr>
                  <a:t>to</a:t>
                </a:r>
                <a:r>
                  <a:rPr lang="es-PE" sz="900" b="0" i="0" dirty="0">
                    <a:solidFill>
                      <a:schemeClr val="tx1"/>
                    </a:solidFill>
                    <a:effectLst/>
                    <a:latin typeface="Segoe WPC"/>
                  </a:rPr>
                  <a:t>-</a:t>
                </a:r>
                <a:r>
                  <a:rPr lang="es-PE" sz="900" b="0" i="0" dirty="0" err="1">
                    <a:solidFill>
                      <a:schemeClr val="tx1"/>
                    </a:solidFill>
                    <a:effectLst/>
                    <a:latin typeface="Segoe WPC"/>
                  </a:rPr>
                  <a:t>specific</a:t>
                </a:r>
                <a:r>
                  <a:rPr lang="es-PE" sz="900" b="0" i="0" dirty="0">
                    <a:solidFill>
                      <a:schemeClr val="tx1"/>
                    </a:solidFill>
                    <a:effectLst/>
                    <a:latin typeface="Segoe WPC"/>
                  </a:rPr>
                  <a:t> </a:t>
                </a:r>
                <a:r>
                  <a:rPr lang="es-PE" sz="900" b="0" i="0" dirty="0" err="1">
                    <a:solidFill>
                      <a:schemeClr val="tx1"/>
                    </a:solidFill>
                    <a:effectLst/>
                    <a:latin typeface="Segoe WPC"/>
                  </a:rPr>
                  <a:t>selection</a:t>
                </a:r>
                <a:r>
                  <a:rPr lang="es-PE" sz="900" b="0" i="0" dirty="0">
                    <a:solidFill>
                      <a:schemeClr val="tx1"/>
                    </a:solidFill>
                    <a:effectLst/>
                    <a:latin typeface="Segoe WPC"/>
                  </a:rPr>
                  <a:t> and </a:t>
                </a:r>
                <a14:m>
                  <m:oMath xmlns:m="http://schemas.openxmlformats.org/officeDocument/2006/math">
                    <m:r>
                      <a:rPr lang="es-PE" sz="900" i="1">
                        <a:solidFill>
                          <a:schemeClr val="tx1"/>
                        </a:solidFill>
                        <a:latin typeface="Cambria Math" panose="02040503050406030204" pitchFamily="18" charset="0"/>
                      </a:rPr>
                      <m:t>𝑚</m:t>
                    </m:r>
                  </m:oMath>
                </a14:m>
                <a:r>
                  <a:rPr lang="es-PE" sz="900" b="0" i="0" dirty="0">
                    <a:solidFill>
                      <a:schemeClr val="tx1"/>
                    </a:solidFill>
                    <a:effectLst/>
                    <a:latin typeface="Segoe WPC"/>
                  </a:rPr>
                  <a:t>-</a:t>
                </a:r>
                <a:r>
                  <a:rPr lang="es-PE" sz="900" b="0" i="0" dirty="0" err="1">
                    <a:solidFill>
                      <a:schemeClr val="tx1"/>
                    </a:solidFill>
                    <a:effectLst/>
                    <a:latin typeface="Segoe WPC"/>
                  </a:rPr>
                  <a:t>fold</a:t>
                </a:r>
                <a:r>
                  <a:rPr lang="es-PE" sz="900" b="0" i="0" dirty="0">
                    <a:solidFill>
                      <a:schemeClr val="tx1"/>
                    </a:solidFill>
                    <a:effectLst/>
                    <a:latin typeface="Segoe WPC"/>
                  </a:rPr>
                  <a:t> </a:t>
                </a:r>
                <a:r>
                  <a:rPr lang="es-PE" sz="900" b="0" i="0" dirty="0" err="1">
                    <a:solidFill>
                      <a:schemeClr val="tx1"/>
                    </a:solidFill>
                    <a:effectLst/>
                    <a:latin typeface="Segoe WPC"/>
                  </a:rPr>
                  <a:t>cross-validation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General-</a:t>
                </a:r>
                <a:r>
                  <a:rPr lang="es-PE" sz="900" b="0" i="0" dirty="0" err="1">
                    <a:solidFill>
                      <a:schemeClr val="tx1"/>
                    </a:solidFill>
                    <a:effectLst/>
                    <a:latin typeface="Segoe WPC"/>
                  </a:rPr>
                  <a:t>to</a:t>
                </a:r>
                <a:r>
                  <a:rPr lang="es-PE" sz="900" b="0" i="0" dirty="0">
                    <a:solidFill>
                      <a:schemeClr val="tx1"/>
                    </a:solidFill>
                    <a:effectLst/>
                    <a:latin typeface="Segoe WPC"/>
                  </a:rPr>
                  <a:t>-</a:t>
                </a:r>
                <a:r>
                  <a:rPr lang="es-PE" sz="900" b="0" i="0" dirty="0" err="1">
                    <a:solidFill>
                      <a:schemeClr val="tx1"/>
                    </a:solidFill>
                    <a:effectLst/>
                    <a:latin typeface="Segoe WPC"/>
                  </a:rPr>
                  <a:t>specific</a:t>
                </a:r>
                <a:r>
                  <a:rPr lang="es-PE" sz="900" b="0" i="0" dirty="0">
                    <a:solidFill>
                      <a:schemeClr val="tx1"/>
                    </a:solidFill>
                    <a:effectLst/>
                    <a:latin typeface="Segoe WPC"/>
                  </a:rPr>
                  <a:t> </a:t>
                </a:r>
                <a:r>
                  <a:rPr lang="es-PE" sz="900" b="0" i="0" dirty="0" err="1">
                    <a:solidFill>
                      <a:schemeClr val="tx1"/>
                    </a:solidFill>
                    <a:effectLst/>
                    <a:latin typeface="Segoe WPC"/>
                  </a:rPr>
                  <a:t>starts</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and </a:t>
                </a:r>
                <a:r>
                  <a:rPr lang="es-PE" sz="900" b="0" i="0" dirty="0" err="1">
                    <a:solidFill>
                      <a:schemeClr val="tx1"/>
                    </a:solidFill>
                    <a:effectLst/>
                    <a:latin typeface="Segoe WPC"/>
                  </a:rPr>
                  <a:t>removes</a:t>
                </a:r>
                <a:r>
                  <a:rPr lang="es-PE" sz="900" b="0" i="0" dirty="0">
                    <a:solidFill>
                      <a:schemeClr val="tx1"/>
                    </a:solidFill>
                    <a:effectLst/>
                    <a:latin typeface="Segoe WPC"/>
                  </a:rPr>
                  <a:t> </a:t>
                </a:r>
                <a:r>
                  <a:rPr lang="es-PE" sz="900" b="0" i="0" dirty="0" err="1">
                    <a:solidFill>
                      <a:schemeClr val="tx1"/>
                    </a:solidFill>
                    <a:effectLst/>
                    <a:latin typeface="Segoe WPC"/>
                  </a:rPr>
                  <a:t>insignificant</a:t>
                </a:r>
                <a:r>
                  <a:rPr lang="es-PE" sz="900" b="0" i="0" dirty="0">
                    <a:solidFill>
                      <a:schemeClr val="tx1"/>
                    </a:solidFill>
                    <a:effectLst/>
                    <a:latin typeface="Segoe WPC"/>
                  </a:rPr>
                  <a:t> variables; </a:t>
                </a:r>
                <a:r>
                  <a:rPr lang="es-PE" sz="900" b="0" i="0" dirty="0" err="1">
                    <a:solidFill>
                      <a:schemeClr val="tx1"/>
                    </a:solidFill>
                    <a:effectLst/>
                    <a:latin typeface="Segoe WPC"/>
                  </a:rPr>
                  <a:t>cross-validation</a:t>
                </a:r>
                <a:r>
                  <a:rPr lang="es-PE" sz="900" b="0" i="0" dirty="0">
                    <a:solidFill>
                      <a:schemeClr val="tx1"/>
                    </a:solidFill>
                    <a:effectLst/>
                    <a:latin typeface="Segoe WPC"/>
                  </a:rPr>
                  <a:t> </a:t>
                </a:r>
                <a:r>
                  <a:rPr lang="es-PE" sz="900" b="0" i="0" dirty="0" err="1">
                    <a:solidFill>
                      <a:schemeClr val="tx1"/>
                    </a:solidFill>
                    <a:effectLst/>
                    <a:latin typeface="Segoe WPC"/>
                  </a:rPr>
                  <a:t>keeps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best</a:t>
                </a:r>
                <a:r>
                  <a:rPr lang="es-PE" sz="900" b="0" i="0" dirty="0">
                    <a:solidFill>
                      <a:schemeClr val="tx1"/>
                    </a:solidFill>
                    <a:effectLst/>
                    <a:latin typeface="Segoe WPC"/>
                  </a:rPr>
                  <a:t> </a:t>
                </a:r>
                <a:r>
                  <a:rPr lang="es-PE" sz="900" b="0" i="0" dirty="0" err="1">
                    <a:solidFill>
                      <a:schemeClr val="tx1"/>
                    </a:solidFill>
                    <a:effectLst/>
                    <a:latin typeface="Segoe WPC"/>
                  </a:rPr>
                  <a:t>out-of-sample</a:t>
                </a:r>
                <a:r>
                  <a:rPr lang="es-PE" sz="900" b="0" i="0" dirty="0">
                    <a:solidFill>
                      <a:schemeClr val="tx1"/>
                    </a:solidFill>
                    <a:effectLst/>
                    <a:latin typeface="Segoe WPC"/>
                  </a:rPr>
                  <a:t> performance.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trims</a:t>
                </a:r>
                <a:r>
                  <a:rPr lang="es-PE" sz="900" b="0" i="0" dirty="0">
                    <a:solidFill>
                      <a:schemeClr val="tx1"/>
                    </a:solidFill>
                    <a:effectLst/>
                    <a:latin typeface="Segoe WPC"/>
                  </a:rPr>
                  <a:t> step </a:t>
                </a:r>
                <a:r>
                  <a:rPr lang="es-PE" sz="900" b="0" i="0" dirty="0" err="1">
                    <a:solidFill>
                      <a:schemeClr val="tx1"/>
                    </a:solidFill>
                    <a:effectLst/>
                    <a:latin typeface="Segoe WPC"/>
                  </a:rPr>
                  <a:t>by</a:t>
                </a:r>
                <a:r>
                  <a:rPr lang="es-PE" sz="900" b="0" i="0" dirty="0">
                    <a:solidFill>
                      <a:schemeClr val="tx1"/>
                    </a:solidFill>
                    <a:effectLst/>
                    <a:latin typeface="Segoe WPC"/>
                  </a:rPr>
                  <a:t> step </a:t>
                </a:r>
                <a:r>
                  <a:rPr lang="es-PE" sz="900" b="0" i="0" dirty="0" err="1">
                    <a:solidFill>
                      <a:schemeClr val="tx1"/>
                    </a:solidFill>
                    <a:effectLst/>
                    <a:latin typeface="Segoe WPC"/>
                  </a:rPr>
                  <a:t>using</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𝑡</m:t>
                    </m:r>
                  </m:oMath>
                </a14:m>
                <a:r>
                  <a:rPr lang="es-PE" sz="900" b="0" i="0" dirty="0">
                    <a:solidFill>
                      <a:schemeClr val="tx1"/>
                    </a:solidFill>
                    <a:effectLst/>
                    <a:latin typeface="Segoe WPC"/>
                  </a:rPr>
                  <a:t>-</a:t>
                </a:r>
                <a:r>
                  <a:rPr lang="es-PE" sz="900" b="0" i="0" dirty="0" err="1">
                    <a:solidFill>
                      <a:schemeClr val="tx1"/>
                    </a:solidFill>
                    <a:effectLst/>
                    <a:latin typeface="Segoe WPC"/>
                  </a:rPr>
                  <a:t>tests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 </a:t>
                </a:r>
                <a:r>
                  <a:rPr lang="es-PE" sz="900" b="0" i="0" dirty="0" err="1">
                    <a:solidFill>
                      <a:schemeClr val="tx1"/>
                    </a:solidFill>
                    <a:effectLst/>
                    <a:latin typeface="Segoe WPC"/>
                  </a:rPr>
                  <a:t>repeatedly</a:t>
                </a:r>
                <a:r>
                  <a:rPr lang="es-PE" sz="900" b="0" i="0" dirty="0">
                    <a:solidFill>
                      <a:schemeClr val="tx1"/>
                    </a:solidFill>
                    <a:effectLst/>
                    <a:latin typeface="Segoe WPC"/>
                  </a:rPr>
                  <a:t> </a:t>
                </a:r>
                <a:r>
                  <a:rPr lang="es-PE" sz="900" b="0" i="0" dirty="0" err="1">
                    <a:solidFill>
                      <a:schemeClr val="tx1"/>
                    </a:solidFill>
                    <a:effectLst/>
                    <a:latin typeface="Segoe WPC"/>
                  </a:rPr>
                  <a:t>trains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part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and </a:t>
                </a:r>
                <a:r>
                  <a:rPr lang="es-PE" sz="900" b="0" i="0" dirty="0" err="1">
                    <a:solidFill>
                      <a:schemeClr val="tx1"/>
                    </a:solidFill>
                    <a:effectLst/>
                    <a:latin typeface="Segoe WPC"/>
                  </a:rPr>
                  <a:t>validates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another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General-</a:t>
                </a:r>
                <a:r>
                  <a:rPr lang="es-PE" sz="900" b="0" i="0" dirty="0" err="1">
                    <a:solidFill>
                      <a:schemeClr val="tx1"/>
                    </a:solidFill>
                    <a:effectLst/>
                    <a:latin typeface="Segoe WPC"/>
                  </a:rPr>
                  <a:t>to</a:t>
                </a:r>
                <a:r>
                  <a:rPr lang="es-PE" sz="900" b="0" i="0" dirty="0">
                    <a:solidFill>
                      <a:schemeClr val="tx1"/>
                    </a:solidFill>
                    <a:effectLst/>
                    <a:latin typeface="Segoe WPC"/>
                  </a:rPr>
                  <a:t>-</a:t>
                </a:r>
                <a:r>
                  <a:rPr lang="es-PE" sz="900" b="0" i="0" dirty="0" err="1">
                    <a:solidFill>
                      <a:schemeClr val="tx1"/>
                    </a:solidFill>
                    <a:effectLst/>
                    <a:latin typeface="Segoe WPC"/>
                  </a:rPr>
                  <a:t>specific</a:t>
                </a:r>
                <a:r>
                  <a:rPr lang="es-PE" sz="900" b="0" i="0" dirty="0">
                    <a:solidFill>
                      <a:schemeClr val="tx1"/>
                    </a:solidFill>
                    <a:effectLst/>
                    <a:latin typeface="Segoe WPC"/>
                  </a:rPr>
                  <a:t> </a:t>
                </a:r>
                <a:r>
                  <a:rPr lang="es-PE" sz="900" b="0" i="0" dirty="0" err="1">
                    <a:solidFill>
                      <a:schemeClr val="tx1"/>
                    </a:solidFill>
                    <a:effectLst/>
                    <a:latin typeface="Segoe WPC"/>
                  </a:rPr>
                  <a:t>deletes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variable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smallest</a:t>
                </a:r>
                <a:r>
                  <a:rPr lang="es-PE" sz="900" b="0" i="0" dirty="0">
                    <a:solidFill>
                      <a:schemeClr val="tx1"/>
                    </a:solidFill>
                    <a:effectLst/>
                    <a:latin typeface="Segoe WPC"/>
                  </a:rPr>
                  <a:t> absolute </a:t>
                </a:r>
                <a14:m>
                  <m:oMath xmlns:m="http://schemas.openxmlformats.org/officeDocument/2006/math">
                    <m:r>
                      <a:rPr lang="es-PE" sz="900" i="1">
                        <a:solidFill>
                          <a:schemeClr val="tx1"/>
                        </a:solidFill>
                        <a:latin typeface="Cambria Math" panose="02040503050406030204" pitchFamily="18" charset="0"/>
                      </a:rPr>
                      <m:t>𝑡</m:t>
                    </m:r>
                  </m:oMath>
                </a14:m>
                <a:r>
                  <a:rPr lang="es-PE" sz="900" b="0" i="0" dirty="0">
                    <a:solidFill>
                      <a:schemeClr val="tx1"/>
                    </a:solidFill>
                    <a:effectLst/>
                    <a:latin typeface="Segoe WPC"/>
                  </a:rPr>
                  <a:t>-</a:t>
                </a:r>
                <a:r>
                  <a:rPr lang="es-PE" sz="900" b="0" i="0" dirty="0" err="1">
                    <a:solidFill>
                      <a:schemeClr val="tx1"/>
                    </a:solidFill>
                    <a:effectLst/>
                    <a:latin typeface="Segoe WPC"/>
                  </a:rPr>
                  <a:t>statistic</a:t>
                </a:r>
                <a:r>
                  <a:rPr lang="es-PE" sz="900" b="0" i="0" dirty="0">
                    <a:solidFill>
                      <a:schemeClr val="tx1"/>
                    </a:solidFill>
                    <a:effectLst/>
                    <a:latin typeface="Segoe WPC"/>
                  </a:rPr>
                  <a:t> </a:t>
                </a:r>
                <a:r>
                  <a:rPr lang="es-PE" sz="900" b="0" i="0" dirty="0" err="1">
                    <a:solidFill>
                      <a:schemeClr val="tx1"/>
                    </a:solidFill>
                    <a:effectLst/>
                    <a:latin typeface="Segoe WPC"/>
                  </a:rPr>
                  <a:t>until</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remaining</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are </a:t>
                </a:r>
                <a:r>
                  <a:rPr lang="es-PE" sz="900" b="0" i="0" dirty="0" err="1">
                    <a:solidFill>
                      <a:schemeClr val="tx1"/>
                    </a:solidFill>
                    <a:effectLst/>
                    <a:latin typeface="Segoe WPC"/>
                  </a:rPr>
                  <a:t>significant</a:t>
                </a:r>
                <a:r>
                  <a:rPr lang="es-PE" sz="900" b="0" i="0" dirty="0">
                    <a:solidFill>
                      <a:schemeClr val="tx1"/>
                    </a:solidFill>
                    <a:effectLst/>
                    <a:latin typeface="Segoe WPC"/>
                  </a:rPr>
                  <a:t>; </a:t>
                </a:r>
                <a:r>
                  <a:rPr lang="es-PE" sz="900" b="0" i="0" dirty="0" err="1">
                    <a:solidFill>
                      <a:schemeClr val="tx1"/>
                    </a:solidFill>
                    <a:effectLst/>
                    <a:latin typeface="Segoe WPC"/>
                  </a:rPr>
                  <a:t>cross-validation</a:t>
                </a:r>
                <a:r>
                  <a:rPr lang="es-PE" sz="900" b="0" i="0" dirty="0">
                    <a:solidFill>
                      <a:schemeClr val="tx1"/>
                    </a:solidFill>
                    <a:effectLst/>
                    <a:latin typeface="Segoe WPC"/>
                  </a:rPr>
                  <a:t> </a:t>
                </a:r>
                <a:r>
                  <a:rPr lang="es-PE" sz="900" b="0" i="0" dirty="0" err="1">
                    <a:solidFill>
                      <a:schemeClr val="tx1"/>
                    </a:solidFill>
                    <a:effectLst/>
                    <a:latin typeface="Segoe WPC"/>
                  </a:rPr>
                  <a:t>picks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lowest</a:t>
                </a:r>
                <a:r>
                  <a:rPr lang="es-PE" sz="900" b="0" i="0" dirty="0">
                    <a:solidFill>
                      <a:schemeClr val="tx1"/>
                    </a:solidFill>
                    <a:effectLst/>
                    <a:latin typeface="Segoe WPC"/>
                  </a:rPr>
                  <a:t> </a:t>
                </a:r>
                <a:r>
                  <a:rPr lang="es-PE" sz="900" b="0" i="0" dirty="0" err="1">
                    <a:solidFill>
                      <a:schemeClr val="tx1"/>
                    </a:solidFill>
                    <a:effectLst/>
                    <a:latin typeface="Segoe WPC"/>
                  </a:rPr>
                  <a:t>out-of-sample</a:t>
                </a:r>
                <a:r>
                  <a:rPr lang="es-PE" sz="900" b="0" i="0" dirty="0">
                    <a:solidFill>
                      <a:schemeClr val="tx1"/>
                    </a:solidFill>
                    <a:effectLst/>
                    <a:latin typeface="Segoe WPC"/>
                  </a:rPr>
                  <a:t> </a:t>
                </a:r>
                <a:r>
                  <a:rPr lang="es-PE" sz="900" b="0" i="0" dirty="0" err="1">
                    <a:solidFill>
                      <a:schemeClr val="tx1"/>
                    </a:solidFill>
                    <a:effectLst/>
                    <a:latin typeface="Segoe WPC"/>
                  </a:rPr>
                  <a:t>squared</a:t>
                </a:r>
                <a:r>
                  <a:rPr lang="es-PE" sz="900" b="0" i="0" dirty="0">
                    <a:solidFill>
                      <a:schemeClr val="tx1"/>
                    </a:solidFill>
                    <a:effectLst/>
                    <a:latin typeface="Segoe WPC"/>
                  </a:rPr>
                  <a:t> error.</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General-</a:t>
                </a:r>
                <a:r>
                  <a:rPr lang="es-PE" sz="900" b="0" i="0" dirty="0" err="1">
                    <a:solidFill>
                      <a:schemeClr val="tx1"/>
                    </a:solidFill>
                    <a:effectLst/>
                    <a:latin typeface="Segoe WPC"/>
                  </a:rPr>
                  <a:t>to</a:t>
                </a:r>
                <a:r>
                  <a:rPr lang="es-PE" sz="900" b="0" i="0" dirty="0">
                    <a:solidFill>
                      <a:schemeClr val="tx1"/>
                    </a:solidFill>
                    <a:effectLst/>
                    <a:latin typeface="Segoe WPC"/>
                  </a:rPr>
                  <a:t>-</a:t>
                </a:r>
                <a:r>
                  <a:rPr lang="es-PE" sz="900" b="0" i="0" dirty="0" err="1">
                    <a:solidFill>
                      <a:schemeClr val="tx1"/>
                    </a:solidFill>
                    <a:effectLst/>
                    <a:latin typeface="Segoe WPC"/>
                  </a:rPr>
                  <a:t>specific</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more </a:t>
                </a:r>
                <a:r>
                  <a:rPr lang="es-PE" sz="900" b="0" i="0" dirty="0" err="1">
                    <a:solidFill>
                      <a:schemeClr val="tx1"/>
                    </a:solidFill>
                    <a:effectLst/>
                    <a:latin typeface="Segoe WPC"/>
                  </a:rPr>
                  <a:t>classical</a:t>
                </a:r>
                <a:r>
                  <a:rPr lang="es-PE" sz="900" b="0" i="0" dirty="0">
                    <a:solidFill>
                      <a:schemeClr val="tx1"/>
                    </a:solidFill>
                    <a:effectLst/>
                    <a:latin typeface="Segoe WPC"/>
                  </a:rPr>
                  <a:t>; </a:t>
                </a:r>
                <a:r>
                  <a:rPr lang="es-PE" sz="900" b="0" i="0" dirty="0" err="1">
                    <a:solidFill>
                      <a:schemeClr val="tx1"/>
                    </a:solidFill>
                    <a:effectLst/>
                    <a:latin typeface="Segoe WPC"/>
                  </a:rPr>
                  <a:t>cross-validation</a:t>
                </a:r>
                <a:r>
                  <a:rPr lang="es-PE" sz="900" b="0" i="0" dirty="0">
                    <a:solidFill>
                      <a:schemeClr val="tx1"/>
                    </a:solidFill>
                    <a:effectLst/>
                    <a:latin typeface="Segoe WPC"/>
                  </a:rPr>
                  <a:t> </a:t>
                </a:r>
                <a:r>
                  <a:rPr lang="es-PE" sz="900" b="0" i="0" dirty="0" err="1">
                    <a:solidFill>
                      <a:schemeClr val="tx1"/>
                    </a:solidFill>
                    <a:effectLst/>
                    <a:latin typeface="Segoe WPC"/>
                  </a:rPr>
                  <a:t>directly</a:t>
                </a:r>
                <a:r>
                  <a:rPr lang="es-PE" sz="900" b="0" i="0" dirty="0">
                    <a:solidFill>
                      <a:schemeClr val="tx1"/>
                    </a:solidFill>
                    <a:effectLst/>
                    <a:latin typeface="Segoe WPC"/>
                  </a:rPr>
                  <a:t> </a:t>
                </a:r>
                <a:r>
                  <a:rPr lang="es-PE" sz="900" b="0" i="0" dirty="0" err="1">
                    <a:solidFill>
                      <a:schemeClr val="tx1"/>
                    </a:solidFill>
                    <a:effectLst/>
                    <a:latin typeface="Segoe WPC"/>
                  </a:rPr>
                  <a:t>builds</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bias-variance</a:t>
                </a:r>
                <a:r>
                  <a:rPr lang="es-PE" sz="900" b="0" i="0" dirty="0">
                    <a:solidFill>
                      <a:schemeClr val="tx1"/>
                    </a:solidFill>
                    <a:effectLst/>
                    <a:latin typeface="Segoe WPC"/>
                  </a:rPr>
                  <a:t> </a:t>
                </a:r>
                <a:r>
                  <a:rPr lang="es-PE" sz="900" b="0" i="0" dirty="0" err="1">
                    <a:solidFill>
                      <a:schemeClr val="tx1"/>
                    </a:solidFill>
                    <a:effectLst/>
                    <a:latin typeface="Segoe WPC"/>
                  </a:rPr>
                  <a:t>tradeoff</a:t>
                </a:r>
                <a:r>
                  <a:rPr lang="es-PE" sz="900" b="0" i="0" dirty="0">
                    <a:solidFill>
                      <a:schemeClr val="tx1"/>
                    </a:solidFill>
                    <a:effectLst/>
                    <a:latin typeface="Segoe WPC"/>
                  </a:rPr>
                  <a:t> </a:t>
                </a:r>
                <a:r>
                  <a:rPr lang="es-PE" sz="900" b="0" i="0" dirty="0" err="1">
                    <a:solidFill>
                      <a:schemeClr val="tx1"/>
                    </a:solidFill>
                    <a:effectLst/>
                    <a:latin typeface="Segoe WPC"/>
                  </a:rPr>
                  <a:t>through</a:t>
                </a:r>
                <a:r>
                  <a:rPr lang="es-PE" sz="900" b="0" i="0" dirty="0">
                    <a:solidFill>
                      <a:schemeClr val="tx1"/>
                    </a:solidFill>
                    <a:effectLst/>
                    <a:latin typeface="Segoe WPC"/>
                  </a:rPr>
                  <a:t> </a:t>
                </a:r>
                <a:r>
                  <a:rPr lang="es-PE" sz="900" b="0" i="0" dirty="0" err="1">
                    <a:solidFill>
                      <a:schemeClr val="tx1"/>
                    </a:solidFill>
                    <a:effectLst/>
                    <a:latin typeface="Segoe WPC"/>
                  </a:rPr>
                  <a:t>forecasting</a:t>
                </a:r>
                <a:r>
                  <a:rPr lang="es-PE" sz="900" b="0" i="0" dirty="0">
                    <a:solidFill>
                      <a:schemeClr val="tx1"/>
                    </a:solidFill>
                    <a:effectLst/>
                    <a:latin typeface="Segoe WPC"/>
                  </a:rPr>
                  <a:t> performance.</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variable can look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in-sample</a:t>
                </a:r>
                <a:r>
                  <a:rPr lang="es-PE" sz="900" b="0" i="0" dirty="0">
                    <a:solidFill>
                      <a:schemeClr val="tx1"/>
                    </a:solidFill>
                    <a:effectLst/>
                    <a:latin typeface="Segoe WPC"/>
                  </a:rPr>
                  <a:t> and </a:t>
                </a:r>
                <a:r>
                  <a:rPr lang="es-PE" sz="900" b="0" i="0" dirty="0" err="1">
                    <a:solidFill>
                      <a:schemeClr val="tx1"/>
                    </a:solidFill>
                    <a:effectLst/>
                    <a:latin typeface="Segoe WPC"/>
                  </a:rPr>
                  <a:t>still</a:t>
                </a:r>
                <a:r>
                  <a:rPr lang="es-PE" sz="900" b="0" i="0" dirty="0">
                    <a:solidFill>
                      <a:schemeClr val="tx1"/>
                    </a:solidFill>
                    <a:effectLst/>
                    <a:latin typeface="Segoe WPC"/>
                  </a:rPr>
                  <a:t> </a:t>
                </a:r>
                <a:r>
                  <a:rPr lang="es-PE" sz="900" b="0" i="0" dirty="0" err="1">
                    <a:solidFill>
                      <a:schemeClr val="tx1"/>
                    </a:solidFill>
                    <a:effectLst/>
                    <a:latin typeface="Segoe WPC"/>
                  </a:rPr>
                  <a:t>hurt</a:t>
                </a:r>
                <a:r>
                  <a:rPr lang="es-PE" sz="900" b="0" i="0" dirty="0">
                    <a:solidFill>
                      <a:schemeClr val="tx1"/>
                    </a:solidFill>
                    <a:effectLst/>
                    <a:latin typeface="Segoe WPC"/>
                  </a:rPr>
                  <a:t> </a:t>
                </a:r>
                <a:r>
                  <a:rPr lang="es-PE" sz="900" b="0" i="0" dirty="0" err="1">
                    <a:solidFill>
                      <a:schemeClr val="tx1"/>
                    </a:solidFill>
                    <a:effectLst/>
                    <a:latin typeface="Segoe WPC"/>
                  </a:rPr>
                  <a:t>out-of-sample</a:t>
                </a:r>
                <a:r>
                  <a:rPr lang="es-PE" sz="900" b="0" i="0" dirty="0">
                    <a:solidFill>
                      <a:schemeClr val="tx1"/>
                    </a:solidFill>
                    <a:effectLst/>
                    <a:latin typeface="Segoe WPC"/>
                  </a:rPr>
                  <a:t> </a:t>
                </a:r>
                <a:r>
                  <a:rPr lang="es-PE" sz="900" b="0" i="0" dirty="0" err="1">
                    <a:solidFill>
                      <a:schemeClr val="tx1"/>
                    </a:solidFill>
                    <a:effectLst/>
                    <a:latin typeface="Segoe WPC"/>
                  </a:rPr>
                  <a:t>prediction</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5. </a:t>
                </a:r>
                <a:r>
                  <a:rPr lang="es-PE" sz="900" b="1" i="0" dirty="0" err="1">
                    <a:solidFill>
                      <a:schemeClr val="tx1"/>
                    </a:solidFill>
                    <a:effectLst/>
                    <a:latin typeface="Segoe WPC"/>
                  </a:rPr>
                  <a:t>Heteroskedasticity</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Heteroskedasticity</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error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Some</a:t>
                </a:r>
                <a:r>
                  <a:rPr lang="es-PE" sz="900" b="0" i="0" dirty="0">
                    <a:solidFill>
                      <a:schemeClr val="tx1"/>
                    </a:solidFill>
                    <a:effectLst/>
                    <a:latin typeface="Segoe WPC"/>
                  </a:rPr>
                  <a:t> </a:t>
                </a:r>
                <a:r>
                  <a:rPr lang="es-PE" sz="900" b="0" i="0" dirty="0" err="1">
                    <a:solidFill>
                      <a:schemeClr val="tx1"/>
                    </a:solidFill>
                    <a:effectLst/>
                    <a:latin typeface="Segoe WPC"/>
                  </a:rPr>
                  <a:t>observations</a:t>
                </a:r>
                <a:r>
                  <a:rPr lang="es-PE" sz="900" b="0" i="0" dirty="0">
                    <a:solidFill>
                      <a:schemeClr val="tx1"/>
                    </a:solidFill>
                    <a:effectLst/>
                    <a:latin typeface="Segoe WPC"/>
                  </a:rPr>
                  <a:t> are </a:t>
                </a:r>
                <a:r>
                  <a:rPr lang="es-PE" sz="900" b="0" i="0" dirty="0" err="1">
                    <a:solidFill>
                      <a:schemeClr val="tx1"/>
                    </a:solidFill>
                    <a:effectLst/>
                    <a:latin typeface="Segoe WPC"/>
                  </a:rPr>
                  <a:t>noisier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others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fan </a:t>
                </a:r>
                <a:r>
                  <a:rPr lang="es-PE" sz="900" b="0" i="0" dirty="0" err="1">
                    <a:solidFill>
                      <a:schemeClr val="tx1"/>
                    </a:solidFill>
                    <a:effectLst/>
                    <a:latin typeface="Segoe WPC"/>
                  </a:rPr>
                  <a:t>out</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narrow</a:t>
                </a:r>
                <a:r>
                  <a:rPr lang="es-PE" sz="900" b="0" i="0" dirty="0">
                    <a:solidFill>
                      <a:schemeClr val="tx1"/>
                    </a:solidFill>
                    <a:effectLst/>
                    <a:latin typeface="Segoe WPC"/>
                  </a:rPr>
                  <a:t> </a:t>
                </a:r>
                <a:r>
                  <a:rPr lang="es-PE" sz="900" b="0" i="0" dirty="0" err="1">
                    <a:solidFill>
                      <a:schemeClr val="tx1"/>
                    </a:solidFill>
                    <a:effectLst/>
                    <a:latin typeface="Segoe WPC"/>
                  </a:rPr>
                  <a:t>instead</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having</a:t>
                </a:r>
                <a:r>
                  <a:rPr lang="es-PE" sz="900" b="0" i="0" dirty="0">
                    <a:solidFill>
                      <a:schemeClr val="tx1"/>
                    </a:solidFill>
                    <a:effectLst/>
                    <a:latin typeface="Segoe WPC"/>
                  </a:rPr>
                  <a:t> </a:t>
                </a:r>
                <a:r>
                  <a:rPr lang="es-PE" sz="900" b="0" i="0" dirty="0" err="1">
                    <a:solidFill>
                      <a:schemeClr val="tx1"/>
                    </a:solidFill>
                    <a:effectLst/>
                    <a:latin typeface="Segoe WPC"/>
                  </a:rPr>
                  <a:t>constant</a:t>
                </a:r>
                <a:r>
                  <a:rPr lang="es-PE" sz="900" b="0" i="0" dirty="0">
                    <a:solidFill>
                      <a:schemeClr val="tx1"/>
                    </a:solidFill>
                    <a:effectLst/>
                    <a:latin typeface="Segoe WPC"/>
                  </a:rPr>
                  <a:t> spread.</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Homoskedasticity</a:t>
                </a:r>
                <a:r>
                  <a:rPr lang="es-PE" sz="900" b="0" i="0" dirty="0">
                    <a:solidFill>
                      <a:schemeClr val="tx1"/>
                    </a:solidFill>
                    <a:effectLst/>
                    <a:latin typeface="Segoe WPC"/>
                  </a:rPr>
                  <a:t> </a:t>
                </a:r>
                <a:r>
                  <a:rPr lang="es-PE" sz="900" b="0" i="0" dirty="0" err="1">
                    <a:solidFill>
                      <a:schemeClr val="tx1"/>
                    </a:solidFill>
                    <a:effectLst/>
                    <a:latin typeface="Segoe WPC"/>
                  </a:rPr>
                  <a:t>requires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𝑉𝑎𝑟</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𝑖</m:t>
                            </m:r>
                          </m:sub>
                        </m:sSub>
                      </m:e>
                      <m:e>
                        <m:r>
                          <a:rPr lang="ar-AE" sz="900" i="0">
                            <a:solidFill>
                              <a:schemeClr val="tx1"/>
                            </a:solidFill>
                            <a:latin typeface="Cambria Math" panose="02040503050406030204" pitchFamily="18" charset="0"/>
                          </a:rPr>
                          <m:t>∣</m:t>
                        </m:r>
                      </m:e>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1">
                                <a:solidFill>
                                  <a:schemeClr val="tx1"/>
                                </a:solidFill>
                                <a:latin typeface="Cambria Math" panose="02040503050406030204" pitchFamily="18" charset="0"/>
                              </a:rPr>
                              <m:t>𝑘𝑖</m:t>
                            </m:r>
                          </m:sub>
                        </m:sSub>
                      </m:e>
                    </m:d>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err="1">
                    <a:solidFill>
                      <a:schemeClr val="tx1"/>
                    </a:solidFill>
                    <a:effectLst/>
                    <a:latin typeface="Segoe WPC"/>
                  </a:rPr>
                  <a:t>heteroskedasticity</a:t>
                </a:r>
                <a:r>
                  <a:rPr lang="es-PE" sz="900" b="0" i="0" dirty="0">
                    <a:solidFill>
                      <a:schemeClr val="tx1"/>
                    </a:solidFill>
                    <a:effectLst/>
                    <a:latin typeface="Segoe WPC"/>
                  </a:rPr>
                  <a:t> </a:t>
                </a:r>
                <a:r>
                  <a:rPr lang="es-PE" sz="900" b="0" i="0" dirty="0" err="1">
                    <a:solidFill>
                      <a:schemeClr val="tx1"/>
                    </a:solidFill>
                    <a:effectLst/>
                    <a:latin typeface="Segoe WPC"/>
                  </a:rPr>
                  <a:t>violates</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OLS </a:t>
                </a:r>
                <a:r>
                  <a:rPr lang="es-PE" sz="900" b="0" i="0" dirty="0" err="1">
                    <a:solidFill>
                      <a:schemeClr val="tx1"/>
                    </a:solidFill>
                    <a:effectLst/>
                    <a:latin typeface="Segoe WPC"/>
                  </a:rPr>
                  <a:t>coefficients</a:t>
                </a:r>
                <a:r>
                  <a:rPr lang="es-PE" sz="900" b="0" i="0" dirty="0">
                    <a:solidFill>
                      <a:schemeClr val="tx1"/>
                    </a:solidFill>
                    <a:effectLst/>
                    <a:latin typeface="Segoe WPC"/>
                  </a:rPr>
                  <a:t> </a:t>
                </a:r>
                <a:r>
                  <a:rPr lang="es-PE" sz="900" b="0" i="0" dirty="0" err="1">
                    <a:solidFill>
                      <a:schemeClr val="tx1"/>
                    </a:solidFill>
                    <a:effectLst/>
                    <a:latin typeface="Segoe WPC"/>
                  </a:rPr>
                  <a:t>remain</a:t>
                </a:r>
                <a:r>
                  <a:rPr lang="es-PE" sz="900" b="0" i="0" dirty="0">
                    <a:solidFill>
                      <a:schemeClr val="tx1"/>
                    </a:solidFill>
                    <a:effectLst/>
                    <a:latin typeface="Segoe WPC"/>
                  </a:rPr>
                  <a:t> </a:t>
                </a:r>
                <a:r>
                  <a:rPr lang="es-PE" sz="900" b="0" i="0" dirty="0" err="1">
                    <a:solidFill>
                      <a:schemeClr val="tx1"/>
                    </a:solidFill>
                    <a:effectLst/>
                    <a:latin typeface="Segoe WPC"/>
                  </a:rPr>
                  <a:t>unbiased</a:t>
                </a:r>
                <a:r>
                  <a:rPr lang="es-PE" sz="900" b="0" i="0" dirty="0">
                    <a:solidFill>
                      <a:schemeClr val="tx1"/>
                    </a:solidFill>
                    <a:effectLst/>
                    <a:latin typeface="Segoe WPC"/>
                  </a:rPr>
                  <a:t> and </a:t>
                </a:r>
                <a:r>
                  <a:rPr lang="es-PE" sz="900" b="0" i="0" dirty="0" err="1">
                    <a:solidFill>
                      <a:schemeClr val="tx1"/>
                    </a:solidFill>
                    <a:effectLst/>
                    <a:latin typeface="Segoe WPC"/>
                  </a:rPr>
                  <a:t>consistent</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homoskedastic</a:t>
                </a:r>
                <a:r>
                  <a:rPr lang="es-PE" sz="900" b="0" i="0" dirty="0">
                    <a:solidFill>
                      <a:schemeClr val="tx1"/>
                    </a:solidFill>
                    <a:effectLst/>
                    <a:latin typeface="Segoe WPC"/>
                  </a:rPr>
                  <a:t> standard </a:t>
                </a:r>
                <a:r>
                  <a:rPr lang="es-PE" sz="900" b="0" i="0" dirty="0" err="1">
                    <a:solidFill>
                      <a:schemeClr val="tx1"/>
                    </a:solidFill>
                    <a:effectLst/>
                    <a:latin typeface="Segoe WPC"/>
                  </a:rPr>
                  <a:t>errors</a:t>
                </a:r>
                <a:r>
                  <a:rPr lang="es-PE" sz="900" b="0" i="0" dirty="0">
                    <a:solidFill>
                      <a:schemeClr val="tx1"/>
                    </a:solidFill>
                    <a:effectLst/>
                    <a:latin typeface="Segoe WPC"/>
                  </a:rPr>
                  <a:t> </a:t>
                </a:r>
                <a:r>
                  <a:rPr lang="es-PE" sz="900" b="0" i="0" dirty="0" err="1">
                    <a:solidFill>
                      <a:schemeClr val="tx1"/>
                    </a:solidFill>
                    <a:effectLst/>
                    <a:latin typeface="Segoe WPC"/>
                  </a:rPr>
                  <a:t>become</a:t>
                </a:r>
                <a:r>
                  <a:rPr lang="es-PE" sz="900" b="0" i="0" dirty="0">
                    <a:solidFill>
                      <a:schemeClr val="tx1"/>
                    </a:solidFill>
                    <a:effectLst/>
                    <a:latin typeface="Segoe WPC"/>
                  </a:rPr>
                  <a:t> </a:t>
                </a:r>
                <a:r>
                  <a:rPr lang="es-PE" sz="900" b="0" i="0" dirty="0" err="1">
                    <a:solidFill>
                      <a:schemeClr val="tx1"/>
                    </a:solidFill>
                    <a:effectLst/>
                    <a:latin typeface="Segoe WPC"/>
                  </a:rPr>
                  <a:t>wrong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Heteroskedasticity</a:t>
                </a:r>
                <a:r>
                  <a:rPr lang="es-PE" sz="900" b="0" i="0" dirty="0">
                    <a:solidFill>
                      <a:schemeClr val="tx1"/>
                    </a:solidFill>
                    <a:effectLst/>
                    <a:latin typeface="Segoe WPC"/>
                  </a:rPr>
                  <a:t> </a:t>
                </a:r>
                <a:r>
                  <a:rPr lang="es-PE" sz="900" b="0" i="0" dirty="0" err="1">
                    <a:solidFill>
                      <a:schemeClr val="tx1"/>
                    </a:solidFill>
                    <a:effectLst/>
                    <a:latin typeface="Segoe WPC"/>
                  </a:rPr>
                  <a:t>mainly</a:t>
                </a:r>
                <a:r>
                  <a:rPr lang="es-PE" sz="900" b="0" i="0" dirty="0">
                    <a:solidFill>
                      <a:schemeClr val="tx1"/>
                    </a:solidFill>
                    <a:effectLst/>
                    <a:latin typeface="Segoe WPC"/>
                  </a:rPr>
                  <a:t> </a:t>
                </a:r>
                <a:r>
                  <a:rPr lang="es-PE" sz="900" b="0" i="0" dirty="0" err="1">
                    <a:solidFill>
                      <a:schemeClr val="tx1"/>
                    </a:solidFill>
                    <a:effectLst/>
                    <a:latin typeface="Segoe WPC"/>
                  </a:rPr>
                  <a:t>affects</a:t>
                </a:r>
                <a:r>
                  <a:rPr lang="es-PE" sz="900" b="0" i="0" dirty="0">
                    <a:solidFill>
                      <a:schemeClr val="tx1"/>
                    </a:solidFill>
                    <a:effectLst/>
                    <a:latin typeface="Segoe WPC"/>
                  </a:rPr>
                  <a:t> </a:t>
                </a:r>
                <a:r>
                  <a:rPr lang="es-PE" sz="900" b="0" i="0" dirty="0" err="1">
                    <a:solidFill>
                      <a:schemeClr val="tx1"/>
                    </a:solidFill>
                    <a:effectLst/>
                    <a:latin typeface="Segoe WPC"/>
                  </a:rPr>
                  <a:t>inference</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coefficient</a:t>
                </a:r>
                <a:r>
                  <a:rPr lang="es-PE" sz="900" b="0" i="0" dirty="0">
                    <a:solidFill>
                      <a:schemeClr val="tx1"/>
                    </a:solidFill>
                    <a:effectLst/>
                    <a:latin typeface="Segoe WPC"/>
                  </a:rPr>
                  <a:t> </a:t>
                </a:r>
                <a:r>
                  <a:rPr lang="es-PE" sz="900" b="0" i="0" dirty="0" err="1">
                    <a:solidFill>
                      <a:schemeClr val="tx1"/>
                    </a:solidFill>
                    <a:effectLst/>
                    <a:latin typeface="Segoe WPC"/>
                  </a:rPr>
                  <a:t>estimates</a:t>
                </a:r>
                <a:r>
                  <a:rPr lang="es-PE" sz="900" b="0" i="0" dirty="0">
                    <a:solidFill>
                      <a:schemeClr val="tx1"/>
                    </a:solidFill>
                    <a:effectLst/>
                    <a:latin typeface="Segoe WPC"/>
                  </a:rPr>
                  <a:t> </a:t>
                </a:r>
                <a:r>
                  <a:rPr lang="es-PE" sz="900" b="0" i="0" dirty="0" err="1">
                    <a:solidFill>
                      <a:schemeClr val="tx1"/>
                    </a:solidFill>
                    <a:effectLst/>
                    <a:latin typeface="Segoe WPC"/>
                  </a:rPr>
                  <a:t>themselves</a:t>
                </a:r>
                <a:r>
                  <a:rPr lang="es-PE" sz="900" b="0" i="0" dirty="0">
                    <a:solidFill>
                      <a:schemeClr val="tx1"/>
                    </a:solidFill>
                    <a:effectLst/>
                    <a:latin typeface="Segoe WPC"/>
                  </a:rPr>
                  <a:t>.</a:t>
                </a:r>
              </a:p>
            </p:txBody>
          </p:sp>
        </mc:Choice>
        <mc:Fallback xmlns="">
          <p:sp>
            <p:nvSpPr>
              <p:cNvPr id="6" name="CuadroTexto 5">
                <a:extLst>
                  <a:ext uri="{FF2B5EF4-FFF2-40B4-BE49-F238E27FC236}">
                    <a16:creationId xmlns:a16="http://schemas.microsoft.com/office/drawing/2014/main" id="{3CFEE8C9-8F10-B837-01E6-CCEB1A10CCCC}"/>
                  </a:ext>
                </a:extLst>
              </p:cNvPr>
              <p:cNvSpPr txBox="1">
                <a:spLocks noRot="1" noChangeAspect="1" noMove="1" noResize="1" noEditPoints="1" noAdjustHandles="1" noChangeArrowheads="1" noChangeShapeType="1" noTextEdit="1"/>
              </p:cNvSpPr>
              <p:nvPr/>
            </p:nvSpPr>
            <p:spPr>
              <a:xfrm>
                <a:off x="58002" y="312575"/>
                <a:ext cx="6458804" cy="6640087"/>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0A2A86C6-4DDF-3916-D2CB-FE9BA19B5D0E}"/>
                  </a:ext>
                </a:extLst>
              </p:cNvPr>
              <p:cNvSpPr txBox="1"/>
              <p:nvPr/>
            </p:nvSpPr>
            <p:spPr>
              <a:xfrm>
                <a:off x="6232476" y="0"/>
                <a:ext cx="6041410" cy="6950429"/>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6. </a:t>
                </a:r>
                <a:r>
                  <a:rPr lang="es-PE" sz="900" b="1" i="0" dirty="0" err="1">
                    <a:solidFill>
                      <a:schemeClr val="tx1"/>
                    </a:solidFill>
                    <a:effectLst/>
                    <a:latin typeface="Segoe WPC"/>
                  </a:rPr>
                  <a:t>Testing</a:t>
                </a:r>
                <a:r>
                  <a:rPr lang="es-PE" sz="900" b="1" i="0" dirty="0">
                    <a:solidFill>
                      <a:schemeClr val="tx1"/>
                    </a:solidFill>
                    <a:effectLst/>
                    <a:latin typeface="Segoe WPC"/>
                  </a:rPr>
                  <a:t> and </a:t>
                </a:r>
                <a:r>
                  <a:rPr lang="es-PE" sz="900" b="1" i="0" dirty="0" err="1">
                    <a:solidFill>
                      <a:schemeClr val="tx1"/>
                    </a:solidFill>
                    <a:effectLst/>
                    <a:latin typeface="Segoe WPC"/>
                  </a:rPr>
                  <a:t>Handling</a:t>
                </a:r>
                <a:r>
                  <a:rPr lang="es-PE" sz="900" b="1" i="0" dirty="0">
                    <a:solidFill>
                      <a:schemeClr val="tx1"/>
                    </a:solidFill>
                    <a:effectLst/>
                    <a:latin typeface="Segoe WPC"/>
                  </a:rPr>
                  <a:t> </a:t>
                </a:r>
                <a:r>
                  <a:rPr lang="es-PE" sz="900" b="1" i="0" dirty="0" err="1">
                    <a:solidFill>
                      <a:schemeClr val="tx1"/>
                    </a:solidFill>
                    <a:effectLst/>
                    <a:latin typeface="Segoe WPC"/>
                  </a:rPr>
                  <a:t>Heteroskedasticity</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White’s</a:t>
                </a:r>
                <a:r>
                  <a:rPr lang="es-PE" sz="900" b="0" i="0" dirty="0">
                    <a:solidFill>
                      <a:schemeClr val="tx1"/>
                    </a:solidFill>
                    <a:effectLst/>
                    <a:latin typeface="Segoe WPC"/>
                  </a:rPr>
                  <a:t> test </a:t>
                </a:r>
                <a:r>
                  <a:rPr lang="es-PE" sz="900" b="0" i="0" dirty="0" err="1">
                    <a:solidFill>
                      <a:schemeClr val="tx1"/>
                    </a:solidFill>
                    <a:effectLst/>
                    <a:latin typeface="Segoe WPC"/>
                  </a:rPr>
                  <a:t>checks</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squared</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can be </a:t>
                </a:r>
                <a:r>
                  <a:rPr lang="es-PE" sz="900" b="0" i="0" dirty="0" err="1">
                    <a:solidFill>
                      <a:schemeClr val="tx1"/>
                    </a:solidFill>
                    <a:effectLst/>
                    <a:latin typeface="Segoe WPC"/>
                  </a:rPr>
                  <a:t>explained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size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a:t>
                </a:r>
                <a:r>
                  <a:rPr lang="es-PE" sz="900" b="0" i="0" dirty="0" err="1">
                    <a:solidFill>
                      <a:schemeClr val="tx1"/>
                    </a:solidFill>
                    <a:effectLst/>
                    <a:latin typeface="Segoe WPC"/>
                  </a:rPr>
                  <a:t>follows</a:t>
                </a:r>
                <a:r>
                  <a:rPr lang="es-PE" sz="900" b="0" i="0" dirty="0">
                    <a:solidFill>
                      <a:schemeClr val="tx1"/>
                    </a:solidFill>
                    <a:effectLst/>
                    <a:latin typeface="Segoe WPC"/>
                  </a:rPr>
                  <a:t> a </a:t>
                </a:r>
                <a:r>
                  <a:rPr lang="es-PE" sz="900" b="0" i="0" dirty="0" err="1">
                    <a:solidFill>
                      <a:schemeClr val="tx1"/>
                    </a:solidFill>
                    <a:effectLst/>
                    <a:latin typeface="Segoe WPC"/>
                  </a:rPr>
                  <a:t>pattern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likely</a:t>
                </a:r>
                <a:r>
                  <a:rPr lang="es-PE" sz="900" b="0" i="0" dirty="0">
                    <a:solidFill>
                      <a:schemeClr val="tx1"/>
                    </a:solidFill>
                    <a:effectLst/>
                    <a:latin typeface="Segoe WPC"/>
                  </a:rPr>
                  <a:t> </a:t>
                </a:r>
                <a:r>
                  <a:rPr lang="es-PE" sz="900" b="0" i="0" dirty="0" err="1">
                    <a:solidFill>
                      <a:schemeClr val="tx1"/>
                    </a:solidFill>
                    <a:effectLst/>
                    <a:latin typeface="Segoe WPC"/>
                  </a:rPr>
                  <a:t>heteroskedastic</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Fit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square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r>
                  <a:rPr lang="es-PE" sz="900" b="0" i="0" dirty="0" err="1">
                    <a:solidFill>
                      <a:schemeClr val="tx1"/>
                    </a:solidFill>
                    <a:effectLst/>
                    <a:latin typeface="Segoe WPC"/>
                  </a:rPr>
                  <a:t>see</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t>
                </a:r>
                <a:r>
                  <a:rPr lang="es-PE" sz="900" b="0" i="0" dirty="0" err="1">
                    <a:solidFill>
                      <a:schemeClr val="tx1"/>
                    </a:solidFill>
                    <a:effectLst/>
                    <a:latin typeface="Segoe WPC"/>
                  </a:rPr>
                  <a:t>explain</a:t>
                </a:r>
                <a:r>
                  <a:rPr lang="es-PE" sz="900" b="0" i="0" dirty="0">
                    <a:solidFill>
                      <a:schemeClr val="tx1"/>
                    </a:solidFill>
                    <a:effectLst/>
                    <a:latin typeface="Segoe WPC"/>
                  </a:rPr>
                  <a:t> </a:t>
                </a:r>
                <a:r>
                  <a:rPr lang="es-PE" sz="900" b="0" i="0" dirty="0" err="1">
                    <a:solidFill>
                      <a:schemeClr val="tx1"/>
                    </a:solidFill>
                    <a:effectLst/>
                    <a:latin typeface="Segoe WPC"/>
                  </a:rPr>
                  <a:t>their</a:t>
                </a:r>
                <a:r>
                  <a:rPr lang="es-PE" sz="900" b="0" i="0" dirty="0">
                    <a:solidFill>
                      <a:schemeClr val="tx1"/>
                    </a:solidFill>
                    <a:effectLst/>
                    <a:latin typeface="Segoe WPC"/>
                  </a:rPr>
                  <a:t> </a:t>
                </a:r>
                <a:r>
                  <a:rPr lang="es-PE" sz="900" b="0" i="0" dirty="0" err="1">
                    <a:solidFill>
                      <a:schemeClr val="tx1"/>
                    </a:solidFill>
                    <a:effectLst/>
                    <a:latin typeface="Segoe WPC"/>
                  </a:rPr>
                  <a:t>size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Regress</a:t>
                </a:r>
                <a:r>
                  <a:rPr lang="es-PE" sz="900" b="0" i="0" dirty="0">
                    <a:solidFill>
                      <a:schemeClr val="tx1"/>
                    </a:solidFill>
                    <a:effectLst/>
                    <a:latin typeface="Segoe WPC"/>
                  </a:rPr>
                  <a:t> </a:t>
                </a:r>
                <a14:m>
                  <m:oMath xmlns:m="http://schemas.openxmlformats.org/officeDocument/2006/math">
                    <m:sSubSup>
                      <m:sSubSupPr>
                        <m:ctrlPr>
                          <a:rPr lang="ar-AE" sz="900" i="1">
                            <a:solidFill>
                              <a:schemeClr val="tx1"/>
                            </a:solidFill>
                            <a:latin typeface="Cambria Math" panose="02040503050406030204" pitchFamily="18" charset="0"/>
                          </a:rPr>
                        </m:ctrlPr>
                      </m:sSubSup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𝑒</m:t>
                            </m:r>
                          </m:e>
                        </m:acc>
                      </m:e>
                      <m:sub>
                        <m:r>
                          <a:rPr lang="ar-AE" sz="900" i="1">
                            <a:solidFill>
                              <a:schemeClr val="tx1"/>
                            </a:solidFill>
                            <a:latin typeface="Cambria Math" panose="02040503050406030204" pitchFamily="18" charset="0"/>
                          </a:rPr>
                          <m:t>𝑖</m:t>
                        </m:r>
                      </m:sub>
                      <m:sup>
                        <m:r>
                          <a:rPr lang="ar-AE" sz="900" i="0">
                            <a:solidFill>
                              <a:schemeClr val="tx1"/>
                            </a:solidFill>
                            <a:latin typeface="Cambria Math" panose="02040503050406030204" pitchFamily="18" charset="0"/>
                          </a:rPr>
                          <m:t>2</m:t>
                        </m:r>
                      </m:sup>
                    </m:sSubSup>
                  </m:oMath>
                </a14:m>
                <a:r>
                  <a:rPr lang="ar-A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 </a:t>
                </a:r>
                <a:r>
                  <a:rPr lang="es-PE" sz="900" b="0" i="0" dirty="0" err="1">
                    <a:solidFill>
                      <a:schemeClr val="tx1"/>
                    </a:solidFill>
                    <a:effectLst/>
                    <a:latin typeface="Segoe WPC"/>
                  </a:rPr>
                  <a:t>constant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t>
                </a:r>
                <a:r>
                  <a:rPr lang="es-PE" sz="900" b="0" i="0" dirty="0" err="1">
                    <a:solidFill>
                      <a:schemeClr val="tx1"/>
                    </a:solidFill>
                    <a:effectLst/>
                    <a:latin typeface="Segoe WPC"/>
                  </a:rPr>
                  <a:t>their</a:t>
                </a:r>
                <a:r>
                  <a:rPr lang="es-PE" sz="900" b="0" i="0" dirty="0">
                    <a:solidFill>
                      <a:schemeClr val="tx1"/>
                    </a:solidFill>
                    <a:effectLst/>
                    <a:latin typeface="Segoe WPC"/>
                  </a:rPr>
                  <a:t> </a:t>
                </a:r>
                <a:r>
                  <a:rPr lang="es-PE" sz="900" b="0" i="0" dirty="0" err="1">
                    <a:solidFill>
                      <a:schemeClr val="tx1"/>
                    </a:solidFill>
                    <a:effectLst/>
                    <a:latin typeface="Segoe WPC"/>
                  </a:rPr>
                  <a:t>squares</a:t>
                </a:r>
                <a:r>
                  <a:rPr lang="es-PE" sz="900" b="0" i="0" dirty="0">
                    <a:solidFill>
                      <a:schemeClr val="tx1"/>
                    </a:solidFill>
                    <a:effectLst/>
                    <a:latin typeface="Segoe WPC"/>
                  </a:rPr>
                  <a:t>, and </a:t>
                </a:r>
                <a:r>
                  <a:rPr lang="es-PE" sz="900" b="0" i="0" dirty="0" err="1">
                    <a:solidFill>
                      <a:schemeClr val="tx1"/>
                    </a:solidFill>
                    <a:effectLst/>
                    <a:latin typeface="Segoe WPC"/>
                  </a:rPr>
                  <a:t>cross-products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test </a:t>
                </a:r>
                <a:r>
                  <a:rPr lang="es-PE" sz="900" b="0" i="0" dirty="0" err="1">
                    <a:solidFill>
                      <a:schemeClr val="tx1"/>
                    </a:solidFill>
                    <a:effectLst/>
                    <a:latin typeface="Segoe WPC"/>
                  </a:rPr>
                  <a:t>statistic</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𝑛</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White’s</a:t>
                </a:r>
                <a:r>
                  <a:rPr lang="es-PE" sz="900" b="0" i="0" dirty="0">
                    <a:solidFill>
                      <a:schemeClr val="tx1"/>
                    </a:solidFill>
                    <a:effectLst/>
                    <a:latin typeface="Segoe WPC"/>
                  </a:rPr>
                  <a:t> test </a:t>
                </a:r>
                <a:r>
                  <a:rPr lang="es-PE" sz="900" b="0" i="0" dirty="0" err="1">
                    <a:solidFill>
                      <a:schemeClr val="tx1"/>
                    </a:solidFill>
                    <a:effectLst/>
                    <a:latin typeface="Segoe WPC"/>
                  </a:rPr>
                  <a:t>rejects</a:t>
                </a:r>
                <a:r>
                  <a:rPr lang="es-PE" sz="900" b="0" i="0" dirty="0">
                    <a:solidFill>
                      <a:schemeClr val="tx1"/>
                    </a:solidFill>
                    <a:effectLst/>
                    <a:latin typeface="Segoe WPC"/>
                  </a:rPr>
                  <a:t>, use </a:t>
                </a:r>
                <a:r>
                  <a:rPr lang="es-PE" sz="900" b="0" i="0" dirty="0" err="1">
                    <a:solidFill>
                      <a:schemeClr val="tx1"/>
                    </a:solidFill>
                    <a:effectLst/>
                    <a:latin typeface="Segoe WPC"/>
                  </a:rPr>
                  <a:t>heteroskedasticity-robust</a:t>
                </a:r>
                <a:r>
                  <a:rPr lang="es-PE" sz="900" b="0" i="0" dirty="0">
                    <a:solidFill>
                      <a:schemeClr val="tx1"/>
                    </a:solidFill>
                    <a:effectLst/>
                    <a:latin typeface="Segoe WPC"/>
                  </a:rPr>
                  <a:t> standard </a:t>
                </a:r>
                <a:r>
                  <a:rPr lang="es-PE" sz="900" b="0" i="0" dirty="0" err="1">
                    <a:solidFill>
                      <a:schemeClr val="tx1"/>
                    </a:solidFill>
                    <a:effectLst/>
                    <a:latin typeface="Segoe WPC"/>
                  </a:rPr>
                  <a:t>errors</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 responses are </a:t>
                </a:r>
                <a:r>
                  <a:rPr lang="es-PE" sz="900" b="0" i="0" dirty="0" err="1">
                    <a:solidFill>
                      <a:schemeClr val="tx1"/>
                    </a:solidFill>
                    <a:effectLst/>
                    <a:latin typeface="Segoe WPC"/>
                  </a:rPr>
                  <a:t>transforming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data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t>
                </a:r>
                <a:r>
                  <a:rPr lang="es-PE" sz="900" b="0" i="0" dirty="0" err="1">
                    <a:solidFill>
                      <a:schemeClr val="tx1"/>
                    </a:solidFill>
                    <a:effectLst/>
                    <a:latin typeface="Segoe WPC"/>
                  </a:rPr>
                  <a:t>weighted</a:t>
                </a:r>
                <a:r>
                  <a:rPr lang="es-PE" sz="900" b="0" i="0" dirty="0">
                    <a:solidFill>
                      <a:schemeClr val="tx1"/>
                    </a:solidFill>
                    <a:effectLst/>
                    <a:latin typeface="Segoe WPC"/>
                  </a:rPr>
                  <a:t> </a:t>
                </a:r>
                <a:r>
                  <a:rPr lang="es-PE" sz="900" b="0" i="0" dirty="0" err="1">
                    <a:solidFill>
                      <a:schemeClr val="tx1"/>
                    </a:solidFill>
                    <a:effectLst/>
                    <a:latin typeface="Segoe WPC"/>
                  </a:rPr>
                  <a:t>least</a:t>
                </a:r>
                <a:r>
                  <a:rPr lang="es-PE" sz="900" b="0" i="0" dirty="0">
                    <a:solidFill>
                      <a:schemeClr val="tx1"/>
                    </a:solidFill>
                    <a:effectLst/>
                    <a:latin typeface="Segoe WPC"/>
                  </a:rPr>
                  <a:t> </a:t>
                </a:r>
                <a:r>
                  <a:rPr lang="es-PE" sz="900" b="0" i="0" dirty="0" err="1">
                    <a:solidFill>
                      <a:schemeClr val="tx1"/>
                    </a:solidFill>
                    <a:effectLst/>
                    <a:latin typeface="Segoe WPC"/>
                  </a:rPr>
                  <a:t>squares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Robust</a:t>
                </a:r>
                <a:r>
                  <a:rPr lang="es-PE" sz="900" b="0" i="0" dirty="0">
                    <a:solidFill>
                      <a:schemeClr val="tx1"/>
                    </a:solidFill>
                    <a:effectLst/>
                    <a:latin typeface="Segoe WPC"/>
                  </a:rPr>
                  <a:t> standard </a:t>
                </a:r>
                <a:r>
                  <a:rPr lang="es-PE" sz="900" b="0" i="0" dirty="0" err="1">
                    <a:solidFill>
                      <a:schemeClr val="tx1"/>
                    </a:solidFill>
                    <a:effectLst/>
                    <a:latin typeface="Segoe WPC"/>
                  </a:rPr>
                  <a:t>errors</a:t>
                </a:r>
                <a:r>
                  <a:rPr lang="es-PE" sz="900" b="0" i="0" dirty="0">
                    <a:solidFill>
                      <a:schemeClr val="tx1"/>
                    </a:solidFill>
                    <a:effectLst/>
                    <a:latin typeface="Segoe WPC"/>
                  </a:rPr>
                  <a:t> </a:t>
                </a:r>
                <a:r>
                  <a:rPr lang="es-PE" sz="900" b="0" i="0" dirty="0" err="1">
                    <a:solidFill>
                      <a:schemeClr val="tx1"/>
                    </a:solidFill>
                    <a:effectLst/>
                    <a:latin typeface="Segoe WPC"/>
                  </a:rPr>
                  <a:t>fix</a:t>
                </a:r>
                <a:r>
                  <a:rPr lang="es-PE" sz="900" b="0" i="0" dirty="0">
                    <a:solidFill>
                      <a:schemeClr val="tx1"/>
                    </a:solidFill>
                    <a:effectLst/>
                    <a:latin typeface="Segoe WPC"/>
                  </a:rPr>
                  <a:t> single-</a:t>
                </a:r>
                <a:r>
                  <a:rPr lang="es-PE" sz="900" b="0" i="0" dirty="0" err="1">
                    <a:solidFill>
                      <a:schemeClr val="tx1"/>
                    </a:solidFill>
                    <a:effectLst/>
                    <a:latin typeface="Segoe WPC"/>
                  </a:rPr>
                  <a:t>coefficient</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𝑡</m:t>
                    </m:r>
                  </m:oMath>
                </a14:m>
                <a:r>
                  <a:rPr lang="es-PE" sz="900" b="0" i="0" dirty="0">
                    <a:solidFill>
                      <a:schemeClr val="tx1"/>
                    </a:solidFill>
                    <a:effectLst/>
                    <a:latin typeface="Segoe WPC"/>
                  </a:rPr>
                  <a:t>-</a:t>
                </a:r>
                <a:r>
                  <a:rPr lang="es-PE" sz="900" b="0" i="0" dirty="0" err="1">
                    <a:solidFill>
                      <a:schemeClr val="tx1"/>
                    </a:solidFill>
                    <a:effectLst/>
                    <a:latin typeface="Segoe WPC"/>
                  </a:rPr>
                  <a:t>tests</a:t>
                </a:r>
                <a:r>
                  <a:rPr lang="es-PE" sz="900" b="0" i="0" dirty="0">
                    <a:solidFill>
                      <a:schemeClr val="tx1"/>
                    </a:solidFill>
                    <a:effectLst/>
                    <a:latin typeface="Segoe WPC"/>
                  </a:rPr>
                  <a:t> more </a:t>
                </a:r>
                <a:r>
                  <a:rPr lang="es-PE" sz="900" b="0" i="0" dirty="0" err="1">
                    <a:solidFill>
                      <a:schemeClr val="tx1"/>
                    </a:solidFill>
                    <a:effectLst/>
                    <a:latin typeface="Segoe WPC"/>
                  </a:rPr>
                  <a:t>easily</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joint</a:t>
                </a:r>
                <a:r>
                  <a:rPr lang="es-PE" sz="900" b="0" i="0" dirty="0">
                    <a:solidFill>
                      <a:schemeClr val="tx1"/>
                    </a:solidFill>
                    <a:effectLst/>
                    <a:latin typeface="Segoe WPC"/>
                  </a:rPr>
                  <a:t> F-</a:t>
                </a:r>
                <a:r>
                  <a:rPr lang="es-PE" sz="900" b="0" i="0" dirty="0" err="1">
                    <a:solidFill>
                      <a:schemeClr val="tx1"/>
                    </a:solidFill>
                    <a:effectLst/>
                    <a:latin typeface="Segoe WPC"/>
                  </a:rPr>
                  <a:t>tests</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7. </a:t>
                </a:r>
                <a:r>
                  <a:rPr lang="es-PE" sz="900" b="1" i="0" dirty="0" err="1">
                    <a:solidFill>
                      <a:schemeClr val="tx1"/>
                    </a:solidFill>
                    <a:effectLst/>
                    <a:latin typeface="Segoe WPC"/>
                  </a:rPr>
                  <a:t>Weighted</a:t>
                </a:r>
                <a:r>
                  <a:rPr lang="es-PE" sz="900" b="1" i="0" dirty="0">
                    <a:solidFill>
                      <a:schemeClr val="tx1"/>
                    </a:solidFill>
                    <a:effectLst/>
                    <a:latin typeface="Segoe WPC"/>
                  </a:rPr>
                  <a:t> </a:t>
                </a:r>
                <a:r>
                  <a:rPr lang="es-PE" sz="900" b="1" i="0" dirty="0" err="1">
                    <a:solidFill>
                      <a:schemeClr val="tx1"/>
                    </a:solidFill>
                    <a:effectLst/>
                    <a:latin typeface="Segoe WPC"/>
                  </a:rPr>
                  <a:t>Least</a:t>
                </a:r>
                <a:r>
                  <a:rPr lang="es-PE" sz="900" b="1" i="0" dirty="0">
                    <a:solidFill>
                      <a:schemeClr val="tx1"/>
                    </a:solidFill>
                    <a:effectLst/>
                    <a:latin typeface="Segoe WPC"/>
                  </a:rPr>
                  <a:t> </a:t>
                </a:r>
                <a:r>
                  <a:rPr lang="es-PE" sz="900" b="1" i="0" dirty="0" err="1">
                    <a:solidFill>
                      <a:schemeClr val="tx1"/>
                    </a:solidFill>
                    <a:effectLst/>
                    <a:latin typeface="Segoe WPC"/>
                  </a:rPr>
                  <a:t>Squares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WLS </a:t>
                </a:r>
                <a:r>
                  <a:rPr lang="es-PE" sz="900" b="0" i="0" dirty="0" err="1">
                    <a:solidFill>
                      <a:schemeClr val="tx1"/>
                    </a:solidFill>
                    <a:effectLst/>
                    <a:latin typeface="Segoe WPC"/>
                  </a:rPr>
                  <a:t>reweights</a:t>
                </a:r>
                <a:r>
                  <a:rPr lang="es-PE" sz="900" b="0" i="0" dirty="0">
                    <a:solidFill>
                      <a:schemeClr val="tx1"/>
                    </a:solidFill>
                    <a:effectLst/>
                    <a:latin typeface="Segoe WPC"/>
                  </a:rPr>
                  <a:t> </a:t>
                </a:r>
                <a:r>
                  <a:rPr lang="es-PE" sz="900" b="0" i="0" dirty="0" err="1">
                    <a:solidFill>
                      <a:schemeClr val="tx1"/>
                    </a:solidFill>
                    <a:effectLst/>
                    <a:latin typeface="Segoe WPC"/>
                  </a:rPr>
                  <a:t>observations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remove</a:t>
                </a:r>
                <a:r>
                  <a:rPr lang="es-PE" sz="900" b="0" i="0" dirty="0">
                    <a:solidFill>
                      <a:schemeClr val="tx1"/>
                    </a:solidFill>
                    <a:effectLst/>
                    <a:latin typeface="Segoe WPC"/>
                  </a:rPr>
                  <a:t> </a:t>
                </a:r>
                <a:r>
                  <a:rPr lang="es-PE" sz="900" b="0" i="0" dirty="0" err="1">
                    <a:solidFill>
                      <a:schemeClr val="tx1"/>
                    </a:solidFill>
                    <a:effectLst/>
                    <a:latin typeface="Segoe WPC"/>
                  </a:rPr>
                  <a:t>heteroskedasticity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Noisy</a:t>
                </a:r>
                <a:r>
                  <a:rPr lang="es-PE" sz="900" b="0" i="0" dirty="0">
                    <a:solidFill>
                      <a:schemeClr val="tx1"/>
                    </a:solidFill>
                    <a:effectLst/>
                    <a:latin typeface="Segoe WPC"/>
                  </a:rPr>
                  <a:t> </a:t>
                </a:r>
                <a:r>
                  <a:rPr lang="es-PE" sz="900" b="0" i="0" dirty="0" err="1">
                    <a:solidFill>
                      <a:schemeClr val="tx1"/>
                    </a:solidFill>
                    <a:effectLst/>
                    <a:latin typeface="Segoe WPC"/>
                  </a:rPr>
                  <a:t>observations</a:t>
                </a:r>
                <a:r>
                  <a:rPr lang="es-PE" sz="900" b="0" i="0" dirty="0">
                    <a:solidFill>
                      <a:schemeClr val="tx1"/>
                    </a:solidFill>
                    <a:effectLst/>
                    <a:latin typeface="Segoe WPC"/>
                  </a:rPr>
                  <a:t> </a:t>
                </a:r>
                <a:r>
                  <a:rPr lang="es-PE" sz="900" b="0" i="0" dirty="0" err="1">
                    <a:solidFill>
                      <a:schemeClr val="tx1"/>
                    </a:solidFill>
                    <a:effectLst/>
                    <a:latin typeface="Segoe WPC"/>
                  </a:rPr>
                  <a:t>get</a:t>
                </a:r>
                <a:r>
                  <a:rPr lang="es-PE" sz="900" b="0" i="0" dirty="0">
                    <a:solidFill>
                      <a:schemeClr val="tx1"/>
                    </a:solidFill>
                    <a:effectLst/>
                    <a:latin typeface="Segoe WPC"/>
                  </a:rPr>
                  <a:t>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weight</a:t>
                </a:r>
                <a:r>
                  <a:rPr lang="es-PE" sz="900" b="0" i="0" dirty="0">
                    <a:solidFill>
                      <a:schemeClr val="tx1"/>
                    </a:solidFill>
                    <a:effectLst/>
                    <a:latin typeface="Segoe WPC"/>
                  </a:rPr>
                  <a:t>; precise </a:t>
                </a:r>
                <a:r>
                  <a:rPr lang="es-PE" sz="900" b="0" i="0" dirty="0" err="1">
                    <a:solidFill>
                      <a:schemeClr val="tx1"/>
                    </a:solidFill>
                    <a:effectLst/>
                    <a:latin typeface="Segoe WPC"/>
                  </a:rPr>
                  <a:t>observations</a:t>
                </a:r>
                <a:r>
                  <a:rPr lang="es-PE" sz="900" b="0" i="0" dirty="0">
                    <a:solidFill>
                      <a:schemeClr val="tx1"/>
                    </a:solidFill>
                    <a:effectLst/>
                    <a:latin typeface="Segoe WPC"/>
                  </a:rPr>
                  <a:t> </a:t>
                </a:r>
                <a:r>
                  <a:rPr lang="es-PE" sz="900" b="0" i="0" dirty="0" err="1">
                    <a:solidFill>
                      <a:schemeClr val="tx1"/>
                    </a:solidFill>
                    <a:effectLst/>
                    <a:latin typeface="Segoe WPC"/>
                  </a:rPr>
                  <a:t>get</a:t>
                </a:r>
                <a:r>
                  <a:rPr lang="es-PE" sz="900" b="0" i="0" dirty="0">
                    <a:solidFill>
                      <a:schemeClr val="tx1"/>
                    </a:solidFill>
                    <a:effectLst/>
                    <a:latin typeface="Segoe WPC"/>
                  </a:rPr>
                  <a:t> more.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fitted</a:t>
                </a:r>
                <a:r>
                  <a:rPr lang="es-PE" sz="900" b="0" i="0" dirty="0">
                    <a:solidFill>
                      <a:schemeClr val="tx1"/>
                    </a:solidFill>
                    <a:effectLst/>
                    <a:latin typeface="Segoe WPC"/>
                  </a:rPr>
                  <a:t> line </a:t>
                </a:r>
                <a:r>
                  <a:rPr lang="es-PE" sz="900" b="0" i="0" dirty="0" err="1">
                    <a:solidFill>
                      <a:schemeClr val="tx1"/>
                    </a:solidFill>
                    <a:effectLst/>
                    <a:latin typeface="Segoe WPC"/>
                  </a:rPr>
                  <a:t>relies</a:t>
                </a:r>
                <a:r>
                  <a:rPr lang="es-PE" sz="900" b="0" i="0" dirty="0">
                    <a:solidFill>
                      <a:schemeClr val="tx1"/>
                    </a:solidFill>
                    <a:effectLst/>
                    <a:latin typeface="Segoe WPC"/>
                  </a:rPr>
                  <a:t> more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stable</a:t>
                </a:r>
                <a:r>
                  <a:rPr lang="es-PE" sz="900" b="0" i="0" dirty="0">
                    <a:solidFill>
                      <a:schemeClr val="tx1"/>
                    </a:solidFill>
                    <a:effectLst/>
                    <a:latin typeface="Segoe WPC"/>
                  </a:rPr>
                  <a:t> </a:t>
                </a:r>
                <a:r>
                  <a:rPr lang="es-PE" sz="900" b="0" i="0" dirty="0" err="1">
                    <a:solidFill>
                      <a:schemeClr val="tx1"/>
                    </a:solidFill>
                    <a:effectLst/>
                    <a:latin typeface="Segoe WPC"/>
                  </a:rPr>
                  <a:t>observations</a:t>
                </a:r>
                <a:r>
                  <a:rPr lang="es-PE" sz="900" b="0" i="0" dirty="0">
                    <a:solidFill>
                      <a:schemeClr val="tx1"/>
                    </a:solidFill>
                    <a:effectLst/>
                    <a:latin typeface="Segoe WPC"/>
                  </a:rPr>
                  <a:t> and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volatile</a:t>
                </a:r>
                <a:r>
                  <a:rPr lang="es-PE" sz="900" b="0" i="0" dirty="0">
                    <a:solidFill>
                      <a:schemeClr val="tx1"/>
                    </a:solidFill>
                    <a:effectLst/>
                    <a:latin typeface="Segoe WPC"/>
                  </a:rPr>
                  <a:t> </a:t>
                </a:r>
                <a:r>
                  <a:rPr lang="es-PE" sz="900" b="0" i="0" dirty="0" err="1">
                    <a:solidFill>
                      <a:schemeClr val="tx1"/>
                    </a:solidFill>
                    <a:effectLst/>
                    <a:latin typeface="Segoe WPC"/>
                  </a:rPr>
                  <a:t>ones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𝑖</m:t>
                            </m:r>
                          </m:sub>
                        </m:sSub>
                      </m:e>
                    </m:d>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𝑤</m:t>
                        </m:r>
                      </m:e>
                      <m:sub>
                        <m:r>
                          <a:rPr lang="ar-AE" sz="900" i="1">
                            <a:solidFill>
                              <a:schemeClr val="tx1"/>
                            </a:solidFill>
                            <a:latin typeface="Cambria Math" panose="02040503050406030204" pitchFamily="18" charset="0"/>
                          </a:rPr>
                          <m:t>𝑖</m:t>
                        </m:r>
                      </m:sub>
                      <m:sup>
                        <m:r>
                          <a:rPr lang="ar-AE" sz="900" i="0">
                            <a:solidFill>
                              <a:schemeClr val="tx1"/>
                            </a:solidFill>
                            <a:latin typeface="Cambria Math" panose="02040503050406030204" pitchFamily="18" charset="0"/>
                          </a:rPr>
                          <m:t>2</m:t>
                        </m:r>
                      </m:sup>
                    </m:sSubSup>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a:solidFill>
                      <a:schemeClr val="tx1"/>
                    </a:solidFill>
                    <a:effectLst/>
                    <a:latin typeface="Segoe WPC"/>
                  </a:rPr>
                  <a:t>divide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𝑤</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a:solidFill>
                      <a:schemeClr val="tx1"/>
                    </a:solidFill>
                    <a:effectLst/>
                    <a:latin typeface="Segoe WPC"/>
                  </a:rPr>
                  <a:t>and run OLS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transformed</a:t>
                </a:r>
                <a:r>
                  <a:rPr lang="es-PE" sz="900" b="0" i="0" dirty="0">
                    <a:solidFill>
                      <a:schemeClr val="tx1"/>
                    </a:solidFill>
                    <a:effectLst/>
                    <a:latin typeface="Segoe WPC"/>
                  </a:rPr>
                  <a:t> data.</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WLS can be more </a:t>
                </a:r>
                <a:r>
                  <a:rPr lang="es-PE" sz="900" b="0" i="0" dirty="0" err="1">
                    <a:solidFill>
                      <a:schemeClr val="tx1"/>
                    </a:solidFill>
                    <a:effectLst/>
                    <a:latin typeface="Segoe WPC"/>
                  </a:rPr>
                  <a:t>efficient</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OLS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heteroskedastic</a:t>
                </a:r>
                <a:r>
                  <a:rPr lang="es-PE" sz="900" b="0" i="0" dirty="0">
                    <a:solidFill>
                      <a:schemeClr val="tx1"/>
                    </a:solidFill>
                    <a:effectLst/>
                    <a:latin typeface="Segoe WPC"/>
                  </a:rPr>
                  <a:t> </a:t>
                </a:r>
                <a:r>
                  <a:rPr lang="es-PE" sz="900" b="0" i="0" dirty="0" err="1">
                    <a:solidFill>
                      <a:schemeClr val="tx1"/>
                    </a:solidFill>
                    <a:effectLst/>
                    <a:latin typeface="Segoe WPC"/>
                  </a:rPr>
                  <a:t>form</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known</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well</a:t>
                </a:r>
                <a:r>
                  <a:rPr lang="es-PE" sz="900" b="0" i="0" dirty="0">
                    <a:solidFill>
                      <a:schemeClr val="tx1"/>
                    </a:solidFill>
                    <a:effectLst/>
                    <a:latin typeface="Segoe WPC"/>
                  </a:rPr>
                  <a:t> </a:t>
                </a:r>
                <a:r>
                  <a:rPr lang="es-PE" sz="900" b="0" i="0" dirty="0" err="1">
                    <a:solidFill>
                      <a:schemeClr val="tx1"/>
                    </a:solidFill>
                    <a:effectLst/>
                    <a:latin typeface="Segoe WPC"/>
                  </a:rPr>
                  <a:t>estimated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WLS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helps</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weights</a:t>
                </a:r>
                <a:r>
                  <a:rPr lang="es-PE" sz="900" b="0" i="0" dirty="0">
                    <a:solidFill>
                      <a:schemeClr val="tx1"/>
                    </a:solidFill>
                    <a:effectLst/>
                    <a:latin typeface="Segoe WPC"/>
                  </a:rPr>
                  <a:t> are </a:t>
                </a:r>
                <a:r>
                  <a:rPr lang="es-PE" sz="900" b="0" i="0" dirty="0" err="1">
                    <a:solidFill>
                      <a:schemeClr val="tx1"/>
                    </a:solidFill>
                    <a:effectLst/>
                    <a:latin typeface="Segoe WPC"/>
                  </a:rPr>
                  <a:t>correctly</a:t>
                </a:r>
                <a:r>
                  <a:rPr lang="es-PE" sz="900" b="0" i="0" dirty="0">
                    <a:solidFill>
                      <a:schemeClr val="tx1"/>
                    </a:solidFill>
                    <a:effectLst/>
                    <a:latin typeface="Segoe WPC"/>
                  </a:rPr>
                  <a:t> </a:t>
                </a:r>
                <a:r>
                  <a:rPr lang="es-PE" sz="900" b="0" i="0" dirty="0" err="1">
                    <a:solidFill>
                      <a:schemeClr val="tx1"/>
                    </a:solidFill>
                    <a:effectLst/>
                    <a:latin typeface="Segoe WPC"/>
                  </a:rPr>
                  <a:t>chosen</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8. </a:t>
                </a:r>
                <a:r>
                  <a:rPr lang="es-PE" sz="900" b="1" i="0" dirty="0" err="1">
                    <a:solidFill>
                      <a:schemeClr val="tx1"/>
                    </a:solidFill>
                    <a:effectLst/>
                    <a:latin typeface="Segoe WPC"/>
                  </a:rPr>
                  <a:t>Multicollinearity</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Multicollinearity</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are </a:t>
                </a:r>
                <a:r>
                  <a:rPr lang="es-PE" sz="900" b="0" i="0" dirty="0" err="1">
                    <a:solidFill>
                      <a:schemeClr val="tx1"/>
                    </a:solidFill>
                    <a:effectLst/>
                    <a:latin typeface="Segoe WPC"/>
                  </a:rPr>
                  <a:t>highly</a:t>
                </a:r>
                <a:r>
                  <a:rPr lang="es-PE" sz="900" b="0" i="0" dirty="0">
                    <a:solidFill>
                      <a:schemeClr val="tx1"/>
                    </a:solidFill>
                    <a:effectLst/>
                    <a:latin typeface="Segoe WPC"/>
                  </a:rPr>
                  <a:t> </a:t>
                </a:r>
                <a:r>
                  <a:rPr lang="es-PE" sz="900" b="0" i="0" dirty="0" err="1">
                    <a:solidFill>
                      <a:schemeClr val="tx1"/>
                    </a:solidFill>
                    <a:effectLst/>
                    <a:latin typeface="Segoe WPC"/>
                  </a:rPr>
                  <a:t>correlated</a:t>
                </a:r>
                <a:r>
                  <a:rPr lang="es-PE" sz="900" b="0" i="0" dirty="0">
                    <a:solidFill>
                      <a:schemeClr val="tx1"/>
                    </a:solidFill>
                    <a:effectLst/>
                    <a:latin typeface="Segoe WPC"/>
                  </a:rPr>
                  <a:t>; </a:t>
                </a:r>
                <a:r>
                  <a:rPr lang="es-PE" sz="900" b="0" i="0" dirty="0" err="1">
                    <a:solidFill>
                      <a:schemeClr val="tx1"/>
                    </a:solidFill>
                    <a:effectLst/>
                    <a:latin typeface="Segoe WPC"/>
                  </a:rPr>
                  <a:t>perfect</a:t>
                </a:r>
                <a:r>
                  <a:rPr lang="es-PE" sz="900" b="0" i="0" dirty="0">
                    <a:solidFill>
                      <a:schemeClr val="tx1"/>
                    </a:solidFill>
                    <a:effectLst/>
                    <a:latin typeface="Segoe WPC"/>
                  </a:rPr>
                  <a:t> </a:t>
                </a:r>
                <a:r>
                  <a:rPr lang="es-PE" sz="900" b="0" i="0" dirty="0" err="1">
                    <a:solidFill>
                      <a:schemeClr val="tx1"/>
                    </a:solidFill>
                    <a:effectLst/>
                    <a:latin typeface="Segoe WPC"/>
                  </a:rPr>
                  <a:t>collinearity</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exactly</a:t>
                </a:r>
                <a:r>
                  <a:rPr lang="es-PE" sz="900" b="0" i="0" dirty="0">
                    <a:solidFill>
                      <a:schemeClr val="tx1"/>
                    </a:solidFill>
                    <a:effectLst/>
                    <a:latin typeface="Segoe WPC"/>
                  </a:rPr>
                  <a:t> </a:t>
                </a:r>
                <a:r>
                  <a:rPr lang="es-PE" sz="900" b="0" i="0" dirty="0" err="1">
                    <a:solidFill>
                      <a:schemeClr val="tx1"/>
                    </a:solidFill>
                    <a:effectLst/>
                    <a:latin typeface="Segoe WPC"/>
                  </a:rPr>
                  <a:t>explained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others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High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makes</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hard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separate</a:t>
                </a:r>
                <a:r>
                  <a:rPr lang="es-PE" sz="900" b="0" i="0" dirty="0">
                    <a:solidFill>
                      <a:schemeClr val="tx1"/>
                    </a:solidFill>
                    <a:effectLst/>
                    <a:latin typeface="Segoe WPC"/>
                  </a:rPr>
                  <a:t> individual </a:t>
                </a:r>
                <a:r>
                  <a:rPr lang="es-PE" sz="900" b="0" i="0" dirty="0" err="1">
                    <a:solidFill>
                      <a:schemeClr val="tx1"/>
                    </a:solidFill>
                    <a:effectLst/>
                    <a:latin typeface="Segoe WPC"/>
                  </a:rPr>
                  <a:t>effects</a:t>
                </a:r>
                <a:r>
                  <a:rPr lang="es-PE" sz="900" b="0" i="0" dirty="0">
                    <a:solidFill>
                      <a:schemeClr val="tx1"/>
                    </a:solidFill>
                    <a:effectLst/>
                    <a:latin typeface="Segoe WPC"/>
                  </a:rPr>
                  <a:t>; </a:t>
                </a:r>
                <a:r>
                  <a:rPr lang="es-PE" sz="900" b="0" i="0" dirty="0" err="1">
                    <a:solidFill>
                      <a:schemeClr val="tx1"/>
                    </a:solidFill>
                    <a:effectLst/>
                    <a:latin typeface="Segoe WPC"/>
                  </a:rPr>
                  <a:t>perfect</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makes</a:t>
                </a:r>
                <a:r>
                  <a:rPr lang="es-PE" sz="900" b="0" i="0" dirty="0">
                    <a:solidFill>
                      <a:schemeClr val="tx1"/>
                    </a:solidFill>
                    <a:effectLst/>
                    <a:latin typeface="Segoe WPC"/>
                  </a:rPr>
                  <a:t> </a:t>
                </a:r>
                <a:r>
                  <a:rPr lang="es-PE" sz="900" b="0" i="0" dirty="0" err="1">
                    <a:solidFill>
                      <a:schemeClr val="tx1"/>
                    </a:solidFill>
                    <a:effectLst/>
                    <a:latin typeface="Segoe WPC"/>
                  </a:rPr>
                  <a:t>separate</a:t>
                </a:r>
                <a:r>
                  <a:rPr lang="es-PE" sz="900" b="0" i="0" dirty="0">
                    <a:solidFill>
                      <a:schemeClr val="tx1"/>
                    </a:solidFill>
                    <a:effectLst/>
                    <a:latin typeface="Segoe WPC"/>
                  </a:rPr>
                  <a:t> </a:t>
                </a:r>
                <a:r>
                  <a:rPr lang="es-PE" sz="900" b="0" i="0" dirty="0" err="1">
                    <a:solidFill>
                      <a:schemeClr val="tx1"/>
                    </a:solidFill>
                    <a:effectLst/>
                    <a:latin typeface="Segoe WPC"/>
                  </a:rPr>
                  <a:t>estimation</a:t>
                </a:r>
                <a:r>
                  <a:rPr lang="es-PE" sz="900" b="0" i="0" dirty="0">
                    <a:solidFill>
                      <a:schemeClr val="tx1"/>
                    </a:solidFill>
                    <a:effectLst/>
                    <a:latin typeface="Segoe WPC"/>
                  </a:rPr>
                  <a:t> </a:t>
                </a:r>
                <a:r>
                  <a:rPr lang="es-PE" sz="900" b="0" i="0" dirty="0" err="1">
                    <a:solidFill>
                      <a:schemeClr val="tx1"/>
                    </a:solidFill>
                    <a:effectLst/>
                    <a:latin typeface="Segoe WPC"/>
                  </a:rPr>
                  <a:t>impossible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t>
                </a:r>
                <a:r>
                  <a:rPr lang="es-PE" sz="900" b="0" i="0" dirty="0" err="1">
                    <a:solidFill>
                      <a:schemeClr val="tx1"/>
                    </a:solidFill>
                    <a:effectLst/>
                    <a:latin typeface="Segoe WPC"/>
                  </a:rPr>
                  <a:t>point</a:t>
                </a:r>
                <a:r>
                  <a:rPr lang="es-PE" sz="900" b="0" i="0" dirty="0">
                    <a:solidFill>
                      <a:schemeClr val="tx1"/>
                    </a:solidFill>
                    <a:effectLst/>
                    <a:latin typeface="Segoe WPC"/>
                  </a:rPr>
                  <a:t> in </a:t>
                </a:r>
                <a:r>
                  <a:rPr lang="es-PE" sz="900" b="0" i="0" dirty="0" err="1">
                    <a:solidFill>
                      <a:schemeClr val="tx1"/>
                    </a:solidFill>
                    <a:effectLst/>
                    <a:latin typeface="Segoe WPC"/>
                  </a:rPr>
                  <a:t>nearly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direction</a:t>
                </a:r>
                <a:r>
                  <a:rPr lang="es-PE" sz="900" b="0" i="0" dirty="0">
                    <a:solidFill>
                      <a:schemeClr val="tx1"/>
                    </a:solidFill>
                    <a:effectLst/>
                    <a:latin typeface="Segoe WPC"/>
                  </a:rPr>
                  <a:t>, so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cannot</a:t>
                </a:r>
                <a:r>
                  <a:rPr lang="es-PE" sz="900" b="0" i="0" dirty="0">
                    <a:solidFill>
                      <a:schemeClr val="tx1"/>
                    </a:solidFill>
                    <a:effectLst/>
                    <a:latin typeface="Segoe WPC"/>
                  </a:rPr>
                  <a:t> </a:t>
                </a:r>
                <a:r>
                  <a:rPr lang="es-PE" sz="900" b="0" i="0" dirty="0" err="1">
                    <a:solidFill>
                      <a:schemeClr val="tx1"/>
                    </a:solidFill>
                    <a:effectLst/>
                    <a:latin typeface="Segoe WPC"/>
                  </a:rPr>
                  <a:t>clearly</a:t>
                </a:r>
                <a:r>
                  <a:rPr lang="es-PE" sz="900" b="0" i="0" dirty="0">
                    <a:solidFill>
                      <a:schemeClr val="tx1"/>
                    </a:solidFill>
                    <a:effectLst/>
                    <a:latin typeface="Segoe WPC"/>
                  </a:rPr>
                  <a:t> </a:t>
                </a:r>
                <a:r>
                  <a:rPr lang="es-PE" sz="900" b="0" i="0" dirty="0" err="1">
                    <a:solidFill>
                      <a:schemeClr val="tx1"/>
                    </a:solidFill>
                    <a:effectLst/>
                    <a:latin typeface="Segoe WPC"/>
                  </a:rPr>
                  <a:t>assign</a:t>
                </a:r>
                <a:r>
                  <a:rPr lang="es-PE" sz="900" b="0" i="0" dirty="0">
                    <a:solidFill>
                      <a:schemeClr val="tx1"/>
                    </a:solidFill>
                    <a:effectLst/>
                    <a:latin typeface="Segoe WPC"/>
                  </a:rPr>
                  <a:t> </a:t>
                </a:r>
                <a:r>
                  <a:rPr lang="es-PE" sz="900" b="0" i="0" dirty="0" err="1">
                    <a:solidFill>
                      <a:schemeClr val="tx1"/>
                    </a:solidFill>
                    <a:effectLst/>
                    <a:latin typeface="Segoe WPC"/>
                  </a:rPr>
                  <a:t>influence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 </a:t>
                </a:r>
                <a:r>
                  <a:rPr lang="es-PE" sz="900" b="0" i="0" dirty="0" err="1">
                    <a:solidFill>
                      <a:schemeClr val="tx1"/>
                    </a:solidFill>
                    <a:effectLst/>
                    <a:latin typeface="Segoe WPC"/>
                  </a:rPr>
                  <a:t>common</a:t>
                </a:r>
                <a:r>
                  <a:rPr lang="es-PE" sz="900" b="0" i="0" dirty="0">
                    <a:solidFill>
                      <a:schemeClr val="tx1"/>
                    </a:solidFill>
                    <a:effectLst/>
                    <a:latin typeface="Segoe WPC"/>
                  </a:rPr>
                  <a:t> </a:t>
                </a:r>
                <a:r>
                  <a:rPr lang="es-PE" sz="900" b="0" i="0" dirty="0" err="1">
                    <a:solidFill>
                      <a:schemeClr val="tx1"/>
                    </a:solidFill>
                    <a:effectLst/>
                    <a:latin typeface="Segoe WPC"/>
                  </a:rPr>
                  <a:t>diagnostic</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𝑉𝐼</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𝐹</m:t>
                        </m:r>
                      </m:e>
                      <m:sub>
                        <m:r>
                          <a:rPr lang="ar-AE" sz="900" i="1">
                            <a:solidFill>
                              <a:schemeClr val="tx1"/>
                            </a:solidFill>
                            <a:latin typeface="Cambria Math" panose="02040503050406030204" pitchFamily="18" charset="0"/>
                          </a:rPr>
                          <m:t>𝑗</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𝑗</m:t>
                            </m:r>
                          </m:sub>
                          <m:sup>
                            <m:r>
                              <a:rPr lang="ar-AE" sz="900" i="0">
                                <a:solidFill>
                                  <a:schemeClr val="tx1"/>
                                </a:solidFill>
                                <a:latin typeface="Cambria Math" panose="02040503050406030204" pitchFamily="18" charset="0"/>
                              </a:rPr>
                              <m:t>2</m:t>
                            </m:r>
                          </m:sup>
                        </m:sSubSup>
                      </m:e>
                    </m:d>
                  </m:oMath>
                </a14:m>
                <a:r>
                  <a:rPr lang="ar-A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a:t>
                </a:r>
                <a14:m>
                  <m:oMath xmlns:m="http://schemas.openxmlformats.org/officeDocument/2006/math">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𝑗</m:t>
                        </m:r>
                      </m:sub>
                      <m:sup>
                        <m:r>
                          <a:rPr lang="ar-AE" sz="900" i="0">
                            <a:solidFill>
                              <a:schemeClr val="tx1"/>
                            </a:solidFill>
                            <a:latin typeface="Cambria Math" panose="02040503050406030204" pitchFamily="18" charset="0"/>
                          </a:rPr>
                          <m:t>2</m:t>
                        </m:r>
                      </m:sup>
                    </m:sSubSup>
                  </m:oMath>
                </a14:m>
                <a:r>
                  <a:rPr lang="ar-AE" sz="900" b="0" i="0" dirty="0">
                    <a:solidFill>
                      <a:schemeClr val="tx1"/>
                    </a:solidFill>
                    <a:effectLst/>
                    <a:latin typeface="Segoe WPC"/>
                  </a:rPr>
                  <a:t> </a:t>
                </a:r>
                <a:r>
                  <a:rPr lang="es-PE" sz="900" b="0" i="0" dirty="0">
                    <a:solidFill>
                      <a:schemeClr val="tx1"/>
                    </a:solidFill>
                    <a:effectLst/>
                    <a:latin typeface="Segoe WPC"/>
                  </a:rPr>
                  <a:t>comes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regressing</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1">
                            <a:solidFill>
                              <a:schemeClr val="tx1"/>
                            </a:solidFill>
                            <a:latin typeface="Cambria Math" panose="02040503050406030204" pitchFamily="18" charset="0"/>
                          </a:rPr>
                          <m:t>𝑗</m:t>
                        </m:r>
                      </m:sub>
                    </m:sSub>
                  </m:oMath>
                </a14:m>
                <a:r>
                  <a:rPr lang="ar-A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above</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10</m:t>
                    </m:r>
                  </m:oMath>
                </a14:m>
                <a:r>
                  <a:rPr lang="es-PE" sz="900" b="0" i="0" dirty="0">
                    <a:solidFill>
                      <a:schemeClr val="tx1"/>
                    </a:solidFill>
                    <a:effectLst/>
                    <a:latin typeface="Segoe WPC"/>
                  </a:rPr>
                  <a:t> are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considered</a:t>
                </a:r>
                <a:r>
                  <a:rPr lang="es-PE" sz="900" b="0" i="0" dirty="0">
                    <a:solidFill>
                      <a:schemeClr val="tx1"/>
                    </a:solidFill>
                    <a:effectLst/>
                    <a:latin typeface="Segoe WPC"/>
                  </a:rPr>
                  <a:t> </a:t>
                </a:r>
                <a:r>
                  <a:rPr lang="es-PE" sz="900" b="0" i="0" dirty="0" err="1">
                    <a:solidFill>
                      <a:schemeClr val="tx1"/>
                    </a:solidFill>
                    <a:effectLst/>
                    <a:latin typeface="Segoe WPC"/>
                  </a:rPr>
                  <a:t>excessive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Multicollinearity</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bias</a:t>
                </a:r>
                <a:r>
                  <a:rPr lang="es-PE" sz="900" b="0" i="0" dirty="0">
                    <a:solidFill>
                      <a:schemeClr val="tx1"/>
                    </a:solidFill>
                    <a:effectLst/>
                    <a:latin typeface="Segoe WPC"/>
                  </a:rPr>
                  <a:t> OLS,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inflates</a:t>
                </a:r>
                <a:r>
                  <a:rPr lang="es-PE" sz="900" b="0" i="0" dirty="0">
                    <a:solidFill>
                      <a:schemeClr val="tx1"/>
                    </a:solidFill>
                    <a:effectLst/>
                    <a:latin typeface="Segoe WPC"/>
                  </a:rPr>
                  <a:t> standard </a:t>
                </a:r>
                <a:r>
                  <a:rPr lang="es-PE" sz="900" b="0" i="0" dirty="0" err="1">
                    <a:solidFill>
                      <a:schemeClr val="tx1"/>
                    </a:solidFill>
                    <a:effectLst/>
                    <a:latin typeface="Segoe WPC"/>
                  </a:rPr>
                  <a:t>errors</a:t>
                </a:r>
                <a:r>
                  <a:rPr lang="es-PE" sz="900" b="0" i="0" dirty="0">
                    <a:solidFill>
                      <a:schemeClr val="tx1"/>
                    </a:solidFill>
                    <a:effectLst/>
                    <a:latin typeface="Segoe WPC"/>
                  </a:rPr>
                  <a:t> and can produce a </a:t>
                </a:r>
                <a:r>
                  <a:rPr lang="es-PE" sz="900" b="0" i="0" dirty="0" err="1">
                    <a:solidFill>
                      <a:schemeClr val="tx1"/>
                    </a:solidFill>
                    <a:effectLst/>
                    <a:latin typeface="Segoe WPC"/>
                  </a:rPr>
                  <a:t>significant</a:t>
                </a:r>
                <a:r>
                  <a:rPr lang="es-PE" sz="900" b="0" i="0" dirty="0">
                    <a:solidFill>
                      <a:schemeClr val="tx1"/>
                    </a:solidFill>
                    <a:effectLst/>
                    <a:latin typeface="Segoe WPC"/>
                  </a:rPr>
                  <a:t> </a:t>
                </a:r>
                <a:r>
                  <a:rPr lang="es-PE" sz="900" b="0" i="0" dirty="0" err="1">
                    <a:solidFill>
                      <a:schemeClr val="tx1"/>
                    </a:solidFill>
                    <a:effectLst/>
                    <a:latin typeface="Segoe WPC"/>
                  </a:rPr>
                  <a:t>overall</a:t>
                </a:r>
                <a:r>
                  <a:rPr lang="es-PE" sz="900" b="0" i="0" dirty="0">
                    <a:solidFill>
                      <a:schemeClr val="tx1"/>
                    </a:solidFill>
                    <a:effectLst/>
                    <a:latin typeface="Segoe WPC"/>
                  </a:rPr>
                  <a:t> F-test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weak</a:t>
                </a:r>
                <a:r>
                  <a:rPr lang="es-PE" sz="900" b="0" i="0" dirty="0">
                    <a:solidFill>
                      <a:schemeClr val="tx1"/>
                    </a:solidFill>
                    <a:effectLst/>
                    <a:latin typeface="Segoe WPC"/>
                  </a:rPr>
                  <a:t> individual </a:t>
                </a:r>
                <a14:m>
                  <m:oMath xmlns:m="http://schemas.openxmlformats.org/officeDocument/2006/math">
                    <m:r>
                      <a:rPr lang="es-PE" sz="900" i="1">
                        <a:solidFill>
                          <a:schemeClr val="tx1"/>
                        </a:solidFill>
                        <a:latin typeface="Cambria Math" panose="02040503050406030204" pitchFamily="18" charset="0"/>
                      </a:rPr>
                      <m:t>𝑡</m:t>
                    </m:r>
                  </m:oMath>
                </a14:m>
                <a:r>
                  <a:rPr lang="es-PE" sz="900" b="0" i="0" dirty="0">
                    <a:solidFill>
                      <a:schemeClr val="tx1"/>
                    </a:solidFill>
                    <a:effectLst/>
                    <a:latin typeface="Segoe WPC"/>
                  </a:rPr>
                  <a:t>-</a:t>
                </a:r>
                <a:r>
                  <a:rPr lang="es-PE" sz="900" b="0" i="0" dirty="0" err="1">
                    <a:solidFill>
                      <a:schemeClr val="tx1"/>
                    </a:solidFill>
                    <a:effectLst/>
                    <a:latin typeface="Segoe WPC"/>
                  </a:rPr>
                  <a:t>tests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Multicollinearity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as </a:t>
                </a:r>
                <a:r>
                  <a:rPr lang="es-PE" sz="900" b="0" i="0" dirty="0" err="1">
                    <a:solidFill>
                      <a:schemeClr val="tx1"/>
                    </a:solidFill>
                    <a:effectLst/>
                    <a:latin typeface="Segoe WPC"/>
                  </a:rPr>
                  <a:t>perfect</a:t>
                </a:r>
                <a:r>
                  <a:rPr lang="es-PE" sz="900" b="0" i="0" dirty="0">
                    <a:solidFill>
                      <a:schemeClr val="tx1"/>
                    </a:solidFill>
                    <a:effectLst/>
                    <a:latin typeface="Segoe WPC"/>
                  </a:rPr>
                  <a:t> </a:t>
                </a:r>
                <a:r>
                  <a:rPr lang="es-PE" sz="900" b="0" i="0" dirty="0" err="1">
                    <a:solidFill>
                      <a:schemeClr val="tx1"/>
                    </a:solidFill>
                    <a:effectLst/>
                    <a:latin typeface="Segoe WPC"/>
                  </a:rPr>
                  <a:t>collinearity</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perfect</a:t>
                </a:r>
                <a:r>
                  <a:rPr lang="es-PE" sz="900" b="0" i="0" dirty="0">
                    <a:solidFill>
                      <a:schemeClr val="tx1"/>
                    </a:solidFill>
                    <a:effectLst/>
                    <a:latin typeface="Segoe WPC"/>
                  </a:rPr>
                  <a:t> </a:t>
                </a:r>
                <a:r>
                  <a:rPr lang="es-PE" sz="900" b="0" i="0" dirty="0" err="1">
                    <a:solidFill>
                      <a:schemeClr val="tx1"/>
                    </a:solidFill>
                    <a:effectLst/>
                    <a:latin typeface="Segoe WPC"/>
                  </a:rPr>
                  <a:t>collinearity</a:t>
                </a:r>
                <a:r>
                  <a:rPr lang="es-PE" sz="900" b="0" i="0" dirty="0">
                    <a:solidFill>
                      <a:schemeClr val="tx1"/>
                    </a:solidFill>
                    <a:effectLst/>
                    <a:latin typeface="Segoe WPC"/>
                  </a:rPr>
                  <a:t> </a:t>
                </a:r>
                <a:r>
                  <a:rPr lang="es-PE" sz="900" b="0" i="0" dirty="0" err="1">
                    <a:solidFill>
                      <a:schemeClr val="tx1"/>
                    </a:solidFill>
                    <a:effectLst/>
                    <a:latin typeface="Segoe WPC"/>
                  </a:rPr>
                  <a:t>prevents</a:t>
                </a:r>
                <a:r>
                  <a:rPr lang="es-PE" sz="900" b="0" i="0" dirty="0">
                    <a:solidFill>
                      <a:schemeClr val="tx1"/>
                    </a:solidFill>
                    <a:effectLst/>
                    <a:latin typeface="Segoe WPC"/>
                  </a:rPr>
                  <a:t> </a:t>
                </a:r>
                <a:r>
                  <a:rPr lang="es-PE" sz="900" b="0" i="0" dirty="0" err="1">
                    <a:solidFill>
                      <a:schemeClr val="tx1"/>
                    </a:solidFill>
                    <a:effectLst/>
                    <a:latin typeface="Segoe WPC"/>
                  </a:rPr>
                  <a:t>estimation</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9. Residual </a:t>
                </a:r>
                <a:r>
                  <a:rPr lang="es-PE" sz="900" b="1" i="0" dirty="0" err="1">
                    <a:solidFill>
                      <a:schemeClr val="tx1"/>
                    </a:solidFill>
                    <a:effectLst/>
                    <a:latin typeface="Segoe WPC"/>
                  </a:rPr>
                  <a:t>Plots</a:t>
                </a:r>
                <a:r>
                  <a:rPr lang="es-PE" sz="900" b="1" i="0" dirty="0">
                    <a:solidFill>
                      <a:schemeClr val="tx1"/>
                    </a:solidFill>
                    <a:effectLst/>
                    <a:latin typeface="Segoe WPC"/>
                  </a:rPr>
                  <a:t> and </a:t>
                </a:r>
                <a:r>
                  <a:rPr lang="es-PE" sz="900" b="1" i="0" dirty="0" err="1">
                    <a:solidFill>
                      <a:schemeClr val="tx1"/>
                    </a:solidFill>
                    <a:effectLst/>
                    <a:latin typeface="Segoe WPC"/>
                  </a:rPr>
                  <a:t>Outliers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Residual </a:t>
                </a:r>
                <a:r>
                  <a:rPr lang="es-PE" sz="900" b="0" i="0" dirty="0" err="1">
                    <a:solidFill>
                      <a:schemeClr val="tx1"/>
                    </a:solidFill>
                    <a:effectLst/>
                    <a:latin typeface="Segoe WPC"/>
                  </a:rPr>
                  <a:t>plots</a:t>
                </a:r>
                <a:r>
                  <a:rPr lang="es-PE" sz="900" b="0" i="0" dirty="0">
                    <a:solidFill>
                      <a:schemeClr val="tx1"/>
                    </a:solidFill>
                    <a:effectLst/>
                    <a:latin typeface="Segoe WPC"/>
                  </a:rPr>
                  <a:t> and </a:t>
                </a:r>
                <a:r>
                  <a:rPr lang="es-PE" sz="900" b="0" i="0" dirty="0" err="1">
                    <a:solidFill>
                      <a:schemeClr val="tx1"/>
                    </a:solidFill>
                    <a:effectLst/>
                    <a:latin typeface="Segoe WPC"/>
                  </a:rPr>
                  <a:t>Cook’s</a:t>
                </a:r>
                <a:r>
                  <a:rPr lang="es-PE" sz="900" b="0" i="0" dirty="0">
                    <a:solidFill>
                      <a:schemeClr val="tx1"/>
                    </a:solidFill>
                    <a:effectLst/>
                    <a:latin typeface="Segoe WPC"/>
                  </a:rPr>
                  <a:t> </a:t>
                </a:r>
                <a:r>
                  <a:rPr lang="es-PE" sz="900" b="0" i="0" dirty="0" err="1">
                    <a:solidFill>
                      <a:schemeClr val="tx1"/>
                    </a:solidFill>
                    <a:effectLst/>
                    <a:latin typeface="Segoe WPC"/>
                  </a:rPr>
                  <a:t>distance</a:t>
                </a:r>
                <a:r>
                  <a:rPr lang="es-PE" sz="900" b="0" i="0" dirty="0">
                    <a:solidFill>
                      <a:schemeClr val="tx1"/>
                    </a:solidFill>
                    <a:effectLst/>
                    <a:latin typeface="Segoe WPC"/>
                  </a:rPr>
                  <a:t> are </a:t>
                </a:r>
                <a:r>
                  <a:rPr lang="es-PE" sz="900" b="0" i="0" dirty="0" err="1">
                    <a:solidFill>
                      <a:schemeClr val="tx1"/>
                    </a:solidFill>
                    <a:effectLst/>
                    <a:latin typeface="Segoe WPC"/>
                  </a:rPr>
                  <a:t>key</a:t>
                </a:r>
                <a:r>
                  <a:rPr lang="es-PE" sz="900" b="0" i="0" dirty="0">
                    <a:solidFill>
                      <a:schemeClr val="tx1"/>
                    </a:solidFill>
                    <a:effectLst/>
                    <a:latin typeface="Segoe WPC"/>
                  </a:rPr>
                  <a:t> </a:t>
                </a:r>
                <a:r>
                  <a:rPr lang="es-PE" sz="900" b="0" i="0" dirty="0" err="1">
                    <a:solidFill>
                      <a:schemeClr val="tx1"/>
                    </a:solidFill>
                    <a:effectLst/>
                    <a:latin typeface="Segoe WPC"/>
                  </a:rPr>
                  <a:t>post-estimation</a:t>
                </a:r>
                <a:r>
                  <a:rPr lang="es-PE" sz="900" b="0" i="0" dirty="0">
                    <a:solidFill>
                      <a:schemeClr val="tx1"/>
                    </a:solidFill>
                    <a:effectLst/>
                    <a:latin typeface="Segoe WPC"/>
                  </a:rPr>
                  <a:t> </a:t>
                </a:r>
                <a:r>
                  <a:rPr lang="es-PE" sz="900" b="0" i="0" dirty="0" err="1">
                    <a:solidFill>
                      <a:schemeClr val="tx1"/>
                    </a:solidFill>
                    <a:effectLst/>
                    <a:latin typeface="Segoe WPC"/>
                  </a:rPr>
                  <a:t>diagnostics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good</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leaves</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look </a:t>
                </a:r>
                <a:r>
                  <a:rPr lang="es-PE" sz="900" b="0" i="0" dirty="0" err="1">
                    <a:solidFill>
                      <a:schemeClr val="tx1"/>
                    </a:solidFill>
                    <a:effectLst/>
                    <a:latin typeface="Segoe WPC"/>
                  </a:rPr>
                  <a:t>random</a:t>
                </a:r>
                <a:r>
                  <a:rPr lang="es-PE" sz="900" b="0" i="0" dirty="0">
                    <a:solidFill>
                      <a:schemeClr val="tx1"/>
                    </a:solidFill>
                    <a:effectLst/>
                    <a:latin typeface="Segoe WPC"/>
                  </a:rPr>
                  <a:t> and </a:t>
                </a:r>
                <a:r>
                  <a:rPr lang="es-PE" sz="900" b="0" i="0" dirty="0" err="1">
                    <a:solidFill>
                      <a:schemeClr val="tx1"/>
                    </a:solidFill>
                    <a:effectLst/>
                    <a:latin typeface="Segoe WPC"/>
                  </a:rPr>
                  <a:t>small</a:t>
                </a:r>
                <a:r>
                  <a:rPr lang="es-PE" sz="900" b="0" i="0" dirty="0">
                    <a:solidFill>
                      <a:schemeClr val="tx1"/>
                    </a:solidFill>
                    <a:effectLst/>
                    <a:latin typeface="Segoe WPC"/>
                  </a:rPr>
                  <a:t>; </a:t>
                </a:r>
                <a:r>
                  <a:rPr lang="es-PE" sz="900" b="0" i="0" dirty="0" err="1">
                    <a:solidFill>
                      <a:schemeClr val="tx1"/>
                    </a:solidFill>
                    <a:effectLst/>
                    <a:latin typeface="Segoe WPC"/>
                  </a:rPr>
                  <a:t>influential</a:t>
                </a:r>
                <a:r>
                  <a:rPr lang="es-PE" sz="900" b="0" i="0" dirty="0">
                    <a:solidFill>
                      <a:schemeClr val="tx1"/>
                    </a:solidFill>
                    <a:effectLst/>
                    <a:latin typeface="Segoe WPC"/>
                  </a:rPr>
                  <a:t> </a:t>
                </a:r>
                <a:r>
                  <a:rPr lang="es-PE" sz="900" b="0" i="0" dirty="0" err="1">
                    <a:solidFill>
                      <a:schemeClr val="tx1"/>
                    </a:solidFill>
                    <a:effectLst/>
                    <a:latin typeface="Segoe WPC"/>
                  </a:rPr>
                  <a:t>outliers</a:t>
                </a:r>
                <a:r>
                  <a:rPr lang="es-PE" sz="900" b="0" i="0" dirty="0">
                    <a:solidFill>
                      <a:schemeClr val="tx1"/>
                    </a:solidFill>
                    <a:effectLst/>
                    <a:latin typeface="Segoe WPC"/>
                  </a:rPr>
                  <a:t> </a:t>
                </a:r>
                <a:r>
                  <a:rPr lang="es-PE" sz="900" b="0" i="0" dirty="0" err="1">
                    <a:solidFill>
                      <a:schemeClr val="tx1"/>
                    </a:solidFill>
                    <a:effectLst/>
                    <a:latin typeface="Segoe WPC"/>
                  </a:rPr>
                  <a:t>materially</a:t>
                </a:r>
                <a:r>
                  <a:rPr lang="es-PE" sz="900" b="0" i="0" dirty="0">
                    <a:solidFill>
                      <a:schemeClr val="tx1"/>
                    </a:solidFill>
                    <a:effectLst/>
                    <a:latin typeface="Segoe WPC"/>
                  </a:rPr>
                  <a:t> </a:t>
                </a:r>
                <a:r>
                  <a:rPr lang="es-PE" sz="900" b="0" i="0" dirty="0" err="1">
                    <a:solidFill>
                      <a:schemeClr val="tx1"/>
                    </a:solidFill>
                    <a:effectLst/>
                    <a:latin typeface="Segoe WPC"/>
                  </a:rPr>
                  <a:t>change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fitted</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Plot</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standardized</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a:t>
                </a:r>
                <a:r>
                  <a:rPr lang="es-PE" sz="900" b="0" i="0" dirty="0" err="1">
                    <a:solidFill>
                      <a:schemeClr val="tx1"/>
                    </a:solidFill>
                    <a:effectLst/>
                    <a:latin typeface="Segoe WPC"/>
                  </a:rPr>
                  <a:t>against</a:t>
                </a:r>
                <a:r>
                  <a:rPr lang="es-PE" sz="900" b="0" i="0" dirty="0">
                    <a:solidFill>
                      <a:schemeClr val="tx1"/>
                    </a:solidFill>
                    <a:effectLst/>
                    <a:latin typeface="Segoe WPC"/>
                  </a:rPr>
                  <a:t> </a:t>
                </a:r>
                <a:r>
                  <a:rPr lang="es-PE" sz="900" b="0" i="0" dirty="0" err="1">
                    <a:solidFill>
                      <a:schemeClr val="tx1"/>
                    </a:solidFill>
                    <a:effectLst/>
                    <a:latin typeface="Segoe WPC"/>
                  </a:rPr>
                  <a:t>regressors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spot </a:t>
                </a:r>
                <a:r>
                  <a:rPr lang="es-PE" sz="900" b="0" i="0" dirty="0" err="1">
                    <a:solidFill>
                      <a:schemeClr val="tx1"/>
                    </a:solidFill>
                    <a:effectLst/>
                    <a:latin typeface="Segoe WPC"/>
                  </a:rPr>
                  <a:t>patterns</a:t>
                </a:r>
                <a:r>
                  <a:rPr lang="es-PE" sz="900" b="0" i="0" dirty="0">
                    <a:solidFill>
                      <a:schemeClr val="tx1"/>
                    </a:solidFill>
                    <a:effectLst/>
                    <a:latin typeface="Segoe WPC"/>
                  </a:rPr>
                  <a:t>, </a:t>
                </a:r>
                <a:r>
                  <a:rPr lang="es-PE" sz="900" b="0" i="0" dirty="0" err="1">
                    <a:solidFill>
                      <a:schemeClr val="tx1"/>
                    </a:solidFill>
                    <a:effectLst/>
                    <a:latin typeface="Segoe WPC"/>
                  </a:rPr>
                  <a:t>curvature</a:t>
                </a:r>
                <a:r>
                  <a:rPr lang="es-PE" sz="900" b="0" i="0" dirty="0">
                    <a:solidFill>
                      <a:schemeClr val="tx1"/>
                    </a:solidFill>
                    <a:effectLst/>
                    <a:latin typeface="Segoe WPC"/>
                  </a:rPr>
                  <a:t>, </a:t>
                </a:r>
                <a:r>
                  <a:rPr lang="es-PE" sz="900" b="0" i="0" dirty="0" err="1">
                    <a:solidFill>
                      <a:schemeClr val="tx1"/>
                    </a:solidFill>
                    <a:effectLst/>
                    <a:latin typeface="Segoe WPC"/>
                  </a:rPr>
                  <a:t>changing</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extreme </a:t>
                </a:r>
                <a:r>
                  <a:rPr lang="es-PE" sz="900" b="0" i="0" dirty="0" err="1">
                    <a:solidFill>
                      <a:schemeClr val="tx1"/>
                    </a:solidFill>
                    <a:effectLst/>
                    <a:latin typeface="Segoe WPC"/>
                  </a:rPr>
                  <a:t>points</a:t>
                </a:r>
                <a:r>
                  <a:rPr lang="es-P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r>
                  <a:rPr lang="es-PE" sz="900" b="0" i="0" dirty="0" err="1">
                    <a:solidFill>
                      <a:schemeClr val="tx1"/>
                    </a:solidFill>
                    <a:effectLst/>
                    <a:latin typeface="Segoe WPC"/>
                  </a:rPr>
                  <a:t>check</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dropping</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point</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fit</a:t>
                </a:r>
                <a:r>
                  <a:rPr lang="es-PE" sz="900" b="0" i="0" dirty="0">
                    <a:solidFill>
                      <a:schemeClr val="tx1"/>
                    </a:solidFill>
                    <a:effectLst/>
                    <a:latin typeface="Segoe WPC"/>
                  </a:rPr>
                  <a:t> a </a:t>
                </a:r>
                <a:r>
                  <a:rPr lang="es-PE" sz="900" b="0" i="0" dirty="0" err="1">
                    <a:solidFill>
                      <a:schemeClr val="tx1"/>
                    </a:solidFill>
                    <a:effectLst/>
                    <a:latin typeface="Segoe WPC"/>
                  </a:rPr>
                  <a:t>lot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Standardized</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use </a:t>
                </a:r>
                <a14:m>
                  <m:oMath xmlns:m="http://schemas.openxmlformats.org/officeDocument/2006/math">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𝑒</m:t>
                            </m:r>
                          </m:e>
                        </m:acc>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𝑠</m:t>
                    </m:r>
                  </m:oMath>
                </a14:m>
                <a:r>
                  <a:rPr lang="ar-AE" sz="900" b="0" i="0" dirty="0">
                    <a:solidFill>
                      <a:schemeClr val="tx1"/>
                    </a:solidFill>
                    <a:effectLst/>
                    <a:latin typeface="Segoe WPC"/>
                  </a:rPr>
                  <a:t>; </a:t>
                </a:r>
                <a:r>
                  <a:rPr lang="es-PE" sz="900" b="0" i="0" dirty="0" err="1">
                    <a:solidFill>
                      <a:schemeClr val="tx1"/>
                    </a:solidFill>
                    <a:effectLst/>
                    <a:latin typeface="Segoe WPC"/>
                  </a:rPr>
                  <a:t>Cook’s</a:t>
                </a:r>
                <a:r>
                  <a:rPr lang="es-PE" sz="900" b="0" i="0" dirty="0">
                    <a:solidFill>
                      <a:schemeClr val="tx1"/>
                    </a:solidFill>
                    <a:effectLst/>
                    <a:latin typeface="Segoe WPC"/>
                  </a:rPr>
                  <a:t> </a:t>
                </a:r>
                <a:r>
                  <a:rPr lang="es-PE" sz="900" b="0" i="0" dirty="0" err="1">
                    <a:solidFill>
                      <a:schemeClr val="tx1"/>
                    </a:solidFill>
                    <a:effectLst/>
                    <a:latin typeface="Segoe WPC"/>
                  </a:rPr>
                  <a:t>distance</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much</a:t>
                </a:r>
                <a:r>
                  <a:rPr lang="es-PE" sz="900" b="0" i="0" dirty="0">
                    <a:solidFill>
                      <a:schemeClr val="tx1"/>
                    </a:solidFill>
                    <a:effectLst/>
                    <a:latin typeface="Segoe WPC"/>
                  </a:rPr>
                  <a:t> </a:t>
                </a:r>
                <a:r>
                  <a:rPr lang="es-PE" sz="900" b="0" i="0" dirty="0" err="1">
                    <a:solidFill>
                      <a:schemeClr val="tx1"/>
                    </a:solidFill>
                    <a:effectLst/>
                    <a:latin typeface="Segoe WPC"/>
                  </a:rPr>
                  <a:t>fitted</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change</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observation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removed, and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above</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1</m:t>
                    </m:r>
                  </m:oMath>
                </a14:m>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indicate</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influential</a:t>
                </a:r>
                <a:r>
                  <a:rPr lang="es-PE" sz="900" b="0" i="0" dirty="0">
                    <a:solidFill>
                      <a:schemeClr val="tx1"/>
                    </a:solidFill>
                    <a:effectLst/>
                    <a:latin typeface="Segoe WPC"/>
                  </a:rPr>
                  <a:t> </a:t>
                </a:r>
                <a:r>
                  <a:rPr lang="es-PE" sz="900" b="0" i="0" dirty="0" err="1">
                    <a:solidFill>
                      <a:schemeClr val="tx1"/>
                    </a:solidFill>
                    <a:effectLst/>
                    <a:latin typeface="Segoe WPC"/>
                  </a:rPr>
                  <a:t>outlier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Residual </a:t>
                </a:r>
                <a:r>
                  <a:rPr lang="es-PE" sz="900" b="0" i="0" dirty="0" err="1">
                    <a:solidFill>
                      <a:schemeClr val="tx1"/>
                    </a:solidFill>
                    <a:effectLst/>
                    <a:latin typeface="Segoe WPC"/>
                  </a:rPr>
                  <a:t>plots</a:t>
                </a:r>
                <a:r>
                  <a:rPr lang="es-PE" sz="900" b="0" i="0" dirty="0">
                    <a:solidFill>
                      <a:schemeClr val="tx1"/>
                    </a:solidFill>
                    <a:effectLst/>
                    <a:latin typeface="Segoe WPC"/>
                  </a:rPr>
                  <a:t> </a:t>
                </a:r>
                <a:r>
                  <a:rPr lang="es-PE" sz="900" b="0" i="0" dirty="0" err="1">
                    <a:solidFill>
                      <a:schemeClr val="tx1"/>
                    </a:solidFill>
                    <a:effectLst/>
                    <a:latin typeface="Segoe WPC"/>
                  </a:rPr>
                  <a:t>help</a:t>
                </a:r>
                <a:r>
                  <a:rPr lang="es-PE" sz="900" b="0" i="0" dirty="0">
                    <a:solidFill>
                      <a:schemeClr val="tx1"/>
                    </a:solidFill>
                    <a:effectLst/>
                    <a:latin typeface="Segoe WPC"/>
                  </a:rPr>
                  <a:t> </a:t>
                </a:r>
                <a:r>
                  <a:rPr lang="es-PE" sz="900" b="0" i="0" dirty="0" err="1">
                    <a:solidFill>
                      <a:schemeClr val="tx1"/>
                    </a:solidFill>
                    <a:effectLst/>
                    <a:latin typeface="Segoe WPC"/>
                  </a:rPr>
                  <a:t>detect</a:t>
                </a:r>
                <a:r>
                  <a:rPr lang="es-PE" sz="900" b="0" i="0" dirty="0">
                    <a:solidFill>
                      <a:schemeClr val="tx1"/>
                    </a:solidFill>
                    <a:effectLst/>
                    <a:latin typeface="Segoe WPC"/>
                  </a:rPr>
                  <a:t> </a:t>
                </a:r>
                <a:r>
                  <a:rPr lang="es-PE" sz="900" b="0" i="0" dirty="0" err="1">
                    <a:solidFill>
                      <a:schemeClr val="tx1"/>
                    </a:solidFill>
                    <a:effectLst/>
                    <a:latin typeface="Segoe WPC"/>
                  </a:rPr>
                  <a:t>misspecification</a:t>
                </a:r>
                <a:r>
                  <a:rPr lang="es-PE" sz="900" b="0" i="0" dirty="0">
                    <a:solidFill>
                      <a:schemeClr val="tx1"/>
                    </a:solidFill>
                    <a:effectLst/>
                    <a:latin typeface="Segoe WPC"/>
                  </a:rPr>
                  <a:t> and </a:t>
                </a:r>
                <a:r>
                  <a:rPr lang="es-PE" sz="900" b="0" i="0" dirty="0" err="1">
                    <a:solidFill>
                      <a:schemeClr val="tx1"/>
                    </a:solidFill>
                    <a:effectLst/>
                    <a:latin typeface="Segoe WPC"/>
                  </a:rPr>
                  <a:t>heteroskedasticity</a:t>
                </a:r>
                <a:r>
                  <a:rPr lang="es-PE" sz="900" b="0" i="0" dirty="0">
                    <a:solidFill>
                      <a:schemeClr val="tx1"/>
                    </a:solidFill>
                    <a:effectLst/>
                    <a:latin typeface="Segoe WPC"/>
                  </a:rPr>
                  <a:t>; </a:t>
                </a:r>
                <a:r>
                  <a:rPr lang="es-PE" sz="900" b="0" i="0" dirty="0" err="1">
                    <a:solidFill>
                      <a:schemeClr val="tx1"/>
                    </a:solidFill>
                    <a:effectLst/>
                    <a:latin typeface="Segoe WPC"/>
                  </a:rPr>
                  <a:t>Cook’s</a:t>
                </a:r>
                <a:r>
                  <a:rPr lang="es-PE" sz="900" b="0" i="0" dirty="0">
                    <a:solidFill>
                      <a:schemeClr val="tx1"/>
                    </a:solidFill>
                    <a:effectLst/>
                    <a:latin typeface="Segoe WPC"/>
                  </a:rPr>
                  <a:t> </a:t>
                </a:r>
                <a:r>
                  <a:rPr lang="es-PE" sz="900" b="0" i="0" dirty="0" err="1">
                    <a:solidFill>
                      <a:schemeClr val="tx1"/>
                    </a:solidFill>
                    <a:effectLst/>
                    <a:latin typeface="Segoe WPC"/>
                  </a:rPr>
                  <a:t>distance</a:t>
                </a:r>
                <a:r>
                  <a:rPr lang="es-PE" sz="900" b="0" i="0" dirty="0">
                    <a:solidFill>
                      <a:schemeClr val="tx1"/>
                    </a:solidFill>
                    <a:effectLst/>
                    <a:latin typeface="Segoe WPC"/>
                  </a:rPr>
                  <a:t> </a:t>
                </a:r>
                <a:r>
                  <a:rPr lang="es-PE" sz="900" b="0" i="0" dirty="0" err="1">
                    <a:solidFill>
                      <a:schemeClr val="tx1"/>
                    </a:solidFill>
                    <a:effectLst/>
                    <a:latin typeface="Segoe WPC"/>
                  </a:rPr>
                  <a:t>identifies</a:t>
                </a:r>
                <a:r>
                  <a:rPr lang="es-PE" sz="900" b="0" i="0" dirty="0">
                    <a:solidFill>
                      <a:schemeClr val="tx1"/>
                    </a:solidFill>
                    <a:effectLst/>
                    <a:latin typeface="Segoe WPC"/>
                  </a:rPr>
                  <a:t> </a:t>
                </a:r>
                <a:r>
                  <a:rPr lang="es-PE" sz="900" b="0" i="0" dirty="0" err="1">
                    <a:solidFill>
                      <a:schemeClr val="tx1"/>
                    </a:solidFill>
                    <a:effectLst/>
                    <a:latin typeface="Segoe WPC"/>
                  </a:rPr>
                  <a:t>observations</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strongly</a:t>
                </a:r>
                <a:r>
                  <a:rPr lang="es-PE" sz="900" b="0" i="0" dirty="0">
                    <a:solidFill>
                      <a:schemeClr val="tx1"/>
                    </a:solidFill>
                    <a:effectLst/>
                    <a:latin typeface="Segoe WPC"/>
                  </a:rPr>
                  <a:t> </a:t>
                </a:r>
                <a:r>
                  <a:rPr lang="es-PE" sz="900" b="0" i="0" dirty="0" err="1">
                    <a:solidFill>
                      <a:schemeClr val="tx1"/>
                    </a:solidFill>
                    <a:effectLst/>
                    <a:latin typeface="Segoe WPC"/>
                  </a:rPr>
                  <a:t>affect</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outlier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a </a:t>
                </a:r>
                <a:r>
                  <a:rPr lang="es-PE" sz="900" b="0" i="0" dirty="0" err="1">
                    <a:solidFill>
                      <a:schemeClr val="tx1"/>
                    </a:solidFill>
                    <a:effectLst/>
                    <a:latin typeface="Segoe WPC"/>
                  </a:rPr>
                  <a:t>large</a:t>
                </a:r>
                <a:r>
                  <a:rPr lang="es-PE" sz="900" b="0" i="0" dirty="0">
                    <a:solidFill>
                      <a:schemeClr val="tx1"/>
                    </a:solidFill>
                    <a:effectLst/>
                    <a:latin typeface="Segoe WPC"/>
                  </a:rPr>
                  <a:t> residual, </a:t>
                </a:r>
                <a:r>
                  <a:rPr lang="es-PE" sz="900" b="0" i="0" dirty="0" err="1">
                    <a:solidFill>
                      <a:schemeClr val="tx1"/>
                    </a:solidFill>
                    <a:effectLst/>
                    <a:latin typeface="Segoe WPC"/>
                  </a:rPr>
                  <a:t>but</a:t>
                </a:r>
                <a:r>
                  <a:rPr lang="es-PE" sz="900" b="0" i="0" dirty="0">
                    <a:solidFill>
                      <a:schemeClr val="tx1"/>
                    </a:solidFill>
                    <a:effectLst/>
                    <a:latin typeface="Segoe WPC"/>
                  </a:rPr>
                  <a:t> a </a:t>
                </a:r>
                <a:r>
                  <a:rPr lang="es-PE" sz="900" b="0" i="0" dirty="0" err="1">
                    <a:solidFill>
                      <a:schemeClr val="tx1"/>
                    </a:solidFill>
                    <a:effectLst/>
                    <a:latin typeface="Segoe WPC"/>
                  </a:rPr>
                  <a:t>point</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materially</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estimated</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10. </a:t>
                </a:r>
                <a:r>
                  <a:rPr lang="es-PE" sz="900" b="1" i="0" dirty="0" err="1">
                    <a:solidFill>
                      <a:schemeClr val="tx1"/>
                    </a:solidFill>
                    <a:effectLst/>
                    <a:latin typeface="Segoe WPC"/>
                  </a:rPr>
                  <a:t>When</a:t>
                </a:r>
                <a:r>
                  <a:rPr lang="es-PE" sz="900" b="1" i="0" dirty="0">
                    <a:solidFill>
                      <a:schemeClr val="tx1"/>
                    </a:solidFill>
                    <a:effectLst/>
                    <a:latin typeface="Segoe WPC"/>
                  </a:rPr>
                  <a:t> OLS </a:t>
                </a:r>
                <a:r>
                  <a:rPr lang="es-PE" sz="900" b="1" i="0" dirty="0" err="1">
                    <a:solidFill>
                      <a:schemeClr val="tx1"/>
                    </a:solidFill>
                    <a:effectLst/>
                    <a:latin typeface="Segoe WPC"/>
                  </a:rPr>
                  <a:t>Is</a:t>
                </a:r>
                <a:r>
                  <a:rPr lang="es-PE" sz="900" b="1" i="0" dirty="0">
                    <a:solidFill>
                      <a:schemeClr val="tx1"/>
                    </a:solidFill>
                    <a:effectLst/>
                    <a:latin typeface="Segoe WPC"/>
                  </a:rPr>
                  <a:t> </a:t>
                </a:r>
                <a:r>
                  <a:rPr lang="es-PE" sz="900" b="1" i="0" dirty="0" err="1">
                    <a:solidFill>
                      <a:schemeClr val="tx1"/>
                    </a:solidFill>
                    <a:effectLst/>
                    <a:latin typeface="Segoe WPC"/>
                  </a:rPr>
                  <a:t>Best</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Under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Gauss-</a:t>
                </a:r>
                <a:r>
                  <a:rPr lang="es-PE" sz="900" b="0" i="0" dirty="0" err="1">
                    <a:solidFill>
                      <a:schemeClr val="tx1"/>
                    </a:solidFill>
                    <a:effectLst/>
                    <a:latin typeface="Segoe WPC"/>
                  </a:rPr>
                  <a:t>Markov</a:t>
                </a:r>
                <a:r>
                  <a:rPr lang="es-PE" sz="900" b="0" i="0" dirty="0">
                    <a:solidFill>
                      <a:schemeClr val="tx1"/>
                    </a:solidFill>
                    <a:effectLst/>
                    <a:latin typeface="Segoe WPC"/>
                  </a:rPr>
                  <a:t> </a:t>
                </a:r>
                <a:r>
                  <a:rPr lang="es-PE" sz="900" b="0" i="0" dirty="0" err="1">
                    <a:solidFill>
                      <a:schemeClr val="tx1"/>
                    </a:solidFill>
                    <a:effectLst/>
                    <a:latin typeface="Segoe WPC"/>
                  </a:rPr>
                  <a:t>assumptions</a:t>
                </a:r>
                <a:r>
                  <a:rPr lang="es-PE" sz="900" b="0" i="0" dirty="0">
                    <a:solidFill>
                      <a:schemeClr val="tx1"/>
                    </a:solidFill>
                    <a:effectLst/>
                    <a:latin typeface="Segoe WPC"/>
                  </a:rPr>
                  <a:t>, OLS </a:t>
                </a:r>
                <a:r>
                  <a:rPr lang="es-PE" sz="900" b="0" i="0" dirty="0" err="1">
                    <a:solidFill>
                      <a:schemeClr val="tx1"/>
                    </a:solidFill>
                    <a:effectLst/>
                    <a:latin typeface="Segoe WPC"/>
                  </a:rPr>
                  <a:t>is</a:t>
                </a:r>
                <a:r>
                  <a:rPr lang="es-PE" sz="900" b="0" i="0" dirty="0">
                    <a:solidFill>
                      <a:schemeClr val="tx1"/>
                    </a:solidFill>
                    <a:effectLst/>
                    <a:latin typeface="Segoe WPC"/>
                  </a:rPr>
                  <a:t> BLUE: </a:t>
                </a:r>
                <a:r>
                  <a:rPr lang="es-PE" sz="900" b="0" i="0" dirty="0" err="1">
                    <a:solidFill>
                      <a:schemeClr val="tx1"/>
                    </a:solidFill>
                    <a:effectLst/>
                    <a:latin typeface="Segoe WPC"/>
                  </a:rPr>
                  <a:t>Best</a:t>
                </a:r>
                <a:r>
                  <a:rPr lang="es-PE" sz="900" b="0" i="0" dirty="0">
                    <a:solidFill>
                      <a:schemeClr val="tx1"/>
                    </a:solidFill>
                    <a:effectLst/>
                    <a:latin typeface="Segoe WPC"/>
                  </a:rPr>
                  <a:t> Linear </a:t>
                </a:r>
                <a:r>
                  <a:rPr lang="es-PE" sz="900" b="0" i="0" dirty="0" err="1">
                    <a:solidFill>
                      <a:schemeClr val="tx1"/>
                    </a:solidFill>
                    <a:effectLst/>
                    <a:latin typeface="Segoe WPC"/>
                  </a:rPr>
                  <a:t>Unbiased</a:t>
                </a:r>
                <a:r>
                  <a:rPr lang="es-PE" sz="900" b="0" i="0" dirty="0">
                    <a:solidFill>
                      <a:schemeClr val="tx1"/>
                    </a:solidFill>
                    <a:effectLst/>
                    <a:latin typeface="Segoe WPC"/>
                  </a:rPr>
                  <a:t> </a:t>
                </a:r>
                <a:r>
                  <a:rPr lang="es-PE" sz="900" b="0" i="0" dirty="0" err="1">
                    <a:solidFill>
                      <a:schemeClr val="tx1"/>
                    </a:solidFill>
                    <a:effectLst/>
                    <a:latin typeface="Segoe WPC"/>
                  </a:rPr>
                  <a:t>Estimator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Among</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linear </a:t>
                </a:r>
                <a:r>
                  <a:rPr lang="es-PE" sz="900" b="0" i="0" dirty="0" err="1">
                    <a:solidFill>
                      <a:schemeClr val="tx1"/>
                    </a:solidFill>
                    <a:effectLst/>
                    <a:latin typeface="Segoe WPC"/>
                  </a:rPr>
                  <a:t>unbiased</a:t>
                </a:r>
                <a:r>
                  <a:rPr lang="es-PE" sz="900" b="0" i="0" dirty="0">
                    <a:solidFill>
                      <a:schemeClr val="tx1"/>
                    </a:solidFill>
                    <a:effectLst/>
                    <a:latin typeface="Segoe WPC"/>
                  </a:rPr>
                  <a:t> </a:t>
                </a:r>
                <a:r>
                  <a:rPr lang="es-PE" sz="900" b="0" i="0" dirty="0" err="1">
                    <a:solidFill>
                      <a:schemeClr val="tx1"/>
                    </a:solidFill>
                    <a:effectLst/>
                    <a:latin typeface="Segoe WPC"/>
                  </a:rPr>
                  <a:t>estimators</a:t>
                </a:r>
                <a:r>
                  <a:rPr lang="es-PE" sz="900" b="0" i="0" dirty="0">
                    <a:solidFill>
                      <a:schemeClr val="tx1"/>
                    </a:solidFill>
                    <a:effectLst/>
                    <a:latin typeface="Segoe WPC"/>
                  </a:rPr>
                  <a:t>, OLS has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smallest</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Any</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 linear </a:t>
                </a:r>
                <a:r>
                  <a:rPr lang="es-PE" sz="900" b="0" i="0" dirty="0" err="1">
                    <a:solidFill>
                      <a:schemeClr val="tx1"/>
                    </a:solidFill>
                    <a:effectLst/>
                    <a:latin typeface="Segoe WPC"/>
                  </a:rPr>
                  <a:t>unbiased</a:t>
                </a:r>
                <a:r>
                  <a:rPr lang="es-PE" sz="900" b="0" i="0" dirty="0">
                    <a:solidFill>
                      <a:schemeClr val="tx1"/>
                    </a:solidFill>
                    <a:effectLst/>
                    <a:latin typeface="Segoe WPC"/>
                  </a:rPr>
                  <a:t> </a:t>
                </a:r>
                <a:r>
                  <a:rPr lang="es-PE" sz="900" b="0" i="0" dirty="0" err="1">
                    <a:solidFill>
                      <a:schemeClr val="tx1"/>
                    </a:solidFill>
                    <a:effectLst/>
                    <a:latin typeface="Segoe WPC"/>
                  </a:rPr>
                  <a:t>estimator</a:t>
                </a:r>
                <a:r>
                  <a:rPr lang="es-PE" sz="900" b="0" i="0" dirty="0">
                    <a:solidFill>
                      <a:schemeClr val="tx1"/>
                    </a:solidFill>
                    <a:effectLst/>
                    <a:latin typeface="Segoe WPC"/>
                  </a:rPr>
                  <a:t> </a:t>
                </a:r>
                <a:r>
                  <a:rPr lang="es-PE" sz="900" b="0" i="0" dirty="0" err="1">
                    <a:solidFill>
                      <a:schemeClr val="tx1"/>
                    </a:solidFill>
                    <a:effectLst/>
                    <a:latin typeface="Segoe WPC"/>
                  </a:rPr>
                  <a:t>adds</a:t>
                </a:r>
                <a:r>
                  <a:rPr lang="es-PE" sz="900" b="0" i="0" dirty="0">
                    <a:solidFill>
                      <a:schemeClr val="tx1"/>
                    </a:solidFill>
                    <a:effectLst/>
                    <a:latin typeface="Segoe WPC"/>
                  </a:rPr>
                  <a:t> extra </a:t>
                </a:r>
                <a:r>
                  <a:rPr lang="es-PE" sz="900" b="0" i="0" dirty="0" err="1">
                    <a:solidFill>
                      <a:schemeClr val="tx1"/>
                    </a:solidFill>
                    <a:effectLst/>
                    <a:latin typeface="Segoe WPC"/>
                  </a:rPr>
                  <a:t>noise</a:t>
                </a:r>
                <a:r>
                  <a:rPr lang="es-PE" sz="900" b="0" i="0" dirty="0">
                    <a:solidFill>
                      <a:schemeClr val="tx1"/>
                    </a:solidFill>
                    <a:effectLst/>
                    <a:latin typeface="Segoe WPC"/>
                  </a:rPr>
                  <a:t> </a:t>
                </a:r>
                <a:r>
                  <a:rPr lang="es-PE" sz="900" b="0" i="0" dirty="0" err="1">
                    <a:solidFill>
                      <a:schemeClr val="tx1"/>
                    </a:solidFill>
                    <a:effectLst/>
                    <a:latin typeface="Segoe WPC"/>
                  </a:rPr>
                  <a:t>beyond</a:t>
                </a:r>
                <a:r>
                  <a:rPr lang="es-PE" sz="900" b="0" i="0" dirty="0">
                    <a:solidFill>
                      <a:schemeClr val="tx1"/>
                    </a:solidFill>
                    <a:effectLst/>
                    <a:latin typeface="Segoe WPC"/>
                  </a:rPr>
                  <a:t> OLS.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BLUE </a:t>
                </a:r>
                <a:r>
                  <a:rPr lang="es-PE" sz="900" b="0" i="0" dirty="0" err="1">
                    <a:solidFill>
                      <a:schemeClr val="tx1"/>
                    </a:solidFill>
                    <a:effectLst/>
                    <a:latin typeface="Segoe WPC"/>
                  </a:rPr>
                  <a:t>requires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standard OLS </a:t>
                </a:r>
                <a:r>
                  <a:rPr lang="es-PE" sz="900" b="0" i="0" dirty="0" err="1">
                    <a:solidFill>
                      <a:schemeClr val="tx1"/>
                    </a:solidFill>
                    <a:effectLst/>
                    <a:latin typeface="Segoe WPC"/>
                  </a:rPr>
                  <a:t>assumptions</a:t>
                </a:r>
                <a:r>
                  <a:rPr lang="es-PE" sz="900" b="0" i="0" dirty="0">
                    <a:solidFill>
                      <a:schemeClr val="tx1"/>
                    </a:solidFill>
                    <a:effectLst/>
                    <a:latin typeface="Segoe WPC"/>
                  </a:rPr>
                  <a:t>, </a:t>
                </a:r>
                <a:r>
                  <a:rPr lang="es-PE" sz="900" b="0" i="0" dirty="0" err="1">
                    <a:solidFill>
                      <a:schemeClr val="tx1"/>
                    </a:solidFill>
                    <a:effectLst/>
                    <a:latin typeface="Segoe WPC"/>
                  </a:rPr>
                  <a:t>including</a:t>
                </a:r>
                <a:r>
                  <a:rPr lang="es-PE" sz="900" b="0" i="0" dirty="0">
                    <a:solidFill>
                      <a:schemeClr val="tx1"/>
                    </a:solidFill>
                    <a:effectLst/>
                    <a:latin typeface="Segoe WPC"/>
                  </a:rPr>
                  <a:t> </a:t>
                </a:r>
                <a:r>
                  <a:rPr lang="es-PE" sz="900" b="0" i="0" dirty="0" err="1">
                    <a:solidFill>
                      <a:schemeClr val="tx1"/>
                    </a:solidFill>
                    <a:effectLst/>
                    <a:latin typeface="Segoe WPC"/>
                  </a:rPr>
                  <a:t>homoskedasticity</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errors</a:t>
                </a:r>
                <a:r>
                  <a:rPr lang="es-PE" sz="900" b="0" i="0" dirty="0">
                    <a:solidFill>
                      <a:schemeClr val="tx1"/>
                    </a:solidFill>
                    <a:effectLst/>
                    <a:latin typeface="Segoe WPC"/>
                  </a:rPr>
                  <a:t> are </a:t>
                </a:r>
                <a:r>
                  <a:rPr lang="es-PE" sz="900" b="0" i="0" dirty="0" err="1">
                    <a:solidFill>
                      <a:schemeClr val="tx1"/>
                    </a:solidFill>
                    <a:effectLst/>
                    <a:latin typeface="Segoe WPC"/>
                  </a:rPr>
                  <a:t>also</a:t>
                </a:r>
                <a:r>
                  <a:rPr lang="es-PE" sz="900" b="0" i="0" dirty="0">
                    <a:solidFill>
                      <a:schemeClr val="tx1"/>
                    </a:solidFill>
                    <a:effectLst/>
                    <a:latin typeface="Segoe WPC"/>
                  </a:rPr>
                  <a:t> normal, OLS </a:t>
                </a:r>
                <a:r>
                  <a:rPr lang="es-PE" sz="900" b="0" i="0" dirty="0" err="1">
                    <a:solidFill>
                      <a:schemeClr val="tx1"/>
                    </a:solidFill>
                    <a:effectLst/>
                    <a:latin typeface="Segoe WPC"/>
                  </a:rPr>
                  <a:t>becomes</a:t>
                </a:r>
                <a:r>
                  <a:rPr lang="es-PE" sz="900" b="0" i="0" dirty="0">
                    <a:solidFill>
                      <a:schemeClr val="tx1"/>
                    </a:solidFill>
                    <a:effectLst/>
                    <a:latin typeface="Segoe WPC"/>
                  </a:rPr>
                  <a:t> BUE,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Best</a:t>
                </a:r>
                <a:r>
                  <a:rPr lang="es-PE" sz="900" b="0" i="0" dirty="0">
                    <a:solidFill>
                      <a:schemeClr val="tx1"/>
                    </a:solidFill>
                    <a:effectLst/>
                    <a:latin typeface="Segoe WPC"/>
                  </a:rPr>
                  <a:t> </a:t>
                </a:r>
                <a:r>
                  <a:rPr lang="es-PE" sz="900" b="0" i="0" dirty="0" err="1">
                    <a:solidFill>
                      <a:schemeClr val="tx1"/>
                    </a:solidFill>
                    <a:effectLst/>
                    <a:latin typeface="Segoe WPC"/>
                  </a:rPr>
                  <a:t>Unbiased</a:t>
                </a:r>
                <a:r>
                  <a:rPr lang="es-PE" sz="900" b="0" i="0" dirty="0">
                    <a:solidFill>
                      <a:schemeClr val="tx1"/>
                    </a:solidFill>
                    <a:effectLst/>
                    <a:latin typeface="Segoe WPC"/>
                  </a:rPr>
                  <a:t> </a:t>
                </a:r>
                <a:r>
                  <a:rPr lang="es-PE" sz="900" b="0" i="0" dirty="0" err="1">
                    <a:solidFill>
                      <a:schemeClr val="tx1"/>
                    </a:solidFill>
                    <a:effectLst/>
                    <a:latin typeface="Segoe WPC"/>
                  </a:rPr>
                  <a:t>Estimator</a:t>
                </a:r>
                <a:r>
                  <a:rPr lang="es-PE" sz="900" b="0" i="0" dirty="0">
                    <a:solidFill>
                      <a:schemeClr val="tx1"/>
                    </a:solidFill>
                    <a:effectLst/>
                    <a:latin typeface="Segoe WPC"/>
                  </a:rPr>
                  <a:t> </a:t>
                </a:r>
                <a:r>
                  <a:rPr lang="es-PE" sz="900" b="0" i="0" dirty="0" err="1">
                    <a:solidFill>
                      <a:schemeClr val="tx1"/>
                    </a:solidFill>
                    <a:effectLst/>
                    <a:latin typeface="Segoe WPC"/>
                  </a:rPr>
                  <a:t>among</a:t>
                </a:r>
                <a:r>
                  <a:rPr lang="es-PE" sz="900" b="0" i="0" dirty="0">
                    <a:solidFill>
                      <a:schemeClr val="tx1"/>
                    </a:solidFill>
                    <a:effectLst/>
                    <a:latin typeface="Segoe WPC"/>
                  </a:rPr>
                  <a:t> linear and </a:t>
                </a:r>
                <a:r>
                  <a:rPr lang="es-PE" sz="900" b="0" i="0" dirty="0" err="1">
                    <a:solidFill>
                      <a:schemeClr val="tx1"/>
                    </a:solidFill>
                    <a:effectLst/>
                    <a:latin typeface="Segoe WPC"/>
                  </a:rPr>
                  <a:t>nonlinear</a:t>
                </a:r>
                <a:r>
                  <a:rPr lang="es-PE" sz="900" b="0" i="0" dirty="0">
                    <a:solidFill>
                      <a:schemeClr val="tx1"/>
                    </a:solidFill>
                    <a:effectLst/>
                    <a:latin typeface="Segoe WPC"/>
                  </a:rPr>
                  <a:t> </a:t>
                </a:r>
                <a:r>
                  <a:rPr lang="es-PE" sz="900" b="0" i="0" dirty="0" err="1">
                    <a:solidFill>
                      <a:schemeClr val="tx1"/>
                    </a:solidFill>
                    <a:effectLst/>
                    <a:latin typeface="Segoe WPC"/>
                  </a:rPr>
                  <a:t>unbiased</a:t>
                </a:r>
                <a:r>
                  <a:rPr lang="es-PE" sz="900" b="0" i="0" dirty="0">
                    <a:solidFill>
                      <a:schemeClr val="tx1"/>
                    </a:solidFill>
                    <a:effectLst/>
                    <a:latin typeface="Segoe WPC"/>
                  </a:rPr>
                  <a:t> </a:t>
                </a:r>
                <a:r>
                  <a:rPr lang="es-PE" sz="900" b="0" i="0" dirty="0" err="1">
                    <a:solidFill>
                      <a:schemeClr val="tx1"/>
                    </a:solidFill>
                    <a:effectLst/>
                    <a:latin typeface="Segoe WPC"/>
                  </a:rPr>
                  <a:t>estimators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OLS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attractive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unbiased</a:t>
                </a:r>
                <a:r>
                  <a:rPr lang="es-PE" sz="900" b="0" i="0" dirty="0">
                    <a:solidFill>
                      <a:schemeClr val="tx1"/>
                    </a:solidFill>
                    <a:effectLst/>
                    <a:latin typeface="Segoe WPC"/>
                  </a:rPr>
                  <a:t>, </a:t>
                </a:r>
                <a:r>
                  <a:rPr lang="es-PE" sz="900" b="0" i="0" dirty="0" err="1">
                    <a:solidFill>
                      <a:schemeClr val="tx1"/>
                    </a:solidFill>
                    <a:effectLst/>
                    <a:latin typeface="Segoe WPC"/>
                  </a:rPr>
                  <a:t>consistent</a:t>
                </a:r>
                <a:r>
                  <a:rPr lang="es-PE" sz="900" b="0" i="0" dirty="0">
                    <a:solidFill>
                      <a:schemeClr val="tx1"/>
                    </a:solidFill>
                    <a:effectLst/>
                    <a:latin typeface="Segoe WPC"/>
                  </a:rPr>
                  <a:t>, </a:t>
                </a:r>
                <a:r>
                  <a:rPr lang="es-PE" sz="900" b="0" i="0" dirty="0" err="1">
                    <a:solidFill>
                      <a:schemeClr val="tx1"/>
                    </a:solidFill>
                    <a:effectLst/>
                    <a:latin typeface="Segoe WPC"/>
                  </a:rPr>
                  <a:t>asymptotically</a:t>
                </a:r>
                <a:r>
                  <a:rPr lang="es-PE" sz="900" b="0" i="0" dirty="0">
                    <a:solidFill>
                      <a:schemeClr val="tx1"/>
                    </a:solidFill>
                    <a:effectLst/>
                    <a:latin typeface="Segoe WPC"/>
                  </a:rPr>
                  <a:t> normal, and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most</a:t>
                </a:r>
                <a:r>
                  <a:rPr lang="es-PE" sz="900" b="0" i="0" dirty="0">
                    <a:solidFill>
                      <a:schemeClr val="tx1"/>
                    </a:solidFill>
                    <a:effectLst/>
                    <a:latin typeface="Segoe WPC"/>
                  </a:rPr>
                  <a:t> precise linear </a:t>
                </a:r>
                <a:r>
                  <a:rPr lang="es-PE" sz="900" b="0" i="0" dirty="0" err="1">
                    <a:solidFill>
                      <a:schemeClr val="tx1"/>
                    </a:solidFill>
                    <a:effectLst/>
                    <a:latin typeface="Segoe WPC"/>
                  </a:rPr>
                  <a:t>unbiased</a:t>
                </a:r>
                <a:r>
                  <a:rPr lang="es-PE" sz="900" b="0" i="0" dirty="0">
                    <a:solidFill>
                      <a:schemeClr val="tx1"/>
                    </a:solidFill>
                    <a:effectLst/>
                    <a:latin typeface="Segoe WPC"/>
                  </a:rPr>
                  <a:t> </a:t>
                </a:r>
                <a:r>
                  <a:rPr lang="es-PE" sz="900" b="0" i="0" dirty="0" err="1">
                    <a:solidFill>
                      <a:schemeClr val="tx1"/>
                    </a:solidFill>
                    <a:effectLst/>
                    <a:latin typeface="Segoe WPC"/>
                  </a:rPr>
                  <a:t>estimator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OLS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BLUE </a:t>
                </a:r>
                <a:r>
                  <a:rPr lang="es-PE" sz="900" b="0" i="0" dirty="0" err="1">
                    <a:solidFill>
                      <a:schemeClr val="tx1"/>
                    </a:solidFill>
                    <a:effectLst/>
                    <a:latin typeface="Segoe WPC"/>
                  </a:rPr>
                  <a:t>under</a:t>
                </a:r>
                <a:r>
                  <a:rPr lang="es-PE" sz="900" b="0" i="0" dirty="0">
                    <a:solidFill>
                      <a:schemeClr val="tx1"/>
                    </a:solidFill>
                    <a:effectLst/>
                    <a:latin typeface="Segoe WPC"/>
                  </a:rPr>
                  <a:t> </a:t>
                </a:r>
                <a:r>
                  <a:rPr lang="es-PE" sz="900" b="0" i="0" dirty="0" err="1">
                    <a:solidFill>
                      <a:schemeClr val="tx1"/>
                    </a:solidFill>
                    <a:effectLst/>
                    <a:latin typeface="Segoe WPC"/>
                  </a:rPr>
                  <a:t>heteroskedasticity</a:t>
                </a:r>
                <a:r>
                  <a:rPr lang="es-PE" sz="900" b="0" i="0" dirty="0">
                    <a:solidFill>
                      <a:schemeClr val="tx1"/>
                    </a:solidFill>
                    <a:effectLst/>
                    <a:latin typeface="Segoe WPC"/>
                  </a:rPr>
                  <a:t>, and </a:t>
                </a:r>
                <a:r>
                  <a:rPr lang="es-PE" sz="900" b="0" i="0" dirty="0" err="1">
                    <a:solidFill>
                      <a:schemeClr val="tx1"/>
                    </a:solidFill>
                    <a:effectLst/>
                    <a:latin typeface="Segoe WPC"/>
                  </a:rPr>
                  <a:t>normality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required</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OLS </a:t>
                </a:r>
                <a:r>
                  <a:rPr lang="es-PE" sz="900" b="0" i="0" dirty="0" err="1">
                    <a:solidFill>
                      <a:schemeClr val="tx1"/>
                    </a:solidFill>
                    <a:effectLst/>
                    <a:latin typeface="Segoe WPC"/>
                  </a:rPr>
                  <a:t>to</a:t>
                </a:r>
                <a:r>
                  <a:rPr lang="es-PE" sz="900" b="0" i="0" dirty="0">
                    <a:solidFill>
                      <a:schemeClr val="tx1"/>
                    </a:solidFill>
                    <a:effectLst/>
                    <a:latin typeface="Segoe WPC"/>
                  </a:rPr>
                  <a:t> be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stronger</a:t>
                </a:r>
                <a:r>
                  <a:rPr lang="es-PE" sz="900" b="0" i="0" dirty="0">
                    <a:solidFill>
                      <a:schemeClr val="tx1"/>
                    </a:solidFill>
                    <a:effectLst/>
                    <a:latin typeface="Segoe WPC"/>
                  </a:rPr>
                  <a:t> BUE </a:t>
                </a:r>
                <a:r>
                  <a:rPr lang="es-PE" sz="900" b="0" i="0" dirty="0" err="1">
                    <a:solidFill>
                      <a:schemeClr val="tx1"/>
                    </a:solidFill>
                    <a:effectLst/>
                    <a:latin typeface="Segoe WPC"/>
                  </a:rPr>
                  <a:t>result</a:t>
                </a:r>
                <a:r>
                  <a:rPr lang="es-PE" sz="900" b="0" i="0" dirty="0">
                    <a:solidFill>
                      <a:schemeClr val="tx1"/>
                    </a:solidFill>
                    <a:effectLst/>
                    <a:latin typeface="Segoe WPC"/>
                  </a:rPr>
                  <a:t>.</a:t>
                </a:r>
              </a:p>
            </p:txBody>
          </p:sp>
        </mc:Choice>
        <mc:Fallback xmlns="">
          <p:sp>
            <p:nvSpPr>
              <p:cNvPr id="8" name="CuadroTexto 7">
                <a:extLst>
                  <a:ext uri="{FF2B5EF4-FFF2-40B4-BE49-F238E27FC236}">
                    <a16:creationId xmlns:a16="http://schemas.microsoft.com/office/drawing/2014/main" id="{0A2A86C6-4DDF-3916-D2CB-FE9BA19B5D0E}"/>
                  </a:ext>
                </a:extLst>
              </p:cNvPr>
              <p:cNvSpPr txBox="1">
                <a:spLocks noRot="1" noChangeAspect="1" noMove="1" noResize="1" noEditPoints="1" noAdjustHandles="1" noChangeArrowheads="1" noChangeShapeType="1" noTextEdit="1"/>
              </p:cNvSpPr>
              <p:nvPr/>
            </p:nvSpPr>
            <p:spPr>
              <a:xfrm>
                <a:off x="6232476" y="0"/>
                <a:ext cx="6041410" cy="6950429"/>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31914725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29E840-7CB6-C212-96A7-A382942DF17C}"/>
              </a:ext>
            </a:extLst>
          </p:cNvPr>
          <p:cNvSpPr>
            <a:spLocks noGrp="1"/>
          </p:cNvSpPr>
          <p:nvPr>
            <p:ph type="title"/>
          </p:nvPr>
        </p:nvSpPr>
        <p:spPr>
          <a:xfrm>
            <a:off x="0" y="0"/>
            <a:ext cx="10515600" cy="423081"/>
          </a:xfrm>
        </p:spPr>
        <p:txBody>
          <a:bodyPr>
            <a:normAutofit fontScale="90000"/>
          </a:bodyPr>
          <a:lstStyle/>
          <a:p>
            <a:r>
              <a:rPr lang="es-PE" sz="2800" dirty="0" err="1"/>
              <a:t>Stationary</a:t>
            </a:r>
            <a:r>
              <a:rPr lang="es-PE" sz="2800" dirty="0"/>
              <a:t> time series</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A8E595B2-3B18-2C62-564C-03F1CD5EB385}"/>
                  </a:ext>
                </a:extLst>
              </p:cNvPr>
              <p:cNvSpPr txBox="1"/>
              <p:nvPr/>
            </p:nvSpPr>
            <p:spPr>
              <a:xfrm>
                <a:off x="76199" y="414902"/>
                <a:ext cx="5969000" cy="6186437"/>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a:t>
                </a:r>
                <a:r>
                  <a:rPr lang="es-PE" sz="900" b="1" i="0" dirty="0" err="1">
                    <a:solidFill>
                      <a:schemeClr val="tx1"/>
                    </a:solidFill>
                    <a:effectLst/>
                    <a:latin typeface="Segoe WPC"/>
                  </a:rPr>
                  <a:t>Stochastic</a:t>
                </a:r>
                <a:r>
                  <a:rPr lang="es-PE" sz="900" b="1" i="0" dirty="0">
                    <a:solidFill>
                      <a:schemeClr val="tx1"/>
                    </a:solidFill>
                    <a:effectLst/>
                    <a:latin typeface="Segoe WPC"/>
                  </a:rPr>
                  <a:t> </a:t>
                </a:r>
                <a:r>
                  <a:rPr lang="es-PE" sz="900" b="1" i="0" dirty="0" err="1">
                    <a:solidFill>
                      <a:schemeClr val="tx1"/>
                    </a:solidFill>
                    <a:effectLst/>
                    <a:latin typeface="Segoe WPC"/>
                  </a:rPr>
                  <a:t>Processes</a:t>
                </a:r>
                <a:r>
                  <a:rPr lang="es-PE" sz="900" b="1" i="0" dirty="0">
                    <a:solidFill>
                      <a:schemeClr val="tx1"/>
                    </a:solidFill>
                    <a:effectLst/>
                    <a:latin typeface="Segoe WPC"/>
                  </a:rPr>
                  <a:t> and </a:t>
                </a:r>
                <a:r>
                  <a:rPr lang="es-PE" sz="900" b="1" i="0" dirty="0" err="1">
                    <a:solidFill>
                      <a:schemeClr val="tx1"/>
                    </a:solidFill>
                    <a:effectLst/>
                    <a:latin typeface="Segoe WPC"/>
                  </a:rPr>
                  <a:t>Covariance</a:t>
                </a:r>
                <a:r>
                  <a:rPr lang="es-PE" sz="900" b="1" i="0" dirty="0">
                    <a:solidFill>
                      <a:schemeClr val="tx1"/>
                    </a:solidFill>
                    <a:effectLst/>
                    <a:latin typeface="Segoe WPC"/>
                  </a:rPr>
                  <a:t> </a:t>
                </a:r>
                <a:r>
                  <a:rPr lang="es-PE" sz="900" b="1" i="0" dirty="0" err="1">
                    <a:solidFill>
                      <a:schemeClr val="tx1"/>
                    </a:solidFill>
                    <a:effectLst/>
                    <a:latin typeface="Segoe WPC"/>
                  </a:rPr>
                  <a:t>Stationarity</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time series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ordered</a:t>
                </a:r>
                <a:r>
                  <a:rPr lang="es-PE" sz="900" b="0" i="0" dirty="0">
                    <a:solidFill>
                      <a:schemeClr val="tx1"/>
                    </a:solidFill>
                    <a:effectLst/>
                    <a:latin typeface="Segoe WPC"/>
                  </a:rPr>
                  <a:t> </a:t>
                </a:r>
                <a:r>
                  <a:rPr lang="es-PE" sz="900" b="0" i="0" dirty="0" err="1">
                    <a:solidFill>
                      <a:schemeClr val="tx1"/>
                    </a:solidFill>
                    <a:effectLst/>
                    <a:latin typeface="Segoe WPC"/>
                  </a:rPr>
                  <a:t>sequence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random</a:t>
                </a:r>
                <a:r>
                  <a:rPr lang="es-PE" sz="900" b="0" i="0" dirty="0">
                    <a:solidFill>
                      <a:schemeClr val="tx1"/>
                    </a:solidFill>
                    <a:effectLst/>
                    <a:latin typeface="Segoe WPC"/>
                  </a:rPr>
                  <a:t> variables, and </a:t>
                </a:r>
                <a:r>
                  <a:rPr lang="es-PE" sz="900" b="0" i="0" dirty="0" err="1">
                    <a:solidFill>
                      <a:schemeClr val="tx1"/>
                    </a:solidFill>
                    <a:effectLst/>
                    <a:latin typeface="Segoe WPC"/>
                  </a:rPr>
                  <a:t>covariance</a:t>
                </a:r>
                <a:r>
                  <a:rPr lang="es-PE" sz="900" b="0" i="0" dirty="0">
                    <a:solidFill>
                      <a:schemeClr val="tx1"/>
                    </a:solidFill>
                    <a:effectLst/>
                    <a:latin typeface="Segoe WPC"/>
                  </a:rPr>
                  <a:t> </a:t>
                </a:r>
                <a:r>
                  <a:rPr lang="es-PE" sz="900" b="0" i="0" dirty="0" err="1">
                    <a:solidFill>
                      <a:schemeClr val="tx1"/>
                    </a:solidFill>
                    <a:effectLst/>
                    <a:latin typeface="Segoe WPC"/>
                  </a:rPr>
                  <a:t>stationarity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condition</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makes</a:t>
                </a:r>
                <a:r>
                  <a:rPr lang="es-PE" sz="900" b="0" i="0" dirty="0">
                    <a:solidFill>
                      <a:schemeClr val="tx1"/>
                    </a:solidFill>
                    <a:effectLst/>
                    <a:latin typeface="Segoe WPC"/>
                  </a:rPr>
                  <a:t> </a:t>
                </a:r>
                <a:r>
                  <a:rPr lang="es-PE" sz="900" b="0" i="0" dirty="0" err="1">
                    <a:solidFill>
                      <a:schemeClr val="tx1"/>
                    </a:solidFill>
                    <a:effectLst/>
                    <a:latin typeface="Segoe WPC"/>
                  </a:rPr>
                  <a:t>past</a:t>
                </a:r>
                <a:r>
                  <a:rPr lang="es-PE" sz="900" b="0" i="0" dirty="0">
                    <a:solidFill>
                      <a:schemeClr val="tx1"/>
                    </a:solidFill>
                    <a:effectLst/>
                    <a:latin typeface="Segoe WPC"/>
                  </a:rPr>
                  <a:t> data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modeling</a:t>
                </a:r>
                <a:r>
                  <a:rPr lang="es-PE" sz="900" b="0" i="0" dirty="0">
                    <a:solidFill>
                      <a:schemeClr val="tx1"/>
                    </a:solidFill>
                    <a:effectLst/>
                    <a:latin typeface="Segoe WPC"/>
                  </a:rPr>
                  <a:t> and </a:t>
                </a:r>
                <a:r>
                  <a:rPr lang="es-PE" sz="900" b="0" i="0" dirty="0" err="1">
                    <a:solidFill>
                      <a:schemeClr val="tx1"/>
                    </a:solidFill>
                    <a:effectLst/>
                    <a:latin typeface="Segoe WPC"/>
                  </a:rPr>
                  <a:t>forecasting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stationary</a:t>
                </a:r>
                <a:r>
                  <a:rPr lang="es-PE" sz="900" b="0" i="0" dirty="0">
                    <a:solidFill>
                      <a:schemeClr val="tx1"/>
                    </a:solidFill>
                    <a:effectLst/>
                    <a:latin typeface="Segoe WPC"/>
                  </a:rPr>
                  <a:t> series has </a:t>
                </a:r>
                <a:r>
                  <a:rPr lang="es-PE" sz="900" b="0" i="0" dirty="0" err="1">
                    <a:solidFill>
                      <a:schemeClr val="tx1"/>
                    </a:solidFill>
                    <a:effectLst/>
                    <a:latin typeface="Segoe WPC"/>
                  </a:rPr>
                  <a:t>stable</a:t>
                </a:r>
                <a:r>
                  <a:rPr lang="es-PE" sz="900" b="0" i="0" dirty="0">
                    <a:solidFill>
                      <a:schemeClr val="tx1"/>
                    </a:solidFill>
                    <a:effectLst/>
                    <a:latin typeface="Segoe WPC"/>
                  </a:rPr>
                  <a:t> mean, </a:t>
                </a:r>
                <a:r>
                  <a:rPr lang="es-PE" sz="900" b="0" i="0" dirty="0" err="1">
                    <a:solidFill>
                      <a:schemeClr val="tx1"/>
                    </a:solidFill>
                    <a:effectLst/>
                    <a:latin typeface="Segoe WPC"/>
                  </a:rPr>
                  <a:t>variance</a:t>
                </a:r>
                <a:r>
                  <a:rPr lang="es-PE" sz="900" b="0" i="0" dirty="0">
                    <a:solidFill>
                      <a:schemeClr val="tx1"/>
                    </a:solidFill>
                    <a:effectLst/>
                    <a:latin typeface="Segoe WPC"/>
                  </a:rPr>
                  <a:t>, and </a:t>
                </a:r>
                <a:r>
                  <a:rPr lang="es-PE" sz="900" b="0" i="0" dirty="0" err="1">
                    <a:solidFill>
                      <a:schemeClr val="tx1"/>
                    </a:solidFill>
                    <a:effectLst/>
                    <a:latin typeface="Segoe WPC"/>
                  </a:rPr>
                  <a:t>dependence</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time.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series </a:t>
                </a:r>
                <a:r>
                  <a:rPr lang="es-PE" sz="900" b="0" i="0" dirty="0" err="1">
                    <a:solidFill>
                      <a:schemeClr val="tx1"/>
                    </a:solidFill>
                    <a:effectLst/>
                    <a:latin typeface="Segoe WPC"/>
                  </a:rPr>
                  <a:t>fluctuates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a:t>
                </a:r>
                <a:r>
                  <a:rPr lang="es-PE" sz="900" b="0" i="0" dirty="0" err="1">
                    <a:solidFill>
                      <a:schemeClr val="tx1"/>
                    </a:solidFill>
                    <a:effectLst/>
                    <a:latin typeface="Segoe WPC"/>
                  </a:rPr>
                  <a:t>level</a:t>
                </a:r>
                <a:r>
                  <a:rPr lang="es-PE" sz="900" b="0" i="0" dirty="0">
                    <a:solidFill>
                      <a:schemeClr val="tx1"/>
                    </a:solidFill>
                    <a:effectLst/>
                    <a:latin typeface="Segoe WPC"/>
                  </a:rPr>
                  <a:t>, spread, and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pattern</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drift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Covariance</a:t>
                </a:r>
                <a:r>
                  <a:rPr lang="es-PE" sz="900" b="0" i="0" dirty="0">
                    <a:solidFill>
                      <a:schemeClr val="tx1"/>
                    </a:solidFill>
                    <a:effectLst/>
                    <a:latin typeface="Segoe WPC"/>
                  </a:rPr>
                  <a:t> </a:t>
                </a:r>
                <a:r>
                  <a:rPr lang="es-PE" sz="900" b="0" i="0" dirty="0" err="1">
                    <a:solidFill>
                      <a:schemeClr val="tx1"/>
                    </a:solidFill>
                    <a:effectLst/>
                    <a:latin typeface="Segoe WPC"/>
                  </a:rPr>
                  <a:t>stationarity</a:t>
                </a:r>
                <a:r>
                  <a:rPr lang="es-PE" sz="900" b="0" i="0" dirty="0">
                    <a:solidFill>
                      <a:schemeClr val="tx1"/>
                    </a:solidFill>
                    <a:effectLst/>
                    <a:latin typeface="Segoe WPC"/>
                  </a:rPr>
                  <a:t> </a:t>
                </a:r>
                <a:r>
                  <a:rPr lang="es-PE" sz="900" b="0" i="0" dirty="0" err="1">
                    <a:solidFill>
                      <a:schemeClr val="tx1"/>
                    </a:solidFill>
                    <a:effectLst/>
                    <a:latin typeface="Segoe WPC"/>
                  </a:rPr>
                  <a:t>requires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𝜇</m:t>
                    </m:r>
                  </m:oMath>
                </a14:m>
                <a:r>
                  <a:rPr lang="ar-AE" sz="900" b="0" i="0" dirty="0">
                    <a:solidFill>
                      <a:schemeClr val="tx1"/>
                    </a:solidFill>
                    <a:effectLst/>
                    <a:latin typeface="Segoe WPC"/>
                  </a:rPr>
                  <a:t>, </a:t>
                </a:r>
                <a14:m>
                  <m:oMath xmlns:m="http://schemas.openxmlformats.org/officeDocument/2006/math">
                    <m:r>
                      <a:rPr lang="ar-A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𝛾</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&lt;</m:t>
                    </m:r>
                    <m:r>
                      <a:rPr lang="ar-AE" sz="900" i="0">
                        <a:solidFill>
                          <a:schemeClr val="tx1"/>
                        </a:solidFill>
                        <a:latin typeface="Cambria Math" panose="02040503050406030204" pitchFamily="18" charset="0"/>
                      </a:rPr>
                      <m:t>∞</m:t>
                    </m:r>
                  </m:oMath>
                </a14:m>
                <a:r>
                  <a:rPr lang="ar-AE" sz="900" b="0" i="0" dirty="0">
                    <a:solidFill>
                      <a:schemeClr val="tx1"/>
                    </a:solidFill>
                    <a:effectLst/>
                    <a:latin typeface="Segoe WPC"/>
                  </a:rPr>
                  <a:t>, </a:t>
                </a:r>
                <a:r>
                  <a:rPr lang="es-PE" sz="900" b="0" i="0" dirty="0">
                    <a:solidFill>
                      <a:schemeClr val="tx1"/>
                    </a:solidFill>
                    <a:effectLst/>
                    <a:latin typeface="Segoe WPC"/>
                  </a:rPr>
                  <a:t>and </a:t>
                </a:r>
                <a14:m>
                  <m:oMath xmlns:m="http://schemas.openxmlformats.org/officeDocument/2006/math">
                    <m:r>
                      <a:rPr lang="es-PE" sz="900" i="1">
                        <a:solidFill>
                          <a:schemeClr val="tx1"/>
                        </a:solidFill>
                        <a:latin typeface="Cambria Math" panose="02040503050406030204" pitchFamily="18" charset="0"/>
                      </a:rPr>
                      <m:t>𝐶𝑜𝑣</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e>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h</m:t>
                            </m:r>
                          </m:sub>
                        </m:sSub>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𝛾</m:t>
                        </m:r>
                      </m:e>
                      <m:sub>
                        <m:r>
                          <a:rPr lang="ar-AE" sz="900" i="1">
                            <a:solidFill>
                              <a:schemeClr val="tx1"/>
                            </a:solidFill>
                            <a:latin typeface="Cambria Math" panose="02040503050406030204" pitchFamily="18" charset="0"/>
                          </a:rPr>
                          <m:t>h</m:t>
                        </m:r>
                      </m:sub>
                    </m:sSub>
                  </m:oMath>
                </a14:m>
                <a:r>
                  <a:rPr lang="ar-AE" sz="900" b="0" i="0" dirty="0">
                    <a:solidFill>
                      <a:schemeClr val="tx1"/>
                    </a:solidFill>
                    <a:effectLst/>
                    <a:latin typeface="Segoe WPC"/>
                  </a:rPr>
                  <a:t> </a:t>
                </a:r>
                <a:r>
                  <a:rPr lang="es-PE" sz="900" b="0" i="0" dirty="0" err="1">
                    <a:solidFill>
                      <a:schemeClr val="tx1"/>
                    </a:solidFill>
                    <a:effectLst/>
                    <a:latin typeface="Segoe WPC"/>
                  </a:rPr>
                  <a:t>depending</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lag</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h</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Stationary</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stable</a:t>
                </a:r>
                <a:r>
                  <a:rPr lang="es-PE" sz="900" b="0" i="0" dirty="0">
                    <a:solidFill>
                      <a:schemeClr val="tx1"/>
                    </a:solidFill>
                    <a:effectLst/>
                    <a:latin typeface="Segoe WPC"/>
                  </a:rPr>
                  <a:t> </a:t>
                </a:r>
                <a:r>
                  <a:rPr lang="es-PE" sz="900" b="0" i="0" dirty="0" err="1">
                    <a:solidFill>
                      <a:schemeClr val="tx1"/>
                    </a:solidFill>
                    <a:effectLst/>
                    <a:latin typeface="Segoe WPC"/>
                  </a:rPr>
                  <a:t>relationships</a:t>
                </a:r>
                <a:r>
                  <a:rPr lang="es-PE" sz="900" b="0" i="0" dirty="0">
                    <a:solidFill>
                      <a:schemeClr val="tx1"/>
                    </a:solidFill>
                    <a:effectLst/>
                    <a:latin typeface="Segoe WPC"/>
                  </a:rPr>
                  <a:t>, </a:t>
                </a:r>
                <a:r>
                  <a:rPr lang="es-PE" sz="900" b="0" i="0" dirty="0" err="1">
                    <a:solidFill>
                      <a:schemeClr val="tx1"/>
                    </a:solidFill>
                    <a:effectLst/>
                    <a:latin typeface="Segoe WPC"/>
                  </a:rPr>
                  <a:t>avoid</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spurious</a:t>
                </a:r>
                <a:r>
                  <a:rPr lang="es-PE" sz="900" b="0" i="0" dirty="0">
                    <a:solidFill>
                      <a:schemeClr val="tx1"/>
                    </a:solidFill>
                    <a:effectLst/>
                    <a:latin typeface="Segoe WPC"/>
                  </a:rPr>
                  <a:t> </a:t>
                </a:r>
                <a:r>
                  <a:rPr lang="es-PE" sz="900" b="0" i="0" dirty="0" err="1">
                    <a:solidFill>
                      <a:schemeClr val="tx1"/>
                    </a:solidFill>
                    <a:effectLst/>
                    <a:latin typeface="Segoe WPC"/>
                  </a:rPr>
                  <a:t>results</a:t>
                </a:r>
                <a:r>
                  <a:rPr lang="es-PE" sz="900" b="0" i="0" dirty="0">
                    <a:solidFill>
                      <a:schemeClr val="tx1"/>
                    </a:solidFill>
                    <a:effectLst/>
                    <a:latin typeface="Segoe WPC"/>
                  </a:rPr>
                  <a:t>, and </a:t>
                </a:r>
                <a:r>
                  <a:rPr lang="es-PE" sz="900" b="0" i="0" dirty="0" err="1">
                    <a:solidFill>
                      <a:schemeClr val="tx1"/>
                    </a:solidFill>
                    <a:effectLst/>
                    <a:latin typeface="Segoe WPC"/>
                  </a:rPr>
                  <a:t>support</a:t>
                </a:r>
                <a:r>
                  <a:rPr lang="es-PE" sz="900" b="0" i="0" dirty="0">
                    <a:solidFill>
                      <a:schemeClr val="tx1"/>
                    </a:solidFill>
                    <a:effectLst/>
                    <a:latin typeface="Segoe WPC"/>
                  </a:rPr>
                  <a:t> </a:t>
                </a:r>
                <a:r>
                  <a:rPr lang="es-PE" sz="900" b="0" i="0" dirty="0" err="1">
                    <a:solidFill>
                      <a:schemeClr val="tx1"/>
                    </a:solidFill>
                    <a:effectLst/>
                    <a:latin typeface="Segoe WPC"/>
                  </a:rPr>
                  <a:t>meaningful</a:t>
                </a:r>
                <a:r>
                  <a:rPr lang="es-PE" sz="900" b="0" i="0" dirty="0">
                    <a:solidFill>
                      <a:schemeClr val="tx1"/>
                    </a:solidFill>
                    <a:effectLst/>
                    <a:latin typeface="Segoe WPC"/>
                  </a:rPr>
                  <a:t> </a:t>
                </a:r>
                <a:r>
                  <a:rPr lang="es-PE" sz="900" b="0" i="0" dirty="0" err="1">
                    <a:solidFill>
                      <a:schemeClr val="tx1"/>
                    </a:solidFill>
                    <a:effectLst/>
                    <a:latin typeface="Segoe WPC"/>
                  </a:rPr>
                  <a:t>estimation</a:t>
                </a:r>
                <a:r>
                  <a:rPr lang="es-PE" sz="900" b="0" i="0" dirty="0">
                    <a:solidFill>
                      <a:schemeClr val="tx1"/>
                    </a:solidFill>
                    <a:effectLst/>
                    <a:latin typeface="Segoe WPC"/>
                  </a:rPr>
                  <a:t> and </a:t>
                </a:r>
                <a:r>
                  <a:rPr lang="es-PE" sz="900" b="0" i="0" dirty="0" err="1">
                    <a:solidFill>
                      <a:schemeClr val="tx1"/>
                    </a:solidFill>
                    <a:effectLst/>
                    <a:latin typeface="Segoe WPC"/>
                  </a:rPr>
                  <a:t>forecasting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series </a:t>
                </a:r>
                <a:r>
                  <a:rPr lang="es-PE" sz="900" b="0" i="0" dirty="0" err="1">
                    <a:solidFill>
                      <a:schemeClr val="tx1"/>
                    </a:solidFill>
                    <a:effectLst/>
                    <a:latin typeface="Segoe WPC"/>
                  </a:rPr>
                  <a:t>may</a:t>
                </a:r>
                <a:r>
                  <a:rPr lang="es-PE" sz="900" b="0" i="0" dirty="0">
                    <a:solidFill>
                      <a:schemeClr val="tx1"/>
                    </a:solidFill>
                    <a:effectLst/>
                    <a:latin typeface="Segoe WPC"/>
                  </a:rPr>
                  <a:t> look </a:t>
                </a:r>
                <a:r>
                  <a:rPr lang="es-PE" sz="900" b="0" i="0" dirty="0" err="1">
                    <a:solidFill>
                      <a:schemeClr val="tx1"/>
                    </a:solidFill>
                    <a:effectLst/>
                    <a:latin typeface="Segoe WPC"/>
                  </a:rPr>
                  <a:t>stable</a:t>
                </a:r>
                <a:r>
                  <a:rPr lang="es-PE" sz="900" b="0" i="0" dirty="0">
                    <a:solidFill>
                      <a:schemeClr val="tx1"/>
                    </a:solidFill>
                    <a:effectLst/>
                    <a:latin typeface="Segoe WPC"/>
                  </a:rPr>
                  <a:t> </a:t>
                </a:r>
                <a:r>
                  <a:rPr lang="es-PE" sz="900" b="0" i="0" dirty="0" err="1">
                    <a:solidFill>
                      <a:schemeClr val="tx1"/>
                    </a:solidFill>
                    <a:effectLst/>
                    <a:latin typeface="Segoe WPC"/>
                  </a:rPr>
                  <a:t>visually</a:t>
                </a:r>
                <a:r>
                  <a:rPr lang="es-PE" sz="900" b="0" i="0" dirty="0">
                    <a:solidFill>
                      <a:schemeClr val="tx1"/>
                    </a:solidFill>
                    <a:effectLst/>
                    <a:latin typeface="Segoe WPC"/>
                  </a:rPr>
                  <a:t> and </a:t>
                </a:r>
                <a:r>
                  <a:rPr lang="es-PE" sz="900" b="0" i="0" dirty="0" err="1">
                    <a:solidFill>
                      <a:schemeClr val="tx1"/>
                    </a:solidFill>
                    <a:effectLst/>
                    <a:latin typeface="Segoe WPC"/>
                  </a:rPr>
                  <a:t>still</a:t>
                </a:r>
                <a:r>
                  <a:rPr lang="es-PE" sz="900" b="0" i="0" dirty="0">
                    <a:solidFill>
                      <a:schemeClr val="tx1"/>
                    </a:solidFill>
                    <a:effectLst/>
                    <a:latin typeface="Segoe WPC"/>
                  </a:rPr>
                  <a:t> </a:t>
                </a:r>
                <a:r>
                  <a:rPr lang="es-PE" sz="900" b="0" i="0" dirty="0" err="1">
                    <a:solidFill>
                      <a:schemeClr val="tx1"/>
                    </a:solidFill>
                    <a:effectLst/>
                    <a:latin typeface="Segoe WPC"/>
                  </a:rPr>
                  <a:t>fail</a:t>
                </a:r>
                <a:r>
                  <a:rPr lang="es-PE" sz="900" b="0" i="0" dirty="0">
                    <a:solidFill>
                      <a:schemeClr val="tx1"/>
                    </a:solidFill>
                    <a:effectLst/>
                    <a:latin typeface="Segoe WPC"/>
                  </a:rPr>
                  <a:t> </a:t>
                </a:r>
                <a:r>
                  <a:rPr lang="es-PE" sz="900" b="0" i="0" dirty="0" err="1">
                    <a:solidFill>
                      <a:schemeClr val="tx1"/>
                    </a:solidFill>
                    <a:effectLst/>
                    <a:latin typeface="Segoe WPC"/>
                  </a:rPr>
                  <a:t>covariance</a:t>
                </a:r>
                <a:r>
                  <a:rPr lang="es-PE" sz="900" b="0" i="0" dirty="0">
                    <a:solidFill>
                      <a:schemeClr val="tx1"/>
                    </a:solidFill>
                    <a:effectLst/>
                    <a:latin typeface="Segoe WPC"/>
                  </a:rPr>
                  <a:t> </a:t>
                </a:r>
                <a:r>
                  <a:rPr lang="es-PE" sz="900" b="0" i="0" dirty="0" err="1">
                    <a:solidFill>
                      <a:schemeClr val="tx1"/>
                    </a:solidFill>
                    <a:effectLst/>
                    <a:latin typeface="Segoe WPC"/>
                  </a:rPr>
                  <a:t>stationarity</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2. </a:t>
                </a:r>
                <a:r>
                  <a:rPr lang="es-PE" sz="900" b="1" i="0" dirty="0" err="1">
                    <a:solidFill>
                      <a:schemeClr val="tx1"/>
                    </a:solidFill>
                    <a:effectLst/>
                    <a:latin typeface="Segoe WPC"/>
                  </a:rPr>
                  <a:t>Autocovariance</a:t>
                </a:r>
                <a:r>
                  <a:rPr lang="es-PE" sz="900" b="1" i="0" dirty="0">
                    <a:solidFill>
                      <a:schemeClr val="tx1"/>
                    </a:solidFill>
                    <a:effectLst/>
                    <a:latin typeface="Segoe WPC"/>
                  </a:rPr>
                  <a:t>, ACF, and PACF</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describe </a:t>
                </a:r>
                <a:r>
                  <a:rPr lang="es-PE" sz="900" b="0" i="0" dirty="0" err="1">
                    <a:solidFill>
                      <a:schemeClr val="tx1"/>
                    </a:solidFill>
                    <a:effectLst/>
                    <a:latin typeface="Segoe WPC"/>
                  </a:rPr>
                  <a:t>dependence</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current</a:t>
                </a:r>
                <a:r>
                  <a:rPr lang="es-PE" sz="900" b="0" i="0" dirty="0">
                    <a:solidFill>
                      <a:schemeClr val="tx1"/>
                    </a:solidFill>
                    <a:effectLst/>
                    <a:latin typeface="Segoe WPC"/>
                  </a:rPr>
                  <a:t> and </a:t>
                </a:r>
                <a:r>
                  <a:rPr lang="es-PE" sz="900" b="0" i="0" dirty="0" err="1">
                    <a:solidFill>
                      <a:schemeClr val="tx1"/>
                    </a:solidFill>
                    <a:effectLst/>
                    <a:latin typeface="Segoe WPC"/>
                  </a:rPr>
                  <a:t>lagged</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 time series.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ACF </a:t>
                </a:r>
                <a:r>
                  <a:rPr lang="es-PE" sz="900" b="0" i="0" dirty="0" err="1">
                    <a:solidFill>
                      <a:schemeClr val="tx1"/>
                    </a:solidFill>
                    <a:effectLst/>
                    <a:latin typeface="Segoe WPC"/>
                  </a:rPr>
                  <a:t>measures</a:t>
                </a:r>
                <a:r>
                  <a:rPr lang="es-PE" sz="900" b="0" i="0" dirty="0">
                    <a:solidFill>
                      <a:schemeClr val="tx1"/>
                    </a:solidFill>
                    <a:effectLst/>
                    <a:latin typeface="Segoe WPC"/>
                  </a:rPr>
                  <a:t> total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across</a:t>
                </a:r>
                <a:r>
                  <a:rPr lang="es-PE" sz="900" b="0" i="0" dirty="0">
                    <a:solidFill>
                      <a:schemeClr val="tx1"/>
                    </a:solidFill>
                    <a:effectLst/>
                    <a:latin typeface="Segoe WPC"/>
                  </a:rPr>
                  <a:t> </a:t>
                </a:r>
                <a:r>
                  <a:rPr lang="es-PE" sz="900" b="0" i="0" dirty="0" err="1">
                    <a:solidFill>
                      <a:schemeClr val="tx1"/>
                    </a:solidFill>
                    <a:effectLst/>
                    <a:latin typeface="Segoe WPC"/>
                  </a:rPr>
                  <a:t>lags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PACF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direct</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after </a:t>
                </a:r>
                <a:r>
                  <a:rPr lang="es-PE" sz="900" b="0" i="0" dirty="0" err="1">
                    <a:solidFill>
                      <a:schemeClr val="tx1"/>
                    </a:solidFill>
                    <a:effectLst/>
                    <a:latin typeface="Segoe WPC"/>
                  </a:rPr>
                  <a:t>removing</a:t>
                </a:r>
                <a:r>
                  <a:rPr lang="es-PE" sz="900" b="0" i="0" dirty="0">
                    <a:solidFill>
                      <a:schemeClr val="tx1"/>
                    </a:solidFill>
                    <a:effectLst/>
                    <a:latin typeface="Segoe WPC"/>
                  </a:rPr>
                  <a:t> </a:t>
                </a:r>
                <a:r>
                  <a:rPr lang="es-PE" sz="900" b="0" i="0" dirty="0" err="1">
                    <a:solidFill>
                      <a:schemeClr val="tx1"/>
                    </a:solidFill>
                    <a:effectLst/>
                    <a:latin typeface="Segoe WPC"/>
                  </a:rPr>
                  <a:t>intermediate</a:t>
                </a:r>
                <a:r>
                  <a:rPr lang="es-PE" sz="900" b="0" i="0" dirty="0">
                    <a:solidFill>
                      <a:schemeClr val="tx1"/>
                    </a:solidFill>
                    <a:effectLst/>
                    <a:latin typeface="Segoe WPC"/>
                  </a:rPr>
                  <a:t> </a:t>
                </a:r>
                <a:r>
                  <a:rPr lang="es-PE" sz="900" b="0" i="0" dirty="0" err="1">
                    <a:solidFill>
                      <a:schemeClr val="tx1"/>
                    </a:solidFill>
                    <a:effectLst/>
                    <a:latin typeface="Segoe WPC"/>
                  </a:rPr>
                  <a:t>lags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ACF shows </a:t>
                </a:r>
                <a:r>
                  <a:rPr lang="es-PE" sz="900" b="0" i="0" dirty="0" err="1">
                    <a:solidFill>
                      <a:schemeClr val="tx1"/>
                    </a:solidFill>
                    <a:effectLst/>
                    <a:latin typeface="Segoe WPC"/>
                  </a:rPr>
                  <a:t>overall</a:t>
                </a:r>
                <a:r>
                  <a:rPr lang="es-PE" sz="900" b="0" i="0" dirty="0">
                    <a:solidFill>
                      <a:schemeClr val="tx1"/>
                    </a:solidFill>
                    <a:effectLst/>
                    <a:latin typeface="Segoe WPC"/>
                  </a:rPr>
                  <a:t> </a:t>
                </a:r>
                <a:r>
                  <a:rPr lang="es-PE" sz="900" b="0" i="0" dirty="0" err="1">
                    <a:solidFill>
                      <a:schemeClr val="tx1"/>
                    </a:solidFill>
                    <a:effectLst/>
                    <a:latin typeface="Segoe WPC"/>
                  </a:rPr>
                  <a:t>memory</a:t>
                </a:r>
                <a:r>
                  <a:rPr lang="es-PE" sz="900" b="0" i="0" dirty="0">
                    <a:solidFill>
                      <a:schemeClr val="tx1"/>
                    </a:solidFill>
                    <a:effectLst/>
                    <a:latin typeface="Segoe WPC"/>
                  </a:rPr>
                  <a:t>; PACF shows </a:t>
                </a:r>
                <a:r>
                  <a:rPr lang="es-PE" sz="900" b="0" i="0" dirty="0" err="1">
                    <a:solidFill>
                      <a:schemeClr val="tx1"/>
                    </a:solidFill>
                    <a:effectLst/>
                    <a:latin typeface="Segoe WPC"/>
                  </a:rPr>
                  <a:t>the</a:t>
                </a:r>
                <a:r>
                  <a:rPr lang="es-PE" sz="900" b="0" i="0" dirty="0">
                    <a:solidFill>
                      <a:schemeClr val="tx1"/>
                    </a:solidFill>
                    <a:effectLst/>
                    <a:latin typeface="Segoe WPC"/>
                  </a:rPr>
                  <a:t> incremental </a:t>
                </a:r>
                <a:r>
                  <a:rPr lang="es-PE" sz="900" b="0" i="0" dirty="0" err="1">
                    <a:solidFill>
                      <a:schemeClr val="tx1"/>
                    </a:solidFill>
                    <a:effectLst/>
                    <a:latin typeface="Segoe WPC"/>
                  </a:rPr>
                  <a:t>importance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lag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𝛾</m:t>
                        </m:r>
                      </m:e>
                      <m:sub>
                        <m:r>
                          <a:rPr lang="ar-AE" sz="900" i="1">
                            <a:solidFill>
                              <a:schemeClr val="tx1"/>
                            </a:solidFill>
                            <a:latin typeface="Cambria Math" panose="02040503050406030204" pitchFamily="18" charset="0"/>
                          </a:rPr>
                          <m:t>h</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𝐶𝑜𝑣</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e>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h</m:t>
                            </m:r>
                          </m:sub>
                        </m:sSub>
                      </m:e>
                    </m:d>
                  </m:oMath>
                </a14:m>
                <a:r>
                  <a:rPr lang="ar-A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𝜌</m:t>
                        </m:r>
                      </m:e>
                      <m:sub>
                        <m:r>
                          <a:rPr lang="ar-AE" sz="900" i="1">
                            <a:solidFill>
                              <a:schemeClr val="tx1"/>
                            </a:solidFill>
                            <a:latin typeface="Cambria Math" panose="02040503050406030204" pitchFamily="18" charset="0"/>
                          </a:rPr>
                          <m:t>h</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𝛾</m:t>
                        </m:r>
                      </m:e>
                      <m:sub>
                        <m:r>
                          <a:rPr lang="ar-AE" sz="900" i="1">
                            <a:solidFill>
                              <a:schemeClr val="tx1"/>
                            </a:solidFill>
                            <a:latin typeface="Cambria Math" panose="02040503050406030204" pitchFamily="18" charset="0"/>
                          </a:rPr>
                          <m:t>h</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𝛾</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 </a:t>
                </a:r>
                <a:r>
                  <a:rPr lang="es-PE" sz="900" b="0" i="0" dirty="0">
                    <a:solidFill>
                      <a:schemeClr val="tx1"/>
                    </a:solidFill>
                    <a:effectLst/>
                    <a:latin typeface="Segoe WPC"/>
                  </a:rPr>
                  <a:t>and PACF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denoted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𝛼</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h</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ACF and PACF are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tools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identifying</a:t>
                </a:r>
                <a:r>
                  <a:rPr lang="es-PE" sz="900" b="0" i="0" dirty="0">
                    <a:solidFill>
                      <a:schemeClr val="tx1"/>
                    </a:solidFill>
                    <a:effectLst/>
                    <a:latin typeface="Segoe WPC"/>
                  </a:rPr>
                  <a:t> AR, MA, and ARMA </a:t>
                </a:r>
                <a:r>
                  <a:rPr lang="es-PE" sz="900" b="0" i="0" dirty="0" err="1">
                    <a:solidFill>
                      <a:schemeClr val="tx1"/>
                    </a:solidFill>
                    <a:effectLst/>
                    <a:latin typeface="Segoe WPC"/>
                  </a:rPr>
                  <a:t>structures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PACF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as ACF </a:t>
                </a:r>
                <a:r>
                  <a:rPr lang="es-PE" sz="900" b="0" i="0" dirty="0" err="1">
                    <a:solidFill>
                      <a:schemeClr val="tx1"/>
                    </a:solidFill>
                    <a:effectLst/>
                    <a:latin typeface="Segoe WPC"/>
                  </a:rPr>
                  <a:t>except</a:t>
                </a:r>
                <a:r>
                  <a:rPr lang="es-PE" sz="900" b="0" i="0" dirty="0">
                    <a:solidFill>
                      <a:schemeClr val="tx1"/>
                    </a:solidFill>
                    <a:effectLst/>
                    <a:latin typeface="Segoe WPC"/>
                  </a:rPr>
                  <a:t> at </a:t>
                </a:r>
                <a:r>
                  <a:rPr lang="es-PE" sz="900" b="0" i="0" dirty="0" err="1">
                    <a:solidFill>
                      <a:schemeClr val="tx1"/>
                    </a:solidFill>
                    <a:effectLst/>
                    <a:latin typeface="Segoe WPC"/>
                  </a:rPr>
                  <a:t>lag</a:t>
                </a:r>
                <a:r>
                  <a:rPr lang="es-PE" sz="900" b="0" i="0" dirty="0">
                    <a:solidFill>
                      <a:schemeClr val="tx1"/>
                    </a:solidFill>
                    <a:effectLst/>
                    <a:latin typeface="Segoe WPC"/>
                  </a:rPr>
                  <a:t> 1.</a:t>
                </a:r>
              </a:p>
              <a:p>
                <a:pPr algn="l">
                  <a:spcAft>
                    <a:spcPts val="600"/>
                  </a:spcAft>
                  <a:buNone/>
                </a:pPr>
                <a:r>
                  <a:rPr lang="es-PE" sz="900" b="1" i="0" dirty="0">
                    <a:solidFill>
                      <a:schemeClr val="tx1"/>
                    </a:solidFill>
                    <a:effectLst/>
                    <a:latin typeface="Segoe WPC"/>
                  </a:rPr>
                  <a:t>3. White </a:t>
                </a:r>
                <a:r>
                  <a:rPr lang="es-PE" sz="900" b="1" i="0" dirty="0" err="1">
                    <a:solidFill>
                      <a:schemeClr val="tx1"/>
                    </a:solidFill>
                    <a:effectLst/>
                    <a:latin typeface="Segoe WPC"/>
                  </a:rPr>
                  <a:t>Noise</a:t>
                </a:r>
                <a:r>
                  <a:rPr lang="es-PE" sz="900" b="1" i="0" dirty="0">
                    <a:solidFill>
                      <a:schemeClr val="tx1"/>
                    </a:solidFill>
                    <a:effectLst/>
                    <a:latin typeface="Segoe WPC"/>
                  </a:rPr>
                  <a:t> and </a:t>
                </a:r>
                <a:r>
                  <a:rPr lang="es-PE" sz="900" b="1" i="0" dirty="0" err="1">
                    <a:solidFill>
                      <a:schemeClr val="tx1"/>
                    </a:solidFill>
                    <a:effectLst/>
                    <a:latin typeface="Segoe WPC"/>
                  </a:rPr>
                  <a:t>Wold’s</a:t>
                </a:r>
                <a:r>
                  <a:rPr lang="es-PE" sz="900" b="1" i="0" dirty="0">
                    <a:solidFill>
                      <a:schemeClr val="tx1"/>
                    </a:solidFill>
                    <a:effectLst/>
                    <a:latin typeface="Segoe WPC"/>
                  </a:rPr>
                  <a:t> </a:t>
                </a:r>
                <a:r>
                  <a:rPr lang="es-PE" sz="900" b="1" i="0" dirty="0" err="1">
                    <a:solidFill>
                      <a:schemeClr val="tx1"/>
                    </a:solidFill>
                    <a:effectLst/>
                    <a:latin typeface="Segoe WPC"/>
                  </a:rPr>
                  <a:t>Theorem</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White </a:t>
                </a:r>
                <a:r>
                  <a:rPr lang="es-PE" sz="900" b="0" i="0" dirty="0" err="1">
                    <a:solidFill>
                      <a:schemeClr val="tx1"/>
                    </a:solidFill>
                    <a:effectLst/>
                    <a:latin typeface="Segoe WPC"/>
                  </a:rPr>
                  <a:t>noise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basic</a:t>
                </a:r>
                <a:r>
                  <a:rPr lang="es-PE" sz="900" b="0" i="0" dirty="0">
                    <a:solidFill>
                      <a:schemeClr val="tx1"/>
                    </a:solidFill>
                    <a:effectLst/>
                    <a:latin typeface="Segoe WPC"/>
                  </a:rPr>
                  <a:t> </a:t>
                </a:r>
                <a:r>
                  <a:rPr lang="es-PE" sz="900" b="0" i="0" dirty="0" err="1">
                    <a:solidFill>
                      <a:schemeClr val="tx1"/>
                    </a:solidFill>
                    <a:effectLst/>
                    <a:latin typeface="Segoe WPC"/>
                  </a:rPr>
                  <a:t>innovation</a:t>
                </a:r>
                <a:r>
                  <a:rPr lang="es-PE" sz="900" b="0" i="0" dirty="0">
                    <a:solidFill>
                      <a:schemeClr val="tx1"/>
                    </a:solidFill>
                    <a:effectLst/>
                    <a:latin typeface="Segoe WPC"/>
                  </a:rPr>
                  <a:t> </a:t>
                </a:r>
                <a:r>
                  <a:rPr lang="es-PE" sz="900" b="0" i="0" dirty="0" err="1">
                    <a:solidFill>
                      <a:schemeClr val="tx1"/>
                    </a:solidFill>
                    <a:effectLst/>
                    <a:latin typeface="Segoe WPC"/>
                  </a:rPr>
                  <a:t>process</a:t>
                </a:r>
                <a:r>
                  <a:rPr lang="es-PE" sz="900" b="0" i="0" dirty="0">
                    <a:solidFill>
                      <a:schemeClr val="tx1"/>
                    </a:solidFill>
                    <a:effectLst/>
                    <a:latin typeface="Segoe WPC"/>
                  </a:rPr>
                  <a:t>, and </a:t>
                </a:r>
                <a:r>
                  <a:rPr lang="es-PE" sz="900" b="0" i="0" dirty="0" err="1">
                    <a:solidFill>
                      <a:schemeClr val="tx1"/>
                    </a:solidFill>
                    <a:effectLst/>
                    <a:latin typeface="Segoe WPC"/>
                  </a:rPr>
                  <a:t>Wold’s</a:t>
                </a:r>
                <a:r>
                  <a:rPr lang="es-PE" sz="900" b="0" i="0" dirty="0">
                    <a:solidFill>
                      <a:schemeClr val="tx1"/>
                    </a:solidFill>
                    <a:effectLst/>
                    <a:latin typeface="Segoe WPC"/>
                  </a:rPr>
                  <a:t> </a:t>
                </a:r>
                <a:r>
                  <a:rPr lang="es-PE" sz="900" b="0" i="0" dirty="0" err="1">
                    <a:solidFill>
                      <a:schemeClr val="tx1"/>
                    </a:solidFill>
                    <a:effectLst/>
                    <a:latin typeface="Segoe WPC"/>
                  </a:rPr>
                  <a:t>theorem</a:t>
                </a:r>
                <a:r>
                  <a:rPr lang="es-PE" sz="900" b="0" i="0" dirty="0">
                    <a:solidFill>
                      <a:schemeClr val="tx1"/>
                    </a:solidFill>
                    <a:effectLst/>
                    <a:latin typeface="Segoe WPC"/>
                  </a:rPr>
                  <a:t> </a:t>
                </a:r>
                <a:r>
                  <a:rPr lang="es-PE" sz="900" b="0" i="0" dirty="0" err="1">
                    <a:solidFill>
                      <a:schemeClr val="tx1"/>
                    </a:solidFill>
                    <a:effectLst/>
                    <a:latin typeface="Segoe WPC"/>
                  </a:rPr>
                  <a:t>says</a:t>
                </a:r>
                <a:r>
                  <a:rPr lang="es-PE" sz="900" b="0" i="0" dirty="0">
                    <a:solidFill>
                      <a:schemeClr val="tx1"/>
                    </a:solidFill>
                    <a:effectLst/>
                    <a:latin typeface="Segoe WPC"/>
                  </a:rPr>
                  <a:t> </a:t>
                </a:r>
                <a:r>
                  <a:rPr lang="es-PE" sz="900" b="0" i="0" dirty="0" err="1">
                    <a:solidFill>
                      <a:schemeClr val="tx1"/>
                    </a:solidFill>
                    <a:effectLst/>
                    <a:latin typeface="Segoe WPC"/>
                  </a:rPr>
                  <a:t>every</a:t>
                </a:r>
                <a:r>
                  <a:rPr lang="es-PE" sz="900" b="0" i="0" dirty="0">
                    <a:solidFill>
                      <a:schemeClr val="tx1"/>
                    </a:solidFill>
                    <a:effectLst/>
                    <a:latin typeface="Segoe WPC"/>
                  </a:rPr>
                  <a:t> </a:t>
                </a:r>
                <a:r>
                  <a:rPr lang="es-PE" sz="900" b="0" i="0" dirty="0" err="1">
                    <a:solidFill>
                      <a:schemeClr val="tx1"/>
                    </a:solidFill>
                    <a:effectLst/>
                    <a:latin typeface="Segoe WPC"/>
                  </a:rPr>
                  <a:t>covariance-stationary</a:t>
                </a:r>
                <a:r>
                  <a:rPr lang="es-PE" sz="900" b="0" i="0" dirty="0">
                    <a:solidFill>
                      <a:schemeClr val="tx1"/>
                    </a:solidFill>
                    <a:effectLst/>
                    <a:latin typeface="Segoe WPC"/>
                  </a:rPr>
                  <a:t> series can be </a:t>
                </a:r>
                <a:r>
                  <a:rPr lang="es-PE" sz="900" b="0" i="0" dirty="0" err="1">
                    <a:solidFill>
                      <a:schemeClr val="tx1"/>
                    </a:solidFill>
                    <a:effectLst/>
                    <a:latin typeface="Segoe WPC"/>
                  </a:rPr>
                  <a:t>written</a:t>
                </a:r>
                <a:r>
                  <a:rPr lang="es-PE" sz="900" b="0" i="0" dirty="0">
                    <a:solidFill>
                      <a:schemeClr val="tx1"/>
                    </a:solidFill>
                    <a:effectLst/>
                    <a:latin typeface="Segoe WPC"/>
                  </a:rPr>
                  <a:t> as a linear </a:t>
                </a:r>
                <a:r>
                  <a:rPr lang="es-PE" sz="900" b="0" i="0" dirty="0" err="1">
                    <a:solidFill>
                      <a:schemeClr val="tx1"/>
                    </a:solidFill>
                    <a:effectLst/>
                    <a:latin typeface="Segoe WPC"/>
                  </a:rPr>
                  <a:t>process</a:t>
                </a:r>
                <a:r>
                  <a:rPr lang="es-PE" sz="900" b="0" i="0" dirty="0">
                    <a:solidFill>
                      <a:schemeClr val="tx1"/>
                    </a:solidFill>
                    <a:effectLst/>
                    <a:latin typeface="Segoe WPC"/>
                  </a:rPr>
                  <a:t> </a:t>
                </a:r>
                <a:r>
                  <a:rPr lang="es-PE" sz="900" b="0" i="0" dirty="0" err="1">
                    <a:solidFill>
                      <a:schemeClr val="tx1"/>
                    </a:solidFill>
                    <a:effectLst/>
                    <a:latin typeface="Segoe WPC"/>
                  </a:rPr>
                  <a:t>driven</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white</a:t>
                </a:r>
                <a:r>
                  <a:rPr lang="es-PE" sz="900" b="0" i="0" dirty="0">
                    <a:solidFill>
                      <a:schemeClr val="tx1"/>
                    </a:solidFill>
                    <a:effectLst/>
                    <a:latin typeface="Segoe WPC"/>
                  </a:rPr>
                  <a:t> </a:t>
                </a:r>
                <a:r>
                  <a:rPr lang="es-PE" sz="900" b="0" i="0" dirty="0" err="1">
                    <a:solidFill>
                      <a:schemeClr val="tx1"/>
                    </a:solidFill>
                    <a:effectLst/>
                    <a:latin typeface="Segoe WPC"/>
                  </a:rPr>
                  <a:t>noise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White </a:t>
                </a:r>
                <a:r>
                  <a:rPr lang="es-PE" sz="900" b="0" i="0" dirty="0" err="1">
                    <a:solidFill>
                      <a:schemeClr val="tx1"/>
                    </a:solidFill>
                    <a:effectLst/>
                    <a:latin typeface="Segoe WPC"/>
                  </a:rPr>
                  <a:t>noise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pure </a:t>
                </a:r>
                <a:r>
                  <a:rPr lang="es-PE" sz="900" b="0" i="0" dirty="0" err="1">
                    <a:solidFill>
                      <a:schemeClr val="tx1"/>
                    </a:solidFill>
                    <a:effectLst/>
                    <a:latin typeface="Segoe WPC"/>
                  </a:rPr>
                  <a:t>unpredictable</a:t>
                </a:r>
                <a:r>
                  <a:rPr lang="es-PE" sz="900" b="0" i="0" dirty="0">
                    <a:solidFill>
                      <a:schemeClr val="tx1"/>
                    </a:solidFill>
                    <a:effectLst/>
                    <a:latin typeface="Segoe WPC"/>
                  </a:rPr>
                  <a:t> shock; </a:t>
                </a:r>
                <a:r>
                  <a:rPr lang="es-PE" sz="900" b="0" i="0" dirty="0" err="1">
                    <a:solidFill>
                      <a:schemeClr val="tx1"/>
                    </a:solidFill>
                    <a:effectLst/>
                    <a:latin typeface="Segoe WPC"/>
                  </a:rPr>
                  <a:t>stationary</a:t>
                </a:r>
                <a:r>
                  <a:rPr lang="es-PE" sz="900" b="0" i="0" dirty="0">
                    <a:solidFill>
                      <a:schemeClr val="tx1"/>
                    </a:solidFill>
                    <a:effectLst/>
                    <a:latin typeface="Segoe WPC"/>
                  </a:rPr>
                  <a:t> series are </a:t>
                </a:r>
                <a:r>
                  <a:rPr lang="es-PE" sz="900" b="0" i="0" dirty="0" err="1">
                    <a:solidFill>
                      <a:schemeClr val="tx1"/>
                    </a:solidFill>
                    <a:effectLst/>
                    <a:latin typeface="Segoe WPC"/>
                  </a:rPr>
                  <a:t>weighted</a:t>
                </a:r>
                <a:r>
                  <a:rPr lang="es-PE" sz="900" b="0" i="0" dirty="0">
                    <a:solidFill>
                      <a:schemeClr val="tx1"/>
                    </a:solidFill>
                    <a:effectLst/>
                    <a:latin typeface="Segoe WPC"/>
                  </a:rPr>
                  <a:t> </a:t>
                </a:r>
                <a:r>
                  <a:rPr lang="es-PE" sz="900" b="0" i="0" dirty="0" err="1">
                    <a:solidFill>
                      <a:schemeClr val="tx1"/>
                    </a:solidFill>
                    <a:effectLst/>
                    <a:latin typeface="Segoe WPC"/>
                  </a:rPr>
                  <a:t>sums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current</a:t>
                </a:r>
                <a:r>
                  <a:rPr lang="es-PE" sz="900" b="0" i="0" dirty="0">
                    <a:solidFill>
                      <a:schemeClr val="tx1"/>
                    </a:solidFill>
                    <a:effectLst/>
                    <a:latin typeface="Segoe WPC"/>
                  </a:rPr>
                  <a:t> and </a:t>
                </a:r>
                <a:r>
                  <a:rPr lang="es-PE" sz="900" b="0" i="0" dirty="0" err="1">
                    <a:solidFill>
                      <a:schemeClr val="tx1"/>
                    </a:solidFill>
                    <a:effectLst/>
                    <a:latin typeface="Segoe WPC"/>
                  </a:rPr>
                  <a:t>past</a:t>
                </a:r>
                <a:r>
                  <a:rPr lang="es-PE" sz="900" b="0" i="0" dirty="0">
                    <a:solidFill>
                      <a:schemeClr val="tx1"/>
                    </a:solidFill>
                    <a:effectLst/>
                    <a:latin typeface="Segoe WPC"/>
                  </a:rPr>
                  <a:t> shocks.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observation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accumulation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innovations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weights</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fade</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time.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White </a:t>
                </a:r>
                <a:r>
                  <a:rPr lang="es-PE" sz="900" b="0" i="0" dirty="0" err="1">
                    <a:solidFill>
                      <a:schemeClr val="tx1"/>
                    </a:solidFill>
                    <a:effectLst/>
                    <a:latin typeface="Segoe WPC"/>
                  </a:rPr>
                  <a:t>noise</a:t>
                </a:r>
                <a:r>
                  <a:rPr lang="es-PE" sz="900" b="0" i="0" dirty="0">
                    <a:solidFill>
                      <a:schemeClr val="tx1"/>
                    </a:solidFill>
                    <a:effectLst/>
                    <a:latin typeface="Segoe WPC"/>
                  </a:rPr>
                  <a:t> </a:t>
                </a:r>
                <a:r>
                  <a:rPr lang="es-PE" sz="900" b="0" i="0" dirty="0" err="1">
                    <a:solidFill>
                      <a:schemeClr val="tx1"/>
                    </a:solidFill>
                    <a:effectLst/>
                    <a:latin typeface="Segoe WPC"/>
                  </a:rPr>
                  <a:t>satisfies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 </a:t>
                </a:r>
                <a14:m>
                  <m:oMath xmlns:m="http://schemas.openxmlformats.org/officeDocument/2006/math">
                    <m:r>
                      <a:rPr lang="ar-A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e>
                    </m:d>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&lt;</m:t>
                    </m:r>
                    <m:r>
                      <a:rPr lang="ar-AE" sz="900" i="0">
                        <a:solidFill>
                          <a:schemeClr val="tx1"/>
                        </a:solidFill>
                        <a:latin typeface="Cambria Math" panose="02040503050406030204" pitchFamily="18" charset="0"/>
                      </a:rPr>
                      <m:t>∞</m:t>
                    </m:r>
                  </m:oMath>
                </a14:m>
                <a:r>
                  <a:rPr lang="ar-AE" sz="900" b="0" i="0" dirty="0">
                    <a:solidFill>
                      <a:schemeClr val="tx1"/>
                    </a:solidFill>
                    <a:effectLst/>
                    <a:latin typeface="Segoe WPC"/>
                  </a:rPr>
                  <a:t>, </a:t>
                </a:r>
                <a:r>
                  <a:rPr lang="es-PE" sz="900" b="0" i="0" dirty="0">
                    <a:solidFill>
                      <a:schemeClr val="tx1"/>
                    </a:solidFill>
                    <a:effectLst/>
                    <a:latin typeface="Segoe WPC"/>
                  </a:rPr>
                  <a:t>and </a:t>
                </a:r>
                <a14:m>
                  <m:oMath xmlns:m="http://schemas.openxmlformats.org/officeDocument/2006/math">
                    <m:r>
                      <a:rPr lang="es-PE" sz="900" i="1">
                        <a:solidFill>
                          <a:schemeClr val="tx1"/>
                        </a:solidFill>
                        <a:latin typeface="Cambria Math" panose="02040503050406030204" pitchFamily="18" charset="0"/>
                      </a:rPr>
                      <m:t>𝐶𝑜𝑣</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e>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h</m:t>
                            </m:r>
                          </m:sub>
                        </m:sSub>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h</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0</m:t>
                    </m:r>
                  </m:oMath>
                </a14:m>
                <a:r>
                  <a:rPr lang="es-PE" sz="900" b="0" i="0" dirty="0">
                    <a:solidFill>
                      <a:schemeClr val="tx1"/>
                    </a:solidFill>
                    <a:effectLst/>
                    <a:latin typeface="Segoe WPC"/>
                  </a:rPr>
                  <a:t>; a linear </a:t>
                </a:r>
                <a:r>
                  <a:rPr lang="es-PE" sz="900" b="0" i="0" dirty="0" err="1">
                    <a:solidFill>
                      <a:schemeClr val="tx1"/>
                    </a:solidFill>
                    <a:effectLst/>
                    <a:latin typeface="Segoe WPC"/>
                  </a:rPr>
                  <a:t>process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𝛿</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𝜓</m:t>
                        </m:r>
                      </m:e>
                      <m:sub>
                        <m:r>
                          <a:rPr lang="ar-AE" sz="900" i="0">
                            <a:solidFill>
                              <a:schemeClr val="tx1"/>
                            </a:solidFill>
                            <a:latin typeface="Cambria Math" panose="02040503050406030204" pitchFamily="18" charset="0"/>
                          </a:rPr>
                          <m:t>0</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𝜓</m:t>
                        </m:r>
                      </m:e>
                      <m:sub>
                        <m:r>
                          <a:rPr lang="ar-AE" sz="900" i="0">
                            <a:solidFill>
                              <a:schemeClr val="tx1"/>
                            </a:solidFill>
                            <a:latin typeface="Cambria Math" panose="02040503050406030204" pitchFamily="18" charset="0"/>
                          </a:rPr>
                          <m:t>1</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𝜓</m:t>
                        </m:r>
                      </m:e>
                      <m:sub>
                        <m:r>
                          <a:rPr lang="ar-AE" sz="900" i="0">
                            <a:solidFill>
                              <a:schemeClr val="tx1"/>
                            </a:solidFill>
                            <a:latin typeface="Cambria Math" panose="02040503050406030204" pitchFamily="18" charset="0"/>
                          </a:rPr>
                          <m:t>2</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why</a:t>
                </a:r>
                <a:r>
                  <a:rPr lang="es-PE" sz="900" b="0" i="0" dirty="0">
                    <a:solidFill>
                      <a:schemeClr val="tx1"/>
                    </a:solidFill>
                    <a:effectLst/>
                    <a:latin typeface="Segoe WPC"/>
                  </a:rPr>
                  <a:t> AR, MA, and ARMA </a:t>
                </a:r>
                <a:r>
                  <a:rPr lang="es-PE" sz="900" b="0" i="0" dirty="0" err="1">
                    <a:solidFill>
                      <a:schemeClr val="tx1"/>
                    </a:solidFill>
                    <a:effectLst/>
                    <a:latin typeface="Segoe WPC"/>
                  </a:rPr>
                  <a:t>models</a:t>
                </a:r>
                <a:r>
                  <a:rPr lang="es-PE" sz="900" b="0" i="0" dirty="0">
                    <a:solidFill>
                      <a:schemeClr val="tx1"/>
                    </a:solidFill>
                    <a:effectLst/>
                    <a:latin typeface="Segoe WPC"/>
                  </a:rPr>
                  <a:t> can </a:t>
                </a:r>
                <a:r>
                  <a:rPr lang="es-PE" sz="900" b="0" i="0" dirty="0" err="1">
                    <a:solidFill>
                      <a:schemeClr val="tx1"/>
                    </a:solidFill>
                    <a:effectLst/>
                    <a:latin typeface="Segoe WPC"/>
                  </a:rPr>
                  <a:t>approximate</a:t>
                </a:r>
                <a:r>
                  <a:rPr lang="es-PE" sz="900" b="0" i="0" dirty="0">
                    <a:solidFill>
                      <a:schemeClr val="tx1"/>
                    </a:solidFill>
                    <a:effectLst/>
                    <a:latin typeface="Segoe WPC"/>
                  </a:rPr>
                  <a:t> a </a:t>
                </a:r>
                <a:r>
                  <a:rPr lang="es-PE" sz="900" b="0" i="0" dirty="0" err="1">
                    <a:solidFill>
                      <a:schemeClr val="tx1"/>
                    </a:solidFill>
                    <a:effectLst/>
                    <a:latin typeface="Segoe WPC"/>
                  </a:rPr>
                  <a:t>wide</a:t>
                </a:r>
                <a:r>
                  <a:rPr lang="es-PE" sz="900" b="0" i="0" dirty="0">
                    <a:solidFill>
                      <a:schemeClr val="tx1"/>
                    </a:solidFill>
                    <a:effectLst/>
                    <a:latin typeface="Segoe WPC"/>
                  </a:rPr>
                  <a:t> </a:t>
                </a:r>
                <a:r>
                  <a:rPr lang="es-PE" sz="900" b="0" i="0" dirty="0" err="1">
                    <a:solidFill>
                      <a:schemeClr val="tx1"/>
                    </a:solidFill>
                    <a:effectLst/>
                    <a:latin typeface="Segoe WPC"/>
                  </a:rPr>
                  <a:t>class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stationary</a:t>
                </a:r>
                <a:r>
                  <a:rPr lang="es-PE" sz="900" b="0" i="0" dirty="0">
                    <a:solidFill>
                      <a:schemeClr val="tx1"/>
                    </a:solidFill>
                    <a:effectLst/>
                    <a:latin typeface="Segoe WPC"/>
                  </a:rPr>
                  <a:t> time series. </a:t>
                </a:r>
                <a:r>
                  <a:rPr lang="es-PE" sz="900" b="0" i="0" dirty="0" err="1">
                    <a:solidFill>
                      <a:schemeClr val="tx1"/>
                    </a:solidFill>
                    <a:effectLst/>
                    <a:latin typeface="Segoe WPC"/>
                  </a:rPr>
                  <a:t>Independent</a:t>
                </a:r>
                <a:r>
                  <a:rPr lang="es-PE" sz="900" b="0" i="0" dirty="0">
                    <a:solidFill>
                      <a:schemeClr val="tx1"/>
                    </a:solidFill>
                    <a:effectLst/>
                    <a:latin typeface="Segoe WPC"/>
                  </a:rPr>
                  <a:t> </a:t>
                </a:r>
                <a:r>
                  <a:rPr lang="es-PE" sz="900" b="0" i="0" dirty="0" err="1">
                    <a:solidFill>
                      <a:schemeClr val="tx1"/>
                    </a:solidFill>
                    <a:effectLst/>
                    <a:latin typeface="Segoe WPC"/>
                  </a:rPr>
                  <a:t>white</a:t>
                </a:r>
                <a:r>
                  <a:rPr lang="es-PE" sz="900" b="0" i="0" dirty="0">
                    <a:solidFill>
                      <a:schemeClr val="tx1"/>
                    </a:solidFill>
                    <a:effectLst/>
                    <a:latin typeface="Segoe WPC"/>
                  </a:rPr>
                  <a:t> </a:t>
                </a:r>
                <a:r>
                  <a:rPr lang="es-PE" sz="900" b="0" i="0" dirty="0" err="1">
                    <a:solidFill>
                      <a:schemeClr val="tx1"/>
                    </a:solidFill>
                    <a:effectLst/>
                    <a:latin typeface="Segoe WPC"/>
                  </a:rPr>
                  <a:t>noise</a:t>
                </a:r>
                <a:r>
                  <a:rPr lang="es-PE" sz="900" b="0" i="0" dirty="0">
                    <a:solidFill>
                      <a:schemeClr val="tx1"/>
                    </a:solidFill>
                    <a:effectLst/>
                    <a:latin typeface="Segoe WPC"/>
                  </a:rPr>
                  <a:t> and Gaussian </a:t>
                </a:r>
                <a:r>
                  <a:rPr lang="es-PE" sz="900" b="0" i="0" dirty="0" err="1">
                    <a:solidFill>
                      <a:schemeClr val="tx1"/>
                    </a:solidFill>
                    <a:effectLst/>
                    <a:latin typeface="Segoe WPC"/>
                  </a:rPr>
                  <a:t>white</a:t>
                </a:r>
                <a:r>
                  <a:rPr lang="es-PE" sz="900" b="0" i="0" dirty="0">
                    <a:solidFill>
                      <a:schemeClr val="tx1"/>
                    </a:solidFill>
                    <a:effectLst/>
                    <a:latin typeface="Segoe WPC"/>
                  </a:rPr>
                  <a:t> </a:t>
                </a:r>
                <a:r>
                  <a:rPr lang="es-PE" sz="900" b="0" i="0" dirty="0" err="1">
                    <a:solidFill>
                      <a:schemeClr val="tx1"/>
                    </a:solidFill>
                    <a:effectLst/>
                    <a:latin typeface="Segoe WPC"/>
                  </a:rPr>
                  <a:t>noise</a:t>
                </a:r>
                <a:r>
                  <a:rPr lang="es-PE" sz="900" b="0" i="0" dirty="0">
                    <a:solidFill>
                      <a:schemeClr val="tx1"/>
                    </a:solidFill>
                    <a:effectLst/>
                    <a:latin typeface="Segoe WPC"/>
                  </a:rPr>
                  <a:t> are </a:t>
                </a:r>
                <a:r>
                  <a:rPr lang="es-PE" sz="900" b="0" i="0" dirty="0" err="1">
                    <a:solidFill>
                      <a:schemeClr val="tx1"/>
                    </a:solidFill>
                    <a:effectLst/>
                    <a:latin typeface="Segoe WPC"/>
                  </a:rPr>
                  <a:t>stronger</a:t>
                </a:r>
                <a:r>
                  <a:rPr lang="es-PE" sz="900" b="0" i="0" dirty="0">
                    <a:solidFill>
                      <a:schemeClr val="tx1"/>
                    </a:solidFill>
                    <a:effectLst/>
                    <a:latin typeface="Segoe WPC"/>
                  </a:rPr>
                  <a:t> </a:t>
                </a:r>
                <a:r>
                  <a:rPr lang="es-PE" sz="900" b="0" i="0" dirty="0" err="1">
                    <a:solidFill>
                      <a:schemeClr val="tx1"/>
                    </a:solidFill>
                    <a:effectLst/>
                    <a:latin typeface="Segoe WPC"/>
                  </a:rPr>
                  <a:t>special</a:t>
                </a:r>
                <a:r>
                  <a:rPr lang="es-PE" sz="900" b="0" i="0" dirty="0">
                    <a:solidFill>
                      <a:schemeClr val="tx1"/>
                    </a:solidFill>
                    <a:effectLst/>
                    <a:latin typeface="Segoe WPC"/>
                  </a:rPr>
                  <a:t> cases; </a:t>
                </a:r>
                <a:r>
                  <a:rPr lang="es-PE" sz="900" b="0" i="0" dirty="0" err="1">
                    <a:solidFill>
                      <a:schemeClr val="tx1"/>
                    </a:solidFill>
                    <a:effectLst/>
                    <a:latin typeface="Segoe WPC"/>
                  </a:rPr>
                  <a:t>dependent</a:t>
                </a:r>
                <a:r>
                  <a:rPr lang="es-PE" sz="900" b="0" i="0" dirty="0">
                    <a:solidFill>
                      <a:schemeClr val="tx1"/>
                    </a:solidFill>
                    <a:effectLst/>
                    <a:latin typeface="Segoe WPC"/>
                  </a:rPr>
                  <a:t> </a:t>
                </a:r>
                <a:r>
                  <a:rPr lang="es-PE" sz="900" b="0" i="0" dirty="0" err="1">
                    <a:solidFill>
                      <a:schemeClr val="tx1"/>
                    </a:solidFill>
                    <a:effectLst/>
                    <a:latin typeface="Segoe WPC"/>
                  </a:rPr>
                  <a:t>white</a:t>
                </a:r>
                <a:r>
                  <a:rPr lang="es-PE" sz="900" b="0" i="0" dirty="0">
                    <a:solidFill>
                      <a:schemeClr val="tx1"/>
                    </a:solidFill>
                    <a:effectLst/>
                    <a:latin typeface="Segoe WPC"/>
                  </a:rPr>
                  <a:t> </a:t>
                </a:r>
                <a:r>
                  <a:rPr lang="es-PE" sz="900" b="0" i="0" dirty="0" err="1">
                    <a:solidFill>
                      <a:schemeClr val="tx1"/>
                    </a:solidFill>
                    <a:effectLst/>
                    <a:latin typeface="Segoe WPC"/>
                  </a:rPr>
                  <a:t>noise</a:t>
                </a:r>
                <a:r>
                  <a:rPr lang="es-PE" sz="900" b="0" i="0" dirty="0">
                    <a:solidFill>
                      <a:schemeClr val="tx1"/>
                    </a:solidFill>
                    <a:effectLst/>
                    <a:latin typeface="Segoe WPC"/>
                  </a:rPr>
                  <a:t> can </a:t>
                </a:r>
                <a:r>
                  <a:rPr lang="es-PE" sz="900" b="0" i="0" dirty="0" err="1">
                    <a:solidFill>
                      <a:schemeClr val="tx1"/>
                    </a:solidFill>
                    <a:effectLst/>
                    <a:latin typeface="Segoe WPC"/>
                  </a:rPr>
                  <a:t>still</a:t>
                </a:r>
                <a:r>
                  <a:rPr lang="es-PE" sz="900" b="0" i="0" dirty="0">
                    <a:solidFill>
                      <a:schemeClr val="tx1"/>
                    </a:solidFill>
                    <a:effectLst/>
                    <a:latin typeface="Segoe WPC"/>
                  </a:rPr>
                  <a:t> be </a:t>
                </a:r>
                <a:r>
                  <a:rPr lang="es-PE" sz="900" b="0" i="0" dirty="0" err="1">
                    <a:solidFill>
                      <a:schemeClr val="tx1"/>
                    </a:solidFill>
                    <a:effectLst/>
                    <a:latin typeface="Segoe WPC"/>
                  </a:rPr>
                  <a:t>uncorrelated</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predictable</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White </a:t>
                </a:r>
                <a:r>
                  <a:rPr lang="es-PE" sz="900" b="0" i="0" dirty="0" err="1">
                    <a:solidFill>
                      <a:schemeClr val="tx1"/>
                    </a:solidFill>
                    <a:effectLst/>
                    <a:latin typeface="Segoe WPC"/>
                  </a:rPr>
                  <a:t>noise</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be normal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independent</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4. AR </a:t>
                </a:r>
                <a:r>
                  <a:rPr lang="es-PE" sz="900" b="1" i="0" dirty="0" err="1">
                    <a:solidFill>
                      <a:schemeClr val="tx1"/>
                    </a:solidFill>
                    <a:effectLst/>
                    <a:latin typeface="Segoe WPC"/>
                  </a:rPr>
                  <a:t>Processes</a:t>
                </a:r>
                <a:r>
                  <a:rPr lang="es-PE" sz="900" b="1" i="0" dirty="0">
                    <a:solidFill>
                      <a:schemeClr val="tx1"/>
                    </a:solidFill>
                    <a:effectLst/>
                    <a:latin typeface="Segoe WPC"/>
                  </a:rPr>
                  <a:t>, Mean </a:t>
                </a:r>
                <a:r>
                  <a:rPr lang="es-PE" sz="900" b="1" i="0" dirty="0" err="1">
                    <a:solidFill>
                      <a:schemeClr val="tx1"/>
                    </a:solidFill>
                    <a:effectLst/>
                    <a:latin typeface="Segoe WPC"/>
                  </a:rPr>
                  <a:t>Reversion</a:t>
                </a:r>
                <a:r>
                  <a:rPr lang="es-PE" sz="900" b="1" i="0" dirty="0">
                    <a:solidFill>
                      <a:schemeClr val="tx1"/>
                    </a:solidFill>
                    <a:effectLst/>
                    <a:latin typeface="Segoe WPC"/>
                  </a:rPr>
                  <a:t>, and </a:t>
                </a:r>
                <a:r>
                  <a:rPr lang="es-PE" sz="900" b="1" i="0" dirty="0" err="1">
                    <a:solidFill>
                      <a:schemeClr val="tx1"/>
                    </a:solidFill>
                    <a:effectLst/>
                    <a:latin typeface="Segoe WPC"/>
                  </a:rPr>
                  <a:t>the</a:t>
                </a:r>
                <a:r>
                  <a:rPr lang="es-PE" sz="900" b="1" i="0" dirty="0">
                    <a:solidFill>
                      <a:schemeClr val="tx1"/>
                    </a:solidFill>
                    <a:effectLst/>
                    <a:latin typeface="Segoe WPC"/>
                  </a:rPr>
                  <a:t> </a:t>
                </a:r>
                <a:r>
                  <a:rPr lang="es-PE" sz="900" b="1" i="0" dirty="0" err="1">
                    <a:solidFill>
                      <a:schemeClr val="tx1"/>
                    </a:solidFill>
                    <a:effectLst/>
                    <a:latin typeface="Segoe WPC"/>
                  </a:rPr>
                  <a:t>Lag</a:t>
                </a:r>
                <a:r>
                  <a:rPr lang="es-PE" sz="900" b="1" i="0" dirty="0">
                    <a:solidFill>
                      <a:schemeClr val="tx1"/>
                    </a:solidFill>
                    <a:effectLst/>
                    <a:latin typeface="Segoe WPC"/>
                  </a:rPr>
                  <a:t> </a:t>
                </a:r>
                <a:r>
                  <a:rPr lang="es-PE" sz="900" b="1" i="0" dirty="0" err="1">
                    <a:solidFill>
                      <a:schemeClr val="tx1"/>
                    </a:solidFill>
                    <a:effectLst/>
                    <a:latin typeface="Segoe WPC"/>
                  </a:rPr>
                  <a:t>Operator</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AR </a:t>
                </a:r>
                <a:r>
                  <a:rPr lang="es-PE" sz="900" b="0" i="0" dirty="0" err="1">
                    <a:solidFill>
                      <a:schemeClr val="tx1"/>
                    </a:solidFill>
                    <a:effectLst/>
                    <a:latin typeface="Segoe WPC"/>
                  </a:rPr>
                  <a:t>models</a:t>
                </a:r>
                <a:r>
                  <a:rPr lang="es-PE" sz="900" b="0" i="0" dirty="0">
                    <a:solidFill>
                      <a:schemeClr val="tx1"/>
                    </a:solidFill>
                    <a:effectLst/>
                    <a:latin typeface="Segoe WPC"/>
                  </a:rPr>
                  <a:t> </a:t>
                </a:r>
                <a:r>
                  <a:rPr lang="es-PE" sz="900" b="0" i="0" dirty="0" err="1">
                    <a:solidFill>
                      <a:schemeClr val="tx1"/>
                    </a:solidFill>
                    <a:effectLst/>
                    <a:latin typeface="Segoe WPC"/>
                  </a:rPr>
                  <a:t>explain</a:t>
                </a:r>
                <a:r>
                  <a:rPr lang="es-PE" sz="900" b="0" i="0" dirty="0">
                    <a:solidFill>
                      <a:schemeClr val="tx1"/>
                    </a:solidFill>
                    <a:effectLst/>
                    <a:latin typeface="Segoe WPC"/>
                  </a:rPr>
                  <a:t> a series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own</a:t>
                </a:r>
                <a:r>
                  <a:rPr lang="es-PE" sz="900" b="0" i="0" dirty="0">
                    <a:solidFill>
                      <a:schemeClr val="tx1"/>
                    </a:solidFill>
                    <a:effectLst/>
                    <a:latin typeface="Segoe WPC"/>
                  </a:rPr>
                  <a:t> </a:t>
                </a:r>
                <a:r>
                  <a:rPr lang="es-PE" sz="900" b="0" i="0" dirty="0" err="1">
                    <a:solidFill>
                      <a:schemeClr val="tx1"/>
                    </a:solidFill>
                    <a:effectLst/>
                    <a:latin typeface="Segoe WPC"/>
                  </a:rPr>
                  <a:t>past</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lag</a:t>
                </a:r>
                <a:r>
                  <a:rPr lang="es-PE" sz="900" b="0" i="0" dirty="0">
                    <a:solidFill>
                      <a:schemeClr val="tx1"/>
                    </a:solidFill>
                    <a:effectLst/>
                    <a:latin typeface="Segoe WPC"/>
                  </a:rPr>
                  <a:t> </a:t>
                </a:r>
                <a:r>
                  <a:rPr lang="es-PE" sz="900" b="0" i="0" dirty="0" err="1">
                    <a:solidFill>
                      <a:schemeClr val="tx1"/>
                    </a:solidFill>
                    <a:effectLst/>
                    <a:latin typeface="Segoe WPC"/>
                  </a:rPr>
                  <a:t>operator</a:t>
                </a:r>
                <a:r>
                  <a:rPr lang="es-PE" sz="900" b="0" i="0" dirty="0">
                    <a:solidFill>
                      <a:schemeClr val="tx1"/>
                    </a:solidFill>
                    <a:effectLst/>
                    <a:latin typeface="Segoe WPC"/>
                  </a:rPr>
                  <a:t> </a:t>
                </a:r>
                <a:r>
                  <a:rPr lang="es-PE" sz="900" b="0" i="0" dirty="0" err="1">
                    <a:solidFill>
                      <a:schemeClr val="tx1"/>
                    </a:solidFill>
                    <a:effectLst/>
                    <a:latin typeface="Segoe WPC"/>
                  </a:rPr>
                  <a:t>writes</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a:t>
                </a:r>
                <a:r>
                  <a:rPr lang="es-PE" sz="900" b="0" i="0" dirty="0" err="1">
                    <a:solidFill>
                      <a:schemeClr val="tx1"/>
                    </a:solidFill>
                    <a:effectLst/>
                    <a:latin typeface="Segoe WPC"/>
                  </a:rPr>
                  <a:t>compactly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series has </a:t>
                </a:r>
                <a:r>
                  <a:rPr lang="es-PE" sz="900" b="0" i="0" dirty="0" err="1">
                    <a:solidFill>
                      <a:schemeClr val="tx1"/>
                    </a:solidFill>
                    <a:effectLst/>
                    <a:latin typeface="Segoe WPC"/>
                  </a:rPr>
                  <a:t>memory</a:t>
                </a:r>
                <a:r>
                  <a:rPr lang="es-PE" sz="900" b="0" i="0" dirty="0">
                    <a:solidFill>
                      <a:schemeClr val="tx1"/>
                    </a:solidFill>
                    <a:effectLst/>
                    <a:latin typeface="Segoe WPC"/>
                  </a:rPr>
                  <a:t>, and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stationary</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tends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back </a:t>
                </a:r>
                <a:r>
                  <a:rPr lang="es-PE" sz="900" b="0" i="0" dirty="0" err="1">
                    <a:solidFill>
                      <a:schemeClr val="tx1"/>
                    </a:solidFill>
                    <a:effectLst/>
                    <a:latin typeface="Segoe WPC"/>
                  </a:rPr>
                  <a:t>toward</a:t>
                </a:r>
                <a:r>
                  <a:rPr lang="es-PE" sz="900" b="0" i="0" dirty="0">
                    <a:solidFill>
                      <a:schemeClr val="tx1"/>
                    </a:solidFill>
                    <a:effectLst/>
                    <a:latin typeface="Segoe WPC"/>
                  </a:rPr>
                  <a:t> a </a:t>
                </a:r>
                <a:r>
                  <a:rPr lang="es-PE" sz="900" b="0" i="0" dirty="0" err="1">
                    <a:solidFill>
                      <a:schemeClr val="tx1"/>
                    </a:solidFill>
                    <a:effectLst/>
                    <a:latin typeface="Segoe WPC"/>
                  </a:rPr>
                  <a:t>long</a:t>
                </a:r>
                <a:r>
                  <a:rPr lang="es-PE" sz="900" b="0" i="0" dirty="0">
                    <a:solidFill>
                      <a:schemeClr val="tx1"/>
                    </a:solidFill>
                    <a:effectLst/>
                    <a:latin typeface="Segoe WPC"/>
                  </a:rPr>
                  <a:t>-run mean.</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Past</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pull</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current</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forward,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forever</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process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mean </a:t>
                </a:r>
                <a:r>
                  <a:rPr lang="es-PE" sz="900" b="0" i="0" dirty="0" err="1">
                    <a:solidFill>
                      <a:schemeClr val="tx1"/>
                    </a:solidFill>
                    <a:effectLst/>
                    <a:latin typeface="Segoe WPC"/>
                  </a:rPr>
                  <a:t>reverting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AR(1):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𝛿</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𝜙</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 </a:t>
                </a:r>
                <a:r>
                  <a:rPr lang="es-PE" sz="900" b="0" i="0" dirty="0" err="1">
                    <a:solidFill>
                      <a:schemeClr val="tx1"/>
                    </a:solidFill>
                    <a:effectLst/>
                    <a:latin typeface="Segoe WPC"/>
                  </a:rPr>
                  <a:t>stationary</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𝜙</m:t>
                    </m:r>
                    <m:r>
                      <a:rPr lang="es-PE" sz="900" i="0">
                        <a:solidFill>
                          <a:schemeClr val="tx1"/>
                        </a:solidFill>
                        <a:latin typeface="Cambria Math" panose="02040503050406030204" pitchFamily="18" charset="0"/>
                      </a:rPr>
                      <m:t>∣&lt;</m:t>
                    </m:r>
                    <m:r>
                      <a:rPr lang="es-PE" sz="900" i="0">
                        <a:solidFill>
                          <a:schemeClr val="tx1"/>
                        </a:solidFill>
                        <a:latin typeface="Cambria Math" panose="02040503050406030204" pitchFamily="18" charset="0"/>
                      </a:rPr>
                      <m:t>1</m:t>
                    </m:r>
                  </m:oMath>
                </a14:m>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mean </a:t>
                </a:r>
                <a14:m>
                  <m:oMath xmlns:m="http://schemas.openxmlformats.org/officeDocument/2006/math">
                    <m:r>
                      <a:rPr lang="es-PE" sz="900" i="1">
                        <a:solidFill>
                          <a:schemeClr val="tx1"/>
                        </a:solidFill>
                        <a:latin typeface="Cambria Math" panose="02040503050406030204" pitchFamily="18" charset="0"/>
                      </a:rPr>
                      <m:t>𝜇</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𝛿</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𝜙</m:t>
                        </m:r>
                      </m:e>
                    </m:d>
                  </m:oMath>
                </a14:m>
                <a:r>
                  <a:rPr lang="ar-A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𝛾</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𝜙</m:t>
                            </m:r>
                          </m:e>
                          <m:sup>
                            <m:r>
                              <a:rPr lang="ar-AE" sz="900" i="0">
                                <a:solidFill>
                                  <a:schemeClr val="tx1"/>
                                </a:solidFill>
                                <a:latin typeface="Cambria Math" panose="02040503050406030204" pitchFamily="18" charset="0"/>
                              </a:rPr>
                              <m:t>2</m:t>
                            </m:r>
                          </m:sup>
                        </m:sSup>
                      </m:e>
                    </m:d>
                  </m:oMath>
                </a14:m>
                <a:r>
                  <a:rPr lang="ar-AE" sz="900" b="0" i="0" dirty="0">
                    <a:solidFill>
                      <a:schemeClr val="tx1"/>
                    </a:solidFill>
                    <a:effectLst/>
                    <a:latin typeface="Segoe WPC"/>
                  </a:rPr>
                  <a:t>, </a:t>
                </a:r>
                <a:r>
                  <a:rPr lang="es-PE" sz="900" b="0" i="0" dirty="0">
                    <a:solidFill>
                      <a:schemeClr val="tx1"/>
                    </a:solidFill>
                    <a:effectLst/>
                    <a:latin typeface="Segoe WPC"/>
                  </a:rPr>
                  <a:t>and ACF </a:t>
                </a:r>
                <a14:m>
                  <m:oMath xmlns:m="http://schemas.openxmlformats.org/officeDocument/2006/math">
                    <m:r>
                      <a:rPr lang="es-PE" sz="900" i="1">
                        <a:solidFill>
                          <a:schemeClr val="tx1"/>
                        </a:solidFill>
                        <a:latin typeface="Cambria Math" panose="02040503050406030204" pitchFamily="18" charset="0"/>
                      </a:rPr>
                      <m:t>𝜌</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h</m:t>
                        </m:r>
                      </m:e>
                    </m:d>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𝜙</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h</m:t>
                        </m:r>
                        <m:r>
                          <a:rPr lang="ar-AE" sz="900" i="0">
                            <a:solidFill>
                              <a:schemeClr val="tx1"/>
                            </a:solidFill>
                            <a:latin typeface="Cambria Math" panose="02040503050406030204" pitchFamily="18" charset="0"/>
                          </a:rPr>
                          <m:t>∣</m:t>
                        </m:r>
                      </m:sup>
                    </m:sSup>
                  </m:oMath>
                </a14:m>
                <a:r>
                  <a:rPr lang="ar-A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lag</a:t>
                </a:r>
                <a:r>
                  <a:rPr lang="es-PE" sz="900" b="0" i="0" dirty="0">
                    <a:solidFill>
                      <a:schemeClr val="tx1"/>
                    </a:solidFill>
                    <a:effectLst/>
                    <a:latin typeface="Segoe WPC"/>
                  </a:rPr>
                  <a:t> </a:t>
                </a:r>
                <a:r>
                  <a:rPr lang="es-PE" sz="900" b="0" i="0" dirty="0" err="1">
                    <a:solidFill>
                      <a:schemeClr val="tx1"/>
                    </a:solidFill>
                    <a:effectLst/>
                    <a:latin typeface="Segoe WPC"/>
                  </a:rPr>
                  <a:t>operator</a:t>
                </a:r>
                <a:r>
                  <a:rPr lang="es-PE" sz="900" b="0" i="0" dirty="0">
                    <a:solidFill>
                      <a:schemeClr val="tx1"/>
                    </a:solidFill>
                    <a:effectLst/>
                    <a:latin typeface="Segoe WPC"/>
                  </a:rPr>
                  <a:t> </a:t>
                </a:r>
                <a:r>
                  <a:rPr lang="es-PE" sz="900" b="0" i="0" dirty="0" err="1">
                    <a:solidFill>
                      <a:schemeClr val="tx1"/>
                    </a:solidFill>
                    <a:effectLst/>
                    <a:latin typeface="Segoe WPC"/>
                  </a:rPr>
                  <a:t>satisfies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𝐿</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a:solidFill>
                      <a:schemeClr val="tx1"/>
                    </a:solidFill>
                    <a:effectLst/>
                    <a:latin typeface="Segoe WPC"/>
                  </a:rPr>
                  <a:t>and </a:t>
                </a:r>
                <a:r>
                  <a:rPr lang="es-PE" sz="900" b="0" i="0" dirty="0" err="1">
                    <a:solidFill>
                      <a:schemeClr val="tx1"/>
                    </a:solidFill>
                    <a:effectLst/>
                    <a:latin typeface="Segoe WPC"/>
                  </a:rPr>
                  <a:t>lets</a:t>
                </a:r>
                <a:r>
                  <a:rPr lang="es-PE" sz="900" b="0" i="0" dirty="0">
                    <a:solidFill>
                      <a:schemeClr val="tx1"/>
                    </a:solidFill>
                    <a:effectLst/>
                    <a:latin typeface="Segoe WPC"/>
                  </a:rPr>
                  <a:t> </a:t>
                </a:r>
                <a:r>
                  <a:rPr lang="es-PE" sz="900" b="0" i="0" dirty="0" err="1">
                    <a:solidFill>
                      <a:schemeClr val="tx1"/>
                    </a:solidFill>
                    <a:effectLst/>
                    <a:latin typeface="Segoe WPC"/>
                  </a:rPr>
                  <a:t>us</a:t>
                </a:r>
                <a:r>
                  <a:rPr lang="es-PE" sz="900" b="0" i="0" dirty="0">
                    <a:solidFill>
                      <a:schemeClr val="tx1"/>
                    </a:solidFill>
                    <a:effectLst/>
                    <a:latin typeface="Segoe WPC"/>
                  </a:rPr>
                  <a:t> </a:t>
                </a:r>
                <a:r>
                  <a:rPr lang="es-PE" sz="900" b="0" i="0" dirty="0" err="1">
                    <a:solidFill>
                      <a:schemeClr val="tx1"/>
                    </a:solidFill>
                    <a:effectLst/>
                    <a:latin typeface="Segoe WPC"/>
                  </a:rPr>
                  <a:t>write</a:t>
                </a:r>
                <a:r>
                  <a:rPr lang="es-PE" sz="900" b="0" i="0" dirty="0">
                    <a:solidFill>
                      <a:schemeClr val="tx1"/>
                    </a:solidFill>
                    <a:effectLst/>
                    <a:latin typeface="Segoe WPC"/>
                  </a:rPr>
                  <a:t> </a:t>
                </a:r>
                <a14:m>
                  <m:oMath xmlns:m="http://schemas.openxmlformats.org/officeDocument/2006/math">
                    <m:d>
                      <m:dPr>
                        <m:ctrlPr>
                          <a:rPr lang="ar-AE" sz="900" i="1">
                            <a:solidFill>
                              <a:schemeClr val="tx1"/>
                            </a:solidFill>
                            <a:latin typeface="Cambria Math" panose="02040503050406030204" pitchFamily="18" charset="0"/>
                          </a:rPr>
                        </m:ctrlPr>
                      </m:dPr>
                      <m:e>
                        <m:r>
                          <a:rPr lang="ar-AE" sz="90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𝜙</m:t>
                        </m:r>
                        <m:r>
                          <a:rPr lang="ar-AE" sz="900" i="1">
                            <a:solidFill>
                              <a:schemeClr val="tx1"/>
                            </a:solidFill>
                            <a:latin typeface="Cambria Math" panose="02040503050406030204" pitchFamily="18" charset="0"/>
                          </a:rPr>
                          <m:t>𝐿</m:t>
                        </m:r>
                      </m:e>
                    </m:d>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𝛿</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 </a:t>
                </a:r>
                <a:r>
                  <a:rPr lang="es-PE" sz="900" b="0" i="0" dirty="0">
                    <a:solidFill>
                      <a:schemeClr val="tx1"/>
                    </a:solidFill>
                    <a:effectLst/>
                    <a:latin typeface="Segoe WPC"/>
                  </a:rPr>
                  <a:t>AR(p):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𝛿</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𝜙</m:t>
                        </m:r>
                      </m:e>
                      <m:sub>
                        <m:r>
                          <a:rPr lang="ar-AE" sz="900" i="0">
                            <a:solidFill>
                              <a:schemeClr val="tx1"/>
                            </a:solidFill>
                            <a:latin typeface="Cambria Math" panose="02040503050406030204" pitchFamily="18" charset="0"/>
                          </a:rPr>
                          <m:t>1</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𝜙</m:t>
                        </m:r>
                      </m:e>
                      <m:sub>
                        <m:r>
                          <a:rPr lang="ar-AE" sz="900" i="1">
                            <a:solidFill>
                              <a:schemeClr val="tx1"/>
                            </a:solidFill>
                            <a:latin typeface="Cambria Math" panose="02040503050406030204" pitchFamily="18" charset="0"/>
                          </a:rPr>
                          <m:t>𝑝</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In AR </a:t>
                </a:r>
                <a:r>
                  <a:rPr lang="es-PE" sz="900" b="0" i="0" dirty="0" err="1">
                    <a:solidFill>
                      <a:schemeClr val="tx1"/>
                    </a:solidFill>
                    <a:effectLst/>
                    <a:latin typeface="Segoe WPC"/>
                  </a:rPr>
                  <a:t>models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ACF </a:t>
                </a:r>
                <a:r>
                  <a:rPr lang="es-PE" sz="900" b="0" i="0" dirty="0" err="1">
                    <a:solidFill>
                      <a:schemeClr val="tx1"/>
                    </a:solidFill>
                    <a:effectLst/>
                    <a:latin typeface="Segoe WPC"/>
                  </a:rPr>
                  <a:t>decays</a:t>
                </a:r>
                <a:r>
                  <a:rPr lang="es-PE" sz="900" b="0" i="0" dirty="0">
                    <a:solidFill>
                      <a:schemeClr val="tx1"/>
                    </a:solidFill>
                    <a:effectLst/>
                    <a:latin typeface="Segoe WPC"/>
                  </a:rPr>
                  <a:t> </a:t>
                </a:r>
                <a:r>
                  <a:rPr lang="es-PE" sz="900" b="0" i="0" dirty="0" err="1">
                    <a:solidFill>
                      <a:schemeClr val="tx1"/>
                    </a:solidFill>
                    <a:effectLst/>
                    <a:latin typeface="Segoe WPC"/>
                  </a:rPr>
                  <a:t>gradually</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PACF </a:t>
                </a:r>
                <a:r>
                  <a:rPr lang="es-PE" sz="900" b="0" i="0" dirty="0" err="1">
                    <a:solidFill>
                      <a:schemeClr val="tx1"/>
                    </a:solidFill>
                    <a:effectLst/>
                    <a:latin typeface="Segoe WPC"/>
                  </a:rPr>
                  <a:t>cuts</a:t>
                </a:r>
                <a:r>
                  <a:rPr lang="es-PE" sz="900" b="0" i="0" dirty="0">
                    <a:solidFill>
                      <a:schemeClr val="tx1"/>
                    </a:solidFill>
                    <a:effectLst/>
                    <a:latin typeface="Segoe WPC"/>
                  </a:rPr>
                  <a:t> off at </a:t>
                </a:r>
                <a:r>
                  <a:rPr lang="es-PE" sz="900" b="0" i="0" dirty="0" err="1">
                    <a:solidFill>
                      <a:schemeClr val="tx1"/>
                    </a:solidFill>
                    <a:effectLst/>
                    <a:latin typeface="Segoe WPC"/>
                  </a:rPr>
                  <a:t>lag</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𝑝</m:t>
                    </m:r>
                  </m:oMath>
                </a14:m>
                <a:r>
                  <a:rPr lang="es-PE" sz="900" b="0" i="0" dirty="0">
                    <a:solidFill>
                      <a:schemeClr val="tx1"/>
                    </a:solidFill>
                    <a:effectLst/>
                    <a:latin typeface="Segoe WPC"/>
                  </a:rPr>
                  <a:t>. Long-</a:t>
                </a:r>
                <a:r>
                  <a:rPr lang="es-PE" sz="900" b="0" i="0" dirty="0" err="1">
                    <a:solidFill>
                      <a:schemeClr val="tx1"/>
                    </a:solidFill>
                    <a:effectLst/>
                    <a:latin typeface="Segoe WPC"/>
                  </a:rPr>
                  <a:t>horizon</a:t>
                </a:r>
                <a:r>
                  <a:rPr lang="es-PE" sz="900" b="0" i="0" dirty="0">
                    <a:solidFill>
                      <a:schemeClr val="tx1"/>
                    </a:solidFill>
                    <a:effectLst/>
                    <a:latin typeface="Segoe WPC"/>
                  </a:rPr>
                  <a:t> </a:t>
                </a:r>
                <a:r>
                  <a:rPr lang="es-PE" sz="900" b="0" i="0" dirty="0" err="1">
                    <a:solidFill>
                      <a:schemeClr val="tx1"/>
                    </a:solidFill>
                    <a:effectLst/>
                    <a:latin typeface="Segoe WPC"/>
                  </a:rPr>
                  <a:t>forecasts</a:t>
                </a:r>
                <a:r>
                  <a:rPr lang="es-PE" sz="900" b="0" i="0" dirty="0">
                    <a:solidFill>
                      <a:schemeClr val="tx1"/>
                    </a:solidFill>
                    <a:effectLst/>
                    <a:latin typeface="Segoe WPC"/>
                  </a:rPr>
                  <a:t> converge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-run mean. </a:t>
                </a:r>
                <a:r>
                  <a:rPr lang="es-PE" sz="900" b="0" i="0" dirty="0" err="1">
                    <a:solidFill>
                      <a:schemeClr val="tx1"/>
                    </a:solidFill>
                    <a:effectLst/>
                    <a:latin typeface="Segoe WPC"/>
                  </a:rPr>
                  <a:t>Stationarity</a:t>
                </a:r>
                <a:r>
                  <a:rPr lang="es-PE" sz="900" b="0" i="0" dirty="0">
                    <a:solidFill>
                      <a:schemeClr val="tx1"/>
                    </a:solidFill>
                    <a:effectLst/>
                    <a:latin typeface="Segoe WPC"/>
                  </a:rPr>
                  <a:t> in </a:t>
                </a:r>
                <a:r>
                  <a:rPr lang="es-PE" sz="900" b="0" i="0" dirty="0" err="1">
                    <a:solidFill>
                      <a:schemeClr val="tx1"/>
                    </a:solidFill>
                    <a:effectLst/>
                    <a:latin typeface="Segoe WPC"/>
                  </a:rPr>
                  <a:t>higher-order</a:t>
                </a:r>
                <a:r>
                  <a:rPr lang="es-PE" sz="900" b="0" i="0" dirty="0">
                    <a:solidFill>
                      <a:schemeClr val="tx1"/>
                    </a:solidFill>
                    <a:effectLst/>
                    <a:latin typeface="Segoe WPC"/>
                  </a:rPr>
                  <a:t> </a:t>
                </a:r>
                <a:r>
                  <a:rPr lang="es-PE" sz="900" b="0" i="0" dirty="0" err="1">
                    <a:solidFill>
                      <a:schemeClr val="tx1"/>
                    </a:solidFill>
                    <a:effectLst/>
                    <a:latin typeface="Segoe WPC"/>
                  </a:rPr>
                  <a:t>ARs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determined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characteristic</a:t>
                </a:r>
                <a:r>
                  <a:rPr lang="es-PE" sz="900" b="0" i="0" dirty="0">
                    <a:solidFill>
                      <a:schemeClr val="tx1"/>
                    </a:solidFill>
                    <a:effectLst/>
                    <a:latin typeface="Segoe WPC"/>
                  </a:rPr>
                  <a:t> </a:t>
                </a:r>
                <a:r>
                  <a:rPr lang="es-PE" sz="900" b="0" i="0" dirty="0" err="1">
                    <a:solidFill>
                      <a:schemeClr val="tx1"/>
                    </a:solidFill>
                    <a:effectLst/>
                    <a:latin typeface="Segoe WPC"/>
                  </a:rPr>
                  <a:t>roots</a:t>
                </a:r>
                <a:r>
                  <a:rPr lang="es-PE" sz="900" b="0" i="0" dirty="0">
                    <a:solidFill>
                      <a:schemeClr val="tx1"/>
                    </a:solidFill>
                    <a:effectLst/>
                    <a:latin typeface="Segoe WPC"/>
                  </a:rPr>
                  <a:t> </a:t>
                </a:r>
                <a:r>
                  <a:rPr lang="es-PE" sz="900" b="0" i="0" dirty="0" err="1">
                    <a:solidFill>
                      <a:schemeClr val="tx1"/>
                    </a:solidFill>
                    <a:effectLst/>
                    <a:latin typeface="Segoe WPC"/>
                  </a:rPr>
                  <a:t>being</a:t>
                </a:r>
                <a:r>
                  <a:rPr lang="es-PE" sz="900" b="0" i="0" dirty="0">
                    <a:solidFill>
                      <a:schemeClr val="tx1"/>
                    </a:solidFill>
                    <a:effectLst/>
                    <a:latin typeface="Segoe WPC"/>
                  </a:rPr>
                  <a:t> </a:t>
                </a:r>
                <a:r>
                  <a:rPr lang="es-PE" sz="900" b="0" i="0" dirty="0" err="1">
                    <a:solidFill>
                      <a:schemeClr val="tx1"/>
                    </a:solidFill>
                    <a:effectLst/>
                    <a:latin typeface="Segoe WPC"/>
                  </a:rPr>
                  <a:t>outside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unit</a:t>
                </a:r>
                <a:r>
                  <a:rPr lang="es-PE" sz="900" b="0" i="0" dirty="0">
                    <a:solidFill>
                      <a:schemeClr val="tx1"/>
                    </a:solidFill>
                    <a:effectLst/>
                    <a:latin typeface="Segoe WPC"/>
                  </a:rPr>
                  <a:t> </a:t>
                </a:r>
                <a:r>
                  <a:rPr lang="es-PE" sz="900" b="0" i="0" dirty="0" err="1">
                    <a:solidFill>
                      <a:schemeClr val="tx1"/>
                    </a:solidFill>
                    <a:effectLst/>
                    <a:latin typeface="Segoe WPC"/>
                  </a:rPr>
                  <a:t>circle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Stationarity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a:t>
                </a:r>
                <a:r>
                  <a:rPr lang="es-PE" sz="900" b="0" i="0" dirty="0" err="1">
                    <a:solidFill>
                      <a:schemeClr val="tx1"/>
                    </a:solidFill>
                    <a:effectLst/>
                    <a:latin typeface="Segoe WPC"/>
                  </a:rPr>
                  <a:t>small</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root</a:t>
                </a:r>
                <a:r>
                  <a:rPr lang="es-PE" sz="900" b="0" i="0" dirty="0">
                    <a:solidFill>
                      <a:schemeClr val="tx1"/>
                    </a:solidFill>
                    <a:effectLst/>
                    <a:latin typeface="Segoe WPC"/>
                  </a:rPr>
                  <a:t> </a:t>
                </a:r>
                <a:r>
                  <a:rPr lang="es-PE" sz="900" b="0" i="0" dirty="0" err="1">
                    <a:solidFill>
                      <a:schemeClr val="tx1"/>
                    </a:solidFill>
                    <a:effectLst/>
                    <a:latin typeface="Segoe WPC"/>
                  </a:rPr>
                  <a:t>condition</a:t>
                </a:r>
                <a:r>
                  <a:rPr lang="es-PE" sz="900" b="0" i="0" dirty="0">
                    <a:solidFill>
                      <a:schemeClr val="tx1"/>
                    </a:solidFill>
                    <a:effectLst/>
                    <a:latin typeface="Segoe WPC"/>
                  </a:rPr>
                  <a:t>.</a:t>
                </a:r>
              </a:p>
            </p:txBody>
          </p:sp>
        </mc:Choice>
        <mc:Fallback xmlns="">
          <p:sp>
            <p:nvSpPr>
              <p:cNvPr id="4" name="CuadroTexto 3">
                <a:extLst>
                  <a:ext uri="{FF2B5EF4-FFF2-40B4-BE49-F238E27FC236}">
                    <a16:creationId xmlns:a16="http://schemas.microsoft.com/office/drawing/2014/main" id="{A8E595B2-3B18-2C62-564C-03F1CD5EB385}"/>
                  </a:ext>
                </a:extLst>
              </p:cNvPr>
              <p:cNvSpPr txBox="1">
                <a:spLocks noRot="1" noChangeAspect="1" noMove="1" noResize="1" noEditPoints="1" noAdjustHandles="1" noChangeArrowheads="1" noChangeShapeType="1" noTextEdit="1"/>
              </p:cNvSpPr>
              <p:nvPr/>
            </p:nvSpPr>
            <p:spPr>
              <a:xfrm>
                <a:off x="76199" y="414902"/>
                <a:ext cx="5969000" cy="6186437"/>
              </a:xfrm>
              <a:prstGeom prst="rect">
                <a:avLst/>
              </a:prstGeom>
              <a:blipFill>
                <a:blip r:embed="rId3"/>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0FF951AB-3A4D-2B1C-601E-B40A64F7A163}"/>
                  </a:ext>
                </a:extLst>
              </p:cNvPr>
              <p:cNvSpPr txBox="1"/>
              <p:nvPr/>
            </p:nvSpPr>
            <p:spPr>
              <a:xfrm>
                <a:off x="5969001" y="136684"/>
                <a:ext cx="6146800" cy="6464655"/>
              </a:xfrm>
              <a:prstGeom prst="rect">
                <a:avLst/>
              </a:prstGeom>
              <a:noFill/>
            </p:spPr>
            <p:txBody>
              <a:bodyPr wrap="square">
                <a:spAutoFit/>
              </a:bodyPr>
              <a:lstStyle/>
              <a:p>
                <a:pPr>
                  <a:spcAft>
                    <a:spcPts val="1200"/>
                  </a:spcAft>
                </a:pPr>
                <a:r>
                  <a:rPr lang="es-PE" sz="900" b="1" dirty="0">
                    <a:latin typeface="Segoe WPC"/>
                  </a:rPr>
                  <a:t>5. MA </a:t>
                </a:r>
                <a:r>
                  <a:rPr lang="es-PE" sz="900" b="1" dirty="0" err="1">
                    <a:latin typeface="Segoe WPC"/>
                  </a:rPr>
                  <a:t>Processes</a:t>
                </a:r>
                <a:r>
                  <a:rPr lang="es-PE" sz="900" b="1" dirty="0">
                    <a:latin typeface="Segoe WPC"/>
                  </a:rPr>
                  <a:t> and </a:t>
                </a:r>
                <a:r>
                  <a:rPr lang="es-PE" sz="900" b="1" dirty="0" err="1">
                    <a:latin typeface="Segoe WPC"/>
                  </a:rPr>
                  <a:t>Invertibility</a:t>
                </a:r>
                <a:br>
                  <a:rPr lang="es-PE" sz="900" dirty="0">
                    <a:latin typeface="Segoe WPC"/>
                  </a:rPr>
                </a:br>
                <a:r>
                  <a:rPr lang="es-PE" sz="900" b="1" dirty="0" err="1">
                    <a:latin typeface="Segoe WPC"/>
                  </a:rPr>
                  <a:t>Statistical</a:t>
                </a:r>
                <a:r>
                  <a:rPr lang="es-PE" sz="900" b="1" dirty="0">
                    <a:latin typeface="Segoe WPC"/>
                  </a:rPr>
                  <a:t> </a:t>
                </a:r>
                <a:r>
                  <a:rPr lang="es-PE" sz="900" b="1" dirty="0" err="1">
                    <a:latin typeface="Segoe WPC"/>
                  </a:rPr>
                  <a:t>Object</a:t>
                </a:r>
                <a:r>
                  <a:rPr lang="es-PE" sz="900" b="1" dirty="0">
                    <a:latin typeface="Segoe WPC"/>
                  </a:rPr>
                  <a:t>:</a:t>
                </a:r>
                <a:r>
                  <a:rPr lang="es-PE" sz="900" dirty="0">
                    <a:latin typeface="Segoe WPC"/>
                  </a:rPr>
                  <a:t> MA </a:t>
                </a:r>
                <a:r>
                  <a:rPr lang="es-PE" sz="900" dirty="0" err="1">
                    <a:latin typeface="Segoe WPC"/>
                  </a:rPr>
                  <a:t>models</a:t>
                </a:r>
                <a:r>
                  <a:rPr lang="es-PE" sz="900" dirty="0">
                    <a:latin typeface="Segoe WPC"/>
                  </a:rPr>
                  <a:t> </a:t>
                </a:r>
                <a:r>
                  <a:rPr lang="es-PE" sz="900" dirty="0" err="1">
                    <a:latin typeface="Segoe WPC"/>
                  </a:rPr>
                  <a:t>explain</a:t>
                </a:r>
                <a:r>
                  <a:rPr lang="es-PE" sz="900" dirty="0">
                    <a:latin typeface="Segoe WPC"/>
                  </a:rPr>
                  <a:t> a series </a:t>
                </a:r>
                <a:r>
                  <a:rPr lang="es-PE" sz="900" dirty="0" err="1">
                    <a:latin typeface="Segoe WPC"/>
                  </a:rPr>
                  <a:t>using</a:t>
                </a:r>
                <a:r>
                  <a:rPr lang="es-PE" sz="900" dirty="0">
                    <a:latin typeface="Segoe WPC"/>
                  </a:rPr>
                  <a:t> </a:t>
                </a:r>
                <a:r>
                  <a:rPr lang="es-PE" sz="900" dirty="0" err="1">
                    <a:latin typeface="Segoe WPC"/>
                  </a:rPr>
                  <a:t>current</a:t>
                </a:r>
                <a:r>
                  <a:rPr lang="es-PE" sz="900" dirty="0">
                    <a:latin typeface="Segoe WPC"/>
                  </a:rPr>
                  <a:t> and </a:t>
                </a:r>
                <a:r>
                  <a:rPr lang="es-PE" sz="900" dirty="0" err="1">
                    <a:latin typeface="Segoe WPC"/>
                  </a:rPr>
                  <a:t>past</a:t>
                </a:r>
                <a:r>
                  <a:rPr lang="es-PE" sz="900" dirty="0">
                    <a:latin typeface="Segoe WPC"/>
                  </a:rPr>
                  <a:t> shocks.</a:t>
                </a:r>
                <a:br>
                  <a:rPr lang="es-PE" sz="900" dirty="0">
                    <a:latin typeface="Segoe WPC"/>
                  </a:rPr>
                </a:br>
                <a:r>
                  <a:rPr lang="es-PE" sz="900" b="1" dirty="0" err="1">
                    <a:latin typeface="Segoe WPC"/>
                  </a:rPr>
                  <a:t>Plain</a:t>
                </a:r>
                <a:r>
                  <a:rPr lang="es-PE" sz="900" b="1" dirty="0">
                    <a:latin typeface="Segoe WPC"/>
                  </a:rPr>
                  <a:t> </a:t>
                </a:r>
                <a:r>
                  <a:rPr lang="es-PE" sz="900" b="1" dirty="0" err="1">
                    <a:latin typeface="Segoe WPC"/>
                  </a:rPr>
                  <a:t>Intuition</a:t>
                </a:r>
                <a:r>
                  <a:rPr lang="es-PE" sz="900" b="1" dirty="0">
                    <a:latin typeface="Segoe WPC"/>
                  </a:rPr>
                  <a:t>:</a:t>
                </a:r>
                <a:r>
                  <a:rPr lang="es-PE" sz="900" dirty="0">
                    <a:latin typeface="Segoe WPC"/>
                  </a:rPr>
                  <a:t> Shocks </a:t>
                </a:r>
                <a:r>
                  <a:rPr lang="es-PE" sz="900" dirty="0" err="1">
                    <a:latin typeface="Segoe WPC"/>
                  </a:rPr>
                  <a:t>affect</a:t>
                </a:r>
                <a:r>
                  <a:rPr lang="es-PE" sz="900" dirty="0">
                    <a:latin typeface="Segoe WPC"/>
                  </a:rPr>
                  <a:t> </a:t>
                </a:r>
                <a:r>
                  <a:rPr lang="es-PE" sz="900" dirty="0" err="1">
                    <a:latin typeface="Segoe WPC"/>
                  </a:rPr>
                  <a:t>the</a:t>
                </a:r>
                <a:r>
                  <a:rPr lang="es-PE" sz="900" dirty="0">
                    <a:latin typeface="Segoe WPC"/>
                  </a:rPr>
                  <a:t> series </a:t>
                </a:r>
                <a:r>
                  <a:rPr lang="es-PE" sz="900" dirty="0" err="1">
                    <a:latin typeface="Segoe WPC"/>
                  </a:rPr>
                  <a:t>for</a:t>
                </a:r>
                <a:r>
                  <a:rPr lang="es-PE" sz="900" dirty="0">
                    <a:latin typeface="Segoe WPC"/>
                  </a:rPr>
                  <a:t> </a:t>
                </a:r>
                <a:r>
                  <a:rPr lang="es-PE" sz="900" dirty="0" err="1">
                    <a:latin typeface="Segoe WPC"/>
                  </a:rPr>
                  <a:t>only</a:t>
                </a:r>
                <a:r>
                  <a:rPr lang="es-PE" sz="900" dirty="0">
                    <a:latin typeface="Segoe WPC"/>
                  </a:rPr>
                  <a:t> a </a:t>
                </a:r>
                <a:r>
                  <a:rPr lang="es-PE" sz="900" dirty="0" err="1">
                    <a:latin typeface="Segoe WPC"/>
                  </a:rPr>
                  <a:t>limited</a:t>
                </a:r>
                <a:r>
                  <a:rPr lang="es-PE" sz="900" dirty="0">
                    <a:latin typeface="Segoe WPC"/>
                  </a:rPr>
                  <a:t> </a:t>
                </a:r>
                <a:r>
                  <a:rPr lang="es-PE" sz="900" dirty="0" err="1">
                    <a:latin typeface="Segoe WPC"/>
                  </a:rPr>
                  <a:t>number</a:t>
                </a:r>
                <a:r>
                  <a:rPr lang="es-PE" sz="900" dirty="0">
                    <a:latin typeface="Segoe WPC"/>
                  </a:rPr>
                  <a:t> </a:t>
                </a:r>
                <a:r>
                  <a:rPr lang="es-PE" sz="900" dirty="0" err="1">
                    <a:latin typeface="Segoe WPC"/>
                  </a:rPr>
                  <a:t>of</a:t>
                </a:r>
                <a:r>
                  <a:rPr lang="es-PE" sz="900" dirty="0">
                    <a:latin typeface="Segoe WPC"/>
                  </a:rPr>
                  <a:t> </a:t>
                </a:r>
                <a:r>
                  <a:rPr lang="es-PE" sz="900" dirty="0" err="1">
                    <a:latin typeface="Segoe WPC"/>
                  </a:rPr>
                  <a:t>periods</a:t>
                </a:r>
                <a:r>
                  <a:rPr lang="es-PE" sz="900" dirty="0">
                    <a:latin typeface="Segoe WPC"/>
                  </a:rPr>
                  <a:t>.</a:t>
                </a:r>
                <a:br>
                  <a:rPr lang="es-PE" sz="900" dirty="0">
                    <a:latin typeface="Segoe WPC"/>
                  </a:rPr>
                </a:br>
                <a:r>
                  <a:rPr lang="es-PE" sz="900" b="1" dirty="0">
                    <a:latin typeface="Segoe WPC"/>
                  </a:rPr>
                  <a:t>Visual </a:t>
                </a:r>
                <a:r>
                  <a:rPr lang="es-PE" sz="900" b="1" dirty="0" err="1">
                    <a:latin typeface="Segoe WPC"/>
                  </a:rPr>
                  <a:t>Intuition</a:t>
                </a:r>
                <a:r>
                  <a:rPr lang="es-PE" sz="900" b="1" dirty="0">
                    <a:latin typeface="Segoe WPC"/>
                  </a:rPr>
                  <a:t>:</a:t>
                </a:r>
                <a:r>
                  <a:rPr lang="es-PE" sz="900" dirty="0">
                    <a:latin typeface="Segoe WPC"/>
                  </a:rPr>
                  <a:t> A shock hits </a:t>
                </a:r>
                <a:r>
                  <a:rPr lang="es-PE" sz="900" dirty="0" err="1">
                    <a:latin typeface="Segoe WPC"/>
                  </a:rPr>
                  <a:t>the</a:t>
                </a:r>
                <a:r>
                  <a:rPr lang="es-PE" sz="900" dirty="0">
                    <a:latin typeface="Segoe WPC"/>
                  </a:rPr>
                  <a:t> series, </a:t>
                </a:r>
                <a:r>
                  <a:rPr lang="es-PE" sz="900" dirty="0" err="1">
                    <a:latin typeface="Segoe WPC"/>
                  </a:rPr>
                  <a:t>echoes</a:t>
                </a:r>
                <a:r>
                  <a:rPr lang="es-PE" sz="900" dirty="0">
                    <a:latin typeface="Segoe WPC"/>
                  </a:rPr>
                  <a:t> </a:t>
                </a:r>
                <a:r>
                  <a:rPr lang="es-PE" sz="900" dirty="0" err="1">
                    <a:latin typeface="Segoe WPC"/>
                  </a:rPr>
                  <a:t>for</a:t>
                </a:r>
                <a:r>
                  <a:rPr lang="es-PE" sz="900" dirty="0">
                    <a:latin typeface="Segoe WPC"/>
                  </a:rPr>
                  <a:t> a </a:t>
                </a:r>
                <a:r>
                  <a:rPr lang="es-PE" sz="900" dirty="0" err="1">
                    <a:latin typeface="Segoe WPC"/>
                  </a:rPr>
                  <a:t>few</a:t>
                </a:r>
                <a:r>
                  <a:rPr lang="es-PE" sz="900" dirty="0">
                    <a:latin typeface="Segoe WPC"/>
                  </a:rPr>
                  <a:t> </a:t>
                </a:r>
                <a:r>
                  <a:rPr lang="es-PE" sz="900" dirty="0" err="1">
                    <a:latin typeface="Segoe WPC"/>
                  </a:rPr>
                  <a:t>lags</a:t>
                </a:r>
                <a:r>
                  <a:rPr lang="es-PE" sz="900" dirty="0">
                    <a:latin typeface="Segoe WPC"/>
                  </a:rPr>
                  <a:t>, and </a:t>
                </a:r>
                <a:r>
                  <a:rPr lang="es-PE" sz="900" dirty="0" err="1">
                    <a:latin typeface="Segoe WPC"/>
                  </a:rPr>
                  <a:t>then</a:t>
                </a:r>
                <a:r>
                  <a:rPr lang="es-PE" sz="900" dirty="0">
                    <a:latin typeface="Segoe WPC"/>
                  </a:rPr>
                  <a:t> </a:t>
                </a:r>
                <a:r>
                  <a:rPr lang="es-PE" sz="900" dirty="0" err="1">
                    <a:latin typeface="Segoe WPC"/>
                  </a:rPr>
                  <a:t>disappears</a:t>
                </a:r>
                <a:r>
                  <a:rPr lang="es-PE" sz="900" dirty="0">
                    <a:latin typeface="Segoe WPC"/>
                  </a:rPr>
                  <a:t> </a:t>
                </a:r>
                <a:r>
                  <a:rPr lang="es-PE" sz="900" dirty="0" err="1">
                    <a:latin typeface="Segoe WPC"/>
                  </a:rPr>
                  <a:t>completely</a:t>
                </a:r>
                <a:r>
                  <a:rPr lang="es-PE" sz="900" dirty="0">
                    <a:latin typeface="Segoe WPC"/>
                  </a:rPr>
                  <a:t>.</a:t>
                </a:r>
                <a:br>
                  <a:rPr lang="es-PE" sz="900" dirty="0">
                    <a:latin typeface="Segoe WPC"/>
                  </a:rPr>
                </a:br>
                <a:r>
                  <a:rPr lang="es-PE" sz="900" b="1" dirty="0">
                    <a:latin typeface="Segoe WPC"/>
                  </a:rPr>
                  <a:t>Key Formula:</a:t>
                </a:r>
                <a:r>
                  <a:rPr lang="es-PE" sz="900" dirty="0">
                    <a:latin typeface="Segoe WPC"/>
                  </a:rPr>
                  <a:t> MA(1): </a:t>
                </a:r>
                <a14:m>
                  <m:oMath xmlns:m="http://schemas.openxmlformats.org/officeDocument/2006/math">
                    <m:sSub>
                      <m:sSubPr>
                        <m:ctrlPr>
                          <a:rPr lang="ar-AE" sz="900" i="1">
                            <a:latin typeface="Cambria Math" panose="02040503050406030204" pitchFamily="18" charset="0"/>
                          </a:rPr>
                        </m:ctrlPr>
                      </m:sSubPr>
                      <m:e>
                        <m:r>
                          <a:rPr lang="ar-AE" sz="900" i="1">
                            <a:latin typeface="Cambria Math" panose="02040503050406030204" pitchFamily="18" charset="0"/>
                          </a:rPr>
                          <m:t>𝑌</m:t>
                        </m:r>
                      </m:e>
                      <m:sub>
                        <m:r>
                          <a:rPr lang="ar-AE" sz="900" i="1">
                            <a:latin typeface="Cambria Math" panose="02040503050406030204" pitchFamily="18" charset="0"/>
                          </a:rPr>
                          <m:t>𝑡</m:t>
                        </m:r>
                      </m:sub>
                    </m:sSub>
                    <m:r>
                      <a:rPr lang="ar-AE" sz="900">
                        <a:latin typeface="Cambria Math" panose="02040503050406030204" pitchFamily="18" charset="0"/>
                      </a:rPr>
                      <m:t>=</m:t>
                    </m:r>
                    <m:r>
                      <a:rPr lang="ar-AE" sz="900" i="1">
                        <a:latin typeface="Cambria Math" panose="02040503050406030204" pitchFamily="18" charset="0"/>
                      </a:rPr>
                      <m:t>𝜇</m:t>
                    </m:r>
                    <m:r>
                      <a:rPr lang="ar-AE" sz="900">
                        <a:latin typeface="Cambria Math" panose="02040503050406030204" pitchFamily="18" charset="0"/>
                      </a:rPr>
                      <m:t>+</m:t>
                    </m:r>
                    <m:r>
                      <a:rPr lang="ar-AE" sz="900" i="1">
                        <a:latin typeface="Cambria Math" panose="02040503050406030204" pitchFamily="18" charset="0"/>
                      </a:rPr>
                      <m:t>𝜃</m:t>
                    </m:r>
                    <m:sSub>
                      <m:sSubPr>
                        <m:ctrlPr>
                          <a:rPr lang="ar-AE" sz="900" i="1">
                            <a:latin typeface="Cambria Math" panose="02040503050406030204" pitchFamily="18" charset="0"/>
                          </a:rPr>
                        </m:ctrlPr>
                      </m:sSubPr>
                      <m:e>
                        <m:r>
                          <a:rPr lang="ar-AE" sz="900" i="1">
                            <a:latin typeface="Cambria Math" panose="02040503050406030204" pitchFamily="18" charset="0"/>
                          </a:rPr>
                          <m:t>𝜀</m:t>
                        </m:r>
                      </m:e>
                      <m:sub>
                        <m:r>
                          <a:rPr lang="ar-AE" sz="900" i="1">
                            <a:latin typeface="Cambria Math" panose="02040503050406030204" pitchFamily="18" charset="0"/>
                          </a:rPr>
                          <m:t>𝑡</m:t>
                        </m:r>
                        <m:r>
                          <a:rPr lang="ar-AE" sz="900">
                            <a:latin typeface="Cambria Math" panose="02040503050406030204" pitchFamily="18" charset="0"/>
                          </a:rPr>
                          <m:t>−</m:t>
                        </m:r>
                        <m:r>
                          <a:rPr lang="ar-AE" sz="900">
                            <a:latin typeface="Cambria Math" panose="02040503050406030204" pitchFamily="18" charset="0"/>
                          </a:rPr>
                          <m:t>1</m:t>
                        </m:r>
                      </m:sub>
                    </m:sSub>
                    <m:r>
                      <a:rPr lang="ar-AE" sz="900">
                        <a:latin typeface="Cambria Math" panose="02040503050406030204" pitchFamily="18" charset="0"/>
                      </a:rPr>
                      <m:t>+</m:t>
                    </m:r>
                    <m:sSub>
                      <m:sSubPr>
                        <m:ctrlPr>
                          <a:rPr lang="ar-AE" sz="900" i="1">
                            <a:latin typeface="Cambria Math" panose="02040503050406030204" pitchFamily="18" charset="0"/>
                          </a:rPr>
                        </m:ctrlPr>
                      </m:sSubPr>
                      <m:e>
                        <m:r>
                          <a:rPr lang="ar-AE" sz="900" i="1">
                            <a:latin typeface="Cambria Math" panose="02040503050406030204" pitchFamily="18" charset="0"/>
                          </a:rPr>
                          <m:t>𝜀</m:t>
                        </m:r>
                      </m:e>
                      <m:sub>
                        <m:r>
                          <a:rPr lang="ar-AE" sz="900" i="1">
                            <a:latin typeface="Cambria Math" panose="02040503050406030204" pitchFamily="18" charset="0"/>
                          </a:rPr>
                          <m:t>𝑡</m:t>
                        </m:r>
                      </m:sub>
                    </m:sSub>
                  </m:oMath>
                </a14:m>
                <a:r>
                  <a:rPr lang="ar-AE" sz="900" dirty="0">
                    <a:latin typeface="Segoe WPC"/>
                  </a:rPr>
                  <a:t>; </a:t>
                </a:r>
                <a:r>
                  <a:rPr lang="es-PE" sz="900" dirty="0">
                    <a:latin typeface="Segoe WPC"/>
                  </a:rPr>
                  <a:t>MA(q): </a:t>
                </a:r>
                <a14:m>
                  <m:oMath xmlns:m="http://schemas.openxmlformats.org/officeDocument/2006/math">
                    <m:sSub>
                      <m:sSubPr>
                        <m:ctrlPr>
                          <a:rPr lang="ar-AE" sz="900" i="1">
                            <a:latin typeface="Cambria Math" panose="02040503050406030204" pitchFamily="18" charset="0"/>
                          </a:rPr>
                        </m:ctrlPr>
                      </m:sSubPr>
                      <m:e>
                        <m:r>
                          <a:rPr lang="ar-AE" sz="900" i="1">
                            <a:latin typeface="Cambria Math" panose="02040503050406030204" pitchFamily="18" charset="0"/>
                          </a:rPr>
                          <m:t>𝑌</m:t>
                        </m:r>
                      </m:e>
                      <m:sub>
                        <m:r>
                          <a:rPr lang="ar-AE" sz="900" i="1">
                            <a:latin typeface="Cambria Math" panose="02040503050406030204" pitchFamily="18" charset="0"/>
                          </a:rPr>
                          <m:t>𝑡</m:t>
                        </m:r>
                      </m:sub>
                    </m:sSub>
                    <m:r>
                      <a:rPr lang="ar-AE" sz="900">
                        <a:latin typeface="Cambria Math" panose="02040503050406030204" pitchFamily="18" charset="0"/>
                      </a:rPr>
                      <m:t>=</m:t>
                    </m:r>
                    <m:r>
                      <a:rPr lang="ar-AE" sz="900" i="1">
                        <a:latin typeface="Cambria Math" panose="02040503050406030204" pitchFamily="18" charset="0"/>
                      </a:rPr>
                      <m:t>𝜇</m:t>
                    </m:r>
                    <m:r>
                      <a:rPr lang="ar-AE" sz="900">
                        <a:latin typeface="Cambria Math" panose="02040503050406030204" pitchFamily="18" charset="0"/>
                      </a:rPr>
                      <m:t>+</m:t>
                    </m:r>
                    <m:sSub>
                      <m:sSubPr>
                        <m:ctrlPr>
                          <a:rPr lang="ar-AE" sz="900" i="1">
                            <a:latin typeface="Cambria Math" panose="02040503050406030204" pitchFamily="18" charset="0"/>
                          </a:rPr>
                        </m:ctrlPr>
                      </m:sSubPr>
                      <m:e>
                        <m:r>
                          <a:rPr lang="ar-AE" sz="900" i="1">
                            <a:latin typeface="Cambria Math" panose="02040503050406030204" pitchFamily="18" charset="0"/>
                          </a:rPr>
                          <m:t>𝜃</m:t>
                        </m:r>
                      </m:e>
                      <m:sub>
                        <m:r>
                          <a:rPr lang="ar-AE" sz="900">
                            <a:latin typeface="Cambria Math" panose="02040503050406030204" pitchFamily="18" charset="0"/>
                          </a:rPr>
                          <m:t>1</m:t>
                        </m:r>
                      </m:sub>
                    </m:sSub>
                    <m:sSub>
                      <m:sSubPr>
                        <m:ctrlPr>
                          <a:rPr lang="ar-AE" sz="900" i="1">
                            <a:latin typeface="Cambria Math" panose="02040503050406030204" pitchFamily="18" charset="0"/>
                          </a:rPr>
                        </m:ctrlPr>
                      </m:sSubPr>
                      <m:e>
                        <m:r>
                          <a:rPr lang="ar-AE" sz="900" i="1">
                            <a:latin typeface="Cambria Math" panose="02040503050406030204" pitchFamily="18" charset="0"/>
                          </a:rPr>
                          <m:t>𝜀</m:t>
                        </m:r>
                      </m:e>
                      <m:sub>
                        <m:r>
                          <a:rPr lang="ar-AE" sz="900" i="1">
                            <a:latin typeface="Cambria Math" panose="02040503050406030204" pitchFamily="18" charset="0"/>
                          </a:rPr>
                          <m:t>𝑡</m:t>
                        </m:r>
                        <m:r>
                          <a:rPr lang="ar-AE" sz="900">
                            <a:latin typeface="Cambria Math" panose="02040503050406030204" pitchFamily="18" charset="0"/>
                          </a:rPr>
                          <m:t>−</m:t>
                        </m:r>
                        <m:r>
                          <a:rPr lang="ar-AE" sz="900">
                            <a:latin typeface="Cambria Math" panose="02040503050406030204" pitchFamily="18" charset="0"/>
                          </a:rPr>
                          <m:t>1</m:t>
                        </m:r>
                      </m:sub>
                    </m:sSub>
                    <m:r>
                      <a:rPr lang="ar-AE" sz="900">
                        <a:latin typeface="Cambria Math" panose="02040503050406030204" pitchFamily="18" charset="0"/>
                      </a:rPr>
                      <m:t>+⋯+</m:t>
                    </m:r>
                    <m:sSub>
                      <m:sSubPr>
                        <m:ctrlPr>
                          <a:rPr lang="ar-AE" sz="900" i="1">
                            <a:latin typeface="Cambria Math" panose="02040503050406030204" pitchFamily="18" charset="0"/>
                          </a:rPr>
                        </m:ctrlPr>
                      </m:sSubPr>
                      <m:e>
                        <m:r>
                          <a:rPr lang="ar-AE" sz="900" i="1">
                            <a:latin typeface="Cambria Math" panose="02040503050406030204" pitchFamily="18" charset="0"/>
                          </a:rPr>
                          <m:t>𝜃</m:t>
                        </m:r>
                      </m:e>
                      <m:sub>
                        <m:r>
                          <a:rPr lang="ar-AE" sz="900" i="1">
                            <a:latin typeface="Cambria Math" panose="02040503050406030204" pitchFamily="18" charset="0"/>
                          </a:rPr>
                          <m:t>𝑞</m:t>
                        </m:r>
                      </m:sub>
                    </m:sSub>
                    <m:sSub>
                      <m:sSubPr>
                        <m:ctrlPr>
                          <a:rPr lang="ar-AE" sz="900" i="1">
                            <a:latin typeface="Cambria Math" panose="02040503050406030204" pitchFamily="18" charset="0"/>
                          </a:rPr>
                        </m:ctrlPr>
                      </m:sSubPr>
                      <m:e>
                        <m:r>
                          <a:rPr lang="ar-AE" sz="900" i="1">
                            <a:latin typeface="Cambria Math" panose="02040503050406030204" pitchFamily="18" charset="0"/>
                          </a:rPr>
                          <m:t>𝜀</m:t>
                        </m:r>
                      </m:e>
                      <m:sub>
                        <m:r>
                          <a:rPr lang="ar-AE" sz="900" i="1">
                            <a:latin typeface="Cambria Math" panose="02040503050406030204" pitchFamily="18" charset="0"/>
                          </a:rPr>
                          <m:t>𝑡</m:t>
                        </m:r>
                        <m:r>
                          <a:rPr lang="ar-AE" sz="900">
                            <a:latin typeface="Cambria Math" panose="02040503050406030204" pitchFamily="18" charset="0"/>
                          </a:rPr>
                          <m:t>−</m:t>
                        </m:r>
                        <m:r>
                          <a:rPr lang="ar-AE" sz="900" i="1">
                            <a:latin typeface="Cambria Math" panose="02040503050406030204" pitchFamily="18" charset="0"/>
                          </a:rPr>
                          <m:t>𝑞</m:t>
                        </m:r>
                      </m:sub>
                    </m:sSub>
                    <m:r>
                      <a:rPr lang="ar-AE" sz="900">
                        <a:latin typeface="Cambria Math" panose="02040503050406030204" pitchFamily="18" charset="0"/>
                      </a:rPr>
                      <m:t>+</m:t>
                    </m:r>
                    <m:sSub>
                      <m:sSubPr>
                        <m:ctrlPr>
                          <a:rPr lang="ar-AE" sz="900" i="1">
                            <a:latin typeface="Cambria Math" panose="02040503050406030204" pitchFamily="18" charset="0"/>
                          </a:rPr>
                        </m:ctrlPr>
                      </m:sSubPr>
                      <m:e>
                        <m:r>
                          <a:rPr lang="ar-AE" sz="900" i="1">
                            <a:latin typeface="Cambria Math" panose="02040503050406030204" pitchFamily="18" charset="0"/>
                          </a:rPr>
                          <m:t>𝜀</m:t>
                        </m:r>
                      </m:e>
                      <m:sub>
                        <m:r>
                          <a:rPr lang="ar-AE" sz="900" i="1">
                            <a:latin typeface="Cambria Math" panose="02040503050406030204" pitchFamily="18" charset="0"/>
                          </a:rPr>
                          <m:t>𝑡</m:t>
                        </m:r>
                      </m:sub>
                    </m:sSub>
                  </m:oMath>
                </a14:m>
                <a:r>
                  <a:rPr lang="ar-AE" sz="900" dirty="0">
                    <a:latin typeface="Segoe WPC"/>
                  </a:rPr>
                  <a:t>. </a:t>
                </a:r>
                <a:r>
                  <a:rPr lang="es-PE" sz="900" dirty="0" err="1">
                    <a:latin typeface="Segoe WPC"/>
                  </a:rPr>
                  <a:t>MAs</a:t>
                </a:r>
                <a:r>
                  <a:rPr lang="es-PE" sz="900" dirty="0">
                    <a:latin typeface="Segoe WPC"/>
                  </a:rPr>
                  <a:t> are </a:t>
                </a:r>
                <a:r>
                  <a:rPr lang="es-PE" sz="900" dirty="0" err="1">
                    <a:latin typeface="Segoe WPC"/>
                  </a:rPr>
                  <a:t>always</a:t>
                </a:r>
                <a:r>
                  <a:rPr lang="es-PE" sz="900" dirty="0">
                    <a:latin typeface="Segoe WPC"/>
                  </a:rPr>
                  <a:t> </a:t>
                </a:r>
                <a:r>
                  <a:rPr lang="es-PE" sz="900" dirty="0" err="1">
                    <a:latin typeface="Segoe WPC"/>
                  </a:rPr>
                  <a:t>covariance-stationary</a:t>
                </a:r>
                <a:r>
                  <a:rPr lang="es-PE" sz="900" dirty="0">
                    <a:latin typeface="Segoe WPC"/>
                  </a:rPr>
                  <a:t>.</a:t>
                </a:r>
                <a:br>
                  <a:rPr lang="es-PE" sz="900" dirty="0">
                    <a:latin typeface="Segoe WPC"/>
                  </a:rPr>
                </a:br>
                <a:r>
                  <a:rPr lang="es-PE" sz="900" b="1" dirty="0" err="1">
                    <a:latin typeface="Segoe WPC"/>
                  </a:rPr>
                  <a:t>Interpretation</a:t>
                </a:r>
                <a:r>
                  <a:rPr lang="es-PE" sz="900" b="1" dirty="0">
                    <a:latin typeface="Segoe WPC"/>
                  </a:rPr>
                  <a:t>:</a:t>
                </a:r>
                <a:r>
                  <a:rPr lang="es-PE" sz="900" dirty="0">
                    <a:latin typeface="Segoe WPC"/>
                  </a:rPr>
                  <a:t> In MA </a:t>
                </a:r>
                <a:r>
                  <a:rPr lang="es-PE" sz="900" dirty="0" err="1">
                    <a:latin typeface="Segoe WPC"/>
                  </a:rPr>
                  <a:t>models</a:t>
                </a:r>
                <a:r>
                  <a:rPr lang="es-PE" sz="900" dirty="0">
                    <a:latin typeface="Segoe WPC"/>
                  </a:rPr>
                  <a:t>, </a:t>
                </a:r>
                <a:r>
                  <a:rPr lang="es-PE" sz="900" dirty="0" err="1">
                    <a:latin typeface="Segoe WPC"/>
                  </a:rPr>
                  <a:t>the</a:t>
                </a:r>
                <a:r>
                  <a:rPr lang="es-PE" sz="900" dirty="0">
                    <a:latin typeface="Segoe WPC"/>
                  </a:rPr>
                  <a:t> ACF </a:t>
                </a:r>
                <a:r>
                  <a:rPr lang="es-PE" sz="900" dirty="0" err="1">
                    <a:latin typeface="Segoe WPC"/>
                  </a:rPr>
                  <a:t>cuts</a:t>
                </a:r>
                <a:r>
                  <a:rPr lang="es-PE" sz="900" dirty="0">
                    <a:latin typeface="Segoe WPC"/>
                  </a:rPr>
                  <a:t> off </a:t>
                </a:r>
                <a:r>
                  <a:rPr lang="es-PE" sz="900" dirty="0" err="1">
                    <a:latin typeface="Segoe WPC"/>
                  </a:rPr>
                  <a:t>sharply</a:t>
                </a:r>
                <a:r>
                  <a:rPr lang="es-PE" sz="900" dirty="0">
                    <a:latin typeface="Segoe WPC"/>
                  </a:rPr>
                  <a:t> at </a:t>
                </a:r>
                <a:r>
                  <a:rPr lang="es-PE" sz="900" dirty="0" err="1">
                    <a:latin typeface="Segoe WPC"/>
                  </a:rPr>
                  <a:t>lag</a:t>
                </a:r>
                <a:r>
                  <a:rPr lang="es-PE" sz="900" dirty="0">
                    <a:latin typeface="Segoe WPC"/>
                  </a:rPr>
                  <a:t> </a:t>
                </a:r>
                <a14:m>
                  <m:oMath xmlns:m="http://schemas.openxmlformats.org/officeDocument/2006/math">
                    <m:r>
                      <a:rPr lang="es-PE" sz="900" i="1">
                        <a:latin typeface="Cambria Math" panose="02040503050406030204" pitchFamily="18" charset="0"/>
                      </a:rPr>
                      <m:t>𝑞</m:t>
                    </m:r>
                  </m:oMath>
                </a14:m>
                <a:r>
                  <a:rPr lang="es-PE" sz="900" dirty="0">
                    <a:latin typeface="Segoe WPC"/>
                  </a:rPr>
                  <a:t> and </a:t>
                </a:r>
                <a:r>
                  <a:rPr lang="es-PE" sz="900" dirty="0" err="1">
                    <a:latin typeface="Segoe WPC"/>
                  </a:rPr>
                  <a:t>the</a:t>
                </a:r>
                <a:r>
                  <a:rPr lang="es-PE" sz="900" dirty="0">
                    <a:latin typeface="Segoe WPC"/>
                  </a:rPr>
                  <a:t> PACF </a:t>
                </a:r>
                <a:r>
                  <a:rPr lang="es-PE" sz="900" dirty="0" err="1">
                    <a:latin typeface="Segoe WPC"/>
                  </a:rPr>
                  <a:t>decays</a:t>
                </a:r>
                <a:r>
                  <a:rPr lang="es-PE" sz="900" dirty="0">
                    <a:latin typeface="Segoe WPC"/>
                  </a:rPr>
                  <a:t> </a:t>
                </a:r>
                <a:r>
                  <a:rPr lang="es-PE" sz="900" dirty="0" err="1">
                    <a:latin typeface="Segoe WPC"/>
                  </a:rPr>
                  <a:t>gradually</a:t>
                </a:r>
                <a:r>
                  <a:rPr lang="es-PE" sz="900" dirty="0">
                    <a:latin typeface="Segoe WPC"/>
                  </a:rPr>
                  <a:t>. </a:t>
                </a:r>
                <a:r>
                  <a:rPr lang="es-PE" sz="900" dirty="0" err="1">
                    <a:latin typeface="Segoe WPC"/>
                  </a:rPr>
                  <a:t>Invertibility</a:t>
                </a:r>
                <a:r>
                  <a:rPr lang="es-PE" sz="900" dirty="0">
                    <a:latin typeface="Segoe WPC"/>
                  </a:rPr>
                  <a:t> </a:t>
                </a:r>
                <a:r>
                  <a:rPr lang="es-PE" sz="900" dirty="0" err="1">
                    <a:latin typeface="Segoe WPC"/>
                  </a:rPr>
                  <a:t>is</a:t>
                </a:r>
                <a:r>
                  <a:rPr lang="es-PE" sz="900" dirty="0">
                    <a:latin typeface="Segoe WPC"/>
                  </a:rPr>
                  <a:t> </a:t>
                </a:r>
                <a:r>
                  <a:rPr lang="es-PE" sz="900" dirty="0" err="1">
                    <a:latin typeface="Segoe WPC"/>
                  </a:rPr>
                  <a:t>the</a:t>
                </a:r>
                <a:r>
                  <a:rPr lang="es-PE" sz="900" dirty="0">
                    <a:latin typeface="Segoe WPC"/>
                  </a:rPr>
                  <a:t> </a:t>
                </a:r>
                <a:r>
                  <a:rPr lang="es-PE" sz="900" dirty="0" err="1">
                    <a:latin typeface="Segoe WPC"/>
                  </a:rPr>
                  <a:t>condition</a:t>
                </a:r>
                <a:r>
                  <a:rPr lang="es-PE" sz="900" dirty="0">
                    <a:latin typeface="Segoe WPC"/>
                  </a:rPr>
                  <a:t> </a:t>
                </a:r>
                <a:r>
                  <a:rPr lang="es-PE" sz="900" dirty="0" err="1">
                    <a:latin typeface="Segoe WPC"/>
                  </a:rPr>
                  <a:t>that</a:t>
                </a:r>
                <a:r>
                  <a:rPr lang="es-PE" sz="900" dirty="0">
                    <a:latin typeface="Segoe WPC"/>
                  </a:rPr>
                  <a:t> </a:t>
                </a:r>
                <a:r>
                  <a:rPr lang="es-PE" sz="900" dirty="0" err="1">
                    <a:latin typeface="Segoe WPC"/>
                  </a:rPr>
                  <a:t>gives</a:t>
                </a:r>
                <a:r>
                  <a:rPr lang="es-PE" sz="900" dirty="0">
                    <a:latin typeface="Segoe WPC"/>
                  </a:rPr>
                  <a:t> a </a:t>
                </a:r>
                <a:r>
                  <a:rPr lang="es-PE" sz="900" dirty="0" err="1">
                    <a:latin typeface="Segoe WPC"/>
                  </a:rPr>
                  <a:t>unique</a:t>
                </a:r>
                <a:r>
                  <a:rPr lang="es-PE" sz="900" dirty="0">
                    <a:latin typeface="Segoe WPC"/>
                  </a:rPr>
                  <a:t> MA </a:t>
                </a:r>
                <a:r>
                  <a:rPr lang="es-PE" sz="900" dirty="0" err="1">
                    <a:latin typeface="Segoe WPC"/>
                  </a:rPr>
                  <a:t>representation</a:t>
                </a:r>
                <a:r>
                  <a:rPr lang="es-PE" sz="900" dirty="0">
                    <a:latin typeface="Segoe WPC"/>
                  </a:rPr>
                  <a:t> and </a:t>
                </a:r>
                <a:r>
                  <a:rPr lang="es-PE" sz="900" dirty="0" err="1">
                    <a:latin typeface="Segoe WPC"/>
                  </a:rPr>
                  <a:t>allows</a:t>
                </a:r>
                <a:r>
                  <a:rPr lang="es-PE" sz="900" dirty="0">
                    <a:latin typeface="Segoe WPC"/>
                  </a:rPr>
                  <a:t> </a:t>
                </a:r>
                <a:r>
                  <a:rPr lang="es-PE" sz="900" dirty="0" err="1">
                    <a:latin typeface="Segoe WPC"/>
                  </a:rPr>
                  <a:t>an</a:t>
                </a:r>
                <a:r>
                  <a:rPr lang="es-PE" sz="900" dirty="0">
                    <a:latin typeface="Segoe WPC"/>
                  </a:rPr>
                  <a:t> MA </a:t>
                </a:r>
                <a:r>
                  <a:rPr lang="es-PE" sz="900" dirty="0" err="1">
                    <a:latin typeface="Segoe WPC"/>
                  </a:rPr>
                  <a:t>to</a:t>
                </a:r>
                <a:r>
                  <a:rPr lang="es-PE" sz="900" dirty="0">
                    <a:latin typeface="Segoe WPC"/>
                  </a:rPr>
                  <a:t> be </a:t>
                </a:r>
                <a:r>
                  <a:rPr lang="es-PE" sz="900" dirty="0" err="1">
                    <a:latin typeface="Segoe WPC"/>
                  </a:rPr>
                  <a:t>written</a:t>
                </a:r>
                <a:r>
                  <a:rPr lang="es-PE" sz="900" dirty="0">
                    <a:latin typeface="Segoe WPC"/>
                  </a:rPr>
                  <a:t> as </a:t>
                </a:r>
                <a:r>
                  <a:rPr lang="es-PE" sz="900" dirty="0" err="1">
                    <a:latin typeface="Segoe WPC"/>
                  </a:rPr>
                  <a:t>an</a:t>
                </a:r>
                <a:r>
                  <a:rPr lang="es-PE" sz="900" dirty="0">
                    <a:latin typeface="Segoe WPC"/>
                  </a:rPr>
                  <a:t> infinite AR.</a:t>
                </a:r>
                <a:br>
                  <a:rPr lang="es-PE" sz="900" dirty="0">
                    <a:latin typeface="Segoe WPC"/>
                  </a:rPr>
                </a:br>
                <a:r>
                  <a:rPr lang="es-PE" sz="900" b="1" dirty="0" err="1">
                    <a:latin typeface="Segoe WPC"/>
                  </a:rPr>
                  <a:t>Exam</a:t>
                </a:r>
                <a:r>
                  <a:rPr lang="es-PE" sz="900" b="1" dirty="0">
                    <a:latin typeface="Segoe WPC"/>
                  </a:rPr>
                  <a:t> </a:t>
                </a:r>
                <a:r>
                  <a:rPr lang="es-PE" sz="900" b="1" dirty="0" err="1">
                    <a:latin typeface="Segoe WPC"/>
                  </a:rPr>
                  <a:t>Trap</a:t>
                </a:r>
                <a:r>
                  <a:rPr lang="es-PE" sz="900" b="1" dirty="0">
                    <a:latin typeface="Segoe WPC"/>
                  </a:rPr>
                  <a:t>:</a:t>
                </a:r>
                <a:r>
                  <a:rPr lang="es-PE" sz="900" dirty="0">
                    <a:latin typeface="Segoe WPC"/>
                  </a:rPr>
                  <a:t> </a:t>
                </a:r>
                <a:r>
                  <a:rPr lang="es-PE" sz="900" dirty="0" err="1">
                    <a:latin typeface="Segoe WPC"/>
                  </a:rPr>
                  <a:t>Stationarity</a:t>
                </a:r>
                <a:r>
                  <a:rPr lang="es-PE" sz="900" dirty="0">
                    <a:latin typeface="Segoe WPC"/>
                  </a:rPr>
                  <a:t> and </a:t>
                </a:r>
                <a:r>
                  <a:rPr lang="es-PE" sz="900" dirty="0" err="1">
                    <a:latin typeface="Segoe WPC"/>
                  </a:rPr>
                  <a:t>invertibility</a:t>
                </a:r>
                <a:r>
                  <a:rPr lang="es-PE" sz="900" dirty="0">
                    <a:latin typeface="Segoe WPC"/>
                  </a:rPr>
                  <a:t> are </a:t>
                </a:r>
                <a:r>
                  <a:rPr lang="es-PE" sz="900" dirty="0" err="1">
                    <a:latin typeface="Segoe WPC"/>
                  </a:rPr>
                  <a:t>different</a:t>
                </a:r>
                <a:r>
                  <a:rPr lang="es-PE" sz="900" dirty="0">
                    <a:latin typeface="Segoe WPC"/>
                  </a:rPr>
                  <a:t>; MA </a:t>
                </a:r>
                <a:r>
                  <a:rPr lang="es-PE" sz="900" dirty="0" err="1">
                    <a:latin typeface="Segoe WPC"/>
                  </a:rPr>
                  <a:t>models</a:t>
                </a:r>
                <a:r>
                  <a:rPr lang="es-PE" sz="900" dirty="0">
                    <a:latin typeface="Segoe WPC"/>
                  </a:rPr>
                  <a:t> are </a:t>
                </a:r>
                <a:r>
                  <a:rPr lang="es-PE" sz="900" dirty="0" err="1">
                    <a:latin typeface="Segoe WPC"/>
                  </a:rPr>
                  <a:t>always</a:t>
                </a:r>
                <a:r>
                  <a:rPr lang="es-PE" sz="900" dirty="0">
                    <a:latin typeface="Segoe WPC"/>
                  </a:rPr>
                  <a:t> </a:t>
                </a:r>
                <a:r>
                  <a:rPr lang="es-PE" sz="900" dirty="0" err="1">
                    <a:latin typeface="Segoe WPC"/>
                  </a:rPr>
                  <a:t>stationary</a:t>
                </a:r>
                <a:r>
                  <a:rPr lang="es-PE" sz="900" dirty="0">
                    <a:latin typeface="Segoe WPC"/>
                  </a:rPr>
                  <a:t>, </a:t>
                </a:r>
                <a:r>
                  <a:rPr lang="es-PE" sz="900" dirty="0" err="1">
                    <a:latin typeface="Segoe WPC"/>
                  </a:rPr>
                  <a:t>but</a:t>
                </a:r>
                <a:r>
                  <a:rPr lang="es-PE" sz="900" dirty="0">
                    <a:latin typeface="Segoe WPC"/>
                  </a:rPr>
                  <a:t> </a:t>
                </a:r>
                <a:r>
                  <a:rPr lang="es-PE" sz="900" dirty="0" err="1">
                    <a:latin typeface="Segoe WPC"/>
                  </a:rPr>
                  <a:t>not</a:t>
                </a:r>
                <a:r>
                  <a:rPr lang="es-PE" sz="900" dirty="0">
                    <a:latin typeface="Segoe WPC"/>
                  </a:rPr>
                  <a:t> </a:t>
                </a:r>
                <a:r>
                  <a:rPr lang="es-PE" sz="900" dirty="0" err="1">
                    <a:latin typeface="Segoe WPC"/>
                  </a:rPr>
                  <a:t>always</a:t>
                </a:r>
                <a:r>
                  <a:rPr lang="es-PE" sz="900" dirty="0">
                    <a:latin typeface="Segoe WPC"/>
                  </a:rPr>
                  <a:t> invertible.</a:t>
                </a:r>
                <a:endParaRPr lang="es-PE" sz="900" b="1" i="0" dirty="0">
                  <a:solidFill>
                    <a:schemeClr val="tx1"/>
                  </a:solidFill>
                  <a:effectLst/>
                  <a:latin typeface="Segoe WPC"/>
                </a:endParaRPr>
              </a:p>
              <a:p>
                <a:pPr algn="l">
                  <a:spcAft>
                    <a:spcPts val="1200"/>
                  </a:spcAft>
                  <a:buNone/>
                </a:pPr>
                <a:r>
                  <a:rPr lang="es-PE" sz="900" b="1" i="0" dirty="0">
                    <a:solidFill>
                      <a:schemeClr val="tx1"/>
                    </a:solidFill>
                    <a:effectLst/>
                    <a:latin typeface="Segoe WPC"/>
                  </a:rPr>
                  <a:t>6. ARMA </a:t>
                </a:r>
                <a:r>
                  <a:rPr lang="es-PE" sz="900" b="1" i="0" dirty="0" err="1">
                    <a:solidFill>
                      <a:schemeClr val="tx1"/>
                    </a:solidFill>
                    <a:effectLst/>
                    <a:latin typeface="Segoe WPC"/>
                  </a:rPr>
                  <a:t>Processes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ARMA </a:t>
                </a:r>
                <a:r>
                  <a:rPr lang="es-PE" sz="900" b="0" i="0" dirty="0" err="1">
                    <a:solidFill>
                      <a:schemeClr val="tx1"/>
                    </a:solidFill>
                    <a:effectLst/>
                    <a:latin typeface="Segoe WPC"/>
                  </a:rPr>
                  <a:t>models</a:t>
                </a:r>
                <a:r>
                  <a:rPr lang="es-PE" sz="900" b="0" i="0" dirty="0">
                    <a:solidFill>
                      <a:schemeClr val="tx1"/>
                    </a:solidFill>
                    <a:effectLst/>
                    <a:latin typeface="Segoe WPC"/>
                  </a:rPr>
                  <a:t> combine AR </a:t>
                </a:r>
                <a:r>
                  <a:rPr lang="es-PE" sz="900" b="0" i="0" dirty="0" err="1">
                    <a:solidFill>
                      <a:schemeClr val="tx1"/>
                    </a:solidFill>
                    <a:effectLst/>
                    <a:latin typeface="Segoe WPC"/>
                  </a:rPr>
                  <a:t>persistence</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MA shock </a:t>
                </a:r>
                <a:r>
                  <a:rPr lang="es-PE" sz="900" b="0" i="0" dirty="0" err="1">
                    <a:solidFill>
                      <a:schemeClr val="tx1"/>
                    </a:solidFill>
                    <a:effectLst/>
                    <a:latin typeface="Segoe WPC"/>
                  </a:rPr>
                  <a:t>dynamics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allow</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lagged</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and </a:t>
                </a:r>
                <a:r>
                  <a:rPr lang="es-PE" sz="900" b="0" i="0" dirty="0" err="1">
                    <a:solidFill>
                      <a:schemeClr val="tx1"/>
                    </a:solidFill>
                    <a:effectLst/>
                    <a:latin typeface="Segoe WPC"/>
                  </a:rPr>
                  <a:t>lagged</a:t>
                </a:r>
                <a:r>
                  <a:rPr lang="es-PE" sz="900" b="0" i="0" dirty="0">
                    <a:solidFill>
                      <a:schemeClr val="tx1"/>
                    </a:solidFill>
                    <a:effectLst/>
                    <a:latin typeface="Segoe WPC"/>
                  </a:rPr>
                  <a:t> shocks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matter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AR </a:t>
                </a:r>
                <a:r>
                  <a:rPr lang="es-PE" sz="900" b="0" i="0" dirty="0" err="1">
                    <a:solidFill>
                      <a:schemeClr val="tx1"/>
                    </a:solidFill>
                    <a:effectLst/>
                    <a:latin typeface="Segoe WPC"/>
                  </a:rPr>
                  <a:t>part</a:t>
                </a:r>
                <a:r>
                  <a:rPr lang="es-PE" sz="900" b="0" i="0" dirty="0">
                    <a:solidFill>
                      <a:schemeClr val="tx1"/>
                    </a:solidFill>
                    <a:effectLst/>
                    <a:latin typeface="Segoe WPC"/>
                  </a:rPr>
                  <a:t> </a:t>
                </a:r>
                <a:r>
                  <a:rPr lang="es-PE" sz="900" b="0" i="0" dirty="0" err="1">
                    <a:solidFill>
                      <a:schemeClr val="tx1"/>
                    </a:solidFill>
                    <a:effectLst/>
                    <a:latin typeface="Segoe WPC"/>
                  </a:rPr>
                  <a:t>creates</a:t>
                </a:r>
                <a:r>
                  <a:rPr lang="es-PE" sz="900" b="0" i="0" dirty="0">
                    <a:solidFill>
                      <a:schemeClr val="tx1"/>
                    </a:solidFill>
                    <a:effectLst/>
                    <a:latin typeface="Segoe WPC"/>
                  </a:rPr>
                  <a:t> </a:t>
                </a:r>
                <a:r>
                  <a:rPr lang="es-PE" sz="900" b="0" i="0" dirty="0" err="1">
                    <a:solidFill>
                      <a:schemeClr val="tx1"/>
                    </a:solidFill>
                    <a:effectLst/>
                    <a:latin typeface="Segoe WPC"/>
                  </a:rPr>
                  <a:t>persistence</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MA </a:t>
                </a:r>
                <a:r>
                  <a:rPr lang="es-PE" sz="900" b="0" i="0" dirty="0" err="1">
                    <a:solidFill>
                      <a:schemeClr val="tx1"/>
                    </a:solidFill>
                    <a:effectLst/>
                    <a:latin typeface="Segoe WPC"/>
                  </a:rPr>
                  <a:t>part</a:t>
                </a:r>
                <a:r>
                  <a:rPr lang="es-PE" sz="900" b="0" i="0" dirty="0">
                    <a:solidFill>
                      <a:schemeClr val="tx1"/>
                    </a:solidFill>
                    <a:effectLst/>
                    <a:latin typeface="Segoe WPC"/>
                  </a:rPr>
                  <a:t> </a:t>
                </a:r>
                <a:r>
                  <a:rPr lang="es-PE" sz="900" b="0" i="0" dirty="0" err="1">
                    <a:solidFill>
                      <a:schemeClr val="tx1"/>
                    </a:solidFill>
                    <a:effectLst/>
                    <a:latin typeface="Segoe WPC"/>
                  </a:rPr>
                  <a:t>smooths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offsets</a:t>
                </a:r>
                <a:r>
                  <a:rPr lang="es-PE" sz="900" b="0" i="0" dirty="0">
                    <a:solidFill>
                      <a:schemeClr val="tx1"/>
                    </a:solidFill>
                    <a:effectLst/>
                    <a:latin typeface="Segoe WPC"/>
                  </a:rPr>
                  <a:t> </a:t>
                </a:r>
                <a:r>
                  <a:rPr lang="es-PE" sz="900" b="0" i="0" dirty="0" err="1">
                    <a:solidFill>
                      <a:schemeClr val="tx1"/>
                    </a:solidFill>
                    <a:effectLst/>
                    <a:latin typeface="Segoe WPC"/>
                  </a:rPr>
                  <a:t>recent</a:t>
                </a:r>
                <a:r>
                  <a:rPr lang="es-PE" sz="900" b="0" i="0" dirty="0">
                    <a:solidFill>
                      <a:schemeClr val="tx1"/>
                    </a:solidFill>
                    <a:effectLst/>
                    <a:latin typeface="Segoe WPC"/>
                  </a:rPr>
                  <a:t> shocks.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ARMA(1,1):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𝛿</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𝜙</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𝜃</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 </a:t>
                </a:r>
                <a:r>
                  <a:rPr lang="es-PE" sz="900" b="0" i="0" dirty="0">
                    <a:solidFill>
                      <a:schemeClr val="tx1"/>
                    </a:solidFill>
                    <a:effectLst/>
                    <a:latin typeface="Segoe WPC"/>
                  </a:rPr>
                  <a:t>more </a:t>
                </a:r>
                <a:r>
                  <a:rPr lang="es-PE" sz="900" b="0" i="0" dirty="0" err="1">
                    <a:solidFill>
                      <a:schemeClr val="tx1"/>
                    </a:solidFill>
                    <a:effectLst/>
                    <a:latin typeface="Segoe WPC"/>
                  </a:rPr>
                  <a:t>generally</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𝜙</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𝐿</m:t>
                        </m:r>
                      </m:e>
                    </m:d>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𝛿</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𝜃</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𝐿</m:t>
                        </m:r>
                      </m:e>
                    </m:d>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ARMA </a:t>
                </a:r>
                <a:r>
                  <a:rPr lang="es-PE" sz="900" b="0" i="0" dirty="0" err="1">
                    <a:solidFill>
                      <a:schemeClr val="tx1"/>
                    </a:solidFill>
                    <a:effectLst/>
                    <a:latin typeface="Segoe WPC"/>
                  </a:rPr>
                  <a:t>models</a:t>
                </a:r>
                <a:r>
                  <a:rPr lang="es-PE" sz="900" b="0" i="0" dirty="0">
                    <a:solidFill>
                      <a:schemeClr val="tx1"/>
                    </a:solidFill>
                    <a:effectLst/>
                    <a:latin typeface="Segoe WPC"/>
                  </a:rPr>
                  <a:t> are flexible </a:t>
                </a:r>
                <a:r>
                  <a:rPr lang="es-PE" sz="900" b="0" i="0" dirty="0" err="1">
                    <a:solidFill>
                      <a:schemeClr val="tx1"/>
                    </a:solidFill>
                    <a:effectLst/>
                    <a:latin typeface="Segoe WPC"/>
                  </a:rPr>
                  <a:t>approximations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stationary</a:t>
                </a:r>
                <a:r>
                  <a:rPr lang="es-PE" sz="900" b="0" i="0" dirty="0">
                    <a:solidFill>
                      <a:schemeClr val="tx1"/>
                    </a:solidFill>
                    <a:effectLst/>
                    <a:latin typeface="Segoe WPC"/>
                  </a:rPr>
                  <a:t> series. </a:t>
                </a:r>
                <a:r>
                  <a:rPr lang="es-PE" sz="900" b="0" i="0" dirty="0" err="1">
                    <a:solidFill>
                      <a:schemeClr val="tx1"/>
                    </a:solidFill>
                    <a:effectLst/>
                    <a:latin typeface="Segoe WPC"/>
                  </a:rPr>
                  <a:t>Their</a:t>
                </a:r>
                <a:r>
                  <a:rPr lang="es-PE" sz="900" b="0" i="0" dirty="0">
                    <a:solidFill>
                      <a:schemeClr val="tx1"/>
                    </a:solidFill>
                    <a:effectLst/>
                    <a:latin typeface="Segoe WPC"/>
                  </a:rPr>
                  <a:t> ACF and PACF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decay</a:t>
                </a:r>
                <a:r>
                  <a:rPr lang="es-PE" sz="900" b="0" i="0" dirty="0">
                    <a:solidFill>
                      <a:schemeClr val="tx1"/>
                    </a:solidFill>
                    <a:effectLst/>
                    <a:latin typeface="Segoe WPC"/>
                  </a:rPr>
                  <a:t> </a:t>
                </a:r>
                <a:r>
                  <a:rPr lang="es-PE" sz="900" b="0" i="0" dirty="0" err="1">
                    <a:solidFill>
                      <a:schemeClr val="tx1"/>
                    </a:solidFill>
                    <a:effectLst/>
                    <a:latin typeface="Segoe WPC"/>
                  </a:rPr>
                  <a:t>gradually</a:t>
                </a:r>
                <a:r>
                  <a:rPr lang="es-PE" sz="900" b="0" i="0" dirty="0">
                    <a:solidFill>
                      <a:schemeClr val="tx1"/>
                    </a:solidFill>
                    <a:effectLst/>
                    <a:latin typeface="Segoe WPC"/>
                  </a:rPr>
                  <a:t>, </a:t>
                </a:r>
                <a:r>
                  <a:rPr lang="es-PE" sz="900" b="0" i="0" dirty="0" err="1">
                    <a:solidFill>
                      <a:schemeClr val="tx1"/>
                    </a:solidFill>
                    <a:effectLst/>
                    <a:latin typeface="Segoe WPC"/>
                  </a:rPr>
                  <a:t>possibly</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oscillation</a:t>
                </a:r>
                <a:r>
                  <a:rPr lang="es-PE" sz="900" b="0" i="0" dirty="0">
                    <a:solidFill>
                      <a:schemeClr val="tx1"/>
                    </a:solidFill>
                    <a:effectLst/>
                    <a:latin typeface="Segoe WPC"/>
                  </a:rPr>
                  <a:t>. </a:t>
                </a:r>
                <a:r>
                  <a:rPr lang="es-PE" sz="900" b="0" i="0" dirty="0" err="1">
                    <a:solidFill>
                      <a:schemeClr val="tx1"/>
                    </a:solidFill>
                    <a:effectLst/>
                    <a:latin typeface="Segoe WPC"/>
                  </a:rPr>
                  <a:t>Stationarity</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AR </a:t>
                </a:r>
                <a:r>
                  <a:rPr lang="es-PE" sz="900" b="0" i="0" dirty="0" err="1">
                    <a:solidFill>
                      <a:schemeClr val="tx1"/>
                    </a:solidFill>
                    <a:effectLst/>
                    <a:latin typeface="Segoe WPC"/>
                  </a:rPr>
                  <a:t>part</a:t>
                </a:r>
                <a:r>
                  <a:rPr lang="es-PE" sz="900" b="0" i="0" dirty="0">
                    <a:solidFill>
                      <a:schemeClr val="tx1"/>
                    </a:solidFill>
                    <a:effectLst/>
                    <a:latin typeface="Segoe WPC"/>
                  </a:rPr>
                  <a:t>; </a:t>
                </a:r>
                <a:r>
                  <a:rPr lang="es-PE" sz="900" b="0" i="0" dirty="0" err="1">
                    <a:solidFill>
                      <a:schemeClr val="tx1"/>
                    </a:solidFill>
                    <a:effectLst/>
                    <a:latin typeface="Segoe WPC"/>
                  </a:rPr>
                  <a:t>invertibility</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MA </a:t>
                </a:r>
                <a:r>
                  <a:rPr lang="es-PE" sz="900" b="0" i="0" dirty="0" err="1">
                    <a:solidFill>
                      <a:schemeClr val="tx1"/>
                    </a:solidFill>
                    <a:effectLst/>
                    <a:latin typeface="Segoe WPC"/>
                  </a:rPr>
                  <a:t>part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ARMA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 </a:t>
                </a:r>
                <a:r>
                  <a:rPr lang="es-PE" sz="900" b="0" i="0" dirty="0" err="1">
                    <a:solidFill>
                      <a:schemeClr val="tx1"/>
                    </a:solidFill>
                    <a:effectLst/>
                    <a:latin typeface="Segoe WPC"/>
                  </a:rPr>
                  <a:t>sharp</a:t>
                </a:r>
                <a:r>
                  <a:rPr lang="es-PE" sz="900" b="0" i="0" dirty="0">
                    <a:solidFill>
                      <a:schemeClr val="tx1"/>
                    </a:solidFill>
                    <a:effectLst/>
                    <a:latin typeface="Segoe WPC"/>
                  </a:rPr>
                  <a:t> ACF </a:t>
                </a:r>
                <a:r>
                  <a:rPr lang="es-PE" sz="900" b="0" i="0" dirty="0" err="1">
                    <a:solidFill>
                      <a:schemeClr val="tx1"/>
                    </a:solidFill>
                    <a:effectLst/>
                    <a:latin typeface="Segoe WPC"/>
                  </a:rPr>
                  <a:t>or</a:t>
                </a:r>
                <a:r>
                  <a:rPr lang="es-PE" sz="900" b="0" i="0" dirty="0">
                    <a:solidFill>
                      <a:schemeClr val="tx1"/>
                    </a:solidFill>
                    <a:effectLst/>
                    <a:latin typeface="Segoe WPC"/>
                  </a:rPr>
                  <a:t> PACF </a:t>
                </a:r>
                <a:r>
                  <a:rPr lang="es-PE" sz="900" b="0" i="0" dirty="0" err="1">
                    <a:solidFill>
                      <a:schemeClr val="tx1"/>
                    </a:solidFill>
                    <a:effectLst/>
                    <a:latin typeface="Segoe WPC"/>
                  </a:rPr>
                  <a:t>cutoff</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pure AR </a:t>
                </a:r>
                <a:r>
                  <a:rPr lang="es-PE" sz="900" b="0" i="0" dirty="0" err="1">
                    <a:solidFill>
                      <a:schemeClr val="tx1"/>
                    </a:solidFill>
                    <a:effectLst/>
                    <a:latin typeface="Segoe WPC"/>
                  </a:rPr>
                  <a:t>or</a:t>
                </a:r>
                <a:r>
                  <a:rPr lang="es-PE" sz="900" b="0" i="0" dirty="0">
                    <a:solidFill>
                      <a:schemeClr val="tx1"/>
                    </a:solidFill>
                    <a:effectLst/>
                    <a:latin typeface="Segoe WPC"/>
                  </a:rPr>
                  <a:t> pure MA </a:t>
                </a:r>
                <a:r>
                  <a:rPr lang="es-PE" sz="900" b="0" i="0" dirty="0" err="1">
                    <a:solidFill>
                      <a:schemeClr val="tx1"/>
                    </a:solidFill>
                    <a:effectLst/>
                    <a:latin typeface="Segoe WPC"/>
                  </a:rPr>
                  <a:t>models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7. </a:t>
                </a:r>
                <a:r>
                  <a:rPr lang="es-PE" sz="900" b="1" i="0" dirty="0" err="1">
                    <a:solidFill>
                      <a:schemeClr val="tx1"/>
                    </a:solidFill>
                    <a:effectLst/>
                    <a:latin typeface="Segoe WPC"/>
                  </a:rPr>
                  <a:t>Sample</a:t>
                </a:r>
                <a:r>
                  <a:rPr lang="es-PE" sz="900" b="1" i="0" dirty="0">
                    <a:solidFill>
                      <a:schemeClr val="tx1"/>
                    </a:solidFill>
                    <a:effectLst/>
                    <a:latin typeface="Segoe WPC"/>
                  </a:rPr>
                  <a:t> ACF, PACF, and </a:t>
                </a:r>
                <a:r>
                  <a:rPr lang="es-PE" sz="900" b="1" i="0" dirty="0" err="1">
                    <a:solidFill>
                      <a:schemeClr val="tx1"/>
                    </a:solidFill>
                    <a:effectLst/>
                    <a:latin typeface="Segoe WPC"/>
                  </a:rPr>
                  <a:t>Joint</a:t>
                </a:r>
                <a:r>
                  <a:rPr lang="es-PE" sz="900" b="1" i="0" dirty="0">
                    <a:solidFill>
                      <a:schemeClr val="tx1"/>
                    </a:solidFill>
                    <a:effectLst/>
                    <a:latin typeface="Segoe WPC"/>
                  </a:rPr>
                  <a:t> </a:t>
                </a:r>
                <a:r>
                  <a:rPr lang="es-PE" sz="900" b="1" i="0" dirty="0" err="1">
                    <a:solidFill>
                      <a:schemeClr val="tx1"/>
                    </a:solidFill>
                    <a:effectLst/>
                    <a:latin typeface="Segoe WPC"/>
                  </a:rPr>
                  <a:t>Diagnostics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autocorrelations</a:t>
                </a:r>
                <a:r>
                  <a:rPr lang="es-PE" sz="900" b="0" i="0" dirty="0">
                    <a:solidFill>
                      <a:schemeClr val="tx1"/>
                    </a:solidFill>
                    <a:effectLst/>
                    <a:latin typeface="Segoe WPC"/>
                  </a:rPr>
                  <a:t> and </a:t>
                </a:r>
                <a:r>
                  <a:rPr lang="es-PE" sz="900" b="0" i="0" dirty="0" err="1">
                    <a:solidFill>
                      <a:schemeClr val="tx1"/>
                    </a:solidFill>
                    <a:effectLst/>
                    <a:latin typeface="Segoe WPC"/>
                  </a:rPr>
                  <a:t>partial</a:t>
                </a:r>
                <a:r>
                  <a:rPr lang="es-PE" sz="900" b="0" i="0" dirty="0">
                    <a:solidFill>
                      <a:schemeClr val="tx1"/>
                    </a:solidFill>
                    <a:effectLst/>
                    <a:latin typeface="Segoe WPC"/>
                  </a:rPr>
                  <a:t> </a:t>
                </a:r>
                <a:r>
                  <a:rPr lang="es-PE" sz="900" b="0" i="0" dirty="0" err="1">
                    <a:solidFill>
                      <a:schemeClr val="tx1"/>
                    </a:solidFill>
                    <a:effectLst/>
                    <a:latin typeface="Segoe WPC"/>
                  </a:rPr>
                  <a:t>autocorrelations</a:t>
                </a:r>
                <a:r>
                  <a:rPr lang="es-PE" sz="900" b="0" i="0" dirty="0">
                    <a:solidFill>
                      <a:schemeClr val="tx1"/>
                    </a:solidFill>
                    <a:effectLst/>
                    <a:latin typeface="Segoe WPC"/>
                  </a:rPr>
                  <a:t> are </a:t>
                </a:r>
                <a:r>
                  <a:rPr lang="es-PE" sz="900" b="0" i="0" dirty="0" err="1">
                    <a:solidFill>
                      <a:schemeClr val="tx1"/>
                    </a:solidFill>
                    <a:effectLst/>
                    <a:latin typeface="Segoe WPC"/>
                  </a:rPr>
                  <a:t>used</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choose</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and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check</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look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white</a:t>
                </a:r>
                <a:r>
                  <a:rPr lang="es-PE" sz="900" b="0" i="0" dirty="0">
                    <a:solidFill>
                      <a:schemeClr val="tx1"/>
                    </a:solidFill>
                    <a:effectLst/>
                    <a:latin typeface="Segoe WPC"/>
                  </a:rPr>
                  <a:t> </a:t>
                </a:r>
                <a:r>
                  <a:rPr lang="es-PE" sz="900" b="0" i="0" dirty="0" err="1">
                    <a:solidFill>
                      <a:schemeClr val="tx1"/>
                    </a:solidFill>
                    <a:effectLst/>
                    <a:latin typeface="Segoe WPC"/>
                  </a:rPr>
                  <a:t>noise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After </a:t>
                </a:r>
                <a:r>
                  <a:rPr lang="es-PE" sz="900" b="0" i="0" dirty="0" err="1">
                    <a:solidFill>
                      <a:schemeClr val="tx1"/>
                    </a:solidFill>
                    <a:effectLst/>
                    <a:latin typeface="Segoe WPC"/>
                  </a:rPr>
                  <a:t>fitting</a:t>
                </a:r>
                <a:r>
                  <a:rPr lang="es-PE" sz="900" b="0" i="0" dirty="0">
                    <a:solidFill>
                      <a:schemeClr val="tx1"/>
                    </a:solidFill>
                    <a:effectLst/>
                    <a:latin typeface="Segoe WPC"/>
                  </a:rPr>
                  <a:t> a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a:t>
                </a:r>
                <a:r>
                  <a:rPr lang="es-PE" sz="900" b="0" i="0" dirty="0" err="1">
                    <a:solidFill>
                      <a:schemeClr val="tx1"/>
                    </a:solidFill>
                    <a:effectLst/>
                    <a:latin typeface="Segoe WPC"/>
                  </a:rPr>
                  <a:t>should</a:t>
                </a:r>
                <a:r>
                  <a:rPr lang="es-PE" sz="900" b="0" i="0" dirty="0">
                    <a:solidFill>
                      <a:schemeClr val="tx1"/>
                    </a:solidFill>
                    <a:effectLst/>
                    <a:latin typeface="Segoe WPC"/>
                  </a:rPr>
                  <a:t> no </a:t>
                </a:r>
                <a:r>
                  <a:rPr lang="es-PE" sz="900" b="0" i="0" dirty="0" err="1">
                    <a:solidFill>
                      <a:schemeClr val="tx1"/>
                    </a:solidFill>
                    <a:effectLst/>
                    <a:latin typeface="Segoe WPC"/>
                  </a:rPr>
                  <a:t>longer</a:t>
                </a:r>
                <a:r>
                  <a:rPr lang="es-PE" sz="900" b="0" i="0" dirty="0">
                    <a:solidFill>
                      <a:schemeClr val="tx1"/>
                    </a:solidFill>
                    <a:effectLst/>
                    <a:latin typeface="Segoe WPC"/>
                  </a:rPr>
                  <a:t> show serial </a:t>
                </a:r>
                <a:r>
                  <a:rPr lang="es-PE" sz="900" b="0" i="0" dirty="0" err="1">
                    <a:solidFill>
                      <a:schemeClr val="tx1"/>
                    </a:solidFill>
                    <a:effectLst/>
                    <a:latin typeface="Segoe WPC"/>
                  </a:rPr>
                  <a:t>dependence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residual ACF and PACF </a:t>
                </a:r>
                <a:r>
                  <a:rPr lang="es-PE" sz="900" b="0" i="0" dirty="0" err="1">
                    <a:solidFill>
                      <a:schemeClr val="tx1"/>
                    </a:solidFill>
                    <a:effectLst/>
                    <a:latin typeface="Segoe WPC"/>
                  </a:rPr>
                  <a:t>still</a:t>
                </a:r>
                <a:r>
                  <a:rPr lang="es-PE" sz="900" b="0" i="0" dirty="0">
                    <a:solidFill>
                      <a:schemeClr val="tx1"/>
                    </a:solidFill>
                    <a:effectLst/>
                    <a:latin typeface="Segoe WPC"/>
                  </a:rPr>
                  <a:t> show </a:t>
                </a:r>
                <a:r>
                  <a:rPr lang="es-PE" sz="900" b="0" i="0" dirty="0" err="1">
                    <a:solidFill>
                      <a:schemeClr val="tx1"/>
                    </a:solidFill>
                    <a:effectLst/>
                    <a:latin typeface="Segoe WPC"/>
                  </a:rPr>
                  <a:t>structure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has </a:t>
                </a:r>
                <a:r>
                  <a:rPr lang="es-PE" sz="900" b="0" i="0" dirty="0" err="1">
                    <a:solidFill>
                      <a:schemeClr val="tx1"/>
                    </a:solidFill>
                    <a:effectLst/>
                    <a:latin typeface="Segoe WPC"/>
                  </a:rPr>
                  <a:t>missed</a:t>
                </a:r>
                <a:r>
                  <a:rPr lang="es-PE" sz="900" b="0" i="0" dirty="0">
                    <a:solidFill>
                      <a:schemeClr val="tx1"/>
                    </a:solidFill>
                    <a:effectLst/>
                    <a:latin typeface="Segoe WPC"/>
                  </a:rPr>
                  <a:t> </a:t>
                </a:r>
                <a:r>
                  <a:rPr lang="es-PE" sz="900" b="0" i="0" dirty="0" err="1">
                    <a:solidFill>
                      <a:schemeClr val="tx1"/>
                    </a:solidFill>
                    <a:effectLst/>
                    <a:latin typeface="Segoe WPC"/>
                  </a:rPr>
                  <a:t>something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autocorrelation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based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autocovariances</a:t>
                </a:r>
                <a:r>
                  <a:rPr lang="es-PE" sz="900" b="0" i="0" dirty="0">
                    <a:solidFill>
                      <a:schemeClr val="tx1"/>
                    </a:solidFill>
                    <a:effectLst/>
                    <a:latin typeface="Segoe WPC"/>
                  </a:rPr>
                  <a:t>. </a:t>
                </a:r>
                <a:r>
                  <a:rPr lang="es-PE" sz="900" b="0" i="0" dirty="0" err="1">
                    <a:solidFill>
                      <a:schemeClr val="tx1"/>
                    </a:solidFill>
                    <a:effectLst/>
                    <a:latin typeface="Segoe WPC"/>
                  </a:rPr>
                  <a:t>Joint</a:t>
                </a:r>
                <a:r>
                  <a:rPr lang="es-PE" sz="900" b="0" i="0" dirty="0">
                    <a:solidFill>
                      <a:schemeClr val="tx1"/>
                    </a:solidFill>
                    <a:effectLst/>
                    <a:latin typeface="Segoe WPC"/>
                  </a:rPr>
                  <a:t> </a:t>
                </a:r>
                <a:r>
                  <a:rPr lang="es-PE" sz="900" b="0" i="0" dirty="0" err="1">
                    <a:solidFill>
                      <a:schemeClr val="tx1"/>
                    </a:solidFill>
                    <a:effectLst/>
                    <a:latin typeface="Segoe WPC"/>
                  </a:rPr>
                  <a:t>tests</a:t>
                </a:r>
                <a:r>
                  <a:rPr lang="es-PE" sz="900" b="0" i="0" dirty="0">
                    <a:solidFill>
                      <a:schemeClr val="tx1"/>
                    </a:solidFill>
                    <a:effectLst/>
                    <a:latin typeface="Segoe WPC"/>
                  </a:rPr>
                  <a:t> are </a:t>
                </a:r>
                <a:r>
                  <a:rPr lang="es-PE" sz="900" b="0" i="0" dirty="0" err="1">
                    <a:solidFill>
                      <a:schemeClr val="tx1"/>
                    </a:solidFill>
                    <a:effectLst/>
                    <a:latin typeface="Segoe WPC"/>
                  </a:rPr>
                  <a:t>the</a:t>
                </a:r>
                <a:r>
                  <a:rPr lang="es-PE" sz="900" b="0" i="0" dirty="0">
                    <a:solidFill>
                      <a:schemeClr val="tx1"/>
                    </a:solidFill>
                    <a:effectLst/>
                    <a:latin typeface="Segoe WPC"/>
                  </a:rPr>
                  <a:t> Box-Pierce </a:t>
                </a:r>
                <a:r>
                  <a:rPr lang="es-PE" sz="900" b="0" i="0" dirty="0" err="1">
                    <a:solidFill>
                      <a:schemeClr val="tx1"/>
                    </a:solidFill>
                    <a:effectLst/>
                    <a:latin typeface="Segoe WPC"/>
                  </a:rPr>
                  <a:t>statistic</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𝑄</m:t>
                        </m:r>
                      </m:e>
                      <m:sub>
                        <m:r>
                          <a:rPr lang="ar-AE" sz="900" i="1">
                            <a:solidFill>
                              <a:schemeClr val="tx1"/>
                            </a:solidFill>
                            <a:latin typeface="Cambria Math" panose="02040503050406030204" pitchFamily="18" charset="0"/>
                          </a:rPr>
                          <m:t>𝐵𝑃</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𝑇</m:t>
                    </m:r>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h</m:t>
                        </m:r>
                      </m:sup>
                      <m:e>
                        <m:sSubSup>
                          <m:sSubSupPr>
                            <m:ctrlPr>
                              <a:rPr lang="ar-AE" sz="900" i="1">
                                <a:solidFill>
                                  <a:schemeClr val="tx1"/>
                                </a:solidFill>
                                <a:latin typeface="Cambria Math" panose="02040503050406030204" pitchFamily="18" charset="0"/>
                              </a:rPr>
                            </m:ctrlPr>
                          </m:sSubSup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𝜌</m:t>
                                </m:r>
                              </m:e>
                            </m:acc>
                          </m:e>
                          <m:sub>
                            <m:r>
                              <a:rPr lang="ar-AE" sz="900" i="1">
                                <a:solidFill>
                                  <a:schemeClr val="tx1"/>
                                </a:solidFill>
                                <a:latin typeface="Cambria Math" panose="02040503050406030204" pitchFamily="18" charset="0"/>
                              </a:rPr>
                              <m:t>𝑖</m:t>
                            </m:r>
                          </m:sub>
                          <m:sup>
                            <m:r>
                              <a:rPr lang="ar-AE" sz="900" i="0">
                                <a:solidFill>
                                  <a:schemeClr val="tx1"/>
                                </a:solidFill>
                                <a:latin typeface="Cambria Math" panose="02040503050406030204" pitchFamily="18" charset="0"/>
                              </a:rPr>
                              <m:t>2</m:t>
                            </m:r>
                          </m:sup>
                        </m:sSubSup>
                      </m:e>
                    </m:nary>
                  </m:oMath>
                </a14:m>
                <a:r>
                  <a:rPr lang="ar-AE" sz="900" b="0" i="0" dirty="0">
                    <a:solidFill>
                      <a:schemeClr val="tx1"/>
                    </a:solidFill>
                    <a:effectLst/>
                    <a:latin typeface="Segoe WPC"/>
                  </a:rPr>
                  <a:t> </a:t>
                </a:r>
                <a:r>
                  <a:rPr lang="es-PE" sz="900" b="0" i="0" dirty="0">
                    <a:solidFill>
                      <a:schemeClr val="tx1"/>
                    </a:solidFill>
                    <a:effectLst/>
                    <a:latin typeface="Segoe WPC"/>
                  </a:rPr>
                  <a:t>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Ljung</a:t>
                </a:r>
                <a:r>
                  <a:rPr lang="es-PE" sz="900" b="0" i="0" dirty="0">
                    <a:solidFill>
                      <a:schemeClr val="tx1"/>
                    </a:solidFill>
                    <a:effectLst/>
                    <a:latin typeface="Segoe WPC"/>
                  </a:rPr>
                  <a:t>-Box </a:t>
                </a:r>
                <a:r>
                  <a:rPr lang="es-PE" sz="900" b="0" i="0" dirty="0" err="1">
                    <a:solidFill>
                      <a:schemeClr val="tx1"/>
                    </a:solidFill>
                    <a:effectLst/>
                    <a:latin typeface="Segoe WPC"/>
                  </a:rPr>
                  <a:t>statistic</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𝑄</m:t>
                        </m:r>
                      </m:e>
                      <m:sub>
                        <m:r>
                          <a:rPr lang="ar-AE" sz="900" i="1">
                            <a:solidFill>
                              <a:schemeClr val="tx1"/>
                            </a:solidFill>
                            <a:latin typeface="Cambria Math" panose="02040503050406030204" pitchFamily="18" charset="0"/>
                          </a:rPr>
                          <m:t>𝐿𝐵</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𝑇</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𝑇</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e>
                    </m:d>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h</m:t>
                        </m:r>
                      </m:sup>
                      <m:e>
                        <m:sSubSup>
                          <m:sSubSupPr>
                            <m:ctrlPr>
                              <a:rPr lang="ar-AE" sz="900" i="1">
                                <a:solidFill>
                                  <a:schemeClr val="tx1"/>
                                </a:solidFill>
                                <a:latin typeface="Cambria Math" panose="02040503050406030204" pitchFamily="18" charset="0"/>
                              </a:rPr>
                            </m:ctrlPr>
                          </m:sSubSup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𝜌</m:t>
                                </m:r>
                              </m:e>
                            </m:acc>
                          </m:e>
                          <m:sub>
                            <m:r>
                              <a:rPr lang="ar-AE" sz="900" i="1">
                                <a:solidFill>
                                  <a:schemeClr val="tx1"/>
                                </a:solidFill>
                                <a:latin typeface="Cambria Math" panose="02040503050406030204" pitchFamily="18" charset="0"/>
                              </a:rPr>
                              <m:t>𝑖</m:t>
                            </m:r>
                          </m:sub>
                          <m:sup>
                            <m:r>
                              <a:rPr lang="ar-AE" sz="900" i="0">
                                <a:solidFill>
                                  <a:schemeClr val="tx1"/>
                                </a:solidFill>
                                <a:latin typeface="Cambria Math" panose="02040503050406030204" pitchFamily="18" charset="0"/>
                              </a:rPr>
                              <m:t>2</m:t>
                            </m:r>
                          </m:sup>
                        </m:sSubSup>
                      </m:e>
                    </m:nary>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𝑇</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𝑖</m:t>
                        </m:r>
                      </m:e>
                    </m:d>
                  </m:oMath>
                </a14:m>
                <a:r>
                  <a:rPr lang="ar-AE" sz="900" b="0" i="0" dirty="0">
                    <a:solidFill>
                      <a:schemeClr val="tx1"/>
                    </a:solidFill>
                    <a:effectLst/>
                    <a:latin typeface="Segoe WPC"/>
                  </a:rPr>
                  <a:t>, </a:t>
                </a:r>
                <a:r>
                  <a:rPr lang="es-PE" sz="900" b="0" i="0" dirty="0" err="1">
                    <a:solidFill>
                      <a:schemeClr val="tx1"/>
                    </a:solidFill>
                    <a:effectLst/>
                    <a:latin typeface="Segoe WPC"/>
                  </a:rPr>
                  <a:t>testing</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𝜌</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𝜌</m:t>
                        </m:r>
                      </m:e>
                      <m:sub>
                        <m:r>
                          <a:rPr lang="ar-AE" sz="900" i="1">
                            <a:solidFill>
                              <a:schemeClr val="tx1"/>
                            </a:solidFill>
                            <a:latin typeface="Cambria Math" panose="02040503050406030204" pitchFamily="18" charset="0"/>
                          </a:rPr>
                          <m:t>h</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Ljung</a:t>
                </a:r>
                <a:r>
                  <a:rPr lang="es-PE" sz="900" b="0" i="0" dirty="0">
                    <a:solidFill>
                      <a:schemeClr val="tx1"/>
                    </a:solidFill>
                    <a:effectLst/>
                    <a:latin typeface="Segoe WPC"/>
                  </a:rPr>
                  <a:t>-Box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preferred</a:t>
                </a:r>
                <a:r>
                  <a:rPr lang="es-PE" sz="900" b="0" i="0" dirty="0">
                    <a:solidFill>
                      <a:schemeClr val="tx1"/>
                    </a:solidFill>
                    <a:effectLst/>
                    <a:latin typeface="Segoe WPC"/>
                  </a:rPr>
                  <a:t> in </a:t>
                </a:r>
                <a:r>
                  <a:rPr lang="es-PE" sz="900" b="0" i="0" dirty="0" err="1">
                    <a:solidFill>
                      <a:schemeClr val="tx1"/>
                    </a:solidFill>
                    <a:effectLst/>
                    <a:latin typeface="Segoe WPC"/>
                  </a:rPr>
                  <a:t>smaller</a:t>
                </a:r>
                <a:r>
                  <a:rPr lang="es-PE" sz="900" b="0" i="0" dirty="0">
                    <a:solidFill>
                      <a:schemeClr val="tx1"/>
                    </a:solidFill>
                    <a:effectLst/>
                    <a:latin typeface="Segoe WPC"/>
                  </a:rPr>
                  <a:t> </a:t>
                </a:r>
                <a:r>
                  <a:rPr lang="es-PE" sz="900" b="0" i="0" dirty="0" err="1">
                    <a:solidFill>
                      <a:schemeClr val="tx1"/>
                    </a:solidFill>
                    <a:effectLst/>
                    <a:latin typeface="Segoe WPC"/>
                  </a:rPr>
                  <a:t>samples</a:t>
                </a:r>
                <a:r>
                  <a:rPr lang="es-PE" sz="900" b="0" i="0" dirty="0">
                    <a:solidFill>
                      <a:schemeClr val="tx1"/>
                    </a:solidFill>
                    <a:effectLst/>
                    <a:latin typeface="Segoe WPC"/>
                  </a:rPr>
                  <a:t>. Residual </a:t>
                </a:r>
                <a:r>
                  <a:rPr lang="es-PE" sz="900" b="0" i="0" dirty="0" err="1">
                    <a:solidFill>
                      <a:schemeClr val="tx1"/>
                    </a:solidFill>
                    <a:effectLst/>
                    <a:latin typeface="Segoe WPC"/>
                  </a:rPr>
                  <a:t>diagnostics</a:t>
                </a:r>
                <a:r>
                  <a:rPr lang="es-PE" sz="900" b="0" i="0" dirty="0">
                    <a:solidFill>
                      <a:schemeClr val="tx1"/>
                    </a:solidFill>
                    <a:effectLst/>
                    <a:latin typeface="Segoe WPC"/>
                  </a:rPr>
                  <a:t> are central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validating</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ARMA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adequate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few</a:t>
                </a:r>
                <a:r>
                  <a:rPr lang="es-PE" sz="900" b="0" i="0" dirty="0">
                    <a:solidFill>
                      <a:schemeClr val="tx1"/>
                    </a:solidFill>
                    <a:effectLst/>
                    <a:latin typeface="Segoe WPC"/>
                  </a:rPr>
                  <a:t> individual </a:t>
                </a:r>
                <a:r>
                  <a:rPr lang="es-PE" sz="900" b="0" i="0" dirty="0" err="1">
                    <a:solidFill>
                      <a:schemeClr val="tx1"/>
                    </a:solidFill>
                    <a:effectLst/>
                    <a:latin typeface="Segoe WPC"/>
                  </a:rPr>
                  <a:t>significant</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autocorrelations</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appear</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chance; </a:t>
                </a:r>
                <a:r>
                  <a:rPr lang="es-PE" sz="900" b="0" i="0" dirty="0" err="1">
                    <a:solidFill>
                      <a:schemeClr val="tx1"/>
                    </a:solidFill>
                    <a:effectLst/>
                    <a:latin typeface="Segoe WPC"/>
                  </a:rPr>
                  <a:t>joint</a:t>
                </a:r>
                <a:r>
                  <a:rPr lang="es-PE" sz="900" b="0" i="0" dirty="0">
                    <a:solidFill>
                      <a:schemeClr val="tx1"/>
                    </a:solidFill>
                    <a:effectLst/>
                    <a:latin typeface="Segoe WPC"/>
                  </a:rPr>
                  <a:t> </a:t>
                </a:r>
                <a:r>
                  <a:rPr lang="es-PE" sz="900" b="0" i="0" dirty="0" err="1">
                    <a:solidFill>
                      <a:schemeClr val="tx1"/>
                    </a:solidFill>
                    <a:effectLst/>
                    <a:latin typeface="Segoe WPC"/>
                  </a:rPr>
                  <a:t>tests</a:t>
                </a:r>
                <a:r>
                  <a:rPr lang="es-PE" sz="900" b="0" i="0" dirty="0">
                    <a:solidFill>
                      <a:schemeClr val="tx1"/>
                    </a:solidFill>
                    <a:effectLst/>
                    <a:latin typeface="Segoe WPC"/>
                  </a:rPr>
                  <a:t> are more </a:t>
                </a:r>
                <a:r>
                  <a:rPr lang="es-PE" sz="900" b="0" i="0" dirty="0" err="1">
                    <a:solidFill>
                      <a:schemeClr val="tx1"/>
                    </a:solidFill>
                    <a:effectLst/>
                    <a:latin typeface="Segoe WPC"/>
                  </a:rPr>
                  <a:t>reliable</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8. </a:t>
                </a:r>
                <a:r>
                  <a:rPr lang="es-PE" sz="900" b="1" i="0" dirty="0" err="1">
                    <a:solidFill>
                      <a:schemeClr val="tx1"/>
                    </a:solidFill>
                    <a:effectLst/>
                    <a:latin typeface="Segoe WPC"/>
                  </a:rPr>
                  <a:t>Forecasting</a:t>
                </a:r>
                <a:r>
                  <a:rPr lang="es-PE" sz="900" b="1" i="0" dirty="0">
                    <a:solidFill>
                      <a:schemeClr val="tx1"/>
                    </a:solidFill>
                    <a:effectLst/>
                    <a:latin typeface="Segoe WPC"/>
                  </a:rPr>
                  <a:t>, Mean </a:t>
                </a:r>
                <a:r>
                  <a:rPr lang="es-PE" sz="900" b="1" i="0" dirty="0" err="1">
                    <a:solidFill>
                      <a:schemeClr val="tx1"/>
                    </a:solidFill>
                    <a:effectLst/>
                    <a:latin typeface="Segoe WPC"/>
                  </a:rPr>
                  <a:t>Reversion</a:t>
                </a:r>
                <a:r>
                  <a:rPr lang="es-PE" sz="900" b="1" i="0" dirty="0">
                    <a:solidFill>
                      <a:schemeClr val="tx1"/>
                    </a:solidFill>
                    <a:effectLst/>
                    <a:latin typeface="Segoe WPC"/>
                  </a:rPr>
                  <a:t>, </a:t>
                </a:r>
                <a:r>
                  <a:rPr lang="es-PE" sz="900" b="1" i="0" dirty="0" err="1">
                    <a:solidFill>
                      <a:schemeClr val="tx1"/>
                    </a:solidFill>
                    <a:effectLst/>
                    <a:latin typeface="Segoe WPC"/>
                  </a:rPr>
                  <a:t>Model</a:t>
                </a:r>
                <a:r>
                  <a:rPr lang="es-PE" sz="900" b="1" i="0" dirty="0">
                    <a:solidFill>
                      <a:schemeClr val="tx1"/>
                    </a:solidFill>
                    <a:effectLst/>
                    <a:latin typeface="Segoe WPC"/>
                  </a:rPr>
                  <a:t> </a:t>
                </a:r>
                <a:r>
                  <a:rPr lang="es-PE" sz="900" b="1" i="0" dirty="0" err="1">
                    <a:solidFill>
                      <a:schemeClr val="tx1"/>
                    </a:solidFill>
                    <a:effectLst/>
                    <a:latin typeface="Segoe WPC"/>
                  </a:rPr>
                  <a:t>Selection</a:t>
                </a:r>
                <a:r>
                  <a:rPr lang="es-PE" sz="900" b="1" i="0" dirty="0">
                    <a:solidFill>
                      <a:schemeClr val="tx1"/>
                    </a:solidFill>
                    <a:effectLst/>
                    <a:latin typeface="Segoe WPC"/>
                  </a:rPr>
                  <a:t>, and </a:t>
                </a:r>
                <a:r>
                  <a:rPr lang="es-PE" sz="900" b="1" i="0" dirty="0" err="1">
                    <a:solidFill>
                      <a:schemeClr val="tx1"/>
                    </a:solidFill>
                    <a:effectLst/>
                    <a:latin typeface="Segoe WPC"/>
                  </a:rPr>
                  <a:t>Seasonality</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ARMA </a:t>
                </a:r>
                <a:r>
                  <a:rPr lang="es-PE" sz="900" b="0" i="0" dirty="0" err="1">
                    <a:solidFill>
                      <a:schemeClr val="tx1"/>
                    </a:solidFill>
                    <a:effectLst/>
                    <a:latin typeface="Segoe WPC"/>
                  </a:rPr>
                  <a:t>models</a:t>
                </a:r>
                <a:r>
                  <a:rPr lang="es-PE" sz="900" b="0" i="0" dirty="0">
                    <a:solidFill>
                      <a:schemeClr val="tx1"/>
                    </a:solidFill>
                    <a:effectLst/>
                    <a:latin typeface="Segoe WPC"/>
                  </a:rPr>
                  <a:t> </a:t>
                </a:r>
                <a:r>
                  <a:rPr lang="es-PE" sz="900" b="0" i="0" dirty="0" err="1">
                    <a:solidFill>
                      <a:schemeClr val="tx1"/>
                    </a:solidFill>
                    <a:effectLst/>
                    <a:latin typeface="Segoe WPC"/>
                  </a:rPr>
                  <a:t>generate</a:t>
                </a:r>
                <a:r>
                  <a:rPr lang="es-PE" sz="900" b="0" i="0" dirty="0">
                    <a:solidFill>
                      <a:schemeClr val="tx1"/>
                    </a:solidFill>
                    <a:effectLst/>
                    <a:latin typeface="Segoe WPC"/>
                  </a:rPr>
                  <a:t> </a:t>
                </a:r>
                <a:r>
                  <a:rPr lang="es-PE" sz="900" b="0" i="0" dirty="0" err="1">
                    <a:solidFill>
                      <a:schemeClr val="tx1"/>
                    </a:solidFill>
                    <a:effectLst/>
                    <a:latin typeface="Segoe WPC"/>
                  </a:rPr>
                  <a:t>forecasts</a:t>
                </a:r>
                <a:r>
                  <a:rPr lang="es-PE" sz="900" b="0" i="0" dirty="0">
                    <a:solidFill>
                      <a:schemeClr val="tx1"/>
                    </a:solidFill>
                    <a:effectLst/>
                    <a:latin typeface="Segoe WPC"/>
                  </a:rPr>
                  <a:t> </a:t>
                </a:r>
                <a:r>
                  <a:rPr lang="es-PE" sz="900" b="0" i="0" dirty="0" err="1">
                    <a:solidFill>
                      <a:schemeClr val="tx1"/>
                    </a:solidFill>
                    <a:effectLst/>
                    <a:latin typeface="Segoe WPC"/>
                  </a:rPr>
                  <a:t>recursively</a:t>
                </a:r>
                <a:r>
                  <a:rPr lang="es-PE" sz="900" b="0" i="0" dirty="0">
                    <a:solidFill>
                      <a:schemeClr val="tx1"/>
                    </a:solidFill>
                    <a:effectLst/>
                    <a:latin typeface="Segoe WPC"/>
                  </a:rPr>
                  <a:t>, </a:t>
                </a:r>
                <a:r>
                  <a:rPr lang="es-PE" sz="900" b="0" i="0" dirty="0" err="1">
                    <a:solidFill>
                      <a:schemeClr val="tx1"/>
                    </a:solidFill>
                    <a:effectLst/>
                    <a:latin typeface="Segoe WPC"/>
                  </a:rPr>
                  <a:t>information</a:t>
                </a:r>
                <a:r>
                  <a:rPr lang="es-PE" sz="900" b="0" i="0" dirty="0">
                    <a:solidFill>
                      <a:schemeClr val="tx1"/>
                    </a:solidFill>
                    <a:effectLst/>
                    <a:latin typeface="Segoe WPC"/>
                  </a:rPr>
                  <a:t> </a:t>
                </a:r>
                <a:r>
                  <a:rPr lang="es-PE" sz="900" b="0" i="0" dirty="0" err="1">
                    <a:solidFill>
                      <a:schemeClr val="tx1"/>
                    </a:solidFill>
                    <a:effectLst/>
                    <a:latin typeface="Segoe WPC"/>
                  </a:rPr>
                  <a:t>criteria</a:t>
                </a:r>
                <a:r>
                  <a:rPr lang="es-PE" sz="900" b="0" i="0" dirty="0">
                    <a:solidFill>
                      <a:schemeClr val="tx1"/>
                    </a:solidFill>
                    <a:effectLst/>
                    <a:latin typeface="Segoe WPC"/>
                  </a:rPr>
                  <a:t> </a:t>
                </a:r>
                <a:r>
                  <a:rPr lang="es-PE" sz="900" b="0" i="0" dirty="0" err="1">
                    <a:solidFill>
                      <a:schemeClr val="tx1"/>
                    </a:solidFill>
                    <a:effectLst/>
                    <a:latin typeface="Segoe WPC"/>
                  </a:rPr>
                  <a:t>choose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order</a:t>
                </a:r>
                <a:r>
                  <a:rPr lang="es-PE" sz="900" b="0" i="0" dirty="0">
                    <a:solidFill>
                      <a:schemeClr val="tx1"/>
                    </a:solidFill>
                    <a:effectLst/>
                    <a:latin typeface="Segoe WPC"/>
                  </a:rPr>
                  <a:t>, and </a:t>
                </a:r>
                <a:r>
                  <a:rPr lang="es-PE" sz="900" b="0" i="0" dirty="0" err="1">
                    <a:solidFill>
                      <a:schemeClr val="tx1"/>
                    </a:solidFill>
                    <a:effectLst/>
                    <a:latin typeface="Segoe WPC"/>
                  </a:rPr>
                  <a:t>seasonality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modeled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lag</a:t>
                </a:r>
                <a:r>
                  <a:rPr lang="es-PE" sz="900" b="0" i="0" dirty="0">
                    <a:solidFill>
                      <a:schemeClr val="tx1"/>
                    </a:solidFill>
                    <a:effectLst/>
                    <a:latin typeface="Segoe WPC"/>
                  </a:rPr>
                  <a:t> </a:t>
                </a:r>
                <a:r>
                  <a:rPr lang="es-PE" sz="900" b="0" i="0" dirty="0" err="1">
                    <a:solidFill>
                      <a:schemeClr val="tx1"/>
                    </a:solidFill>
                    <a:effectLst/>
                    <a:latin typeface="Segoe WPC"/>
                  </a:rPr>
                  <a:t>structures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Forecasts</a:t>
                </a:r>
                <a:r>
                  <a:rPr lang="es-PE" sz="900" b="0" i="0" dirty="0">
                    <a:solidFill>
                      <a:schemeClr val="tx1"/>
                    </a:solidFill>
                    <a:effectLst/>
                    <a:latin typeface="Segoe WPC"/>
                  </a:rPr>
                  <a:t> use </a:t>
                </a:r>
                <a:r>
                  <a:rPr lang="es-PE" sz="900" b="0" i="0" dirty="0" err="1">
                    <a:solidFill>
                      <a:schemeClr val="tx1"/>
                    </a:solidFill>
                    <a:effectLst/>
                    <a:latin typeface="Segoe WPC"/>
                  </a:rPr>
                  <a:t>current</a:t>
                </a:r>
                <a:r>
                  <a:rPr lang="es-PE" sz="900" b="0" i="0" dirty="0">
                    <a:solidFill>
                      <a:schemeClr val="tx1"/>
                    </a:solidFill>
                    <a:effectLst/>
                    <a:latin typeface="Segoe WPC"/>
                  </a:rPr>
                  <a:t> </a:t>
                </a:r>
                <a:r>
                  <a:rPr lang="es-PE" sz="900" b="0" i="0" dirty="0" err="1">
                    <a:solidFill>
                      <a:schemeClr val="tx1"/>
                    </a:solidFill>
                    <a:effectLst/>
                    <a:latin typeface="Segoe WPC"/>
                  </a:rPr>
                  <a:t>information</a:t>
                </a:r>
                <a:r>
                  <a:rPr lang="es-PE" sz="900" b="0" i="0" dirty="0">
                    <a:solidFill>
                      <a:schemeClr val="tx1"/>
                    </a:solidFill>
                    <a:effectLst/>
                    <a:latin typeface="Segoe WPC"/>
                  </a:rPr>
                  <a:t> and set future shocks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horizons</a:t>
                </a:r>
                <a:r>
                  <a:rPr lang="es-PE" sz="900" b="0" i="0" dirty="0">
                    <a:solidFill>
                      <a:schemeClr val="tx1"/>
                    </a:solidFill>
                    <a:effectLst/>
                    <a:latin typeface="Segoe WPC"/>
                  </a:rPr>
                  <a:t>, </a:t>
                </a:r>
                <a:r>
                  <a:rPr lang="es-PE" sz="900" b="0" i="0" dirty="0" err="1">
                    <a:solidFill>
                      <a:schemeClr val="tx1"/>
                    </a:solidFill>
                    <a:effectLst/>
                    <a:latin typeface="Segoe WPC"/>
                  </a:rPr>
                  <a:t>stationary</a:t>
                </a:r>
                <a:r>
                  <a:rPr lang="es-PE" sz="900" b="0" i="0" dirty="0">
                    <a:solidFill>
                      <a:schemeClr val="tx1"/>
                    </a:solidFill>
                    <a:effectLst/>
                    <a:latin typeface="Segoe WPC"/>
                  </a:rPr>
                  <a:t> </a:t>
                </a:r>
                <a:r>
                  <a:rPr lang="es-PE" sz="900" b="0" i="0" dirty="0" err="1">
                    <a:solidFill>
                      <a:schemeClr val="tx1"/>
                    </a:solidFill>
                    <a:effectLst/>
                    <a:latin typeface="Segoe WPC"/>
                  </a:rPr>
                  <a:t>forecasts</a:t>
                </a:r>
                <a:r>
                  <a:rPr lang="es-PE" sz="900" b="0" i="0" dirty="0">
                    <a:solidFill>
                      <a:schemeClr val="tx1"/>
                    </a:solidFill>
                    <a:effectLst/>
                    <a:latin typeface="Segoe WPC"/>
                  </a:rPr>
                  <a:t> </a:t>
                </a:r>
                <a:r>
                  <a:rPr lang="es-PE" sz="900" b="0" i="0" dirty="0" err="1">
                    <a:solidFill>
                      <a:schemeClr val="tx1"/>
                    </a:solidFill>
                    <a:effectLst/>
                    <a:latin typeface="Segoe WPC"/>
                  </a:rPr>
                  <a:t>revert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unconditional</a:t>
                </a:r>
                <a:r>
                  <a:rPr lang="es-PE" sz="900" b="0" i="0" dirty="0">
                    <a:solidFill>
                      <a:schemeClr val="tx1"/>
                    </a:solidFill>
                    <a:effectLst/>
                    <a:latin typeface="Segoe WPC"/>
                  </a:rPr>
                  <a:t> mean.</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Short-run </a:t>
                </a:r>
                <a:r>
                  <a:rPr lang="es-PE" sz="900" b="0" i="0" dirty="0" err="1">
                    <a:solidFill>
                      <a:schemeClr val="tx1"/>
                    </a:solidFill>
                    <a:effectLst/>
                    <a:latin typeface="Segoe WPC"/>
                  </a:rPr>
                  <a:t>forecasts</a:t>
                </a:r>
                <a:r>
                  <a:rPr lang="es-PE" sz="900" b="0" i="0" dirty="0">
                    <a:solidFill>
                      <a:schemeClr val="tx1"/>
                    </a:solidFill>
                    <a:effectLst/>
                    <a:latin typeface="Segoe WPC"/>
                  </a:rPr>
                  <a:t>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recent</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and shocks,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-run </a:t>
                </a:r>
                <a:r>
                  <a:rPr lang="es-PE" sz="900" b="0" i="0" dirty="0" err="1">
                    <a:solidFill>
                      <a:schemeClr val="tx1"/>
                    </a:solidFill>
                    <a:effectLst/>
                    <a:latin typeface="Segoe WPC"/>
                  </a:rPr>
                  <a:t>forecasts</a:t>
                </a:r>
                <a:r>
                  <a:rPr lang="es-PE" sz="900" b="0" i="0" dirty="0">
                    <a:solidFill>
                      <a:schemeClr val="tx1"/>
                    </a:solidFill>
                    <a:effectLst/>
                    <a:latin typeface="Segoe WPC"/>
                  </a:rPr>
                  <a:t> </a:t>
                </a:r>
                <a:r>
                  <a:rPr lang="es-PE" sz="900" b="0" i="0" dirty="0" err="1">
                    <a:solidFill>
                      <a:schemeClr val="tx1"/>
                    </a:solidFill>
                    <a:effectLst/>
                    <a:latin typeface="Segoe WPC"/>
                  </a:rPr>
                  <a:t>drift</a:t>
                </a:r>
                <a:r>
                  <a:rPr lang="es-PE" sz="900" b="0" i="0" dirty="0">
                    <a:solidFill>
                      <a:schemeClr val="tx1"/>
                    </a:solidFill>
                    <a:effectLst/>
                    <a:latin typeface="Segoe WPC"/>
                  </a:rPr>
                  <a:t> back </a:t>
                </a:r>
                <a:r>
                  <a:rPr lang="es-PE" sz="900" b="0" i="0" dirty="0" err="1">
                    <a:solidFill>
                      <a:schemeClr val="tx1"/>
                    </a:solidFill>
                    <a:effectLst/>
                    <a:latin typeface="Segoe WPC"/>
                  </a:rPr>
                  <a:t>toward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mean;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a:t>
                </a:r>
                <a:r>
                  <a:rPr lang="es-PE" sz="900" b="0" i="0" dirty="0" err="1">
                    <a:solidFill>
                      <a:schemeClr val="tx1"/>
                    </a:solidFill>
                    <a:effectLst/>
                    <a:latin typeface="Segoe WPC"/>
                  </a:rPr>
                  <a:t>add</a:t>
                </a:r>
                <a:r>
                  <a:rPr lang="es-PE" sz="900" b="0" i="0" dirty="0">
                    <a:solidFill>
                      <a:schemeClr val="tx1"/>
                    </a:solidFill>
                    <a:effectLst/>
                    <a:latin typeface="Segoe WPC"/>
                  </a:rPr>
                  <a:t> </a:t>
                </a:r>
                <a:r>
                  <a:rPr lang="es-PE" sz="900" b="0" i="0" dirty="0" err="1">
                    <a:solidFill>
                      <a:schemeClr val="tx1"/>
                    </a:solidFill>
                    <a:effectLst/>
                    <a:latin typeface="Segoe WPC"/>
                  </a:rPr>
                  <a:t>repeating</a:t>
                </a:r>
                <a:r>
                  <a:rPr lang="es-PE" sz="900" b="0" i="0" dirty="0">
                    <a:solidFill>
                      <a:schemeClr val="tx1"/>
                    </a:solidFill>
                    <a:effectLst/>
                    <a:latin typeface="Segoe WPC"/>
                  </a:rPr>
                  <a:t> </a:t>
                </a:r>
                <a:r>
                  <a:rPr lang="es-PE" sz="900" b="0" i="0" dirty="0" err="1">
                    <a:solidFill>
                      <a:schemeClr val="tx1"/>
                    </a:solidFill>
                    <a:effectLst/>
                    <a:latin typeface="Segoe WPC"/>
                  </a:rPr>
                  <a:t>patterns</a:t>
                </a:r>
                <a:r>
                  <a:rPr lang="es-PE" sz="900" b="0" i="0" dirty="0">
                    <a:solidFill>
                      <a:schemeClr val="tx1"/>
                    </a:solidFill>
                    <a:effectLst/>
                    <a:latin typeface="Segoe WPC"/>
                  </a:rPr>
                  <a:t> at </a:t>
                </a:r>
                <a:r>
                  <a:rPr lang="es-PE" sz="900" b="0" i="0" dirty="0" err="1">
                    <a:solidFill>
                      <a:schemeClr val="tx1"/>
                    </a:solidFill>
                    <a:effectLst/>
                    <a:latin typeface="Segoe WPC"/>
                  </a:rPr>
                  <a:t>lag</a:t>
                </a:r>
                <a:r>
                  <a:rPr lang="es-PE" sz="900" b="0" i="0" dirty="0">
                    <a:solidFill>
                      <a:schemeClr val="tx1"/>
                    </a:solidFill>
                    <a:effectLst/>
                    <a:latin typeface="Segoe WPC"/>
                  </a:rPr>
                  <a:t> 4 </a:t>
                </a:r>
                <a:r>
                  <a:rPr lang="es-PE" sz="900" b="0" i="0" dirty="0" err="1">
                    <a:solidFill>
                      <a:schemeClr val="tx1"/>
                    </a:solidFill>
                    <a:effectLst/>
                    <a:latin typeface="Segoe WPC"/>
                  </a:rPr>
                  <a:t>or</a:t>
                </a:r>
                <a:r>
                  <a:rPr lang="es-PE" sz="900" b="0" i="0" dirty="0">
                    <a:solidFill>
                      <a:schemeClr val="tx1"/>
                    </a:solidFill>
                    <a:effectLst/>
                    <a:latin typeface="Segoe WPC"/>
                  </a:rPr>
                  <a:t> 12.</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Forecasts</a:t>
                </a:r>
                <a:r>
                  <a:rPr lang="es-PE" sz="900" b="0" i="0" dirty="0">
                    <a:solidFill>
                      <a:schemeClr val="tx1"/>
                    </a:solidFill>
                    <a:effectLst/>
                    <a:latin typeface="Segoe WPC"/>
                  </a:rPr>
                  <a:t> are </a:t>
                </a:r>
                <a:r>
                  <a:rPr lang="es-PE" sz="900" b="0" i="0" dirty="0" err="1">
                    <a:solidFill>
                      <a:schemeClr val="tx1"/>
                    </a:solidFill>
                    <a:effectLst/>
                    <a:latin typeface="Segoe WPC"/>
                  </a:rPr>
                  <a:t>built</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𝐸</m:t>
                        </m:r>
                      </m:e>
                      <m:sub>
                        <m:r>
                          <a:rPr lang="ar-AE" sz="900" i="1">
                            <a:solidFill>
                              <a:schemeClr val="tx1"/>
                            </a:solidFill>
                            <a:latin typeface="Cambria Math" panose="02040503050406030204" pitchFamily="18" charset="0"/>
                          </a:rPr>
                          <m:t>𝑇</m:t>
                        </m:r>
                      </m:sub>
                    </m:sSub>
                    <m:d>
                      <m:dPr>
                        <m:begChr m:val="["/>
                        <m:end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𝑇</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h</m:t>
                            </m:r>
                          </m:sub>
                        </m:sSub>
                      </m:e>
                    </m:d>
                  </m:oMath>
                </a14:m>
                <a:r>
                  <a:rPr lang="ar-AE" sz="900" b="0" i="0" dirty="0">
                    <a:solidFill>
                      <a:schemeClr val="tx1"/>
                    </a:solidFill>
                    <a:effectLst/>
                    <a:latin typeface="Segoe WPC"/>
                  </a:rPr>
                  <a:t> </a:t>
                </a:r>
                <a:r>
                  <a:rPr lang="es-PE" sz="900" b="0" i="0" dirty="0" err="1">
                    <a:solidFill>
                      <a:schemeClr val="tx1"/>
                    </a:solidFill>
                    <a:effectLst/>
                    <a:latin typeface="Segoe WPC"/>
                  </a:rPr>
                  <a:t>recursively</a:t>
                </a:r>
                <a:r>
                  <a:rPr lang="es-PE" sz="900" b="0" i="0" dirty="0">
                    <a:solidFill>
                      <a:schemeClr val="tx1"/>
                    </a:solidFill>
                    <a:effectLst/>
                    <a:latin typeface="Segoe WPC"/>
                  </a:rPr>
                  <a:t>, and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any</a:t>
                </a:r>
                <a:r>
                  <a:rPr lang="es-PE" sz="900" b="0" i="0" dirty="0">
                    <a:solidFill>
                      <a:schemeClr val="tx1"/>
                    </a:solidFill>
                    <a:effectLst/>
                    <a:latin typeface="Segoe WPC"/>
                  </a:rPr>
                  <a:t> </a:t>
                </a:r>
                <a:r>
                  <a:rPr lang="es-PE" sz="900" b="0" i="0" dirty="0" err="1">
                    <a:solidFill>
                      <a:schemeClr val="tx1"/>
                    </a:solidFill>
                    <a:effectLst/>
                    <a:latin typeface="Segoe WPC"/>
                  </a:rPr>
                  <a:t>stationary</a:t>
                </a:r>
                <a:r>
                  <a:rPr lang="es-PE" sz="900" b="0" i="0" dirty="0">
                    <a:solidFill>
                      <a:schemeClr val="tx1"/>
                    </a:solidFill>
                    <a:effectLst/>
                    <a:latin typeface="Segoe WPC"/>
                  </a:rPr>
                  <a:t> </a:t>
                </a:r>
                <a:r>
                  <a:rPr lang="es-PE" sz="900" b="0" i="0" dirty="0" err="1">
                    <a:solidFill>
                      <a:schemeClr val="tx1"/>
                    </a:solidFill>
                    <a:effectLst/>
                    <a:latin typeface="Segoe WPC"/>
                  </a:rPr>
                  <a:t>process</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func>
                          <m:funcPr>
                            <m:ctrlPr>
                              <a:rPr lang="ar-AE" sz="900" i="1">
                                <a:solidFill>
                                  <a:schemeClr val="tx1"/>
                                </a:solidFill>
                                <a:latin typeface="Cambria Math" panose="02040503050406030204" pitchFamily="18" charset="0"/>
                              </a:rPr>
                            </m:ctrlPr>
                          </m:funcPr>
                          <m:fName>
                            <m:r>
                              <m:rPr>
                                <m:sty m:val="p"/>
                              </m:rPr>
                              <a:rPr lang="es-PE" sz="900">
                                <a:solidFill>
                                  <a:schemeClr val="tx1"/>
                                </a:solidFill>
                                <a:latin typeface="Cambria Math" panose="02040503050406030204" pitchFamily="18" charset="0"/>
                              </a:rPr>
                              <m:t>lim</m:t>
                            </m:r>
                          </m:fName>
                          <m:e/>
                        </m:func>
                      </m:e>
                      <m:sub>
                        <m:r>
                          <a:rPr lang="ar-AE" sz="900" i="1">
                            <a:solidFill>
                              <a:schemeClr val="tx1"/>
                            </a:solidFill>
                            <a:latin typeface="Cambria Math" panose="02040503050406030204" pitchFamily="18" charset="0"/>
                          </a:rPr>
                          <m:t>h</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𝐸</m:t>
                        </m:r>
                      </m:e>
                      <m:sub>
                        <m:r>
                          <a:rPr lang="ar-AE" sz="900" i="1">
                            <a:solidFill>
                              <a:schemeClr val="tx1"/>
                            </a:solidFill>
                            <a:latin typeface="Cambria Math" panose="02040503050406030204" pitchFamily="18" charset="0"/>
                          </a:rPr>
                          <m:t>𝑇</m:t>
                        </m:r>
                      </m:sub>
                    </m:sSub>
                    <m:d>
                      <m:dPr>
                        <m:begChr m:val="["/>
                        <m:end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𝑇</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h</m:t>
                            </m:r>
                          </m:sub>
                        </m:sSub>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𝑌</m:t>
                        </m:r>
                      </m:e>
                    </m:d>
                  </m:oMath>
                </a14:m>
                <a:r>
                  <a:rPr lang="ar-A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selection</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uses </a:t>
                </a:r>
                <a14:m>
                  <m:oMath xmlns:m="http://schemas.openxmlformats.org/officeDocument/2006/math">
                    <m:r>
                      <a:rPr lang="es-PE" sz="900" i="1">
                        <a:solidFill>
                          <a:schemeClr val="tx1"/>
                        </a:solidFill>
                        <a:latin typeface="Cambria Math" panose="02040503050406030204" pitchFamily="18" charset="0"/>
                      </a:rPr>
                      <m:t>𝐴𝐼𝐶</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𝑇</m:t>
                    </m:r>
                    <m:func>
                      <m:funcPr>
                        <m:ctrlPr>
                          <a:rPr lang="ar-AE" sz="900" i="1">
                            <a:solidFill>
                              <a:schemeClr val="tx1"/>
                            </a:solidFill>
                            <a:latin typeface="Cambria Math" panose="02040503050406030204" pitchFamily="18" charset="0"/>
                          </a:rPr>
                        </m:ctrlPr>
                      </m:funcPr>
                      <m:fName>
                        <m:r>
                          <m:rPr>
                            <m:sty m:val="p"/>
                          </m:rPr>
                          <a:rPr lang="es-PE" sz="900" i="0">
                            <a:solidFill>
                              <a:schemeClr val="tx1"/>
                            </a:solidFill>
                            <a:latin typeface="Cambria Math" panose="02040503050406030204" pitchFamily="18" charset="0"/>
                          </a:rPr>
                          <m:t>ln</m:t>
                        </m:r>
                      </m:fName>
                      <m:e>
                        <m:sSup>
                          <m:sSupPr>
                            <m:ctrlPr>
                              <a:rPr lang="ar-AE" sz="900" i="1">
                                <a:solidFill>
                                  <a:schemeClr val="tx1"/>
                                </a:solidFill>
                                <a:latin typeface="Cambria Math" panose="02040503050406030204" pitchFamily="18" charset="0"/>
                              </a:rPr>
                            </m:ctrlPr>
                          </m:sSup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e>
                          <m:sup>
                            <m:r>
                              <a:rPr lang="ar-AE" sz="900" i="0">
                                <a:solidFill>
                                  <a:schemeClr val="tx1"/>
                                </a:solidFill>
                                <a:latin typeface="Cambria Math" panose="02040503050406030204" pitchFamily="18" charset="0"/>
                              </a:rPr>
                              <m:t>2</m:t>
                            </m:r>
                          </m:sup>
                        </m:sSup>
                      </m:e>
                    </m:func>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r>
                      <a:rPr lang="ar-AE" sz="900" i="1">
                        <a:solidFill>
                          <a:schemeClr val="tx1"/>
                        </a:solidFill>
                        <a:latin typeface="Cambria Math" panose="02040503050406030204" pitchFamily="18" charset="0"/>
                      </a:rPr>
                      <m:t>𝑘</m:t>
                    </m:r>
                  </m:oMath>
                </a14:m>
                <a:r>
                  <a:rPr lang="ar-AE" sz="900" b="0" i="0" dirty="0">
                    <a:solidFill>
                      <a:schemeClr val="tx1"/>
                    </a:solidFill>
                    <a:effectLst/>
                    <a:latin typeface="Segoe WPC"/>
                  </a:rPr>
                  <a:t> </a:t>
                </a:r>
                <a:r>
                  <a:rPr lang="es-PE" sz="900" b="0" i="0" dirty="0">
                    <a:solidFill>
                      <a:schemeClr val="tx1"/>
                    </a:solidFill>
                    <a:effectLst/>
                    <a:latin typeface="Segoe WPC"/>
                  </a:rPr>
                  <a:t>and </a:t>
                </a:r>
                <a14:m>
                  <m:oMath xmlns:m="http://schemas.openxmlformats.org/officeDocument/2006/math">
                    <m:r>
                      <a:rPr lang="es-PE" sz="900" i="1">
                        <a:solidFill>
                          <a:schemeClr val="tx1"/>
                        </a:solidFill>
                        <a:latin typeface="Cambria Math" panose="02040503050406030204" pitchFamily="18" charset="0"/>
                      </a:rPr>
                      <m:t>𝐵𝐼𝐶</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𝑇</m:t>
                    </m:r>
                    <m:func>
                      <m:funcPr>
                        <m:ctrlPr>
                          <a:rPr lang="ar-AE" sz="900" i="1">
                            <a:solidFill>
                              <a:schemeClr val="tx1"/>
                            </a:solidFill>
                            <a:latin typeface="Cambria Math" panose="02040503050406030204" pitchFamily="18" charset="0"/>
                          </a:rPr>
                        </m:ctrlPr>
                      </m:funcPr>
                      <m:fName>
                        <m:r>
                          <m:rPr>
                            <m:sty m:val="p"/>
                          </m:rPr>
                          <a:rPr lang="es-PE" sz="900" i="0">
                            <a:solidFill>
                              <a:schemeClr val="tx1"/>
                            </a:solidFill>
                            <a:latin typeface="Cambria Math" panose="02040503050406030204" pitchFamily="18" charset="0"/>
                          </a:rPr>
                          <m:t>ln</m:t>
                        </m:r>
                      </m:fName>
                      <m:e>
                        <m:sSup>
                          <m:sSupPr>
                            <m:ctrlPr>
                              <a:rPr lang="ar-AE" sz="900" i="1">
                                <a:solidFill>
                                  <a:schemeClr val="tx1"/>
                                </a:solidFill>
                                <a:latin typeface="Cambria Math" panose="02040503050406030204" pitchFamily="18" charset="0"/>
                              </a:rPr>
                            </m:ctrlPr>
                          </m:sSup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e>
                          <m:sup>
                            <m:r>
                              <a:rPr lang="ar-AE" sz="900" i="0">
                                <a:solidFill>
                                  <a:schemeClr val="tx1"/>
                                </a:solidFill>
                                <a:latin typeface="Cambria Math" panose="02040503050406030204" pitchFamily="18" charset="0"/>
                              </a:rPr>
                              <m:t>2</m:t>
                            </m:r>
                          </m:sup>
                        </m:sSup>
                      </m:e>
                    </m:func>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𝑘</m:t>
                    </m:r>
                    <m:func>
                      <m:funcPr>
                        <m:ctrlPr>
                          <a:rPr lang="ar-AE" sz="900" i="1">
                            <a:solidFill>
                              <a:schemeClr val="tx1"/>
                            </a:solidFill>
                            <a:latin typeface="Cambria Math" panose="02040503050406030204" pitchFamily="18" charset="0"/>
                          </a:rPr>
                        </m:ctrlPr>
                      </m:funcPr>
                      <m:fName>
                        <m:r>
                          <m:rPr>
                            <m:sty m:val="p"/>
                          </m:rPr>
                          <a:rPr lang="es-PE" sz="900" i="0">
                            <a:solidFill>
                              <a:schemeClr val="tx1"/>
                            </a:solidFill>
                            <a:latin typeface="Cambria Math" panose="02040503050406030204" pitchFamily="18" charset="0"/>
                          </a:rPr>
                          <m:t>ln</m:t>
                        </m:r>
                      </m:fName>
                      <m:e>
                        <m:r>
                          <a:rPr lang="ar-AE" sz="900" i="1">
                            <a:solidFill>
                              <a:schemeClr val="tx1"/>
                            </a:solidFill>
                            <a:latin typeface="Cambria Math" panose="02040503050406030204" pitchFamily="18" charset="0"/>
                          </a:rPr>
                          <m:t>𝑇</m:t>
                        </m:r>
                      </m:e>
                    </m:func>
                  </m:oMath>
                </a14:m>
                <a:r>
                  <a:rPr lang="ar-AE" sz="900" b="0" i="0" dirty="0">
                    <a:solidFill>
                      <a:schemeClr val="tx1"/>
                    </a:solidFill>
                    <a:effectLst/>
                    <a:latin typeface="Segoe WPC"/>
                  </a:rPr>
                  <a:t>.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are </a:t>
                </a:r>
                <a:r>
                  <a:rPr lang="es-PE" sz="900" b="0" i="0" dirty="0" err="1">
                    <a:solidFill>
                      <a:schemeClr val="tx1"/>
                    </a:solidFill>
                    <a:effectLst/>
                    <a:latin typeface="Segoe WPC"/>
                  </a:rPr>
                  <a:t>written</a:t>
                </a:r>
                <a:r>
                  <a:rPr lang="es-PE" sz="900" b="0" i="0" dirty="0">
                    <a:solidFill>
                      <a:schemeClr val="tx1"/>
                    </a:solidFill>
                    <a:effectLst/>
                    <a:latin typeface="Segoe WPC"/>
                  </a:rPr>
                  <a:t> as ARMA</a:t>
                </a:r>
                <a14:m>
                  <m:oMath xmlns:m="http://schemas.openxmlformats.org/officeDocument/2006/math">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𝑝</m:t>
                        </m:r>
                      </m:e>
                      <m:e>
                        <m:r>
                          <a:rPr lang="ar-AE" sz="900" i="1">
                            <a:solidFill>
                              <a:schemeClr val="tx1"/>
                            </a:solidFill>
                            <a:latin typeface="Cambria Math" panose="02040503050406030204" pitchFamily="18" charset="0"/>
                          </a:rPr>
                          <m:t>𝑞</m:t>
                        </m:r>
                      </m:e>
                    </m:d>
                    <m:r>
                      <a:rPr lang="ar-AE" sz="900" i="0">
                        <a:solidFill>
                          <a:schemeClr val="tx1"/>
                        </a:solidFill>
                        <a:latin typeface="Cambria Math" panose="02040503050406030204" pitchFamily="18" charset="0"/>
                      </a:rPr>
                      <m:t>×</m:t>
                    </m:r>
                    <m:d>
                      <m:dPr>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𝑃𝑄</m:t>
                        </m:r>
                        <m:sSub>
                          <m:sSubPr>
                            <m:ctrlPr>
                              <a:rPr lang="ar-AE" sz="900" i="1">
                                <a:solidFill>
                                  <a:schemeClr val="tx1"/>
                                </a:solidFill>
                                <a:latin typeface="Cambria Math" panose="02040503050406030204" pitchFamily="18" charset="0"/>
                              </a:rPr>
                            </m:ctrlPr>
                          </m:sSub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b>
                            <m:r>
                              <a:rPr lang="ar-AE" sz="900" i="1">
                                <a:solidFill>
                                  <a:schemeClr val="tx1"/>
                                </a:solidFill>
                                <a:latin typeface="Cambria Math" panose="02040503050406030204" pitchFamily="18" charset="0"/>
                              </a:rPr>
                              <m:t>𝑠</m:t>
                            </m:r>
                          </m:sub>
                        </m:sSub>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AIC and BIC </a:t>
                </a:r>
                <a:r>
                  <a:rPr lang="es-PE" sz="900" b="0" i="0" dirty="0" err="1">
                    <a:solidFill>
                      <a:schemeClr val="tx1"/>
                    </a:solidFill>
                    <a:effectLst/>
                    <a:latin typeface="Segoe WPC"/>
                  </a:rPr>
                  <a:t>penalize</a:t>
                </a:r>
                <a:r>
                  <a:rPr lang="es-PE" sz="900" b="0" i="0" dirty="0">
                    <a:solidFill>
                      <a:schemeClr val="tx1"/>
                    </a:solidFill>
                    <a:effectLst/>
                    <a:latin typeface="Segoe WPC"/>
                  </a:rPr>
                  <a:t> </a:t>
                </a:r>
                <a:r>
                  <a:rPr lang="es-PE" sz="900" b="0" i="0" dirty="0" err="1">
                    <a:solidFill>
                      <a:schemeClr val="tx1"/>
                    </a:solidFill>
                    <a:effectLst/>
                    <a:latin typeface="Segoe WPC"/>
                  </a:rPr>
                  <a:t>overfitting</a:t>
                </a:r>
                <a:r>
                  <a:rPr lang="es-PE" sz="900" b="0" i="0" dirty="0">
                    <a:solidFill>
                      <a:schemeClr val="tx1"/>
                    </a:solidFill>
                    <a:effectLst/>
                    <a:latin typeface="Segoe WPC"/>
                  </a:rPr>
                  <a:t>; BIC </a:t>
                </a:r>
                <a:r>
                  <a:rPr lang="es-PE" sz="900" b="0" i="0" dirty="0" err="1">
                    <a:solidFill>
                      <a:schemeClr val="tx1"/>
                    </a:solidFill>
                    <a:effectLst/>
                    <a:latin typeface="Segoe WPC"/>
                  </a:rPr>
                  <a:t>is</a:t>
                </a:r>
                <a:r>
                  <a:rPr lang="es-PE" sz="900" b="0" i="0" dirty="0">
                    <a:solidFill>
                      <a:schemeClr val="tx1"/>
                    </a:solidFill>
                    <a:effectLst/>
                    <a:latin typeface="Segoe WPC"/>
                  </a:rPr>
                  <a:t> more conservative and </a:t>
                </a:r>
                <a:r>
                  <a:rPr lang="es-PE" sz="900" b="0" i="0" dirty="0" err="1">
                    <a:solidFill>
                      <a:schemeClr val="tx1"/>
                    </a:solidFill>
                    <a:effectLst/>
                    <a:latin typeface="Segoe WPC"/>
                  </a:rPr>
                  <a:t>consistent</a:t>
                </a:r>
                <a:r>
                  <a:rPr lang="es-PE" sz="900" b="0" i="0" dirty="0">
                    <a:solidFill>
                      <a:schemeClr val="tx1"/>
                    </a:solidFill>
                    <a:effectLst/>
                    <a:latin typeface="Segoe WPC"/>
                  </a:rPr>
                  <a:t>. Box-Jenkins combines ACF/PACF </a:t>
                </a:r>
                <a:r>
                  <a:rPr lang="es-PE" sz="900" b="0" i="0" dirty="0" err="1">
                    <a:solidFill>
                      <a:schemeClr val="tx1"/>
                    </a:solidFill>
                    <a:effectLst/>
                    <a:latin typeface="Segoe WPC"/>
                  </a:rPr>
                  <a:t>inspection</a:t>
                </a:r>
                <a:r>
                  <a:rPr lang="es-PE" sz="900" b="0" i="0" dirty="0">
                    <a:solidFill>
                      <a:schemeClr val="tx1"/>
                    </a:solidFill>
                    <a:effectLst/>
                    <a:latin typeface="Segoe WPC"/>
                  </a:rPr>
                  <a:t>, </a:t>
                </a:r>
                <a:r>
                  <a:rPr lang="es-PE" sz="900" b="0" i="0" dirty="0" err="1">
                    <a:solidFill>
                      <a:schemeClr val="tx1"/>
                    </a:solidFill>
                    <a:effectLst/>
                    <a:latin typeface="Segoe WPC"/>
                  </a:rPr>
                  <a:t>parameter</a:t>
                </a:r>
                <a:r>
                  <a:rPr lang="es-PE" sz="900" b="0" i="0" dirty="0">
                    <a:solidFill>
                      <a:schemeClr val="tx1"/>
                    </a:solidFill>
                    <a:effectLst/>
                    <a:latin typeface="Segoe WPC"/>
                  </a:rPr>
                  <a:t> </a:t>
                </a:r>
                <a:r>
                  <a:rPr lang="es-PE" sz="900" b="0" i="0" dirty="0" err="1">
                    <a:solidFill>
                      <a:schemeClr val="tx1"/>
                    </a:solidFill>
                    <a:effectLst/>
                    <a:latin typeface="Segoe WPC"/>
                  </a:rPr>
                  <a:t>estimation</a:t>
                </a:r>
                <a:r>
                  <a:rPr lang="es-PE" sz="900" b="0" i="0" dirty="0">
                    <a:solidFill>
                      <a:schemeClr val="tx1"/>
                    </a:solidFill>
                    <a:effectLst/>
                    <a:latin typeface="Segoe WPC"/>
                  </a:rPr>
                  <a:t>, and residual </a:t>
                </a:r>
                <a:r>
                  <a:rPr lang="es-PE" sz="900" b="0" i="0" dirty="0" err="1">
                    <a:solidFill>
                      <a:schemeClr val="tx1"/>
                    </a:solidFill>
                    <a:effectLst/>
                    <a:latin typeface="Segoe WPC"/>
                  </a:rPr>
                  <a:t>checking</a:t>
                </a:r>
                <a:r>
                  <a:rPr lang="es-PE" sz="900" b="0" i="0" dirty="0">
                    <a:solidFill>
                      <a:schemeClr val="tx1"/>
                    </a:solidFill>
                    <a:effectLst/>
                    <a:latin typeface="Segoe WPC"/>
                  </a:rPr>
                  <a:t>. </a:t>
                </a:r>
                <a:r>
                  <a:rPr lang="es-PE" sz="900" b="0" i="0" dirty="0" err="1">
                    <a:solidFill>
                      <a:schemeClr val="tx1"/>
                    </a:solidFill>
                    <a:effectLst/>
                    <a:latin typeface="Segoe WPC"/>
                  </a:rPr>
                  <a:t>Seasonal</a:t>
                </a:r>
                <a:r>
                  <a:rPr lang="es-PE" sz="900" b="0" i="0" dirty="0">
                    <a:solidFill>
                      <a:schemeClr val="tx1"/>
                    </a:solidFill>
                    <a:effectLst/>
                    <a:latin typeface="Segoe WPC"/>
                  </a:rPr>
                  <a:t> ARMA </a:t>
                </a:r>
                <a:r>
                  <a:rPr lang="es-PE" sz="900" b="0" i="0" dirty="0" err="1">
                    <a:solidFill>
                      <a:schemeClr val="tx1"/>
                    </a:solidFill>
                    <a:effectLst/>
                    <a:latin typeface="Segoe WPC"/>
                  </a:rPr>
                  <a:t>models</a:t>
                </a:r>
                <a:r>
                  <a:rPr lang="es-PE" sz="900" b="0" i="0" dirty="0">
                    <a:solidFill>
                      <a:schemeClr val="tx1"/>
                    </a:solidFill>
                    <a:effectLst/>
                    <a:latin typeface="Segoe WPC"/>
                  </a:rPr>
                  <a:t> combine short-run and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lags</a:t>
                </a:r>
                <a:r>
                  <a:rPr lang="es-PE" sz="900" b="0" i="0" dirty="0">
                    <a:solidFill>
                      <a:schemeClr val="tx1"/>
                    </a:solidFill>
                    <a:effectLst/>
                    <a:latin typeface="Segoe WPC"/>
                  </a:rPr>
                  <a:t> in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stationary</a:t>
                </a:r>
                <a:r>
                  <a:rPr lang="es-PE" sz="900" b="0" i="0" dirty="0">
                    <a:solidFill>
                      <a:schemeClr val="tx1"/>
                    </a:solidFill>
                    <a:effectLst/>
                    <a:latin typeface="Segoe WPC"/>
                  </a:rPr>
                  <a:t> </a:t>
                </a:r>
                <a:r>
                  <a:rPr lang="es-PE" sz="900" b="0" i="0" dirty="0" err="1">
                    <a:solidFill>
                      <a:schemeClr val="tx1"/>
                    </a:solidFill>
                    <a:effectLst/>
                    <a:latin typeface="Segoe WPC"/>
                  </a:rPr>
                  <a:t>specification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Minimizing</a:t>
                </a:r>
                <a:r>
                  <a:rPr lang="es-PE" sz="900" b="0" i="0" dirty="0">
                    <a:solidFill>
                      <a:schemeClr val="tx1"/>
                    </a:solidFill>
                    <a:effectLst/>
                    <a:latin typeface="Segoe WPC"/>
                  </a:rPr>
                  <a:t> residual </a:t>
                </a:r>
                <a:r>
                  <a:rPr lang="es-PE" sz="900" b="0" i="0" dirty="0" err="1">
                    <a:solidFill>
                      <a:schemeClr val="tx1"/>
                    </a:solidFill>
                    <a:effectLst/>
                    <a:latin typeface="Segoe WPC"/>
                  </a:rPr>
                  <a:t>variance</a:t>
                </a:r>
                <a:r>
                  <a:rPr lang="es-PE" sz="900" b="0" i="0" dirty="0">
                    <a:solidFill>
                      <a:schemeClr val="tx1"/>
                    </a:solidFill>
                    <a:effectLst/>
                    <a:latin typeface="Segoe WPC"/>
                  </a:rPr>
                  <a:t> alone </a:t>
                </a:r>
                <a:r>
                  <a:rPr lang="es-PE" sz="900" b="0" i="0" dirty="0" err="1">
                    <a:solidFill>
                      <a:schemeClr val="tx1"/>
                    </a:solidFill>
                    <a:effectLst/>
                    <a:latin typeface="Segoe WPC"/>
                  </a:rPr>
                  <a:t>overfits</a:t>
                </a:r>
                <a:r>
                  <a:rPr lang="es-PE" sz="900" b="0" i="0" dirty="0">
                    <a:solidFill>
                      <a:schemeClr val="tx1"/>
                    </a:solidFill>
                    <a:effectLst/>
                    <a:latin typeface="Segoe WPC"/>
                  </a:rPr>
                  <a:t>; </a:t>
                </a:r>
                <a:r>
                  <a:rPr lang="es-PE" sz="900" b="0" i="0" dirty="0" err="1">
                    <a:solidFill>
                      <a:schemeClr val="tx1"/>
                    </a:solidFill>
                    <a:effectLst/>
                    <a:latin typeface="Segoe WPC"/>
                  </a:rPr>
                  <a:t>long-horizon</a:t>
                </a:r>
                <a:r>
                  <a:rPr lang="es-PE" sz="900" b="0" i="0" dirty="0">
                    <a:solidFill>
                      <a:schemeClr val="tx1"/>
                    </a:solidFill>
                    <a:effectLst/>
                    <a:latin typeface="Segoe WPC"/>
                  </a:rPr>
                  <a:t> </a:t>
                </a:r>
                <a:r>
                  <a:rPr lang="es-PE" sz="900" b="0" i="0" dirty="0" err="1">
                    <a:solidFill>
                      <a:schemeClr val="tx1"/>
                    </a:solidFill>
                    <a:effectLst/>
                    <a:latin typeface="Segoe WPC"/>
                  </a:rPr>
                  <a:t>forecasts</a:t>
                </a:r>
                <a:r>
                  <a:rPr lang="es-PE" sz="900" b="0" i="0" dirty="0">
                    <a:solidFill>
                      <a:schemeClr val="tx1"/>
                    </a:solidFill>
                    <a:effectLst/>
                    <a:latin typeface="Segoe WPC"/>
                  </a:rPr>
                  <a:t> in </a:t>
                </a:r>
                <a:r>
                  <a:rPr lang="es-PE" sz="900" b="0" i="0" dirty="0" err="1">
                    <a:solidFill>
                      <a:schemeClr val="tx1"/>
                    </a:solidFill>
                    <a:effectLst/>
                    <a:latin typeface="Segoe WPC"/>
                  </a:rPr>
                  <a:t>stationary</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converge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unconditional</a:t>
                </a:r>
                <a:r>
                  <a:rPr lang="es-PE" sz="900" b="0" i="0" dirty="0">
                    <a:solidFill>
                      <a:schemeClr val="tx1"/>
                    </a:solidFill>
                    <a:effectLst/>
                    <a:latin typeface="Segoe WPC"/>
                  </a:rPr>
                  <a:t> mean,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latest</a:t>
                </a:r>
                <a:r>
                  <a:rPr lang="es-PE" sz="900" b="0" i="0" dirty="0">
                    <a:solidFill>
                      <a:schemeClr val="tx1"/>
                    </a:solidFill>
                    <a:effectLst/>
                    <a:latin typeface="Segoe WPC"/>
                  </a:rPr>
                  <a:t> </a:t>
                </a:r>
                <a:r>
                  <a:rPr lang="es-PE" sz="900" b="0" i="0" dirty="0" err="1">
                    <a:solidFill>
                      <a:schemeClr val="tx1"/>
                    </a:solidFill>
                    <a:effectLst/>
                    <a:latin typeface="Segoe WPC"/>
                  </a:rPr>
                  <a:t>observation</a:t>
                </a:r>
                <a:r>
                  <a:rPr lang="es-PE" sz="900" b="0" i="0" dirty="0">
                    <a:solidFill>
                      <a:schemeClr val="tx1"/>
                    </a:solidFill>
                    <a:effectLst/>
                    <a:latin typeface="Segoe WPC"/>
                  </a:rPr>
                  <a:t>.</a:t>
                </a:r>
              </a:p>
            </p:txBody>
          </p:sp>
        </mc:Choice>
        <mc:Fallback xmlns="">
          <p:sp>
            <p:nvSpPr>
              <p:cNvPr id="6" name="CuadroTexto 5">
                <a:extLst>
                  <a:ext uri="{FF2B5EF4-FFF2-40B4-BE49-F238E27FC236}">
                    <a16:creationId xmlns:a16="http://schemas.microsoft.com/office/drawing/2014/main" id="{0FF951AB-3A4D-2B1C-601E-B40A64F7A163}"/>
                  </a:ext>
                </a:extLst>
              </p:cNvPr>
              <p:cNvSpPr txBox="1">
                <a:spLocks noRot="1" noChangeAspect="1" noMove="1" noResize="1" noEditPoints="1" noAdjustHandles="1" noChangeArrowheads="1" noChangeShapeType="1" noTextEdit="1"/>
              </p:cNvSpPr>
              <p:nvPr/>
            </p:nvSpPr>
            <p:spPr>
              <a:xfrm>
                <a:off x="5969001" y="136684"/>
                <a:ext cx="6146800" cy="6464655"/>
              </a:xfrm>
              <a:prstGeom prst="rect">
                <a:avLst/>
              </a:prstGeom>
              <a:blipFill>
                <a:blip r:embed="rId4"/>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3292539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13931D-D4A8-5A68-19A1-9CE52D731514}"/>
              </a:ext>
            </a:extLst>
          </p:cNvPr>
          <p:cNvSpPr>
            <a:spLocks noGrp="1"/>
          </p:cNvSpPr>
          <p:nvPr>
            <p:ph type="title"/>
          </p:nvPr>
        </p:nvSpPr>
        <p:spPr>
          <a:xfrm>
            <a:off x="0" y="1"/>
            <a:ext cx="10515600" cy="573314"/>
          </a:xfrm>
        </p:spPr>
        <p:txBody>
          <a:bodyPr>
            <a:normAutofit fontScale="90000"/>
          </a:bodyPr>
          <a:lstStyle/>
          <a:p>
            <a:r>
              <a:rPr lang="es-PE" dirty="0"/>
              <a:t>Non-</a:t>
            </a:r>
            <a:r>
              <a:rPr lang="es-PE" dirty="0" err="1"/>
              <a:t>Stationary</a:t>
            </a:r>
            <a:r>
              <a:rPr lang="es-PE" dirty="0"/>
              <a:t> Time Series</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E0738D18-A8EE-362C-C074-49A79B37AD65}"/>
                  </a:ext>
                </a:extLst>
              </p:cNvPr>
              <p:cNvSpPr txBox="1"/>
              <p:nvPr/>
            </p:nvSpPr>
            <p:spPr>
              <a:xfrm>
                <a:off x="0" y="491677"/>
                <a:ext cx="6284686" cy="6388095"/>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1. </a:t>
                </a:r>
                <a:r>
                  <a:rPr lang="es-PE" sz="900" b="1" i="0" dirty="0" err="1">
                    <a:solidFill>
                      <a:schemeClr val="tx1"/>
                    </a:solidFill>
                    <a:effectLst/>
                    <a:latin typeface="Segoe WPC"/>
                  </a:rPr>
                  <a:t>Sources</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Non-</a:t>
                </a:r>
                <a:r>
                  <a:rPr lang="es-PE" sz="900" b="1" i="0" dirty="0" err="1">
                    <a:solidFill>
                      <a:schemeClr val="tx1"/>
                    </a:solidFill>
                    <a:effectLst/>
                    <a:latin typeface="Segoe WPC"/>
                  </a:rPr>
                  <a:t>Stationarity</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time series </a:t>
                </a:r>
                <a:r>
                  <a:rPr lang="es-PE" sz="900" b="0" i="0" dirty="0" err="1">
                    <a:solidFill>
                      <a:schemeClr val="tx1"/>
                    </a:solidFill>
                    <a:effectLst/>
                    <a:latin typeface="Segoe WPC"/>
                  </a:rPr>
                  <a:t>is</a:t>
                </a:r>
                <a:r>
                  <a:rPr lang="es-PE" sz="900" b="0" i="0" dirty="0">
                    <a:solidFill>
                      <a:schemeClr val="tx1"/>
                    </a:solidFill>
                    <a:effectLst/>
                    <a:latin typeface="Segoe WPC"/>
                  </a:rPr>
                  <a:t> non-</a:t>
                </a:r>
                <a:r>
                  <a:rPr lang="es-PE" sz="900" b="0" i="0" dirty="0" err="1">
                    <a:solidFill>
                      <a:schemeClr val="tx1"/>
                    </a:solidFill>
                    <a:effectLst/>
                    <a:latin typeface="Segoe WPC"/>
                  </a:rPr>
                  <a:t>stationary</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mean,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autocovariances</a:t>
                </a:r>
                <a:r>
                  <a:rPr lang="es-PE" sz="900" b="0" i="0" dirty="0">
                    <a:solidFill>
                      <a:schemeClr val="tx1"/>
                    </a:solidFill>
                    <a:effectLst/>
                    <a:latin typeface="Segoe WPC"/>
                  </a:rPr>
                  <a:t> </a:t>
                </a:r>
                <a:r>
                  <a:rPr lang="es-PE" sz="900" b="0" i="0" dirty="0" err="1">
                    <a:solidFill>
                      <a:schemeClr val="tx1"/>
                    </a:solidFill>
                    <a:effectLst/>
                    <a:latin typeface="Segoe WPC"/>
                  </a:rPr>
                  <a:t>change</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time.</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three</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sources</a:t>
                </a:r>
                <a:r>
                  <a:rPr lang="es-PE" sz="900" b="0" i="0" dirty="0">
                    <a:solidFill>
                      <a:schemeClr val="tx1"/>
                    </a:solidFill>
                    <a:effectLst/>
                    <a:latin typeface="Segoe WPC"/>
                  </a:rPr>
                  <a:t> are </a:t>
                </a:r>
                <a:r>
                  <a:rPr lang="es-PE" sz="900" b="0" i="0" dirty="0" err="1">
                    <a:solidFill>
                      <a:schemeClr val="tx1"/>
                    </a:solidFill>
                    <a:effectLst/>
                    <a:latin typeface="Segoe WPC"/>
                  </a:rPr>
                  <a:t>deterministic</a:t>
                </a:r>
                <a:r>
                  <a:rPr lang="es-PE" sz="900" b="0" i="0" dirty="0">
                    <a:solidFill>
                      <a:schemeClr val="tx1"/>
                    </a:solidFill>
                    <a:effectLst/>
                    <a:latin typeface="Segoe WPC"/>
                  </a:rPr>
                  <a:t> time </a:t>
                </a:r>
                <a:r>
                  <a:rPr lang="es-PE" sz="900" b="0" i="0" dirty="0" err="1">
                    <a:solidFill>
                      <a:schemeClr val="tx1"/>
                    </a:solidFill>
                    <a:effectLst/>
                    <a:latin typeface="Segoe WPC"/>
                  </a:rPr>
                  <a:t>trends</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seasonalities</a:t>
                </a:r>
                <a:r>
                  <a:rPr lang="es-PE" sz="900" b="0" i="0" dirty="0">
                    <a:solidFill>
                      <a:schemeClr val="tx1"/>
                    </a:solidFill>
                    <a:effectLst/>
                    <a:latin typeface="Segoe WPC"/>
                  </a:rPr>
                  <a:t>, and </a:t>
                </a:r>
                <a:r>
                  <a:rPr lang="es-PE" sz="900" b="0" i="0" dirty="0" err="1">
                    <a:solidFill>
                      <a:schemeClr val="tx1"/>
                    </a:solidFill>
                    <a:effectLst/>
                    <a:latin typeface="Segoe WPC"/>
                  </a:rPr>
                  <a:t>stochastic</a:t>
                </a:r>
                <a:r>
                  <a:rPr lang="es-PE" sz="900" b="0" i="0" dirty="0">
                    <a:solidFill>
                      <a:schemeClr val="tx1"/>
                    </a:solidFill>
                    <a:effectLst/>
                    <a:latin typeface="Segoe WPC"/>
                  </a:rPr>
                  <a:t> </a:t>
                </a:r>
                <a:r>
                  <a:rPr lang="es-PE" sz="900" b="0" i="0" dirty="0" err="1">
                    <a:solidFill>
                      <a:schemeClr val="tx1"/>
                    </a:solidFill>
                    <a:effectLst/>
                    <a:latin typeface="Segoe WPC"/>
                  </a:rPr>
                  <a:t>trends</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a:t>
                </a:r>
                <a:r>
                  <a:rPr lang="es-PE" sz="900" b="0" i="0" dirty="0" err="1">
                    <a:solidFill>
                      <a:schemeClr val="tx1"/>
                    </a:solidFill>
                    <a:effectLst/>
                    <a:latin typeface="Segoe WPC"/>
                  </a:rPr>
                  <a:t>unit</a:t>
                </a:r>
                <a:r>
                  <a:rPr lang="es-PE" sz="900" b="0" i="0" dirty="0">
                    <a:solidFill>
                      <a:schemeClr val="tx1"/>
                    </a:solidFill>
                    <a:effectLst/>
                    <a:latin typeface="Segoe WPC"/>
                  </a:rPr>
                  <a:t> </a:t>
                </a:r>
                <a:r>
                  <a:rPr lang="es-PE" sz="900" b="0" i="0" dirty="0" err="1">
                    <a:solidFill>
                      <a:schemeClr val="tx1"/>
                    </a:solidFill>
                    <a:effectLst/>
                    <a:latin typeface="Segoe WPC"/>
                  </a:rPr>
                  <a:t>roots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non-</a:t>
                </a:r>
                <a:r>
                  <a:rPr lang="es-PE" sz="900" b="0" i="0" dirty="0" err="1">
                    <a:solidFill>
                      <a:schemeClr val="tx1"/>
                    </a:solidFill>
                    <a:effectLst/>
                    <a:latin typeface="Segoe WPC"/>
                  </a:rPr>
                  <a:t>stationary</a:t>
                </a:r>
                <a:r>
                  <a:rPr lang="es-PE" sz="900" b="0" i="0" dirty="0">
                    <a:solidFill>
                      <a:schemeClr val="tx1"/>
                    </a:solidFill>
                    <a:effectLst/>
                    <a:latin typeface="Segoe WPC"/>
                  </a:rPr>
                  <a:t> series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drift</a:t>
                </a:r>
                <a:r>
                  <a:rPr lang="es-PE" sz="900" b="0" i="0" dirty="0">
                    <a:solidFill>
                      <a:schemeClr val="tx1"/>
                    </a:solidFill>
                    <a:effectLst/>
                    <a:latin typeface="Segoe WPC"/>
                  </a:rPr>
                  <a:t> </a:t>
                </a:r>
                <a:r>
                  <a:rPr lang="es-PE" sz="900" b="0" i="0" dirty="0" err="1">
                    <a:solidFill>
                      <a:schemeClr val="tx1"/>
                    </a:solidFill>
                    <a:effectLst/>
                    <a:latin typeface="Segoe WPC"/>
                  </a:rPr>
                  <a:t>upward</a:t>
                </a:r>
                <a:r>
                  <a:rPr lang="es-PE" sz="900" b="0" i="0" dirty="0">
                    <a:solidFill>
                      <a:schemeClr val="tx1"/>
                    </a:solidFill>
                    <a:effectLst/>
                    <a:latin typeface="Segoe WPC"/>
                  </a:rPr>
                  <a:t>, </a:t>
                </a:r>
                <a:r>
                  <a:rPr lang="es-PE" sz="900" b="0" i="0" dirty="0" err="1">
                    <a:solidFill>
                      <a:schemeClr val="tx1"/>
                    </a:solidFill>
                    <a:effectLst/>
                    <a:latin typeface="Segoe WPC"/>
                  </a:rPr>
                  <a:t>change</a:t>
                </a:r>
                <a:r>
                  <a:rPr lang="es-PE" sz="900" b="0" i="0" dirty="0">
                    <a:solidFill>
                      <a:schemeClr val="tx1"/>
                    </a:solidFill>
                    <a:effectLst/>
                    <a:latin typeface="Segoe WPC"/>
                  </a:rPr>
                  <a:t> </a:t>
                </a:r>
                <a:r>
                  <a:rPr lang="es-PE" sz="900" b="0" i="0" dirty="0" err="1">
                    <a:solidFill>
                      <a:schemeClr val="tx1"/>
                    </a:solidFill>
                    <a:effectLst/>
                    <a:latin typeface="Segoe WPC"/>
                  </a:rPr>
                  <a:t>systematically</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month</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quarter</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wander</a:t>
                </a:r>
                <a:r>
                  <a:rPr lang="es-PE" sz="900" b="0" i="0" dirty="0">
                    <a:solidFill>
                      <a:schemeClr val="tx1"/>
                    </a:solidFill>
                    <a:effectLst/>
                    <a:latin typeface="Segoe WPC"/>
                  </a:rPr>
                  <a:t> </a:t>
                </a:r>
                <a:r>
                  <a:rPr lang="es-PE" sz="900" b="0" i="0" dirty="0" err="1">
                    <a:solidFill>
                      <a:schemeClr val="tx1"/>
                    </a:solidFill>
                    <a:effectLst/>
                    <a:latin typeface="Segoe WPC"/>
                  </a:rPr>
                  <a:t>without</a:t>
                </a:r>
                <a:r>
                  <a:rPr lang="es-PE" sz="900" b="0" i="0" dirty="0">
                    <a:solidFill>
                      <a:schemeClr val="tx1"/>
                    </a:solidFill>
                    <a:effectLst/>
                    <a:latin typeface="Segoe WPC"/>
                  </a:rPr>
                  <a:t> </a:t>
                </a:r>
                <a:r>
                  <a:rPr lang="es-PE" sz="900" b="0" i="0" dirty="0" err="1">
                    <a:solidFill>
                      <a:schemeClr val="tx1"/>
                    </a:solidFill>
                    <a:effectLst/>
                    <a:latin typeface="Segoe WPC"/>
                  </a:rPr>
                  <a:t>returning</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 </a:t>
                </a:r>
                <a:r>
                  <a:rPr lang="es-PE" sz="900" b="0" i="0" dirty="0" err="1">
                    <a:solidFill>
                      <a:schemeClr val="tx1"/>
                    </a:solidFill>
                    <a:effectLst/>
                    <a:latin typeface="Segoe WPC"/>
                  </a:rPr>
                  <a:t>fixed</a:t>
                </a:r>
                <a:r>
                  <a:rPr lang="es-PE" sz="900" b="0" i="0" dirty="0">
                    <a:solidFill>
                      <a:schemeClr val="tx1"/>
                    </a:solidFill>
                    <a:effectLst/>
                    <a:latin typeface="Segoe WPC"/>
                  </a:rPr>
                  <a:t> </a:t>
                </a:r>
                <a:r>
                  <a:rPr lang="es-PE" sz="900" b="0" i="0" dirty="0" err="1">
                    <a:solidFill>
                      <a:schemeClr val="tx1"/>
                    </a:solidFill>
                    <a:effectLst/>
                    <a:latin typeface="Segoe WPC"/>
                  </a:rPr>
                  <a:t>level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non-</a:t>
                </a:r>
                <a:r>
                  <a:rPr lang="es-PE" sz="900" b="0" i="0" dirty="0" err="1">
                    <a:solidFill>
                      <a:schemeClr val="tx1"/>
                    </a:solidFill>
                    <a:effectLst/>
                    <a:latin typeface="Segoe WPC"/>
                  </a:rPr>
                  <a:t>stationarity</a:t>
                </a:r>
                <a:r>
                  <a:rPr lang="es-PE" sz="900" b="0" i="0" dirty="0">
                    <a:solidFill>
                      <a:schemeClr val="tx1"/>
                    </a:solidFill>
                    <a:effectLst/>
                    <a:latin typeface="Segoe WPC"/>
                  </a:rPr>
                  <a:t> comes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terms</a:t>
                </a:r>
                <a:r>
                  <a:rPr lang="es-PE" sz="900" b="0" i="0" dirty="0">
                    <a:solidFill>
                      <a:schemeClr val="tx1"/>
                    </a:solidFill>
                    <a:effectLst/>
                    <a:latin typeface="Segoe WPC"/>
                  </a:rPr>
                  <a:t>; </a:t>
                </a:r>
                <a:r>
                  <a:rPr lang="es-PE" sz="900" b="0" i="0" dirty="0" err="1">
                    <a:solidFill>
                      <a:schemeClr val="tx1"/>
                    </a:solidFill>
                    <a:effectLst/>
                    <a:latin typeface="Segoe WPC"/>
                  </a:rPr>
                  <a:t>stochastic</a:t>
                </a:r>
                <a:r>
                  <a:rPr lang="es-PE" sz="900" b="0" i="0" dirty="0">
                    <a:solidFill>
                      <a:schemeClr val="tx1"/>
                    </a:solidFill>
                    <a:effectLst/>
                    <a:latin typeface="Segoe WPC"/>
                  </a:rPr>
                  <a:t> non-</a:t>
                </a:r>
                <a:r>
                  <a:rPr lang="es-PE" sz="900" b="0" i="0" dirty="0" err="1">
                    <a:solidFill>
                      <a:schemeClr val="tx1"/>
                    </a:solidFill>
                    <a:effectLst/>
                    <a:latin typeface="Segoe WPC"/>
                  </a:rPr>
                  <a:t>stationarity</a:t>
                </a:r>
                <a:r>
                  <a:rPr lang="es-PE" sz="900" b="0" i="0" dirty="0">
                    <a:solidFill>
                      <a:schemeClr val="tx1"/>
                    </a:solidFill>
                    <a:effectLst/>
                    <a:latin typeface="Segoe WPC"/>
                  </a:rPr>
                  <a:t> comes </a:t>
                </a:r>
                <a:r>
                  <a:rPr lang="es-PE" sz="900" b="0" i="0" dirty="0" err="1">
                    <a:solidFill>
                      <a:schemeClr val="tx1"/>
                    </a:solidFill>
                    <a:effectLst/>
                    <a:latin typeface="Segoe WPC"/>
                  </a:rPr>
                  <a:t>from</a:t>
                </a:r>
                <a:r>
                  <a:rPr lang="es-PE" sz="900" b="0" i="0" dirty="0">
                    <a:solidFill>
                      <a:schemeClr val="tx1"/>
                    </a:solidFill>
                    <a:effectLst/>
                    <a:latin typeface="Segoe WPC"/>
                  </a:rPr>
                  <a:t> a </a:t>
                </a:r>
                <a:r>
                  <a:rPr lang="es-PE" sz="900" b="0" i="0" dirty="0" err="1">
                    <a:solidFill>
                      <a:schemeClr val="tx1"/>
                    </a:solidFill>
                    <a:effectLst/>
                    <a:latin typeface="Segoe WPC"/>
                  </a:rPr>
                  <a:t>unit-root</a:t>
                </a:r>
                <a:r>
                  <a:rPr lang="es-PE" sz="900" b="0" i="0" dirty="0">
                    <a:solidFill>
                      <a:schemeClr val="tx1"/>
                    </a:solidFill>
                    <a:effectLst/>
                    <a:latin typeface="Segoe WPC"/>
                  </a:rPr>
                  <a:t> </a:t>
                </a:r>
                <a:r>
                  <a:rPr lang="es-PE" sz="900" b="0" i="0" dirty="0" err="1">
                    <a:solidFill>
                      <a:schemeClr val="tx1"/>
                    </a:solidFill>
                    <a:effectLst/>
                    <a:latin typeface="Segoe WPC"/>
                  </a:rPr>
                  <a:t>component</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a:t>
                </a:r>
                <a14:m>
                  <m:oMath xmlns:m="http://schemas.openxmlformats.org/officeDocument/2006/math">
                    <m:d>
                      <m:dPr>
                        <m:ctrlPr>
                          <a:rPr lang="ar-AE" sz="900" i="1">
                            <a:solidFill>
                              <a:schemeClr val="tx1"/>
                            </a:solidFill>
                            <a:latin typeface="Cambria Math" panose="02040503050406030204" pitchFamily="18" charset="0"/>
                          </a:rPr>
                        </m:ctrlPr>
                      </m:dPr>
                      <m:e>
                        <m:r>
                          <a:rPr lang="ar-AE" sz="90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𝐿</m:t>
                        </m:r>
                      </m:e>
                    </m:d>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correct</a:t>
                </a:r>
                <a:r>
                  <a:rPr lang="es-PE" sz="900" b="0" i="0" dirty="0">
                    <a:solidFill>
                      <a:schemeClr val="tx1"/>
                    </a:solidFill>
                    <a:effectLst/>
                    <a:latin typeface="Segoe WPC"/>
                  </a:rPr>
                  <a:t> </a:t>
                </a:r>
                <a:r>
                  <a:rPr lang="es-PE" sz="900" b="0" i="0" dirty="0" err="1">
                    <a:solidFill>
                      <a:schemeClr val="tx1"/>
                    </a:solidFill>
                    <a:effectLst/>
                    <a:latin typeface="Segoe WPC"/>
                  </a:rPr>
                  <a:t>fix</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source</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effects</a:t>
                </a:r>
                <a:r>
                  <a:rPr lang="es-PE" sz="900" b="0" i="0" dirty="0">
                    <a:solidFill>
                      <a:schemeClr val="tx1"/>
                    </a:solidFill>
                    <a:effectLst/>
                    <a:latin typeface="Segoe WPC"/>
                  </a:rPr>
                  <a:t> </a:t>
                </a:r>
                <a:r>
                  <a:rPr lang="es-PE" sz="900" b="0" i="0" dirty="0" err="1">
                    <a:solidFill>
                      <a:schemeClr val="tx1"/>
                    </a:solidFill>
                    <a:effectLst/>
                    <a:latin typeface="Segoe WPC"/>
                  </a:rPr>
                  <a:t>should</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be </a:t>
                </a:r>
                <a:r>
                  <a:rPr lang="es-PE" sz="900" b="0" i="0" dirty="0" err="1">
                    <a:solidFill>
                      <a:schemeClr val="tx1"/>
                    </a:solidFill>
                    <a:effectLst/>
                    <a:latin typeface="Segoe WPC"/>
                  </a:rPr>
                  <a:t>modeled</a:t>
                </a:r>
                <a:r>
                  <a:rPr lang="es-PE" sz="900" b="0" i="0" dirty="0">
                    <a:solidFill>
                      <a:schemeClr val="tx1"/>
                    </a:solidFill>
                    <a:effectLst/>
                    <a:latin typeface="Segoe WPC"/>
                  </a:rPr>
                  <a:t> </a:t>
                </a:r>
                <a:r>
                  <a:rPr lang="es-PE" sz="900" b="0" i="0" dirty="0" err="1">
                    <a:solidFill>
                      <a:schemeClr val="tx1"/>
                    </a:solidFill>
                    <a:effectLst/>
                    <a:latin typeface="Segoe WPC"/>
                  </a:rPr>
                  <a:t>directly</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stochastic</a:t>
                </a:r>
                <a:r>
                  <a:rPr lang="es-PE" sz="900" b="0" i="0" dirty="0">
                    <a:solidFill>
                      <a:schemeClr val="tx1"/>
                    </a:solidFill>
                    <a:effectLst/>
                    <a:latin typeface="Segoe WPC"/>
                  </a:rPr>
                  <a:t> </a:t>
                </a:r>
                <a:r>
                  <a:rPr lang="es-PE" sz="900" b="0" i="0" dirty="0" err="1">
                    <a:solidFill>
                      <a:schemeClr val="tx1"/>
                    </a:solidFill>
                    <a:effectLst/>
                    <a:latin typeface="Segoe WPC"/>
                  </a:rPr>
                  <a:t>trends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require</a:t>
                </a:r>
                <a:r>
                  <a:rPr lang="es-PE" sz="900" b="0" i="0" dirty="0">
                    <a:solidFill>
                      <a:schemeClr val="tx1"/>
                    </a:solidFill>
                    <a:effectLst/>
                    <a:latin typeface="Segoe WPC"/>
                  </a:rPr>
                  <a:t> </a:t>
                </a:r>
                <a:r>
                  <a:rPr lang="es-PE" sz="900" b="0" i="0" dirty="0" err="1">
                    <a:solidFill>
                      <a:schemeClr val="tx1"/>
                    </a:solidFill>
                    <a:effectLst/>
                    <a:latin typeface="Segoe WPC"/>
                  </a:rPr>
                  <a:t>differencing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treat</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non-</a:t>
                </a:r>
                <a:r>
                  <a:rPr lang="es-PE" sz="900" b="0" i="0" dirty="0" err="1">
                    <a:solidFill>
                      <a:schemeClr val="tx1"/>
                    </a:solidFill>
                    <a:effectLst/>
                    <a:latin typeface="Segoe WPC"/>
                  </a:rPr>
                  <a:t>stationary</a:t>
                </a:r>
                <a:r>
                  <a:rPr lang="es-PE" sz="900" b="0" i="0" dirty="0">
                    <a:solidFill>
                      <a:schemeClr val="tx1"/>
                    </a:solidFill>
                    <a:effectLst/>
                    <a:latin typeface="Segoe WPC"/>
                  </a:rPr>
                  <a:t> series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and </a:t>
                </a:r>
                <a:r>
                  <a:rPr lang="es-PE" sz="900" b="0" i="0" dirty="0" err="1">
                    <a:solidFill>
                      <a:schemeClr val="tx1"/>
                    </a:solidFill>
                    <a:effectLst/>
                    <a:latin typeface="Segoe WPC"/>
                  </a:rPr>
                  <a:t>stochastic</a:t>
                </a:r>
                <a:r>
                  <a:rPr lang="es-PE" sz="900" b="0" i="0" dirty="0">
                    <a:solidFill>
                      <a:schemeClr val="tx1"/>
                    </a:solidFill>
                    <a:effectLst/>
                    <a:latin typeface="Segoe WPC"/>
                  </a:rPr>
                  <a:t> </a:t>
                </a:r>
                <a:r>
                  <a:rPr lang="es-PE" sz="900" b="0" i="0" dirty="0" err="1">
                    <a:solidFill>
                      <a:schemeClr val="tx1"/>
                    </a:solidFill>
                    <a:effectLst/>
                    <a:latin typeface="Segoe WPC"/>
                  </a:rPr>
                  <a:t>trends</a:t>
                </a:r>
                <a:r>
                  <a:rPr lang="es-PE" sz="900" b="0" i="0" dirty="0">
                    <a:solidFill>
                      <a:schemeClr val="tx1"/>
                    </a:solidFill>
                    <a:effectLst/>
                    <a:latin typeface="Segoe WPC"/>
                  </a:rPr>
                  <a:t> are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problems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2. Linear, </a:t>
                </a:r>
                <a:r>
                  <a:rPr lang="es-PE" sz="900" b="1" i="0" dirty="0" err="1">
                    <a:solidFill>
                      <a:schemeClr val="tx1"/>
                    </a:solidFill>
                    <a:effectLst/>
                    <a:latin typeface="Segoe WPC"/>
                  </a:rPr>
                  <a:t>Nonlinear</a:t>
                </a:r>
                <a:r>
                  <a:rPr lang="es-PE" sz="900" b="1" i="0" dirty="0">
                    <a:solidFill>
                      <a:schemeClr val="tx1"/>
                    </a:solidFill>
                    <a:effectLst/>
                    <a:latin typeface="Segoe WPC"/>
                  </a:rPr>
                  <a:t>, and Log </a:t>
                </a:r>
                <a:r>
                  <a:rPr lang="es-PE" sz="900" b="1" i="0" dirty="0" err="1">
                    <a:solidFill>
                      <a:schemeClr val="tx1"/>
                    </a:solidFill>
                    <a:effectLst/>
                    <a:latin typeface="Segoe WPC"/>
                  </a:rPr>
                  <a:t>Trends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Time </a:t>
                </a:r>
                <a:r>
                  <a:rPr lang="es-PE" sz="900" b="0" i="0" dirty="0" err="1">
                    <a:solidFill>
                      <a:schemeClr val="tx1"/>
                    </a:solidFill>
                    <a:effectLst/>
                    <a:latin typeface="Segoe WPC"/>
                  </a:rPr>
                  <a:t>trends</a:t>
                </a:r>
                <a:r>
                  <a:rPr lang="es-PE" sz="900" b="0" i="0" dirty="0">
                    <a:solidFill>
                      <a:schemeClr val="tx1"/>
                    </a:solidFill>
                    <a:effectLst/>
                    <a:latin typeface="Segoe WPC"/>
                  </a:rPr>
                  <a:t> </a:t>
                </a:r>
                <a:r>
                  <a:rPr lang="es-PE" sz="900" b="0" i="0" dirty="0" err="1">
                    <a:solidFill>
                      <a:schemeClr val="tx1"/>
                    </a:solidFill>
                    <a:effectLst/>
                    <a:latin typeface="Segoe WPC"/>
                  </a:rPr>
                  <a:t>make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mean </a:t>
                </a:r>
                <a:r>
                  <a:rPr lang="es-PE" sz="900" b="0" i="0" dirty="0" err="1">
                    <a:solidFill>
                      <a:schemeClr val="tx1"/>
                    </a:solidFill>
                    <a:effectLst/>
                    <a:latin typeface="Segoe WPC"/>
                  </a:rPr>
                  <a:t>of</a:t>
                </a:r>
                <a:r>
                  <a:rPr lang="es-PE" sz="900" b="0" i="0" dirty="0">
                    <a:solidFill>
                      <a:schemeClr val="tx1"/>
                    </a:solidFill>
                    <a:effectLst/>
                    <a:latin typeface="Segoe WPC"/>
                  </a:rPr>
                  <a:t> a series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time.</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linear </a:t>
                </a:r>
                <a:r>
                  <a:rPr lang="es-PE" sz="900" b="0" i="0" dirty="0" err="1">
                    <a:solidFill>
                      <a:schemeClr val="tx1"/>
                    </a:solidFill>
                    <a:effectLst/>
                    <a:latin typeface="Segoe WPC"/>
                  </a:rPr>
                  <a:t>trend</a:t>
                </a:r>
                <a:r>
                  <a:rPr lang="es-PE" sz="900" b="0" i="0" dirty="0">
                    <a:solidFill>
                      <a:schemeClr val="tx1"/>
                    </a:solidFill>
                    <a:effectLst/>
                    <a:latin typeface="Segoe WPC"/>
                  </a:rPr>
                  <a:t> </a:t>
                </a:r>
                <a:r>
                  <a:rPr lang="es-PE" sz="900" b="0" i="0" dirty="0" err="1">
                    <a:solidFill>
                      <a:schemeClr val="tx1"/>
                    </a:solidFill>
                    <a:effectLst/>
                    <a:latin typeface="Segoe WPC"/>
                  </a:rPr>
                  <a:t>adds</a:t>
                </a:r>
                <a:r>
                  <a:rPr lang="es-PE" sz="900" b="0" i="0" dirty="0">
                    <a:solidFill>
                      <a:schemeClr val="tx1"/>
                    </a:solidFill>
                    <a:effectLst/>
                    <a:latin typeface="Segoe WPC"/>
                  </a:rPr>
                  <a:t> a </a:t>
                </a:r>
                <a:r>
                  <a:rPr lang="es-PE" sz="900" b="0" i="0" dirty="0" err="1">
                    <a:solidFill>
                      <a:schemeClr val="tx1"/>
                    </a:solidFill>
                    <a:effectLst/>
                    <a:latin typeface="Segoe WPC"/>
                  </a:rPr>
                  <a:t>constant</a:t>
                </a:r>
                <a:r>
                  <a:rPr lang="es-PE" sz="900" b="0" i="0" dirty="0">
                    <a:solidFill>
                      <a:schemeClr val="tx1"/>
                    </a:solidFill>
                    <a:effectLst/>
                    <a:latin typeface="Segoe WPC"/>
                  </a:rPr>
                  <a:t> </a:t>
                </a:r>
                <a:r>
                  <a:rPr lang="es-PE" sz="900" b="0" i="0" dirty="0" err="1">
                    <a:solidFill>
                      <a:schemeClr val="tx1"/>
                    </a:solidFill>
                    <a:effectLst/>
                    <a:latin typeface="Segoe WPC"/>
                  </a:rPr>
                  <a:t>amount</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period</a:t>
                </a:r>
                <a:r>
                  <a:rPr lang="es-PE" sz="900" b="0" i="0" dirty="0">
                    <a:solidFill>
                      <a:schemeClr val="tx1"/>
                    </a:solidFill>
                    <a:effectLst/>
                    <a:latin typeface="Segoe WPC"/>
                  </a:rPr>
                  <a:t>; a </a:t>
                </a:r>
                <a:r>
                  <a:rPr lang="es-PE" sz="900" b="0" i="0" dirty="0" err="1">
                    <a:solidFill>
                      <a:schemeClr val="tx1"/>
                    </a:solidFill>
                    <a:effectLst/>
                    <a:latin typeface="Segoe WPC"/>
                  </a:rPr>
                  <a:t>polynomial</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t>
                </a:r>
                <a:r>
                  <a:rPr lang="es-PE" sz="900" b="0" i="0" dirty="0" err="1">
                    <a:solidFill>
                      <a:schemeClr val="tx1"/>
                    </a:solidFill>
                    <a:effectLst/>
                    <a:latin typeface="Segoe WPC"/>
                  </a:rPr>
                  <a:t>allows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change</a:t>
                </a:r>
                <a:r>
                  <a:rPr lang="es-PE" sz="900" b="0" i="0" dirty="0">
                    <a:solidFill>
                      <a:schemeClr val="tx1"/>
                    </a:solidFill>
                    <a:effectLst/>
                    <a:latin typeface="Segoe WPC"/>
                  </a:rPr>
                  <a:t> </a:t>
                </a:r>
                <a:r>
                  <a:rPr lang="es-PE" sz="900" b="0" i="0" dirty="0" err="1">
                    <a:solidFill>
                      <a:schemeClr val="tx1"/>
                    </a:solidFill>
                    <a:effectLst/>
                    <a:latin typeface="Segoe WPC"/>
                  </a:rPr>
                  <a:t>itself</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vary</a:t>
                </a:r>
                <a:r>
                  <a:rPr lang="es-PE" sz="900" b="0" i="0" dirty="0">
                    <a:solidFill>
                      <a:schemeClr val="tx1"/>
                    </a:solidFill>
                    <a:effectLst/>
                    <a:latin typeface="Segoe WPC"/>
                  </a:rPr>
                  <a:t>; a log </a:t>
                </a:r>
                <a:r>
                  <a:rPr lang="es-PE" sz="900" b="0" i="0" dirty="0" err="1">
                    <a:solidFill>
                      <a:schemeClr val="tx1"/>
                    </a:solidFill>
                    <a:effectLst/>
                    <a:latin typeface="Segoe WPC"/>
                  </a:rPr>
                  <a:t>trend</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a:t>
                </a:r>
                <a:r>
                  <a:rPr lang="es-PE" sz="900" b="0" i="0" dirty="0" err="1">
                    <a:solidFill>
                      <a:schemeClr val="tx1"/>
                    </a:solidFill>
                    <a:effectLst/>
                    <a:latin typeface="Segoe WPC"/>
                  </a:rPr>
                  <a:t>percentage</a:t>
                </a:r>
                <a:r>
                  <a:rPr lang="es-PE" sz="900" b="0" i="0" dirty="0">
                    <a:solidFill>
                      <a:schemeClr val="tx1"/>
                    </a:solidFill>
                    <a:effectLst/>
                    <a:latin typeface="Segoe WPC"/>
                  </a:rPr>
                  <a:t> </a:t>
                </a:r>
                <a:r>
                  <a:rPr lang="es-PE" sz="900" b="0" i="0" dirty="0" err="1">
                    <a:solidFill>
                      <a:schemeClr val="tx1"/>
                    </a:solidFill>
                    <a:effectLst/>
                    <a:latin typeface="Segoe WPC"/>
                  </a:rPr>
                  <a:t>growth</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Linear </a:t>
                </a:r>
                <a:r>
                  <a:rPr lang="es-PE" sz="900" b="0" i="0" dirty="0" err="1">
                    <a:solidFill>
                      <a:schemeClr val="tx1"/>
                    </a:solidFill>
                    <a:effectLst/>
                    <a:latin typeface="Segoe WPC"/>
                  </a:rPr>
                  <a:t>trends</a:t>
                </a:r>
                <a:r>
                  <a:rPr lang="es-PE" sz="900" b="0" i="0" dirty="0">
                    <a:solidFill>
                      <a:schemeClr val="tx1"/>
                    </a:solidFill>
                    <a:effectLst/>
                    <a:latin typeface="Segoe WPC"/>
                  </a:rPr>
                  <a:t> are </a:t>
                </a:r>
                <a:r>
                  <a:rPr lang="es-PE" sz="900" b="0" i="0" dirty="0" err="1">
                    <a:solidFill>
                      <a:schemeClr val="tx1"/>
                    </a:solidFill>
                    <a:effectLst/>
                    <a:latin typeface="Segoe WPC"/>
                  </a:rPr>
                  <a:t>straight</a:t>
                </a:r>
                <a:r>
                  <a:rPr lang="es-PE" sz="900" b="0" i="0" dirty="0">
                    <a:solidFill>
                      <a:schemeClr val="tx1"/>
                    </a:solidFill>
                    <a:effectLst/>
                    <a:latin typeface="Segoe WPC"/>
                  </a:rPr>
                  <a:t> </a:t>
                </a:r>
                <a:r>
                  <a:rPr lang="es-PE" sz="900" b="0" i="0" dirty="0" err="1">
                    <a:solidFill>
                      <a:schemeClr val="tx1"/>
                    </a:solidFill>
                    <a:effectLst/>
                    <a:latin typeface="Segoe WPC"/>
                  </a:rPr>
                  <a:t>lines</a:t>
                </a:r>
                <a:r>
                  <a:rPr lang="es-PE" sz="900" b="0" i="0" dirty="0">
                    <a:solidFill>
                      <a:schemeClr val="tx1"/>
                    </a:solidFill>
                    <a:effectLst/>
                    <a:latin typeface="Segoe WPC"/>
                  </a:rPr>
                  <a:t>, </a:t>
                </a:r>
                <a:r>
                  <a:rPr lang="es-PE" sz="900" b="0" i="0" dirty="0" err="1">
                    <a:solidFill>
                      <a:schemeClr val="tx1"/>
                    </a:solidFill>
                    <a:effectLst/>
                    <a:latin typeface="Segoe WPC"/>
                  </a:rPr>
                  <a:t>quadratic</a:t>
                </a:r>
                <a:r>
                  <a:rPr lang="es-PE" sz="900" b="0" i="0" dirty="0">
                    <a:solidFill>
                      <a:schemeClr val="tx1"/>
                    </a:solidFill>
                    <a:effectLst/>
                    <a:latin typeface="Segoe WPC"/>
                  </a:rPr>
                  <a:t> </a:t>
                </a:r>
                <a:r>
                  <a:rPr lang="es-PE" sz="900" b="0" i="0" dirty="0" err="1">
                    <a:solidFill>
                      <a:schemeClr val="tx1"/>
                    </a:solidFill>
                    <a:effectLst/>
                    <a:latin typeface="Segoe WPC"/>
                  </a:rPr>
                  <a:t>trends</a:t>
                </a:r>
                <a:r>
                  <a:rPr lang="es-PE" sz="900" b="0" i="0" dirty="0">
                    <a:solidFill>
                      <a:schemeClr val="tx1"/>
                    </a:solidFill>
                    <a:effectLst/>
                    <a:latin typeface="Segoe WPC"/>
                  </a:rPr>
                  <a:t> </a:t>
                </a:r>
                <a:r>
                  <a:rPr lang="es-PE" sz="900" b="0" i="0" dirty="0" err="1">
                    <a:solidFill>
                      <a:schemeClr val="tx1"/>
                    </a:solidFill>
                    <a:effectLst/>
                    <a:latin typeface="Segoe WPC"/>
                  </a:rPr>
                  <a:t>bend</a:t>
                </a:r>
                <a:r>
                  <a:rPr lang="es-PE" sz="900" b="0" i="0" dirty="0">
                    <a:solidFill>
                      <a:schemeClr val="tx1"/>
                    </a:solidFill>
                    <a:effectLst/>
                    <a:latin typeface="Segoe WPC"/>
                  </a:rPr>
                  <a:t>, and log-linear </a:t>
                </a:r>
                <a:r>
                  <a:rPr lang="es-PE" sz="900" b="0" i="0" dirty="0" err="1">
                    <a:solidFill>
                      <a:schemeClr val="tx1"/>
                    </a:solidFill>
                    <a:effectLst/>
                    <a:latin typeface="Segoe WPC"/>
                  </a:rPr>
                  <a:t>trends</a:t>
                </a:r>
                <a:r>
                  <a:rPr lang="es-PE" sz="900" b="0" i="0" dirty="0">
                    <a:solidFill>
                      <a:schemeClr val="tx1"/>
                    </a:solidFill>
                    <a:effectLst/>
                    <a:latin typeface="Segoe WPC"/>
                  </a:rPr>
                  <a:t> </a:t>
                </a:r>
                <a:r>
                  <a:rPr lang="es-PE" sz="900" b="0" i="0" dirty="0" err="1">
                    <a:solidFill>
                      <a:schemeClr val="tx1"/>
                    </a:solidFill>
                    <a:effectLst/>
                    <a:latin typeface="Segoe WPC"/>
                  </a:rPr>
                  <a:t>fit</a:t>
                </a:r>
                <a:r>
                  <a:rPr lang="es-PE" sz="900" b="0" i="0" dirty="0">
                    <a:solidFill>
                      <a:schemeClr val="tx1"/>
                    </a:solidFill>
                    <a:effectLst/>
                    <a:latin typeface="Segoe WPC"/>
                  </a:rPr>
                  <a:t> </a:t>
                </a:r>
                <a:r>
                  <a:rPr lang="es-PE" sz="900" b="0" i="0" dirty="0" err="1">
                    <a:solidFill>
                      <a:schemeClr val="tx1"/>
                    </a:solidFill>
                    <a:effectLst/>
                    <a:latin typeface="Segoe WPC"/>
                  </a:rPr>
                  <a:t>compounding</a:t>
                </a:r>
                <a:r>
                  <a:rPr lang="es-PE" sz="900" b="0" i="0" dirty="0">
                    <a:solidFill>
                      <a:schemeClr val="tx1"/>
                    </a:solidFill>
                    <a:effectLst/>
                    <a:latin typeface="Segoe WPC"/>
                  </a:rPr>
                  <a:t> </a:t>
                </a:r>
                <a:r>
                  <a:rPr lang="es-PE" sz="900" b="0" i="0" dirty="0" err="1">
                    <a:solidFill>
                      <a:schemeClr val="tx1"/>
                    </a:solidFill>
                    <a:effectLst/>
                    <a:latin typeface="Segoe WPC"/>
                  </a:rPr>
                  <a:t>growth</a:t>
                </a:r>
                <a:r>
                  <a:rPr lang="es-PE" sz="900" b="0" i="0" dirty="0">
                    <a:solidFill>
                      <a:schemeClr val="tx1"/>
                    </a:solidFill>
                    <a:effectLst/>
                    <a:latin typeface="Segoe WPC"/>
                  </a:rPr>
                  <a:t> more </a:t>
                </a:r>
                <a:r>
                  <a:rPr lang="es-PE" sz="900" b="0" i="0" dirty="0" err="1">
                    <a:solidFill>
                      <a:schemeClr val="tx1"/>
                    </a:solidFill>
                    <a:effectLst/>
                    <a:latin typeface="Segoe WPC"/>
                  </a:rPr>
                  <a:t>naturally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Linear </a:t>
                </a:r>
                <a:r>
                  <a:rPr lang="es-PE" sz="900" b="0" i="0" dirty="0" err="1">
                    <a:solidFill>
                      <a:schemeClr val="tx1"/>
                    </a:solidFill>
                    <a:effectLst/>
                    <a:latin typeface="Segoe WPC"/>
                  </a:rPr>
                  <a:t>trend</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1</m:t>
                        </m:r>
                      </m:sub>
                    </m:s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 </a:t>
                </a:r>
                <a:r>
                  <a:rPr lang="es-PE" sz="900" b="0" i="0" dirty="0" err="1">
                    <a:solidFill>
                      <a:schemeClr val="tx1"/>
                    </a:solidFill>
                    <a:effectLst/>
                    <a:latin typeface="Segoe WPC"/>
                  </a:rPr>
                  <a:t>Polynomial</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1</m:t>
                        </m:r>
                      </m:sub>
                    </m:s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2</m:t>
                        </m:r>
                      </m:sub>
                    </m:sSub>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𝑡</m:t>
                        </m:r>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 </a:t>
                </a:r>
                <a:r>
                  <a:rPr lang="es-PE" sz="900" b="0" i="0" dirty="0">
                    <a:solidFill>
                      <a:schemeClr val="tx1"/>
                    </a:solidFill>
                    <a:effectLst/>
                    <a:latin typeface="Segoe WPC"/>
                  </a:rPr>
                  <a:t>Log-linear </a:t>
                </a:r>
                <a:r>
                  <a:rPr lang="es-PE" sz="900" b="0" i="0" dirty="0" err="1">
                    <a:solidFill>
                      <a:schemeClr val="tx1"/>
                    </a:solidFill>
                    <a:effectLst/>
                    <a:latin typeface="Segoe WPC"/>
                  </a:rPr>
                  <a:t>trend</a:t>
                </a:r>
                <a:r>
                  <a:rPr lang="es-PE" sz="900" b="0" i="0" dirty="0">
                    <a:solidFill>
                      <a:schemeClr val="tx1"/>
                    </a:solidFill>
                    <a:effectLst/>
                    <a:latin typeface="Segoe WPC"/>
                  </a:rPr>
                  <a:t>: </a:t>
                </a:r>
                <a14:m>
                  <m:oMath xmlns:m="http://schemas.openxmlformats.org/officeDocument/2006/math">
                    <m:func>
                      <m:funcPr>
                        <m:ctrlPr>
                          <a:rPr lang="ar-AE" sz="900" i="1">
                            <a:solidFill>
                              <a:schemeClr val="tx1"/>
                            </a:solidFill>
                            <a:latin typeface="Cambria Math" panose="02040503050406030204" pitchFamily="18" charset="0"/>
                          </a:rPr>
                        </m:ctrlPr>
                      </m:funcPr>
                      <m:fName>
                        <m:r>
                          <m:rPr>
                            <m:sty m:val="p"/>
                          </m:rPr>
                          <a:rPr lang="es-PE" sz="900">
                            <a:solidFill>
                              <a:schemeClr val="tx1"/>
                            </a:solidFill>
                            <a:latin typeface="Cambria Math" panose="02040503050406030204" pitchFamily="18" charset="0"/>
                          </a:rPr>
                          <m:t>ln</m:t>
                        </m:r>
                      </m:fName>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e>
                    </m:func>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1</m:t>
                        </m:r>
                      </m:sub>
                    </m:s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OLS can </a:t>
                </a:r>
                <a:r>
                  <a:rPr lang="es-PE" sz="900" b="0" i="0" dirty="0" err="1">
                    <a:solidFill>
                      <a:schemeClr val="tx1"/>
                    </a:solidFill>
                    <a:effectLst/>
                    <a:latin typeface="Segoe WPC"/>
                  </a:rPr>
                  <a:t>estimate</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fitted</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time </a:t>
                </a:r>
                <a14:m>
                  <m:oMath xmlns:m="http://schemas.openxmlformats.org/officeDocument/2006/math">
                    <m:r>
                      <a:rPr lang="es-PE" sz="900" i="1">
                        <a:solidFill>
                          <a:schemeClr val="tx1"/>
                        </a:solidFill>
                        <a:latin typeface="Cambria Math" panose="02040503050406030204" pitchFamily="18" charset="0"/>
                      </a:rPr>
                      <m:t>𝑡</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obtained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plugging</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𝑡</m:t>
                    </m:r>
                  </m:oMath>
                </a14:m>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estimated</a:t>
                </a:r>
                <a:r>
                  <a:rPr lang="es-PE" sz="900" b="0" i="0" dirty="0">
                    <a:solidFill>
                      <a:schemeClr val="tx1"/>
                    </a:solidFill>
                    <a:effectLst/>
                    <a:latin typeface="Segoe WPC"/>
                  </a:rPr>
                  <a:t> </a:t>
                </a:r>
                <a:r>
                  <a:rPr lang="es-PE" sz="900" b="0" i="0" dirty="0" err="1">
                    <a:solidFill>
                      <a:schemeClr val="tx1"/>
                    </a:solidFill>
                    <a:effectLst/>
                    <a:latin typeface="Segoe WPC"/>
                  </a:rPr>
                  <a:t>equation</a:t>
                </a:r>
                <a:r>
                  <a:rPr lang="es-PE" sz="900" b="0" i="0" dirty="0">
                    <a:solidFill>
                      <a:schemeClr val="tx1"/>
                    </a:solidFill>
                    <a:effectLst/>
                    <a:latin typeface="Segoe WPC"/>
                  </a:rPr>
                  <a:t>. In log-linear </a:t>
                </a:r>
                <a:r>
                  <a:rPr lang="es-PE" sz="900" b="0" i="0" dirty="0" err="1">
                    <a:solidFill>
                      <a:schemeClr val="tx1"/>
                    </a:solidFill>
                    <a:effectLst/>
                    <a:latin typeface="Segoe WPC"/>
                  </a:rPr>
                  <a:t>models</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approximate</a:t>
                </a:r>
                <a:r>
                  <a:rPr lang="es-PE" sz="900" b="0" i="0" dirty="0">
                    <a:solidFill>
                      <a:schemeClr val="tx1"/>
                    </a:solidFill>
                    <a:effectLst/>
                    <a:latin typeface="Segoe WPC"/>
                  </a:rPr>
                  <a:t> </a:t>
                </a:r>
                <a:r>
                  <a:rPr lang="es-PE" sz="900" b="0" i="0" dirty="0" err="1">
                    <a:solidFill>
                      <a:schemeClr val="tx1"/>
                    </a:solidFill>
                    <a:effectLst/>
                    <a:latin typeface="Segoe WPC"/>
                  </a:rPr>
                  <a:t>constant</a:t>
                </a:r>
                <a:r>
                  <a:rPr lang="es-PE" sz="900" b="0" i="0" dirty="0">
                    <a:solidFill>
                      <a:schemeClr val="tx1"/>
                    </a:solidFill>
                    <a:effectLst/>
                    <a:latin typeface="Segoe WPC"/>
                  </a:rPr>
                  <a:t> </a:t>
                </a:r>
                <a:r>
                  <a:rPr lang="es-PE" sz="900" b="0" i="0" dirty="0" err="1">
                    <a:solidFill>
                      <a:schemeClr val="tx1"/>
                    </a:solidFill>
                    <a:effectLst/>
                    <a:latin typeface="Segoe WPC"/>
                  </a:rPr>
                  <a:t>growth</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High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common</a:t>
                </a:r>
                <a:r>
                  <a:rPr lang="es-PE" sz="900" b="0" i="0" dirty="0">
                    <a:solidFill>
                      <a:schemeClr val="tx1"/>
                    </a:solidFill>
                    <a:effectLst/>
                    <a:latin typeface="Segoe WPC"/>
                  </a:rPr>
                  <a:t> in </a:t>
                </a:r>
                <a:r>
                  <a:rPr lang="es-PE" sz="900" b="0" i="0" dirty="0" err="1">
                    <a:solidFill>
                      <a:schemeClr val="tx1"/>
                    </a:solidFill>
                    <a:effectLst/>
                    <a:latin typeface="Segoe WPC"/>
                  </a:rPr>
                  <a:t>trending</a:t>
                </a:r>
                <a:r>
                  <a:rPr lang="es-PE" sz="900" b="0" i="0" dirty="0">
                    <a:solidFill>
                      <a:schemeClr val="tx1"/>
                    </a:solidFill>
                    <a:effectLst/>
                    <a:latin typeface="Segoe WPC"/>
                  </a:rPr>
                  <a:t> data and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prove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adequate</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a:t>
                </a:r>
                <a:r>
                  <a:rPr lang="es-PE" sz="900" b="0" i="0" dirty="0" err="1">
                    <a:solidFill>
                      <a:schemeClr val="tx1"/>
                    </a:solidFill>
                    <a:effectLst/>
                    <a:latin typeface="Segoe WPC"/>
                  </a:rPr>
                  <a:t>still</a:t>
                </a:r>
                <a:r>
                  <a:rPr lang="es-PE" sz="900" b="0" i="0" dirty="0">
                    <a:solidFill>
                      <a:schemeClr val="tx1"/>
                    </a:solidFill>
                    <a:effectLst/>
                    <a:latin typeface="Segoe WPC"/>
                  </a:rPr>
                  <a:t> </a:t>
                </a:r>
                <a:r>
                  <a:rPr lang="es-PE" sz="900" b="0" i="0" dirty="0" err="1">
                    <a:solidFill>
                      <a:schemeClr val="tx1"/>
                    </a:solidFill>
                    <a:effectLst/>
                    <a:latin typeface="Segoe WPC"/>
                  </a:rPr>
                  <a:t>need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look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white</a:t>
                </a:r>
                <a:r>
                  <a:rPr lang="es-PE" sz="900" b="0" i="0" dirty="0">
                    <a:solidFill>
                      <a:schemeClr val="tx1"/>
                    </a:solidFill>
                    <a:effectLst/>
                    <a:latin typeface="Segoe WPC"/>
                  </a:rPr>
                  <a:t> </a:t>
                </a:r>
                <a:r>
                  <a:rPr lang="es-PE" sz="900" b="0" i="0" dirty="0" err="1">
                    <a:solidFill>
                      <a:schemeClr val="tx1"/>
                    </a:solidFill>
                    <a:effectLst/>
                    <a:latin typeface="Segoe WPC"/>
                  </a:rPr>
                  <a:t>noise</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3. </a:t>
                </a:r>
                <a:r>
                  <a:rPr lang="es-PE" sz="900" b="1" i="0" dirty="0" err="1">
                    <a:solidFill>
                      <a:schemeClr val="tx1"/>
                    </a:solidFill>
                    <a:effectLst/>
                    <a:latin typeface="Segoe WPC"/>
                  </a:rPr>
                  <a:t>Modeling</a:t>
                </a:r>
                <a:r>
                  <a:rPr lang="es-PE" sz="900" b="1" i="0" dirty="0">
                    <a:solidFill>
                      <a:schemeClr val="tx1"/>
                    </a:solidFill>
                    <a:effectLst/>
                    <a:latin typeface="Segoe WPC"/>
                  </a:rPr>
                  <a:t> </a:t>
                </a:r>
                <a:r>
                  <a:rPr lang="es-PE" sz="900" b="1" i="0" dirty="0" err="1">
                    <a:solidFill>
                      <a:schemeClr val="tx1"/>
                    </a:solidFill>
                    <a:effectLst/>
                    <a:latin typeface="Segoe WPC"/>
                  </a:rPr>
                  <a:t>Seasonality</a:t>
                </a:r>
                <a:r>
                  <a:rPr lang="es-PE" sz="900" b="1" i="0" dirty="0">
                    <a:solidFill>
                      <a:schemeClr val="tx1"/>
                    </a:solidFill>
                    <a:effectLst/>
                    <a:latin typeface="Segoe WPC"/>
                  </a:rPr>
                  <a:t> </a:t>
                </a:r>
                <a:r>
                  <a:rPr lang="es-PE" sz="900" b="1" i="0" dirty="0" err="1">
                    <a:solidFill>
                      <a:schemeClr val="tx1"/>
                    </a:solidFill>
                    <a:effectLst/>
                    <a:latin typeface="Segoe WPC"/>
                  </a:rPr>
                  <a:t>with</a:t>
                </a:r>
                <a:r>
                  <a:rPr lang="es-PE" sz="900" b="1" i="0" dirty="0">
                    <a:solidFill>
                      <a:schemeClr val="tx1"/>
                    </a:solidFill>
                    <a:effectLst/>
                    <a:latin typeface="Segoe WPC"/>
                  </a:rPr>
                  <a:t> </a:t>
                </a:r>
                <a:r>
                  <a:rPr lang="es-PE" sz="900" b="1" i="0" dirty="0" err="1">
                    <a:solidFill>
                      <a:schemeClr val="tx1"/>
                    </a:solidFill>
                    <a:effectLst/>
                    <a:latin typeface="Segoe WPC"/>
                  </a:rPr>
                  <a:t>Regression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seasonalities</a:t>
                </a:r>
                <a:r>
                  <a:rPr lang="es-PE" sz="900" b="0" i="0" dirty="0">
                    <a:solidFill>
                      <a:schemeClr val="tx1"/>
                    </a:solidFill>
                    <a:effectLst/>
                    <a:latin typeface="Segoe WPC"/>
                  </a:rPr>
                  <a:t> are </a:t>
                </a:r>
                <a:r>
                  <a:rPr lang="es-PE" sz="900" b="0" i="0" dirty="0" err="1">
                    <a:solidFill>
                      <a:schemeClr val="tx1"/>
                    </a:solidFill>
                    <a:effectLst/>
                    <a:latin typeface="Segoe WPC"/>
                  </a:rPr>
                  <a:t>modeled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dummy</a:t>
                </a:r>
                <a:r>
                  <a:rPr lang="es-PE" sz="900" b="0" i="0" dirty="0">
                    <a:solidFill>
                      <a:schemeClr val="tx1"/>
                    </a:solidFill>
                    <a:effectLst/>
                    <a:latin typeface="Segoe WPC"/>
                  </a:rPr>
                  <a:t> variables.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months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quarters</a:t>
                </a:r>
                <a:r>
                  <a:rPr lang="es-PE" sz="900" b="0" i="0" dirty="0">
                    <a:solidFill>
                      <a:schemeClr val="tx1"/>
                    </a:solidFill>
                    <a:effectLst/>
                    <a:latin typeface="Segoe WPC"/>
                  </a:rPr>
                  <a:t> can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systematically</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series </a:t>
                </a:r>
                <a:r>
                  <a:rPr lang="es-PE" sz="900" b="0" i="0" dirty="0" err="1">
                    <a:solidFill>
                      <a:schemeClr val="tx1"/>
                    </a:solidFill>
                    <a:effectLst/>
                    <a:latin typeface="Segoe WPC"/>
                  </a:rPr>
                  <a:t>repeats</a:t>
                </a:r>
                <a:r>
                  <a:rPr lang="es-PE" sz="900" b="0" i="0" dirty="0">
                    <a:solidFill>
                      <a:schemeClr val="tx1"/>
                    </a:solidFill>
                    <a:effectLst/>
                    <a:latin typeface="Segoe WPC"/>
                  </a:rPr>
                  <a:t> a </a:t>
                </a:r>
                <a:r>
                  <a:rPr lang="es-PE" sz="900" b="0" i="0" dirty="0" err="1">
                    <a:solidFill>
                      <a:schemeClr val="tx1"/>
                    </a:solidFill>
                    <a:effectLst/>
                    <a:latin typeface="Segoe WPC"/>
                  </a:rPr>
                  <a:t>predictable</a:t>
                </a:r>
                <a:r>
                  <a:rPr lang="es-PE" sz="900" b="0" i="0" dirty="0">
                    <a:solidFill>
                      <a:schemeClr val="tx1"/>
                    </a:solidFill>
                    <a:effectLst/>
                    <a:latin typeface="Segoe WPC"/>
                  </a:rPr>
                  <a:t> </a:t>
                </a:r>
                <a:r>
                  <a:rPr lang="es-PE" sz="900" b="0" i="0" dirty="0" err="1">
                    <a:solidFill>
                      <a:schemeClr val="tx1"/>
                    </a:solidFill>
                    <a:effectLst/>
                    <a:latin typeface="Segoe WPC"/>
                  </a:rPr>
                  <a:t>annual</a:t>
                </a:r>
                <a:r>
                  <a:rPr lang="es-PE" sz="900" b="0" i="0" dirty="0">
                    <a:solidFill>
                      <a:schemeClr val="tx1"/>
                    </a:solidFill>
                    <a:effectLst/>
                    <a:latin typeface="Segoe WPC"/>
                  </a:rPr>
                  <a:t> </a:t>
                </a:r>
                <a:r>
                  <a:rPr lang="es-PE" sz="900" b="0" i="0" dirty="0" err="1">
                    <a:solidFill>
                      <a:schemeClr val="tx1"/>
                    </a:solidFill>
                    <a:effectLst/>
                    <a:latin typeface="Segoe WPC"/>
                  </a:rPr>
                  <a:t>pattern</a:t>
                </a:r>
                <a:r>
                  <a:rPr lang="es-PE" sz="900" b="0" i="0" dirty="0">
                    <a:solidFill>
                      <a:schemeClr val="tx1"/>
                    </a:solidFill>
                    <a:effectLst/>
                    <a:latin typeface="Segoe WPC"/>
                  </a:rPr>
                  <a:t>, and </a:t>
                </a:r>
                <a:r>
                  <a:rPr lang="es-PE" sz="900" b="0" i="0" dirty="0" err="1">
                    <a:solidFill>
                      <a:schemeClr val="tx1"/>
                    </a:solidFill>
                    <a:effectLst/>
                    <a:latin typeface="Segoe WPC"/>
                  </a:rPr>
                  <a:t>dummy</a:t>
                </a:r>
                <a:r>
                  <a:rPr lang="es-PE" sz="900" b="0" i="0" dirty="0">
                    <a:solidFill>
                      <a:schemeClr val="tx1"/>
                    </a:solidFill>
                    <a:effectLst/>
                    <a:latin typeface="Segoe WPC"/>
                  </a:rPr>
                  <a:t> variables </a:t>
                </a:r>
                <a:r>
                  <a:rPr lang="es-PE" sz="900" b="0" i="0" dirty="0" err="1">
                    <a:solidFill>
                      <a:schemeClr val="tx1"/>
                    </a:solidFill>
                    <a:effectLst/>
                    <a:latin typeface="Segoe WPC"/>
                  </a:rPr>
                  <a:t>let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mean shift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season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𝛿</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𝛾</m:t>
                        </m:r>
                      </m:e>
                      <m:sub>
                        <m:r>
                          <a:rPr lang="ar-AE" sz="900" i="0">
                            <a:solidFill>
                              <a:schemeClr val="tx1"/>
                            </a:solidFill>
                            <a:latin typeface="Cambria Math" panose="02040503050406030204" pitchFamily="18" charset="0"/>
                          </a:rPr>
                          <m:t>1</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𝐼</m:t>
                        </m:r>
                      </m:e>
                      <m:sub>
                        <m:r>
                          <a:rPr lang="ar-AE" sz="900" i="0">
                            <a:solidFill>
                              <a:schemeClr val="tx1"/>
                            </a:solidFill>
                            <a:latin typeface="Cambria Math" panose="02040503050406030204" pitchFamily="18" charset="0"/>
                          </a:rPr>
                          <m:t>1</m:t>
                        </m:r>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𝛾</m:t>
                        </m:r>
                      </m:e>
                      <m:sub>
                        <m:r>
                          <a:rPr lang="ar-AE" sz="900" i="0">
                            <a:solidFill>
                              <a:schemeClr val="tx1"/>
                            </a:solidFill>
                            <a:latin typeface="Cambria Math" panose="02040503050406030204" pitchFamily="18" charset="0"/>
                          </a:rPr>
                          <m:t>2</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𝐼</m:t>
                        </m:r>
                      </m:e>
                      <m:sub>
                        <m:r>
                          <a:rPr lang="ar-AE" sz="900" i="0">
                            <a:solidFill>
                              <a:schemeClr val="tx1"/>
                            </a:solidFill>
                            <a:latin typeface="Cambria Math" panose="02040503050406030204" pitchFamily="18" charset="0"/>
                          </a:rPr>
                          <m:t>2</m:t>
                        </m:r>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𝛾</m:t>
                        </m:r>
                      </m:e>
                      <m:sub>
                        <m:r>
                          <a:rPr lang="ar-AE" sz="900" i="1">
                            <a:solidFill>
                              <a:schemeClr val="tx1"/>
                            </a:solidFill>
                            <a:latin typeface="Cambria Math" panose="02040503050406030204" pitchFamily="18" charset="0"/>
                          </a:rPr>
                          <m:t>𝑠</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𝐼</m:t>
                        </m:r>
                      </m:e>
                      <m:sub>
                        <m:r>
                          <a:rPr lang="ar-AE" sz="900" i="1">
                            <a:solidFill>
                              <a:schemeClr val="tx1"/>
                            </a:solidFill>
                            <a:latin typeface="Cambria Math" panose="02040503050406030204" pitchFamily="18" charset="0"/>
                          </a:rPr>
                          <m:t>𝑠</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season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omitted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𝛾</m:t>
                        </m:r>
                      </m:e>
                      <m:sub>
                        <m:r>
                          <a:rPr lang="ar-AE" sz="900" i="1">
                            <a:solidFill>
                              <a:schemeClr val="tx1"/>
                            </a:solidFill>
                            <a:latin typeface="Cambria Math" panose="02040503050406030204" pitchFamily="18" charset="0"/>
                          </a:rPr>
                          <m:t>𝑗</m:t>
                        </m:r>
                      </m:sub>
                    </m:sSub>
                  </m:oMath>
                </a14:m>
                <a:r>
                  <a:rPr lang="ar-A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difference</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season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𝑗</m:t>
                    </m:r>
                  </m:oMath>
                </a14:m>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omitted</a:t>
                </a:r>
                <a:r>
                  <a:rPr lang="es-PE" sz="900" b="0" i="0" dirty="0">
                    <a:solidFill>
                      <a:schemeClr val="tx1"/>
                    </a:solidFill>
                    <a:effectLst/>
                    <a:latin typeface="Segoe WPC"/>
                  </a:rPr>
                  <a:t> base </a:t>
                </a:r>
                <a:r>
                  <a:rPr lang="es-PE" sz="900" b="0" i="0" dirty="0" err="1">
                    <a:solidFill>
                      <a:schemeClr val="tx1"/>
                    </a:solidFill>
                    <a:effectLst/>
                    <a:latin typeface="Segoe WPC"/>
                  </a:rPr>
                  <a:t>season</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standard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approach</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seasonality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Avoid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dummy</a:t>
                </a:r>
                <a:r>
                  <a:rPr lang="es-PE" sz="900" b="0" i="0" dirty="0">
                    <a:solidFill>
                      <a:schemeClr val="tx1"/>
                    </a:solidFill>
                    <a:effectLst/>
                    <a:latin typeface="Segoe WPC"/>
                  </a:rPr>
                  <a:t>-variable </a:t>
                </a:r>
                <a:r>
                  <a:rPr lang="es-PE" sz="900" b="0" i="0" dirty="0" err="1">
                    <a:solidFill>
                      <a:schemeClr val="tx1"/>
                    </a:solidFill>
                    <a:effectLst/>
                    <a:latin typeface="Segoe WPC"/>
                  </a:rPr>
                  <a:t>trap</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omitting</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dummy</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intercept</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4. </a:t>
                </a:r>
                <a:r>
                  <a:rPr lang="es-PE" sz="900" b="1" i="0" dirty="0" err="1">
                    <a:solidFill>
                      <a:schemeClr val="tx1"/>
                    </a:solidFill>
                    <a:effectLst/>
                    <a:latin typeface="Segoe WPC"/>
                  </a:rPr>
                  <a:t>Trends</a:t>
                </a:r>
                <a:r>
                  <a:rPr lang="es-PE" sz="900" b="1" i="0" dirty="0">
                    <a:solidFill>
                      <a:schemeClr val="tx1"/>
                    </a:solidFill>
                    <a:effectLst/>
                    <a:latin typeface="Segoe WPC"/>
                  </a:rPr>
                  <a:t>, </a:t>
                </a:r>
                <a:r>
                  <a:rPr lang="es-PE" sz="900" b="1" i="0" dirty="0" err="1">
                    <a:solidFill>
                      <a:schemeClr val="tx1"/>
                    </a:solidFill>
                    <a:effectLst/>
                    <a:latin typeface="Segoe WPC"/>
                  </a:rPr>
                  <a:t>Seasonalities</a:t>
                </a:r>
                <a:r>
                  <a:rPr lang="es-PE" sz="900" b="1" i="0" dirty="0">
                    <a:solidFill>
                      <a:schemeClr val="tx1"/>
                    </a:solidFill>
                    <a:effectLst/>
                    <a:latin typeface="Segoe WPC"/>
                  </a:rPr>
                  <a:t>, and </a:t>
                </a:r>
                <a:r>
                  <a:rPr lang="es-PE" sz="900" b="1" i="0" dirty="0" err="1">
                    <a:solidFill>
                      <a:schemeClr val="tx1"/>
                    </a:solidFill>
                    <a:effectLst/>
                    <a:latin typeface="Segoe WPC"/>
                  </a:rPr>
                  <a:t>Cycles</a:t>
                </a:r>
                <a:r>
                  <a:rPr lang="es-PE" sz="900" b="1" i="0" dirty="0">
                    <a:solidFill>
                      <a:schemeClr val="tx1"/>
                    </a:solidFill>
                    <a:effectLst/>
                    <a:latin typeface="Segoe WPC"/>
                  </a:rPr>
                  <a:t> </a:t>
                </a:r>
                <a:r>
                  <a:rPr lang="es-PE" sz="900" b="1" i="0" dirty="0" err="1">
                    <a:solidFill>
                      <a:schemeClr val="tx1"/>
                    </a:solidFill>
                    <a:effectLst/>
                    <a:latin typeface="Segoe WPC"/>
                  </a:rPr>
                  <a:t>Together</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Real series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need</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components</a:t>
                </a:r>
                <a:r>
                  <a:rPr lang="es-PE" sz="900" b="0" i="0" dirty="0">
                    <a:solidFill>
                      <a:schemeClr val="tx1"/>
                    </a:solidFill>
                    <a:effectLst/>
                    <a:latin typeface="Segoe WPC"/>
                  </a:rPr>
                  <a:t> plus a </a:t>
                </a:r>
                <a:r>
                  <a:rPr lang="es-PE" sz="900" b="0" i="0" dirty="0" err="1">
                    <a:solidFill>
                      <a:schemeClr val="tx1"/>
                    </a:solidFill>
                    <a:effectLst/>
                    <a:latin typeface="Segoe WPC"/>
                  </a:rPr>
                  <a:t>cyclical</a:t>
                </a:r>
                <a:r>
                  <a:rPr lang="es-PE" sz="900" b="0" i="0" dirty="0">
                    <a:solidFill>
                      <a:schemeClr val="tx1"/>
                    </a:solidFill>
                    <a:effectLst/>
                    <a:latin typeface="Segoe WPC"/>
                  </a:rPr>
                  <a:t> ARMA-</a:t>
                </a:r>
                <a:r>
                  <a:rPr lang="es-PE" sz="900" b="0" i="0" dirty="0" err="1">
                    <a:solidFill>
                      <a:schemeClr val="tx1"/>
                    </a:solidFill>
                    <a:effectLst/>
                    <a:latin typeface="Segoe WPC"/>
                  </a:rPr>
                  <a:t>type</a:t>
                </a:r>
                <a:r>
                  <a:rPr lang="es-PE" sz="900" b="0" i="0" dirty="0">
                    <a:solidFill>
                      <a:schemeClr val="tx1"/>
                    </a:solidFill>
                    <a:effectLst/>
                    <a:latin typeface="Segoe WPC"/>
                  </a:rPr>
                  <a:t> </a:t>
                </a:r>
                <a:r>
                  <a:rPr lang="es-PE" sz="900" b="0" i="0" dirty="0" err="1">
                    <a:solidFill>
                      <a:schemeClr val="tx1"/>
                    </a:solidFill>
                    <a:effectLst/>
                    <a:latin typeface="Segoe WPC"/>
                  </a:rPr>
                  <a:t>component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and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dummies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remove</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persistence</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data.</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After </a:t>
                </a:r>
                <a:r>
                  <a:rPr lang="es-PE" sz="900" b="0" i="0" dirty="0" err="1">
                    <a:solidFill>
                      <a:schemeClr val="tx1"/>
                    </a:solidFill>
                    <a:effectLst/>
                    <a:latin typeface="Segoe WPC"/>
                  </a:rPr>
                  <a:t>removing</a:t>
                </a:r>
                <a:r>
                  <a:rPr lang="es-PE" sz="900" b="0" i="0" dirty="0">
                    <a:solidFill>
                      <a:schemeClr val="tx1"/>
                    </a:solidFill>
                    <a:effectLst/>
                    <a:latin typeface="Segoe WPC"/>
                  </a:rPr>
                  <a:t> visible </a:t>
                </a:r>
                <a:r>
                  <a:rPr lang="es-PE" sz="900" b="0" i="0" dirty="0" err="1">
                    <a:solidFill>
                      <a:schemeClr val="tx1"/>
                    </a:solidFill>
                    <a:effectLst/>
                    <a:latin typeface="Segoe WPC"/>
                  </a:rPr>
                  <a:t>trend</a:t>
                </a:r>
                <a:r>
                  <a:rPr lang="es-PE" sz="900" b="0" i="0" dirty="0">
                    <a:solidFill>
                      <a:schemeClr val="tx1"/>
                    </a:solidFill>
                    <a:effectLst/>
                    <a:latin typeface="Segoe WPC"/>
                  </a:rPr>
                  <a:t> and </a:t>
                </a:r>
                <a:r>
                  <a:rPr lang="es-PE" sz="900" b="0" i="0" dirty="0" err="1">
                    <a:solidFill>
                      <a:schemeClr val="tx1"/>
                    </a:solidFill>
                    <a:effectLst/>
                    <a:latin typeface="Segoe WPC"/>
                  </a:rPr>
                  <a:t>seasonality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still</a:t>
                </a:r>
                <a:r>
                  <a:rPr lang="es-PE" sz="900" b="0" i="0" dirty="0">
                    <a:solidFill>
                      <a:schemeClr val="tx1"/>
                    </a:solidFill>
                    <a:effectLst/>
                    <a:latin typeface="Segoe WPC"/>
                  </a:rPr>
                  <a:t> show serial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needs</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AR </a:t>
                </a:r>
                <a:r>
                  <a:rPr lang="es-PE" sz="900" b="0" i="0" dirty="0" err="1">
                    <a:solidFill>
                      <a:schemeClr val="tx1"/>
                    </a:solidFill>
                    <a:effectLst/>
                    <a:latin typeface="Segoe WPC"/>
                  </a:rPr>
                  <a:t>or</a:t>
                </a:r>
                <a:r>
                  <a:rPr lang="es-PE" sz="900" b="0" i="0" dirty="0">
                    <a:solidFill>
                      <a:schemeClr val="tx1"/>
                    </a:solidFill>
                    <a:effectLst/>
                    <a:latin typeface="Segoe WPC"/>
                  </a:rPr>
                  <a:t> MA </a:t>
                </a:r>
                <a:r>
                  <a:rPr lang="es-PE" sz="900" b="0" i="0" dirty="0" err="1">
                    <a:solidFill>
                      <a:schemeClr val="tx1"/>
                    </a:solidFill>
                    <a:effectLst/>
                    <a:latin typeface="Segoe WPC"/>
                  </a:rPr>
                  <a:t>structure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 general </a:t>
                </a:r>
                <a:r>
                  <a:rPr lang="es-PE" sz="900" b="0" i="0" dirty="0" err="1">
                    <a:solidFill>
                      <a:schemeClr val="tx1"/>
                    </a:solidFill>
                    <a:effectLst/>
                    <a:latin typeface="Segoe WPC"/>
                  </a:rPr>
                  <a:t>model</a:t>
                </a:r>
                <a:r>
                  <a:rPr lang="es-PE" sz="900" b="0" i="0" dirty="0">
                    <a:solidFill>
                      <a:schemeClr val="tx1"/>
                    </a:solidFill>
                    <a:effectLst/>
                    <a:latin typeface="Segoe WPC"/>
                  </a:rPr>
                  <a:t> combines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terms</a:t>
                </a:r>
                <a:r>
                  <a:rPr lang="es-PE" sz="900" b="0" i="0" dirty="0">
                    <a:solidFill>
                      <a:schemeClr val="tx1"/>
                    </a:solidFill>
                    <a:effectLst/>
                    <a:latin typeface="Segoe WPC"/>
                  </a:rPr>
                  <a:t> and a </a:t>
                </a:r>
                <a:r>
                  <a:rPr lang="es-PE" sz="900" b="0" i="0" dirty="0" err="1">
                    <a:solidFill>
                      <a:schemeClr val="tx1"/>
                    </a:solidFill>
                    <a:effectLst/>
                    <a:latin typeface="Segoe WPC"/>
                  </a:rPr>
                  <a:t>cyclical</a:t>
                </a:r>
                <a:r>
                  <a:rPr lang="es-PE" sz="900" b="0" i="0" dirty="0">
                    <a:solidFill>
                      <a:schemeClr val="tx1"/>
                    </a:solidFill>
                    <a:effectLst/>
                    <a:latin typeface="Segoe WPC"/>
                  </a:rPr>
                  <a:t> </a:t>
                </a:r>
                <a:r>
                  <a:rPr lang="es-PE" sz="900" b="0" i="0" dirty="0" err="1">
                    <a:solidFill>
                      <a:schemeClr val="tx1"/>
                    </a:solidFill>
                    <a:effectLst/>
                    <a:latin typeface="Segoe WPC"/>
                  </a:rPr>
                  <a:t>component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example</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dummies</a:t>
                </a:r>
                <a:r>
                  <a:rPr lang="es-PE" sz="900" b="0" i="0" dirty="0">
                    <a:solidFill>
                      <a:schemeClr val="tx1"/>
                    </a:solidFill>
                    <a:effectLst/>
                    <a:latin typeface="Segoe WPC"/>
                  </a:rPr>
                  <a:t> + AR </a:t>
                </a:r>
                <a:r>
                  <a:rPr lang="es-PE" sz="900" b="0" i="0" dirty="0" err="1">
                    <a:solidFill>
                      <a:schemeClr val="tx1"/>
                    </a:solidFill>
                    <a:effectLst/>
                    <a:latin typeface="Segoe WPC"/>
                  </a:rPr>
                  <a:t>terms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 series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trend-stationary</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removing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t>
                </a:r>
                <a:r>
                  <a:rPr lang="es-PE" sz="900" b="0" i="0" dirty="0" err="1">
                    <a:solidFill>
                      <a:schemeClr val="tx1"/>
                    </a:solidFill>
                    <a:effectLst/>
                    <a:latin typeface="Segoe WPC"/>
                  </a:rPr>
                  <a:t>leaves</a:t>
                </a:r>
                <a:r>
                  <a:rPr lang="es-PE" sz="900" b="0" i="0" dirty="0">
                    <a:solidFill>
                      <a:schemeClr val="tx1"/>
                    </a:solidFill>
                    <a:effectLst/>
                    <a:latin typeface="Segoe WPC"/>
                  </a:rPr>
                  <a:t> a </a:t>
                </a:r>
                <a:r>
                  <a:rPr lang="es-PE" sz="900" b="0" i="0" dirty="0" err="1">
                    <a:solidFill>
                      <a:schemeClr val="tx1"/>
                    </a:solidFill>
                    <a:effectLst/>
                    <a:latin typeface="Segoe WPC"/>
                  </a:rPr>
                  <a:t>covariance-stationary</a:t>
                </a:r>
                <a:r>
                  <a:rPr lang="es-PE" sz="900" b="0" i="0" dirty="0">
                    <a:solidFill>
                      <a:schemeClr val="tx1"/>
                    </a:solidFill>
                    <a:effectLst/>
                    <a:latin typeface="Segoe WPC"/>
                  </a:rPr>
                  <a:t> residual </a:t>
                </a:r>
                <a:r>
                  <a:rPr lang="es-PE" sz="900" b="0" i="0" dirty="0" err="1">
                    <a:solidFill>
                      <a:schemeClr val="tx1"/>
                    </a:solidFill>
                    <a:effectLst/>
                    <a:latin typeface="Segoe WPC"/>
                  </a:rPr>
                  <a:t>process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Significant</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and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mean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complete; residual </a:t>
                </a:r>
                <a:r>
                  <a:rPr lang="es-PE" sz="900" b="0" i="0" dirty="0" err="1">
                    <a:solidFill>
                      <a:schemeClr val="tx1"/>
                    </a:solidFill>
                    <a:effectLst/>
                    <a:latin typeface="Segoe WPC"/>
                  </a:rPr>
                  <a:t>autocorrelation</a:t>
                </a:r>
                <a:r>
                  <a:rPr lang="es-PE" sz="900" b="0" i="0" dirty="0">
                    <a:solidFill>
                      <a:schemeClr val="tx1"/>
                    </a:solidFill>
                    <a:effectLst/>
                    <a:latin typeface="Segoe WPC"/>
                  </a:rPr>
                  <a:t> </a:t>
                </a:r>
                <a:r>
                  <a:rPr lang="es-PE" sz="900" b="0" i="0" dirty="0" err="1">
                    <a:solidFill>
                      <a:schemeClr val="tx1"/>
                    </a:solidFill>
                    <a:effectLst/>
                    <a:latin typeface="Segoe WPC"/>
                  </a:rPr>
                  <a:t>still</a:t>
                </a:r>
                <a:r>
                  <a:rPr lang="es-PE" sz="900" b="0" i="0" dirty="0">
                    <a:solidFill>
                      <a:schemeClr val="tx1"/>
                    </a:solidFill>
                    <a:effectLst/>
                    <a:latin typeface="Segoe WPC"/>
                  </a:rPr>
                  <a:t> </a:t>
                </a:r>
                <a:r>
                  <a:rPr lang="es-PE" sz="900" b="0" i="0" dirty="0" err="1">
                    <a:solidFill>
                      <a:schemeClr val="tx1"/>
                    </a:solidFill>
                    <a:effectLst/>
                    <a:latin typeface="Segoe WPC"/>
                  </a:rPr>
                  <a:t>signals</a:t>
                </a:r>
                <a:r>
                  <a:rPr lang="es-PE" sz="900" b="0" i="0" dirty="0">
                    <a:solidFill>
                      <a:schemeClr val="tx1"/>
                    </a:solidFill>
                    <a:effectLst/>
                    <a:latin typeface="Segoe WPC"/>
                  </a:rPr>
                  <a:t> </a:t>
                </a:r>
                <a:r>
                  <a:rPr lang="es-PE" sz="900" b="0" i="0" dirty="0" err="1">
                    <a:solidFill>
                      <a:schemeClr val="tx1"/>
                    </a:solidFill>
                    <a:effectLst/>
                    <a:latin typeface="Segoe WPC"/>
                  </a:rPr>
                  <a:t>misspecification</a:t>
                </a:r>
                <a:r>
                  <a:rPr lang="es-PE" sz="900" b="0" i="0" dirty="0">
                    <a:solidFill>
                      <a:schemeClr val="tx1"/>
                    </a:solidFill>
                    <a:effectLst/>
                    <a:latin typeface="Segoe WPC"/>
                  </a:rPr>
                  <a:t>.</a:t>
                </a:r>
              </a:p>
            </p:txBody>
          </p:sp>
        </mc:Choice>
        <mc:Fallback xmlns="">
          <p:sp>
            <p:nvSpPr>
              <p:cNvPr id="15" name="CuadroTexto 14">
                <a:extLst>
                  <a:ext uri="{FF2B5EF4-FFF2-40B4-BE49-F238E27FC236}">
                    <a16:creationId xmlns:a16="http://schemas.microsoft.com/office/drawing/2014/main" id="{E0738D18-A8EE-362C-C074-49A79B37AD65}"/>
                  </a:ext>
                </a:extLst>
              </p:cNvPr>
              <p:cNvSpPr txBox="1">
                <a:spLocks noRot="1" noChangeAspect="1" noMove="1" noResize="1" noEditPoints="1" noAdjustHandles="1" noChangeArrowheads="1" noChangeShapeType="1" noTextEdit="1"/>
              </p:cNvSpPr>
              <p:nvPr/>
            </p:nvSpPr>
            <p:spPr>
              <a:xfrm>
                <a:off x="0" y="491677"/>
                <a:ext cx="6284686" cy="6388095"/>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805ACCDD-367B-B765-45B4-C03E7555FF8C}"/>
                  </a:ext>
                </a:extLst>
              </p:cNvPr>
              <p:cNvSpPr txBox="1"/>
              <p:nvPr/>
            </p:nvSpPr>
            <p:spPr>
              <a:xfrm>
                <a:off x="6096000" y="69200"/>
                <a:ext cx="6190342" cy="3139321"/>
              </a:xfrm>
              <a:prstGeom prst="rect">
                <a:avLst/>
              </a:prstGeom>
              <a:noFill/>
            </p:spPr>
            <p:txBody>
              <a:bodyPr wrap="square">
                <a:spAutoFit/>
              </a:bodyPr>
              <a:lstStyle/>
              <a:p>
                <a:r>
                  <a:rPr lang="es-PE" sz="900" b="1" i="0" dirty="0">
                    <a:solidFill>
                      <a:schemeClr val="tx1"/>
                    </a:solidFill>
                    <a:effectLst/>
                    <a:latin typeface="Segoe WPC"/>
                  </a:rPr>
                  <a:t>5. </a:t>
                </a:r>
                <a:r>
                  <a:rPr lang="es-PE" sz="900" b="1" i="0" dirty="0" err="1">
                    <a:solidFill>
                      <a:schemeClr val="tx1"/>
                    </a:solidFill>
                    <a:effectLst/>
                    <a:latin typeface="Segoe WPC"/>
                  </a:rPr>
                  <a:t>Random</a:t>
                </a:r>
                <a:r>
                  <a:rPr lang="es-PE" sz="900" b="1" i="0" dirty="0">
                    <a:solidFill>
                      <a:schemeClr val="tx1"/>
                    </a:solidFill>
                    <a:effectLst/>
                    <a:latin typeface="Segoe WPC"/>
                  </a:rPr>
                  <a:t> </a:t>
                </a:r>
                <a:r>
                  <a:rPr lang="es-PE" sz="900" b="1" i="0" dirty="0" err="1">
                    <a:solidFill>
                      <a:schemeClr val="tx1"/>
                    </a:solidFill>
                    <a:effectLst/>
                    <a:latin typeface="Segoe WPC"/>
                  </a:rPr>
                  <a:t>Walks</a:t>
                </a:r>
                <a:r>
                  <a:rPr lang="es-PE" sz="900" b="1" i="0" dirty="0">
                    <a:solidFill>
                      <a:schemeClr val="tx1"/>
                    </a:solidFill>
                    <a:effectLst/>
                    <a:latin typeface="Segoe WPC"/>
                  </a:rPr>
                  <a:t>, </a:t>
                </a:r>
                <a:r>
                  <a:rPr lang="es-PE" sz="900" b="1" i="0" dirty="0" err="1">
                    <a:solidFill>
                      <a:schemeClr val="tx1"/>
                    </a:solidFill>
                    <a:effectLst/>
                    <a:latin typeface="Segoe WPC"/>
                  </a:rPr>
                  <a:t>Unit</a:t>
                </a:r>
                <a:r>
                  <a:rPr lang="es-PE" sz="900" b="1" i="0" dirty="0">
                    <a:solidFill>
                      <a:schemeClr val="tx1"/>
                    </a:solidFill>
                    <a:effectLst/>
                    <a:latin typeface="Segoe WPC"/>
                  </a:rPr>
                  <a:t> </a:t>
                </a:r>
                <a:r>
                  <a:rPr lang="es-PE" sz="900" b="1" i="0" dirty="0" err="1">
                    <a:solidFill>
                      <a:schemeClr val="tx1"/>
                    </a:solidFill>
                    <a:effectLst/>
                    <a:latin typeface="Segoe WPC"/>
                  </a:rPr>
                  <a:t>Roots</a:t>
                </a:r>
                <a:r>
                  <a:rPr lang="es-PE" sz="900" b="1" i="0" dirty="0">
                    <a:solidFill>
                      <a:schemeClr val="tx1"/>
                    </a:solidFill>
                    <a:effectLst/>
                    <a:latin typeface="Segoe WPC"/>
                  </a:rPr>
                  <a:t>, and </a:t>
                </a:r>
                <a:r>
                  <a:rPr lang="es-PE" sz="900" b="1" i="0" dirty="0" err="1">
                    <a:solidFill>
                      <a:schemeClr val="tx1"/>
                    </a:solidFill>
                    <a:effectLst/>
                    <a:latin typeface="Segoe WPC"/>
                  </a:rPr>
                  <a:t>Their</a:t>
                </a:r>
                <a:r>
                  <a:rPr lang="es-PE" sz="900" b="1" i="0" dirty="0">
                    <a:solidFill>
                      <a:schemeClr val="tx1"/>
                    </a:solidFill>
                    <a:effectLst/>
                    <a:latin typeface="Segoe WPC"/>
                  </a:rPr>
                  <a:t> </a:t>
                </a:r>
                <a:r>
                  <a:rPr lang="es-PE" sz="900" b="1" i="0" dirty="0" err="1">
                    <a:solidFill>
                      <a:schemeClr val="tx1"/>
                    </a:solidFill>
                    <a:effectLst/>
                    <a:latin typeface="Segoe WPC"/>
                  </a:rPr>
                  <a:t>Problems</a:t>
                </a:r>
                <a:br>
                  <a:rPr lang="es-PE" sz="900" dirty="0">
                    <a:solidFill>
                      <a:schemeClr val="tx1"/>
                    </a:solidFill>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random</a:t>
                </a:r>
                <a:r>
                  <a:rPr lang="es-PE" sz="900" b="0" i="0" dirty="0">
                    <a:solidFill>
                      <a:schemeClr val="tx1"/>
                    </a:solidFill>
                    <a:effectLst/>
                    <a:latin typeface="Segoe WPC"/>
                  </a:rPr>
                  <a:t> </a:t>
                </a:r>
                <a:r>
                  <a:rPr lang="es-PE" sz="900" b="0" i="0" dirty="0" err="1">
                    <a:solidFill>
                      <a:schemeClr val="tx1"/>
                    </a:solidFill>
                    <a:effectLst/>
                    <a:latin typeface="Segoe WPC"/>
                  </a:rPr>
                  <a:t>walk</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basic</a:t>
                </a:r>
                <a:r>
                  <a:rPr lang="es-PE" sz="900" b="0" i="0" dirty="0">
                    <a:solidFill>
                      <a:schemeClr val="tx1"/>
                    </a:solidFill>
                    <a:effectLst/>
                    <a:latin typeface="Segoe WPC"/>
                  </a:rPr>
                  <a:t> </a:t>
                </a:r>
                <a:r>
                  <a:rPr lang="es-PE" sz="900" b="0" i="0" dirty="0" err="1">
                    <a:solidFill>
                      <a:schemeClr val="tx1"/>
                    </a:solidFill>
                    <a:effectLst/>
                    <a:latin typeface="Segoe WPC"/>
                  </a:rPr>
                  <a:t>unit-root</a:t>
                </a:r>
                <a:r>
                  <a:rPr lang="es-PE" sz="900" b="0" i="0" dirty="0">
                    <a:solidFill>
                      <a:schemeClr val="tx1"/>
                    </a:solidFill>
                    <a:effectLst/>
                    <a:latin typeface="Segoe WPC"/>
                  </a:rPr>
                  <a:t> </a:t>
                </a:r>
                <a:r>
                  <a:rPr lang="es-PE" sz="900" b="0" i="0" dirty="0" err="1">
                    <a:solidFill>
                      <a:schemeClr val="tx1"/>
                    </a:solidFill>
                    <a:effectLst/>
                    <a:latin typeface="Segoe WPC"/>
                  </a:rPr>
                  <a:t>process</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example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stochastic</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Shocks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permanent</a:t>
                </a:r>
                <a:r>
                  <a:rPr lang="es-PE" sz="900" b="0" i="0" dirty="0">
                    <a:solidFill>
                      <a:schemeClr val="tx1"/>
                    </a:solidFill>
                    <a:effectLst/>
                    <a:latin typeface="Segoe WPC"/>
                  </a:rPr>
                  <a:t> </a:t>
                </a:r>
                <a:r>
                  <a:rPr lang="es-PE" sz="900" b="0" i="0" dirty="0" err="1">
                    <a:solidFill>
                      <a:schemeClr val="tx1"/>
                    </a:solidFill>
                    <a:effectLst/>
                    <a:latin typeface="Segoe WPC"/>
                  </a:rPr>
                  <a:t>effects</a:t>
                </a:r>
                <a:r>
                  <a:rPr lang="es-PE" sz="900" b="0" i="0" dirty="0">
                    <a:solidFill>
                      <a:schemeClr val="tx1"/>
                    </a:solidFill>
                    <a:effectLst/>
                    <a:latin typeface="Segoe WPC"/>
                  </a:rPr>
                  <a:t>, so </a:t>
                </a:r>
                <a:r>
                  <a:rPr lang="es-PE" sz="900" b="0" i="0" dirty="0" err="1">
                    <a:solidFill>
                      <a:schemeClr val="tx1"/>
                    </a:solidFill>
                    <a:effectLst/>
                    <a:latin typeface="Segoe WPC"/>
                  </a:rPr>
                  <a:t>the</a:t>
                </a:r>
                <a:r>
                  <a:rPr lang="es-PE" sz="900" b="0" i="0" dirty="0">
                    <a:solidFill>
                      <a:schemeClr val="tx1"/>
                    </a:solidFill>
                    <a:effectLst/>
                    <a:latin typeface="Segoe WPC"/>
                  </a:rPr>
                  <a:t> series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mean </a:t>
                </a:r>
                <a:r>
                  <a:rPr lang="es-PE" sz="900" b="0" i="0" dirty="0" err="1">
                    <a:solidFill>
                      <a:schemeClr val="tx1"/>
                    </a:solidFill>
                    <a:effectLst/>
                    <a:latin typeface="Segoe WPC"/>
                  </a:rPr>
                  <a:t>revert</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path</a:t>
                </a:r>
                <a:r>
                  <a:rPr lang="es-PE" sz="900" b="0" i="0" dirty="0">
                    <a:solidFill>
                      <a:schemeClr val="tx1"/>
                    </a:solidFill>
                    <a:effectLst/>
                    <a:latin typeface="Segoe WPC"/>
                  </a:rPr>
                  <a:t> </a:t>
                </a:r>
                <a:r>
                  <a:rPr lang="es-PE" sz="900" b="0" i="0" dirty="0" err="1">
                    <a:solidFill>
                      <a:schemeClr val="tx1"/>
                    </a:solidFill>
                    <a:effectLst/>
                    <a:latin typeface="Segoe WPC"/>
                  </a:rPr>
                  <a:t>drifts</a:t>
                </a:r>
                <a:r>
                  <a:rPr lang="es-PE" sz="900" b="0" i="0" dirty="0">
                    <a:solidFill>
                      <a:schemeClr val="tx1"/>
                    </a:solidFill>
                    <a:effectLst/>
                    <a:latin typeface="Segoe WPC"/>
                  </a:rPr>
                  <a:t> as shocks </a:t>
                </a:r>
                <a:r>
                  <a:rPr lang="es-PE" sz="900" b="0" i="0" dirty="0" err="1">
                    <a:solidFill>
                      <a:schemeClr val="tx1"/>
                    </a:solidFill>
                    <a:effectLst/>
                    <a:latin typeface="Segoe WPC"/>
                  </a:rPr>
                  <a:t>accumulate</a:t>
                </a:r>
                <a:r>
                  <a:rPr lang="es-PE" sz="900" b="0" i="0" dirty="0">
                    <a:solidFill>
                      <a:schemeClr val="tx1"/>
                    </a:solidFill>
                    <a:effectLst/>
                    <a:latin typeface="Segoe WPC"/>
                  </a:rPr>
                  <a:t>,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fluctuating</a:t>
                </a:r>
                <a:r>
                  <a:rPr lang="es-PE" sz="900" b="0" i="0" dirty="0">
                    <a:solidFill>
                      <a:schemeClr val="tx1"/>
                    </a:solidFill>
                    <a:effectLst/>
                    <a:latin typeface="Segoe WPC"/>
                  </a:rPr>
                  <a:t> </a:t>
                </a:r>
                <a:r>
                  <a:rPr lang="es-PE" sz="900" b="0" i="0" dirty="0" err="1">
                    <a:solidFill>
                      <a:schemeClr val="tx1"/>
                    </a:solidFill>
                    <a:effectLst/>
                    <a:latin typeface="Segoe WPC"/>
                  </a:rPr>
                  <a:t>around</a:t>
                </a:r>
                <a:r>
                  <a:rPr lang="es-PE" sz="900" b="0" i="0" dirty="0">
                    <a:solidFill>
                      <a:schemeClr val="tx1"/>
                    </a:solidFill>
                    <a:effectLst/>
                    <a:latin typeface="Segoe WPC"/>
                  </a:rPr>
                  <a:t> a </a:t>
                </a:r>
                <a:r>
                  <a:rPr lang="es-PE" sz="900" b="0" i="0" dirty="0" err="1">
                    <a:solidFill>
                      <a:schemeClr val="tx1"/>
                    </a:solidFill>
                    <a:effectLst/>
                    <a:latin typeface="Segoe WPC"/>
                  </a:rPr>
                  <a:t>stable</a:t>
                </a:r>
                <a:r>
                  <a:rPr lang="es-PE" sz="900" b="0" i="0" dirty="0">
                    <a:solidFill>
                      <a:schemeClr val="tx1"/>
                    </a:solidFill>
                    <a:effectLst/>
                    <a:latin typeface="Segoe WPC"/>
                  </a:rPr>
                  <a:t> mean.</a:t>
                </a:r>
                <a:br>
                  <a:rPr lang="es-PE" sz="900" dirty="0">
                    <a:solidFill>
                      <a:schemeClr val="tx1"/>
                    </a:solidFill>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Random</a:t>
                </a:r>
                <a:r>
                  <a:rPr lang="es-PE" sz="900" b="0" i="0" dirty="0">
                    <a:solidFill>
                      <a:schemeClr val="tx1"/>
                    </a:solidFill>
                    <a:effectLst/>
                    <a:latin typeface="Segoe WPC"/>
                  </a:rPr>
                  <a:t> </a:t>
                </a:r>
                <a:r>
                  <a:rPr lang="es-PE" sz="900" b="0" i="0" dirty="0" err="1">
                    <a:solidFill>
                      <a:schemeClr val="tx1"/>
                    </a:solidFill>
                    <a:effectLst/>
                    <a:latin typeface="Segoe WPC"/>
                  </a:rPr>
                  <a:t>walk</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drift</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𝛿</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 </a:t>
                </a:r>
                <a:r>
                  <a:rPr lang="es-PE" sz="900" b="0" i="0" dirty="0" err="1">
                    <a:solidFill>
                      <a:schemeClr val="tx1"/>
                    </a:solidFill>
                    <a:effectLst/>
                    <a:latin typeface="Segoe WPC"/>
                  </a:rPr>
                  <a:t>Unit-root</a:t>
                </a:r>
                <a:r>
                  <a:rPr lang="es-PE" sz="900" b="0" i="0" dirty="0">
                    <a:solidFill>
                      <a:schemeClr val="tx1"/>
                    </a:solidFill>
                    <a:effectLst/>
                    <a:latin typeface="Segoe WPC"/>
                  </a:rPr>
                  <a:t> </a:t>
                </a:r>
                <a:r>
                  <a:rPr lang="es-PE" sz="900" b="0" i="0" dirty="0" err="1">
                    <a:solidFill>
                      <a:schemeClr val="tx1"/>
                    </a:solidFill>
                    <a:effectLst/>
                    <a:latin typeface="Segoe WPC"/>
                  </a:rPr>
                  <a:t>processes</a:t>
                </a:r>
                <a:r>
                  <a:rPr lang="es-PE" sz="900" b="0" i="0" dirty="0">
                    <a:solidFill>
                      <a:schemeClr val="tx1"/>
                    </a:solidFill>
                    <a:effectLst/>
                    <a:latin typeface="Segoe WPC"/>
                  </a:rPr>
                  <a:t> </a:t>
                </a:r>
                <a:r>
                  <a:rPr lang="es-PE" sz="900" b="0" i="0" dirty="0" err="1">
                    <a:solidFill>
                      <a:schemeClr val="tx1"/>
                    </a:solidFill>
                    <a:effectLst/>
                    <a:latin typeface="Segoe WPC"/>
                  </a:rPr>
                  <a:t>contain</a:t>
                </a:r>
                <a:r>
                  <a:rPr lang="es-PE" sz="900" b="0" i="0" dirty="0">
                    <a:solidFill>
                      <a:schemeClr val="tx1"/>
                    </a:solidFill>
                    <a:effectLst/>
                    <a:latin typeface="Segoe WPC"/>
                  </a:rPr>
                  <a:t> a factor </a:t>
                </a:r>
                <a14:m>
                  <m:oMath xmlns:m="http://schemas.openxmlformats.org/officeDocument/2006/math">
                    <m:d>
                      <m:dPr>
                        <m:ctrlPr>
                          <a:rPr lang="ar-AE" sz="900" i="1">
                            <a:solidFill>
                              <a:schemeClr val="tx1"/>
                            </a:solidFill>
                            <a:latin typeface="Cambria Math" panose="02040503050406030204" pitchFamily="18" charset="0"/>
                          </a:rPr>
                        </m:ctrlPr>
                      </m:dPr>
                      <m:e>
                        <m:r>
                          <a:rPr lang="ar-AE" sz="90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𝐿</m:t>
                        </m:r>
                      </m:e>
                    </m:d>
                  </m:oMath>
                </a14:m>
                <a:r>
                  <a:rPr lang="ar-AE" sz="900" b="0" i="0" dirty="0">
                    <a:solidFill>
                      <a:schemeClr val="tx1"/>
                    </a:solidFill>
                    <a:effectLst/>
                    <a:latin typeface="Segoe WPC"/>
                  </a:rPr>
                  <a:t>.</a:t>
                </a:r>
                <a:br>
                  <a:rPr lang="ar-AE" sz="900" dirty="0">
                    <a:solidFill>
                      <a:schemeClr val="tx1"/>
                    </a:solidFill>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Unit</a:t>
                </a:r>
                <a:r>
                  <a:rPr lang="es-PE" sz="900" b="0" i="0" dirty="0">
                    <a:solidFill>
                      <a:schemeClr val="tx1"/>
                    </a:solidFill>
                    <a:effectLst/>
                    <a:latin typeface="Segoe WPC"/>
                  </a:rPr>
                  <a:t> </a:t>
                </a:r>
                <a:r>
                  <a:rPr lang="es-PE" sz="900" b="0" i="0" dirty="0" err="1">
                    <a:solidFill>
                      <a:schemeClr val="tx1"/>
                    </a:solidFill>
                    <a:effectLst/>
                    <a:latin typeface="Segoe WPC"/>
                  </a:rPr>
                  <a:t>roots</a:t>
                </a:r>
                <a:r>
                  <a:rPr lang="es-PE" sz="900" b="0" i="0" dirty="0">
                    <a:solidFill>
                      <a:schemeClr val="tx1"/>
                    </a:solidFill>
                    <a:effectLst/>
                    <a:latin typeface="Segoe WPC"/>
                  </a:rPr>
                  <a:t> </a:t>
                </a:r>
                <a:r>
                  <a:rPr lang="es-PE" sz="900" b="0" i="0" dirty="0" err="1">
                    <a:solidFill>
                      <a:schemeClr val="tx1"/>
                    </a:solidFill>
                    <a:effectLst/>
                    <a:latin typeface="Segoe WPC"/>
                  </a:rPr>
                  <a:t>create</a:t>
                </a:r>
                <a:r>
                  <a:rPr lang="es-PE" sz="900" b="0" i="0" dirty="0">
                    <a:solidFill>
                      <a:schemeClr val="tx1"/>
                    </a:solidFill>
                    <a:effectLst/>
                    <a:latin typeface="Segoe WPC"/>
                  </a:rPr>
                  <a:t> </a:t>
                </a:r>
                <a:r>
                  <a:rPr lang="es-PE" sz="900" b="0" i="0" dirty="0" err="1">
                    <a:solidFill>
                      <a:schemeClr val="tx1"/>
                    </a:solidFill>
                    <a:effectLst/>
                    <a:latin typeface="Segoe WPC"/>
                  </a:rPr>
                  <a:t>three</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problems</a:t>
                </a:r>
                <a:r>
                  <a:rPr lang="es-PE" sz="900" b="0" i="0" dirty="0">
                    <a:solidFill>
                      <a:schemeClr val="tx1"/>
                    </a:solidFill>
                    <a:effectLst/>
                    <a:latin typeface="Segoe WPC"/>
                  </a:rPr>
                  <a:t>: </a:t>
                </a:r>
                <a:r>
                  <a:rPr lang="es-PE" sz="900" b="0" i="0" dirty="0" err="1">
                    <a:solidFill>
                      <a:schemeClr val="tx1"/>
                    </a:solidFill>
                    <a:effectLst/>
                    <a:latin typeface="Segoe WPC"/>
                  </a:rPr>
                  <a:t>parameter</a:t>
                </a:r>
                <a:r>
                  <a:rPr lang="es-PE" sz="900" b="0" i="0" dirty="0">
                    <a:solidFill>
                      <a:schemeClr val="tx1"/>
                    </a:solidFill>
                    <a:effectLst/>
                    <a:latin typeface="Segoe WPC"/>
                  </a:rPr>
                  <a:t> </a:t>
                </a:r>
                <a:r>
                  <a:rPr lang="es-PE" sz="900" b="0" i="0" dirty="0" err="1">
                    <a:solidFill>
                      <a:schemeClr val="tx1"/>
                    </a:solidFill>
                    <a:effectLst/>
                    <a:latin typeface="Segoe WPC"/>
                  </a:rPr>
                  <a:t>estimates</a:t>
                </a:r>
                <a:r>
                  <a:rPr lang="es-PE" sz="900" b="0" i="0" dirty="0">
                    <a:solidFill>
                      <a:schemeClr val="tx1"/>
                    </a:solidFill>
                    <a:effectLst/>
                    <a:latin typeface="Segoe WPC"/>
                  </a:rPr>
                  <a:t> are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normally</a:t>
                </a:r>
                <a:r>
                  <a:rPr lang="es-PE" sz="900" b="0" i="0" dirty="0">
                    <a:solidFill>
                      <a:schemeClr val="tx1"/>
                    </a:solidFill>
                    <a:effectLst/>
                    <a:latin typeface="Segoe WPC"/>
                  </a:rPr>
                  <a:t> </a:t>
                </a:r>
                <a:r>
                  <a:rPr lang="es-PE" sz="900" b="0" i="0" dirty="0" err="1">
                    <a:solidFill>
                      <a:schemeClr val="tx1"/>
                    </a:solidFill>
                    <a:effectLst/>
                    <a:latin typeface="Segoe WPC"/>
                  </a:rPr>
                  <a:t>distributed</a:t>
                </a:r>
                <a:r>
                  <a:rPr lang="es-PE" sz="900" b="0" i="0" dirty="0">
                    <a:solidFill>
                      <a:schemeClr val="tx1"/>
                    </a:solidFill>
                    <a:effectLst/>
                    <a:latin typeface="Segoe WPC"/>
                  </a:rPr>
                  <a:t>, </a:t>
                </a:r>
                <a:r>
                  <a:rPr lang="es-PE" sz="900" b="0" i="0" dirty="0" err="1">
                    <a:solidFill>
                      <a:schemeClr val="tx1"/>
                    </a:solidFill>
                    <a:effectLst/>
                    <a:latin typeface="Segoe WPC"/>
                  </a:rPr>
                  <a:t>spurious</a:t>
                </a:r>
                <a:r>
                  <a:rPr lang="es-PE" sz="900" b="0" i="0" dirty="0">
                    <a:solidFill>
                      <a:schemeClr val="tx1"/>
                    </a:solidFill>
                    <a:effectLst/>
                    <a:latin typeface="Segoe WPC"/>
                  </a:rPr>
                  <a:t> </a:t>
                </a:r>
                <a:r>
                  <a:rPr lang="es-PE" sz="900" b="0" i="0" dirty="0" err="1">
                    <a:solidFill>
                      <a:schemeClr val="tx1"/>
                    </a:solidFill>
                    <a:effectLst/>
                    <a:latin typeface="Segoe WPC"/>
                  </a:rPr>
                  <a:t>regressions</a:t>
                </a:r>
                <a:r>
                  <a:rPr lang="es-PE" sz="900" b="0" i="0" dirty="0">
                    <a:solidFill>
                      <a:schemeClr val="tx1"/>
                    </a:solidFill>
                    <a:effectLst/>
                    <a:latin typeface="Segoe WPC"/>
                  </a:rPr>
                  <a:t> </a:t>
                </a:r>
                <a:r>
                  <a:rPr lang="es-PE" sz="900" b="0" i="0" dirty="0" err="1">
                    <a:solidFill>
                      <a:schemeClr val="tx1"/>
                    </a:solidFill>
                    <a:effectLst/>
                    <a:latin typeface="Segoe WPC"/>
                  </a:rPr>
                  <a:t>become</a:t>
                </a:r>
                <a:r>
                  <a:rPr lang="es-PE" sz="900" b="0" i="0" dirty="0">
                    <a:solidFill>
                      <a:schemeClr val="tx1"/>
                    </a:solidFill>
                    <a:effectLst/>
                    <a:latin typeface="Segoe WPC"/>
                  </a:rPr>
                  <a:t> </a:t>
                </a:r>
                <a:r>
                  <a:rPr lang="es-PE" sz="900" b="0" i="0" dirty="0" err="1">
                    <a:solidFill>
                      <a:schemeClr val="tx1"/>
                    </a:solidFill>
                    <a:effectLst/>
                    <a:latin typeface="Segoe WPC"/>
                  </a:rPr>
                  <a:t>likely</a:t>
                </a:r>
                <a:r>
                  <a:rPr lang="es-PE" sz="900" b="0" i="0" dirty="0">
                    <a:solidFill>
                      <a:schemeClr val="tx1"/>
                    </a:solidFill>
                    <a:effectLst/>
                    <a:latin typeface="Segoe WPC"/>
                  </a:rPr>
                  <a:t>, and </a:t>
                </a:r>
                <a:r>
                  <a:rPr lang="es-PE" sz="900" b="0" i="0" dirty="0" err="1">
                    <a:solidFill>
                      <a:schemeClr val="tx1"/>
                    </a:solidFill>
                    <a:effectLst/>
                    <a:latin typeface="Segoe WPC"/>
                  </a:rPr>
                  <a:t>long</a:t>
                </a:r>
                <a:r>
                  <a:rPr lang="es-PE" sz="900" b="0" i="0" dirty="0">
                    <a:solidFill>
                      <a:schemeClr val="tx1"/>
                    </a:solidFill>
                    <a:effectLst/>
                    <a:latin typeface="Segoe WPC"/>
                  </a:rPr>
                  <a:t>-run mean </a:t>
                </a:r>
                <a:r>
                  <a:rPr lang="es-PE" sz="900" b="0" i="0" dirty="0" err="1">
                    <a:solidFill>
                      <a:schemeClr val="tx1"/>
                    </a:solidFill>
                    <a:effectLst/>
                    <a:latin typeface="Segoe WPC"/>
                  </a:rPr>
                  <a:t>reversion</a:t>
                </a:r>
                <a:r>
                  <a:rPr lang="es-PE" sz="900" b="0" i="0" dirty="0">
                    <a:solidFill>
                      <a:schemeClr val="tx1"/>
                    </a:solidFill>
                    <a:effectLst/>
                    <a:latin typeface="Segoe WPC"/>
                  </a:rPr>
                  <a:t> </a:t>
                </a:r>
                <a:r>
                  <a:rPr lang="es-PE" sz="900" b="0" i="0" dirty="0" err="1">
                    <a:solidFill>
                      <a:schemeClr val="tx1"/>
                    </a:solidFill>
                    <a:effectLst/>
                    <a:latin typeface="Segoe WPC"/>
                  </a:rPr>
                  <a:t>disappears</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highly</a:t>
                </a:r>
                <a:r>
                  <a:rPr lang="es-PE" sz="900" b="0" i="0" dirty="0">
                    <a:solidFill>
                      <a:schemeClr val="tx1"/>
                    </a:solidFill>
                    <a:effectLst/>
                    <a:latin typeface="Segoe WPC"/>
                  </a:rPr>
                  <a:t> </a:t>
                </a:r>
                <a:r>
                  <a:rPr lang="es-PE" sz="900" b="0" i="0" dirty="0" err="1">
                    <a:solidFill>
                      <a:schemeClr val="tx1"/>
                    </a:solidFill>
                    <a:effectLst/>
                    <a:latin typeface="Segoe WPC"/>
                  </a:rPr>
                  <a:t>persistent</a:t>
                </a:r>
                <a:r>
                  <a:rPr lang="es-PE" sz="900" b="0" i="0" dirty="0">
                    <a:solidFill>
                      <a:schemeClr val="tx1"/>
                    </a:solidFill>
                    <a:effectLst/>
                    <a:latin typeface="Segoe WPC"/>
                  </a:rPr>
                  <a:t> </a:t>
                </a:r>
                <a:r>
                  <a:rPr lang="es-PE" sz="900" b="0" i="0" dirty="0" err="1">
                    <a:solidFill>
                      <a:schemeClr val="tx1"/>
                    </a:solidFill>
                    <a:effectLst/>
                    <a:latin typeface="Segoe WPC"/>
                  </a:rPr>
                  <a:t>stationary</a:t>
                </a:r>
                <a:r>
                  <a:rPr lang="es-PE" sz="900" b="0" i="0" dirty="0">
                    <a:solidFill>
                      <a:schemeClr val="tx1"/>
                    </a:solidFill>
                    <a:effectLst/>
                    <a:latin typeface="Segoe WPC"/>
                  </a:rPr>
                  <a:t> series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as a </a:t>
                </a:r>
                <a:r>
                  <a:rPr lang="es-PE" sz="900" b="0" i="0" dirty="0" err="1">
                    <a:solidFill>
                      <a:schemeClr val="tx1"/>
                    </a:solidFill>
                    <a:effectLst/>
                    <a:latin typeface="Segoe WPC"/>
                  </a:rPr>
                  <a:t>unit-root</a:t>
                </a:r>
                <a:r>
                  <a:rPr lang="es-PE" sz="900" b="0" i="0" dirty="0">
                    <a:solidFill>
                      <a:schemeClr val="tx1"/>
                    </a:solidFill>
                    <a:effectLst/>
                    <a:latin typeface="Segoe WPC"/>
                  </a:rPr>
                  <a:t> series.</a:t>
                </a:r>
              </a:p>
              <a:p>
                <a:endParaRPr lang="es-PE" sz="900" b="1" dirty="0"/>
              </a:p>
              <a:p>
                <a:r>
                  <a:rPr lang="es-PE" sz="900" b="1" dirty="0"/>
                  <a:t>6. </a:t>
                </a:r>
                <a:r>
                  <a:rPr lang="es-PE" sz="900" b="1" dirty="0" err="1"/>
                  <a:t>Differencing</a:t>
                </a:r>
                <a:r>
                  <a:rPr lang="es-PE" sz="900" b="1" dirty="0"/>
                  <a:t> and </a:t>
                </a:r>
                <a:r>
                  <a:rPr lang="es-PE" sz="900" b="1" dirty="0" err="1"/>
                  <a:t>Seasonal</a:t>
                </a:r>
                <a:r>
                  <a:rPr lang="es-PE" sz="900" b="1" dirty="0"/>
                  <a:t> </a:t>
                </a:r>
                <a:r>
                  <a:rPr lang="es-PE" sz="900" b="1" dirty="0" err="1"/>
                  <a:t>Differencing</a:t>
                </a:r>
                <a:br>
                  <a:rPr lang="es-PE" sz="900" dirty="0"/>
                </a:br>
                <a:r>
                  <a:rPr lang="es-PE" sz="900" b="1" dirty="0" err="1"/>
                  <a:t>Statistical</a:t>
                </a:r>
                <a:r>
                  <a:rPr lang="es-PE" sz="900" b="1" dirty="0"/>
                  <a:t> </a:t>
                </a:r>
                <a:r>
                  <a:rPr lang="es-PE" sz="900" b="1" dirty="0" err="1"/>
                  <a:t>Object</a:t>
                </a:r>
                <a:r>
                  <a:rPr lang="es-PE" sz="900" b="1" dirty="0"/>
                  <a:t>:</a:t>
                </a:r>
                <a:r>
                  <a:rPr lang="es-PE" sz="900" dirty="0"/>
                  <a:t> </a:t>
                </a:r>
                <a:r>
                  <a:rPr lang="es-PE" sz="900" dirty="0" err="1"/>
                  <a:t>Differencing</a:t>
                </a:r>
                <a:r>
                  <a:rPr lang="es-PE" sz="900" dirty="0"/>
                  <a:t> </a:t>
                </a:r>
                <a:r>
                  <a:rPr lang="es-PE" sz="900" dirty="0" err="1"/>
                  <a:t>removes</a:t>
                </a:r>
                <a:r>
                  <a:rPr lang="es-PE" sz="900" dirty="0"/>
                  <a:t> </a:t>
                </a:r>
                <a:r>
                  <a:rPr lang="es-PE" sz="900" dirty="0" err="1"/>
                  <a:t>stochastic</a:t>
                </a:r>
                <a:r>
                  <a:rPr lang="es-PE" sz="900" dirty="0"/>
                  <a:t> </a:t>
                </a:r>
                <a:r>
                  <a:rPr lang="es-PE" sz="900" dirty="0" err="1"/>
                  <a:t>trends</a:t>
                </a:r>
                <a:r>
                  <a:rPr lang="es-PE" sz="900" dirty="0"/>
                  <a:t>; </a:t>
                </a:r>
                <a:r>
                  <a:rPr lang="es-PE" sz="900" dirty="0" err="1"/>
                  <a:t>seasonal</a:t>
                </a:r>
                <a:r>
                  <a:rPr lang="es-PE" sz="900" dirty="0"/>
                  <a:t> </a:t>
                </a:r>
                <a:r>
                  <a:rPr lang="es-PE" sz="900" dirty="0" err="1"/>
                  <a:t>differencing</a:t>
                </a:r>
                <a:r>
                  <a:rPr lang="es-PE" sz="900" dirty="0"/>
                  <a:t> </a:t>
                </a:r>
                <a:r>
                  <a:rPr lang="es-PE" sz="900" dirty="0" err="1"/>
                  <a:t>also</a:t>
                </a:r>
                <a:r>
                  <a:rPr lang="es-PE" sz="900" dirty="0"/>
                  <a:t> </a:t>
                </a:r>
                <a:r>
                  <a:rPr lang="es-PE" sz="900" dirty="0" err="1"/>
                  <a:t>removes</a:t>
                </a:r>
                <a:r>
                  <a:rPr lang="es-PE" sz="900" dirty="0"/>
                  <a:t> </a:t>
                </a:r>
                <a:r>
                  <a:rPr lang="es-PE" sz="900" dirty="0" err="1"/>
                  <a:t>annual</a:t>
                </a:r>
                <a:r>
                  <a:rPr lang="es-PE" sz="900" dirty="0"/>
                  <a:t> </a:t>
                </a:r>
                <a:r>
                  <a:rPr lang="es-PE" sz="900" dirty="0" err="1"/>
                  <a:t>seasonal</a:t>
                </a:r>
                <a:r>
                  <a:rPr lang="es-PE" sz="900" dirty="0"/>
                  <a:t> </a:t>
                </a:r>
                <a:r>
                  <a:rPr lang="es-PE" sz="900" dirty="0" err="1"/>
                  <a:t>patterns</a:t>
                </a:r>
                <a:r>
                  <a:rPr lang="es-PE" sz="900" dirty="0"/>
                  <a:t>.</a:t>
                </a:r>
                <a:br>
                  <a:rPr lang="es-PE" sz="900" dirty="0"/>
                </a:br>
                <a:r>
                  <a:rPr lang="es-PE" sz="900" b="1" dirty="0" err="1"/>
                  <a:t>Plain</a:t>
                </a:r>
                <a:r>
                  <a:rPr lang="es-PE" sz="900" b="1" dirty="0"/>
                  <a:t> </a:t>
                </a:r>
                <a:r>
                  <a:rPr lang="es-PE" sz="900" b="1" dirty="0" err="1"/>
                  <a:t>Intuition</a:t>
                </a:r>
                <a:r>
                  <a:rPr lang="es-PE" sz="900" b="1" dirty="0"/>
                  <a:t>:</a:t>
                </a:r>
                <a:r>
                  <a:rPr lang="es-PE" sz="900" dirty="0"/>
                  <a:t> </a:t>
                </a:r>
                <a:r>
                  <a:rPr lang="es-PE" sz="900" dirty="0" err="1"/>
                  <a:t>If</a:t>
                </a:r>
                <a:r>
                  <a:rPr lang="es-PE" sz="900" dirty="0"/>
                  <a:t> </a:t>
                </a:r>
                <a:r>
                  <a:rPr lang="es-PE" sz="900" dirty="0" err="1"/>
                  <a:t>levels</a:t>
                </a:r>
                <a:r>
                  <a:rPr lang="es-PE" sz="900" dirty="0"/>
                  <a:t> are non-</a:t>
                </a:r>
                <a:r>
                  <a:rPr lang="es-PE" sz="900" dirty="0" err="1"/>
                  <a:t>stationary</a:t>
                </a:r>
                <a:r>
                  <a:rPr lang="es-PE" sz="900" dirty="0"/>
                  <a:t>, </a:t>
                </a:r>
                <a:r>
                  <a:rPr lang="es-PE" sz="900" dirty="0" err="1"/>
                  <a:t>model</a:t>
                </a:r>
                <a:r>
                  <a:rPr lang="es-PE" sz="900" dirty="0"/>
                  <a:t> </a:t>
                </a:r>
                <a:r>
                  <a:rPr lang="es-PE" sz="900" dirty="0" err="1"/>
                  <a:t>changes</a:t>
                </a:r>
                <a:r>
                  <a:rPr lang="es-PE" sz="900" dirty="0"/>
                  <a:t> </a:t>
                </a:r>
                <a:r>
                  <a:rPr lang="es-PE" sz="900" dirty="0" err="1"/>
                  <a:t>instead</a:t>
                </a:r>
                <a:r>
                  <a:rPr lang="es-PE" sz="900" dirty="0"/>
                  <a:t> </a:t>
                </a:r>
                <a:r>
                  <a:rPr lang="es-PE" sz="900" dirty="0" err="1"/>
                  <a:t>of</a:t>
                </a:r>
                <a:r>
                  <a:rPr lang="es-PE" sz="900" dirty="0"/>
                  <a:t> </a:t>
                </a:r>
                <a:r>
                  <a:rPr lang="es-PE" sz="900" dirty="0" err="1"/>
                  <a:t>levels</a:t>
                </a:r>
                <a:r>
                  <a:rPr lang="es-PE" sz="900" dirty="0"/>
                  <a:t>.</a:t>
                </a:r>
                <a:br>
                  <a:rPr lang="es-PE" sz="900" dirty="0"/>
                </a:br>
                <a:r>
                  <a:rPr lang="es-PE" sz="900" b="1" dirty="0"/>
                  <a:t>Visual </a:t>
                </a:r>
                <a:r>
                  <a:rPr lang="es-PE" sz="900" b="1" dirty="0" err="1"/>
                  <a:t>Intuition</a:t>
                </a:r>
                <a:r>
                  <a:rPr lang="es-PE" sz="900" b="1" dirty="0"/>
                  <a:t>:</a:t>
                </a:r>
                <a:r>
                  <a:rPr lang="es-PE" sz="900" dirty="0"/>
                  <a:t> </a:t>
                </a:r>
                <a:r>
                  <a:rPr lang="es-PE" sz="900" dirty="0" err="1"/>
                  <a:t>Subtract</a:t>
                </a:r>
                <a:r>
                  <a:rPr lang="es-PE" sz="900" dirty="0"/>
                  <a:t> </a:t>
                </a:r>
                <a:r>
                  <a:rPr lang="es-PE" sz="900" dirty="0" err="1"/>
                  <a:t>the</a:t>
                </a:r>
                <a:r>
                  <a:rPr lang="es-PE" sz="900" dirty="0"/>
                  <a:t> </a:t>
                </a:r>
                <a:r>
                  <a:rPr lang="es-PE" sz="900" dirty="0" err="1"/>
                  <a:t>previous</a:t>
                </a:r>
                <a:r>
                  <a:rPr lang="es-PE" sz="900" dirty="0"/>
                  <a:t> </a:t>
                </a:r>
                <a:r>
                  <a:rPr lang="es-PE" sz="900" dirty="0" err="1"/>
                  <a:t>observation</a:t>
                </a:r>
                <a:r>
                  <a:rPr lang="es-PE" sz="900" dirty="0"/>
                  <a:t>, </a:t>
                </a:r>
                <a:r>
                  <a:rPr lang="es-PE" sz="900" dirty="0" err="1"/>
                  <a:t>or</a:t>
                </a:r>
                <a:r>
                  <a:rPr lang="es-PE" sz="900" dirty="0"/>
                  <a:t> </a:t>
                </a:r>
                <a:r>
                  <a:rPr lang="es-PE" sz="900" dirty="0" err="1"/>
                  <a:t>the</a:t>
                </a:r>
                <a:r>
                  <a:rPr lang="es-PE" sz="900" dirty="0"/>
                  <a:t> </a:t>
                </a:r>
                <a:r>
                  <a:rPr lang="es-PE" sz="900" dirty="0" err="1"/>
                  <a:t>value</a:t>
                </a:r>
                <a:r>
                  <a:rPr lang="es-PE" sz="900" dirty="0"/>
                  <a:t> </a:t>
                </a:r>
                <a:r>
                  <a:rPr lang="es-PE" sz="900" dirty="0" err="1"/>
                  <a:t>from</a:t>
                </a:r>
                <a:r>
                  <a:rPr lang="es-PE" sz="900" dirty="0"/>
                  <a:t> </a:t>
                </a:r>
                <a:r>
                  <a:rPr lang="es-PE" sz="900" dirty="0" err="1"/>
                  <a:t>the</a:t>
                </a:r>
                <a:r>
                  <a:rPr lang="es-PE" sz="900" dirty="0"/>
                  <a:t> </a:t>
                </a:r>
                <a:r>
                  <a:rPr lang="es-PE" sz="900" dirty="0" err="1"/>
                  <a:t>same</a:t>
                </a:r>
                <a:r>
                  <a:rPr lang="es-PE" sz="900" dirty="0"/>
                  <a:t> </a:t>
                </a:r>
                <a:r>
                  <a:rPr lang="es-PE" sz="900" dirty="0" err="1"/>
                  <a:t>season</a:t>
                </a:r>
                <a:r>
                  <a:rPr lang="es-PE" sz="900" dirty="0"/>
                  <a:t> </a:t>
                </a:r>
                <a:r>
                  <a:rPr lang="es-PE" sz="900" dirty="0" err="1"/>
                  <a:t>last</a:t>
                </a:r>
                <a:r>
                  <a:rPr lang="es-PE" sz="900" dirty="0"/>
                  <a:t> </a:t>
                </a:r>
                <a:r>
                  <a:rPr lang="es-PE" sz="900" dirty="0" err="1"/>
                  <a:t>year</a:t>
                </a:r>
                <a:r>
                  <a:rPr lang="es-PE" sz="900" dirty="0"/>
                  <a:t>, </a:t>
                </a:r>
                <a:r>
                  <a:rPr lang="es-PE" sz="900" dirty="0" err="1"/>
                  <a:t>to</a:t>
                </a:r>
                <a:r>
                  <a:rPr lang="es-PE" sz="900" dirty="0"/>
                  <a:t> </a:t>
                </a:r>
                <a:r>
                  <a:rPr lang="es-PE" sz="900" dirty="0" err="1"/>
                  <a:t>eliminate</a:t>
                </a:r>
                <a:r>
                  <a:rPr lang="es-PE" sz="900" dirty="0"/>
                  <a:t> </a:t>
                </a:r>
                <a:r>
                  <a:rPr lang="es-PE" sz="900" dirty="0" err="1"/>
                  <a:t>persistent</a:t>
                </a:r>
                <a:r>
                  <a:rPr lang="es-PE" sz="900" dirty="0"/>
                  <a:t> </a:t>
                </a:r>
                <a:r>
                  <a:rPr lang="es-PE" sz="900" dirty="0" err="1"/>
                  <a:t>trend</a:t>
                </a:r>
                <a:r>
                  <a:rPr lang="es-PE" sz="900" dirty="0"/>
                  <a:t> </a:t>
                </a:r>
                <a:r>
                  <a:rPr lang="es-PE" sz="900" dirty="0" err="1"/>
                  <a:t>components</a:t>
                </a:r>
                <a:r>
                  <a:rPr lang="es-PE" sz="900" dirty="0"/>
                  <a:t>.</a:t>
                </a:r>
                <a:br>
                  <a:rPr lang="es-PE" sz="900" dirty="0"/>
                </a:br>
                <a:r>
                  <a:rPr lang="es-PE" sz="900" b="1" dirty="0"/>
                  <a:t>Key Formula:</a:t>
                </a:r>
                <a:r>
                  <a:rPr lang="es-PE" sz="900" dirty="0"/>
                  <a:t> </a:t>
                </a:r>
                <a:r>
                  <a:rPr lang="es-PE" sz="900" dirty="0" err="1"/>
                  <a:t>First</a:t>
                </a:r>
                <a:r>
                  <a:rPr lang="es-PE" sz="900" dirty="0"/>
                  <a:t> </a:t>
                </a:r>
                <a:r>
                  <a:rPr lang="es-PE" sz="900" dirty="0" err="1"/>
                  <a:t>difference</a:t>
                </a:r>
                <a:r>
                  <a:rPr lang="es-PE" sz="900" dirty="0"/>
                  <a:t>: </a:t>
                </a:r>
                <a14:m>
                  <m:oMath xmlns:m="http://schemas.openxmlformats.org/officeDocument/2006/math">
                    <m:r>
                      <a:rPr lang="es-PE" sz="900" i="1">
                        <a:latin typeface="Cambria Math" panose="02040503050406030204" pitchFamily="18" charset="0"/>
                      </a:rPr>
                      <m:t>𝛥</m:t>
                    </m:r>
                    <m:sSub>
                      <m:sSubPr>
                        <m:ctrlPr>
                          <a:rPr lang="ar-AE" sz="900" i="1">
                            <a:latin typeface="Cambria Math" panose="02040503050406030204" pitchFamily="18" charset="0"/>
                          </a:rPr>
                        </m:ctrlPr>
                      </m:sSubPr>
                      <m:e>
                        <m:r>
                          <a:rPr lang="ar-AE" sz="900" i="1">
                            <a:latin typeface="Cambria Math" panose="02040503050406030204" pitchFamily="18" charset="0"/>
                          </a:rPr>
                          <m:t>𝑌</m:t>
                        </m:r>
                      </m:e>
                      <m:sub>
                        <m:r>
                          <a:rPr lang="ar-AE" sz="900" i="1">
                            <a:latin typeface="Cambria Math" panose="02040503050406030204" pitchFamily="18" charset="0"/>
                          </a:rPr>
                          <m:t>𝑡</m:t>
                        </m:r>
                      </m:sub>
                    </m:sSub>
                    <m:r>
                      <a:rPr lang="ar-AE" sz="900">
                        <a:latin typeface="Cambria Math" panose="02040503050406030204" pitchFamily="18" charset="0"/>
                      </a:rPr>
                      <m:t>=</m:t>
                    </m:r>
                    <m:sSub>
                      <m:sSubPr>
                        <m:ctrlPr>
                          <a:rPr lang="ar-AE" sz="900" i="1">
                            <a:latin typeface="Cambria Math" panose="02040503050406030204" pitchFamily="18" charset="0"/>
                          </a:rPr>
                        </m:ctrlPr>
                      </m:sSubPr>
                      <m:e>
                        <m:r>
                          <a:rPr lang="ar-AE" sz="900" i="1">
                            <a:latin typeface="Cambria Math" panose="02040503050406030204" pitchFamily="18" charset="0"/>
                          </a:rPr>
                          <m:t>𝑌</m:t>
                        </m:r>
                      </m:e>
                      <m:sub>
                        <m:r>
                          <a:rPr lang="ar-AE" sz="900" i="1">
                            <a:latin typeface="Cambria Math" panose="02040503050406030204" pitchFamily="18" charset="0"/>
                          </a:rPr>
                          <m:t>𝑡</m:t>
                        </m:r>
                      </m:sub>
                    </m:sSub>
                    <m:r>
                      <a:rPr lang="ar-AE" sz="900">
                        <a:latin typeface="Cambria Math" panose="02040503050406030204" pitchFamily="18" charset="0"/>
                      </a:rPr>
                      <m:t>−</m:t>
                    </m:r>
                    <m:sSub>
                      <m:sSubPr>
                        <m:ctrlPr>
                          <a:rPr lang="ar-AE" sz="900" i="1">
                            <a:latin typeface="Cambria Math" panose="02040503050406030204" pitchFamily="18" charset="0"/>
                          </a:rPr>
                        </m:ctrlPr>
                      </m:sSubPr>
                      <m:e>
                        <m:r>
                          <a:rPr lang="ar-AE" sz="900" i="1">
                            <a:latin typeface="Cambria Math" panose="02040503050406030204" pitchFamily="18" charset="0"/>
                          </a:rPr>
                          <m:t>𝑌</m:t>
                        </m:r>
                      </m:e>
                      <m:sub>
                        <m:r>
                          <a:rPr lang="ar-AE" sz="900" i="1">
                            <a:latin typeface="Cambria Math" panose="02040503050406030204" pitchFamily="18" charset="0"/>
                          </a:rPr>
                          <m:t>𝑡</m:t>
                        </m:r>
                        <m:r>
                          <a:rPr lang="ar-AE" sz="900">
                            <a:latin typeface="Cambria Math" panose="02040503050406030204" pitchFamily="18" charset="0"/>
                          </a:rPr>
                          <m:t>−</m:t>
                        </m:r>
                        <m:r>
                          <a:rPr lang="ar-AE" sz="900">
                            <a:latin typeface="Cambria Math" panose="02040503050406030204" pitchFamily="18" charset="0"/>
                          </a:rPr>
                          <m:t>1</m:t>
                        </m:r>
                      </m:sub>
                    </m:sSub>
                  </m:oMath>
                </a14:m>
                <a:r>
                  <a:rPr lang="ar-AE" sz="900" dirty="0"/>
                  <a:t>. </a:t>
                </a:r>
                <a:r>
                  <a:rPr lang="es-PE" sz="900" dirty="0" err="1"/>
                  <a:t>Seasonal</a:t>
                </a:r>
                <a:r>
                  <a:rPr lang="es-PE" sz="900" dirty="0"/>
                  <a:t> </a:t>
                </a:r>
                <a:r>
                  <a:rPr lang="es-PE" sz="900" dirty="0" err="1"/>
                  <a:t>difference</a:t>
                </a:r>
                <a:r>
                  <a:rPr lang="es-PE" sz="900" dirty="0"/>
                  <a:t>: </a:t>
                </a:r>
                <a14:m>
                  <m:oMath xmlns:m="http://schemas.openxmlformats.org/officeDocument/2006/math">
                    <m:sSub>
                      <m:sSubPr>
                        <m:ctrlPr>
                          <a:rPr lang="ar-AE" sz="900" i="1">
                            <a:latin typeface="Cambria Math" panose="02040503050406030204" pitchFamily="18" charset="0"/>
                          </a:rPr>
                        </m:ctrlPr>
                      </m:sSubPr>
                      <m:e>
                        <m:r>
                          <a:rPr lang="ar-AE" sz="900" i="1">
                            <a:latin typeface="Cambria Math" panose="02040503050406030204" pitchFamily="18" charset="0"/>
                          </a:rPr>
                          <m:t>𝛥</m:t>
                        </m:r>
                      </m:e>
                      <m:sub>
                        <m:r>
                          <a:rPr lang="ar-AE" sz="900" i="1">
                            <a:latin typeface="Cambria Math" panose="02040503050406030204" pitchFamily="18" charset="0"/>
                          </a:rPr>
                          <m:t>𝑠</m:t>
                        </m:r>
                      </m:sub>
                    </m:sSub>
                    <m:sSub>
                      <m:sSubPr>
                        <m:ctrlPr>
                          <a:rPr lang="ar-AE" sz="900" i="1">
                            <a:latin typeface="Cambria Math" panose="02040503050406030204" pitchFamily="18" charset="0"/>
                          </a:rPr>
                        </m:ctrlPr>
                      </m:sSubPr>
                      <m:e>
                        <m:r>
                          <a:rPr lang="ar-AE" sz="900" i="1">
                            <a:latin typeface="Cambria Math" panose="02040503050406030204" pitchFamily="18" charset="0"/>
                          </a:rPr>
                          <m:t>𝑌</m:t>
                        </m:r>
                      </m:e>
                      <m:sub>
                        <m:r>
                          <a:rPr lang="ar-AE" sz="900" i="1">
                            <a:latin typeface="Cambria Math" panose="02040503050406030204" pitchFamily="18" charset="0"/>
                          </a:rPr>
                          <m:t>𝑡</m:t>
                        </m:r>
                      </m:sub>
                    </m:sSub>
                    <m:r>
                      <a:rPr lang="ar-AE" sz="900">
                        <a:latin typeface="Cambria Math" panose="02040503050406030204" pitchFamily="18" charset="0"/>
                      </a:rPr>
                      <m:t>=</m:t>
                    </m:r>
                    <m:sSub>
                      <m:sSubPr>
                        <m:ctrlPr>
                          <a:rPr lang="ar-AE" sz="900" i="1">
                            <a:latin typeface="Cambria Math" panose="02040503050406030204" pitchFamily="18" charset="0"/>
                          </a:rPr>
                        </m:ctrlPr>
                      </m:sSubPr>
                      <m:e>
                        <m:r>
                          <a:rPr lang="ar-AE" sz="900" i="1">
                            <a:latin typeface="Cambria Math" panose="02040503050406030204" pitchFamily="18" charset="0"/>
                          </a:rPr>
                          <m:t>𝑌</m:t>
                        </m:r>
                      </m:e>
                      <m:sub>
                        <m:r>
                          <a:rPr lang="ar-AE" sz="900" i="1">
                            <a:latin typeface="Cambria Math" panose="02040503050406030204" pitchFamily="18" charset="0"/>
                          </a:rPr>
                          <m:t>𝑡</m:t>
                        </m:r>
                      </m:sub>
                    </m:sSub>
                    <m:r>
                      <a:rPr lang="ar-AE" sz="900">
                        <a:latin typeface="Cambria Math" panose="02040503050406030204" pitchFamily="18" charset="0"/>
                      </a:rPr>
                      <m:t>−</m:t>
                    </m:r>
                    <m:sSub>
                      <m:sSubPr>
                        <m:ctrlPr>
                          <a:rPr lang="ar-AE" sz="900" i="1">
                            <a:latin typeface="Cambria Math" panose="02040503050406030204" pitchFamily="18" charset="0"/>
                          </a:rPr>
                        </m:ctrlPr>
                      </m:sSubPr>
                      <m:e>
                        <m:r>
                          <a:rPr lang="ar-AE" sz="900" i="1">
                            <a:latin typeface="Cambria Math" panose="02040503050406030204" pitchFamily="18" charset="0"/>
                          </a:rPr>
                          <m:t>𝑌</m:t>
                        </m:r>
                      </m:e>
                      <m:sub>
                        <m:r>
                          <a:rPr lang="ar-AE" sz="900" i="1">
                            <a:latin typeface="Cambria Math" panose="02040503050406030204" pitchFamily="18" charset="0"/>
                          </a:rPr>
                          <m:t>𝑡</m:t>
                        </m:r>
                        <m:r>
                          <a:rPr lang="ar-AE" sz="900">
                            <a:latin typeface="Cambria Math" panose="02040503050406030204" pitchFamily="18" charset="0"/>
                          </a:rPr>
                          <m:t>−</m:t>
                        </m:r>
                        <m:r>
                          <a:rPr lang="ar-AE" sz="900" i="1">
                            <a:latin typeface="Cambria Math" panose="02040503050406030204" pitchFamily="18" charset="0"/>
                          </a:rPr>
                          <m:t>𝑠</m:t>
                        </m:r>
                      </m:sub>
                    </m:sSub>
                  </m:oMath>
                </a14:m>
                <a:r>
                  <a:rPr lang="ar-AE" sz="900" dirty="0"/>
                  <a:t>. </a:t>
                </a:r>
                <a:r>
                  <a:rPr lang="es-PE" sz="900" dirty="0" err="1"/>
                  <a:t>If</a:t>
                </a:r>
                <a:r>
                  <a:rPr lang="es-PE" sz="900" dirty="0"/>
                  <a:t> </a:t>
                </a:r>
                <a:r>
                  <a:rPr lang="es-PE" sz="900" dirty="0" err="1"/>
                  <a:t>one</a:t>
                </a:r>
                <a:r>
                  <a:rPr lang="es-PE" sz="900" dirty="0"/>
                  <a:t> </a:t>
                </a:r>
                <a:r>
                  <a:rPr lang="es-PE" sz="900" dirty="0" err="1"/>
                  <a:t>difference</a:t>
                </a:r>
                <a:r>
                  <a:rPr lang="es-PE" sz="900" dirty="0"/>
                  <a:t> </a:t>
                </a:r>
                <a:r>
                  <a:rPr lang="es-PE" sz="900" dirty="0" err="1"/>
                  <a:t>makes</a:t>
                </a:r>
                <a:r>
                  <a:rPr lang="es-PE" sz="900" dirty="0"/>
                  <a:t> </a:t>
                </a:r>
                <a:r>
                  <a:rPr lang="es-PE" sz="900" dirty="0" err="1"/>
                  <a:t>the</a:t>
                </a:r>
                <a:r>
                  <a:rPr lang="es-PE" sz="900" dirty="0"/>
                  <a:t> series </a:t>
                </a:r>
                <a:r>
                  <a:rPr lang="es-PE" sz="900" dirty="0" err="1"/>
                  <a:t>stationary</a:t>
                </a:r>
                <a:r>
                  <a:rPr lang="es-PE" sz="900" dirty="0"/>
                  <a:t>, </a:t>
                </a:r>
                <a:r>
                  <a:rPr lang="es-PE" sz="900" dirty="0" err="1"/>
                  <a:t>the</a:t>
                </a:r>
                <a:r>
                  <a:rPr lang="es-PE" sz="900" dirty="0"/>
                  <a:t> original series </a:t>
                </a:r>
                <a:r>
                  <a:rPr lang="es-PE" sz="900" dirty="0" err="1"/>
                  <a:t>is</a:t>
                </a:r>
                <a:r>
                  <a:rPr lang="es-PE" sz="900" dirty="0"/>
                  <a:t> </a:t>
                </a:r>
                <a14:m>
                  <m:oMath xmlns:m="http://schemas.openxmlformats.org/officeDocument/2006/math">
                    <m:r>
                      <a:rPr lang="es-PE" sz="900" i="1">
                        <a:latin typeface="Cambria Math" panose="02040503050406030204" pitchFamily="18" charset="0"/>
                      </a:rPr>
                      <m:t>𝐼</m:t>
                    </m:r>
                    <m:d>
                      <m:dPr>
                        <m:ctrlPr>
                          <a:rPr lang="ar-AE" sz="900" i="1">
                            <a:latin typeface="Cambria Math" panose="02040503050406030204" pitchFamily="18" charset="0"/>
                          </a:rPr>
                        </m:ctrlPr>
                      </m:dPr>
                      <m:e>
                        <m:r>
                          <a:rPr lang="ar-AE" sz="900">
                            <a:latin typeface="Cambria Math" panose="02040503050406030204" pitchFamily="18" charset="0"/>
                          </a:rPr>
                          <m:t>1</m:t>
                        </m:r>
                      </m:e>
                    </m:d>
                  </m:oMath>
                </a14:m>
                <a:r>
                  <a:rPr lang="ar-AE" sz="900" dirty="0"/>
                  <a:t>.</a:t>
                </a:r>
                <a:br>
                  <a:rPr lang="ar-AE" sz="900" dirty="0"/>
                </a:br>
                <a:r>
                  <a:rPr lang="es-PE" sz="900" b="1" dirty="0" err="1"/>
                  <a:t>Interpretation</a:t>
                </a:r>
                <a:r>
                  <a:rPr lang="es-PE" sz="900" b="1" dirty="0"/>
                  <a:t>:</a:t>
                </a:r>
                <a:r>
                  <a:rPr lang="es-PE" sz="900" dirty="0"/>
                  <a:t> </a:t>
                </a:r>
                <a:r>
                  <a:rPr lang="es-PE" sz="900" dirty="0" err="1"/>
                  <a:t>Differencing</a:t>
                </a:r>
                <a:r>
                  <a:rPr lang="es-PE" sz="900" dirty="0"/>
                  <a:t> </a:t>
                </a:r>
                <a:r>
                  <a:rPr lang="es-PE" sz="900" dirty="0" err="1"/>
                  <a:t>solves</a:t>
                </a:r>
                <a:r>
                  <a:rPr lang="es-PE" sz="900" dirty="0"/>
                  <a:t> </a:t>
                </a:r>
                <a:r>
                  <a:rPr lang="es-PE" sz="900" dirty="0" err="1"/>
                  <a:t>the</a:t>
                </a:r>
                <a:r>
                  <a:rPr lang="es-PE" sz="900" dirty="0"/>
                  <a:t> </a:t>
                </a:r>
                <a:r>
                  <a:rPr lang="es-PE" sz="900" dirty="0" err="1"/>
                  <a:t>unit-root</a:t>
                </a:r>
                <a:r>
                  <a:rPr lang="es-PE" sz="900" dirty="0"/>
                  <a:t> </a:t>
                </a:r>
                <a:r>
                  <a:rPr lang="es-PE" sz="900" dirty="0" err="1"/>
                  <a:t>problem</a:t>
                </a:r>
                <a:r>
                  <a:rPr lang="es-PE" sz="900" dirty="0"/>
                  <a:t>, and </a:t>
                </a:r>
                <a:r>
                  <a:rPr lang="es-PE" sz="900" dirty="0" err="1"/>
                  <a:t>seasonal</a:t>
                </a:r>
                <a:r>
                  <a:rPr lang="es-PE" sz="900" dirty="0"/>
                  <a:t> </a:t>
                </a:r>
                <a:r>
                  <a:rPr lang="es-PE" sz="900" dirty="0" err="1"/>
                  <a:t>differencing</a:t>
                </a:r>
                <a:r>
                  <a:rPr lang="es-PE" sz="900" dirty="0"/>
                  <a:t> can </a:t>
                </a:r>
                <a:r>
                  <a:rPr lang="es-PE" sz="900" dirty="0" err="1"/>
                  <a:t>remove</a:t>
                </a:r>
                <a:r>
                  <a:rPr lang="es-PE" sz="900" dirty="0"/>
                  <a:t> </a:t>
                </a:r>
                <a:r>
                  <a:rPr lang="es-PE" sz="900" dirty="0" err="1"/>
                  <a:t>both</a:t>
                </a:r>
                <a:r>
                  <a:rPr lang="es-PE" sz="900" dirty="0"/>
                  <a:t> </a:t>
                </a:r>
                <a:r>
                  <a:rPr lang="es-PE" sz="900" dirty="0" err="1"/>
                  <a:t>deterministic</a:t>
                </a:r>
                <a:r>
                  <a:rPr lang="es-PE" sz="900" dirty="0"/>
                  <a:t> </a:t>
                </a:r>
                <a:r>
                  <a:rPr lang="es-PE" sz="900" dirty="0" err="1"/>
                  <a:t>seasonality</a:t>
                </a:r>
                <a:r>
                  <a:rPr lang="es-PE" sz="900" dirty="0"/>
                  <a:t> and </a:t>
                </a:r>
                <a:r>
                  <a:rPr lang="es-PE" sz="900" dirty="0" err="1"/>
                  <a:t>seasonal</a:t>
                </a:r>
                <a:r>
                  <a:rPr lang="es-PE" sz="900" dirty="0"/>
                  <a:t> </a:t>
                </a:r>
                <a:r>
                  <a:rPr lang="es-PE" sz="900" dirty="0" err="1"/>
                  <a:t>unit-root</a:t>
                </a:r>
                <a:r>
                  <a:rPr lang="es-PE" sz="900" dirty="0"/>
                  <a:t> </a:t>
                </a:r>
                <a:r>
                  <a:rPr lang="es-PE" sz="900" dirty="0" err="1"/>
                  <a:t>behavior</a:t>
                </a:r>
                <a:r>
                  <a:rPr lang="es-PE" sz="900" dirty="0"/>
                  <a:t>.</a:t>
                </a:r>
                <a:br>
                  <a:rPr lang="es-PE" sz="900" dirty="0"/>
                </a:br>
                <a:r>
                  <a:rPr lang="es-PE" sz="900" b="1" dirty="0" err="1"/>
                  <a:t>Exam</a:t>
                </a:r>
                <a:r>
                  <a:rPr lang="es-PE" sz="900" b="1" dirty="0"/>
                  <a:t> </a:t>
                </a:r>
                <a:r>
                  <a:rPr lang="es-PE" sz="900" b="1" dirty="0" err="1"/>
                  <a:t>Trap</a:t>
                </a:r>
                <a:r>
                  <a:rPr lang="es-PE" sz="900" b="1" dirty="0"/>
                  <a:t>:</a:t>
                </a:r>
                <a:r>
                  <a:rPr lang="es-PE" sz="900" dirty="0"/>
                  <a:t> </a:t>
                </a:r>
                <a:r>
                  <a:rPr lang="es-PE" sz="900" dirty="0" err="1"/>
                  <a:t>Over-differencing</a:t>
                </a:r>
                <a:r>
                  <a:rPr lang="es-PE" sz="900" dirty="0"/>
                  <a:t> a </a:t>
                </a:r>
                <a:r>
                  <a:rPr lang="es-PE" sz="900" dirty="0" err="1"/>
                  <a:t>stationary</a:t>
                </a:r>
                <a:r>
                  <a:rPr lang="es-PE" sz="900" dirty="0"/>
                  <a:t> series </a:t>
                </a:r>
                <a:r>
                  <a:rPr lang="es-PE" sz="900" dirty="0" err="1"/>
                  <a:t>adds</a:t>
                </a:r>
                <a:r>
                  <a:rPr lang="es-PE" sz="900" dirty="0"/>
                  <a:t> </a:t>
                </a:r>
                <a:r>
                  <a:rPr lang="es-PE" sz="900" dirty="0" err="1"/>
                  <a:t>unnecessary</a:t>
                </a:r>
                <a:r>
                  <a:rPr lang="es-PE" sz="900" dirty="0"/>
                  <a:t> MA-</a:t>
                </a:r>
                <a:r>
                  <a:rPr lang="es-PE" sz="900" dirty="0" err="1"/>
                  <a:t>type</a:t>
                </a:r>
                <a:r>
                  <a:rPr lang="es-PE" sz="900" dirty="0"/>
                  <a:t> </a:t>
                </a:r>
                <a:r>
                  <a:rPr lang="es-PE" sz="900" dirty="0" err="1"/>
                  <a:t>complexity</a:t>
                </a:r>
                <a:r>
                  <a:rPr lang="es-PE" sz="900" dirty="0"/>
                  <a:t> and can </a:t>
                </a:r>
                <a:r>
                  <a:rPr lang="es-PE" sz="900" dirty="0" err="1"/>
                  <a:t>worsen</a:t>
                </a:r>
                <a:r>
                  <a:rPr lang="es-PE" sz="900" dirty="0"/>
                  <a:t> </a:t>
                </a:r>
                <a:r>
                  <a:rPr lang="es-PE" sz="900" dirty="0" err="1"/>
                  <a:t>forecasting</a:t>
                </a:r>
                <a:r>
                  <a:rPr lang="es-PE" sz="900" dirty="0"/>
                  <a:t>.</a:t>
                </a:r>
              </a:p>
              <a:p>
                <a:endParaRPr lang="es-PE" sz="900" dirty="0">
                  <a:solidFill>
                    <a:schemeClr val="tx1"/>
                  </a:solidFill>
                </a:endParaRPr>
              </a:p>
            </p:txBody>
          </p:sp>
        </mc:Choice>
        <mc:Fallback xmlns="">
          <p:sp>
            <p:nvSpPr>
              <p:cNvPr id="21" name="CuadroTexto 20">
                <a:extLst>
                  <a:ext uri="{FF2B5EF4-FFF2-40B4-BE49-F238E27FC236}">
                    <a16:creationId xmlns:a16="http://schemas.microsoft.com/office/drawing/2014/main" id="{805ACCDD-367B-B765-45B4-C03E7555FF8C}"/>
                  </a:ext>
                </a:extLst>
              </p:cNvPr>
              <p:cNvSpPr txBox="1">
                <a:spLocks noRot="1" noChangeAspect="1" noMove="1" noResize="1" noEditPoints="1" noAdjustHandles="1" noChangeArrowheads="1" noChangeShapeType="1" noTextEdit="1"/>
              </p:cNvSpPr>
              <p:nvPr/>
            </p:nvSpPr>
            <p:spPr>
              <a:xfrm>
                <a:off x="6096000" y="69200"/>
                <a:ext cx="6190342" cy="3139321"/>
              </a:xfrm>
              <a:prstGeom prst="rect">
                <a:avLst/>
              </a:prstGeom>
              <a:blipFill>
                <a:blip r:embed="rId3"/>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62194C9A-F527-5939-F079-919BB7F11704}"/>
                  </a:ext>
                </a:extLst>
              </p:cNvPr>
              <p:cNvSpPr txBox="1"/>
              <p:nvPr/>
            </p:nvSpPr>
            <p:spPr>
              <a:xfrm>
                <a:off x="6071734" y="3025461"/>
                <a:ext cx="6238874" cy="1349472"/>
              </a:xfrm>
              <a:prstGeom prst="rect">
                <a:avLst/>
              </a:prstGeom>
              <a:noFill/>
            </p:spPr>
            <p:txBody>
              <a:bodyPr wrap="square">
                <a:spAutoFit/>
              </a:bodyPr>
              <a:lstStyle/>
              <a:p>
                <a:r>
                  <a:rPr lang="es-PE" sz="900" b="1" i="0" dirty="0">
                    <a:solidFill>
                      <a:schemeClr val="tx1"/>
                    </a:solidFill>
                    <a:effectLst/>
                    <a:latin typeface="Segoe WPC"/>
                  </a:rPr>
                  <a:t>7. </a:t>
                </a:r>
                <a:r>
                  <a:rPr lang="es-PE" sz="900" b="1" i="0" dirty="0" err="1">
                    <a:solidFill>
                      <a:schemeClr val="tx1"/>
                    </a:solidFill>
                    <a:effectLst/>
                    <a:latin typeface="Segoe WPC"/>
                  </a:rPr>
                  <a:t>Testing</a:t>
                </a:r>
                <a:r>
                  <a:rPr lang="es-PE" sz="900" b="1" i="0" dirty="0">
                    <a:solidFill>
                      <a:schemeClr val="tx1"/>
                    </a:solidFill>
                    <a:effectLst/>
                    <a:latin typeface="Segoe WPC"/>
                  </a:rPr>
                  <a:t> </a:t>
                </a:r>
                <a:r>
                  <a:rPr lang="es-PE" sz="900" b="1" i="0" dirty="0" err="1">
                    <a:solidFill>
                      <a:schemeClr val="tx1"/>
                    </a:solidFill>
                    <a:effectLst/>
                    <a:latin typeface="Segoe WPC"/>
                  </a:rPr>
                  <a:t>for</a:t>
                </a:r>
                <a:r>
                  <a:rPr lang="es-PE" sz="900" b="1" i="0" dirty="0">
                    <a:solidFill>
                      <a:schemeClr val="tx1"/>
                    </a:solidFill>
                    <a:effectLst/>
                    <a:latin typeface="Segoe WPC"/>
                  </a:rPr>
                  <a:t> </a:t>
                </a:r>
                <a:r>
                  <a:rPr lang="es-PE" sz="900" b="1" i="0" dirty="0" err="1">
                    <a:solidFill>
                      <a:schemeClr val="tx1"/>
                    </a:solidFill>
                    <a:effectLst/>
                    <a:latin typeface="Segoe WPC"/>
                  </a:rPr>
                  <a:t>Unit</a:t>
                </a:r>
                <a:r>
                  <a:rPr lang="es-PE" sz="900" b="1" i="0" dirty="0">
                    <a:solidFill>
                      <a:schemeClr val="tx1"/>
                    </a:solidFill>
                    <a:effectLst/>
                    <a:latin typeface="Segoe WPC"/>
                  </a:rPr>
                  <a:t> </a:t>
                </a:r>
                <a:r>
                  <a:rPr lang="es-PE" sz="900" b="1" i="0" dirty="0" err="1">
                    <a:solidFill>
                      <a:schemeClr val="tx1"/>
                    </a:solidFill>
                    <a:effectLst/>
                    <a:latin typeface="Segoe WPC"/>
                  </a:rPr>
                  <a:t>Roots</a:t>
                </a:r>
                <a:br>
                  <a:rPr lang="es-PE" sz="900" dirty="0">
                    <a:solidFill>
                      <a:schemeClr val="tx1"/>
                    </a:solidFill>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Augmented</a:t>
                </a:r>
                <a:r>
                  <a:rPr lang="es-PE" sz="900" b="0" i="0" dirty="0">
                    <a:solidFill>
                      <a:schemeClr val="tx1"/>
                    </a:solidFill>
                    <a:effectLst/>
                    <a:latin typeface="Segoe WPC"/>
                  </a:rPr>
                  <a:t> </a:t>
                </a:r>
                <a:r>
                  <a:rPr lang="es-PE" sz="900" b="0" i="0" dirty="0" err="1">
                    <a:solidFill>
                      <a:schemeClr val="tx1"/>
                    </a:solidFill>
                    <a:effectLst/>
                    <a:latin typeface="Segoe WPC"/>
                  </a:rPr>
                  <a:t>Dickey</a:t>
                </a:r>
                <a:r>
                  <a:rPr lang="es-PE" sz="900" b="0" i="0" dirty="0">
                    <a:solidFill>
                      <a:schemeClr val="tx1"/>
                    </a:solidFill>
                    <a:effectLst/>
                    <a:latin typeface="Segoe WPC"/>
                  </a:rPr>
                  <a:t>-Fuller test </a:t>
                </a:r>
                <a:r>
                  <a:rPr lang="es-PE" sz="900" b="0" i="0" dirty="0" err="1">
                    <a:solidFill>
                      <a:schemeClr val="tx1"/>
                    </a:solidFill>
                    <a:effectLst/>
                    <a:latin typeface="Segoe WPC"/>
                  </a:rPr>
                  <a:t>checks</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 series </a:t>
                </a:r>
                <a:r>
                  <a:rPr lang="es-PE" sz="900" b="0" i="0" dirty="0" err="1">
                    <a:solidFill>
                      <a:schemeClr val="tx1"/>
                    </a:solidFill>
                    <a:effectLst/>
                    <a:latin typeface="Segoe WPC"/>
                  </a:rPr>
                  <a:t>contains</a:t>
                </a:r>
                <a:r>
                  <a:rPr lang="es-PE" sz="900" b="0" i="0" dirty="0">
                    <a:solidFill>
                      <a:schemeClr val="tx1"/>
                    </a:solidFill>
                    <a:effectLst/>
                    <a:latin typeface="Segoe WPC"/>
                  </a:rPr>
                  <a:t> a </a:t>
                </a:r>
                <a:r>
                  <a:rPr lang="es-PE" sz="900" b="0" i="0" dirty="0" err="1">
                    <a:solidFill>
                      <a:schemeClr val="tx1"/>
                    </a:solidFill>
                    <a:effectLst/>
                    <a:latin typeface="Segoe WPC"/>
                  </a:rPr>
                  <a:t>unit</a:t>
                </a:r>
                <a:r>
                  <a:rPr lang="es-PE" sz="900" b="0" i="0" dirty="0">
                    <a:solidFill>
                      <a:schemeClr val="tx1"/>
                    </a:solidFill>
                    <a:effectLst/>
                    <a:latin typeface="Segoe WPC"/>
                  </a:rPr>
                  <a:t> </a:t>
                </a:r>
                <a:r>
                  <a:rPr lang="es-PE" sz="900" b="0" i="0" dirty="0" err="1">
                    <a:solidFill>
                      <a:schemeClr val="tx1"/>
                    </a:solidFill>
                    <a:effectLst/>
                    <a:latin typeface="Segoe WPC"/>
                  </a:rPr>
                  <a:t>root</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tests</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series </a:t>
                </a:r>
                <a:r>
                  <a:rPr lang="es-PE" sz="900" b="0" i="0" dirty="0" err="1">
                    <a:solidFill>
                      <a:schemeClr val="tx1"/>
                    </a:solidFill>
                    <a:effectLst/>
                    <a:latin typeface="Segoe WPC"/>
                  </a:rPr>
                  <a:t>behaves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 </a:t>
                </a:r>
                <a:r>
                  <a:rPr lang="es-PE" sz="900" b="0" i="0" dirty="0" err="1">
                    <a:solidFill>
                      <a:schemeClr val="tx1"/>
                    </a:solidFill>
                    <a:effectLst/>
                    <a:latin typeface="Segoe WPC"/>
                  </a:rPr>
                  <a:t>random</a:t>
                </a:r>
                <a:r>
                  <a:rPr lang="es-PE" sz="900" b="0" i="0" dirty="0">
                    <a:solidFill>
                      <a:schemeClr val="tx1"/>
                    </a:solidFill>
                    <a:effectLst/>
                    <a:latin typeface="Segoe WPC"/>
                  </a:rPr>
                  <a:t> </a:t>
                </a:r>
                <a:r>
                  <a:rPr lang="es-PE" sz="900" b="0" i="0" dirty="0" err="1">
                    <a:solidFill>
                      <a:schemeClr val="tx1"/>
                    </a:solidFill>
                    <a:effectLst/>
                    <a:latin typeface="Segoe WPC"/>
                  </a:rPr>
                  <a:t>walk</a:t>
                </a:r>
                <a:r>
                  <a:rPr lang="es-PE" sz="900" b="0" i="0" dirty="0">
                    <a:solidFill>
                      <a:schemeClr val="tx1"/>
                    </a:solidFill>
                    <a:effectLst/>
                    <a:latin typeface="Segoe WPC"/>
                  </a:rPr>
                  <a:t>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 </a:t>
                </a:r>
                <a:r>
                  <a:rPr lang="es-PE" sz="900" b="0" i="0" dirty="0" err="1">
                    <a:solidFill>
                      <a:schemeClr val="tx1"/>
                    </a:solidFill>
                    <a:effectLst/>
                    <a:latin typeface="Segoe WPC"/>
                  </a:rPr>
                  <a:t>stationary</a:t>
                </a:r>
                <a:r>
                  <a:rPr lang="es-PE" sz="900" b="0" i="0" dirty="0">
                    <a:solidFill>
                      <a:schemeClr val="tx1"/>
                    </a:solidFill>
                    <a:effectLst/>
                    <a:latin typeface="Segoe WPC"/>
                  </a:rPr>
                  <a:t> </a:t>
                </a:r>
                <a:r>
                  <a:rPr lang="es-PE" sz="900" b="0" i="0" dirty="0" err="1">
                    <a:solidFill>
                      <a:schemeClr val="tx1"/>
                    </a:solidFill>
                    <a:effectLst/>
                    <a:latin typeface="Segoe WPC"/>
                  </a:rPr>
                  <a:t>process</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Regress</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series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lagged</a:t>
                </a:r>
                <a:r>
                  <a:rPr lang="es-PE" sz="900" b="0" i="0" dirty="0">
                    <a:solidFill>
                      <a:schemeClr val="tx1"/>
                    </a:solidFill>
                    <a:effectLst/>
                    <a:latin typeface="Segoe WPC"/>
                  </a:rPr>
                  <a:t> </a:t>
                </a:r>
                <a:r>
                  <a:rPr lang="es-PE" sz="900" b="0" i="0" dirty="0" err="1">
                    <a:solidFill>
                      <a:schemeClr val="tx1"/>
                    </a:solidFill>
                    <a:effectLst/>
                    <a:latin typeface="Segoe WPC"/>
                  </a:rPr>
                  <a:t>level</a:t>
                </a:r>
                <a:r>
                  <a:rPr lang="es-PE" sz="900" b="0" i="0" dirty="0">
                    <a:solidFill>
                      <a:schemeClr val="tx1"/>
                    </a:solidFill>
                    <a:effectLst/>
                    <a:latin typeface="Segoe WPC"/>
                  </a:rPr>
                  <a:t> and </a:t>
                </a:r>
                <a:r>
                  <a:rPr lang="es-PE" sz="900" b="0" i="0" dirty="0" err="1">
                    <a:solidFill>
                      <a:schemeClr val="tx1"/>
                    </a:solidFill>
                    <a:effectLst/>
                    <a:latin typeface="Segoe WPC"/>
                  </a:rPr>
                  <a:t>see</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process</a:t>
                </a:r>
                <a:r>
                  <a:rPr lang="es-PE" sz="900" b="0" i="0" dirty="0">
                    <a:solidFill>
                      <a:schemeClr val="tx1"/>
                    </a:solidFill>
                    <a:effectLst/>
                    <a:latin typeface="Segoe WPC"/>
                  </a:rPr>
                  <a:t> </a:t>
                </a:r>
                <a:r>
                  <a:rPr lang="es-PE" sz="900" b="0" i="0" dirty="0" err="1">
                    <a:solidFill>
                      <a:schemeClr val="tx1"/>
                    </a:solidFill>
                    <a:effectLst/>
                    <a:latin typeface="Segoe WPC"/>
                  </a:rPr>
                  <a:t>pulls</a:t>
                </a:r>
                <a:r>
                  <a:rPr lang="es-PE" sz="900" b="0" i="0" dirty="0">
                    <a:solidFill>
                      <a:schemeClr val="tx1"/>
                    </a:solidFill>
                    <a:effectLst/>
                    <a:latin typeface="Segoe WPC"/>
                  </a:rPr>
                  <a:t> back </a:t>
                </a:r>
                <a:r>
                  <a:rPr lang="es-PE" sz="900" b="0" i="0" dirty="0" err="1">
                    <a:solidFill>
                      <a:schemeClr val="tx1"/>
                    </a:solidFill>
                    <a:effectLst/>
                    <a:latin typeface="Segoe WPC"/>
                  </a:rPr>
                  <a:t>strongly</a:t>
                </a:r>
                <a:r>
                  <a:rPr lang="es-PE" sz="900" b="0" i="0" dirty="0">
                    <a:solidFill>
                      <a:schemeClr val="tx1"/>
                    </a:solidFill>
                    <a:effectLst/>
                    <a:latin typeface="Segoe WPC"/>
                  </a:rPr>
                  <a:t> </a:t>
                </a:r>
                <a:r>
                  <a:rPr lang="es-PE" sz="900" b="0" i="0" dirty="0" err="1">
                    <a:solidFill>
                      <a:schemeClr val="tx1"/>
                    </a:solidFill>
                    <a:effectLst/>
                    <a:latin typeface="Segoe WPC"/>
                  </a:rPr>
                  <a:t>enough</a:t>
                </a:r>
                <a:r>
                  <a:rPr lang="es-PE" sz="900" b="0" i="0" dirty="0">
                    <a:solidFill>
                      <a:schemeClr val="tx1"/>
                    </a:solidFill>
                    <a:effectLst/>
                    <a:latin typeface="Segoe WPC"/>
                  </a:rPr>
                  <a:t> </a:t>
                </a:r>
                <a:r>
                  <a:rPr lang="es-PE" sz="900" b="0" i="0" dirty="0" err="1">
                    <a:solidFill>
                      <a:schemeClr val="tx1"/>
                    </a:solidFill>
                    <a:effectLst/>
                    <a:latin typeface="Segoe WPC"/>
                  </a:rPr>
                  <a:t>toward</a:t>
                </a:r>
                <a:r>
                  <a:rPr lang="es-PE" sz="900" b="0" i="0" dirty="0">
                    <a:solidFill>
                      <a:schemeClr val="tx1"/>
                    </a:solidFill>
                    <a:effectLst/>
                    <a:latin typeface="Segoe WPC"/>
                  </a:rPr>
                  <a:t> a </a:t>
                </a:r>
                <a:r>
                  <a:rPr lang="es-PE" sz="900" b="0" i="0" dirty="0" err="1">
                    <a:solidFill>
                      <a:schemeClr val="tx1"/>
                    </a:solidFill>
                    <a:effectLst/>
                    <a:latin typeface="Segoe WPC"/>
                  </a:rPr>
                  <a:t>stable</a:t>
                </a:r>
                <a:r>
                  <a:rPr lang="es-PE" sz="900" b="0" i="0" dirty="0">
                    <a:solidFill>
                      <a:schemeClr val="tx1"/>
                    </a:solidFill>
                    <a:effectLst/>
                    <a:latin typeface="Segoe WPC"/>
                  </a:rPr>
                  <a:t> </a:t>
                </a:r>
                <a:r>
                  <a:rPr lang="es-PE" sz="900" b="0" i="0" dirty="0" err="1">
                    <a:solidFill>
                      <a:schemeClr val="tx1"/>
                    </a:solidFill>
                    <a:effectLst/>
                    <a:latin typeface="Segoe WPC"/>
                  </a:rPr>
                  <a:t>level</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𝛥</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1</m:t>
                        </m:r>
                      </m:sub>
                    </m:s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𝛾</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𝜙</m:t>
                        </m:r>
                      </m:e>
                      <m:sub>
                        <m:r>
                          <a:rPr lang="ar-AE" sz="900" i="0">
                            <a:solidFill>
                              <a:schemeClr val="tx1"/>
                            </a:solidFill>
                            <a:latin typeface="Cambria Math" panose="02040503050406030204" pitchFamily="18" charset="0"/>
                          </a:rPr>
                          <m:t>1</m:t>
                        </m:r>
                      </m:sub>
                    </m:sSub>
                    <m:r>
                      <a:rPr lang="ar-AE" sz="900" i="1">
                        <a:solidFill>
                          <a:schemeClr val="tx1"/>
                        </a:solidFill>
                        <a:latin typeface="Cambria Math" panose="02040503050406030204" pitchFamily="18" charset="0"/>
                      </a:rPr>
                      <m:t>𝛥</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𝜙</m:t>
                        </m:r>
                      </m:e>
                      <m:sub>
                        <m:r>
                          <a:rPr lang="ar-AE" sz="900" i="1">
                            <a:solidFill>
                              <a:schemeClr val="tx1"/>
                            </a:solidFill>
                            <a:latin typeface="Cambria Math" panose="02040503050406030204" pitchFamily="18" charset="0"/>
                          </a:rPr>
                          <m:t>𝑝</m:t>
                        </m:r>
                      </m:sub>
                    </m:sSub>
                    <m:r>
                      <a:rPr lang="ar-AE" sz="900" i="1">
                        <a:solidFill>
                          <a:schemeClr val="tx1"/>
                        </a:solidFill>
                        <a:latin typeface="Cambria Math" panose="02040503050406030204" pitchFamily="18" charset="0"/>
                      </a:rPr>
                      <m:t>𝛥</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𝛾</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 </a:t>
                </a:r>
                <a:r>
                  <a:rPr lang="es-PE" sz="900" b="0" i="0" dirty="0">
                    <a:solidFill>
                      <a:schemeClr val="tx1"/>
                    </a:solidFill>
                    <a:effectLst/>
                    <a:latin typeface="Segoe WPC"/>
                  </a:rPr>
                  <a:t>and alternative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𝛾</m:t>
                    </m:r>
                    <m:r>
                      <a:rPr lang="ar-AE" sz="900" i="0">
                        <a:solidFill>
                          <a:schemeClr val="tx1"/>
                        </a:solidFill>
                        <a:latin typeface="Cambria Math" panose="02040503050406030204" pitchFamily="18" charset="0"/>
                      </a:rPr>
                      <m:t>&lt;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a:t>
                </a:r>
                <a:br>
                  <a:rPr lang="ar-AE" sz="900" dirty="0">
                    <a:solidFill>
                      <a:schemeClr val="tx1"/>
                    </a:solidFill>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Lagged</a:t>
                </a:r>
                <a:r>
                  <a:rPr lang="es-PE" sz="900" b="0" i="0" dirty="0">
                    <a:solidFill>
                      <a:schemeClr val="tx1"/>
                    </a:solidFill>
                    <a:effectLst/>
                    <a:latin typeface="Segoe WPC"/>
                  </a:rPr>
                  <a:t> </a:t>
                </a:r>
                <a:r>
                  <a:rPr lang="es-PE" sz="900" b="0" i="0" dirty="0" err="1">
                    <a:solidFill>
                      <a:schemeClr val="tx1"/>
                    </a:solidFill>
                    <a:effectLst/>
                    <a:latin typeface="Segoe WPC"/>
                  </a:rPr>
                  <a:t>differences</a:t>
                </a:r>
                <a:r>
                  <a:rPr lang="es-PE" sz="900" b="0" i="0" dirty="0">
                    <a:solidFill>
                      <a:schemeClr val="tx1"/>
                    </a:solidFill>
                    <a:effectLst/>
                    <a:latin typeface="Segoe WPC"/>
                  </a:rPr>
                  <a:t> are </a:t>
                </a:r>
                <a:r>
                  <a:rPr lang="es-PE" sz="900" b="0" i="0" dirty="0" err="1">
                    <a:solidFill>
                      <a:schemeClr val="tx1"/>
                    </a:solidFill>
                    <a:effectLst/>
                    <a:latin typeface="Segoe WPC"/>
                  </a:rPr>
                  <a:t>added</a:t>
                </a:r>
                <a:r>
                  <a:rPr lang="es-PE" sz="900" b="0" i="0" dirty="0">
                    <a:solidFill>
                      <a:schemeClr val="tx1"/>
                    </a:solidFill>
                    <a:effectLst/>
                    <a:latin typeface="Segoe WPC"/>
                  </a:rPr>
                  <a:t> so </a:t>
                </a:r>
                <a:r>
                  <a:rPr lang="es-PE" sz="900" b="0" i="0" dirty="0" err="1">
                    <a:solidFill>
                      <a:schemeClr val="tx1"/>
                    </a:solidFill>
                    <a:effectLst/>
                    <a:latin typeface="Segoe WPC"/>
                  </a:rPr>
                  <a:t>residuals</a:t>
                </a:r>
                <a:r>
                  <a:rPr lang="es-PE" sz="900" b="0" i="0" dirty="0">
                    <a:solidFill>
                      <a:schemeClr val="tx1"/>
                    </a:solidFill>
                    <a:effectLst/>
                    <a:latin typeface="Segoe WPC"/>
                  </a:rPr>
                  <a:t> look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white</a:t>
                </a:r>
                <a:r>
                  <a:rPr lang="es-PE" sz="900" b="0" i="0" dirty="0">
                    <a:solidFill>
                      <a:schemeClr val="tx1"/>
                    </a:solidFill>
                    <a:effectLst/>
                    <a:latin typeface="Segoe WPC"/>
                  </a:rPr>
                  <a:t> </a:t>
                </a:r>
                <a:r>
                  <a:rPr lang="es-PE" sz="900" b="0" i="0" dirty="0" err="1">
                    <a:solidFill>
                      <a:schemeClr val="tx1"/>
                    </a:solidFill>
                    <a:effectLst/>
                    <a:latin typeface="Segoe WPC"/>
                  </a:rPr>
                  <a:t>noise</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terms</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be </a:t>
                </a:r>
                <a:r>
                  <a:rPr lang="es-PE" sz="900" b="0" i="0" dirty="0" err="1">
                    <a:solidFill>
                      <a:schemeClr val="tx1"/>
                    </a:solidFill>
                    <a:effectLst/>
                    <a:latin typeface="Segoe WPC"/>
                  </a:rPr>
                  <a:t>chosen</a:t>
                </a:r>
                <a:r>
                  <a:rPr lang="es-PE" sz="900" b="0" i="0" dirty="0">
                    <a:solidFill>
                      <a:schemeClr val="tx1"/>
                    </a:solidFill>
                    <a:effectLst/>
                    <a:latin typeface="Segoe WPC"/>
                  </a:rPr>
                  <a:t> </a:t>
                </a:r>
                <a:r>
                  <a:rPr lang="es-PE" sz="900" b="0" i="0" dirty="0" err="1">
                    <a:solidFill>
                      <a:schemeClr val="tx1"/>
                    </a:solidFill>
                    <a:effectLst/>
                    <a:latin typeface="Segoe WPC"/>
                  </a:rPr>
                  <a:t>carefully</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critical</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 </a:t>
                </a:r>
                <a:r>
                  <a:rPr lang="es-PE" sz="900" b="0" i="0" dirty="0" err="1">
                    <a:solidFill>
                      <a:schemeClr val="tx1"/>
                    </a:solidFill>
                    <a:effectLst/>
                    <a:latin typeface="Segoe WPC"/>
                  </a:rPr>
                  <a:t>constant</a:t>
                </a:r>
                <a:r>
                  <a:rPr lang="es-PE" sz="900" b="0" i="0" dirty="0">
                    <a:solidFill>
                      <a:schemeClr val="tx1"/>
                    </a:solidFill>
                    <a:effectLst/>
                    <a:latin typeface="Segoe WPC"/>
                  </a:rPr>
                  <a:t> and/</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included</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Omitting</a:t>
                </a:r>
                <a:r>
                  <a:rPr lang="es-PE" sz="900" b="0" i="0" dirty="0">
                    <a:solidFill>
                      <a:schemeClr val="tx1"/>
                    </a:solidFill>
                    <a:effectLst/>
                    <a:latin typeface="Segoe WPC"/>
                  </a:rPr>
                  <a:t> </a:t>
                </a:r>
                <a:r>
                  <a:rPr lang="es-PE" sz="900" b="0" i="0" dirty="0" err="1">
                    <a:solidFill>
                      <a:schemeClr val="tx1"/>
                    </a:solidFill>
                    <a:effectLst/>
                    <a:latin typeface="Segoe WPC"/>
                  </a:rPr>
                  <a:t>relevant</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terms</a:t>
                </a:r>
                <a:r>
                  <a:rPr lang="es-PE" sz="900" b="0" i="0" dirty="0">
                    <a:solidFill>
                      <a:schemeClr val="tx1"/>
                    </a:solidFill>
                    <a:effectLst/>
                    <a:latin typeface="Segoe WPC"/>
                  </a:rPr>
                  <a:t> can </a:t>
                </a:r>
                <a:r>
                  <a:rPr lang="es-PE" sz="900" b="0" i="0" dirty="0" err="1">
                    <a:solidFill>
                      <a:schemeClr val="tx1"/>
                    </a:solidFill>
                    <a:effectLst/>
                    <a:latin typeface="Segoe WPC"/>
                  </a:rPr>
                  <a:t>make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ADF test </a:t>
                </a:r>
                <a:r>
                  <a:rPr lang="es-PE" sz="900" b="0" i="0" dirty="0" err="1">
                    <a:solidFill>
                      <a:schemeClr val="tx1"/>
                    </a:solidFill>
                    <a:effectLst/>
                    <a:latin typeface="Segoe WPC"/>
                  </a:rPr>
                  <a:t>unreliable</a:t>
                </a:r>
                <a:r>
                  <a:rPr lang="es-PE" sz="900" b="0" i="0" dirty="0">
                    <a:solidFill>
                      <a:schemeClr val="tx1"/>
                    </a:solidFill>
                    <a:effectLst/>
                    <a:latin typeface="Segoe WPC"/>
                  </a:rPr>
                  <a:t> and </a:t>
                </a:r>
                <a:r>
                  <a:rPr lang="es-PE" sz="900" b="0" i="0" dirty="0" err="1">
                    <a:solidFill>
                      <a:schemeClr val="tx1"/>
                    </a:solidFill>
                    <a:effectLst/>
                    <a:latin typeface="Segoe WPC"/>
                  </a:rPr>
                  <a:t>greatly</a:t>
                </a:r>
                <a:r>
                  <a:rPr lang="es-PE" sz="900" b="0" i="0" dirty="0">
                    <a:solidFill>
                      <a:schemeClr val="tx1"/>
                    </a:solidFill>
                    <a:effectLst/>
                    <a:latin typeface="Segoe WPC"/>
                  </a:rPr>
                  <a:t> reduce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power</a:t>
                </a:r>
                <a:r>
                  <a:rPr lang="es-PE" sz="900" b="0" i="0" dirty="0">
                    <a:solidFill>
                      <a:schemeClr val="tx1"/>
                    </a:solidFill>
                    <a:effectLst/>
                    <a:latin typeface="Segoe WPC"/>
                  </a:rPr>
                  <a:t>.</a:t>
                </a:r>
                <a:endParaRPr lang="es-PE" sz="900" dirty="0">
                  <a:solidFill>
                    <a:schemeClr val="tx1"/>
                  </a:solidFill>
                </a:endParaRPr>
              </a:p>
            </p:txBody>
          </p:sp>
        </mc:Choice>
        <mc:Fallback xmlns="">
          <p:sp>
            <p:nvSpPr>
              <p:cNvPr id="23" name="CuadroTexto 22">
                <a:extLst>
                  <a:ext uri="{FF2B5EF4-FFF2-40B4-BE49-F238E27FC236}">
                    <a16:creationId xmlns:a16="http://schemas.microsoft.com/office/drawing/2014/main" id="{62194C9A-F527-5939-F079-919BB7F11704}"/>
                  </a:ext>
                </a:extLst>
              </p:cNvPr>
              <p:cNvSpPr txBox="1">
                <a:spLocks noRot="1" noChangeAspect="1" noMove="1" noResize="1" noEditPoints="1" noAdjustHandles="1" noChangeArrowheads="1" noChangeShapeType="1" noTextEdit="1"/>
              </p:cNvSpPr>
              <p:nvPr/>
            </p:nvSpPr>
            <p:spPr>
              <a:xfrm>
                <a:off x="6071734" y="3025461"/>
                <a:ext cx="6238874" cy="1349472"/>
              </a:xfrm>
              <a:prstGeom prst="rect">
                <a:avLst/>
              </a:prstGeom>
              <a:blipFill>
                <a:blip r:embed="rId4"/>
                <a:stretch>
                  <a:fillRect b="-901"/>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DA4664C9-5634-8D38-963B-E8ACBEA5DE6A}"/>
                  </a:ext>
                </a:extLst>
              </p:cNvPr>
              <p:cNvSpPr txBox="1"/>
              <p:nvPr/>
            </p:nvSpPr>
            <p:spPr>
              <a:xfrm>
                <a:off x="6071734" y="4374933"/>
                <a:ext cx="6238874" cy="1692771"/>
              </a:xfrm>
              <a:prstGeom prst="rect">
                <a:avLst/>
              </a:prstGeom>
              <a:noFill/>
            </p:spPr>
            <p:txBody>
              <a:bodyPr wrap="square">
                <a:spAutoFit/>
              </a:bodyPr>
              <a:lstStyle/>
              <a:p>
                <a:r>
                  <a:rPr lang="es-PE" sz="800" b="1" i="0" dirty="0">
                    <a:solidFill>
                      <a:schemeClr val="tx1"/>
                    </a:solidFill>
                    <a:effectLst/>
                    <a:latin typeface="Segoe WPC"/>
                  </a:rPr>
                  <a:t>8. </a:t>
                </a:r>
                <a:r>
                  <a:rPr lang="es-PE" sz="800" b="1" i="0" dirty="0" err="1">
                    <a:solidFill>
                      <a:schemeClr val="tx1"/>
                    </a:solidFill>
                    <a:effectLst/>
                    <a:latin typeface="Segoe WPC"/>
                  </a:rPr>
                  <a:t>Spurious</a:t>
                </a:r>
                <a:r>
                  <a:rPr lang="es-PE" sz="800" b="1" i="0" dirty="0">
                    <a:solidFill>
                      <a:schemeClr val="tx1"/>
                    </a:solidFill>
                    <a:effectLst/>
                    <a:latin typeface="Segoe WPC"/>
                  </a:rPr>
                  <a:t> </a:t>
                </a:r>
                <a:r>
                  <a:rPr lang="es-PE" sz="800" b="1" i="0" dirty="0" err="1">
                    <a:solidFill>
                      <a:schemeClr val="tx1"/>
                    </a:solidFill>
                    <a:effectLst/>
                    <a:latin typeface="Segoe WPC"/>
                  </a:rPr>
                  <a:t>Regression</a:t>
                </a:r>
                <a:r>
                  <a:rPr lang="es-PE" sz="800" b="1" i="0" dirty="0">
                    <a:solidFill>
                      <a:schemeClr val="tx1"/>
                    </a:solidFill>
                    <a:effectLst/>
                    <a:latin typeface="Segoe WPC"/>
                  </a:rPr>
                  <a:t>, </a:t>
                </a:r>
                <a:r>
                  <a:rPr lang="es-PE" sz="800" b="1" i="0" dirty="0" err="1">
                    <a:solidFill>
                      <a:schemeClr val="tx1"/>
                    </a:solidFill>
                    <a:effectLst/>
                    <a:latin typeface="Segoe WPC"/>
                  </a:rPr>
                  <a:t>Forecasting</a:t>
                </a:r>
                <a:r>
                  <a:rPr lang="es-PE" sz="800" b="1" i="0" dirty="0">
                    <a:solidFill>
                      <a:schemeClr val="tx1"/>
                    </a:solidFill>
                    <a:effectLst/>
                    <a:latin typeface="Segoe WPC"/>
                  </a:rPr>
                  <a:t>, and </a:t>
                </a:r>
                <a:r>
                  <a:rPr lang="es-PE" sz="800" b="1" i="0" dirty="0" err="1">
                    <a:solidFill>
                      <a:schemeClr val="tx1"/>
                    </a:solidFill>
                    <a:effectLst/>
                    <a:latin typeface="Segoe WPC"/>
                  </a:rPr>
                  <a:t>When</a:t>
                </a:r>
                <a:r>
                  <a:rPr lang="es-PE" sz="800" b="1" i="0" dirty="0">
                    <a:solidFill>
                      <a:schemeClr val="tx1"/>
                    </a:solidFill>
                    <a:effectLst/>
                    <a:latin typeface="Segoe WPC"/>
                  </a:rPr>
                  <a:t> </a:t>
                </a:r>
                <a:r>
                  <a:rPr lang="es-PE" sz="800" b="1" i="0" dirty="0" err="1">
                    <a:solidFill>
                      <a:schemeClr val="tx1"/>
                    </a:solidFill>
                    <a:effectLst/>
                    <a:latin typeface="Segoe WPC"/>
                  </a:rPr>
                  <a:t>to</a:t>
                </a:r>
                <a:r>
                  <a:rPr lang="es-PE" sz="800" b="1" i="0" dirty="0">
                    <a:solidFill>
                      <a:schemeClr val="tx1"/>
                    </a:solidFill>
                    <a:effectLst/>
                    <a:latin typeface="Segoe WPC"/>
                  </a:rPr>
                  <a:t> </a:t>
                </a:r>
                <a:r>
                  <a:rPr lang="es-PE" sz="800" b="1" i="0" dirty="0" err="1">
                    <a:solidFill>
                      <a:schemeClr val="tx1"/>
                    </a:solidFill>
                    <a:effectLst/>
                    <a:latin typeface="Segoe WPC"/>
                  </a:rPr>
                  <a:t>Difference</a:t>
                </a:r>
                <a:br>
                  <a:rPr lang="es-PE" sz="800" dirty="0">
                    <a:solidFill>
                      <a:schemeClr val="tx1"/>
                    </a:solidFill>
                  </a:rPr>
                </a:br>
                <a:r>
                  <a:rPr lang="es-PE" sz="800" b="1" i="0" dirty="0" err="1">
                    <a:solidFill>
                      <a:schemeClr val="tx1"/>
                    </a:solidFill>
                    <a:effectLst/>
                    <a:latin typeface="Segoe WPC"/>
                  </a:rPr>
                  <a:t>Statistical</a:t>
                </a:r>
                <a:r>
                  <a:rPr lang="es-PE" sz="800" b="1" i="0" dirty="0">
                    <a:solidFill>
                      <a:schemeClr val="tx1"/>
                    </a:solidFill>
                    <a:effectLst/>
                    <a:latin typeface="Segoe WPC"/>
                  </a:rPr>
                  <a:t> </a:t>
                </a:r>
                <a:r>
                  <a:rPr lang="es-PE" sz="800" b="1" i="0" dirty="0" err="1">
                    <a:solidFill>
                      <a:schemeClr val="tx1"/>
                    </a:solidFill>
                    <a:effectLst/>
                    <a:latin typeface="Segoe WPC"/>
                  </a:rPr>
                  <a:t>Object</a:t>
                </a:r>
                <a:r>
                  <a:rPr lang="es-PE" sz="800" b="1" i="0" dirty="0">
                    <a:solidFill>
                      <a:schemeClr val="tx1"/>
                    </a:solidFill>
                    <a:effectLst/>
                    <a:latin typeface="Segoe WPC"/>
                  </a:rPr>
                  <a:t>:</a:t>
                </a:r>
                <a:r>
                  <a:rPr lang="es-PE" sz="800" b="0" i="0" dirty="0">
                    <a:solidFill>
                      <a:schemeClr val="tx1"/>
                    </a:solidFill>
                    <a:effectLst/>
                    <a:latin typeface="Segoe WPC"/>
                  </a:rPr>
                  <a:t> Non-</a:t>
                </a:r>
                <a:r>
                  <a:rPr lang="es-PE" sz="800" b="0" i="0" dirty="0" err="1">
                    <a:solidFill>
                      <a:schemeClr val="tx1"/>
                    </a:solidFill>
                    <a:effectLst/>
                    <a:latin typeface="Segoe WPC"/>
                  </a:rPr>
                  <a:t>stationary</a:t>
                </a:r>
                <a:r>
                  <a:rPr lang="es-PE" sz="800" b="0" i="0" dirty="0">
                    <a:solidFill>
                      <a:schemeClr val="tx1"/>
                    </a:solidFill>
                    <a:effectLst/>
                    <a:latin typeface="Segoe WPC"/>
                  </a:rPr>
                  <a:t> data can </a:t>
                </a:r>
                <a:r>
                  <a:rPr lang="es-PE" sz="800" b="0" i="0" dirty="0" err="1">
                    <a:solidFill>
                      <a:schemeClr val="tx1"/>
                    </a:solidFill>
                    <a:effectLst/>
                    <a:latin typeface="Segoe WPC"/>
                  </a:rPr>
                  <a:t>generate</a:t>
                </a:r>
                <a:r>
                  <a:rPr lang="es-PE" sz="800" b="0" i="0" dirty="0">
                    <a:solidFill>
                      <a:schemeClr val="tx1"/>
                    </a:solidFill>
                    <a:effectLst/>
                    <a:latin typeface="Segoe WPC"/>
                  </a:rPr>
                  <a:t> </a:t>
                </a:r>
                <a:r>
                  <a:rPr lang="es-PE" sz="800" b="0" i="0" dirty="0" err="1">
                    <a:solidFill>
                      <a:schemeClr val="tx1"/>
                    </a:solidFill>
                    <a:effectLst/>
                    <a:latin typeface="Segoe WPC"/>
                  </a:rPr>
                  <a:t>misleading</a:t>
                </a:r>
                <a:r>
                  <a:rPr lang="es-PE" sz="800" b="0" i="0" dirty="0">
                    <a:solidFill>
                      <a:schemeClr val="tx1"/>
                    </a:solidFill>
                    <a:effectLst/>
                    <a:latin typeface="Segoe WPC"/>
                  </a:rPr>
                  <a:t> </a:t>
                </a:r>
                <a:r>
                  <a:rPr lang="es-PE" sz="800" b="0" i="0" dirty="0" err="1">
                    <a:solidFill>
                      <a:schemeClr val="tx1"/>
                    </a:solidFill>
                    <a:effectLst/>
                    <a:latin typeface="Segoe WPC"/>
                  </a:rPr>
                  <a:t>regressions</a:t>
                </a:r>
                <a:r>
                  <a:rPr lang="es-PE" sz="800" b="0" i="0" dirty="0">
                    <a:solidFill>
                      <a:schemeClr val="tx1"/>
                    </a:solidFill>
                    <a:effectLst/>
                    <a:latin typeface="Segoe WPC"/>
                  </a:rPr>
                  <a:t>, and </a:t>
                </a:r>
                <a:r>
                  <a:rPr lang="es-PE" sz="800" b="0" i="0" dirty="0" err="1">
                    <a:solidFill>
                      <a:schemeClr val="tx1"/>
                    </a:solidFill>
                    <a:effectLst/>
                    <a:latin typeface="Segoe WPC"/>
                  </a:rPr>
                  <a:t>forecasting</a:t>
                </a:r>
                <a:r>
                  <a:rPr lang="es-PE" sz="800" b="0" i="0" dirty="0">
                    <a:solidFill>
                      <a:schemeClr val="tx1"/>
                    </a:solidFill>
                    <a:effectLst/>
                    <a:latin typeface="Segoe WPC"/>
                  </a:rPr>
                  <a:t> </a:t>
                </a:r>
                <a:r>
                  <a:rPr lang="es-PE" sz="800" b="0" i="0" dirty="0" err="1">
                    <a:solidFill>
                      <a:schemeClr val="tx1"/>
                    </a:solidFill>
                    <a:effectLst/>
                    <a:latin typeface="Segoe WPC"/>
                  </a:rPr>
                  <a:t>depends</a:t>
                </a:r>
                <a:r>
                  <a:rPr lang="es-PE" sz="800" b="0" i="0" dirty="0">
                    <a:solidFill>
                      <a:schemeClr val="tx1"/>
                    </a:solidFill>
                    <a:effectLst/>
                    <a:latin typeface="Segoe WPC"/>
                  </a:rPr>
                  <a:t> </a:t>
                </a:r>
                <a:r>
                  <a:rPr lang="es-PE" sz="800" b="0" i="0" dirty="0" err="1">
                    <a:solidFill>
                      <a:schemeClr val="tx1"/>
                    </a:solidFill>
                    <a:effectLst/>
                    <a:latin typeface="Segoe WPC"/>
                  </a:rPr>
                  <a:t>on</a:t>
                </a:r>
                <a:r>
                  <a:rPr lang="es-PE" sz="800" b="0" i="0" dirty="0">
                    <a:solidFill>
                      <a:schemeClr val="tx1"/>
                    </a:solidFill>
                    <a:effectLst/>
                    <a:latin typeface="Segoe WPC"/>
                  </a:rPr>
                  <a:t> </a:t>
                </a:r>
                <a:r>
                  <a:rPr lang="es-PE" sz="800" b="0" i="0" dirty="0" err="1">
                    <a:solidFill>
                      <a:schemeClr val="tx1"/>
                    </a:solidFill>
                    <a:effectLst/>
                    <a:latin typeface="Segoe WPC"/>
                  </a:rPr>
                  <a:t>whether</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a:t>
                </a:r>
                <a:r>
                  <a:rPr lang="es-PE" sz="800" b="0" i="0" dirty="0" err="1">
                    <a:solidFill>
                      <a:schemeClr val="tx1"/>
                    </a:solidFill>
                    <a:effectLst/>
                    <a:latin typeface="Segoe WPC"/>
                  </a:rPr>
                  <a:t>trend</a:t>
                </a:r>
                <a:r>
                  <a:rPr lang="es-PE" sz="800" b="0" i="0" dirty="0">
                    <a:solidFill>
                      <a:schemeClr val="tx1"/>
                    </a:solidFill>
                    <a:effectLst/>
                    <a:latin typeface="Segoe WPC"/>
                  </a:rPr>
                  <a:t> </a:t>
                </a:r>
                <a:r>
                  <a:rPr lang="es-PE" sz="800" b="0" i="0" dirty="0" err="1">
                    <a:solidFill>
                      <a:schemeClr val="tx1"/>
                    </a:solidFill>
                    <a:effectLst/>
                    <a:latin typeface="Segoe WPC"/>
                  </a:rPr>
                  <a:t>is</a:t>
                </a:r>
                <a:r>
                  <a:rPr lang="es-PE" sz="800" b="0" i="0" dirty="0">
                    <a:solidFill>
                      <a:schemeClr val="tx1"/>
                    </a:solidFill>
                    <a:effectLst/>
                    <a:latin typeface="Segoe WPC"/>
                  </a:rPr>
                  <a:t> </a:t>
                </a:r>
                <a:r>
                  <a:rPr lang="es-PE" sz="800" b="0" i="0" dirty="0" err="1">
                    <a:solidFill>
                      <a:schemeClr val="tx1"/>
                    </a:solidFill>
                    <a:effectLst/>
                    <a:latin typeface="Segoe WPC"/>
                  </a:rPr>
                  <a:t>deterministic</a:t>
                </a:r>
                <a:r>
                  <a:rPr lang="es-PE" sz="800" b="0" i="0" dirty="0">
                    <a:solidFill>
                      <a:schemeClr val="tx1"/>
                    </a:solidFill>
                    <a:effectLst/>
                    <a:latin typeface="Segoe WPC"/>
                  </a:rPr>
                  <a:t> </a:t>
                </a:r>
                <a:r>
                  <a:rPr lang="es-PE" sz="800" b="0" i="0" dirty="0" err="1">
                    <a:solidFill>
                      <a:schemeClr val="tx1"/>
                    </a:solidFill>
                    <a:effectLst/>
                    <a:latin typeface="Segoe WPC"/>
                  </a:rPr>
                  <a:t>or</a:t>
                </a:r>
                <a:r>
                  <a:rPr lang="es-PE" sz="800" b="0" i="0" dirty="0">
                    <a:solidFill>
                      <a:schemeClr val="tx1"/>
                    </a:solidFill>
                    <a:effectLst/>
                    <a:latin typeface="Segoe WPC"/>
                  </a:rPr>
                  <a:t> </a:t>
                </a:r>
                <a:r>
                  <a:rPr lang="es-PE" sz="800" b="0" i="0" dirty="0" err="1">
                    <a:solidFill>
                      <a:schemeClr val="tx1"/>
                    </a:solidFill>
                    <a:effectLst/>
                    <a:latin typeface="Segoe WPC"/>
                  </a:rPr>
                  <a:t>stochastic</a:t>
                </a:r>
                <a:r>
                  <a:rPr lang="es-PE" sz="800" b="0" i="0" dirty="0">
                    <a:solidFill>
                      <a:schemeClr val="tx1"/>
                    </a:solidFill>
                    <a:effectLst/>
                    <a:latin typeface="Segoe WPC"/>
                  </a:rPr>
                  <a:t>.</a:t>
                </a:r>
                <a:br>
                  <a:rPr lang="es-PE" sz="800" dirty="0">
                    <a:solidFill>
                      <a:schemeClr val="tx1"/>
                    </a:solidFill>
                  </a:rPr>
                </a:br>
                <a:r>
                  <a:rPr lang="es-PE" sz="800" b="1" i="0" dirty="0" err="1">
                    <a:solidFill>
                      <a:schemeClr val="tx1"/>
                    </a:solidFill>
                    <a:effectLst/>
                    <a:latin typeface="Segoe WPC"/>
                  </a:rPr>
                  <a:t>Plain</a:t>
                </a:r>
                <a:r>
                  <a:rPr lang="es-PE" sz="800" b="1" i="0" dirty="0">
                    <a:solidFill>
                      <a:schemeClr val="tx1"/>
                    </a:solidFill>
                    <a:effectLst/>
                    <a:latin typeface="Segoe WPC"/>
                  </a:rPr>
                  <a:t>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Two</a:t>
                </a:r>
                <a:r>
                  <a:rPr lang="es-PE" sz="800" b="0" i="0" dirty="0">
                    <a:solidFill>
                      <a:schemeClr val="tx1"/>
                    </a:solidFill>
                    <a:effectLst/>
                    <a:latin typeface="Segoe WPC"/>
                  </a:rPr>
                  <a:t> </a:t>
                </a:r>
                <a:r>
                  <a:rPr lang="es-PE" sz="800" b="0" i="0" dirty="0" err="1">
                    <a:solidFill>
                      <a:schemeClr val="tx1"/>
                    </a:solidFill>
                    <a:effectLst/>
                    <a:latin typeface="Segoe WPC"/>
                  </a:rPr>
                  <a:t>unrelated</a:t>
                </a:r>
                <a:r>
                  <a:rPr lang="es-PE" sz="800" b="0" i="0" dirty="0">
                    <a:solidFill>
                      <a:schemeClr val="tx1"/>
                    </a:solidFill>
                    <a:effectLst/>
                    <a:latin typeface="Segoe WPC"/>
                  </a:rPr>
                  <a:t> non-</a:t>
                </a:r>
                <a:r>
                  <a:rPr lang="es-PE" sz="800" b="0" i="0" dirty="0" err="1">
                    <a:solidFill>
                      <a:schemeClr val="tx1"/>
                    </a:solidFill>
                    <a:effectLst/>
                    <a:latin typeface="Segoe WPC"/>
                  </a:rPr>
                  <a:t>stationary</a:t>
                </a:r>
                <a:r>
                  <a:rPr lang="es-PE" sz="800" b="0" i="0" dirty="0">
                    <a:solidFill>
                      <a:schemeClr val="tx1"/>
                    </a:solidFill>
                    <a:effectLst/>
                    <a:latin typeface="Segoe WPC"/>
                  </a:rPr>
                  <a:t> series can </a:t>
                </a:r>
                <a:r>
                  <a:rPr lang="es-PE" sz="800" b="0" i="0" dirty="0" err="1">
                    <a:solidFill>
                      <a:schemeClr val="tx1"/>
                    </a:solidFill>
                    <a:effectLst/>
                    <a:latin typeface="Segoe WPC"/>
                  </a:rPr>
                  <a:t>appear</a:t>
                </a:r>
                <a:r>
                  <a:rPr lang="es-PE" sz="800" b="0" i="0" dirty="0">
                    <a:solidFill>
                      <a:schemeClr val="tx1"/>
                    </a:solidFill>
                    <a:effectLst/>
                    <a:latin typeface="Segoe WPC"/>
                  </a:rPr>
                  <a:t> </a:t>
                </a:r>
                <a:r>
                  <a:rPr lang="es-PE" sz="800" b="0" i="0" dirty="0" err="1">
                    <a:solidFill>
                      <a:schemeClr val="tx1"/>
                    </a:solidFill>
                    <a:effectLst/>
                    <a:latin typeface="Segoe WPC"/>
                  </a:rPr>
                  <a:t>strongly</a:t>
                </a:r>
                <a:r>
                  <a:rPr lang="es-PE" sz="800" b="0" i="0" dirty="0">
                    <a:solidFill>
                      <a:schemeClr val="tx1"/>
                    </a:solidFill>
                    <a:effectLst/>
                    <a:latin typeface="Segoe WPC"/>
                  </a:rPr>
                  <a:t> </a:t>
                </a:r>
                <a:r>
                  <a:rPr lang="es-PE" sz="800" b="0" i="0" dirty="0" err="1">
                    <a:solidFill>
                      <a:schemeClr val="tx1"/>
                    </a:solidFill>
                    <a:effectLst/>
                    <a:latin typeface="Segoe WPC"/>
                  </a:rPr>
                  <a:t>related</a:t>
                </a:r>
                <a:r>
                  <a:rPr lang="es-PE" sz="800" b="0" i="0" dirty="0">
                    <a:solidFill>
                      <a:schemeClr val="tx1"/>
                    </a:solidFill>
                    <a:effectLst/>
                    <a:latin typeface="Segoe WPC"/>
                  </a:rPr>
                  <a:t> in </a:t>
                </a:r>
                <a:r>
                  <a:rPr lang="es-PE" sz="800" b="0" i="0" dirty="0" err="1">
                    <a:solidFill>
                      <a:schemeClr val="tx1"/>
                    </a:solidFill>
                    <a:effectLst/>
                    <a:latin typeface="Segoe WPC"/>
                  </a:rPr>
                  <a:t>levels</a:t>
                </a:r>
                <a:r>
                  <a:rPr lang="es-PE" sz="800" b="0" i="0" dirty="0">
                    <a:solidFill>
                      <a:schemeClr val="tx1"/>
                    </a:solidFill>
                    <a:effectLst/>
                    <a:latin typeface="Segoe WPC"/>
                  </a:rPr>
                  <a:t>; </a:t>
                </a:r>
                <a:r>
                  <a:rPr lang="es-PE" sz="800" b="0" i="0" dirty="0" err="1">
                    <a:solidFill>
                      <a:schemeClr val="tx1"/>
                    </a:solidFill>
                    <a:effectLst/>
                    <a:latin typeface="Segoe WPC"/>
                  </a:rPr>
                  <a:t>forecasts</a:t>
                </a:r>
                <a:r>
                  <a:rPr lang="es-PE" sz="800" b="0" i="0" dirty="0">
                    <a:solidFill>
                      <a:schemeClr val="tx1"/>
                    </a:solidFill>
                    <a:effectLst/>
                    <a:latin typeface="Segoe WPC"/>
                  </a:rPr>
                  <a:t> </a:t>
                </a:r>
                <a:r>
                  <a:rPr lang="es-PE" sz="800" b="0" i="0" dirty="0" err="1">
                    <a:solidFill>
                      <a:schemeClr val="tx1"/>
                    </a:solidFill>
                    <a:effectLst/>
                    <a:latin typeface="Segoe WPC"/>
                  </a:rPr>
                  <a:t>from</a:t>
                </a:r>
                <a:r>
                  <a:rPr lang="es-PE" sz="800" b="0" i="0" dirty="0">
                    <a:solidFill>
                      <a:schemeClr val="tx1"/>
                    </a:solidFill>
                    <a:effectLst/>
                    <a:latin typeface="Segoe WPC"/>
                  </a:rPr>
                  <a:t> </a:t>
                </a:r>
                <a:r>
                  <a:rPr lang="es-PE" sz="800" b="0" i="0" dirty="0" err="1">
                    <a:solidFill>
                      <a:schemeClr val="tx1"/>
                    </a:solidFill>
                    <a:effectLst/>
                    <a:latin typeface="Segoe WPC"/>
                  </a:rPr>
                  <a:t>deterministic</a:t>
                </a:r>
                <a:r>
                  <a:rPr lang="es-PE" sz="800" b="0" i="0" dirty="0">
                    <a:solidFill>
                      <a:schemeClr val="tx1"/>
                    </a:solidFill>
                    <a:effectLst/>
                    <a:latin typeface="Segoe WPC"/>
                  </a:rPr>
                  <a:t> </a:t>
                </a:r>
                <a:r>
                  <a:rPr lang="es-PE" sz="800" b="0" i="0" dirty="0" err="1">
                    <a:solidFill>
                      <a:schemeClr val="tx1"/>
                    </a:solidFill>
                    <a:effectLst/>
                    <a:latin typeface="Segoe WPC"/>
                  </a:rPr>
                  <a:t>trend</a:t>
                </a:r>
                <a:r>
                  <a:rPr lang="es-PE" sz="800" b="0" i="0" dirty="0">
                    <a:solidFill>
                      <a:schemeClr val="tx1"/>
                    </a:solidFill>
                    <a:effectLst/>
                    <a:latin typeface="Segoe WPC"/>
                  </a:rPr>
                  <a:t> </a:t>
                </a:r>
                <a:r>
                  <a:rPr lang="es-PE" sz="800" b="0" i="0" dirty="0" err="1">
                    <a:solidFill>
                      <a:schemeClr val="tx1"/>
                    </a:solidFill>
                    <a:effectLst/>
                    <a:latin typeface="Segoe WPC"/>
                  </a:rPr>
                  <a:t>models</a:t>
                </a:r>
                <a:r>
                  <a:rPr lang="es-PE" sz="800" b="0" i="0" dirty="0">
                    <a:solidFill>
                      <a:schemeClr val="tx1"/>
                    </a:solidFill>
                    <a:effectLst/>
                    <a:latin typeface="Segoe WPC"/>
                  </a:rPr>
                  <a:t> </a:t>
                </a:r>
                <a:r>
                  <a:rPr lang="es-PE" sz="800" b="0" i="0" dirty="0" err="1">
                    <a:solidFill>
                      <a:schemeClr val="tx1"/>
                    </a:solidFill>
                    <a:effectLst/>
                    <a:latin typeface="Segoe WPC"/>
                  </a:rPr>
                  <a:t>extrapolate</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a:t>
                </a:r>
                <a:r>
                  <a:rPr lang="es-PE" sz="800" b="0" i="0" dirty="0" err="1">
                    <a:solidFill>
                      <a:schemeClr val="tx1"/>
                    </a:solidFill>
                    <a:effectLst/>
                    <a:latin typeface="Segoe WPC"/>
                  </a:rPr>
                  <a:t>trend</a:t>
                </a:r>
                <a:r>
                  <a:rPr lang="es-PE" sz="800" b="0" i="0" dirty="0">
                    <a:solidFill>
                      <a:schemeClr val="tx1"/>
                    </a:solidFill>
                    <a:effectLst/>
                    <a:latin typeface="Segoe WPC"/>
                  </a:rPr>
                  <a:t>, </a:t>
                </a:r>
                <a:r>
                  <a:rPr lang="es-PE" sz="800" b="0" i="0" dirty="0" err="1">
                    <a:solidFill>
                      <a:schemeClr val="tx1"/>
                    </a:solidFill>
                    <a:effectLst/>
                    <a:latin typeface="Segoe WPC"/>
                  </a:rPr>
                  <a:t>while</a:t>
                </a:r>
                <a:r>
                  <a:rPr lang="es-PE" sz="800" b="0" i="0" dirty="0">
                    <a:solidFill>
                      <a:schemeClr val="tx1"/>
                    </a:solidFill>
                    <a:effectLst/>
                    <a:latin typeface="Segoe WPC"/>
                  </a:rPr>
                  <a:t> </a:t>
                </a:r>
                <a:r>
                  <a:rPr lang="es-PE" sz="800" b="0" i="0" dirty="0" err="1">
                    <a:solidFill>
                      <a:schemeClr val="tx1"/>
                    </a:solidFill>
                    <a:effectLst/>
                    <a:latin typeface="Segoe WPC"/>
                  </a:rPr>
                  <a:t>forecasts</a:t>
                </a:r>
                <a:r>
                  <a:rPr lang="es-PE" sz="800" b="0" i="0" dirty="0">
                    <a:solidFill>
                      <a:schemeClr val="tx1"/>
                    </a:solidFill>
                    <a:effectLst/>
                    <a:latin typeface="Segoe WPC"/>
                  </a:rPr>
                  <a:t> </a:t>
                </a:r>
                <a:r>
                  <a:rPr lang="es-PE" sz="800" b="0" i="0" dirty="0" err="1">
                    <a:solidFill>
                      <a:schemeClr val="tx1"/>
                    </a:solidFill>
                    <a:effectLst/>
                    <a:latin typeface="Segoe WPC"/>
                  </a:rPr>
                  <a:t>from</a:t>
                </a:r>
                <a:r>
                  <a:rPr lang="es-PE" sz="800" b="0" i="0" dirty="0">
                    <a:solidFill>
                      <a:schemeClr val="tx1"/>
                    </a:solidFill>
                    <a:effectLst/>
                    <a:latin typeface="Segoe WPC"/>
                  </a:rPr>
                  <a:t> </a:t>
                </a:r>
                <a:r>
                  <a:rPr lang="es-PE" sz="800" b="0" i="0" dirty="0" err="1">
                    <a:solidFill>
                      <a:schemeClr val="tx1"/>
                    </a:solidFill>
                    <a:effectLst/>
                    <a:latin typeface="Segoe WPC"/>
                  </a:rPr>
                  <a:t>unit-root</a:t>
                </a:r>
                <a:r>
                  <a:rPr lang="es-PE" sz="800" b="0" i="0" dirty="0">
                    <a:solidFill>
                      <a:schemeClr val="tx1"/>
                    </a:solidFill>
                    <a:effectLst/>
                    <a:latin typeface="Segoe WPC"/>
                  </a:rPr>
                  <a:t> </a:t>
                </a:r>
                <a:r>
                  <a:rPr lang="es-PE" sz="800" b="0" i="0" dirty="0" err="1">
                    <a:solidFill>
                      <a:schemeClr val="tx1"/>
                    </a:solidFill>
                    <a:effectLst/>
                    <a:latin typeface="Segoe WPC"/>
                  </a:rPr>
                  <a:t>models</a:t>
                </a:r>
                <a:r>
                  <a:rPr lang="es-PE" sz="800" b="0" i="0" dirty="0">
                    <a:solidFill>
                      <a:schemeClr val="tx1"/>
                    </a:solidFill>
                    <a:effectLst/>
                    <a:latin typeface="Segoe WPC"/>
                  </a:rPr>
                  <a:t> </a:t>
                </a:r>
                <a:r>
                  <a:rPr lang="es-PE" sz="800" b="0" i="0" dirty="0" err="1">
                    <a:solidFill>
                      <a:schemeClr val="tx1"/>
                    </a:solidFill>
                    <a:effectLst/>
                    <a:latin typeface="Segoe WPC"/>
                  </a:rPr>
                  <a:t>generally</a:t>
                </a:r>
                <a:r>
                  <a:rPr lang="es-PE" sz="800" b="0" i="0" dirty="0">
                    <a:solidFill>
                      <a:schemeClr val="tx1"/>
                    </a:solidFill>
                    <a:effectLst/>
                    <a:latin typeface="Segoe WPC"/>
                  </a:rPr>
                  <a:t> do </a:t>
                </a:r>
                <a:r>
                  <a:rPr lang="es-PE" sz="800" b="0" i="0" dirty="0" err="1">
                    <a:solidFill>
                      <a:schemeClr val="tx1"/>
                    </a:solidFill>
                    <a:effectLst/>
                    <a:latin typeface="Segoe WPC"/>
                  </a:rPr>
                  <a:t>not</a:t>
                </a:r>
                <a:r>
                  <a:rPr lang="es-PE" sz="800" b="0" i="0" dirty="0">
                    <a:solidFill>
                      <a:schemeClr val="tx1"/>
                    </a:solidFill>
                    <a:effectLst/>
                    <a:latin typeface="Segoe WPC"/>
                  </a:rPr>
                  <a:t> mean </a:t>
                </a:r>
                <a:r>
                  <a:rPr lang="es-PE" sz="800" b="0" i="0" dirty="0" err="1">
                    <a:solidFill>
                      <a:schemeClr val="tx1"/>
                    </a:solidFill>
                    <a:effectLst/>
                    <a:latin typeface="Segoe WPC"/>
                  </a:rPr>
                  <a:t>revert</a:t>
                </a:r>
                <a:r>
                  <a:rPr lang="es-PE" sz="800" b="0" i="0" dirty="0">
                    <a:solidFill>
                      <a:schemeClr val="tx1"/>
                    </a:solidFill>
                    <a:effectLst/>
                    <a:latin typeface="Segoe WPC"/>
                  </a:rPr>
                  <a:t>.</a:t>
                </a:r>
                <a:br>
                  <a:rPr lang="es-PE" sz="800" dirty="0">
                    <a:solidFill>
                      <a:schemeClr val="tx1"/>
                    </a:solidFill>
                  </a:rPr>
                </a:br>
                <a:r>
                  <a:rPr lang="es-PE" sz="800" b="1" i="0" dirty="0">
                    <a:solidFill>
                      <a:schemeClr val="tx1"/>
                    </a:solidFill>
                    <a:effectLst/>
                    <a:latin typeface="Segoe WPC"/>
                  </a:rPr>
                  <a:t>Visual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Two</a:t>
                </a:r>
                <a:r>
                  <a:rPr lang="es-PE" sz="800" b="0" i="0" dirty="0">
                    <a:solidFill>
                      <a:schemeClr val="tx1"/>
                    </a:solidFill>
                    <a:effectLst/>
                    <a:latin typeface="Segoe WPC"/>
                  </a:rPr>
                  <a:t> </a:t>
                </a:r>
                <a:r>
                  <a:rPr lang="es-PE" sz="800" b="0" i="0" dirty="0" err="1">
                    <a:solidFill>
                      <a:schemeClr val="tx1"/>
                    </a:solidFill>
                    <a:effectLst/>
                    <a:latin typeface="Segoe WPC"/>
                  </a:rPr>
                  <a:t>drifting</a:t>
                </a:r>
                <a:r>
                  <a:rPr lang="es-PE" sz="800" b="0" i="0" dirty="0">
                    <a:solidFill>
                      <a:schemeClr val="tx1"/>
                    </a:solidFill>
                    <a:effectLst/>
                    <a:latin typeface="Segoe WPC"/>
                  </a:rPr>
                  <a:t> series can line up </a:t>
                </a:r>
                <a:r>
                  <a:rPr lang="es-PE" sz="800" b="0" i="0" dirty="0" err="1">
                    <a:solidFill>
                      <a:schemeClr val="tx1"/>
                    </a:solidFill>
                    <a:effectLst/>
                    <a:latin typeface="Segoe WPC"/>
                  </a:rPr>
                  <a:t>in-sample</a:t>
                </a:r>
                <a:r>
                  <a:rPr lang="es-PE" sz="800" b="0" i="0" dirty="0">
                    <a:solidFill>
                      <a:schemeClr val="tx1"/>
                    </a:solidFill>
                    <a:effectLst/>
                    <a:latin typeface="Segoe WPC"/>
                  </a:rPr>
                  <a:t> </a:t>
                </a:r>
                <a:r>
                  <a:rPr lang="es-PE" sz="800" b="0" i="0" dirty="0" err="1">
                    <a:solidFill>
                      <a:schemeClr val="tx1"/>
                    </a:solidFill>
                    <a:effectLst/>
                    <a:latin typeface="Segoe WPC"/>
                  </a:rPr>
                  <a:t>for</a:t>
                </a:r>
                <a:r>
                  <a:rPr lang="es-PE" sz="800" b="0" i="0" dirty="0">
                    <a:solidFill>
                      <a:schemeClr val="tx1"/>
                    </a:solidFill>
                    <a:effectLst/>
                    <a:latin typeface="Segoe WPC"/>
                  </a:rPr>
                  <a:t> no real </a:t>
                </a:r>
                <a:r>
                  <a:rPr lang="es-PE" sz="800" b="0" i="0" dirty="0" err="1">
                    <a:solidFill>
                      <a:schemeClr val="tx1"/>
                    </a:solidFill>
                    <a:effectLst/>
                    <a:latin typeface="Segoe WPC"/>
                  </a:rPr>
                  <a:t>reason</a:t>
                </a:r>
                <a:r>
                  <a:rPr lang="es-PE" sz="800" b="0" i="0" dirty="0">
                    <a:solidFill>
                      <a:schemeClr val="tx1"/>
                    </a:solidFill>
                    <a:effectLst/>
                    <a:latin typeface="Segoe WPC"/>
                  </a:rPr>
                  <a:t>, </a:t>
                </a:r>
                <a:r>
                  <a:rPr lang="es-PE" sz="800" b="0" i="0" dirty="0" err="1">
                    <a:solidFill>
                      <a:schemeClr val="tx1"/>
                    </a:solidFill>
                    <a:effectLst/>
                    <a:latin typeface="Segoe WPC"/>
                  </a:rPr>
                  <a:t>but</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a:t>
                </a:r>
                <a:r>
                  <a:rPr lang="es-PE" sz="800" b="0" i="0" dirty="0" err="1">
                    <a:solidFill>
                      <a:schemeClr val="tx1"/>
                    </a:solidFill>
                    <a:effectLst/>
                    <a:latin typeface="Segoe WPC"/>
                  </a:rPr>
                  <a:t>relationship</a:t>
                </a:r>
                <a:r>
                  <a:rPr lang="es-PE" sz="800" b="0" i="0" dirty="0">
                    <a:solidFill>
                      <a:schemeClr val="tx1"/>
                    </a:solidFill>
                    <a:effectLst/>
                    <a:latin typeface="Segoe WPC"/>
                  </a:rPr>
                  <a:t> </a:t>
                </a:r>
                <a:r>
                  <a:rPr lang="es-PE" sz="800" b="0" i="0" dirty="0" err="1">
                    <a:solidFill>
                      <a:schemeClr val="tx1"/>
                    </a:solidFill>
                    <a:effectLst/>
                    <a:latin typeface="Segoe WPC"/>
                  </a:rPr>
                  <a:t>often</a:t>
                </a:r>
                <a:r>
                  <a:rPr lang="es-PE" sz="800" b="0" i="0" dirty="0">
                    <a:solidFill>
                      <a:schemeClr val="tx1"/>
                    </a:solidFill>
                    <a:effectLst/>
                    <a:latin typeface="Segoe WPC"/>
                  </a:rPr>
                  <a:t> </a:t>
                </a:r>
                <a:r>
                  <a:rPr lang="es-PE" sz="800" b="0" i="0" dirty="0" err="1">
                    <a:solidFill>
                      <a:schemeClr val="tx1"/>
                    </a:solidFill>
                    <a:effectLst/>
                    <a:latin typeface="Segoe WPC"/>
                  </a:rPr>
                  <a:t>disappears</a:t>
                </a:r>
                <a:r>
                  <a:rPr lang="es-PE" sz="800" b="0" i="0" dirty="0">
                    <a:solidFill>
                      <a:schemeClr val="tx1"/>
                    </a:solidFill>
                    <a:effectLst/>
                    <a:latin typeface="Segoe WPC"/>
                  </a:rPr>
                  <a:t> </a:t>
                </a:r>
                <a:r>
                  <a:rPr lang="es-PE" sz="800" b="0" i="0" dirty="0" err="1">
                    <a:solidFill>
                      <a:schemeClr val="tx1"/>
                    </a:solidFill>
                    <a:effectLst/>
                    <a:latin typeface="Segoe WPC"/>
                  </a:rPr>
                  <a:t>when</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data are </a:t>
                </a:r>
                <a:r>
                  <a:rPr lang="es-PE" sz="800" b="0" i="0" dirty="0" err="1">
                    <a:solidFill>
                      <a:schemeClr val="tx1"/>
                    </a:solidFill>
                    <a:effectLst/>
                    <a:latin typeface="Segoe WPC"/>
                  </a:rPr>
                  <a:t>differenced</a:t>
                </a:r>
                <a:r>
                  <a:rPr lang="es-PE" sz="800" b="0" i="0" dirty="0">
                    <a:solidFill>
                      <a:schemeClr val="tx1"/>
                    </a:solidFill>
                    <a:effectLst/>
                    <a:latin typeface="Segoe WPC"/>
                  </a:rPr>
                  <a:t>.</a:t>
                </a:r>
                <a:br>
                  <a:rPr lang="es-PE" sz="800" dirty="0">
                    <a:solidFill>
                      <a:schemeClr val="tx1"/>
                    </a:solidFill>
                  </a:rPr>
                </a:br>
                <a:r>
                  <a:rPr lang="es-PE" sz="800" b="1" i="0" dirty="0">
                    <a:solidFill>
                      <a:schemeClr val="tx1"/>
                    </a:solidFill>
                    <a:effectLst/>
                    <a:latin typeface="Segoe WPC"/>
                  </a:rPr>
                  <a:t>Key Formula:</a:t>
                </a:r>
                <a:r>
                  <a:rPr lang="es-PE" sz="800" b="0" i="0" dirty="0">
                    <a:solidFill>
                      <a:schemeClr val="tx1"/>
                    </a:solidFill>
                    <a:effectLst/>
                    <a:latin typeface="Segoe WPC"/>
                  </a:rPr>
                  <a:t> </a:t>
                </a:r>
                <a:r>
                  <a:rPr lang="es-PE" sz="800" b="0" i="0" dirty="0" err="1">
                    <a:solidFill>
                      <a:schemeClr val="tx1"/>
                    </a:solidFill>
                    <a:effectLst/>
                    <a:latin typeface="Segoe WPC"/>
                  </a:rPr>
                  <a:t>Trend</a:t>
                </a:r>
                <a:r>
                  <a:rPr lang="es-PE" sz="800" b="0" i="0" dirty="0">
                    <a:solidFill>
                      <a:schemeClr val="tx1"/>
                    </a:solidFill>
                    <a:effectLst/>
                    <a:latin typeface="Segoe WPC"/>
                  </a:rPr>
                  <a:t> </a:t>
                </a:r>
                <a:r>
                  <a:rPr lang="es-PE" sz="800" b="0" i="0" dirty="0" err="1">
                    <a:solidFill>
                      <a:schemeClr val="tx1"/>
                    </a:solidFill>
                    <a:effectLst/>
                    <a:latin typeface="Segoe WPC"/>
                  </a:rPr>
                  <a:t>forecast</a:t>
                </a:r>
                <a:r>
                  <a:rPr lang="es-PE" sz="800" b="0" i="0" dirty="0">
                    <a:solidFill>
                      <a:schemeClr val="tx1"/>
                    </a:solidFill>
                    <a:effectLst/>
                    <a:latin typeface="Segoe WPC"/>
                  </a:rPr>
                  <a:t>: </a:t>
                </a:r>
                <a14:m>
                  <m:oMath xmlns:m="http://schemas.openxmlformats.org/officeDocument/2006/math">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𝐸</m:t>
                        </m:r>
                      </m:e>
                      <m:sub>
                        <m:r>
                          <a:rPr lang="ar-AE" sz="800" i="1">
                            <a:solidFill>
                              <a:schemeClr val="tx1"/>
                            </a:solidFill>
                            <a:latin typeface="Cambria Math" panose="02040503050406030204" pitchFamily="18" charset="0"/>
                          </a:rPr>
                          <m:t>𝑇</m:t>
                        </m:r>
                      </m:sub>
                    </m:sSub>
                    <m:d>
                      <m:dPr>
                        <m:begChr m:val="["/>
                        <m:endChr m:val="]"/>
                        <m:ctrlPr>
                          <a:rPr lang="ar-AE" sz="800" i="1">
                            <a:solidFill>
                              <a:schemeClr val="tx1"/>
                            </a:solidFill>
                            <a:latin typeface="Cambria Math" panose="02040503050406030204" pitchFamily="18" charset="0"/>
                          </a:rPr>
                        </m:ctrlPr>
                      </m:dPr>
                      <m:e>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𝑌</m:t>
                            </m:r>
                          </m:e>
                          <m:sub>
                            <m:r>
                              <a:rPr lang="ar-AE" sz="800" i="1">
                                <a:solidFill>
                                  <a:schemeClr val="tx1"/>
                                </a:solidFill>
                                <a:latin typeface="Cambria Math" panose="02040503050406030204" pitchFamily="18" charset="0"/>
                              </a:rPr>
                              <m:t>𝑇</m:t>
                            </m:r>
                            <m:r>
                              <a:rPr lang="ar-AE" sz="800" i="0">
                                <a:solidFill>
                                  <a:schemeClr val="tx1"/>
                                </a:solidFill>
                                <a:latin typeface="Cambria Math" panose="02040503050406030204" pitchFamily="18" charset="0"/>
                              </a:rPr>
                              <m:t>+</m:t>
                            </m:r>
                            <m:r>
                              <a:rPr lang="ar-AE" sz="800" i="1">
                                <a:solidFill>
                                  <a:schemeClr val="tx1"/>
                                </a:solidFill>
                                <a:latin typeface="Cambria Math" panose="02040503050406030204" pitchFamily="18" charset="0"/>
                              </a:rPr>
                              <m:t>h</m:t>
                            </m:r>
                          </m:sub>
                        </m:sSub>
                      </m:e>
                    </m:d>
                    <m:r>
                      <a:rPr lang="ar-AE" sz="800" i="0">
                        <a:solidFill>
                          <a:schemeClr val="tx1"/>
                        </a:solidFill>
                        <a:latin typeface="Cambria Math" panose="02040503050406030204" pitchFamily="18" charset="0"/>
                      </a:rPr>
                      <m:t>=</m:t>
                    </m:r>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𝛿</m:t>
                        </m:r>
                      </m:e>
                      <m:sub>
                        <m:r>
                          <a:rPr lang="ar-AE" sz="800" i="0">
                            <a:solidFill>
                              <a:schemeClr val="tx1"/>
                            </a:solidFill>
                            <a:latin typeface="Cambria Math" panose="02040503050406030204" pitchFamily="18" charset="0"/>
                          </a:rPr>
                          <m:t>0</m:t>
                        </m:r>
                      </m:sub>
                    </m:sSub>
                    <m:r>
                      <a:rPr lang="ar-AE" sz="800" i="0">
                        <a:solidFill>
                          <a:schemeClr val="tx1"/>
                        </a:solidFill>
                        <a:latin typeface="Cambria Math" panose="02040503050406030204" pitchFamily="18" charset="0"/>
                      </a:rPr>
                      <m:t>+</m:t>
                    </m:r>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𝛿</m:t>
                        </m:r>
                      </m:e>
                      <m:sub>
                        <m:r>
                          <a:rPr lang="ar-AE" sz="800" i="0">
                            <a:solidFill>
                              <a:schemeClr val="tx1"/>
                            </a:solidFill>
                            <a:latin typeface="Cambria Math" panose="02040503050406030204" pitchFamily="18" charset="0"/>
                          </a:rPr>
                          <m:t>1</m:t>
                        </m:r>
                      </m:sub>
                    </m:sSub>
                    <m:d>
                      <m:dPr>
                        <m:ctrlPr>
                          <a:rPr lang="ar-AE" sz="800" i="1">
                            <a:solidFill>
                              <a:schemeClr val="tx1"/>
                            </a:solidFill>
                            <a:latin typeface="Cambria Math" panose="02040503050406030204" pitchFamily="18" charset="0"/>
                          </a:rPr>
                        </m:ctrlPr>
                      </m:dPr>
                      <m:e>
                        <m:r>
                          <a:rPr lang="ar-AE" sz="800" i="1">
                            <a:solidFill>
                              <a:schemeClr val="tx1"/>
                            </a:solidFill>
                            <a:latin typeface="Cambria Math" panose="02040503050406030204" pitchFamily="18" charset="0"/>
                          </a:rPr>
                          <m:t>𝑇</m:t>
                        </m:r>
                        <m:r>
                          <a:rPr lang="ar-AE" sz="800" i="0">
                            <a:solidFill>
                              <a:schemeClr val="tx1"/>
                            </a:solidFill>
                            <a:latin typeface="Cambria Math" panose="02040503050406030204" pitchFamily="18" charset="0"/>
                          </a:rPr>
                          <m:t>+</m:t>
                        </m:r>
                        <m:r>
                          <a:rPr lang="ar-AE" sz="800" i="1">
                            <a:solidFill>
                              <a:schemeClr val="tx1"/>
                            </a:solidFill>
                            <a:latin typeface="Cambria Math" panose="02040503050406030204" pitchFamily="18" charset="0"/>
                          </a:rPr>
                          <m:t>h</m:t>
                        </m:r>
                      </m:e>
                    </m:d>
                  </m:oMath>
                </a14:m>
                <a:r>
                  <a:rPr lang="ar-AE" sz="800" b="0" i="0" dirty="0">
                    <a:solidFill>
                      <a:schemeClr val="tx1"/>
                    </a:solidFill>
                    <a:effectLst/>
                    <a:latin typeface="Segoe WPC"/>
                  </a:rPr>
                  <a:t> </a:t>
                </a:r>
                <a:r>
                  <a:rPr lang="es-PE" sz="800" b="0" i="0" dirty="0">
                    <a:solidFill>
                      <a:schemeClr val="tx1"/>
                    </a:solidFill>
                    <a:effectLst/>
                    <a:latin typeface="Segoe WPC"/>
                  </a:rPr>
                  <a:t>in a linear </a:t>
                </a:r>
                <a:r>
                  <a:rPr lang="es-PE" sz="800" b="0" i="0" dirty="0" err="1">
                    <a:solidFill>
                      <a:schemeClr val="tx1"/>
                    </a:solidFill>
                    <a:effectLst/>
                    <a:latin typeface="Segoe WPC"/>
                  </a:rPr>
                  <a:t>trend</a:t>
                </a:r>
                <a:r>
                  <a:rPr lang="es-PE" sz="800" b="0" i="0" dirty="0">
                    <a:solidFill>
                      <a:schemeClr val="tx1"/>
                    </a:solidFill>
                    <a:effectLst/>
                    <a:latin typeface="Segoe WPC"/>
                  </a:rPr>
                  <a:t> </a:t>
                </a:r>
                <a:r>
                  <a:rPr lang="es-PE" sz="800" b="0" i="0" dirty="0" err="1">
                    <a:solidFill>
                      <a:schemeClr val="tx1"/>
                    </a:solidFill>
                    <a:effectLst/>
                    <a:latin typeface="Segoe WPC"/>
                  </a:rPr>
                  <a:t>model</a:t>
                </a:r>
                <a:r>
                  <a:rPr lang="es-PE" sz="800" b="0" i="0" dirty="0">
                    <a:solidFill>
                      <a:schemeClr val="tx1"/>
                    </a:solidFill>
                    <a:effectLst/>
                    <a:latin typeface="Segoe WPC"/>
                  </a:rPr>
                  <a:t>. </a:t>
                </a:r>
                <a:r>
                  <a:rPr lang="es-PE" sz="800" b="0" i="0" dirty="0" err="1">
                    <a:solidFill>
                      <a:schemeClr val="tx1"/>
                    </a:solidFill>
                    <a:effectLst/>
                    <a:latin typeface="Segoe WPC"/>
                  </a:rPr>
                  <a:t>Seasonal</a:t>
                </a:r>
                <a:r>
                  <a:rPr lang="es-PE" sz="800" b="0" i="0" dirty="0">
                    <a:solidFill>
                      <a:schemeClr val="tx1"/>
                    </a:solidFill>
                    <a:effectLst/>
                    <a:latin typeface="Segoe WPC"/>
                  </a:rPr>
                  <a:t> </a:t>
                </a:r>
                <a:r>
                  <a:rPr lang="es-PE" sz="800" b="0" i="0" dirty="0" err="1">
                    <a:solidFill>
                      <a:schemeClr val="tx1"/>
                    </a:solidFill>
                    <a:effectLst/>
                    <a:latin typeface="Segoe WPC"/>
                  </a:rPr>
                  <a:t>dummy</a:t>
                </a:r>
                <a:r>
                  <a:rPr lang="es-PE" sz="800" b="0" i="0" dirty="0">
                    <a:solidFill>
                      <a:schemeClr val="tx1"/>
                    </a:solidFill>
                    <a:effectLst/>
                    <a:latin typeface="Segoe WPC"/>
                  </a:rPr>
                  <a:t> </a:t>
                </a:r>
                <a:r>
                  <a:rPr lang="es-PE" sz="800" b="0" i="0" dirty="0" err="1">
                    <a:solidFill>
                      <a:schemeClr val="tx1"/>
                    </a:solidFill>
                    <a:effectLst/>
                    <a:latin typeface="Segoe WPC"/>
                  </a:rPr>
                  <a:t>forecast</a:t>
                </a:r>
                <a:r>
                  <a:rPr lang="es-PE" sz="800" b="0" i="0" dirty="0">
                    <a:solidFill>
                      <a:schemeClr val="tx1"/>
                    </a:solidFill>
                    <a:effectLst/>
                    <a:latin typeface="Segoe WPC"/>
                  </a:rPr>
                  <a:t> uses </a:t>
                </a:r>
                <a:r>
                  <a:rPr lang="es-PE" sz="800" b="0" i="0" dirty="0" err="1">
                    <a:solidFill>
                      <a:schemeClr val="tx1"/>
                    </a:solidFill>
                    <a:effectLst/>
                    <a:latin typeface="Segoe WPC"/>
                  </a:rPr>
                  <a:t>the</a:t>
                </a:r>
                <a:r>
                  <a:rPr lang="es-PE" sz="800" b="0" i="0" dirty="0">
                    <a:solidFill>
                      <a:schemeClr val="tx1"/>
                    </a:solidFill>
                    <a:effectLst/>
                    <a:latin typeface="Segoe WPC"/>
                  </a:rPr>
                  <a:t> </a:t>
                </a:r>
                <a:r>
                  <a:rPr lang="es-PE" sz="800" b="0" i="0" dirty="0" err="1">
                    <a:solidFill>
                      <a:schemeClr val="tx1"/>
                    </a:solidFill>
                    <a:effectLst/>
                    <a:latin typeface="Segoe WPC"/>
                  </a:rPr>
                  <a:t>dummy</a:t>
                </a:r>
                <a:r>
                  <a:rPr lang="es-PE" sz="800" b="0" i="0" dirty="0">
                    <a:solidFill>
                      <a:schemeClr val="tx1"/>
                    </a:solidFill>
                    <a:effectLst/>
                    <a:latin typeface="Segoe WPC"/>
                  </a:rPr>
                  <a:t> </a:t>
                </a:r>
                <a:r>
                  <a:rPr lang="es-PE" sz="800" b="0" i="0" dirty="0" err="1">
                    <a:solidFill>
                      <a:schemeClr val="tx1"/>
                    </a:solidFill>
                    <a:effectLst/>
                    <a:latin typeface="Segoe WPC"/>
                  </a:rPr>
                  <a:t>for</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future </a:t>
                </a:r>
                <a:r>
                  <a:rPr lang="es-PE" sz="800" b="0" i="0" dirty="0" err="1">
                    <a:solidFill>
                      <a:schemeClr val="tx1"/>
                    </a:solidFill>
                    <a:effectLst/>
                    <a:latin typeface="Segoe WPC"/>
                  </a:rPr>
                  <a:t>season</a:t>
                </a:r>
                <a:r>
                  <a:rPr lang="es-PE" sz="800" b="0" i="0" dirty="0">
                    <a:solidFill>
                      <a:schemeClr val="tx1"/>
                    </a:solidFill>
                    <a:effectLst/>
                    <a:latin typeface="Segoe WPC"/>
                  </a:rPr>
                  <a:t>. </a:t>
                </a:r>
                <a:r>
                  <a:rPr lang="es-PE" sz="800" b="0" i="0" dirty="0" err="1">
                    <a:solidFill>
                      <a:schemeClr val="tx1"/>
                    </a:solidFill>
                    <a:effectLst/>
                    <a:latin typeface="Segoe WPC"/>
                  </a:rPr>
                  <a:t>Forecast</a:t>
                </a:r>
                <a:r>
                  <a:rPr lang="es-PE" sz="800" b="0" i="0" dirty="0">
                    <a:solidFill>
                      <a:schemeClr val="tx1"/>
                    </a:solidFill>
                    <a:effectLst/>
                    <a:latin typeface="Segoe WPC"/>
                  </a:rPr>
                  <a:t> </a:t>
                </a:r>
                <a:r>
                  <a:rPr lang="es-PE" sz="800" b="0" i="0" dirty="0" err="1">
                    <a:solidFill>
                      <a:schemeClr val="tx1"/>
                    </a:solidFill>
                    <a:effectLst/>
                    <a:latin typeface="Segoe WPC"/>
                  </a:rPr>
                  <a:t>intervals</a:t>
                </a:r>
                <a:r>
                  <a:rPr lang="es-PE" sz="800" b="0" i="0" dirty="0">
                    <a:solidFill>
                      <a:schemeClr val="tx1"/>
                    </a:solidFill>
                    <a:effectLst/>
                    <a:latin typeface="Segoe WPC"/>
                  </a:rPr>
                  <a:t> use </a:t>
                </a:r>
                <a:r>
                  <a:rPr lang="es-PE" sz="800" b="0" i="0" dirty="0" err="1">
                    <a:solidFill>
                      <a:schemeClr val="tx1"/>
                    </a:solidFill>
                    <a:effectLst/>
                    <a:latin typeface="Segoe WPC"/>
                  </a:rPr>
                  <a:t>the</a:t>
                </a:r>
                <a:r>
                  <a:rPr lang="es-PE" sz="800" b="0" i="0" dirty="0">
                    <a:solidFill>
                      <a:schemeClr val="tx1"/>
                    </a:solidFill>
                    <a:effectLst/>
                    <a:latin typeface="Segoe WPC"/>
                  </a:rPr>
                  <a:t> </a:t>
                </a:r>
                <a:r>
                  <a:rPr lang="es-PE" sz="800" b="0" i="0" dirty="0" err="1">
                    <a:solidFill>
                      <a:schemeClr val="tx1"/>
                    </a:solidFill>
                    <a:effectLst/>
                    <a:latin typeface="Segoe WPC"/>
                  </a:rPr>
                  <a:t>forecast</a:t>
                </a:r>
                <a:r>
                  <a:rPr lang="es-PE" sz="800" b="0" i="0" dirty="0">
                    <a:solidFill>
                      <a:schemeClr val="tx1"/>
                    </a:solidFill>
                    <a:effectLst/>
                    <a:latin typeface="Segoe WPC"/>
                  </a:rPr>
                  <a:t> error </a:t>
                </a:r>
                <a:r>
                  <a:rPr lang="es-PE" sz="800" b="0" i="0" dirty="0" err="1">
                    <a:solidFill>
                      <a:schemeClr val="tx1"/>
                    </a:solidFill>
                    <a:effectLst/>
                    <a:latin typeface="Segoe WPC"/>
                  </a:rPr>
                  <a:t>variance</a:t>
                </a:r>
                <a:r>
                  <a:rPr lang="es-PE" sz="800" b="0" i="0" dirty="0">
                    <a:solidFill>
                      <a:schemeClr val="tx1"/>
                    </a:solidFill>
                    <a:effectLst/>
                    <a:latin typeface="Segoe WPC"/>
                  </a:rPr>
                  <a:t> </a:t>
                </a:r>
                <a:r>
                  <a:rPr lang="es-PE" sz="800" b="0" i="0" dirty="0" err="1">
                    <a:solidFill>
                      <a:schemeClr val="tx1"/>
                    </a:solidFill>
                    <a:effectLst/>
                    <a:latin typeface="Segoe WPC"/>
                  </a:rPr>
                  <a:t>around</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a:t>
                </a:r>
                <a:r>
                  <a:rPr lang="es-PE" sz="800" b="0" i="0" dirty="0" err="1">
                    <a:solidFill>
                      <a:schemeClr val="tx1"/>
                    </a:solidFill>
                    <a:effectLst/>
                    <a:latin typeface="Segoe WPC"/>
                  </a:rPr>
                  <a:t>point</a:t>
                </a:r>
                <a:r>
                  <a:rPr lang="es-PE" sz="800" b="0" i="0" dirty="0">
                    <a:solidFill>
                      <a:schemeClr val="tx1"/>
                    </a:solidFill>
                    <a:effectLst/>
                    <a:latin typeface="Segoe WPC"/>
                  </a:rPr>
                  <a:t> </a:t>
                </a:r>
                <a:r>
                  <a:rPr lang="es-PE" sz="800" b="0" i="0" dirty="0" err="1">
                    <a:solidFill>
                      <a:schemeClr val="tx1"/>
                    </a:solidFill>
                    <a:effectLst/>
                    <a:latin typeface="Segoe WPC"/>
                  </a:rPr>
                  <a:t>forecast</a:t>
                </a:r>
                <a:r>
                  <a:rPr lang="es-PE" sz="800" b="0" i="0" dirty="0">
                    <a:solidFill>
                      <a:schemeClr val="tx1"/>
                    </a:solidFill>
                    <a:effectLst/>
                    <a:latin typeface="Segoe WPC"/>
                  </a:rPr>
                  <a:t>.</a:t>
                </a:r>
                <a:br>
                  <a:rPr lang="es-PE" sz="800" dirty="0">
                    <a:solidFill>
                      <a:schemeClr val="tx1"/>
                    </a:solidFill>
                  </a:rPr>
                </a:br>
                <a:r>
                  <a:rPr lang="es-PE" sz="800" b="1" i="0" dirty="0" err="1">
                    <a:solidFill>
                      <a:schemeClr val="tx1"/>
                    </a:solidFill>
                    <a:effectLst/>
                    <a:latin typeface="Segoe WPC"/>
                  </a:rPr>
                  <a:t>Interpretation</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If</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a:t>
                </a:r>
                <a:r>
                  <a:rPr lang="es-PE" sz="800" b="0" i="0" dirty="0" err="1">
                    <a:solidFill>
                      <a:schemeClr val="tx1"/>
                    </a:solidFill>
                    <a:effectLst/>
                    <a:latin typeface="Segoe WPC"/>
                  </a:rPr>
                  <a:t>process</a:t>
                </a:r>
                <a:r>
                  <a:rPr lang="es-PE" sz="800" b="0" i="0" dirty="0">
                    <a:solidFill>
                      <a:schemeClr val="tx1"/>
                    </a:solidFill>
                    <a:effectLst/>
                    <a:latin typeface="Segoe WPC"/>
                  </a:rPr>
                  <a:t> </a:t>
                </a:r>
                <a:r>
                  <a:rPr lang="es-PE" sz="800" b="0" i="0" dirty="0" err="1">
                    <a:solidFill>
                      <a:schemeClr val="tx1"/>
                    </a:solidFill>
                    <a:effectLst/>
                    <a:latin typeface="Segoe WPC"/>
                  </a:rPr>
                  <a:t>is</a:t>
                </a:r>
                <a:r>
                  <a:rPr lang="es-PE" sz="800" b="0" i="0" dirty="0">
                    <a:solidFill>
                      <a:schemeClr val="tx1"/>
                    </a:solidFill>
                    <a:effectLst/>
                    <a:latin typeface="Segoe WPC"/>
                  </a:rPr>
                  <a:t> </a:t>
                </a:r>
                <a:r>
                  <a:rPr lang="es-PE" sz="800" b="0" i="0" dirty="0" err="1">
                    <a:solidFill>
                      <a:schemeClr val="tx1"/>
                    </a:solidFill>
                    <a:effectLst/>
                    <a:latin typeface="Segoe WPC"/>
                  </a:rPr>
                  <a:t>stationary</a:t>
                </a:r>
                <a:r>
                  <a:rPr lang="es-PE" sz="800" b="0" i="0" dirty="0">
                    <a:solidFill>
                      <a:schemeClr val="tx1"/>
                    </a:solidFill>
                    <a:effectLst/>
                    <a:latin typeface="Segoe WPC"/>
                  </a:rPr>
                  <a:t> after </a:t>
                </a:r>
                <a:r>
                  <a:rPr lang="es-PE" sz="800" b="0" i="0" dirty="0" err="1">
                    <a:solidFill>
                      <a:schemeClr val="tx1"/>
                    </a:solidFill>
                    <a:effectLst/>
                    <a:latin typeface="Segoe WPC"/>
                  </a:rPr>
                  <a:t>detrending</a:t>
                </a:r>
                <a:r>
                  <a:rPr lang="es-PE" sz="800" b="0" i="0" dirty="0">
                    <a:solidFill>
                      <a:schemeClr val="tx1"/>
                    </a:solidFill>
                    <a:effectLst/>
                    <a:latin typeface="Segoe WPC"/>
                  </a:rPr>
                  <a:t>, </a:t>
                </a:r>
                <a:r>
                  <a:rPr lang="es-PE" sz="800" b="0" i="0" dirty="0" err="1">
                    <a:solidFill>
                      <a:schemeClr val="tx1"/>
                    </a:solidFill>
                    <a:effectLst/>
                    <a:latin typeface="Segoe WPC"/>
                  </a:rPr>
                  <a:t>forecasts</a:t>
                </a:r>
                <a:r>
                  <a:rPr lang="es-PE" sz="800" b="0" i="0" dirty="0">
                    <a:solidFill>
                      <a:schemeClr val="tx1"/>
                    </a:solidFill>
                    <a:effectLst/>
                    <a:latin typeface="Segoe WPC"/>
                  </a:rPr>
                  <a:t> </a:t>
                </a:r>
                <a:r>
                  <a:rPr lang="es-PE" sz="800" b="0" i="0" dirty="0" err="1">
                    <a:solidFill>
                      <a:schemeClr val="tx1"/>
                    </a:solidFill>
                    <a:effectLst/>
                    <a:latin typeface="Segoe WPC"/>
                  </a:rPr>
                  <a:t>eventually</a:t>
                </a:r>
                <a:r>
                  <a:rPr lang="es-PE" sz="800" b="0" i="0" dirty="0">
                    <a:solidFill>
                      <a:schemeClr val="tx1"/>
                    </a:solidFill>
                    <a:effectLst/>
                    <a:latin typeface="Segoe WPC"/>
                  </a:rPr>
                  <a:t> </a:t>
                </a:r>
                <a:r>
                  <a:rPr lang="es-PE" sz="800" b="0" i="0" dirty="0" err="1">
                    <a:solidFill>
                      <a:schemeClr val="tx1"/>
                    </a:solidFill>
                    <a:effectLst/>
                    <a:latin typeface="Segoe WPC"/>
                  </a:rPr>
                  <a:t>revert</a:t>
                </a:r>
                <a:r>
                  <a:rPr lang="es-PE" sz="800" b="0" i="0" dirty="0">
                    <a:solidFill>
                      <a:schemeClr val="tx1"/>
                    </a:solidFill>
                    <a:effectLst/>
                    <a:latin typeface="Segoe WPC"/>
                  </a:rPr>
                  <a:t> </a:t>
                </a:r>
                <a:r>
                  <a:rPr lang="es-PE" sz="800" b="0" i="0" dirty="0" err="1">
                    <a:solidFill>
                      <a:schemeClr val="tx1"/>
                    </a:solidFill>
                    <a:effectLst/>
                    <a:latin typeface="Segoe WPC"/>
                  </a:rPr>
                  <a:t>to</a:t>
                </a:r>
                <a:r>
                  <a:rPr lang="es-PE" sz="800" b="0" i="0" dirty="0">
                    <a:solidFill>
                      <a:schemeClr val="tx1"/>
                    </a:solidFill>
                    <a:effectLst/>
                    <a:latin typeface="Segoe WPC"/>
                  </a:rPr>
                  <a:t> </a:t>
                </a:r>
                <a:r>
                  <a:rPr lang="es-PE" sz="800" b="0" i="0" dirty="0" err="1">
                    <a:solidFill>
                      <a:schemeClr val="tx1"/>
                    </a:solidFill>
                    <a:effectLst/>
                    <a:latin typeface="Segoe WPC"/>
                  </a:rPr>
                  <a:t>seasonal</a:t>
                </a:r>
                <a:r>
                  <a:rPr lang="es-PE" sz="800" b="0" i="0" dirty="0">
                    <a:solidFill>
                      <a:schemeClr val="tx1"/>
                    </a:solidFill>
                    <a:effectLst/>
                    <a:latin typeface="Segoe WPC"/>
                  </a:rPr>
                  <a:t> </a:t>
                </a:r>
                <a:r>
                  <a:rPr lang="es-PE" sz="800" b="0" i="0" dirty="0" err="1">
                    <a:solidFill>
                      <a:schemeClr val="tx1"/>
                    </a:solidFill>
                    <a:effectLst/>
                    <a:latin typeface="Segoe WPC"/>
                  </a:rPr>
                  <a:t>or</a:t>
                </a:r>
                <a:r>
                  <a:rPr lang="es-PE" sz="800" b="0" i="0" dirty="0">
                    <a:solidFill>
                      <a:schemeClr val="tx1"/>
                    </a:solidFill>
                    <a:effectLst/>
                    <a:latin typeface="Segoe WPC"/>
                  </a:rPr>
                  <a:t> </a:t>
                </a:r>
                <a:r>
                  <a:rPr lang="es-PE" sz="800" b="0" i="0" dirty="0" err="1">
                    <a:solidFill>
                      <a:schemeClr val="tx1"/>
                    </a:solidFill>
                    <a:effectLst/>
                    <a:latin typeface="Segoe WPC"/>
                  </a:rPr>
                  <a:t>unconditional</a:t>
                </a:r>
                <a:r>
                  <a:rPr lang="es-PE" sz="800" b="0" i="0" dirty="0">
                    <a:solidFill>
                      <a:schemeClr val="tx1"/>
                    </a:solidFill>
                    <a:effectLst/>
                    <a:latin typeface="Segoe WPC"/>
                  </a:rPr>
                  <a:t> </a:t>
                </a:r>
                <a:r>
                  <a:rPr lang="es-PE" sz="800" b="0" i="0" dirty="0" err="1">
                    <a:solidFill>
                      <a:schemeClr val="tx1"/>
                    </a:solidFill>
                    <a:effectLst/>
                    <a:latin typeface="Segoe WPC"/>
                  </a:rPr>
                  <a:t>means</a:t>
                </a:r>
                <a:r>
                  <a:rPr lang="es-PE" sz="800" b="0" i="0" dirty="0">
                    <a:solidFill>
                      <a:schemeClr val="tx1"/>
                    </a:solidFill>
                    <a:effectLst/>
                    <a:latin typeface="Segoe WPC"/>
                  </a:rPr>
                  <a:t>; </a:t>
                </a:r>
                <a:r>
                  <a:rPr lang="es-PE" sz="800" b="0" i="0" dirty="0" err="1">
                    <a:solidFill>
                      <a:schemeClr val="tx1"/>
                    </a:solidFill>
                    <a:effectLst/>
                    <a:latin typeface="Segoe WPC"/>
                  </a:rPr>
                  <a:t>if</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a:t>
                </a:r>
                <a:r>
                  <a:rPr lang="es-PE" sz="800" b="0" i="0" dirty="0" err="1">
                    <a:solidFill>
                      <a:schemeClr val="tx1"/>
                    </a:solidFill>
                    <a:effectLst/>
                    <a:latin typeface="Segoe WPC"/>
                  </a:rPr>
                  <a:t>process</a:t>
                </a:r>
                <a:r>
                  <a:rPr lang="es-PE" sz="800" b="0" i="0" dirty="0">
                    <a:solidFill>
                      <a:schemeClr val="tx1"/>
                    </a:solidFill>
                    <a:effectLst/>
                    <a:latin typeface="Segoe WPC"/>
                  </a:rPr>
                  <a:t> has a </a:t>
                </a:r>
                <a:r>
                  <a:rPr lang="es-PE" sz="800" b="0" i="0" dirty="0" err="1">
                    <a:solidFill>
                      <a:schemeClr val="tx1"/>
                    </a:solidFill>
                    <a:effectLst/>
                    <a:latin typeface="Segoe WPC"/>
                  </a:rPr>
                  <a:t>unit</a:t>
                </a:r>
                <a:r>
                  <a:rPr lang="es-PE" sz="800" b="0" i="0" dirty="0">
                    <a:solidFill>
                      <a:schemeClr val="tx1"/>
                    </a:solidFill>
                    <a:effectLst/>
                    <a:latin typeface="Segoe WPC"/>
                  </a:rPr>
                  <a:t> </a:t>
                </a:r>
                <a:r>
                  <a:rPr lang="es-PE" sz="800" b="0" i="0" dirty="0" err="1">
                    <a:solidFill>
                      <a:schemeClr val="tx1"/>
                    </a:solidFill>
                    <a:effectLst/>
                    <a:latin typeface="Segoe WPC"/>
                  </a:rPr>
                  <a:t>root</a:t>
                </a:r>
                <a:r>
                  <a:rPr lang="es-PE" sz="800" b="0" i="0" dirty="0">
                    <a:solidFill>
                      <a:schemeClr val="tx1"/>
                    </a:solidFill>
                    <a:effectLst/>
                    <a:latin typeface="Segoe WPC"/>
                  </a:rPr>
                  <a:t>, </a:t>
                </a:r>
                <a:r>
                  <a:rPr lang="es-PE" sz="800" b="0" i="0" dirty="0" err="1">
                    <a:solidFill>
                      <a:schemeClr val="tx1"/>
                    </a:solidFill>
                    <a:effectLst/>
                    <a:latin typeface="Segoe WPC"/>
                  </a:rPr>
                  <a:t>differencing</a:t>
                </a:r>
                <a:r>
                  <a:rPr lang="es-PE" sz="800" b="0" i="0" dirty="0">
                    <a:solidFill>
                      <a:schemeClr val="tx1"/>
                    </a:solidFill>
                    <a:effectLst/>
                    <a:latin typeface="Segoe WPC"/>
                  </a:rPr>
                  <a:t> </a:t>
                </a:r>
                <a:r>
                  <a:rPr lang="es-PE" sz="800" b="0" i="0" dirty="0" err="1">
                    <a:solidFill>
                      <a:schemeClr val="tx1"/>
                    </a:solidFill>
                    <a:effectLst/>
                    <a:latin typeface="Segoe WPC"/>
                  </a:rPr>
                  <a:t>is</a:t>
                </a:r>
                <a:r>
                  <a:rPr lang="es-PE" sz="800" b="0" i="0" dirty="0">
                    <a:solidFill>
                      <a:schemeClr val="tx1"/>
                    </a:solidFill>
                    <a:effectLst/>
                    <a:latin typeface="Segoe WPC"/>
                  </a:rPr>
                  <a:t> </a:t>
                </a:r>
                <a:r>
                  <a:rPr lang="es-PE" sz="800" b="0" i="0" dirty="0" err="1">
                    <a:solidFill>
                      <a:schemeClr val="tx1"/>
                    </a:solidFill>
                    <a:effectLst/>
                    <a:latin typeface="Segoe WPC"/>
                  </a:rPr>
                  <a:t>usually</a:t>
                </a:r>
                <a:r>
                  <a:rPr lang="es-PE" sz="800" b="0" i="0" dirty="0">
                    <a:solidFill>
                      <a:schemeClr val="tx1"/>
                    </a:solidFill>
                    <a:effectLst/>
                    <a:latin typeface="Segoe WPC"/>
                  </a:rPr>
                  <a:t> </a:t>
                </a:r>
                <a:r>
                  <a:rPr lang="es-PE" sz="800" b="0" i="0" dirty="0" err="1">
                    <a:solidFill>
                      <a:schemeClr val="tx1"/>
                    </a:solidFill>
                    <a:effectLst/>
                    <a:latin typeface="Segoe WPC"/>
                  </a:rPr>
                  <a:t>required</a:t>
                </a:r>
                <a:r>
                  <a:rPr lang="es-PE" sz="800" b="0" i="0" dirty="0">
                    <a:solidFill>
                      <a:schemeClr val="tx1"/>
                    </a:solidFill>
                    <a:effectLst/>
                    <a:latin typeface="Segoe WPC"/>
                  </a:rPr>
                  <a:t>. </a:t>
                </a:r>
                <a:r>
                  <a:rPr lang="es-PE" sz="800" b="0" i="0" dirty="0" err="1">
                    <a:solidFill>
                      <a:schemeClr val="tx1"/>
                    </a:solidFill>
                    <a:effectLst/>
                    <a:latin typeface="Segoe WPC"/>
                  </a:rPr>
                  <a:t>When</a:t>
                </a:r>
                <a:r>
                  <a:rPr lang="es-PE" sz="800" b="0" i="0" dirty="0">
                    <a:solidFill>
                      <a:schemeClr val="tx1"/>
                    </a:solidFill>
                    <a:effectLst/>
                    <a:latin typeface="Segoe WPC"/>
                  </a:rPr>
                  <a:t> </a:t>
                </a:r>
                <a:r>
                  <a:rPr lang="es-PE" sz="800" b="0" i="0" dirty="0" err="1">
                    <a:solidFill>
                      <a:schemeClr val="tx1"/>
                    </a:solidFill>
                    <a:effectLst/>
                    <a:latin typeface="Segoe WPC"/>
                  </a:rPr>
                  <a:t>persistence</a:t>
                </a:r>
                <a:r>
                  <a:rPr lang="es-PE" sz="800" b="0" i="0" dirty="0">
                    <a:solidFill>
                      <a:schemeClr val="tx1"/>
                    </a:solidFill>
                    <a:effectLst/>
                    <a:latin typeface="Segoe WPC"/>
                  </a:rPr>
                  <a:t> </a:t>
                </a:r>
                <a:r>
                  <a:rPr lang="es-PE" sz="800" b="0" i="0" dirty="0" err="1">
                    <a:solidFill>
                      <a:schemeClr val="tx1"/>
                    </a:solidFill>
                    <a:effectLst/>
                    <a:latin typeface="Segoe WPC"/>
                  </a:rPr>
                  <a:t>is</a:t>
                </a:r>
                <a:r>
                  <a:rPr lang="es-PE" sz="800" b="0" i="0" dirty="0">
                    <a:solidFill>
                      <a:schemeClr val="tx1"/>
                    </a:solidFill>
                    <a:effectLst/>
                    <a:latin typeface="Segoe WPC"/>
                  </a:rPr>
                  <a:t> </a:t>
                </a:r>
                <a:r>
                  <a:rPr lang="es-PE" sz="800" b="0" i="0" dirty="0" err="1">
                    <a:solidFill>
                      <a:schemeClr val="tx1"/>
                    </a:solidFill>
                    <a:effectLst/>
                    <a:latin typeface="Segoe WPC"/>
                  </a:rPr>
                  <a:t>borderline</a:t>
                </a:r>
                <a:r>
                  <a:rPr lang="es-PE" sz="800" b="0" i="0" dirty="0">
                    <a:solidFill>
                      <a:schemeClr val="tx1"/>
                    </a:solidFill>
                    <a:effectLst/>
                    <a:latin typeface="Segoe WPC"/>
                  </a:rPr>
                  <a:t>, </a:t>
                </a:r>
                <a:r>
                  <a:rPr lang="es-PE" sz="800" b="0" i="0" dirty="0" err="1">
                    <a:solidFill>
                      <a:schemeClr val="tx1"/>
                    </a:solidFill>
                    <a:effectLst/>
                    <a:latin typeface="Segoe WPC"/>
                  </a:rPr>
                  <a:t>it</a:t>
                </a:r>
                <a:r>
                  <a:rPr lang="es-PE" sz="800" b="0" i="0" dirty="0">
                    <a:solidFill>
                      <a:schemeClr val="tx1"/>
                    </a:solidFill>
                    <a:effectLst/>
                    <a:latin typeface="Segoe WPC"/>
                  </a:rPr>
                  <a:t> </a:t>
                </a:r>
                <a:r>
                  <a:rPr lang="es-PE" sz="800" b="0" i="0" dirty="0" err="1">
                    <a:solidFill>
                      <a:schemeClr val="tx1"/>
                    </a:solidFill>
                    <a:effectLst/>
                    <a:latin typeface="Segoe WPC"/>
                  </a:rPr>
                  <a:t>is</a:t>
                </a:r>
                <a:r>
                  <a:rPr lang="es-PE" sz="800" b="0" i="0" dirty="0">
                    <a:solidFill>
                      <a:schemeClr val="tx1"/>
                    </a:solidFill>
                    <a:effectLst/>
                    <a:latin typeface="Segoe WPC"/>
                  </a:rPr>
                  <a:t> </a:t>
                </a:r>
                <a:r>
                  <a:rPr lang="es-PE" sz="800" b="0" i="0" dirty="0" err="1">
                    <a:solidFill>
                      <a:schemeClr val="tx1"/>
                    </a:solidFill>
                    <a:effectLst/>
                    <a:latin typeface="Segoe WPC"/>
                  </a:rPr>
                  <a:t>good</a:t>
                </a:r>
                <a:r>
                  <a:rPr lang="es-PE" sz="800" b="0" i="0" dirty="0">
                    <a:solidFill>
                      <a:schemeClr val="tx1"/>
                    </a:solidFill>
                    <a:effectLst/>
                    <a:latin typeface="Segoe WPC"/>
                  </a:rPr>
                  <a:t> </a:t>
                </a:r>
                <a:r>
                  <a:rPr lang="es-PE" sz="800" b="0" i="0" dirty="0" err="1">
                    <a:solidFill>
                      <a:schemeClr val="tx1"/>
                    </a:solidFill>
                    <a:effectLst/>
                    <a:latin typeface="Segoe WPC"/>
                  </a:rPr>
                  <a:t>practice</a:t>
                </a:r>
                <a:r>
                  <a:rPr lang="es-PE" sz="800" b="0" i="0" dirty="0">
                    <a:solidFill>
                      <a:schemeClr val="tx1"/>
                    </a:solidFill>
                    <a:effectLst/>
                    <a:latin typeface="Segoe WPC"/>
                  </a:rPr>
                  <a:t> </a:t>
                </a:r>
                <a:r>
                  <a:rPr lang="es-PE" sz="800" b="0" i="0" dirty="0" err="1">
                    <a:solidFill>
                      <a:schemeClr val="tx1"/>
                    </a:solidFill>
                    <a:effectLst/>
                    <a:latin typeface="Segoe WPC"/>
                  </a:rPr>
                  <a:t>to</a:t>
                </a:r>
                <a:r>
                  <a:rPr lang="es-PE" sz="800" b="0" i="0" dirty="0">
                    <a:solidFill>
                      <a:schemeClr val="tx1"/>
                    </a:solidFill>
                    <a:effectLst/>
                    <a:latin typeface="Segoe WPC"/>
                  </a:rPr>
                  <a:t> </a:t>
                </a:r>
                <a:r>
                  <a:rPr lang="es-PE" sz="800" b="0" i="0" dirty="0" err="1">
                    <a:solidFill>
                      <a:schemeClr val="tx1"/>
                    </a:solidFill>
                    <a:effectLst/>
                    <a:latin typeface="Segoe WPC"/>
                  </a:rPr>
                  <a:t>model</a:t>
                </a:r>
                <a:r>
                  <a:rPr lang="es-PE" sz="800" b="0" i="0" dirty="0">
                    <a:solidFill>
                      <a:schemeClr val="tx1"/>
                    </a:solidFill>
                    <a:effectLst/>
                    <a:latin typeface="Segoe WPC"/>
                  </a:rPr>
                  <a:t> </a:t>
                </a:r>
                <a:r>
                  <a:rPr lang="es-PE" sz="800" b="0" i="0" dirty="0" err="1">
                    <a:solidFill>
                      <a:schemeClr val="tx1"/>
                    </a:solidFill>
                    <a:effectLst/>
                    <a:latin typeface="Segoe WPC"/>
                  </a:rPr>
                  <a:t>both</a:t>
                </a:r>
                <a:r>
                  <a:rPr lang="es-PE" sz="800" b="0" i="0" dirty="0">
                    <a:solidFill>
                      <a:schemeClr val="tx1"/>
                    </a:solidFill>
                    <a:effectLst/>
                    <a:latin typeface="Segoe WPC"/>
                  </a:rPr>
                  <a:t> </a:t>
                </a:r>
                <a:r>
                  <a:rPr lang="es-PE" sz="800" b="0" i="0" dirty="0" err="1">
                    <a:solidFill>
                      <a:schemeClr val="tx1"/>
                    </a:solidFill>
                    <a:effectLst/>
                    <a:latin typeface="Segoe WPC"/>
                  </a:rPr>
                  <a:t>levels</a:t>
                </a:r>
                <a:r>
                  <a:rPr lang="es-PE" sz="800" b="0" i="0" dirty="0">
                    <a:solidFill>
                      <a:schemeClr val="tx1"/>
                    </a:solidFill>
                    <a:effectLst/>
                    <a:latin typeface="Segoe WPC"/>
                  </a:rPr>
                  <a:t> and </a:t>
                </a:r>
                <a:r>
                  <a:rPr lang="es-PE" sz="800" b="0" i="0" dirty="0" err="1">
                    <a:solidFill>
                      <a:schemeClr val="tx1"/>
                    </a:solidFill>
                    <a:effectLst/>
                    <a:latin typeface="Segoe WPC"/>
                  </a:rPr>
                  <a:t>differences</a:t>
                </a:r>
                <a:r>
                  <a:rPr lang="es-PE" sz="800" b="0" i="0" dirty="0">
                    <a:solidFill>
                      <a:schemeClr val="tx1"/>
                    </a:solidFill>
                    <a:effectLst/>
                    <a:latin typeface="Segoe WPC"/>
                  </a:rPr>
                  <a:t> and compare </a:t>
                </a:r>
                <a:r>
                  <a:rPr lang="es-PE" sz="800" b="0" i="0" dirty="0" err="1">
                    <a:solidFill>
                      <a:schemeClr val="tx1"/>
                    </a:solidFill>
                    <a:effectLst/>
                    <a:latin typeface="Segoe WPC"/>
                  </a:rPr>
                  <a:t>results</a:t>
                </a:r>
                <a:r>
                  <a:rPr lang="es-PE" sz="800" b="0" i="0" dirty="0">
                    <a:solidFill>
                      <a:schemeClr val="tx1"/>
                    </a:solidFill>
                    <a:effectLst/>
                    <a:latin typeface="Segoe WPC"/>
                  </a:rPr>
                  <a:t>.</a:t>
                </a:r>
                <a:br>
                  <a:rPr lang="es-PE" sz="800" dirty="0">
                    <a:solidFill>
                      <a:schemeClr val="tx1"/>
                    </a:solidFill>
                  </a:rPr>
                </a:br>
                <a:r>
                  <a:rPr lang="es-PE" sz="800" b="1" i="0" dirty="0" err="1">
                    <a:solidFill>
                      <a:schemeClr val="tx1"/>
                    </a:solidFill>
                    <a:effectLst/>
                    <a:latin typeface="Segoe WPC"/>
                  </a:rPr>
                  <a:t>Exam</a:t>
                </a:r>
                <a:r>
                  <a:rPr lang="es-PE" sz="800" b="1" i="0" dirty="0">
                    <a:solidFill>
                      <a:schemeClr val="tx1"/>
                    </a:solidFill>
                    <a:effectLst/>
                    <a:latin typeface="Segoe WPC"/>
                  </a:rPr>
                  <a:t> </a:t>
                </a:r>
                <a:r>
                  <a:rPr lang="es-PE" sz="800" b="1" i="0" dirty="0" err="1">
                    <a:solidFill>
                      <a:schemeClr val="tx1"/>
                    </a:solidFill>
                    <a:effectLst/>
                    <a:latin typeface="Segoe WPC"/>
                  </a:rPr>
                  <a:t>Trap</a:t>
                </a:r>
                <a:r>
                  <a:rPr lang="es-PE" sz="800" b="1" i="0" dirty="0">
                    <a:solidFill>
                      <a:schemeClr val="tx1"/>
                    </a:solidFill>
                    <a:effectLst/>
                    <a:latin typeface="Segoe WPC"/>
                  </a:rPr>
                  <a:t>:</a:t>
                </a:r>
                <a:r>
                  <a:rPr lang="es-PE" sz="800" b="0" i="0" dirty="0">
                    <a:solidFill>
                      <a:schemeClr val="tx1"/>
                    </a:solidFill>
                    <a:effectLst/>
                    <a:latin typeface="Segoe WPC"/>
                  </a:rPr>
                  <a:t> A </a:t>
                </a:r>
                <a:r>
                  <a:rPr lang="es-PE" sz="800" b="0" i="0" dirty="0" err="1">
                    <a:solidFill>
                      <a:schemeClr val="tx1"/>
                    </a:solidFill>
                    <a:effectLst/>
                    <a:latin typeface="Segoe WPC"/>
                  </a:rPr>
                  <a:t>significant</a:t>
                </a:r>
                <a:r>
                  <a:rPr lang="es-PE" sz="800" b="0" i="0" dirty="0">
                    <a:solidFill>
                      <a:schemeClr val="tx1"/>
                    </a:solidFill>
                    <a:effectLst/>
                    <a:latin typeface="Segoe WPC"/>
                  </a:rPr>
                  <a:t> </a:t>
                </a:r>
                <a:r>
                  <a:rPr lang="es-PE" sz="800" b="0" i="0" dirty="0" err="1">
                    <a:solidFill>
                      <a:schemeClr val="tx1"/>
                    </a:solidFill>
                    <a:effectLst/>
                    <a:latin typeface="Segoe WPC"/>
                  </a:rPr>
                  <a:t>regression</a:t>
                </a:r>
                <a:r>
                  <a:rPr lang="es-PE" sz="800" b="0" i="0" dirty="0">
                    <a:solidFill>
                      <a:schemeClr val="tx1"/>
                    </a:solidFill>
                    <a:effectLst/>
                    <a:latin typeface="Segoe WPC"/>
                  </a:rPr>
                  <a:t> in </a:t>
                </a:r>
                <a:r>
                  <a:rPr lang="es-PE" sz="800" b="0" i="0" dirty="0" err="1">
                    <a:solidFill>
                      <a:schemeClr val="tx1"/>
                    </a:solidFill>
                    <a:effectLst/>
                    <a:latin typeface="Segoe WPC"/>
                  </a:rPr>
                  <a:t>levels</a:t>
                </a:r>
                <a:r>
                  <a:rPr lang="es-PE" sz="800" b="0" i="0" dirty="0">
                    <a:solidFill>
                      <a:schemeClr val="tx1"/>
                    </a:solidFill>
                    <a:effectLst/>
                    <a:latin typeface="Segoe WPC"/>
                  </a:rPr>
                  <a:t> can be </a:t>
                </a:r>
                <a:r>
                  <a:rPr lang="es-PE" sz="800" b="0" i="0" dirty="0" err="1">
                    <a:solidFill>
                      <a:schemeClr val="tx1"/>
                    </a:solidFill>
                    <a:effectLst/>
                    <a:latin typeface="Segoe WPC"/>
                  </a:rPr>
                  <a:t>spurious</a:t>
                </a:r>
                <a:r>
                  <a:rPr lang="es-PE" sz="800" b="0" i="0" dirty="0">
                    <a:solidFill>
                      <a:schemeClr val="tx1"/>
                    </a:solidFill>
                    <a:effectLst/>
                    <a:latin typeface="Segoe WPC"/>
                  </a:rPr>
                  <a:t> </a:t>
                </a:r>
                <a:r>
                  <a:rPr lang="es-PE" sz="800" b="0" i="0" dirty="0" err="1">
                    <a:solidFill>
                      <a:schemeClr val="tx1"/>
                    </a:solidFill>
                    <a:effectLst/>
                    <a:latin typeface="Segoe WPC"/>
                  </a:rPr>
                  <a:t>if</a:t>
                </a:r>
                <a:r>
                  <a:rPr lang="es-PE" sz="800" b="0" i="0" dirty="0">
                    <a:solidFill>
                      <a:schemeClr val="tx1"/>
                    </a:solidFill>
                    <a:effectLst/>
                    <a:latin typeface="Segoe WPC"/>
                  </a:rPr>
                  <a:t> </a:t>
                </a:r>
                <a:r>
                  <a:rPr lang="es-PE" sz="800" b="0" i="0" dirty="0" err="1">
                    <a:solidFill>
                      <a:schemeClr val="tx1"/>
                    </a:solidFill>
                    <a:effectLst/>
                    <a:latin typeface="Segoe WPC"/>
                  </a:rPr>
                  <a:t>the</a:t>
                </a:r>
                <a:r>
                  <a:rPr lang="es-PE" sz="800" b="0" i="0" dirty="0">
                    <a:solidFill>
                      <a:schemeClr val="tx1"/>
                    </a:solidFill>
                    <a:effectLst/>
                    <a:latin typeface="Segoe WPC"/>
                  </a:rPr>
                  <a:t> variables are non-</a:t>
                </a:r>
                <a:r>
                  <a:rPr lang="es-PE" sz="800" b="0" i="0" dirty="0" err="1">
                    <a:solidFill>
                      <a:schemeClr val="tx1"/>
                    </a:solidFill>
                    <a:effectLst/>
                    <a:latin typeface="Segoe WPC"/>
                  </a:rPr>
                  <a:t>stationary</a:t>
                </a:r>
                <a:r>
                  <a:rPr lang="es-PE" sz="800" b="0" i="0" dirty="0">
                    <a:solidFill>
                      <a:schemeClr val="tx1"/>
                    </a:solidFill>
                    <a:effectLst/>
                    <a:latin typeface="Segoe WPC"/>
                  </a:rPr>
                  <a:t>.</a:t>
                </a:r>
                <a:endParaRPr lang="es-PE" sz="800" dirty="0">
                  <a:solidFill>
                    <a:schemeClr val="tx1"/>
                  </a:solidFill>
                </a:endParaRPr>
              </a:p>
            </p:txBody>
          </p:sp>
        </mc:Choice>
        <mc:Fallback xmlns="">
          <p:sp>
            <p:nvSpPr>
              <p:cNvPr id="25" name="CuadroTexto 24">
                <a:extLst>
                  <a:ext uri="{FF2B5EF4-FFF2-40B4-BE49-F238E27FC236}">
                    <a16:creationId xmlns:a16="http://schemas.microsoft.com/office/drawing/2014/main" id="{DA4664C9-5634-8D38-963B-E8ACBEA5DE6A}"/>
                  </a:ext>
                </a:extLst>
              </p:cNvPr>
              <p:cNvSpPr txBox="1">
                <a:spLocks noRot="1" noChangeAspect="1" noMove="1" noResize="1" noEditPoints="1" noAdjustHandles="1" noChangeArrowheads="1" noChangeShapeType="1" noTextEdit="1"/>
              </p:cNvSpPr>
              <p:nvPr/>
            </p:nvSpPr>
            <p:spPr>
              <a:xfrm>
                <a:off x="6071734" y="4374933"/>
                <a:ext cx="6238874" cy="1692771"/>
              </a:xfrm>
              <a:prstGeom prst="rect">
                <a:avLst/>
              </a:prstGeom>
              <a:blipFill>
                <a:blip r:embed="rId5"/>
                <a:stretch>
                  <a:fillRect b="-361"/>
                </a:stretch>
              </a:blipFill>
            </p:spPr>
            <p:txBody>
              <a:bodyPr/>
              <a:lstStyle/>
              <a:p>
                <a:r>
                  <a:rPr lang="es-PE">
                    <a:noFill/>
                  </a:rPr>
                  <a:t> </a:t>
                </a:r>
              </a:p>
            </p:txBody>
          </p:sp>
        </mc:Fallback>
      </mc:AlternateContent>
    </p:spTree>
    <p:extLst>
      <p:ext uri="{BB962C8B-B14F-4D97-AF65-F5344CB8AC3E}">
        <p14:creationId xmlns:p14="http://schemas.microsoft.com/office/powerpoint/2010/main" val="42280152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F3A4C8-5E84-5687-4B19-2F84B1DD6D9E}"/>
              </a:ext>
            </a:extLst>
          </p:cNvPr>
          <p:cNvSpPr>
            <a:spLocks noGrp="1"/>
          </p:cNvSpPr>
          <p:nvPr>
            <p:ph type="title"/>
          </p:nvPr>
        </p:nvSpPr>
        <p:spPr>
          <a:xfrm>
            <a:off x="0" y="-163941"/>
            <a:ext cx="4514850" cy="478632"/>
          </a:xfrm>
        </p:spPr>
        <p:txBody>
          <a:bodyPr>
            <a:noAutofit/>
          </a:bodyPr>
          <a:lstStyle/>
          <a:p>
            <a:r>
              <a:rPr lang="es-PE" sz="2000" dirty="0"/>
              <a:t>Non-</a:t>
            </a:r>
            <a:r>
              <a:rPr lang="es-PE" sz="2000" dirty="0" err="1"/>
              <a:t>Stationary</a:t>
            </a:r>
            <a:r>
              <a:rPr lang="es-PE" sz="2000" dirty="0"/>
              <a:t> Time Series</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9B9A25B1-02D3-735E-98AD-5A8C1DDCF925}"/>
                  </a:ext>
                </a:extLst>
              </p:cNvPr>
              <p:cNvSpPr txBox="1"/>
              <p:nvPr/>
            </p:nvSpPr>
            <p:spPr>
              <a:xfrm>
                <a:off x="0" y="132913"/>
                <a:ext cx="6148614" cy="6777112"/>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Non-</a:t>
                </a:r>
                <a:r>
                  <a:rPr lang="es-PE" sz="900" b="1" i="0" dirty="0" err="1">
                    <a:solidFill>
                      <a:schemeClr val="tx1"/>
                    </a:solidFill>
                    <a:effectLst/>
                    <a:latin typeface="Segoe WPC"/>
                  </a:rPr>
                  <a:t>Stationarity</a:t>
                </a:r>
                <a:r>
                  <a:rPr lang="es-PE" sz="900" b="1" i="0" dirty="0">
                    <a:solidFill>
                      <a:schemeClr val="tx1"/>
                    </a:solidFill>
                    <a:effectLst/>
                    <a:latin typeface="Segoe WPC"/>
                  </a:rPr>
                  <a:t> and </a:t>
                </a:r>
                <a:r>
                  <a:rPr lang="es-PE" sz="900" b="1" i="0" dirty="0" err="1">
                    <a:solidFill>
                      <a:schemeClr val="tx1"/>
                    </a:solidFill>
                    <a:effectLst/>
                    <a:latin typeface="Segoe WPC"/>
                  </a:rPr>
                  <a:t>Its</a:t>
                </a:r>
                <a:r>
                  <a:rPr lang="es-PE" sz="900" b="1" i="0" dirty="0">
                    <a:solidFill>
                      <a:schemeClr val="tx1"/>
                    </a:solidFill>
                    <a:effectLst/>
                    <a:latin typeface="Segoe WPC"/>
                  </a:rPr>
                  <a:t> </a:t>
                </a:r>
                <a:r>
                  <a:rPr lang="es-PE" sz="900" b="1" i="0" dirty="0" err="1">
                    <a:solidFill>
                      <a:schemeClr val="tx1"/>
                    </a:solidFill>
                    <a:effectLst/>
                    <a:latin typeface="Segoe WPC"/>
                  </a:rPr>
                  <a:t>Sources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time series </a:t>
                </a:r>
                <a:r>
                  <a:rPr lang="es-PE" sz="900" b="0" i="0" dirty="0" err="1">
                    <a:solidFill>
                      <a:schemeClr val="tx1"/>
                    </a:solidFill>
                    <a:effectLst/>
                    <a:latin typeface="Segoe WPC"/>
                  </a:rPr>
                  <a:t>is</a:t>
                </a:r>
                <a:r>
                  <a:rPr lang="es-PE" sz="900" b="0" i="0" dirty="0">
                    <a:solidFill>
                      <a:schemeClr val="tx1"/>
                    </a:solidFill>
                    <a:effectLst/>
                    <a:latin typeface="Segoe WPC"/>
                  </a:rPr>
                  <a:t> non-</a:t>
                </a:r>
                <a:r>
                  <a:rPr lang="es-PE" sz="900" b="0" i="0" dirty="0" err="1">
                    <a:solidFill>
                      <a:schemeClr val="tx1"/>
                    </a:solidFill>
                    <a:effectLst/>
                    <a:latin typeface="Segoe WPC"/>
                  </a:rPr>
                  <a:t>stationary</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mean,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autocovariances</a:t>
                </a:r>
                <a:r>
                  <a:rPr lang="es-PE" sz="900" b="0" i="0" dirty="0">
                    <a:solidFill>
                      <a:schemeClr val="tx1"/>
                    </a:solidFill>
                    <a:effectLst/>
                    <a:latin typeface="Segoe WPC"/>
                  </a:rPr>
                  <a:t>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time.</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sources</a:t>
                </a:r>
                <a:r>
                  <a:rPr lang="es-PE" sz="900" b="0" i="0" dirty="0">
                    <a:solidFill>
                      <a:schemeClr val="tx1"/>
                    </a:solidFill>
                    <a:effectLst/>
                    <a:latin typeface="Segoe WPC"/>
                  </a:rPr>
                  <a:t> are </a:t>
                </a:r>
                <a:r>
                  <a:rPr lang="es-PE" sz="900" b="0" i="0" dirty="0" err="1">
                    <a:solidFill>
                      <a:schemeClr val="tx1"/>
                    </a:solidFill>
                    <a:effectLst/>
                    <a:latin typeface="Segoe WPC"/>
                  </a:rPr>
                  <a:t>deterministic</a:t>
                </a:r>
                <a:r>
                  <a:rPr lang="es-PE" sz="900" b="0" i="0" dirty="0">
                    <a:solidFill>
                      <a:schemeClr val="tx1"/>
                    </a:solidFill>
                    <a:effectLst/>
                    <a:latin typeface="Segoe WPC"/>
                  </a:rPr>
                  <a:t> time </a:t>
                </a:r>
                <a:r>
                  <a:rPr lang="es-PE" sz="900" b="0" i="0" dirty="0" err="1">
                    <a:solidFill>
                      <a:schemeClr val="tx1"/>
                    </a:solidFill>
                    <a:effectLst/>
                    <a:latin typeface="Segoe WPC"/>
                  </a:rPr>
                  <a:t>trends</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seasonalities</a:t>
                </a:r>
                <a:r>
                  <a:rPr lang="es-PE" sz="900" b="0" i="0" dirty="0">
                    <a:solidFill>
                      <a:schemeClr val="tx1"/>
                    </a:solidFill>
                    <a:effectLst/>
                    <a:latin typeface="Segoe WPC"/>
                  </a:rPr>
                  <a:t>, and </a:t>
                </a:r>
                <a:r>
                  <a:rPr lang="es-PE" sz="900" b="0" i="0" dirty="0" err="1">
                    <a:solidFill>
                      <a:schemeClr val="tx1"/>
                    </a:solidFill>
                    <a:effectLst/>
                    <a:latin typeface="Segoe WPC"/>
                  </a:rPr>
                  <a:t>stochastic</a:t>
                </a:r>
                <a:r>
                  <a:rPr lang="es-PE" sz="900" b="0" i="0" dirty="0">
                    <a:solidFill>
                      <a:schemeClr val="tx1"/>
                    </a:solidFill>
                    <a:effectLst/>
                    <a:latin typeface="Segoe WPC"/>
                  </a:rPr>
                  <a:t> </a:t>
                </a:r>
                <a:r>
                  <a:rPr lang="es-PE" sz="900" b="0" i="0" dirty="0" err="1">
                    <a:solidFill>
                      <a:schemeClr val="tx1"/>
                    </a:solidFill>
                    <a:effectLst/>
                    <a:latin typeface="Segoe WPC"/>
                  </a:rPr>
                  <a:t>trends</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a:t>
                </a:r>
                <a:r>
                  <a:rPr lang="es-PE" sz="900" b="0" i="0" dirty="0" err="1">
                    <a:solidFill>
                      <a:schemeClr val="tx1"/>
                    </a:solidFill>
                    <a:effectLst/>
                    <a:latin typeface="Segoe WPC"/>
                  </a:rPr>
                  <a:t>unit</a:t>
                </a:r>
                <a:r>
                  <a:rPr lang="es-PE" sz="900" b="0" i="0" dirty="0">
                    <a:solidFill>
                      <a:schemeClr val="tx1"/>
                    </a:solidFill>
                    <a:effectLst/>
                    <a:latin typeface="Segoe WPC"/>
                  </a:rPr>
                  <a:t> </a:t>
                </a:r>
                <a:r>
                  <a:rPr lang="es-PE" sz="900" b="0" i="0" dirty="0" err="1">
                    <a:solidFill>
                      <a:schemeClr val="tx1"/>
                    </a:solidFill>
                    <a:effectLst/>
                    <a:latin typeface="Segoe WPC"/>
                  </a:rPr>
                  <a:t>roots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series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drift</a:t>
                </a:r>
                <a:r>
                  <a:rPr lang="es-PE" sz="900" b="0" i="0" dirty="0">
                    <a:solidFill>
                      <a:schemeClr val="tx1"/>
                    </a:solidFill>
                    <a:effectLst/>
                    <a:latin typeface="Segoe WPC"/>
                  </a:rPr>
                  <a:t> </a:t>
                </a:r>
                <a:r>
                  <a:rPr lang="es-PE" sz="900" b="0" i="0" dirty="0" err="1">
                    <a:solidFill>
                      <a:schemeClr val="tx1"/>
                    </a:solidFill>
                    <a:effectLst/>
                    <a:latin typeface="Segoe WPC"/>
                  </a:rPr>
                  <a:t>upward</a:t>
                </a:r>
                <a:r>
                  <a:rPr lang="es-PE" sz="900" b="0" i="0" dirty="0">
                    <a:solidFill>
                      <a:schemeClr val="tx1"/>
                    </a:solidFill>
                    <a:effectLst/>
                    <a:latin typeface="Segoe WPC"/>
                  </a:rPr>
                  <a:t>, </a:t>
                </a:r>
                <a:r>
                  <a:rPr lang="es-PE" sz="900" b="0" i="0" dirty="0" err="1">
                    <a:solidFill>
                      <a:schemeClr val="tx1"/>
                    </a:solidFill>
                    <a:effectLst/>
                    <a:latin typeface="Segoe WPC"/>
                  </a:rPr>
                  <a:t>vary</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month</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quarter</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wander</a:t>
                </a:r>
                <a:r>
                  <a:rPr lang="es-PE" sz="900" b="0" i="0" dirty="0">
                    <a:solidFill>
                      <a:schemeClr val="tx1"/>
                    </a:solidFill>
                    <a:effectLst/>
                    <a:latin typeface="Segoe WPC"/>
                  </a:rPr>
                  <a:t> </a:t>
                </a:r>
                <a:r>
                  <a:rPr lang="es-PE" sz="900" b="0" i="0" dirty="0" err="1">
                    <a:solidFill>
                      <a:schemeClr val="tx1"/>
                    </a:solidFill>
                    <a:effectLst/>
                    <a:latin typeface="Segoe WPC"/>
                  </a:rPr>
                  <a:t>without</a:t>
                </a:r>
                <a:r>
                  <a:rPr lang="es-PE" sz="900" b="0" i="0" dirty="0">
                    <a:solidFill>
                      <a:schemeClr val="tx1"/>
                    </a:solidFill>
                    <a:effectLst/>
                    <a:latin typeface="Segoe WPC"/>
                  </a:rPr>
                  <a:t> </a:t>
                </a:r>
                <a:r>
                  <a:rPr lang="es-PE" sz="900" b="0" i="0" dirty="0" err="1">
                    <a:solidFill>
                      <a:schemeClr val="tx1"/>
                    </a:solidFill>
                    <a:effectLst/>
                    <a:latin typeface="Segoe WPC"/>
                  </a:rPr>
                  <a:t>returning</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 </a:t>
                </a:r>
                <a:r>
                  <a:rPr lang="es-PE" sz="900" b="0" i="0" dirty="0" err="1">
                    <a:solidFill>
                      <a:schemeClr val="tx1"/>
                    </a:solidFill>
                    <a:effectLst/>
                    <a:latin typeface="Segoe WPC"/>
                  </a:rPr>
                  <a:t>stable</a:t>
                </a:r>
                <a:r>
                  <a:rPr lang="es-PE" sz="900" b="0" i="0" dirty="0">
                    <a:solidFill>
                      <a:schemeClr val="tx1"/>
                    </a:solidFill>
                    <a:effectLst/>
                    <a:latin typeface="Segoe WPC"/>
                  </a:rPr>
                  <a:t> </a:t>
                </a:r>
                <a:r>
                  <a:rPr lang="es-PE" sz="900" b="0" i="0" dirty="0" err="1">
                    <a:solidFill>
                      <a:schemeClr val="tx1"/>
                    </a:solidFill>
                    <a:effectLst/>
                    <a:latin typeface="Segoe WPC"/>
                  </a:rPr>
                  <a:t>level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non-</a:t>
                </a:r>
                <a:r>
                  <a:rPr lang="es-PE" sz="900" b="0" i="0" dirty="0" err="1">
                    <a:solidFill>
                      <a:schemeClr val="tx1"/>
                    </a:solidFill>
                    <a:effectLst/>
                    <a:latin typeface="Segoe WPC"/>
                  </a:rPr>
                  <a:t>stationarity</a:t>
                </a:r>
                <a:r>
                  <a:rPr lang="es-PE" sz="900" b="0" i="0" dirty="0">
                    <a:solidFill>
                      <a:schemeClr val="tx1"/>
                    </a:solidFill>
                    <a:effectLst/>
                    <a:latin typeface="Segoe WPC"/>
                  </a:rPr>
                  <a:t> comes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terms</a:t>
                </a:r>
                <a:r>
                  <a:rPr lang="es-PE" sz="900" b="0" i="0" dirty="0">
                    <a:solidFill>
                      <a:schemeClr val="tx1"/>
                    </a:solidFill>
                    <a:effectLst/>
                    <a:latin typeface="Segoe WPC"/>
                  </a:rPr>
                  <a:t>; </a:t>
                </a:r>
                <a:r>
                  <a:rPr lang="es-PE" sz="900" b="0" i="0" dirty="0" err="1">
                    <a:solidFill>
                      <a:schemeClr val="tx1"/>
                    </a:solidFill>
                    <a:effectLst/>
                    <a:latin typeface="Segoe WPC"/>
                  </a:rPr>
                  <a:t>stochastic</a:t>
                </a:r>
                <a:r>
                  <a:rPr lang="es-PE" sz="900" b="0" i="0" dirty="0">
                    <a:solidFill>
                      <a:schemeClr val="tx1"/>
                    </a:solidFill>
                    <a:effectLst/>
                    <a:latin typeface="Segoe WPC"/>
                  </a:rPr>
                  <a:t> non-</a:t>
                </a:r>
                <a:r>
                  <a:rPr lang="es-PE" sz="900" b="0" i="0" dirty="0" err="1">
                    <a:solidFill>
                      <a:schemeClr val="tx1"/>
                    </a:solidFill>
                    <a:effectLst/>
                    <a:latin typeface="Segoe WPC"/>
                  </a:rPr>
                  <a:t>stationarity</a:t>
                </a:r>
                <a:r>
                  <a:rPr lang="es-PE" sz="900" b="0" i="0" dirty="0">
                    <a:solidFill>
                      <a:schemeClr val="tx1"/>
                    </a:solidFill>
                    <a:effectLst/>
                    <a:latin typeface="Segoe WPC"/>
                  </a:rPr>
                  <a:t> comes </a:t>
                </a:r>
                <a:r>
                  <a:rPr lang="es-PE" sz="900" b="0" i="0" dirty="0" err="1">
                    <a:solidFill>
                      <a:schemeClr val="tx1"/>
                    </a:solidFill>
                    <a:effectLst/>
                    <a:latin typeface="Segoe WPC"/>
                  </a:rPr>
                  <a:t>from</a:t>
                </a:r>
                <a:r>
                  <a:rPr lang="es-PE" sz="900" b="0" i="0" dirty="0">
                    <a:solidFill>
                      <a:schemeClr val="tx1"/>
                    </a:solidFill>
                    <a:effectLst/>
                    <a:latin typeface="Segoe WPC"/>
                  </a:rPr>
                  <a:t> a </a:t>
                </a:r>
                <a:r>
                  <a:rPr lang="es-PE" sz="900" b="0" i="0" dirty="0" err="1">
                    <a:solidFill>
                      <a:schemeClr val="tx1"/>
                    </a:solidFill>
                    <a:effectLst/>
                    <a:latin typeface="Segoe WPC"/>
                  </a:rPr>
                  <a:t>unit-root</a:t>
                </a:r>
                <a:r>
                  <a:rPr lang="es-PE" sz="900" b="0" i="0" dirty="0">
                    <a:solidFill>
                      <a:schemeClr val="tx1"/>
                    </a:solidFill>
                    <a:effectLst/>
                    <a:latin typeface="Segoe WPC"/>
                  </a:rPr>
                  <a:t> </a:t>
                </a:r>
                <a:r>
                  <a:rPr lang="es-PE" sz="900" b="0" i="0" dirty="0" err="1">
                    <a:solidFill>
                      <a:schemeClr val="tx1"/>
                    </a:solidFill>
                    <a:effectLst/>
                    <a:latin typeface="Segoe WPC"/>
                  </a:rPr>
                  <a:t>component</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14:m>
                  <m:oMath xmlns:m="http://schemas.openxmlformats.org/officeDocument/2006/math">
                    <m:d>
                      <m:dPr>
                        <m:ctrlPr>
                          <a:rPr lang="ar-AE" sz="900" i="1">
                            <a:solidFill>
                              <a:schemeClr val="tx1"/>
                            </a:solidFill>
                            <a:latin typeface="Cambria Math" panose="02040503050406030204" pitchFamily="18" charset="0"/>
                          </a:rPr>
                        </m:ctrlPr>
                      </m:dPr>
                      <m:e>
                        <m:r>
                          <a:rPr lang="ar-AE" sz="90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𝐿</m:t>
                        </m:r>
                      </m:e>
                    </m:d>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trends</a:t>
                </a:r>
                <a:r>
                  <a:rPr lang="es-PE" sz="900" b="0" i="0" dirty="0">
                    <a:solidFill>
                      <a:schemeClr val="tx1"/>
                    </a:solidFill>
                    <a:effectLst/>
                    <a:latin typeface="Segoe WPC"/>
                  </a:rPr>
                  <a:t> </a:t>
                </a:r>
                <a:r>
                  <a:rPr lang="es-PE" sz="900" b="0" i="0" dirty="0" err="1">
                    <a:solidFill>
                      <a:schemeClr val="tx1"/>
                    </a:solidFill>
                    <a:effectLst/>
                    <a:latin typeface="Segoe WPC"/>
                  </a:rPr>
                  <a:t>should</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be </a:t>
                </a:r>
                <a:r>
                  <a:rPr lang="es-PE" sz="900" b="0" i="0" dirty="0" err="1">
                    <a:solidFill>
                      <a:schemeClr val="tx1"/>
                    </a:solidFill>
                    <a:effectLst/>
                    <a:latin typeface="Segoe WPC"/>
                  </a:rPr>
                  <a:t>modeled</a:t>
                </a:r>
                <a:r>
                  <a:rPr lang="es-PE" sz="900" b="0" i="0" dirty="0">
                    <a:solidFill>
                      <a:schemeClr val="tx1"/>
                    </a:solidFill>
                    <a:effectLst/>
                    <a:latin typeface="Segoe WPC"/>
                  </a:rPr>
                  <a:t> </a:t>
                </a:r>
                <a:r>
                  <a:rPr lang="es-PE" sz="900" b="0" i="0" dirty="0" err="1">
                    <a:solidFill>
                      <a:schemeClr val="tx1"/>
                    </a:solidFill>
                    <a:effectLst/>
                    <a:latin typeface="Segoe WPC"/>
                  </a:rPr>
                  <a:t>directly</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stochastic</a:t>
                </a:r>
                <a:r>
                  <a:rPr lang="es-PE" sz="900" b="0" i="0" dirty="0">
                    <a:solidFill>
                      <a:schemeClr val="tx1"/>
                    </a:solidFill>
                    <a:effectLst/>
                    <a:latin typeface="Segoe WPC"/>
                  </a:rPr>
                  <a:t> </a:t>
                </a:r>
                <a:r>
                  <a:rPr lang="es-PE" sz="900" b="0" i="0" dirty="0" err="1">
                    <a:solidFill>
                      <a:schemeClr val="tx1"/>
                    </a:solidFill>
                    <a:effectLst/>
                    <a:latin typeface="Segoe WPC"/>
                  </a:rPr>
                  <a:t>trends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require</a:t>
                </a:r>
                <a:r>
                  <a:rPr lang="es-PE" sz="900" b="0" i="0" dirty="0">
                    <a:solidFill>
                      <a:schemeClr val="tx1"/>
                    </a:solidFill>
                    <a:effectLst/>
                    <a:latin typeface="Segoe WPC"/>
                  </a:rPr>
                  <a:t> </a:t>
                </a:r>
                <a:r>
                  <a:rPr lang="es-PE" sz="900" b="0" i="0" dirty="0" err="1">
                    <a:solidFill>
                      <a:schemeClr val="tx1"/>
                    </a:solidFill>
                    <a:effectLst/>
                    <a:latin typeface="Segoe WPC"/>
                  </a:rPr>
                  <a:t>differencing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treat</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non-</a:t>
                </a:r>
                <a:r>
                  <a:rPr lang="es-PE" sz="900" b="0" i="0" dirty="0" err="1">
                    <a:solidFill>
                      <a:schemeClr val="tx1"/>
                    </a:solidFill>
                    <a:effectLst/>
                    <a:latin typeface="Segoe WPC"/>
                  </a:rPr>
                  <a:t>stationary</a:t>
                </a:r>
                <a:r>
                  <a:rPr lang="es-PE" sz="900" b="0" i="0" dirty="0">
                    <a:solidFill>
                      <a:schemeClr val="tx1"/>
                    </a:solidFill>
                    <a:effectLst/>
                    <a:latin typeface="Segoe WPC"/>
                  </a:rPr>
                  <a:t> series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source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non-</a:t>
                </a:r>
                <a:r>
                  <a:rPr lang="es-PE" sz="900" b="0" i="0" dirty="0" err="1">
                    <a:solidFill>
                      <a:schemeClr val="tx1"/>
                    </a:solidFill>
                    <a:effectLst/>
                    <a:latin typeface="Segoe WPC"/>
                  </a:rPr>
                  <a:t>stationarity</a:t>
                </a:r>
                <a:r>
                  <a:rPr lang="es-PE" sz="900" b="0" i="0" dirty="0">
                    <a:solidFill>
                      <a:schemeClr val="tx1"/>
                    </a:solidFill>
                    <a:effectLst/>
                    <a:latin typeface="Segoe WPC"/>
                  </a:rPr>
                  <a:t> determines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fix</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2. Linear, </a:t>
                </a:r>
                <a:r>
                  <a:rPr lang="es-PE" sz="900" b="1" i="0" dirty="0" err="1">
                    <a:solidFill>
                      <a:schemeClr val="tx1"/>
                    </a:solidFill>
                    <a:effectLst/>
                    <a:latin typeface="Segoe WPC"/>
                  </a:rPr>
                  <a:t>Polynomial</a:t>
                </a:r>
                <a:r>
                  <a:rPr lang="es-PE" sz="900" b="1" i="0" dirty="0">
                    <a:solidFill>
                      <a:schemeClr val="tx1"/>
                    </a:solidFill>
                    <a:effectLst/>
                    <a:latin typeface="Segoe WPC"/>
                  </a:rPr>
                  <a:t>, and Log </a:t>
                </a:r>
                <a:r>
                  <a:rPr lang="es-PE" sz="900" b="1" i="0" dirty="0" err="1">
                    <a:solidFill>
                      <a:schemeClr val="tx1"/>
                    </a:solidFill>
                    <a:effectLst/>
                    <a:latin typeface="Segoe WPC"/>
                  </a:rPr>
                  <a:t>Trends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Time </a:t>
                </a:r>
                <a:r>
                  <a:rPr lang="es-PE" sz="900" b="0" i="0" dirty="0" err="1">
                    <a:solidFill>
                      <a:schemeClr val="tx1"/>
                    </a:solidFill>
                    <a:effectLst/>
                    <a:latin typeface="Segoe WPC"/>
                  </a:rPr>
                  <a:t>trends</a:t>
                </a:r>
                <a:r>
                  <a:rPr lang="es-PE" sz="900" b="0" i="0" dirty="0">
                    <a:solidFill>
                      <a:schemeClr val="tx1"/>
                    </a:solidFill>
                    <a:effectLst/>
                    <a:latin typeface="Segoe WPC"/>
                  </a:rPr>
                  <a:t> </a:t>
                </a:r>
                <a:r>
                  <a:rPr lang="es-PE" sz="900" b="0" i="0" dirty="0" err="1">
                    <a:solidFill>
                      <a:schemeClr val="tx1"/>
                    </a:solidFill>
                    <a:effectLst/>
                    <a:latin typeface="Segoe WPC"/>
                  </a:rPr>
                  <a:t>make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mean </a:t>
                </a:r>
                <a:r>
                  <a:rPr lang="es-PE" sz="900" b="0" i="0" dirty="0" err="1">
                    <a:solidFill>
                      <a:schemeClr val="tx1"/>
                    </a:solidFill>
                    <a:effectLst/>
                    <a:latin typeface="Segoe WPC"/>
                  </a:rPr>
                  <a:t>change</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time.</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linear </a:t>
                </a:r>
                <a:r>
                  <a:rPr lang="es-PE" sz="900" b="0" i="0" dirty="0" err="1">
                    <a:solidFill>
                      <a:schemeClr val="tx1"/>
                    </a:solidFill>
                    <a:effectLst/>
                    <a:latin typeface="Segoe WPC"/>
                  </a:rPr>
                  <a:t>trend</a:t>
                </a:r>
                <a:r>
                  <a:rPr lang="es-PE" sz="900" b="0" i="0" dirty="0">
                    <a:solidFill>
                      <a:schemeClr val="tx1"/>
                    </a:solidFill>
                    <a:effectLst/>
                    <a:latin typeface="Segoe WPC"/>
                  </a:rPr>
                  <a:t> </a:t>
                </a:r>
                <a:r>
                  <a:rPr lang="es-PE" sz="900" b="0" i="0" dirty="0" err="1">
                    <a:solidFill>
                      <a:schemeClr val="tx1"/>
                    </a:solidFill>
                    <a:effectLst/>
                    <a:latin typeface="Segoe WPC"/>
                  </a:rPr>
                  <a:t>adds</a:t>
                </a:r>
                <a:r>
                  <a:rPr lang="es-PE" sz="900" b="0" i="0" dirty="0">
                    <a:solidFill>
                      <a:schemeClr val="tx1"/>
                    </a:solidFill>
                    <a:effectLst/>
                    <a:latin typeface="Segoe WPC"/>
                  </a:rPr>
                  <a:t> a </a:t>
                </a:r>
                <a:r>
                  <a:rPr lang="es-PE" sz="900" b="0" i="0" dirty="0" err="1">
                    <a:solidFill>
                      <a:schemeClr val="tx1"/>
                    </a:solidFill>
                    <a:effectLst/>
                    <a:latin typeface="Segoe WPC"/>
                  </a:rPr>
                  <a:t>constant</a:t>
                </a:r>
                <a:r>
                  <a:rPr lang="es-PE" sz="900" b="0" i="0" dirty="0">
                    <a:solidFill>
                      <a:schemeClr val="tx1"/>
                    </a:solidFill>
                    <a:effectLst/>
                    <a:latin typeface="Segoe WPC"/>
                  </a:rPr>
                  <a:t> </a:t>
                </a:r>
                <a:r>
                  <a:rPr lang="es-PE" sz="900" b="0" i="0" dirty="0" err="1">
                    <a:solidFill>
                      <a:schemeClr val="tx1"/>
                    </a:solidFill>
                    <a:effectLst/>
                    <a:latin typeface="Segoe WPC"/>
                  </a:rPr>
                  <a:t>amount</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period</a:t>
                </a:r>
                <a:r>
                  <a:rPr lang="es-PE" sz="900" b="0" i="0" dirty="0">
                    <a:solidFill>
                      <a:schemeClr val="tx1"/>
                    </a:solidFill>
                    <a:effectLst/>
                    <a:latin typeface="Segoe WPC"/>
                  </a:rPr>
                  <a:t>; a </a:t>
                </a:r>
                <a:r>
                  <a:rPr lang="es-PE" sz="900" b="0" i="0" dirty="0" err="1">
                    <a:solidFill>
                      <a:schemeClr val="tx1"/>
                    </a:solidFill>
                    <a:effectLst/>
                    <a:latin typeface="Segoe WPC"/>
                  </a:rPr>
                  <a:t>polynomial</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t>
                </a:r>
                <a:r>
                  <a:rPr lang="es-PE" sz="900" b="0" i="0" dirty="0" err="1">
                    <a:solidFill>
                      <a:schemeClr val="tx1"/>
                    </a:solidFill>
                    <a:effectLst/>
                    <a:latin typeface="Segoe WPC"/>
                  </a:rPr>
                  <a:t>allows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change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vary</a:t>
                </a:r>
                <a:r>
                  <a:rPr lang="es-PE" sz="900" b="0" i="0" dirty="0">
                    <a:solidFill>
                      <a:schemeClr val="tx1"/>
                    </a:solidFill>
                    <a:effectLst/>
                    <a:latin typeface="Segoe WPC"/>
                  </a:rPr>
                  <a:t>; a log </a:t>
                </a:r>
                <a:r>
                  <a:rPr lang="es-PE" sz="900" b="0" i="0" dirty="0" err="1">
                    <a:solidFill>
                      <a:schemeClr val="tx1"/>
                    </a:solidFill>
                    <a:effectLst/>
                    <a:latin typeface="Segoe WPC"/>
                  </a:rPr>
                  <a:t>trend</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a:t>
                </a:r>
                <a:r>
                  <a:rPr lang="es-PE" sz="900" b="0" i="0" dirty="0" err="1">
                    <a:solidFill>
                      <a:schemeClr val="tx1"/>
                    </a:solidFill>
                    <a:effectLst/>
                    <a:latin typeface="Segoe WPC"/>
                  </a:rPr>
                  <a:t>percentage</a:t>
                </a:r>
                <a:r>
                  <a:rPr lang="es-PE" sz="900" b="0" i="0" dirty="0">
                    <a:solidFill>
                      <a:schemeClr val="tx1"/>
                    </a:solidFill>
                    <a:effectLst/>
                    <a:latin typeface="Segoe WPC"/>
                  </a:rPr>
                  <a:t> </a:t>
                </a:r>
                <a:r>
                  <a:rPr lang="es-PE" sz="900" b="0" i="0" dirty="0" err="1">
                    <a:solidFill>
                      <a:schemeClr val="tx1"/>
                    </a:solidFill>
                    <a:effectLst/>
                    <a:latin typeface="Segoe WPC"/>
                  </a:rPr>
                  <a:t>growth</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Linear </a:t>
                </a:r>
                <a:r>
                  <a:rPr lang="es-PE" sz="900" b="0" i="0" dirty="0" err="1">
                    <a:solidFill>
                      <a:schemeClr val="tx1"/>
                    </a:solidFill>
                    <a:effectLst/>
                    <a:latin typeface="Segoe WPC"/>
                  </a:rPr>
                  <a:t>trends</a:t>
                </a:r>
                <a:r>
                  <a:rPr lang="es-PE" sz="900" b="0" i="0" dirty="0">
                    <a:solidFill>
                      <a:schemeClr val="tx1"/>
                    </a:solidFill>
                    <a:effectLst/>
                    <a:latin typeface="Segoe WPC"/>
                  </a:rPr>
                  <a:t> are </a:t>
                </a:r>
                <a:r>
                  <a:rPr lang="es-PE" sz="900" b="0" i="0" dirty="0" err="1">
                    <a:solidFill>
                      <a:schemeClr val="tx1"/>
                    </a:solidFill>
                    <a:effectLst/>
                    <a:latin typeface="Segoe WPC"/>
                  </a:rPr>
                  <a:t>straight</a:t>
                </a:r>
                <a:r>
                  <a:rPr lang="es-PE" sz="900" b="0" i="0" dirty="0">
                    <a:solidFill>
                      <a:schemeClr val="tx1"/>
                    </a:solidFill>
                    <a:effectLst/>
                    <a:latin typeface="Segoe WPC"/>
                  </a:rPr>
                  <a:t> </a:t>
                </a:r>
                <a:r>
                  <a:rPr lang="es-PE" sz="900" b="0" i="0" dirty="0" err="1">
                    <a:solidFill>
                      <a:schemeClr val="tx1"/>
                    </a:solidFill>
                    <a:effectLst/>
                    <a:latin typeface="Segoe WPC"/>
                  </a:rPr>
                  <a:t>lines</a:t>
                </a:r>
                <a:r>
                  <a:rPr lang="es-PE" sz="900" b="0" i="0" dirty="0">
                    <a:solidFill>
                      <a:schemeClr val="tx1"/>
                    </a:solidFill>
                    <a:effectLst/>
                    <a:latin typeface="Segoe WPC"/>
                  </a:rPr>
                  <a:t>, </a:t>
                </a:r>
                <a:r>
                  <a:rPr lang="es-PE" sz="900" b="0" i="0" dirty="0" err="1">
                    <a:solidFill>
                      <a:schemeClr val="tx1"/>
                    </a:solidFill>
                    <a:effectLst/>
                    <a:latin typeface="Segoe WPC"/>
                  </a:rPr>
                  <a:t>quadratic</a:t>
                </a:r>
                <a:r>
                  <a:rPr lang="es-PE" sz="900" b="0" i="0" dirty="0">
                    <a:solidFill>
                      <a:schemeClr val="tx1"/>
                    </a:solidFill>
                    <a:effectLst/>
                    <a:latin typeface="Segoe WPC"/>
                  </a:rPr>
                  <a:t> </a:t>
                </a:r>
                <a:r>
                  <a:rPr lang="es-PE" sz="900" b="0" i="0" dirty="0" err="1">
                    <a:solidFill>
                      <a:schemeClr val="tx1"/>
                    </a:solidFill>
                    <a:effectLst/>
                    <a:latin typeface="Segoe WPC"/>
                  </a:rPr>
                  <a:t>trends</a:t>
                </a:r>
                <a:r>
                  <a:rPr lang="es-PE" sz="900" b="0" i="0" dirty="0">
                    <a:solidFill>
                      <a:schemeClr val="tx1"/>
                    </a:solidFill>
                    <a:effectLst/>
                    <a:latin typeface="Segoe WPC"/>
                  </a:rPr>
                  <a:t> </a:t>
                </a:r>
                <a:r>
                  <a:rPr lang="es-PE" sz="900" b="0" i="0" dirty="0" err="1">
                    <a:solidFill>
                      <a:schemeClr val="tx1"/>
                    </a:solidFill>
                    <a:effectLst/>
                    <a:latin typeface="Segoe WPC"/>
                  </a:rPr>
                  <a:t>bend</a:t>
                </a:r>
                <a:r>
                  <a:rPr lang="es-PE" sz="900" b="0" i="0" dirty="0">
                    <a:solidFill>
                      <a:schemeClr val="tx1"/>
                    </a:solidFill>
                    <a:effectLst/>
                    <a:latin typeface="Segoe WPC"/>
                  </a:rPr>
                  <a:t>, and log-linear </a:t>
                </a:r>
                <a:r>
                  <a:rPr lang="es-PE" sz="900" b="0" i="0" dirty="0" err="1">
                    <a:solidFill>
                      <a:schemeClr val="tx1"/>
                    </a:solidFill>
                    <a:effectLst/>
                    <a:latin typeface="Segoe WPC"/>
                  </a:rPr>
                  <a:t>trends</a:t>
                </a:r>
                <a:r>
                  <a:rPr lang="es-PE" sz="900" b="0" i="0" dirty="0">
                    <a:solidFill>
                      <a:schemeClr val="tx1"/>
                    </a:solidFill>
                    <a:effectLst/>
                    <a:latin typeface="Segoe WPC"/>
                  </a:rPr>
                  <a:t> </a:t>
                </a:r>
                <a:r>
                  <a:rPr lang="es-PE" sz="900" b="0" i="0" dirty="0" err="1">
                    <a:solidFill>
                      <a:schemeClr val="tx1"/>
                    </a:solidFill>
                    <a:effectLst/>
                    <a:latin typeface="Segoe WPC"/>
                  </a:rPr>
                  <a:t>fit</a:t>
                </a:r>
                <a:r>
                  <a:rPr lang="es-PE" sz="900" b="0" i="0" dirty="0">
                    <a:solidFill>
                      <a:schemeClr val="tx1"/>
                    </a:solidFill>
                    <a:effectLst/>
                    <a:latin typeface="Segoe WPC"/>
                  </a:rPr>
                  <a:t> </a:t>
                </a:r>
                <a:r>
                  <a:rPr lang="es-PE" sz="900" b="0" i="0" dirty="0" err="1">
                    <a:solidFill>
                      <a:schemeClr val="tx1"/>
                    </a:solidFill>
                    <a:effectLst/>
                    <a:latin typeface="Segoe WPC"/>
                  </a:rPr>
                  <a:t>compounding</a:t>
                </a:r>
                <a:r>
                  <a:rPr lang="es-PE" sz="900" b="0" i="0" dirty="0">
                    <a:solidFill>
                      <a:schemeClr val="tx1"/>
                    </a:solidFill>
                    <a:effectLst/>
                    <a:latin typeface="Segoe WPC"/>
                  </a:rPr>
                  <a:t> </a:t>
                </a:r>
                <a:r>
                  <a:rPr lang="es-PE" sz="900" b="0" i="0" dirty="0" err="1">
                    <a:solidFill>
                      <a:schemeClr val="tx1"/>
                    </a:solidFill>
                    <a:effectLst/>
                    <a:latin typeface="Segoe WPC"/>
                  </a:rPr>
                  <a:t>growth</a:t>
                </a:r>
                <a:r>
                  <a:rPr lang="es-PE" sz="900" b="0" i="0" dirty="0">
                    <a:solidFill>
                      <a:schemeClr val="tx1"/>
                    </a:solidFill>
                    <a:effectLst/>
                    <a:latin typeface="Segoe WPC"/>
                  </a:rPr>
                  <a:t> </a:t>
                </a:r>
                <a:r>
                  <a:rPr lang="es-PE" sz="900" b="0" i="0" dirty="0" err="1">
                    <a:solidFill>
                      <a:schemeClr val="tx1"/>
                    </a:solidFill>
                    <a:effectLst/>
                    <a:latin typeface="Segoe WPC"/>
                  </a:rPr>
                  <a:t>better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Linear </a:t>
                </a:r>
                <a:r>
                  <a:rPr lang="es-PE" sz="900" b="0" i="0" dirty="0" err="1">
                    <a:solidFill>
                      <a:schemeClr val="tx1"/>
                    </a:solidFill>
                    <a:effectLst/>
                    <a:latin typeface="Segoe WPC"/>
                  </a:rPr>
                  <a:t>trend</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1</m:t>
                        </m:r>
                      </m:sub>
                    </m:s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 </a:t>
                </a:r>
                <a:r>
                  <a:rPr lang="es-PE" sz="900" b="0" i="0" dirty="0" err="1">
                    <a:solidFill>
                      <a:schemeClr val="tx1"/>
                    </a:solidFill>
                    <a:effectLst/>
                    <a:latin typeface="Segoe WPC"/>
                  </a:rPr>
                  <a:t>Polynomial</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1</m:t>
                        </m:r>
                      </m:sub>
                    </m:s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2</m:t>
                        </m:r>
                      </m:sub>
                    </m:sSub>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𝑡</m:t>
                        </m:r>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 </a:t>
                </a:r>
                <a:r>
                  <a:rPr lang="es-PE" sz="900" b="0" i="0" dirty="0">
                    <a:solidFill>
                      <a:schemeClr val="tx1"/>
                    </a:solidFill>
                    <a:effectLst/>
                    <a:latin typeface="Segoe WPC"/>
                  </a:rPr>
                  <a:t>Log-linear </a:t>
                </a:r>
                <a:r>
                  <a:rPr lang="es-PE" sz="900" b="0" i="0" dirty="0" err="1">
                    <a:solidFill>
                      <a:schemeClr val="tx1"/>
                    </a:solidFill>
                    <a:effectLst/>
                    <a:latin typeface="Segoe WPC"/>
                  </a:rPr>
                  <a:t>trend</a:t>
                </a:r>
                <a:r>
                  <a:rPr lang="es-PE" sz="900" b="0" i="0" dirty="0">
                    <a:solidFill>
                      <a:schemeClr val="tx1"/>
                    </a:solidFill>
                    <a:effectLst/>
                    <a:latin typeface="Segoe WPC"/>
                  </a:rPr>
                  <a:t>: </a:t>
                </a:r>
                <a14:m>
                  <m:oMath xmlns:m="http://schemas.openxmlformats.org/officeDocument/2006/math">
                    <m:func>
                      <m:funcPr>
                        <m:ctrlPr>
                          <a:rPr lang="ar-AE" sz="900" i="1">
                            <a:solidFill>
                              <a:schemeClr val="tx1"/>
                            </a:solidFill>
                            <a:latin typeface="Cambria Math" panose="02040503050406030204" pitchFamily="18" charset="0"/>
                          </a:rPr>
                        </m:ctrlPr>
                      </m:funcPr>
                      <m:fName>
                        <m:r>
                          <m:rPr>
                            <m:sty m:val="p"/>
                          </m:rPr>
                          <a:rPr lang="es-PE" sz="900">
                            <a:solidFill>
                              <a:schemeClr val="tx1"/>
                            </a:solidFill>
                            <a:latin typeface="Cambria Math" panose="02040503050406030204" pitchFamily="18" charset="0"/>
                          </a:rPr>
                          <m:t>ln</m:t>
                        </m:r>
                      </m:fName>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e>
                    </m:func>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1</m:t>
                        </m:r>
                      </m:sub>
                    </m:s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OLS can </a:t>
                </a:r>
                <a:r>
                  <a:rPr lang="es-PE" sz="900" b="0" i="0" dirty="0" err="1">
                    <a:solidFill>
                      <a:schemeClr val="tx1"/>
                    </a:solidFill>
                    <a:effectLst/>
                    <a:latin typeface="Segoe WPC"/>
                  </a:rPr>
                  <a:t>estimate</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fitted</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found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plugging</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𝑡</m:t>
                    </m:r>
                  </m:oMath>
                </a14:m>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estimated</a:t>
                </a:r>
                <a:r>
                  <a:rPr lang="es-PE" sz="900" b="0" i="0" dirty="0">
                    <a:solidFill>
                      <a:schemeClr val="tx1"/>
                    </a:solidFill>
                    <a:effectLst/>
                    <a:latin typeface="Segoe WPC"/>
                  </a:rPr>
                  <a:t> </a:t>
                </a:r>
                <a:r>
                  <a:rPr lang="es-PE" sz="900" b="0" i="0" dirty="0" err="1">
                    <a:solidFill>
                      <a:schemeClr val="tx1"/>
                    </a:solidFill>
                    <a:effectLst/>
                    <a:latin typeface="Segoe WPC"/>
                  </a:rPr>
                  <a:t>equation</a:t>
                </a:r>
                <a:r>
                  <a:rPr lang="es-PE" sz="900" b="0" i="0" dirty="0">
                    <a:solidFill>
                      <a:schemeClr val="tx1"/>
                    </a:solidFill>
                    <a:effectLst/>
                    <a:latin typeface="Segoe WPC"/>
                  </a:rPr>
                  <a:t>. In a log-linear </a:t>
                </a:r>
                <a:r>
                  <a:rPr lang="es-PE" sz="900" b="0" i="0" dirty="0" err="1">
                    <a:solidFill>
                      <a:schemeClr val="tx1"/>
                    </a:solidFill>
                    <a:effectLst/>
                    <a:latin typeface="Segoe WPC"/>
                  </a:rPr>
                  <a:t>model</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approximate</a:t>
                </a:r>
                <a:r>
                  <a:rPr lang="es-PE" sz="900" b="0" i="0" dirty="0">
                    <a:solidFill>
                      <a:schemeClr val="tx1"/>
                    </a:solidFill>
                    <a:effectLst/>
                    <a:latin typeface="Segoe WPC"/>
                  </a:rPr>
                  <a:t> </a:t>
                </a:r>
                <a:r>
                  <a:rPr lang="es-PE" sz="900" b="0" i="0" dirty="0" err="1">
                    <a:solidFill>
                      <a:schemeClr val="tx1"/>
                    </a:solidFill>
                    <a:effectLst/>
                    <a:latin typeface="Segoe WPC"/>
                  </a:rPr>
                  <a:t>constant</a:t>
                </a:r>
                <a:r>
                  <a:rPr lang="es-PE" sz="900" b="0" i="0" dirty="0">
                    <a:solidFill>
                      <a:schemeClr val="tx1"/>
                    </a:solidFill>
                    <a:effectLst/>
                    <a:latin typeface="Segoe WPC"/>
                  </a:rPr>
                  <a:t> </a:t>
                </a:r>
                <a:r>
                  <a:rPr lang="es-PE" sz="900" b="0" i="0" dirty="0" err="1">
                    <a:solidFill>
                      <a:schemeClr val="tx1"/>
                    </a:solidFill>
                    <a:effectLst/>
                    <a:latin typeface="Segoe WPC"/>
                  </a:rPr>
                  <a:t>growth</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High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almost</a:t>
                </a:r>
                <a:r>
                  <a:rPr lang="es-PE" sz="900" b="0" i="0" dirty="0">
                    <a:solidFill>
                      <a:schemeClr val="tx1"/>
                    </a:solidFill>
                    <a:effectLst/>
                    <a:latin typeface="Segoe WPC"/>
                  </a:rPr>
                  <a:t> inevitable in </a:t>
                </a:r>
                <a:r>
                  <a:rPr lang="es-PE" sz="900" b="0" i="0" dirty="0" err="1">
                    <a:solidFill>
                      <a:schemeClr val="tx1"/>
                    </a:solidFill>
                    <a:effectLst/>
                    <a:latin typeface="Segoe WPC"/>
                  </a:rPr>
                  <a:t>trending</a:t>
                </a:r>
                <a:r>
                  <a:rPr lang="es-PE" sz="900" b="0" i="0" dirty="0">
                    <a:solidFill>
                      <a:schemeClr val="tx1"/>
                    </a:solidFill>
                    <a:effectLst/>
                    <a:latin typeface="Segoe WPC"/>
                  </a:rPr>
                  <a:t> data and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 </a:t>
                </a:r>
                <a:r>
                  <a:rPr lang="es-PE" sz="900" b="0" i="0" dirty="0" err="1">
                    <a:solidFill>
                      <a:schemeClr val="tx1"/>
                    </a:solidFill>
                    <a:effectLst/>
                    <a:latin typeface="Segoe WPC"/>
                  </a:rPr>
                  <a:t>reliable</a:t>
                </a:r>
                <a:r>
                  <a:rPr lang="es-PE" sz="900" b="0" i="0" dirty="0">
                    <a:solidFill>
                      <a:schemeClr val="tx1"/>
                    </a:solidFill>
                    <a:effectLst/>
                    <a:latin typeface="Segoe WPC"/>
                  </a:rPr>
                  <a:t> </a:t>
                </a:r>
                <a:r>
                  <a:rPr lang="es-PE" sz="900" b="0" i="0" dirty="0" err="1">
                    <a:solidFill>
                      <a:schemeClr val="tx1"/>
                    </a:solidFill>
                    <a:effectLst/>
                    <a:latin typeface="Segoe WPC"/>
                  </a:rPr>
                  <a:t>measure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fit</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3. </a:t>
                </a:r>
                <a:r>
                  <a:rPr lang="es-PE" sz="900" b="1" i="0" dirty="0" err="1">
                    <a:solidFill>
                      <a:schemeClr val="tx1"/>
                    </a:solidFill>
                    <a:effectLst/>
                    <a:latin typeface="Segoe WPC"/>
                  </a:rPr>
                  <a:t>Seasonality</a:t>
                </a:r>
                <a:r>
                  <a:rPr lang="es-PE" sz="900" b="1" i="0" dirty="0">
                    <a:solidFill>
                      <a:schemeClr val="tx1"/>
                    </a:solidFill>
                    <a:effectLst/>
                    <a:latin typeface="Segoe WPC"/>
                  </a:rPr>
                  <a:t> </a:t>
                </a:r>
                <a:r>
                  <a:rPr lang="es-PE" sz="900" b="1" i="0" dirty="0" err="1">
                    <a:solidFill>
                      <a:schemeClr val="tx1"/>
                    </a:solidFill>
                    <a:effectLst/>
                    <a:latin typeface="Segoe WPC"/>
                  </a:rPr>
                  <a:t>with</a:t>
                </a:r>
                <a:r>
                  <a:rPr lang="es-PE" sz="900" b="1" i="0" dirty="0">
                    <a:solidFill>
                      <a:schemeClr val="tx1"/>
                    </a:solidFill>
                    <a:effectLst/>
                    <a:latin typeface="Segoe WPC"/>
                  </a:rPr>
                  <a:t> </a:t>
                </a:r>
                <a:r>
                  <a:rPr lang="es-PE" sz="900" b="1" i="0" dirty="0" err="1">
                    <a:solidFill>
                      <a:schemeClr val="tx1"/>
                    </a:solidFill>
                    <a:effectLst/>
                    <a:latin typeface="Segoe WPC"/>
                  </a:rPr>
                  <a:t>Regression</a:t>
                </a:r>
                <a:r>
                  <a:rPr lang="es-PE" sz="900" b="1" i="0" dirty="0">
                    <a:solidFill>
                      <a:schemeClr val="tx1"/>
                    </a:solidFill>
                    <a:effectLst/>
                    <a:latin typeface="Segoe WPC"/>
                  </a:rPr>
                  <a:t> </a:t>
                </a:r>
                <a:r>
                  <a:rPr lang="es-PE" sz="900" b="1" i="0" dirty="0" err="1">
                    <a:solidFill>
                      <a:schemeClr val="tx1"/>
                    </a:solidFill>
                    <a:effectLst/>
                    <a:latin typeface="Segoe WPC"/>
                  </a:rPr>
                  <a:t>Dummies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seasonality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modeled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dummy</a:t>
                </a:r>
                <a:r>
                  <a:rPr lang="es-PE" sz="900" b="0" i="0" dirty="0">
                    <a:solidFill>
                      <a:schemeClr val="tx1"/>
                    </a:solidFill>
                    <a:effectLst/>
                    <a:latin typeface="Segoe WPC"/>
                  </a:rPr>
                  <a:t> variables.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months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quarters</a:t>
                </a:r>
                <a:r>
                  <a:rPr lang="es-PE" sz="900" b="0" i="0" dirty="0">
                    <a:solidFill>
                      <a:schemeClr val="tx1"/>
                    </a:solidFill>
                    <a:effectLst/>
                    <a:latin typeface="Segoe WPC"/>
                  </a:rPr>
                  <a:t> can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systematically</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series </a:t>
                </a:r>
                <a:r>
                  <a:rPr lang="es-PE" sz="900" b="0" i="0" dirty="0" err="1">
                    <a:solidFill>
                      <a:schemeClr val="tx1"/>
                    </a:solidFill>
                    <a:effectLst/>
                    <a:latin typeface="Segoe WPC"/>
                  </a:rPr>
                  <a:t>repeats</a:t>
                </a:r>
                <a:r>
                  <a:rPr lang="es-PE" sz="900" b="0" i="0" dirty="0">
                    <a:solidFill>
                      <a:schemeClr val="tx1"/>
                    </a:solidFill>
                    <a:effectLst/>
                    <a:latin typeface="Segoe WPC"/>
                  </a:rPr>
                  <a:t> a </a:t>
                </a:r>
                <a:r>
                  <a:rPr lang="es-PE" sz="900" b="0" i="0" dirty="0" err="1">
                    <a:solidFill>
                      <a:schemeClr val="tx1"/>
                    </a:solidFill>
                    <a:effectLst/>
                    <a:latin typeface="Segoe WPC"/>
                  </a:rPr>
                  <a:t>predictable</a:t>
                </a:r>
                <a:r>
                  <a:rPr lang="es-PE" sz="900" b="0" i="0" dirty="0">
                    <a:solidFill>
                      <a:schemeClr val="tx1"/>
                    </a:solidFill>
                    <a:effectLst/>
                    <a:latin typeface="Segoe WPC"/>
                  </a:rPr>
                  <a:t> calendar </a:t>
                </a:r>
                <a:r>
                  <a:rPr lang="es-PE" sz="900" b="0" i="0" dirty="0" err="1">
                    <a:solidFill>
                      <a:schemeClr val="tx1"/>
                    </a:solidFill>
                    <a:effectLst/>
                    <a:latin typeface="Segoe WPC"/>
                  </a:rPr>
                  <a:t>pattern</a:t>
                </a:r>
                <a:r>
                  <a:rPr lang="es-PE" sz="900" b="0" i="0" dirty="0">
                    <a:solidFill>
                      <a:schemeClr val="tx1"/>
                    </a:solidFill>
                    <a:effectLst/>
                    <a:latin typeface="Segoe WPC"/>
                  </a:rPr>
                  <a:t>, and </a:t>
                </a:r>
                <a:r>
                  <a:rPr lang="es-PE" sz="900" b="0" i="0" dirty="0" err="1">
                    <a:solidFill>
                      <a:schemeClr val="tx1"/>
                    </a:solidFill>
                    <a:effectLst/>
                    <a:latin typeface="Segoe WPC"/>
                  </a:rPr>
                  <a:t>dummies</a:t>
                </a:r>
                <a:r>
                  <a:rPr lang="es-PE" sz="900" b="0" i="0" dirty="0">
                    <a:solidFill>
                      <a:schemeClr val="tx1"/>
                    </a:solidFill>
                    <a:effectLst/>
                    <a:latin typeface="Segoe WPC"/>
                  </a:rPr>
                  <a:t> </a:t>
                </a:r>
                <a:r>
                  <a:rPr lang="es-PE" sz="900" b="0" i="0" dirty="0" err="1">
                    <a:solidFill>
                      <a:schemeClr val="tx1"/>
                    </a:solidFill>
                    <a:effectLst/>
                    <a:latin typeface="Segoe WPC"/>
                  </a:rPr>
                  <a:t>let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mean shift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season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𝛿</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𝛾</m:t>
                        </m:r>
                      </m:e>
                      <m:sub>
                        <m:r>
                          <a:rPr lang="ar-AE" sz="900" i="0">
                            <a:solidFill>
                              <a:schemeClr val="tx1"/>
                            </a:solidFill>
                            <a:latin typeface="Cambria Math" panose="02040503050406030204" pitchFamily="18" charset="0"/>
                          </a:rPr>
                          <m:t>1</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𝐼</m:t>
                        </m:r>
                      </m:e>
                      <m:sub>
                        <m:r>
                          <a:rPr lang="ar-AE" sz="900" i="0">
                            <a:solidFill>
                              <a:schemeClr val="tx1"/>
                            </a:solidFill>
                            <a:latin typeface="Cambria Math" panose="02040503050406030204" pitchFamily="18" charset="0"/>
                          </a:rPr>
                          <m:t>1</m:t>
                        </m:r>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𝛾</m:t>
                        </m:r>
                      </m:e>
                      <m:sub>
                        <m:r>
                          <a:rPr lang="ar-AE" sz="900" i="0">
                            <a:solidFill>
                              <a:schemeClr val="tx1"/>
                            </a:solidFill>
                            <a:latin typeface="Cambria Math" panose="02040503050406030204" pitchFamily="18" charset="0"/>
                          </a:rPr>
                          <m:t>2</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𝐼</m:t>
                        </m:r>
                      </m:e>
                      <m:sub>
                        <m:r>
                          <a:rPr lang="ar-AE" sz="900" i="0">
                            <a:solidFill>
                              <a:schemeClr val="tx1"/>
                            </a:solidFill>
                            <a:latin typeface="Cambria Math" panose="02040503050406030204" pitchFamily="18" charset="0"/>
                          </a:rPr>
                          <m:t>2</m:t>
                        </m:r>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𝛾</m:t>
                        </m:r>
                      </m:e>
                      <m:sub>
                        <m:r>
                          <a:rPr lang="ar-AE" sz="900" i="1">
                            <a:solidFill>
                              <a:schemeClr val="tx1"/>
                            </a:solidFill>
                            <a:latin typeface="Cambria Math" panose="02040503050406030204" pitchFamily="18" charset="0"/>
                          </a:rPr>
                          <m:t>𝑠</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𝐼</m:t>
                        </m:r>
                      </m:e>
                      <m:sub>
                        <m:r>
                          <a:rPr lang="ar-AE" sz="900" i="1">
                            <a:solidFill>
                              <a:schemeClr val="tx1"/>
                            </a:solidFill>
                            <a:latin typeface="Cambria Math" panose="02040503050406030204" pitchFamily="18" charset="0"/>
                          </a:rPr>
                          <m:t>𝑠</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 </a:t>
                </a:r>
                <a:r>
                  <a:rPr lang="es-PE" sz="900" b="0" i="0" dirty="0" err="1">
                    <a:solidFill>
                      <a:schemeClr val="tx1"/>
                    </a:solidFill>
                    <a:effectLst/>
                    <a:latin typeface="Segoe WPC"/>
                  </a:rPr>
                  <a:t>omitting</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season</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avoid</a:t>
                </a:r>
                <a:r>
                  <a:rPr lang="es-PE" sz="900" b="0" i="0" dirty="0">
                    <a:solidFill>
                      <a:schemeClr val="tx1"/>
                    </a:solidFill>
                    <a:effectLst/>
                    <a:latin typeface="Segoe WPC"/>
                  </a:rPr>
                  <a:t> </a:t>
                </a:r>
                <a:r>
                  <a:rPr lang="es-PE" sz="900" b="0" i="0" dirty="0" err="1">
                    <a:solidFill>
                      <a:schemeClr val="tx1"/>
                    </a:solidFill>
                    <a:effectLst/>
                    <a:latin typeface="Segoe WPC"/>
                  </a:rPr>
                  <a:t>multicollinearity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dummy</a:t>
                </a:r>
                <a:r>
                  <a:rPr lang="es-PE" sz="900" b="0" i="0" dirty="0">
                    <a:solidFill>
                      <a:schemeClr val="tx1"/>
                    </a:solidFill>
                    <a:effectLst/>
                    <a:latin typeface="Segoe WPC"/>
                  </a:rPr>
                  <a:t> </a:t>
                </a:r>
                <a:r>
                  <a:rPr lang="es-PE" sz="900" b="0" i="0" dirty="0" err="1">
                    <a:solidFill>
                      <a:schemeClr val="tx1"/>
                    </a:solidFill>
                    <a:effectLst/>
                    <a:latin typeface="Segoe WPC"/>
                  </a:rPr>
                  <a:t>coefficient</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difference</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season</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omitted</a:t>
                </a:r>
                <a:r>
                  <a:rPr lang="es-PE" sz="900" b="0" i="0" dirty="0">
                    <a:solidFill>
                      <a:schemeClr val="tx1"/>
                    </a:solidFill>
                    <a:effectLst/>
                    <a:latin typeface="Segoe WPC"/>
                  </a:rPr>
                  <a:t> base </a:t>
                </a:r>
                <a:r>
                  <a:rPr lang="es-PE" sz="900" b="0" i="0" dirty="0" err="1">
                    <a:solidFill>
                      <a:schemeClr val="tx1"/>
                    </a:solidFill>
                    <a:effectLst/>
                    <a:latin typeface="Segoe WPC"/>
                  </a:rPr>
                  <a:t>season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Avoid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dummy</a:t>
                </a:r>
                <a:r>
                  <a:rPr lang="es-PE" sz="900" b="0" i="0" dirty="0">
                    <a:solidFill>
                      <a:schemeClr val="tx1"/>
                    </a:solidFill>
                    <a:effectLst/>
                    <a:latin typeface="Segoe WPC"/>
                  </a:rPr>
                  <a:t>-variable </a:t>
                </a:r>
                <a:r>
                  <a:rPr lang="es-PE" sz="900" b="0" i="0" dirty="0" err="1">
                    <a:solidFill>
                      <a:schemeClr val="tx1"/>
                    </a:solidFill>
                    <a:effectLst/>
                    <a:latin typeface="Segoe WPC"/>
                  </a:rPr>
                  <a:t>trap</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omitting</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dummy</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intercept</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4. </a:t>
                </a:r>
                <a:r>
                  <a:rPr lang="es-PE" sz="900" b="1" i="0" dirty="0" err="1">
                    <a:solidFill>
                      <a:schemeClr val="tx1"/>
                    </a:solidFill>
                    <a:effectLst/>
                    <a:latin typeface="Segoe WPC"/>
                  </a:rPr>
                  <a:t>Trends</a:t>
                </a:r>
                <a:r>
                  <a:rPr lang="es-PE" sz="900" b="1" i="0" dirty="0">
                    <a:solidFill>
                      <a:schemeClr val="tx1"/>
                    </a:solidFill>
                    <a:effectLst/>
                    <a:latin typeface="Segoe WPC"/>
                  </a:rPr>
                  <a:t>, </a:t>
                </a:r>
                <a:r>
                  <a:rPr lang="es-PE" sz="900" b="1" i="0" dirty="0" err="1">
                    <a:solidFill>
                      <a:schemeClr val="tx1"/>
                    </a:solidFill>
                    <a:effectLst/>
                    <a:latin typeface="Segoe WPC"/>
                  </a:rPr>
                  <a:t>Seasonalities</a:t>
                </a:r>
                <a:r>
                  <a:rPr lang="es-PE" sz="900" b="1" i="0" dirty="0">
                    <a:solidFill>
                      <a:schemeClr val="tx1"/>
                    </a:solidFill>
                    <a:effectLst/>
                    <a:latin typeface="Segoe WPC"/>
                  </a:rPr>
                  <a:t>, and </a:t>
                </a:r>
                <a:r>
                  <a:rPr lang="es-PE" sz="900" b="1" i="0" dirty="0" err="1">
                    <a:solidFill>
                      <a:schemeClr val="tx1"/>
                    </a:solidFill>
                    <a:effectLst/>
                    <a:latin typeface="Segoe WPC"/>
                  </a:rPr>
                  <a:t>Cycles</a:t>
                </a:r>
                <a:r>
                  <a:rPr lang="es-PE" sz="900" b="1" i="0" dirty="0">
                    <a:solidFill>
                      <a:schemeClr val="tx1"/>
                    </a:solidFill>
                    <a:effectLst/>
                    <a:latin typeface="Segoe WPC"/>
                  </a:rPr>
                  <a:t> </a:t>
                </a:r>
                <a:r>
                  <a:rPr lang="es-PE" sz="900" b="1" i="0" dirty="0" err="1">
                    <a:solidFill>
                      <a:schemeClr val="tx1"/>
                    </a:solidFill>
                    <a:effectLst/>
                    <a:latin typeface="Segoe WPC"/>
                  </a:rPr>
                  <a:t>Together</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Real time series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need</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terms</a:t>
                </a:r>
                <a:r>
                  <a:rPr lang="es-PE" sz="900" b="0" i="0" dirty="0">
                    <a:solidFill>
                      <a:schemeClr val="tx1"/>
                    </a:solidFill>
                    <a:effectLst/>
                    <a:latin typeface="Segoe WPC"/>
                  </a:rPr>
                  <a:t> plus a </a:t>
                </a:r>
                <a:r>
                  <a:rPr lang="es-PE" sz="900" b="0" i="0" dirty="0" err="1">
                    <a:solidFill>
                      <a:schemeClr val="tx1"/>
                    </a:solidFill>
                    <a:effectLst/>
                    <a:latin typeface="Segoe WPC"/>
                  </a:rPr>
                  <a:t>cyclical</a:t>
                </a:r>
                <a:r>
                  <a:rPr lang="es-PE" sz="900" b="0" i="0" dirty="0">
                    <a:solidFill>
                      <a:schemeClr val="tx1"/>
                    </a:solidFill>
                    <a:effectLst/>
                    <a:latin typeface="Segoe WPC"/>
                  </a:rPr>
                  <a:t> AR </a:t>
                </a:r>
                <a:r>
                  <a:rPr lang="es-PE" sz="900" b="0" i="0" dirty="0" err="1">
                    <a:solidFill>
                      <a:schemeClr val="tx1"/>
                    </a:solidFill>
                    <a:effectLst/>
                    <a:latin typeface="Segoe WPC"/>
                  </a:rPr>
                  <a:t>or</a:t>
                </a:r>
                <a:r>
                  <a:rPr lang="es-PE" sz="900" b="0" i="0" dirty="0">
                    <a:solidFill>
                      <a:schemeClr val="tx1"/>
                    </a:solidFill>
                    <a:effectLst/>
                    <a:latin typeface="Segoe WPC"/>
                  </a:rPr>
                  <a:t> MA </a:t>
                </a:r>
                <a:r>
                  <a:rPr lang="es-PE" sz="900" b="0" i="0" dirty="0" err="1">
                    <a:solidFill>
                      <a:schemeClr val="tx1"/>
                    </a:solidFill>
                    <a:effectLst/>
                    <a:latin typeface="Segoe WPC"/>
                  </a:rPr>
                  <a:t>component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and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dummies</a:t>
                </a:r>
                <a:r>
                  <a:rPr lang="es-PE" sz="900" b="0" i="0" dirty="0">
                    <a:solidFill>
                      <a:schemeClr val="tx1"/>
                    </a:solidFill>
                    <a:effectLst/>
                    <a:latin typeface="Segoe WPC"/>
                  </a:rPr>
                  <a:t> alone </a:t>
                </a:r>
                <a:r>
                  <a:rPr lang="es-PE" sz="900" b="0" i="0" dirty="0" err="1">
                    <a:solidFill>
                      <a:schemeClr val="tx1"/>
                    </a:solidFill>
                    <a:effectLst/>
                    <a:latin typeface="Segoe WPC"/>
                  </a:rPr>
                  <a:t>usually</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remove</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persistence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After </a:t>
                </a:r>
                <a:r>
                  <a:rPr lang="es-PE" sz="900" b="0" i="0" dirty="0" err="1">
                    <a:solidFill>
                      <a:schemeClr val="tx1"/>
                    </a:solidFill>
                    <a:effectLst/>
                    <a:latin typeface="Segoe WPC"/>
                  </a:rPr>
                  <a:t>removing</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and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still</a:t>
                </a:r>
                <a:r>
                  <a:rPr lang="es-PE" sz="900" b="0" i="0" dirty="0">
                    <a:solidFill>
                      <a:schemeClr val="tx1"/>
                    </a:solidFill>
                    <a:effectLst/>
                    <a:latin typeface="Segoe WPC"/>
                  </a:rPr>
                  <a:t> show serial </a:t>
                </a:r>
                <a:r>
                  <a:rPr lang="es-PE" sz="900" b="0" i="0" dirty="0" err="1">
                    <a:solidFill>
                      <a:schemeClr val="tx1"/>
                    </a:solidFill>
                    <a:effectLst/>
                    <a:latin typeface="Segoe WPC"/>
                  </a:rPr>
                  <a:t>correlation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 general </a:t>
                </a:r>
                <a:r>
                  <a:rPr lang="es-PE" sz="900" b="0" i="0" dirty="0" err="1">
                    <a:solidFill>
                      <a:schemeClr val="tx1"/>
                    </a:solidFill>
                    <a:effectLst/>
                    <a:latin typeface="Segoe WPC"/>
                  </a:rPr>
                  <a:t>model</a:t>
                </a:r>
                <a:r>
                  <a:rPr lang="es-PE" sz="900" b="0" i="0" dirty="0">
                    <a:solidFill>
                      <a:schemeClr val="tx1"/>
                    </a:solidFill>
                    <a:effectLst/>
                    <a:latin typeface="Segoe WPC"/>
                  </a:rPr>
                  <a:t> combines </a:t>
                </a:r>
                <a:r>
                  <a:rPr lang="es-PE" sz="900" b="0" i="0" dirty="0" err="1">
                    <a:solidFill>
                      <a:schemeClr val="tx1"/>
                    </a:solidFill>
                    <a:effectLst/>
                    <a:latin typeface="Segoe WPC"/>
                  </a:rPr>
                  <a:t>trend</a:t>
                </a:r>
                <a:r>
                  <a:rPr lang="es-PE" sz="900" b="0" i="0" dirty="0">
                    <a:solidFill>
                      <a:schemeClr val="tx1"/>
                    </a:solidFill>
                    <a:effectLst/>
                    <a:latin typeface="Segoe WPC"/>
                  </a:rPr>
                  <a:t> </a:t>
                </a:r>
                <a:r>
                  <a:rPr lang="es-PE" sz="900" b="0" i="0" dirty="0" err="1">
                    <a:solidFill>
                      <a:schemeClr val="tx1"/>
                    </a:solidFill>
                    <a:effectLst/>
                    <a:latin typeface="Segoe WPC"/>
                  </a:rPr>
                  <a:t>terms</a:t>
                </a:r>
                <a:r>
                  <a:rPr lang="es-PE" sz="900" b="0" i="0" dirty="0">
                    <a:solidFill>
                      <a:schemeClr val="tx1"/>
                    </a:solidFill>
                    <a:effectLst/>
                    <a:latin typeface="Segoe WPC"/>
                  </a:rPr>
                  <a:t>,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dummies</a:t>
                </a:r>
                <a:r>
                  <a:rPr lang="es-PE" sz="900" b="0" i="0" dirty="0">
                    <a:solidFill>
                      <a:schemeClr val="tx1"/>
                    </a:solidFill>
                    <a:effectLst/>
                    <a:latin typeface="Segoe WPC"/>
                  </a:rPr>
                  <a:t>, and a </a:t>
                </a:r>
                <a:r>
                  <a:rPr lang="es-PE" sz="900" b="0" i="0" dirty="0" err="1">
                    <a:solidFill>
                      <a:schemeClr val="tx1"/>
                    </a:solidFill>
                    <a:effectLst/>
                    <a:latin typeface="Segoe WPC"/>
                  </a:rPr>
                  <a:t>cyclical</a:t>
                </a:r>
                <a:r>
                  <a:rPr lang="es-PE" sz="900" b="0" i="0" dirty="0">
                    <a:solidFill>
                      <a:schemeClr val="tx1"/>
                    </a:solidFill>
                    <a:effectLst/>
                    <a:latin typeface="Segoe WPC"/>
                  </a:rPr>
                  <a:t> </a:t>
                </a:r>
                <a:r>
                  <a:rPr lang="es-PE" sz="900" b="0" i="0" dirty="0" err="1">
                    <a:solidFill>
                      <a:schemeClr val="tx1"/>
                    </a:solidFill>
                    <a:effectLst/>
                    <a:latin typeface="Segoe WPC"/>
                  </a:rPr>
                  <a:t>component</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AR(1).</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 series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trend-stationary</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removing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part</a:t>
                </a:r>
                <a:r>
                  <a:rPr lang="es-PE" sz="900" b="0" i="0" dirty="0">
                    <a:solidFill>
                      <a:schemeClr val="tx1"/>
                    </a:solidFill>
                    <a:effectLst/>
                    <a:latin typeface="Segoe WPC"/>
                  </a:rPr>
                  <a:t> </a:t>
                </a:r>
                <a:r>
                  <a:rPr lang="es-PE" sz="900" b="0" i="0" dirty="0" err="1">
                    <a:solidFill>
                      <a:schemeClr val="tx1"/>
                    </a:solidFill>
                    <a:effectLst/>
                    <a:latin typeface="Segoe WPC"/>
                  </a:rPr>
                  <a:t>leaves</a:t>
                </a:r>
                <a:r>
                  <a:rPr lang="es-PE" sz="900" b="0" i="0" dirty="0">
                    <a:solidFill>
                      <a:schemeClr val="tx1"/>
                    </a:solidFill>
                    <a:effectLst/>
                    <a:latin typeface="Segoe WPC"/>
                  </a:rPr>
                  <a:t> a </a:t>
                </a:r>
                <a:r>
                  <a:rPr lang="es-PE" sz="900" b="0" i="0" dirty="0" err="1">
                    <a:solidFill>
                      <a:schemeClr val="tx1"/>
                    </a:solidFill>
                    <a:effectLst/>
                    <a:latin typeface="Segoe WPC"/>
                  </a:rPr>
                  <a:t>covariance-stationary</a:t>
                </a:r>
                <a:r>
                  <a:rPr lang="es-PE" sz="900" b="0" i="0" dirty="0">
                    <a:solidFill>
                      <a:schemeClr val="tx1"/>
                    </a:solidFill>
                    <a:effectLst/>
                    <a:latin typeface="Segoe WPC"/>
                  </a:rPr>
                  <a:t> residual </a:t>
                </a:r>
                <a:r>
                  <a:rPr lang="es-PE" sz="900" b="0" i="0" dirty="0" err="1">
                    <a:solidFill>
                      <a:schemeClr val="tx1"/>
                    </a:solidFill>
                    <a:effectLst/>
                    <a:latin typeface="Segoe WPC"/>
                  </a:rPr>
                  <a:t>process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Significant</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and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mean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adequate</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a:t>
                </a:r>
                <a:r>
                  <a:rPr lang="es-PE" sz="900" b="0" i="0" dirty="0" err="1">
                    <a:solidFill>
                      <a:schemeClr val="tx1"/>
                    </a:solidFill>
                    <a:effectLst/>
                    <a:latin typeface="Segoe WPC"/>
                  </a:rPr>
                  <a:t>still</a:t>
                </a:r>
                <a:r>
                  <a:rPr lang="es-PE" sz="900" b="0" i="0" dirty="0">
                    <a:solidFill>
                      <a:schemeClr val="tx1"/>
                    </a:solidFill>
                    <a:effectLst/>
                    <a:latin typeface="Segoe WPC"/>
                  </a:rPr>
                  <a:t> </a:t>
                </a:r>
                <a:r>
                  <a:rPr lang="es-PE" sz="900" b="0" i="0" dirty="0" err="1">
                    <a:solidFill>
                      <a:schemeClr val="tx1"/>
                    </a:solidFill>
                    <a:effectLst/>
                    <a:latin typeface="Segoe WPC"/>
                  </a:rPr>
                  <a:t>need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look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white</a:t>
                </a:r>
                <a:r>
                  <a:rPr lang="es-PE" sz="900" b="0" i="0" dirty="0">
                    <a:solidFill>
                      <a:schemeClr val="tx1"/>
                    </a:solidFill>
                    <a:effectLst/>
                    <a:latin typeface="Segoe WPC"/>
                  </a:rPr>
                  <a:t> </a:t>
                </a:r>
                <a:r>
                  <a:rPr lang="es-PE" sz="900" b="0" i="0" dirty="0" err="1">
                    <a:solidFill>
                      <a:schemeClr val="tx1"/>
                    </a:solidFill>
                    <a:effectLst/>
                    <a:latin typeface="Segoe WPC"/>
                  </a:rPr>
                  <a:t>noise</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5. </a:t>
                </a:r>
                <a:r>
                  <a:rPr lang="es-PE" sz="900" b="1" i="0" dirty="0" err="1">
                    <a:solidFill>
                      <a:schemeClr val="tx1"/>
                    </a:solidFill>
                    <a:effectLst/>
                    <a:latin typeface="Segoe WPC"/>
                  </a:rPr>
                  <a:t>Random</a:t>
                </a:r>
                <a:r>
                  <a:rPr lang="es-PE" sz="900" b="1" i="0" dirty="0">
                    <a:solidFill>
                      <a:schemeClr val="tx1"/>
                    </a:solidFill>
                    <a:effectLst/>
                    <a:latin typeface="Segoe WPC"/>
                  </a:rPr>
                  <a:t> </a:t>
                </a:r>
                <a:r>
                  <a:rPr lang="es-PE" sz="900" b="1" i="0" dirty="0" err="1">
                    <a:solidFill>
                      <a:schemeClr val="tx1"/>
                    </a:solidFill>
                    <a:effectLst/>
                    <a:latin typeface="Segoe WPC"/>
                  </a:rPr>
                  <a:t>Walks</a:t>
                </a:r>
                <a:r>
                  <a:rPr lang="es-PE" sz="900" b="1" i="0" dirty="0">
                    <a:solidFill>
                      <a:schemeClr val="tx1"/>
                    </a:solidFill>
                    <a:effectLst/>
                    <a:latin typeface="Segoe WPC"/>
                  </a:rPr>
                  <a:t> and </a:t>
                </a:r>
                <a:r>
                  <a:rPr lang="es-PE" sz="900" b="1" i="0" dirty="0" err="1">
                    <a:solidFill>
                      <a:schemeClr val="tx1"/>
                    </a:solidFill>
                    <a:effectLst/>
                    <a:latin typeface="Segoe WPC"/>
                  </a:rPr>
                  <a:t>Unit</a:t>
                </a:r>
                <a:r>
                  <a:rPr lang="es-PE" sz="900" b="1" i="0" dirty="0">
                    <a:solidFill>
                      <a:schemeClr val="tx1"/>
                    </a:solidFill>
                    <a:effectLst/>
                    <a:latin typeface="Segoe WPC"/>
                  </a:rPr>
                  <a:t> </a:t>
                </a:r>
                <a:r>
                  <a:rPr lang="es-PE" sz="900" b="1" i="0" dirty="0" err="1">
                    <a:solidFill>
                      <a:schemeClr val="tx1"/>
                    </a:solidFill>
                    <a:effectLst/>
                    <a:latin typeface="Segoe WPC"/>
                  </a:rPr>
                  <a:t>Roots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random</a:t>
                </a:r>
                <a:r>
                  <a:rPr lang="es-PE" sz="900" b="0" i="0" dirty="0">
                    <a:solidFill>
                      <a:schemeClr val="tx1"/>
                    </a:solidFill>
                    <a:effectLst/>
                    <a:latin typeface="Segoe WPC"/>
                  </a:rPr>
                  <a:t> </a:t>
                </a:r>
                <a:r>
                  <a:rPr lang="es-PE" sz="900" b="0" i="0" dirty="0" err="1">
                    <a:solidFill>
                      <a:schemeClr val="tx1"/>
                    </a:solidFill>
                    <a:effectLst/>
                    <a:latin typeface="Segoe WPC"/>
                  </a:rPr>
                  <a:t>walk</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basic</a:t>
                </a:r>
                <a:r>
                  <a:rPr lang="es-PE" sz="900" b="0" i="0" dirty="0">
                    <a:solidFill>
                      <a:schemeClr val="tx1"/>
                    </a:solidFill>
                    <a:effectLst/>
                    <a:latin typeface="Segoe WPC"/>
                  </a:rPr>
                  <a:t> </a:t>
                </a:r>
                <a:r>
                  <a:rPr lang="es-PE" sz="900" b="0" i="0" dirty="0" err="1">
                    <a:solidFill>
                      <a:schemeClr val="tx1"/>
                    </a:solidFill>
                    <a:effectLst/>
                    <a:latin typeface="Segoe WPC"/>
                  </a:rPr>
                  <a:t>unit-root</a:t>
                </a:r>
                <a:r>
                  <a:rPr lang="es-PE" sz="900" b="0" i="0" dirty="0">
                    <a:solidFill>
                      <a:schemeClr val="tx1"/>
                    </a:solidFill>
                    <a:effectLst/>
                    <a:latin typeface="Segoe WPC"/>
                  </a:rPr>
                  <a:t> </a:t>
                </a:r>
                <a:r>
                  <a:rPr lang="es-PE" sz="900" b="0" i="0" dirty="0" err="1">
                    <a:solidFill>
                      <a:schemeClr val="tx1"/>
                    </a:solidFill>
                    <a:effectLst/>
                    <a:latin typeface="Segoe WPC"/>
                  </a:rPr>
                  <a:t>process</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example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stochastic</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Shocks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permanent</a:t>
                </a:r>
                <a:r>
                  <a:rPr lang="es-PE" sz="900" b="0" i="0" dirty="0">
                    <a:solidFill>
                      <a:schemeClr val="tx1"/>
                    </a:solidFill>
                    <a:effectLst/>
                    <a:latin typeface="Segoe WPC"/>
                  </a:rPr>
                  <a:t> </a:t>
                </a:r>
                <a:r>
                  <a:rPr lang="es-PE" sz="900" b="0" i="0" dirty="0" err="1">
                    <a:solidFill>
                      <a:schemeClr val="tx1"/>
                    </a:solidFill>
                    <a:effectLst/>
                    <a:latin typeface="Segoe WPC"/>
                  </a:rPr>
                  <a:t>effects</a:t>
                </a:r>
                <a:r>
                  <a:rPr lang="es-PE" sz="900" b="0" i="0" dirty="0">
                    <a:solidFill>
                      <a:schemeClr val="tx1"/>
                    </a:solidFill>
                    <a:effectLst/>
                    <a:latin typeface="Segoe WPC"/>
                  </a:rPr>
                  <a:t>, so </a:t>
                </a:r>
                <a:r>
                  <a:rPr lang="es-PE" sz="900" b="0" i="0" dirty="0" err="1">
                    <a:solidFill>
                      <a:schemeClr val="tx1"/>
                    </a:solidFill>
                    <a:effectLst/>
                    <a:latin typeface="Segoe WPC"/>
                  </a:rPr>
                  <a:t>the</a:t>
                </a:r>
                <a:r>
                  <a:rPr lang="es-PE" sz="900" b="0" i="0" dirty="0">
                    <a:solidFill>
                      <a:schemeClr val="tx1"/>
                    </a:solidFill>
                    <a:effectLst/>
                    <a:latin typeface="Segoe WPC"/>
                  </a:rPr>
                  <a:t> series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mean </a:t>
                </a:r>
                <a:r>
                  <a:rPr lang="es-PE" sz="900" b="0" i="0" dirty="0" err="1">
                    <a:solidFill>
                      <a:schemeClr val="tx1"/>
                    </a:solidFill>
                    <a:effectLst/>
                    <a:latin typeface="Segoe WPC"/>
                  </a:rPr>
                  <a:t>revert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path</a:t>
                </a:r>
                <a:r>
                  <a:rPr lang="es-PE" sz="900" b="0" i="0" dirty="0">
                    <a:solidFill>
                      <a:schemeClr val="tx1"/>
                    </a:solidFill>
                    <a:effectLst/>
                    <a:latin typeface="Segoe WPC"/>
                  </a:rPr>
                  <a:t> </a:t>
                </a:r>
                <a:r>
                  <a:rPr lang="es-PE" sz="900" b="0" i="0" dirty="0" err="1">
                    <a:solidFill>
                      <a:schemeClr val="tx1"/>
                    </a:solidFill>
                    <a:effectLst/>
                    <a:latin typeface="Segoe WPC"/>
                  </a:rPr>
                  <a:t>drifts</a:t>
                </a:r>
                <a:r>
                  <a:rPr lang="es-PE" sz="900" b="0" i="0" dirty="0">
                    <a:solidFill>
                      <a:schemeClr val="tx1"/>
                    </a:solidFill>
                    <a:effectLst/>
                    <a:latin typeface="Segoe WPC"/>
                  </a:rPr>
                  <a:t> as shocks </a:t>
                </a:r>
                <a:r>
                  <a:rPr lang="es-PE" sz="900" b="0" i="0" dirty="0" err="1">
                    <a:solidFill>
                      <a:schemeClr val="tx1"/>
                    </a:solidFill>
                    <a:effectLst/>
                    <a:latin typeface="Segoe WPC"/>
                  </a:rPr>
                  <a:t>accumulate</a:t>
                </a:r>
                <a:r>
                  <a:rPr lang="es-PE" sz="900" b="0" i="0" dirty="0">
                    <a:solidFill>
                      <a:schemeClr val="tx1"/>
                    </a:solidFill>
                    <a:effectLst/>
                    <a:latin typeface="Segoe WPC"/>
                  </a:rPr>
                  <a:t>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fluctuating</a:t>
                </a:r>
                <a:r>
                  <a:rPr lang="es-PE" sz="900" b="0" i="0" dirty="0">
                    <a:solidFill>
                      <a:schemeClr val="tx1"/>
                    </a:solidFill>
                    <a:effectLst/>
                    <a:latin typeface="Segoe WPC"/>
                  </a:rPr>
                  <a:t> </a:t>
                </a:r>
                <a:r>
                  <a:rPr lang="es-PE" sz="900" b="0" i="0" dirty="0" err="1">
                    <a:solidFill>
                      <a:schemeClr val="tx1"/>
                    </a:solidFill>
                    <a:effectLst/>
                    <a:latin typeface="Segoe WPC"/>
                  </a:rPr>
                  <a:t>around</a:t>
                </a:r>
                <a:r>
                  <a:rPr lang="es-PE" sz="900" b="0" i="0" dirty="0">
                    <a:solidFill>
                      <a:schemeClr val="tx1"/>
                    </a:solidFill>
                    <a:effectLst/>
                    <a:latin typeface="Segoe WPC"/>
                  </a:rPr>
                  <a:t> a </a:t>
                </a:r>
                <a:r>
                  <a:rPr lang="es-PE" sz="900" b="0" i="0" dirty="0" err="1">
                    <a:solidFill>
                      <a:schemeClr val="tx1"/>
                    </a:solidFill>
                    <a:effectLst/>
                    <a:latin typeface="Segoe WPC"/>
                  </a:rPr>
                  <a:t>stable</a:t>
                </a:r>
                <a:r>
                  <a:rPr lang="es-PE" sz="900" b="0" i="0" dirty="0">
                    <a:solidFill>
                      <a:schemeClr val="tx1"/>
                    </a:solidFill>
                    <a:effectLst/>
                    <a:latin typeface="Segoe WPC"/>
                  </a:rPr>
                  <a:t> mean.</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Random</a:t>
                </a:r>
                <a:r>
                  <a:rPr lang="es-PE" sz="900" b="0" i="0" dirty="0">
                    <a:solidFill>
                      <a:schemeClr val="tx1"/>
                    </a:solidFill>
                    <a:effectLst/>
                    <a:latin typeface="Segoe WPC"/>
                  </a:rPr>
                  <a:t> </a:t>
                </a:r>
                <a:r>
                  <a:rPr lang="es-PE" sz="900" b="0" i="0" dirty="0" err="1">
                    <a:solidFill>
                      <a:schemeClr val="tx1"/>
                    </a:solidFill>
                    <a:effectLst/>
                    <a:latin typeface="Segoe WPC"/>
                  </a:rPr>
                  <a:t>walk</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drift</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𝛿</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 </a:t>
                </a:r>
                <a:r>
                  <a:rPr lang="es-PE" sz="900" b="0" i="0" dirty="0">
                    <a:solidFill>
                      <a:schemeClr val="tx1"/>
                    </a:solidFill>
                    <a:effectLst/>
                    <a:latin typeface="Segoe WPC"/>
                  </a:rPr>
                  <a:t>A </a:t>
                </a:r>
                <a:r>
                  <a:rPr lang="es-PE" sz="900" b="0" i="0" dirty="0" err="1">
                    <a:solidFill>
                      <a:schemeClr val="tx1"/>
                    </a:solidFill>
                    <a:effectLst/>
                    <a:latin typeface="Segoe WPC"/>
                  </a:rPr>
                  <a:t>unit</a:t>
                </a:r>
                <a:r>
                  <a:rPr lang="es-PE" sz="900" b="0" i="0" dirty="0">
                    <a:solidFill>
                      <a:schemeClr val="tx1"/>
                    </a:solidFill>
                    <a:effectLst/>
                    <a:latin typeface="Segoe WPC"/>
                  </a:rPr>
                  <a:t> </a:t>
                </a:r>
                <a:r>
                  <a:rPr lang="es-PE" sz="900" b="0" i="0" dirty="0" err="1">
                    <a:solidFill>
                      <a:schemeClr val="tx1"/>
                    </a:solidFill>
                    <a:effectLst/>
                    <a:latin typeface="Segoe WPC"/>
                  </a:rPr>
                  <a:t>root</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lag</a:t>
                </a:r>
                <a:r>
                  <a:rPr lang="es-PE" sz="900" b="0" i="0" dirty="0">
                    <a:solidFill>
                      <a:schemeClr val="tx1"/>
                    </a:solidFill>
                    <a:effectLst/>
                    <a:latin typeface="Segoe WPC"/>
                  </a:rPr>
                  <a:t> </a:t>
                </a:r>
                <a:r>
                  <a:rPr lang="es-PE" sz="900" b="0" i="0" dirty="0" err="1">
                    <a:solidFill>
                      <a:schemeClr val="tx1"/>
                    </a:solidFill>
                    <a:effectLst/>
                    <a:latin typeface="Segoe WPC"/>
                  </a:rPr>
                  <a:t>polynomial</a:t>
                </a:r>
                <a:r>
                  <a:rPr lang="es-PE" sz="900" b="0" i="0" dirty="0">
                    <a:solidFill>
                      <a:schemeClr val="tx1"/>
                    </a:solidFill>
                    <a:effectLst/>
                    <a:latin typeface="Segoe WPC"/>
                  </a:rPr>
                  <a:t> </a:t>
                </a:r>
                <a:r>
                  <a:rPr lang="es-PE" sz="900" b="0" i="0" dirty="0" err="1">
                    <a:solidFill>
                      <a:schemeClr val="tx1"/>
                    </a:solidFill>
                    <a:effectLst/>
                    <a:latin typeface="Segoe WPC"/>
                  </a:rPr>
                  <a:t>contains</a:t>
                </a:r>
                <a:r>
                  <a:rPr lang="es-PE" sz="900" b="0" i="0" dirty="0">
                    <a:solidFill>
                      <a:schemeClr val="tx1"/>
                    </a:solidFill>
                    <a:effectLst/>
                    <a:latin typeface="Segoe WPC"/>
                  </a:rPr>
                  <a:t> </a:t>
                </a:r>
                <a14:m>
                  <m:oMath xmlns:m="http://schemas.openxmlformats.org/officeDocument/2006/math">
                    <m:d>
                      <m:dPr>
                        <m:ctrlPr>
                          <a:rPr lang="ar-AE" sz="900" i="1">
                            <a:solidFill>
                              <a:schemeClr val="tx1"/>
                            </a:solidFill>
                            <a:latin typeface="Cambria Math" panose="02040503050406030204" pitchFamily="18" charset="0"/>
                          </a:rPr>
                        </m:ctrlPr>
                      </m:dPr>
                      <m:e>
                        <m:r>
                          <a:rPr lang="ar-AE" sz="90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𝐿</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Unit-root</a:t>
                </a:r>
                <a:r>
                  <a:rPr lang="es-PE" sz="900" b="0" i="0" dirty="0">
                    <a:solidFill>
                      <a:schemeClr val="tx1"/>
                    </a:solidFill>
                    <a:effectLst/>
                    <a:latin typeface="Segoe WPC"/>
                  </a:rPr>
                  <a:t> </a:t>
                </a:r>
                <a:r>
                  <a:rPr lang="es-PE" sz="900" b="0" i="0" dirty="0" err="1">
                    <a:solidFill>
                      <a:schemeClr val="tx1"/>
                    </a:solidFill>
                    <a:effectLst/>
                    <a:latin typeface="Segoe WPC"/>
                  </a:rPr>
                  <a:t>processes</a:t>
                </a:r>
                <a:r>
                  <a:rPr lang="es-PE" sz="900" b="0" i="0" dirty="0">
                    <a:solidFill>
                      <a:schemeClr val="tx1"/>
                    </a:solidFill>
                    <a:effectLst/>
                    <a:latin typeface="Segoe WPC"/>
                  </a:rPr>
                  <a:t> are </a:t>
                </a:r>
                <a:r>
                  <a:rPr lang="es-PE" sz="900" b="0" i="0" dirty="0" err="1">
                    <a:solidFill>
                      <a:schemeClr val="tx1"/>
                    </a:solidFill>
                    <a:effectLst/>
                    <a:latin typeface="Segoe WPC"/>
                  </a:rPr>
                  <a:t>hard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in </a:t>
                </a:r>
                <a:r>
                  <a:rPr lang="es-PE" sz="900" b="0" i="0" dirty="0" err="1">
                    <a:solidFill>
                      <a:schemeClr val="tx1"/>
                    </a:solidFill>
                    <a:effectLst/>
                    <a:latin typeface="Segoe WPC"/>
                  </a:rPr>
                  <a:t>levels</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standard ARMA </a:t>
                </a:r>
                <a:r>
                  <a:rPr lang="es-PE" sz="900" b="0" i="0" dirty="0" err="1">
                    <a:solidFill>
                      <a:schemeClr val="tx1"/>
                    </a:solidFill>
                    <a:effectLst/>
                    <a:latin typeface="Segoe WPC"/>
                  </a:rPr>
                  <a:t>inference</a:t>
                </a:r>
                <a:r>
                  <a:rPr lang="es-PE" sz="900" b="0" i="0" dirty="0">
                    <a:solidFill>
                      <a:schemeClr val="tx1"/>
                    </a:solidFill>
                    <a:effectLst/>
                    <a:latin typeface="Segoe WPC"/>
                  </a:rPr>
                  <a:t> </a:t>
                </a:r>
                <a:r>
                  <a:rPr lang="es-PE" sz="900" b="0" i="0" dirty="0" err="1">
                    <a:solidFill>
                      <a:schemeClr val="tx1"/>
                    </a:solidFill>
                    <a:effectLst/>
                    <a:latin typeface="Segoe WPC"/>
                  </a:rPr>
                  <a:t>breaks</a:t>
                </a:r>
                <a:r>
                  <a:rPr lang="es-PE" sz="900" b="0" i="0" dirty="0">
                    <a:solidFill>
                      <a:schemeClr val="tx1"/>
                    </a:solidFill>
                    <a:effectLst/>
                    <a:latin typeface="Segoe WPC"/>
                  </a:rPr>
                  <a:t> </a:t>
                </a:r>
                <a:r>
                  <a:rPr lang="es-PE" sz="900" b="0" i="0" dirty="0" err="1">
                    <a:solidFill>
                      <a:schemeClr val="tx1"/>
                    </a:solidFill>
                    <a:effectLst/>
                    <a:latin typeface="Segoe WPC"/>
                  </a:rPr>
                  <a:t>down</a:t>
                </a:r>
                <a:r>
                  <a:rPr lang="es-PE" sz="900" b="0" i="0" dirty="0">
                    <a:solidFill>
                      <a:schemeClr val="tx1"/>
                    </a:solidFill>
                    <a:effectLst/>
                    <a:latin typeface="Segoe WPC"/>
                  </a:rPr>
                  <a:t> and </a:t>
                </a:r>
                <a:r>
                  <a:rPr lang="es-PE" sz="900" b="0" i="0" dirty="0" err="1">
                    <a:solidFill>
                      <a:schemeClr val="tx1"/>
                    </a:solidFill>
                    <a:effectLst/>
                    <a:latin typeface="Segoe WPC"/>
                  </a:rPr>
                  <a:t>long</a:t>
                </a:r>
                <a:r>
                  <a:rPr lang="es-PE" sz="900" b="0" i="0" dirty="0">
                    <a:solidFill>
                      <a:schemeClr val="tx1"/>
                    </a:solidFill>
                    <a:effectLst/>
                    <a:latin typeface="Segoe WPC"/>
                  </a:rPr>
                  <a:t>-run mean </a:t>
                </a:r>
                <a:r>
                  <a:rPr lang="es-PE" sz="900" b="0" i="0" dirty="0" err="1">
                    <a:solidFill>
                      <a:schemeClr val="tx1"/>
                    </a:solidFill>
                    <a:effectLst/>
                    <a:latin typeface="Segoe WPC"/>
                  </a:rPr>
                  <a:t>reversion</a:t>
                </a:r>
                <a:r>
                  <a:rPr lang="es-PE" sz="900" b="0" i="0" dirty="0">
                    <a:solidFill>
                      <a:schemeClr val="tx1"/>
                    </a:solidFill>
                    <a:effectLst/>
                    <a:latin typeface="Segoe WPC"/>
                  </a:rPr>
                  <a:t> </a:t>
                </a:r>
                <a:r>
                  <a:rPr lang="es-PE" sz="900" b="0" i="0" dirty="0" err="1">
                    <a:solidFill>
                      <a:schemeClr val="tx1"/>
                    </a:solidFill>
                    <a:effectLst/>
                    <a:latin typeface="Segoe WPC"/>
                  </a:rPr>
                  <a:t>disappears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highly</a:t>
                </a:r>
                <a:r>
                  <a:rPr lang="es-PE" sz="900" b="0" i="0" dirty="0">
                    <a:solidFill>
                      <a:schemeClr val="tx1"/>
                    </a:solidFill>
                    <a:effectLst/>
                    <a:latin typeface="Segoe WPC"/>
                  </a:rPr>
                  <a:t> </a:t>
                </a:r>
                <a:r>
                  <a:rPr lang="es-PE" sz="900" b="0" i="0" dirty="0" err="1">
                    <a:solidFill>
                      <a:schemeClr val="tx1"/>
                    </a:solidFill>
                    <a:effectLst/>
                    <a:latin typeface="Segoe WPC"/>
                  </a:rPr>
                  <a:t>persistent</a:t>
                </a:r>
                <a:r>
                  <a:rPr lang="es-PE" sz="900" b="0" i="0" dirty="0">
                    <a:solidFill>
                      <a:schemeClr val="tx1"/>
                    </a:solidFill>
                    <a:effectLst/>
                    <a:latin typeface="Segoe WPC"/>
                  </a:rPr>
                  <a:t> </a:t>
                </a:r>
                <a:r>
                  <a:rPr lang="es-PE" sz="900" b="0" i="0" dirty="0" err="1">
                    <a:solidFill>
                      <a:schemeClr val="tx1"/>
                    </a:solidFill>
                    <a:effectLst/>
                    <a:latin typeface="Segoe WPC"/>
                  </a:rPr>
                  <a:t>stationary</a:t>
                </a:r>
                <a:r>
                  <a:rPr lang="es-PE" sz="900" b="0" i="0" dirty="0">
                    <a:solidFill>
                      <a:schemeClr val="tx1"/>
                    </a:solidFill>
                    <a:effectLst/>
                    <a:latin typeface="Segoe WPC"/>
                  </a:rPr>
                  <a:t> series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necessarily</a:t>
                </a:r>
                <a:r>
                  <a:rPr lang="es-PE" sz="900" b="0" i="0" dirty="0">
                    <a:solidFill>
                      <a:schemeClr val="tx1"/>
                    </a:solidFill>
                    <a:effectLst/>
                    <a:latin typeface="Segoe WPC"/>
                  </a:rPr>
                  <a:t> a </a:t>
                </a:r>
                <a:r>
                  <a:rPr lang="es-PE" sz="900" b="0" i="0" dirty="0" err="1">
                    <a:solidFill>
                      <a:schemeClr val="tx1"/>
                    </a:solidFill>
                    <a:effectLst/>
                    <a:latin typeface="Segoe WPC"/>
                  </a:rPr>
                  <a:t>unit-root</a:t>
                </a:r>
                <a:r>
                  <a:rPr lang="es-PE" sz="900" b="0" i="0" dirty="0">
                    <a:solidFill>
                      <a:schemeClr val="tx1"/>
                    </a:solidFill>
                    <a:effectLst/>
                    <a:latin typeface="Segoe WPC"/>
                  </a:rPr>
                  <a:t> series.</a:t>
                </a:r>
              </a:p>
            </p:txBody>
          </p:sp>
        </mc:Choice>
        <mc:Fallback xmlns="">
          <p:sp>
            <p:nvSpPr>
              <p:cNvPr id="5" name="CuadroTexto 4">
                <a:extLst>
                  <a:ext uri="{FF2B5EF4-FFF2-40B4-BE49-F238E27FC236}">
                    <a16:creationId xmlns:a16="http://schemas.microsoft.com/office/drawing/2014/main" id="{9B9A25B1-02D3-735E-98AD-5A8C1DDCF925}"/>
                  </a:ext>
                </a:extLst>
              </p:cNvPr>
              <p:cNvSpPr txBox="1">
                <a:spLocks noRot="1" noChangeAspect="1" noMove="1" noResize="1" noEditPoints="1" noAdjustHandles="1" noChangeArrowheads="1" noChangeShapeType="1" noTextEdit="1"/>
              </p:cNvSpPr>
              <p:nvPr/>
            </p:nvSpPr>
            <p:spPr>
              <a:xfrm>
                <a:off x="0" y="132913"/>
                <a:ext cx="6148614" cy="6777112"/>
              </a:xfrm>
              <a:prstGeom prst="rect">
                <a:avLst/>
              </a:prstGeom>
              <a:blipFill>
                <a:blip r:embed="rId2"/>
                <a:stretch>
                  <a:fillRect r="-99"/>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2BF8DAF0-B460-47CE-D033-078AD430AE7D}"/>
                  </a:ext>
                </a:extLst>
              </p:cNvPr>
              <p:cNvSpPr txBox="1"/>
              <p:nvPr/>
            </p:nvSpPr>
            <p:spPr>
              <a:xfrm>
                <a:off x="6043384" y="-69249"/>
                <a:ext cx="6184898" cy="1338828"/>
              </a:xfrm>
              <a:prstGeom prst="rect">
                <a:avLst/>
              </a:prstGeom>
              <a:noFill/>
            </p:spPr>
            <p:txBody>
              <a:bodyPr wrap="square">
                <a:spAutoFit/>
              </a:bodyPr>
              <a:lstStyle/>
              <a:p>
                <a:pPr>
                  <a:spcAft>
                    <a:spcPts val="600"/>
                  </a:spcAft>
                </a:pPr>
                <a:r>
                  <a:rPr lang="es-PE" sz="900" b="1" i="0" dirty="0">
                    <a:solidFill>
                      <a:schemeClr val="tx1"/>
                    </a:solidFill>
                    <a:effectLst/>
                    <a:latin typeface="Segoe WPC"/>
                  </a:rPr>
                  <a:t>6. </a:t>
                </a: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Unit</a:t>
                </a:r>
                <a:r>
                  <a:rPr lang="es-PE" sz="900" b="1" i="0" dirty="0">
                    <a:solidFill>
                      <a:schemeClr val="tx1"/>
                    </a:solidFill>
                    <a:effectLst/>
                    <a:latin typeface="Segoe WPC"/>
                  </a:rPr>
                  <a:t> </a:t>
                </a:r>
                <a:r>
                  <a:rPr lang="es-PE" sz="900" b="1" i="0" dirty="0" err="1">
                    <a:solidFill>
                      <a:schemeClr val="tx1"/>
                    </a:solidFill>
                    <a:effectLst/>
                    <a:latin typeface="Segoe WPC"/>
                  </a:rPr>
                  <a:t>Roots</a:t>
                </a:r>
                <a:r>
                  <a:rPr lang="es-PE" sz="900" b="1" i="0" dirty="0">
                    <a:solidFill>
                      <a:schemeClr val="tx1"/>
                    </a:solidFill>
                    <a:effectLst/>
                    <a:latin typeface="Segoe WPC"/>
                  </a:rPr>
                  <a:t> Are </a:t>
                </a:r>
                <a:r>
                  <a:rPr lang="es-PE" sz="900" b="1" i="0" dirty="0" err="1">
                    <a:solidFill>
                      <a:schemeClr val="tx1"/>
                    </a:solidFill>
                    <a:effectLst/>
                    <a:latin typeface="Segoe WPC"/>
                  </a:rPr>
                  <a:t>Problematic</a:t>
                </a:r>
                <a:br>
                  <a:rPr lang="es-PE" sz="900" dirty="0">
                    <a:solidFill>
                      <a:schemeClr val="tx1"/>
                    </a:solidFill>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Unit</a:t>
                </a:r>
                <a:r>
                  <a:rPr lang="es-PE" sz="900" b="0" i="0" dirty="0">
                    <a:solidFill>
                      <a:schemeClr val="tx1"/>
                    </a:solidFill>
                    <a:effectLst/>
                    <a:latin typeface="Segoe WPC"/>
                  </a:rPr>
                  <a:t> </a:t>
                </a:r>
                <a:r>
                  <a:rPr lang="es-PE" sz="900" b="0" i="0" dirty="0" err="1">
                    <a:solidFill>
                      <a:schemeClr val="tx1"/>
                    </a:solidFill>
                    <a:effectLst/>
                    <a:latin typeface="Segoe WPC"/>
                  </a:rPr>
                  <a:t>roots</a:t>
                </a:r>
                <a:r>
                  <a:rPr lang="es-PE" sz="900" b="0" i="0" dirty="0">
                    <a:solidFill>
                      <a:schemeClr val="tx1"/>
                    </a:solidFill>
                    <a:effectLst/>
                    <a:latin typeface="Segoe WPC"/>
                  </a:rPr>
                  <a:t> </a:t>
                </a:r>
                <a:r>
                  <a:rPr lang="es-PE" sz="900" b="0" i="0" dirty="0" err="1">
                    <a:solidFill>
                      <a:schemeClr val="tx1"/>
                    </a:solidFill>
                    <a:effectLst/>
                    <a:latin typeface="Segoe WPC"/>
                  </a:rPr>
                  <a:t>create</a:t>
                </a:r>
                <a:r>
                  <a:rPr lang="es-PE" sz="900" b="0" i="0" dirty="0">
                    <a:solidFill>
                      <a:schemeClr val="tx1"/>
                    </a:solidFill>
                    <a:effectLst/>
                    <a:latin typeface="Segoe WPC"/>
                  </a:rPr>
                  <a:t> </a:t>
                </a:r>
                <a:r>
                  <a:rPr lang="es-PE" sz="900" b="0" i="0" dirty="0" err="1">
                    <a:solidFill>
                      <a:schemeClr val="tx1"/>
                    </a:solidFill>
                    <a:effectLst/>
                    <a:latin typeface="Segoe WPC"/>
                  </a:rPr>
                  <a:t>three</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modeling</a:t>
                </a:r>
                <a:r>
                  <a:rPr lang="es-PE" sz="900" b="0" i="0" dirty="0">
                    <a:solidFill>
                      <a:schemeClr val="tx1"/>
                    </a:solidFill>
                    <a:effectLst/>
                    <a:latin typeface="Segoe WPC"/>
                  </a:rPr>
                  <a:t> </a:t>
                </a:r>
                <a:r>
                  <a:rPr lang="es-PE" sz="900" b="0" i="0" dirty="0" err="1">
                    <a:solidFill>
                      <a:schemeClr val="tx1"/>
                    </a:solidFill>
                    <a:effectLst/>
                    <a:latin typeface="Segoe WPC"/>
                  </a:rPr>
                  <a:t>problems</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Inference</a:t>
                </a:r>
                <a:r>
                  <a:rPr lang="es-PE" sz="900" b="0" i="0" dirty="0">
                    <a:solidFill>
                      <a:schemeClr val="tx1"/>
                    </a:solidFill>
                    <a:effectLst/>
                    <a:latin typeface="Segoe WPC"/>
                  </a:rPr>
                  <a:t> </a:t>
                </a:r>
                <a:r>
                  <a:rPr lang="es-PE" sz="900" b="0" i="0" dirty="0" err="1">
                    <a:solidFill>
                      <a:schemeClr val="tx1"/>
                    </a:solidFill>
                    <a:effectLst/>
                    <a:latin typeface="Segoe WPC"/>
                  </a:rPr>
                  <a:t>becomes</a:t>
                </a:r>
                <a:r>
                  <a:rPr lang="es-PE" sz="900" b="0" i="0" dirty="0">
                    <a:solidFill>
                      <a:schemeClr val="tx1"/>
                    </a:solidFill>
                    <a:effectLst/>
                    <a:latin typeface="Segoe WPC"/>
                  </a:rPr>
                  <a:t> </a:t>
                </a:r>
                <a:r>
                  <a:rPr lang="es-PE" sz="900" b="0" i="0" dirty="0" err="1">
                    <a:solidFill>
                      <a:schemeClr val="tx1"/>
                    </a:solidFill>
                    <a:effectLst/>
                    <a:latin typeface="Segoe WPC"/>
                  </a:rPr>
                  <a:t>unreliable</a:t>
                </a:r>
                <a:r>
                  <a:rPr lang="es-PE" sz="900" b="0" i="0" dirty="0">
                    <a:solidFill>
                      <a:schemeClr val="tx1"/>
                    </a:solidFill>
                    <a:effectLst/>
                    <a:latin typeface="Segoe WPC"/>
                  </a:rPr>
                  <a:t>, </a:t>
                </a:r>
                <a:r>
                  <a:rPr lang="es-PE" sz="900" b="0" i="0" dirty="0" err="1">
                    <a:solidFill>
                      <a:schemeClr val="tx1"/>
                    </a:solidFill>
                    <a:effectLst/>
                    <a:latin typeface="Segoe WPC"/>
                  </a:rPr>
                  <a:t>unrelated</a:t>
                </a:r>
                <a:r>
                  <a:rPr lang="es-PE" sz="900" b="0" i="0" dirty="0">
                    <a:solidFill>
                      <a:schemeClr val="tx1"/>
                    </a:solidFill>
                    <a:effectLst/>
                    <a:latin typeface="Segoe WPC"/>
                  </a:rPr>
                  <a:t> series can </a:t>
                </a:r>
                <a:r>
                  <a:rPr lang="es-PE" sz="900" b="0" i="0" dirty="0" err="1">
                    <a:solidFill>
                      <a:schemeClr val="tx1"/>
                    </a:solidFill>
                    <a:effectLst/>
                    <a:latin typeface="Segoe WPC"/>
                  </a:rPr>
                  <a:t>appear</a:t>
                </a:r>
                <a:r>
                  <a:rPr lang="es-PE" sz="900" b="0" i="0" dirty="0">
                    <a:solidFill>
                      <a:schemeClr val="tx1"/>
                    </a:solidFill>
                    <a:effectLst/>
                    <a:latin typeface="Segoe WPC"/>
                  </a:rPr>
                  <a:t> </a:t>
                </a:r>
                <a:r>
                  <a:rPr lang="es-PE" sz="900" b="0" i="0" dirty="0" err="1">
                    <a:solidFill>
                      <a:schemeClr val="tx1"/>
                    </a:solidFill>
                    <a:effectLst/>
                    <a:latin typeface="Segoe WPC"/>
                  </a:rPr>
                  <a:t>strongly</a:t>
                </a:r>
                <a:r>
                  <a:rPr lang="es-PE" sz="900" b="0" i="0" dirty="0">
                    <a:solidFill>
                      <a:schemeClr val="tx1"/>
                    </a:solidFill>
                    <a:effectLst/>
                    <a:latin typeface="Segoe WPC"/>
                  </a:rPr>
                  <a:t> </a:t>
                </a:r>
                <a:r>
                  <a:rPr lang="es-PE" sz="900" b="0" i="0" dirty="0" err="1">
                    <a:solidFill>
                      <a:schemeClr val="tx1"/>
                    </a:solidFill>
                    <a:effectLst/>
                    <a:latin typeface="Segoe WPC"/>
                  </a:rPr>
                  <a:t>related</a:t>
                </a:r>
                <a:r>
                  <a:rPr lang="es-PE" sz="900" b="0" i="0" dirty="0">
                    <a:solidFill>
                      <a:schemeClr val="tx1"/>
                    </a:solidFill>
                    <a:effectLst/>
                    <a:latin typeface="Segoe WPC"/>
                  </a:rPr>
                  <a:t>, and </a:t>
                </a:r>
                <a:r>
                  <a:rPr lang="es-PE" sz="900" b="0" i="0" dirty="0" err="1">
                    <a:solidFill>
                      <a:schemeClr val="tx1"/>
                    </a:solidFill>
                    <a:effectLst/>
                    <a:latin typeface="Segoe WPC"/>
                  </a:rPr>
                  <a:t>forecasts</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revert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 </a:t>
                </a:r>
                <a:r>
                  <a:rPr lang="es-PE" sz="900" b="0" i="0" dirty="0" err="1">
                    <a:solidFill>
                      <a:schemeClr val="tx1"/>
                    </a:solidFill>
                    <a:effectLst/>
                    <a:latin typeface="Segoe WPC"/>
                  </a:rPr>
                  <a:t>stable</a:t>
                </a:r>
                <a:r>
                  <a:rPr lang="es-PE" sz="900" b="0" i="0" dirty="0">
                    <a:solidFill>
                      <a:schemeClr val="tx1"/>
                    </a:solidFill>
                    <a:effectLst/>
                    <a:latin typeface="Segoe WPC"/>
                  </a:rPr>
                  <a:t> mean.</a:t>
                </a:r>
                <a:br>
                  <a:rPr lang="es-PE" sz="900" dirty="0">
                    <a:solidFill>
                      <a:schemeClr val="tx1"/>
                    </a:solidFill>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drifting</a:t>
                </a:r>
                <a:r>
                  <a:rPr lang="es-PE" sz="900" b="0" i="0" dirty="0">
                    <a:solidFill>
                      <a:schemeClr val="tx1"/>
                    </a:solidFill>
                    <a:effectLst/>
                    <a:latin typeface="Segoe WPC"/>
                  </a:rPr>
                  <a:t> series can line up </a:t>
                </a:r>
                <a:r>
                  <a:rPr lang="es-PE" sz="900" b="0" i="0" dirty="0" err="1">
                    <a:solidFill>
                      <a:schemeClr val="tx1"/>
                    </a:solidFill>
                    <a:effectLst/>
                    <a:latin typeface="Segoe WPC"/>
                  </a:rPr>
                  <a:t>in-sample</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no real </a:t>
                </a:r>
                <a:r>
                  <a:rPr lang="es-PE" sz="900" b="0" i="0" dirty="0" err="1">
                    <a:solidFill>
                      <a:schemeClr val="tx1"/>
                    </a:solidFill>
                    <a:effectLst/>
                    <a:latin typeface="Segoe WPC"/>
                  </a:rPr>
                  <a:t>reason</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Key Formula:</a:t>
                </a:r>
                <a:r>
                  <a:rPr lang="es-PE" sz="900" b="0" i="0" dirty="0">
                    <a:solidFill>
                      <a:schemeClr val="tx1"/>
                    </a:solidFill>
                    <a:effectLst/>
                    <a:latin typeface="Segoe WPC"/>
                  </a:rPr>
                  <a:t> In a </a:t>
                </a:r>
                <a:r>
                  <a:rPr lang="es-PE" sz="900" b="0" i="0" dirty="0" err="1">
                    <a:solidFill>
                      <a:schemeClr val="tx1"/>
                    </a:solidFill>
                    <a:effectLst/>
                    <a:latin typeface="Segoe WPC"/>
                  </a:rPr>
                  <a:t>random</a:t>
                </a:r>
                <a:r>
                  <a:rPr lang="es-PE" sz="900" b="0" i="0" dirty="0">
                    <a:solidFill>
                      <a:schemeClr val="tx1"/>
                    </a:solidFill>
                    <a:effectLst/>
                    <a:latin typeface="Segoe WPC"/>
                  </a:rPr>
                  <a:t> </a:t>
                </a:r>
                <a:r>
                  <a:rPr lang="es-PE" sz="900" b="0" i="0" dirty="0" err="1">
                    <a:solidFill>
                      <a:schemeClr val="tx1"/>
                    </a:solidFill>
                    <a:effectLst/>
                    <a:latin typeface="Segoe WPC"/>
                  </a:rPr>
                  <a:t>walk</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𝑡</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a:solidFill>
                      <a:schemeClr val="tx1"/>
                    </a:solidFill>
                    <a:effectLst/>
                    <a:latin typeface="Segoe WPC"/>
                  </a:rPr>
                  <a:t>so </a:t>
                </a:r>
                <a:r>
                  <a:rPr lang="es-PE" sz="900" b="0" i="0" dirty="0" err="1">
                    <a:solidFill>
                      <a:schemeClr val="tx1"/>
                    </a:solidFill>
                    <a:effectLst/>
                    <a:latin typeface="Segoe WPC"/>
                  </a:rPr>
                  <a:t>uncertainty</a:t>
                </a:r>
                <a:r>
                  <a:rPr lang="es-PE" sz="900" b="0" i="0" dirty="0">
                    <a:solidFill>
                      <a:schemeClr val="tx1"/>
                    </a:solidFill>
                    <a:effectLst/>
                    <a:latin typeface="Segoe WPC"/>
                  </a:rPr>
                  <a:t> </a:t>
                </a:r>
                <a:r>
                  <a:rPr lang="es-PE" sz="900" b="0" i="0" dirty="0" err="1">
                    <a:solidFill>
                      <a:schemeClr val="tx1"/>
                    </a:solidFill>
                    <a:effectLst/>
                    <a:latin typeface="Segoe WPC"/>
                  </a:rPr>
                  <a:t>grows</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time.</a:t>
                </a:r>
                <a:br>
                  <a:rPr lang="es-PE" sz="900" dirty="0">
                    <a:solidFill>
                      <a:schemeClr val="tx1"/>
                    </a:solidFill>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unit</a:t>
                </a:r>
                <a:r>
                  <a:rPr lang="es-PE" sz="900" b="0" i="0" dirty="0">
                    <a:solidFill>
                      <a:schemeClr val="tx1"/>
                    </a:solidFill>
                    <a:effectLst/>
                    <a:latin typeface="Segoe WPC"/>
                  </a:rPr>
                  <a:t> </a:t>
                </a:r>
                <a:r>
                  <a:rPr lang="es-PE" sz="900" b="0" i="0" dirty="0" err="1">
                    <a:solidFill>
                      <a:schemeClr val="tx1"/>
                    </a:solidFill>
                    <a:effectLst/>
                    <a:latin typeface="Segoe WPC"/>
                  </a:rPr>
                  <a:t>roots</a:t>
                </a:r>
                <a:r>
                  <a:rPr lang="es-PE" sz="900" b="0" i="0" dirty="0">
                    <a:solidFill>
                      <a:schemeClr val="tx1"/>
                    </a:solidFill>
                    <a:effectLst/>
                    <a:latin typeface="Segoe WPC"/>
                  </a:rPr>
                  <a:t>, </a:t>
                </a:r>
                <a:r>
                  <a:rPr lang="es-PE" sz="900" b="0" i="0" dirty="0" err="1">
                    <a:solidFill>
                      <a:schemeClr val="tx1"/>
                    </a:solidFill>
                    <a:effectLst/>
                    <a:latin typeface="Segoe WPC"/>
                  </a:rPr>
                  <a:t>parameter</a:t>
                </a:r>
                <a:r>
                  <a:rPr lang="es-PE" sz="900" b="0" i="0" dirty="0">
                    <a:solidFill>
                      <a:schemeClr val="tx1"/>
                    </a:solidFill>
                    <a:effectLst/>
                    <a:latin typeface="Segoe WPC"/>
                  </a:rPr>
                  <a:t> </a:t>
                </a:r>
                <a:r>
                  <a:rPr lang="es-PE" sz="900" b="0" i="0" dirty="0" err="1">
                    <a:solidFill>
                      <a:schemeClr val="tx1"/>
                    </a:solidFill>
                    <a:effectLst/>
                    <a:latin typeface="Segoe WPC"/>
                  </a:rPr>
                  <a:t>estimators</a:t>
                </a:r>
                <a:r>
                  <a:rPr lang="es-PE" sz="900" b="0" i="0" dirty="0">
                    <a:solidFill>
                      <a:schemeClr val="tx1"/>
                    </a:solidFill>
                    <a:effectLst/>
                    <a:latin typeface="Segoe WPC"/>
                  </a:rPr>
                  <a:t> are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normally</a:t>
                </a:r>
                <a:r>
                  <a:rPr lang="es-PE" sz="900" b="0" i="0" dirty="0">
                    <a:solidFill>
                      <a:schemeClr val="tx1"/>
                    </a:solidFill>
                    <a:effectLst/>
                    <a:latin typeface="Segoe WPC"/>
                  </a:rPr>
                  <a:t> </a:t>
                </a:r>
                <a:r>
                  <a:rPr lang="es-PE" sz="900" b="0" i="0" dirty="0" err="1">
                    <a:solidFill>
                      <a:schemeClr val="tx1"/>
                    </a:solidFill>
                    <a:effectLst/>
                    <a:latin typeface="Segoe WPC"/>
                  </a:rPr>
                  <a:t>distributed</a:t>
                </a:r>
                <a:r>
                  <a:rPr lang="es-PE" sz="900" b="0" i="0" dirty="0">
                    <a:solidFill>
                      <a:schemeClr val="tx1"/>
                    </a:solidFill>
                    <a:effectLst/>
                    <a:latin typeface="Segoe WPC"/>
                  </a:rPr>
                  <a:t>, </a:t>
                </a:r>
                <a:r>
                  <a:rPr lang="es-PE" sz="900" b="0" i="0" dirty="0" err="1">
                    <a:solidFill>
                      <a:schemeClr val="tx1"/>
                    </a:solidFill>
                    <a:effectLst/>
                    <a:latin typeface="Segoe WPC"/>
                  </a:rPr>
                  <a:t>spurious</a:t>
                </a:r>
                <a:r>
                  <a:rPr lang="es-PE" sz="900" b="0" i="0" dirty="0">
                    <a:solidFill>
                      <a:schemeClr val="tx1"/>
                    </a:solidFill>
                    <a:effectLst/>
                    <a:latin typeface="Segoe WPC"/>
                  </a:rPr>
                  <a:t> </a:t>
                </a:r>
                <a:r>
                  <a:rPr lang="es-PE" sz="900" b="0" i="0" dirty="0" err="1">
                    <a:solidFill>
                      <a:schemeClr val="tx1"/>
                    </a:solidFill>
                    <a:effectLst/>
                    <a:latin typeface="Segoe WPC"/>
                  </a:rPr>
                  <a:t>regressions</a:t>
                </a:r>
                <a:r>
                  <a:rPr lang="es-PE" sz="900" b="0" i="0" dirty="0">
                    <a:solidFill>
                      <a:schemeClr val="tx1"/>
                    </a:solidFill>
                    <a:effectLst/>
                    <a:latin typeface="Segoe WPC"/>
                  </a:rPr>
                  <a:t> are </a:t>
                </a:r>
                <a:r>
                  <a:rPr lang="es-PE" sz="900" b="0" i="0" dirty="0" err="1">
                    <a:solidFill>
                      <a:schemeClr val="tx1"/>
                    </a:solidFill>
                    <a:effectLst/>
                    <a:latin typeface="Segoe WPC"/>
                  </a:rPr>
                  <a:t>common</a:t>
                </a:r>
                <a:r>
                  <a:rPr lang="es-PE" sz="900" b="0" i="0" dirty="0">
                    <a:solidFill>
                      <a:schemeClr val="tx1"/>
                    </a:solidFill>
                    <a:effectLst/>
                    <a:latin typeface="Segoe WPC"/>
                  </a:rPr>
                  <a:t>, and </a:t>
                </a:r>
                <a:r>
                  <a:rPr lang="es-PE" sz="900" b="0" i="0" dirty="0" err="1">
                    <a:solidFill>
                      <a:schemeClr val="tx1"/>
                    </a:solidFill>
                    <a:effectLst/>
                    <a:latin typeface="Segoe WPC"/>
                  </a:rPr>
                  <a:t>long-horizon</a:t>
                </a:r>
                <a:r>
                  <a:rPr lang="es-PE" sz="900" b="0" i="0" dirty="0">
                    <a:solidFill>
                      <a:schemeClr val="tx1"/>
                    </a:solidFill>
                    <a:effectLst/>
                    <a:latin typeface="Segoe WPC"/>
                  </a:rPr>
                  <a:t> </a:t>
                </a:r>
                <a:r>
                  <a:rPr lang="es-PE" sz="900" b="0" i="0" dirty="0" err="1">
                    <a:solidFill>
                      <a:schemeClr val="tx1"/>
                    </a:solidFill>
                    <a:effectLst/>
                    <a:latin typeface="Segoe WPC"/>
                  </a:rPr>
                  <a:t>forecasts</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converge </a:t>
                </a:r>
                <a:r>
                  <a:rPr lang="es-PE" sz="900" b="0" i="0" dirty="0" err="1">
                    <a:solidFill>
                      <a:schemeClr val="tx1"/>
                    </a:solidFill>
                    <a:effectLst/>
                    <a:latin typeface="Segoe WPC"/>
                  </a:rPr>
                  <a:t>to</a:t>
                </a:r>
                <a:r>
                  <a:rPr lang="es-PE" sz="900" b="0" i="0" dirty="0">
                    <a:solidFill>
                      <a:schemeClr val="tx1"/>
                    </a:solidFill>
                    <a:effectLst/>
                    <a:latin typeface="Segoe WPC"/>
                  </a:rPr>
                  <a:t> a </a:t>
                </a:r>
                <a:r>
                  <a:rPr lang="es-PE" sz="900" b="0" i="0" dirty="0" err="1">
                    <a:solidFill>
                      <a:schemeClr val="tx1"/>
                    </a:solidFill>
                    <a:effectLst/>
                    <a:latin typeface="Segoe WPC"/>
                  </a:rPr>
                  <a:t>fixed</a:t>
                </a:r>
                <a:r>
                  <a:rPr lang="es-PE" sz="900" b="0" i="0" dirty="0">
                    <a:solidFill>
                      <a:schemeClr val="tx1"/>
                    </a:solidFill>
                    <a:effectLst/>
                    <a:latin typeface="Segoe WPC"/>
                  </a:rPr>
                  <a:t> </a:t>
                </a:r>
                <a:r>
                  <a:rPr lang="es-PE" sz="900" b="0" i="0" dirty="0" err="1">
                    <a:solidFill>
                      <a:schemeClr val="tx1"/>
                    </a:solidFill>
                    <a:effectLst/>
                    <a:latin typeface="Segoe WPC"/>
                  </a:rPr>
                  <a:t>unconditional</a:t>
                </a:r>
                <a:r>
                  <a:rPr lang="es-PE" sz="900" b="0" i="0" dirty="0">
                    <a:solidFill>
                      <a:schemeClr val="tx1"/>
                    </a:solidFill>
                    <a:effectLst/>
                    <a:latin typeface="Segoe WPC"/>
                  </a:rPr>
                  <a:t> mean.</a:t>
                </a:r>
                <a:br>
                  <a:rPr lang="es-PE" sz="900" dirty="0">
                    <a:solidFill>
                      <a:schemeClr val="tx1"/>
                    </a:solidFill>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strong</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 in </a:t>
                </a:r>
                <a:r>
                  <a:rPr lang="es-PE" sz="900" b="0" i="0" dirty="0" err="1">
                    <a:solidFill>
                      <a:schemeClr val="tx1"/>
                    </a:solidFill>
                    <a:effectLst/>
                    <a:latin typeface="Segoe WPC"/>
                  </a:rPr>
                  <a:t>levels</a:t>
                </a:r>
                <a:r>
                  <a:rPr lang="es-PE" sz="900" b="0" i="0" dirty="0">
                    <a:solidFill>
                      <a:schemeClr val="tx1"/>
                    </a:solidFill>
                    <a:effectLst/>
                    <a:latin typeface="Segoe WPC"/>
                  </a:rPr>
                  <a:t> can be </a:t>
                </a:r>
                <a:r>
                  <a:rPr lang="es-PE" sz="900" b="0" i="0" dirty="0" err="1">
                    <a:solidFill>
                      <a:schemeClr val="tx1"/>
                    </a:solidFill>
                    <a:effectLst/>
                    <a:latin typeface="Segoe WPC"/>
                  </a:rPr>
                  <a:t>totally</a:t>
                </a:r>
                <a:r>
                  <a:rPr lang="es-PE" sz="900" b="0" i="0" dirty="0">
                    <a:solidFill>
                      <a:schemeClr val="tx1"/>
                    </a:solidFill>
                    <a:effectLst/>
                    <a:latin typeface="Segoe WPC"/>
                  </a:rPr>
                  <a:t> </a:t>
                </a:r>
                <a:r>
                  <a:rPr lang="es-PE" sz="900" b="0" i="0" dirty="0" err="1">
                    <a:solidFill>
                      <a:schemeClr val="tx1"/>
                    </a:solidFill>
                    <a:effectLst/>
                    <a:latin typeface="Segoe WPC"/>
                  </a:rPr>
                  <a:t>misleading</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variables </a:t>
                </a:r>
                <a:r>
                  <a:rPr lang="es-PE" sz="900" b="0" i="0" dirty="0" err="1">
                    <a:solidFill>
                      <a:schemeClr val="tx1"/>
                    </a:solidFill>
                    <a:effectLst/>
                    <a:latin typeface="Segoe WPC"/>
                  </a:rPr>
                  <a:t>contain</a:t>
                </a:r>
                <a:r>
                  <a:rPr lang="es-PE" sz="900" b="0" i="0" dirty="0">
                    <a:solidFill>
                      <a:schemeClr val="tx1"/>
                    </a:solidFill>
                    <a:effectLst/>
                    <a:latin typeface="Segoe WPC"/>
                  </a:rPr>
                  <a:t> </a:t>
                </a:r>
                <a:r>
                  <a:rPr lang="es-PE" sz="900" b="0" i="0" dirty="0" err="1">
                    <a:solidFill>
                      <a:schemeClr val="tx1"/>
                    </a:solidFill>
                    <a:effectLst/>
                    <a:latin typeface="Segoe WPC"/>
                  </a:rPr>
                  <a:t>unit</a:t>
                </a:r>
                <a:r>
                  <a:rPr lang="es-PE" sz="900" b="0" i="0" dirty="0">
                    <a:solidFill>
                      <a:schemeClr val="tx1"/>
                    </a:solidFill>
                    <a:effectLst/>
                    <a:latin typeface="Segoe WPC"/>
                  </a:rPr>
                  <a:t> </a:t>
                </a:r>
                <a:r>
                  <a:rPr lang="es-PE" sz="900" b="0" i="0" dirty="0" err="1">
                    <a:solidFill>
                      <a:schemeClr val="tx1"/>
                    </a:solidFill>
                    <a:effectLst/>
                    <a:latin typeface="Segoe WPC"/>
                  </a:rPr>
                  <a:t>roots</a:t>
                </a:r>
                <a:r>
                  <a:rPr lang="es-PE" sz="900" b="0" i="0" dirty="0">
                    <a:solidFill>
                      <a:schemeClr val="tx1"/>
                    </a:solidFill>
                    <a:effectLst/>
                    <a:latin typeface="Segoe WPC"/>
                  </a:rPr>
                  <a:t>.</a:t>
                </a:r>
                <a:endParaRPr lang="es-PE" sz="900" dirty="0">
                  <a:solidFill>
                    <a:schemeClr val="tx1"/>
                  </a:solidFill>
                </a:endParaRPr>
              </a:p>
            </p:txBody>
          </p:sp>
        </mc:Choice>
        <mc:Fallback xmlns="">
          <p:sp>
            <p:nvSpPr>
              <p:cNvPr id="11" name="CuadroTexto 10">
                <a:extLst>
                  <a:ext uri="{FF2B5EF4-FFF2-40B4-BE49-F238E27FC236}">
                    <a16:creationId xmlns:a16="http://schemas.microsoft.com/office/drawing/2014/main" id="{2BF8DAF0-B460-47CE-D033-078AD430AE7D}"/>
                  </a:ext>
                </a:extLst>
              </p:cNvPr>
              <p:cNvSpPr txBox="1">
                <a:spLocks noRot="1" noChangeAspect="1" noMove="1" noResize="1" noEditPoints="1" noAdjustHandles="1" noChangeArrowheads="1" noChangeShapeType="1" noTextEdit="1"/>
              </p:cNvSpPr>
              <p:nvPr/>
            </p:nvSpPr>
            <p:spPr>
              <a:xfrm>
                <a:off x="6043384" y="-69249"/>
                <a:ext cx="6184898" cy="1338828"/>
              </a:xfrm>
              <a:prstGeom prst="rect">
                <a:avLst/>
              </a:prstGeom>
              <a:blipFill>
                <a:blip r:embed="rId3"/>
                <a:stretch>
                  <a:fillRect b="-913"/>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31FF46C9-4E06-5E50-D906-FAA82F96B591}"/>
                  </a:ext>
                </a:extLst>
              </p:cNvPr>
              <p:cNvSpPr txBox="1"/>
              <p:nvPr/>
            </p:nvSpPr>
            <p:spPr>
              <a:xfrm>
                <a:off x="6043387" y="1189762"/>
                <a:ext cx="6288311" cy="1477328"/>
              </a:xfrm>
              <a:prstGeom prst="rect">
                <a:avLst/>
              </a:prstGeom>
              <a:noFill/>
            </p:spPr>
            <p:txBody>
              <a:bodyPr wrap="square">
                <a:spAutoFit/>
              </a:bodyPr>
              <a:lstStyle/>
              <a:p>
                <a:pPr>
                  <a:spcAft>
                    <a:spcPts val="600"/>
                  </a:spcAft>
                </a:pPr>
                <a:r>
                  <a:rPr lang="es-PE" sz="900" b="1" i="0" dirty="0">
                    <a:solidFill>
                      <a:schemeClr val="tx1"/>
                    </a:solidFill>
                    <a:effectLst/>
                    <a:latin typeface="Segoe WPC"/>
                  </a:rPr>
                  <a:t>7. </a:t>
                </a:r>
                <a:r>
                  <a:rPr lang="es-PE" sz="900" b="1" i="0" dirty="0" err="1">
                    <a:solidFill>
                      <a:schemeClr val="tx1"/>
                    </a:solidFill>
                    <a:effectLst/>
                    <a:latin typeface="Segoe WPC"/>
                  </a:rPr>
                  <a:t>Differencing</a:t>
                </a:r>
                <a:r>
                  <a:rPr lang="es-PE" sz="900" b="1" i="0" dirty="0">
                    <a:solidFill>
                      <a:schemeClr val="tx1"/>
                    </a:solidFill>
                    <a:effectLst/>
                    <a:latin typeface="Segoe WPC"/>
                  </a:rPr>
                  <a:t> and </a:t>
                </a:r>
                <a:r>
                  <a:rPr lang="es-PE" sz="900" b="1" i="0" dirty="0" err="1">
                    <a:solidFill>
                      <a:schemeClr val="tx1"/>
                    </a:solidFill>
                    <a:effectLst/>
                    <a:latin typeface="Segoe WPC"/>
                  </a:rPr>
                  <a:t>Seasonal</a:t>
                </a:r>
                <a:r>
                  <a:rPr lang="es-PE" sz="900" b="1" i="0" dirty="0">
                    <a:solidFill>
                      <a:schemeClr val="tx1"/>
                    </a:solidFill>
                    <a:effectLst/>
                    <a:latin typeface="Segoe WPC"/>
                  </a:rPr>
                  <a:t> </a:t>
                </a:r>
                <a:r>
                  <a:rPr lang="es-PE" sz="900" b="1" i="0" dirty="0" err="1">
                    <a:solidFill>
                      <a:schemeClr val="tx1"/>
                    </a:solidFill>
                    <a:effectLst/>
                    <a:latin typeface="Segoe WPC"/>
                  </a:rPr>
                  <a:t>Differencing</a:t>
                </a:r>
                <a:br>
                  <a:rPr lang="es-PE" sz="900" dirty="0">
                    <a:solidFill>
                      <a:schemeClr val="tx1"/>
                    </a:solidFill>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Differencing</a:t>
                </a:r>
                <a:r>
                  <a:rPr lang="es-PE" sz="900" b="0" i="0" dirty="0">
                    <a:solidFill>
                      <a:schemeClr val="tx1"/>
                    </a:solidFill>
                    <a:effectLst/>
                    <a:latin typeface="Segoe WPC"/>
                  </a:rPr>
                  <a:t> </a:t>
                </a:r>
                <a:r>
                  <a:rPr lang="es-PE" sz="900" b="0" i="0" dirty="0" err="1">
                    <a:solidFill>
                      <a:schemeClr val="tx1"/>
                    </a:solidFill>
                    <a:effectLst/>
                    <a:latin typeface="Segoe WPC"/>
                  </a:rPr>
                  <a:t>removes</a:t>
                </a:r>
                <a:r>
                  <a:rPr lang="es-PE" sz="900" b="0" i="0" dirty="0">
                    <a:solidFill>
                      <a:schemeClr val="tx1"/>
                    </a:solidFill>
                    <a:effectLst/>
                    <a:latin typeface="Segoe WPC"/>
                  </a:rPr>
                  <a:t> </a:t>
                </a:r>
                <a:r>
                  <a:rPr lang="es-PE" sz="900" b="0" i="0" dirty="0" err="1">
                    <a:solidFill>
                      <a:schemeClr val="tx1"/>
                    </a:solidFill>
                    <a:effectLst/>
                    <a:latin typeface="Segoe WPC"/>
                  </a:rPr>
                  <a:t>stochastic</a:t>
                </a:r>
                <a:r>
                  <a:rPr lang="es-PE" sz="900" b="0" i="0" dirty="0">
                    <a:solidFill>
                      <a:schemeClr val="tx1"/>
                    </a:solidFill>
                    <a:effectLst/>
                    <a:latin typeface="Segoe WPC"/>
                  </a:rPr>
                  <a:t> </a:t>
                </a:r>
                <a:r>
                  <a:rPr lang="es-PE" sz="900" b="0" i="0" dirty="0" err="1">
                    <a:solidFill>
                      <a:schemeClr val="tx1"/>
                    </a:solidFill>
                    <a:effectLst/>
                    <a:latin typeface="Segoe WPC"/>
                  </a:rPr>
                  <a:t>trends</a:t>
                </a:r>
                <a:r>
                  <a:rPr lang="es-PE" sz="900" b="0" i="0" dirty="0">
                    <a:solidFill>
                      <a:schemeClr val="tx1"/>
                    </a:solidFill>
                    <a:effectLst/>
                    <a:latin typeface="Segoe WPC"/>
                  </a:rPr>
                  <a:t>;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differencing</a:t>
                </a:r>
                <a:r>
                  <a:rPr lang="es-PE" sz="900" b="0" i="0" dirty="0">
                    <a:solidFill>
                      <a:schemeClr val="tx1"/>
                    </a:solidFill>
                    <a:effectLst/>
                    <a:latin typeface="Segoe WPC"/>
                  </a:rPr>
                  <a:t> </a:t>
                </a:r>
                <a:r>
                  <a:rPr lang="es-PE" sz="900" b="0" i="0" dirty="0" err="1">
                    <a:solidFill>
                      <a:schemeClr val="tx1"/>
                    </a:solidFill>
                    <a:effectLst/>
                    <a:latin typeface="Segoe WPC"/>
                  </a:rPr>
                  <a:t>also</a:t>
                </a:r>
                <a:r>
                  <a:rPr lang="es-PE" sz="900" b="0" i="0" dirty="0">
                    <a:solidFill>
                      <a:schemeClr val="tx1"/>
                    </a:solidFill>
                    <a:effectLst/>
                    <a:latin typeface="Segoe WPC"/>
                  </a:rPr>
                  <a:t> </a:t>
                </a:r>
                <a:r>
                  <a:rPr lang="es-PE" sz="900" b="0" i="0" dirty="0" err="1">
                    <a:solidFill>
                      <a:schemeClr val="tx1"/>
                    </a:solidFill>
                    <a:effectLst/>
                    <a:latin typeface="Segoe WPC"/>
                  </a:rPr>
                  <a:t>removes</a:t>
                </a:r>
                <a:r>
                  <a:rPr lang="es-PE" sz="900" b="0" i="0" dirty="0">
                    <a:solidFill>
                      <a:schemeClr val="tx1"/>
                    </a:solidFill>
                    <a:effectLst/>
                    <a:latin typeface="Segoe WPC"/>
                  </a:rPr>
                  <a:t> </a:t>
                </a:r>
                <a:r>
                  <a:rPr lang="es-PE" sz="900" b="0" i="0" dirty="0" err="1">
                    <a:solidFill>
                      <a:schemeClr val="tx1"/>
                    </a:solidFill>
                    <a:effectLst/>
                    <a:latin typeface="Segoe WPC"/>
                  </a:rPr>
                  <a:t>seasonal</a:t>
                </a:r>
                <a:r>
                  <a:rPr lang="es-PE" sz="900" b="0" i="0" dirty="0">
                    <a:solidFill>
                      <a:schemeClr val="tx1"/>
                    </a:solidFill>
                    <a:effectLst/>
                    <a:latin typeface="Segoe WPC"/>
                  </a:rPr>
                  <a:t> non-</a:t>
                </a:r>
                <a:r>
                  <a:rPr lang="es-PE" sz="900" b="0" i="0" dirty="0" err="1">
                    <a:solidFill>
                      <a:schemeClr val="tx1"/>
                    </a:solidFill>
                    <a:effectLst/>
                    <a:latin typeface="Segoe WPC"/>
                  </a:rPr>
                  <a:t>stationarity</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levels</a:t>
                </a:r>
                <a:r>
                  <a:rPr lang="es-PE" sz="900" b="0" i="0" dirty="0">
                    <a:solidFill>
                      <a:schemeClr val="tx1"/>
                    </a:solidFill>
                    <a:effectLst/>
                    <a:latin typeface="Segoe WPC"/>
                  </a:rPr>
                  <a:t> are non-</a:t>
                </a:r>
                <a:r>
                  <a:rPr lang="es-PE" sz="900" b="0" i="0" dirty="0" err="1">
                    <a:solidFill>
                      <a:schemeClr val="tx1"/>
                    </a:solidFill>
                    <a:effectLst/>
                    <a:latin typeface="Segoe WPC"/>
                  </a:rPr>
                  <a:t>stationary</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instead</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levels</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Subtract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previous</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subtract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season</a:t>
                </a:r>
                <a:r>
                  <a:rPr lang="es-PE" sz="900" b="0" i="0" dirty="0">
                    <a:solidFill>
                      <a:schemeClr val="tx1"/>
                    </a:solidFill>
                    <a:effectLst/>
                    <a:latin typeface="Segoe WPC"/>
                  </a:rPr>
                  <a:t> </a:t>
                </a:r>
                <a:r>
                  <a:rPr lang="es-PE" sz="900" b="0" i="0" dirty="0" err="1">
                    <a:solidFill>
                      <a:schemeClr val="tx1"/>
                    </a:solidFill>
                    <a:effectLst/>
                    <a:latin typeface="Segoe WPC"/>
                  </a:rPr>
                  <a:t>last</a:t>
                </a:r>
                <a:r>
                  <a:rPr lang="es-PE" sz="900" b="0" i="0" dirty="0">
                    <a:solidFill>
                      <a:schemeClr val="tx1"/>
                    </a:solidFill>
                    <a:effectLst/>
                    <a:latin typeface="Segoe WPC"/>
                  </a:rPr>
                  <a:t> </a:t>
                </a:r>
                <a:r>
                  <a:rPr lang="es-PE" sz="900" b="0" i="0" dirty="0" err="1">
                    <a:solidFill>
                      <a:schemeClr val="tx1"/>
                    </a:solidFill>
                    <a:effectLst/>
                    <a:latin typeface="Segoe WPC"/>
                  </a:rPr>
                  <a:t>year</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remove</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and </a:t>
                </a:r>
                <a:r>
                  <a:rPr lang="es-PE" sz="900" b="0" i="0" dirty="0" err="1">
                    <a:solidFill>
                      <a:schemeClr val="tx1"/>
                    </a:solidFill>
                    <a:effectLst/>
                    <a:latin typeface="Segoe WPC"/>
                  </a:rPr>
                  <a:t>seasonality</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First</a:t>
                </a:r>
                <a:r>
                  <a:rPr lang="es-PE" sz="900" b="0" i="0" dirty="0">
                    <a:solidFill>
                      <a:schemeClr val="tx1"/>
                    </a:solidFill>
                    <a:effectLst/>
                    <a:latin typeface="Segoe WPC"/>
                  </a:rPr>
                  <a:t> </a:t>
                </a:r>
                <a:r>
                  <a:rPr lang="es-PE" sz="900" b="0" i="0" dirty="0" err="1">
                    <a:solidFill>
                      <a:schemeClr val="tx1"/>
                    </a:solidFill>
                    <a:effectLst/>
                    <a:latin typeface="Segoe WPC"/>
                  </a:rPr>
                  <a:t>difference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𝛥</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difference</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𝛥</m:t>
                        </m:r>
                      </m:e>
                      <m:sub>
                        <m:r>
                          <a:rPr lang="ar-AE" sz="900" i="1">
                            <a:solidFill>
                              <a:schemeClr val="tx1"/>
                            </a:solidFill>
                            <a:latin typeface="Cambria Math" panose="02040503050406030204" pitchFamily="18" charset="0"/>
                          </a:rPr>
                          <m:t>𝑠</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𝑠</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difference</a:t>
                </a:r>
                <a:r>
                  <a:rPr lang="es-PE" sz="900" b="0" i="0" dirty="0">
                    <a:solidFill>
                      <a:schemeClr val="tx1"/>
                    </a:solidFill>
                    <a:effectLst/>
                    <a:latin typeface="Segoe WPC"/>
                  </a:rPr>
                  <a:t> </a:t>
                </a:r>
                <a:r>
                  <a:rPr lang="es-PE" sz="900" b="0" i="0" dirty="0" err="1">
                    <a:solidFill>
                      <a:schemeClr val="tx1"/>
                    </a:solidFill>
                    <a:effectLst/>
                    <a:latin typeface="Segoe WPC"/>
                  </a:rPr>
                  <a:t>makes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series </a:t>
                </a:r>
                <a:r>
                  <a:rPr lang="es-PE" sz="900" b="0" i="0" dirty="0" err="1">
                    <a:solidFill>
                      <a:schemeClr val="tx1"/>
                    </a:solidFill>
                    <a:effectLst/>
                    <a:latin typeface="Segoe WPC"/>
                  </a:rPr>
                  <a:t>stationary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original series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𝐼</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e>
                    </m:d>
                  </m:oMath>
                </a14:m>
                <a:r>
                  <a:rPr lang="ar-AE" sz="900" b="0" i="0" dirty="0">
                    <a:solidFill>
                      <a:schemeClr val="tx1"/>
                    </a:solidFill>
                    <a:effectLst/>
                    <a:latin typeface="Segoe WPC"/>
                  </a:rPr>
                  <a:t>.</a:t>
                </a:r>
                <a:br>
                  <a:rPr lang="ar-AE" sz="900" dirty="0">
                    <a:solidFill>
                      <a:schemeClr val="tx1"/>
                    </a:solidFill>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Differencing</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standard </a:t>
                </a:r>
                <a:r>
                  <a:rPr lang="es-PE" sz="900" b="0" i="0" dirty="0" err="1">
                    <a:solidFill>
                      <a:schemeClr val="tx1"/>
                    </a:solidFill>
                    <a:effectLst/>
                    <a:latin typeface="Segoe WPC"/>
                  </a:rPr>
                  <a:t>solution</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unit</a:t>
                </a:r>
                <a:r>
                  <a:rPr lang="es-PE" sz="900" b="0" i="0" dirty="0">
                    <a:solidFill>
                      <a:schemeClr val="tx1"/>
                    </a:solidFill>
                    <a:effectLst/>
                    <a:latin typeface="Segoe WPC"/>
                  </a:rPr>
                  <a:t> </a:t>
                </a:r>
                <a:r>
                  <a:rPr lang="es-PE" sz="900" b="0" i="0" dirty="0" err="1">
                    <a:solidFill>
                      <a:schemeClr val="tx1"/>
                    </a:solidFill>
                    <a:effectLst/>
                    <a:latin typeface="Segoe WPC"/>
                  </a:rPr>
                  <a:t>roots</a:t>
                </a:r>
                <a:r>
                  <a:rPr lang="es-PE" sz="900" b="0" i="0" dirty="0">
                    <a:solidFill>
                      <a:schemeClr val="tx1"/>
                    </a:solidFill>
                    <a:effectLst/>
                    <a:latin typeface="Segoe WPC"/>
                  </a:rPr>
                  <a:t>, and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differencing</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eliminates</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seasonalities</a:t>
                </a:r>
                <a:r>
                  <a:rPr lang="es-PE" sz="900" b="0" i="0" dirty="0">
                    <a:solidFill>
                      <a:schemeClr val="tx1"/>
                    </a:solidFill>
                    <a:effectLst/>
                    <a:latin typeface="Segoe WPC"/>
                  </a:rPr>
                  <a:t> as </a:t>
                </a:r>
                <a:r>
                  <a:rPr lang="es-PE" sz="900" b="0" i="0" dirty="0" err="1">
                    <a:solidFill>
                      <a:schemeClr val="tx1"/>
                    </a:solidFill>
                    <a:effectLst/>
                    <a:latin typeface="Segoe WPC"/>
                  </a:rPr>
                  <a:t>well</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Over-differencing</a:t>
                </a:r>
                <a:r>
                  <a:rPr lang="es-PE" sz="900" b="0" i="0" dirty="0">
                    <a:solidFill>
                      <a:schemeClr val="tx1"/>
                    </a:solidFill>
                    <a:effectLst/>
                    <a:latin typeface="Segoe WPC"/>
                  </a:rPr>
                  <a:t> a </a:t>
                </a:r>
                <a:r>
                  <a:rPr lang="es-PE" sz="900" b="0" i="0" dirty="0" err="1">
                    <a:solidFill>
                      <a:schemeClr val="tx1"/>
                    </a:solidFill>
                    <a:effectLst/>
                    <a:latin typeface="Segoe WPC"/>
                  </a:rPr>
                  <a:t>stationary</a:t>
                </a:r>
                <a:r>
                  <a:rPr lang="es-PE" sz="900" b="0" i="0" dirty="0">
                    <a:solidFill>
                      <a:schemeClr val="tx1"/>
                    </a:solidFill>
                    <a:effectLst/>
                    <a:latin typeface="Segoe WPC"/>
                  </a:rPr>
                  <a:t> series </a:t>
                </a:r>
                <a:r>
                  <a:rPr lang="es-PE" sz="900" b="0" i="0" dirty="0" err="1">
                    <a:solidFill>
                      <a:schemeClr val="tx1"/>
                    </a:solidFill>
                    <a:effectLst/>
                    <a:latin typeface="Segoe WPC"/>
                  </a:rPr>
                  <a:t>adds</a:t>
                </a:r>
                <a:r>
                  <a:rPr lang="es-PE" sz="900" b="0" i="0" dirty="0">
                    <a:solidFill>
                      <a:schemeClr val="tx1"/>
                    </a:solidFill>
                    <a:effectLst/>
                    <a:latin typeface="Segoe WPC"/>
                  </a:rPr>
                  <a:t> </a:t>
                </a:r>
                <a:r>
                  <a:rPr lang="es-PE" sz="900" b="0" i="0" dirty="0" err="1">
                    <a:solidFill>
                      <a:schemeClr val="tx1"/>
                    </a:solidFill>
                    <a:effectLst/>
                    <a:latin typeface="Segoe WPC"/>
                  </a:rPr>
                  <a:t>unnecessary</a:t>
                </a:r>
                <a:r>
                  <a:rPr lang="es-PE" sz="900" b="0" i="0" dirty="0">
                    <a:solidFill>
                      <a:schemeClr val="tx1"/>
                    </a:solidFill>
                    <a:effectLst/>
                    <a:latin typeface="Segoe WPC"/>
                  </a:rPr>
                  <a:t> </a:t>
                </a:r>
                <a:r>
                  <a:rPr lang="es-PE" sz="900" b="0" i="0" dirty="0" err="1">
                    <a:solidFill>
                      <a:schemeClr val="tx1"/>
                    </a:solidFill>
                    <a:effectLst/>
                    <a:latin typeface="Segoe WPC"/>
                  </a:rPr>
                  <a:t>complexity</a:t>
                </a:r>
                <a:r>
                  <a:rPr lang="es-PE" sz="900" b="0" i="0" dirty="0">
                    <a:solidFill>
                      <a:schemeClr val="tx1"/>
                    </a:solidFill>
                    <a:effectLst/>
                    <a:latin typeface="Segoe WPC"/>
                  </a:rPr>
                  <a:t> and can </a:t>
                </a:r>
                <a:r>
                  <a:rPr lang="es-PE" sz="900" b="0" i="0" dirty="0" err="1">
                    <a:solidFill>
                      <a:schemeClr val="tx1"/>
                    </a:solidFill>
                    <a:effectLst/>
                    <a:latin typeface="Segoe WPC"/>
                  </a:rPr>
                  <a:t>worsen</a:t>
                </a:r>
                <a:r>
                  <a:rPr lang="es-PE" sz="900" b="0" i="0" dirty="0">
                    <a:solidFill>
                      <a:schemeClr val="tx1"/>
                    </a:solidFill>
                    <a:effectLst/>
                    <a:latin typeface="Segoe WPC"/>
                  </a:rPr>
                  <a:t> </a:t>
                </a:r>
                <a:r>
                  <a:rPr lang="es-PE" sz="900" b="0" i="0" dirty="0" err="1">
                    <a:solidFill>
                      <a:schemeClr val="tx1"/>
                    </a:solidFill>
                    <a:effectLst/>
                    <a:latin typeface="Segoe WPC"/>
                  </a:rPr>
                  <a:t>forecasts</a:t>
                </a:r>
                <a:r>
                  <a:rPr lang="es-PE" sz="900" b="0" i="0" dirty="0">
                    <a:solidFill>
                      <a:schemeClr val="tx1"/>
                    </a:solidFill>
                    <a:effectLst/>
                    <a:latin typeface="Segoe WPC"/>
                  </a:rPr>
                  <a:t>.</a:t>
                </a:r>
                <a:endParaRPr lang="es-PE" sz="900" dirty="0">
                  <a:solidFill>
                    <a:schemeClr val="tx1"/>
                  </a:solidFill>
                </a:endParaRPr>
              </a:p>
            </p:txBody>
          </p:sp>
        </mc:Choice>
        <mc:Fallback xmlns="">
          <p:sp>
            <p:nvSpPr>
              <p:cNvPr id="13" name="CuadroTexto 12">
                <a:extLst>
                  <a:ext uri="{FF2B5EF4-FFF2-40B4-BE49-F238E27FC236}">
                    <a16:creationId xmlns:a16="http://schemas.microsoft.com/office/drawing/2014/main" id="{31FF46C9-4E06-5E50-D906-FAA82F96B591}"/>
                  </a:ext>
                </a:extLst>
              </p:cNvPr>
              <p:cNvSpPr txBox="1">
                <a:spLocks noRot="1" noChangeAspect="1" noMove="1" noResize="1" noEditPoints="1" noAdjustHandles="1" noChangeArrowheads="1" noChangeShapeType="1" noTextEdit="1"/>
              </p:cNvSpPr>
              <p:nvPr/>
            </p:nvSpPr>
            <p:spPr>
              <a:xfrm>
                <a:off x="6043387" y="1189762"/>
                <a:ext cx="6288311" cy="1477328"/>
              </a:xfrm>
              <a:prstGeom prst="rect">
                <a:avLst/>
              </a:prstGeom>
              <a:blipFill>
                <a:blip r:embed="rId4"/>
                <a:stretch>
                  <a:fillRect b="-823"/>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DFC82C41-B06B-8497-DF88-904BCCE2E3AF}"/>
                  </a:ext>
                </a:extLst>
              </p:cNvPr>
              <p:cNvSpPr txBox="1"/>
              <p:nvPr/>
            </p:nvSpPr>
            <p:spPr>
              <a:xfrm>
                <a:off x="6043386" y="2587945"/>
                <a:ext cx="6288311" cy="1349472"/>
              </a:xfrm>
              <a:prstGeom prst="rect">
                <a:avLst/>
              </a:prstGeom>
              <a:noFill/>
            </p:spPr>
            <p:txBody>
              <a:bodyPr wrap="square">
                <a:spAutoFit/>
              </a:bodyPr>
              <a:lstStyle/>
              <a:p>
                <a:pPr>
                  <a:spcAft>
                    <a:spcPts val="600"/>
                  </a:spcAft>
                </a:pPr>
                <a:r>
                  <a:rPr lang="es-PE" sz="900" b="1" i="0" dirty="0">
                    <a:solidFill>
                      <a:schemeClr val="tx1"/>
                    </a:solidFill>
                    <a:effectLst/>
                    <a:latin typeface="Segoe WPC"/>
                  </a:rPr>
                  <a:t>8. </a:t>
                </a:r>
                <a:r>
                  <a:rPr lang="es-PE" sz="900" b="1" i="0" dirty="0" err="1">
                    <a:solidFill>
                      <a:schemeClr val="tx1"/>
                    </a:solidFill>
                    <a:effectLst/>
                    <a:latin typeface="Segoe WPC"/>
                  </a:rPr>
                  <a:t>Testing</a:t>
                </a:r>
                <a:r>
                  <a:rPr lang="es-PE" sz="900" b="1" i="0" dirty="0">
                    <a:solidFill>
                      <a:schemeClr val="tx1"/>
                    </a:solidFill>
                    <a:effectLst/>
                    <a:latin typeface="Segoe WPC"/>
                  </a:rPr>
                  <a:t> </a:t>
                </a:r>
                <a:r>
                  <a:rPr lang="es-PE" sz="900" b="1" i="0" dirty="0" err="1">
                    <a:solidFill>
                      <a:schemeClr val="tx1"/>
                    </a:solidFill>
                    <a:effectLst/>
                    <a:latin typeface="Segoe WPC"/>
                  </a:rPr>
                  <a:t>for</a:t>
                </a:r>
                <a:r>
                  <a:rPr lang="es-PE" sz="900" b="1" i="0" dirty="0">
                    <a:solidFill>
                      <a:schemeClr val="tx1"/>
                    </a:solidFill>
                    <a:effectLst/>
                    <a:latin typeface="Segoe WPC"/>
                  </a:rPr>
                  <a:t> </a:t>
                </a:r>
                <a:r>
                  <a:rPr lang="es-PE" sz="900" b="1" i="0" dirty="0" err="1">
                    <a:solidFill>
                      <a:schemeClr val="tx1"/>
                    </a:solidFill>
                    <a:effectLst/>
                    <a:latin typeface="Segoe WPC"/>
                  </a:rPr>
                  <a:t>Unit</a:t>
                </a:r>
                <a:r>
                  <a:rPr lang="es-PE" sz="900" b="1" i="0" dirty="0">
                    <a:solidFill>
                      <a:schemeClr val="tx1"/>
                    </a:solidFill>
                    <a:effectLst/>
                    <a:latin typeface="Segoe WPC"/>
                  </a:rPr>
                  <a:t> </a:t>
                </a:r>
                <a:r>
                  <a:rPr lang="es-PE" sz="900" b="1" i="0" dirty="0" err="1">
                    <a:solidFill>
                      <a:schemeClr val="tx1"/>
                    </a:solidFill>
                    <a:effectLst/>
                    <a:latin typeface="Segoe WPC"/>
                  </a:rPr>
                  <a:t>Roots</a:t>
                </a:r>
                <a:r>
                  <a:rPr lang="es-PE" sz="900" b="1" i="0" dirty="0">
                    <a:solidFill>
                      <a:schemeClr val="tx1"/>
                    </a:solidFill>
                    <a:effectLst/>
                    <a:latin typeface="Segoe WPC"/>
                  </a:rPr>
                  <a:t>: ADF</a:t>
                </a:r>
                <a:br>
                  <a:rPr lang="es-PE" sz="900" dirty="0">
                    <a:solidFill>
                      <a:schemeClr val="tx1"/>
                    </a:solidFill>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Augmented</a:t>
                </a:r>
                <a:r>
                  <a:rPr lang="es-PE" sz="900" b="0" i="0" dirty="0">
                    <a:solidFill>
                      <a:schemeClr val="tx1"/>
                    </a:solidFill>
                    <a:effectLst/>
                    <a:latin typeface="Segoe WPC"/>
                  </a:rPr>
                  <a:t> </a:t>
                </a:r>
                <a:r>
                  <a:rPr lang="es-PE" sz="900" b="0" i="0" dirty="0" err="1">
                    <a:solidFill>
                      <a:schemeClr val="tx1"/>
                    </a:solidFill>
                    <a:effectLst/>
                    <a:latin typeface="Segoe WPC"/>
                  </a:rPr>
                  <a:t>Dickey</a:t>
                </a:r>
                <a:r>
                  <a:rPr lang="es-PE" sz="900" b="0" i="0" dirty="0">
                    <a:solidFill>
                      <a:schemeClr val="tx1"/>
                    </a:solidFill>
                    <a:effectLst/>
                    <a:latin typeface="Segoe WPC"/>
                  </a:rPr>
                  <a:t>-Fuller test </a:t>
                </a:r>
                <a:r>
                  <a:rPr lang="es-PE" sz="900" b="0" i="0" dirty="0" err="1">
                    <a:solidFill>
                      <a:schemeClr val="tx1"/>
                    </a:solidFill>
                    <a:effectLst/>
                    <a:latin typeface="Segoe WPC"/>
                  </a:rPr>
                  <a:t>checks</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 series </a:t>
                </a:r>
                <a:r>
                  <a:rPr lang="es-PE" sz="900" b="0" i="0" dirty="0" err="1">
                    <a:solidFill>
                      <a:schemeClr val="tx1"/>
                    </a:solidFill>
                    <a:effectLst/>
                    <a:latin typeface="Segoe WPC"/>
                  </a:rPr>
                  <a:t>contains</a:t>
                </a:r>
                <a:r>
                  <a:rPr lang="es-PE" sz="900" b="0" i="0" dirty="0">
                    <a:solidFill>
                      <a:schemeClr val="tx1"/>
                    </a:solidFill>
                    <a:effectLst/>
                    <a:latin typeface="Segoe WPC"/>
                  </a:rPr>
                  <a:t> a </a:t>
                </a:r>
                <a:r>
                  <a:rPr lang="es-PE" sz="900" b="0" i="0" dirty="0" err="1">
                    <a:solidFill>
                      <a:schemeClr val="tx1"/>
                    </a:solidFill>
                    <a:effectLst/>
                    <a:latin typeface="Segoe WPC"/>
                  </a:rPr>
                  <a:t>unit</a:t>
                </a:r>
                <a:r>
                  <a:rPr lang="es-PE" sz="900" b="0" i="0" dirty="0">
                    <a:solidFill>
                      <a:schemeClr val="tx1"/>
                    </a:solidFill>
                    <a:effectLst/>
                    <a:latin typeface="Segoe WPC"/>
                  </a:rPr>
                  <a:t> </a:t>
                </a:r>
                <a:r>
                  <a:rPr lang="es-PE" sz="900" b="0" i="0" dirty="0" err="1">
                    <a:solidFill>
                      <a:schemeClr val="tx1"/>
                    </a:solidFill>
                    <a:effectLst/>
                    <a:latin typeface="Segoe WPC"/>
                  </a:rPr>
                  <a:t>root</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tests</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series </a:t>
                </a:r>
                <a:r>
                  <a:rPr lang="es-PE" sz="900" b="0" i="0" dirty="0" err="1">
                    <a:solidFill>
                      <a:schemeClr val="tx1"/>
                    </a:solidFill>
                    <a:effectLst/>
                    <a:latin typeface="Segoe WPC"/>
                  </a:rPr>
                  <a:t>behaves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 </a:t>
                </a:r>
                <a:r>
                  <a:rPr lang="es-PE" sz="900" b="0" i="0" dirty="0" err="1">
                    <a:solidFill>
                      <a:schemeClr val="tx1"/>
                    </a:solidFill>
                    <a:effectLst/>
                    <a:latin typeface="Segoe WPC"/>
                  </a:rPr>
                  <a:t>random</a:t>
                </a:r>
                <a:r>
                  <a:rPr lang="es-PE" sz="900" b="0" i="0" dirty="0">
                    <a:solidFill>
                      <a:schemeClr val="tx1"/>
                    </a:solidFill>
                    <a:effectLst/>
                    <a:latin typeface="Segoe WPC"/>
                  </a:rPr>
                  <a:t> </a:t>
                </a:r>
                <a:r>
                  <a:rPr lang="es-PE" sz="900" b="0" i="0" dirty="0" err="1">
                    <a:solidFill>
                      <a:schemeClr val="tx1"/>
                    </a:solidFill>
                    <a:effectLst/>
                    <a:latin typeface="Segoe WPC"/>
                  </a:rPr>
                  <a:t>walk</a:t>
                </a:r>
                <a:r>
                  <a:rPr lang="es-PE" sz="900" b="0" i="0" dirty="0">
                    <a:solidFill>
                      <a:schemeClr val="tx1"/>
                    </a:solidFill>
                    <a:effectLst/>
                    <a:latin typeface="Segoe WPC"/>
                  </a:rPr>
                  <a:t>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 </a:t>
                </a:r>
                <a:r>
                  <a:rPr lang="es-PE" sz="900" b="0" i="0" dirty="0" err="1">
                    <a:solidFill>
                      <a:schemeClr val="tx1"/>
                    </a:solidFill>
                    <a:effectLst/>
                    <a:latin typeface="Segoe WPC"/>
                  </a:rPr>
                  <a:t>stationary</a:t>
                </a:r>
                <a:r>
                  <a:rPr lang="es-PE" sz="900" b="0" i="0" dirty="0">
                    <a:solidFill>
                      <a:schemeClr val="tx1"/>
                    </a:solidFill>
                    <a:effectLst/>
                    <a:latin typeface="Segoe WPC"/>
                  </a:rPr>
                  <a:t> </a:t>
                </a:r>
                <a:r>
                  <a:rPr lang="es-PE" sz="900" b="0" i="0" dirty="0" err="1">
                    <a:solidFill>
                      <a:schemeClr val="tx1"/>
                    </a:solidFill>
                    <a:effectLst/>
                    <a:latin typeface="Segoe WPC"/>
                  </a:rPr>
                  <a:t>process</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Regress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change</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series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lagged</a:t>
                </a:r>
                <a:r>
                  <a:rPr lang="es-PE" sz="900" b="0" i="0" dirty="0">
                    <a:solidFill>
                      <a:schemeClr val="tx1"/>
                    </a:solidFill>
                    <a:effectLst/>
                    <a:latin typeface="Segoe WPC"/>
                  </a:rPr>
                  <a:t> </a:t>
                </a:r>
                <a:r>
                  <a:rPr lang="es-PE" sz="900" b="0" i="0" dirty="0" err="1">
                    <a:solidFill>
                      <a:schemeClr val="tx1"/>
                    </a:solidFill>
                    <a:effectLst/>
                    <a:latin typeface="Segoe WPC"/>
                  </a:rPr>
                  <a:t>level</a:t>
                </a:r>
                <a:r>
                  <a:rPr lang="es-PE" sz="900" b="0" i="0" dirty="0">
                    <a:solidFill>
                      <a:schemeClr val="tx1"/>
                    </a:solidFill>
                    <a:effectLst/>
                    <a:latin typeface="Segoe WPC"/>
                  </a:rPr>
                  <a:t> and </a:t>
                </a:r>
                <a:r>
                  <a:rPr lang="es-PE" sz="900" b="0" i="0" dirty="0" err="1">
                    <a:solidFill>
                      <a:schemeClr val="tx1"/>
                    </a:solidFill>
                    <a:effectLst/>
                    <a:latin typeface="Segoe WPC"/>
                  </a:rPr>
                  <a:t>ask</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process</a:t>
                </a:r>
                <a:r>
                  <a:rPr lang="es-PE" sz="900" b="0" i="0" dirty="0">
                    <a:solidFill>
                      <a:schemeClr val="tx1"/>
                    </a:solidFill>
                    <a:effectLst/>
                    <a:latin typeface="Segoe WPC"/>
                  </a:rPr>
                  <a:t> </a:t>
                </a:r>
                <a:r>
                  <a:rPr lang="es-PE" sz="900" b="0" i="0" dirty="0" err="1">
                    <a:solidFill>
                      <a:schemeClr val="tx1"/>
                    </a:solidFill>
                    <a:effectLst/>
                    <a:latin typeface="Segoe WPC"/>
                  </a:rPr>
                  <a:t>pulls</a:t>
                </a:r>
                <a:r>
                  <a:rPr lang="es-PE" sz="900" b="0" i="0" dirty="0">
                    <a:solidFill>
                      <a:schemeClr val="tx1"/>
                    </a:solidFill>
                    <a:effectLst/>
                    <a:latin typeface="Segoe WPC"/>
                  </a:rPr>
                  <a:t> back </a:t>
                </a:r>
                <a:r>
                  <a:rPr lang="es-PE" sz="900" b="0" i="0" dirty="0" err="1">
                    <a:solidFill>
                      <a:schemeClr val="tx1"/>
                    </a:solidFill>
                    <a:effectLst/>
                    <a:latin typeface="Segoe WPC"/>
                  </a:rPr>
                  <a:t>enough</a:t>
                </a:r>
                <a:r>
                  <a:rPr lang="es-PE" sz="900" b="0" i="0" dirty="0">
                    <a:solidFill>
                      <a:schemeClr val="tx1"/>
                    </a:solidFill>
                    <a:effectLst/>
                    <a:latin typeface="Segoe WPC"/>
                  </a:rPr>
                  <a:t> </a:t>
                </a:r>
                <a:r>
                  <a:rPr lang="es-PE" sz="900" b="0" i="0" dirty="0" err="1">
                    <a:solidFill>
                      <a:schemeClr val="tx1"/>
                    </a:solidFill>
                    <a:effectLst/>
                    <a:latin typeface="Segoe WPC"/>
                  </a:rPr>
                  <a:t>toward</a:t>
                </a:r>
                <a:r>
                  <a:rPr lang="es-PE" sz="900" b="0" i="0" dirty="0">
                    <a:solidFill>
                      <a:schemeClr val="tx1"/>
                    </a:solidFill>
                    <a:effectLst/>
                    <a:latin typeface="Segoe WPC"/>
                  </a:rPr>
                  <a:t> </a:t>
                </a:r>
                <a:r>
                  <a:rPr lang="es-PE" sz="900" b="0" i="0" dirty="0" err="1">
                    <a:solidFill>
                      <a:schemeClr val="tx1"/>
                    </a:solidFill>
                    <a:effectLst/>
                    <a:latin typeface="Segoe WPC"/>
                  </a:rPr>
                  <a:t>stability</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𝛥</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1</m:t>
                        </m:r>
                      </m:sub>
                    </m:s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𝛾</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𝜙</m:t>
                        </m:r>
                      </m:e>
                      <m:sub>
                        <m:r>
                          <a:rPr lang="ar-AE" sz="900" i="0">
                            <a:solidFill>
                              <a:schemeClr val="tx1"/>
                            </a:solidFill>
                            <a:latin typeface="Cambria Math" panose="02040503050406030204" pitchFamily="18" charset="0"/>
                          </a:rPr>
                          <m:t>1</m:t>
                        </m:r>
                      </m:sub>
                    </m:sSub>
                    <m:r>
                      <a:rPr lang="ar-AE" sz="900" i="1">
                        <a:solidFill>
                          <a:schemeClr val="tx1"/>
                        </a:solidFill>
                        <a:latin typeface="Cambria Math" panose="02040503050406030204" pitchFamily="18" charset="0"/>
                      </a:rPr>
                      <m:t>𝛥</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𝜙</m:t>
                        </m:r>
                      </m:e>
                      <m:sub>
                        <m:r>
                          <a:rPr lang="ar-AE" sz="900" i="1">
                            <a:solidFill>
                              <a:schemeClr val="tx1"/>
                            </a:solidFill>
                            <a:latin typeface="Cambria Math" panose="02040503050406030204" pitchFamily="18" charset="0"/>
                          </a:rPr>
                          <m:t>𝑝</m:t>
                        </m:r>
                      </m:sub>
                    </m:sSub>
                    <m:r>
                      <a:rPr lang="ar-AE" sz="900" i="1">
                        <a:solidFill>
                          <a:schemeClr val="tx1"/>
                        </a:solidFill>
                        <a:latin typeface="Cambria Math" panose="02040503050406030204" pitchFamily="18" charset="0"/>
                      </a:rPr>
                      <m:t>𝛥</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𝜀</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𝛾</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 </a:t>
                </a:r>
                <a:r>
                  <a:rPr lang="es-PE" sz="900" b="0" i="0" dirty="0">
                    <a:solidFill>
                      <a:schemeClr val="tx1"/>
                    </a:solidFill>
                    <a:effectLst/>
                    <a:latin typeface="Segoe WPC"/>
                  </a:rPr>
                  <a:t>and alternative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𝐻</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𝛾</m:t>
                    </m:r>
                    <m:r>
                      <a:rPr lang="ar-AE" sz="900" i="0">
                        <a:solidFill>
                          <a:schemeClr val="tx1"/>
                        </a:solidFill>
                        <a:latin typeface="Cambria Math" panose="02040503050406030204" pitchFamily="18" charset="0"/>
                      </a:rPr>
                      <m:t>&lt;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a:t>
                </a:r>
                <a:br>
                  <a:rPr lang="ar-AE" sz="900" dirty="0">
                    <a:solidFill>
                      <a:schemeClr val="tx1"/>
                    </a:solidFill>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Lagged</a:t>
                </a:r>
                <a:r>
                  <a:rPr lang="es-PE" sz="900" b="0" i="0" dirty="0">
                    <a:solidFill>
                      <a:schemeClr val="tx1"/>
                    </a:solidFill>
                    <a:effectLst/>
                    <a:latin typeface="Segoe WPC"/>
                  </a:rPr>
                  <a:t> </a:t>
                </a:r>
                <a:r>
                  <a:rPr lang="es-PE" sz="900" b="0" i="0" dirty="0" err="1">
                    <a:solidFill>
                      <a:schemeClr val="tx1"/>
                    </a:solidFill>
                    <a:effectLst/>
                    <a:latin typeface="Segoe WPC"/>
                  </a:rPr>
                  <a:t>differences</a:t>
                </a:r>
                <a:r>
                  <a:rPr lang="es-PE" sz="900" b="0" i="0" dirty="0">
                    <a:solidFill>
                      <a:schemeClr val="tx1"/>
                    </a:solidFill>
                    <a:effectLst/>
                    <a:latin typeface="Segoe WPC"/>
                  </a:rPr>
                  <a:t> are </a:t>
                </a:r>
                <a:r>
                  <a:rPr lang="es-PE" sz="900" b="0" i="0" dirty="0" err="1">
                    <a:solidFill>
                      <a:schemeClr val="tx1"/>
                    </a:solidFill>
                    <a:effectLst/>
                    <a:latin typeface="Segoe WPC"/>
                  </a:rPr>
                  <a:t>included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make</a:t>
                </a:r>
                <a:r>
                  <a:rPr lang="es-PE" sz="900" b="0" i="0" dirty="0">
                    <a:solidFill>
                      <a:schemeClr val="tx1"/>
                    </a:solidFill>
                    <a:effectLst/>
                    <a:latin typeface="Segoe WPC"/>
                  </a:rPr>
                  <a:t> </a:t>
                </a:r>
                <a:r>
                  <a:rPr lang="es-PE" sz="900" b="0" i="0" dirty="0" err="1">
                    <a:solidFill>
                      <a:schemeClr val="tx1"/>
                    </a:solidFill>
                    <a:effectLst/>
                    <a:latin typeface="Segoe WPC"/>
                  </a:rPr>
                  <a:t>residuals</a:t>
                </a:r>
                <a:r>
                  <a:rPr lang="es-PE" sz="900" b="0" i="0" dirty="0">
                    <a:solidFill>
                      <a:schemeClr val="tx1"/>
                    </a:solidFill>
                    <a:effectLst/>
                    <a:latin typeface="Segoe WPC"/>
                  </a:rPr>
                  <a:t> </a:t>
                </a:r>
                <a:r>
                  <a:rPr lang="es-PE" sz="900" b="0" i="0" dirty="0" err="1">
                    <a:solidFill>
                      <a:schemeClr val="tx1"/>
                    </a:solidFill>
                    <a:effectLst/>
                    <a:latin typeface="Segoe WPC"/>
                  </a:rPr>
                  <a:t>white</a:t>
                </a:r>
                <a:r>
                  <a:rPr lang="es-PE" sz="900" b="0" i="0" dirty="0">
                    <a:solidFill>
                      <a:schemeClr val="tx1"/>
                    </a:solidFill>
                    <a:effectLst/>
                    <a:latin typeface="Segoe WPC"/>
                  </a:rPr>
                  <a:t> </a:t>
                </a:r>
                <a:r>
                  <a:rPr lang="es-PE" sz="900" b="0" i="0" dirty="0" err="1">
                    <a:solidFill>
                      <a:schemeClr val="tx1"/>
                    </a:solidFill>
                    <a:effectLst/>
                    <a:latin typeface="Segoe WPC"/>
                  </a:rPr>
                  <a:t>noise</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terms</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be </a:t>
                </a:r>
                <a:r>
                  <a:rPr lang="es-PE" sz="900" b="0" i="0" dirty="0" err="1">
                    <a:solidFill>
                      <a:schemeClr val="tx1"/>
                    </a:solidFill>
                    <a:effectLst/>
                    <a:latin typeface="Segoe WPC"/>
                  </a:rPr>
                  <a:t>chosen</a:t>
                </a:r>
                <a:r>
                  <a:rPr lang="es-PE" sz="900" b="0" i="0" dirty="0">
                    <a:solidFill>
                      <a:schemeClr val="tx1"/>
                    </a:solidFill>
                    <a:effectLst/>
                    <a:latin typeface="Segoe WPC"/>
                  </a:rPr>
                  <a:t> </a:t>
                </a:r>
                <a:r>
                  <a:rPr lang="es-PE" sz="900" b="0" i="0" dirty="0" err="1">
                    <a:solidFill>
                      <a:schemeClr val="tx1"/>
                    </a:solidFill>
                    <a:effectLst/>
                    <a:latin typeface="Segoe WPC"/>
                  </a:rPr>
                  <a:t>carefully</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critical</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 </a:t>
                </a:r>
                <a:r>
                  <a:rPr lang="es-PE" sz="900" b="0" i="0" dirty="0" err="1">
                    <a:solidFill>
                      <a:schemeClr val="tx1"/>
                    </a:solidFill>
                    <a:effectLst/>
                    <a:latin typeface="Segoe WPC"/>
                  </a:rPr>
                  <a:t>constant</a:t>
                </a:r>
                <a:r>
                  <a:rPr lang="es-PE" sz="900" b="0" i="0" dirty="0">
                    <a:solidFill>
                      <a:schemeClr val="tx1"/>
                    </a:solidFill>
                    <a:effectLst/>
                    <a:latin typeface="Segoe WPC"/>
                  </a:rPr>
                  <a:t> and/</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included</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Omitting</a:t>
                </a:r>
                <a:r>
                  <a:rPr lang="es-PE" sz="900" b="0" i="0" dirty="0">
                    <a:solidFill>
                      <a:schemeClr val="tx1"/>
                    </a:solidFill>
                    <a:effectLst/>
                    <a:latin typeface="Segoe WPC"/>
                  </a:rPr>
                  <a:t> </a:t>
                </a:r>
                <a:r>
                  <a:rPr lang="es-PE" sz="900" b="0" i="0" dirty="0" err="1">
                    <a:solidFill>
                      <a:schemeClr val="tx1"/>
                    </a:solidFill>
                    <a:effectLst/>
                    <a:latin typeface="Segoe WPC"/>
                  </a:rPr>
                  <a:t>relevant</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terms</a:t>
                </a:r>
                <a:r>
                  <a:rPr lang="es-PE" sz="900" b="0" i="0" dirty="0">
                    <a:solidFill>
                      <a:schemeClr val="tx1"/>
                    </a:solidFill>
                    <a:effectLst/>
                    <a:latin typeface="Segoe WPC"/>
                  </a:rPr>
                  <a:t> can </a:t>
                </a:r>
                <a:r>
                  <a:rPr lang="es-PE" sz="900" b="0" i="0" dirty="0" err="1">
                    <a:solidFill>
                      <a:schemeClr val="tx1"/>
                    </a:solidFill>
                    <a:effectLst/>
                    <a:latin typeface="Segoe WPC"/>
                  </a:rPr>
                  <a:t>make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ADF test </a:t>
                </a:r>
                <a:r>
                  <a:rPr lang="es-PE" sz="900" b="0" i="0" dirty="0" err="1">
                    <a:solidFill>
                      <a:schemeClr val="tx1"/>
                    </a:solidFill>
                    <a:effectLst/>
                    <a:latin typeface="Segoe WPC"/>
                  </a:rPr>
                  <a:t>weak</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invalid</a:t>
                </a:r>
                <a:r>
                  <a:rPr lang="es-PE" sz="900" b="0" i="0" dirty="0">
                    <a:solidFill>
                      <a:schemeClr val="tx1"/>
                    </a:solidFill>
                    <a:effectLst/>
                    <a:latin typeface="Segoe WPC"/>
                  </a:rPr>
                  <a:t>.</a:t>
                </a:r>
                <a:endParaRPr lang="es-PE" sz="900" dirty="0">
                  <a:solidFill>
                    <a:schemeClr val="tx1"/>
                  </a:solidFill>
                </a:endParaRPr>
              </a:p>
            </p:txBody>
          </p:sp>
        </mc:Choice>
        <mc:Fallback xmlns="">
          <p:sp>
            <p:nvSpPr>
              <p:cNvPr id="15" name="CuadroTexto 14">
                <a:extLst>
                  <a:ext uri="{FF2B5EF4-FFF2-40B4-BE49-F238E27FC236}">
                    <a16:creationId xmlns:a16="http://schemas.microsoft.com/office/drawing/2014/main" id="{DFC82C41-B06B-8497-DF88-904BCCE2E3AF}"/>
                  </a:ext>
                </a:extLst>
              </p:cNvPr>
              <p:cNvSpPr txBox="1">
                <a:spLocks noRot="1" noChangeAspect="1" noMove="1" noResize="1" noEditPoints="1" noAdjustHandles="1" noChangeArrowheads="1" noChangeShapeType="1" noTextEdit="1"/>
              </p:cNvSpPr>
              <p:nvPr/>
            </p:nvSpPr>
            <p:spPr>
              <a:xfrm>
                <a:off x="6043386" y="2587945"/>
                <a:ext cx="6288311" cy="1349472"/>
              </a:xfrm>
              <a:prstGeom prst="rect">
                <a:avLst/>
              </a:prstGeom>
              <a:blipFill>
                <a:blip r:embed="rId5"/>
                <a:stretch>
                  <a:fillRect b="-905"/>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6893673F-8F28-A3AF-CAAF-A68D0C2F8E82}"/>
                  </a:ext>
                </a:extLst>
              </p:cNvPr>
              <p:cNvSpPr txBox="1"/>
              <p:nvPr/>
            </p:nvSpPr>
            <p:spPr>
              <a:xfrm>
                <a:off x="6043385" y="3926101"/>
                <a:ext cx="6335484" cy="1338828"/>
              </a:xfrm>
              <a:prstGeom prst="rect">
                <a:avLst/>
              </a:prstGeom>
              <a:noFill/>
            </p:spPr>
            <p:txBody>
              <a:bodyPr wrap="square">
                <a:spAutoFit/>
              </a:bodyPr>
              <a:lstStyle/>
              <a:p>
                <a:pPr>
                  <a:spcAft>
                    <a:spcPts val="600"/>
                  </a:spcAft>
                </a:pPr>
                <a:r>
                  <a:rPr lang="es-PE" sz="900" b="1" i="0" dirty="0">
                    <a:solidFill>
                      <a:schemeClr val="tx1"/>
                    </a:solidFill>
                    <a:effectLst/>
                    <a:latin typeface="Segoe WPC"/>
                  </a:rPr>
                  <a:t>9. </a:t>
                </a:r>
                <a:r>
                  <a:rPr lang="es-PE" sz="900" b="1" i="0" dirty="0" err="1">
                    <a:solidFill>
                      <a:schemeClr val="tx1"/>
                    </a:solidFill>
                    <a:effectLst/>
                    <a:latin typeface="Segoe WPC"/>
                  </a:rPr>
                  <a:t>Spurious</a:t>
                </a:r>
                <a:r>
                  <a:rPr lang="es-PE" sz="900" b="1" i="0" dirty="0">
                    <a:solidFill>
                      <a:schemeClr val="tx1"/>
                    </a:solidFill>
                    <a:effectLst/>
                    <a:latin typeface="Segoe WPC"/>
                  </a:rPr>
                  <a:t> </a:t>
                </a:r>
                <a:r>
                  <a:rPr lang="es-PE" sz="900" b="1" i="0" dirty="0" err="1">
                    <a:solidFill>
                      <a:schemeClr val="tx1"/>
                    </a:solidFill>
                    <a:effectLst/>
                    <a:latin typeface="Segoe WPC"/>
                  </a:rPr>
                  <a:t>Regression</a:t>
                </a:r>
                <a:r>
                  <a:rPr lang="es-PE" sz="900" b="1" i="0" dirty="0">
                    <a:solidFill>
                      <a:schemeClr val="tx1"/>
                    </a:solidFill>
                    <a:effectLst/>
                    <a:latin typeface="Segoe WPC"/>
                  </a:rPr>
                  <a:t> and </a:t>
                </a:r>
                <a:r>
                  <a:rPr lang="es-PE" sz="900" b="1" i="0" dirty="0" err="1">
                    <a:solidFill>
                      <a:schemeClr val="tx1"/>
                    </a:solidFill>
                    <a:effectLst/>
                    <a:latin typeface="Segoe WPC"/>
                  </a:rPr>
                  <a:t>When</a:t>
                </a:r>
                <a:r>
                  <a:rPr lang="es-PE" sz="900" b="1" i="0" dirty="0">
                    <a:solidFill>
                      <a:schemeClr val="tx1"/>
                    </a:solidFill>
                    <a:effectLst/>
                    <a:latin typeface="Segoe WPC"/>
                  </a:rPr>
                  <a:t> </a:t>
                </a:r>
                <a:r>
                  <a:rPr lang="es-PE" sz="900" b="1" i="0" dirty="0" err="1">
                    <a:solidFill>
                      <a:schemeClr val="tx1"/>
                    </a:solidFill>
                    <a:effectLst/>
                    <a:latin typeface="Segoe WPC"/>
                  </a:rPr>
                  <a:t>to</a:t>
                </a:r>
                <a:r>
                  <a:rPr lang="es-PE" sz="900" b="1" i="0" dirty="0">
                    <a:solidFill>
                      <a:schemeClr val="tx1"/>
                    </a:solidFill>
                    <a:effectLst/>
                    <a:latin typeface="Segoe WPC"/>
                  </a:rPr>
                  <a:t> </a:t>
                </a:r>
                <a:r>
                  <a:rPr lang="es-PE" sz="900" b="1" i="0" dirty="0" err="1">
                    <a:solidFill>
                      <a:schemeClr val="tx1"/>
                    </a:solidFill>
                    <a:effectLst/>
                    <a:latin typeface="Segoe WPC"/>
                  </a:rPr>
                  <a:t>Difference</a:t>
                </a:r>
                <a:br>
                  <a:rPr lang="es-PE" sz="900" dirty="0">
                    <a:solidFill>
                      <a:schemeClr val="tx1"/>
                    </a:solidFill>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Regressions</a:t>
                </a:r>
                <a:r>
                  <a:rPr lang="es-PE" sz="900" b="0" i="0" dirty="0">
                    <a:solidFill>
                      <a:schemeClr val="tx1"/>
                    </a:solidFill>
                    <a:effectLst/>
                    <a:latin typeface="Segoe WPC"/>
                  </a:rPr>
                  <a:t> in </a:t>
                </a:r>
                <a:r>
                  <a:rPr lang="es-PE" sz="900" b="0" i="0" dirty="0" err="1">
                    <a:solidFill>
                      <a:schemeClr val="tx1"/>
                    </a:solidFill>
                    <a:effectLst/>
                    <a:latin typeface="Segoe WPC"/>
                  </a:rPr>
                  <a:t>levels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non-</a:t>
                </a:r>
                <a:r>
                  <a:rPr lang="es-PE" sz="900" b="0" i="0" dirty="0" err="1">
                    <a:solidFill>
                      <a:schemeClr val="tx1"/>
                    </a:solidFill>
                    <a:effectLst/>
                    <a:latin typeface="Segoe WPC"/>
                  </a:rPr>
                  <a:t>stationary</a:t>
                </a:r>
                <a:r>
                  <a:rPr lang="es-PE" sz="900" b="0" i="0" dirty="0">
                    <a:solidFill>
                      <a:schemeClr val="tx1"/>
                    </a:solidFill>
                    <a:effectLst/>
                    <a:latin typeface="Segoe WPC"/>
                  </a:rPr>
                  <a:t> series can produce </a:t>
                </a:r>
                <a:r>
                  <a:rPr lang="es-PE" sz="900" b="0" i="0" dirty="0" err="1">
                    <a:solidFill>
                      <a:schemeClr val="tx1"/>
                    </a:solidFill>
                    <a:effectLst/>
                    <a:latin typeface="Segoe WPC"/>
                  </a:rPr>
                  <a:t>spurious</a:t>
                </a:r>
                <a:r>
                  <a:rPr lang="es-PE" sz="900" b="0" i="0" dirty="0">
                    <a:solidFill>
                      <a:schemeClr val="tx1"/>
                    </a:solidFill>
                    <a:effectLst/>
                    <a:latin typeface="Segoe WPC"/>
                  </a:rPr>
                  <a:t> </a:t>
                </a:r>
                <a:r>
                  <a:rPr lang="es-PE" sz="900" b="0" i="0" dirty="0" err="1">
                    <a:solidFill>
                      <a:schemeClr val="tx1"/>
                    </a:solidFill>
                    <a:effectLst/>
                    <a:latin typeface="Segoe WPC"/>
                  </a:rPr>
                  <a:t>relationships</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unrelated</a:t>
                </a:r>
                <a:r>
                  <a:rPr lang="es-PE" sz="900" b="0" i="0" dirty="0">
                    <a:solidFill>
                      <a:schemeClr val="tx1"/>
                    </a:solidFill>
                    <a:effectLst/>
                    <a:latin typeface="Segoe WPC"/>
                  </a:rPr>
                  <a:t> </a:t>
                </a:r>
                <a:r>
                  <a:rPr lang="es-PE" sz="900" b="0" i="0" dirty="0" err="1">
                    <a:solidFill>
                      <a:schemeClr val="tx1"/>
                    </a:solidFill>
                    <a:effectLst/>
                    <a:latin typeface="Segoe WPC"/>
                  </a:rPr>
                  <a:t>trending</a:t>
                </a:r>
                <a:r>
                  <a:rPr lang="es-PE" sz="900" b="0" i="0" dirty="0">
                    <a:solidFill>
                      <a:schemeClr val="tx1"/>
                    </a:solidFill>
                    <a:effectLst/>
                    <a:latin typeface="Segoe WPC"/>
                  </a:rPr>
                  <a:t> series can look </a:t>
                </a:r>
                <a:r>
                  <a:rPr lang="es-PE" sz="900" b="0" i="0" dirty="0" err="1">
                    <a:solidFill>
                      <a:schemeClr val="tx1"/>
                    </a:solidFill>
                    <a:effectLst/>
                    <a:latin typeface="Segoe WPC"/>
                  </a:rPr>
                  <a:t>strongly</a:t>
                </a:r>
                <a:r>
                  <a:rPr lang="es-PE" sz="900" b="0" i="0" dirty="0">
                    <a:solidFill>
                      <a:schemeClr val="tx1"/>
                    </a:solidFill>
                    <a:effectLst/>
                    <a:latin typeface="Segoe WPC"/>
                  </a:rPr>
                  <a:t> </a:t>
                </a:r>
                <a:r>
                  <a:rPr lang="es-PE" sz="900" b="0" i="0" dirty="0" err="1">
                    <a:solidFill>
                      <a:schemeClr val="tx1"/>
                    </a:solidFill>
                    <a:effectLst/>
                    <a:latin typeface="Segoe WPC"/>
                  </a:rPr>
                  <a:t>related</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drift</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time.</a:t>
                </a:r>
                <a:br>
                  <a:rPr lang="es-PE" sz="900" dirty="0">
                    <a:solidFill>
                      <a:schemeClr val="tx1"/>
                    </a:solidFill>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fitted</a:t>
                </a:r>
                <a:r>
                  <a:rPr lang="es-PE" sz="900" b="0" i="0" dirty="0">
                    <a:solidFill>
                      <a:schemeClr val="tx1"/>
                    </a:solidFill>
                    <a:effectLst/>
                    <a:latin typeface="Segoe WPC"/>
                  </a:rPr>
                  <a:t> line </a:t>
                </a:r>
                <a:r>
                  <a:rPr lang="es-PE" sz="900" b="0" i="0" dirty="0" err="1">
                    <a:solidFill>
                      <a:schemeClr val="tx1"/>
                    </a:solidFill>
                    <a:effectLst/>
                    <a:latin typeface="Segoe WPC"/>
                  </a:rPr>
                  <a:t>may</a:t>
                </a:r>
                <a:r>
                  <a:rPr lang="es-PE" sz="900" b="0" i="0" dirty="0">
                    <a:solidFill>
                      <a:schemeClr val="tx1"/>
                    </a:solidFill>
                    <a:effectLst/>
                    <a:latin typeface="Segoe WPC"/>
                  </a:rPr>
                  <a:t> look </a:t>
                </a:r>
                <a:r>
                  <a:rPr lang="es-PE" sz="900" b="0" i="0" dirty="0" err="1">
                    <a:solidFill>
                      <a:schemeClr val="tx1"/>
                    </a:solidFill>
                    <a:effectLst/>
                    <a:latin typeface="Segoe WPC"/>
                  </a:rPr>
                  <a:t>impressive</a:t>
                </a:r>
                <a:r>
                  <a:rPr lang="es-PE" sz="900" b="0" i="0" dirty="0">
                    <a:solidFill>
                      <a:schemeClr val="tx1"/>
                    </a:solidFill>
                    <a:effectLst/>
                    <a:latin typeface="Segoe WPC"/>
                  </a:rPr>
                  <a:t> in </a:t>
                </a:r>
                <a:r>
                  <a:rPr lang="es-PE" sz="900" b="0" i="0" dirty="0" err="1">
                    <a:solidFill>
                      <a:schemeClr val="tx1"/>
                    </a:solidFill>
                    <a:effectLst/>
                    <a:latin typeface="Segoe WPC"/>
                  </a:rPr>
                  <a:t>levels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relationship</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vanishes</a:t>
                </a:r>
                <a:r>
                  <a:rPr lang="es-PE" sz="900" b="0" i="0" dirty="0">
                    <a:solidFill>
                      <a:schemeClr val="tx1"/>
                    </a:solidFill>
                    <a:effectLst/>
                    <a:latin typeface="Segoe WPC"/>
                  </a:rPr>
                  <a:t> after </a:t>
                </a:r>
                <a:r>
                  <a:rPr lang="es-PE" sz="900" b="0" i="0" dirty="0" err="1">
                    <a:solidFill>
                      <a:schemeClr val="tx1"/>
                    </a:solidFill>
                    <a:effectLst/>
                    <a:latin typeface="Segoe WPC"/>
                  </a:rPr>
                  <a:t>differencing</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Key Formula:</a:t>
                </a:r>
                <a:r>
                  <a:rPr lang="es-PE" sz="900" b="0" i="0" dirty="0">
                    <a:solidFill>
                      <a:schemeClr val="tx1"/>
                    </a:solidFill>
                    <a:effectLst/>
                    <a:latin typeface="Segoe WPC"/>
                  </a:rPr>
                  <a:t> A </a:t>
                </a:r>
                <a:r>
                  <a:rPr lang="es-PE" sz="900" b="0" i="0" dirty="0" err="1">
                    <a:solidFill>
                      <a:schemeClr val="tx1"/>
                    </a:solidFill>
                    <a:effectLst/>
                    <a:latin typeface="Segoe WPC"/>
                  </a:rPr>
                  <a:t>levels</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non-</a:t>
                </a:r>
                <a:r>
                  <a:rPr lang="es-PE" sz="900" b="0" i="0" dirty="0" err="1">
                    <a:solidFill>
                      <a:schemeClr val="tx1"/>
                    </a:solidFill>
                    <a:effectLst/>
                    <a:latin typeface="Segoe WPC"/>
                  </a:rPr>
                  <a:t>stationary</a:t>
                </a:r>
                <a:r>
                  <a:rPr lang="es-PE" sz="900" b="0" i="0" dirty="0">
                    <a:solidFill>
                      <a:schemeClr val="tx1"/>
                    </a:solidFill>
                    <a:effectLst/>
                    <a:latin typeface="Segoe WPC"/>
                  </a:rPr>
                  <a:t> series can show </a:t>
                </a:r>
                <a:r>
                  <a:rPr lang="es-PE" sz="900" b="0" i="0" dirty="0" err="1">
                    <a:solidFill>
                      <a:schemeClr val="tx1"/>
                    </a:solidFill>
                    <a:effectLst/>
                    <a:latin typeface="Segoe WPC"/>
                  </a:rPr>
                  <a:t>large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𝑡</m:t>
                    </m:r>
                  </m:oMath>
                </a14:m>
                <a:r>
                  <a:rPr lang="es-PE" sz="900" b="0" i="0" dirty="0">
                    <a:solidFill>
                      <a:schemeClr val="tx1"/>
                    </a:solidFill>
                    <a:effectLst/>
                    <a:latin typeface="Segoe WPC"/>
                  </a:rPr>
                  <a:t>-</a:t>
                </a:r>
                <a:r>
                  <a:rPr lang="es-PE" sz="900" b="0" i="0" dirty="0" err="1">
                    <a:solidFill>
                      <a:schemeClr val="tx1"/>
                    </a:solidFill>
                    <a:effectLst/>
                    <a:latin typeface="Segoe WPC"/>
                  </a:rPr>
                  <a:t>statistics</a:t>
                </a:r>
                <a:r>
                  <a:rPr lang="es-PE" sz="900" b="0" i="0" dirty="0">
                    <a:solidFill>
                      <a:schemeClr val="tx1"/>
                    </a:solidFill>
                    <a:effectLst/>
                    <a:latin typeface="Segoe WPC"/>
                  </a:rPr>
                  <a:t> and </a:t>
                </a:r>
                <a:r>
                  <a:rPr lang="es-PE" sz="900" b="0" i="0" dirty="0" err="1">
                    <a:solidFill>
                      <a:schemeClr val="tx1"/>
                    </a:solidFill>
                    <a:effectLst/>
                    <a:latin typeface="Segoe WPC"/>
                  </a:rPr>
                  <a:t>high</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err="1">
                    <a:solidFill>
                      <a:schemeClr val="tx1"/>
                    </a:solidFill>
                    <a:effectLst/>
                    <a:latin typeface="Segoe WPC"/>
                  </a:rPr>
                  <a:t>even</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no true </a:t>
                </a:r>
                <a:r>
                  <a:rPr lang="es-PE" sz="900" b="0" i="0" dirty="0" err="1">
                    <a:solidFill>
                      <a:schemeClr val="tx1"/>
                    </a:solidFill>
                    <a:effectLst/>
                    <a:latin typeface="Segoe WPC"/>
                  </a:rPr>
                  <a:t>relationship</a:t>
                </a:r>
                <a:r>
                  <a:rPr lang="es-PE" sz="900" b="0" i="0" dirty="0">
                    <a:solidFill>
                      <a:schemeClr val="tx1"/>
                    </a:solidFill>
                    <a:effectLst/>
                    <a:latin typeface="Segoe WPC"/>
                  </a:rPr>
                  <a:t> </a:t>
                </a:r>
                <a:r>
                  <a:rPr lang="es-PE" sz="900" b="0" i="0" dirty="0" err="1">
                    <a:solidFill>
                      <a:schemeClr val="tx1"/>
                    </a:solidFill>
                    <a:effectLst/>
                    <a:latin typeface="Segoe WPC"/>
                  </a:rPr>
                  <a:t>exists</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t>
                </a:r>
                <a:r>
                  <a:rPr lang="es-PE" sz="900" b="0" i="0" dirty="0" err="1">
                    <a:solidFill>
                      <a:schemeClr val="tx1"/>
                    </a:solidFill>
                    <a:effectLst/>
                    <a:latin typeface="Segoe WPC"/>
                  </a:rPr>
                  <a:t>differenced</a:t>
                </a:r>
                <a:r>
                  <a:rPr lang="es-PE" sz="900" b="0" i="0" dirty="0">
                    <a:solidFill>
                      <a:schemeClr val="tx1"/>
                    </a:solidFill>
                    <a:effectLst/>
                    <a:latin typeface="Segoe WPC"/>
                  </a:rPr>
                  <a:t> </a:t>
                </a:r>
                <a:r>
                  <a:rPr lang="es-PE" sz="900" b="0" i="0" dirty="0" err="1">
                    <a:solidFill>
                      <a:schemeClr val="tx1"/>
                    </a:solidFill>
                    <a:effectLst/>
                    <a:latin typeface="Segoe WPC"/>
                  </a:rPr>
                  <a:t>stationary</a:t>
                </a:r>
                <a:r>
                  <a:rPr lang="es-PE" sz="900" b="0" i="0" dirty="0">
                    <a:solidFill>
                      <a:schemeClr val="tx1"/>
                    </a:solidFill>
                    <a:effectLst/>
                    <a:latin typeface="Segoe WPC"/>
                  </a:rPr>
                  <a:t> data </a:t>
                </a:r>
                <a:r>
                  <a:rPr lang="es-PE" sz="900" b="0" i="0" dirty="0" err="1">
                    <a:solidFill>
                      <a:schemeClr val="tx1"/>
                    </a:solidFill>
                    <a:effectLst/>
                    <a:latin typeface="Segoe WPC"/>
                  </a:rPr>
                  <a:t>avoids</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a:t>
                </a:r>
                <a:r>
                  <a:rPr lang="es-PE" sz="900" b="0" i="0" dirty="0" err="1">
                    <a:solidFill>
                      <a:schemeClr val="tx1"/>
                    </a:solidFill>
                    <a:effectLst/>
                    <a:latin typeface="Segoe WPC"/>
                  </a:rPr>
                  <a:t>problem</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Best</a:t>
                </a:r>
                <a:r>
                  <a:rPr lang="es-PE" sz="900" b="0" i="0" dirty="0">
                    <a:solidFill>
                      <a:schemeClr val="tx1"/>
                    </a:solidFill>
                    <a:effectLst/>
                    <a:latin typeface="Segoe WPC"/>
                  </a:rPr>
                  <a:t> </a:t>
                </a:r>
                <a:r>
                  <a:rPr lang="es-PE" sz="900" b="0" i="0" dirty="0" err="1">
                    <a:solidFill>
                      <a:schemeClr val="tx1"/>
                    </a:solidFill>
                    <a:effectLst/>
                    <a:latin typeface="Segoe WPC"/>
                  </a:rPr>
                  <a:t>practice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ensure</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dependent</a:t>
                </a:r>
                <a:r>
                  <a:rPr lang="es-PE" sz="900" b="0" i="0" dirty="0">
                    <a:solidFill>
                      <a:schemeClr val="tx1"/>
                    </a:solidFill>
                    <a:effectLst/>
                    <a:latin typeface="Segoe WPC"/>
                  </a:rPr>
                  <a:t> and </a:t>
                </a:r>
                <a:r>
                  <a:rPr lang="es-PE" sz="900" b="0" i="0" dirty="0" err="1">
                    <a:solidFill>
                      <a:schemeClr val="tx1"/>
                    </a:solidFill>
                    <a:effectLst/>
                    <a:latin typeface="Segoe WPC"/>
                  </a:rPr>
                  <a:t>explanatory</a:t>
                </a:r>
                <a:r>
                  <a:rPr lang="es-PE" sz="900" b="0" i="0" dirty="0">
                    <a:solidFill>
                      <a:schemeClr val="tx1"/>
                    </a:solidFill>
                    <a:effectLst/>
                    <a:latin typeface="Segoe WPC"/>
                  </a:rPr>
                  <a:t> variables are </a:t>
                </a:r>
                <a:r>
                  <a:rPr lang="es-PE" sz="900" b="0" i="0" dirty="0" err="1">
                    <a:solidFill>
                      <a:schemeClr val="tx1"/>
                    </a:solidFill>
                    <a:effectLst/>
                    <a:latin typeface="Segoe WPC"/>
                  </a:rPr>
                  <a:t>stationary</a:t>
                </a:r>
                <a:r>
                  <a:rPr lang="es-PE" sz="900" b="0" i="0" dirty="0">
                    <a:solidFill>
                      <a:schemeClr val="tx1"/>
                    </a:solidFill>
                    <a:effectLst/>
                    <a:latin typeface="Segoe WPC"/>
                  </a:rPr>
                  <a:t> </a:t>
                </a:r>
                <a:r>
                  <a:rPr lang="es-PE" sz="900" b="0" i="0" dirty="0" err="1">
                    <a:solidFill>
                      <a:schemeClr val="tx1"/>
                    </a:solidFill>
                    <a:effectLst/>
                    <a:latin typeface="Segoe WPC"/>
                  </a:rPr>
                  <a:t>before</a:t>
                </a:r>
                <a:r>
                  <a:rPr lang="es-PE" sz="900" b="0" i="0" dirty="0">
                    <a:solidFill>
                      <a:schemeClr val="tx1"/>
                    </a:solidFill>
                    <a:effectLst/>
                    <a:latin typeface="Segoe WPC"/>
                  </a:rPr>
                  <a:t> </a:t>
                </a:r>
                <a:r>
                  <a:rPr lang="es-PE" sz="900" b="0" i="0" dirty="0" err="1">
                    <a:solidFill>
                      <a:schemeClr val="tx1"/>
                    </a:solidFill>
                    <a:effectLst/>
                    <a:latin typeface="Segoe WPC"/>
                  </a:rPr>
                  <a:t>applying</a:t>
                </a:r>
                <a:r>
                  <a:rPr lang="es-PE" sz="900" b="0" i="0" dirty="0">
                    <a:solidFill>
                      <a:schemeClr val="tx1"/>
                    </a:solidFill>
                    <a:effectLst/>
                    <a:latin typeface="Segoe WPC"/>
                  </a:rPr>
                  <a:t> standard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tools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highly</a:t>
                </a:r>
                <a:r>
                  <a:rPr lang="es-PE" sz="900" b="0" i="0" dirty="0">
                    <a:solidFill>
                      <a:schemeClr val="tx1"/>
                    </a:solidFill>
                    <a:effectLst/>
                    <a:latin typeface="Segoe WPC"/>
                  </a:rPr>
                  <a:t> </a:t>
                </a:r>
                <a:r>
                  <a:rPr lang="es-PE" sz="900" b="0" i="0" dirty="0" err="1">
                    <a:solidFill>
                      <a:schemeClr val="tx1"/>
                    </a:solidFill>
                    <a:effectLst/>
                    <a:latin typeface="Segoe WPC"/>
                  </a:rPr>
                  <a:t>persistent</a:t>
                </a:r>
                <a:r>
                  <a:rPr lang="es-PE" sz="900" b="0" i="0" dirty="0">
                    <a:solidFill>
                      <a:schemeClr val="tx1"/>
                    </a:solidFill>
                    <a:effectLst/>
                    <a:latin typeface="Segoe WPC"/>
                  </a:rPr>
                  <a:t> series,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compare </a:t>
                </a:r>
                <a:r>
                  <a:rPr lang="es-PE" sz="900" b="0" i="0" dirty="0" err="1">
                    <a:solidFill>
                      <a:schemeClr val="tx1"/>
                    </a:solidFill>
                    <a:effectLst/>
                    <a:latin typeface="Segoe WPC"/>
                  </a:rPr>
                  <a:t>models</a:t>
                </a:r>
                <a:r>
                  <a:rPr lang="es-PE" sz="900" b="0" i="0" dirty="0">
                    <a:solidFill>
                      <a:schemeClr val="tx1"/>
                    </a:solidFill>
                    <a:effectLst/>
                    <a:latin typeface="Segoe WPC"/>
                  </a:rPr>
                  <a:t> in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levels</a:t>
                </a:r>
                <a:r>
                  <a:rPr lang="es-PE" sz="900" b="0" i="0" dirty="0">
                    <a:solidFill>
                      <a:schemeClr val="tx1"/>
                    </a:solidFill>
                    <a:effectLst/>
                    <a:latin typeface="Segoe WPC"/>
                  </a:rPr>
                  <a:t> and </a:t>
                </a:r>
                <a:r>
                  <a:rPr lang="es-PE" sz="900" b="0" i="0" dirty="0" err="1">
                    <a:solidFill>
                      <a:schemeClr val="tx1"/>
                    </a:solidFill>
                    <a:effectLst/>
                    <a:latin typeface="Segoe WPC"/>
                  </a:rPr>
                  <a:t>differences</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trust a </a:t>
                </a:r>
                <a:r>
                  <a:rPr lang="es-PE" sz="900" b="0" i="0" dirty="0" err="1">
                    <a:solidFill>
                      <a:schemeClr val="tx1"/>
                    </a:solidFill>
                    <a:effectLst/>
                    <a:latin typeface="Segoe WPC"/>
                  </a:rPr>
                  <a:t>high</a:t>
                </a:r>
                <a:r>
                  <a:rPr lang="es-PE" sz="900" b="0" i="0" dirty="0">
                    <a:solidFill>
                      <a:schemeClr val="tx1"/>
                    </a:solidFill>
                    <a:effectLst/>
                    <a:latin typeface="Segoe WPC"/>
                  </a:rPr>
                  <a:t>-</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err="1">
                    <a:solidFill>
                      <a:schemeClr val="tx1"/>
                    </a:solidFill>
                    <a:effectLst/>
                    <a:latin typeface="Segoe WPC"/>
                  </a:rPr>
                  <a:t>highly</a:t>
                </a:r>
                <a:r>
                  <a:rPr lang="es-PE" sz="900" b="0" i="0" dirty="0">
                    <a:solidFill>
                      <a:schemeClr val="tx1"/>
                    </a:solidFill>
                    <a:effectLst/>
                    <a:latin typeface="Segoe WPC"/>
                  </a:rPr>
                  <a:t> </a:t>
                </a:r>
                <a:r>
                  <a:rPr lang="es-PE" sz="900" b="0" i="0" dirty="0" err="1">
                    <a:solidFill>
                      <a:schemeClr val="tx1"/>
                    </a:solidFill>
                    <a:effectLst/>
                    <a:latin typeface="Segoe WPC"/>
                  </a:rPr>
                  <a:t>significant</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 in </a:t>
                </a:r>
                <a:r>
                  <a:rPr lang="es-PE" sz="900" b="0" i="0" dirty="0" err="1">
                    <a:solidFill>
                      <a:schemeClr val="tx1"/>
                    </a:solidFill>
                    <a:effectLst/>
                    <a:latin typeface="Segoe WPC"/>
                  </a:rPr>
                  <a:t>levels</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variables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contain</a:t>
                </a:r>
                <a:r>
                  <a:rPr lang="es-PE" sz="900" b="0" i="0" dirty="0">
                    <a:solidFill>
                      <a:schemeClr val="tx1"/>
                    </a:solidFill>
                    <a:effectLst/>
                    <a:latin typeface="Segoe WPC"/>
                  </a:rPr>
                  <a:t> </a:t>
                </a:r>
                <a:r>
                  <a:rPr lang="es-PE" sz="900" b="0" i="0" dirty="0" err="1">
                    <a:solidFill>
                      <a:schemeClr val="tx1"/>
                    </a:solidFill>
                    <a:effectLst/>
                    <a:latin typeface="Segoe WPC"/>
                  </a:rPr>
                  <a:t>unit</a:t>
                </a:r>
                <a:r>
                  <a:rPr lang="es-PE" sz="900" b="0" i="0" dirty="0">
                    <a:solidFill>
                      <a:schemeClr val="tx1"/>
                    </a:solidFill>
                    <a:effectLst/>
                    <a:latin typeface="Segoe WPC"/>
                  </a:rPr>
                  <a:t> </a:t>
                </a:r>
                <a:r>
                  <a:rPr lang="es-PE" sz="900" b="0" i="0" dirty="0" err="1">
                    <a:solidFill>
                      <a:schemeClr val="tx1"/>
                    </a:solidFill>
                    <a:effectLst/>
                    <a:latin typeface="Segoe WPC"/>
                  </a:rPr>
                  <a:t>roots</a:t>
                </a:r>
                <a:r>
                  <a:rPr lang="es-PE" sz="900" b="0" i="0" dirty="0">
                    <a:solidFill>
                      <a:schemeClr val="tx1"/>
                    </a:solidFill>
                    <a:effectLst/>
                    <a:latin typeface="Segoe WPC"/>
                  </a:rPr>
                  <a:t>.</a:t>
                </a:r>
                <a:endParaRPr lang="es-PE" sz="900" dirty="0">
                  <a:solidFill>
                    <a:schemeClr val="tx1"/>
                  </a:solidFill>
                </a:endParaRPr>
              </a:p>
            </p:txBody>
          </p:sp>
        </mc:Choice>
        <mc:Fallback xmlns="">
          <p:sp>
            <p:nvSpPr>
              <p:cNvPr id="17" name="CuadroTexto 16">
                <a:extLst>
                  <a:ext uri="{FF2B5EF4-FFF2-40B4-BE49-F238E27FC236}">
                    <a16:creationId xmlns:a16="http://schemas.microsoft.com/office/drawing/2014/main" id="{6893673F-8F28-A3AF-CAAF-A68D0C2F8E82}"/>
                  </a:ext>
                </a:extLst>
              </p:cNvPr>
              <p:cNvSpPr txBox="1">
                <a:spLocks noRot="1" noChangeAspect="1" noMove="1" noResize="1" noEditPoints="1" noAdjustHandles="1" noChangeArrowheads="1" noChangeShapeType="1" noTextEdit="1"/>
              </p:cNvSpPr>
              <p:nvPr/>
            </p:nvSpPr>
            <p:spPr>
              <a:xfrm>
                <a:off x="6043385" y="3926101"/>
                <a:ext cx="6335484" cy="1338828"/>
              </a:xfrm>
              <a:prstGeom prst="rect">
                <a:avLst/>
              </a:prstGeom>
              <a:blipFill>
                <a:blip r:embed="rId6"/>
                <a:stretch>
                  <a:fillRect b="-909"/>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43743715-C6D8-6D8C-903C-0471E9802C37}"/>
                  </a:ext>
                </a:extLst>
              </p:cNvPr>
              <p:cNvSpPr txBox="1"/>
              <p:nvPr/>
            </p:nvSpPr>
            <p:spPr>
              <a:xfrm>
                <a:off x="6043384" y="5196428"/>
                <a:ext cx="6272212" cy="1754326"/>
              </a:xfrm>
              <a:prstGeom prst="rect">
                <a:avLst/>
              </a:prstGeom>
              <a:noFill/>
            </p:spPr>
            <p:txBody>
              <a:bodyPr wrap="square">
                <a:spAutoFit/>
              </a:bodyPr>
              <a:lstStyle/>
              <a:p>
                <a:pPr>
                  <a:spcAft>
                    <a:spcPts val="600"/>
                  </a:spcAft>
                </a:pPr>
                <a:r>
                  <a:rPr lang="es-PE" sz="900" b="1" i="0" dirty="0">
                    <a:solidFill>
                      <a:schemeClr val="tx1"/>
                    </a:solidFill>
                    <a:effectLst/>
                    <a:latin typeface="Segoe WPC"/>
                  </a:rPr>
                  <a:t>10. </a:t>
                </a:r>
                <a:r>
                  <a:rPr lang="es-PE" sz="900" b="1" i="0" dirty="0" err="1">
                    <a:solidFill>
                      <a:schemeClr val="tx1"/>
                    </a:solidFill>
                    <a:effectLst/>
                    <a:latin typeface="Segoe WPC"/>
                  </a:rPr>
                  <a:t>Forecasting</a:t>
                </a:r>
                <a:r>
                  <a:rPr lang="es-PE" sz="900" b="1" i="0" dirty="0">
                    <a:solidFill>
                      <a:schemeClr val="tx1"/>
                    </a:solidFill>
                    <a:effectLst/>
                    <a:latin typeface="Segoe WPC"/>
                  </a:rPr>
                  <a:t> and Interval </a:t>
                </a:r>
                <a:r>
                  <a:rPr lang="es-PE" sz="900" b="1" i="0" dirty="0" err="1">
                    <a:solidFill>
                      <a:schemeClr val="tx1"/>
                    </a:solidFill>
                    <a:effectLst/>
                    <a:latin typeface="Segoe WPC"/>
                  </a:rPr>
                  <a:t>Forecasts</a:t>
                </a:r>
                <a:br>
                  <a:rPr lang="es-PE" sz="900" dirty="0">
                    <a:solidFill>
                      <a:schemeClr val="tx1"/>
                    </a:solidFill>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Forecasts</a:t>
                </a:r>
                <a:r>
                  <a:rPr lang="es-PE" sz="900" b="0" i="0" dirty="0">
                    <a:solidFill>
                      <a:schemeClr val="tx1"/>
                    </a:solidFill>
                    <a:effectLst/>
                    <a:latin typeface="Segoe WPC"/>
                  </a:rPr>
                  <a:t> in non-</a:t>
                </a:r>
                <a:r>
                  <a:rPr lang="es-PE" sz="900" b="0" i="0" dirty="0" err="1">
                    <a:solidFill>
                      <a:schemeClr val="tx1"/>
                    </a:solidFill>
                    <a:effectLst/>
                    <a:latin typeface="Segoe WPC"/>
                  </a:rPr>
                  <a:t>stationary</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are </a:t>
                </a:r>
                <a:r>
                  <a:rPr lang="es-PE" sz="900" b="0" i="0" dirty="0" err="1">
                    <a:solidFill>
                      <a:schemeClr val="tx1"/>
                    </a:solidFill>
                    <a:effectLst/>
                    <a:latin typeface="Segoe WPC"/>
                  </a:rPr>
                  <a:t>built</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time-</a:t>
                </a:r>
                <a14:m>
                  <m:oMath xmlns:m="http://schemas.openxmlformats.org/officeDocument/2006/math">
                    <m:r>
                      <a:rPr lang="es-PE" sz="900" i="1">
                        <a:solidFill>
                          <a:schemeClr val="tx1"/>
                        </a:solidFill>
                        <a:latin typeface="Cambria Math" panose="02040503050406030204" pitchFamily="18" charset="0"/>
                      </a:rPr>
                      <m:t>𝑇</m:t>
                    </m:r>
                  </m:oMath>
                </a14:m>
                <a:r>
                  <a:rPr lang="es-PE" sz="900" b="0" i="0" dirty="0">
                    <a:solidFill>
                      <a:schemeClr val="tx1"/>
                    </a:solidFill>
                    <a:effectLst/>
                    <a:latin typeface="Segoe WPC"/>
                  </a:rPr>
                  <a:t> </a:t>
                </a:r>
                <a:r>
                  <a:rPr lang="es-PE" sz="900" b="0" i="0" dirty="0" err="1">
                    <a:solidFill>
                      <a:schemeClr val="tx1"/>
                    </a:solidFill>
                    <a:effectLst/>
                    <a:latin typeface="Segoe WPC"/>
                  </a:rPr>
                  <a:t>conditional</a:t>
                </a:r>
                <a:r>
                  <a:rPr lang="es-PE" sz="900" b="0" i="0" dirty="0">
                    <a:solidFill>
                      <a:schemeClr val="tx1"/>
                    </a:solidFill>
                    <a:effectLst/>
                    <a:latin typeface="Segoe WPC"/>
                  </a:rPr>
                  <a:t> </a:t>
                </a:r>
                <a:r>
                  <a:rPr lang="es-PE" sz="900" b="0" i="0" dirty="0" err="1">
                    <a:solidFill>
                      <a:schemeClr val="tx1"/>
                    </a:solidFill>
                    <a:effectLst/>
                    <a:latin typeface="Segoe WPC"/>
                  </a:rPr>
                  <a:t>expectation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future </a:t>
                </a:r>
                <a:r>
                  <a:rPr lang="es-PE" sz="900" b="0" i="0" dirty="0" err="1">
                    <a:solidFill>
                      <a:schemeClr val="tx1"/>
                    </a:solidFill>
                    <a:effectLst/>
                    <a:latin typeface="Segoe WPC"/>
                  </a:rPr>
                  <a:t>values</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In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a:t>
                </a:r>
                <a:r>
                  <a:rPr lang="es-PE" sz="900" b="0" i="0" dirty="0" err="1">
                    <a:solidFill>
                      <a:schemeClr val="tx1"/>
                    </a:solidFill>
                    <a:effectLst/>
                    <a:latin typeface="Segoe WPC"/>
                  </a:rPr>
                  <a:t>forecasts</a:t>
                </a:r>
                <a:r>
                  <a:rPr lang="es-PE" sz="900" b="0" i="0" dirty="0">
                    <a:solidFill>
                      <a:schemeClr val="tx1"/>
                    </a:solidFill>
                    <a:effectLst/>
                    <a:latin typeface="Segoe WPC"/>
                  </a:rPr>
                  <a:t> </a:t>
                </a:r>
                <a:r>
                  <a:rPr lang="es-PE" sz="900" b="0" i="0" dirty="0" err="1">
                    <a:solidFill>
                      <a:schemeClr val="tx1"/>
                    </a:solidFill>
                    <a:effectLst/>
                    <a:latin typeface="Segoe WPC"/>
                  </a:rPr>
                  <a:t>extend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fitted</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and </a:t>
                </a:r>
                <a:r>
                  <a:rPr lang="es-PE" sz="900" b="0" i="0" dirty="0" err="1">
                    <a:solidFill>
                      <a:schemeClr val="tx1"/>
                    </a:solidFill>
                    <a:effectLst/>
                    <a:latin typeface="Segoe WPC"/>
                  </a:rPr>
                  <a:t>seasonality</a:t>
                </a:r>
                <a:r>
                  <a:rPr lang="es-PE" sz="900" b="0" i="0" dirty="0">
                    <a:solidFill>
                      <a:schemeClr val="tx1"/>
                    </a:solidFill>
                    <a:effectLst/>
                    <a:latin typeface="Segoe WPC"/>
                  </a:rPr>
                  <a:t> forward;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cyclical</a:t>
                </a:r>
                <a:r>
                  <a:rPr lang="es-PE" sz="900" b="0" i="0" dirty="0">
                    <a:solidFill>
                      <a:schemeClr val="tx1"/>
                    </a:solidFill>
                    <a:effectLst/>
                    <a:latin typeface="Segoe WPC"/>
                  </a:rPr>
                  <a:t> </a:t>
                </a:r>
                <a:r>
                  <a:rPr lang="es-PE" sz="900" b="0" i="0" dirty="0" err="1">
                    <a:solidFill>
                      <a:schemeClr val="tx1"/>
                    </a:solidFill>
                    <a:effectLst/>
                    <a:latin typeface="Segoe WPC"/>
                  </a:rPr>
                  <a:t>components</a:t>
                </a:r>
                <a:r>
                  <a:rPr lang="es-PE" sz="900" b="0" i="0" dirty="0">
                    <a:solidFill>
                      <a:schemeClr val="tx1"/>
                    </a:solidFill>
                    <a:effectLst/>
                    <a:latin typeface="Segoe WPC"/>
                  </a:rPr>
                  <a:t>, </a:t>
                </a:r>
                <a:r>
                  <a:rPr lang="es-PE" sz="900" b="0" i="0" dirty="0" err="1">
                    <a:solidFill>
                      <a:schemeClr val="tx1"/>
                    </a:solidFill>
                    <a:effectLst/>
                    <a:latin typeface="Segoe WPC"/>
                  </a:rPr>
                  <a:t>forecasts</a:t>
                </a:r>
                <a:r>
                  <a:rPr lang="es-PE" sz="900" b="0" i="0" dirty="0">
                    <a:solidFill>
                      <a:schemeClr val="tx1"/>
                    </a:solidFill>
                    <a:effectLst/>
                    <a:latin typeface="Segoe WPC"/>
                  </a:rPr>
                  <a:t> are recursive.</a:t>
                </a:r>
                <a:br>
                  <a:rPr lang="es-PE" sz="900" dirty="0">
                    <a:solidFill>
                      <a:schemeClr val="tx1"/>
                    </a:solidFill>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Trend</a:t>
                </a:r>
                <a:r>
                  <a:rPr lang="es-PE" sz="900" b="0" i="0" dirty="0">
                    <a:solidFill>
                      <a:schemeClr val="tx1"/>
                    </a:solidFill>
                    <a:effectLst/>
                    <a:latin typeface="Segoe WPC"/>
                  </a:rPr>
                  <a:t> </a:t>
                </a:r>
                <a:r>
                  <a:rPr lang="es-PE" sz="900" b="0" i="0" dirty="0" err="1">
                    <a:solidFill>
                      <a:schemeClr val="tx1"/>
                    </a:solidFill>
                    <a:effectLst/>
                    <a:latin typeface="Segoe WPC"/>
                  </a:rPr>
                  <a:t>forecasts</a:t>
                </a:r>
                <a:r>
                  <a:rPr lang="es-PE" sz="900" b="0" i="0" dirty="0">
                    <a:solidFill>
                      <a:schemeClr val="tx1"/>
                    </a:solidFill>
                    <a:effectLst/>
                    <a:latin typeface="Segoe WPC"/>
                  </a:rPr>
                  <a:t> </a:t>
                </a:r>
                <a:r>
                  <a:rPr lang="es-PE" sz="900" b="0" i="0" dirty="0" err="1">
                    <a:solidFill>
                      <a:schemeClr val="tx1"/>
                    </a:solidFill>
                    <a:effectLst/>
                    <a:latin typeface="Segoe WPC"/>
                  </a:rPr>
                  <a:t>extrapolate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fitted</a:t>
                </a:r>
                <a:r>
                  <a:rPr lang="es-PE" sz="900" b="0" i="0" dirty="0">
                    <a:solidFill>
                      <a:schemeClr val="tx1"/>
                    </a:solidFill>
                    <a:effectLst/>
                    <a:latin typeface="Segoe WPC"/>
                  </a:rPr>
                  <a:t> </a:t>
                </a:r>
                <a:r>
                  <a:rPr lang="es-PE" sz="900" b="0" i="0" dirty="0" err="1">
                    <a:solidFill>
                      <a:schemeClr val="tx1"/>
                    </a:solidFill>
                    <a:effectLst/>
                    <a:latin typeface="Segoe WPC"/>
                  </a:rPr>
                  <a:t>path</a:t>
                </a:r>
                <a:r>
                  <a:rPr lang="es-PE" sz="900" b="0" i="0" dirty="0">
                    <a:solidFill>
                      <a:schemeClr val="tx1"/>
                    </a:solidFill>
                    <a:effectLst/>
                    <a:latin typeface="Segoe WPC"/>
                  </a:rPr>
                  <a:t>, and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dummy</a:t>
                </a:r>
                <a:r>
                  <a:rPr lang="es-PE" sz="900" b="0" i="0" dirty="0">
                    <a:solidFill>
                      <a:schemeClr val="tx1"/>
                    </a:solidFill>
                    <a:effectLst/>
                    <a:latin typeface="Segoe WPC"/>
                  </a:rPr>
                  <a:t> </a:t>
                </a:r>
                <a:r>
                  <a:rPr lang="es-PE" sz="900" b="0" i="0" dirty="0" err="1">
                    <a:solidFill>
                      <a:schemeClr val="tx1"/>
                    </a:solidFill>
                    <a:effectLst/>
                    <a:latin typeface="Segoe WPC"/>
                  </a:rPr>
                  <a:t>forecasts</a:t>
                </a:r>
                <a:r>
                  <a:rPr lang="es-PE" sz="900" b="0" i="0" dirty="0">
                    <a:solidFill>
                      <a:schemeClr val="tx1"/>
                    </a:solidFill>
                    <a:effectLst/>
                    <a:latin typeface="Segoe WPC"/>
                  </a:rPr>
                  <a:t> </a:t>
                </a:r>
                <a:r>
                  <a:rPr lang="es-PE" sz="900" b="0" i="0" dirty="0" err="1">
                    <a:solidFill>
                      <a:schemeClr val="tx1"/>
                    </a:solidFill>
                    <a:effectLst/>
                    <a:latin typeface="Segoe WPC"/>
                  </a:rPr>
                  <a:t>jump</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mean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relevant</a:t>
                </a:r>
                <a:r>
                  <a:rPr lang="es-PE" sz="900" b="0" i="0" dirty="0">
                    <a:solidFill>
                      <a:schemeClr val="tx1"/>
                    </a:solidFill>
                    <a:effectLst/>
                    <a:latin typeface="Segoe WPC"/>
                  </a:rPr>
                  <a:t> future </a:t>
                </a:r>
                <a:r>
                  <a:rPr lang="es-PE" sz="900" b="0" i="0" dirty="0" err="1">
                    <a:solidFill>
                      <a:schemeClr val="tx1"/>
                    </a:solidFill>
                    <a:effectLst/>
                    <a:latin typeface="Segoe WPC"/>
                  </a:rPr>
                  <a:t>season</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Key Formula:</a:t>
                </a:r>
                <a:r>
                  <a:rPr lang="es-PE" sz="900" b="0" i="0" dirty="0">
                    <a:solidFill>
                      <a:schemeClr val="tx1"/>
                    </a:solidFill>
                    <a:effectLst/>
                    <a:latin typeface="Segoe WPC"/>
                  </a:rPr>
                  <a:t> Linear </a:t>
                </a:r>
                <a:r>
                  <a:rPr lang="es-PE" sz="900" b="0" i="0" dirty="0" err="1">
                    <a:solidFill>
                      <a:schemeClr val="tx1"/>
                    </a:solidFill>
                    <a:effectLst/>
                    <a:latin typeface="Segoe WPC"/>
                  </a:rPr>
                  <a:t>trend</a:t>
                </a:r>
                <a:r>
                  <a:rPr lang="es-PE" sz="900" b="0" i="0" dirty="0">
                    <a:solidFill>
                      <a:schemeClr val="tx1"/>
                    </a:solidFill>
                    <a:effectLst/>
                    <a:latin typeface="Segoe WPC"/>
                  </a:rPr>
                  <a:t> </a:t>
                </a:r>
                <a:r>
                  <a:rPr lang="es-PE" sz="900" b="0" i="0" dirty="0" err="1">
                    <a:solidFill>
                      <a:schemeClr val="tx1"/>
                    </a:solidFill>
                    <a:effectLst/>
                    <a:latin typeface="Segoe WPC"/>
                  </a:rPr>
                  <a:t>forecast</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𝐸</m:t>
                        </m:r>
                      </m:e>
                      <m:sub>
                        <m:r>
                          <a:rPr lang="ar-AE" sz="900" i="1">
                            <a:solidFill>
                              <a:schemeClr val="tx1"/>
                            </a:solidFill>
                            <a:latin typeface="Cambria Math" panose="02040503050406030204" pitchFamily="18" charset="0"/>
                          </a:rPr>
                          <m:t>𝑇</m:t>
                        </m:r>
                      </m:sub>
                    </m:sSub>
                    <m:d>
                      <m:dPr>
                        <m:begChr m:val="["/>
                        <m:end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𝑇</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h</m:t>
                            </m:r>
                          </m:sub>
                        </m:sSub>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0">
                            <a:solidFill>
                              <a:schemeClr val="tx1"/>
                            </a:solidFill>
                            <a:latin typeface="Cambria Math" panose="02040503050406030204" pitchFamily="18" charset="0"/>
                          </a:rPr>
                          <m:t>1</m:t>
                        </m:r>
                      </m:sub>
                    </m:sSub>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𝑇</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h</m:t>
                        </m:r>
                      </m:e>
                    </m:d>
                  </m:oMath>
                </a14:m>
                <a:r>
                  <a:rPr lang="ar-A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dummies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forecast</a:t>
                </a:r>
                <a:r>
                  <a:rPr lang="es-PE" sz="900" b="0" i="0" dirty="0">
                    <a:solidFill>
                      <a:schemeClr val="tx1"/>
                    </a:solidFill>
                    <a:effectLst/>
                    <a:latin typeface="Segoe WPC"/>
                  </a:rPr>
                  <a:t> uses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dummy</a:t>
                </a:r>
                <a:r>
                  <a:rPr lang="es-PE" sz="900" b="0" i="0" dirty="0">
                    <a:solidFill>
                      <a:schemeClr val="tx1"/>
                    </a:solidFill>
                    <a:effectLst/>
                    <a:latin typeface="Segoe WPC"/>
                  </a:rPr>
                  <a:t> </a:t>
                </a:r>
                <a:r>
                  <a:rPr lang="es-PE" sz="900" b="0" i="0" dirty="0" err="1">
                    <a:solidFill>
                      <a:schemeClr val="tx1"/>
                    </a:solidFill>
                    <a:effectLst/>
                    <a:latin typeface="Segoe WPC"/>
                  </a:rPr>
                  <a:t>corresponding</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period</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𝑇</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h</m:t>
                    </m:r>
                  </m:oMath>
                </a14:m>
                <a:r>
                  <a:rPr lang="es-PE" sz="900" b="0" i="0" dirty="0">
                    <a:solidFill>
                      <a:schemeClr val="tx1"/>
                    </a:solidFill>
                    <a:effectLst/>
                    <a:latin typeface="Segoe WPC"/>
                  </a:rPr>
                  <a:t>. </a:t>
                </a:r>
                <a:r>
                  <a:rPr lang="es-PE" sz="900" b="0" i="0" dirty="0" err="1">
                    <a:solidFill>
                      <a:schemeClr val="tx1"/>
                    </a:solidFill>
                    <a:effectLst/>
                    <a:latin typeface="Segoe WPC"/>
                  </a:rPr>
                  <a:t>Forecast</a:t>
                </a:r>
                <a:r>
                  <a:rPr lang="es-PE" sz="900" b="0" i="0" dirty="0">
                    <a:solidFill>
                      <a:schemeClr val="tx1"/>
                    </a:solidFill>
                    <a:effectLst/>
                    <a:latin typeface="Segoe WPC"/>
                  </a:rPr>
                  <a:t> </a:t>
                </a:r>
                <a:r>
                  <a:rPr lang="es-PE" sz="900" b="0" i="0" dirty="0" err="1">
                    <a:solidFill>
                      <a:schemeClr val="tx1"/>
                    </a:solidFill>
                    <a:effectLst/>
                    <a:latin typeface="Segoe WPC"/>
                  </a:rPr>
                  <a:t>intervals</a:t>
                </a:r>
                <a:r>
                  <a:rPr lang="es-PE" sz="900" b="0" i="0" dirty="0">
                    <a:solidFill>
                      <a:schemeClr val="tx1"/>
                    </a:solidFill>
                    <a:effectLst/>
                    <a:latin typeface="Segoe WPC"/>
                  </a:rPr>
                  <a:t>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forecast</a:t>
                </a:r>
                <a:r>
                  <a:rPr lang="es-PE" sz="900" b="0" i="0" dirty="0">
                    <a:solidFill>
                      <a:schemeClr val="tx1"/>
                    </a:solidFill>
                    <a:effectLst/>
                    <a:latin typeface="Segoe WPC"/>
                  </a:rPr>
                  <a:t>-error </a:t>
                </a:r>
                <a:r>
                  <a:rPr lang="es-PE" sz="900" b="0" i="0" dirty="0" err="1">
                    <a:solidFill>
                      <a:schemeClr val="tx1"/>
                    </a:solidFill>
                    <a:effectLst/>
                    <a:latin typeface="Segoe WPC"/>
                  </a:rPr>
                  <a:t>variance</a:t>
                </a:r>
                <a:r>
                  <a:rPr lang="es-PE" sz="900" b="0" i="0" dirty="0">
                    <a:solidFill>
                      <a:schemeClr val="tx1"/>
                    </a:solidFill>
                    <a:effectLst/>
                    <a:latin typeface="Segoe WPC"/>
                  </a:rPr>
                  <a:t>; in log </a:t>
                </a:r>
                <a:r>
                  <a:rPr lang="es-PE" sz="900" b="0" i="0" dirty="0" err="1">
                    <a:solidFill>
                      <a:schemeClr val="tx1"/>
                    </a:solidFill>
                    <a:effectLst/>
                    <a:latin typeface="Segoe WPC"/>
                  </a:rPr>
                  <a:t>models</a:t>
                </a:r>
                <a:r>
                  <a:rPr lang="es-PE" sz="900" b="0" i="0" dirty="0">
                    <a:solidFill>
                      <a:schemeClr val="tx1"/>
                    </a:solidFill>
                    <a:effectLst/>
                    <a:latin typeface="Segoe WPC"/>
                  </a:rPr>
                  <a:t>, </a:t>
                </a:r>
                <a:r>
                  <a:rPr lang="es-PE" sz="900" b="0" i="0" dirty="0" err="1">
                    <a:solidFill>
                      <a:schemeClr val="tx1"/>
                    </a:solidFill>
                    <a:effectLst/>
                    <a:latin typeface="Segoe WPC"/>
                  </a:rPr>
                  <a:t>levels</a:t>
                </a:r>
                <a:r>
                  <a:rPr lang="es-PE" sz="900" b="0" i="0" dirty="0">
                    <a:solidFill>
                      <a:schemeClr val="tx1"/>
                    </a:solidFill>
                    <a:effectLst/>
                    <a:latin typeface="Segoe WPC"/>
                  </a:rPr>
                  <a:t> </a:t>
                </a:r>
                <a:r>
                  <a:rPr lang="es-PE" sz="900" b="0" i="0" dirty="0" err="1">
                    <a:solidFill>
                      <a:schemeClr val="tx1"/>
                    </a:solidFill>
                    <a:effectLst/>
                    <a:latin typeface="Segoe WPC"/>
                  </a:rPr>
                  <a:t>forecasts</a:t>
                </a:r>
                <a:r>
                  <a:rPr lang="es-PE" sz="900" b="0" i="0" dirty="0">
                    <a:solidFill>
                      <a:schemeClr val="tx1"/>
                    </a:solidFill>
                    <a:effectLst/>
                    <a:latin typeface="Segoe WPC"/>
                  </a:rPr>
                  <a:t> </a:t>
                </a:r>
                <a:r>
                  <a:rPr lang="es-PE" sz="900" b="0" i="0" dirty="0" err="1">
                    <a:solidFill>
                      <a:schemeClr val="tx1"/>
                    </a:solidFill>
                    <a:effectLst/>
                    <a:latin typeface="Segoe WPC"/>
                  </a:rPr>
                  <a:t>need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log-normal </a:t>
                </a:r>
                <a:r>
                  <a:rPr lang="es-PE" sz="900" b="0" i="0" dirty="0" err="1">
                    <a:solidFill>
                      <a:schemeClr val="tx1"/>
                    </a:solidFill>
                    <a:effectLst/>
                    <a:latin typeface="Segoe WPC"/>
                  </a:rPr>
                  <a:t>correction</a:t>
                </a:r>
                <a:r>
                  <a:rPr lang="es-PE" sz="900" b="0" i="0" dirty="0">
                    <a:solidFill>
                      <a:schemeClr val="tx1"/>
                    </a:solidFill>
                    <a:effectLst/>
                    <a:latin typeface="Segoe WPC"/>
                  </a:rPr>
                  <a:t>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a:t>
                </a:r>
                <a:r>
                  <a:rPr lang="es-PE" sz="900" b="0" i="0" dirty="0" err="1">
                    <a:solidFill>
                      <a:schemeClr val="tx1"/>
                    </a:solidFill>
                    <a:effectLst/>
                    <a:latin typeface="Segoe WPC"/>
                  </a:rPr>
                  <a:t>exponentiating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forecasted</a:t>
                </a:r>
                <a:r>
                  <a:rPr lang="es-PE" sz="900" b="0" i="0" dirty="0">
                    <a:solidFill>
                      <a:schemeClr val="tx1"/>
                    </a:solidFill>
                    <a:effectLst/>
                    <a:latin typeface="Segoe WPC"/>
                  </a:rPr>
                  <a:t> log mean.</a:t>
                </a:r>
                <a:br>
                  <a:rPr lang="es-PE" sz="900" dirty="0">
                    <a:solidFill>
                      <a:schemeClr val="tx1"/>
                    </a:solidFill>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Forecast</a:t>
                </a:r>
                <a:r>
                  <a:rPr lang="es-PE" sz="900" b="0" i="0" dirty="0">
                    <a:solidFill>
                      <a:schemeClr val="tx1"/>
                    </a:solidFill>
                    <a:effectLst/>
                    <a:latin typeface="Segoe WPC"/>
                  </a:rPr>
                  <a:t> </a:t>
                </a:r>
                <a:r>
                  <a:rPr lang="es-PE" sz="900" b="0" i="0" dirty="0" err="1">
                    <a:solidFill>
                      <a:schemeClr val="tx1"/>
                    </a:solidFill>
                    <a:effectLst/>
                    <a:latin typeface="Segoe WPC"/>
                  </a:rPr>
                  <a:t>intervals</a:t>
                </a:r>
                <a:r>
                  <a:rPr lang="es-PE" sz="900" b="0" i="0" dirty="0">
                    <a:solidFill>
                      <a:schemeClr val="tx1"/>
                    </a:solidFill>
                    <a:effectLst/>
                    <a:latin typeface="Segoe WPC"/>
                  </a:rPr>
                  <a:t> </a:t>
                </a:r>
                <a:r>
                  <a:rPr lang="es-PE" sz="900" b="0" i="0" dirty="0" err="1">
                    <a:solidFill>
                      <a:schemeClr val="tx1"/>
                    </a:solidFill>
                    <a:effectLst/>
                    <a:latin typeface="Segoe WPC"/>
                  </a:rPr>
                  <a:t>quantify</a:t>
                </a:r>
                <a:r>
                  <a:rPr lang="es-PE" sz="900" b="0" i="0" dirty="0">
                    <a:solidFill>
                      <a:schemeClr val="tx1"/>
                    </a:solidFill>
                    <a:effectLst/>
                    <a:latin typeface="Segoe WPC"/>
                  </a:rPr>
                  <a:t> </a:t>
                </a:r>
                <a:r>
                  <a:rPr lang="es-PE" sz="900" b="0" i="0" dirty="0" err="1">
                    <a:solidFill>
                      <a:schemeClr val="tx1"/>
                    </a:solidFill>
                    <a:effectLst/>
                    <a:latin typeface="Segoe WPC"/>
                  </a:rPr>
                  <a:t>uncertainty</a:t>
                </a:r>
                <a:r>
                  <a:rPr lang="es-PE" sz="900" b="0" i="0" dirty="0">
                    <a:solidFill>
                      <a:schemeClr val="tx1"/>
                    </a:solidFill>
                    <a:effectLst/>
                    <a:latin typeface="Segoe WPC"/>
                  </a:rPr>
                  <a:t> </a:t>
                </a:r>
                <a:r>
                  <a:rPr lang="es-PE" sz="900" b="0" i="0" dirty="0" err="1">
                    <a:solidFill>
                      <a:schemeClr val="tx1"/>
                    </a:solidFill>
                    <a:effectLst/>
                    <a:latin typeface="Segoe WPC"/>
                  </a:rPr>
                  <a:t>around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point</a:t>
                </a:r>
                <a:r>
                  <a:rPr lang="es-PE" sz="900" b="0" i="0" dirty="0">
                    <a:solidFill>
                      <a:schemeClr val="tx1"/>
                    </a:solidFill>
                    <a:effectLst/>
                    <a:latin typeface="Segoe WPC"/>
                  </a:rPr>
                  <a:t> </a:t>
                </a:r>
                <a:r>
                  <a:rPr lang="es-PE" sz="900" b="0" i="0" dirty="0" err="1">
                    <a:solidFill>
                      <a:schemeClr val="tx1"/>
                    </a:solidFill>
                    <a:effectLst/>
                    <a:latin typeface="Segoe WPC"/>
                  </a:rPr>
                  <a:t>forecast</a:t>
                </a:r>
                <a:r>
                  <a:rPr lang="es-PE" sz="900" b="0" i="0" dirty="0">
                    <a:solidFill>
                      <a:schemeClr val="tx1"/>
                    </a:solidFill>
                    <a:effectLst/>
                    <a:latin typeface="Segoe WPC"/>
                  </a:rPr>
                  <a:t>. In </a:t>
                </a:r>
                <a:r>
                  <a:rPr lang="es-PE" sz="900" b="0" i="0" dirty="0" err="1">
                    <a:solidFill>
                      <a:schemeClr val="tx1"/>
                    </a:solidFill>
                    <a:effectLst/>
                    <a:latin typeface="Segoe WPC"/>
                  </a:rPr>
                  <a:t>models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AR </a:t>
                </a:r>
                <a:r>
                  <a:rPr lang="es-PE" sz="900" b="0" i="0" dirty="0" err="1">
                    <a:solidFill>
                      <a:schemeClr val="tx1"/>
                    </a:solidFill>
                    <a:effectLst/>
                    <a:latin typeface="Segoe WPC"/>
                  </a:rPr>
                  <a:t>or</a:t>
                </a:r>
                <a:r>
                  <a:rPr lang="es-PE" sz="900" b="0" i="0" dirty="0">
                    <a:solidFill>
                      <a:schemeClr val="tx1"/>
                    </a:solidFill>
                    <a:effectLst/>
                    <a:latin typeface="Segoe WPC"/>
                  </a:rPr>
                  <a:t> MA </a:t>
                </a:r>
                <a:r>
                  <a:rPr lang="es-PE" sz="900" b="0" i="0" dirty="0" err="1">
                    <a:solidFill>
                      <a:schemeClr val="tx1"/>
                    </a:solidFill>
                    <a:effectLst/>
                    <a:latin typeface="Segoe WPC"/>
                  </a:rPr>
                  <a:t>components</a:t>
                </a:r>
                <a:r>
                  <a:rPr lang="es-PE" sz="900" b="0" i="0" dirty="0">
                    <a:solidFill>
                      <a:schemeClr val="tx1"/>
                    </a:solidFill>
                    <a:effectLst/>
                    <a:latin typeface="Segoe WPC"/>
                  </a:rPr>
                  <a:t>, </a:t>
                </a:r>
                <a:r>
                  <a:rPr lang="es-PE" sz="900" b="0" i="0" dirty="0" err="1">
                    <a:solidFill>
                      <a:schemeClr val="tx1"/>
                    </a:solidFill>
                    <a:effectLst/>
                    <a:latin typeface="Segoe WPC"/>
                  </a:rPr>
                  <a:t>forecast</a:t>
                </a:r>
                <a:r>
                  <a:rPr lang="es-PE" sz="900" b="0" i="0" dirty="0">
                    <a:solidFill>
                      <a:schemeClr val="tx1"/>
                    </a:solidFill>
                    <a:effectLst/>
                    <a:latin typeface="Segoe WPC"/>
                  </a:rPr>
                  <a:t>-error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innovation</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dynamic</a:t>
                </a:r>
                <a:r>
                  <a:rPr lang="es-PE" sz="900" b="0" i="0" dirty="0">
                    <a:solidFill>
                      <a:schemeClr val="tx1"/>
                    </a:solidFill>
                    <a:effectLst/>
                    <a:latin typeface="Segoe WPC"/>
                  </a:rPr>
                  <a:t> </a:t>
                </a:r>
                <a:r>
                  <a:rPr lang="es-PE" sz="900" b="0" i="0" dirty="0" err="1">
                    <a:solidFill>
                      <a:schemeClr val="tx1"/>
                    </a:solidFill>
                    <a:effectLst/>
                    <a:latin typeface="Segoe WPC"/>
                  </a:rPr>
                  <a:t>parameters</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log </a:t>
                </a:r>
                <a:r>
                  <a:rPr lang="es-PE" sz="900" b="0" i="0" dirty="0" err="1">
                    <a:solidFill>
                      <a:schemeClr val="tx1"/>
                    </a:solidFill>
                    <a:effectLst/>
                    <a:latin typeface="Segoe WPC"/>
                  </a:rPr>
                  <a:t>models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𝑇</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h</m:t>
                            </m:r>
                          </m:sub>
                        </m:sSub>
                      </m:e>
                    </m:d>
                    <m:r>
                      <a:rPr lang="ar-AE" sz="900" i="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exp</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func>
                              <m:funcPr>
                                <m:ctrlPr>
                                  <a:rPr lang="ar-AE" sz="900" i="1">
                                    <a:solidFill>
                                      <a:schemeClr val="tx1"/>
                                    </a:solidFill>
                                    <a:latin typeface="Cambria Math" panose="02040503050406030204" pitchFamily="18" charset="0"/>
                                  </a:rPr>
                                </m:ctrlPr>
                              </m:funcPr>
                              <m:fName>
                                <m:r>
                                  <m:rPr>
                                    <m:sty m:val="p"/>
                                  </m:rPr>
                                  <a:rPr lang="es-PE" sz="900" i="0">
                                    <a:solidFill>
                                      <a:schemeClr val="tx1"/>
                                    </a:solidFill>
                                    <a:latin typeface="Cambria Math" panose="02040503050406030204" pitchFamily="18" charset="0"/>
                                  </a:rPr>
                                  <m:t>ln</m:t>
                                </m:r>
                              </m:fName>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𝑌</m:t>
                                    </m:r>
                                  </m:e>
                                  <m:sub>
                                    <m:r>
                                      <a:rPr lang="ar-AE" sz="900" i="1">
                                        <a:solidFill>
                                          <a:schemeClr val="tx1"/>
                                        </a:solidFill>
                                        <a:latin typeface="Cambria Math" panose="02040503050406030204" pitchFamily="18" charset="0"/>
                                      </a:rPr>
                                      <m:t>𝑇</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h</m:t>
                                    </m:r>
                                  </m:sub>
                                </m:sSub>
                              </m:e>
                            </m:func>
                          </m:e>
                        </m:d>
                      </m:e>
                    </m:d>
                  </m:oMath>
                </a14:m>
                <a:r>
                  <a:rPr lang="ar-AE" sz="900" b="0" i="0" dirty="0">
                    <a:solidFill>
                      <a:schemeClr val="tx1"/>
                    </a:solidFill>
                    <a:effectLst/>
                    <a:latin typeface="Segoe WPC"/>
                  </a:rPr>
                  <a:t>.</a:t>
                </a:r>
                <a:endParaRPr lang="es-PE" sz="900" dirty="0">
                  <a:solidFill>
                    <a:schemeClr val="tx1"/>
                  </a:solidFill>
                </a:endParaRPr>
              </a:p>
            </p:txBody>
          </p:sp>
        </mc:Choice>
        <mc:Fallback xmlns="">
          <p:sp>
            <p:nvSpPr>
              <p:cNvPr id="19" name="CuadroTexto 18">
                <a:extLst>
                  <a:ext uri="{FF2B5EF4-FFF2-40B4-BE49-F238E27FC236}">
                    <a16:creationId xmlns:a16="http://schemas.microsoft.com/office/drawing/2014/main" id="{43743715-C6D8-6D8C-903C-0471E9802C37}"/>
                  </a:ext>
                </a:extLst>
              </p:cNvPr>
              <p:cNvSpPr txBox="1">
                <a:spLocks noRot="1" noChangeAspect="1" noMove="1" noResize="1" noEditPoints="1" noAdjustHandles="1" noChangeArrowheads="1" noChangeShapeType="1" noTextEdit="1"/>
              </p:cNvSpPr>
              <p:nvPr/>
            </p:nvSpPr>
            <p:spPr>
              <a:xfrm>
                <a:off x="6043384" y="5196428"/>
                <a:ext cx="6272212" cy="1754326"/>
              </a:xfrm>
              <a:prstGeom prst="rect">
                <a:avLst/>
              </a:prstGeom>
              <a:blipFill>
                <a:blip r:embed="rId7"/>
                <a:stretch>
                  <a:fillRect b="-694"/>
                </a:stretch>
              </a:blipFill>
            </p:spPr>
            <p:txBody>
              <a:bodyPr/>
              <a:lstStyle/>
              <a:p>
                <a:r>
                  <a:rPr lang="es-PE">
                    <a:noFill/>
                  </a:rPr>
                  <a:t> </a:t>
                </a:r>
              </a:p>
            </p:txBody>
          </p:sp>
        </mc:Fallback>
      </mc:AlternateContent>
    </p:spTree>
    <p:extLst>
      <p:ext uri="{BB962C8B-B14F-4D97-AF65-F5344CB8AC3E}">
        <p14:creationId xmlns:p14="http://schemas.microsoft.com/office/powerpoint/2010/main" val="20664181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F0670F-9D61-2D2F-66E7-E4452497B268}"/>
              </a:ext>
            </a:extLst>
          </p:cNvPr>
          <p:cNvSpPr>
            <a:spLocks noGrp="1"/>
          </p:cNvSpPr>
          <p:nvPr>
            <p:ph type="title"/>
          </p:nvPr>
        </p:nvSpPr>
        <p:spPr>
          <a:xfrm>
            <a:off x="-50800" y="-21771"/>
            <a:ext cx="12126686" cy="447675"/>
          </a:xfrm>
        </p:spPr>
        <p:txBody>
          <a:bodyPr>
            <a:noAutofit/>
          </a:bodyPr>
          <a:lstStyle/>
          <a:p>
            <a:r>
              <a:rPr lang="en-US" sz="2800" dirty="0"/>
              <a:t>Measuring Returns, Volatility, and Correlation</a:t>
            </a:r>
            <a:endParaRPr lang="es-PE" sz="28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D7A4162C-4813-3628-B651-167F68889406}"/>
                  </a:ext>
                </a:extLst>
              </p:cNvPr>
              <p:cNvSpPr txBox="1"/>
              <p:nvPr/>
            </p:nvSpPr>
            <p:spPr>
              <a:xfrm>
                <a:off x="-50800" y="260544"/>
                <a:ext cx="6473372" cy="6856877"/>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Simple vs Log </a:t>
                </a:r>
                <a:r>
                  <a:rPr lang="es-PE" sz="900" b="1" i="0" dirty="0" err="1">
                    <a:solidFill>
                      <a:schemeClr val="tx1"/>
                    </a:solidFill>
                    <a:effectLst/>
                    <a:latin typeface="Segoe WPC"/>
                  </a:rPr>
                  <a:t>Returns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standard </a:t>
                </a:r>
                <a:r>
                  <a:rPr lang="es-PE" sz="900" b="0" i="0" dirty="0" err="1">
                    <a:solidFill>
                      <a:schemeClr val="tx1"/>
                    </a:solidFill>
                    <a:effectLst/>
                    <a:latin typeface="Segoe WPC"/>
                  </a:rPr>
                  <a:t>ways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measure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are simple </a:t>
                </a:r>
                <a:r>
                  <a:rPr lang="es-PE" sz="900" b="0" i="0" dirty="0" err="1">
                    <a:solidFill>
                      <a:schemeClr val="tx1"/>
                    </a:solidFill>
                    <a:effectLst/>
                    <a:latin typeface="Segoe WPC"/>
                  </a:rPr>
                  <a:t>returns</a:t>
                </a:r>
                <a:r>
                  <a:rPr lang="es-PE" sz="900" b="0" i="0" dirty="0">
                    <a:solidFill>
                      <a:schemeClr val="tx1"/>
                    </a:solidFill>
                    <a:effectLst/>
                    <a:latin typeface="Segoe WPC"/>
                  </a:rPr>
                  <a:t> and </a:t>
                </a:r>
                <a:r>
                  <a:rPr lang="es-PE" sz="900" b="0" i="0" dirty="0" err="1">
                    <a:solidFill>
                      <a:schemeClr val="tx1"/>
                    </a:solidFill>
                    <a:effectLst/>
                    <a:latin typeface="Segoe WPC"/>
                  </a:rPr>
                  <a:t>continuously</a:t>
                </a:r>
                <a:r>
                  <a:rPr lang="es-PE" sz="900" b="0" i="0" dirty="0">
                    <a:solidFill>
                      <a:schemeClr val="tx1"/>
                    </a:solidFill>
                    <a:effectLst/>
                    <a:latin typeface="Segoe WPC"/>
                  </a:rPr>
                  <a:t> </a:t>
                </a:r>
                <a:r>
                  <a:rPr lang="es-PE" sz="900" b="0" i="0" dirty="0" err="1">
                    <a:solidFill>
                      <a:schemeClr val="tx1"/>
                    </a:solidFill>
                    <a:effectLst/>
                    <a:latin typeface="Segoe WPC"/>
                  </a:rPr>
                  <a:t>compounded</a:t>
                </a:r>
                <a:r>
                  <a:rPr lang="es-PE" sz="900" b="0" i="0" dirty="0">
                    <a:solidFill>
                      <a:schemeClr val="tx1"/>
                    </a:solidFill>
                    <a:effectLst/>
                    <a:latin typeface="Segoe WPC"/>
                  </a:rPr>
                  <a:t> (log) </a:t>
                </a:r>
                <a:r>
                  <a:rPr lang="es-PE" sz="900" b="0" i="0" dirty="0" err="1">
                    <a:solidFill>
                      <a:schemeClr val="tx1"/>
                    </a:solidFill>
                    <a:effectLst/>
                    <a:latin typeface="Segoe WPC"/>
                  </a:rPr>
                  <a:t>returns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Simple </a:t>
                </a:r>
                <a:r>
                  <a:rPr lang="es-PE" sz="900" b="0" i="0" dirty="0" err="1">
                    <a:solidFill>
                      <a:schemeClr val="tx1"/>
                    </a:solidFill>
                    <a:effectLst/>
                    <a:latin typeface="Segoe WPC"/>
                  </a:rPr>
                  <a:t>returns</a:t>
                </a:r>
                <a:r>
                  <a:rPr lang="es-PE" sz="900" b="0" i="0" dirty="0">
                    <a:solidFill>
                      <a:schemeClr val="tx1"/>
                    </a:solidFill>
                    <a:effectLst/>
                    <a:latin typeface="Segoe WPC"/>
                  </a:rPr>
                  <a:t> are </a:t>
                </a:r>
                <a:r>
                  <a:rPr lang="es-PE" sz="900" b="0" i="0" dirty="0" err="1">
                    <a:solidFill>
                      <a:schemeClr val="tx1"/>
                    </a:solidFill>
                    <a:effectLst/>
                    <a:latin typeface="Segoe WPC"/>
                  </a:rPr>
                  <a:t>the</a:t>
                </a:r>
                <a:r>
                  <a:rPr lang="es-PE" sz="900" b="0" i="0" dirty="0">
                    <a:solidFill>
                      <a:schemeClr val="tx1"/>
                    </a:solidFill>
                    <a:effectLst/>
                    <a:latin typeface="Segoe WPC"/>
                  </a:rPr>
                  <a:t> usual </a:t>
                </a:r>
                <a:r>
                  <a:rPr lang="es-PE" sz="900" b="0" i="0" dirty="0" err="1">
                    <a:solidFill>
                      <a:schemeClr val="tx1"/>
                    </a:solidFill>
                    <a:effectLst/>
                    <a:latin typeface="Segoe WPC"/>
                  </a:rPr>
                  <a:t>percentage</a:t>
                </a:r>
                <a:r>
                  <a:rPr lang="es-PE" sz="900" b="0" i="0" dirty="0">
                    <a:solidFill>
                      <a:schemeClr val="tx1"/>
                    </a:solidFill>
                    <a:effectLst/>
                    <a:latin typeface="Segoe WPC"/>
                  </a:rPr>
                  <a:t> </a:t>
                </a:r>
                <a:r>
                  <a:rPr lang="es-PE" sz="900" b="0" i="0" dirty="0" err="1">
                    <a:solidFill>
                      <a:schemeClr val="tx1"/>
                    </a:solidFill>
                    <a:effectLst/>
                    <a:latin typeface="Segoe WPC"/>
                  </a:rPr>
                  <a:t>gain</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loss</a:t>
                </a:r>
                <a:r>
                  <a:rPr lang="es-PE" sz="900" b="0" i="0" dirty="0">
                    <a:solidFill>
                      <a:schemeClr val="tx1"/>
                    </a:solidFill>
                    <a:effectLst/>
                    <a:latin typeface="Segoe WPC"/>
                  </a:rPr>
                  <a:t>; log </a:t>
                </a:r>
                <a:r>
                  <a:rPr lang="es-PE" sz="900" b="0" i="0" dirty="0" err="1">
                    <a:solidFill>
                      <a:schemeClr val="tx1"/>
                    </a:solidFill>
                    <a:effectLst/>
                    <a:latin typeface="Segoe WPC"/>
                  </a:rPr>
                  <a:t>returns</a:t>
                </a:r>
                <a:r>
                  <a:rPr lang="es-PE" sz="900" b="0" i="0" dirty="0">
                    <a:solidFill>
                      <a:schemeClr val="tx1"/>
                    </a:solidFill>
                    <a:effectLst/>
                    <a:latin typeface="Segoe WPC"/>
                  </a:rPr>
                  <a:t> are </a:t>
                </a:r>
                <a:r>
                  <a:rPr lang="es-PE" sz="900" b="0" i="0" dirty="0" err="1">
                    <a:solidFill>
                      <a:schemeClr val="tx1"/>
                    </a:solidFill>
                    <a:effectLst/>
                    <a:latin typeface="Segoe WPC"/>
                  </a:rPr>
                  <a:t>easier</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add</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time.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Simple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compound</a:t>
                </a:r>
                <a:r>
                  <a:rPr lang="es-PE" sz="900" b="0" i="0" dirty="0">
                    <a:solidFill>
                      <a:schemeClr val="tx1"/>
                    </a:solidFill>
                    <a:effectLst/>
                    <a:latin typeface="Segoe WPC"/>
                  </a:rPr>
                  <a:t> </a:t>
                </a:r>
                <a:r>
                  <a:rPr lang="es-PE" sz="900" b="0" i="0" dirty="0" err="1">
                    <a:solidFill>
                      <a:schemeClr val="tx1"/>
                    </a:solidFill>
                    <a:effectLst/>
                    <a:latin typeface="Segoe WPC"/>
                  </a:rPr>
                  <a:t>multiplicatively</a:t>
                </a:r>
                <a:r>
                  <a:rPr lang="es-PE" sz="900" b="0" i="0" dirty="0">
                    <a:solidFill>
                      <a:schemeClr val="tx1"/>
                    </a:solidFill>
                    <a:effectLst/>
                    <a:latin typeface="Segoe WPC"/>
                  </a:rPr>
                  <a:t> </a:t>
                </a:r>
                <a:r>
                  <a:rPr lang="es-PE" sz="900" b="0" i="0" dirty="0" err="1">
                    <a:solidFill>
                      <a:schemeClr val="tx1"/>
                    </a:solidFill>
                    <a:effectLst/>
                    <a:latin typeface="Segoe WPC"/>
                  </a:rPr>
                  <a:t>across</a:t>
                </a:r>
                <a:r>
                  <a:rPr lang="es-PE" sz="900" b="0" i="0" dirty="0">
                    <a:solidFill>
                      <a:schemeClr val="tx1"/>
                    </a:solidFill>
                    <a:effectLst/>
                    <a:latin typeface="Segoe WPC"/>
                  </a:rPr>
                  <a:t> </a:t>
                </a:r>
                <a:r>
                  <a:rPr lang="es-PE" sz="900" b="0" i="0" dirty="0" err="1">
                    <a:solidFill>
                      <a:schemeClr val="tx1"/>
                    </a:solidFill>
                    <a:effectLst/>
                    <a:latin typeface="Segoe WPC"/>
                  </a:rPr>
                  <a:t>periods</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log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add</a:t>
                </a:r>
                <a:r>
                  <a:rPr lang="es-PE" sz="900" b="0" i="0" dirty="0">
                    <a:solidFill>
                      <a:schemeClr val="tx1"/>
                    </a:solidFill>
                    <a:effectLst/>
                    <a:latin typeface="Segoe WPC"/>
                  </a:rPr>
                  <a:t> </a:t>
                </a:r>
                <a:r>
                  <a:rPr lang="es-PE" sz="900" b="0" i="0" dirty="0" err="1">
                    <a:solidFill>
                      <a:schemeClr val="tx1"/>
                    </a:solidFill>
                    <a:effectLst/>
                    <a:latin typeface="Segoe WPC"/>
                  </a:rPr>
                  <a:t>linearly</a:t>
                </a:r>
                <a:r>
                  <a:rPr lang="es-PE" sz="900" b="0" i="0" dirty="0">
                    <a:solidFill>
                      <a:schemeClr val="tx1"/>
                    </a:solidFill>
                    <a:effectLst/>
                    <a:latin typeface="Segoe WPC"/>
                  </a:rPr>
                  <a:t> </a:t>
                </a:r>
                <a:r>
                  <a:rPr lang="es-PE" sz="900" b="0" i="0" dirty="0" err="1">
                    <a:solidFill>
                      <a:schemeClr val="tx1"/>
                    </a:solidFill>
                    <a:effectLst/>
                    <a:latin typeface="Segoe WPC"/>
                  </a:rPr>
                  <a:t>across</a:t>
                </a:r>
                <a:r>
                  <a:rPr lang="es-PE" sz="900" b="0" i="0" dirty="0">
                    <a:solidFill>
                      <a:schemeClr val="tx1"/>
                    </a:solidFill>
                    <a:effectLst/>
                    <a:latin typeface="Segoe WPC"/>
                  </a:rPr>
                  <a:t> </a:t>
                </a:r>
                <a:r>
                  <a:rPr lang="es-PE" sz="900" b="0" i="0" dirty="0" err="1">
                    <a:solidFill>
                      <a:schemeClr val="tx1"/>
                    </a:solidFill>
                    <a:effectLst/>
                    <a:latin typeface="Segoe WPC"/>
                  </a:rPr>
                  <a:t>periods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Simple </a:t>
                </a:r>
                <a:r>
                  <a:rPr lang="es-PE" sz="900" b="0" i="0" dirty="0" err="1">
                    <a:solidFill>
                      <a:schemeClr val="tx1"/>
                    </a:solidFill>
                    <a:effectLst/>
                    <a:latin typeface="Segoe WPC"/>
                  </a:rPr>
                  <a:t>return</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den>
                    </m:f>
                  </m:oMath>
                </a14:m>
                <a:r>
                  <a:rPr lang="ar-AE" sz="900" b="0" i="0" dirty="0">
                    <a:solidFill>
                      <a:schemeClr val="tx1"/>
                    </a:solidFill>
                    <a:effectLst/>
                    <a:latin typeface="Segoe WPC"/>
                  </a:rPr>
                  <a:t>. </a:t>
                </a:r>
                <a:r>
                  <a:rPr lang="es-PE" sz="900" b="0" i="0" dirty="0">
                    <a:solidFill>
                      <a:schemeClr val="tx1"/>
                    </a:solidFill>
                    <a:effectLst/>
                    <a:latin typeface="Segoe WPC"/>
                  </a:rPr>
                  <a:t>Log </a:t>
                </a:r>
                <a:r>
                  <a:rPr lang="es-PE" sz="900" b="0" i="0" dirty="0" err="1">
                    <a:solidFill>
                      <a:schemeClr val="tx1"/>
                    </a:solidFill>
                    <a:effectLst/>
                    <a:latin typeface="Segoe WPC"/>
                  </a:rPr>
                  <a:t>return</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ln</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1">
                                <a:solidFill>
                                  <a:schemeClr val="tx1"/>
                                </a:solidFill>
                                <a:latin typeface="Cambria Math" panose="02040503050406030204" pitchFamily="18" charset="0"/>
                              </a:rPr>
                              <m:t>𝑡</m:t>
                            </m:r>
                          </m:sub>
                        </m:sSub>
                      </m:e>
                    </m:d>
                    <m:r>
                      <a:rPr lang="ar-AE" sz="900" i="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ln</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e>
                    </m:d>
                    <m:r>
                      <a:rPr lang="ar-AE" sz="900" i="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ln</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𝑡</m:t>
                            </m:r>
                          </m:sub>
                        </m:sSub>
                      </m:e>
                    </m:d>
                  </m:oMath>
                </a14:m>
                <a:r>
                  <a:rPr lang="ar-AE" sz="900" b="0" i="0" dirty="0">
                    <a:solidFill>
                      <a:schemeClr val="tx1"/>
                    </a:solidFill>
                    <a:effectLst/>
                    <a:latin typeface="Segoe WPC"/>
                  </a:rPr>
                  <a:t>. </a:t>
                </a:r>
                <a:r>
                  <a:rPr lang="es-PE" sz="900" b="0" i="0" dirty="0" err="1">
                    <a:solidFill>
                      <a:schemeClr val="tx1"/>
                    </a:solidFill>
                    <a:effectLst/>
                    <a:latin typeface="Segoe WPC"/>
                  </a:rPr>
                  <a:t>Multi-period</a:t>
                </a:r>
                <a:r>
                  <a:rPr lang="es-PE" sz="900" b="0" i="0" dirty="0">
                    <a:solidFill>
                      <a:schemeClr val="tx1"/>
                    </a:solidFill>
                    <a:effectLst/>
                    <a:latin typeface="Segoe WPC"/>
                  </a:rPr>
                  <a:t> log </a:t>
                </a:r>
                <a:r>
                  <a:rPr lang="es-PE" sz="900" b="0" i="0" dirty="0" err="1">
                    <a:solidFill>
                      <a:schemeClr val="tx1"/>
                    </a:solidFill>
                    <a:effectLst/>
                    <a:latin typeface="Segoe WPC"/>
                  </a:rPr>
                  <a:t>return</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m:t>
                    </m:r>
                    <m:nary>
                      <m:naryPr>
                        <m:chr m:val="∑"/>
                        <m:grow m:val="on"/>
                        <m:subHide m:val="on"/>
                        <m:supHide m:val="on"/>
                        <m:ctrlPr>
                          <a:rPr lang="ar-AE" sz="900" i="1">
                            <a:solidFill>
                              <a:schemeClr val="tx1"/>
                            </a:solidFill>
                            <a:latin typeface="Cambria Math" panose="02040503050406030204" pitchFamily="18" charset="0"/>
                          </a:rPr>
                        </m:ctrlPr>
                      </m:naryPr>
                      <m:sub/>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𝑡</m:t>
                            </m:r>
                          </m:sub>
                        </m:sSub>
                      </m:e>
                    </m:nary>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Log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approximate</a:t>
                </a:r>
                <a:r>
                  <a:rPr lang="es-PE" sz="900" b="0" i="0" dirty="0">
                    <a:solidFill>
                      <a:schemeClr val="tx1"/>
                    </a:solidFill>
                    <a:effectLst/>
                    <a:latin typeface="Segoe WPC"/>
                  </a:rPr>
                  <a:t> simple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well</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short </a:t>
                </a:r>
                <a:r>
                  <a:rPr lang="es-PE" sz="900" b="0" i="0" dirty="0" err="1">
                    <a:solidFill>
                      <a:schemeClr val="tx1"/>
                    </a:solidFill>
                    <a:effectLst/>
                    <a:latin typeface="Segoe WPC"/>
                  </a:rPr>
                  <a:t>horizons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approximation</a:t>
                </a:r>
                <a:r>
                  <a:rPr lang="es-PE" sz="900" b="0" i="0" dirty="0">
                    <a:solidFill>
                      <a:schemeClr val="tx1"/>
                    </a:solidFill>
                    <a:effectLst/>
                    <a:latin typeface="Segoe WPC"/>
                  </a:rPr>
                  <a:t> </a:t>
                </a:r>
                <a:r>
                  <a:rPr lang="es-PE" sz="900" b="0" i="0" dirty="0" err="1">
                    <a:solidFill>
                      <a:schemeClr val="tx1"/>
                    </a:solidFill>
                    <a:effectLst/>
                    <a:latin typeface="Segoe WPC"/>
                  </a:rPr>
                  <a:t>worsens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are </a:t>
                </a:r>
                <a:r>
                  <a:rPr lang="es-PE" sz="900" b="0" i="0" dirty="0" err="1">
                    <a:solidFill>
                      <a:schemeClr val="tx1"/>
                    </a:solidFill>
                    <a:effectLst/>
                    <a:latin typeface="Segoe WPC"/>
                  </a:rPr>
                  <a:t>large</a:t>
                </a:r>
                <a:r>
                  <a:rPr lang="es-PE" sz="900" b="0" i="0" dirty="0">
                    <a:solidFill>
                      <a:schemeClr val="tx1"/>
                    </a:solidFill>
                    <a:effectLst/>
                    <a:latin typeface="Segoe WPC"/>
                  </a:rPr>
                  <a:t>. Simple </a:t>
                </a:r>
                <a:r>
                  <a:rPr lang="es-PE" sz="900" b="0" i="0" dirty="0" err="1">
                    <a:solidFill>
                      <a:schemeClr val="tx1"/>
                    </a:solidFill>
                    <a:effectLst/>
                    <a:latin typeface="Segoe WPC"/>
                  </a:rPr>
                  <a:t>returns</a:t>
                </a:r>
                <a:r>
                  <a:rPr lang="es-PE" sz="900" b="0" i="0" dirty="0">
                    <a:solidFill>
                      <a:schemeClr val="tx1"/>
                    </a:solidFill>
                    <a:effectLst/>
                    <a:latin typeface="Segoe WPC"/>
                  </a:rPr>
                  <a:t> are </a:t>
                </a:r>
                <a:r>
                  <a:rPr lang="es-PE" sz="900" b="0" i="0" dirty="0" err="1">
                    <a:solidFill>
                      <a:schemeClr val="tx1"/>
                    </a:solidFill>
                    <a:effectLst/>
                    <a:latin typeface="Segoe WPC"/>
                  </a:rPr>
                  <a:t>cross-sectionally</a:t>
                </a:r>
                <a:r>
                  <a:rPr lang="es-PE" sz="900" b="0" i="0" dirty="0">
                    <a:solidFill>
                      <a:schemeClr val="tx1"/>
                    </a:solidFill>
                    <a:effectLst/>
                    <a:latin typeface="Segoe WPC"/>
                  </a:rPr>
                  <a:t> </a:t>
                </a:r>
                <a:r>
                  <a:rPr lang="es-PE" sz="900" b="0" i="0" dirty="0" err="1">
                    <a:solidFill>
                      <a:schemeClr val="tx1"/>
                    </a:solidFill>
                    <a:effectLst/>
                    <a:latin typeface="Segoe WPC"/>
                  </a:rPr>
                  <a:t>additive</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portfolios; log </a:t>
                </a:r>
                <a:r>
                  <a:rPr lang="es-PE" sz="900" b="0" i="0" dirty="0" err="1">
                    <a:solidFill>
                      <a:schemeClr val="tx1"/>
                    </a:solidFill>
                    <a:effectLst/>
                    <a:latin typeface="Segoe WPC"/>
                  </a:rPr>
                  <a:t>returns</a:t>
                </a:r>
                <a:r>
                  <a:rPr lang="es-PE" sz="900" b="0" i="0" dirty="0">
                    <a:solidFill>
                      <a:schemeClr val="tx1"/>
                    </a:solidFill>
                    <a:effectLst/>
                    <a:latin typeface="Segoe WPC"/>
                  </a:rPr>
                  <a:t> are time-</a:t>
                </a:r>
                <a:r>
                  <a:rPr lang="es-PE" sz="900" b="0" i="0" dirty="0" err="1">
                    <a:solidFill>
                      <a:schemeClr val="tx1"/>
                    </a:solidFill>
                    <a:effectLst/>
                    <a:latin typeface="Segoe WPC"/>
                  </a:rPr>
                  <a:t>additive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Log </a:t>
                </a:r>
                <a:r>
                  <a:rPr lang="es-PE" sz="900" b="0" i="0" dirty="0" err="1">
                    <a:solidFill>
                      <a:schemeClr val="tx1"/>
                    </a:solidFill>
                    <a:effectLst/>
                    <a:latin typeface="Segoe WPC"/>
                  </a:rPr>
                  <a:t>returns</a:t>
                </a:r>
                <a:r>
                  <a:rPr lang="es-PE" sz="900" b="0" i="0" dirty="0">
                    <a:solidFill>
                      <a:schemeClr val="tx1"/>
                    </a:solidFill>
                    <a:effectLst/>
                    <a:latin typeface="Segoe WPC"/>
                  </a:rPr>
                  <a:t> can be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100</m:t>
                    </m:r>
                    <m:r>
                      <a:rPr lang="es-PE" sz="900" i="0">
                        <a:solidFill>
                          <a:schemeClr val="tx1"/>
                        </a:solidFill>
                        <a:latin typeface="Cambria Math" panose="02040503050406030204" pitchFamily="18" charset="0"/>
                      </a:rPr>
                      <m:t>%</m:t>
                    </m:r>
                  </m:oMath>
                </a14:m>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simple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cannot</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2. </a:t>
                </a:r>
                <a:r>
                  <a:rPr lang="es-PE" sz="900" b="1" i="0" dirty="0" err="1">
                    <a:solidFill>
                      <a:schemeClr val="tx1"/>
                    </a:solidFill>
                    <a:effectLst/>
                    <a:latin typeface="Segoe WPC"/>
                  </a:rPr>
                  <a:t>Volatility</a:t>
                </a:r>
                <a:r>
                  <a:rPr lang="es-PE" sz="900" b="1" i="0" dirty="0">
                    <a:solidFill>
                      <a:schemeClr val="tx1"/>
                    </a:solidFill>
                    <a:effectLst/>
                    <a:latin typeface="Segoe WPC"/>
                  </a:rPr>
                  <a:t>, </a:t>
                </a:r>
                <a:r>
                  <a:rPr lang="es-PE" sz="900" b="1" i="0" dirty="0" err="1">
                    <a:solidFill>
                      <a:schemeClr val="tx1"/>
                    </a:solidFill>
                    <a:effectLst/>
                    <a:latin typeface="Segoe WPC"/>
                  </a:rPr>
                  <a:t>Variance</a:t>
                </a:r>
                <a:r>
                  <a:rPr lang="es-PE" sz="900" b="1" i="0" dirty="0">
                    <a:solidFill>
                      <a:schemeClr val="tx1"/>
                    </a:solidFill>
                    <a:effectLst/>
                    <a:latin typeface="Segoe WPC"/>
                  </a:rPr>
                  <a:t> </a:t>
                </a:r>
                <a:r>
                  <a:rPr lang="es-PE" sz="900" b="1" i="0" dirty="0" err="1">
                    <a:solidFill>
                      <a:schemeClr val="tx1"/>
                    </a:solidFill>
                    <a:effectLst/>
                    <a:latin typeface="Segoe WPC"/>
                  </a:rPr>
                  <a:t>Rate</a:t>
                </a:r>
                <a:r>
                  <a:rPr lang="es-PE" sz="900" b="1" i="0" dirty="0">
                    <a:solidFill>
                      <a:schemeClr val="tx1"/>
                    </a:solidFill>
                    <a:effectLst/>
                    <a:latin typeface="Segoe WPC"/>
                  </a:rPr>
                  <a:t>, and </a:t>
                </a:r>
                <a:r>
                  <a:rPr lang="es-PE" sz="900" b="1" i="0" dirty="0" err="1">
                    <a:solidFill>
                      <a:schemeClr val="tx1"/>
                    </a:solidFill>
                    <a:effectLst/>
                    <a:latin typeface="Segoe WPC"/>
                  </a:rPr>
                  <a:t>Scaling</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standard </a:t>
                </a:r>
                <a:r>
                  <a:rPr lang="es-PE" sz="900" b="0" i="0" dirty="0" err="1">
                    <a:solidFill>
                      <a:schemeClr val="tx1"/>
                    </a:solidFill>
                    <a:effectLst/>
                    <a:latin typeface="Segoe WPC"/>
                  </a:rPr>
                  <a:t>deviation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square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much</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fluctuate</a:t>
                </a:r>
                <a:r>
                  <a:rPr lang="es-PE" sz="900" b="0" i="0" dirty="0">
                    <a:solidFill>
                      <a:schemeClr val="tx1"/>
                    </a:solidFill>
                    <a:effectLst/>
                    <a:latin typeface="Segoe WPC"/>
                  </a:rPr>
                  <a:t>, and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rises</a:t>
                </a:r>
                <a:r>
                  <a:rPr lang="es-PE" sz="900" b="0" i="0" dirty="0">
                    <a:solidFill>
                      <a:schemeClr val="tx1"/>
                    </a:solidFill>
                    <a:effectLst/>
                    <a:latin typeface="Segoe WPC"/>
                  </a:rPr>
                  <a:t> </a:t>
                </a:r>
                <a:r>
                  <a:rPr lang="es-PE" sz="900" b="0" i="0" dirty="0" err="1">
                    <a:solidFill>
                      <a:schemeClr val="tx1"/>
                    </a:solidFill>
                    <a:effectLst/>
                    <a:latin typeface="Segoe WPC"/>
                  </a:rPr>
                  <a:t>sharply</a:t>
                </a:r>
                <a:r>
                  <a:rPr lang="es-PE" sz="900" b="0" i="0" dirty="0">
                    <a:solidFill>
                      <a:schemeClr val="tx1"/>
                    </a:solidFill>
                    <a:effectLst/>
                    <a:latin typeface="Segoe WPC"/>
                  </a:rPr>
                  <a:t> as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increases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 </a:t>
                </a:r>
                <a:r>
                  <a:rPr lang="es-PE" sz="900" b="0" i="0" dirty="0" err="1">
                    <a:solidFill>
                      <a:schemeClr val="tx1"/>
                    </a:solidFill>
                    <a:effectLst/>
                    <a:latin typeface="Segoe WPC"/>
                  </a:rPr>
                  <a:t>wider</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 and more </a:t>
                </a:r>
                <a:r>
                  <a:rPr lang="es-PE" sz="900" b="0" i="0" dirty="0" err="1">
                    <a:solidFill>
                      <a:schemeClr val="tx1"/>
                    </a:solidFill>
                    <a:effectLst/>
                    <a:latin typeface="Segoe WPC"/>
                  </a:rPr>
                  <a:t>frequent</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gains</a:t>
                </a:r>
                <a:r>
                  <a:rPr lang="es-PE" sz="900" b="0" i="0" dirty="0">
                    <a:solidFill>
                      <a:schemeClr val="tx1"/>
                    </a:solidFill>
                    <a:effectLst/>
                    <a:latin typeface="Segoe WPC"/>
                  </a:rPr>
                  <a:t> and </a:t>
                </a:r>
                <a:r>
                  <a:rPr lang="es-PE" sz="900" b="0" i="0" dirty="0" err="1">
                    <a:solidFill>
                      <a:schemeClr val="tx1"/>
                    </a:solidFill>
                    <a:effectLst/>
                    <a:latin typeface="Segoe WPC"/>
                  </a:rPr>
                  <a:t>losses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𝜇</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𝜎</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𝑒</m:t>
                        </m:r>
                      </m:e>
                      <m:sub>
                        <m:r>
                          <a:rPr lang="ar-AE" sz="900" i="1">
                            <a:solidFill>
                              <a:schemeClr val="tx1"/>
                            </a:solidFill>
                            <a:latin typeface="Cambria Math" panose="02040503050406030204" pitchFamily="18" charset="0"/>
                          </a:rPr>
                          <m:t>𝑡</m:t>
                        </m:r>
                      </m:sub>
                    </m:sSub>
                  </m:oMath>
                </a14:m>
                <a:r>
                  <a:rPr lang="ar-A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𝑉𝑎𝑟</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𝑡</m:t>
                            </m:r>
                          </m:sub>
                        </m:sSub>
                      </m:e>
                    </m:d>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h</m:t>
                    </m:r>
                  </m:oMath>
                </a14:m>
                <a:r>
                  <a:rPr lang="es-PE" sz="900" b="0" i="0" dirty="0">
                    <a:solidFill>
                      <a:schemeClr val="tx1"/>
                    </a:solidFill>
                    <a:effectLst/>
                    <a:latin typeface="Segoe WPC"/>
                  </a:rPr>
                  <a:t> </a:t>
                </a:r>
                <a:r>
                  <a:rPr lang="es-PE" sz="900" b="0" i="0" dirty="0" err="1">
                    <a:solidFill>
                      <a:schemeClr val="tx1"/>
                    </a:solidFill>
                    <a:effectLst/>
                    <a:latin typeface="Segoe WPC"/>
                  </a:rPr>
                  <a:t>periods</a:t>
                </a:r>
                <a:r>
                  <a:rPr lang="es-PE" sz="900" b="0" i="0" dirty="0">
                    <a:solidFill>
                      <a:schemeClr val="tx1"/>
                    </a:solidFill>
                    <a:effectLst/>
                    <a:latin typeface="Segoe WPC"/>
                  </a:rPr>
                  <a:t>, mean </a:t>
                </a:r>
                <a:r>
                  <a:rPr lang="es-PE" sz="900" b="0" i="0" dirty="0" err="1">
                    <a:solidFill>
                      <a:schemeClr val="tx1"/>
                    </a:solidFill>
                    <a:effectLst/>
                    <a:latin typeface="Segoe WPC"/>
                  </a:rPr>
                  <a:t>scales</a:t>
                </a:r>
                <a:r>
                  <a:rPr lang="es-PE" sz="900" b="0" i="0" dirty="0">
                    <a:solidFill>
                      <a:schemeClr val="tx1"/>
                    </a:solidFill>
                    <a:effectLst/>
                    <a:latin typeface="Segoe WPC"/>
                  </a:rPr>
                  <a:t> </a:t>
                </a:r>
                <a:r>
                  <a:rPr lang="es-PE" sz="900" b="0" i="0" dirty="0" err="1">
                    <a:solidFill>
                      <a:schemeClr val="tx1"/>
                    </a:solidFill>
                    <a:effectLst/>
                    <a:latin typeface="Segoe WPC"/>
                  </a:rPr>
                  <a:t>linearly</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scales</a:t>
                </a:r>
                <a:r>
                  <a:rPr lang="es-PE" sz="900" b="0" i="0" dirty="0">
                    <a:solidFill>
                      <a:schemeClr val="tx1"/>
                    </a:solidFill>
                    <a:effectLst/>
                    <a:latin typeface="Segoe WPC"/>
                  </a:rPr>
                  <a:t> </a:t>
                </a:r>
                <a:r>
                  <a:rPr lang="es-PE" sz="900" b="0" i="0" dirty="0" err="1">
                    <a:solidFill>
                      <a:schemeClr val="tx1"/>
                    </a:solidFill>
                    <a:effectLst/>
                    <a:latin typeface="Segoe WPC"/>
                  </a:rPr>
                  <a:t>linearly</a:t>
                </a:r>
                <a:r>
                  <a:rPr lang="es-PE" sz="900" b="0" i="0" dirty="0">
                    <a:solidFill>
                      <a:schemeClr val="tx1"/>
                    </a:solidFill>
                    <a:effectLst/>
                    <a:latin typeface="Segoe WPC"/>
                  </a:rPr>
                  <a:t>, and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scales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14:m>
                  <m:oMath xmlns:m="http://schemas.openxmlformats.org/officeDocument/2006/math">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h</m:t>
                        </m:r>
                      </m:e>
                    </m:rad>
                  </m:oMath>
                </a14:m>
                <a:r>
                  <a:rPr lang="ar-AE" sz="900" b="0" i="0" dirty="0">
                    <a:solidFill>
                      <a:schemeClr val="tx1"/>
                    </a:solidFill>
                    <a:effectLst/>
                    <a:latin typeface="Segoe WPC"/>
                  </a:rPr>
                  <a:t>. </a:t>
                </a:r>
                <a:r>
                  <a:rPr lang="es-PE" sz="900" b="0" i="0" dirty="0" err="1">
                    <a:solidFill>
                      <a:schemeClr val="tx1"/>
                    </a:solidFill>
                    <a:effectLst/>
                    <a:latin typeface="Segoe WPC"/>
                  </a:rPr>
                  <a:t>Annualizing</a:t>
                </a:r>
                <a:r>
                  <a:rPr lang="es-PE" sz="900" b="0" i="0" dirty="0">
                    <a:solidFill>
                      <a:schemeClr val="tx1"/>
                    </a:solidFill>
                    <a:effectLst/>
                    <a:latin typeface="Segoe WPC"/>
                  </a:rPr>
                  <a:t> </a:t>
                </a:r>
                <a:r>
                  <a:rPr lang="es-PE" sz="900" b="0" i="0" dirty="0" err="1">
                    <a:solidFill>
                      <a:schemeClr val="tx1"/>
                    </a:solidFill>
                    <a:effectLst/>
                    <a:latin typeface="Segoe WPC"/>
                  </a:rPr>
                  <a:t>daily</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𝑎𝑛𝑛𝑢𝑎𝑙</m:t>
                        </m:r>
                      </m:sub>
                    </m:sSub>
                    <m:r>
                      <a:rPr lang="ar-AE" sz="900" i="0">
                        <a:solidFill>
                          <a:schemeClr val="tx1"/>
                        </a:solidFill>
                        <a:latin typeface="Cambria Math" panose="02040503050406030204" pitchFamily="18" charset="0"/>
                      </a:rPr>
                      <m:t>=</m:t>
                    </m:r>
                    <m:rad>
                      <m:radPr>
                        <m:degHide m:val="on"/>
                        <m:ctrlPr>
                          <a:rPr lang="ar-AE" sz="900" i="1">
                            <a:solidFill>
                              <a:schemeClr val="tx1"/>
                            </a:solidFill>
                            <a:latin typeface="Cambria Math" panose="02040503050406030204" pitchFamily="18" charset="0"/>
                          </a:rPr>
                        </m:ctrlPr>
                      </m:radPr>
                      <m:deg/>
                      <m:e>
                        <m:r>
                          <a:rPr lang="ar-AE" sz="900" i="0">
                            <a:solidFill>
                              <a:schemeClr val="tx1"/>
                            </a:solidFill>
                            <a:latin typeface="Cambria Math" panose="02040503050406030204" pitchFamily="18" charset="0"/>
                          </a:rPr>
                          <m:t>252</m:t>
                        </m:r>
                      </m:e>
                    </m:rad>
                    <m:r>
                      <m:rPr>
                        <m:nor/>
                      </m:rPr>
                      <a:rPr lang="ar-AE" sz="900" b="0" i="1">
                        <a:solidFill>
                          <a:schemeClr val="tx1"/>
                        </a:solidFill>
                        <a:latin typeface="Cambria Math" panose="02040503050406030204" pitchFamily="18" charset="0"/>
                      </a:rPr>
                      <m:t> </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𝜎</m:t>
                        </m:r>
                      </m:e>
                      <m:sub>
                        <m:r>
                          <a:rPr lang="ar-AE" sz="900" b="0" i="1">
                            <a:solidFill>
                              <a:schemeClr val="tx1"/>
                            </a:solidFill>
                            <a:latin typeface="Cambria Math" panose="02040503050406030204" pitchFamily="18" charset="0"/>
                          </a:rPr>
                          <m:t>𝑑𝑎𝑖𝑙𝑦</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grows</a:t>
                </a:r>
                <a:r>
                  <a:rPr lang="es-PE" sz="900" b="0" i="0" dirty="0">
                    <a:solidFill>
                      <a:schemeClr val="tx1"/>
                    </a:solidFill>
                    <a:effectLst/>
                    <a:latin typeface="Segoe WPC"/>
                  </a:rPr>
                  <a:t> </a:t>
                </a:r>
                <a:r>
                  <a:rPr lang="es-PE" sz="900" b="0" i="0" dirty="0" err="1">
                    <a:solidFill>
                      <a:schemeClr val="tx1"/>
                    </a:solidFill>
                    <a:effectLst/>
                    <a:latin typeface="Segoe WPC"/>
                  </a:rPr>
                  <a:t>proportionally</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time,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grows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square</a:t>
                </a:r>
                <a:r>
                  <a:rPr lang="es-PE" sz="900" b="0" i="0" dirty="0">
                    <a:solidFill>
                      <a:schemeClr val="tx1"/>
                    </a:solidFill>
                    <a:effectLst/>
                    <a:latin typeface="Segoe WPC"/>
                  </a:rPr>
                  <a:t> </a:t>
                </a:r>
                <a:r>
                  <a:rPr lang="es-PE" sz="900" b="0" i="0" dirty="0" err="1">
                    <a:solidFill>
                      <a:schemeClr val="tx1"/>
                    </a:solidFill>
                    <a:effectLst/>
                    <a:latin typeface="Segoe WPC"/>
                  </a:rPr>
                  <a:t>root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time.</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square</a:t>
                </a:r>
                <a:r>
                  <a:rPr lang="es-PE" sz="900" b="0" i="0" dirty="0">
                    <a:solidFill>
                      <a:schemeClr val="tx1"/>
                    </a:solidFill>
                    <a:effectLst/>
                    <a:latin typeface="Segoe WPC"/>
                  </a:rPr>
                  <a:t>-</a:t>
                </a:r>
                <a:r>
                  <a:rPr lang="es-PE" sz="900" b="0" i="0" dirty="0" err="1">
                    <a:solidFill>
                      <a:schemeClr val="tx1"/>
                    </a:solidFill>
                    <a:effectLst/>
                    <a:latin typeface="Segoe WPC"/>
                  </a:rPr>
                  <a:t>root</a:t>
                </a:r>
                <a:r>
                  <a:rPr lang="es-PE" sz="900" b="0" i="0" dirty="0">
                    <a:solidFill>
                      <a:schemeClr val="tx1"/>
                    </a:solidFill>
                    <a:effectLst/>
                    <a:latin typeface="Segoe WPC"/>
                  </a:rPr>
                  <a:t>-</a:t>
                </a:r>
                <a:r>
                  <a:rPr lang="es-PE" sz="900" b="0" i="0" dirty="0" err="1">
                    <a:solidFill>
                      <a:schemeClr val="tx1"/>
                    </a:solidFill>
                    <a:effectLst/>
                    <a:latin typeface="Segoe WPC"/>
                  </a:rPr>
                  <a:t>of</a:t>
                </a:r>
                <a:r>
                  <a:rPr lang="es-PE" sz="900" b="0" i="0" dirty="0">
                    <a:solidFill>
                      <a:schemeClr val="tx1"/>
                    </a:solidFill>
                    <a:effectLst/>
                    <a:latin typeface="Segoe WPC"/>
                  </a:rPr>
                  <a:t>-time rule </a:t>
                </a:r>
                <a:r>
                  <a:rPr lang="es-PE" sz="900" b="0" i="0" dirty="0" err="1">
                    <a:solidFill>
                      <a:schemeClr val="tx1"/>
                    </a:solidFill>
                    <a:effectLst/>
                    <a:latin typeface="Segoe WPC"/>
                  </a:rPr>
                  <a:t>relies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being</a:t>
                </a:r>
                <a:r>
                  <a:rPr lang="es-PE" sz="900" b="0" i="0" dirty="0">
                    <a:solidFill>
                      <a:schemeClr val="tx1"/>
                    </a:solidFill>
                    <a:effectLst/>
                    <a:latin typeface="Segoe WPC"/>
                  </a:rPr>
                  <a:t> </a:t>
                </a:r>
                <a:r>
                  <a:rPr lang="es-PE" sz="900" b="0" i="0" dirty="0" err="1">
                    <a:solidFill>
                      <a:schemeClr val="tx1"/>
                    </a:solidFill>
                    <a:effectLst/>
                    <a:latin typeface="Segoe WPC"/>
                  </a:rPr>
                  <a:t>uncorrelated</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time.</a:t>
                </a:r>
              </a:p>
              <a:p>
                <a:pPr algn="l">
                  <a:spcAft>
                    <a:spcPts val="600"/>
                  </a:spcAft>
                  <a:buNone/>
                </a:pPr>
                <a:r>
                  <a:rPr lang="es-PE" sz="900" b="1" i="0" dirty="0">
                    <a:solidFill>
                      <a:schemeClr val="tx1"/>
                    </a:solidFill>
                    <a:effectLst/>
                    <a:latin typeface="Segoe WPC"/>
                  </a:rPr>
                  <a:t>3. </a:t>
                </a:r>
                <a:r>
                  <a:rPr lang="es-PE" sz="900" b="1" i="0" dirty="0" err="1">
                    <a:solidFill>
                      <a:schemeClr val="tx1"/>
                    </a:solidFill>
                    <a:effectLst/>
                    <a:latin typeface="Segoe WPC"/>
                  </a:rPr>
                  <a:t>Implied</a:t>
                </a:r>
                <a:r>
                  <a:rPr lang="es-PE" sz="900" b="1" i="0" dirty="0">
                    <a:solidFill>
                      <a:schemeClr val="tx1"/>
                    </a:solidFill>
                    <a:effectLst/>
                    <a:latin typeface="Segoe WPC"/>
                  </a:rPr>
                  <a:t> </a:t>
                </a:r>
                <a:r>
                  <a:rPr lang="es-PE" sz="900" b="1" i="0" dirty="0" err="1">
                    <a:solidFill>
                      <a:schemeClr val="tx1"/>
                    </a:solidFill>
                    <a:effectLst/>
                    <a:latin typeface="Segoe WPC"/>
                  </a:rPr>
                  <a:t>Volatility</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Implied</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forward-</a:t>
                </a:r>
                <a:r>
                  <a:rPr lang="es-PE" sz="900" b="0" i="0" dirty="0" err="1">
                    <a:solidFill>
                      <a:schemeClr val="tx1"/>
                    </a:solidFill>
                    <a:effectLst/>
                    <a:latin typeface="Segoe WPC"/>
                  </a:rPr>
                  <a:t>looking</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measure</a:t>
                </a:r>
                <a:r>
                  <a:rPr lang="es-PE" sz="900" b="0" i="0" dirty="0">
                    <a:solidFill>
                      <a:schemeClr val="tx1"/>
                    </a:solidFill>
                    <a:effectLst/>
                    <a:latin typeface="Segoe WPC"/>
                  </a:rPr>
                  <a:t> </a:t>
                </a:r>
                <a:r>
                  <a:rPr lang="es-PE" sz="900" b="0" i="0" dirty="0" err="1">
                    <a:solidFill>
                      <a:schemeClr val="tx1"/>
                    </a:solidFill>
                    <a:effectLst/>
                    <a:latin typeface="Segoe WPC"/>
                  </a:rPr>
                  <a:t>extracted</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prices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prices</a:t>
                </a:r>
                <a:r>
                  <a:rPr lang="es-PE" sz="900" b="0" i="0" dirty="0">
                    <a:solidFill>
                      <a:schemeClr val="tx1"/>
                    </a:solidFill>
                    <a:effectLst/>
                    <a:latin typeface="Segoe WPC"/>
                  </a:rPr>
                  <a:t> </a:t>
                </a:r>
                <a:r>
                  <a:rPr lang="es-PE" sz="900" b="0" i="0" dirty="0" err="1">
                    <a:solidFill>
                      <a:schemeClr val="tx1"/>
                    </a:solidFill>
                    <a:effectLst/>
                    <a:latin typeface="Segoe WPC"/>
                  </a:rPr>
                  <a:t>embed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market’s</a:t>
                </a:r>
                <a:r>
                  <a:rPr lang="es-PE" sz="900" b="0" i="0" dirty="0">
                    <a:solidFill>
                      <a:schemeClr val="tx1"/>
                    </a:solidFill>
                    <a:effectLst/>
                    <a:latin typeface="Segoe WPC"/>
                  </a:rPr>
                  <a:t> </a:t>
                </a:r>
                <a:r>
                  <a:rPr lang="es-PE" sz="900" b="0" i="0" dirty="0" err="1">
                    <a:solidFill>
                      <a:schemeClr val="tx1"/>
                    </a:solidFill>
                    <a:effectLst/>
                    <a:latin typeface="Segoe WPC"/>
                  </a:rPr>
                  <a:t>view</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future </a:t>
                </a:r>
                <a:r>
                  <a:rPr lang="es-PE" sz="900" b="0" i="0" dirty="0" err="1">
                    <a:solidFill>
                      <a:schemeClr val="tx1"/>
                    </a:solidFill>
                    <a:effectLst/>
                    <a:latin typeface="Segoe WPC"/>
                  </a:rPr>
                  <a:t>volatility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More </a:t>
                </a:r>
                <a:r>
                  <a:rPr lang="es-PE" sz="900" b="0" i="0" dirty="0" err="1">
                    <a:solidFill>
                      <a:schemeClr val="tx1"/>
                    </a:solidFill>
                    <a:effectLst/>
                    <a:latin typeface="Segoe WPC"/>
                  </a:rPr>
                  <a:t>expensive</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imply</a:t>
                </a:r>
                <a:r>
                  <a:rPr lang="es-PE" sz="900" b="0" i="0" dirty="0">
                    <a:solidFill>
                      <a:schemeClr val="tx1"/>
                    </a:solidFill>
                    <a:effectLst/>
                    <a:latin typeface="Segoe WPC"/>
                  </a:rPr>
                  <a:t> more </a:t>
                </a:r>
                <a:r>
                  <a:rPr lang="es-PE" sz="900" b="0" i="0" dirty="0" err="1">
                    <a:solidFill>
                      <a:schemeClr val="tx1"/>
                    </a:solidFill>
                    <a:effectLst/>
                    <a:latin typeface="Segoe WPC"/>
                  </a:rPr>
                  <a:t>uncertainty</a:t>
                </a:r>
                <a:r>
                  <a:rPr lang="es-PE" sz="900" b="0" i="0" dirty="0">
                    <a:solidFill>
                      <a:schemeClr val="tx1"/>
                    </a:solidFill>
                    <a:effectLst/>
                    <a:latin typeface="Segoe WPC"/>
                  </a:rPr>
                  <a:t> </a:t>
                </a:r>
                <a:r>
                  <a:rPr lang="es-PE" sz="900" b="0" i="0" dirty="0" err="1">
                    <a:solidFill>
                      <a:schemeClr val="tx1"/>
                    </a:solidFill>
                    <a:effectLst/>
                    <a:latin typeface="Segoe WPC"/>
                  </a:rPr>
                  <a:t>about</a:t>
                </a:r>
                <a:r>
                  <a:rPr lang="es-PE" sz="900" b="0" i="0" dirty="0">
                    <a:solidFill>
                      <a:schemeClr val="tx1"/>
                    </a:solidFill>
                    <a:effectLst/>
                    <a:latin typeface="Segoe WPC"/>
                  </a:rPr>
                  <a:t> future </a:t>
                </a:r>
                <a:r>
                  <a:rPr lang="es-PE" sz="900" b="0" i="0" dirty="0" err="1">
                    <a:solidFill>
                      <a:schemeClr val="tx1"/>
                    </a:solidFill>
                    <a:effectLst/>
                    <a:latin typeface="Segoe WPC"/>
                  </a:rPr>
                  <a:t>prices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In Black-Scholes-Merton,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function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current</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strike, time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and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matches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observed</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implied</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Implied</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annualized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construction</a:t>
                </a:r>
                <a:r>
                  <a:rPr lang="es-PE" sz="900" b="0" i="0" dirty="0">
                    <a:solidFill>
                      <a:schemeClr val="tx1"/>
                    </a:solidFill>
                    <a:effectLst/>
                    <a:latin typeface="Segoe WPC"/>
                  </a:rPr>
                  <a:t> and </a:t>
                </a:r>
                <a:r>
                  <a:rPr lang="es-PE" sz="900" b="0" i="0" dirty="0" err="1">
                    <a:solidFill>
                      <a:schemeClr val="tx1"/>
                    </a:solidFill>
                    <a:effectLst/>
                    <a:latin typeface="Segoe WPC"/>
                  </a:rPr>
                  <a:t>is</a:t>
                </a:r>
                <a:r>
                  <a:rPr lang="es-PE" sz="900" b="0" i="0" dirty="0">
                    <a:solidFill>
                      <a:schemeClr val="tx1"/>
                    </a:solidFill>
                    <a:effectLst/>
                    <a:latin typeface="Segoe WPC"/>
                  </a:rPr>
                  <a:t> forward-</a:t>
                </a:r>
                <a:r>
                  <a:rPr lang="es-PE" sz="900" b="0" i="0" dirty="0" err="1">
                    <a:solidFill>
                      <a:schemeClr val="tx1"/>
                    </a:solidFill>
                    <a:effectLst/>
                    <a:latin typeface="Segoe WPC"/>
                  </a:rPr>
                  <a:t>looking</a:t>
                </a:r>
                <a:r>
                  <a:rPr lang="es-PE" sz="900" b="0" i="0" dirty="0">
                    <a:solidFill>
                      <a:schemeClr val="tx1"/>
                    </a:solidFill>
                    <a:effectLst/>
                    <a:latin typeface="Segoe WPC"/>
                  </a:rPr>
                  <a:t>, </a:t>
                </a:r>
                <a:r>
                  <a:rPr lang="es-PE" sz="900" b="0" i="0" dirty="0" err="1">
                    <a:solidFill>
                      <a:schemeClr val="tx1"/>
                    </a:solidFill>
                    <a:effectLst/>
                    <a:latin typeface="Segoe WPC"/>
                  </a:rPr>
                  <a:t>unlike</a:t>
                </a:r>
                <a:r>
                  <a:rPr lang="es-PE" sz="900" b="0" i="0" dirty="0">
                    <a:solidFill>
                      <a:schemeClr val="tx1"/>
                    </a:solidFill>
                    <a:effectLst/>
                    <a:latin typeface="Segoe WPC"/>
                  </a:rPr>
                  <a:t> </a:t>
                </a:r>
                <a:r>
                  <a:rPr lang="es-PE" sz="900" b="0" i="0" dirty="0" err="1">
                    <a:solidFill>
                      <a:schemeClr val="tx1"/>
                    </a:solidFill>
                    <a:effectLst/>
                    <a:latin typeface="Segoe WPC"/>
                  </a:rPr>
                  <a:t>historical</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VIX </a:t>
                </a:r>
                <a:r>
                  <a:rPr lang="es-PE" sz="900" b="0" i="0" dirty="0" err="1">
                    <a:solidFill>
                      <a:schemeClr val="tx1"/>
                    </a:solidFill>
                    <a:effectLst/>
                    <a:latin typeface="Segoe WPC"/>
                  </a:rPr>
                  <a:t>is</a:t>
                </a:r>
                <a:r>
                  <a:rPr lang="es-PE" sz="900" b="0" i="0" dirty="0">
                    <a:solidFill>
                      <a:schemeClr val="tx1"/>
                    </a:solidFill>
                    <a:effectLst/>
                    <a:latin typeface="Segoe WPC"/>
                  </a:rPr>
                  <a:t> a 30-day forward-</a:t>
                </a:r>
                <a:r>
                  <a:rPr lang="es-PE" sz="900" b="0" i="0" dirty="0" err="1">
                    <a:solidFill>
                      <a:schemeClr val="tx1"/>
                    </a:solidFill>
                    <a:effectLst/>
                    <a:latin typeface="Segoe WPC"/>
                  </a:rPr>
                  <a:t>looking</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measure</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S&amp;P 500 </a:t>
                </a:r>
                <a:r>
                  <a:rPr lang="es-PE" sz="900" b="0" i="0" dirty="0" err="1">
                    <a:solidFill>
                      <a:schemeClr val="tx1"/>
                    </a:solidFill>
                    <a:effectLst/>
                    <a:latin typeface="Segoe WPC"/>
                  </a:rPr>
                  <a:t>built</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prices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Black-Scholes </a:t>
                </a:r>
                <a:r>
                  <a:rPr lang="es-PE" sz="900" b="0" i="0" dirty="0" err="1">
                    <a:solidFill>
                      <a:schemeClr val="tx1"/>
                    </a:solidFill>
                    <a:effectLst/>
                    <a:latin typeface="Segoe WPC"/>
                  </a:rPr>
                  <a:t>assumes</a:t>
                </a:r>
                <a:r>
                  <a:rPr lang="es-PE" sz="900" b="0" i="0" dirty="0">
                    <a:solidFill>
                      <a:schemeClr val="tx1"/>
                    </a:solidFill>
                    <a:effectLst/>
                    <a:latin typeface="Segoe WPC"/>
                  </a:rPr>
                  <a:t> </a:t>
                </a:r>
                <a:r>
                  <a:rPr lang="es-PE" sz="900" b="0" i="0" dirty="0" err="1">
                    <a:solidFill>
                      <a:schemeClr val="tx1"/>
                    </a:solidFill>
                    <a:effectLst/>
                    <a:latin typeface="Segoe WPC"/>
                  </a:rPr>
                  <a:t>constant</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so </a:t>
                </a:r>
                <a:r>
                  <a:rPr lang="es-PE" sz="900" b="0" i="0" dirty="0" err="1">
                    <a:solidFill>
                      <a:schemeClr val="tx1"/>
                    </a:solidFill>
                    <a:effectLst/>
                    <a:latin typeface="Segoe WPC"/>
                  </a:rPr>
                  <a:t>implied</a:t>
                </a:r>
                <a:r>
                  <a:rPr lang="es-PE" sz="900" b="0" i="0" dirty="0">
                    <a:solidFill>
                      <a:schemeClr val="tx1"/>
                    </a:solidFill>
                    <a:effectLst/>
                    <a:latin typeface="Segoe WPC"/>
                  </a:rPr>
                  <a:t> </a:t>
                </a:r>
                <a:r>
                  <a:rPr lang="es-PE" sz="900" b="0" i="0" dirty="0" err="1">
                    <a:solidFill>
                      <a:schemeClr val="tx1"/>
                    </a:solidFill>
                    <a:effectLst/>
                    <a:latin typeface="Segoe WPC"/>
                  </a:rPr>
                  <a:t>volatilities</a:t>
                </a:r>
                <a:r>
                  <a:rPr lang="es-PE" sz="900" b="0" i="0" dirty="0">
                    <a:solidFill>
                      <a:schemeClr val="tx1"/>
                    </a:solidFill>
                    <a:effectLst/>
                    <a:latin typeface="Segoe WPC"/>
                  </a:rPr>
                  <a:t> can </a:t>
                </a:r>
                <a:r>
                  <a:rPr lang="es-PE" sz="900" b="0" i="0" dirty="0" err="1">
                    <a:solidFill>
                      <a:schemeClr val="tx1"/>
                    </a:solidFill>
                    <a:effectLst/>
                    <a:latin typeface="Segoe WPC"/>
                  </a:rPr>
                  <a:t>differ</a:t>
                </a:r>
                <a:r>
                  <a:rPr lang="es-PE" sz="900" b="0" i="0" dirty="0">
                    <a:solidFill>
                      <a:schemeClr val="tx1"/>
                    </a:solidFill>
                    <a:effectLst/>
                    <a:latin typeface="Segoe WPC"/>
                  </a:rPr>
                  <a:t> </a:t>
                </a:r>
                <a:r>
                  <a:rPr lang="es-PE" sz="900" b="0" i="0" dirty="0" err="1">
                    <a:solidFill>
                      <a:schemeClr val="tx1"/>
                    </a:solidFill>
                    <a:effectLst/>
                    <a:latin typeface="Segoe WPC"/>
                  </a:rPr>
                  <a:t>across</a:t>
                </a:r>
                <a:r>
                  <a:rPr lang="es-PE" sz="900" b="0" i="0" dirty="0">
                    <a:solidFill>
                      <a:schemeClr val="tx1"/>
                    </a:solidFill>
                    <a:effectLst/>
                    <a:latin typeface="Segoe WPC"/>
                  </a:rPr>
                  <a:t> strikes and </a:t>
                </a:r>
                <a:r>
                  <a:rPr lang="es-PE" sz="900" b="0" i="0" dirty="0" err="1">
                    <a:solidFill>
                      <a:schemeClr val="tx1"/>
                    </a:solidFill>
                    <a:effectLst/>
                    <a:latin typeface="Segoe WPC"/>
                  </a:rPr>
                  <a:t>maturities</a:t>
                </a:r>
                <a:r>
                  <a:rPr lang="es-PE" sz="900" b="0" i="0" dirty="0">
                    <a:solidFill>
                      <a:schemeClr val="tx1"/>
                    </a:solidFill>
                    <a:effectLst/>
                    <a:latin typeface="Segoe WPC"/>
                  </a:rPr>
                  <a:t> in real </a:t>
                </a:r>
                <a:r>
                  <a:rPr lang="es-PE" sz="900" b="0" i="0" dirty="0" err="1">
                    <a:solidFill>
                      <a:schemeClr val="tx1"/>
                    </a:solidFill>
                    <a:effectLst/>
                    <a:latin typeface="Segoe WPC"/>
                  </a:rPr>
                  <a:t>markets</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4. </a:t>
                </a:r>
                <a:r>
                  <a:rPr lang="es-PE" sz="900" b="1" i="0" dirty="0" err="1">
                    <a:solidFill>
                      <a:schemeClr val="tx1"/>
                    </a:solidFill>
                    <a:effectLst/>
                    <a:latin typeface="Segoe WPC"/>
                  </a:rPr>
                  <a:t>Why</a:t>
                </a:r>
                <a:r>
                  <a:rPr lang="es-PE" sz="900" b="1" i="0" dirty="0">
                    <a:solidFill>
                      <a:schemeClr val="tx1"/>
                    </a:solidFill>
                    <a:effectLst/>
                    <a:latin typeface="Segoe WPC"/>
                  </a:rPr>
                  <a:t> Mean and </a:t>
                </a:r>
                <a:r>
                  <a:rPr lang="es-PE" sz="900" b="1" i="0" dirty="0" err="1">
                    <a:solidFill>
                      <a:schemeClr val="tx1"/>
                    </a:solidFill>
                    <a:effectLst/>
                    <a:latin typeface="Segoe WPC"/>
                  </a:rPr>
                  <a:t>Variance</a:t>
                </a:r>
                <a:r>
                  <a:rPr lang="es-PE" sz="900" b="1" i="0" dirty="0">
                    <a:solidFill>
                      <a:schemeClr val="tx1"/>
                    </a:solidFill>
                    <a:effectLst/>
                    <a:latin typeface="Segoe WPC"/>
                  </a:rPr>
                  <a:t> Are </a:t>
                </a:r>
                <a:r>
                  <a:rPr lang="es-PE" sz="900" b="1" i="0" dirty="0" err="1">
                    <a:solidFill>
                      <a:schemeClr val="tx1"/>
                    </a:solidFill>
                    <a:effectLst/>
                    <a:latin typeface="Segoe WPC"/>
                  </a:rPr>
                  <a:t>Not</a:t>
                </a:r>
                <a:r>
                  <a:rPr lang="es-PE" sz="900" b="1" i="0" dirty="0">
                    <a:solidFill>
                      <a:schemeClr val="tx1"/>
                    </a:solidFill>
                    <a:effectLst/>
                    <a:latin typeface="Segoe WPC"/>
                  </a:rPr>
                  <a:t> </a:t>
                </a:r>
                <a:r>
                  <a:rPr lang="es-PE" sz="900" b="1" i="0" dirty="0" err="1">
                    <a:solidFill>
                      <a:schemeClr val="tx1"/>
                    </a:solidFill>
                    <a:effectLst/>
                    <a:latin typeface="Segoe WPC"/>
                  </a:rPr>
                  <a:t>Enough</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first</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moments</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fully</a:t>
                </a:r>
                <a:r>
                  <a:rPr lang="es-PE" sz="900" b="0" i="0" dirty="0">
                    <a:solidFill>
                      <a:schemeClr val="tx1"/>
                    </a:solidFill>
                    <a:effectLst/>
                    <a:latin typeface="Segoe WPC"/>
                  </a:rPr>
                  <a:t> describe </a:t>
                </a:r>
                <a:r>
                  <a:rPr lang="es-PE" sz="900" b="0" i="0" dirty="0" err="1">
                    <a:solidFill>
                      <a:schemeClr val="tx1"/>
                    </a:solidFill>
                    <a:effectLst/>
                    <a:latin typeface="Segoe WPC"/>
                  </a:rPr>
                  <a:t>return</a:t>
                </a:r>
                <a:r>
                  <a:rPr lang="es-PE" sz="900" b="0" i="0" dirty="0">
                    <a:solidFill>
                      <a:schemeClr val="tx1"/>
                    </a:solidFill>
                    <a:effectLst/>
                    <a:latin typeface="Segoe WPC"/>
                  </a:rPr>
                  <a:t> </a:t>
                </a:r>
                <a:r>
                  <a:rPr lang="es-PE" sz="900" b="0" i="0" dirty="0" err="1">
                    <a:solidFill>
                      <a:schemeClr val="tx1"/>
                    </a:solidFill>
                    <a:effectLst/>
                    <a:latin typeface="Segoe WPC"/>
                  </a:rPr>
                  <a:t>distributions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are non-normal.</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Financial</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are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skewed</a:t>
                </a:r>
                <a:r>
                  <a:rPr lang="es-PE" sz="900" b="0" i="0" dirty="0">
                    <a:solidFill>
                      <a:schemeClr val="tx1"/>
                    </a:solidFill>
                    <a:effectLst/>
                    <a:latin typeface="Segoe WPC"/>
                  </a:rPr>
                  <a:t> and </a:t>
                </a:r>
                <a:r>
                  <a:rPr lang="es-PE" sz="900" b="0" i="0" dirty="0" err="1">
                    <a:solidFill>
                      <a:schemeClr val="tx1"/>
                    </a:solidFill>
                    <a:effectLst/>
                    <a:latin typeface="Segoe WPC"/>
                  </a:rPr>
                  <a:t>fat-tailed</a:t>
                </a:r>
                <a:r>
                  <a:rPr lang="es-PE" sz="900" b="0" i="0" dirty="0">
                    <a:solidFill>
                      <a:schemeClr val="tx1"/>
                    </a:solidFill>
                    <a:effectLst/>
                    <a:latin typeface="Segoe WPC"/>
                  </a:rPr>
                  <a:t>, so mean and </a:t>
                </a:r>
                <a:r>
                  <a:rPr lang="es-PE" sz="900" b="0" i="0" dirty="0" err="1">
                    <a:solidFill>
                      <a:schemeClr val="tx1"/>
                    </a:solidFill>
                    <a:effectLst/>
                    <a:latin typeface="Segoe WPC"/>
                  </a:rPr>
                  <a:t>variance</a:t>
                </a:r>
                <a:r>
                  <a:rPr lang="es-PE" sz="900" b="0" i="0" dirty="0">
                    <a:solidFill>
                      <a:schemeClr val="tx1"/>
                    </a:solidFill>
                    <a:effectLst/>
                    <a:latin typeface="Segoe WPC"/>
                  </a:rPr>
                  <a:t> alone miss </a:t>
                </a:r>
                <a:r>
                  <a:rPr lang="es-PE" sz="900" b="0" i="0" dirty="0" err="1">
                    <a:solidFill>
                      <a:schemeClr val="tx1"/>
                    </a:solidFill>
                    <a:effectLst/>
                    <a:latin typeface="Segoe WPC"/>
                  </a:rPr>
                  <a:t>important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Compared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 normal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financial</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more </a:t>
                </a:r>
                <a:r>
                  <a:rPr lang="es-PE" sz="900" b="0" i="0" dirty="0" err="1">
                    <a:solidFill>
                      <a:schemeClr val="tx1"/>
                    </a:solidFill>
                    <a:effectLst/>
                    <a:latin typeface="Segoe WPC"/>
                  </a:rPr>
                  <a:t>asymmetry</a:t>
                </a:r>
                <a:r>
                  <a:rPr lang="es-PE" sz="900" b="0" i="0" dirty="0">
                    <a:solidFill>
                      <a:schemeClr val="tx1"/>
                    </a:solidFill>
                    <a:effectLst/>
                    <a:latin typeface="Segoe WPC"/>
                  </a:rPr>
                  <a:t> and more extreme </a:t>
                </a:r>
                <a:r>
                  <a:rPr lang="es-PE" sz="900" b="0" i="0" dirty="0" err="1">
                    <a:solidFill>
                      <a:schemeClr val="tx1"/>
                    </a:solidFill>
                    <a:effectLst/>
                    <a:latin typeface="Segoe WPC"/>
                  </a:rPr>
                  <a:t>outcomes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Normal </a:t>
                </a:r>
                <a:r>
                  <a:rPr lang="es-PE" sz="900" b="0" i="0" dirty="0" err="1">
                    <a:solidFill>
                      <a:schemeClr val="tx1"/>
                    </a:solidFill>
                    <a:effectLst/>
                    <a:latin typeface="Segoe WPC"/>
                  </a:rPr>
                  <a:t>distributions</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skewness</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0</m:t>
                    </m:r>
                  </m:oMath>
                </a14:m>
                <a:r>
                  <a:rPr lang="es-PE" sz="900" b="0" i="0" dirty="0">
                    <a:solidFill>
                      <a:schemeClr val="tx1"/>
                    </a:solidFill>
                    <a:effectLst/>
                    <a:latin typeface="Segoe WPC"/>
                  </a:rPr>
                  <a:t> and </a:t>
                </a:r>
                <a:r>
                  <a:rPr lang="es-PE" sz="900" b="0" i="0" dirty="0" err="1">
                    <a:solidFill>
                      <a:schemeClr val="tx1"/>
                    </a:solidFill>
                    <a:effectLst/>
                    <a:latin typeface="Segoe WPC"/>
                  </a:rPr>
                  <a:t>kurtosis</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3</m:t>
                    </m:r>
                  </m:oMath>
                </a14:m>
                <a:r>
                  <a:rPr lang="es-PE" sz="900" b="0" i="0" dirty="0">
                    <a:solidFill>
                      <a:schemeClr val="tx1"/>
                    </a:solidFill>
                    <a:effectLst/>
                    <a:latin typeface="Segoe WPC"/>
                  </a:rPr>
                  <a:t>. </a:t>
                </a:r>
                <a:r>
                  <a:rPr lang="es-PE" sz="900" b="0" i="0" dirty="0" err="1">
                    <a:solidFill>
                      <a:schemeClr val="tx1"/>
                    </a:solidFill>
                    <a:effectLst/>
                    <a:latin typeface="Segoe WPC"/>
                  </a:rPr>
                  <a:t>Financial</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skewness</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0</m:t>
                    </m:r>
                  </m:oMath>
                </a14:m>
                <a:r>
                  <a:rPr lang="es-PE" sz="900" b="0" i="0" dirty="0">
                    <a:solidFill>
                      <a:schemeClr val="tx1"/>
                    </a:solidFill>
                    <a:effectLst/>
                    <a:latin typeface="Segoe WPC"/>
                  </a:rPr>
                  <a:t> and </a:t>
                </a:r>
                <a:r>
                  <a:rPr lang="es-PE" sz="900" b="0" i="0" dirty="0" err="1">
                    <a:solidFill>
                      <a:schemeClr val="tx1"/>
                    </a:solidFill>
                    <a:effectLst/>
                    <a:latin typeface="Segoe WPC"/>
                  </a:rPr>
                  <a:t>kurtosis</a:t>
                </a:r>
                <a:r>
                  <a:rPr lang="es-PE" sz="900" b="0" i="0" dirty="0">
                    <a:solidFill>
                      <a:schemeClr val="tx1"/>
                    </a:solidFill>
                    <a:effectLst/>
                    <a:latin typeface="Segoe WPC"/>
                  </a:rPr>
                  <a:t> </a:t>
                </a:r>
                <a:r>
                  <a:rPr lang="es-PE" sz="900" b="0" i="0" dirty="0" err="1">
                    <a:solidFill>
                      <a:schemeClr val="tx1"/>
                    </a:solidFill>
                    <a:effectLst/>
                    <a:latin typeface="Segoe WPC"/>
                  </a:rPr>
                  <a:t>greater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3</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moments</a:t>
                </a:r>
                <a:r>
                  <a:rPr lang="es-PE" sz="900" b="0" i="0" dirty="0">
                    <a:solidFill>
                      <a:schemeClr val="tx1"/>
                    </a:solidFill>
                    <a:effectLst/>
                    <a:latin typeface="Segoe WPC"/>
                  </a:rPr>
                  <a:t> </a:t>
                </a:r>
                <a:r>
                  <a:rPr lang="es-PE" sz="900" b="0" i="0" dirty="0" err="1">
                    <a:solidFill>
                      <a:schemeClr val="tx1"/>
                    </a:solidFill>
                    <a:effectLst/>
                    <a:latin typeface="Segoe WPC"/>
                  </a:rPr>
                  <a:t>matter</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tail</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and </a:t>
                </a:r>
                <a:r>
                  <a:rPr lang="es-PE" sz="900" b="0" i="0" dirty="0" err="1">
                    <a:solidFill>
                      <a:schemeClr val="tx1"/>
                    </a:solidFill>
                    <a:effectLst/>
                    <a:latin typeface="Segoe WPC"/>
                  </a:rPr>
                  <a:t>asymmetry</a:t>
                </a:r>
                <a:r>
                  <a:rPr lang="es-PE" sz="900" b="0" i="0" dirty="0">
                    <a:solidFill>
                      <a:schemeClr val="tx1"/>
                    </a:solidFill>
                    <a:effectLst/>
                    <a:latin typeface="Segoe WPC"/>
                  </a:rPr>
                  <a:t> are central in </a:t>
                </a:r>
                <a:r>
                  <a:rPr lang="es-PE" sz="900" b="0" i="0" dirty="0" err="1">
                    <a:solidFill>
                      <a:schemeClr val="tx1"/>
                    </a:solidFill>
                    <a:effectLst/>
                    <a:latin typeface="Segoe WPC"/>
                  </a:rPr>
                  <a:t>finance</a:t>
                </a:r>
                <a:r>
                  <a:rPr lang="es-PE" sz="900" b="0" i="0" dirty="0">
                    <a:solidFill>
                      <a:schemeClr val="tx1"/>
                    </a:solidFill>
                    <a:effectLst/>
                    <a:latin typeface="Segoe WPC"/>
                  </a:rPr>
                  <a:t> and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management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mean and </a:t>
                </a:r>
                <a:r>
                  <a:rPr lang="es-PE" sz="900" b="0" i="0" dirty="0" err="1">
                    <a:solidFill>
                      <a:schemeClr val="tx1"/>
                    </a:solidFill>
                    <a:effectLst/>
                    <a:latin typeface="Segoe WPC"/>
                  </a:rPr>
                  <a:t>variance</a:t>
                </a:r>
                <a:r>
                  <a:rPr lang="es-PE" sz="900" b="0" i="0" dirty="0">
                    <a:solidFill>
                      <a:schemeClr val="tx1"/>
                    </a:solidFill>
                    <a:effectLst/>
                    <a:latin typeface="Segoe WPC"/>
                  </a:rPr>
                  <a:t> as a normal </a:t>
                </a:r>
                <a:r>
                  <a:rPr lang="es-PE" sz="900" b="0" i="0" dirty="0" err="1">
                    <a:solidFill>
                      <a:schemeClr val="tx1"/>
                    </a:solidFill>
                    <a:effectLst/>
                    <a:latin typeface="Segoe WPC"/>
                  </a:rPr>
                  <a:t>distribution</a:t>
                </a:r>
                <a:r>
                  <a:rPr lang="es-PE" sz="900" b="0" i="0" dirty="0">
                    <a:solidFill>
                      <a:schemeClr val="tx1"/>
                    </a:solidFill>
                    <a:effectLst/>
                    <a:latin typeface="Segoe WPC"/>
                  </a:rPr>
                  <a:t> can </a:t>
                </a:r>
                <a:r>
                  <a:rPr lang="es-PE" sz="900" b="0" i="0" dirty="0" err="1">
                    <a:solidFill>
                      <a:schemeClr val="tx1"/>
                    </a:solidFill>
                    <a:effectLst/>
                    <a:latin typeface="Segoe WPC"/>
                  </a:rPr>
                  <a:t>still</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much</a:t>
                </a:r>
                <a:r>
                  <a:rPr lang="es-PE" sz="900" b="0" i="0" dirty="0">
                    <a:solidFill>
                      <a:schemeClr val="tx1"/>
                    </a:solidFill>
                    <a:effectLst/>
                    <a:latin typeface="Segoe WPC"/>
                  </a:rPr>
                  <a:t> </a:t>
                </a:r>
                <a:r>
                  <a:rPr lang="es-PE" sz="900" b="0" i="0" dirty="0" err="1">
                    <a:solidFill>
                      <a:schemeClr val="tx1"/>
                    </a:solidFill>
                    <a:effectLst/>
                    <a:latin typeface="Segoe WPC"/>
                  </a:rPr>
                  <a:t>larger</a:t>
                </a:r>
                <a:r>
                  <a:rPr lang="es-PE" sz="900" b="0" i="0" dirty="0">
                    <a:solidFill>
                      <a:schemeClr val="tx1"/>
                    </a:solidFill>
                    <a:effectLst/>
                    <a:latin typeface="Segoe WPC"/>
                  </a:rPr>
                  <a:t> </a:t>
                </a:r>
                <a:r>
                  <a:rPr lang="es-PE" sz="900" b="0" i="0" dirty="0" err="1">
                    <a:solidFill>
                      <a:schemeClr val="tx1"/>
                    </a:solidFill>
                    <a:effectLst/>
                    <a:latin typeface="Segoe WPC"/>
                  </a:rPr>
                  <a:t>downside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5. Jarque-</a:t>
                </a:r>
                <a:r>
                  <a:rPr lang="es-PE" sz="900" b="1" i="0" dirty="0" err="1">
                    <a:solidFill>
                      <a:schemeClr val="tx1"/>
                    </a:solidFill>
                    <a:effectLst/>
                    <a:latin typeface="Segoe WPC"/>
                  </a:rPr>
                  <a:t>Bera</a:t>
                </a:r>
                <a:r>
                  <a:rPr lang="es-PE" sz="900" b="1" i="0" dirty="0">
                    <a:solidFill>
                      <a:schemeClr val="tx1"/>
                    </a:solidFill>
                    <a:effectLst/>
                    <a:latin typeface="Segoe WPC"/>
                  </a:rPr>
                  <a:t> Test</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Jarque-</a:t>
                </a:r>
                <a:r>
                  <a:rPr lang="es-PE" sz="900" b="0" i="0" dirty="0" err="1">
                    <a:solidFill>
                      <a:schemeClr val="tx1"/>
                    </a:solidFill>
                    <a:effectLst/>
                    <a:latin typeface="Segoe WPC"/>
                  </a:rPr>
                  <a:t>Bera</a:t>
                </a:r>
                <a:r>
                  <a:rPr lang="es-PE" sz="900" b="0" i="0" dirty="0">
                    <a:solidFill>
                      <a:schemeClr val="tx1"/>
                    </a:solidFill>
                    <a:effectLst/>
                    <a:latin typeface="Segoe WPC"/>
                  </a:rPr>
                  <a:t> </a:t>
                </a:r>
                <a:r>
                  <a:rPr lang="es-PE" sz="900" b="0" i="0" dirty="0" err="1">
                    <a:solidFill>
                      <a:schemeClr val="tx1"/>
                    </a:solidFill>
                    <a:effectLst/>
                    <a:latin typeface="Segoe WPC"/>
                  </a:rPr>
                  <a:t>statistic</a:t>
                </a:r>
                <a:r>
                  <a:rPr lang="es-PE" sz="900" b="0" i="0" dirty="0">
                    <a:solidFill>
                      <a:schemeClr val="tx1"/>
                    </a:solidFill>
                    <a:effectLst/>
                    <a:latin typeface="Segoe WPC"/>
                  </a:rPr>
                  <a:t> </a:t>
                </a:r>
                <a:r>
                  <a:rPr lang="es-PE" sz="900" b="0" i="0" dirty="0" err="1">
                    <a:solidFill>
                      <a:schemeClr val="tx1"/>
                    </a:solidFill>
                    <a:effectLst/>
                    <a:latin typeface="Segoe WPC"/>
                  </a:rPr>
                  <a:t>tests</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are </a:t>
                </a:r>
                <a:r>
                  <a:rPr lang="es-PE" sz="900" b="0" i="0" dirty="0" err="1">
                    <a:solidFill>
                      <a:schemeClr val="tx1"/>
                    </a:solidFill>
                    <a:effectLst/>
                    <a:latin typeface="Segoe WPC"/>
                  </a:rPr>
                  <a:t>normally</a:t>
                </a:r>
                <a:r>
                  <a:rPr lang="es-PE" sz="900" b="0" i="0" dirty="0">
                    <a:solidFill>
                      <a:schemeClr val="tx1"/>
                    </a:solidFill>
                    <a:effectLst/>
                    <a:latin typeface="Segoe WPC"/>
                  </a:rPr>
                  <a:t> </a:t>
                </a:r>
                <a:r>
                  <a:rPr lang="es-PE" sz="900" b="0" i="0" dirty="0" err="1">
                    <a:solidFill>
                      <a:schemeClr val="tx1"/>
                    </a:solidFill>
                    <a:effectLst/>
                    <a:latin typeface="Segoe WPC"/>
                  </a:rPr>
                  <a:t>distributed</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t>
                </a:r>
                <a:r>
                  <a:rPr lang="es-PE" sz="900" b="0" i="0" dirty="0" err="1">
                    <a:solidFill>
                      <a:schemeClr val="tx1"/>
                    </a:solidFill>
                    <a:effectLst/>
                    <a:latin typeface="Segoe WPC"/>
                  </a:rPr>
                  <a:t>skewness</a:t>
                </a:r>
                <a:r>
                  <a:rPr lang="es-PE" sz="900" b="0" i="0" dirty="0">
                    <a:solidFill>
                      <a:schemeClr val="tx1"/>
                    </a:solidFill>
                    <a:effectLst/>
                    <a:latin typeface="Segoe WPC"/>
                  </a:rPr>
                  <a:t> and </a:t>
                </a:r>
                <a:r>
                  <a:rPr lang="es-PE" sz="900" b="0" i="0" dirty="0" err="1">
                    <a:solidFill>
                      <a:schemeClr val="tx1"/>
                    </a:solidFill>
                    <a:effectLst/>
                    <a:latin typeface="Segoe WPC"/>
                  </a:rPr>
                  <a:t>kurtosis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skewness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too</a:t>
                </a:r>
                <a:r>
                  <a:rPr lang="es-PE" sz="900" b="0" i="0" dirty="0">
                    <a:solidFill>
                      <a:schemeClr val="tx1"/>
                    </a:solidFill>
                    <a:effectLst/>
                    <a:latin typeface="Segoe WPC"/>
                  </a:rPr>
                  <a:t> </a:t>
                </a:r>
                <a:r>
                  <a:rPr lang="es-PE" sz="900" b="0" i="0" dirty="0" err="1">
                    <a:solidFill>
                      <a:schemeClr val="tx1"/>
                    </a:solidFill>
                    <a:effectLst/>
                    <a:latin typeface="Segoe WPC"/>
                  </a:rPr>
                  <a:t>far</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0</m:t>
                    </m:r>
                  </m:oMath>
                </a14:m>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kurtosis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too</a:t>
                </a:r>
                <a:r>
                  <a:rPr lang="es-PE" sz="900" b="0" i="0" dirty="0">
                    <a:solidFill>
                      <a:schemeClr val="tx1"/>
                    </a:solidFill>
                    <a:effectLst/>
                    <a:latin typeface="Segoe WPC"/>
                  </a:rPr>
                  <a:t> </a:t>
                </a:r>
                <a:r>
                  <a:rPr lang="es-PE" sz="900" b="0" i="0" dirty="0" err="1">
                    <a:solidFill>
                      <a:schemeClr val="tx1"/>
                    </a:solidFill>
                    <a:effectLst/>
                    <a:latin typeface="Segoe WPC"/>
                  </a:rPr>
                  <a:t>far</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3</m:t>
                    </m:r>
                  </m:oMath>
                </a14:m>
                <a:r>
                  <a:rPr lang="es-PE" sz="900" b="0" i="0" dirty="0">
                    <a:solidFill>
                      <a:schemeClr val="tx1"/>
                    </a:solidFill>
                    <a:effectLst/>
                    <a:latin typeface="Segoe WPC"/>
                  </a:rPr>
                  <a:t>, </a:t>
                </a:r>
                <a:r>
                  <a:rPr lang="es-PE" sz="900" b="0" i="0" dirty="0" err="1">
                    <a:solidFill>
                      <a:schemeClr val="tx1"/>
                    </a:solidFill>
                    <a:effectLst/>
                    <a:latin typeface="Segoe WPC"/>
                  </a:rPr>
                  <a:t>normality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doubtful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test </a:t>
                </a:r>
                <a:r>
                  <a:rPr lang="es-PE" sz="900" b="0" i="0" dirty="0" err="1">
                    <a:solidFill>
                      <a:schemeClr val="tx1"/>
                    </a:solidFill>
                    <a:effectLst/>
                    <a:latin typeface="Segoe WPC"/>
                  </a:rPr>
                  <a:t>checks</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too</a:t>
                </a:r>
                <a:r>
                  <a:rPr lang="es-PE" sz="900" b="0" i="0" dirty="0">
                    <a:solidFill>
                      <a:schemeClr val="tx1"/>
                    </a:solidFill>
                    <a:effectLst/>
                    <a:latin typeface="Segoe WPC"/>
                  </a:rPr>
                  <a:t> </a:t>
                </a:r>
                <a:r>
                  <a:rPr lang="es-PE" sz="900" b="0" i="0" dirty="0" err="1">
                    <a:solidFill>
                      <a:schemeClr val="tx1"/>
                    </a:solidFill>
                    <a:effectLst/>
                    <a:latin typeface="Segoe WPC"/>
                  </a:rPr>
                  <a:t>asymmetric</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too</a:t>
                </a:r>
                <a:r>
                  <a:rPr lang="es-PE" sz="900" b="0" i="0" dirty="0">
                    <a:solidFill>
                      <a:schemeClr val="tx1"/>
                    </a:solidFill>
                    <a:effectLst/>
                    <a:latin typeface="Segoe WPC"/>
                  </a:rPr>
                  <a:t> </a:t>
                </a:r>
                <a:r>
                  <a:rPr lang="es-PE" sz="900" b="0" i="0" dirty="0" err="1">
                    <a:solidFill>
                      <a:schemeClr val="tx1"/>
                    </a:solidFill>
                    <a:effectLst/>
                    <a:latin typeface="Segoe WPC"/>
                  </a:rPr>
                  <a:t>fat-tailed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be normal.</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𝐽𝐵</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𝑇</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e>
                    </m:d>
                    <m:d>
                      <m:dPr>
                        <m:ctrlPr>
                          <a:rPr lang="ar-AE" sz="900" i="1">
                            <a:solidFill>
                              <a:schemeClr val="tx1"/>
                            </a:solidFill>
                            <a:latin typeface="Cambria Math" panose="02040503050406030204" pitchFamily="18" charset="0"/>
                          </a:rPr>
                        </m:ctrlPr>
                      </m:dPr>
                      <m:e>
                        <m:f>
                          <m:fPr>
                            <m:ctrlPr>
                              <a:rPr lang="ar-AE" sz="900" i="1">
                                <a:solidFill>
                                  <a:schemeClr val="tx1"/>
                                </a:solidFill>
                                <a:latin typeface="Cambria Math" panose="02040503050406030204" pitchFamily="18" charset="0"/>
                              </a:rPr>
                            </m:ctrlPr>
                          </m:fPr>
                          <m:num>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𝑆</m:t>
                                </m:r>
                              </m:e>
                              <m:sup>
                                <m:r>
                                  <a:rPr lang="ar-AE" sz="900" i="0">
                                    <a:solidFill>
                                      <a:schemeClr val="tx1"/>
                                    </a:solidFill>
                                    <a:latin typeface="Cambria Math" panose="02040503050406030204" pitchFamily="18" charset="0"/>
                                  </a:rPr>
                                  <m:t>2</m:t>
                                </m:r>
                              </m:sup>
                            </m:sSup>
                          </m:num>
                          <m:den>
                            <m:r>
                              <a:rPr lang="ar-AE" sz="900" i="0">
                                <a:solidFill>
                                  <a:schemeClr val="tx1"/>
                                </a:solidFill>
                                <a:latin typeface="Cambria Math" panose="02040503050406030204" pitchFamily="18" charset="0"/>
                              </a:rPr>
                              <m:t>6</m:t>
                            </m:r>
                          </m:den>
                        </m:f>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d>
                              <m:dPr>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3</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e>
                            </m:d>
                          </m:num>
                          <m:den>
                            <m:r>
                              <a:rPr lang="ar-AE" sz="900" i="0">
                                <a:solidFill>
                                  <a:schemeClr val="tx1"/>
                                </a:solidFill>
                                <a:latin typeface="Cambria Math" panose="02040503050406030204" pitchFamily="18" charset="0"/>
                              </a:rPr>
                              <m:t>24</m:t>
                            </m:r>
                          </m:den>
                        </m:f>
                      </m:e>
                    </m:d>
                  </m:oMath>
                </a14:m>
                <a:r>
                  <a:rPr lang="ar-A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𝑆</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skewness</a:t>
                </a:r>
                <a:r>
                  <a:rPr lang="es-PE" sz="900" b="0" i="0" dirty="0">
                    <a:solidFill>
                      <a:schemeClr val="tx1"/>
                    </a:solidFill>
                    <a:effectLst/>
                    <a:latin typeface="Segoe WPC"/>
                  </a:rPr>
                  <a:t> and </a:t>
                </a:r>
                <a14:m>
                  <m:oMath xmlns:m="http://schemas.openxmlformats.org/officeDocument/2006/math">
                    <m:r>
                      <a:rPr lang="es-PE" sz="900" i="1">
                        <a:solidFill>
                          <a:schemeClr val="tx1"/>
                        </a:solidFill>
                        <a:latin typeface="Cambria Math" panose="02040503050406030204" pitchFamily="18" charset="0"/>
                      </a:rPr>
                      <m:t>𝐾</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kurtosis</a:t>
                </a:r>
                <a:r>
                  <a:rPr lang="es-PE" sz="900" b="0" i="0" dirty="0">
                    <a:solidFill>
                      <a:schemeClr val="tx1"/>
                    </a:solidFill>
                    <a:effectLst/>
                    <a:latin typeface="Segoe WPC"/>
                  </a:rPr>
                  <a:t>. </a:t>
                </a:r>
                <a:r>
                  <a:rPr lang="es-PE" sz="900" b="0" i="0" dirty="0" err="1">
                    <a:solidFill>
                      <a:schemeClr val="tx1"/>
                    </a:solidFill>
                    <a:effectLst/>
                    <a:latin typeface="Segoe WPC"/>
                  </a:rPr>
                  <a:t>Under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null</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normality</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𝐽𝐵</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asymptotically</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𝜒</m:t>
                        </m:r>
                      </m:e>
                      <m:sup>
                        <m:r>
                          <a:rPr lang="ar-AE" sz="900" i="0">
                            <a:solidFill>
                              <a:schemeClr val="tx1"/>
                            </a:solidFill>
                            <a:latin typeface="Cambria Math" panose="02040503050406030204" pitchFamily="18" charset="0"/>
                          </a:rPr>
                          <m:t>2</m:t>
                        </m:r>
                      </m:sup>
                    </m:sSup>
                  </m:oMath>
                </a14:m>
                <a:r>
                  <a:rPr lang="ar-A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2</m:t>
                    </m:r>
                  </m:oMath>
                </a14:m>
                <a:r>
                  <a:rPr lang="es-PE" sz="900" b="0" i="0" dirty="0">
                    <a:solidFill>
                      <a:schemeClr val="tx1"/>
                    </a:solidFill>
                    <a:effectLst/>
                    <a:latin typeface="Segoe WPC"/>
                  </a:rPr>
                  <a:t> </a:t>
                </a:r>
                <a:r>
                  <a:rPr lang="es-PE" sz="900" b="0" i="0" dirty="0" err="1">
                    <a:solidFill>
                      <a:schemeClr val="tx1"/>
                    </a:solidFill>
                    <a:effectLst/>
                    <a:latin typeface="Segoe WPC"/>
                  </a:rPr>
                  <a:t>degrees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freedom</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JB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reject</a:t>
                </a:r>
                <a:r>
                  <a:rPr lang="es-PE" sz="900" b="0" i="0" dirty="0">
                    <a:solidFill>
                      <a:schemeClr val="tx1"/>
                    </a:solidFill>
                    <a:effectLst/>
                    <a:latin typeface="Segoe WPC"/>
                  </a:rPr>
                  <a:t> </a:t>
                </a:r>
                <a:r>
                  <a:rPr lang="es-PE" sz="900" b="0" i="0" dirty="0" err="1">
                    <a:solidFill>
                      <a:schemeClr val="tx1"/>
                    </a:solidFill>
                    <a:effectLst/>
                    <a:latin typeface="Segoe WPC"/>
                  </a:rPr>
                  <a:t>normality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Even</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look </a:t>
                </a:r>
                <a:r>
                  <a:rPr lang="es-PE" sz="900" b="0" i="0" dirty="0" err="1">
                    <a:solidFill>
                      <a:schemeClr val="tx1"/>
                    </a:solidFill>
                    <a:effectLst/>
                    <a:latin typeface="Segoe WPC"/>
                  </a:rPr>
                  <a:t>roughly</a:t>
                </a:r>
                <a:r>
                  <a:rPr lang="es-PE" sz="900" b="0" i="0" dirty="0">
                    <a:solidFill>
                      <a:schemeClr val="tx1"/>
                    </a:solidFill>
                    <a:effectLst/>
                    <a:latin typeface="Segoe WPC"/>
                  </a:rPr>
                  <a:t> </a:t>
                </a:r>
                <a:r>
                  <a:rPr lang="es-PE" sz="900" b="0" i="0" dirty="0" err="1">
                    <a:solidFill>
                      <a:schemeClr val="tx1"/>
                    </a:solidFill>
                    <a:effectLst/>
                    <a:latin typeface="Segoe WPC"/>
                  </a:rPr>
                  <a:t>bell-shaped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JB test can </a:t>
                </a:r>
                <a:r>
                  <a:rPr lang="es-PE" sz="900" b="0" i="0" dirty="0" err="1">
                    <a:solidFill>
                      <a:schemeClr val="tx1"/>
                    </a:solidFill>
                    <a:effectLst/>
                    <a:latin typeface="Segoe WPC"/>
                  </a:rPr>
                  <a:t>still</a:t>
                </a:r>
                <a:r>
                  <a:rPr lang="es-PE" sz="900" b="0" i="0" dirty="0">
                    <a:solidFill>
                      <a:schemeClr val="tx1"/>
                    </a:solidFill>
                    <a:effectLst/>
                    <a:latin typeface="Segoe WPC"/>
                  </a:rPr>
                  <a:t> </a:t>
                </a:r>
                <a:r>
                  <a:rPr lang="es-PE" sz="900" b="0" i="0" dirty="0" err="1">
                    <a:solidFill>
                      <a:schemeClr val="tx1"/>
                    </a:solidFill>
                    <a:effectLst/>
                    <a:latin typeface="Segoe WPC"/>
                  </a:rPr>
                  <a:t>reject</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fat</a:t>
                </a:r>
                <a:r>
                  <a:rPr lang="es-PE" sz="900" b="0" i="0" dirty="0">
                    <a:solidFill>
                      <a:schemeClr val="tx1"/>
                    </a:solidFill>
                    <a:effectLst/>
                    <a:latin typeface="Segoe WPC"/>
                  </a:rPr>
                  <a:t> </a:t>
                </a:r>
                <a:r>
                  <a:rPr lang="es-PE" sz="900" b="0" i="0" dirty="0" err="1">
                    <a:solidFill>
                      <a:schemeClr val="tx1"/>
                    </a:solidFill>
                    <a:effectLst/>
                    <a:latin typeface="Segoe WPC"/>
                  </a:rPr>
                  <a:t>tails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mild</a:t>
                </a:r>
                <a:r>
                  <a:rPr lang="es-PE" sz="900" b="0" i="0" dirty="0">
                    <a:solidFill>
                      <a:schemeClr val="tx1"/>
                    </a:solidFill>
                    <a:effectLst/>
                    <a:latin typeface="Segoe WPC"/>
                  </a:rPr>
                  <a:t> </a:t>
                </a:r>
                <a:r>
                  <a:rPr lang="es-PE" sz="900" b="0" i="0" dirty="0" err="1">
                    <a:solidFill>
                      <a:schemeClr val="tx1"/>
                    </a:solidFill>
                    <a:effectLst/>
                    <a:latin typeface="Segoe WPC"/>
                  </a:rPr>
                  <a:t>skewness</a:t>
                </a:r>
                <a:r>
                  <a:rPr lang="es-PE" sz="900" b="0" i="0" dirty="0">
                    <a:solidFill>
                      <a:schemeClr val="tx1"/>
                    </a:solidFill>
                    <a:effectLst/>
                    <a:latin typeface="Segoe WPC"/>
                  </a:rPr>
                  <a:t>.</a:t>
                </a:r>
              </a:p>
            </p:txBody>
          </p:sp>
        </mc:Choice>
        <mc:Fallback xmlns="">
          <p:sp>
            <p:nvSpPr>
              <p:cNvPr id="5" name="CuadroTexto 4">
                <a:extLst>
                  <a:ext uri="{FF2B5EF4-FFF2-40B4-BE49-F238E27FC236}">
                    <a16:creationId xmlns:a16="http://schemas.microsoft.com/office/drawing/2014/main" id="{D7A4162C-4813-3628-B651-167F68889406}"/>
                  </a:ext>
                </a:extLst>
              </p:cNvPr>
              <p:cNvSpPr txBox="1">
                <a:spLocks noRot="1" noChangeAspect="1" noMove="1" noResize="1" noEditPoints="1" noAdjustHandles="1" noChangeArrowheads="1" noChangeShapeType="1" noTextEdit="1"/>
              </p:cNvSpPr>
              <p:nvPr/>
            </p:nvSpPr>
            <p:spPr>
              <a:xfrm>
                <a:off x="-50800" y="260544"/>
                <a:ext cx="6473372" cy="6856877"/>
              </a:xfrm>
              <a:prstGeom prst="rect">
                <a:avLst/>
              </a:prstGeom>
              <a:blipFill>
                <a:blip r:embed="rId2"/>
                <a:stretch>
                  <a:fillRect r="-1224"/>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8562E214-8797-39E1-BAAF-018D35C49242}"/>
                  </a:ext>
                </a:extLst>
              </p:cNvPr>
              <p:cNvSpPr txBox="1"/>
              <p:nvPr/>
            </p:nvSpPr>
            <p:spPr>
              <a:xfrm>
                <a:off x="6096000" y="365560"/>
                <a:ext cx="6183084" cy="5929700"/>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6. </a:t>
                </a:r>
                <a:r>
                  <a:rPr lang="es-PE" sz="900" b="1" i="0" dirty="0" err="1">
                    <a:solidFill>
                      <a:schemeClr val="tx1"/>
                    </a:solidFill>
                    <a:effectLst/>
                    <a:latin typeface="Segoe WPC"/>
                  </a:rPr>
                  <a:t>Power</a:t>
                </a:r>
                <a:r>
                  <a:rPr lang="es-PE" sz="900" b="1" i="0" dirty="0">
                    <a:solidFill>
                      <a:schemeClr val="tx1"/>
                    </a:solidFill>
                    <a:effectLst/>
                    <a:latin typeface="Segoe WPC"/>
                  </a:rPr>
                  <a:t> </a:t>
                </a:r>
                <a:r>
                  <a:rPr lang="es-PE" sz="900" b="1" i="0" dirty="0" err="1">
                    <a:solidFill>
                      <a:schemeClr val="tx1"/>
                    </a:solidFill>
                    <a:effectLst/>
                    <a:latin typeface="Segoe WPC"/>
                  </a:rPr>
                  <a:t>Laws</a:t>
                </a:r>
                <a:r>
                  <a:rPr lang="es-PE" sz="900" b="1" i="0" dirty="0">
                    <a:solidFill>
                      <a:schemeClr val="tx1"/>
                    </a:solidFill>
                    <a:effectLst/>
                    <a:latin typeface="Segoe WPC"/>
                  </a:rPr>
                  <a:t> and </a:t>
                </a:r>
                <a:r>
                  <a:rPr lang="es-PE" sz="900" b="1" i="0" dirty="0" err="1">
                    <a:solidFill>
                      <a:schemeClr val="tx1"/>
                    </a:solidFill>
                    <a:effectLst/>
                    <a:latin typeface="Segoe WPC"/>
                  </a:rPr>
                  <a:t>Fat</a:t>
                </a:r>
                <a:r>
                  <a:rPr lang="es-PE" sz="900" b="1" i="0" dirty="0">
                    <a:solidFill>
                      <a:schemeClr val="tx1"/>
                    </a:solidFill>
                    <a:effectLst/>
                    <a:latin typeface="Segoe WPC"/>
                  </a:rPr>
                  <a:t> </a:t>
                </a:r>
                <a:r>
                  <a:rPr lang="es-PE" sz="900" b="1" i="0" dirty="0" err="1">
                    <a:solidFill>
                      <a:schemeClr val="tx1"/>
                    </a:solidFill>
                    <a:effectLst/>
                    <a:latin typeface="Segoe WPC"/>
                  </a:rPr>
                  <a:t>Tails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Power</a:t>
                </a:r>
                <a:r>
                  <a:rPr lang="es-PE" sz="900" b="0" i="0" dirty="0">
                    <a:solidFill>
                      <a:schemeClr val="tx1"/>
                    </a:solidFill>
                    <a:effectLst/>
                    <a:latin typeface="Segoe WPC"/>
                  </a:rPr>
                  <a:t> </a:t>
                </a:r>
                <a:r>
                  <a:rPr lang="es-PE" sz="900" b="0" i="0" dirty="0" err="1">
                    <a:solidFill>
                      <a:schemeClr val="tx1"/>
                    </a:solidFill>
                    <a:effectLst/>
                    <a:latin typeface="Segoe WPC"/>
                  </a:rPr>
                  <a:t>laws</a:t>
                </a:r>
                <a:r>
                  <a:rPr lang="es-PE" sz="900" b="0" i="0" dirty="0">
                    <a:solidFill>
                      <a:schemeClr val="tx1"/>
                    </a:solidFill>
                    <a:effectLst/>
                    <a:latin typeface="Segoe WPC"/>
                  </a:rPr>
                  <a:t> describe heavy </a:t>
                </a:r>
                <a:r>
                  <a:rPr lang="es-PE" sz="900" b="0" i="0" dirty="0" err="1">
                    <a:solidFill>
                      <a:schemeClr val="tx1"/>
                    </a:solidFill>
                    <a:effectLst/>
                    <a:latin typeface="Segoe WPC"/>
                  </a:rPr>
                  <a:t>tails</a:t>
                </a:r>
                <a:r>
                  <a:rPr lang="es-PE" sz="900" b="0" i="0" dirty="0">
                    <a:solidFill>
                      <a:schemeClr val="tx1"/>
                    </a:solidFill>
                    <a:effectLst/>
                    <a:latin typeface="Segoe WPC"/>
                  </a:rPr>
                  <a:t> </a:t>
                </a:r>
                <a:r>
                  <a:rPr lang="es-PE" sz="900" b="0" i="0" dirty="0" err="1">
                    <a:solidFill>
                      <a:schemeClr val="tx1"/>
                    </a:solidFill>
                    <a:effectLst/>
                    <a:latin typeface="Segoe WPC"/>
                  </a:rPr>
                  <a:t>better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normal </a:t>
                </a:r>
                <a:r>
                  <a:rPr lang="es-PE" sz="900" b="0" i="0" dirty="0" err="1">
                    <a:solidFill>
                      <a:schemeClr val="tx1"/>
                    </a:solidFill>
                    <a:effectLst/>
                    <a:latin typeface="Segoe WPC"/>
                  </a:rPr>
                  <a:t>distribution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In </a:t>
                </a:r>
                <a:r>
                  <a:rPr lang="es-PE" sz="900" b="0" i="0" dirty="0" err="1">
                    <a:solidFill>
                      <a:schemeClr val="tx1"/>
                    </a:solidFill>
                    <a:effectLst/>
                    <a:latin typeface="Segoe WPC"/>
                  </a:rPr>
                  <a:t>fat-tailed</a:t>
                </a:r>
                <a:r>
                  <a:rPr lang="es-PE" sz="900" b="0" i="0" dirty="0">
                    <a:solidFill>
                      <a:schemeClr val="tx1"/>
                    </a:solidFill>
                    <a:effectLst/>
                    <a:latin typeface="Segoe WPC"/>
                  </a:rPr>
                  <a:t> </a:t>
                </a:r>
                <a:r>
                  <a:rPr lang="es-PE" sz="900" b="0" i="0" dirty="0" err="1">
                    <a:solidFill>
                      <a:schemeClr val="tx1"/>
                    </a:solidFill>
                    <a:effectLst/>
                    <a:latin typeface="Segoe WPC"/>
                  </a:rPr>
                  <a:t>distributions</a:t>
                </a:r>
                <a:r>
                  <a:rPr lang="es-PE" sz="900" b="0" i="0" dirty="0">
                    <a:solidFill>
                      <a:schemeClr val="tx1"/>
                    </a:solidFill>
                    <a:effectLst/>
                    <a:latin typeface="Segoe WPC"/>
                  </a:rPr>
                  <a:t>, extreme </a:t>
                </a:r>
                <a:r>
                  <a:rPr lang="es-PE" sz="900" b="0" i="0" dirty="0" err="1">
                    <a:solidFill>
                      <a:schemeClr val="tx1"/>
                    </a:solidFill>
                    <a:effectLst/>
                    <a:latin typeface="Segoe WPC"/>
                  </a:rPr>
                  <a:t>returns</a:t>
                </a:r>
                <a:r>
                  <a:rPr lang="es-PE" sz="900" b="0" i="0" dirty="0">
                    <a:solidFill>
                      <a:schemeClr val="tx1"/>
                    </a:solidFill>
                    <a:effectLst/>
                    <a:latin typeface="Segoe WPC"/>
                  </a:rPr>
                  <a:t> are </a:t>
                </a:r>
                <a:r>
                  <a:rPr lang="es-PE" sz="900" b="0" i="0" dirty="0" err="1">
                    <a:solidFill>
                      <a:schemeClr val="tx1"/>
                    </a:solidFill>
                    <a:effectLst/>
                    <a:latin typeface="Segoe WPC"/>
                  </a:rPr>
                  <a:t>much</a:t>
                </a:r>
                <a:r>
                  <a:rPr lang="es-PE" sz="900" b="0" i="0" dirty="0">
                    <a:solidFill>
                      <a:schemeClr val="tx1"/>
                    </a:solidFill>
                    <a:effectLst/>
                    <a:latin typeface="Segoe WPC"/>
                  </a:rPr>
                  <a:t> more </a:t>
                </a:r>
                <a:r>
                  <a:rPr lang="es-PE" sz="900" b="0" i="0" dirty="0" err="1">
                    <a:solidFill>
                      <a:schemeClr val="tx1"/>
                    </a:solidFill>
                    <a:effectLst/>
                    <a:latin typeface="Segoe WPC"/>
                  </a:rPr>
                  <a:t>likely</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under</a:t>
                </a:r>
                <a:r>
                  <a:rPr lang="es-PE" sz="900" b="0" i="0" dirty="0">
                    <a:solidFill>
                      <a:schemeClr val="tx1"/>
                    </a:solidFill>
                    <a:effectLst/>
                    <a:latin typeface="Segoe WPC"/>
                  </a:rPr>
                  <a:t> a normal </a:t>
                </a:r>
                <a:r>
                  <a:rPr lang="es-PE" sz="900" b="0" i="0" dirty="0" err="1">
                    <a:solidFill>
                      <a:schemeClr val="tx1"/>
                    </a:solidFill>
                    <a:effectLst/>
                    <a:latin typeface="Segoe WPC"/>
                  </a:rPr>
                  <a:t>distribution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Tail </a:t>
                </a:r>
                <a:r>
                  <a:rPr lang="es-PE" sz="900" b="0" i="0" dirty="0" err="1">
                    <a:solidFill>
                      <a:schemeClr val="tx1"/>
                    </a:solidFill>
                    <a:effectLst/>
                    <a:latin typeface="Segoe WPC"/>
                  </a:rPr>
                  <a:t>probabilities</a:t>
                </a:r>
                <a:r>
                  <a:rPr lang="es-PE" sz="900" b="0" i="0" dirty="0">
                    <a:solidFill>
                      <a:schemeClr val="tx1"/>
                    </a:solidFill>
                    <a:effectLst/>
                    <a:latin typeface="Segoe WPC"/>
                  </a:rPr>
                  <a:t> decline </a:t>
                </a:r>
                <a:r>
                  <a:rPr lang="es-PE" sz="900" b="0" i="0" dirty="0" err="1">
                    <a:solidFill>
                      <a:schemeClr val="tx1"/>
                    </a:solidFill>
                    <a:effectLst/>
                    <a:latin typeface="Segoe WPC"/>
                  </a:rPr>
                  <a:t>slowly</a:t>
                </a:r>
                <a:r>
                  <a:rPr lang="es-PE" sz="900" b="0" i="0" dirty="0">
                    <a:solidFill>
                      <a:schemeClr val="tx1"/>
                    </a:solidFill>
                    <a:effectLst/>
                    <a:latin typeface="Segoe WPC"/>
                  </a:rPr>
                  <a:t> </a:t>
                </a:r>
                <a:r>
                  <a:rPr lang="es-PE" sz="900" b="0" i="0" dirty="0" err="1">
                    <a:solidFill>
                      <a:schemeClr val="tx1"/>
                    </a:solidFill>
                    <a:effectLst/>
                    <a:latin typeface="Segoe WPC"/>
                  </a:rPr>
                  <a:t>instead</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collapsing</a:t>
                </a:r>
                <a:r>
                  <a:rPr lang="es-PE" sz="900" b="0" i="0" dirty="0">
                    <a:solidFill>
                      <a:schemeClr val="tx1"/>
                    </a:solidFill>
                    <a:effectLst/>
                    <a:latin typeface="Segoe WPC"/>
                  </a:rPr>
                  <a:t> </a:t>
                </a:r>
                <a:r>
                  <a:rPr lang="es-PE" sz="900" b="0" i="0" dirty="0" err="1">
                    <a:solidFill>
                      <a:schemeClr val="tx1"/>
                    </a:solidFill>
                    <a:effectLst/>
                    <a:latin typeface="Segoe WPC"/>
                  </a:rPr>
                  <a:t>quickly</a:t>
                </a:r>
                <a:r>
                  <a:rPr lang="es-PE" sz="900" b="0" i="0" dirty="0">
                    <a:solidFill>
                      <a:schemeClr val="tx1"/>
                    </a:solidFill>
                    <a:effectLst/>
                    <a:latin typeface="Segoe WPC"/>
                  </a:rPr>
                  <a:t> as in </a:t>
                </a:r>
                <a:r>
                  <a:rPr lang="es-PE" sz="900" b="0" i="0" dirty="0" err="1">
                    <a:solidFill>
                      <a:schemeClr val="tx1"/>
                    </a:solidFill>
                    <a:effectLst/>
                    <a:latin typeface="Segoe WPC"/>
                  </a:rPr>
                  <a:t>the</a:t>
                </a:r>
                <a:r>
                  <a:rPr lang="es-PE" sz="900" b="0" i="0" dirty="0">
                    <a:solidFill>
                      <a:schemeClr val="tx1"/>
                    </a:solidFill>
                    <a:effectLst/>
                    <a:latin typeface="Segoe WPC"/>
                  </a:rPr>
                  <a:t> normal case.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 </a:t>
                </a:r>
                <a:r>
                  <a:rPr lang="es-PE" sz="900" b="0" i="0" dirty="0" err="1">
                    <a:solidFill>
                      <a:schemeClr val="tx1"/>
                    </a:solidFill>
                    <a:effectLst/>
                    <a:latin typeface="Segoe WPC"/>
                  </a:rPr>
                  <a:t>power-law</a:t>
                </a:r>
                <a:r>
                  <a:rPr lang="es-PE" sz="900" b="0" i="0" dirty="0">
                    <a:solidFill>
                      <a:schemeClr val="tx1"/>
                    </a:solidFill>
                    <a:effectLst/>
                    <a:latin typeface="Segoe WPC"/>
                  </a:rPr>
                  <a:t> </a:t>
                </a:r>
                <a:r>
                  <a:rPr lang="es-PE" sz="900" b="0" i="0" dirty="0" err="1">
                    <a:solidFill>
                      <a:schemeClr val="tx1"/>
                    </a:solidFill>
                    <a:effectLst/>
                    <a:latin typeface="Segoe WPC"/>
                  </a:rPr>
                  <a:t>tail</a:t>
                </a:r>
                <a:r>
                  <a:rPr lang="es-PE" sz="900" b="0" i="0" dirty="0">
                    <a:solidFill>
                      <a:schemeClr val="tx1"/>
                    </a:solidFill>
                    <a:effectLst/>
                    <a:latin typeface="Segoe WPC"/>
                  </a:rPr>
                  <a:t> has </a:t>
                </a:r>
                <a14:m>
                  <m:oMath xmlns:m="http://schemas.openxmlformats.org/officeDocument/2006/math">
                    <m:r>
                      <a:rPr lang="es-PE" sz="900" i="1">
                        <a:solidFill>
                          <a:schemeClr val="tx1"/>
                        </a:solidFill>
                        <a:latin typeface="Cambria Math" panose="02040503050406030204" pitchFamily="18" charset="0"/>
                      </a:rPr>
                      <m:t>𝑃</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r>
                          <a:rPr lang="ar-AE" sz="900" i="0">
                            <a:solidFill>
                              <a:schemeClr val="tx1"/>
                            </a:solidFill>
                            <a:latin typeface="Cambria Math" panose="02040503050406030204" pitchFamily="18" charset="0"/>
                          </a:rPr>
                          <m:t>&gt;</m:t>
                        </m:r>
                        <m:r>
                          <a:rPr lang="ar-AE" sz="900" i="1">
                            <a:solidFill>
                              <a:schemeClr val="tx1"/>
                            </a:solidFill>
                            <a:latin typeface="Cambria Math" panose="02040503050406030204" pitchFamily="18" charset="0"/>
                          </a:rPr>
                          <m:t>𝑥</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𝑘</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𝑥</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𝛼</m:t>
                        </m:r>
                      </m:sup>
                    </m:sSup>
                  </m:oMath>
                </a14:m>
                <a:r>
                  <a:rPr lang="ar-A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𝛼</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tail</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a:t>
                </a:r>
                <a:r>
                  <a:rPr lang="es-PE" sz="900" b="0" i="0" dirty="0" err="1">
                    <a:solidFill>
                      <a:schemeClr val="tx1"/>
                    </a:solidFill>
                    <a:effectLst/>
                    <a:latin typeface="Segoe WPC"/>
                  </a:rPr>
                  <a:t>Smaller</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𝛼</m:t>
                    </m:r>
                  </m:oMath>
                </a14:m>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fatter</a:t>
                </a:r>
                <a:r>
                  <a:rPr lang="es-PE" sz="900" b="0" i="0" dirty="0">
                    <a:solidFill>
                      <a:schemeClr val="tx1"/>
                    </a:solidFill>
                    <a:effectLst/>
                    <a:latin typeface="Segoe WPC"/>
                  </a:rPr>
                  <a:t> </a:t>
                </a:r>
                <a:r>
                  <a:rPr lang="es-PE" sz="900" b="0" i="0" dirty="0" err="1">
                    <a:solidFill>
                      <a:schemeClr val="tx1"/>
                    </a:solidFill>
                    <a:effectLst/>
                    <a:latin typeface="Segoe WPC"/>
                  </a:rPr>
                  <a:t>tails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Power</a:t>
                </a:r>
                <a:r>
                  <a:rPr lang="es-PE" sz="900" b="0" i="0" dirty="0">
                    <a:solidFill>
                      <a:schemeClr val="tx1"/>
                    </a:solidFill>
                    <a:effectLst/>
                    <a:latin typeface="Segoe WPC"/>
                  </a:rPr>
                  <a:t> </a:t>
                </a:r>
                <a:r>
                  <a:rPr lang="es-PE" sz="900" b="0" i="0" dirty="0" err="1">
                    <a:solidFill>
                      <a:schemeClr val="tx1"/>
                    </a:solidFill>
                    <a:effectLst/>
                    <a:latin typeface="Segoe WPC"/>
                  </a:rPr>
                  <a:t>laws</a:t>
                </a:r>
                <a:r>
                  <a:rPr lang="es-PE" sz="900" b="0" i="0" dirty="0">
                    <a:solidFill>
                      <a:schemeClr val="tx1"/>
                    </a:solidFill>
                    <a:effectLst/>
                    <a:latin typeface="Segoe WPC"/>
                  </a:rPr>
                  <a:t> </a:t>
                </a:r>
                <a:r>
                  <a:rPr lang="es-PE" sz="900" b="0" i="0" dirty="0" err="1">
                    <a:solidFill>
                      <a:schemeClr val="tx1"/>
                    </a:solidFill>
                    <a:effectLst/>
                    <a:latin typeface="Segoe WPC"/>
                  </a:rPr>
                  <a:t>help</a:t>
                </a:r>
                <a:r>
                  <a:rPr lang="es-PE" sz="900" b="0" i="0" dirty="0">
                    <a:solidFill>
                      <a:schemeClr val="tx1"/>
                    </a:solidFill>
                    <a:effectLst/>
                    <a:latin typeface="Segoe WPC"/>
                  </a:rPr>
                  <a:t> describe </a:t>
                </a:r>
                <a:r>
                  <a:rPr lang="es-PE" sz="900" b="0" i="0" dirty="0" err="1">
                    <a:solidFill>
                      <a:schemeClr val="tx1"/>
                    </a:solidFill>
                    <a:effectLst/>
                    <a:latin typeface="Segoe WPC"/>
                  </a:rPr>
                  <a:t>the</a:t>
                </a:r>
                <a:r>
                  <a:rPr lang="es-PE" sz="900" b="0" i="0" dirty="0">
                    <a:solidFill>
                      <a:schemeClr val="tx1"/>
                    </a:solidFill>
                    <a:effectLst/>
                    <a:latin typeface="Segoe WPC"/>
                  </a:rPr>
                  <a:t> extreme </a:t>
                </a:r>
                <a:r>
                  <a:rPr lang="es-PE" sz="900" b="0" i="0" dirty="0" err="1">
                    <a:solidFill>
                      <a:schemeClr val="tx1"/>
                    </a:solidFill>
                    <a:effectLst/>
                    <a:latin typeface="Segoe WPC"/>
                  </a:rPr>
                  <a:t>tail</a:t>
                </a:r>
                <a:r>
                  <a:rPr lang="es-PE" sz="900" b="0" i="0" dirty="0">
                    <a:solidFill>
                      <a:schemeClr val="tx1"/>
                    </a:solidFill>
                    <a:effectLst/>
                    <a:latin typeface="Segoe WPC"/>
                  </a:rPr>
                  <a:t> </a:t>
                </a:r>
                <a:r>
                  <a:rPr lang="es-PE" sz="900" b="0" i="0" dirty="0" err="1">
                    <a:solidFill>
                      <a:schemeClr val="tx1"/>
                    </a:solidFill>
                    <a:effectLst/>
                    <a:latin typeface="Segoe WPC"/>
                  </a:rPr>
                  <a:t>behavior</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normal </a:t>
                </a:r>
                <a:r>
                  <a:rPr lang="es-PE" sz="900" b="0" i="0" dirty="0" err="1">
                    <a:solidFill>
                      <a:schemeClr val="tx1"/>
                    </a:solidFill>
                    <a:effectLst/>
                    <a:latin typeface="Segoe WPC"/>
                  </a:rPr>
                  <a:t>models</a:t>
                </a:r>
                <a:r>
                  <a:rPr lang="es-PE" sz="900" b="0" i="0" dirty="0">
                    <a:solidFill>
                      <a:schemeClr val="tx1"/>
                    </a:solidFill>
                    <a:effectLst/>
                    <a:latin typeface="Segoe WPC"/>
                  </a:rPr>
                  <a:t> </a:t>
                </a:r>
                <a:r>
                  <a:rPr lang="es-PE" sz="900" b="0" i="0" dirty="0" err="1">
                    <a:solidFill>
                      <a:schemeClr val="tx1"/>
                    </a:solidFill>
                    <a:effectLst/>
                    <a:latin typeface="Segoe WPC"/>
                  </a:rPr>
                  <a:t>understate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Student’s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𝑡</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common</a:t>
                </a:r>
                <a:r>
                  <a:rPr lang="es-PE" sz="900" b="0" i="0" dirty="0">
                    <a:solidFill>
                      <a:schemeClr val="tx1"/>
                    </a:solidFill>
                    <a:effectLst/>
                    <a:latin typeface="Segoe WPC"/>
                  </a:rPr>
                  <a:t> </a:t>
                </a:r>
                <a:r>
                  <a:rPr lang="es-PE" sz="900" b="0" i="0" dirty="0" err="1">
                    <a:solidFill>
                      <a:schemeClr val="tx1"/>
                    </a:solidFill>
                    <a:effectLst/>
                    <a:latin typeface="Segoe WPC"/>
                  </a:rPr>
                  <a:t>fat-tailed</a:t>
                </a:r>
                <a:r>
                  <a:rPr lang="es-PE" sz="900" b="0" i="0" dirty="0">
                    <a:solidFill>
                      <a:schemeClr val="tx1"/>
                    </a:solidFill>
                    <a:effectLst/>
                    <a:latin typeface="Segoe WPC"/>
                  </a:rPr>
                  <a:t> </a:t>
                </a:r>
                <a:r>
                  <a:rPr lang="es-PE" sz="900" b="0" i="0" dirty="0" err="1">
                    <a:solidFill>
                      <a:schemeClr val="tx1"/>
                    </a:solidFill>
                    <a:effectLst/>
                    <a:latin typeface="Segoe WPC"/>
                  </a:rPr>
                  <a:t>example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Thin</a:t>
                </a:r>
                <a:r>
                  <a:rPr lang="es-PE" sz="900" b="0" i="0" dirty="0">
                    <a:solidFill>
                      <a:schemeClr val="tx1"/>
                    </a:solidFill>
                    <a:effectLst/>
                    <a:latin typeface="Segoe WPC"/>
                  </a:rPr>
                  <a:t> </a:t>
                </a:r>
                <a:r>
                  <a:rPr lang="es-PE" sz="900" b="0" i="0" dirty="0" err="1">
                    <a:solidFill>
                      <a:schemeClr val="tx1"/>
                    </a:solidFill>
                    <a:effectLst/>
                    <a:latin typeface="Segoe WPC"/>
                  </a:rPr>
                  <a:t>tails</a:t>
                </a:r>
                <a:r>
                  <a:rPr lang="es-PE" sz="900" b="0" i="0" dirty="0">
                    <a:solidFill>
                      <a:schemeClr val="tx1"/>
                    </a:solidFill>
                    <a:effectLst/>
                    <a:latin typeface="Segoe WPC"/>
                  </a:rPr>
                  <a:t> and </a:t>
                </a:r>
                <a:r>
                  <a:rPr lang="es-PE" sz="900" b="0" i="0" dirty="0" err="1">
                    <a:solidFill>
                      <a:schemeClr val="tx1"/>
                    </a:solidFill>
                    <a:effectLst/>
                    <a:latin typeface="Segoe WPC"/>
                  </a:rPr>
                  <a:t>fat</a:t>
                </a:r>
                <a:r>
                  <a:rPr lang="es-PE" sz="900" b="0" i="0" dirty="0">
                    <a:solidFill>
                      <a:schemeClr val="tx1"/>
                    </a:solidFill>
                    <a:effectLst/>
                    <a:latin typeface="Segoe WPC"/>
                  </a:rPr>
                  <a:t> </a:t>
                </a:r>
                <a:r>
                  <a:rPr lang="es-PE" sz="900" b="0" i="0" dirty="0" err="1">
                    <a:solidFill>
                      <a:schemeClr val="tx1"/>
                    </a:solidFill>
                    <a:effectLst/>
                    <a:latin typeface="Segoe WPC"/>
                  </a:rPr>
                  <a:t>tails</a:t>
                </a:r>
                <a:r>
                  <a:rPr lang="es-PE" sz="900" b="0" i="0" dirty="0">
                    <a:solidFill>
                      <a:schemeClr val="tx1"/>
                    </a:solidFill>
                    <a:effectLst/>
                    <a:latin typeface="Segoe WPC"/>
                  </a:rPr>
                  <a:t> can look similar </a:t>
                </a:r>
                <a:r>
                  <a:rPr lang="es-PE" sz="900" b="0" i="0" dirty="0" err="1">
                    <a:solidFill>
                      <a:schemeClr val="tx1"/>
                    </a:solidFill>
                    <a:effectLst/>
                    <a:latin typeface="Segoe WPC"/>
                  </a:rPr>
                  <a:t>near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center;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difference</a:t>
                </a:r>
                <a:r>
                  <a:rPr lang="es-PE" sz="900" b="0" i="0" dirty="0">
                    <a:solidFill>
                      <a:schemeClr val="tx1"/>
                    </a:solidFill>
                    <a:effectLst/>
                    <a:latin typeface="Segoe WPC"/>
                  </a:rPr>
                  <a:t> </a:t>
                </a:r>
                <a:r>
                  <a:rPr lang="es-PE" sz="900" b="0" i="0" dirty="0" err="1">
                    <a:solidFill>
                      <a:schemeClr val="tx1"/>
                    </a:solidFill>
                    <a:effectLst/>
                    <a:latin typeface="Segoe WPC"/>
                  </a:rPr>
                  <a:t>appears</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extremes.</a:t>
                </a:r>
              </a:p>
              <a:p>
                <a:pPr algn="l">
                  <a:spcAft>
                    <a:spcPts val="1200"/>
                  </a:spcAft>
                  <a:buNone/>
                </a:pPr>
                <a:r>
                  <a:rPr lang="es-PE" sz="900" b="1" i="0" dirty="0">
                    <a:solidFill>
                      <a:schemeClr val="tx1"/>
                    </a:solidFill>
                    <a:effectLst/>
                    <a:latin typeface="Segoe WPC"/>
                  </a:rPr>
                  <a:t>7. </a:t>
                </a:r>
                <a:r>
                  <a:rPr lang="es-PE" sz="900" b="1" i="0" dirty="0" err="1">
                    <a:solidFill>
                      <a:schemeClr val="tx1"/>
                    </a:solidFill>
                    <a:effectLst/>
                    <a:latin typeface="Segoe WPC"/>
                  </a:rPr>
                  <a:t>Covariance</a:t>
                </a:r>
                <a:r>
                  <a:rPr lang="es-PE" sz="900" b="1" i="0" dirty="0">
                    <a:solidFill>
                      <a:schemeClr val="tx1"/>
                    </a:solidFill>
                    <a:effectLst/>
                    <a:latin typeface="Segoe WPC"/>
                  </a:rPr>
                  <a:t>, </a:t>
                </a:r>
                <a:r>
                  <a:rPr lang="es-PE" sz="900" b="1" i="0" dirty="0" err="1">
                    <a:solidFill>
                      <a:schemeClr val="tx1"/>
                    </a:solidFill>
                    <a:effectLst/>
                    <a:latin typeface="Segoe WPC"/>
                  </a:rPr>
                  <a:t>Correlation</a:t>
                </a:r>
                <a:r>
                  <a:rPr lang="es-PE" sz="900" b="1" i="0" dirty="0">
                    <a:solidFill>
                      <a:schemeClr val="tx1"/>
                    </a:solidFill>
                    <a:effectLst/>
                    <a:latin typeface="Segoe WPC"/>
                  </a:rPr>
                  <a:t>, and </a:t>
                </a:r>
                <a:r>
                  <a:rPr lang="es-PE" sz="900" b="1" i="0" dirty="0" err="1">
                    <a:solidFill>
                      <a:schemeClr val="tx1"/>
                    </a:solidFill>
                    <a:effectLst/>
                    <a:latin typeface="Segoe WPC"/>
                  </a:rPr>
                  <a:t>Dependence</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Covariance</a:t>
                </a:r>
                <a:r>
                  <a:rPr lang="es-PE" sz="900" b="0" i="0" dirty="0">
                    <a:solidFill>
                      <a:schemeClr val="tx1"/>
                    </a:solidFill>
                    <a:effectLst/>
                    <a:latin typeface="Segoe WPC"/>
                  </a:rPr>
                  <a:t> and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measure</a:t>
                </a:r>
                <a:r>
                  <a:rPr lang="es-PE" sz="900" b="0" i="0" dirty="0">
                    <a:solidFill>
                      <a:schemeClr val="tx1"/>
                    </a:solidFill>
                    <a:effectLst/>
                    <a:latin typeface="Segoe WPC"/>
                  </a:rPr>
                  <a:t> linear </a:t>
                </a:r>
                <a:r>
                  <a:rPr lang="es-PE" sz="900" b="0" i="0" dirty="0" err="1">
                    <a:solidFill>
                      <a:schemeClr val="tx1"/>
                    </a:solidFill>
                    <a:effectLst/>
                    <a:latin typeface="Segoe WPC"/>
                  </a:rPr>
                  <a:t>comovement</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dependence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broader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tells</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a:t>
                </a:r>
                <a:r>
                  <a:rPr lang="es-PE" sz="900" b="0" i="0" dirty="0" err="1">
                    <a:solidFill>
                      <a:schemeClr val="tx1"/>
                    </a:solidFill>
                    <a:effectLst/>
                    <a:latin typeface="Segoe WPC"/>
                  </a:rPr>
                  <a:t>together</a:t>
                </a:r>
                <a:r>
                  <a:rPr lang="es-PE" sz="900" b="0" i="0" dirty="0">
                    <a:solidFill>
                      <a:schemeClr val="tx1"/>
                    </a:solidFill>
                    <a:effectLst/>
                    <a:latin typeface="Segoe WPC"/>
                  </a:rPr>
                  <a:t> </a:t>
                </a:r>
                <a:r>
                  <a:rPr lang="es-PE" sz="900" b="0" i="0" dirty="0" err="1">
                    <a:solidFill>
                      <a:schemeClr val="tx1"/>
                    </a:solidFill>
                    <a:effectLst/>
                    <a:latin typeface="Segoe WPC"/>
                  </a:rPr>
                  <a:t>linearly</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dependence</a:t>
                </a:r>
                <a:r>
                  <a:rPr lang="es-PE" sz="900" b="0" i="0" dirty="0">
                    <a:solidFill>
                      <a:schemeClr val="tx1"/>
                    </a:solidFill>
                    <a:effectLst/>
                    <a:latin typeface="Segoe WPC"/>
                  </a:rPr>
                  <a:t> </a:t>
                </a:r>
                <a:r>
                  <a:rPr lang="es-PE" sz="900" b="0" i="0" dirty="0" err="1">
                    <a:solidFill>
                      <a:schemeClr val="tx1"/>
                    </a:solidFill>
                    <a:effectLst/>
                    <a:latin typeface="Segoe WPC"/>
                  </a:rPr>
                  <a:t>includes</a:t>
                </a:r>
                <a:r>
                  <a:rPr lang="es-PE" sz="900" b="0" i="0" dirty="0">
                    <a:solidFill>
                      <a:schemeClr val="tx1"/>
                    </a:solidFill>
                    <a:effectLst/>
                    <a:latin typeface="Segoe WPC"/>
                  </a:rPr>
                  <a:t> </a:t>
                </a:r>
                <a:r>
                  <a:rPr lang="es-PE" sz="900" b="0" i="0" dirty="0" err="1">
                    <a:solidFill>
                      <a:schemeClr val="tx1"/>
                    </a:solidFill>
                    <a:effectLst/>
                    <a:latin typeface="Segoe WPC"/>
                  </a:rPr>
                  <a:t>nonlinear</a:t>
                </a:r>
                <a:r>
                  <a:rPr lang="es-PE" sz="900" b="0" i="0" dirty="0">
                    <a:solidFill>
                      <a:schemeClr val="tx1"/>
                    </a:solidFill>
                    <a:effectLst/>
                    <a:latin typeface="Segoe WPC"/>
                  </a:rPr>
                  <a:t> </a:t>
                </a:r>
                <a:r>
                  <a:rPr lang="es-PE" sz="900" b="0" i="0" dirty="0" err="1">
                    <a:solidFill>
                      <a:schemeClr val="tx1"/>
                    </a:solidFill>
                    <a:effectLst/>
                    <a:latin typeface="Segoe WPC"/>
                  </a:rPr>
                  <a:t>relationships</a:t>
                </a:r>
                <a:r>
                  <a:rPr lang="es-PE" sz="900" b="0" i="0" dirty="0">
                    <a:solidFill>
                      <a:schemeClr val="tx1"/>
                    </a:solidFill>
                    <a:effectLst/>
                    <a:latin typeface="Segoe WPC"/>
                  </a:rPr>
                  <a:t> </a:t>
                </a:r>
                <a:r>
                  <a:rPr lang="es-PE" sz="900" b="0" i="0" dirty="0" err="1">
                    <a:solidFill>
                      <a:schemeClr val="tx1"/>
                    </a:solidFill>
                    <a:effectLst/>
                    <a:latin typeface="Segoe WPC"/>
                  </a:rPr>
                  <a:t>too</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can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low</a:t>
                </a:r>
                <a:r>
                  <a:rPr lang="es-PE" sz="900" b="0" i="0" dirty="0">
                    <a:solidFill>
                      <a:schemeClr val="tx1"/>
                    </a:solidFill>
                    <a:effectLst/>
                    <a:latin typeface="Segoe WPC"/>
                  </a:rPr>
                  <a:t> linear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still</a:t>
                </a:r>
                <a:r>
                  <a:rPr lang="es-PE" sz="900" b="0" i="0" dirty="0">
                    <a:solidFill>
                      <a:schemeClr val="tx1"/>
                    </a:solidFill>
                    <a:effectLst/>
                    <a:latin typeface="Segoe WPC"/>
                  </a:rPr>
                  <a:t> </a:t>
                </a:r>
                <a:r>
                  <a:rPr lang="es-PE" sz="900" b="0" i="0" dirty="0" err="1">
                    <a:solidFill>
                      <a:schemeClr val="tx1"/>
                    </a:solidFill>
                    <a:effectLst/>
                    <a:latin typeface="Segoe WPC"/>
                  </a:rPr>
                  <a:t>crash</a:t>
                </a:r>
                <a:r>
                  <a:rPr lang="es-PE" sz="900" b="0" i="0" dirty="0">
                    <a:solidFill>
                      <a:schemeClr val="tx1"/>
                    </a:solidFill>
                    <a:effectLst/>
                    <a:latin typeface="Segoe WPC"/>
                  </a:rPr>
                  <a:t> </a:t>
                </a:r>
                <a:r>
                  <a:rPr lang="es-PE" sz="900" b="0" i="0" dirty="0" err="1">
                    <a:solidFill>
                      <a:schemeClr val="tx1"/>
                    </a:solidFill>
                    <a:effectLst/>
                    <a:latin typeface="Segoe WPC"/>
                  </a:rPr>
                  <a:t>together</a:t>
                </a:r>
                <a:r>
                  <a:rPr lang="es-PE" sz="900" b="0" i="0" dirty="0">
                    <a:solidFill>
                      <a:schemeClr val="tx1"/>
                    </a:solidFill>
                    <a:effectLst/>
                    <a:latin typeface="Segoe WPC"/>
                  </a:rPr>
                  <a:t> in </a:t>
                </a:r>
                <a:r>
                  <a:rPr lang="es-PE" sz="900" b="0" i="0" dirty="0" err="1">
                    <a:solidFill>
                      <a:schemeClr val="tx1"/>
                    </a:solidFill>
                    <a:effectLst/>
                    <a:latin typeface="Segoe WPC"/>
                  </a:rPr>
                  <a:t>stressed</a:t>
                </a:r>
                <a:r>
                  <a:rPr lang="es-PE" sz="900" b="0" i="0" dirty="0">
                    <a:solidFill>
                      <a:schemeClr val="tx1"/>
                    </a:solidFill>
                    <a:effectLst/>
                    <a:latin typeface="Segoe WPC"/>
                  </a:rPr>
                  <a:t> </a:t>
                </a:r>
                <a:r>
                  <a:rPr lang="es-PE" sz="900" b="0" i="0" dirty="0" err="1">
                    <a:solidFill>
                      <a:schemeClr val="tx1"/>
                    </a:solidFill>
                    <a:effectLst/>
                    <a:latin typeface="Segoe WPC"/>
                  </a:rPr>
                  <a:t>markets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Covariance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𝐶𝑜𝑣</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e>
                      <m:e>
                        <m:r>
                          <a:rPr lang="ar-AE" sz="900" i="1">
                            <a:solidFill>
                              <a:schemeClr val="tx1"/>
                            </a:solidFill>
                            <a:latin typeface="Cambria Math" panose="02040503050406030204" pitchFamily="18" charset="0"/>
                          </a:rPr>
                          <m:t>𝑌</m:t>
                        </m:r>
                      </m:e>
                    </m:d>
                  </m:oMath>
                </a14:m>
                <a:r>
                  <a:rPr lang="ar-A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𝜌</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𝐶𝑜𝑣</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e>
                          <m:e>
                            <m:r>
                              <a:rPr lang="ar-AE" sz="900" i="1">
                                <a:solidFill>
                                  <a:schemeClr val="tx1"/>
                                </a:solidFill>
                                <a:latin typeface="Cambria Math" panose="02040503050406030204" pitchFamily="18" charset="0"/>
                              </a:rPr>
                              <m:t>𝑌</m:t>
                            </m:r>
                          </m:e>
                        </m:d>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𝑋</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𝑌</m:t>
                            </m:r>
                          </m:sub>
                        </m:sSub>
                      </m:den>
                    </m:f>
                  </m:oMath>
                </a14:m>
                <a:r>
                  <a:rPr lang="ar-AE" sz="900" b="0" i="0" dirty="0">
                    <a:solidFill>
                      <a:schemeClr val="tx1"/>
                    </a:solidFill>
                    <a:effectLst/>
                    <a:latin typeface="Segoe WPC"/>
                  </a:rPr>
                  <a:t>. </a:t>
                </a:r>
                <a:r>
                  <a:rPr lang="es-PE" sz="900" b="0" i="0" dirty="0">
                    <a:solidFill>
                      <a:schemeClr val="tx1"/>
                    </a:solidFill>
                    <a:effectLst/>
                    <a:latin typeface="Segoe WPC"/>
                  </a:rPr>
                  <a:t>Independence </a:t>
                </a:r>
                <a:r>
                  <a:rPr lang="es-PE" sz="900" b="0" i="0" dirty="0" err="1">
                    <a:solidFill>
                      <a:schemeClr val="tx1"/>
                    </a:solidFill>
                    <a:effectLst/>
                    <a:latin typeface="Segoe WPC"/>
                  </a:rPr>
                  <a:t>implies</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generally</a:t>
                </a:r>
                <a:r>
                  <a:rPr lang="es-PE" sz="900" b="0" i="0" dirty="0">
                    <a:solidFill>
                      <a:schemeClr val="tx1"/>
                    </a:solidFill>
                    <a:effectLst/>
                    <a:latin typeface="Segoe WPC"/>
                  </a:rPr>
                  <a:t> </a:t>
                </a:r>
                <a:r>
                  <a:rPr lang="es-PE" sz="900" b="0" i="0" dirty="0" err="1">
                    <a:solidFill>
                      <a:schemeClr val="tx1"/>
                    </a:solidFill>
                    <a:effectLst/>
                    <a:latin typeface="Segoe WPC"/>
                  </a:rPr>
                  <a:t>imply</a:t>
                </a:r>
                <a:r>
                  <a:rPr lang="es-PE" sz="900" b="0" i="0" dirty="0">
                    <a:solidFill>
                      <a:schemeClr val="tx1"/>
                    </a:solidFill>
                    <a:effectLst/>
                    <a:latin typeface="Segoe WPC"/>
                  </a:rPr>
                  <a:t> </a:t>
                </a:r>
                <a:r>
                  <a:rPr lang="es-PE" sz="900" b="0" i="0" dirty="0" err="1">
                    <a:solidFill>
                      <a:schemeClr val="tx1"/>
                    </a:solidFill>
                    <a:effectLst/>
                    <a:latin typeface="Segoe WPC"/>
                  </a:rPr>
                  <a:t>independence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especially</a:t>
                </a:r>
                <a:r>
                  <a:rPr lang="es-PE" sz="900" b="0" i="0" dirty="0">
                    <a:solidFill>
                      <a:schemeClr val="tx1"/>
                    </a:solidFill>
                    <a:effectLst/>
                    <a:latin typeface="Segoe WPC"/>
                  </a:rPr>
                  <a:t> in portfolio </a:t>
                </a:r>
                <a:r>
                  <a:rPr lang="es-PE" sz="900" b="0" i="0" dirty="0" err="1">
                    <a:solidFill>
                      <a:schemeClr val="tx1"/>
                    </a:solidFill>
                    <a:effectLst/>
                    <a:latin typeface="Segoe WPC"/>
                  </a:rPr>
                  <a:t>construction</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 complete </a:t>
                </a:r>
                <a:r>
                  <a:rPr lang="es-PE" sz="900" b="0" i="0" dirty="0" err="1">
                    <a:solidFill>
                      <a:schemeClr val="tx1"/>
                    </a:solidFill>
                    <a:effectLst/>
                    <a:latin typeface="Segoe WPC"/>
                  </a:rPr>
                  <a:t>measure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dependence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confuse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no </a:t>
                </a:r>
                <a:r>
                  <a:rPr lang="es-PE" sz="900" b="0" i="0" dirty="0" err="1">
                    <a:solidFill>
                      <a:schemeClr val="tx1"/>
                    </a:solidFill>
                    <a:effectLst/>
                    <a:latin typeface="Segoe WPC"/>
                  </a:rPr>
                  <a:t>dependence</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8. </a:t>
                </a:r>
                <a:r>
                  <a:rPr lang="es-PE" sz="900" b="1" i="0" dirty="0" err="1">
                    <a:solidFill>
                      <a:schemeClr val="tx1"/>
                    </a:solidFill>
                    <a:effectLst/>
                    <a:latin typeface="Segoe WPC"/>
                  </a:rPr>
                  <a:t>One</a:t>
                </a:r>
                <a:r>
                  <a:rPr lang="es-PE" sz="900" b="1" i="0" dirty="0">
                    <a:solidFill>
                      <a:schemeClr val="tx1"/>
                    </a:solidFill>
                    <a:effectLst/>
                    <a:latin typeface="Segoe WPC"/>
                  </a:rPr>
                  <a:t>-Factor Normal </a:t>
                </a:r>
                <a:r>
                  <a:rPr lang="es-PE" sz="900" b="1" i="0" dirty="0" err="1">
                    <a:solidFill>
                      <a:schemeClr val="tx1"/>
                    </a:solidFill>
                    <a:effectLst/>
                    <a:latin typeface="Segoe WPC"/>
                  </a:rPr>
                  <a:t>Model</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In a </a:t>
                </a:r>
                <a:r>
                  <a:rPr lang="es-PE" sz="900" b="0" i="0" dirty="0" err="1">
                    <a:solidFill>
                      <a:schemeClr val="tx1"/>
                    </a:solidFill>
                    <a:effectLst/>
                    <a:latin typeface="Segoe WPC"/>
                  </a:rPr>
                  <a:t>one</a:t>
                </a:r>
                <a:r>
                  <a:rPr lang="es-PE" sz="900" b="0" i="0" dirty="0">
                    <a:solidFill>
                      <a:schemeClr val="tx1"/>
                    </a:solidFill>
                    <a:effectLst/>
                    <a:latin typeface="Segoe WPC"/>
                  </a:rPr>
                  <a:t>-factor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correlations</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normally</a:t>
                </a:r>
                <a:r>
                  <a:rPr lang="es-PE" sz="900" b="0" i="0" dirty="0">
                    <a:solidFill>
                      <a:schemeClr val="tx1"/>
                    </a:solidFill>
                    <a:effectLst/>
                    <a:latin typeface="Segoe WPC"/>
                  </a:rPr>
                  <a:t> </a:t>
                </a:r>
                <a:r>
                  <a:rPr lang="es-PE" sz="900" b="0" i="0" dirty="0" err="1">
                    <a:solidFill>
                      <a:schemeClr val="tx1"/>
                    </a:solidFill>
                    <a:effectLst/>
                    <a:latin typeface="Segoe WPC"/>
                  </a:rPr>
                  <a:t>distributed</a:t>
                </a:r>
                <a:r>
                  <a:rPr lang="es-PE" sz="900" b="0" i="0" dirty="0">
                    <a:solidFill>
                      <a:schemeClr val="tx1"/>
                    </a:solidFill>
                    <a:effectLst/>
                    <a:latin typeface="Segoe WPC"/>
                  </a:rPr>
                  <a:t> variables come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 </a:t>
                </a:r>
                <a:r>
                  <a:rPr lang="es-PE" sz="900" b="0" i="0" dirty="0" err="1">
                    <a:solidFill>
                      <a:schemeClr val="tx1"/>
                    </a:solidFill>
                    <a:effectLst/>
                    <a:latin typeface="Segoe WPC"/>
                  </a:rPr>
                  <a:t>common</a:t>
                </a:r>
                <a:r>
                  <a:rPr lang="es-PE" sz="900" b="0" i="0" dirty="0">
                    <a:solidFill>
                      <a:schemeClr val="tx1"/>
                    </a:solidFill>
                    <a:effectLst/>
                    <a:latin typeface="Segoe WPC"/>
                  </a:rPr>
                  <a:t> factor.</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are </a:t>
                </a:r>
                <a:r>
                  <a:rPr lang="es-PE" sz="900" b="0" i="0" dirty="0" err="1">
                    <a:solidFill>
                      <a:schemeClr val="tx1"/>
                    </a:solidFill>
                    <a:effectLst/>
                    <a:latin typeface="Segoe WPC"/>
                  </a:rPr>
                  <a:t>correlated</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share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systematic</a:t>
                </a:r>
                <a:r>
                  <a:rPr lang="es-PE" sz="900" b="0" i="0" dirty="0">
                    <a:solidFill>
                      <a:schemeClr val="tx1"/>
                    </a:solidFill>
                    <a:effectLst/>
                    <a:latin typeface="Segoe WPC"/>
                  </a:rPr>
                  <a:t> driver.</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loads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common</a:t>
                </a:r>
                <a:r>
                  <a:rPr lang="es-PE" sz="900" b="0" i="0" dirty="0">
                    <a:solidFill>
                      <a:schemeClr val="tx1"/>
                    </a:solidFill>
                    <a:effectLst/>
                    <a:latin typeface="Segoe WPC"/>
                  </a:rPr>
                  <a:t> </a:t>
                </a:r>
                <a:r>
                  <a:rPr lang="es-PE" sz="900" b="0" i="0" dirty="0" err="1">
                    <a:solidFill>
                      <a:schemeClr val="tx1"/>
                    </a:solidFill>
                    <a:effectLst/>
                    <a:latin typeface="Segoe WPC"/>
                  </a:rPr>
                  <a:t>force</a:t>
                </a:r>
                <a:r>
                  <a:rPr lang="es-PE" sz="900" b="0" i="0" dirty="0">
                    <a:solidFill>
                      <a:schemeClr val="tx1"/>
                    </a:solidFill>
                    <a:effectLst/>
                    <a:latin typeface="Segoe WPC"/>
                  </a:rPr>
                  <a:t> plus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own</a:t>
                </a:r>
                <a:r>
                  <a:rPr lang="es-PE" sz="900" b="0" i="0" dirty="0">
                    <a:solidFill>
                      <a:schemeClr val="tx1"/>
                    </a:solidFill>
                    <a:effectLst/>
                    <a:latin typeface="Segoe WPC"/>
                  </a:rPr>
                  <a:t> </a:t>
                </a:r>
                <a:r>
                  <a:rPr lang="es-PE" sz="900" b="0" i="0" dirty="0" err="1">
                    <a:solidFill>
                      <a:schemeClr val="tx1"/>
                    </a:solidFill>
                    <a:effectLst/>
                    <a:latin typeface="Segoe WPC"/>
                  </a:rPr>
                  <a:t>idiosyncratic</a:t>
                </a:r>
                <a:r>
                  <a:rPr lang="es-PE" sz="900" b="0" i="0" dirty="0">
                    <a:solidFill>
                      <a:schemeClr val="tx1"/>
                    </a:solidFill>
                    <a:effectLst/>
                    <a:latin typeface="Segoe WPC"/>
                  </a:rPr>
                  <a:t> </a:t>
                </a:r>
                <a:r>
                  <a:rPr lang="es-PE" sz="900" b="0" i="0" dirty="0" err="1">
                    <a:solidFill>
                      <a:schemeClr val="tx1"/>
                    </a:solidFill>
                    <a:effectLst/>
                    <a:latin typeface="Segoe WPC"/>
                  </a:rPr>
                  <a:t>noise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 </a:t>
                </a:r>
                <a:r>
                  <a:rPr lang="es-PE" sz="900" b="0" i="0" dirty="0" err="1">
                    <a:solidFill>
                      <a:schemeClr val="tx1"/>
                    </a:solidFill>
                    <a:effectLst/>
                    <a:latin typeface="Segoe WPC"/>
                  </a:rPr>
                  <a:t>typical</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-factor </a:t>
                </a:r>
                <a:r>
                  <a:rPr lang="es-PE" sz="900" b="0" i="0" dirty="0" err="1">
                    <a:solidFill>
                      <a:schemeClr val="tx1"/>
                    </a:solidFill>
                    <a:effectLst/>
                    <a:latin typeface="Segoe WPC"/>
                  </a:rPr>
                  <a:t>structure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1">
                            <a:solidFill>
                              <a:schemeClr val="tx1"/>
                            </a:solidFill>
                            <a:latin typeface="Cambria Math" panose="02040503050406030204" pitchFamily="18" charset="0"/>
                          </a:rPr>
                          <m:t>𝑖</m:t>
                        </m:r>
                      </m:sub>
                    </m:sSub>
                    <m:r>
                      <a:rPr lang="ar-AE" sz="900" i="1">
                        <a:solidFill>
                          <a:schemeClr val="tx1"/>
                        </a:solidFill>
                        <a:latin typeface="Cambria Math" panose="02040503050406030204" pitchFamily="18" charset="0"/>
                      </a:rPr>
                      <m:t>𝐹</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𝜖</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a:solidFill>
                      <a:schemeClr val="tx1"/>
                    </a:solidFill>
                    <a:effectLst/>
                    <a:latin typeface="Segoe WPC"/>
                  </a:rPr>
                  <a:t>so </a:t>
                </a:r>
                <a:r>
                  <a:rPr lang="es-PE" sz="900" b="0" i="0" dirty="0" err="1">
                    <a:solidFill>
                      <a:schemeClr val="tx1"/>
                    </a:solidFill>
                    <a:effectLst/>
                    <a:latin typeface="Segoe WPC"/>
                  </a:rPr>
                  <a:t>pairwise</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driven</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common</a:t>
                </a:r>
                <a:r>
                  <a:rPr lang="es-PE" sz="900" b="0" i="0" dirty="0">
                    <a:solidFill>
                      <a:schemeClr val="tx1"/>
                    </a:solidFill>
                    <a:effectLst/>
                    <a:latin typeface="Segoe WPC"/>
                  </a:rPr>
                  <a:t> factor </a:t>
                </a:r>
                <a:r>
                  <a:rPr lang="es-PE" sz="900" b="0" i="0" dirty="0" err="1">
                    <a:solidFill>
                      <a:schemeClr val="tx1"/>
                    </a:solidFill>
                    <a:effectLst/>
                    <a:latin typeface="Segoe WPC"/>
                  </a:rPr>
                  <a:t>loadings</a:t>
                </a:r>
                <a:r>
                  <a:rPr lang="es-PE" sz="900" b="0" i="0" dirty="0">
                    <a:solidFill>
                      <a:schemeClr val="tx1"/>
                    </a:solidFill>
                    <a:effectLst/>
                    <a:latin typeface="Segoe WPC"/>
                  </a:rPr>
                  <a:t>. In </a:t>
                </a:r>
                <a:r>
                  <a:rPr lang="es-PE" sz="900" b="0" i="0" dirty="0" err="1">
                    <a:solidFill>
                      <a:schemeClr val="tx1"/>
                    </a:solidFill>
                    <a:effectLst/>
                    <a:latin typeface="Segoe WPC"/>
                  </a:rPr>
                  <a:t>structured</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matrices, a </a:t>
                </a:r>
                <a:r>
                  <a:rPr lang="es-PE" sz="900" b="0" i="0" dirty="0" err="1">
                    <a:solidFill>
                      <a:schemeClr val="tx1"/>
                    </a:solidFill>
                    <a:effectLst/>
                    <a:latin typeface="Segoe WPC"/>
                  </a:rPr>
                  <a:t>common</a:t>
                </a:r>
                <a:r>
                  <a:rPr lang="es-PE" sz="900" b="0" i="0" dirty="0">
                    <a:solidFill>
                      <a:schemeClr val="tx1"/>
                    </a:solidFill>
                    <a:effectLst/>
                    <a:latin typeface="Segoe WPC"/>
                  </a:rPr>
                  <a:t> </a:t>
                </a:r>
                <a:r>
                  <a:rPr lang="es-PE" sz="900" b="0" i="0" dirty="0" err="1">
                    <a:solidFill>
                      <a:schemeClr val="tx1"/>
                    </a:solidFill>
                    <a:effectLst/>
                    <a:latin typeface="Segoe WPC"/>
                  </a:rPr>
                  <a:t>form</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𝜌</m:t>
                        </m:r>
                      </m:e>
                      <m:sub>
                        <m:r>
                          <a:rPr lang="ar-AE" sz="900" i="1">
                            <a:solidFill>
                              <a:schemeClr val="tx1"/>
                            </a:solidFill>
                            <a:latin typeface="Cambria Math" panose="02040503050406030204" pitchFamily="18" charset="0"/>
                          </a:rPr>
                          <m:t>𝑖𝑗</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𝛾</m:t>
                        </m:r>
                      </m:e>
                      <m:sub>
                        <m:r>
                          <a:rPr lang="ar-AE" sz="900" i="1">
                            <a:solidFill>
                              <a:schemeClr val="tx1"/>
                            </a:solidFill>
                            <a:latin typeface="Cambria Math" panose="02040503050406030204" pitchFamily="18" charset="0"/>
                          </a:rPr>
                          <m:t>𝑖</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𝛾</m:t>
                        </m:r>
                      </m:e>
                      <m:sub>
                        <m:r>
                          <a:rPr lang="ar-AE" sz="900" i="1">
                            <a:solidFill>
                              <a:schemeClr val="tx1"/>
                            </a:solidFill>
                            <a:latin typeface="Cambria Math" panose="02040503050406030204" pitchFamily="18" charset="0"/>
                          </a:rPr>
                          <m:t>𝑗</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convenient</a:t>
                </a:r>
                <a:r>
                  <a:rPr lang="es-PE" sz="900" b="0" i="0" dirty="0">
                    <a:solidFill>
                      <a:schemeClr val="tx1"/>
                    </a:solidFill>
                    <a:effectLst/>
                    <a:latin typeface="Segoe WPC"/>
                  </a:rPr>
                  <a:t> </a:t>
                </a:r>
                <a:r>
                  <a:rPr lang="es-PE" sz="900" b="0" i="0" dirty="0" err="1">
                    <a:solidFill>
                      <a:schemeClr val="tx1"/>
                    </a:solidFill>
                    <a:effectLst/>
                    <a:latin typeface="Segoe WPC"/>
                  </a:rPr>
                  <a:t>way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cross-asset</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in normal </a:t>
                </a:r>
                <a:r>
                  <a:rPr lang="es-PE" sz="900" b="0" i="0" dirty="0" err="1">
                    <a:solidFill>
                      <a:schemeClr val="tx1"/>
                    </a:solidFill>
                    <a:effectLst/>
                    <a:latin typeface="Segoe WPC"/>
                  </a:rPr>
                  <a:t>settings</a:t>
                </a:r>
                <a:r>
                  <a:rPr lang="es-PE" sz="900" b="0" i="0" dirty="0">
                    <a:solidFill>
                      <a:schemeClr val="tx1"/>
                    </a:solidFill>
                    <a:effectLst/>
                    <a:latin typeface="Segoe WPC"/>
                  </a:rPr>
                  <a:t> and </a:t>
                </a:r>
                <a:r>
                  <a:rPr lang="es-PE" sz="900" b="0" i="0" dirty="0" err="1">
                    <a:solidFill>
                      <a:schemeClr val="tx1"/>
                    </a:solidFill>
                    <a:effectLst/>
                    <a:latin typeface="Segoe WPC"/>
                  </a:rPr>
                  <a:t>helps</a:t>
                </a:r>
                <a:r>
                  <a:rPr lang="es-PE" sz="900" b="0" i="0" dirty="0">
                    <a:solidFill>
                      <a:schemeClr val="tx1"/>
                    </a:solidFill>
                    <a:effectLst/>
                    <a:latin typeface="Segoe WPC"/>
                  </a:rPr>
                  <a:t> </a:t>
                </a:r>
                <a:r>
                  <a:rPr lang="es-PE" sz="900" b="0" i="0" dirty="0" err="1">
                    <a:solidFill>
                      <a:schemeClr val="tx1"/>
                    </a:solidFill>
                    <a:effectLst/>
                    <a:latin typeface="Segoe WPC"/>
                  </a:rPr>
                  <a:t>ensure</a:t>
                </a:r>
                <a:r>
                  <a:rPr lang="es-PE" sz="900" b="0" i="0" dirty="0">
                    <a:solidFill>
                      <a:schemeClr val="tx1"/>
                    </a:solidFill>
                    <a:effectLst/>
                    <a:latin typeface="Segoe WPC"/>
                  </a:rPr>
                  <a:t> a </a:t>
                </a:r>
                <a:r>
                  <a:rPr lang="es-PE" sz="900" b="0" i="0" dirty="0" err="1">
                    <a:solidFill>
                      <a:schemeClr val="tx1"/>
                    </a:solidFill>
                    <a:effectLst/>
                    <a:latin typeface="Segoe WPC"/>
                  </a:rPr>
                  <a:t>valid</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matrix</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matrices </a:t>
                </a:r>
                <a:r>
                  <a:rPr lang="es-PE" sz="900" b="0" i="0" dirty="0" err="1">
                    <a:solidFill>
                      <a:schemeClr val="tx1"/>
                    </a:solidFill>
                    <a:effectLst/>
                    <a:latin typeface="Segoe WPC"/>
                  </a:rPr>
                  <a:t>cannot</a:t>
                </a:r>
                <a:r>
                  <a:rPr lang="es-PE" sz="900" b="0" i="0" dirty="0">
                    <a:solidFill>
                      <a:schemeClr val="tx1"/>
                    </a:solidFill>
                    <a:effectLst/>
                    <a:latin typeface="Segoe WPC"/>
                  </a:rPr>
                  <a:t> be </a:t>
                </a:r>
                <a:r>
                  <a:rPr lang="es-PE" sz="900" b="0" i="0" dirty="0" err="1">
                    <a:solidFill>
                      <a:schemeClr val="tx1"/>
                    </a:solidFill>
                    <a:effectLst/>
                    <a:latin typeface="Segoe WPC"/>
                  </a:rPr>
                  <a:t>filled</a:t>
                </a:r>
                <a:r>
                  <a:rPr lang="es-PE" sz="900" b="0" i="0" dirty="0">
                    <a:solidFill>
                      <a:schemeClr val="tx1"/>
                    </a:solidFill>
                    <a:effectLst/>
                    <a:latin typeface="Segoe WPC"/>
                  </a:rPr>
                  <a:t> </a:t>
                </a:r>
                <a:r>
                  <a:rPr lang="es-PE" sz="900" b="0" i="0" dirty="0" err="1">
                    <a:solidFill>
                      <a:schemeClr val="tx1"/>
                    </a:solidFill>
                    <a:effectLst/>
                    <a:latin typeface="Segoe WPC"/>
                  </a:rPr>
                  <a:t>arbitrarily</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remain</a:t>
                </a:r>
                <a:r>
                  <a:rPr lang="es-PE" sz="900" b="0" i="0" dirty="0">
                    <a:solidFill>
                      <a:schemeClr val="tx1"/>
                    </a:solidFill>
                    <a:effectLst/>
                    <a:latin typeface="Segoe WPC"/>
                  </a:rPr>
                  <a:t> positive </a:t>
                </a:r>
                <a:r>
                  <a:rPr lang="es-PE" sz="900" b="0" i="0" dirty="0" err="1">
                    <a:solidFill>
                      <a:schemeClr val="tx1"/>
                    </a:solidFill>
                    <a:effectLst/>
                    <a:latin typeface="Segoe WPC"/>
                  </a:rPr>
                  <a:t>definite</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9. Alternative </a:t>
                </a:r>
                <a:r>
                  <a:rPr lang="es-PE" sz="900" b="1" i="0" dirty="0" err="1">
                    <a:solidFill>
                      <a:schemeClr val="tx1"/>
                    </a:solidFill>
                    <a:effectLst/>
                    <a:latin typeface="Segoe WPC"/>
                  </a:rPr>
                  <a:t>Correlation</a:t>
                </a:r>
                <a:r>
                  <a:rPr lang="es-PE" sz="900" b="1" i="0" dirty="0">
                    <a:solidFill>
                      <a:schemeClr val="tx1"/>
                    </a:solidFill>
                    <a:effectLst/>
                    <a:latin typeface="Segoe WPC"/>
                  </a:rPr>
                  <a:t> </a:t>
                </a:r>
                <a:r>
                  <a:rPr lang="es-PE" sz="900" b="1" i="0" dirty="0" err="1">
                    <a:solidFill>
                      <a:schemeClr val="tx1"/>
                    </a:solidFill>
                    <a:effectLst/>
                    <a:latin typeface="Segoe WPC"/>
                  </a:rPr>
                  <a:t>Measures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Rank </a:t>
                </a:r>
                <a:r>
                  <a:rPr lang="es-PE" sz="900" b="0" i="0" dirty="0" err="1">
                    <a:solidFill>
                      <a:schemeClr val="tx1"/>
                    </a:solidFill>
                    <a:effectLst/>
                    <a:latin typeface="Segoe WPC"/>
                  </a:rPr>
                  <a:t>correlation</a:t>
                </a:r>
                <a:r>
                  <a:rPr lang="es-PE" sz="900" b="0" i="0" dirty="0">
                    <a:solidFill>
                      <a:schemeClr val="tx1"/>
                    </a:solidFill>
                    <a:effectLst/>
                    <a:latin typeface="Segoe WPC"/>
                  </a:rPr>
                  <a:t> (Spearman) and </a:t>
                </a:r>
                <a:r>
                  <a:rPr lang="es-PE" sz="900" b="0" i="0" dirty="0" err="1">
                    <a:solidFill>
                      <a:schemeClr val="tx1"/>
                    </a:solidFill>
                    <a:effectLst/>
                    <a:latin typeface="Segoe WPC"/>
                  </a:rPr>
                  <a:t>Kendall’s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𝜏</m:t>
                    </m:r>
                  </m:oMath>
                </a14:m>
                <a:r>
                  <a:rPr lang="es-PE" sz="900" b="0" i="0" dirty="0">
                    <a:solidFill>
                      <a:schemeClr val="tx1"/>
                    </a:solidFill>
                    <a:effectLst/>
                    <a:latin typeface="Segoe WPC"/>
                  </a:rPr>
                  <a:t> are alternatives </a:t>
                </a:r>
                <a:r>
                  <a:rPr lang="es-PE" sz="900" b="0" i="0" dirty="0" err="1">
                    <a:solidFill>
                      <a:schemeClr val="tx1"/>
                    </a:solidFill>
                    <a:effectLst/>
                    <a:latin typeface="Segoe WPC"/>
                  </a:rPr>
                  <a:t>to</a:t>
                </a:r>
                <a:r>
                  <a:rPr lang="es-PE" sz="900" b="0" i="0" dirty="0">
                    <a:solidFill>
                      <a:schemeClr val="tx1"/>
                    </a:solidFill>
                    <a:effectLst/>
                    <a:latin typeface="Segoe WPC"/>
                  </a:rPr>
                  <a:t> Pearson </a:t>
                </a:r>
                <a:r>
                  <a:rPr lang="es-PE" sz="900" b="0" i="0" dirty="0" err="1">
                    <a:solidFill>
                      <a:schemeClr val="tx1"/>
                    </a:solidFill>
                    <a:effectLst/>
                    <a:latin typeface="Segoe WPC"/>
                  </a:rPr>
                  <a:t>correlation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are </a:t>
                </a:r>
                <a:r>
                  <a:rPr lang="es-PE" sz="900" b="0" i="0" dirty="0" err="1">
                    <a:solidFill>
                      <a:schemeClr val="tx1"/>
                    </a:solidFill>
                    <a:effectLst/>
                    <a:latin typeface="Segoe WPC"/>
                  </a:rPr>
                  <a:t>better</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nonlinear</a:t>
                </a:r>
                <a:r>
                  <a:rPr lang="es-PE" sz="900" b="0" i="0" dirty="0">
                    <a:solidFill>
                      <a:schemeClr val="tx1"/>
                    </a:solidFill>
                    <a:effectLst/>
                    <a:latin typeface="Segoe WPC"/>
                  </a:rPr>
                  <a:t> </a:t>
                </a:r>
                <a:r>
                  <a:rPr lang="es-PE" sz="900" b="0" i="0" dirty="0" err="1">
                    <a:solidFill>
                      <a:schemeClr val="tx1"/>
                    </a:solidFill>
                    <a:effectLst/>
                    <a:latin typeface="Segoe WPC"/>
                  </a:rPr>
                  <a:t>dependence</a:t>
                </a:r>
                <a:r>
                  <a:rPr lang="es-PE" sz="900" b="0" i="0" dirty="0">
                    <a:solidFill>
                      <a:schemeClr val="tx1"/>
                    </a:solidFill>
                    <a:effectLst/>
                    <a:latin typeface="Segoe WPC"/>
                  </a:rPr>
                  <a:t> and are more </a:t>
                </a:r>
                <a:r>
                  <a:rPr lang="es-PE" sz="900" b="0" i="0" dirty="0" err="1">
                    <a:solidFill>
                      <a:schemeClr val="tx1"/>
                    </a:solidFill>
                    <a:effectLst/>
                    <a:latin typeface="Segoe WPC"/>
                  </a:rPr>
                  <a:t>robust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outliers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focus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ordering</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observations</a:t>
                </a:r>
                <a:r>
                  <a:rPr lang="es-PE" sz="900" b="0" i="0" dirty="0">
                    <a:solidFill>
                      <a:schemeClr val="tx1"/>
                    </a:solidFill>
                    <a:effectLst/>
                    <a:latin typeface="Segoe WPC"/>
                  </a:rPr>
                  <a:t>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exact</a:t>
                </a:r>
                <a:r>
                  <a:rPr lang="es-PE" sz="900" b="0" i="0" dirty="0">
                    <a:solidFill>
                      <a:schemeClr val="tx1"/>
                    </a:solidFill>
                    <a:effectLst/>
                    <a:latin typeface="Segoe WPC"/>
                  </a:rPr>
                  <a:t> magnitudes.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Spearman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Pearson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applied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ranks</a:t>
                </a:r>
                <a:r>
                  <a:rPr lang="es-PE" sz="900" b="0" i="0" dirty="0">
                    <a:solidFill>
                      <a:schemeClr val="tx1"/>
                    </a:solidFill>
                    <a:effectLst/>
                    <a:latin typeface="Segoe WPC"/>
                  </a:rPr>
                  <a:t>. </a:t>
                </a:r>
                <a:r>
                  <a:rPr lang="es-PE" sz="900" b="0" i="0" dirty="0" err="1">
                    <a:solidFill>
                      <a:schemeClr val="tx1"/>
                    </a:solidFill>
                    <a:effectLst/>
                    <a:latin typeface="Segoe WPC"/>
                  </a:rPr>
                  <a:t>Kendall’s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𝜏</m:t>
                    </m:r>
                  </m:oMath>
                </a14:m>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balance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concordant</a:t>
                </a:r>
                <a:r>
                  <a:rPr lang="es-PE" sz="900" b="0" i="0" dirty="0">
                    <a:solidFill>
                      <a:schemeClr val="tx1"/>
                    </a:solidFill>
                    <a:effectLst/>
                    <a:latin typeface="Segoe WPC"/>
                  </a:rPr>
                  <a:t> and </a:t>
                </a:r>
                <a:r>
                  <a:rPr lang="es-PE" sz="900" b="0" i="0" dirty="0" err="1">
                    <a:solidFill>
                      <a:schemeClr val="tx1"/>
                    </a:solidFill>
                    <a:effectLst/>
                    <a:latin typeface="Segoe WPC"/>
                  </a:rPr>
                  <a:t>discordant</a:t>
                </a:r>
                <a:r>
                  <a:rPr lang="es-PE" sz="900" b="0" i="0" dirty="0">
                    <a:solidFill>
                      <a:schemeClr val="tx1"/>
                    </a:solidFill>
                    <a:effectLst/>
                    <a:latin typeface="Segoe WPC"/>
                  </a:rPr>
                  <a:t> </a:t>
                </a:r>
                <a:r>
                  <a:rPr lang="es-PE" sz="900" b="0" i="0" dirty="0" err="1">
                    <a:solidFill>
                      <a:schemeClr val="tx1"/>
                    </a:solidFill>
                    <a:effectLst/>
                    <a:latin typeface="Segoe WPC"/>
                  </a:rPr>
                  <a:t>pairs</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lie </a:t>
                </a:r>
                <a:r>
                  <a:rPr lang="es-PE" sz="900" b="0" i="0" dirty="0" err="1">
                    <a:solidFill>
                      <a:schemeClr val="tx1"/>
                    </a:solidFill>
                    <a:effectLst/>
                    <a:latin typeface="Segoe WPC"/>
                  </a:rPr>
                  <a:t>between</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1</m:t>
                    </m:r>
                  </m:oMath>
                </a14:m>
                <a:r>
                  <a:rPr lang="es-PE" sz="900" b="0" i="0" dirty="0">
                    <a:solidFill>
                      <a:schemeClr val="tx1"/>
                    </a:solidFill>
                    <a:effectLst/>
                    <a:latin typeface="Segoe WPC"/>
                  </a:rPr>
                  <a:t> and </a:t>
                </a:r>
                <a14:m>
                  <m:oMath xmlns:m="http://schemas.openxmlformats.org/officeDocument/2006/math">
                    <m:r>
                      <a:rPr lang="es-PE" sz="900">
                        <a:solidFill>
                          <a:schemeClr val="tx1"/>
                        </a:solidFill>
                        <a:latin typeface="Cambria Math" panose="02040503050406030204" pitchFamily="18" charset="0"/>
                      </a:rPr>
                      <m:t>1</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are </a:t>
                </a:r>
                <a:r>
                  <a:rPr lang="es-PE" sz="900" b="0" i="0" dirty="0" err="1">
                    <a:solidFill>
                      <a:schemeClr val="tx1"/>
                    </a:solidFill>
                    <a:effectLst/>
                    <a:latin typeface="Segoe WPC"/>
                  </a:rPr>
                  <a:t>invariant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monotonic</a:t>
                </a:r>
                <a:r>
                  <a:rPr lang="es-PE" sz="900" b="0" i="0" dirty="0">
                    <a:solidFill>
                      <a:schemeClr val="tx1"/>
                    </a:solidFill>
                    <a:effectLst/>
                    <a:latin typeface="Segoe WPC"/>
                  </a:rPr>
                  <a:t> </a:t>
                </a:r>
                <a:r>
                  <a:rPr lang="es-PE" sz="900" b="0" i="0" dirty="0" err="1">
                    <a:solidFill>
                      <a:schemeClr val="tx1"/>
                    </a:solidFill>
                    <a:effectLst/>
                    <a:latin typeface="Segoe WPC"/>
                  </a:rPr>
                  <a:t>transformations</a:t>
                </a:r>
                <a:r>
                  <a:rPr lang="es-PE" sz="900" b="0" i="0" dirty="0">
                    <a:solidFill>
                      <a:schemeClr val="tx1"/>
                    </a:solidFill>
                    <a:effectLst/>
                    <a:latin typeface="Segoe WPC"/>
                  </a:rPr>
                  <a:t> and </a:t>
                </a:r>
                <a:r>
                  <a:rPr lang="es-PE" sz="900" b="0" i="0" dirty="0" err="1">
                    <a:solidFill>
                      <a:schemeClr val="tx1"/>
                    </a:solidFill>
                    <a:effectLst/>
                    <a:latin typeface="Segoe WPC"/>
                  </a:rPr>
                  <a:t>better</a:t>
                </a:r>
                <a:r>
                  <a:rPr lang="es-PE" sz="900" b="0" i="0" dirty="0">
                    <a:solidFill>
                      <a:schemeClr val="tx1"/>
                    </a:solidFill>
                    <a:effectLst/>
                    <a:latin typeface="Segoe WPC"/>
                  </a:rPr>
                  <a:t> capture </a:t>
                </a:r>
                <a:r>
                  <a:rPr lang="es-PE" sz="900" b="0" i="0" dirty="0" err="1">
                    <a:solidFill>
                      <a:schemeClr val="tx1"/>
                    </a:solidFill>
                    <a:effectLst/>
                    <a:latin typeface="Segoe WPC"/>
                  </a:rPr>
                  <a:t>nonlinear</a:t>
                </a:r>
                <a:r>
                  <a:rPr lang="es-PE" sz="900" b="0" i="0" dirty="0">
                    <a:solidFill>
                      <a:schemeClr val="tx1"/>
                    </a:solidFill>
                    <a:effectLst/>
                    <a:latin typeface="Segoe WPC"/>
                  </a:rPr>
                  <a:t> </a:t>
                </a:r>
                <a:r>
                  <a:rPr lang="es-PE" sz="900" b="0" i="0" dirty="0" err="1">
                    <a:solidFill>
                      <a:schemeClr val="tx1"/>
                    </a:solidFill>
                    <a:effectLst/>
                    <a:latin typeface="Segoe WPC"/>
                  </a:rPr>
                  <a:t>dependence</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linear </a:t>
                </a:r>
                <a:r>
                  <a:rPr lang="es-PE" sz="900" b="0" i="0" dirty="0" err="1">
                    <a:solidFill>
                      <a:schemeClr val="tx1"/>
                    </a:solidFill>
                    <a:effectLst/>
                    <a:latin typeface="Segoe WPC"/>
                  </a:rPr>
                  <a:t>correlation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rank</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Kendall’s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𝜏</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much</a:t>
                </a:r>
                <a:r>
                  <a:rPr lang="es-PE" sz="900" b="0" i="0" dirty="0">
                    <a:solidFill>
                      <a:schemeClr val="tx1"/>
                    </a:solidFill>
                    <a:effectLst/>
                    <a:latin typeface="Segoe WPC"/>
                  </a:rPr>
                  <a:t> </a:t>
                </a:r>
                <a:r>
                  <a:rPr lang="es-PE" sz="900" b="0" i="0" dirty="0" err="1">
                    <a:solidFill>
                      <a:schemeClr val="tx1"/>
                    </a:solidFill>
                    <a:effectLst/>
                    <a:latin typeface="Segoe WPC"/>
                  </a:rPr>
                  <a:t>larger</a:t>
                </a:r>
                <a:r>
                  <a:rPr lang="es-PE" sz="900" b="0" i="0" dirty="0">
                    <a:solidFill>
                      <a:schemeClr val="tx1"/>
                    </a:solidFill>
                    <a:effectLst/>
                    <a:latin typeface="Segoe WPC"/>
                  </a:rPr>
                  <a:t> in </a:t>
                </a:r>
                <a:r>
                  <a:rPr lang="es-PE" sz="900" b="0" i="0" dirty="0" err="1">
                    <a:solidFill>
                      <a:schemeClr val="tx1"/>
                    </a:solidFill>
                    <a:effectLst/>
                    <a:latin typeface="Segoe WPC"/>
                  </a:rPr>
                  <a:t>magnitude</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Pearson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suggests</a:t>
                </a:r>
                <a:r>
                  <a:rPr lang="es-PE" sz="900" b="0" i="0" dirty="0">
                    <a:solidFill>
                      <a:schemeClr val="tx1"/>
                    </a:solidFill>
                    <a:effectLst/>
                    <a:latin typeface="Segoe WPC"/>
                  </a:rPr>
                  <a:t> </a:t>
                </a:r>
                <a:r>
                  <a:rPr lang="es-PE" sz="900" b="0" i="0" dirty="0" err="1">
                    <a:solidFill>
                      <a:schemeClr val="tx1"/>
                    </a:solidFill>
                    <a:effectLst/>
                    <a:latin typeface="Segoe WPC"/>
                  </a:rPr>
                  <a:t>important</a:t>
                </a:r>
                <a:r>
                  <a:rPr lang="es-PE" sz="900" b="0" i="0" dirty="0">
                    <a:solidFill>
                      <a:schemeClr val="tx1"/>
                    </a:solidFill>
                    <a:effectLst/>
                    <a:latin typeface="Segoe WPC"/>
                  </a:rPr>
                  <a:t> </a:t>
                </a:r>
                <a:r>
                  <a:rPr lang="es-PE" sz="900" b="0" i="0" dirty="0" err="1">
                    <a:solidFill>
                      <a:schemeClr val="tx1"/>
                    </a:solidFill>
                    <a:effectLst/>
                    <a:latin typeface="Segoe WPC"/>
                  </a:rPr>
                  <a:t>nonlinearity</a:t>
                </a:r>
                <a:r>
                  <a:rPr lang="es-PE" sz="900" b="0" i="0" dirty="0">
                    <a:solidFill>
                      <a:schemeClr val="tx1"/>
                    </a:solidFill>
                    <a:effectLst/>
                    <a:latin typeface="Segoe WPC"/>
                  </a:rPr>
                  <a:t> in </a:t>
                </a:r>
                <a:r>
                  <a:rPr lang="es-PE" sz="900" b="0" i="0" dirty="0" err="1">
                    <a:solidFill>
                      <a:schemeClr val="tx1"/>
                    </a:solidFill>
                    <a:effectLst/>
                    <a:latin typeface="Segoe WPC"/>
                  </a:rPr>
                  <a:t>dependence</a:t>
                </a:r>
                <a:r>
                  <a:rPr lang="es-PE" sz="900" b="0" i="0" dirty="0">
                    <a:solidFill>
                      <a:schemeClr val="tx1"/>
                    </a:solidFill>
                    <a:effectLst/>
                    <a:latin typeface="Segoe WPC"/>
                  </a:rPr>
                  <a:t>.</a:t>
                </a:r>
              </a:p>
            </p:txBody>
          </p:sp>
        </mc:Choice>
        <mc:Fallback xmlns="">
          <p:sp>
            <p:nvSpPr>
              <p:cNvPr id="7" name="CuadroTexto 6">
                <a:extLst>
                  <a:ext uri="{FF2B5EF4-FFF2-40B4-BE49-F238E27FC236}">
                    <a16:creationId xmlns:a16="http://schemas.microsoft.com/office/drawing/2014/main" id="{8562E214-8797-39E1-BAAF-018D35C49242}"/>
                  </a:ext>
                </a:extLst>
              </p:cNvPr>
              <p:cNvSpPr txBox="1">
                <a:spLocks noRot="1" noChangeAspect="1" noMove="1" noResize="1" noEditPoints="1" noAdjustHandles="1" noChangeArrowheads="1" noChangeShapeType="1" noTextEdit="1"/>
              </p:cNvSpPr>
              <p:nvPr/>
            </p:nvSpPr>
            <p:spPr>
              <a:xfrm>
                <a:off x="6096000" y="365560"/>
                <a:ext cx="6183084" cy="5929700"/>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41266917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240C3C-25EC-2840-B4C0-4D071B657715}"/>
              </a:ext>
            </a:extLst>
          </p:cNvPr>
          <p:cNvSpPr>
            <a:spLocks noGrp="1"/>
          </p:cNvSpPr>
          <p:nvPr>
            <p:ph type="title"/>
          </p:nvPr>
        </p:nvSpPr>
        <p:spPr>
          <a:xfrm>
            <a:off x="0" y="-129382"/>
            <a:ext cx="5842000" cy="543039"/>
          </a:xfrm>
        </p:spPr>
        <p:txBody>
          <a:bodyPr>
            <a:noAutofit/>
          </a:bodyPr>
          <a:lstStyle/>
          <a:p>
            <a:r>
              <a:rPr lang="es-PE" sz="2400" dirty="0" err="1"/>
              <a:t>Simulation</a:t>
            </a:r>
            <a:r>
              <a:rPr lang="es-PE" sz="2400" dirty="0"/>
              <a:t> and </a:t>
            </a:r>
            <a:r>
              <a:rPr lang="es-PE" sz="2400" dirty="0" err="1"/>
              <a:t>Bootstrapping</a:t>
            </a:r>
            <a:endParaRPr lang="es-PE" sz="2400" dirty="0"/>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3583752F-2AFC-93A1-B61A-D9155EF814F4}"/>
                  </a:ext>
                </a:extLst>
              </p:cNvPr>
              <p:cNvSpPr txBox="1"/>
              <p:nvPr/>
            </p:nvSpPr>
            <p:spPr>
              <a:xfrm>
                <a:off x="0" y="254000"/>
                <a:ext cx="5943600" cy="6438557"/>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1. Monte Carlo </a:t>
                </a:r>
                <a:r>
                  <a:rPr lang="es-PE" sz="900" b="1" i="0" dirty="0" err="1">
                    <a:solidFill>
                      <a:schemeClr val="tx1"/>
                    </a:solidFill>
                    <a:effectLst/>
                    <a:latin typeface="Segoe WPC"/>
                  </a:rPr>
                  <a:t>Simulation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Approximate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𝑔</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e>
                        </m:d>
                      </m:e>
                    </m:d>
                  </m:oMath>
                </a14:m>
                <a:r>
                  <a:rPr lang="ar-A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another</a:t>
                </a:r>
                <a:r>
                  <a:rPr lang="es-PE" sz="900" b="0" i="0" dirty="0">
                    <a:solidFill>
                      <a:schemeClr val="tx1"/>
                    </a:solidFill>
                    <a:effectLst/>
                    <a:latin typeface="Segoe WPC"/>
                  </a:rPr>
                  <a:t> </a:t>
                </a:r>
                <a:r>
                  <a:rPr lang="es-PE" sz="900" b="0" i="0" dirty="0" err="1">
                    <a:solidFill>
                      <a:schemeClr val="tx1"/>
                    </a:solidFill>
                    <a:effectLst/>
                    <a:latin typeface="Segoe WPC"/>
                  </a:rPr>
                  <a:t>quantity</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simulating</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assumed</a:t>
                </a:r>
                <a:r>
                  <a:rPr lang="es-PE" sz="900" b="0" i="0" dirty="0">
                    <a:solidFill>
                      <a:schemeClr val="tx1"/>
                    </a:solidFill>
                    <a:effectLst/>
                    <a:latin typeface="Segoe WPC"/>
                  </a:rPr>
                  <a:t> data-</a:t>
                </a:r>
                <a:r>
                  <a:rPr lang="es-PE" sz="900" b="0" i="0" dirty="0" err="1">
                    <a:solidFill>
                      <a:schemeClr val="tx1"/>
                    </a:solidFill>
                    <a:effectLst/>
                    <a:latin typeface="Segoe WPC"/>
                  </a:rPr>
                  <a:t>generating</a:t>
                </a:r>
                <a:r>
                  <a:rPr lang="es-PE" sz="900" b="0" i="0" dirty="0">
                    <a:solidFill>
                      <a:schemeClr val="tx1"/>
                    </a:solidFill>
                    <a:effectLst/>
                    <a:latin typeface="Segoe WPC"/>
                  </a:rPr>
                  <a:t> </a:t>
                </a:r>
                <a:r>
                  <a:rPr lang="es-PE" sz="900" b="0" i="0" dirty="0" err="1">
                    <a:solidFill>
                      <a:schemeClr val="tx1"/>
                    </a:solidFill>
                    <a:effectLst/>
                    <a:latin typeface="Segoe WPC"/>
                  </a:rPr>
                  <a:t>process</a:t>
                </a:r>
                <a:r>
                  <a:rPr lang="es-PE" sz="900" b="0" i="0" dirty="0">
                    <a:solidFill>
                      <a:schemeClr val="tx1"/>
                    </a:solidFill>
                    <a:effectLst/>
                    <a:latin typeface="Segoe WPC"/>
                  </a:rPr>
                  <a:t> (DGP).</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exact</a:t>
                </a:r>
                <a:r>
                  <a:rPr lang="es-PE" sz="900" b="0" i="0" dirty="0">
                    <a:solidFill>
                      <a:schemeClr val="tx1"/>
                    </a:solidFill>
                    <a:effectLst/>
                    <a:latin typeface="Segoe WPC"/>
                  </a:rPr>
                  <a:t> </a:t>
                </a:r>
                <a:r>
                  <a:rPr lang="es-PE" sz="900" b="0" i="0" dirty="0" err="1">
                    <a:solidFill>
                      <a:schemeClr val="tx1"/>
                    </a:solidFill>
                    <a:effectLst/>
                    <a:latin typeface="Segoe WPC"/>
                  </a:rPr>
                  <a:t>expectation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hard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compute, </a:t>
                </a:r>
                <a:r>
                  <a:rPr lang="es-PE" sz="900" b="0" i="0" dirty="0" err="1">
                    <a:solidFill>
                      <a:schemeClr val="tx1"/>
                    </a:solidFill>
                    <a:effectLst/>
                    <a:latin typeface="Segoe WPC"/>
                  </a:rPr>
                  <a:t>generate</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artificial </a:t>
                </a:r>
                <a:r>
                  <a:rPr lang="es-PE" sz="900" b="0" i="0" dirty="0" err="1">
                    <a:solidFill>
                      <a:schemeClr val="tx1"/>
                    </a:solidFill>
                    <a:effectLst/>
                    <a:latin typeface="Segoe WPC"/>
                  </a:rPr>
                  <a:t>outcomes</a:t>
                </a:r>
                <a:r>
                  <a:rPr lang="es-PE" sz="900" b="0" i="0" dirty="0">
                    <a:solidFill>
                      <a:schemeClr val="tx1"/>
                    </a:solidFill>
                    <a:effectLst/>
                    <a:latin typeface="Segoe WPC"/>
                  </a:rPr>
                  <a:t> and </a:t>
                </a:r>
                <a:r>
                  <a:rPr lang="es-PE" sz="900" b="0" i="0" dirty="0" err="1">
                    <a:solidFill>
                      <a:schemeClr val="tx1"/>
                    </a:solidFill>
                    <a:effectLst/>
                    <a:latin typeface="Segoe WPC"/>
                  </a:rPr>
                  <a:t>average</a:t>
                </a:r>
                <a:r>
                  <a:rPr lang="es-PE" sz="900" b="0" i="0" dirty="0">
                    <a:solidFill>
                      <a:schemeClr val="tx1"/>
                    </a:solidFill>
                    <a:effectLst/>
                    <a:latin typeface="Segoe WPC"/>
                  </a:rPr>
                  <a:t> </a:t>
                </a:r>
                <a:r>
                  <a:rPr lang="es-PE" sz="900" b="0" i="0" dirty="0" err="1">
                    <a:solidFill>
                      <a:schemeClr val="tx1"/>
                    </a:solidFill>
                    <a:effectLst/>
                    <a:latin typeface="Segoe WPC"/>
                  </a:rPr>
                  <a:t>them</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repeatedly</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until</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simulated</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reveals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center and </a:t>
                </a:r>
                <a:r>
                  <a:rPr lang="es-PE" sz="900" b="0" i="0" dirty="0" err="1">
                    <a:solidFill>
                      <a:schemeClr val="tx1"/>
                    </a:solidFill>
                    <a:effectLst/>
                    <a:latin typeface="Segoe WPC"/>
                  </a:rPr>
                  <a:t>tails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𝑔</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e>
                            </m:d>
                          </m:e>
                        </m:d>
                      </m:e>
                    </m:acc>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1">
                            <a:solidFill>
                              <a:schemeClr val="tx1"/>
                            </a:solidFill>
                            <a:latin typeface="Cambria Math" panose="02040503050406030204" pitchFamily="18" charset="0"/>
                          </a:rPr>
                          <m:t>𝑏</m:t>
                        </m:r>
                      </m:den>
                    </m:f>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𝑏</m:t>
                        </m:r>
                      </m:sup>
                      <m:e>
                        <m:r>
                          <a:rPr lang="ar-AE" sz="900" i="1">
                            <a:solidFill>
                              <a:schemeClr val="tx1"/>
                            </a:solidFill>
                            <a:latin typeface="Cambria Math" panose="02040503050406030204" pitchFamily="18" charset="0"/>
                          </a:rPr>
                          <m:t>𝑔</m:t>
                        </m:r>
                      </m:e>
                    </m:nary>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𝑖</m:t>
                            </m:r>
                          </m:sub>
                        </m:sSub>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LLN and CLT, more </a:t>
                </a:r>
                <a:r>
                  <a:rPr lang="es-PE" sz="900" b="0" i="0" dirty="0" err="1">
                    <a:solidFill>
                      <a:schemeClr val="tx1"/>
                    </a:solidFill>
                    <a:effectLst/>
                    <a:latin typeface="Segoe WPC"/>
                  </a:rPr>
                  <a:t>replications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𝑏</m:t>
                    </m:r>
                  </m:oMath>
                </a14:m>
                <a:r>
                  <a:rPr lang="es-PE" sz="900" b="0" i="0" dirty="0">
                    <a:solidFill>
                      <a:schemeClr val="tx1"/>
                    </a:solidFill>
                    <a:effectLst/>
                    <a:latin typeface="Segoe WPC"/>
                  </a:rPr>
                  <a:t> </a:t>
                </a:r>
                <a:r>
                  <a:rPr lang="es-PE" sz="900" b="0" i="0" dirty="0" err="1">
                    <a:solidFill>
                      <a:schemeClr val="tx1"/>
                    </a:solidFill>
                    <a:effectLst/>
                    <a:latin typeface="Segoe WPC"/>
                  </a:rPr>
                  <a:t>improve</a:t>
                </a:r>
                <a:r>
                  <a:rPr lang="es-PE" sz="900" b="0" i="0" dirty="0">
                    <a:solidFill>
                      <a:schemeClr val="tx1"/>
                    </a:solidFill>
                    <a:effectLst/>
                    <a:latin typeface="Segoe WPC"/>
                  </a:rPr>
                  <a:t> </a:t>
                </a:r>
                <a:r>
                  <a:rPr lang="es-PE" sz="900" b="0" i="0" dirty="0" err="1">
                    <a:solidFill>
                      <a:schemeClr val="tx1"/>
                    </a:solidFill>
                    <a:effectLst/>
                    <a:latin typeface="Segoe WPC"/>
                  </a:rPr>
                  <a:t>precision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More </a:t>
                </a:r>
                <a:r>
                  <a:rPr lang="es-PE" sz="900" b="0" i="0" dirty="0" err="1">
                    <a:solidFill>
                      <a:schemeClr val="tx1"/>
                    </a:solidFill>
                    <a:effectLst/>
                    <a:latin typeface="Segoe WPC"/>
                  </a:rPr>
                  <a:t>simulations</a:t>
                </a:r>
                <a:r>
                  <a:rPr lang="es-PE" sz="900" b="0" i="0" dirty="0">
                    <a:solidFill>
                      <a:schemeClr val="tx1"/>
                    </a:solidFill>
                    <a:effectLst/>
                    <a:latin typeface="Segoe WPC"/>
                  </a:rPr>
                  <a:t> reduce </a:t>
                </a:r>
                <a:r>
                  <a:rPr lang="es-PE" sz="900" b="0" i="0" dirty="0" err="1">
                    <a:solidFill>
                      <a:schemeClr val="tx1"/>
                    </a:solidFill>
                    <a:effectLst/>
                    <a:latin typeface="Segoe WPC"/>
                  </a:rPr>
                  <a:t>sampling</a:t>
                </a:r>
                <a:r>
                  <a:rPr lang="es-PE" sz="900" b="0" i="0" dirty="0">
                    <a:solidFill>
                      <a:schemeClr val="tx1"/>
                    </a:solidFill>
                    <a:effectLst/>
                    <a:latin typeface="Segoe WPC"/>
                  </a:rPr>
                  <a:t> error,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error; a </a:t>
                </a:r>
                <a:r>
                  <a:rPr lang="es-PE" sz="900" b="0" i="0" dirty="0" err="1">
                    <a:solidFill>
                      <a:schemeClr val="tx1"/>
                    </a:solidFill>
                    <a:effectLst/>
                    <a:latin typeface="Segoe WPC"/>
                  </a:rPr>
                  <a:t>bad</a:t>
                </a:r>
                <a:r>
                  <a:rPr lang="es-PE" sz="900" b="0" i="0" dirty="0">
                    <a:solidFill>
                      <a:schemeClr val="tx1"/>
                    </a:solidFill>
                    <a:effectLst/>
                    <a:latin typeface="Segoe WPC"/>
                  </a:rPr>
                  <a:t> DGP </a:t>
                </a:r>
                <a:r>
                  <a:rPr lang="es-PE" sz="900" b="0" i="0" dirty="0" err="1">
                    <a:solidFill>
                      <a:schemeClr val="tx1"/>
                    </a:solidFill>
                    <a:effectLst/>
                    <a:latin typeface="Segoe WPC"/>
                  </a:rPr>
                  <a:t>still</a:t>
                </a:r>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bad</a:t>
                </a:r>
                <a:r>
                  <a:rPr lang="es-PE" sz="900" b="0" i="0" dirty="0">
                    <a:solidFill>
                      <a:schemeClr val="tx1"/>
                    </a:solidFill>
                    <a:effectLst/>
                    <a:latin typeface="Segoe WPC"/>
                  </a:rPr>
                  <a:t> </a:t>
                </a:r>
                <a:r>
                  <a:rPr lang="es-PE" sz="900" b="0" i="0" dirty="0" err="1">
                    <a:solidFill>
                      <a:schemeClr val="tx1"/>
                    </a:solidFill>
                    <a:effectLst/>
                    <a:latin typeface="Segoe WPC"/>
                  </a:rPr>
                  <a:t>answers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2. Pseudo-</a:t>
                </a:r>
                <a:r>
                  <a:rPr lang="es-PE" sz="900" b="1" i="0" dirty="0" err="1">
                    <a:solidFill>
                      <a:schemeClr val="tx1"/>
                    </a:solidFill>
                    <a:effectLst/>
                    <a:latin typeface="Segoe WPC"/>
                  </a:rPr>
                  <a:t>Random</a:t>
                </a:r>
                <a:r>
                  <a:rPr lang="es-PE" sz="900" b="1" i="0" dirty="0">
                    <a:solidFill>
                      <a:schemeClr val="tx1"/>
                    </a:solidFill>
                    <a:effectLst/>
                    <a:latin typeface="Segoe WPC"/>
                  </a:rPr>
                  <a:t> </a:t>
                </a:r>
                <a:r>
                  <a:rPr lang="es-PE" sz="900" b="1" i="0" dirty="0" err="1">
                    <a:solidFill>
                      <a:schemeClr val="tx1"/>
                    </a:solidFill>
                    <a:effectLst/>
                    <a:latin typeface="Segoe WPC"/>
                  </a:rPr>
                  <a:t>Numbers</a:t>
                </a:r>
                <a:r>
                  <a:rPr lang="es-PE" sz="900" b="1" i="0" dirty="0">
                    <a:solidFill>
                      <a:schemeClr val="tx1"/>
                    </a:solidFill>
                    <a:effectLst/>
                    <a:latin typeface="Segoe WPC"/>
                  </a:rPr>
                  <a:t> and </a:t>
                </a:r>
                <a:r>
                  <a:rPr lang="es-PE" sz="900" b="1" i="0" dirty="0" err="1">
                    <a:solidFill>
                      <a:schemeClr val="tx1"/>
                    </a:solidFill>
                    <a:effectLst/>
                    <a:latin typeface="Segoe WPC"/>
                  </a:rPr>
                  <a:t>Seeds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Deterministic</a:t>
                </a:r>
                <a:r>
                  <a:rPr lang="es-PE" sz="900" b="0" i="0" dirty="0">
                    <a:solidFill>
                      <a:schemeClr val="tx1"/>
                    </a:solidFill>
                    <a:effectLst/>
                    <a:latin typeface="Segoe WPC"/>
                  </a:rPr>
                  <a:t> </a:t>
                </a:r>
                <a:r>
                  <a:rPr lang="es-PE" sz="900" b="0" i="0" dirty="0" err="1">
                    <a:solidFill>
                      <a:schemeClr val="tx1"/>
                    </a:solidFill>
                    <a:effectLst/>
                    <a:latin typeface="Segoe WPC"/>
                  </a:rPr>
                  <a:t>computer-generated</a:t>
                </a:r>
                <a:r>
                  <a:rPr lang="es-PE" sz="900" b="0" i="0" dirty="0">
                    <a:solidFill>
                      <a:schemeClr val="tx1"/>
                    </a:solidFill>
                    <a:effectLst/>
                    <a:latin typeface="Segoe WPC"/>
                  </a:rPr>
                  <a:t> </a:t>
                </a:r>
                <a:r>
                  <a:rPr lang="es-PE" sz="900" b="0" i="0" dirty="0" err="1">
                    <a:solidFill>
                      <a:schemeClr val="tx1"/>
                    </a:solidFill>
                    <a:effectLst/>
                    <a:latin typeface="Segoe WPC"/>
                  </a:rPr>
                  <a:t>numbers</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imitate</a:t>
                </a:r>
                <a:r>
                  <a:rPr lang="es-PE" sz="900" b="0" i="0" dirty="0">
                    <a:solidFill>
                      <a:schemeClr val="tx1"/>
                    </a:solidFill>
                    <a:effectLst/>
                    <a:latin typeface="Segoe WPC"/>
                  </a:rPr>
                  <a:t> </a:t>
                </a:r>
                <a:r>
                  <a:rPr lang="es-PE" sz="900" b="0" i="0" dirty="0" err="1">
                    <a:solidFill>
                      <a:schemeClr val="tx1"/>
                    </a:solidFill>
                    <a:effectLst/>
                    <a:latin typeface="Segoe WPC"/>
                  </a:rPr>
                  <a:t>random</a:t>
                </a:r>
                <a:r>
                  <a:rPr lang="es-PE" sz="900" b="0" i="0" dirty="0">
                    <a:solidFill>
                      <a:schemeClr val="tx1"/>
                    </a:solidFill>
                    <a:effectLst/>
                    <a:latin typeface="Segoe WPC"/>
                  </a:rPr>
                  <a:t> </a:t>
                </a:r>
                <a:r>
                  <a:rPr lang="es-PE" sz="900" b="0" i="0" dirty="0" err="1">
                    <a:solidFill>
                      <a:schemeClr val="tx1"/>
                    </a:solidFill>
                    <a:effectLst/>
                    <a:latin typeface="Segoe WPC"/>
                  </a:rPr>
                  <a:t>draws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Computers</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create</a:t>
                </a:r>
                <a:r>
                  <a:rPr lang="es-PE" sz="900" b="0" i="0" dirty="0">
                    <a:solidFill>
                      <a:schemeClr val="tx1"/>
                    </a:solidFill>
                    <a:effectLst/>
                    <a:latin typeface="Segoe WPC"/>
                  </a:rPr>
                  <a:t> true </a:t>
                </a:r>
                <a:r>
                  <a:rPr lang="es-PE" sz="900" b="0" i="0" dirty="0" err="1">
                    <a:solidFill>
                      <a:schemeClr val="tx1"/>
                    </a:solidFill>
                    <a:effectLst/>
                    <a:latin typeface="Segoe WPC"/>
                  </a:rPr>
                  <a:t>randomness</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reproducible </a:t>
                </a:r>
                <a:r>
                  <a:rPr lang="es-PE" sz="900" b="0" i="0" dirty="0" err="1">
                    <a:solidFill>
                      <a:schemeClr val="tx1"/>
                    </a:solidFill>
                    <a:effectLst/>
                    <a:latin typeface="Segoe WPC"/>
                  </a:rPr>
                  <a:t>random-looking</a:t>
                </a:r>
                <a:r>
                  <a:rPr lang="es-PE" sz="900" b="0" i="0" dirty="0">
                    <a:solidFill>
                      <a:schemeClr val="tx1"/>
                    </a:solidFill>
                    <a:effectLst/>
                    <a:latin typeface="Segoe WPC"/>
                  </a:rPr>
                  <a:t> </a:t>
                </a:r>
                <a:r>
                  <a:rPr lang="es-PE" sz="900" b="0" i="0" dirty="0" err="1">
                    <a:solidFill>
                      <a:schemeClr val="tx1"/>
                    </a:solidFill>
                    <a:effectLst/>
                    <a:latin typeface="Segoe WPC"/>
                  </a:rPr>
                  <a:t>sequences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seed</a:t>
                </a:r>
                <a:r>
                  <a:rPr lang="es-PE" sz="900" b="0" i="0" dirty="0">
                    <a:solidFill>
                      <a:schemeClr val="tx1"/>
                    </a:solidFill>
                    <a:effectLst/>
                    <a:latin typeface="Segoe WPC"/>
                  </a:rPr>
                  <a:t> </a:t>
                </a:r>
                <a:r>
                  <a:rPr lang="es-PE" sz="900" b="0" i="0" dirty="0" err="1">
                    <a:solidFill>
                      <a:schemeClr val="tx1"/>
                    </a:solidFill>
                    <a:effectLst/>
                    <a:latin typeface="Segoe WPC"/>
                  </a:rPr>
                  <a:t>starts</a:t>
                </a:r>
                <a:r>
                  <a:rPr lang="es-PE" sz="900" b="0" i="0" dirty="0">
                    <a:solidFill>
                      <a:schemeClr val="tx1"/>
                    </a:solidFill>
                    <a:effectLst/>
                    <a:latin typeface="Segoe WPC"/>
                  </a:rPr>
                  <a:t> a </a:t>
                </a:r>
                <a:r>
                  <a:rPr lang="es-PE" sz="900" b="0" i="0" dirty="0" err="1">
                    <a:solidFill>
                      <a:schemeClr val="tx1"/>
                    </a:solidFill>
                    <a:effectLst/>
                    <a:latin typeface="Segoe WPC"/>
                  </a:rPr>
                  <a:t>hidden</a:t>
                </a:r>
                <a:r>
                  <a:rPr lang="es-PE" sz="900" b="0" i="0" dirty="0">
                    <a:solidFill>
                      <a:schemeClr val="tx1"/>
                    </a:solidFill>
                    <a:effectLst/>
                    <a:latin typeface="Segoe WPC"/>
                  </a:rPr>
                  <a:t> machine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generates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path</a:t>
                </a:r>
                <a:r>
                  <a:rPr lang="es-PE" sz="900" b="0" i="0" dirty="0">
                    <a:solidFill>
                      <a:schemeClr val="tx1"/>
                    </a:solidFill>
                    <a:effectLst/>
                    <a:latin typeface="Segoe WPC"/>
                  </a:rPr>
                  <a:t> </a:t>
                </a:r>
                <a:r>
                  <a:rPr lang="es-PE" sz="900" b="0" i="0" dirty="0" err="1">
                    <a:solidFill>
                      <a:schemeClr val="tx1"/>
                    </a:solidFill>
                    <a:effectLst/>
                    <a:latin typeface="Segoe WPC"/>
                  </a:rPr>
                  <a:t>every</a:t>
                </a:r>
                <a:r>
                  <a:rPr lang="es-PE" sz="900" b="0" i="0" dirty="0">
                    <a:solidFill>
                      <a:schemeClr val="tx1"/>
                    </a:solidFill>
                    <a:effectLst/>
                    <a:latin typeface="Segoe WPC"/>
                  </a:rPr>
                  <a:t> time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reused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seed</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oMath>
                </a14:m>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pseudo-random</a:t>
                </a:r>
                <a:r>
                  <a:rPr lang="es-PE" sz="900" b="0" i="0" dirty="0">
                    <a:solidFill>
                      <a:schemeClr val="tx1"/>
                    </a:solidFill>
                    <a:effectLst/>
                    <a:latin typeface="Segoe WPC"/>
                  </a:rPr>
                  <a:t> </a:t>
                </a:r>
                <a:r>
                  <a:rPr lang="es-PE" sz="900" b="0" i="0" dirty="0" err="1">
                    <a:solidFill>
                      <a:schemeClr val="tx1"/>
                    </a:solidFill>
                    <a:effectLst/>
                    <a:latin typeface="Segoe WPC"/>
                  </a:rPr>
                  <a:t>sequence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Seeds</a:t>
                </a:r>
                <a:r>
                  <a:rPr lang="es-PE" sz="900" b="0" i="0" dirty="0">
                    <a:solidFill>
                      <a:schemeClr val="tx1"/>
                    </a:solidFill>
                    <a:effectLst/>
                    <a:latin typeface="Segoe WPC"/>
                  </a:rPr>
                  <a:t> </a:t>
                </a:r>
                <a:r>
                  <a:rPr lang="es-PE" sz="900" b="0" i="0" dirty="0" err="1">
                    <a:solidFill>
                      <a:schemeClr val="tx1"/>
                    </a:solidFill>
                    <a:effectLst/>
                    <a:latin typeface="Segoe WPC"/>
                  </a:rPr>
                  <a:t>allow</a:t>
                </a:r>
                <a:r>
                  <a:rPr lang="es-PE" sz="900" b="0" i="0" dirty="0">
                    <a:solidFill>
                      <a:schemeClr val="tx1"/>
                    </a:solidFill>
                    <a:effectLst/>
                    <a:latin typeface="Segoe WPC"/>
                  </a:rPr>
                  <a:t> </a:t>
                </a:r>
                <a:r>
                  <a:rPr lang="es-PE" sz="900" b="0" i="0" dirty="0" err="1">
                    <a:solidFill>
                      <a:schemeClr val="tx1"/>
                    </a:solidFill>
                    <a:effectLst/>
                    <a:latin typeface="Segoe WPC"/>
                  </a:rPr>
                  <a:t>replication</a:t>
                </a:r>
                <a:r>
                  <a:rPr lang="es-PE" sz="900" b="0" i="0" dirty="0">
                    <a:solidFill>
                      <a:schemeClr val="tx1"/>
                    </a:solidFill>
                    <a:effectLst/>
                    <a:latin typeface="Segoe WPC"/>
                  </a:rPr>
                  <a:t>, </a:t>
                </a:r>
                <a:r>
                  <a:rPr lang="es-PE" sz="900" b="0" i="0" dirty="0" err="1">
                    <a:solidFill>
                      <a:schemeClr val="tx1"/>
                    </a:solidFill>
                    <a:effectLst/>
                    <a:latin typeface="Segoe WPC"/>
                  </a:rPr>
                  <a:t>comparison</a:t>
                </a:r>
                <a:r>
                  <a:rPr lang="es-PE" sz="900" b="0" i="0" dirty="0">
                    <a:solidFill>
                      <a:schemeClr val="tx1"/>
                    </a:solidFill>
                    <a:effectLst/>
                    <a:latin typeface="Segoe WPC"/>
                  </a:rPr>
                  <a:t> </a:t>
                </a:r>
                <a:r>
                  <a:rPr lang="es-PE" sz="900" b="0" i="0" dirty="0" err="1">
                    <a:solidFill>
                      <a:schemeClr val="tx1"/>
                    </a:solidFill>
                    <a:effectLst/>
                    <a:latin typeface="Segoe WPC"/>
                  </a:rPr>
                  <a:t>across</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a:t>
                </a:r>
                <a:r>
                  <a:rPr lang="es-PE" sz="900" b="0" i="0" dirty="0" err="1">
                    <a:solidFill>
                      <a:schemeClr val="tx1"/>
                    </a:solidFill>
                    <a:effectLst/>
                    <a:latin typeface="Segoe WPC"/>
                  </a:rPr>
                  <a:t>regulatory</a:t>
                </a:r>
                <a:r>
                  <a:rPr lang="es-PE" sz="900" b="0" i="0" dirty="0">
                    <a:solidFill>
                      <a:schemeClr val="tx1"/>
                    </a:solidFill>
                    <a:effectLst/>
                    <a:latin typeface="Segoe WPC"/>
                  </a:rPr>
                  <a:t> </a:t>
                </a:r>
                <a:r>
                  <a:rPr lang="es-PE" sz="900" b="0" i="0" dirty="0" err="1">
                    <a:solidFill>
                      <a:schemeClr val="tx1"/>
                    </a:solidFill>
                    <a:effectLst/>
                    <a:latin typeface="Segoe WPC"/>
                  </a:rPr>
                  <a:t>reproducibility</a:t>
                </a:r>
                <a:r>
                  <a:rPr lang="es-PE" sz="900" b="0" i="0" dirty="0">
                    <a:solidFill>
                      <a:schemeClr val="tx1"/>
                    </a:solidFill>
                    <a:effectLst/>
                    <a:latin typeface="Segoe WPC"/>
                  </a:rPr>
                  <a:t>, and </a:t>
                </a:r>
                <a:r>
                  <a:rPr lang="es-PE" sz="900" b="0" i="0" dirty="0" err="1">
                    <a:solidFill>
                      <a:schemeClr val="tx1"/>
                    </a:solidFill>
                    <a:effectLst/>
                    <a:latin typeface="Segoe WPC"/>
                  </a:rPr>
                  <a:t>distributed</a:t>
                </a:r>
                <a:r>
                  <a:rPr lang="es-PE" sz="900" b="0" i="0" dirty="0">
                    <a:solidFill>
                      <a:schemeClr val="tx1"/>
                    </a:solidFill>
                    <a:effectLst/>
                    <a:latin typeface="Segoe WPC"/>
                  </a:rPr>
                  <a:t> </a:t>
                </a:r>
                <a:r>
                  <a:rPr lang="es-PE" sz="900" b="0" i="0" dirty="0" err="1">
                    <a:solidFill>
                      <a:schemeClr val="tx1"/>
                    </a:solidFill>
                    <a:effectLst/>
                    <a:latin typeface="Segoe WPC"/>
                  </a:rPr>
                  <a:t>simulations</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t>
                </a:r>
                <a:r>
                  <a:rPr lang="es-PE" sz="900" b="0" i="0" dirty="0" err="1">
                    <a:solidFill>
                      <a:schemeClr val="tx1"/>
                    </a:solidFill>
                    <a:effectLst/>
                    <a:latin typeface="Segoe WPC"/>
                  </a:rPr>
                  <a:t>common</a:t>
                </a:r>
                <a:r>
                  <a:rPr lang="es-PE" sz="900" b="0" i="0" dirty="0">
                    <a:solidFill>
                      <a:schemeClr val="tx1"/>
                    </a:solidFill>
                    <a:effectLst/>
                    <a:latin typeface="Segoe WPC"/>
                  </a:rPr>
                  <a:t> </a:t>
                </a:r>
                <a:r>
                  <a:rPr lang="es-PE" sz="900" b="0" i="0" dirty="0" err="1">
                    <a:solidFill>
                      <a:schemeClr val="tx1"/>
                    </a:solidFill>
                    <a:effectLst/>
                    <a:latin typeface="Segoe WPC"/>
                  </a:rPr>
                  <a:t>factors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Reusing</a:t>
                </a:r>
                <a:r>
                  <a:rPr lang="es-PE" sz="900" b="0" i="0" dirty="0">
                    <a:solidFill>
                      <a:schemeClr val="tx1"/>
                    </a:solidFill>
                    <a:effectLst/>
                    <a:latin typeface="Segoe WPC"/>
                  </a:rPr>
                  <a:t> a </a:t>
                </a:r>
                <a:r>
                  <a:rPr lang="es-PE" sz="900" b="0" i="0" dirty="0" err="1">
                    <a:solidFill>
                      <a:schemeClr val="tx1"/>
                    </a:solidFill>
                    <a:effectLst/>
                    <a:latin typeface="Segoe WPC"/>
                  </a:rPr>
                  <a:t>seed</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 </a:t>
                </a:r>
                <a:r>
                  <a:rPr lang="es-PE" sz="900" b="0" i="0" dirty="0" err="1">
                    <a:solidFill>
                      <a:schemeClr val="tx1"/>
                    </a:solidFill>
                    <a:effectLst/>
                    <a:latin typeface="Segoe WPC"/>
                  </a:rPr>
                  <a:t>flaw</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what</a:t>
                </a:r>
                <a:r>
                  <a:rPr lang="es-PE" sz="900" b="0" i="0" dirty="0">
                    <a:solidFill>
                      <a:schemeClr val="tx1"/>
                    </a:solidFill>
                    <a:effectLst/>
                    <a:latin typeface="Segoe WPC"/>
                  </a:rPr>
                  <a:t> </a:t>
                </a:r>
                <a:r>
                  <a:rPr lang="es-PE" sz="900" b="0" i="0" dirty="0" err="1">
                    <a:solidFill>
                      <a:schemeClr val="tx1"/>
                    </a:solidFill>
                    <a:effectLst/>
                    <a:latin typeface="Segoe WPC"/>
                  </a:rPr>
                  <a:t>makes</a:t>
                </a:r>
                <a:r>
                  <a:rPr lang="es-PE" sz="900" b="0" i="0" dirty="0">
                    <a:solidFill>
                      <a:schemeClr val="tx1"/>
                    </a:solidFill>
                    <a:effectLst/>
                    <a:latin typeface="Segoe WPC"/>
                  </a:rPr>
                  <a:t> </a:t>
                </a:r>
                <a:r>
                  <a:rPr lang="es-PE" sz="900" b="0" i="0" dirty="0" err="1">
                    <a:solidFill>
                      <a:schemeClr val="tx1"/>
                    </a:solidFill>
                    <a:effectLst/>
                    <a:latin typeface="Segoe WPC"/>
                  </a:rPr>
                  <a:t>simulations</a:t>
                </a:r>
                <a:r>
                  <a:rPr lang="es-PE" sz="900" b="0" i="0" dirty="0">
                    <a:solidFill>
                      <a:schemeClr val="tx1"/>
                    </a:solidFill>
                    <a:effectLst/>
                    <a:latin typeface="Segoe WPC"/>
                  </a:rPr>
                  <a:t> reproducible.</a:t>
                </a:r>
              </a:p>
              <a:p>
                <a:pPr algn="l">
                  <a:spcAft>
                    <a:spcPts val="1200"/>
                  </a:spcAft>
                  <a:buNone/>
                </a:pPr>
                <a:r>
                  <a:rPr lang="es-PE" sz="900" b="1" i="0" dirty="0">
                    <a:solidFill>
                      <a:schemeClr val="tx1"/>
                    </a:solidFill>
                    <a:effectLst/>
                    <a:latin typeface="Segoe WPC"/>
                  </a:rPr>
                  <a:t>3. </a:t>
                </a:r>
                <a:r>
                  <a:rPr lang="es-PE" sz="900" b="1" i="0" dirty="0" err="1">
                    <a:solidFill>
                      <a:schemeClr val="tx1"/>
                    </a:solidFill>
                    <a:effectLst/>
                    <a:latin typeface="Segoe WPC"/>
                  </a:rPr>
                  <a:t>Approximating</a:t>
                </a:r>
                <a:r>
                  <a:rPr lang="es-PE" sz="900" b="1" i="0" dirty="0">
                    <a:solidFill>
                      <a:schemeClr val="tx1"/>
                    </a:solidFill>
                    <a:effectLst/>
                    <a:latin typeface="Segoe WPC"/>
                  </a:rPr>
                  <a:t> </a:t>
                </a:r>
                <a:r>
                  <a:rPr lang="es-PE" sz="900" b="1" i="0" dirty="0" err="1">
                    <a:solidFill>
                      <a:schemeClr val="tx1"/>
                    </a:solidFill>
                    <a:effectLst/>
                    <a:latin typeface="Segoe WPC"/>
                  </a:rPr>
                  <a:t>Moments</a:t>
                </a:r>
                <a:r>
                  <a:rPr lang="es-PE" sz="900" b="1" i="0" dirty="0">
                    <a:solidFill>
                      <a:schemeClr val="tx1"/>
                    </a:solidFill>
                    <a:effectLst/>
                    <a:latin typeface="Segoe WPC"/>
                  </a:rPr>
                  <a:t> and Finite-</a:t>
                </a:r>
                <a:r>
                  <a:rPr lang="es-PE" sz="900" b="1" i="0" dirty="0" err="1">
                    <a:solidFill>
                      <a:schemeClr val="tx1"/>
                    </a:solidFill>
                    <a:effectLst/>
                    <a:latin typeface="Segoe WPC"/>
                  </a:rPr>
                  <a:t>Sample</a:t>
                </a:r>
                <a:r>
                  <a:rPr lang="es-PE" sz="900" b="1" i="0" dirty="0">
                    <a:solidFill>
                      <a:schemeClr val="tx1"/>
                    </a:solidFill>
                    <a:effectLst/>
                    <a:latin typeface="Segoe WPC"/>
                  </a:rPr>
                  <a:t> </a:t>
                </a:r>
                <a:r>
                  <a:rPr lang="es-PE" sz="900" b="1" i="0" dirty="0" err="1">
                    <a:solidFill>
                      <a:schemeClr val="tx1"/>
                    </a:solidFill>
                    <a:effectLst/>
                    <a:latin typeface="Segoe WPC"/>
                  </a:rPr>
                  <a:t>Behavior</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variances</a:t>
                </a:r>
                <a:r>
                  <a:rPr lang="es-PE" sz="900" b="0" i="0" dirty="0">
                    <a:solidFill>
                      <a:schemeClr val="tx1"/>
                    </a:solidFill>
                    <a:effectLst/>
                    <a:latin typeface="Segoe WPC"/>
                  </a:rPr>
                  <a:t>, </a:t>
                </a:r>
                <a:r>
                  <a:rPr lang="es-PE" sz="900" b="0" i="0" dirty="0" err="1">
                    <a:solidFill>
                      <a:schemeClr val="tx1"/>
                    </a:solidFill>
                    <a:effectLst/>
                    <a:latin typeface="Segoe WPC"/>
                  </a:rPr>
                  <a:t>quantiles</a:t>
                </a:r>
                <a:r>
                  <a:rPr lang="es-PE" sz="900" b="0" i="0" dirty="0">
                    <a:solidFill>
                      <a:schemeClr val="tx1"/>
                    </a:solidFill>
                    <a:effectLst/>
                    <a:latin typeface="Segoe WPC"/>
                  </a:rPr>
                  <a:t>, and finite-</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properties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estimators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Once </a:t>
                </a:r>
                <a:r>
                  <a:rPr lang="es-PE" sz="900" b="0" i="0" dirty="0" err="1">
                    <a:solidFill>
                      <a:schemeClr val="tx1"/>
                    </a:solidFill>
                    <a:effectLst/>
                    <a:latin typeface="Segoe WPC"/>
                  </a:rPr>
                  <a:t>simulated</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𝑔</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e>
                    </m:d>
                  </m:oMath>
                </a14:m>
                <a:r>
                  <a:rPr lang="ar-AE" sz="900" b="0" i="0" dirty="0">
                    <a:solidFill>
                      <a:schemeClr val="tx1"/>
                    </a:solidFill>
                    <a:effectLst/>
                    <a:latin typeface="Segoe WPC"/>
                  </a:rPr>
                  <a:t> </a:t>
                </a:r>
                <a:r>
                  <a:rPr lang="es-PE" sz="900" b="0" i="0" dirty="0">
                    <a:solidFill>
                      <a:schemeClr val="tx1"/>
                    </a:solidFill>
                    <a:effectLst/>
                    <a:latin typeface="Segoe WPC"/>
                  </a:rPr>
                  <a:t>are </a:t>
                </a:r>
                <a:r>
                  <a:rPr lang="es-PE" sz="900" b="0" i="0" dirty="0" err="1">
                    <a:solidFill>
                      <a:schemeClr val="tx1"/>
                    </a:solidFill>
                    <a:effectLst/>
                    <a:latin typeface="Segoe WPC"/>
                  </a:rPr>
                  <a:t>available</a:t>
                </a:r>
                <a:r>
                  <a:rPr lang="es-PE" sz="900" b="0" i="0" dirty="0">
                    <a:solidFill>
                      <a:schemeClr val="tx1"/>
                    </a:solidFill>
                    <a:effectLst/>
                    <a:latin typeface="Segoe WPC"/>
                  </a:rPr>
                  <a:t>, </a:t>
                </a:r>
                <a:r>
                  <a:rPr lang="es-PE" sz="900" b="0" i="0" dirty="0" err="1">
                    <a:solidFill>
                      <a:schemeClr val="tx1"/>
                    </a:solidFill>
                    <a:effectLst/>
                    <a:latin typeface="Segoe WPC"/>
                  </a:rPr>
                  <a:t>treat</a:t>
                </a:r>
                <a:r>
                  <a:rPr lang="es-PE" sz="900" b="0" i="0" dirty="0">
                    <a:solidFill>
                      <a:schemeClr val="tx1"/>
                    </a:solidFill>
                    <a:effectLst/>
                    <a:latin typeface="Segoe WPC"/>
                  </a:rPr>
                  <a:t> </a:t>
                </a:r>
                <a:r>
                  <a:rPr lang="es-PE" sz="900" b="0" i="0" dirty="0" err="1">
                    <a:solidFill>
                      <a:schemeClr val="tx1"/>
                    </a:solidFill>
                    <a:effectLst/>
                    <a:latin typeface="Segoe WPC"/>
                  </a:rPr>
                  <a:t>them</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data and compute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statistic</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Build</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simulated</a:t>
                </a:r>
                <a:r>
                  <a:rPr lang="es-PE" sz="900" b="0" i="0" dirty="0">
                    <a:solidFill>
                      <a:schemeClr val="tx1"/>
                    </a:solidFill>
                    <a:effectLst/>
                    <a:latin typeface="Segoe WPC"/>
                  </a:rPr>
                  <a:t> </a:t>
                </a:r>
                <a:r>
                  <a:rPr lang="es-PE" sz="900" b="0" i="0" dirty="0" err="1">
                    <a:solidFill>
                      <a:schemeClr val="tx1"/>
                    </a:solidFill>
                    <a:effectLst/>
                    <a:latin typeface="Segoe WPC"/>
                  </a:rPr>
                  <a:t>estimates</a:t>
                </a:r>
                <a:r>
                  <a:rPr lang="es-PE" sz="900" b="0" i="0" dirty="0">
                    <a:solidFill>
                      <a:schemeClr val="tx1"/>
                    </a:solidFill>
                    <a:effectLst/>
                    <a:latin typeface="Segoe WPC"/>
                  </a:rPr>
                  <a:t> and </a:t>
                </a:r>
                <a:r>
                  <a:rPr lang="es-PE" sz="900" b="0" i="0" dirty="0" err="1">
                    <a:solidFill>
                      <a:schemeClr val="tx1"/>
                    </a:solidFill>
                    <a:effectLst/>
                    <a:latin typeface="Segoe WPC"/>
                  </a:rPr>
                  <a:t>inspect</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vary</a:t>
                </a:r>
                <a:r>
                  <a:rPr lang="es-PE" sz="900" b="0" i="0" dirty="0">
                    <a:solidFill>
                      <a:schemeClr val="tx1"/>
                    </a:solidFill>
                    <a:effectLst/>
                    <a:latin typeface="Segoe WPC"/>
                  </a:rPr>
                  <a:t> </a:t>
                </a:r>
                <a:r>
                  <a:rPr lang="es-PE" sz="900" b="0" i="0" dirty="0" err="1">
                    <a:solidFill>
                      <a:schemeClr val="tx1"/>
                    </a:solidFill>
                    <a:effectLst/>
                    <a:latin typeface="Segoe WPC"/>
                  </a:rPr>
                  <a:t>around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true </a:t>
                </a:r>
                <a:r>
                  <a:rPr lang="es-PE" sz="900" b="0" i="0" dirty="0" err="1">
                    <a:solidFill>
                      <a:schemeClr val="tx1"/>
                    </a:solidFill>
                    <a:effectLst/>
                    <a:latin typeface="Segoe WPC"/>
                  </a:rPr>
                  <a:t>value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𝑉</m:t>
                    </m:r>
                    <m:d>
                      <m:dPr>
                        <m:ctrlPr>
                          <a:rPr lang="ar-AE" sz="900" i="1">
                            <a:solidFill>
                              <a:schemeClr val="tx1"/>
                            </a:solidFill>
                            <a:latin typeface="Cambria Math" panose="02040503050406030204" pitchFamily="18" charset="0"/>
                          </a:rPr>
                        </m:ctrlPr>
                      </m:d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𝑔</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e>
                                </m:d>
                              </m:e>
                            </m:d>
                          </m:e>
                        </m:acc>
                      </m:e>
                    </m:d>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𝑔</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𝑏</m:t>
                    </m:r>
                  </m:oMath>
                </a14:m>
                <a:r>
                  <a:rPr lang="ar-AE" sz="900" b="0" i="0" dirty="0">
                    <a:solidFill>
                      <a:schemeClr val="tx1"/>
                    </a:solidFill>
                    <a:effectLst/>
                    <a:latin typeface="Segoe WPC"/>
                  </a:rPr>
                  <a:t>, </a:t>
                </a:r>
                <a:r>
                  <a:rPr lang="es-PE" sz="900" b="0" i="0" dirty="0">
                    <a:solidFill>
                      <a:schemeClr val="tx1"/>
                    </a:solidFill>
                    <a:effectLst/>
                    <a:latin typeface="Segoe WPC"/>
                  </a:rPr>
                  <a:t>so </a:t>
                </a:r>
                <a:r>
                  <a:rPr lang="es-PE" sz="900" b="0" i="0" dirty="0" err="1">
                    <a:solidFill>
                      <a:schemeClr val="tx1"/>
                    </a:solidFill>
                    <a:effectLst/>
                    <a:latin typeface="Segoe WPC"/>
                  </a:rPr>
                  <a:t>the</a:t>
                </a:r>
                <a:r>
                  <a:rPr lang="es-PE" sz="900" b="0" i="0" dirty="0">
                    <a:solidFill>
                      <a:schemeClr val="tx1"/>
                    </a:solidFill>
                    <a:effectLst/>
                    <a:latin typeface="Segoe WPC"/>
                  </a:rPr>
                  <a:t> standard error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𝑔</m:t>
                        </m:r>
                      </m:sub>
                    </m:sSub>
                    <m:r>
                      <a:rPr lang="ar-AE" sz="900" i="0">
                        <a:solidFill>
                          <a:schemeClr val="tx1"/>
                        </a:solidFill>
                        <a:latin typeface="Cambria Math" panose="02040503050406030204" pitchFamily="18" charset="0"/>
                      </a:rPr>
                      <m:t>/</m:t>
                    </m:r>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𝑏</m:t>
                        </m:r>
                      </m:e>
                    </m:rad>
                  </m:oMath>
                </a14:m>
                <a:r>
                  <a:rPr lang="ar-AE" sz="900" b="0" i="0" dirty="0">
                    <a:solidFill>
                      <a:schemeClr val="tx1"/>
                    </a:solidFill>
                    <a:effectLst/>
                    <a:latin typeface="Segoe WPC"/>
                  </a:rPr>
                  <a:t>; </a:t>
                </a:r>
                <a:r>
                  <a:rPr lang="es-PE" sz="900" b="0" i="0" dirty="0" err="1">
                    <a:solidFill>
                      <a:schemeClr val="tx1"/>
                    </a:solidFill>
                    <a:effectLst/>
                    <a:latin typeface="Segoe WPC"/>
                  </a:rPr>
                  <a:t>also</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𝐵𝑖𝑎𝑠</m:t>
                    </m:r>
                    <m:d>
                      <m:dPr>
                        <m:ctrlPr>
                          <a:rPr lang="ar-AE" sz="900" i="1">
                            <a:solidFill>
                              <a:schemeClr val="tx1"/>
                            </a:solidFill>
                            <a:latin typeface="Cambria Math" panose="02040503050406030204" pitchFamily="18" charset="0"/>
                          </a:rPr>
                        </m:ctrlPr>
                      </m:d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𝜃</m:t>
                            </m:r>
                          </m:e>
                        </m:acc>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𝜃</m:t>
                            </m:r>
                          </m:e>
                        </m:acc>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𝜃</m:t>
                    </m:r>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Simulation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approximating</a:t>
                </a:r>
                <a:r>
                  <a:rPr lang="es-PE" sz="900" b="0" i="0" dirty="0">
                    <a:solidFill>
                      <a:schemeClr val="tx1"/>
                    </a:solidFill>
                    <a:effectLst/>
                    <a:latin typeface="Segoe WPC"/>
                  </a:rPr>
                  <a:t> </a:t>
                </a:r>
                <a:r>
                  <a:rPr lang="es-PE" sz="900" b="0" i="0" dirty="0" err="1">
                    <a:solidFill>
                      <a:schemeClr val="tx1"/>
                    </a:solidFill>
                    <a:effectLst/>
                    <a:latin typeface="Segoe WPC"/>
                  </a:rPr>
                  <a:t>hard</a:t>
                </a:r>
                <a:r>
                  <a:rPr lang="es-PE" sz="900" b="0" i="0" dirty="0">
                    <a:solidFill>
                      <a:schemeClr val="tx1"/>
                    </a:solidFill>
                    <a:effectLst/>
                    <a:latin typeface="Segoe WPC"/>
                  </a:rPr>
                  <a:t> </a:t>
                </a:r>
                <a:r>
                  <a:rPr lang="es-PE" sz="900" b="0" i="0" dirty="0" err="1">
                    <a:solidFill>
                      <a:schemeClr val="tx1"/>
                    </a:solidFill>
                    <a:effectLst/>
                    <a:latin typeface="Segoe WPC"/>
                  </a:rPr>
                  <a:t>expectations</a:t>
                </a:r>
                <a:r>
                  <a:rPr lang="es-PE" sz="900" b="0" i="0" dirty="0">
                    <a:solidFill>
                      <a:schemeClr val="tx1"/>
                    </a:solidFill>
                    <a:effectLst/>
                    <a:latin typeface="Segoe WPC"/>
                  </a:rPr>
                  <a:t> and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studying</a:t>
                </a:r>
                <a:r>
                  <a:rPr lang="es-PE" sz="900" b="0" i="0" dirty="0">
                    <a:solidFill>
                      <a:schemeClr val="tx1"/>
                    </a:solidFill>
                    <a:effectLst/>
                    <a:latin typeface="Segoe WPC"/>
                  </a:rPr>
                  <a:t> </a:t>
                </a:r>
                <a:r>
                  <a:rPr lang="es-PE" sz="900" b="0" i="0" dirty="0" err="1">
                    <a:solidFill>
                      <a:schemeClr val="tx1"/>
                    </a:solidFill>
                    <a:effectLst/>
                    <a:latin typeface="Segoe WPC"/>
                  </a:rPr>
                  <a:t>bias</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and </a:t>
                </a:r>
                <a:r>
                  <a:rPr lang="es-PE" sz="900" b="0" i="0" dirty="0" err="1">
                    <a:solidFill>
                      <a:schemeClr val="tx1"/>
                    </a:solidFill>
                    <a:effectLst/>
                    <a:latin typeface="Segoe WPC"/>
                  </a:rPr>
                  <a:t>quantiles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estimators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asymptotic</a:t>
                </a:r>
                <a:r>
                  <a:rPr lang="es-PE" sz="900" b="0" i="0" dirty="0">
                    <a:solidFill>
                      <a:schemeClr val="tx1"/>
                    </a:solidFill>
                    <a:effectLst/>
                    <a:latin typeface="Segoe WPC"/>
                  </a:rPr>
                  <a:t> </a:t>
                </a:r>
                <a:r>
                  <a:rPr lang="es-PE" sz="900" b="0" i="0" dirty="0" err="1">
                    <a:solidFill>
                      <a:schemeClr val="tx1"/>
                    </a:solidFill>
                    <a:effectLst/>
                    <a:latin typeface="Segoe WPC"/>
                  </a:rPr>
                  <a:t>theory</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be </a:t>
                </a:r>
                <a:r>
                  <a:rPr lang="es-PE" sz="900" b="0" i="0" dirty="0" err="1">
                    <a:solidFill>
                      <a:schemeClr val="tx1"/>
                    </a:solidFill>
                    <a:effectLst/>
                    <a:latin typeface="Segoe WPC"/>
                  </a:rPr>
                  <a:t>weak</a:t>
                </a:r>
                <a:r>
                  <a:rPr lang="es-PE" sz="900" b="0" i="0" dirty="0">
                    <a:solidFill>
                      <a:schemeClr val="tx1"/>
                    </a:solidFill>
                    <a:effectLst/>
                    <a:latin typeface="Segoe WPC"/>
                  </a:rPr>
                  <a:t> in </a:t>
                </a:r>
                <a:r>
                  <a:rPr lang="es-PE" sz="900" b="0" i="0" dirty="0" err="1">
                    <a:solidFill>
                      <a:schemeClr val="tx1"/>
                    </a:solidFill>
                    <a:effectLst/>
                    <a:latin typeface="Segoe WPC"/>
                  </a:rPr>
                  <a:t>small</a:t>
                </a:r>
                <a:r>
                  <a:rPr lang="es-PE" sz="900" b="0" i="0" dirty="0">
                    <a:solidFill>
                      <a:schemeClr val="tx1"/>
                    </a:solidFill>
                    <a:effectLst/>
                    <a:latin typeface="Segoe WPC"/>
                  </a:rPr>
                  <a:t> </a:t>
                </a:r>
                <a:r>
                  <a:rPr lang="es-PE" sz="900" b="0" i="0" dirty="0" err="1">
                    <a:solidFill>
                      <a:schemeClr val="tx1"/>
                    </a:solidFill>
                    <a:effectLst/>
                    <a:latin typeface="Segoe WPC"/>
                  </a:rPr>
                  <a:t>samples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confuse </a:t>
                </a:r>
                <a14:m>
                  <m:oMath xmlns:m="http://schemas.openxmlformats.org/officeDocument/2006/math">
                    <m:r>
                      <a:rPr lang="es-PE" sz="900" i="1">
                        <a:solidFill>
                          <a:schemeClr val="tx1"/>
                        </a:solidFill>
                        <a:latin typeface="Cambria Math" panose="02040503050406030204" pitchFamily="18" charset="0"/>
                      </a:rPr>
                      <m:t>𝑛</m:t>
                    </m:r>
                  </m:oMath>
                </a14:m>
                <a:r>
                  <a:rPr lang="es-PE" sz="900" b="0" i="0" dirty="0">
                    <a:solidFill>
                      <a:schemeClr val="tx1"/>
                    </a:solidFill>
                    <a:effectLst/>
                    <a:latin typeface="Segoe WPC"/>
                  </a:rPr>
                  <a:t> = </a:t>
                </a:r>
                <a:r>
                  <a:rPr lang="es-PE" sz="900" b="0" i="0" dirty="0" err="1">
                    <a:solidFill>
                      <a:schemeClr val="tx1"/>
                    </a:solidFill>
                    <a:effectLst/>
                    <a:latin typeface="Segoe WPC"/>
                  </a:rPr>
                  <a:t>observations</a:t>
                </a:r>
                <a:r>
                  <a:rPr lang="es-PE" sz="900" b="0" i="0" dirty="0">
                    <a:solidFill>
                      <a:schemeClr val="tx1"/>
                    </a:solidFill>
                    <a:effectLst/>
                    <a:latin typeface="Segoe WPC"/>
                  </a:rPr>
                  <a:t> </a:t>
                </a:r>
                <a:r>
                  <a:rPr lang="es-PE" sz="900" b="0" i="0" dirty="0" err="1">
                    <a:solidFill>
                      <a:schemeClr val="tx1"/>
                    </a:solidFill>
                    <a:effectLst/>
                    <a:latin typeface="Segoe WPC"/>
                  </a:rPr>
                  <a:t>inside</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simulated</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𝑏</m:t>
                    </m:r>
                  </m:oMath>
                </a14:m>
                <a:r>
                  <a:rPr lang="es-PE" sz="900" b="0" i="0" dirty="0">
                    <a:solidFill>
                      <a:schemeClr val="tx1"/>
                    </a:solidFill>
                    <a:effectLst/>
                    <a:latin typeface="Segoe WPC"/>
                  </a:rPr>
                  <a:t> = </a:t>
                </a:r>
                <a:r>
                  <a:rPr lang="es-PE" sz="900" b="0" i="0" dirty="0" err="1">
                    <a:solidFill>
                      <a:schemeClr val="tx1"/>
                    </a:solidFill>
                    <a:effectLst/>
                    <a:latin typeface="Segoe WPC"/>
                  </a:rPr>
                  <a:t>number</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replications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4. </a:t>
                </a:r>
                <a:r>
                  <a:rPr lang="es-PE" sz="900" b="1" i="0" dirty="0" err="1">
                    <a:solidFill>
                      <a:schemeClr val="tx1"/>
                    </a:solidFill>
                    <a:effectLst/>
                    <a:latin typeface="Segoe WPC"/>
                  </a:rPr>
                  <a:t>Example</a:t>
                </a:r>
                <a:r>
                  <a:rPr lang="es-PE" sz="900" b="1" i="0" dirty="0">
                    <a:solidFill>
                      <a:schemeClr val="tx1"/>
                    </a:solidFill>
                    <a:effectLst/>
                    <a:latin typeface="Segoe WPC"/>
                  </a:rPr>
                  <a:t>: </a:t>
                </a:r>
                <a:r>
                  <a:rPr lang="es-PE" sz="900" b="1" i="0" dirty="0" err="1">
                    <a:solidFill>
                      <a:schemeClr val="tx1"/>
                    </a:solidFill>
                    <a:effectLst/>
                    <a:latin typeface="Segoe WPC"/>
                  </a:rPr>
                  <a:t>Pricing</a:t>
                </a:r>
                <a:r>
                  <a:rPr lang="es-PE" sz="900" b="1" i="0" dirty="0">
                    <a:solidFill>
                      <a:schemeClr val="tx1"/>
                    </a:solidFill>
                    <a:effectLst/>
                    <a:latin typeface="Segoe WPC"/>
                  </a:rPr>
                  <a:t> a </a:t>
                </a:r>
                <a:r>
                  <a:rPr lang="es-PE" sz="900" b="1" i="0" dirty="0" err="1">
                    <a:solidFill>
                      <a:schemeClr val="tx1"/>
                    </a:solidFill>
                    <a:effectLst/>
                    <a:latin typeface="Segoe WPC"/>
                  </a:rPr>
                  <a:t>European</a:t>
                </a:r>
                <a:r>
                  <a:rPr lang="es-PE" sz="900" b="1" i="0" dirty="0">
                    <a:solidFill>
                      <a:schemeClr val="tx1"/>
                    </a:solidFill>
                    <a:effectLst/>
                    <a:latin typeface="Segoe WPC"/>
                  </a:rPr>
                  <a:t> </a:t>
                </a:r>
                <a:r>
                  <a:rPr lang="es-PE" sz="900" b="1" i="0" dirty="0" err="1">
                    <a:solidFill>
                      <a:schemeClr val="tx1"/>
                    </a:solidFill>
                    <a:effectLst/>
                    <a:latin typeface="Segoe WPC"/>
                  </a:rPr>
                  <a:t>Call</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discounted</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Simulate</a:t>
                </a:r>
                <a:r>
                  <a:rPr lang="es-PE" sz="900" b="0" i="0" dirty="0">
                    <a:solidFill>
                      <a:schemeClr val="tx1"/>
                    </a:solidFill>
                    <a:effectLst/>
                    <a:latin typeface="Segoe WPC"/>
                  </a:rPr>
                  <a:t> terminal stock </a:t>
                </a:r>
                <a:r>
                  <a:rPr lang="es-PE" sz="900" b="0" i="0" dirty="0" err="1">
                    <a:solidFill>
                      <a:schemeClr val="tx1"/>
                    </a:solidFill>
                    <a:effectLst/>
                    <a:latin typeface="Segoe WPC"/>
                  </a:rPr>
                  <a:t>prices</a:t>
                </a:r>
                <a:r>
                  <a:rPr lang="es-PE" sz="900" b="0" i="0" dirty="0">
                    <a:solidFill>
                      <a:schemeClr val="tx1"/>
                    </a:solidFill>
                    <a:effectLst/>
                    <a:latin typeface="Segoe WPC"/>
                  </a:rPr>
                  <a:t>, compute </a:t>
                </a:r>
                <a14:m>
                  <m:oMath xmlns:m="http://schemas.openxmlformats.org/officeDocument/2006/math">
                    <m:r>
                      <m:rPr>
                        <m:sty m:val="p"/>
                      </m:rPr>
                      <a:rPr lang="es-PE" sz="90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0</m:t>
                        </m:r>
                      </m:e>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e>
                    </m:d>
                  </m:oMath>
                </a14:m>
                <a:r>
                  <a:rPr lang="ar-A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time, </a:t>
                </a:r>
                <a:r>
                  <a:rPr lang="es-PE" sz="900" b="0" i="0" dirty="0" err="1">
                    <a:solidFill>
                      <a:schemeClr val="tx1"/>
                    </a:solidFill>
                    <a:effectLst/>
                    <a:latin typeface="Segoe WPC"/>
                  </a:rPr>
                  <a:t>discount</a:t>
                </a:r>
                <a:r>
                  <a:rPr lang="es-PE" sz="900" b="0" i="0" dirty="0">
                    <a:solidFill>
                      <a:schemeClr val="tx1"/>
                    </a:solidFill>
                    <a:effectLst/>
                    <a:latin typeface="Segoe WPC"/>
                  </a:rPr>
                  <a:t>, and </a:t>
                </a:r>
                <a:r>
                  <a:rPr lang="es-PE" sz="900" b="0" i="0" dirty="0" err="1">
                    <a:solidFill>
                      <a:schemeClr val="tx1"/>
                    </a:solidFill>
                    <a:effectLst/>
                    <a:latin typeface="Segoe WPC"/>
                  </a:rPr>
                  <a:t>average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Most</a:t>
                </a:r>
                <a:r>
                  <a:rPr lang="es-PE" sz="900" b="0" i="0" dirty="0">
                    <a:solidFill>
                      <a:schemeClr val="tx1"/>
                    </a:solidFill>
                    <a:effectLst/>
                    <a:latin typeface="Segoe WPC"/>
                  </a:rPr>
                  <a:t> </a:t>
                </a:r>
                <a:r>
                  <a:rPr lang="es-PE" sz="900" b="0" i="0" dirty="0" err="1">
                    <a:solidFill>
                      <a:schemeClr val="tx1"/>
                    </a:solidFill>
                    <a:effectLst/>
                    <a:latin typeface="Segoe WPC"/>
                  </a:rPr>
                  <a:t>paths</a:t>
                </a:r>
                <a:r>
                  <a:rPr lang="es-PE" sz="900" b="0" i="0" dirty="0">
                    <a:solidFill>
                      <a:schemeClr val="tx1"/>
                    </a:solidFill>
                    <a:effectLst/>
                    <a:latin typeface="Segoe WPC"/>
                  </a:rPr>
                  <a:t> produce </a:t>
                </a:r>
                <a:r>
                  <a:rPr lang="es-PE" sz="900" b="0" i="0" dirty="0" err="1">
                    <a:solidFill>
                      <a:schemeClr val="tx1"/>
                    </a:solidFill>
                    <a:effectLst/>
                    <a:latin typeface="Segoe WPC"/>
                  </a:rPr>
                  <a:t>small</a:t>
                </a:r>
                <a:r>
                  <a:rPr lang="es-PE" sz="900" b="0" i="0" dirty="0">
                    <a:solidFill>
                      <a:schemeClr val="tx1"/>
                    </a:solidFill>
                    <a:effectLst/>
                    <a:latin typeface="Segoe WPC"/>
                  </a:rPr>
                  <a:t> </a:t>
                </a:r>
                <a:r>
                  <a:rPr lang="es-PE" sz="900" b="0" i="0" dirty="0" err="1">
                    <a:solidFill>
                      <a:schemeClr val="tx1"/>
                    </a:solidFill>
                    <a:effectLst/>
                    <a:latin typeface="Segoe WPC"/>
                  </a:rPr>
                  <a:t>payoffs</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 </a:t>
                </a:r>
                <a:r>
                  <a:rPr lang="es-PE" sz="900" b="0" i="0" dirty="0" err="1">
                    <a:solidFill>
                      <a:schemeClr val="tx1"/>
                    </a:solidFill>
                    <a:effectLst/>
                    <a:latin typeface="Segoe WPC"/>
                  </a:rPr>
                  <a:t>few</a:t>
                </a:r>
                <a:r>
                  <a:rPr lang="es-PE" sz="900" b="0" i="0" dirty="0">
                    <a:solidFill>
                      <a:schemeClr val="tx1"/>
                    </a:solidFill>
                    <a:effectLst/>
                    <a:latin typeface="Segoe WPC"/>
                  </a:rPr>
                  <a:t> </a:t>
                </a:r>
                <a:r>
                  <a:rPr lang="es-PE" sz="900" b="0" i="0" dirty="0" err="1">
                    <a:solidFill>
                      <a:schemeClr val="tx1"/>
                    </a:solidFill>
                    <a:effectLst/>
                    <a:latin typeface="Segoe WPC"/>
                  </a:rPr>
                  <a:t>high-price</a:t>
                </a:r>
                <a:r>
                  <a:rPr lang="es-PE" sz="900" b="0" i="0" dirty="0">
                    <a:solidFill>
                      <a:schemeClr val="tx1"/>
                    </a:solidFill>
                    <a:effectLst/>
                    <a:latin typeface="Segoe WPC"/>
                  </a:rPr>
                  <a:t> </a:t>
                </a:r>
                <a:r>
                  <a:rPr lang="es-PE" sz="900" b="0" i="0" dirty="0" err="1">
                    <a:solidFill>
                      <a:schemeClr val="tx1"/>
                    </a:solidFill>
                    <a:effectLst/>
                    <a:latin typeface="Segoe WPC"/>
                  </a:rPr>
                  <a:t>paths</a:t>
                </a:r>
                <a:r>
                  <a:rPr lang="es-PE" sz="900" b="0" i="0" dirty="0">
                    <a:solidFill>
                      <a:schemeClr val="tx1"/>
                    </a:solidFill>
                    <a:effectLst/>
                    <a:latin typeface="Segoe WPC"/>
                  </a:rPr>
                  <a:t> </a:t>
                </a:r>
                <a:r>
                  <a:rPr lang="es-PE" sz="900" b="0" i="0" dirty="0" err="1">
                    <a:solidFill>
                      <a:schemeClr val="tx1"/>
                    </a:solidFill>
                    <a:effectLst/>
                    <a:latin typeface="Segoe WPC"/>
                  </a:rPr>
                  <a:t>create</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gains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𝐶</m:t>
                    </m:r>
                    <m:r>
                      <a:rPr lang="es-P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𝑓</m:t>
                            </m:r>
                          </m:sub>
                        </m:sSub>
                        <m:r>
                          <a:rPr lang="ar-AE" sz="900" i="1">
                            <a:solidFill>
                              <a:schemeClr val="tx1"/>
                            </a:solidFill>
                            <a:latin typeface="Cambria Math" panose="02040503050406030204" pitchFamily="18" charset="0"/>
                          </a:rPr>
                          <m:t>𝑇</m:t>
                        </m:r>
                      </m:sup>
                    </m:sSup>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1">
                            <a:solidFill>
                              <a:schemeClr val="tx1"/>
                            </a:solidFill>
                            <a:latin typeface="Cambria Math" panose="02040503050406030204" pitchFamily="18" charset="0"/>
                          </a:rPr>
                          <m:t>𝑏</m:t>
                        </m:r>
                      </m:den>
                    </m:f>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𝑏</m:t>
                        </m:r>
                      </m:sup>
                      <m:e>
                        <m:r>
                          <m:rPr>
                            <m:sty m:val="p"/>
                          </m:rPr>
                          <a:rPr lang="es-PE" sz="900" i="0">
                            <a:solidFill>
                              <a:schemeClr val="tx1"/>
                            </a:solidFill>
                            <a:latin typeface="Cambria Math" panose="02040503050406030204" pitchFamily="18" charset="0"/>
                          </a:rPr>
                          <m:t>max</m:t>
                        </m:r>
                      </m:e>
                    </m:nary>
                    <m:r>
                      <a:rPr lang="ar-A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0</m:t>
                        </m:r>
                      </m:e>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Monte Carlo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especially</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nonlinear</a:t>
                </a:r>
                <a:r>
                  <a:rPr lang="es-PE" sz="900" b="0" i="0" dirty="0">
                    <a:solidFill>
                      <a:schemeClr val="tx1"/>
                    </a:solidFill>
                    <a:effectLst/>
                    <a:latin typeface="Segoe WPC"/>
                  </a:rPr>
                  <a:t> </a:t>
                </a:r>
                <a:r>
                  <a:rPr lang="es-PE" sz="900" b="0" i="0" dirty="0" err="1">
                    <a:solidFill>
                      <a:schemeClr val="tx1"/>
                    </a:solidFill>
                    <a:effectLst/>
                    <a:latin typeface="Segoe WPC"/>
                  </a:rPr>
                  <a:t>payoffs</a:t>
                </a:r>
                <a:r>
                  <a:rPr lang="es-PE" sz="900" b="0" i="0" dirty="0">
                    <a:solidFill>
                      <a:schemeClr val="tx1"/>
                    </a:solidFill>
                    <a:effectLst/>
                    <a:latin typeface="Segoe WPC"/>
                  </a:rPr>
                  <a:t> and </a:t>
                </a:r>
                <a:r>
                  <a:rPr lang="es-PE" sz="900" b="0" i="0" dirty="0" err="1">
                    <a:solidFill>
                      <a:schemeClr val="tx1"/>
                    </a:solidFill>
                    <a:effectLst/>
                    <a:latin typeface="Segoe WPC"/>
                  </a:rPr>
                  <a:t>analytically</a:t>
                </a:r>
                <a:r>
                  <a:rPr lang="es-PE" sz="900" b="0" i="0" dirty="0">
                    <a:solidFill>
                      <a:schemeClr val="tx1"/>
                    </a:solidFill>
                    <a:effectLst/>
                    <a:latin typeface="Segoe WPC"/>
                  </a:rPr>
                  <a:t> </a:t>
                </a:r>
                <a:r>
                  <a:rPr lang="es-PE" sz="900" b="0" i="0" dirty="0" err="1">
                    <a:solidFill>
                      <a:schemeClr val="tx1"/>
                    </a:solidFill>
                    <a:effectLst/>
                    <a:latin typeface="Segoe WPC"/>
                  </a:rPr>
                  <a:t>intractable</a:t>
                </a:r>
                <a:r>
                  <a:rPr lang="es-PE" sz="900" b="0" i="0" dirty="0">
                    <a:solidFill>
                      <a:schemeClr val="tx1"/>
                    </a:solidFill>
                    <a:effectLst/>
                    <a:latin typeface="Segoe WPC"/>
                  </a:rPr>
                  <a:t> </a:t>
                </a:r>
                <a:r>
                  <a:rPr lang="es-PE" sz="900" b="0" i="0" dirty="0" err="1">
                    <a:solidFill>
                      <a:schemeClr val="tx1"/>
                    </a:solidFill>
                    <a:effectLst/>
                    <a:latin typeface="Segoe WPC"/>
                  </a:rPr>
                  <a:t>pricing</a:t>
                </a:r>
                <a:r>
                  <a:rPr lang="es-PE" sz="900" b="0" i="0" dirty="0">
                    <a:solidFill>
                      <a:schemeClr val="tx1"/>
                    </a:solidFill>
                    <a:effectLst/>
                    <a:latin typeface="Segoe WPC"/>
                  </a:rPr>
                  <a:t> </a:t>
                </a:r>
                <a:r>
                  <a:rPr lang="es-PE" sz="900" b="0" i="0" dirty="0" err="1">
                    <a:solidFill>
                      <a:schemeClr val="tx1"/>
                    </a:solidFill>
                    <a:effectLst/>
                    <a:latin typeface="Segoe WPC"/>
                  </a:rPr>
                  <a:t>problems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Precision</a:t>
                </a:r>
                <a:r>
                  <a:rPr lang="es-PE" sz="900" b="0" i="0" dirty="0">
                    <a:solidFill>
                      <a:schemeClr val="tx1"/>
                    </a:solidFill>
                    <a:effectLst/>
                    <a:latin typeface="Segoe WPC"/>
                  </a:rPr>
                  <a:t> </a:t>
                </a:r>
                <a:r>
                  <a:rPr lang="es-PE" sz="900" b="0" i="0" dirty="0" err="1">
                    <a:solidFill>
                      <a:schemeClr val="tx1"/>
                    </a:solidFill>
                    <a:effectLst/>
                    <a:latin typeface="Segoe WPC"/>
                  </a:rPr>
                  <a:t>improves</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t>
                </a:r>
                <a:r>
                  <a:rPr lang="es-PE" sz="900" b="0" i="0" dirty="0" err="1">
                    <a:solidFill>
                      <a:schemeClr val="tx1"/>
                    </a:solidFill>
                    <a:effectLst/>
                    <a:latin typeface="Segoe WPC"/>
                  </a:rPr>
                  <a:t>rate</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1</m:t>
                    </m:r>
                    <m:r>
                      <a:rPr lang="es-PE" sz="900" i="0">
                        <a:solidFill>
                          <a:schemeClr val="tx1"/>
                        </a:solidFill>
                        <a:latin typeface="Cambria Math" panose="02040503050406030204" pitchFamily="18" charset="0"/>
                      </a:rPr>
                      <m:t>/</m:t>
                    </m:r>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𝑏</m:t>
                        </m:r>
                      </m:e>
                    </m:rad>
                  </m:oMath>
                </a14:m>
                <a:r>
                  <a:rPr lang="ar-AE" sz="900" b="0" i="0" dirty="0">
                    <a:solidFill>
                      <a:schemeClr val="tx1"/>
                    </a:solidFill>
                    <a:effectLst/>
                    <a:latin typeface="Segoe WPC"/>
                  </a:rPr>
                  <a:t>, </a:t>
                </a:r>
                <a:r>
                  <a:rPr lang="es-PE" sz="900" b="0" i="0" dirty="0">
                    <a:solidFill>
                      <a:schemeClr val="tx1"/>
                    </a:solidFill>
                    <a:effectLst/>
                    <a:latin typeface="Segoe WPC"/>
                  </a:rPr>
                  <a:t>so </a:t>
                </a:r>
                <a:r>
                  <a:rPr lang="es-PE" sz="900" b="0" i="0" dirty="0" err="1">
                    <a:solidFill>
                      <a:schemeClr val="tx1"/>
                    </a:solidFill>
                    <a:effectLst/>
                    <a:latin typeface="Segoe WPC"/>
                  </a:rPr>
                  <a:t>tail</a:t>
                </a:r>
                <a:r>
                  <a:rPr lang="es-PE" sz="900" b="0" i="0" dirty="0">
                    <a:solidFill>
                      <a:schemeClr val="tx1"/>
                    </a:solidFill>
                    <a:effectLst/>
                    <a:latin typeface="Segoe WPC"/>
                  </a:rPr>
                  <a:t>-sensitive </a:t>
                </a:r>
                <a:r>
                  <a:rPr lang="es-PE" sz="900" b="0" i="0" dirty="0" err="1">
                    <a:solidFill>
                      <a:schemeClr val="tx1"/>
                    </a:solidFill>
                    <a:effectLst/>
                    <a:latin typeface="Segoe WPC"/>
                  </a:rPr>
                  <a:t>prices</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still</a:t>
                </a:r>
                <a:r>
                  <a:rPr lang="es-PE" sz="900" b="0" i="0" dirty="0">
                    <a:solidFill>
                      <a:schemeClr val="tx1"/>
                    </a:solidFill>
                    <a:effectLst/>
                    <a:latin typeface="Segoe WPC"/>
                  </a:rPr>
                  <a:t> </a:t>
                </a:r>
                <a:r>
                  <a:rPr lang="es-PE" sz="900" b="0" i="0" dirty="0" err="1">
                    <a:solidFill>
                      <a:schemeClr val="tx1"/>
                    </a:solidFill>
                    <a:effectLst/>
                    <a:latin typeface="Segoe WPC"/>
                  </a:rPr>
                  <a:t>need</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replications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5. </a:t>
                </a:r>
                <a:r>
                  <a:rPr lang="es-PE" sz="900" b="1" i="0" dirty="0" err="1">
                    <a:solidFill>
                      <a:schemeClr val="tx1"/>
                    </a:solidFill>
                    <a:effectLst/>
                    <a:latin typeface="Segoe WPC"/>
                  </a:rPr>
                  <a:t>Antithetic</a:t>
                </a:r>
                <a:r>
                  <a:rPr lang="es-PE" sz="900" b="1" i="0" dirty="0">
                    <a:solidFill>
                      <a:schemeClr val="tx1"/>
                    </a:solidFill>
                    <a:effectLst/>
                    <a:latin typeface="Segoe WPC"/>
                  </a:rPr>
                  <a:t> </a:t>
                </a:r>
                <a:r>
                  <a:rPr lang="es-PE" sz="900" b="1" i="0" dirty="0" err="1">
                    <a:solidFill>
                      <a:schemeClr val="tx1"/>
                    </a:solidFill>
                    <a:effectLst/>
                    <a:latin typeface="Segoe WPC"/>
                  </a:rPr>
                  <a:t>Variates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Variance-reduction</a:t>
                </a:r>
                <a:r>
                  <a:rPr lang="es-PE" sz="900" b="0" i="0" dirty="0">
                    <a:solidFill>
                      <a:schemeClr val="tx1"/>
                    </a:solidFill>
                    <a:effectLst/>
                    <a:latin typeface="Segoe WPC"/>
                  </a:rPr>
                  <a:t> </a:t>
                </a:r>
                <a:r>
                  <a:rPr lang="es-PE" sz="900" b="0" i="0" dirty="0" err="1">
                    <a:solidFill>
                      <a:schemeClr val="tx1"/>
                    </a:solidFill>
                    <a:effectLst/>
                    <a:latin typeface="Segoe WPC"/>
                  </a:rPr>
                  <a:t>method</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t>
                </a:r>
                <a:r>
                  <a:rPr lang="es-PE" sz="900" b="0" i="0" dirty="0" err="1">
                    <a:solidFill>
                      <a:schemeClr val="tx1"/>
                    </a:solidFill>
                    <a:effectLst/>
                    <a:latin typeface="Segoe WPC"/>
                  </a:rPr>
                  <a:t>negatively</a:t>
                </a:r>
                <a:r>
                  <a:rPr lang="es-PE" sz="900" b="0" i="0" dirty="0">
                    <a:solidFill>
                      <a:schemeClr val="tx1"/>
                    </a:solidFill>
                    <a:effectLst/>
                    <a:latin typeface="Segoe WPC"/>
                  </a:rPr>
                  <a:t> </a:t>
                </a:r>
                <a:r>
                  <a:rPr lang="es-PE" sz="900" b="0" i="0" dirty="0" err="1">
                    <a:solidFill>
                      <a:schemeClr val="tx1"/>
                    </a:solidFill>
                    <a:effectLst/>
                    <a:latin typeface="Segoe WPC"/>
                  </a:rPr>
                  <a:t>correlated</a:t>
                </a:r>
                <a:r>
                  <a:rPr lang="es-PE" sz="900" b="0" i="0" dirty="0">
                    <a:solidFill>
                      <a:schemeClr val="tx1"/>
                    </a:solidFill>
                    <a:effectLst/>
                    <a:latin typeface="Segoe WPC"/>
                  </a:rPr>
                  <a:t> </a:t>
                </a:r>
                <a:r>
                  <a:rPr lang="es-PE" sz="900" b="0" i="0" dirty="0" err="1">
                    <a:solidFill>
                      <a:schemeClr val="tx1"/>
                    </a:solidFill>
                    <a:effectLst/>
                    <a:latin typeface="Segoe WPC"/>
                  </a:rPr>
                  <a:t>simulation</a:t>
                </a:r>
                <a:r>
                  <a:rPr lang="es-PE" sz="900" b="0" i="0" dirty="0">
                    <a:solidFill>
                      <a:schemeClr val="tx1"/>
                    </a:solidFill>
                    <a:effectLst/>
                    <a:latin typeface="Segoe WPC"/>
                  </a:rPr>
                  <a:t> </a:t>
                </a:r>
                <a:r>
                  <a:rPr lang="es-PE" sz="900" b="0" i="0" dirty="0" err="1">
                    <a:solidFill>
                      <a:schemeClr val="tx1"/>
                    </a:solidFill>
                    <a:effectLst/>
                    <a:latin typeface="Segoe WPC"/>
                  </a:rPr>
                  <a:t>draws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Pair</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draw</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opposite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complement</a:t>
                </a:r>
                <a:r>
                  <a:rPr lang="es-PE" sz="900" b="0" i="0" dirty="0">
                    <a:solidFill>
                      <a:schemeClr val="tx1"/>
                    </a:solidFill>
                    <a:effectLst/>
                    <a:latin typeface="Segoe WPC"/>
                  </a:rPr>
                  <a:t> so </a:t>
                </a:r>
                <a:r>
                  <a:rPr lang="es-PE" sz="900" b="0" i="0" dirty="0" err="1">
                    <a:solidFill>
                      <a:schemeClr val="tx1"/>
                    </a:solidFill>
                    <a:effectLst/>
                    <a:latin typeface="Segoe WPC"/>
                  </a:rPr>
                  <a:t>sampling</a:t>
                </a:r>
                <a:r>
                  <a:rPr lang="es-PE" sz="900" b="0" i="0" dirty="0">
                    <a:solidFill>
                      <a:schemeClr val="tx1"/>
                    </a:solidFill>
                    <a:effectLst/>
                    <a:latin typeface="Segoe WPC"/>
                  </a:rPr>
                  <a:t> </a:t>
                </a:r>
                <a:r>
                  <a:rPr lang="es-PE" sz="900" b="0" i="0" dirty="0" err="1">
                    <a:solidFill>
                      <a:schemeClr val="tx1"/>
                    </a:solidFill>
                    <a:effectLst/>
                    <a:latin typeface="Segoe WPC"/>
                  </a:rPr>
                  <a:t>noise</a:t>
                </a:r>
                <a:r>
                  <a:rPr lang="es-PE" sz="900" b="0" i="0" dirty="0">
                    <a:solidFill>
                      <a:schemeClr val="tx1"/>
                    </a:solidFill>
                    <a:effectLst/>
                    <a:latin typeface="Segoe WPC"/>
                  </a:rPr>
                  <a:t> </a:t>
                </a:r>
                <a:r>
                  <a:rPr lang="es-PE" sz="900" b="0" i="0" dirty="0" err="1">
                    <a:solidFill>
                      <a:schemeClr val="tx1"/>
                    </a:solidFill>
                    <a:effectLst/>
                    <a:latin typeface="Segoe WPC"/>
                  </a:rPr>
                  <a:t>cancels</a:t>
                </a:r>
                <a:r>
                  <a:rPr lang="es-PE" sz="900" b="0" i="0" dirty="0">
                    <a:solidFill>
                      <a:schemeClr val="tx1"/>
                    </a:solidFill>
                    <a:effectLst/>
                    <a:latin typeface="Segoe WPC"/>
                  </a:rPr>
                  <a:t> </a:t>
                </a:r>
                <a:r>
                  <a:rPr lang="es-PE" sz="900" b="0" i="0" dirty="0" err="1">
                    <a:solidFill>
                      <a:schemeClr val="tx1"/>
                    </a:solidFill>
                    <a:effectLst/>
                    <a:latin typeface="Segoe WPC"/>
                  </a:rPr>
                  <a:t>out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draw</a:t>
                </a:r>
                <a:r>
                  <a:rPr lang="es-PE" sz="900" b="0" i="0" dirty="0">
                    <a:solidFill>
                      <a:schemeClr val="tx1"/>
                    </a:solidFill>
                    <a:effectLst/>
                    <a:latin typeface="Segoe WPC"/>
                  </a:rPr>
                  <a:t> </a:t>
                </a:r>
                <a:r>
                  <a:rPr lang="es-PE" sz="900" b="0" i="0" dirty="0" err="1">
                    <a:solidFill>
                      <a:schemeClr val="tx1"/>
                    </a:solidFill>
                    <a:effectLst/>
                    <a:latin typeface="Segoe WPC"/>
                  </a:rPr>
                  <a:t>lands</a:t>
                </a:r>
                <a:r>
                  <a:rPr lang="es-PE" sz="900" b="0" i="0" dirty="0">
                    <a:solidFill>
                      <a:schemeClr val="tx1"/>
                    </a:solidFill>
                    <a:effectLst/>
                    <a:latin typeface="Segoe WPC"/>
                  </a:rPr>
                  <a:t> </a:t>
                </a:r>
                <a:r>
                  <a:rPr lang="es-PE" sz="900" b="0" i="0" dirty="0" err="1">
                    <a:solidFill>
                      <a:schemeClr val="tx1"/>
                    </a:solidFill>
                    <a:effectLst/>
                    <a:latin typeface="Segoe WPC"/>
                  </a:rPr>
                  <a:t>high</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pair</a:t>
                </a:r>
                <a:r>
                  <a:rPr lang="es-PE" sz="900" b="0" i="0" dirty="0">
                    <a:solidFill>
                      <a:schemeClr val="tx1"/>
                    </a:solidFill>
                    <a:effectLst/>
                    <a:latin typeface="Segoe WPC"/>
                  </a:rPr>
                  <a:t> </a:t>
                </a:r>
                <a:r>
                  <a:rPr lang="es-PE" sz="900" b="0" i="0" dirty="0" err="1">
                    <a:solidFill>
                      <a:schemeClr val="tx1"/>
                    </a:solidFill>
                    <a:effectLst/>
                    <a:latin typeface="Segoe WPC"/>
                  </a:rPr>
                  <a:t>lands</a:t>
                </a:r>
                <a:r>
                  <a:rPr lang="es-PE" sz="900" b="0" i="0" dirty="0">
                    <a:solidFill>
                      <a:schemeClr val="tx1"/>
                    </a:solidFill>
                    <a:effectLst/>
                    <a:latin typeface="Segoe WPC"/>
                  </a:rPr>
                  <a:t> </a:t>
                </a:r>
                <a:r>
                  <a:rPr lang="es-PE" sz="900" b="0" i="0" dirty="0" err="1">
                    <a:solidFill>
                      <a:schemeClr val="tx1"/>
                    </a:solidFill>
                    <a:effectLst/>
                    <a:latin typeface="Segoe WPC"/>
                  </a:rPr>
                  <a:t>low</a:t>
                </a:r>
                <a:r>
                  <a:rPr lang="es-PE" sz="900" b="0" i="0" dirty="0">
                    <a:solidFill>
                      <a:schemeClr val="tx1"/>
                    </a:solidFill>
                    <a:effectLst/>
                    <a:latin typeface="Segoe WPC"/>
                  </a:rPr>
                  <a:t>, </a:t>
                </a:r>
                <a:r>
                  <a:rPr lang="es-PE" sz="900" b="0" i="0" dirty="0" err="1">
                    <a:solidFill>
                      <a:schemeClr val="tx1"/>
                    </a:solidFill>
                    <a:effectLst/>
                    <a:latin typeface="Segoe WPC"/>
                  </a:rPr>
                  <a:t>stabilizing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Use </a:t>
                </a:r>
                <a:r>
                  <a:rPr lang="es-PE" sz="900" b="0" i="0" dirty="0" err="1">
                    <a:solidFill>
                      <a:schemeClr val="tx1"/>
                    </a:solidFill>
                    <a:effectLst/>
                    <a:latin typeface="Segoe WPC"/>
                  </a:rPr>
                  <a:t>pairs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14:m>
                  <m:oMath xmlns:m="http://schemas.openxmlformats.org/officeDocument/2006/math">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𝑈</m:t>
                        </m:r>
                      </m:e>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𝑈</m:t>
                        </m:r>
                      </m:e>
                    </m:d>
                  </m:oMath>
                </a14:m>
                <a:r>
                  <a:rPr lang="ar-A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standard error </a:t>
                </a:r>
                <a:r>
                  <a:rPr lang="es-PE" sz="900" b="0" i="0" dirty="0" err="1">
                    <a:solidFill>
                      <a:schemeClr val="tx1"/>
                    </a:solidFill>
                    <a:effectLst/>
                    <a:latin typeface="Segoe WPC"/>
                  </a:rPr>
                  <a:t>becomes</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𝑔</m:t>
                        </m:r>
                      </m:sub>
                    </m:sSub>
                    <m:rad>
                      <m:radPr>
                        <m:degHide m:val="on"/>
                        <m:ctrlPr>
                          <a:rPr lang="ar-AE" sz="900" i="1">
                            <a:solidFill>
                              <a:schemeClr val="tx1"/>
                            </a:solidFill>
                            <a:latin typeface="Cambria Math" panose="02040503050406030204" pitchFamily="18" charset="0"/>
                          </a:rPr>
                        </m:ctrlPr>
                      </m:radPr>
                      <m:deg/>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𝜌</m:t>
                        </m:r>
                      </m:e>
                    </m:rad>
                    <m:r>
                      <a:rPr lang="ar-AE" sz="900" i="0">
                        <a:solidFill>
                          <a:schemeClr val="tx1"/>
                        </a:solidFill>
                        <a:latin typeface="Cambria Math" panose="02040503050406030204" pitchFamily="18" charset="0"/>
                      </a:rPr>
                      <m:t>/</m:t>
                    </m:r>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𝑏</m:t>
                        </m:r>
                      </m:e>
                    </m:ra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𝜌</m:t>
                    </m:r>
                    <m:r>
                      <a:rPr lang="es-PE" sz="900" i="0">
                        <a:solidFill>
                          <a:schemeClr val="tx1"/>
                        </a:solidFill>
                        <a:latin typeface="Cambria Math" panose="02040503050406030204" pitchFamily="18" charset="0"/>
                      </a:rPr>
                      <m:t>&lt;</m:t>
                    </m:r>
                    <m:r>
                      <a:rPr lang="es-PE" sz="900" i="0">
                        <a:solidFill>
                          <a:schemeClr val="tx1"/>
                        </a:solidFill>
                        <a:latin typeface="Cambria Math" panose="02040503050406030204" pitchFamily="18" charset="0"/>
                      </a:rPr>
                      <m:t>0</m:t>
                    </m:r>
                  </m:oMath>
                </a14:m>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estimator</a:t>
                </a:r>
                <a:r>
                  <a:rPr lang="es-PE" sz="900" b="0" i="0" dirty="0">
                    <a:solidFill>
                      <a:schemeClr val="tx1"/>
                    </a:solidFill>
                    <a:effectLst/>
                    <a:latin typeface="Segoe WPC"/>
                  </a:rPr>
                  <a:t> </a:t>
                </a:r>
                <a:r>
                  <a:rPr lang="es-PE" sz="900" b="0" i="0" dirty="0" err="1">
                    <a:solidFill>
                      <a:schemeClr val="tx1"/>
                    </a:solidFill>
                    <a:effectLst/>
                    <a:latin typeface="Segoe WPC"/>
                  </a:rPr>
                  <a:t>becomes</a:t>
                </a:r>
                <a:r>
                  <a:rPr lang="es-PE" sz="900" b="0" i="0" dirty="0">
                    <a:solidFill>
                      <a:schemeClr val="tx1"/>
                    </a:solidFill>
                    <a:effectLst/>
                    <a:latin typeface="Segoe WPC"/>
                  </a:rPr>
                  <a:t> more </a:t>
                </a:r>
                <a:r>
                  <a:rPr lang="es-PE" sz="900" b="0" i="0" dirty="0" err="1">
                    <a:solidFill>
                      <a:schemeClr val="tx1"/>
                    </a:solidFill>
                    <a:effectLst/>
                    <a:latin typeface="Segoe WPC"/>
                  </a:rPr>
                  <a:t>accurate</a:t>
                </a:r>
                <a:r>
                  <a:rPr lang="es-PE" sz="900" b="0" i="0" dirty="0">
                    <a:solidFill>
                      <a:schemeClr val="tx1"/>
                    </a:solidFill>
                    <a:effectLst/>
                    <a:latin typeface="Segoe WPC"/>
                  </a:rPr>
                  <a:t> </a:t>
                </a:r>
                <a:r>
                  <a:rPr lang="es-PE" sz="900" b="0" i="0" dirty="0" err="1">
                    <a:solidFill>
                      <a:schemeClr val="tx1"/>
                    </a:solidFill>
                    <a:effectLst/>
                    <a:latin typeface="Segoe WPC"/>
                  </a:rPr>
                  <a:t>without</a:t>
                </a:r>
                <a:r>
                  <a:rPr lang="es-PE" sz="900" b="0" i="0" dirty="0">
                    <a:solidFill>
                      <a:schemeClr val="tx1"/>
                    </a:solidFill>
                    <a:effectLst/>
                    <a:latin typeface="Segoe WPC"/>
                  </a:rPr>
                  <a:t> </a:t>
                </a:r>
                <a:r>
                  <a:rPr lang="es-PE" sz="900" b="0" i="0" dirty="0" err="1">
                    <a:solidFill>
                      <a:schemeClr val="tx1"/>
                    </a:solidFill>
                    <a:effectLst/>
                    <a:latin typeface="Segoe WPC"/>
                  </a:rPr>
                  <a:t>increasing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number</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replications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Antithetic</a:t>
                </a:r>
                <a:r>
                  <a:rPr lang="es-PE" sz="900" b="0" i="0" dirty="0">
                    <a:solidFill>
                      <a:schemeClr val="tx1"/>
                    </a:solidFill>
                    <a:effectLst/>
                    <a:latin typeface="Segoe WPC"/>
                  </a:rPr>
                  <a:t> </a:t>
                </a:r>
                <a:r>
                  <a:rPr lang="es-PE" sz="900" b="0" i="0" dirty="0" err="1">
                    <a:solidFill>
                      <a:schemeClr val="tx1"/>
                    </a:solidFill>
                    <a:effectLst/>
                    <a:latin typeface="Segoe WPC"/>
                  </a:rPr>
                  <a:t>variates</a:t>
                </a:r>
                <a:r>
                  <a:rPr lang="es-PE" sz="900" b="0" i="0" dirty="0">
                    <a:solidFill>
                      <a:schemeClr val="tx1"/>
                    </a:solidFill>
                    <a:effectLst/>
                    <a:latin typeface="Segoe WPC"/>
                  </a:rPr>
                  <a:t> are </a:t>
                </a:r>
                <a:r>
                  <a:rPr lang="es-PE" sz="900" b="0" i="0" dirty="0" err="1">
                    <a:solidFill>
                      <a:schemeClr val="tx1"/>
                    </a:solidFill>
                    <a:effectLst/>
                    <a:latin typeface="Segoe WPC"/>
                  </a:rPr>
                  <a:t>reliably</a:t>
                </a:r>
                <a:r>
                  <a:rPr lang="es-PE" sz="900" b="0" i="0" dirty="0">
                    <a:solidFill>
                      <a:schemeClr val="tx1"/>
                    </a:solidFill>
                    <a:effectLst/>
                    <a:latin typeface="Segoe WPC"/>
                  </a:rPr>
                  <a:t> </a:t>
                </a:r>
                <a:r>
                  <a:rPr lang="es-PE" sz="900" b="0" i="0" dirty="0" err="1">
                    <a:solidFill>
                      <a:schemeClr val="tx1"/>
                    </a:solidFill>
                    <a:effectLst/>
                    <a:latin typeface="Segoe WPC"/>
                  </a:rPr>
                  <a:t>helpful</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𝑔</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e>
                    </m:d>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monotonic</a:t>
                </a:r>
                <a:r>
                  <a:rPr lang="es-PE" sz="900" b="0" i="0" dirty="0">
                    <a:solidFill>
                      <a:schemeClr val="tx1"/>
                    </a:solidFill>
                    <a:effectLst/>
                    <a:latin typeface="Segoe WPC"/>
                  </a:rPr>
                  <a:t> in </a:t>
                </a:r>
                <a14:m>
                  <m:oMath xmlns:m="http://schemas.openxmlformats.org/officeDocument/2006/math">
                    <m:r>
                      <a:rPr lang="es-PE" sz="900" i="1">
                        <a:solidFill>
                          <a:schemeClr val="tx1"/>
                        </a:solidFill>
                        <a:latin typeface="Cambria Math" panose="02040503050406030204" pitchFamily="18" charset="0"/>
                      </a:rPr>
                      <m:t>𝑋</m:t>
                    </m:r>
                  </m:oMath>
                </a14:m>
                <a:r>
                  <a:rPr lang="es-PE" sz="900" b="0" i="0" dirty="0">
                    <a:solidFill>
                      <a:schemeClr val="tx1"/>
                    </a:solidFill>
                    <a:effectLst/>
                    <a:latin typeface="Segoe WPC"/>
                  </a:rPr>
                  <a:t>.</a:t>
                </a:r>
              </a:p>
            </p:txBody>
          </p:sp>
        </mc:Choice>
        <mc:Fallback xmlns="">
          <p:sp>
            <p:nvSpPr>
              <p:cNvPr id="11" name="CuadroTexto 10">
                <a:extLst>
                  <a:ext uri="{FF2B5EF4-FFF2-40B4-BE49-F238E27FC236}">
                    <a16:creationId xmlns:a16="http://schemas.microsoft.com/office/drawing/2014/main" id="{3583752F-2AFC-93A1-B61A-D9155EF814F4}"/>
                  </a:ext>
                </a:extLst>
              </p:cNvPr>
              <p:cNvSpPr txBox="1">
                <a:spLocks noRot="1" noChangeAspect="1" noMove="1" noResize="1" noEditPoints="1" noAdjustHandles="1" noChangeArrowheads="1" noChangeShapeType="1" noTextEdit="1"/>
              </p:cNvSpPr>
              <p:nvPr/>
            </p:nvSpPr>
            <p:spPr>
              <a:xfrm>
                <a:off x="0" y="254000"/>
                <a:ext cx="5943600" cy="6438557"/>
              </a:xfrm>
              <a:prstGeom prst="rect">
                <a:avLst/>
              </a:prstGeom>
              <a:blipFill>
                <a:blip r:embed="rId2"/>
                <a:stretch>
                  <a:fillRect r="-103"/>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669036BC-145C-F4E8-D932-2628BB847D64}"/>
                  </a:ext>
                </a:extLst>
              </p:cNvPr>
              <p:cNvSpPr txBox="1"/>
              <p:nvPr/>
            </p:nvSpPr>
            <p:spPr>
              <a:xfrm>
                <a:off x="5842000" y="0"/>
                <a:ext cx="6317341" cy="6861174"/>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6. Control </a:t>
                </a:r>
                <a:r>
                  <a:rPr lang="es-PE" sz="900" b="1" i="0" dirty="0" err="1">
                    <a:solidFill>
                      <a:schemeClr val="tx1"/>
                    </a:solidFill>
                    <a:effectLst/>
                    <a:latin typeface="Segoe WPC"/>
                  </a:rPr>
                  <a:t>Variates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Variance-reduction</a:t>
                </a:r>
                <a:r>
                  <a:rPr lang="es-PE" sz="900" b="0" i="0" dirty="0">
                    <a:solidFill>
                      <a:schemeClr val="tx1"/>
                    </a:solidFill>
                    <a:effectLst/>
                    <a:latin typeface="Segoe WPC"/>
                  </a:rPr>
                  <a:t> </a:t>
                </a:r>
                <a:r>
                  <a:rPr lang="es-PE" sz="900" b="0" i="0" dirty="0" err="1">
                    <a:solidFill>
                      <a:schemeClr val="tx1"/>
                    </a:solidFill>
                    <a:effectLst/>
                    <a:latin typeface="Segoe WPC"/>
                  </a:rPr>
                  <a:t>method</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 </a:t>
                </a:r>
                <a:r>
                  <a:rPr lang="es-PE" sz="900" b="0" i="0" dirty="0" err="1">
                    <a:solidFill>
                      <a:schemeClr val="tx1"/>
                    </a:solidFill>
                    <a:effectLst/>
                    <a:latin typeface="Segoe WPC"/>
                  </a:rPr>
                  <a:t>related</a:t>
                </a:r>
                <a:r>
                  <a:rPr lang="es-PE" sz="900" b="0" i="0" dirty="0">
                    <a:solidFill>
                      <a:schemeClr val="tx1"/>
                    </a:solidFill>
                    <a:effectLst/>
                    <a:latin typeface="Segoe WPC"/>
                  </a:rPr>
                  <a:t> variable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known</a:t>
                </a:r>
                <a:r>
                  <a:rPr lang="es-PE" sz="900" b="0" i="0" dirty="0">
                    <a:solidFill>
                      <a:schemeClr val="tx1"/>
                    </a:solidFill>
                    <a:effectLst/>
                    <a:latin typeface="Segoe WPC"/>
                  </a:rPr>
                  <a:t> mean.</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Add</a:t>
                </a:r>
                <a:r>
                  <a:rPr lang="es-PE" sz="900" b="0" i="0" dirty="0">
                    <a:solidFill>
                      <a:schemeClr val="tx1"/>
                    </a:solidFill>
                    <a:effectLst/>
                    <a:latin typeface="Segoe WPC"/>
                  </a:rPr>
                  <a:t> a mean-</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adjustment</a:t>
                </a:r>
                <a:r>
                  <a:rPr lang="es-PE" sz="900" b="0" i="0" dirty="0">
                    <a:solidFill>
                      <a:schemeClr val="tx1"/>
                    </a:solidFill>
                    <a:effectLst/>
                    <a:latin typeface="Segoe WPC"/>
                  </a:rPr>
                  <a:t> </a:t>
                </a:r>
                <a:r>
                  <a:rPr lang="es-PE" sz="900" b="0" i="0" dirty="0" err="1">
                    <a:solidFill>
                      <a:schemeClr val="tx1"/>
                    </a:solidFill>
                    <a:effectLst/>
                    <a:latin typeface="Segoe WPC"/>
                  </a:rPr>
                  <a:t>based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 similar </a:t>
                </a:r>
                <a:r>
                  <a:rPr lang="es-PE" sz="900" b="0" i="0" dirty="0" err="1">
                    <a:solidFill>
                      <a:schemeClr val="tx1"/>
                    </a:solidFill>
                    <a:effectLst/>
                    <a:latin typeface="Segoe WPC"/>
                  </a:rPr>
                  <a:t>quantity</a:t>
                </a:r>
                <a:r>
                  <a:rPr lang="es-PE" sz="900" b="0" i="0" dirty="0">
                    <a:solidFill>
                      <a:schemeClr val="tx1"/>
                    </a:solidFill>
                    <a:effectLst/>
                    <a:latin typeface="Segoe WPC"/>
                  </a:rPr>
                  <a:t> so </a:t>
                </a:r>
                <a:r>
                  <a:rPr lang="es-PE" sz="900" b="0" i="0" dirty="0" err="1">
                    <a:solidFill>
                      <a:schemeClr val="tx1"/>
                    </a:solidFill>
                    <a:effectLst/>
                    <a:latin typeface="Segoe WPC"/>
                  </a:rPr>
                  <a:t>shared</a:t>
                </a:r>
                <a:r>
                  <a:rPr lang="es-PE" sz="900" b="0" i="0" dirty="0">
                    <a:solidFill>
                      <a:schemeClr val="tx1"/>
                    </a:solidFill>
                    <a:effectLst/>
                    <a:latin typeface="Segoe WPC"/>
                  </a:rPr>
                  <a:t> </a:t>
                </a:r>
                <a:r>
                  <a:rPr lang="es-PE" sz="900" b="0" i="0" dirty="0" err="1">
                    <a:solidFill>
                      <a:schemeClr val="tx1"/>
                    </a:solidFill>
                    <a:effectLst/>
                    <a:latin typeface="Segoe WPC"/>
                  </a:rPr>
                  <a:t>simulation</a:t>
                </a:r>
                <a:r>
                  <a:rPr lang="es-PE" sz="900" b="0" i="0" dirty="0">
                    <a:solidFill>
                      <a:schemeClr val="tx1"/>
                    </a:solidFill>
                    <a:effectLst/>
                    <a:latin typeface="Segoe WPC"/>
                  </a:rPr>
                  <a:t> </a:t>
                </a:r>
                <a:r>
                  <a:rPr lang="es-PE" sz="900" b="0" i="0" dirty="0" err="1">
                    <a:solidFill>
                      <a:schemeClr val="tx1"/>
                    </a:solidFill>
                    <a:effectLst/>
                    <a:latin typeface="Segoe WPC"/>
                  </a:rPr>
                  <a:t>noise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removed.</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Correct</a:t>
                </a:r>
                <a:r>
                  <a:rPr lang="es-PE" sz="900" b="0" i="0" dirty="0">
                    <a:solidFill>
                      <a:schemeClr val="tx1"/>
                    </a:solidFill>
                    <a:effectLst/>
                    <a:latin typeface="Segoe WPC"/>
                  </a:rPr>
                  <a:t> a </a:t>
                </a:r>
                <a:r>
                  <a:rPr lang="es-PE" sz="900" b="0" i="0" dirty="0" err="1">
                    <a:solidFill>
                      <a:schemeClr val="tx1"/>
                    </a:solidFill>
                    <a:effectLst/>
                    <a:latin typeface="Segoe WPC"/>
                  </a:rPr>
                  <a:t>noisy</a:t>
                </a:r>
                <a:r>
                  <a:rPr lang="es-PE" sz="900" b="0" i="0" dirty="0">
                    <a:solidFill>
                      <a:schemeClr val="tx1"/>
                    </a:solidFill>
                    <a:effectLst/>
                    <a:latin typeface="Segoe WPC"/>
                  </a:rPr>
                  <a:t> </a:t>
                </a:r>
                <a:r>
                  <a:rPr lang="es-PE" sz="900" b="0" i="0" dirty="0" err="1">
                    <a:solidFill>
                      <a:schemeClr val="tx1"/>
                    </a:solidFill>
                    <a:effectLst/>
                    <a:latin typeface="Segoe WPC"/>
                  </a:rPr>
                  <a:t>estimate</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 </a:t>
                </a:r>
                <a:r>
                  <a:rPr lang="es-PE" sz="900" b="0" i="0" dirty="0" err="1">
                    <a:solidFill>
                      <a:schemeClr val="tx1"/>
                    </a:solidFill>
                    <a:effectLst/>
                    <a:latin typeface="Segoe WPC"/>
                  </a:rPr>
                  <a:t>nearby</a:t>
                </a:r>
                <a:r>
                  <a:rPr lang="es-PE" sz="900" b="0" i="0" dirty="0">
                    <a:solidFill>
                      <a:schemeClr val="tx1"/>
                    </a:solidFill>
                    <a:effectLst/>
                    <a:latin typeface="Segoe WPC"/>
                  </a:rPr>
                  <a:t> </a:t>
                </a:r>
                <a:r>
                  <a:rPr lang="es-PE" sz="900" b="0" i="0" dirty="0" err="1">
                    <a:solidFill>
                      <a:schemeClr val="tx1"/>
                    </a:solidFill>
                    <a:effectLst/>
                    <a:latin typeface="Segoe WPC"/>
                  </a:rPr>
                  <a:t>benchmark</a:t>
                </a:r>
                <a:r>
                  <a:rPr lang="es-PE" sz="900" b="0" i="0" dirty="0">
                    <a:solidFill>
                      <a:schemeClr val="tx1"/>
                    </a:solidFill>
                    <a:effectLst/>
                    <a:latin typeface="Segoe WPC"/>
                  </a:rPr>
                  <a:t> </a:t>
                </a:r>
                <a:r>
                  <a:rPr lang="es-PE" sz="900" b="0" i="0" dirty="0" err="1">
                    <a:solidFill>
                      <a:schemeClr val="tx1"/>
                    </a:solidFill>
                    <a:effectLst/>
                    <a:latin typeface="Segoe WPC"/>
                  </a:rPr>
                  <a:t>whose</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already</a:t>
                </a:r>
                <a:r>
                  <a:rPr lang="es-PE" sz="900" b="0" i="0" dirty="0">
                    <a:solidFill>
                      <a:schemeClr val="tx1"/>
                    </a:solidFill>
                    <a:effectLst/>
                    <a:latin typeface="Segoe WPC"/>
                  </a:rPr>
                  <a:t> </a:t>
                </a:r>
                <a:r>
                  <a:rPr lang="es-PE" sz="900" b="0" i="0" dirty="0" err="1">
                    <a:solidFill>
                      <a:schemeClr val="tx1"/>
                    </a:solidFill>
                    <a:effectLst/>
                    <a:latin typeface="Segoe WPC"/>
                  </a:rPr>
                  <a:t>known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Use </a:t>
                </a:r>
                <a14:m>
                  <m:oMath xmlns:m="http://schemas.openxmlformats.org/officeDocument/2006/math">
                    <m:r>
                      <a:rPr lang="es-PE" sz="900" i="1">
                        <a:solidFill>
                          <a:schemeClr val="tx1"/>
                        </a:solidFill>
                        <a:latin typeface="Cambria Math" panose="02040503050406030204" pitchFamily="18" charset="0"/>
                      </a:rPr>
                      <m:t>𝑔</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1">
                                <a:solidFill>
                                  <a:schemeClr val="tx1"/>
                                </a:solidFill>
                                <a:latin typeface="Cambria Math" panose="02040503050406030204" pitchFamily="18" charset="0"/>
                              </a:rPr>
                              <m:t>𝑖</m:t>
                            </m:r>
                          </m:sub>
                        </m:sSub>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𝛽</m:t>
                    </m:r>
                    <m:r>
                      <a:rPr lang="ar-AE" sz="900" i="1">
                        <a:solidFill>
                          <a:schemeClr val="tx1"/>
                        </a:solidFill>
                        <a:latin typeface="Cambria Math" panose="02040503050406030204" pitchFamily="18" charset="0"/>
                      </a:rPr>
                      <m:t>h</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1">
                                <a:solidFill>
                                  <a:schemeClr val="tx1"/>
                                </a:solidFill>
                                <a:latin typeface="Cambria Math" panose="02040503050406030204" pitchFamily="18" charset="0"/>
                              </a:rPr>
                              <m:t>𝑖</m:t>
                            </m:r>
                          </m:sub>
                        </m:sSub>
                      </m:e>
                    </m:d>
                  </m:oMath>
                </a14:m>
                <a:r>
                  <a:rPr lang="ar-A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h</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1">
                                    <a:solidFill>
                                      <a:schemeClr val="tx1"/>
                                    </a:solidFill>
                                    <a:latin typeface="Cambria Math" panose="02040503050406030204" pitchFamily="18" charset="0"/>
                                  </a:rPr>
                                  <m:t>𝑖</m:t>
                                </m:r>
                              </m:sub>
                            </m:sSub>
                          </m:e>
                        </m:d>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𝛽</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estimated</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𝑔</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𝑖</m:t>
                            </m:r>
                          </m:sub>
                        </m:sSub>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𝛼</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𝛽</m:t>
                    </m:r>
                    <m:r>
                      <a:rPr lang="ar-AE" sz="900" i="1">
                        <a:solidFill>
                          <a:schemeClr val="tx1"/>
                        </a:solidFill>
                        <a:latin typeface="Cambria Math" panose="02040503050406030204" pitchFamily="18" charset="0"/>
                      </a:rPr>
                      <m:t>h</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𝑖</m:t>
                            </m:r>
                          </m:sub>
                        </m:sSub>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𝑢</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Best</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control </a:t>
                </a:r>
                <a:r>
                  <a:rPr lang="es-PE" sz="900" b="0" i="0" dirty="0" err="1">
                    <a:solidFill>
                      <a:schemeClr val="tx1"/>
                    </a:solidFill>
                    <a:effectLst/>
                    <a:latin typeface="Segoe WPC"/>
                  </a:rPr>
                  <a:t>variate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cheap</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compute and </a:t>
                </a:r>
                <a:r>
                  <a:rPr lang="es-PE" sz="900" b="0" i="0" dirty="0" err="1">
                    <a:solidFill>
                      <a:schemeClr val="tx1"/>
                    </a:solidFill>
                    <a:effectLst/>
                    <a:latin typeface="Segoe WPC"/>
                  </a:rPr>
                  <a:t>highly</a:t>
                </a:r>
                <a:r>
                  <a:rPr lang="es-PE" sz="900" b="0" i="0" dirty="0">
                    <a:solidFill>
                      <a:schemeClr val="tx1"/>
                    </a:solidFill>
                    <a:effectLst/>
                    <a:latin typeface="Segoe WPC"/>
                  </a:rPr>
                  <a:t> </a:t>
                </a:r>
                <a:r>
                  <a:rPr lang="es-PE" sz="900" b="0" i="0" dirty="0" err="1">
                    <a:solidFill>
                      <a:schemeClr val="tx1"/>
                    </a:solidFill>
                    <a:effectLst/>
                    <a:latin typeface="Segoe WPC"/>
                  </a:rPr>
                  <a:t>correlated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target.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control </a:t>
                </a:r>
                <a:r>
                  <a:rPr lang="es-PE" sz="900" b="0" i="0" dirty="0" err="1">
                    <a:solidFill>
                      <a:schemeClr val="tx1"/>
                    </a:solidFill>
                    <a:effectLst/>
                    <a:latin typeface="Segoe WPC"/>
                  </a:rPr>
                  <a:t>variate</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helps</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properly</a:t>
                </a:r>
                <a:r>
                  <a:rPr lang="es-PE" sz="900" b="0" i="0" dirty="0">
                    <a:solidFill>
                      <a:schemeClr val="tx1"/>
                    </a:solidFill>
                    <a:effectLst/>
                    <a:latin typeface="Segoe WPC"/>
                  </a:rPr>
                  <a:t> </a:t>
                </a:r>
                <a:r>
                  <a:rPr lang="es-PE" sz="900" b="0" i="0" dirty="0" err="1">
                    <a:solidFill>
                      <a:schemeClr val="tx1"/>
                    </a:solidFill>
                    <a:effectLst/>
                    <a:latin typeface="Segoe WPC"/>
                  </a:rPr>
                  <a:t>centered</a:t>
                </a:r>
                <a:r>
                  <a:rPr lang="es-PE" sz="900" b="0" i="0" dirty="0">
                    <a:solidFill>
                      <a:schemeClr val="tx1"/>
                    </a:solidFill>
                    <a:effectLst/>
                    <a:latin typeface="Segoe WPC"/>
                  </a:rPr>
                  <a:t> and </a:t>
                </a:r>
                <a:r>
                  <a:rPr lang="es-PE" sz="900" b="0" i="0" dirty="0" err="1">
                    <a:solidFill>
                      <a:schemeClr val="tx1"/>
                    </a:solidFill>
                    <a:effectLst/>
                    <a:latin typeface="Segoe WPC"/>
                  </a:rPr>
                  <a:t>strongly</a:t>
                </a:r>
                <a:r>
                  <a:rPr lang="es-PE" sz="900" b="0" i="0" dirty="0">
                    <a:solidFill>
                      <a:schemeClr val="tx1"/>
                    </a:solidFill>
                    <a:effectLst/>
                    <a:latin typeface="Segoe WPC"/>
                  </a:rPr>
                  <a:t> </a:t>
                </a:r>
                <a:r>
                  <a:rPr lang="es-PE" sz="900" b="0" i="0" dirty="0" err="1">
                    <a:solidFill>
                      <a:schemeClr val="tx1"/>
                    </a:solidFill>
                    <a:effectLst/>
                    <a:latin typeface="Segoe WPC"/>
                  </a:rPr>
                  <a:t>related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original </a:t>
                </a:r>
                <a:r>
                  <a:rPr lang="es-PE" sz="900" b="0" i="0" dirty="0" err="1">
                    <a:solidFill>
                      <a:schemeClr val="tx1"/>
                    </a:solidFill>
                    <a:effectLst/>
                    <a:latin typeface="Segoe WPC"/>
                  </a:rPr>
                  <a:t>simulation</a:t>
                </a:r>
                <a:r>
                  <a:rPr lang="es-PE" sz="900" b="0" i="0" dirty="0">
                    <a:solidFill>
                      <a:schemeClr val="tx1"/>
                    </a:solidFill>
                    <a:effectLst/>
                    <a:latin typeface="Segoe WPC"/>
                  </a:rPr>
                  <a:t> error.</a:t>
                </a:r>
              </a:p>
              <a:p>
                <a:pPr algn="l">
                  <a:spcAft>
                    <a:spcPts val="1200"/>
                  </a:spcAft>
                  <a:buNone/>
                </a:pPr>
                <a:r>
                  <a:rPr lang="es-PE" sz="900" b="1" i="0" dirty="0">
                    <a:solidFill>
                      <a:schemeClr val="tx1"/>
                    </a:solidFill>
                    <a:effectLst/>
                    <a:latin typeface="Segoe WPC"/>
                  </a:rPr>
                  <a:t>7. </a:t>
                </a:r>
                <a:r>
                  <a:rPr lang="es-PE" sz="900" b="1" i="0" dirty="0" err="1">
                    <a:solidFill>
                      <a:schemeClr val="tx1"/>
                    </a:solidFill>
                    <a:effectLst/>
                    <a:latin typeface="Segoe WPC"/>
                  </a:rPr>
                  <a:t>Limitations</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Monte Carlo</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Weaknesses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simulation-based</a:t>
                </a:r>
                <a:r>
                  <a:rPr lang="es-PE" sz="900" b="0" i="0" dirty="0">
                    <a:solidFill>
                      <a:schemeClr val="tx1"/>
                    </a:solidFill>
                    <a:effectLst/>
                    <a:latin typeface="Segoe WPC"/>
                  </a:rPr>
                  <a:t> </a:t>
                </a:r>
                <a:r>
                  <a:rPr lang="es-PE" sz="900" b="0" i="0" dirty="0" err="1">
                    <a:solidFill>
                      <a:schemeClr val="tx1"/>
                    </a:solidFill>
                    <a:effectLst/>
                    <a:latin typeface="Segoe WPC"/>
                  </a:rPr>
                  <a:t>estimation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problems</a:t>
                </a:r>
                <a:r>
                  <a:rPr lang="es-PE" sz="900" b="0" i="0" dirty="0">
                    <a:solidFill>
                      <a:schemeClr val="tx1"/>
                    </a:solidFill>
                    <a:effectLst/>
                    <a:latin typeface="Segoe WPC"/>
                  </a:rPr>
                  <a:t> are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misspecification</a:t>
                </a:r>
                <a:r>
                  <a:rPr lang="es-PE" sz="900" b="0" i="0" dirty="0">
                    <a:solidFill>
                      <a:schemeClr val="tx1"/>
                    </a:solidFill>
                    <a:effectLst/>
                    <a:latin typeface="Segoe WPC"/>
                  </a:rPr>
                  <a:t> and </a:t>
                </a:r>
                <a:r>
                  <a:rPr lang="es-PE" sz="900" b="0" i="0" dirty="0" err="1">
                    <a:solidFill>
                      <a:schemeClr val="tx1"/>
                    </a:solidFill>
                    <a:effectLst/>
                    <a:latin typeface="Segoe WPC"/>
                  </a:rPr>
                  <a:t>computational</a:t>
                </a:r>
                <a:r>
                  <a:rPr lang="es-PE" sz="900" b="0" i="0" dirty="0">
                    <a:solidFill>
                      <a:schemeClr val="tx1"/>
                    </a:solidFill>
                    <a:effectLst/>
                    <a:latin typeface="Segoe WPC"/>
                  </a:rPr>
                  <a:t> </a:t>
                </a:r>
                <a:r>
                  <a:rPr lang="es-PE" sz="900" b="0" i="0" dirty="0" err="1">
                    <a:solidFill>
                      <a:schemeClr val="tx1"/>
                    </a:solidFill>
                    <a:effectLst/>
                    <a:latin typeface="Segoe WPC"/>
                  </a:rPr>
                  <a:t>cost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Even</a:t>
                </a:r>
                <a:r>
                  <a:rPr lang="es-PE" sz="900" b="0" i="0" dirty="0">
                    <a:solidFill>
                      <a:schemeClr val="tx1"/>
                    </a:solidFill>
                    <a:effectLst/>
                    <a:latin typeface="Segoe WPC"/>
                  </a:rPr>
                  <a:t> a </a:t>
                </a:r>
                <a:r>
                  <a:rPr lang="es-PE" sz="900" b="0" i="0" dirty="0" err="1">
                    <a:solidFill>
                      <a:schemeClr val="tx1"/>
                    </a:solidFill>
                    <a:effectLst/>
                    <a:latin typeface="Segoe WPC"/>
                  </a:rPr>
                  <a:t>perfectly</a:t>
                </a:r>
                <a:r>
                  <a:rPr lang="es-PE" sz="900" b="0" i="0" dirty="0">
                    <a:solidFill>
                      <a:schemeClr val="tx1"/>
                    </a:solidFill>
                    <a:effectLst/>
                    <a:latin typeface="Segoe WPC"/>
                  </a:rPr>
                  <a:t> run </a:t>
                </a:r>
                <a:r>
                  <a:rPr lang="es-PE" sz="900" b="0" i="0" dirty="0" err="1">
                    <a:solidFill>
                      <a:schemeClr val="tx1"/>
                    </a:solidFill>
                    <a:effectLst/>
                    <a:latin typeface="Segoe WPC"/>
                  </a:rPr>
                  <a:t>simulation</a:t>
                </a:r>
                <a:r>
                  <a:rPr lang="es-PE" sz="900" b="0" i="0" dirty="0">
                    <a:solidFill>
                      <a:schemeClr val="tx1"/>
                    </a:solidFill>
                    <a:effectLst/>
                    <a:latin typeface="Segoe WPC"/>
                  </a:rPr>
                  <a:t> </a:t>
                </a:r>
                <a:r>
                  <a:rPr lang="es-PE" sz="900" b="0" i="0" dirty="0" err="1">
                    <a:solidFill>
                      <a:schemeClr val="tx1"/>
                    </a:solidFill>
                    <a:effectLst/>
                    <a:latin typeface="Segoe WPC"/>
                  </a:rPr>
                  <a:t>fails</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starts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wrong</a:t>
                </a:r>
                <a:r>
                  <a:rPr lang="es-PE" sz="900" b="0" i="0" dirty="0">
                    <a:solidFill>
                      <a:schemeClr val="tx1"/>
                    </a:solidFill>
                    <a:effectLst/>
                    <a:latin typeface="Segoe WPC"/>
                  </a:rPr>
                  <a:t> </a:t>
                </a:r>
                <a:r>
                  <a:rPr lang="es-PE" sz="900" b="0" i="0" dirty="0" err="1">
                    <a:solidFill>
                      <a:schemeClr val="tx1"/>
                    </a:solidFill>
                    <a:effectLst/>
                    <a:latin typeface="Segoe WPC"/>
                  </a:rPr>
                  <a:t>map</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reality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single formula;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issue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assumed</a:t>
                </a:r>
                <a:r>
                  <a:rPr lang="es-PE" sz="900" b="0" i="0" dirty="0">
                    <a:solidFill>
                      <a:schemeClr val="tx1"/>
                    </a:solidFill>
                    <a:effectLst/>
                    <a:latin typeface="Segoe WPC"/>
                  </a:rPr>
                  <a:t> DGP </a:t>
                </a:r>
                <a:r>
                  <a:rPr lang="es-PE" sz="900" b="0" i="0" dirty="0" err="1">
                    <a:solidFill>
                      <a:schemeClr val="tx1"/>
                    </a:solidFill>
                    <a:effectLst/>
                    <a:latin typeface="Segoe WPC"/>
                  </a:rPr>
                  <a:t>matches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actual data.</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Analytical</a:t>
                </a:r>
                <a:r>
                  <a:rPr lang="es-PE" sz="900" b="0" i="0" dirty="0">
                    <a:solidFill>
                      <a:schemeClr val="tx1"/>
                    </a:solidFill>
                    <a:effectLst/>
                    <a:latin typeface="Segoe WPC"/>
                  </a:rPr>
                  <a:t> </a:t>
                </a:r>
                <a:r>
                  <a:rPr lang="es-PE" sz="900" b="0" i="0" dirty="0" err="1">
                    <a:solidFill>
                      <a:schemeClr val="tx1"/>
                    </a:solidFill>
                    <a:effectLst/>
                    <a:latin typeface="Segoe WPC"/>
                  </a:rPr>
                  <a:t>solutions</a:t>
                </a:r>
                <a:r>
                  <a:rPr lang="es-PE" sz="900" b="0" i="0" dirty="0">
                    <a:solidFill>
                      <a:schemeClr val="tx1"/>
                    </a:solidFill>
                    <a:effectLst/>
                    <a:latin typeface="Segoe WPC"/>
                  </a:rPr>
                  <a:t> are </a:t>
                </a:r>
                <a:r>
                  <a:rPr lang="es-PE" sz="900" b="0" i="0" dirty="0" err="1">
                    <a:solidFill>
                      <a:schemeClr val="tx1"/>
                    </a:solidFill>
                    <a:effectLst/>
                    <a:latin typeface="Segoe WPC"/>
                  </a:rPr>
                  <a:t>preferable</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available</a:t>
                </a:r>
                <a:r>
                  <a:rPr lang="es-PE" sz="900" b="0" i="0" dirty="0">
                    <a:solidFill>
                      <a:schemeClr val="tx1"/>
                    </a:solidFill>
                    <a:effectLst/>
                    <a:latin typeface="Segoe WPC"/>
                  </a:rPr>
                  <a:t>; Monte Carlo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practical</a:t>
                </a:r>
                <a:r>
                  <a:rPr lang="es-PE" sz="900" b="0" i="0" dirty="0">
                    <a:solidFill>
                      <a:schemeClr val="tx1"/>
                    </a:solidFill>
                    <a:effectLst/>
                    <a:latin typeface="Segoe WPC"/>
                  </a:rPr>
                  <a:t> </a:t>
                </a:r>
                <a:r>
                  <a:rPr lang="es-PE" sz="900" b="0" i="0" dirty="0" err="1">
                    <a:solidFill>
                      <a:schemeClr val="tx1"/>
                    </a:solidFill>
                    <a:effectLst/>
                    <a:latin typeface="Segoe WPC"/>
                  </a:rPr>
                  <a:t>fallback</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are </a:t>
                </a:r>
                <a:r>
                  <a:rPr lang="es-PE" sz="900" b="0" i="0" dirty="0" err="1">
                    <a:solidFill>
                      <a:schemeClr val="tx1"/>
                    </a:solidFill>
                    <a:effectLst/>
                    <a:latin typeface="Segoe WPC"/>
                  </a:rPr>
                  <a:t>not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𝑏</m:t>
                    </m:r>
                  </m:oMath>
                </a14:m>
                <a:r>
                  <a:rPr lang="es-PE" sz="900" b="0" i="0" dirty="0">
                    <a:solidFill>
                      <a:schemeClr val="tx1"/>
                    </a:solidFill>
                    <a:effectLst/>
                    <a:latin typeface="Segoe WPC"/>
                  </a:rPr>
                  <a:t> </a:t>
                </a:r>
                <a:r>
                  <a:rPr lang="es-PE" sz="900" b="0" i="0" dirty="0" err="1">
                    <a:solidFill>
                      <a:schemeClr val="tx1"/>
                    </a:solidFill>
                    <a:effectLst/>
                    <a:latin typeface="Segoe WPC"/>
                  </a:rPr>
                  <a:t>cannot</a:t>
                </a:r>
                <a:r>
                  <a:rPr lang="es-PE" sz="900" b="0" i="0" dirty="0">
                    <a:solidFill>
                      <a:schemeClr val="tx1"/>
                    </a:solidFill>
                    <a:effectLst/>
                    <a:latin typeface="Segoe WPC"/>
                  </a:rPr>
                  <a:t> </a:t>
                </a:r>
                <a:r>
                  <a:rPr lang="es-PE" sz="900" b="0" i="0" dirty="0" err="1">
                    <a:solidFill>
                      <a:schemeClr val="tx1"/>
                    </a:solidFill>
                    <a:effectLst/>
                    <a:latin typeface="Segoe WPC"/>
                  </a:rPr>
                  <a:t>rescue</a:t>
                </a:r>
                <a:r>
                  <a:rPr lang="es-PE" sz="900" b="0" i="0" dirty="0">
                    <a:solidFill>
                      <a:schemeClr val="tx1"/>
                    </a:solidFill>
                    <a:effectLst/>
                    <a:latin typeface="Segoe WPC"/>
                  </a:rPr>
                  <a:t> a </a:t>
                </a:r>
                <a:r>
                  <a:rPr lang="es-PE" sz="900" b="0" i="0" dirty="0" err="1">
                    <a:solidFill>
                      <a:schemeClr val="tx1"/>
                    </a:solidFill>
                    <a:effectLst/>
                    <a:latin typeface="Segoe WPC"/>
                  </a:rPr>
                  <a:t>poorly</a:t>
                </a:r>
                <a:r>
                  <a:rPr lang="es-PE" sz="900" b="0" i="0" dirty="0">
                    <a:solidFill>
                      <a:schemeClr val="tx1"/>
                    </a:solidFill>
                    <a:effectLst/>
                    <a:latin typeface="Segoe WPC"/>
                  </a:rPr>
                  <a:t> </a:t>
                </a:r>
                <a:r>
                  <a:rPr lang="es-PE" sz="900" b="0" i="0" dirty="0" err="1">
                    <a:solidFill>
                      <a:schemeClr val="tx1"/>
                    </a:solidFill>
                    <a:effectLst/>
                    <a:latin typeface="Segoe WPC"/>
                  </a:rPr>
                  <a:t>specified</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dynamics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parameter</a:t>
                </a:r>
                <a:r>
                  <a:rPr lang="es-PE" sz="900" b="0" i="0" dirty="0">
                    <a:solidFill>
                      <a:schemeClr val="tx1"/>
                    </a:solidFill>
                    <a:effectLst/>
                    <a:latin typeface="Segoe WPC"/>
                  </a:rPr>
                  <a:t> </a:t>
                </a:r>
                <a:r>
                  <a:rPr lang="es-PE" sz="900" b="0" i="0" dirty="0" err="1">
                    <a:solidFill>
                      <a:schemeClr val="tx1"/>
                    </a:solidFill>
                    <a:effectLst/>
                    <a:latin typeface="Segoe WPC"/>
                  </a:rPr>
                  <a:t>calibration</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8. </a:t>
                </a:r>
                <a:r>
                  <a:rPr lang="es-PE" sz="900" b="1" i="0" dirty="0" err="1">
                    <a:solidFill>
                      <a:schemeClr val="tx1"/>
                    </a:solidFill>
                    <a:effectLst/>
                    <a:latin typeface="Segoe WPC"/>
                  </a:rPr>
                  <a:t>Bootstrapping</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Resampling</a:t>
                </a:r>
                <a:r>
                  <a:rPr lang="es-PE" sz="900" b="0" i="0" dirty="0">
                    <a:solidFill>
                      <a:schemeClr val="tx1"/>
                    </a:solidFill>
                    <a:effectLst/>
                    <a:latin typeface="Segoe WPC"/>
                  </a:rPr>
                  <a:t> </a:t>
                </a:r>
                <a:r>
                  <a:rPr lang="es-PE" sz="900" b="0" i="0" dirty="0" err="1">
                    <a:solidFill>
                      <a:schemeClr val="tx1"/>
                    </a:solidFill>
                    <a:effectLst/>
                    <a:latin typeface="Segoe WPC"/>
                  </a:rPr>
                  <a:t>method</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simulates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observed</a:t>
                </a:r>
                <a:r>
                  <a:rPr lang="es-PE" sz="900" b="0" i="0" dirty="0">
                    <a:solidFill>
                      <a:schemeClr val="tx1"/>
                    </a:solidFill>
                    <a:effectLst/>
                    <a:latin typeface="Segoe WPC"/>
                  </a:rPr>
                  <a:t> data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 </a:t>
                </a:r>
                <a:r>
                  <a:rPr lang="es-PE" sz="900" b="0" i="0" dirty="0" err="1">
                    <a:solidFill>
                      <a:schemeClr val="tx1"/>
                    </a:solidFill>
                    <a:effectLst/>
                    <a:latin typeface="Segoe WPC"/>
                  </a:rPr>
                  <a:t>fully</a:t>
                </a:r>
                <a:r>
                  <a:rPr lang="es-PE" sz="900" b="0" i="0" dirty="0">
                    <a:solidFill>
                      <a:schemeClr val="tx1"/>
                    </a:solidFill>
                    <a:effectLst/>
                    <a:latin typeface="Segoe WPC"/>
                  </a:rPr>
                  <a:t> </a:t>
                </a:r>
                <a:r>
                  <a:rPr lang="es-PE" sz="900" b="0" i="0" dirty="0" err="1">
                    <a:solidFill>
                      <a:schemeClr val="tx1"/>
                    </a:solidFill>
                    <a:effectLst/>
                    <a:latin typeface="Segoe WPC"/>
                  </a:rPr>
                  <a:t>specified</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Treat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as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empirical</a:t>
                </a:r>
                <a:r>
                  <a:rPr lang="es-PE" sz="900" b="0" i="0" dirty="0">
                    <a:solidFill>
                      <a:schemeClr val="tx1"/>
                    </a:solidFill>
                    <a:effectLst/>
                    <a:latin typeface="Segoe WPC"/>
                  </a:rPr>
                  <a:t> </a:t>
                </a:r>
                <a:r>
                  <a:rPr lang="es-PE" sz="900" b="0" i="0" dirty="0" err="1">
                    <a:solidFill>
                      <a:schemeClr val="tx1"/>
                    </a:solidFill>
                    <a:effectLst/>
                    <a:latin typeface="Segoe WPC"/>
                  </a:rPr>
                  <a:t>version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unknown</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 and </a:t>
                </a:r>
                <a:r>
                  <a:rPr lang="es-PE" sz="900" b="0" i="0" dirty="0" err="1">
                    <a:solidFill>
                      <a:schemeClr val="tx1"/>
                    </a:solidFill>
                    <a:effectLst/>
                    <a:latin typeface="Segoe WPC"/>
                  </a:rPr>
                  <a:t>resample</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Build</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alternative histories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reusing</a:t>
                </a:r>
                <a:r>
                  <a:rPr lang="es-PE" sz="900" b="0" i="0" dirty="0">
                    <a:solidFill>
                      <a:schemeClr val="tx1"/>
                    </a:solidFill>
                    <a:effectLst/>
                    <a:latin typeface="Segoe WPC"/>
                  </a:rPr>
                  <a:t> </a:t>
                </a:r>
                <a:r>
                  <a:rPr lang="es-PE" sz="900" b="0" i="0" dirty="0" err="1">
                    <a:solidFill>
                      <a:schemeClr val="tx1"/>
                    </a:solidFill>
                    <a:effectLst/>
                    <a:latin typeface="Segoe WPC"/>
                  </a:rPr>
                  <a:t>observations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original data.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𝐸</m:t>
                            </m:r>
                          </m:e>
                        </m:acc>
                      </m:e>
                      <m:sup>
                        <m:r>
                          <a:rPr lang="ar-AE" sz="900" i="1">
                            <a:solidFill>
                              <a:schemeClr val="tx1"/>
                            </a:solidFill>
                            <a:latin typeface="Cambria Math" panose="02040503050406030204" pitchFamily="18" charset="0"/>
                          </a:rPr>
                          <m:t>𝐵𝑆</m:t>
                        </m:r>
                      </m:sup>
                    </m:sSup>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𝑔</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e>
                        </m:d>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1">
                            <a:solidFill>
                              <a:schemeClr val="tx1"/>
                            </a:solidFill>
                            <a:latin typeface="Cambria Math" panose="02040503050406030204" pitchFamily="18" charset="0"/>
                          </a:rPr>
                          <m:t>𝑏</m:t>
                        </m:r>
                      </m:den>
                    </m:f>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𝑗</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𝑏</m:t>
                        </m:r>
                      </m:sup>
                      <m:e>
                        <m:r>
                          <a:rPr lang="ar-AE" sz="900" i="1">
                            <a:solidFill>
                              <a:schemeClr val="tx1"/>
                            </a:solidFill>
                            <a:latin typeface="Cambria Math" panose="02040503050406030204" pitchFamily="18" charset="0"/>
                          </a:rPr>
                          <m:t>𝑔</m:t>
                        </m:r>
                      </m:e>
                    </m:nary>
                    <m:d>
                      <m:dPr>
                        <m:sepChr m:val=","/>
                        <m:ctrlPr>
                          <a:rPr lang="ar-AE" sz="900" i="1">
                            <a:solidFill>
                              <a:schemeClr val="tx1"/>
                            </a:solidFill>
                            <a:latin typeface="Cambria Math" panose="02040503050406030204" pitchFamily="18" charset="0"/>
                          </a:rPr>
                        </m:ctrlPr>
                      </m:dPr>
                      <m:e>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𝑥</m:t>
                            </m:r>
                          </m:e>
                          <m:sub>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𝑗</m:t>
                            </m:r>
                          </m:sub>
                          <m:sup>
                            <m:r>
                              <a:rPr lang="ar-AE" sz="900" i="1">
                                <a:solidFill>
                                  <a:schemeClr val="tx1"/>
                                </a:solidFill>
                                <a:latin typeface="Cambria Math" panose="02040503050406030204" pitchFamily="18" charset="0"/>
                              </a:rPr>
                              <m:t>𝐵𝑆</m:t>
                            </m:r>
                          </m:sup>
                        </m:sSubSup>
                      </m:e>
                      <m:e>
                        <m:r>
                          <a:rPr lang="ar-AE" sz="900" i="0">
                            <a:solidFill>
                              <a:schemeClr val="tx1"/>
                            </a:solidFill>
                            <a:latin typeface="Cambria Math" panose="02040503050406030204" pitchFamily="18" charset="0"/>
                          </a:rPr>
                          <m:t>…</m:t>
                        </m:r>
                      </m:e>
                      <m:e>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𝑚</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𝑗</m:t>
                            </m:r>
                          </m:sub>
                          <m:sup>
                            <m:r>
                              <a:rPr lang="ar-AE" sz="900" i="1">
                                <a:solidFill>
                                  <a:schemeClr val="tx1"/>
                                </a:solidFill>
                                <a:latin typeface="Cambria Math" panose="02040503050406030204" pitchFamily="18" charset="0"/>
                              </a:rPr>
                              <m:t>𝐵𝑆</m:t>
                            </m:r>
                          </m:sup>
                        </m:sSubSup>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Bootstrap </a:t>
                </a:r>
                <a:r>
                  <a:rPr lang="es-PE" sz="900" b="0" i="0" dirty="0" err="1">
                    <a:solidFill>
                      <a:schemeClr val="tx1"/>
                    </a:solidFill>
                    <a:effectLst/>
                    <a:latin typeface="Segoe WPC"/>
                  </a:rPr>
                  <a:t>avoids</a:t>
                </a:r>
                <a:r>
                  <a:rPr lang="es-PE" sz="900" b="0" i="0" dirty="0">
                    <a:solidFill>
                      <a:schemeClr val="tx1"/>
                    </a:solidFill>
                    <a:effectLst/>
                    <a:latin typeface="Segoe WPC"/>
                  </a:rPr>
                  <a:t> </a:t>
                </a:r>
                <a:r>
                  <a:rPr lang="es-PE" sz="900" b="0" i="0" dirty="0" err="1">
                    <a:solidFill>
                      <a:schemeClr val="tx1"/>
                    </a:solidFill>
                    <a:effectLst/>
                    <a:latin typeface="Segoe WPC"/>
                  </a:rPr>
                  <a:t>specifying</a:t>
                </a:r>
                <a:r>
                  <a:rPr lang="es-PE" sz="900" b="0" i="0" dirty="0">
                    <a:solidFill>
                      <a:schemeClr val="tx1"/>
                    </a:solidFill>
                    <a:effectLst/>
                    <a:latin typeface="Segoe WPC"/>
                  </a:rPr>
                  <a:t> a full DGP and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attractive</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modeling</a:t>
                </a:r>
                <a:r>
                  <a:rPr lang="es-PE" sz="900" b="0" i="0" dirty="0">
                    <a:solidFill>
                      <a:schemeClr val="tx1"/>
                    </a:solidFill>
                    <a:effectLst/>
                    <a:latin typeface="Segoe WPC"/>
                  </a:rPr>
                  <a:t> </a:t>
                </a:r>
                <a:r>
                  <a:rPr lang="es-PE" sz="900" b="0" i="0" dirty="0" err="1">
                    <a:solidFill>
                      <a:schemeClr val="tx1"/>
                    </a:solidFill>
                    <a:effectLst/>
                    <a:latin typeface="Segoe WPC"/>
                  </a:rPr>
                  <a:t>assumptions</a:t>
                </a:r>
                <a:r>
                  <a:rPr lang="es-PE" sz="900" b="0" i="0" dirty="0">
                    <a:solidFill>
                      <a:schemeClr val="tx1"/>
                    </a:solidFill>
                    <a:effectLst/>
                    <a:latin typeface="Segoe WPC"/>
                  </a:rPr>
                  <a:t> are </a:t>
                </a:r>
                <a:r>
                  <a:rPr lang="es-PE" sz="900" b="0" i="0" dirty="0" err="1">
                    <a:solidFill>
                      <a:schemeClr val="tx1"/>
                    </a:solidFill>
                    <a:effectLst/>
                    <a:latin typeface="Segoe WPC"/>
                  </a:rPr>
                  <a:t>hard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justify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Bootstrap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create</a:t>
                </a:r>
                <a:r>
                  <a:rPr lang="es-PE" sz="900" b="0" i="0" dirty="0">
                    <a:solidFill>
                      <a:schemeClr val="tx1"/>
                    </a:solidFill>
                    <a:effectLst/>
                    <a:latin typeface="Segoe WPC"/>
                  </a:rPr>
                  <a:t> new </a:t>
                </a:r>
                <a:r>
                  <a:rPr lang="es-PE" sz="900" b="0" i="0" dirty="0" err="1">
                    <a:solidFill>
                      <a:schemeClr val="tx1"/>
                    </a:solidFill>
                    <a:effectLst/>
                    <a:latin typeface="Segoe WPC"/>
                  </a:rPr>
                  <a:t>information</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rearranges</a:t>
                </a:r>
                <a:r>
                  <a:rPr lang="es-PE" sz="900" b="0" i="0" dirty="0">
                    <a:solidFill>
                      <a:schemeClr val="tx1"/>
                    </a:solidFill>
                    <a:effectLst/>
                    <a:latin typeface="Segoe WPC"/>
                  </a:rPr>
                  <a:t> </a:t>
                </a:r>
                <a:r>
                  <a:rPr lang="es-PE" sz="900" b="0" i="0" dirty="0" err="1">
                    <a:solidFill>
                      <a:schemeClr val="tx1"/>
                    </a:solidFill>
                    <a:effectLst/>
                    <a:latin typeface="Segoe WPC"/>
                  </a:rPr>
                  <a:t>what</a:t>
                </a:r>
                <a:r>
                  <a:rPr lang="es-PE" sz="900" b="0" i="0" dirty="0">
                    <a:solidFill>
                      <a:schemeClr val="tx1"/>
                    </a:solidFill>
                    <a:effectLst/>
                    <a:latin typeface="Segoe WPC"/>
                  </a:rPr>
                  <a:t> </a:t>
                </a:r>
                <a:r>
                  <a:rPr lang="es-PE" sz="900" b="0" i="0" dirty="0" err="1">
                    <a:solidFill>
                      <a:schemeClr val="tx1"/>
                    </a:solidFill>
                    <a:effectLst/>
                    <a:latin typeface="Segoe WPC"/>
                  </a:rPr>
                  <a:t>was</a:t>
                </a:r>
                <a:r>
                  <a:rPr lang="es-PE" sz="900" b="0" i="0" dirty="0">
                    <a:solidFill>
                      <a:schemeClr val="tx1"/>
                    </a:solidFill>
                    <a:effectLst/>
                    <a:latin typeface="Segoe WPC"/>
                  </a:rPr>
                  <a:t> </a:t>
                </a:r>
                <a:r>
                  <a:rPr lang="es-PE" sz="900" b="0" i="0" dirty="0" err="1">
                    <a:solidFill>
                      <a:schemeClr val="tx1"/>
                    </a:solidFill>
                    <a:effectLst/>
                    <a:latin typeface="Segoe WPC"/>
                  </a:rPr>
                  <a:t>observed</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9. </a:t>
                </a:r>
                <a:r>
                  <a:rPr lang="es-PE" sz="900" b="1" i="0" dirty="0" err="1">
                    <a:solidFill>
                      <a:schemeClr val="tx1"/>
                    </a:solidFill>
                    <a:effectLst/>
                    <a:latin typeface="Segoe WPC"/>
                  </a:rPr>
                  <a:t>iid</a:t>
                </a:r>
                <a:r>
                  <a:rPr lang="es-PE" sz="900" b="1" i="0" dirty="0">
                    <a:solidFill>
                      <a:schemeClr val="tx1"/>
                    </a:solidFill>
                    <a:effectLst/>
                    <a:latin typeface="Segoe WPC"/>
                  </a:rPr>
                  <a:t> Bootstrap vs Circular Block Bootstrap</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Resampling</a:t>
                </a:r>
                <a:r>
                  <a:rPr lang="es-PE" sz="900" b="0" i="0" dirty="0">
                    <a:solidFill>
                      <a:schemeClr val="tx1"/>
                    </a:solidFill>
                    <a:effectLst/>
                    <a:latin typeface="Segoe WPC"/>
                  </a:rPr>
                  <a:t> </a:t>
                </a:r>
                <a:r>
                  <a:rPr lang="es-PE" sz="900" b="0" i="0" dirty="0" err="1">
                    <a:solidFill>
                      <a:schemeClr val="tx1"/>
                    </a:solidFill>
                    <a:effectLst/>
                    <a:latin typeface="Segoe WPC"/>
                  </a:rPr>
                  <a:t>methods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independent</a:t>
                </a:r>
                <a:r>
                  <a:rPr lang="es-PE" sz="900" b="0" i="0" dirty="0">
                    <a:solidFill>
                      <a:schemeClr val="tx1"/>
                    </a:solidFill>
                    <a:effectLst/>
                    <a:latin typeface="Segoe WPC"/>
                  </a:rPr>
                  <a:t> versus </a:t>
                </a:r>
                <a:r>
                  <a:rPr lang="es-PE" sz="900" b="0" i="0" dirty="0" err="1">
                    <a:solidFill>
                      <a:schemeClr val="tx1"/>
                    </a:solidFill>
                    <a:effectLst/>
                    <a:latin typeface="Segoe WPC"/>
                  </a:rPr>
                  <a:t>dependent</a:t>
                </a:r>
                <a:r>
                  <a:rPr lang="es-PE" sz="900" b="0" i="0" dirty="0">
                    <a:solidFill>
                      <a:schemeClr val="tx1"/>
                    </a:solidFill>
                    <a:effectLst/>
                    <a:latin typeface="Segoe WPC"/>
                  </a:rPr>
                  <a:t> data.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Use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iid</a:t>
                </a:r>
                <a:r>
                  <a:rPr lang="es-PE" sz="900" b="0" i="0" dirty="0">
                    <a:solidFill>
                      <a:schemeClr val="tx1"/>
                    </a:solidFill>
                    <a:effectLst/>
                    <a:latin typeface="Segoe WPC"/>
                  </a:rPr>
                  <a:t> </a:t>
                </a:r>
                <a:r>
                  <a:rPr lang="es-PE" sz="900" b="0" i="0" dirty="0" err="1">
                    <a:solidFill>
                      <a:schemeClr val="tx1"/>
                    </a:solidFill>
                    <a:effectLst/>
                    <a:latin typeface="Segoe WPC"/>
                  </a:rPr>
                  <a:t>bootstrap</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independent</a:t>
                </a:r>
                <a:r>
                  <a:rPr lang="es-PE" sz="900" b="0" i="0" dirty="0">
                    <a:solidFill>
                      <a:schemeClr val="tx1"/>
                    </a:solidFill>
                    <a:effectLst/>
                    <a:latin typeface="Segoe WPC"/>
                  </a:rPr>
                  <a:t> </a:t>
                </a:r>
                <a:r>
                  <a:rPr lang="es-PE" sz="900" b="0" i="0" dirty="0" err="1">
                    <a:solidFill>
                      <a:schemeClr val="tx1"/>
                    </a:solidFill>
                    <a:effectLst/>
                    <a:latin typeface="Segoe WPC"/>
                  </a:rPr>
                  <a:t>observations</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circular block </a:t>
                </a:r>
                <a:r>
                  <a:rPr lang="es-PE" sz="900" b="0" i="0" dirty="0" err="1">
                    <a:solidFill>
                      <a:schemeClr val="tx1"/>
                    </a:solidFill>
                    <a:effectLst/>
                    <a:latin typeface="Segoe WPC"/>
                  </a:rPr>
                  <a:t>bootstrap</a:t>
                </a:r>
                <a:r>
                  <a:rPr lang="es-PE" sz="900" b="0" i="0" dirty="0">
                    <a:solidFill>
                      <a:schemeClr val="tx1"/>
                    </a:solidFill>
                    <a:effectLst/>
                    <a:latin typeface="Segoe WPC"/>
                  </a:rPr>
                  <a:t> (CBB) </a:t>
                </a:r>
                <a:r>
                  <a:rPr lang="es-PE" sz="900" b="0" i="0" dirty="0" err="1">
                    <a:solidFill>
                      <a:schemeClr val="tx1"/>
                    </a:solidFill>
                    <a:effectLst/>
                    <a:latin typeface="Segoe WPC"/>
                  </a:rPr>
                  <a:t>for</a:t>
                </a:r>
                <a:r>
                  <a:rPr lang="es-PE" sz="900" b="0" i="0" dirty="0">
                    <a:solidFill>
                      <a:schemeClr val="tx1"/>
                    </a:solidFill>
                    <a:effectLst/>
                    <a:latin typeface="Segoe WPC"/>
                  </a:rPr>
                  <a:t> time-</a:t>
                </a:r>
                <a:r>
                  <a:rPr lang="es-PE" sz="900" b="0" i="0" dirty="0" err="1">
                    <a:solidFill>
                      <a:schemeClr val="tx1"/>
                    </a:solidFill>
                    <a:effectLst/>
                    <a:latin typeface="Segoe WPC"/>
                  </a:rPr>
                  <a:t>dependent</a:t>
                </a:r>
                <a:r>
                  <a:rPr lang="es-PE" sz="900" b="0" i="0" dirty="0">
                    <a:solidFill>
                      <a:schemeClr val="tx1"/>
                    </a:solidFill>
                    <a:effectLst/>
                    <a:latin typeface="Segoe WPC"/>
                  </a:rPr>
                  <a:t> data.</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iid</a:t>
                </a:r>
                <a:r>
                  <a:rPr lang="es-PE" sz="900" b="0" i="0" dirty="0">
                    <a:solidFill>
                      <a:schemeClr val="tx1"/>
                    </a:solidFill>
                    <a:effectLst/>
                    <a:latin typeface="Segoe WPC"/>
                  </a:rPr>
                  <a:t> </a:t>
                </a:r>
                <a:r>
                  <a:rPr lang="es-PE" sz="900" b="0" i="0" dirty="0" err="1">
                    <a:solidFill>
                      <a:schemeClr val="tx1"/>
                    </a:solidFill>
                    <a:effectLst/>
                    <a:latin typeface="Segoe WPC"/>
                  </a:rPr>
                  <a:t>bootstrap</a:t>
                </a:r>
                <a:r>
                  <a:rPr lang="es-PE" sz="900" b="0" i="0" dirty="0">
                    <a:solidFill>
                      <a:schemeClr val="tx1"/>
                    </a:solidFill>
                    <a:effectLst/>
                    <a:latin typeface="Segoe WPC"/>
                  </a:rPr>
                  <a:t> </a:t>
                </a:r>
                <a:r>
                  <a:rPr lang="es-PE" sz="900" b="0" i="0" dirty="0" err="1">
                    <a:solidFill>
                      <a:schemeClr val="tx1"/>
                    </a:solidFill>
                    <a:effectLst/>
                    <a:latin typeface="Segoe WPC"/>
                  </a:rPr>
                  <a:t>shuffles</a:t>
                </a:r>
                <a:r>
                  <a:rPr lang="es-PE" sz="900" b="0" i="0" dirty="0">
                    <a:solidFill>
                      <a:schemeClr val="tx1"/>
                    </a:solidFill>
                    <a:effectLst/>
                    <a:latin typeface="Segoe WPC"/>
                  </a:rPr>
                  <a:t> single </a:t>
                </a:r>
                <a:r>
                  <a:rPr lang="es-PE" sz="900" b="0" i="0" dirty="0" err="1">
                    <a:solidFill>
                      <a:schemeClr val="tx1"/>
                    </a:solidFill>
                    <a:effectLst/>
                    <a:latin typeface="Segoe WPC"/>
                  </a:rPr>
                  <a:t>points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CBB </a:t>
                </a:r>
                <a:r>
                  <a:rPr lang="es-PE" sz="900" b="0" i="0" dirty="0" err="1">
                    <a:solidFill>
                      <a:schemeClr val="tx1"/>
                    </a:solidFill>
                    <a:effectLst/>
                    <a:latin typeface="Segoe WPC"/>
                  </a:rPr>
                  <a:t>shuffles</a:t>
                </a:r>
                <a:r>
                  <a:rPr lang="es-PE" sz="900" b="0" i="0" dirty="0">
                    <a:solidFill>
                      <a:schemeClr val="tx1"/>
                    </a:solidFill>
                    <a:effectLst/>
                    <a:latin typeface="Segoe WPC"/>
                  </a:rPr>
                  <a:t> short </a:t>
                </a:r>
                <a:r>
                  <a:rPr lang="es-PE" sz="900" b="0" i="0" dirty="0" err="1">
                    <a:solidFill>
                      <a:schemeClr val="tx1"/>
                    </a:solidFill>
                    <a:effectLst/>
                    <a:latin typeface="Segoe WPC"/>
                  </a:rPr>
                  <a:t>stretches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series, </a:t>
                </a:r>
                <a:r>
                  <a:rPr lang="es-PE" sz="900" b="0" i="0" dirty="0" err="1">
                    <a:solidFill>
                      <a:schemeClr val="tx1"/>
                    </a:solidFill>
                    <a:effectLst/>
                    <a:latin typeface="Segoe WPC"/>
                  </a:rPr>
                  <a:t>preserving</a:t>
                </a:r>
                <a:r>
                  <a:rPr lang="es-PE" sz="900" b="0" i="0" dirty="0">
                    <a:solidFill>
                      <a:schemeClr val="tx1"/>
                    </a:solidFill>
                    <a:effectLst/>
                    <a:latin typeface="Segoe WPC"/>
                  </a:rPr>
                  <a:t> local </a:t>
                </a:r>
                <a:r>
                  <a:rPr lang="es-PE" sz="900" b="0" i="0" dirty="0" err="1">
                    <a:solidFill>
                      <a:schemeClr val="tx1"/>
                    </a:solidFill>
                    <a:effectLst/>
                    <a:latin typeface="Segoe WPC"/>
                  </a:rPr>
                  <a:t>dependence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iid</a:t>
                </a:r>
                <a:r>
                  <a:rPr lang="es-PE" sz="900" b="0" i="0" dirty="0">
                    <a:solidFill>
                      <a:schemeClr val="tx1"/>
                    </a:solidFill>
                    <a:effectLst/>
                    <a:latin typeface="Segoe WPC"/>
                  </a:rPr>
                  <a:t> </a:t>
                </a:r>
                <a:r>
                  <a:rPr lang="es-PE" sz="900" b="0" i="0" dirty="0" err="1">
                    <a:solidFill>
                      <a:schemeClr val="tx1"/>
                    </a:solidFill>
                    <a:effectLst/>
                    <a:latin typeface="Segoe WPC"/>
                  </a:rPr>
                  <a:t>bootstrap</a:t>
                </a:r>
                <a:r>
                  <a:rPr lang="es-PE" sz="900" b="0" i="0" dirty="0">
                    <a:solidFill>
                      <a:schemeClr val="tx1"/>
                    </a:solidFill>
                    <a:effectLst/>
                    <a:latin typeface="Segoe WPC"/>
                  </a:rPr>
                  <a:t> </a:t>
                </a:r>
                <a:r>
                  <a:rPr lang="es-PE" sz="900" b="0" i="0" dirty="0" err="1">
                    <a:solidFill>
                      <a:schemeClr val="tx1"/>
                    </a:solidFill>
                    <a:effectLst/>
                    <a:latin typeface="Segoe WPC"/>
                  </a:rPr>
                  <a:t>samples</a:t>
                </a:r>
                <a:r>
                  <a:rPr lang="es-PE" sz="900" b="0" i="0" dirty="0">
                    <a:solidFill>
                      <a:schemeClr val="tx1"/>
                    </a:solidFill>
                    <a:effectLst/>
                    <a:latin typeface="Segoe WPC"/>
                  </a:rPr>
                  <a:t> </a:t>
                </a:r>
                <a:r>
                  <a:rPr lang="es-PE" sz="900" b="0" i="0" dirty="0" err="1">
                    <a:solidFill>
                      <a:schemeClr val="tx1"/>
                    </a:solidFill>
                    <a:effectLst/>
                    <a:latin typeface="Segoe WPC"/>
                  </a:rPr>
                  <a:t>indices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replacement</a:t>
                </a:r>
                <a:r>
                  <a:rPr lang="es-PE" sz="900" b="0" i="0" dirty="0">
                    <a:solidFill>
                      <a:schemeClr val="tx1"/>
                    </a:solidFill>
                    <a:effectLst/>
                    <a:latin typeface="Segoe WPC"/>
                  </a:rPr>
                  <a:t>; CBB </a:t>
                </a:r>
                <a:r>
                  <a:rPr lang="es-PE" sz="900" b="0" i="0" dirty="0" err="1">
                    <a:solidFill>
                      <a:schemeClr val="tx1"/>
                    </a:solidFill>
                    <a:effectLst/>
                    <a:latin typeface="Segoe WPC"/>
                  </a:rPr>
                  <a:t>samples</a:t>
                </a:r>
                <a:r>
                  <a:rPr lang="es-PE" sz="900" b="0" i="0" dirty="0">
                    <a:solidFill>
                      <a:schemeClr val="tx1"/>
                    </a:solidFill>
                    <a:effectLst/>
                    <a:latin typeface="Segoe WPC"/>
                  </a:rPr>
                  <a:t> blocks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size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𝑞</m:t>
                    </m:r>
                  </m:oMath>
                </a14:m>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rule-</a:t>
                </a:r>
                <a:r>
                  <a:rPr lang="es-PE" sz="900" b="0" i="0" dirty="0" err="1">
                    <a:solidFill>
                      <a:schemeClr val="tx1"/>
                    </a:solidFill>
                    <a:effectLst/>
                    <a:latin typeface="Segoe WPC"/>
                  </a:rPr>
                  <a:t>of</a:t>
                </a:r>
                <a:r>
                  <a:rPr lang="es-PE" sz="900" b="0" i="0" dirty="0">
                    <a:solidFill>
                      <a:schemeClr val="tx1"/>
                    </a:solidFill>
                    <a:effectLst/>
                    <a:latin typeface="Segoe WPC"/>
                  </a:rPr>
                  <a:t>-</a:t>
                </a:r>
                <a:r>
                  <a:rPr lang="es-PE" sz="900" b="0" i="0" dirty="0" err="1">
                    <a:solidFill>
                      <a:schemeClr val="tx1"/>
                    </a:solidFill>
                    <a:effectLst/>
                    <a:latin typeface="Segoe WPC"/>
                  </a:rPr>
                  <a:t>thumb</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𝑞</m:t>
                    </m:r>
                    <m:r>
                      <a:rPr lang="es-PE" sz="900" i="0">
                        <a:solidFill>
                          <a:schemeClr val="tx1"/>
                        </a:solidFill>
                        <a:latin typeface="Cambria Math" panose="02040503050406030204" pitchFamily="18" charset="0"/>
                      </a:rPr>
                      <m:t>≈</m:t>
                    </m:r>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𝑛</m:t>
                        </m:r>
                      </m:e>
                    </m:ra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CBB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better</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financial</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preserves </a:t>
                </a:r>
                <a:r>
                  <a:rPr lang="es-PE" sz="900" b="0" i="0" dirty="0" err="1">
                    <a:solidFill>
                      <a:schemeClr val="tx1"/>
                    </a:solidFill>
                    <a:effectLst/>
                    <a:latin typeface="Segoe WPC"/>
                  </a:rPr>
                  <a:t>features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clustering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t>
                </a:r>
                <a:r>
                  <a:rPr lang="es-PE" sz="900" b="0" i="0" dirty="0" err="1">
                    <a:solidFill>
                      <a:schemeClr val="tx1"/>
                    </a:solidFill>
                    <a:effectLst/>
                    <a:latin typeface="Segoe WPC"/>
                  </a:rPr>
                  <a:t>iid</a:t>
                </a:r>
                <a:r>
                  <a:rPr lang="es-PE" sz="900" b="0" i="0" dirty="0">
                    <a:solidFill>
                      <a:schemeClr val="tx1"/>
                    </a:solidFill>
                    <a:effectLst/>
                    <a:latin typeface="Segoe WPC"/>
                  </a:rPr>
                  <a:t> </a:t>
                </a:r>
                <a:r>
                  <a:rPr lang="es-PE" sz="900" b="0" i="0" dirty="0" err="1">
                    <a:solidFill>
                      <a:schemeClr val="tx1"/>
                    </a:solidFill>
                    <a:effectLst/>
                    <a:latin typeface="Segoe WPC"/>
                  </a:rPr>
                  <a:t>bootstrap</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dependent</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makes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a:t>
                </a:r>
                <a:r>
                  <a:rPr lang="es-PE" sz="900" b="0" i="0" dirty="0" err="1">
                    <a:solidFill>
                      <a:schemeClr val="tx1"/>
                    </a:solidFill>
                    <a:effectLst/>
                    <a:latin typeface="Segoe WPC"/>
                  </a:rPr>
                  <a:t>too</a:t>
                </a:r>
                <a:r>
                  <a:rPr lang="es-PE" sz="900" b="0" i="0" dirty="0">
                    <a:solidFill>
                      <a:schemeClr val="tx1"/>
                    </a:solidFill>
                    <a:effectLst/>
                    <a:latin typeface="Segoe WPC"/>
                  </a:rPr>
                  <a:t> “</a:t>
                </a:r>
                <a:r>
                  <a:rPr lang="es-PE" sz="900" b="0" i="0" dirty="0" err="1">
                    <a:solidFill>
                      <a:schemeClr val="tx1"/>
                    </a:solidFill>
                    <a:effectLst/>
                    <a:latin typeface="Segoe WPC"/>
                  </a:rPr>
                  <a:t>balanced</a:t>
                </a:r>
                <a:r>
                  <a:rPr lang="es-PE" sz="900" b="0" i="0" dirty="0">
                    <a:solidFill>
                      <a:schemeClr val="tx1"/>
                    </a:solidFill>
                    <a:effectLst/>
                    <a:latin typeface="Segoe WPC"/>
                  </a:rPr>
                  <a:t>” and can </a:t>
                </a:r>
                <a:r>
                  <a:rPr lang="es-PE" sz="900" b="0" i="0" dirty="0" err="1">
                    <a:solidFill>
                      <a:schemeClr val="tx1"/>
                    </a:solidFill>
                    <a:effectLst/>
                    <a:latin typeface="Segoe WPC"/>
                  </a:rPr>
                  <a:t>distort</a:t>
                </a:r>
                <a:r>
                  <a:rPr lang="es-PE" sz="900" b="0" i="0" dirty="0">
                    <a:solidFill>
                      <a:schemeClr val="tx1"/>
                    </a:solidFill>
                    <a:effectLst/>
                    <a:latin typeface="Segoe WPC"/>
                  </a:rPr>
                  <a:t> </a:t>
                </a:r>
                <a:r>
                  <a:rPr lang="es-PE" sz="900" b="0" i="0" dirty="0" err="1">
                    <a:solidFill>
                      <a:schemeClr val="tx1"/>
                    </a:solidFill>
                    <a:effectLst/>
                    <a:latin typeface="Segoe WPC"/>
                  </a:rPr>
                  <a:t>tail</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10. </a:t>
                </a:r>
                <a:r>
                  <a:rPr lang="es-PE" sz="900" b="1" i="0" dirty="0" err="1">
                    <a:solidFill>
                      <a:schemeClr val="tx1"/>
                    </a:solidFill>
                    <a:effectLst/>
                    <a:latin typeface="Segoe WPC"/>
                  </a:rPr>
                  <a:t>Bootstrapping</a:t>
                </a:r>
                <a:r>
                  <a:rPr lang="es-PE" sz="900" b="1" i="0" dirty="0">
                    <a:solidFill>
                      <a:schemeClr val="tx1"/>
                    </a:solidFill>
                    <a:effectLst/>
                    <a:latin typeface="Segoe WPC"/>
                  </a:rPr>
                  <a:t> VaR, </a:t>
                </a:r>
                <a:r>
                  <a:rPr lang="es-PE" sz="900" b="1" i="0" dirty="0" err="1">
                    <a:solidFill>
                      <a:schemeClr val="tx1"/>
                    </a:solidFill>
                    <a:effectLst/>
                    <a:latin typeface="Segoe WPC"/>
                  </a:rPr>
                  <a:t>Limitations</a:t>
                </a:r>
                <a:r>
                  <a:rPr lang="es-PE" sz="900" b="1" i="0" dirty="0">
                    <a:solidFill>
                      <a:schemeClr val="tx1"/>
                    </a:solidFill>
                    <a:effectLst/>
                    <a:latin typeface="Segoe WPC"/>
                  </a:rPr>
                  <a:t>, and </a:t>
                </a:r>
                <a:r>
                  <a:rPr lang="es-PE" sz="900" b="1" i="0" dirty="0" err="1">
                    <a:solidFill>
                      <a:schemeClr val="tx1"/>
                    </a:solidFill>
                    <a:effectLst/>
                    <a:latin typeface="Segoe WPC"/>
                  </a:rPr>
                  <a:t>Comparison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Estimation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-at-</a:t>
                </a:r>
                <a:r>
                  <a:rPr lang="es-PE" sz="900" b="0" i="0" dirty="0" err="1">
                    <a:solidFill>
                      <a:schemeClr val="tx1"/>
                    </a:solidFill>
                    <a:effectLst/>
                    <a:latin typeface="Segoe WPC"/>
                  </a:rPr>
                  <a:t>Risk</a:t>
                </a:r>
                <a:r>
                  <a:rPr lang="es-PE" sz="900" b="0" i="0" dirty="0">
                    <a:solidFill>
                      <a:schemeClr val="tx1"/>
                    </a:solidFill>
                    <a:effectLst/>
                    <a:latin typeface="Segoe WPC"/>
                  </a:rPr>
                  <a:t> and </a:t>
                </a:r>
                <a:r>
                  <a:rPr lang="es-PE" sz="900" b="0" i="0" dirty="0" err="1">
                    <a:solidFill>
                      <a:schemeClr val="tx1"/>
                    </a:solidFill>
                    <a:effectLst/>
                    <a:latin typeface="Segoe WPC"/>
                  </a:rPr>
                  <a:t>comparison</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bootstrap</a:t>
                </a:r>
                <a:r>
                  <a:rPr lang="es-PE" sz="900" b="0" i="0" dirty="0">
                    <a:solidFill>
                      <a:schemeClr val="tx1"/>
                    </a:solidFill>
                    <a:effectLst/>
                    <a:latin typeface="Segoe WPC"/>
                  </a:rPr>
                  <a:t> and Monte Carlo.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Simulate</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annual</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bootstrapped</a:t>
                </a:r>
                <a:r>
                  <a:rPr lang="es-PE" sz="900" b="0" i="0" dirty="0">
                    <a:solidFill>
                      <a:schemeClr val="tx1"/>
                    </a:solidFill>
                    <a:effectLst/>
                    <a:latin typeface="Segoe WPC"/>
                  </a:rPr>
                  <a:t> </a:t>
                </a:r>
                <a:r>
                  <a:rPr lang="es-PE" sz="900" b="0" i="0" dirty="0" err="1">
                    <a:solidFill>
                      <a:schemeClr val="tx1"/>
                    </a:solidFill>
                    <a:effectLst/>
                    <a:latin typeface="Segoe WPC"/>
                  </a:rPr>
                  <a:t>daily</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r>
                  <a:rPr lang="es-PE" sz="900" b="0" i="0" dirty="0" err="1">
                    <a:solidFill>
                      <a:schemeClr val="tx1"/>
                    </a:solidFill>
                    <a:effectLst/>
                    <a:latin typeface="Segoe WPC"/>
                  </a:rPr>
                  <a:t>estimate</a:t>
                </a:r>
                <a:r>
                  <a:rPr lang="es-PE" sz="900" b="0" i="0" dirty="0">
                    <a:solidFill>
                      <a:schemeClr val="tx1"/>
                    </a:solidFill>
                    <a:effectLst/>
                    <a:latin typeface="Segoe WPC"/>
                  </a:rPr>
                  <a:t> VaR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lower-tail</a:t>
                </a:r>
                <a:r>
                  <a:rPr lang="es-PE" sz="900" b="0" i="0" dirty="0">
                    <a:solidFill>
                      <a:schemeClr val="tx1"/>
                    </a:solidFill>
                    <a:effectLst/>
                    <a:latin typeface="Segoe WPC"/>
                  </a:rPr>
                  <a:t> </a:t>
                </a:r>
                <a:r>
                  <a:rPr lang="es-PE" sz="900" b="0" i="0" dirty="0" err="1">
                    <a:solidFill>
                      <a:schemeClr val="tx1"/>
                    </a:solidFill>
                    <a:effectLst/>
                    <a:latin typeface="Segoe WPC"/>
                  </a:rPr>
                  <a:t>quantile</a:t>
                </a:r>
                <a:r>
                  <a:rPr lang="es-PE" sz="900" b="0" i="0" dirty="0">
                    <a:solidFill>
                      <a:schemeClr val="tx1"/>
                    </a:solidFill>
                    <a:effectLst/>
                    <a:latin typeface="Segoe WPC"/>
                  </a:rPr>
                  <a:t>; compare </a:t>
                </a:r>
                <a:r>
                  <a:rPr lang="es-PE" sz="900" b="0" i="0" dirty="0" err="1">
                    <a:solidFill>
                      <a:schemeClr val="tx1"/>
                    </a:solidFill>
                    <a:effectLst/>
                    <a:latin typeface="Segoe WPC"/>
                  </a:rPr>
                  <a:t>this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model-based</a:t>
                </a:r>
                <a:r>
                  <a:rPr lang="es-PE" sz="900" b="0" i="0" dirty="0">
                    <a:solidFill>
                      <a:schemeClr val="tx1"/>
                    </a:solidFill>
                    <a:effectLst/>
                    <a:latin typeface="Segoe WPC"/>
                  </a:rPr>
                  <a:t> Monte Carlo.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Focus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worst</a:t>
                </a:r>
                <a:r>
                  <a:rPr lang="es-PE" sz="900" b="0" i="0" dirty="0">
                    <a:solidFill>
                      <a:schemeClr val="tx1"/>
                    </a:solidFill>
                    <a:effectLst/>
                    <a:latin typeface="Segoe WPC"/>
                  </a:rPr>
                  <a:t> </a:t>
                </a:r>
                <a:r>
                  <a:rPr lang="es-PE" sz="900" b="0" i="0" dirty="0" err="1">
                    <a:solidFill>
                      <a:schemeClr val="tx1"/>
                    </a:solidFill>
                    <a:effectLst/>
                    <a:latin typeface="Segoe WPC"/>
                  </a:rPr>
                  <a:t>simulated</a:t>
                </a:r>
                <a:r>
                  <a:rPr lang="es-PE" sz="900" b="0" i="0" dirty="0">
                    <a:solidFill>
                      <a:schemeClr val="tx1"/>
                    </a:solidFill>
                    <a:effectLst/>
                    <a:latin typeface="Segoe WPC"/>
                  </a:rPr>
                  <a:t> </a:t>
                </a:r>
                <a:r>
                  <a:rPr lang="es-PE" sz="900" b="0" i="0" dirty="0" err="1">
                    <a:solidFill>
                      <a:schemeClr val="tx1"/>
                    </a:solidFill>
                    <a:effectLst/>
                    <a:latin typeface="Segoe WPC"/>
                  </a:rPr>
                  <a:t>annual</a:t>
                </a:r>
                <a:r>
                  <a:rPr lang="es-PE" sz="900" b="0" i="0" dirty="0">
                    <a:solidFill>
                      <a:schemeClr val="tx1"/>
                    </a:solidFill>
                    <a:effectLst/>
                    <a:latin typeface="Segoe WPC"/>
                  </a:rPr>
                  <a:t> </a:t>
                </a:r>
                <a:r>
                  <a:rPr lang="es-PE" sz="900" b="0" i="0" dirty="0" err="1">
                    <a:solidFill>
                      <a:schemeClr val="tx1"/>
                    </a:solidFill>
                    <a:effectLst/>
                    <a:latin typeface="Segoe WPC"/>
                  </a:rPr>
                  <a:t>outcomes</a:t>
                </a:r>
                <a:r>
                  <a:rPr lang="es-PE" sz="900" b="0" i="0" dirty="0">
                    <a:solidFill>
                      <a:schemeClr val="tx1"/>
                    </a:solidFill>
                    <a:effectLst/>
                    <a:latin typeface="Segoe WPC"/>
                  </a:rPr>
                  <a:t> and </a:t>
                </a:r>
                <a:r>
                  <a:rPr lang="es-PE" sz="900" b="0" i="0" dirty="0" err="1">
                    <a:solidFill>
                      <a:schemeClr val="tx1"/>
                    </a:solidFill>
                    <a:effectLst/>
                    <a:latin typeface="Segoe WPC"/>
                  </a:rPr>
                  <a:t>see</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tail</a:t>
                </a:r>
                <a:r>
                  <a:rPr lang="es-PE" sz="900" b="0" i="0" dirty="0">
                    <a:solidFill>
                      <a:schemeClr val="tx1"/>
                    </a:solidFill>
                    <a:effectLst/>
                    <a:latin typeface="Segoe WPC"/>
                  </a:rPr>
                  <a:t> </a:t>
                </a:r>
                <a:r>
                  <a:rPr lang="es-PE" sz="900" b="0" i="0" dirty="0" err="1">
                    <a:solidFill>
                      <a:schemeClr val="tx1"/>
                    </a:solidFill>
                    <a:effectLst/>
                    <a:latin typeface="Segoe WPC"/>
                  </a:rPr>
                  <a:t>thickness</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under</a:t>
                </a:r>
                <a:r>
                  <a:rPr lang="es-PE" sz="900" b="0" i="0" dirty="0">
                    <a:solidFill>
                      <a:schemeClr val="tx1"/>
                    </a:solidFill>
                    <a:effectLst/>
                    <a:latin typeface="Segoe WPC"/>
                  </a:rPr>
                  <a:t> </a:t>
                </a:r>
                <a:r>
                  <a:rPr lang="es-PE" sz="900" b="0" i="0" dirty="0" err="1">
                    <a:solidFill>
                      <a:schemeClr val="tx1"/>
                    </a:solidFill>
                    <a:effectLst/>
                    <a:latin typeface="Segoe WPC"/>
                  </a:rPr>
                  <a:t>iid</a:t>
                </a:r>
                <a:r>
                  <a:rPr lang="es-PE" sz="900" b="0" i="0" dirty="0">
                    <a:solidFill>
                      <a:schemeClr val="tx1"/>
                    </a:solidFill>
                    <a:effectLst/>
                    <a:latin typeface="Segoe WPC"/>
                  </a:rPr>
                  <a:t> </a:t>
                </a:r>
                <a:r>
                  <a:rPr lang="es-PE" sz="900" b="0" i="0" dirty="0" err="1">
                    <a:solidFill>
                      <a:schemeClr val="tx1"/>
                    </a:solidFill>
                    <a:effectLst/>
                    <a:latin typeface="Segoe WPC"/>
                  </a:rPr>
                  <a:t>bootstrap</a:t>
                </a:r>
                <a:r>
                  <a:rPr lang="es-PE" sz="900" b="0" i="0" dirty="0">
                    <a:solidFill>
                      <a:schemeClr val="tx1"/>
                    </a:solidFill>
                    <a:effectLst/>
                    <a:latin typeface="Segoe WPC"/>
                  </a:rPr>
                  <a:t> versus CBB.</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𝑃𝑟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𝐿</m:t>
                        </m:r>
                        <m:r>
                          <a:rPr lang="ar-AE" sz="900" i="0">
                            <a:solidFill>
                              <a:schemeClr val="tx1"/>
                            </a:solidFill>
                            <a:latin typeface="Cambria Math" panose="02040503050406030204" pitchFamily="18" charset="0"/>
                          </a:rPr>
                          <m:t>&gt;</m:t>
                        </m:r>
                        <m:r>
                          <a:rPr lang="ar-AE" sz="900" i="1">
                            <a:solidFill>
                              <a:schemeClr val="tx1"/>
                            </a:solidFill>
                            <a:latin typeface="Cambria Math" panose="02040503050406030204" pitchFamily="18" charset="0"/>
                          </a:rPr>
                          <m:t>𝑉𝑎𝑅</m:t>
                        </m:r>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oMath>
                </a14:m>
                <a:r>
                  <a:rPr lang="ar-AE" sz="900" b="0" i="0" dirty="0">
                    <a:solidFill>
                      <a:schemeClr val="tx1"/>
                    </a:solidFill>
                    <a:effectLst/>
                    <a:latin typeface="Segoe WPC"/>
                  </a:rPr>
                  <a:t>; </a:t>
                </a:r>
                <a:r>
                  <a:rPr lang="es-PE" sz="900" b="0" i="0" dirty="0">
                    <a:solidFill>
                      <a:schemeClr val="tx1"/>
                    </a:solidFill>
                    <a:effectLst/>
                    <a:latin typeface="Segoe WPC"/>
                  </a:rPr>
                  <a:t>VaR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estimated</a:t>
                </a:r>
                <a:r>
                  <a:rPr lang="es-PE" sz="900" b="0" i="0" dirty="0">
                    <a:solidFill>
                      <a:schemeClr val="tx1"/>
                    </a:solidFill>
                    <a:effectLst/>
                    <a:latin typeface="Segoe WPC"/>
                  </a:rPr>
                  <a:t> as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empirical</a:t>
                </a:r>
                <a:r>
                  <a:rPr lang="es-PE" sz="900" b="0" i="0" dirty="0">
                    <a:solidFill>
                      <a:schemeClr val="tx1"/>
                    </a:solidFill>
                    <a:effectLst/>
                    <a:latin typeface="Segoe WPC"/>
                  </a:rPr>
                  <a:t> </a:t>
                </a:r>
                <a14:m>
                  <m:oMath xmlns:m="http://schemas.openxmlformats.org/officeDocument/2006/math">
                    <m:d>
                      <m:dPr>
                        <m:ctrlPr>
                          <a:rPr lang="ar-AE" sz="900" i="1">
                            <a:solidFill>
                              <a:schemeClr val="tx1"/>
                            </a:solidFill>
                            <a:latin typeface="Cambria Math" panose="02040503050406030204" pitchFamily="18" charset="0"/>
                          </a:rPr>
                        </m:ctrlPr>
                      </m:dPr>
                      <m:e>
                        <m:r>
                          <a:rPr lang="ar-AE" sz="90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e>
                    </m:d>
                  </m:oMath>
                </a14:m>
                <a:r>
                  <a:rPr lang="ar-AE" sz="900" b="0" i="0" dirty="0">
                    <a:solidFill>
                      <a:schemeClr val="tx1"/>
                    </a:solidFill>
                    <a:effectLst/>
                    <a:latin typeface="Segoe WPC"/>
                  </a:rPr>
                  <a:t> </a:t>
                </a:r>
                <a:r>
                  <a:rPr lang="es-PE" sz="900" b="0" i="0" dirty="0" err="1">
                    <a:solidFill>
                      <a:schemeClr val="tx1"/>
                    </a:solidFill>
                    <a:effectLst/>
                    <a:latin typeface="Segoe WPC"/>
                  </a:rPr>
                  <a:t>quantile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simulated</a:t>
                </a:r>
                <a:r>
                  <a:rPr lang="es-PE" sz="900" b="0" i="0" dirty="0">
                    <a:solidFill>
                      <a:schemeClr val="tx1"/>
                    </a:solidFill>
                    <a:effectLst/>
                    <a:latin typeface="Segoe WPC"/>
                  </a:rPr>
                  <a:t> </a:t>
                </a:r>
                <a:r>
                  <a:rPr lang="es-PE" sz="900" b="0" i="0" dirty="0" err="1">
                    <a:solidFill>
                      <a:schemeClr val="tx1"/>
                    </a:solidFill>
                    <a:effectLst/>
                    <a:latin typeface="Segoe WPC"/>
                  </a:rPr>
                  <a:t>losses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CBB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larger</a:t>
                </a:r>
                <a:r>
                  <a:rPr lang="es-PE" sz="900" b="0" i="0" dirty="0">
                    <a:solidFill>
                      <a:schemeClr val="tx1"/>
                    </a:solidFill>
                    <a:effectLst/>
                    <a:latin typeface="Segoe WPC"/>
                  </a:rPr>
                  <a:t> extreme-</a:t>
                </a:r>
                <a:r>
                  <a:rPr lang="es-PE" sz="900" b="0" i="0" dirty="0" err="1">
                    <a:solidFill>
                      <a:schemeClr val="tx1"/>
                    </a:solidFill>
                    <a:effectLst/>
                    <a:latin typeface="Segoe WPC"/>
                  </a:rPr>
                  <a:t>tail</a:t>
                </a:r>
                <a:r>
                  <a:rPr lang="es-PE" sz="900" b="0" i="0" dirty="0">
                    <a:solidFill>
                      <a:schemeClr val="tx1"/>
                    </a:solidFill>
                    <a:effectLst/>
                    <a:latin typeface="Segoe WPC"/>
                  </a:rPr>
                  <a:t> VaR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preserves </a:t>
                </a:r>
                <a:r>
                  <a:rPr lang="es-PE" sz="900" b="0" i="0" dirty="0" err="1">
                    <a:solidFill>
                      <a:schemeClr val="tx1"/>
                    </a:solidFill>
                    <a:effectLst/>
                    <a:latin typeface="Segoe WPC"/>
                  </a:rPr>
                  <a:t>persistent</a:t>
                </a:r>
                <a:r>
                  <a:rPr lang="es-PE" sz="900" b="0" i="0" dirty="0">
                    <a:solidFill>
                      <a:schemeClr val="tx1"/>
                    </a:solidFill>
                    <a:effectLst/>
                    <a:latin typeface="Segoe WPC"/>
                  </a:rPr>
                  <a:t> </a:t>
                </a:r>
                <a:r>
                  <a:rPr lang="es-PE" sz="900" b="0" i="0" dirty="0" err="1">
                    <a:solidFill>
                      <a:schemeClr val="tx1"/>
                    </a:solidFill>
                    <a:effectLst/>
                    <a:latin typeface="Segoe WPC"/>
                  </a:rPr>
                  <a:t>high-volatility</a:t>
                </a:r>
                <a:r>
                  <a:rPr lang="es-PE" sz="900" b="0" i="0" dirty="0">
                    <a:solidFill>
                      <a:schemeClr val="tx1"/>
                    </a:solidFill>
                    <a:effectLst/>
                    <a:latin typeface="Segoe WPC"/>
                  </a:rPr>
                  <a:t> </a:t>
                </a:r>
                <a:r>
                  <a:rPr lang="es-PE" sz="900" b="0" i="0" dirty="0" err="1">
                    <a:solidFill>
                      <a:schemeClr val="tx1"/>
                    </a:solidFill>
                    <a:effectLst/>
                    <a:latin typeface="Segoe WPC"/>
                  </a:rPr>
                  <a:t>periods</a:t>
                </a:r>
                <a:r>
                  <a:rPr lang="es-PE" sz="900" b="0" i="0" dirty="0">
                    <a:solidFill>
                      <a:schemeClr val="tx1"/>
                    </a:solidFill>
                    <a:effectLst/>
                    <a:latin typeface="Segoe WPC"/>
                  </a:rPr>
                  <a:t>. Monte Carlo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quality</a:t>
                </a:r>
                <a:r>
                  <a:rPr lang="es-PE" sz="900" b="0" i="0" dirty="0">
                    <a:solidFill>
                      <a:schemeClr val="tx1"/>
                    </a:solidFill>
                    <a:effectLst/>
                    <a:latin typeface="Segoe WPC"/>
                  </a:rPr>
                  <a:t>; </a:t>
                </a:r>
                <a:r>
                  <a:rPr lang="es-PE" sz="900" b="0" i="0" dirty="0" err="1">
                    <a:solidFill>
                      <a:schemeClr val="tx1"/>
                    </a:solidFill>
                    <a:effectLst/>
                    <a:latin typeface="Segoe WPC"/>
                  </a:rPr>
                  <a:t>bootstrap</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past</a:t>
                </a:r>
                <a:r>
                  <a:rPr lang="es-PE" sz="900" b="0" i="0" dirty="0">
                    <a:solidFill>
                      <a:schemeClr val="tx1"/>
                    </a:solidFill>
                    <a:effectLst/>
                    <a:latin typeface="Segoe WPC"/>
                  </a:rPr>
                  <a:t> resembles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present</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struggle</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Black </a:t>
                </a:r>
                <a:r>
                  <a:rPr lang="es-PE" sz="900" b="0" i="0" dirty="0" err="1">
                    <a:solidFill>
                      <a:schemeClr val="tx1"/>
                    </a:solidFill>
                    <a:effectLst/>
                    <a:latin typeface="Segoe WPC"/>
                  </a:rPr>
                  <a:t>Swan</a:t>
                </a:r>
                <a:r>
                  <a:rPr lang="es-PE" sz="900" b="0" i="0" dirty="0">
                    <a:solidFill>
                      <a:schemeClr val="tx1"/>
                    </a:solidFill>
                    <a:effectLst/>
                    <a:latin typeface="Segoe WPC"/>
                  </a:rPr>
                  <a:t> </a:t>
                </a:r>
                <a:r>
                  <a:rPr lang="es-PE" sz="900" b="0" i="0" dirty="0" err="1">
                    <a:solidFill>
                      <a:schemeClr val="tx1"/>
                    </a:solidFill>
                    <a:effectLst/>
                    <a:latin typeface="Segoe WPC"/>
                  </a:rPr>
                  <a:t>events</a:t>
                </a:r>
                <a:r>
                  <a:rPr lang="es-PE" sz="900" b="0" i="0" dirty="0">
                    <a:solidFill>
                      <a:schemeClr val="tx1"/>
                    </a:solidFill>
                    <a:effectLst/>
                    <a:latin typeface="Segoe WPC"/>
                  </a:rPr>
                  <a:t> </a:t>
                </a:r>
                <a:r>
                  <a:rPr lang="es-PE" sz="900" b="0" i="0" dirty="0" err="1">
                    <a:solidFill>
                      <a:schemeClr val="tx1"/>
                    </a:solidFill>
                    <a:effectLst/>
                    <a:latin typeface="Segoe WPC"/>
                  </a:rPr>
                  <a:t>outside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a:t>
                </a:r>
                <a:r>
                  <a:rPr lang="es-PE" sz="900" b="0" i="0" dirty="0" err="1">
                    <a:solidFill>
                      <a:schemeClr val="tx1"/>
                    </a:solidFill>
                    <a:effectLst/>
                    <a:latin typeface="Segoe WPC"/>
                  </a:rPr>
                  <a:t>model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Bootstrap </a:t>
                </a:r>
                <a:r>
                  <a:rPr lang="es-PE" sz="900" b="0" i="0" dirty="0" err="1">
                    <a:solidFill>
                      <a:schemeClr val="tx1"/>
                    </a:solidFill>
                    <a:effectLst/>
                    <a:latin typeface="Segoe WPC"/>
                  </a:rPr>
                  <a:t>fails</a:t>
                </a:r>
                <a:r>
                  <a:rPr lang="es-PE" sz="900" b="0" i="0" dirty="0">
                    <a:solidFill>
                      <a:schemeClr val="tx1"/>
                    </a:solidFill>
                    <a:effectLst/>
                    <a:latin typeface="Segoe WPC"/>
                  </a:rPr>
                  <a:t> </a:t>
                </a:r>
                <a:r>
                  <a:rPr lang="es-PE" sz="900" b="0" i="0" dirty="0" err="1">
                    <a:solidFill>
                      <a:schemeClr val="tx1"/>
                    </a:solidFill>
                    <a:effectLst/>
                    <a:latin typeface="Segoe WPC"/>
                  </a:rPr>
                  <a:t>under</a:t>
                </a:r>
                <a:r>
                  <a:rPr lang="es-PE" sz="900" b="0" i="0" dirty="0">
                    <a:solidFill>
                      <a:schemeClr val="tx1"/>
                    </a:solidFill>
                    <a:effectLst/>
                    <a:latin typeface="Segoe WPC"/>
                  </a:rPr>
                  <a:t> </a:t>
                </a:r>
                <a:r>
                  <a:rPr lang="es-PE" sz="900" b="0" i="0" dirty="0" err="1">
                    <a:solidFill>
                      <a:schemeClr val="tx1"/>
                    </a:solidFill>
                    <a:effectLst/>
                    <a:latin typeface="Segoe WPC"/>
                  </a:rPr>
                  <a:t>regime</a:t>
                </a:r>
                <a:r>
                  <a:rPr lang="es-PE" sz="900" b="0" i="0" dirty="0">
                    <a:solidFill>
                      <a:schemeClr val="tx1"/>
                    </a:solidFill>
                    <a:effectLst/>
                    <a:latin typeface="Segoe WPC"/>
                  </a:rPr>
                  <a:t> </a:t>
                </a:r>
                <a:r>
                  <a:rPr lang="es-PE" sz="900" b="0" i="0" dirty="0" err="1">
                    <a:solidFill>
                      <a:schemeClr val="tx1"/>
                    </a:solidFill>
                    <a:effectLst/>
                    <a:latin typeface="Segoe WPC"/>
                  </a:rPr>
                  <a:t>shifts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structural</a:t>
                </a:r>
                <a:r>
                  <a:rPr lang="es-PE" sz="900" b="0" i="0" dirty="0">
                    <a:solidFill>
                      <a:schemeClr val="tx1"/>
                    </a:solidFill>
                    <a:effectLst/>
                    <a:latin typeface="Segoe WPC"/>
                  </a:rPr>
                  <a:t> </a:t>
                </a:r>
                <a:r>
                  <a:rPr lang="es-PE" sz="900" b="0" i="0" dirty="0" err="1">
                    <a:solidFill>
                      <a:schemeClr val="tx1"/>
                    </a:solidFill>
                    <a:effectLst/>
                    <a:latin typeface="Segoe WPC"/>
                  </a:rPr>
                  <a:t>breaks</a:t>
                </a:r>
                <a:r>
                  <a:rPr lang="es-PE" sz="900" b="0" i="0" dirty="0">
                    <a:solidFill>
                      <a:schemeClr val="tx1"/>
                    </a:solidFill>
                    <a:effectLst/>
                    <a:latin typeface="Segoe WPC"/>
                  </a:rPr>
                  <a:t>, and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cannot</a:t>
                </a:r>
                <a:r>
                  <a:rPr lang="es-PE" sz="900" b="0" i="0" dirty="0">
                    <a:solidFill>
                      <a:schemeClr val="tx1"/>
                    </a:solidFill>
                    <a:effectLst/>
                    <a:latin typeface="Segoe WPC"/>
                  </a:rPr>
                  <a:t> </a:t>
                </a:r>
                <a:r>
                  <a:rPr lang="es-PE" sz="900" b="0" i="0" dirty="0" err="1">
                    <a:solidFill>
                      <a:schemeClr val="tx1"/>
                    </a:solidFill>
                    <a:effectLst/>
                    <a:latin typeface="Segoe WPC"/>
                  </a:rPr>
                  <a:t>generate</a:t>
                </a:r>
                <a:r>
                  <a:rPr lang="es-PE" sz="900" b="0" i="0" dirty="0">
                    <a:solidFill>
                      <a:schemeClr val="tx1"/>
                    </a:solidFill>
                    <a:effectLst/>
                    <a:latin typeface="Segoe WPC"/>
                  </a:rPr>
                  <a:t> </a:t>
                </a:r>
                <a:r>
                  <a:rPr lang="es-PE" sz="900" b="0" i="0" dirty="0" err="1">
                    <a:solidFill>
                      <a:schemeClr val="tx1"/>
                    </a:solidFill>
                    <a:effectLst/>
                    <a:latin typeface="Segoe WPC"/>
                  </a:rPr>
                  <a:t>events</a:t>
                </a:r>
                <a:r>
                  <a:rPr lang="es-PE" sz="900" b="0" i="0" dirty="0">
                    <a:solidFill>
                      <a:schemeClr val="tx1"/>
                    </a:solidFill>
                    <a:effectLst/>
                    <a:latin typeface="Segoe WPC"/>
                  </a:rPr>
                  <a:t> </a:t>
                </a:r>
                <a:r>
                  <a:rPr lang="es-PE" sz="900" b="0" i="0" dirty="0" err="1">
                    <a:solidFill>
                      <a:schemeClr val="tx1"/>
                    </a:solidFill>
                    <a:effectLst/>
                    <a:latin typeface="Segoe WPC"/>
                  </a:rPr>
                  <a:t>never</a:t>
                </a:r>
                <a:r>
                  <a:rPr lang="es-PE" sz="900" b="0" i="0" dirty="0">
                    <a:solidFill>
                      <a:schemeClr val="tx1"/>
                    </a:solidFill>
                    <a:effectLst/>
                    <a:latin typeface="Segoe WPC"/>
                  </a:rPr>
                  <a:t> </a:t>
                </a:r>
                <a:r>
                  <a:rPr lang="es-PE" sz="900" b="0" i="0" dirty="0" err="1">
                    <a:solidFill>
                      <a:schemeClr val="tx1"/>
                    </a:solidFill>
                    <a:effectLst/>
                    <a:latin typeface="Segoe WPC"/>
                  </a:rPr>
                  <a:t>seen</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data; Monte Carlo can in </a:t>
                </a:r>
                <a:r>
                  <a:rPr lang="es-PE" sz="900" b="0" i="0" dirty="0" err="1">
                    <a:solidFill>
                      <a:schemeClr val="tx1"/>
                    </a:solidFill>
                    <a:effectLst/>
                    <a:latin typeface="Segoe WPC"/>
                  </a:rPr>
                  <a:t>principle</a:t>
                </a:r>
                <a:r>
                  <a:rPr lang="es-PE" sz="900" b="0" i="0" dirty="0">
                    <a:solidFill>
                      <a:schemeClr val="tx1"/>
                    </a:solidFill>
                    <a:effectLst/>
                    <a:latin typeface="Segoe WPC"/>
                  </a:rPr>
                  <a:t> do so,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DGP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specified</a:t>
                </a:r>
                <a:r>
                  <a:rPr lang="es-PE" sz="900" b="0" i="0" dirty="0">
                    <a:solidFill>
                      <a:schemeClr val="tx1"/>
                    </a:solidFill>
                    <a:effectLst/>
                    <a:latin typeface="Segoe WPC"/>
                  </a:rPr>
                  <a:t> </a:t>
                </a:r>
                <a:r>
                  <a:rPr lang="es-PE" sz="900" b="0" i="0" dirty="0" err="1">
                    <a:solidFill>
                      <a:schemeClr val="tx1"/>
                    </a:solidFill>
                    <a:effectLst/>
                    <a:latin typeface="Segoe WPC"/>
                  </a:rPr>
                  <a:t>well</a:t>
                </a:r>
                <a:r>
                  <a:rPr lang="es-PE" sz="900" b="0" i="0" dirty="0">
                    <a:solidFill>
                      <a:schemeClr val="tx1"/>
                    </a:solidFill>
                    <a:effectLst/>
                    <a:latin typeface="Segoe WPC"/>
                  </a:rPr>
                  <a:t>.</a:t>
                </a:r>
              </a:p>
            </p:txBody>
          </p:sp>
        </mc:Choice>
        <mc:Fallback xmlns="">
          <p:sp>
            <p:nvSpPr>
              <p:cNvPr id="13" name="CuadroTexto 12">
                <a:extLst>
                  <a:ext uri="{FF2B5EF4-FFF2-40B4-BE49-F238E27FC236}">
                    <a16:creationId xmlns:a16="http://schemas.microsoft.com/office/drawing/2014/main" id="{669036BC-145C-F4E8-D932-2628BB847D64}"/>
                  </a:ext>
                </a:extLst>
              </p:cNvPr>
              <p:cNvSpPr txBox="1">
                <a:spLocks noRot="1" noChangeAspect="1" noMove="1" noResize="1" noEditPoints="1" noAdjustHandles="1" noChangeArrowheads="1" noChangeShapeType="1" noTextEdit="1"/>
              </p:cNvSpPr>
              <p:nvPr/>
            </p:nvSpPr>
            <p:spPr>
              <a:xfrm>
                <a:off x="5842000" y="0"/>
                <a:ext cx="6317341" cy="6861174"/>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21084843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9D5B8B-EF9F-D69B-4261-9AC1F52579E3}"/>
              </a:ext>
            </a:extLst>
          </p:cNvPr>
          <p:cNvSpPr>
            <a:spLocks noGrp="1"/>
          </p:cNvSpPr>
          <p:nvPr>
            <p:ph type="title"/>
          </p:nvPr>
        </p:nvSpPr>
        <p:spPr>
          <a:xfrm>
            <a:off x="0" y="-245404"/>
            <a:ext cx="10515600" cy="643618"/>
          </a:xfrm>
        </p:spPr>
        <p:txBody>
          <a:bodyPr>
            <a:normAutofit/>
          </a:bodyPr>
          <a:lstStyle/>
          <a:p>
            <a:r>
              <a:rPr lang="en-US" sz="2400" dirty="0"/>
              <a:t>Machine Learning Methods</a:t>
            </a:r>
            <a:endParaRPr lang="es-PE" sz="2400" dirty="0"/>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877FFF7A-F9C9-008F-DFE2-1D360446FD0F}"/>
                  </a:ext>
                </a:extLst>
              </p:cNvPr>
              <p:cNvSpPr txBox="1"/>
              <p:nvPr/>
            </p:nvSpPr>
            <p:spPr>
              <a:xfrm>
                <a:off x="-69850" y="76405"/>
                <a:ext cx="6354536" cy="6851427"/>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ML vs </a:t>
                </a:r>
                <a:r>
                  <a:rPr lang="es-PE" sz="900" b="1" i="0" dirty="0" err="1">
                    <a:solidFill>
                      <a:schemeClr val="tx1"/>
                    </a:solidFill>
                    <a:effectLst/>
                    <a:latin typeface="Segoe WPC"/>
                  </a:rPr>
                  <a:t>Classical</a:t>
                </a:r>
                <a:r>
                  <a:rPr lang="es-PE" sz="900" b="1" i="0" dirty="0">
                    <a:solidFill>
                      <a:schemeClr val="tx1"/>
                    </a:solidFill>
                    <a:effectLst/>
                    <a:latin typeface="Segoe WPC"/>
                  </a:rPr>
                  <a:t> </a:t>
                </a:r>
                <a:r>
                  <a:rPr lang="es-PE" sz="900" b="1" i="0" dirty="0" err="1">
                    <a:solidFill>
                      <a:schemeClr val="tx1"/>
                    </a:solidFill>
                    <a:effectLst/>
                    <a:latin typeface="Segoe WPC"/>
                  </a:rPr>
                  <a:t>Econometrics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frameworks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modeling</a:t>
                </a:r>
                <a:r>
                  <a:rPr lang="es-PE" sz="900" b="0" i="0" dirty="0">
                    <a:solidFill>
                      <a:schemeClr val="tx1"/>
                    </a:solidFill>
                    <a:effectLst/>
                    <a:latin typeface="Segoe WPC"/>
                  </a:rPr>
                  <a:t> data.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Econometrics</a:t>
                </a:r>
                <a:r>
                  <a:rPr lang="es-PE" sz="900" b="0" i="0" dirty="0">
                    <a:solidFill>
                      <a:schemeClr val="tx1"/>
                    </a:solidFill>
                    <a:effectLst/>
                    <a:latin typeface="Segoe WPC"/>
                  </a:rPr>
                  <a:t> </a:t>
                </a:r>
                <a:r>
                  <a:rPr lang="es-PE" sz="900" b="0" i="0" dirty="0" err="1">
                    <a:solidFill>
                      <a:schemeClr val="tx1"/>
                    </a:solidFill>
                    <a:effectLst/>
                    <a:latin typeface="Segoe WPC"/>
                  </a:rPr>
                  <a:t>starts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theory</a:t>
                </a:r>
                <a:r>
                  <a:rPr lang="es-PE" sz="900" b="0" i="0" dirty="0">
                    <a:solidFill>
                      <a:schemeClr val="tx1"/>
                    </a:solidFill>
                    <a:effectLst/>
                    <a:latin typeface="Segoe WPC"/>
                  </a:rPr>
                  <a:t>, </a:t>
                </a:r>
                <a:r>
                  <a:rPr lang="es-PE" sz="900" b="0" i="0" dirty="0" err="1">
                    <a:solidFill>
                      <a:schemeClr val="tx1"/>
                    </a:solidFill>
                    <a:effectLst/>
                    <a:latin typeface="Segoe WPC"/>
                  </a:rPr>
                  <a:t>specifies</a:t>
                </a:r>
                <a:r>
                  <a:rPr lang="es-PE" sz="900" b="0" i="0" dirty="0">
                    <a:solidFill>
                      <a:schemeClr val="tx1"/>
                    </a:solidFill>
                    <a:effectLst/>
                    <a:latin typeface="Segoe WPC"/>
                  </a:rPr>
                  <a:t> a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estimates</a:t>
                </a:r>
                <a:r>
                  <a:rPr lang="es-PE" sz="900" b="0" i="0" dirty="0">
                    <a:solidFill>
                      <a:schemeClr val="tx1"/>
                    </a:solidFill>
                    <a:effectLst/>
                    <a:latin typeface="Segoe WPC"/>
                  </a:rPr>
                  <a:t> </a:t>
                </a:r>
                <a:r>
                  <a:rPr lang="es-PE" sz="900" b="0" i="0" dirty="0" err="1">
                    <a:solidFill>
                      <a:schemeClr val="tx1"/>
                    </a:solidFill>
                    <a:effectLst/>
                    <a:latin typeface="Segoe WPC"/>
                  </a:rPr>
                  <a:t>parameters</a:t>
                </a:r>
                <a:r>
                  <a:rPr lang="es-PE" sz="900" b="0" i="0" dirty="0">
                    <a:solidFill>
                      <a:schemeClr val="tx1"/>
                    </a:solidFill>
                    <a:effectLst/>
                    <a:latin typeface="Segoe WPC"/>
                  </a:rPr>
                  <a:t>, and </a:t>
                </a:r>
                <a:r>
                  <a:rPr lang="es-PE" sz="900" b="0" i="0" dirty="0" err="1">
                    <a:solidFill>
                      <a:schemeClr val="tx1"/>
                    </a:solidFill>
                    <a:effectLst/>
                    <a:latin typeface="Segoe WPC"/>
                  </a:rPr>
                  <a:t>tests</a:t>
                </a:r>
                <a:r>
                  <a:rPr lang="es-PE" sz="900" b="0" i="0" dirty="0">
                    <a:solidFill>
                      <a:schemeClr val="tx1"/>
                    </a:solidFill>
                    <a:effectLst/>
                    <a:latin typeface="Segoe WPC"/>
                  </a:rPr>
                  <a:t> </a:t>
                </a:r>
                <a:r>
                  <a:rPr lang="es-PE" sz="900" b="0" i="0" dirty="0" err="1">
                    <a:solidFill>
                      <a:schemeClr val="tx1"/>
                    </a:solidFill>
                    <a:effectLst/>
                    <a:latin typeface="Segoe WPC"/>
                  </a:rPr>
                  <a:t>hypotheses</a:t>
                </a:r>
                <a:r>
                  <a:rPr lang="es-PE" sz="900" b="0" i="0" dirty="0">
                    <a:solidFill>
                      <a:schemeClr val="tx1"/>
                    </a:solidFill>
                    <a:effectLst/>
                    <a:latin typeface="Segoe WPC"/>
                  </a:rPr>
                  <a:t>. Machine </a:t>
                </a:r>
                <a:r>
                  <a:rPr lang="es-PE" sz="900" b="0" i="0" dirty="0" err="1">
                    <a:solidFill>
                      <a:schemeClr val="tx1"/>
                    </a:solidFill>
                    <a:effectLst/>
                    <a:latin typeface="Segoe WPC"/>
                  </a:rPr>
                  <a:t>learning</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more data-</a:t>
                </a:r>
                <a:r>
                  <a:rPr lang="es-PE" sz="900" b="0" i="0" dirty="0" err="1">
                    <a:solidFill>
                      <a:schemeClr val="tx1"/>
                    </a:solidFill>
                    <a:effectLst/>
                    <a:latin typeface="Segoe WPC"/>
                  </a:rPr>
                  <a:t>driven</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searches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patterns</a:t>
                </a:r>
                <a:r>
                  <a:rPr lang="es-PE" sz="900" b="0" i="0" dirty="0">
                    <a:solidFill>
                      <a:schemeClr val="tx1"/>
                    </a:solidFill>
                    <a:effectLst/>
                    <a:latin typeface="Segoe WPC"/>
                  </a:rPr>
                  <a:t>, </a:t>
                </a:r>
                <a:r>
                  <a:rPr lang="es-PE" sz="900" b="0" i="0" dirty="0" err="1">
                    <a:solidFill>
                      <a:schemeClr val="tx1"/>
                    </a:solidFill>
                    <a:effectLst/>
                    <a:latin typeface="Segoe WPC"/>
                  </a:rPr>
                  <a:t>nonlinearities</a:t>
                </a:r>
                <a:r>
                  <a:rPr lang="es-PE" sz="900" b="0" i="0" dirty="0">
                    <a:solidFill>
                      <a:schemeClr val="tx1"/>
                    </a:solidFill>
                    <a:effectLst/>
                    <a:latin typeface="Segoe WPC"/>
                  </a:rPr>
                  <a:t>, and </a:t>
                </a:r>
                <a:r>
                  <a:rPr lang="es-PE" sz="900" b="0" i="0" dirty="0" err="1">
                    <a:solidFill>
                      <a:schemeClr val="tx1"/>
                    </a:solidFill>
                    <a:effectLst/>
                    <a:latin typeface="Segoe WPC"/>
                  </a:rPr>
                  <a:t>interactions</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improve</a:t>
                </a:r>
                <a:r>
                  <a:rPr lang="es-PE" sz="900" b="0" i="0" dirty="0">
                    <a:solidFill>
                      <a:schemeClr val="tx1"/>
                    </a:solidFill>
                    <a:effectLst/>
                    <a:latin typeface="Segoe WPC"/>
                  </a:rPr>
                  <a:t> </a:t>
                </a:r>
                <a:r>
                  <a:rPr lang="es-PE" sz="900" b="0" i="0" dirty="0" err="1">
                    <a:solidFill>
                      <a:schemeClr val="tx1"/>
                    </a:solidFill>
                    <a:effectLst/>
                    <a:latin typeface="Segoe WPC"/>
                  </a:rPr>
                  <a:t>prediction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Econometrics</a:t>
                </a:r>
                <a:r>
                  <a:rPr lang="es-PE" sz="900" b="0" i="0" dirty="0">
                    <a:solidFill>
                      <a:schemeClr val="tx1"/>
                    </a:solidFill>
                    <a:effectLst/>
                    <a:latin typeface="Segoe WPC"/>
                  </a:rPr>
                  <a:t> </a:t>
                </a:r>
                <a:r>
                  <a:rPr lang="es-PE" sz="900" b="0" i="0" dirty="0" err="1">
                    <a:solidFill>
                      <a:schemeClr val="tx1"/>
                    </a:solidFill>
                    <a:effectLst/>
                    <a:latin typeface="Segoe WPC"/>
                  </a:rPr>
                  <a:t>asks</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a:t>
                </a:r>
                <a:r>
                  <a:rPr lang="es-PE" sz="900" b="0" i="0" dirty="0" err="1">
                    <a:solidFill>
                      <a:schemeClr val="tx1"/>
                    </a:solidFill>
                    <a:effectLst/>
                    <a:latin typeface="Segoe WPC"/>
                  </a:rPr>
                  <a:t>chosen</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fit</a:t>
                </a:r>
                <a:r>
                  <a:rPr lang="es-PE" sz="900" b="0" i="0" dirty="0">
                    <a:solidFill>
                      <a:schemeClr val="tx1"/>
                    </a:solidFill>
                    <a:effectLst/>
                    <a:latin typeface="Segoe WPC"/>
                  </a:rPr>
                  <a:t>?”; ML </a:t>
                </a:r>
                <a:r>
                  <a:rPr lang="es-PE" sz="900" b="0" i="0" dirty="0" err="1">
                    <a:solidFill>
                      <a:schemeClr val="tx1"/>
                    </a:solidFill>
                    <a:effectLst/>
                    <a:latin typeface="Segoe WPC"/>
                  </a:rPr>
                  <a:t>asks</a:t>
                </a:r>
                <a:r>
                  <a:rPr lang="es-PE" sz="900" b="0" i="0" dirty="0">
                    <a:solidFill>
                      <a:schemeClr val="tx1"/>
                    </a:solidFill>
                    <a:effectLst/>
                    <a:latin typeface="Segoe WPC"/>
                  </a:rPr>
                  <a:t>, “</a:t>
                </a:r>
                <a:r>
                  <a:rPr lang="es-PE" sz="900" b="0" i="0" dirty="0" err="1">
                    <a:solidFill>
                      <a:schemeClr val="tx1"/>
                    </a:solidFill>
                    <a:effectLst/>
                    <a:latin typeface="Segoe WPC"/>
                  </a:rPr>
                  <a:t>Which</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predicts</a:t>
                </a:r>
                <a:r>
                  <a:rPr lang="es-PE" sz="900" b="0" i="0" dirty="0">
                    <a:solidFill>
                      <a:schemeClr val="tx1"/>
                    </a:solidFill>
                    <a:effectLst/>
                    <a:latin typeface="Segoe WPC"/>
                  </a:rPr>
                  <a:t> </a:t>
                </a:r>
                <a:r>
                  <a:rPr lang="es-PE" sz="900" b="0" i="0" dirty="0" err="1">
                    <a:solidFill>
                      <a:schemeClr val="tx1"/>
                    </a:solidFill>
                    <a:effectLst/>
                    <a:latin typeface="Segoe WPC"/>
                  </a:rPr>
                  <a:t>best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single formula;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distinction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inference</a:t>
                </a:r>
                <a:r>
                  <a:rPr lang="es-PE" sz="900" b="0" i="0" dirty="0">
                    <a:solidFill>
                      <a:schemeClr val="tx1"/>
                    </a:solidFill>
                    <a:effectLst/>
                    <a:latin typeface="Segoe WPC"/>
                  </a:rPr>
                  <a:t>/</a:t>
                </a:r>
                <a:r>
                  <a:rPr lang="es-PE" sz="900" b="0" i="0" dirty="0" err="1">
                    <a:solidFill>
                      <a:schemeClr val="tx1"/>
                    </a:solidFill>
                    <a:effectLst/>
                    <a:latin typeface="Segoe WPC"/>
                  </a:rPr>
                  <a:t>significance</a:t>
                </a:r>
                <a:r>
                  <a:rPr lang="es-PE" sz="900" b="0" i="0" dirty="0">
                    <a:solidFill>
                      <a:schemeClr val="tx1"/>
                    </a:solidFill>
                    <a:effectLst/>
                    <a:latin typeface="Segoe WPC"/>
                  </a:rPr>
                  <a:t> in </a:t>
                </a:r>
                <a:r>
                  <a:rPr lang="es-PE" sz="900" b="0" i="0" dirty="0" err="1">
                    <a:solidFill>
                      <a:schemeClr val="tx1"/>
                    </a:solidFill>
                    <a:effectLst/>
                    <a:latin typeface="Segoe WPC"/>
                  </a:rPr>
                  <a:t>econometrics</a:t>
                </a:r>
                <a:r>
                  <a:rPr lang="es-PE" sz="900" b="0" i="0" dirty="0">
                    <a:solidFill>
                      <a:schemeClr val="tx1"/>
                    </a:solidFill>
                    <a:effectLst/>
                    <a:latin typeface="Segoe WPC"/>
                  </a:rPr>
                  <a:t> versus predictive </a:t>
                </a:r>
                <a:r>
                  <a:rPr lang="es-PE" sz="900" b="0" i="0" dirty="0" err="1">
                    <a:solidFill>
                      <a:schemeClr val="tx1"/>
                    </a:solidFill>
                    <a:effectLst/>
                    <a:latin typeface="Segoe WPC"/>
                  </a:rPr>
                  <a:t>accuracy</a:t>
                </a:r>
                <a:r>
                  <a:rPr lang="es-PE" sz="900" b="0" i="0" dirty="0">
                    <a:solidFill>
                      <a:schemeClr val="tx1"/>
                    </a:solidFill>
                    <a:effectLst/>
                    <a:latin typeface="Segoe WPC"/>
                  </a:rPr>
                  <a:t> in ML.</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ML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especially</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datasets</a:t>
                </a:r>
                <a:r>
                  <a:rPr lang="es-PE" sz="900" b="0" i="0" dirty="0">
                    <a:solidFill>
                      <a:schemeClr val="tx1"/>
                    </a:solidFill>
                    <a:effectLst/>
                    <a:latin typeface="Segoe WPC"/>
                  </a:rPr>
                  <a:t>, </a:t>
                </a:r>
                <a:r>
                  <a:rPr lang="es-PE" sz="900" b="0" i="0" dirty="0" err="1">
                    <a:solidFill>
                      <a:schemeClr val="tx1"/>
                    </a:solidFill>
                    <a:effectLst/>
                    <a:latin typeface="Segoe WPC"/>
                  </a:rPr>
                  <a:t>weak</a:t>
                </a:r>
                <a:r>
                  <a:rPr lang="es-PE" sz="900" b="0" i="0" dirty="0">
                    <a:solidFill>
                      <a:schemeClr val="tx1"/>
                    </a:solidFill>
                    <a:effectLst/>
                    <a:latin typeface="Segoe WPC"/>
                  </a:rPr>
                  <a:t> </a:t>
                </a:r>
                <a:r>
                  <a:rPr lang="es-PE" sz="900" b="0" i="0" dirty="0" err="1">
                    <a:solidFill>
                      <a:schemeClr val="tx1"/>
                    </a:solidFill>
                    <a:effectLst/>
                    <a:latin typeface="Segoe WPC"/>
                  </a:rPr>
                  <a:t>theory</a:t>
                </a:r>
                <a:r>
                  <a:rPr lang="es-PE" sz="900" b="0" i="0" dirty="0">
                    <a:solidFill>
                      <a:schemeClr val="tx1"/>
                    </a:solidFill>
                    <a:effectLst/>
                    <a:latin typeface="Segoe WPC"/>
                  </a:rPr>
                  <a:t>, </a:t>
                </a:r>
                <a:r>
                  <a:rPr lang="es-PE" sz="900" b="0" i="0" dirty="0" err="1">
                    <a:solidFill>
                      <a:schemeClr val="tx1"/>
                    </a:solidFill>
                    <a:effectLst/>
                    <a:latin typeface="Segoe WPC"/>
                  </a:rPr>
                  <a:t>nonlinear</a:t>
                </a:r>
                <a:r>
                  <a:rPr lang="es-PE" sz="900" b="0" i="0" dirty="0">
                    <a:solidFill>
                      <a:schemeClr val="tx1"/>
                    </a:solidFill>
                    <a:effectLst/>
                    <a:latin typeface="Segoe WPC"/>
                  </a:rPr>
                  <a:t> </a:t>
                </a:r>
                <a:r>
                  <a:rPr lang="es-PE" sz="900" b="0" i="0" dirty="0" err="1">
                    <a:solidFill>
                      <a:schemeClr val="tx1"/>
                    </a:solidFill>
                    <a:effectLst/>
                    <a:latin typeface="Segoe WPC"/>
                  </a:rPr>
                  <a:t>relationships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candidate </a:t>
                </a:r>
                <a:r>
                  <a:rPr lang="es-PE" sz="900" b="0" i="0" dirty="0" err="1">
                    <a:solidFill>
                      <a:schemeClr val="tx1"/>
                    </a:solidFill>
                    <a:effectLst/>
                    <a:latin typeface="Segoe WPC"/>
                  </a:rPr>
                  <a:t>predictors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ML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a more </a:t>
                </a:r>
                <a:r>
                  <a:rPr lang="es-PE" sz="900" b="0" i="0" dirty="0" err="1">
                    <a:solidFill>
                      <a:schemeClr val="tx1"/>
                    </a:solidFill>
                    <a:effectLst/>
                    <a:latin typeface="Segoe WPC"/>
                  </a:rPr>
                  <a:t>complex</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objective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out-of-sample</a:t>
                </a:r>
                <a:r>
                  <a:rPr lang="es-PE" sz="900" b="0" i="0" dirty="0">
                    <a:solidFill>
                      <a:schemeClr val="tx1"/>
                    </a:solidFill>
                    <a:effectLst/>
                    <a:latin typeface="Segoe WPC"/>
                  </a:rPr>
                  <a:t> performance,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hypothesis</a:t>
                </a:r>
                <a:r>
                  <a:rPr lang="es-PE" sz="900" b="0" i="0" dirty="0">
                    <a:solidFill>
                      <a:schemeClr val="tx1"/>
                    </a:solidFill>
                    <a:effectLst/>
                    <a:latin typeface="Segoe WPC"/>
                  </a:rPr>
                  <a:t> </a:t>
                </a:r>
                <a:r>
                  <a:rPr lang="es-PE" sz="900" b="0" i="0" dirty="0" err="1">
                    <a:solidFill>
                      <a:schemeClr val="tx1"/>
                    </a:solidFill>
                    <a:effectLst/>
                    <a:latin typeface="Segoe WPC"/>
                  </a:rPr>
                  <a:t>testing</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2. </a:t>
                </a:r>
                <a:r>
                  <a:rPr lang="es-PE" sz="900" b="1" i="0" dirty="0" err="1">
                    <a:solidFill>
                      <a:schemeClr val="tx1"/>
                    </a:solidFill>
                    <a:effectLst/>
                    <a:latin typeface="Segoe WPC"/>
                  </a:rPr>
                  <a:t>Types</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Machine </a:t>
                </a:r>
                <a:r>
                  <a:rPr lang="es-PE" sz="900" b="1" i="0" dirty="0" err="1">
                    <a:solidFill>
                      <a:schemeClr val="tx1"/>
                    </a:solidFill>
                    <a:effectLst/>
                    <a:latin typeface="Segoe WPC"/>
                  </a:rPr>
                  <a:t>Learning</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Unsupervised</a:t>
                </a:r>
                <a:r>
                  <a:rPr lang="es-PE" sz="900" b="0" i="0" dirty="0">
                    <a:solidFill>
                      <a:schemeClr val="tx1"/>
                    </a:solidFill>
                    <a:effectLst/>
                    <a:latin typeface="Segoe WPC"/>
                  </a:rPr>
                  <a:t>, </a:t>
                </a:r>
                <a:r>
                  <a:rPr lang="es-PE" sz="900" b="0" i="0" dirty="0" err="1">
                    <a:solidFill>
                      <a:schemeClr val="tx1"/>
                    </a:solidFill>
                    <a:effectLst/>
                    <a:latin typeface="Segoe WPC"/>
                  </a:rPr>
                  <a:t>supervised</a:t>
                </a:r>
                <a:r>
                  <a:rPr lang="es-PE" sz="900" b="0" i="0" dirty="0">
                    <a:solidFill>
                      <a:schemeClr val="tx1"/>
                    </a:solidFill>
                    <a:effectLst/>
                    <a:latin typeface="Segoe WPC"/>
                  </a:rPr>
                  <a:t>, and </a:t>
                </a:r>
                <a:r>
                  <a:rPr lang="es-PE" sz="900" b="0" i="0" dirty="0" err="1">
                    <a:solidFill>
                      <a:schemeClr val="tx1"/>
                    </a:solidFill>
                    <a:effectLst/>
                    <a:latin typeface="Segoe WPC"/>
                  </a:rPr>
                  <a:t>reinforcement</a:t>
                </a:r>
                <a:r>
                  <a:rPr lang="es-PE" sz="900" b="0" i="0" dirty="0">
                    <a:solidFill>
                      <a:schemeClr val="tx1"/>
                    </a:solidFill>
                    <a:effectLst/>
                    <a:latin typeface="Segoe WPC"/>
                  </a:rPr>
                  <a:t> </a:t>
                </a:r>
                <a:r>
                  <a:rPr lang="es-PE" sz="900" b="0" i="0" dirty="0" err="1">
                    <a:solidFill>
                      <a:schemeClr val="tx1"/>
                    </a:solidFill>
                    <a:effectLst/>
                    <a:latin typeface="Segoe WPC"/>
                  </a:rPr>
                  <a:t>learning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Unsupervised</a:t>
                </a:r>
                <a:r>
                  <a:rPr lang="es-PE" sz="900" b="0" i="0" dirty="0">
                    <a:solidFill>
                      <a:schemeClr val="tx1"/>
                    </a:solidFill>
                    <a:effectLst/>
                    <a:latin typeface="Segoe WPC"/>
                  </a:rPr>
                  <a:t> </a:t>
                </a:r>
                <a:r>
                  <a:rPr lang="es-PE" sz="900" b="0" i="0" dirty="0" err="1">
                    <a:solidFill>
                      <a:schemeClr val="tx1"/>
                    </a:solidFill>
                    <a:effectLst/>
                    <a:latin typeface="Segoe WPC"/>
                  </a:rPr>
                  <a:t>learning</a:t>
                </a:r>
                <a:r>
                  <a:rPr lang="es-PE" sz="900" b="0" i="0" dirty="0">
                    <a:solidFill>
                      <a:schemeClr val="tx1"/>
                    </a:solidFill>
                    <a:effectLst/>
                    <a:latin typeface="Segoe WPC"/>
                  </a:rPr>
                  <a:t> </a:t>
                </a:r>
                <a:r>
                  <a:rPr lang="es-PE" sz="900" b="0" i="0" dirty="0" err="1">
                    <a:solidFill>
                      <a:schemeClr val="tx1"/>
                    </a:solidFill>
                    <a:effectLst/>
                    <a:latin typeface="Segoe WPC"/>
                  </a:rPr>
                  <a:t>finds</a:t>
                </a:r>
                <a:r>
                  <a:rPr lang="es-PE" sz="900" b="0" i="0" dirty="0">
                    <a:solidFill>
                      <a:schemeClr val="tx1"/>
                    </a:solidFill>
                    <a:effectLst/>
                    <a:latin typeface="Segoe WPC"/>
                  </a:rPr>
                  <a:t> </a:t>
                </a:r>
                <a:r>
                  <a:rPr lang="es-PE" sz="900" b="0" i="0" dirty="0" err="1">
                    <a:solidFill>
                      <a:schemeClr val="tx1"/>
                    </a:solidFill>
                    <a:effectLst/>
                    <a:latin typeface="Segoe WPC"/>
                  </a:rPr>
                  <a:t>structure</a:t>
                </a:r>
                <a:r>
                  <a:rPr lang="es-PE" sz="900" b="0" i="0" dirty="0">
                    <a:solidFill>
                      <a:schemeClr val="tx1"/>
                    </a:solidFill>
                    <a:effectLst/>
                    <a:latin typeface="Segoe WPC"/>
                  </a:rPr>
                  <a:t> </a:t>
                </a:r>
                <a:r>
                  <a:rPr lang="es-PE" sz="900" b="0" i="0" dirty="0" err="1">
                    <a:solidFill>
                      <a:schemeClr val="tx1"/>
                    </a:solidFill>
                    <a:effectLst/>
                    <a:latin typeface="Segoe WPC"/>
                  </a:rPr>
                  <a:t>without</a:t>
                </a:r>
                <a:r>
                  <a:rPr lang="es-PE" sz="900" b="0" i="0" dirty="0">
                    <a:solidFill>
                      <a:schemeClr val="tx1"/>
                    </a:solidFill>
                    <a:effectLst/>
                    <a:latin typeface="Segoe WPC"/>
                  </a:rPr>
                  <a:t> </a:t>
                </a:r>
                <a:r>
                  <a:rPr lang="es-PE" sz="900" b="0" i="0" dirty="0" err="1">
                    <a:solidFill>
                      <a:schemeClr val="tx1"/>
                    </a:solidFill>
                    <a:effectLst/>
                    <a:latin typeface="Segoe WPC"/>
                  </a:rPr>
                  <a:t>labels</a:t>
                </a:r>
                <a:r>
                  <a:rPr lang="es-PE" sz="900" b="0" i="0" dirty="0">
                    <a:solidFill>
                      <a:schemeClr val="tx1"/>
                    </a:solidFill>
                    <a:effectLst/>
                    <a:latin typeface="Segoe WPC"/>
                  </a:rPr>
                  <a:t>, </a:t>
                </a:r>
                <a:r>
                  <a:rPr lang="es-PE" sz="900" b="0" i="0" dirty="0" err="1">
                    <a:solidFill>
                      <a:schemeClr val="tx1"/>
                    </a:solidFill>
                    <a:effectLst/>
                    <a:latin typeface="Segoe WPC"/>
                  </a:rPr>
                  <a:t>supervised</a:t>
                </a:r>
                <a:r>
                  <a:rPr lang="es-PE" sz="900" b="0" i="0" dirty="0">
                    <a:solidFill>
                      <a:schemeClr val="tx1"/>
                    </a:solidFill>
                    <a:effectLst/>
                    <a:latin typeface="Segoe WPC"/>
                  </a:rPr>
                  <a:t> </a:t>
                </a:r>
                <a:r>
                  <a:rPr lang="es-PE" sz="900" b="0" i="0" dirty="0" err="1">
                    <a:solidFill>
                      <a:schemeClr val="tx1"/>
                    </a:solidFill>
                    <a:effectLst/>
                    <a:latin typeface="Segoe WPC"/>
                  </a:rPr>
                  <a:t>learning</a:t>
                </a:r>
                <a:r>
                  <a:rPr lang="es-PE" sz="900" b="0" i="0" dirty="0">
                    <a:solidFill>
                      <a:schemeClr val="tx1"/>
                    </a:solidFill>
                    <a:effectLst/>
                    <a:latin typeface="Segoe WPC"/>
                  </a:rPr>
                  <a:t> </a:t>
                </a:r>
                <a:r>
                  <a:rPr lang="es-PE" sz="900" b="0" i="0" dirty="0" err="1">
                    <a:solidFill>
                      <a:schemeClr val="tx1"/>
                    </a:solidFill>
                    <a:effectLst/>
                    <a:latin typeface="Segoe WPC"/>
                  </a:rPr>
                  <a:t>predicts</a:t>
                </a:r>
                <a:r>
                  <a:rPr lang="es-PE" sz="900" b="0" i="0" dirty="0">
                    <a:solidFill>
                      <a:schemeClr val="tx1"/>
                    </a:solidFill>
                    <a:effectLst/>
                    <a:latin typeface="Segoe WPC"/>
                  </a:rPr>
                  <a:t> </a:t>
                </a:r>
                <a:r>
                  <a:rPr lang="es-PE" sz="900" b="0" i="0" dirty="0" err="1">
                    <a:solidFill>
                      <a:schemeClr val="tx1"/>
                    </a:solidFill>
                    <a:effectLst/>
                    <a:latin typeface="Segoe WPC"/>
                  </a:rPr>
                  <a:t>labeled</a:t>
                </a:r>
                <a:r>
                  <a:rPr lang="es-PE" sz="900" b="0" i="0" dirty="0">
                    <a:solidFill>
                      <a:schemeClr val="tx1"/>
                    </a:solidFill>
                    <a:effectLst/>
                    <a:latin typeface="Segoe WPC"/>
                  </a:rPr>
                  <a:t> </a:t>
                </a:r>
                <a:r>
                  <a:rPr lang="es-PE" sz="900" b="0" i="0" dirty="0" err="1">
                    <a:solidFill>
                      <a:schemeClr val="tx1"/>
                    </a:solidFill>
                    <a:effectLst/>
                    <a:latin typeface="Segoe WPC"/>
                  </a:rPr>
                  <a:t>outcomes</a:t>
                </a:r>
                <a:r>
                  <a:rPr lang="es-PE" sz="900" b="0" i="0" dirty="0">
                    <a:solidFill>
                      <a:schemeClr val="tx1"/>
                    </a:solidFill>
                    <a:effectLst/>
                    <a:latin typeface="Segoe WPC"/>
                  </a:rPr>
                  <a:t>, and </a:t>
                </a:r>
                <a:r>
                  <a:rPr lang="es-PE" sz="900" b="0" i="0" dirty="0" err="1">
                    <a:solidFill>
                      <a:schemeClr val="tx1"/>
                    </a:solidFill>
                    <a:effectLst/>
                    <a:latin typeface="Segoe WPC"/>
                  </a:rPr>
                  <a:t>reinforcement</a:t>
                </a:r>
                <a:r>
                  <a:rPr lang="es-PE" sz="900" b="0" i="0" dirty="0">
                    <a:solidFill>
                      <a:schemeClr val="tx1"/>
                    </a:solidFill>
                    <a:effectLst/>
                    <a:latin typeface="Segoe WPC"/>
                  </a:rPr>
                  <a:t> </a:t>
                </a:r>
                <a:r>
                  <a:rPr lang="es-PE" sz="900" b="0" i="0" dirty="0" err="1">
                    <a:solidFill>
                      <a:schemeClr val="tx1"/>
                    </a:solidFill>
                    <a:effectLst/>
                    <a:latin typeface="Segoe WPC"/>
                  </a:rPr>
                  <a:t>learning</a:t>
                </a:r>
                <a:r>
                  <a:rPr lang="es-PE" sz="900" b="0" i="0" dirty="0">
                    <a:solidFill>
                      <a:schemeClr val="tx1"/>
                    </a:solidFill>
                    <a:effectLst/>
                    <a:latin typeface="Segoe WPC"/>
                  </a:rPr>
                  <a:t> </a:t>
                </a:r>
                <a:r>
                  <a:rPr lang="es-PE" sz="900" b="0" i="0" dirty="0" err="1">
                    <a:solidFill>
                      <a:schemeClr val="tx1"/>
                    </a:solidFill>
                    <a:effectLst/>
                    <a:latin typeface="Segoe WPC"/>
                  </a:rPr>
                  <a:t>learns</a:t>
                </a:r>
                <a:r>
                  <a:rPr lang="es-PE" sz="900" b="0" i="0" dirty="0">
                    <a:solidFill>
                      <a:schemeClr val="tx1"/>
                    </a:solidFill>
                    <a:effectLst/>
                    <a:latin typeface="Segoe WPC"/>
                  </a:rPr>
                  <a:t> a </a:t>
                </a:r>
                <a:r>
                  <a:rPr lang="es-PE" sz="900" b="0" i="0" dirty="0" err="1">
                    <a:solidFill>
                      <a:schemeClr val="tx1"/>
                    </a:solidFill>
                    <a:effectLst/>
                    <a:latin typeface="Segoe WPC"/>
                  </a:rPr>
                  <a:t>sequence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decisions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rewards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Unsupervised</a:t>
                </a:r>
                <a:r>
                  <a:rPr lang="es-PE" sz="900" b="0" i="0" dirty="0">
                    <a:solidFill>
                      <a:schemeClr val="tx1"/>
                    </a:solidFill>
                    <a:effectLst/>
                    <a:latin typeface="Segoe WPC"/>
                  </a:rPr>
                  <a:t> </a:t>
                </a:r>
                <a:r>
                  <a:rPr lang="es-PE" sz="900" b="0" i="0" dirty="0" err="1">
                    <a:solidFill>
                      <a:schemeClr val="tx1"/>
                    </a:solidFill>
                    <a:effectLst/>
                    <a:latin typeface="Segoe WPC"/>
                  </a:rPr>
                  <a:t>groups</a:t>
                </a:r>
                <a:r>
                  <a:rPr lang="es-PE" sz="900" b="0" i="0" dirty="0">
                    <a:solidFill>
                      <a:schemeClr val="tx1"/>
                    </a:solidFill>
                    <a:effectLst/>
                    <a:latin typeface="Segoe WPC"/>
                  </a:rPr>
                  <a:t>/</a:t>
                </a:r>
                <a:r>
                  <a:rPr lang="es-PE" sz="900" b="0" i="0" dirty="0" err="1">
                    <a:solidFill>
                      <a:schemeClr val="tx1"/>
                    </a:solidFill>
                    <a:effectLst/>
                    <a:latin typeface="Segoe WPC"/>
                  </a:rPr>
                  <a:t>compresses</a:t>
                </a:r>
                <a:r>
                  <a:rPr lang="es-PE" sz="900" b="0" i="0" dirty="0">
                    <a:solidFill>
                      <a:schemeClr val="tx1"/>
                    </a:solidFill>
                    <a:effectLst/>
                    <a:latin typeface="Segoe WPC"/>
                  </a:rPr>
                  <a:t> data, </a:t>
                </a:r>
                <a:r>
                  <a:rPr lang="es-PE" sz="900" b="0" i="0" dirty="0" err="1">
                    <a:solidFill>
                      <a:schemeClr val="tx1"/>
                    </a:solidFill>
                    <a:effectLst/>
                    <a:latin typeface="Segoe WPC"/>
                  </a:rPr>
                  <a:t>supervised</a:t>
                </a:r>
                <a:r>
                  <a:rPr lang="es-PE" sz="900" b="0" i="0" dirty="0">
                    <a:solidFill>
                      <a:schemeClr val="tx1"/>
                    </a:solidFill>
                    <a:effectLst/>
                    <a:latin typeface="Segoe WPC"/>
                  </a:rPr>
                  <a:t> </a:t>
                </a:r>
                <a:r>
                  <a:rPr lang="es-PE" sz="900" b="0" i="0" dirty="0" err="1">
                    <a:solidFill>
                      <a:schemeClr val="tx1"/>
                    </a:solidFill>
                    <a:effectLst/>
                    <a:latin typeface="Segoe WPC"/>
                  </a:rPr>
                  <a:t>maps</a:t>
                </a:r>
                <a:r>
                  <a:rPr lang="es-PE" sz="900" b="0" i="0" dirty="0">
                    <a:solidFill>
                      <a:schemeClr val="tx1"/>
                    </a:solidFill>
                    <a:effectLst/>
                    <a:latin typeface="Segoe WPC"/>
                  </a:rPr>
                  <a:t> inputs </a:t>
                </a:r>
                <a:r>
                  <a:rPr lang="es-PE" sz="900" b="0" i="0" dirty="0" err="1">
                    <a:solidFill>
                      <a:schemeClr val="tx1"/>
                    </a:solidFill>
                    <a:effectLst/>
                    <a:latin typeface="Segoe WPC"/>
                  </a:rPr>
                  <a:t>to</a:t>
                </a:r>
                <a:r>
                  <a:rPr lang="es-PE" sz="900" b="0" i="0" dirty="0">
                    <a:solidFill>
                      <a:schemeClr val="tx1"/>
                    </a:solidFill>
                    <a:effectLst/>
                    <a:latin typeface="Segoe WPC"/>
                  </a:rPr>
                  <a:t> outputs, and </a:t>
                </a:r>
                <a:r>
                  <a:rPr lang="es-PE" sz="900" b="0" i="0" dirty="0" err="1">
                    <a:solidFill>
                      <a:schemeClr val="tx1"/>
                    </a:solidFill>
                    <a:effectLst/>
                    <a:latin typeface="Segoe WPC"/>
                  </a:rPr>
                  <a:t>reinforcement</a:t>
                </a:r>
                <a:r>
                  <a:rPr lang="es-PE" sz="900" b="0" i="0" dirty="0">
                    <a:solidFill>
                      <a:schemeClr val="tx1"/>
                    </a:solidFill>
                    <a:effectLst/>
                    <a:latin typeface="Segoe WPC"/>
                  </a:rPr>
                  <a:t> </a:t>
                </a:r>
                <a:r>
                  <a:rPr lang="es-PE" sz="900" b="0" i="0" dirty="0" err="1">
                    <a:solidFill>
                      <a:schemeClr val="tx1"/>
                    </a:solidFill>
                    <a:effectLst/>
                    <a:latin typeface="Segoe WPC"/>
                  </a:rPr>
                  <a:t>learning</a:t>
                </a:r>
                <a:r>
                  <a:rPr lang="es-PE" sz="900" b="0" i="0" dirty="0">
                    <a:solidFill>
                      <a:schemeClr val="tx1"/>
                    </a:solidFill>
                    <a:effectLst/>
                    <a:latin typeface="Segoe WPC"/>
                  </a:rPr>
                  <a:t> </a:t>
                </a:r>
                <a:r>
                  <a:rPr lang="es-PE" sz="900" b="0" i="0" dirty="0" err="1">
                    <a:solidFill>
                      <a:schemeClr val="tx1"/>
                    </a:solidFill>
                    <a:effectLst/>
                    <a:latin typeface="Segoe WPC"/>
                  </a:rPr>
                  <a:t>learns</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trial and error.</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Supervised</a:t>
                </a:r>
                <a:r>
                  <a:rPr lang="es-PE" sz="900" b="0" i="0" dirty="0">
                    <a:solidFill>
                      <a:schemeClr val="tx1"/>
                    </a:solidFill>
                    <a:effectLst/>
                    <a:latin typeface="Segoe WPC"/>
                  </a:rPr>
                  <a:t> </a:t>
                </a:r>
                <a:r>
                  <a:rPr lang="es-PE" sz="900" b="0" i="0" dirty="0" err="1">
                    <a:solidFill>
                      <a:schemeClr val="tx1"/>
                    </a:solidFill>
                    <a:effectLst/>
                    <a:latin typeface="Segoe WPC"/>
                  </a:rPr>
                  <a:t>learning</a:t>
                </a:r>
                <a:r>
                  <a:rPr lang="es-PE" sz="900" b="0" i="0" dirty="0">
                    <a:solidFill>
                      <a:schemeClr val="tx1"/>
                    </a:solidFill>
                    <a:effectLst/>
                    <a:latin typeface="Segoe WPC"/>
                  </a:rPr>
                  <a:t> </a:t>
                </a:r>
                <a:r>
                  <a:rPr lang="es-PE" sz="900" b="0" i="0" dirty="0" err="1">
                    <a:solidFill>
                      <a:schemeClr val="tx1"/>
                    </a:solidFill>
                    <a:effectLst/>
                    <a:latin typeface="Segoe WPC"/>
                  </a:rPr>
                  <a:t>seeks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𝑌</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𝑓</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𝑋</m:t>
                        </m:r>
                      </m:e>
                    </m:d>
                  </m:oMath>
                </a14:m>
                <a:r>
                  <a:rPr lang="ar-AE" sz="900" b="0" i="0" dirty="0">
                    <a:solidFill>
                      <a:schemeClr val="tx1"/>
                    </a:solidFill>
                    <a:effectLst/>
                    <a:latin typeface="Segoe WPC"/>
                  </a:rPr>
                  <a:t>; </a:t>
                </a:r>
                <a:r>
                  <a:rPr lang="es-PE" sz="900" b="0" i="0" dirty="0" err="1">
                    <a:solidFill>
                      <a:schemeClr val="tx1"/>
                    </a:solidFill>
                    <a:effectLst/>
                    <a:latin typeface="Segoe WPC"/>
                  </a:rPr>
                  <a:t>reinforcement</a:t>
                </a:r>
                <a:r>
                  <a:rPr lang="es-PE" sz="900" b="0" i="0" dirty="0">
                    <a:solidFill>
                      <a:schemeClr val="tx1"/>
                    </a:solidFill>
                    <a:effectLst/>
                    <a:latin typeface="Segoe WPC"/>
                  </a:rPr>
                  <a:t> </a:t>
                </a:r>
                <a:r>
                  <a:rPr lang="es-PE" sz="900" b="0" i="0" dirty="0" err="1">
                    <a:solidFill>
                      <a:schemeClr val="tx1"/>
                    </a:solidFill>
                    <a:effectLst/>
                    <a:latin typeface="Segoe WPC"/>
                  </a:rPr>
                  <a:t>learning</a:t>
                </a:r>
                <a:r>
                  <a:rPr lang="es-PE" sz="900" b="0" i="0" dirty="0">
                    <a:solidFill>
                      <a:schemeClr val="tx1"/>
                    </a:solidFill>
                    <a:effectLst/>
                    <a:latin typeface="Segoe WPC"/>
                  </a:rPr>
                  <a:t> </a:t>
                </a:r>
                <a:r>
                  <a:rPr lang="es-PE" sz="900" b="0" i="0" dirty="0" err="1">
                    <a:solidFill>
                      <a:schemeClr val="tx1"/>
                    </a:solidFill>
                    <a:effectLst/>
                    <a:latin typeface="Segoe WPC"/>
                  </a:rPr>
                  <a:t>chooses</a:t>
                </a:r>
                <a:r>
                  <a:rPr lang="es-PE" sz="900" b="0" i="0" dirty="0">
                    <a:solidFill>
                      <a:schemeClr val="tx1"/>
                    </a:solidFill>
                    <a:effectLst/>
                    <a:latin typeface="Segoe WPC"/>
                  </a:rPr>
                  <a:t> </a:t>
                </a:r>
                <a:r>
                  <a:rPr lang="es-PE" sz="900" b="0" i="0" dirty="0" err="1">
                    <a:solidFill>
                      <a:schemeClr val="tx1"/>
                    </a:solidFill>
                    <a:effectLst/>
                    <a:latin typeface="Segoe WPC"/>
                  </a:rPr>
                  <a:t>actions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maximize</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future </a:t>
                </a:r>
                <a:r>
                  <a:rPr lang="es-PE" sz="900" b="0" i="0" dirty="0" err="1">
                    <a:solidFill>
                      <a:schemeClr val="tx1"/>
                    </a:solidFill>
                    <a:effectLst/>
                    <a:latin typeface="Segoe WPC"/>
                  </a:rPr>
                  <a:t>reward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Use </a:t>
                </a:r>
                <a:r>
                  <a:rPr lang="es-PE" sz="900" b="0" i="0" dirty="0" err="1">
                    <a:solidFill>
                      <a:schemeClr val="tx1"/>
                    </a:solidFill>
                    <a:effectLst/>
                    <a:latin typeface="Segoe WPC"/>
                  </a:rPr>
                  <a:t>unsupervised</a:t>
                </a:r>
                <a:r>
                  <a:rPr lang="es-PE" sz="900" b="0" i="0" dirty="0">
                    <a:solidFill>
                      <a:schemeClr val="tx1"/>
                    </a:solidFill>
                    <a:effectLst/>
                    <a:latin typeface="Segoe WPC"/>
                  </a:rPr>
                  <a:t> </a:t>
                </a:r>
                <a:r>
                  <a:rPr lang="es-PE" sz="900" b="0" i="0" dirty="0" err="1">
                    <a:solidFill>
                      <a:schemeClr val="tx1"/>
                    </a:solidFill>
                    <a:effectLst/>
                    <a:latin typeface="Segoe WPC"/>
                  </a:rPr>
                  <a:t>methods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clustering</a:t>
                </a:r>
                <a:r>
                  <a:rPr lang="es-PE" sz="900" b="0" i="0" dirty="0">
                    <a:solidFill>
                      <a:schemeClr val="tx1"/>
                    </a:solidFill>
                    <a:effectLst/>
                    <a:latin typeface="Segoe WPC"/>
                  </a:rPr>
                  <a:t>, </a:t>
                </a:r>
                <a:r>
                  <a:rPr lang="es-PE" sz="900" b="0" i="0" dirty="0" err="1">
                    <a:solidFill>
                      <a:schemeClr val="tx1"/>
                    </a:solidFill>
                    <a:effectLst/>
                    <a:latin typeface="Segoe WPC"/>
                  </a:rPr>
                  <a:t>anomaly</a:t>
                </a:r>
                <a:r>
                  <a:rPr lang="es-PE" sz="900" b="0" i="0" dirty="0">
                    <a:solidFill>
                      <a:schemeClr val="tx1"/>
                    </a:solidFill>
                    <a:effectLst/>
                    <a:latin typeface="Segoe WPC"/>
                  </a:rPr>
                  <a:t> </a:t>
                </a:r>
                <a:r>
                  <a:rPr lang="es-PE" sz="900" b="0" i="0" dirty="0" err="1">
                    <a:solidFill>
                      <a:schemeClr val="tx1"/>
                    </a:solidFill>
                    <a:effectLst/>
                    <a:latin typeface="Segoe WPC"/>
                  </a:rPr>
                  <a:t>detection</a:t>
                </a:r>
                <a:r>
                  <a:rPr lang="es-PE" sz="900" b="0" i="0" dirty="0">
                    <a:solidFill>
                      <a:schemeClr val="tx1"/>
                    </a:solidFill>
                    <a:effectLst/>
                    <a:latin typeface="Segoe WPC"/>
                  </a:rPr>
                  <a:t>, and </a:t>
                </a:r>
                <a:r>
                  <a:rPr lang="es-PE" sz="900" b="0" i="0" dirty="0" err="1">
                    <a:solidFill>
                      <a:schemeClr val="tx1"/>
                    </a:solidFill>
                    <a:effectLst/>
                    <a:latin typeface="Segoe WPC"/>
                  </a:rPr>
                  <a:t>structure</a:t>
                </a:r>
                <a:r>
                  <a:rPr lang="es-PE" sz="900" b="0" i="0" dirty="0">
                    <a:solidFill>
                      <a:schemeClr val="tx1"/>
                    </a:solidFill>
                    <a:effectLst/>
                    <a:latin typeface="Segoe WPC"/>
                  </a:rPr>
                  <a:t>; </a:t>
                </a:r>
                <a:r>
                  <a:rPr lang="es-PE" sz="900" b="0" i="0" dirty="0" err="1">
                    <a:solidFill>
                      <a:schemeClr val="tx1"/>
                    </a:solidFill>
                    <a:effectLst/>
                    <a:latin typeface="Segoe WPC"/>
                  </a:rPr>
                  <a:t>supervised</a:t>
                </a:r>
                <a:r>
                  <a:rPr lang="es-PE" sz="900" b="0" i="0" dirty="0">
                    <a:solidFill>
                      <a:schemeClr val="tx1"/>
                    </a:solidFill>
                    <a:effectLst/>
                    <a:latin typeface="Segoe WPC"/>
                  </a:rPr>
                  <a:t> </a:t>
                </a:r>
                <a:r>
                  <a:rPr lang="es-PE" sz="900" b="0" i="0" dirty="0" err="1">
                    <a:solidFill>
                      <a:schemeClr val="tx1"/>
                    </a:solidFill>
                    <a:effectLst/>
                    <a:latin typeface="Segoe WPC"/>
                  </a:rPr>
                  <a:t>methods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prediction</a:t>
                </a:r>
                <a:r>
                  <a:rPr lang="es-PE" sz="900" b="0" i="0" dirty="0">
                    <a:solidFill>
                      <a:schemeClr val="tx1"/>
                    </a:solidFill>
                    <a:effectLst/>
                    <a:latin typeface="Segoe WPC"/>
                  </a:rPr>
                  <a:t>/</a:t>
                </a:r>
                <a:r>
                  <a:rPr lang="es-PE" sz="900" b="0" i="0" dirty="0" err="1">
                    <a:solidFill>
                      <a:schemeClr val="tx1"/>
                    </a:solidFill>
                    <a:effectLst/>
                    <a:latin typeface="Segoe WPC"/>
                  </a:rPr>
                  <a:t>classification</a:t>
                </a:r>
                <a:r>
                  <a:rPr lang="es-PE" sz="900" b="0" i="0" dirty="0">
                    <a:solidFill>
                      <a:schemeClr val="tx1"/>
                    </a:solidFill>
                    <a:effectLst/>
                    <a:latin typeface="Segoe WPC"/>
                  </a:rPr>
                  <a:t>; </a:t>
                </a:r>
                <a:r>
                  <a:rPr lang="es-PE" sz="900" b="0" i="0" dirty="0" err="1">
                    <a:solidFill>
                      <a:schemeClr val="tx1"/>
                    </a:solidFill>
                    <a:effectLst/>
                    <a:latin typeface="Segoe WPC"/>
                  </a:rPr>
                  <a:t>reinforcement</a:t>
                </a:r>
                <a:r>
                  <a:rPr lang="es-PE" sz="900" b="0" i="0" dirty="0">
                    <a:solidFill>
                      <a:schemeClr val="tx1"/>
                    </a:solidFill>
                    <a:effectLst/>
                    <a:latin typeface="Segoe WPC"/>
                  </a:rPr>
                  <a:t> </a:t>
                </a:r>
                <a:r>
                  <a:rPr lang="es-PE" sz="900" b="0" i="0" dirty="0" err="1">
                    <a:solidFill>
                      <a:schemeClr val="tx1"/>
                    </a:solidFill>
                    <a:effectLst/>
                    <a:latin typeface="Segoe WPC"/>
                  </a:rPr>
                  <a:t>learning</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dynamic</a:t>
                </a:r>
                <a:r>
                  <a:rPr lang="es-PE" sz="900" b="0" i="0" dirty="0">
                    <a:solidFill>
                      <a:schemeClr val="tx1"/>
                    </a:solidFill>
                    <a:effectLst/>
                    <a:latin typeface="Segoe WPC"/>
                  </a:rPr>
                  <a:t> </a:t>
                </a:r>
                <a:r>
                  <a:rPr lang="es-PE" sz="900" b="0" i="0" dirty="0" err="1">
                    <a:solidFill>
                      <a:schemeClr val="tx1"/>
                    </a:solidFill>
                    <a:effectLst/>
                    <a:latin typeface="Segoe WPC"/>
                  </a:rPr>
                  <a:t>decision</a:t>
                </a:r>
                <a:r>
                  <a:rPr lang="es-PE" sz="900" b="0" i="0" dirty="0">
                    <a:solidFill>
                      <a:schemeClr val="tx1"/>
                    </a:solidFill>
                    <a:effectLst/>
                    <a:latin typeface="Segoe WPC"/>
                  </a:rPr>
                  <a:t> </a:t>
                </a:r>
                <a:r>
                  <a:rPr lang="es-PE" sz="900" b="0" i="0" dirty="0" err="1">
                    <a:solidFill>
                      <a:schemeClr val="tx1"/>
                    </a:solidFill>
                    <a:effectLst/>
                    <a:latin typeface="Segoe WPC"/>
                  </a:rPr>
                  <a:t>problems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Unsupervised</a:t>
                </a:r>
                <a:r>
                  <a:rPr lang="es-PE" sz="900" b="0" i="0" dirty="0">
                    <a:solidFill>
                      <a:schemeClr val="tx1"/>
                    </a:solidFill>
                    <a:effectLst/>
                    <a:latin typeface="Segoe WPC"/>
                  </a:rPr>
                  <a:t> </a:t>
                </a:r>
                <a:r>
                  <a:rPr lang="es-PE" sz="900" b="0" i="0" dirty="0" err="1">
                    <a:solidFill>
                      <a:schemeClr val="tx1"/>
                    </a:solidFill>
                    <a:effectLst/>
                    <a:latin typeface="Segoe WPC"/>
                  </a:rPr>
                  <a:t>learning</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still</a:t>
                </a:r>
                <a:r>
                  <a:rPr lang="es-PE" sz="900" b="0" i="0" dirty="0">
                    <a:solidFill>
                      <a:schemeClr val="tx1"/>
                    </a:solidFill>
                    <a:effectLst/>
                    <a:latin typeface="Segoe WPC"/>
                  </a:rPr>
                  <a:t> </a:t>
                </a:r>
                <a:r>
                  <a:rPr lang="es-PE" sz="900" b="0" i="0" dirty="0" err="1">
                    <a:solidFill>
                      <a:schemeClr val="tx1"/>
                    </a:solidFill>
                    <a:effectLst/>
                    <a:latin typeface="Segoe WPC"/>
                  </a:rPr>
                  <a:t>valuable</a:t>
                </a:r>
                <a:r>
                  <a:rPr lang="es-PE" sz="900" b="0" i="0" dirty="0">
                    <a:solidFill>
                      <a:schemeClr val="tx1"/>
                    </a:solidFill>
                    <a:effectLst/>
                    <a:latin typeface="Segoe WPC"/>
                  </a:rPr>
                  <a:t> </a:t>
                </a:r>
                <a:r>
                  <a:rPr lang="es-PE" sz="900" b="0" i="0" dirty="0" err="1">
                    <a:solidFill>
                      <a:schemeClr val="tx1"/>
                    </a:solidFill>
                    <a:effectLst/>
                    <a:latin typeface="Segoe WPC"/>
                  </a:rPr>
                  <a:t>even</a:t>
                </a:r>
                <a:r>
                  <a:rPr lang="es-PE" sz="900" b="0" i="0" dirty="0">
                    <a:solidFill>
                      <a:schemeClr val="tx1"/>
                    </a:solidFill>
                    <a:effectLst/>
                    <a:latin typeface="Segoe WPC"/>
                  </a:rPr>
                  <a:t> </a:t>
                </a:r>
                <a:r>
                  <a:rPr lang="es-PE" sz="900" b="0" i="0" dirty="0" err="1">
                    <a:solidFill>
                      <a:schemeClr val="tx1"/>
                    </a:solidFill>
                    <a:effectLst/>
                    <a:latin typeface="Segoe WPC"/>
                  </a:rPr>
                  <a:t>though</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directly</a:t>
                </a:r>
                <a:r>
                  <a:rPr lang="es-PE" sz="900" b="0" i="0" dirty="0">
                    <a:solidFill>
                      <a:schemeClr val="tx1"/>
                    </a:solidFill>
                    <a:effectLst/>
                    <a:latin typeface="Segoe WPC"/>
                  </a:rPr>
                  <a:t> </a:t>
                </a:r>
                <a:r>
                  <a:rPr lang="es-PE" sz="900" b="0" i="0" dirty="0" err="1">
                    <a:solidFill>
                      <a:schemeClr val="tx1"/>
                    </a:solidFill>
                    <a:effectLst/>
                    <a:latin typeface="Segoe WPC"/>
                  </a:rPr>
                  <a:t>forecast</a:t>
                </a:r>
                <a:r>
                  <a:rPr lang="es-PE" sz="900" b="0" i="0" dirty="0">
                    <a:solidFill>
                      <a:schemeClr val="tx1"/>
                    </a:solidFill>
                    <a:effectLst/>
                    <a:latin typeface="Segoe WPC"/>
                  </a:rPr>
                  <a:t> a target.</a:t>
                </a:r>
              </a:p>
              <a:p>
                <a:pPr algn="l">
                  <a:spcAft>
                    <a:spcPts val="600"/>
                  </a:spcAft>
                  <a:buNone/>
                </a:pPr>
                <a:r>
                  <a:rPr lang="es-PE" sz="900" b="1" i="0" dirty="0">
                    <a:solidFill>
                      <a:schemeClr val="tx1"/>
                    </a:solidFill>
                    <a:effectLst/>
                    <a:latin typeface="Segoe WPC"/>
                  </a:rPr>
                  <a:t>3. Data </a:t>
                </a:r>
                <a:r>
                  <a:rPr lang="es-PE" sz="900" b="1" i="0" dirty="0" err="1">
                    <a:solidFill>
                      <a:schemeClr val="tx1"/>
                    </a:solidFill>
                    <a:effectLst/>
                    <a:latin typeface="Segoe WPC"/>
                  </a:rPr>
                  <a:t>Preparation</a:t>
                </a:r>
                <a:r>
                  <a:rPr lang="es-PE" sz="900" b="1" i="0" dirty="0">
                    <a:solidFill>
                      <a:schemeClr val="tx1"/>
                    </a:solidFill>
                    <a:effectLst/>
                    <a:latin typeface="Segoe WPC"/>
                  </a:rPr>
                  <a:t> and </a:t>
                </a:r>
                <a:r>
                  <a:rPr lang="es-PE" sz="900" b="1" i="0" dirty="0" err="1">
                    <a:solidFill>
                      <a:schemeClr val="tx1"/>
                    </a:solidFill>
                    <a:effectLst/>
                    <a:latin typeface="Segoe WPC"/>
                  </a:rPr>
                  <a:t>Cleaning</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Rescaling</a:t>
                </a:r>
                <a:r>
                  <a:rPr lang="es-PE" sz="900" b="0" i="0" dirty="0">
                    <a:solidFill>
                      <a:schemeClr val="tx1"/>
                    </a:solidFill>
                    <a:effectLst/>
                    <a:latin typeface="Segoe WPC"/>
                  </a:rPr>
                  <a:t> variables and </a:t>
                </a:r>
                <a:r>
                  <a:rPr lang="es-PE" sz="900" b="0" i="0" dirty="0" err="1">
                    <a:solidFill>
                      <a:schemeClr val="tx1"/>
                    </a:solidFill>
                    <a:effectLst/>
                    <a:latin typeface="Segoe WPC"/>
                  </a:rPr>
                  <a:t>fixing</a:t>
                </a:r>
                <a:r>
                  <a:rPr lang="es-PE" sz="900" b="0" i="0" dirty="0">
                    <a:solidFill>
                      <a:schemeClr val="tx1"/>
                    </a:solidFill>
                    <a:effectLst/>
                    <a:latin typeface="Segoe WPC"/>
                  </a:rPr>
                  <a:t> data </a:t>
                </a:r>
                <a:r>
                  <a:rPr lang="es-PE" sz="900" b="0" i="0" dirty="0" err="1">
                    <a:solidFill>
                      <a:schemeClr val="tx1"/>
                    </a:solidFill>
                    <a:effectLst/>
                    <a:latin typeface="Segoe WPC"/>
                  </a:rPr>
                  <a:t>problems</a:t>
                </a:r>
                <a:r>
                  <a:rPr lang="es-PE" sz="900" b="0" i="0" dirty="0">
                    <a:solidFill>
                      <a:schemeClr val="tx1"/>
                    </a:solidFill>
                    <a:effectLst/>
                    <a:latin typeface="Segoe WPC"/>
                  </a:rPr>
                  <a:t> </a:t>
                </a:r>
                <a:r>
                  <a:rPr lang="es-PE" sz="900" b="0" i="0" dirty="0" err="1">
                    <a:solidFill>
                      <a:schemeClr val="tx1"/>
                    </a:solidFill>
                    <a:effectLst/>
                    <a:latin typeface="Segoe WPC"/>
                  </a:rPr>
                  <a:t>before</a:t>
                </a:r>
                <a:r>
                  <a:rPr lang="es-PE" sz="900" b="0" i="0" dirty="0">
                    <a:solidFill>
                      <a:schemeClr val="tx1"/>
                    </a:solidFill>
                    <a:effectLst/>
                    <a:latin typeface="Segoe WPC"/>
                  </a:rPr>
                  <a:t> </a:t>
                </a:r>
                <a:r>
                  <a:rPr lang="es-PE" sz="900" b="0" i="0" dirty="0" err="1">
                    <a:solidFill>
                      <a:schemeClr val="tx1"/>
                    </a:solidFill>
                    <a:effectLst/>
                    <a:latin typeface="Segoe WPC"/>
                  </a:rPr>
                  <a:t>estimation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ML </a:t>
                </a:r>
                <a:r>
                  <a:rPr lang="es-PE" sz="900" b="0" i="0" dirty="0" err="1">
                    <a:solidFill>
                      <a:schemeClr val="tx1"/>
                    </a:solidFill>
                    <a:effectLst/>
                    <a:latin typeface="Segoe WPC"/>
                  </a:rPr>
                  <a:t>methods</a:t>
                </a:r>
                <a:r>
                  <a:rPr lang="es-PE" sz="900" b="0" i="0" dirty="0">
                    <a:solidFill>
                      <a:schemeClr val="tx1"/>
                    </a:solidFill>
                    <a:effectLst/>
                    <a:latin typeface="Segoe WPC"/>
                  </a:rPr>
                  <a:t> </a:t>
                </a:r>
                <a:r>
                  <a:rPr lang="es-PE" sz="900" b="0" i="0" dirty="0" err="1">
                    <a:solidFill>
                      <a:schemeClr val="tx1"/>
                    </a:solidFill>
                    <a:effectLst/>
                    <a:latin typeface="Segoe WPC"/>
                  </a:rPr>
                  <a:t>need</a:t>
                </a:r>
                <a:r>
                  <a:rPr lang="es-PE" sz="900" b="0" i="0" dirty="0">
                    <a:solidFill>
                      <a:schemeClr val="tx1"/>
                    </a:solidFill>
                    <a:effectLst/>
                    <a:latin typeface="Segoe WPC"/>
                  </a:rPr>
                  <a:t> comparable </a:t>
                </a:r>
                <a:r>
                  <a:rPr lang="es-PE" sz="900" b="0" i="0" dirty="0" err="1">
                    <a:solidFill>
                      <a:schemeClr val="tx1"/>
                    </a:solidFill>
                    <a:effectLst/>
                    <a:latin typeface="Segoe WPC"/>
                  </a:rPr>
                  <a:t>scales</a:t>
                </a:r>
                <a:r>
                  <a:rPr lang="es-PE" sz="900" b="0" i="0" dirty="0">
                    <a:solidFill>
                      <a:schemeClr val="tx1"/>
                    </a:solidFill>
                    <a:effectLst/>
                    <a:latin typeface="Segoe WPC"/>
                  </a:rPr>
                  <a:t> </a:t>
                </a:r>
                <a:r>
                  <a:rPr lang="es-PE" sz="900" b="0" i="0" dirty="0" err="1">
                    <a:solidFill>
                      <a:schemeClr val="tx1"/>
                    </a:solidFill>
                    <a:effectLst/>
                    <a:latin typeface="Segoe WPC"/>
                  </a:rPr>
                  <a:t>across</a:t>
                </a:r>
                <a:r>
                  <a:rPr lang="es-PE" sz="900" b="0" i="0" dirty="0">
                    <a:solidFill>
                      <a:schemeClr val="tx1"/>
                    </a:solidFill>
                    <a:effectLst/>
                    <a:latin typeface="Segoe WPC"/>
                  </a:rPr>
                  <a:t> inputs, and </a:t>
                </a:r>
                <a:r>
                  <a:rPr lang="es-PE" sz="900" b="0" i="0" dirty="0" err="1">
                    <a:solidFill>
                      <a:schemeClr val="tx1"/>
                    </a:solidFill>
                    <a:effectLst/>
                    <a:latin typeface="Segoe WPC"/>
                  </a:rPr>
                  <a:t>dirty</a:t>
                </a:r>
                <a:r>
                  <a:rPr lang="es-PE" sz="900" b="0" i="0" dirty="0">
                    <a:solidFill>
                      <a:schemeClr val="tx1"/>
                    </a:solidFill>
                    <a:effectLst/>
                    <a:latin typeface="Segoe WPC"/>
                  </a:rPr>
                  <a:t> data can </a:t>
                </a:r>
                <a:r>
                  <a:rPr lang="es-PE" sz="900" b="0" i="0" dirty="0" err="1">
                    <a:solidFill>
                      <a:schemeClr val="tx1"/>
                    </a:solidFill>
                    <a:effectLst/>
                    <a:latin typeface="Segoe WPC"/>
                  </a:rPr>
                  <a:t>overwhelm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algorithm</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features</a:t>
                </a:r>
                <a:r>
                  <a:rPr lang="es-PE" sz="900" b="0" i="0" dirty="0">
                    <a:solidFill>
                      <a:schemeClr val="tx1"/>
                    </a:solidFill>
                    <a:effectLst/>
                    <a:latin typeface="Segoe WPC"/>
                  </a:rPr>
                  <a:t> onto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measuring</a:t>
                </a:r>
                <a:r>
                  <a:rPr lang="es-PE" sz="900" b="0" i="0" dirty="0">
                    <a:solidFill>
                      <a:schemeClr val="tx1"/>
                    </a:solidFill>
                    <a:effectLst/>
                    <a:latin typeface="Segoe WPC"/>
                  </a:rPr>
                  <a:t> </a:t>
                </a:r>
                <a:r>
                  <a:rPr lang="es-PE" sz="900" b="0" i="0" dirty="0" err="1">
                    <a:solidFill>
                      <a:schemeClr val="tx1"/>
                    </a:solidFill>
                    <a:effectLst/>
                    <a:latin typeface="Segoe WPC"/>
                  </a:rPr>
                  <a:t>scale</a:t>
                </a:r>
                <a:r>
                  <a:rPr lang="es-PE" sz="900" b="0" i="0" dirty="0">
                    <a:solidFill>
                      <a:schemeClr val="tx1"/>
                    </a:solidFill>
                    <a:effectLst/>
                    <a:latin typeface="Segoe WPC"/>
                  </a:rPr>
                  <a:t> </a:t>
                </a:r>
                <a:r>
                  <a:rPr lang="es-PE" sz="900" b="0" i="0" dirty="0" err="1">
                    <a:solidFill>
                      <a:schemeClr val="tx1"/>
                    </a:solidFill>
                    <a:effectLst/>
                    <a:latin typeface="Segoe WPC"/>
                  </a:rPr>
                  <a:t>before</a:t>
                </a:r>
                <a:r>
                  <a:rPr lang="es-PE" sz="900" b="0" i="0" dirty="0">
                    <a:solidFill>
                      <a:schemeClr val="tx1"/>
                    </a:solidFill>
                    <a:effectLst/>
                    <a:latin typeface="Segoe WPC"/>
                  </a:rPr>
                  <a:t> </a:t>
                </a:r>
                <a:r>
                  <a:rPr lang="es-PE" sz="900" b="0" i="0" dirty="0" err="1">
                    <a:solidFill>
                      <a:schemeClr val="tx1"/>
                    </a:solidFill>
                    <a:effectLst/>
                    <a:latin typeface="Segoe WPC"/>
                  </a:rPr>
                  <a:t>asking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compare </a:t>
                </a:r>
                <a:r>
                  <a:rPr lang="es-PE" sz="900" b="0" i="0" dirty="0" err="1">
                    <a:solidFill>
                      <a:schemeClr val="tx1"/>
                    </a:solidFill>
                    <a:effectLst/>
                    <a:latin typeface="Segoe WPC"/>
                  </a:rPr>
                  <a:t>them</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Standardization</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𝑥</m:t>
                            </m:r>
                          </m:e>
                        </m:acc>
                      </m:e>
                      <m:sub>
                        <m:r>
                          <a:rPr lang="ar-AE" sz="900" i="1">
                            <a:solidFill>
                              <a:schemeClr val="tx1"/>
                            </a:solidFill>
                            <a:latin typeface="Cambria Math" panose="02040503050406030204" pitchFamily="18" charset="0"/>
                          </a:rPr>
                          <m:t>𝑖𝑗</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𝑖𝑗</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𝜇</m:t>
                                </m:r>
                              </m:e>
                            </m:acc>
                          </m:e>
                          <m:sub>
                            <m:r>
                              <a:rPr lang="ar-AE" sz="900" i="1">
                                <a:solidFill>
                                  <a:schemeClr val="tx1"/>
                                </a:solidFill>
                                <a:latin typeface="Cambria Math" panose="02040503050406030204" pitchFamily="18" charset="0"/>
                              </a:rPr>
                              <m:t>𝑖</m:t>
                            </m:r>
                          </m:sub>
                        </m:sSub>
                      </m:num>
                      <m:den>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e>
                          <m:sub>
                            <m:r>
                              <a:rPr lang="ar-AE" sz="900" i="1">
                                <a:solidFill>
                                  <a:schemeClr val="tx1"/>
                                </a:solidFill>
                                <a:latin typeface="Cambria Math" panose="02040503050406030204" pitchFamily="18" charset="0"/>
                              </a:rPr>
                              <m:t>𝑖</m:t>
                            </m:r>
                          </m:sub>
                        </m:sSub>
                      </m:den>
                    </m:f>
                  </m:oMath>
                </a14:m>
                <a:r>
                  <a:rPr lang="ar-AE" sz="900" b="0" i="0" dirty="0">
                    <a:solidFill>
                      <a:schemeClr val="tx1"/>
                    </a:solidFill>
                    <a:effectLst/>
                    <a:latin typeface="Segoe WPC"/>
                  </a:rPr>
                  <a:t>. </a:t>
                </a:r>
                <a:r>
                  <a:rPr lang="es-PE" sz="900" b="0" i="0" dirty="0" err="1">
                    <a:solidFill>
                      <a:schemeClr val="tx1"/>
                    </a:solidFill>
                    <a:effectLst/>
                    <a:latin typeface="Segoe WPC"/>
                  </a:rPr>
                  <a:t>Normalization</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𝑥</m:t>
                            </m:r>
                          </m:e>
                        </m:acc>
                      </m:e>
                      <m:sub>
                        <m:r>
                          <a:rPr lang="ar-AE" sz="900" i="1">
                            <a:solidFill>
                              <a:schemeClr val="tx1"/>
                            </a:solidFill>
                            <a:latin typeface="Cambria Math" panose="02040503050406030204" pitchFamily="18" charset="0"/>
                          </a:rPr>
                          <m:t>𝑖𝑗</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𝑖𝑗</m:t>
                            </m:r>
                          </m:sub>
                        </m:sSub>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𝑖</m:t>
                            </m:r>
                          </m:sub>
                          <m:sup>
                            <m:r>
                              <m:rPr>
                                <m:sty m:val="p"/>
                              </m:rPr>
                              <a:rPr lang="es-PE" sz="900" i="0">
                                <a:solidFill>
                                  <a:schemeClr val="tx1"/>
                                </a:solidFill>
                                <a:latin typeface="Cambria Math" panose="02040503050406030204" pitchFamily="18" charset="0"/>
                              </a:rPr>
                              <m:t>min</m:t>
                            </m:r>
                            <m:func>
                              <m:funcPr>
                                <m:ctrlPr>
                                  <a:rPr lang="ar-AE" sz="900" i="1">
                                    <a:solidFill>
                                      <a:schemeClr val="tx1"/>
                                    </a:solidFill>
                                    <a:latin typeface="Cambria Math" panose="02040503050406030204" pitchFamily="18" charset="0"/>
                                  </a:rPr>
                                </m:ctrlPr>
                              </m:funcPr>
                              <m:fName/>
                              <m:e/>
                            </m:func>
                          </m:sup>
                        </m:sSubSup>
                      </m:num>
                      <m:den>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𝑖</m:t>
                            </m:r>
                          </m:sub>
                          <m:sup>
                            <m:r>
                              <m:rPr>
                                <m:sty m:val="p"/>
                              </m:rPr>
                              <a:rPr lang="es-PE" sz="900" i="0">
                                <a:solidFill>
                                  <a:schemeClr val="tx1"/>
                                </a:solidFill>
                                <a:latin typeface="Cambria Math" panose="02040503050406030204" pitchFamily="18" charset="0"/>
                              </a:rPr>
                              <m:t>max</m:t>
                            </m:r>
                            <m:func>
                              <m:funcPr>
                                <m:ctrlPr>
                                  <a:rPr lang="ar-AE" sz="900" i="1">
                                    <a:solidFill>
                                      <a:schemeClr val="tx1"/>
                                    </a:solidFill>
                                    <a:latin typeface="Cambria Math" panose="02040503050406030204" pitchFamily="18" charset="0"/>
                                  </a:rPr>
                                </m:ctrlPr>
                              </m:funcPr>
                              <m:fName/>
                              <m:e/>
                            </m:func>
                          </m:sup>
                        </m:sSubSup>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𝑖</m:t>
                            </m:r>
                          </m:sub>
                          <m:sup>
                            <m:r>
                              <m:rPr>
                                <m:sty m:val="p"/>
                              </m:rPr>
                              <a:rPr lang="es-PE" sz="900" i="0">
                                <a:solidFill>
                                  <a:schemeClr val="tx1"/>
                                </a:solidFill>
                                <a:latin typeface="Cambria Math" panose="02040503050406030204" pitchFamily="18" charset="0"/>
                              </a:rPr>
                              <m:t>min</m:t>
                            </m:r>
                            <m:func>
                              <m:funcPr>
                                <m:ctrlPr>
                                  <a:rPr lang="ar-AE" sz="900" i="1">
                                    <a:solidFill>
                                      <a:schemeClr val="tx1"/>
                                    </a:solidFill>
                                    <a:latin typeface="Cambria Math" panose="02040503050406030204" pitchFamily="18" charset="0"/>
                                  </a:rPr>
                                </m:ctrlPr>
                              </m:funcPr>
                              <m:fName/>
                              <m:e/>
                            </m:func>
                          </m:sup>
                        </m:sSubSup>
                      </m:den>
                    </m:f>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Standardization</a:t>
                </a:r>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mean </a:t>
                </a:r>
                <a14:m>
                  <m:oMath xmlns:m="http://schemas.openxmlformats.org/officeDocument/2006/math">
                    <m:r>
                      <a:rPr lang="es-PE" sz="900">
                        <a:solidFill>
                          <a:schemeClr val="tx1"/>
                        </a:solidFill>
                        <a:latin typeface="Cambria Math" panose="02040503050406030204" pitchFamily="18" charset="0"/>
                      </a:rPr>
                      <m:t>0</m:t>
                    </m:r>
                  </m:oMath>
                </a14:m>
                <a:r>
                  <a:rPr lang="es-PE" sz="900" b="0" i="0" dirty="0">
                    <a:solidFill>
                      <a:schemeClr val="tx1"/>
                    </a:solidFill>
                    <a:effectLst/>
                    <a:latin typeface="Segoe WPC"/>
                  </a:rPr>
                  <a:t> and </a:t>
                </a:r>
                <a:r>
                  <a:rPr lang="es-PE" sz="900" b="0" i="0" dirty="0" err="1">
                    <a:solidFill>
                      <a:schemeClr val="tx1"/>
                    </a:solidFill>
                    <a:effectLst/>
                    <a:latin typeface="Segoe WPC"/>
                  </a:rPr>
                  <a:t>variance</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1</m:t>
                    </m:r>
                  </m:oMath>
                </a14:m>
                <a:r>
                  <a:rPr lang="es-PE" sz="900" b="0" i="0" dirty="0">
                    <a:solidFill>
                      <a:schemeClr val="tx1"/>
                    </a:solidFill>
                    <a:effectLst/>
                    <a:latin typeface="Segoe WPC"/>
                  </a:rPr>
                  <a:t>; </a:t>
                </a:r>
                <a:r>
                  <a:rPr lang="es-PE" sz="900" b="0" i="0" dirty="0" err="1">
                    <a:solidFill>
                      <a:schemeClr val="tx1"/>
                    </a:solidFill>
                    <a:effectLst/>
                    <a:latin typeface="Segoe WPC"/>
                  </a:rPr>
                  <a:t>normalization</a:t>
                </a:r>
                <a:r>
                  <a:rPr lang="es-PE" sz="900" b="0" i="0" dirty="0">
                    <a:solidFill>
                      <a:schemeClr val="tx1"/>
                    </a:solidFill>
                    <a:effectLst/>
                    <a:latin typeface="Segoe WPC"/>
                  </a:rPr>
                  <a:t> </a:t>
                </a:r>
                <a:r>
                  <a:rPr lang="es-PE" sz="900" b="0" i="0" dirty="0" err="1">
                    <a:solidFill>
                      <a:schemeClr val="tx1"/>
                    </a:solidFill>
                    <a:effectLst/>
                    <a:latin typeface="Segoe WPC"/>
                  </a:rPr>
                  <a:t>maps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14:m>
                  <m:oMath xmlns:m="http://schemas.openxmlformats.org/officeDocument/2006/math">
                    <m:d>
                      <m:dPr>
                        <m:begChr m:val="["/>
                        <m:endChr m:val="]"/>
                        <m:sepChr m:val=","/>
                        <m:ctrlPr>
                          <a:rPr lang="ar-AE" sz="900" i="1">
                            <a:solidFill>
                              <a:schemeClr val="tx1"/>
                            </a:solidFill>
                            <a:latin typeface="Cambria Math" panose="02040503050406030204" pitchFamily="18" charset="0"/>
                          </a:rPr>
                        </m:ctrlPr>
                      </m:dPr>
                      <m:e>
                        <m:r>
                          <a:rPr lang="ar-AE" sz="900">
                            <a:solidFill>
                              <a:schemeClr val="tx1"/>
                            </a:solidFill>
                            <a:latin typeface="Cambria Math" panose="02040503050406030204" pitchFamily="18" charset="0"/>
                          </a:rPr>
                          <m:t>0</m:t>
                        </m:r>
                      </m:e>
                      <m:e>
                        <m:r>
                          <a:rPr lang="ar-AE" sz="900" i="0">
                            <a:solidFill>
                              <a:schemeClr val="tx1"/>
                            </a:solidFill>
                            <a:latin typeface="Cambria Math" panose="02040503050406030204" pitchFamily="18" charset="0"/>
                          </a:rPr>
                          <m:t>1</m:t>
                        </m:r>
                      </m:e>
                    </m:d>
                  </m:oMath>
                </a14:m>
                <a:r>
                  <a:rPr lang="ar-AE" sz="900" b="0" i="0" dirty="0">
                    <a:solidFill>
                      <a:schemeClr val="tx1"/>
                    </a:solidFill>
                    <a:effectLst/>
                    <a:latin typeface="Segoe WPC"/>
                  </a:rPr>
                  <a:t>. </a:t>
                </a:r>
                <a:r>
                  <a:rPr lang="es-PE" sz="900" b="0" i="0" dirty="0" err="1">
                    <a:solidFill>
                      <a:schemeClr val="tx1"/>
                    </a:solidFill>
                    <a:effectLst/>
                    <a:latin typeface="Segoe WPC"/>
                  </a:rPr>
                  <a:t>Standardization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better</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ranges</a:t>
                </a:r>
                <a:r>
                  <a:rPr lang="es-PE" sz="900" b="0" i="0" dirty="0">
                    <a:solidFill>
                      <a:schemeClr val="tx1"/>
                    </a:solidFill>
                    <a:effectLst/>
                    <a:latin typeface="Segoe WPC"/>
                  </a:rPr>
                  <a:t> are </a:t>
                </a:r>
                <a:r>
                  <a:rPr lang="es-PE" sz="900" b="0" i="0" dirty="0" err="1">
                    <a:solidFill>
                      <a:schemeClr val="tx1"/>
                    </a:solidFill>
                    <a:effectLst/>
                    <a:latin typeface="Segoe WPC"/>
                  </a:rPr>
                  <a:t>wide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outliers</a:t>
                </a:r>
                <a:r>
                  <a:rPr lang="es-PE" sz="900" b="0" i="0" dirty="0">
                    <a:solidFill>
                      <a:schemeClr val="tx1"/>
                    </a:solidFill>
                    <a:effectLst/>
                    <a:latin typeface="Segoe WPC"/>
                  </a:rPr>
                  <a:t> </a:t>
                </a:r>
                <a:r>
                  <a:rPr lang="es-PE" sz="900" b="0" i="0" dirty="0" err="1">
                    <a:solidFill>
                      <a:schemeClr val="tx1"/>
                    </a:solidFill>
                    <a:effectLst/>
                    <a:latin typeface="Segoe WPC"/>
                  </a:rPr>
                  <a:t>exist</a:t>
                </a:r>
                <a:r>
                  <a:rPr lang="es-PE" sz="900" b="0" i="0" dirty="0">
                    <a:solidFill>
                      <a:schemeClr val="tx1"/>
                    </a:solidFill>
                    <a:effectLst/>
                    <a:latin typeface="Segoe WPC"/>
                  </a:rPr>
                  <a:t>. </a:t>
                </a:r>
                <a:r>
                  <a:rPr lang="es-PE" sz="900" b="0" i="0" dirty="0" err="1">
                    <a:solidFill>
                      <a:schemeClr val="tx1"/>
                    </a:solidFill>
                    <a:effectLst/>
                    <a:latin typeface="Segoe WPC"/>
                  </a:rPr>
                  <a:t>Cleaning</a:t>
                </a:r>
                <a:r>
                  <a:rPr lang="es-PE" sz="900" b="0" i="0" dirty="0">
                    <a:solidFill>
                      <a:schemeClr val="tx1"/>
                    </a:solidFill>
                    <a:effectLst/>
                    <a:latin typeface="Segoe WPC"/>
                  </a:rPr>
                  <a:t> </a:t>
                </a:r>
                <a:r>
                  <a:rPr lang="es-PE" sz="900" b="0" i="0" dirty="0" err="1">
                    <a:solidFill>
                      <a:schemeClr val="tx1"/>
                    </a:solidFill>
                    <a:effectLst/>
                    <a:latin typeface="Segoe WPC"/>
                  </a:rPr>
                  <a:t>includes</a:t>
                </a:r>
                <a:r>
                  <a:rPr lang="es-PE" sz="900" b="0" i="0" dirty="0">
                    <a:solidFill>
                      <a:schemeClr val="tx1"/>
                    </a:solidFill>
                    <a:effectLst/>
                    <a:latin typeface="Segoe WPC"/>
                  </a:rPr>
                  <a:t> </a:t>
                </a:r>
                <a:r>
                  <a:rPr lang="es-PE" sz="900" b="0" i="0" dirty="0" err="1">
                    <a:solidFill>
                      <a:schemeClr val="tx1"/>
                    </a:solidFill>
                    <a:effectLst/>
                    <a:latin typeface="Segoe WPC"/>
                  </a:rPr>
                  <a:t>fixing</a:t>
                </a:r>
                <a:r>
                  <a:rPr lang="es-PE" sz="900" b="0" i="0" dirty="0">
                    <a:solidFill>
                      <a:schemeClr val="tx1"/>
                    </a:solidFill>
                    <a:effectLst/>
                    <a:latin typeface="Segoe WPC"/>
                  </a:rPr>
                  <a:t> </a:t>
                </a:r>
                <a:r>
                  <a:rPr lang="es-PE" sz="900" b="0" i="0" dirty="0" err="1">
                    <a:solidFill>
                      <a:schemeClr val="tx1"/>
                    </a:solidFill>
                    <a:effectLst/>
                    <a:latin typeface="Segoe WPC"/>
                  </a:rPr>
                  <a:t>inconsistencies</a:t>
                </a:r>
                <a:r>
                  <a:rPr lang="es-PE" sz="900" b="0" i="0" dirty="0">
                    <a:solidFill>
                      <a:schemeClr val="tx1"/>
                    </a:solidFill>
                    <a:effectLst/>
                    <a:latin typeface="Segoe WPC"/>
                  </a:rPr>
                  <a:t>, </a:t>
                </a:r>
                <a:r>
                  <a:rPr lang="es-PE" sz="900" b="0" i="0" dirty="0" err="1">
                    <a:solidFill>
                      <a:schemeClr val="tx1"/>
                    </a:solidFill>
                    <a:effectLst/>
                    <a:latin typeface="Segoe WPC"/>
                  </a:rPr>
                  <a:t>removing</a:t>
                </a:r>
                <a:r>
                  <a:rPr lang="es-PE" sz="900" b="0" i="0" dirty="0">
                    <a:solidFill>
                      <a:schemeClr val="tx1"/>
                    </a:solidFill>
                    <a:effectLst/>
                    <a:latin typeface="Segoe WPC"/>
                  </a:rPr>
                  <a:t> </a:t>
                </a:r>
                <a:r>
                  <a:rPr lang="es-PE" sz="900" b="0" i="0" dirty="0" err="1">
                    <a:solidFill>
                      <a:schemeClr val="tx1"/>
                    </a:solidFill>
                    <a:effectLst/>
                    <a:latin typeface="Segoe WPC"/>
                  </a:rPr>
                  <a:t>irrelevant</a:t>
                </a:r>
                <a:r>
                  <a:rPr lang="es-PE" sz="900" b="0" i="0" dirty="0">
                    <a:solidFill>
                      <a:schemeClr val="tx1"/>
                    </a:solidFill>
                    <a:effectLst/>
                    <a:latin typeface="Segoe WPC"/>
                  </a:rPr>
                  <a:t>/</a:t>
                </a:r>
                <a:r>
                  <a:rPr lang="es-PE" sz="900" b="0" i="0" dirty="0" err="1">
                    <a:solidFill>
                      <a:schemeClr val="tx1"/>
                    </a:solidFill>
                    <a:effectLst/>
                    <a:latin typeface="Segoe WPC"/>
                  </a:rPr>
                  <a:t>duplicate</a:t>
                </a:r>
                <a:r>
                  <a:rPr lang="es-PE" sz="900" b="0" i="0" dirty="0">
                    <a:solidFill>
                      <a:schemeClr val="tx1"/>
                    </a:solidFill>
                    <a:effectLst/>
                    <a:latin typeface="Segoe WPC"/>
                  </a:rPr>
                  <a:t> </a:t>
                </a:r>
                <a:r>
                  <a:rPr lang="es-PE" sz="900" b="0" i="0" dirty="0" err="1">
                    <a:solidFill>
                      <a:schemeClr val="tx1"/>
                    </a:solidFill>
                    <a:effectLst/>
                    <a:latin typeface="Segoe WPC"/>
                  </a:rPr>
                  <a:t>observations</a:t>
                </a:r>
                <a:r>
                  <a:rPr lang="es-PE" sz="900" b="0" i="0" dirty="0">
                    <a:solidFill>
                      <a:schemeClr val="tx1"/>
                    </a:solidFill>
                    <a:effectLst/>
                    <a:latin typeface="Segoe WPC"/>
                  </a:rPr>
                  <a:t>, </a:t>
                </a:r>
                <a:r>
                  <a:rPr lang="es-PE" sz="900" b="0" i="0" dirty="0" err="1">
                    <a:solidFill>
                      <a:schemeClr val="tx1"/>
                    </a:solidFill>
                    <a:effectLst/>
                    <a:latin typeface="Segoe WPC"/>
                  </a:rPr>
                  <a:t>checking</a:t>
                </a:r>
                <a:r>
                  <a:rPr lang="es-PE" sz="900" b="0" i="0" dirty="0">
                    <a:solidFill>
                      <a:schemeClr val="tx1"/>
                    </a:solidFill>
                    <a:effectLst/>
                    <a:latin typeface="Segoe WPC"/>
                  </a:rPr>
                  <a:t> </a:t>
                </a:r>
                <a:r>
                  <a:rPr lang="es-PE" sz="900" b="0" i="0" dirty="0" err="1">
                    <a:solidFill>
                      <a:schemeClr val="tx1"/>
                    </a:solidFill>
                    <a:effectLst/>
                    <a:latin typeface="Segoe WPC"/>
                  </a:rPr>
                  <a:t>outliers</a:t>
                </a:r>
                <a:r>
                  <a:rPr lang="es-PE" sz="900" b="0" i="0" dirty="0">
                    <a:solidFill>
                      <a:schemeClr val="tx1"/>
                    </a:solidFill>
                    <a:effectLst/>
                    <a:latin typeface="Segoe WPC"/>
                  </a:rPr>
                  <a:t>, and </a:t>
                </a:r>
                <a:r>
                  <a:rPr lang="es-PE" sz="900" b="0" i="0" dirty="0" err="1">
                    <a:solidFill>
                      <a:schemeClr val="tx1"/>
                    </a:solidFill>
                    <a:effectLst/>
                    <a:latin typeface="Segoe WPC"/>
                  </a:rPr>
                  <a:t>handling</a:t>
                </a:r>
                <a:r>
                  <a:rPr lang="es-PE" sz="900" b="0" i="0" dirty="0">
                    <a:solidFill>
                      <a:schemeClr val="tx1"/>
                    </a:solidFill>
                    <a:effectLst/>
                    <a:latin typeface="Segoe WPC"/>
                  </a:rPr>
                  <a:t> </a:t>
                </a:r>
                <a:r>
                  <a:rPr lang="es-PE" sz="900" b="0" i="0" dirty="0" err="1">
                    <a:solidFill>
                      <a:schemeClr val="tx1"/>
                    </a:solidFill>
                    <a:effectLst/>
                    <a:latin typeface="Segoe WPC"/>
                  </a:rPr>
                  <a:t>missing</a:t>
                </a:r>
                <a:r>
                  <a:rPr lang="es-PE" sz="900" b="0" i="0" dirty="0">
                    <a:solidFill>
                      <a:schemeClr val="tx1"/>
                    </a:solidFill>
                    <a:effectLst/>
                    <a:latin typeface="Segoe WPC"/>
                  </a:rPr>
                  <a:t> data.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Rescale</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input </a:t>
                </a:r>
                <a:r>
                  <a:rPr lang="es-PE" sz="900" b="0" i="0" dirty="0" err="1">
                    <a:solidFill>
                      <a:schemeClr val="tx1"/>
                    </a:solidFill>
                    <a:effectLst/>
                    <a:latin typeface="Segoe WPC"/>
                  </a:rPr>
                  <a:t>features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necessarily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target variable.</a:t>
                </a:r>
              </a:p>
              <a:p>
                <a:pPr algn="l">
                  <a:spcAft>
                    <a:spcPts val="600"/>
                  </a:spcAft>
                  <a:buNone/>
                </a:pPr>
                <a:r>
                  <a:rPr lang="es-PE" sz="900" b="1" i="0" dirty="0">
                    <a:solidFill>
                      <a:schemeClr val="tx1"/>
                    </a:solidFill>
                    <a:effectLst/>
                    <a:latin typeface="Segoe WPC"/>
                  </a:rPr>
                  <a:t>4. PCA and K-</a:t>
                </a:r>
                <a:r>
                  <a:rPr lang="es-PE" sz="900" b="1" i="0" dirty="0" err="1">
                    <a:solidFill>
                      <a:schemeClr val="tx1"/>
                    </a:solidFill>
                    <a:effectLst/>
                    <a:latin typeface="Segoe WPC"/>
                  </a:rPr>
                  <a:t>Means</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common</a:t>
                </a:r>
                <a:r>
                  <a:rPr lang="es-PE" sz="900" b="0" i="0" dirty="0">
                    <a:solidFill>
                      <a:schemeClr val="tx1"/>
                    </a:solidFill>
                    <a:effectLst/>
                    <a:latin typeface="Segoe WPC"/>
                  </a:rPr>
                  <a:t> </a:t>
                </a:r>
                <a:r>
                  <a:rPr lang="es-PE" sz="900" b="0" i="0" dirty="0" err="1">
                    <a:solidFill>
                      <a:schemeClr val="tx1"/>
                    </a:solidFill>
                    <a:effectLst/>
                    <a:latin typeface="Segoe WPC"/>
                  </a:rPr>
                  <a:t>unsupervised</a:t>
                </a:r>
                <a:r>
                  <a:rPr lang="es-PE" sz="900" b="0" i="0" dirty="0">
                    <a:solidFill>
                      <a:schemeClr val="tx1"/>
                    </a:solidFill>
                    <a:effectLst/>
                    <a:latin typeface="Segoe WPC"/>
                  </a:rPr>
                  <a:t> </a:t>
                </a:r>
                <a:r>
                  <a:rPr lang="es-PE" sz="900" b="0" i="0" dirty="0" err="1">
                    <a:solidFill>
                      <a:schemeClr val="tx1"/>
                    </a:solidFill>
                    <a:effectLst/>
                    <a:latin typeface="Segoe WPC"/>
                  </a:rPr>
                  <a:t>learning</a:t>
                </a:r>
                <a:r>
                  <a:rPr lang="es-PE" sz="900" b="0" i="0" dirty="0">
                    <a:solidFill>
                      <a:schemeClr val="tx1"/>
                    </a:solidFill>
                    <a:effectLst/>
                    <a:latin typeface="Segoe WPC"/>
                  </a:rPr>
                  <a:t> </a:t>
                </a:r>
                <a:r>
                  <a:rPr lang="es-PE" sz="900" b="0" i="0" dirty="0" err="1">
                    <a:solidFill>
                      <a:schemeClr val="tx1"/>
                    </a:solidFill>
                    <a:effectLst/>
                    <a:latin typeface="Segoe WPC"/>
                  </a:rPr>
                  <a:t>tools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PCA reduces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correlated</a:t>
                </a:r>
                <a:r>
                  <a:rPr lang="es-PE" sz="900" b="0" i="0" dirty="0">
                    <a:solidFill>
                      <a:schemeClr val="tx1"/>
                    </a:solidFill>
                    <a:effectLst/>
                    <a:latin typeface="Segoe WPC"/>
                  </a:rPr>
                  <a:t> variables </a:t>
                </a:r>
                <a:r>
                  <a:rPr lang="es-PE" sz="900" b="0" i="0" dirty="0" err="1">
                    <a:solidFill>
                      <a:schemeClr val="tx1"/>
                    </a:solidFill>
                    <a:effectLst/>
                    <a:latin typeface="Segoe WPC"/>
                  </a:rPr>
                  <a:t>into</a:t>
                </a:r>
                <a:r>
                  <a:rPr lang="es-PE" sz="900" b="0" i="0" dirty="0">
                    <a:solidFill>
                      <a:schemeClr val="tx1"/>
                    </a:solidFill>
                    <a:effectLst/>
                    <a:latin typeface="Segoe WPC"/>
                  </a:rPr>
                  <a:t> a </a:t>
                </a:r>
                <a:r>
                  <a:rPr lang="es-PE" sz="900" b="0" i="0" dirty="0" err="1">
                    <a:solidFill>
                      <a:schemeClr val="tx1"/>
                    </a:solidFill>
                    <a:effectLst/>
                    <a:latin typeface="Segoe WPC"/>
                  </a:rPr>
                  <a:t>few</a:t>
                </a:r>
                <a:r>
                  <a:rPr lang="es-PE" sz="900" b="0" i="0" dirty="0">
                    <a:solidFill>
                      <a:schemeClr val="tx1"/>
                    </a:solidFill>
                    <a:effectLst/>
                    <a:latin typeface="Segoe WPC"/>
                  </a:rPr>
                  <a:t> </a:t>
                </a:r>
                <a:r>
                  <a:rPr lang="es-PE" sz="900" b="0" i="0" dirty="0" err="1">
                    <a:solidFill>
                      <a:schemeClr val="tx1"/>
                    </a:solidFill>
                    <a:effectLst/>
                    <a:latin typeface="Segoe WPC"/>
                  </a:rPr>
                  <a:t>uncorrelated</a:t>
                </a:r>
                <a:r>
                  <a:rPr lang="es-PE" sz="900" b="0" i="0" dirty="0">
                    <a:solidFill>
                      <a:schemeClr val="tx1"/>
                    </a:solidFill>
                    <a:effectLst/>
                    <a:latin typeface="Segoe WPC"/>
                  </a:rPr>
                  <a:t> </a:t>
                </a:r>
                <a:r>
                  <a:rPr lang="es-PE" sz="900" b="0" i="0" dirty="0" err="1">
                    <a:solidFill>
                      <a:schemeClr val="tx1"/>
                    </a:solidFill>
                    <a:effectLst/>
                    <a:latin typeface="Segoe WPC"/>
                  </a:rPr>
                  <a:t>components</a:t>
                </a:r>
                <a:r>
                  <a:rPr lang="es-PE" sz="900" b="0" i="0" dirty="0">
                    <a:solidFill>
                      <a:schemeClr val="tx1"/>
                    </a:solidFill>
                    <a:effectLst/>
                    <a:latin typeface="Segoe WPC"/>
                  </a:rPr>
                  <a:t>; K-</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groups</a:t>
                </a:r>
                <a:r>
                  <a:rPr lang="es-PE" sz="900" b="0" i="0" dirty="0">
                    <a:solidFill>
                      <a:schemeClr val="tx1"/>
                    </a:solidFill>
                    <a:effectLst/>
                    <a:latin typeface="Segoe WPC"/>
                  </a:rPr>
                  <a:t> </a:t>
                </a:r>
                <a:r>
                  <a:rPr lang="es-PE" sz="900" b="0" i="0" dirty="0" err="1">
                    <a:solidFill>
                      <a:schemeClr val="tx1"/>
                    </a:solidFill>
                    <a:effectLst/>
                    <a:latin typeface="Segoe WPC"/>
                  </a:rPr>
                  <a:t>observations</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𝐾</m:t>
                    </m:r>
                  </m:oMath>
                </a14:m>
                <a:r>
                  <a:rPr lang="es-PE" sz="900" b="0" i="0" dirty="0">
                    <a:solidFill>
                      <a:schemeClr val="tx1"/>
                    </a:solidFill>
                    <a:effectLst/>
                    <a:latin typeface="Segoe WPC"/>
                  </a:rPr>
                  <a:t> </a:t>
                </a:r>
                <a:r>
                  <a:rPr lang="es-PE" sz="900" b="0" i="0" dirty="0" err="1">
                    <a:solidFill>
                      <a:schemeClr val="tx1"/>
                    </a:solidFill>
                    <a:effectLst/>
                    <a:latin typeface="Segoe WPC"/>
                  </a:rPr>
                  <a:t>clusters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PCA </a:t>
                </a:r>
                <a:r>
                  <a:rPr lang="es-PE" sz="900" b="0" i="0" dirty="0" err="1">
                    <a:solidFill>
                      <a:schemeClr val="tx1"/>
                    </a:solidFill>
                    <a:effectLst/>
                    <a:latin typeface="Segoe WPC"/>
                  </a:rPr>
                  <a:t>rotates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data </a:t>
                </a:r>
                <a:r>
                  <a:rPr lang="es-PE" sz="900" b="0" i="0" dirty="0" err="1">
                    <a:solidFill>
                      <a:schemeClr val="tx1"/>
                    </a:solidFill>
                    <a:effectLst/>
                    <a:latin typeface="Segoe WPC"/>
                  </a:rPr>
                  <a:t>to</a:t>
                </a:r>
                <a:r>
                  <a:rPr lang="es-PE" sz="900" b="0" i="0" dirty="0">
                    <a:solidFill>
                      <a:schemeClr val="tx1"/>
                    </a:solidFill>
                    <a:effectLst/>
                    <a:latin typeface="Segoe WPC"/>
                  </a:rPr>
                  <a:t> capture </a:t>
                </a:r>
                <a:r>
                  <a:rPr lang="es-PE" sz="900" b="0" i="0" dirty="0" err="1">
                    <a:solidFill>
                      <a:schemeClr val="tx1"/>
                    </a:solidFill>
                    <a:effectLst/>
                    <a:latin typeface="Segoe WPC"/>
                  </a:rPr>
                  <a:t>most</a:t>
                </a:r>
                <a:r>
                  <a:rPr lang="es-PE" sz="900" b="0" i="0" dirty="0">
                    <a:solidFill>
                      <a:schemeClr val="tx1"/>
                    </a:solidFill>
                    <a:effectLst/>
                    <a:latin typeface="Segoe WPC"/>
                  </a:rPr>
                  <a:t> </a:t>
                </a:r>
                <a:r>
                  <a:rPr lang="es-PE" sz="900" b="0" i="0" dirty="0" err="1">
                    <a:solidFill>
                      <a:schemeClr val="tx1"/>
                    </a:solidFill>
                    <a:effectLst/>
                    <a:latin typeface="Segoe WPC"/>
                  </a:rPr>
                  <a:t>variation</a:t>
                </a:r>
                <a:r>
                  <a:rPr lang="es-PE" sz="900" b="0" i="0" dirty="0">
                    <a:solidFill>
                      <a:schemeClr val="tx1"/>
                    </a:solidFill>
                    <a:effectLst/>
                    <a:latin typeface="Segoe WPC"/>
                  </a:rPr>
                  <a:t> in a </a:t>
                </a:r>
                <a:r>
                  <a:rPr lang="es-PE" sz="900" b="0" i="0" dirty="0" err="1">
                    <a:solidFill>
                      <a:schemeClr val="tx1"/>
                    </a:solidFill>
                    <a:effectLst/>
                    <a:latin typeface="Segoe WPC"/>
                  </a:rPr>
                  <a:t>few</a:t>
                </a:r>
                <a:r>
                  <a:rPr lang="es-PE" sz="900" b="0" i="0" dirty="0">
                    <a:solidFill>
                      <a:schemeClr val="tx1"/>
                    </a:solidFill>
                    <a:effectLst/>
                    <a:latin typeface="Segoe WPC"/>
                  </a:rPr>
                  <a:t> </a:t>
                </a:r>
                <a:r>
                  <a:rPr lang="es-PE" sz="900" b="0" i="0" dirty="0" err="1">
                    <a:solidFill>
                      <a:schemeClr val="tx1"/>
                    </a:solidFill>
                    <a:effectLst/>
                    <a:latin typeface="Segoe WPC"/>
                  </a:rPr>
                  <a:t>directions</a:t>
                </a:r>
                <a:r>
                  <a:rPr lang="es-PE" sz="900" b="0" i="0" dirty="0">
                    <a:solidFill>
                      <a:schemeClr val="tx1"/>
                    </a:solidFill>
                    <a:effectLst/>
                    <a:latin typeface="Segoe WPC"/>
                  </a:rPr>
                  <a:t>; K-</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pulls</a:t>
                </a:r>
                <a:r>
                  <a:rPr lang="es-PE" sz="900" b="0" i="0" dirty="0">
                    <a:solidFill>
                      <a:schemeClr val="tx1"/>
                    </a:solidFill>
                    <a:effectLst/>
                    <a:latin typeface="Segoe WPC"/>
                  </a:rPr>
                  <a:t> </a:t>
                </a:r>
                <a:r>
                  <a:rPr lang="es-PE" sz="900" b="0" i="0" dirty="0" err="1">
                    <a:solidFill>
                      <a:schemeClr val="tx1"/>
                    </a:solidFill>
                    <a:effectLst/>
                    <a:latin typeface="Segoe WPC"/>
                  </a:rPr>
                  <a:t>points</a:t>
                </a:r>
                <a:r>
                  <a:rPr lang="es-PE" sz="900" b="0" i="0" dirty="0">
                    <a:solidFill>
                      <a:schemeClr val="tx1"/>
                    </a:solidFill>
                    <a:effectLst/>
                    <a:latin typeface="Segoe WPC"/>
                  </a:rPr>
                  <a:t> </a:t>
                </a:r>
                <a:r>
                  <a:rPr lang="es-PE" sz="900" b="0" i="0" dirty="0" err="1">
                    <a:solidFill>
                      <a:schemeClr val="tx1"/>
                    </a:solidFill>
                    <a:effectLst/>
                    <a:latin typeface="Segoe WPC"/>
                  </a:rPr>
                  <a:t>toward</a:t>
                </a:r>
                <a:r>
                  <a:rPr lang="es-PE" sz="900" b="0" i="0" dirty="0">
                    <a:solidFill>
                      <a:schemeClr val="tx1"/>
                    </a:solidFill>
                    <a:effectLst/>
                    <a:latin typeface="Segoe WPC"/>
                  </a:rPr>
                  <a:t> </a:t>
                </a:r>
                <a:r>
                  <a:rPr lang="es-PE" sz="900" b="0" i="0" dirty="0" err="1">
                    <a:solidFill>
                      <a:schemeClr val="tx1"/>
                    </a:solidFill>
                    <a:effectLst/>
                    <a:latin typeface="Segoe WPC"/>
                  </a:rPr>
                  <a:t>cluster</a:t>
                </a:r>
                <a:r>
                  <a:rPr lang="es-PE" sz="900" b="0" i="0" dirty="0">
                    <a:solidFill>
                      <a:schemeClr val="tx1"/>
                    </a:solidFill>
                    <a:effectLst/>
                    <a:latin typeface="Segoe WPC"/>
                  </a:rPr>
                  <a:t> centers.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PCA </a:t>
                </a:r>
                <a:r>
                  <a:rPr lang="es-PE" sz="900" b="0" i="0" dirty="0" err="1">
                    <a:solidFill>
                      <a:schemeClr val="tx1"/>
                    </a:solidFill>
                    <a:effectLst/>
                    <a:latin typeface="Segoe WPC"/>
                  </a:rPr>
                  <a:t>expresses</a:t>
                </a:r>
                <a:r>
                  <a:rPr lang="es-PE" sz="900" b="0" i="0" dirty="0">
                    <a:solidFill>
                      <a:schemeClr val="tx1"/>
                    </a:solidFill>
                    <a:effectLst/>
                    <a:latin typeface="Segoe WPC"/>
                  </a:rPr>
                  <a:t> original variables as linear </a:t>
                </a:r>
                <a:r>
                  <a:rPr lang="es-PE" sz="900" b="0" i="0" dirty="0" err="1">
                    <a:solidFill>
                      <a:schemeClr val="tx1"/>
                    </a:solidFill>
                    <a:effectLst/>
                    <a:latin typeface="Segoe WPC"/>
                  </a:rPr>
                  <a:t>combinations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principal </a:t>
                </a:r>
                <a:r>
                  <a:rPr lang="es-PE" sz="900" b="0" i="0" dirty="0" err="1">
                    <a:solidFill>
                      <a:schemeClr val="tx1"/>
                    </a:solidFill>
                    <a:effectLst/>
                    <a:latin typeface="Segoe WPC"/>
                  </a:rPr>
                  <a:t>components</a:t>
                </a:r>
                <a:r>
                  <a:rPr lang="es-PE" sz="900" b="0" i="0" dirty="0">
                    <a:solidFill>
                      <a:schemeClr val="tx1"/>
                    </a:solidFill>
                    <a:effectLst/>
                    <a:latin typeface="Segoe WPC"/>
                  </a:rPr>
                  <a:t>. K-</a:t>
                </a:r>
                <a:r>
                  <a:rPr lang="es-PE" sz="900" b="0" i="0" dirty="0" err="1">
                    <a:solidFill>
                      <a:schemeClr val="tx1"/>
                    </a:solidFill>
                    <a:effectLst/>
                    <a:latin typeface="Segoe WPC"/>
                  </a:rPr>
                  <a:t>means</a:t>
                </a:r>
                <a:r>
                  <a:rPr lang="es-PE" sz="900" b="0" i="0" dirty="0">
                    <a:solidFill>
                      <a:schemeClr val="tx1"/>
                    </a:solidFill>
                    <a:effectLst/>
                    <a:latin typeface="Segoe WPC"/>
                  </a:rPr>
                  <a:t> uses </a:t>
                </a:r>
                <a:r>
                  <a:rPr lang="es-PE" sz="900" b="0" i="0" dirty="0" err="1">
                    <a:solidFill>
                      <a:schemeClr val="tx1"/>
                    </a:solidFill>
                    <a:effectLst/>
                    <a:latin typeface="Segoe WPC"/>
                  </a:rPr>
                  <a:t>distance</a:t>
                </a:r>
                <a:r>
                  <a:rPr lang="es-PE" sz="900" b="0" i="0" dirty="0">
                    <a:solidFill>
                      <a:schemeClr val="tx1"/>
                    </a:solidFill>
                    <a:effectLst/>
                    <a:latin typeface="Segoe WPC"/>
                  </a:rPr>
                  <a:t> </a:t>
                </a:r>
                <a:r>
                  <a:rPr lang="es-PE" sz="900" b="0" i="0" dirty="0" err="1">
                    <a:solidFill>
                      <a:schemeClr val="tx1"/>
                    </a:solidFill>
                    <a:effectLst/>
                    <a:latin typeface="Segoe WPC"/>
                  </a:rPr>
                  <a:t>metrics</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a:t>
                </a:r>
                <a:r>
                  <a:rPr lang="es-PE" sz="900" b="0" i="0" dirty="0" err="1">
                    <a:solidFill>
                      <a:schemeClr val="tx1"/>
                    </a:solidFill>
                    <a:effectLst/>
                    <a:latin typeface="Segoe WPC"/>
                  </a:rPr>
                  <a:t>Euclidean</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1">
                            <a:solidFill>
                              <a:schemeClr val="tx1"/>
                            </a:solidFill>
                            <a:latin typeface="Cambria Math" panose="02040503050406030204" pitchFamily="18" charset="0"/>
                          </a:rPr>
                          <m:t>𝐸</m:t>
                        </m:r>
                      </m:sub>
                    </m:sSub>
                    <m:r>
                      <a:rPr lang="ar-AE" sz="900" i="0">
                        <a:solidFill>
                          <a:schemeClr val="tx1"/>
                        </a:solidFill>
                        <a:latin typeface="Cambria Math" panose="02040503050406030204" pitchFamily="18" charset="0"/>
                      </a:rPr>
                      <m:t>=</m:t>
                    </m:r>
                    <m:rad>
                      <m:radPr>
                        <m:degHide m:val="on"/>
                        <m:ctrlPr>
                          <a:rPr lang="ar-AE" sz="900" i="1">
                            <a:solidFill>
                              <a:schemeClr val="tx1"/>
                            </a:solidFill>
                            <a:latin typeface="Cambria Math" panose="02040503050406030204" pitchFamily="18" charset="0"/>
                          </a:rPr>
                        </m:ctrlPr>
                      </m:radPr>
                      <m:deg/>
                      <m:e>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𝑚</m:t>
                            </m:r>
                          </m:sup>
                          <m:e>
                            <m:r>
                              <a:rPr lang="ar-AE" sz="900" i="0">
                                <a:solidFill>
                                  <a:schemeClr val="tx1"/>
                                </a:solidFill>
                                <a:latin typeface="Cambria Math" panose="02040503050406030204" pitchFamily="18" charset="0"/>
                              </a:rPr>
                              <m:t>(</m:t>
                            </m:r>
                          </m:e>
                        </m:nary>
                        <m:d>
                          <m:dPr>
                            <m:begChr m:val=""/>
                            <m:end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𝑖𝑄</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𝑖𝑃</m:t>
                                </m:r>
                              </m:sub>
                            </m:sSub>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e>
                        </m:d>
                      </m:e>
                    </m:rad>
                  </m:oMath>
                </a14:m>
                <a:r>
                  <a:rPr lang="ar-A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Manhattan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1">
                            <a:solidFill>
                              <a:schemeClr val="tx1"/>
                            </a:solidFill>
                            <a:latin typeface="Cambria Math" panose="02040503050406030204" pitchFamily="18" charset="0"/>
                          </a:rPr>
                          <m:t>𝑀</m:t>
                        </m:r>
                      </m:sub>
                    </m:sSub>
                    <m:r>
                      <a:rPr lang="ar-AE" sz="900" i="0">
                        <a:solidFill>
                          <a:schemeClr val="tx1"/>
                        </a:solidFill>
                        <a:latin typeface="Cambria Math" panose="02040503050406030204" pitchFamily="18" charset="0"/>
                      </a:rPr>
                      <m:t>=</m:t>
                    </m:r>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𝑚</m:t>
                        </m:r>
                      </m:sup>
                      <m:e>
                        <m:r>
                          <a:rPr lang="ar-AE" sz="900" i="0">
                            <a:solidFill>
                              <a:schemeClr val="tx1"/>
                            </a:solidFill>
                            <a:latin typeface="Cambria Math" panose="02040503050406030204" pitchFamily="18" charset="0"/>
                          </a:rPr>
                          <m:t>∣</m:t>
                        </m:r>
                      </m:e>
                    </m:nary>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𝑖𝑄</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𝑖𝑃</m:t>
                        </m:r>
                      </m:sub>
                    </m:sSub>
                    <m:r>
                      <a:rPr lang="ar-AE" sz="900" i="0">
                        <a:solidFill>
                          <a:schemeClr val="tx1"/>
                        </a:solidFill>
                        <a:latin typeface="Cambria Math" panose="02040503050406030204" pitchFamily="18" charset="0"/>
                      </a:rPr>
                      <m:t>∣</m:t>
                    </m:r>
                  </m:oMath>
                </a14:m>
                <a:r>
                  <a:rPr lang="ar-AE" sz="900" b="0" i="0" dirty="0">
                    <a:solidFill>
                      <a:schemeClr val="tx1"/>
                    </a:solidFill>
                    <a:effectLst/>
                    <a:latin typeface="Segoe WPC"/>
                  </a:rPr>
                  <a:t>, </a:t>
                </a:r>
                <a:r>
                  <a:rPr lang="es-PE" sz="900" b="0" i="0" dirty="0">
                    <a:solidFill>
                      <a:schemeClr val="tx1"/>
                    </a:solidFill>
                    <a:effectLst/>
                    <a:latin typeface="Segoe WPC"/>
                  </a:rPr>
                  <a:t>and </a:t>
                </a:r>
                <a:r>
                  <a:rPr lang="es-PE" sz="900" b="0" i="0" dirty="0" err="1">
                    <a:solidFill>
                      <a:schemeClr val="tx1"/>
                    </a:solidFill>
                    <a:effectLst/>
                    <a:latin typeface="Segoe WPC"/>
                  </a:rPr>
                  <a:t>cluster</a:t>
                </a:r>
                <a:r>
                  <a:rPr lang="es-PE" sz="900" b="0" i="0" dirty="0">
                    <a:solidFill>
                      <a:schemeClr val="tx1"/>
                    </a:solidFill>
                    <a:effectLst/>
                    <a:latin typeface="Segoe WPC"/>
                  </a:rPr>
                  <a:t> </a:t>
                </a:r>
                <a:r>
                  <a:rPr lang="es-PE" sz="900" b="0" i="0" dirty="0" err="1">
                    <a:solidFill>
                      <a:schemeClr val="tx1"/>
                    </a:solidFill>
                    <a:effectLst/>
                    <a:latin typeface="Segoe WPC"/>
                  </a:rPr>
                  <a:t>fit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measured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inertia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𝐼</m:t>
                    </m:r>
                    <m:r>
                      <a:rPr lang="es-PE" sz="900" i="0">
                        <a:solidFill>
                          <a:schemeClr val="tx1"/>
                        </a:solidFill>
                        <a:latin typeface="Cambria Math" panose="02040503050406030204" pitchFamily="18" charset="0"/>
                      </a:rPr>
                      <m:t>=</m:t>
                    </m:r>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𝑗</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𝑛</m:t>
                        </m:r>
                      </m:sup>
                      <m:e>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𝑑</m:t>
                            </m:r>
                          </m:e>
                          <m:sub>
                            <m:r>
                              <a:rPr lang="ar-AE" sz="900" i="1">
                                <a:solidFill>
                                  <a:schemeClr val="tx1"/>
                                </a:solidFill>
                                <a:latin typeface="Cambria Math" panose="02040503050406030204" pitchFamily="18" charset="0"/>
                              </a:rPr>
                              <m:t>𝑗</m:t>
                            </m:r>
                          </m:sub>
                          <m:sup>
                            <m:r>
                              <a:rPr lang="ar-AE" sz="900" i="0">
                                <a:solidFill>
                                  <a:schemeClr val="tx1"/>
                                </a:solidFill>
                                <a:latin typeface="Cambria Math" panose="02040503050406030204" pitchFamily="18" charset="0"/>
                              </a:rPr>
                              <m:t>2</m:t>
                            </m:r>
                          </m:sup>
                        </m:sSubSup>
                      </m:e>
                    </m:nary>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PCA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dimensionality</a:t>
                </a:r>
                <a:r>
                  <a:rPr lang="es-PE" sz="900" b="0" i="0" dirty="0">
                    <a:solidFill>
                      <a:schemeClr val="tx1"/>
                    </a:solidFill>
                    <a:effectLst/>
                    <a:latin typeface="Segoe WPC"/>
                  </a:rPr>
                  <a:t> </a:t>
                </a:r>
                <a:r>
                  <a:rPr lang="es-PE" sz="900" b="0" i="0" dirty="0" err="1">
                    <a:solidFill>
                      <a:schemeClr val="tx1"/>
                    </a:solidFill>
                    <a:effectLst/>
                    <a:latin typeface="Segoe WPC"/>
                  </a:rPr>
                  <a:t>reduction</a:t>
                </a:r>
                <a:r>
                  <a:rPr lang="es-PE" sz="900" b="0" i="0" dirty="0">
                    <a:solidFill>
                      <a:schemeClr val="tx1"/>
                    </a:solidFill>
                    <a:effectLst/>
                    <a:latin typeface="Segoe WPC"/>
                  </a:rPr>
                  <a:t> and </a:t>
                </a:r>
                <a:r>
                  <a:rPr lang="es-PE" sz="900" b="0" i="0" dirty="0" err="1">
                    <a:solidFill>
                      <a:schemeClr val="tx1"/>
                    </a:solidFill>
                    <a:effectLst/>
                    <a:latin typeface="Segoe WPC"/>
                  </a:rPr>
                  <a:t>structure</a:t>
                </a:r>
                <a:r>
                  <a:rPr lang="es-PE" sz="900" b="0" i="0" dirty="0">
                    <a:solidFill>
                      <a:schemeClr val="tx1"/>
                    </a:solidFill>
                    <a:effectLst/>
                    <a:latin typeface="Segoe WPC"/>
                  </a:rPr>
                  <a:t> </a:t>
                </a:r>
                <a:r>
                  <a:rPr lang="es-PE" sz="900" b="0" i="0" dirty="0" err="1">
                    <a:solidFill>
                      <a:schemeClr val="tx1"/>
                    </a:solidFill>
                    <a:effectLst/>
                    <a:latin typeface="Segoe WPC"/>
                  </a:rPr>
                  <a:t>discovery</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a:t>
                </a:r>
                <a:r>
                  <a:rPr lang="es-PE" sz="900" b="0" i="0" dirty="0" err="1">
                    <a:solidFill>
                      <a:schemeClr val="tx1"/>
                    </a:solidFill>
                    <a:effectLst/>
                    <a:latin typeface="Segoe WPC"/>
                  </a:rPr>
                  <a:t>yield</a:t>
                </a:r>
                <a:r>
                  <a:rPr lang="es-PE" sz="900" b="0" i="0" dirty="0">
                    <a:solidFill>
                      <a:schemeClr val="tx1"/>
                    </a:solidFill>
                    <a:effectLst/>
                    <a:latin typeface="Segoe WPC"/>
                  </a:rPr>
                  <a:t>-curve </a:t>
                </a:r>
                <a:r>
                  <a:rPr lang="es-PE" sz="900" b="0" i="0" dirty="0" err="1">
                    <a:solidFill>
                      <a:schemeClr val="tx1"/>
                    </a:solidFill>
                    <a:effectLst/>
                    <a:latin typeface="Segoe WPC"/>
                  </a:rPr>
                  <a:t>factors</a:t>
                </a:r>
                <a:r>
                  <a:rPr lang="es-PE" sz="900" b="0" i="0" dirty="0">
                    <a:solidFill>
                      <a:schemeClr val="tx1"/>
                    </a:solidFill>
                    <a:effectLst/>
                    <a:latin typeface="Segoe WPC"/>
                  </a:rPr>
                  <a:t>. K-</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identifying</a:t>
                </a:r>
                <a:r>
                  <a:rPr lang="es-PE" sz="900" b="0" i="0" dirty="0">
                    <a:solidFill>
                      <a:schemeClr val="tx1"/>
                    </a:solidFill>
                    <a:effectLst/>
                    <a:latin typeface="Segoe WPC"/>
                  </a:rPr>
                  <a:t> </a:t>
                </a:r>
                <a:r>
                  <a:rPr lang="es-PE" sz="900" b="0" i="0" dirty="0" err="1">
                    <a:solidFill>
                      <a:schemeClr val="tx1"/>
                    </a:solidFill>
                    <a:effectLst/>
                    <a:latin typeface="Segoe WPC"/>
                  </a:rPr>
                  <a:t>regimes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similar </a:t>
                </a:r>
                <a:r>
                  <a:rPr lang="es-PE" sz="900" b="0" i="0" dirty="0" err="1">
                    <a:solidFill>
                      <a:schemeClr val="tx1"/>
                    </a:solidFill>
                    <a:effectLst/>
                    <a:latin typeface="Segoe WPC"/>
                  </a:rPr>
                  <a:t>groups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𝐾</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chosen</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elbow</a:t>
                </a:r>
                <a:r>
                  <a:rPr lang="es-PE" sz="900" b="0" i="0" dirty="0">
                    <a:solidFill>
                      <a:schemeClr val="tx1"/>
                    </a:solidFill>
                    <a:effectLst/>
                    <a:latin typeface="Segoe WPC"/>
                  </a:rPr>
                  <a:t> </a:t>
                </a:r>
                <a:r>
                  <a:rPr lang="es-PE" sz="900" b="0" i="0" dirty="0" err="1">
                    <a:solidFill>
                      <a:schemeClr val="tx1"/>
                    </a:solidFill>
                    <a:effectLst/>
                    <a:latin typeface="Segoe WPC"/>
                  </a:rPr>
                  <a:t>plot</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silhouette</a:t>
                </a:r>
                <a:r>
                  <a:rPr lang="es-PE" sz="900" b="0" i="0" dirty="0">
                    <a:solidFill>
                      <a:schemeClr val="tx1"/>
                    </a:solidFill>
                    <a:effectLst/>
                    <a:latin typeface="Segoe WPC"/>
                  </a:rPr>
                  <a:t> score.</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PCA </a:t>
                </a:r>
                <a:r>
                  <a:rPr lang="es-PE" sz="900" b="0" i="0" dirty="0" err="1">
                    <a:solidFill>
                      <a:schemeClr val="tx1"/>
                    </a:solidFill>
                    <a:effectLst/>
                    <a:latin typeface="Segoe WPC"/>
                  </a:rPr>
                  <a:t>components</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lack</a:t>
                </a:r>
                <a:r>
                  <a:rPr lang="es-PE" sz="900" b="0" i="0" dirty="0">
                    <a:solidFill>
                      <a:schemeClr val="tx1"/>
                    </a:solidFill>
                    <a:effectLst/>
                    <a:latin typeface="Segoe WPC"/>
                  </a:rPr>
                  <a:t> </a:t>
                </a:r>
                <a:r>
                  <a:rPr lang="es-PE" sz="900" b="0" i="0" dirty="0" err="1">
                    <a:solidFill>
                      <a:schemeClr val="tx1"/>
                    </a:solidFill>
                    <a:effectLst/>
                    <a:latin typeface="Segoe WPC"/>
                  </a:rPr>
                  <a:t>direct</a:t>
                </a:r>
                <a:r>
                  <a:rPr lang="es-PE" sz="900" b="0" i="0" dirty="0">
                    <a:solidFill>
                      <a:schemeClr val="tx1"/>
                    </a:solidFill>
                    <a:effectLst/>
                    <a:latin typeface="Segoe WPC"/>
                  </a:rPr>
                  <a:t> </a:t>
                </a:r>
                <a:r>
                  <a:rPr lang="es-PE" sz="900" b="0" i="0" dirty="0" err="1">
                    <a:solidFill>
                      <a:schemeClr val="tx1"/>
                    </a:solidFill>
                    <a:effectLst/>
                    <a:latin typeface="Segoe WPC"/>
                  </a:rPr>
                  <a:t>economic</a:t>
                </a:r>
                <a:r>
                  <a:rPr lang="es-PE" sz="900" b="0" i="0" dirty="0">
                    <a:solidFill>
                      <a:schemeClr val="tx1"/>
                    </a:solidFill>
                    <a:effectLst/>
                    <a:latin typeface="Segoe WPC"/>
                  </a:rPr>
                  <a:t> </a:t>
                </a:r>
                <a:r>
                  <a:rPr lang="es-PE" sz="900" b="0" i="0" dirty="0" err="1">
                    <a:solidFill>
                      <a:schemeClr val="tx1"/>
                    </a:solidFill>
                    <a:effectLst/>
                    <a:latin typeface="Segoe WPC"/>
                  </a:rPr>
                  <a:t>meaning</a:t>
                </a:r>
                <a:r>
                  <a:rPr lang="es-PE" sz="900" b="0" i="0" dirty="0">
                    <a:solidFill>
                      <a:schemeClr val="tx1"/>
                    </a:solidFill>
                    <a:effectLst/>
                    <a:latin typeface="Segoe WPC"/>
                  </a:rPr>
                  <a:t>, and K-</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requires</a:t>
                </a:r>
                <a:r>
                  <a:rPr lang="es-PE" sz="900" b="0" i="0" dirty="0">
                    <a:solidFill>
                      <a:schemeClr val="tx1"/>
                    </a:solidFill>
                    <a:effectLst/>
                    <a:latin typeface="Segoe WPC"/>
                  </a:rPr>
                  <a:t> </a:t>
                </a:r>
                <a:r>
                  <a:rPr lang="es-PE" sz="900" b="0" i="0" dirty="0" err="1">
                    <a:solidFill>
                      <a:schemeClr val="tx1"/>
                    </a:solidFill>
                    <a:effectLst/>
                    <a:latin typeface="Segoe WPC"/>
                  </a:rPr>
                  <a:t>choosing</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𝐾</m:t>
                    </m:r>
                  </m:oMath>
                </a14:m>
                <a:r>
                  <a:rPr lang="es-PE" sz="900" b="0" i="0" dirty="0">
                    <a:solidFill>
                      <a:schemeClr val="tx1"/>
                    </a:solidFill>
                    <a:effectLst/>
                    <a:latin typeface="Segoe WPC"/>
                  </a:rPr>
                  <a:t> in </a:t>
                </a:r>
                <a:r>
                  <a:rPr lang="es-PE" sz="900" b="0" i="0" dirty="0" err="1">
                    <a:solidFill>
                      <a:schemeClr val="tx1"/>
                    </a:solidFill>
                    <a:effectLst/>
                    <a:latin typeface="Segoe WPC"/>
                  </a:rPr>
                  <a:t>advance</a:t>
                </a:r>
                <a:r>
                  <a:rPr lang="es-PE" sz="900" b="0" i="0" dirty="0">
                    <a:solidFill>
                      <a:schemeClr val="tx1"/>
                    </a:solidFill>
                    <a:effectLst/>
                    <a:latin typeface="Segoe WPC"/>
                  </a:rPr>
                  <a:t> and </a:t>
                </a:r>
                <a:r>
                  <a:rPr lang="es-PE" sz="900" b="0" i="0" dirty="0" err="1">
                    <a:solidFill>
                      <a:schemeClr val="tx1"/>
                    </a:solidFill>
                    <a:effectLst/>
                    <a:latin typeface="Segoe WPC"/>
                  </a:rPr>
                  <a:t>tends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produce </a:t>
                </a:r>
                <a:r>
                  <a:rPr lang="es-PE" sz="900" b="0" i="0" dirty="0" err="1">
                    <a:solidFill>
                      <a:schemeClr val="tx1"/>
                    </a:solidFill>
                    <a:effectLst/>
                    <a:latin typeface="Segoe WPC"/>
                  </a:rPr>
                  <a:t>roughly</a:t>
                </a:r>
                <a:r>
                  <a:rPr lang="es-PE" sz="900" b="0" i="0" dirty="0">
                    <a:solidFill>
                      <a:schemeClr val="tx1"/>
                    </a:solidFill>
                    <a:effectLst/>
                    <a:latin typeface="Segoe WPC"/>
                  </a:rPr>
                  <a:t> </a:t>
                </a:r>
                <a:r>
                  <a:rPr lang="es-PE" sz="900" b="0" i="0" dirty="0" err="1">
                    <a:solidFill>
                      <a:schemeClr val="tx1"/>
                    </a:solidFill>
                    <a:effectLst/>
                    <a:latin typeface="Segoe WPC"/>
                  </a:rPr>
                  <a:t>spherical</a:t>
                </a:r>
                <a:r>
                  <a:rPr lang="es-PE" sz="900" b="0" i="0" dirty="0">
                    <a:solidFill>
                      <a:schemeClr val="tx1"/>
                    </a:solidFill>
                    <a:effectLst/>
                    <a:latin typeface="Segoe WPC"/>
                  </a:rPr>
                  <a:t> </a:t>
                </a:r>
                <a:r>
                  <a:rPr lang="es-PE" sz="900" b="0" i="0" dirty="0" err="1">
                    <a:solidFill>
                      <a:schemeClr val="tx1"/>
                    </a:solidFill>
                    <a:effectLst/>
                    <a:latin typeface="Segoe WPC"/>
                  </a:rPr>
                  <a:t>clusters</a:t>
                </a:r>
                <a:r>
                  <a:rPr lang="es-PE" sz="900" b="0" i="0" dirty="0">
                    <a:solidFill>
                      <a:schemeClr val="tx1"/>
                    </a:solidFill>
                    <a:effectLst/>
                    <a:latin typeface="Segoe WPC"/>
                  </a:rPr>
                  <a:t>.</a:t>
                </a:r>
              </a:p>
            </p:txBody>
          </p:sp>
        </mc:Choice>
        <mc:Fallback xmlns="">
          <p:sp>
            <p:nvSpPr>
              <p:cNvPr id="25" name="CuadroTexto 24">
                <a:extLst>
                  <a:ext uri="{FF2B5EF4-FFF2-40B4-BE49-F238E27FC236}">
                    <a16:creationId xmlns:a16="http://schemas.microsoft.com/office/drawing/2014/main" id="{877FFF7A-F9C9-008F-DFE2-1D360446FD0F}"/>
                  </a:ext>
                </a:extLst>
              </p:cNvPr>
              <p:cNvSpPr txBox="1">
                <a:spLocks noRot="1" noChangeAspect="1" noMove="1" noResize="1" noEditPoints="1" noAdjustHandles="1" noChangeArrowheads="1" noChangeShapeType="1" noTextEdit="1"/>
              </p:cNvSpPr>
              <p:nvPr/>
            </p:nvSpPr>
            <p:spPr>
              <a:xfrm>
                <a:off x="-69850" y="76405"/>
                <a:ext cx="6354536" cy="6851427"/>
              </a:xfrm>
              <a:prstGeom prst="rect">
                <a:avLst/>
              </a:prstGeom>
              <a:blipFill>
                <a:blip r:embed="rId2"/>
                <a:stretch>
                  <a:fillRect b="-1603"/>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234F1274-F91C-347E-4EF7-213A8A22623C}"/>
                  </a:ext>
                </a:extLst>
              </p:cNvPr>
              <p:cNvSpPr txBox="1"/>
              <p:nvPr/>
            </p:nvSpPr>
            <p:spPr>
              <a:xfrm>
                <a:off x="6095999" y="-126795"/>
                <a:ext cx="6096001" cy="3554819"/>
              </a:xfrm>
              <a:prstGeom prst="rect">
                <a:avLst/>
              </a:prstGeom>
              <a:noFill/>
            </p:spPr>
            <p:txBody>
              <a:bodyPr wrap="square">
                <a:spAutoFit/>
              </a:bodyPr>
              <a:lstStyle/>
              <a:p>
                <a:endParaRPr lang="en-US" sz="900" b="1" i="0" dirty="0">
                  <a:solidFill>
                    <a:schemeClr val="tx1"/>
                  </a:solidFill>
                  <a:effectLst/>
                  <a:latin typeface="Segoe WPC"/>
                </a:endParaRPr>
              </a:p>
              <a:p>
                <a:r>
                  <a:rPr lang="es-PE" sz="900" b="1" dirty="0">
                    <a:latin typeface="Segoe WPC"/>
                  </a:rPr>
                  <a:t>5. </a:t>
                </a:r>
                <a:r>
                  <a:rPr lang="es-PE" sz="900" b="1" dirty="0" err="1">
                    <a:latin typeface="Segoe WPC"/>
                  </a:rPr>
                  <a:t>Prediction</a:t>
                </a:r>
                <a:r>
                  <a:rPr lang="es-PE" sz="900" b="1" dirty="0">
                    <a:latin typeface="Segoe WPC"/>
                  </a:rPr>
                  <a:t>, </a:t>
                </a:r>
                <a:r>
                  <a:rPr lang="es-PE" sz="900" b="1" dirty="0" err="1">
                    <a:latin typeface="Segoe WPC"/>
                  </a:rPr>
                  <a:t>Overfitting</a:t>
                </a:r>
                <a:r>
                  <a:rPr lang="es-PE" sz="900" b="1" dirty="0">
                    <a:latin typeface="Segoe WPC"/>
                  </a:rPr>
                  <a:t>, and </a:t>
                </a:r>
                <a:r>
                  <a:rPr lang="es-PE" sz="900" b="1" dirty="0" err="1">
                    <a:latin typeface="Segoe WPC"/>
                  </a:rPr>
                  <a:t>Underfitting</a:t>
                </a:r>
                <a:br>
                  <a:rPr lang="es-PE" sz="900" dirty="0">
                    <a:latin typeface="Segoe WPC"/>
                  </a:rPr>
                </a:br>
                <a:r>
                  <a:rPr lang="es-PE" sz="900" b="1" dirty="0" err="1">
                    <a:latin typeface="Segoe WPC"/>
                  </a:rPr>
                  <a:t>Statistical</a:t>
                </a:r>
                <a:r>
                  <a:rPr lang="es-PE" sz="900" b="1" dirty="0">
                    <a:latin typeface="Segoe WPC"/>
                  </a:rPr>
                  <a:t> </a:t>
                </a:r>
                <a:r>
                  <a:rPr lang="es-PE" sz="900" b="1" dirty="0" err="1">
                    <a:latin typeface="Segoe WPC"/>
                  </a:rPr>
                  <a:t>Object</a:t>
                </a:r>
                <a:r>
                  <a:rPr lang="es-PE" sz="900" b="1" dirty="0">
                    <a:latin typeface="Segoe WPC"/>
                  </a:rPr>
                  <a:t>:</a:t>
                </a:r>
                <a:r>
                  <a:rPr lang="es-PE" sz="900" dirty="0">
                    <a:latin typeface="Segoe WPC"/>
                  </a:rPr>
                  <a:t> </a:t>
                </a:r>
                <a:r>
                  <a:rPr lang="es-PE" sz="900" dirty="0" err="1">
                    <a:latin typeface="Segoe WPC"/>
                  </a:rPr>
                  <a:t>Model</a:t>
                </a:r>
                <a:r>
                  <a:rPr lang="es-PE" sz="900" dirty="0">
                    <a:latin typeface="Segoe WPC"/>
                  </a:rPr>
                  <a:t> </a:t>
                </a:r>
                <a:r>
                  <a:rPr lang="es-PE" sz="900" dirty="0" err="1">
                    <a:latin typeface="Segoe WPC"/>
                  </a:rPr>
                  <a:t>flexibility</a:t>
                </a:r>
                <a:r>
                  <a:rPr lang="es-PE" sz="900" dirty="0">
                    <a:latin typeface="Segoe WPC"/>
                  </a:rPr>
                  <a:t> and </a:t>
                </a:r>
                <a:r>
                  <a:rPr lang="es-PE" sz="900" dirty="0" err="1">
                    <a:latin typeface="Segoe WPC"/>
                  </a:rPr>
                  <a:t>prediction</a:t>
                </a:r>
                <a:r>
                  <a:rPr lang="es-PE" sz="900" dirty="0">
                    <a:latin typeface="Segoe WPC"/>
                  </a:rPr>
                  <a:t> error.</a:t>
                </a:r>
                <a:br>
                  <a:rPr lang="es-PE" sz="900" dirty="0">
                    <a:latin typeface="Segoe WPC"/>
                  </a:rPr>
                </a:br>
                <a:r>
                  <a:rPr lang="es-PE" sz="900" b="1" dirty="0" err="1">
                    <a:latin typeface="Segoe WPC"/>
                  </a:rPr>
                  <a:t>Plain</a:t>
                </a:r>
                <a:r>
                  <a:rPr lang="es-PE" sz="900" b="1" dirty="0">
                    <a:latin typeface="Segoe WPC"/>
                  </a:rPr>
                  <a:t> </a:t>
                </a:r>
                <a:r>
                  <a:rPr lang="es-PE" sz="900" b="1" dirty="0" err="1">
                    <a:latin typeface="Segoe WPC"/>
                  </a:rPr>
                  <a:t>Intuition</a:t>
                </a:r>
                <a:r>
                  <a:rPr lang="es-PE" sz="900" b="1" dirty="0">
                    <a:latin typeface="Segoe WPC"/>
                  </a:rPr>
                  <a:t>:</a:t>
                </a:r>
                <a:r>
                  <a:rPr lang="es-PE" sz="900" dirty="0">
                    <a:latin typeface="Segoe WPC"/>
                  </a:rPr>
                  <a:t> ML can capture </a:t>
                </a:r>
                <a:r>
                  <a:rPr lang="es-PE" sz="900" dirty="0" err="1">
                    <a:latin typeface="Segoe WPC"/>
                  </a:rPr>
                  <a:t>nonlinearities</a:t>
                </a:r>
                <a:r>
                  <a:rPr lang="es-PE" sz="900" dirty="0">
                    <a:latin typeface="Segoe WPC"/>
                  </a:rPr>
                  <a:t> and </a:t>
                </a:r>
                <a:r>
                  <a:rPr lang="es-PE" sz="900" dirty="0" err="1">
                    <a:latin typeface="Segoe WPC"/>
                  </a:rPr>
                  <a:t>interactions</a:t>
                </a:r>
                <a:r>
                  <a:rPr lang="es-PE" sz="900" dirty="0">
                    <a:latin typeface="Segoe WPC"/>
                  </a:rPr>
                  <a:t> </a:t>
                </a:r>
                <a:r>
                  <a:rPr lang="es-PE" sz="900" dirty="0" err="1">
                    <a:latin typeface="Segoe WPC"/>
                  </a:rPr>
                  <a:t>that</a:t>
                </a:r>
                <a:r>
                  <a:rPr lang="es-PE" sz="900" dirty="0">
                    <a:latin typeface="Segoe WPC"/>
                  </a:rPr>
                  <a:t> linear </a:t>
                </a:r>
                <a:r>
                  <a:rPr lang="es-PE" sz="900" dirty="0" err="1">
                    <a:latin typeface="Segoe WPC"/>
                  </a:rPr>
                  <a:t>models</a:t>
                </a:r>
                <a:r>
                  <a:rPr lang="es-PE" sz="900" dirty="0">
                    <a:latin typeface="Segoe WPC"/>
                  </a:rPr>
                  <a:t> miss, </a:t>
                </a:r>
                <a:r>
                  <a:rPr lang="es-PE" sz="900" dirty="0" err="1">
                    <a:latin typeface="Segoe WPC"/>
                  </a:rPr>
                  <a:t>but</a:t>
                </a:r>
                <a:r>
                  <a:rPr lang="es-PE" sz="900" dirty="0">
                    <a:latin typeface="Segoe WPC"/>
                  </a:rPr>
                  <a:t> a </a:t>
                </a:r>
                <a:r>
                  <a:rPr lang="es-PE" sz="900" dirty="0" err="1">
                    <a:latin typeface="Segoe WPC"/>
                  </a:rPr>
                  <a:t>model</a:t>
                </a:r>
                <a:r>
                  <a:rPr lang="es-PE" sz="900" dirty="0">
                    <a:latin typeface="Segoe WPC"/>
                  </a:rPr>
                  <a:t> can be </a:t>
                </a:r>
                <a:r>
                  <a:rPr lang="es-PE" sz="900" dirty="0" err="1">
                    <a:latin typeface="Segoe WPC"/>
                  </a:rPr>
                  <a:t>too</a:t>
                </a:r>
                <a:r>
                  <a:rPr lang="es-PE" sz="900" dirty="0">
                    <a:latin typeface="Segoe WPC"/>
                  </a:rPr>
                  <a:t> simple </a:t>
                </a:r>
                <a:r>
                  <a:rPr lang="es-PE" sz="900" dirty="0" err="1">
                    <a:latin typeface="Segoe WPC"/>
                  </a:rPr>
                  <a:t>or</a:t>
                </a:r>
                <a:r>
                  <a:rPr lang="es-PE" sz="900" dirty="0">
                    <a:latin typeface="Segoe WPC"/>
                  </a:rPr>
                  <a:t> </a:t>
                </a:r>
                <a:r>
                  <a:rPr lang="es-PE" sz="900" dirty="0" err="1">
                    <a:latin typeface="Segoe WPC"/>
                  </a:rPr>
                  <a:t>too</a:t>
                </a:r>
                <a:r>
                  <a:rPr lang="es-PE" sz="900" dirty="0">
                    <a:latin typeface="Segoe WPC"/>
                  </a:rPr>
                  <a:t> </a:t>
                </a:r>
                <a:r>
                  <a:rPr lang="es-PE" sz="900" dirty="0" err="1">
                    <a:latin typeface="Segoe WPC"/>
                  </a:rPr>
                  <a:t>complex</a:t>
                </a:r>
                <a:r>
                  <a:rPr lang="es-PE" sz="900" dirty="0">
                    <a:latin typeface="Segoe WPC"/>
                  </a:rPr>
                  <a:t>. </a:t>
                </a:r>
                <a:r>
                  <a:rPr lang="es-PE" sz="900" dirty="0" err="1">
                    <a:latin typeface="Segoe WPC"/>
                  </a:rPr>
                  <a:t>Underfitting</a:t>
                </a:r>
                <a:r>
                  <a:rPr lang="es-PE" sz="900" dirty="0">
                    <a:latin typeface="Segoe WPC"/>
                  </a:rPr>
                  <a:t> </a:t>
                </a:r>
                <a:r>
                  <a:rPr lang="es-PE" sz="900" dirty="0" err="1">
                    <a:latin typeface="Segoe WPC"/>
                  </a:rPr>
                  <a:t>misses</a:t>
                </a:r>
                <a:r>
                  <a:rPr lang="es-PE" sz="900" dirty="0">
                    <a:latin typeface="Segoe WPC"/>
                  </a:rPr>
                  <a:t> real </a:t>
                </a:r>
                <a:r>
                  <a:rPr lang="es-PE" sz="900" dirty="0" err="1">
                    <a:latin typeface="Segoe WPC"/>
                  </a:rPr>
                  <a:t>patterns</a:t>
                </a:r>
                <a:r>
                  <a:rPr lang="es-PE" sz="900" dirty="0">
                    <a:latin typeface="Segoe WPC"/>
                  </a:rPr>
                  <a:t>; </a:t>
                </a:r>
                <a:r>
                  <a:rPr lang="es-PE" sz="900" dirty="0" err="1">
                    <a:latin typeface="Segoe WPC"/>
                  </a:rPr>
                  <a:t>overfitting</a:t>
                </a:r>
                <a:r>
                  <a:rPr lang="es-PE" sz="900" dirty="0">
                    <a:latin typeface="Segoe WPC"/>
                  </a:rPr>
                  <a:t> </a:t>
                </a:r>
                <a:r>
                  <a:rPr lang="es-PE" sz="900" dirty="0" err="1">
                    <a:latin typeface="Segoe WPC"/>
                  </a:rPr>
                  <a:t>learns</a:t>
                </a:r>
                <a:r>
                  <a:rPr lang="es-PE" sz="900" dirty="0">
                    <a:latin typeface="Segoe WPC"/>
                  </a:rPr>
                  <a:t> </a:t>
                </a:r>
                <a:r>
                  <a:rPr lang="es-PE" sz="900" dirty="0" err="1">
                    <a:latin typeface="Segoe WPC"/>
                  </a:rPr>
                  <a:t>noise</a:t>
                </a:r>
                <a:r>
                  <a:rPr lang="es-PE" sz="900" dirty="0">
                    <a:latin typeface="Segoe WPC"/>
                  </a:rPr>
                  <a:t>.</a:t>
                </a:r>
                <a:br>
                  <a:rPr lang="es-PE" sz="900" dirty="0">
                    <a:latin typeface="Segoe WPC"/>
                  </a:rPr>
                </a:br>
                <a:r>
                  <a:rPr lang="es-PE" sz="900" b="1" dirty="0">
                    <a:latin typeface="Segoe WPC"/>
                  </a:rPr>
                  <a:t>Visual </a:t>
                </a:r>
                <a:r>
                  <a:rPr lang="es-PE" sz="900" b="1" dirty="0" err="1">
                    <a:latin typeface="Segoe WPC"/>
                  </a:rPr>
                  <a:t>Intuition</a:t>
                </a:r>
                <a:r>
                  <a:rPr lang="es-PE" sz="900" b="1" dirty="0">
                    <a:latin typeface="Segoe WPC"/>
                  </a:rPr>
                  <a:t>:</a:t>
                </a:r>
                <a:r>
                  <a:rPr lang="es-PE" sz="900" dirty="0">
                    <a:latin typeface="Segoe WPC"/>
                  </a:rPr>
                  <a:t> A </a:t>
                </a:r>
                <a:r>
                  <a:rPr lang="es-PE" sz="900" dirty="0" err="1">
                    <a:latin typeface="Segoe WPC"/>
                  </a:rPr>
                  <a:t>straight</a:t>
                </a:r>
                <a:r>
                  <a:rPr lang="es-PE" sz="900" dirty="0">
                    <a:latin typeface="Segoe WPC"/>
                  </a:rPr>
                  <a:t> line </a:t>
                </a:r>
                <a:r>
                  <a:rPr lang="es-PE" sz="900" dirty="0" err="1">
                    <a:latin typeface="Segoe WPC"/>
                  </a:rPr>
                  <a:t>through</a:t>
                </a:r>
                <a:r>
                  <a:rPr lang="es-PE" sz="900" dirty="0">
                    <a:latin typeface="Segoe WPC"/>
                  </a:rPr>
                  <a:t> </a:t>
                </a:r>
                <a:r>
                  <a:rPr lang="es-PE" sz="900" dirty="0" err="1">
                    <a:latin typeface="Segoe WPC"/>
                  </a:rPr>
                  <a:t>curved</a:t>
                </a:r>
                <a:r>
                  <a:rPr lang="es-PE" sz="900" dirty="0">
                    <a:latin typeface="Segoe WPC"/>
                  </a:rPr>
                  <a:t> data </a:t>
                </a:r>
                <a:r>
                  <a:rPr lang="es-PE" sz="900" dirty="0" err="1">
                    <a:latin typeface="Segoe WPC"/>
                  </a:rPr>
                  <a:t>underfits</a:t>
                </a:r>
                <a:r>
                  <a:rPr lang="es-PE" sz="900" dirty="0">
                    <a:latin typeface="Segoe WPC"/>
                  </a:rPr>
                  <a:t>; a </a:t>
                </a:r>
                <a:r>
                  <a:rPr lang="es-PE" sz="900" dirty="0" err="1">
                    <a:latin typeface="Segoe WPC"/>
                  </a:rPr>
                  <a:t>wildly</a:t>
                </a:r>
                <a:r>
                  <a:rPr lang="es-PE" sz="900" dirty="0">
                    <a:latin typeface="Segoe WPC"/>
                  </a:rPr>
                  <a:t> </a:t>
                </a:r>
                <a:r>
                  <a:rPr lang="es-PE" sz="900" dirty="0" err="1">
                    <a:latin typeface="Segoe WPC"/>
                  </a:rPr>
                  <a:t>wiggly</a:t>
                </a:r>
                <a:r>
                  <a:rPr lang="es-PE" sz="900" dirty="0">
                    <a:latin typeface="Segoe WPC"/>
                  </a:rPr>
                  <a:t> curve </a:t>
                </a:r>
                <a:r>
                  <a:rPr lang="es-PE" sz="900" dirty="0" err="1">
                    <a:latin typeface="Segoe WPC"/>
                  </a:rPr>
                  <a:t>that</a:t>
                </a:r>
                <a:r>
                  <a:rPr lang="es-PE" sz="900" dirty="0">
                    <a:latin typeface="Segoe WPC"/>
                  </a:rPr>
                  <a:t> </a:t>
                </a:r>
                <a:r>
                  <a:rPr lang="es-PE" sz="900" dirty="0" err="1">
                    <a:latin typeface="Segoe WPC"/>
                  </a:rPr>
                  <a:t>passes</a:t>
                </a:r>
                <a:r>
                  <a:rPr lang="es-PE" sz="900" dirty="0">
                    <a:latin typeface="Segoe WPC"/>
                  </a:rPr>
                  <a:t> </a:t>
                </a:r>
                <a:r>
                  <a:rPr lang="es-PE" sz="900" dirty="0" err="1">
                    <a:latin typeface="Segoe WPC"/>
                  </a:rPr>
                  <a:t>through</a:t>
                </a:r>
                <a:r>
                  <a:rPr lang="es-PE" sz="900" dirty="0">
                    <a:latin typeface="Segoe WPC"/>
                  </a:rPr>
                  <a:t> </a:t>
                </a:r>
                <a:r>
                  <a:rPr lang="es-PE" sz="900" dirty="0" err="1">
                    <a:latin typeface="Segoe WPC"/>
                  </a:rPr>
                  <a:t>every</a:t>
                </a:r>
                <a:r>
                  <a:rPr lang="es-PE" sz="900" dirty="0">
                    <a:latin typeface="Segoe WPC"/>
                  </a:rPr>
                  <a:t> </a:t>
                </a:r>
                <a:r>
                  <a:rPr lang="es-PE" sz="900" dirty="0" err="1">
                    <a:latin typeface="Segoe WPC"/>
                  </a:rPr>
                  <a:t>point</a:t>
                </a:r>
                <a:r>
                  <a:rPr lang="es-PE" sz="900" dirty="0">
                    <a:latin typeface="Segoe WPC"/>
                  </a:rPr>
                  <a:t> </a:t>
                </a:r>
                <a:r>
                  <a:rPr lang="es-PE" sz="900" dirty="0" err="1">
                    <a:latin typeface="Segoe WPC"/>
                  </a:rPr>
                  <a:t>overfits</a:t>
                </a:r>
                <a:r>
                  <a:rPr lang="es-PE" sz="900" dirty="0">
                    <a:latin typeface="Segoe WPC"/>
                  </a:rPr>
                  <a:t>.</a:t>
                </a:r>
                <a:br>
                  <a:rPr lang="es-PE" sz="900" dirty="0">
                    <a:latin typeface="Segoe WPC"/>
                  </a:rPr>
                </a:br>
                <a:r>
                  <a:rPr lang="es-PE" sz="900" b="1" dirty="0">
                    <a:latin typeface="Segoe WPC"/>
                  </a:rPr>
                  <a:t>Key Formula:</a:t>
                </a:r>
                <a:r>
                  <a:rPr lang="es-PE" sz="900" dirty="0">
                    <a:latin typeface="Segoe WPC"/>
                  </a:rPr>
                  <a:t> </a:t>
                </a:r>
                <a:r>
                  <a:rPr lang="es-PE" sz="900" dirty="0" err="1">
                    <a:latin typeface="Segoe WPC"/>
                  </a:rPr>
                  <a:t>Prediction</a:t>
                </a:r>
                <a:r>
                  <a:rPr lang="es-PE" sz="900" dirty="0">
                    <a:latin typeface="Segoe WPC"/>
                  </a:rPr>
                  <a:t> error </a:t>
                </a:r>
                <a:r>
                  <a:rPr lang="es-PE" sz="900" dirty="0" err="1">
                    <a:latin typeface="Segoe WPC"/>
                  </a:rPr>
                  <a:t>reflects</a:t>
                </a:r>
                <a:r>
                  <a:rPr lang="es-PE" sz="900" dirty="0">
                    <a:latin typeface="Segoe WPC"/>
                  </a:rPr>
                  <a:t> </a:t>
                </a:r>
                <a:r>
                  <a:rPr lang="es-PE" sz="900" dirty="0" err="1">
                    <a:latin typeface="Segoe WPC"/>
                  </a:rPr>
                  <a:t>the</a:t>
                </a:r>
                <a:r>
                  <a:rPr lang="es-PE" sz="900" dirty="0">
                    <a:latin typeface="Segoe WPC"/>
                  </a:rPr>
                  <a:t> </a:t>
                </a:r>
                <a:r>
                  <a:rPr lang="es-PE" sz="900" dirty="0" err="1">
                    <a:latin typeface="Segoe WPC"/>
                  </a:rPr>
                  <a:t>bias-variance</a:t>
                </a:r>
                <a:r>
                  <a:rPr lang="es-PE" sz="900" dirty="0">
                    <a:latin typeface="Segoe WPC"/>
                  </a:rPr>
                  <a:t> </a:t>
                </a:r>
                <a:r>
                  <a:rPr lang="es-PE" sz="900" dirty="0" err="1">
                    <a:latin typeface="Segoe WPC"/>
                  </a:rPr>
                  <a:t>tradeoff</a:t>
                </a:r>
                <a:r>
                  <a:rPr lang="es-PE" sz="900" dirty="0">
                    <a:latin typeface="Segoe WPC"/>
                  </a:rPr>
                  <a:t>: </a:t>
                </a:r>
                <a:r>
                  <a:rPr lang="es-PE" sz="900" dirty="0" err="1">
                    <a:latin typeface="Segoe WPC"/>
                  </a:rPr>
                  <a:t>underfitting</a:t>
                </a:r>
                <a:r>
                  <a:rPr lang="es-PE" sz="900" dirty="0">
                    <a:latin typeface="Segoe WPC"/>
                  </a:rPr>
                  <a:t> </a:t>
                </a:r>
                <a:r>
                  <a:rPr lang="es-PE" sz="900" dirty="0" err="1">
                    <a:latin typeface="Segoe WPC"/>
                  </a:rPr>
                  <a:t>implies</a:t>
                </a:r>
                <a:r>
                  <a:rPr lang="es-PE" sz="900" dirty="0">
                    <a:latin typeface="Segoe WPC"/>
                  </a:rPr>
                  <a:t> </a:t>
                </a:r>
                <a:r>
                  <a:rPr lang="es-PE" sz="900" dirty="0" err="1">
                    <a:latin typeface="Segoe WPC"/>
                  </a:rPr>
                  <a:t>high</a:t>
                </a:r>
                <a:r>
                  <a:rPr lang="es-PE" sz="900" dirty="0">
                    <a:latin typeface="Segoe WPC"/>
                  </a:rPr>
                  <a:t> </a:t>
                </a:r>
                <a:r>
                  <a:rPr lang="es-PE" sz="900" dirty="0" err="1">
                    <a:latin typeface="Segoe WPC"/>
                  </a:rPr>
                  <a:t>bias</a:t>
                </a:r>
                <a:r>
                  <a:rPr lang="es-PE" sz="900" dirty="0">
                    <a:latin typeface="Segoe WPC"/>
                  </a:rPr>
                  <a:t> and </a:t>
                </a:r>
                <a:r>
                  <a:rPr lang="es-PE" sz="900" dirty="0" err="1">
                    <a:latin typeface="Segoe WPC"/>
                  </a:rPr>
                  <a:t>low</a:t>
                </a:r>
                <a:r>
                  <a:rPr lang="es-PE" sz="900" dirty="0">
                    <a:latin typeface="Segoe WPC"/>
                  </a:rPr>
                  <a:t> </a:t>
                </a:r>
                <a:r>
                  <a:rPr lang="es-PE" sz="900" dirty="0" err="1">
                    <a:latin typeface="Segoe WPC"/>
                  </a:rPr>
                  <a:t>variance</a:t>
                </a:r>
                <a:r>
                  <a:rPr lang="es-PE" sz="900" dirty="0">
                    <a:latin typeface="Segoe WPC"/>
                  </a:rPr>
                  <a:t>, </a:t>
                </a:r>
                <a:r>
                  <a:rPr lang="es-PE" sz="900" dirty="0" err="1">
                    <a:latin typeface="Segoe WPC"/>
                  </a:rPr>
                  <a:t>overfitting</a:t>
                </a:r>
                <a:r>
                  <a:rPr lang="es-PE" sz="900" dirty="0">
                    <a:latin typeface="Segoe WPC"/>
                  </a:rPr>
                  <a:t> </a:t>
                </a:r>
                <a:r>
                  <a:rPr lang="es-PE" sz="900" dirty="0" err="1">
                    <a:latin typeface="Segoe WPC"/>
                  </a:rPr>
                  <a:t>implies</a:t>
                </a:r>
                <a:r>
                  <a:rPr lang="es-PE" sz="900" dirty="0">
                    <a:latin typeface="Segoe WPC"/>
                  </a:rPr>
                  <a:t> </a:t>
                </a:r>
                <a:r>
                  <a:rPr lang="es-PE" sz="900" dirty="0" err="1">
                    <a:latin typeface="Segoe WPC"/>
                  </a:rPr>
                  <a:t>low</a:t>
                </a:r>
                <a:r>
                  <a:rPr lang="es-PE" sz="900" dirty="0">
                    <a:latin typeface="Segoe WPC"/>
                  </a:rPr>
                  <a:t> </a:t>
                </a:r>
                <a:r>
                  <a:rPr lang="es-PE" sz="900" dirty="0" err="1">
                    <a:latin typeface="Segoe WPC"/>
                  </a:rPr>
                  <a:t>bias</a:t>
                </a:r>
                <a:r>
                  <a:rPr lang="es-PE" sz="900" dirty="0">
                    <a:latin typeface="Segoe WPC"/>
                  </a:rPr>
                  <a:t> and </a:t>
                </a:r>
                <a:r>
                  <a:rPr lang="es-PE" sz="900" dirty="0" err="1">
                    <a:latin typeface="Segoe WPC"/>
                  </a:rPr>
                  <a:t>high</a:t>
                </a:r>
                <a:r>
                  <a:rPr lang="es-PE" sz="900" dirty="0">
                    <a:latin typeface="Segoe WPC"/>
                  </a:rPr>
                  <a:t> </a:t>
                </a:r>
                <a:r>
                  <a:rPr lang="es-PE" sz="900" dirty="0" err="1">
                    <a:latin typeface="Segoe WPC"/>
                  </a:rPr>
                  <a:t>variance</a:t>
                </a:r>
                <a:r>
                  <a:rPr lang="es-PE" sz="900" dirty="0">
                    <a:latin typeface="Segoe WPC"/>
                  </a:rPr>
                  <a:t>.</a:t>
                </a:r>
                <a:br>
                  <a:rPr lang="es-PE" sz="900" dirty="0">
                    <a:latin typeface="Segoe WPC"/>
                  </a:rPr>
                </a:br>
                <a:r>
                  <a:rPr lang="es-PE" sz="900" b="1" dirty="0" err="1">
                    <a:latin typeface="Segoe WPC"/>
                  </a:rPr>
                  <a:t>Interpretation</a:t>
                </a:r>
                <a:r>
                  <a:rPr lang="es-PE" sz="900" b="1" dirty="0">
                    <a:latin typeface="Segoe WPC"/>
                  </a:rPr>
                  <a:t>:</a:t>
                </a:r>
                <a:r>
                  <a:rPr lang="es-PE" sz="900" dirty="0">
                    <a:latin typeface="Segoe WPC"/>
                  </a:rPr>
                  <a:t> </a:t>
                </a:r>
                <a:r>
                  <a:rPr lang="es-PE" sz="900" dirty="0" err="1">
                    <a:latin typeface="Segoe WPC"/>
                  </a:rPr>
                  <a:t>The</a:t>
                </a:r>
                <a:r>
                  <a:rPr lang="es-PE" sz="900" dirty="0">
                    <a:latin typeface="Segoe WPC"/>
                  </a:rPr>
                  <a:t> </a:t>
                </a:r>
                <a:r>
                  <a:rPr lang="es-PE" sz="900" dirty="0" err="1">
                    <a:latin typeface="Segoe WPC"/>
                  </a:rPr>
                  <a:t>best</a:t>
                </a:r>
                <a:r>
                  <a:rPr lang="es-PE" sz="900" dirty="0">
                    <a:latin typeface="Segoe WPC"/>
                  </a:rPr>
                  <a:t> </a:t>
                </a:r>
                <a:r>
                  <a:rPr lang="es-PE" sz="900" dirty="0" err="1">
                    <a:latin typeface="Segoe WPC"/>
                  </a:rPr>
                  <a:t>model</a:t>
                </a:r>
                <a:r>
                  <a:rPr lang="es-PE" sz="900" dirty="0">
                    <a:latin typeface="Segoe WPC"/>
                  </a:rPr>
                  <a:t> balances </a:t>
                </a:r>
                <a:r>
                  <a:rPr lang="es-PE" sz="900" dirty="0" err="1">
                    <a:latin typeface="Segoe WPC"/>
                  </a:rPr>
                  <a:t>flexibility</a:t>
                </a:r>
                <a:r>
                  <a:rPr lang="es-PE" sz="900" dirty="0">
                    <a:latin typeface="Segoe WPC"/>
                  </a:rPr>
                  <a:t> and </a:t>
                </a:r>
                <a:r>
                  <a:rPr lang="es-PE" sz="900" dirty="0" err="1">
                    <a:latin typeface="Segoe WPC"/>
                  </a:rPr>
                  <a:t>generalization</a:t>
                </a:r>
                <a:r>
                  <a:rPr lang="es-PE" sz="900" dirty="0">
                    <a:latin typeface="Segoe WPC"/>
                  </a:rPr>
                  <a:t>. ML </a:t>
                </a:r>
                <a:r>
                  <a:rPr lang="es-PE" sz="900" dirty="0" err="1">
                    <a:latin typeface="Segoe WPC"/>
                  </a:rPr>
                  <a:t>evaluates</a:t>
                </a:r>
                <a:r>
                  <a:rPr lang="es-PE" sz="900" dirty="0">
                    <a:latin typeface="Segoe WPC"/>
                  </a:rPr>
                  <a:t> </a:t>
                </a:r>
                <a:r>
                  <a:rPr lang="es-PE" sz="900" dirty="0" err="1">
                    <a:latin typeface="Segoe WPC"/>
                  </a:rPr>
                  <a:t>models</a:t>
                </a:r>
                <a:r>
                  <a:rPr lang="es-PE" sz="900" dirty="0">
                    <a:latin typeface="Segoe WPC"/>
                  </a:rPr>
                  <a:t> </a:t>
                </a:r>
                <a:r>
                  <a:rPr lang="es-PE" sz="900" dirty="0" err="1">
                    <a:latin typeface="Segoe WPC"/>
                  </a:rPr>
                  <a:t>mainly</a:t>
                </a:r>
                <a:r>
                  <a:rPr lang="es-PE" sz="900" dirty="0">
                    <a:latin typeface="Segoe WPC"/>
                  </a:rPr>
                  <a:t> </a:t>
                </a:r>
                <a:r>
                  <a:rPr lang="es-PE" sz="900" dirty="0" err="1">
                    <a:latin typeface="Segoe WPC"/>
                  </a:rPr>
                  <a:t>by</a:t>
                </a:r>
                <a:r>
                  <a:rPr lang="es-PE" sz="900" dirty="0">
                    <a:latin typeface="Segoe WPC"/>
                  </a:rPr>
                  <a:t> predictive performance </a:t>
                </a:r>
                <a:r>
                  <a:rPr lang="es-PE" sz="900" dirty="0" err="1">
                    <a:latin typeface="Segoe WPC"/>
                  </a:rPr>
                  <a:t>rather</a:t>
                </a:r>
                <a:r>
                  <a:rPr lang="es-PE" sz="900" dirty="0">
                    <a:latin typeface="Segoe WPC"/>
                  </a:rPr>
                  <a:t> </a:t>
                </a:r>
                <a:r>
                  <a:rPr lang="es-PE" sz="900" dirty="0" err="1">
                    <a:latin typeface="Segoe WPC"/>
                  </a:rPr>
                  <a:t>than</a:t>
                </a:r>
                <a:r>
                  <a:rPr lang="es-PE" sz="900" dirty="0">
                    <a:latin typeface="Segoe WPC"/>
                  </a:rPr>
                  <a:t> </a:t>
                </a:r>
                <a14:m>
                  <m:oMath xmlns:m="http://schemas.openxmlformats.org/officeDocument/2006/math">
                    <m:r>
                      <a:rPr lang="es-PE" sz="900" i="1">
                        <a:latin typeface="Cambria Math" panose="02040503050406030204" pitchFamily="18" charset="0"/>
                      </a:rPr>
                      <m:t>𝑡</m:t>
                    </m:r>
                  </m:oMath>
                </a14:m>
                <a:r>
                  <a:rPr lang="es-PE" sz="900" dirty="0">
                    <a:latin typeface="Segoe WPC"/>
                  </a:rPr>
                  <a:t>-</a:t>
                </a:r>
                <a:r>
                  <a:rPr lang="es-PE" sz="900" dirty="0" err="1">
                    <a:latin typeface="Segoe WPC"/>
                  </a:rPr>
                  <a:t>tests</a:t>
                </a:r>
                <a:r>
                  <a:rPr lang="es-PE" sz="900" dirty="0">
                    <a:latin typeface="Segoe WPC"/>
                  </a:rPr>
                  <a:t>, </a:t>
                </a:r>
                <a14:m>
                  <m:oMath xmlns:m="http://schemas.openxmlformats.org/officeDocument/2006/math">
                    <m:sSup>
                      <m:sSupPr>
                        <m:ctrlPr>
                          <a:rPr lang="ar-AE" sz="900" i="1">
                            <a:latin typeface="Cambria Math" panose="02040503050406030204" pitchFamily="18" charset="0"/>
                          </a:rPr>
                        </m:ctrlPr>
                      </m:sSupPr>
                      <m:e>
                        <m:r>
                          <a:rPr lang="ar-AE" sz="900" i="1">
                            <a:latin typeface="Cambria Math" panose="02040503050406030204" pitchFamily="18" charset="0"/>
                          </a:rPr>
                          <m:t>𝑅</m:t>
                        </m:r>
                      </m:e>
                      <m:sup>
                        <m:r>
                          <a:rPr lang="ar-AE" sz="900">
                            <a:latin typeface="Cambria Math" panose="02040503050406030204" pitchFamily="18" charset="0"/>
                          </a:rPr>
                          <m:t>2</m:t>
                        </m:r>
                      </m:sup>
                    </m:sSup>
                  </m:oMath>
                </a14:m>
                <a:r>
                  <a:rPr lang="ar-AE" sz="900" dirty="0">
                    <a:latin typeface="Segoe WPC"/>
                  </a:rPr>
                  <a:t>, </a:t>
                </a:r>
                <a:r>
                  <a:rPr lang="es-PE" sz="900" dirty="0" err="1">
                    <a:latin typeface="Segoe WPC"/>
                  </a:rPr>
                  <a:t>or</a:t>
                </a:r>
                <a:r>
                  <a:rPr lang="es-PE" sz="900" dirty="0">
                    <a:latin typeface="Segoe WPC"/>
                  </a:rPr>
                  <a:t> </a:t>
                </a:r>
                <a:r>
                  <a:rPr lang="es-PE" sz="900" dirty="0" err="1">
                    <a:latin typeface="Segoe WPC"/>
                  </a:rPr>
                  <a:t>classical</a:t>
                </a:r>
                <a:r>
                  <a:rPr lang="es-PE" sz="900" dirty="0">
                    <a:latin typeface="Segoe WPC"/>
                  </a:rPr>
                  <a:t> </a:t>
                </a:r>
                <a:r>
                  <a:rPr lang="es-PE" sz="900" dirty="0" err="1">
                    <a:latin typeface="Segoe WPC"/>
                  </a:rPr>
                  <a:t>diagnostics</a:t>
                </a:r>
                <a:r>
                  <a:rPr lang="es-PE" sz="900" dirty="0">
                    <a:latin typeface="Segoe WPC"/>
                  </a:rPr>
                  <a:t>.</a:t>
                </a:r>
                <a:br>
                  <a:rPr lang="es-PE" sz="900" dirty="0">
                    <a:latin typeface="Segoe WPC"/>
                  </a:rPr>
                </a:br>
                <a:r>
                  <a:rPr lang="es-PE" sz="900" b="1" dirty="0" err="1">
                    <a:latin typeface="Segoe WPC"/>
                  </a:rPr>
                  <a:t>Exam</a:t>
                </a:r>
                <a:r>
                  <a:rPr lang="es-PE" sz="900" b="1" dirty="0">
                    <a:latin typeface="Segoe WPC"/>
                  </a:rPr>
                  <a:t> </a:t>
                </a:r>
                <a:r>
                  <a:rPr lang="es-PE" sz="900" b="1" dirty="0" err="1">
                    <a:latin typeface="Segoe WPC"/>
                  </a:rPr>
                  <a:t>Trap</a:t>
                </a:r>
                <a:r>
                  <a:rPr lang="es-PE" sz="900" b="1" dirty="0">
                    <a:latin typeface="Segoe WPC"/>
                  </a:rPr>
                  <a:t>:</a:t>
                </a:r>
                <a:r>
                  <a:rPr lang="es-PE" sz="900" dirty="0">
                    <a:latin typeface="Segoe WPC"/>
                  </a:rPr>
                  <a:t> </a:t>
                </a:r>
                <a:r>
                  <a:rPr lang="es-PE" sz="900" dirty="0" err="1">
                    <a:latin typeface="Segoe WPC"/>
                  </a:rPr>
                  <a:t>Very</a:t>
                </a:r>
                <a:r>
                  <a:rPr lang="es-PE" sz="900" dirty="0">
                    <a:latin typeface="Segoe WPC"/>
                  </a:rPr>
                  <a:t> </a:t>
                </a:r>
                <a:r>
                  <a:rPr lang="es-PE" sz="900" dirty="0" err="1">
                    <a:latin typeface="Segoe WPC"/>
                  </a:rPr>
                  <a:t>low</a:t>
                </a:r>
                <a:r>
                  <a:rPr lang="es-PE" sz="900" dirty="0">
                    <a:latin typeface="Segoe WPC"/>
                  </a:rPr>
                  <a:t> training error </a:t>
                </a:r>
                <a:r>
                  <a:rPr lang="es-PE" sz="900" dirty="0" err="1">
                    <a:latin typeface="Segoe WPC"/>
                  </a:rPr>
                  <a:t>is</a:t>
                </a:r>
                <a:r>
                  <a:rPr lang="es-PE" sz="900" dirty="0">
                    <a:latin typeface="Segoe WPC"/>
                  </a:rPr>
                  <a:t> </a:t>
                </a:r>
                <a:r>
                  <a:rPr lang="es-PE" sz="900" dirty="0" err="1">
                    <a:latin typeface="Segoe WPC"/>
                  </a:rPr>
                  <a:t>often</a:t>
                </a:r>
                <a:r>
                  <a:rPr lang="es-PE" sz="900" dirty="0">
                    <a:latin typeface="Segoe WPC"/>
                  </a:rPr>
                  <a:t> a </a:t>
                </a:r>
                <a:r>
                  <a:rPr lang="es-PE" sz="900" dirty="0" err="1">
                    <a:latin typeface="Segoe WPC"/>
                  </a:rPr>
                  <a:t>sign</a:t>
                </a:r>
                <a:r>
                  <a:rPr lang="es-PE" sz="900" dirty="0">
                    <a:latin typeface="Segoe WPC"/>
                  </a:rPr>
                  <a:t> </a:t>
                </a:r>
                <a:r>
                  <a:rPr lang="es-PE" sz="900" dirty="0" err="1">
                    <a:latin typeface="Segoe WPC"/>
                  </a:rPr>
                  <a:t>of</a:t>
                </a:r>
                <a:r>
                  <a:rPr lang="es-PE" sz="900" dirty="0">
                    <a:latin typeface="Segoe WPC"/>
                  </a:rPr>
                  <a:t> </a:t>
                </a:r>
                <a:r>
                  <a:rPr lang="es-PE" sz="900" dirty="0" err="1">
                    <a:latin typeface="Segoe WPC"/>
                  </a:rPr>
                  <a:t>overfitting</a:t>
                </a:r>
                <a:r>
                  <a:rPr lang="es-PE" sz="900" dirty="0">
                    <a:latin typeface="Segoe WPC"/>
                  </a:rPr>
                  <a:t>, </a:t>
                </a:r>
                <a:r>
                  <a:rPr lang="es-PE" sz="900" dirty="0" err="1">
                    <a:latin typeface="Segoe WPC"/>
                  </a:rPr>
                  <a:t>not</a:t>
                </a:r>
                <a:r>
                  <a:rPr lang="es-PE" sz="900" dirty="0">
                    <a:latin typeface="Segoe WPC"/>
                  </a:rPr>
                  <a:t> </a:t>
                </a:r>
                <a:r>
                  <a:rPr lang="es-PE" sz="900" dirty="0" err="1">
                    <a:latin typeface="Segoe WPC"/>
                  </a:rPr>
                  <a:t>model</a:t>
                </a:r>
                <a:r>
                  <a:rPr lang="es-PE" sz="900" dirty="0">
                    <a:latin typeface="Segoe WPC"/>
                  </a:rPr>
                  <a:t> </a:t>
                </a:r>
                <a:r>
                  <a:rPr lang="es-PE" sz="900" dirty="0" err="1">
                    <a:latin typeface="Segoe WPC"/>
                  </a:rPr>
                  <a:t>quality</a:t>
                </a:r>
                <a:r>
                  <a:rPr lang="es-PE" sz="900" dirty="0">
                    <a:latin typeface="Segoe WPC"/>
                  </a:rPr>
                  <a:t>.</a:t>
                </a:r>
              </a:p>
              <a:p>
                <a:endParaRPr lang="en-US" sz="900" b="1" i="0" dirty="0">
                  <a:solidFill>
                    <a:schemeClr val="tx1"/>
                  </a:solidFill>
                  <a:effectLst/>
                  <a:latin typeface="Segoe WPC"/>
                </a:endParaRPr>
              </a:p>
              <a:p>
                <a:r>
                  <a:rPr lang="en-US" sz="900" b="1" i="0" dirty="0">
                    <a:solidFill>
                      <a:schemeClr val="tx1"/>
                    </a:solidFill>
                    <a:effectLst/>
                    <a:latin typeface="Segoe WPC"/>
                  </a:rPr>
                  <a:t>6. Training, Validation, Test Sets, and Cross-Validation</a:t>
                </a:r>
                <a:br>
                  <a:rPr lang="en-US" sz="900" dirty="0">
                    <a:solidFill>
                      <a:schemeClr val="tx1"/>
                    </a:solidFill>
                  </a:rPr>
                </a:br>
                <a:r>
                  <a:rPr lang="en-US" sz="900" b="1" i="0" dirty="0">
                    <a:solidFill>
                      <a:schemeClr val="tx1"/>
                    </a:solidFill>
                    <a:effectLst/>
                    <a:latin typeface="Segoe WPC"/>
                  </a:rPr>
                  <a:t>Statistical Object:</a:t>
                </a:r>
                <a:r>
                  <a:rPr lang="en-US" sz="900" b="0" i="0" dirty="0">
                    <a:solidFill>
                      <a:schemeClr val="tx1"/>
                    </a:solidFill>
                    <a:effectLst/>
                    <a:latin typeface="Segoe WPC"/>
                  </a:rPr>
                  <a:t> Sample splitting for model estimation, tuning, and final evaluation.</a:t>
                </a:r>
                <a:br>
                  <a:rPr lang="en-US" sz="900" dirty="0">
                    <a:solidFill>
                      <a:schemeClr val="tx1"/>
                    </a:solidFill>
                  </a:rPr>
                </a:br>
                <a:r>
                  <a:rPr lang="en-US" sz="900" b="1" i="0" dirty="0">
                    <a:solidFill>
                      <a:schemeClr val="tx1"/>
                    </a:solidFill>
                    <a:effectLst/>
                    <a:latin typeface="Segoe WPC"/>
                  </a:rPr>
                  <a:t>Plain Intuition:</a:t>
                </a:r>
                <a:r>
                  <a:rPr lang="en-US" sz="900" b="0" i="0" dirty="0">
                    <a:solidFill>
                      <a:schemeClr val="tx1"/>
                    </a:solidFill>
                    <a:effectLst/>
                    <a:latin typeface="Segoe WPC"/>
                  </a:rPr>
                  <a:t> Train on one sample, choose among competing models on another, and assess final performance on a third untouched sample.</a:t>
                </a:r>
                <a:br>
                  <a:rPr lang="en-US" sz="900" dirty="0">
                    <a:solidFill>
                      <a:schemeClr val="tx1"/>
                    </a:solidFill>
                  </a:rPr>
                </a:br>
                <a:r>
                  <a:rPr lang="en-US" sz="900" b="1" i="0" dirty="0">
                    <a:solidFill>
                      <a:schemeClr val="tx1"/>
                    </a:solidFill>
                    <a:effectLst/>
                    <a:latin typeface="Segoe WPC"/>
                  </a:rPr>
                  <a:t>Visual Intuition:</a:t>
                </a:r>
                <a:r>
                  <a:rPr lang="en-US" sz="900" b="0" i="0" dirty="0">
                    <a:solidFill>
                      <a:schemeClr val="tx1"/>
                    </a:solidFill>
                    <a:effectLst/>
                    <a:latin typeface="Segoe WPC"/>
                  </a:rPr>
                  <a:t> Learn, tune, and only then perform the final exam on unseen data.</a:t>
                </a:r>
                <a:br>
                  <a:rPr lang="en-US" sz="900" dirty="0">
                    <a:solidFill>
                      <a:schemeClr val="tx1"/>
                    </a:solidFill>
                  </a:rPr>
                </a:br>
                <a:r>
                  <a:rPr lang="en-US" sz="900" b="1" i="0" dirty="0">
                    <a:solidFill>
                      <a:schemeClr val="tx1"/>
                    </a:solidFill>
                    <a:effectLst/>
                    <a:latin typeface="Segoe WPC"/>
                  </a:rPr>
                  <a:t>Key Formula:</a:t>
                </a:r>
                <a:r>
                  <a:rPr lang="en-US" sz="900" b="0" i="0" dirty="0">
                    <a:solidFill>
                      <a:schemeClr val="tx1"/>
                    </a:solidFill>
                    <a:effectLst/>
                    <a:latin typeface="Segoe WPC"/>
                  </a:rPr>
                  <a:t> A common split is about two-thirds training and one-third divided between validation and test. In </a:t>
                </a:r>
                <a14:m>
                  <m:oMath xmlns:m="http://schemas.openxmlformats.org/officeDocument/2006/math">
                    <m:r>
                      <a:rPr lang="en-US" sz="900" i="1">
                        <a:solidFill>
                          <a:schemeClr val="tx1"/>
                        </a:solidFill>
                        <a:latin typeface="Cambria Math" panose="02040503050406030204" pitchFamily="18" charset="0"/>
                      </a:rPr>
                      <m:t>𝑘</m:t>
                    </m:r>
                  </m:oMath>
                </a14:m>
                <a:r>
                  <a:rPr lang="en-US" sz="900" b="0" i="0" dirty="0">
                    <a:solidFill>
                      <a:schemeClr val="tx1"/>
                    </a:solidFill>
                    <a:effectLst/>
                    <a:latin typeface="Segoe WPC"/>
                  </a:rPr>
                  <a:t>-fold cross-validation, the combined training/validation data are partitioned into </a:t>
                </a:r>
                <a14:m>
                  <m:oMath xmlns:m="http://schemas.openxmlformats.org/officeDocument/2006/math">
                    <m:r>
                      <a:rPr lang="en-US" sz="900" i="1">
                        <a:solidFill>
                          <a:schemeClr val="tx1"/>
                        </a:solidFill>
                        <a:latin typeface="Cambria Math" panose="02040503050406030204" pitchFamily="18" charset="0"/>
                      </a:rPr>
                      <m:t>𝑘</m:t>
                    </m:r>
                  </m:oMath>
                </a14:m>
                <a:r>
                  <a:rPr lang="en-US" sz="900" b="0" i="0" dirty="0">
                    <a:solidFill>
                      <a:schemeClr val="tx1"/>
                    </a:solidFill>
                    <a:effectLst/>
                    <a:latin typeface="Segoe WPC"/>
                  </a:rPr>
                  <a:t> folds, each omitted once and performance averaged.</a:t>
                </a:r>
                <a:br>
                  <a:rPr lang="en-US" sz="900" dirty="0">
                    <a:solidFill>
                      <a:schemeClr val="tx1"/>
                    </a:solidFill>
                  </a:rPr>
                </a:br>
                <a:r>
                  <a:rPr lang="en-US" sz="900" b="1" i="0" dirty="0">
                    <a:solidFill>
                      <a:schemeClr val="tx1"/>
                    </a:solidFill>
                    <a:effectLst/>
                    <a:latin typeface="Segoe WPC"/>
                  </a:rPr>
                  <a:t>Interpretation:</a:t>
                </a:r>
                <a:r>
                  <a:rPr lang="en-US" sz="900" b="0" i="0" dirty="0">
                    <a:solidFill>
                      <a:schemeClr val="tx1"/>
                    </a:solidFill>
                    <a:effectLst/>
                    <a:latin typeface="Segoe WPC"/>
                  </a:rPr>
                  <a:t> Training estimates the model, validation selects the best specification, and test measures true out-of-sample generalization. For time series, training usually comes first, then validation, then the most recent test data. Cross-validation is useful when data are limited; common choices are </a:t>
                </a:r>
                <a14:m>
                  <m:oMath xmlns:m="http://schemas.openxmlformats.org/officeDocument/2006/math">
                    <m:r>
                      <a:rPr lang="en-US" sz="900" i="1">
                        <a:solidFill>
                          <a:schemeClr val="tx1"/>
                        </a:solidFill>
                        <a:latin typeface="Cambria Math" panose="02040503050406030204" pitchFamily="18" charset="0"/>
                      </a:rPr>
                      <m:t>𝑘</m:t>
                    </m:r>
                    <m:r>
                      <a:rPr lang="en-US" sz="900" i="0">
                        <a:solidFill>
                          <a:schemeClr val="tx1"/>
                        </a:solidFill>
                        <a:latin typeface="Cambria Math" panose="02040503050406030204" pitchFamily="18" charset="0"/>
                      </a:rPr>
                      <m:t>=</m:t>
                    </m:r>
                    <m:r>
                      <a:rPr lang="en-US" sz="900" i="0">
                        <a:solidFill>
                          <a:schemeClr val="tx1"/>
                        </a:solidFill>
                        <a:latin typeface="Cambria Math" panose="02040503050406030204" pitchFamily="18" charset="0"/>
                      </a:rPr>
                      <m:t>5</m:t>
                    </m:r>
                  </m:oMath>
                </a14:m>
                <a:r>
                  <a:rPr lang="en-US" sz="900" b="0" i="0" dirty="0">
                    <a:solidFill>
                      <a:schemeClr val="tx1"/>
                    </a:solidFill>
                    <a:effectLst/>
                    <a:latin typeface="Segoe WPC"/>
                  </a:rPr>
                  <a:t> or </a:t>
                </a:r>
                <a14:m>
                  <m:oMath xmlns:m="http://schemas.openxmlformats.org/officeDocument/2006/math">
                    <m:r>
                      <a:rPr lang="en-US" sz="900">
                        <a:solidFill>
                          <a:schemeClr val="tx1"/>
                        </a:solidFill>
                        <a:latin typeface="Cambria Math" panose="02040503050406030204" pitchFamily="18" charset="0"/>
                      </a:rPr>
                      <m:t>10</m:t>
                    </m:r>
                  </m:oMath>
                </a14:m>
                <a:r>
                  <a:rPr lang="en-US" sz="900" b="0" i="0" dirty="0">
                    <a:solidFill>
                      <a:schemeClr val="tx1"/>
                    </a:solidFill>
                    <a:effectLst/>
                    <a:latin typeface="Segoe WPC"/>
                  </a:rPr>
                  <a:t>, with leave-one-out at </a:t>
                </a:r>
                <a14:m>
                  <m:oMath xmlns:m="http://schemas.openxmlformats.org/officeDocument/2006/math">
                    <m:r>
                      <a:rPr lang="en-US" sz="900" i="1">
                        <a:solidFill>
                          <a:schemeClr val="tx1"/>
                        </a:solidFill>
                        <a:latin typeface="Cambria Math" panose="02040503050406030204" pitchFamily="18" charset="0"/>
                      </a:rPr>
                      <m:t>𝑘</m:t>
                    </m:r>
                    <m:r>
                      <a:rPr lang="en-US" sz="900" i="0">
                        <a:solidFill>
                          <a:schemeClr val="tx1"/>
                        </a:solidFill>
                        <a:latin typeface="Cambria Math" panose="02040503050406030204" pitchFamily="18" charset="0"/>
                      </a:rPr>
                      <m:t>=</m:t>
                    </m:r>
                    <m:r>
                      <a:rPr lang="en-US" sz="900" i="1">
                        <a:solidFill>
                          <a:schemeClr val="tx1"/>
                        </a:solidFill>
                        <a:latin typeface="Cambria Math" panose="02040503050406030204" pitchFamily="18" charset="0"/>
                      </a:rPr>
                      <m:t>𝑛</m:t>
                    </m:r>
                  </m:oMath>
                </a14:m>
                <a:r>
                  <a:rPr lang="en-US" sz="900" b="0" i="0" dirty="0">
                    <a:solidFill>
                      <a:schemeClr val="tx1"/>
                    </a:solidFill>
                    <a:effectLst/>
                    <a:latin typeface="Segoe WPC"/>
                  </a:rPr>
                  <a:t>.</a:t>
                </a:r>
                <a:br>
                  <a:rPr lang="en-US" sz="900" dirty="0">
                    <a:solidFill>
                      <a:schemeClr val="tx1"/>
                    </a:solidFill>
                  </a:rPr>
                </a:br>
                <a:r>
                  <a:rPr lang="en-US" sz="900" b="1" i="0" dirty="0">
                    <a:solidFill>
                      <a:schemeClr val="tx1"/>
                    </a:solidFill>
                    <a:effectLst/>
                    <a:latin typeface="Segoe WPC"/>
                  </a:rPr>
                  <a:t>Exam Trap:</a:t>
                </a:r>
                <a:r>
                  <a:rPr lang="en-US" sz="900" b="0" i="0" dirty="0">
                    <a:solidFill>
                      <a:schemeClr val="tx1"/>
                    </a:solidFill>
                    <a:effectLst/>
                    <a:latin typeface="Segoe WPC"/>
                  </a:rPr>
                  <a:t> Once the validation set is used for model choice, it is contaminated and cannot be the final test set.</a:t>
                </a:r>
                <a:endParaRPr lang="es-PE" sz="900" dirty="0">
                  <a:solidFill>
                    <a:schemeClr val="tx1"/>
                  </a:solidFill>
                </a:endParaRPr>
              </a:p>
            </p:txBody>
          </p:sp>
        </mc:Choice>
        <mc:Fallback xmlns="">
          <p:sp>
            <p:nvSpPr>
              <p:cNvPr id="31" name="CuadroTexto 30">
                <a:extLst>
                  <a:ext uri="{FF2B5EF4-FFF2-40B4-BE49-F238E27FC236}">
                    <a16:creationId xmlns:a16="http://schemas.microsoft.com/office/drawing/2014/main" id="{234F1274-F91C-347E-4EF7-213A8A22623C}"/>
                  </a:ext>
                </a:extLst>
              </p:cNvPr>
              <p:cNvSpPr txBox="1">
                <a:spLocks noRot="1" noChangeAspect="1" noMove="1" noResize="1" noEditPoints="1" noAdjustHandles="1" noChangeArrowheads="1" noChangeShapeType="1" noTextEdit="1"/>
              </p:cNvSpPr>
              <p:nvPr/>
            </p:nvSpPr>
            <p:spPr>
              <a:xfrm>
                <a:off x="6095999" y="-126795"/>
                <a:ext cx="6096001" cy="3554819"/>
              </a:xfrm>
              <a:prstGeom prst="rect">
                <a:avLst/>
              </a:prstGeom>
              <a:blipFill>
                <a:blip r:embed="rId3"/>
                <a:stretch>
                  <a:fillRect r="-100"/>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E0A7D75F-46E2-DB5C-9251-7A113F0BB6F7}"/>
                  </a:ext>
                </a:extLst>
              </p:cNvPr>
              <p:cNvSpPr txBox="1"/>
              <p:nvPr/>
            </p:nvSpPr>
            <p:spPr>
              <a:xfrm>
                <a:off x="6095999" y="3375063"/>
                <a:ext cx="5865020" cy="1922514"/>
              </a:xfrm>
              <a:prstGeom prst="rect">
                <a:avLst/>
              </a:prstGeom>
              <a:noFill/>
            </p:spPr>
            <p:txBody>
              <a:bodyPr wrap="square">
                <a:spAutoFit/>
              </a:bodyPr>
              <a:lstStyle/>
              <a:p>
                <a:r>
                  <a:rPr lang="es-PE" sz="900" b="1" i="0" dirty="0">
                    <a:solidFill>
                      <a:schemeClr val="tx1"/>
                    </a:solidFill>
                    <a:effectLst/>
                    <a:latin typeface="Segoe WPC"/>
                  </a:rPr>
                  <a:t>7. </a:t>
                </a:r>
                <a:r>
                  <a:rPr lang="es-PE" sz="900" b="1" i="0" dirty="0" err="1">
                    <a:solidFill>
                      <a:schemeClr val="tx1"/>
                    </a:solidFill>
                    <a:effectLst/>
                    <a:latin typeface="Segoe WPC"/>
                  </a:rPr>
                  <a:t>Reinforcement</a:t>
                </a:r>
                <a:r>
                  <a:rPr lang="es-PE" sz="900" b="1" i="0" dirty="0">
                    <a:solidFill>
                      <a:schemeClr val="tx1"/>
                    </a:solidFill>
                    <a:effectLst/>
                    <a:latin typeface="Segoe WPC"/>
                  </a:rPr>
                  <a:t> </a:t>
                </a:r>
                <a:r>
                  <a:rPr lang="es-PE" sz="900" b="1" i="0" dirty="0" err="1">
                    <a:solidFill>
                      <a:schemeClr val="tx1"/>
                    </a:solidFill>
                    <a:effectLst/>
                    <a:latin typeface="Segoe WPC"/>
                  </a:rPr>
                  <a:t>Learning</a:t>
                </a:r>
                <a:br>
                  <a:rPr lang="es-PE" sz="900" dirty="0">
                    <a:solidFill>
                      <a:schemeClr val="tx1"/>
                    </a:solidFill>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Sequential</a:t>
                </a:r>
                <a:r>
                  <a:rPr lang="es-PE" sz="900" b="0" i="0" dirty="0">
                    <a:solidFill>
                      <a:schemeClr val="tx1"/>
                    </a:solidFill>
                    <a:effectLst/>
                    <a:latin typeface="Segoe WPC"/>
                  </a:rPr>
                  <a:t> </a:t>
                </a:r>
                <a:r>
                  <a:rPr lang="es-PE" sz="900" b="0" i="0" dirty="0" err="1">
                    <a:solidFill>
                      <a:schemeClr val="tx1"/>
                    </a:solidFill>
                    <a:effectLst/>
                    <a:latin typeface="Segoe WPC"/>
                  </a:rPr>
                  <a:t>decision-making</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states</a:t>
                </a:r>
                <a:r>
                  <a:rPr lang="es-PE" sz="900" b="0" i="0" dirty="0">
                    <a:solidFill>
                      <a:schemeClr val="tx1"/>
                    </a:solidFill>
                    <a:effectLst/>
                    <a:latin typeface="Segoe WPC"/>
                  </a:rPr>
                  <a:t>, </a:t>
                </a:r>
                <a:r>
                  <a:rPr lang="es-PE" sz="900" b="0" i="0" dirty="0" err="1">
                    <a:solidFill>
                      <a:schemeClr val="tx1"/>
                    </a:solidFill>
                    <a:effectLst/>
                    <a:latin typeface="Segoe WPC"/>
                  </a:rPr>
                  <a:t>actions</a:t>
                </a:r>
                <a:r>
                  <a:rPr lang="es-PE" sz="900" b="0" i="0" dirty="0">
                    <a:solidFill>
                      <a:schemeClr val="tx1"/>
                    </a:solidFill>
                    <a:effectLst/>
                    <a:latin typeface="Segoe WPC"/>
                  </a:rPr>
                  <a:t>, </a:t>
                </a:r>
                <a:r>
                  <a:rPr lang="es-PE" sz="900" b="0" i="0" dirty="0" err="1">
                    <a:solidFill>
                      <a:schemeClr val="tx1"/>
                    </a:solidFill>
                    <a:effectLst/>
                    <a:latin typeface="Segoe WPC"/>
                  </a:rPr>
                  <a:t>rewards</a:t>
                </a:r>
                <a:r>
                  <a:rPr lang="es-PE" sz="900" b="0" i="0" dirty="0">
                    <a:solidFill>
                      <a:schemeClr val="tx1"/>
                    </a:solidFill>
                    <a:effectLst/>
                    <a:latin typeface="Segoe WPC"/>
                  </a:rPr>
                  <a:t>, and </a:t>
                </a:r>
                <a14:m>
                  <m:oMath xmlns:m="http://schemas.openxmlformats.org/officeDocument/2006/math">
                    <m:r>
                      <a:rPr lang="es-PE" sz="900" i="1">
                        <a:solidFill>
                          <a:schemeClr val="tx1"/>
                        </a:solidFill>
                        <a:latin typeface="Cambria Math" panose="02040503050406030204" pitchFamily="18" charset="0"/>
                      </a:rPr>
                      <m:t>𝑄</m:t>
                    </m:r>
                  </m:oMath>
                </a14:m>
                <a:r>
                  <a:rPr lang="es-PE" sz="900" b="0" i="0" dirty="0">
                    <a:solidFill>
                      <a:schemeClr val="tx1"/>
                    </a:solidFill>
                    <a:effectLst/>
                    <a:latin typeface="Segoe WPC"/>
                  </a:rPr>
                  <a:t>-</a:t>
                </a:r>
                <a:r>
                  <a:rPr lang="es-PE" sz="900" b="0" i="0" dirty="0" err="1">
                    <a:solidFill>
                      <a:schemeClr val="tx1"/>
                    </a:solidFill>
                    <a:effectLst/>
                    <a:latin typeface="Segoe WPC"/>
                  </a:rPr>
                  <a:t>values</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algorithm</a:t>
                </a:r>
                <a:r>
                  <a:rPr lang="es-PE" sz="900" b="0" i="0" dirty="0">
                    <a:solidFill>
                      <a:schemeClr val="tx1"/>
                    </a:solidFill>
                    <a:effectLst/>
                    <a:latin typeface="Segoe WPC"/>
                  </a:rPr>
                  <a:t> </a:t>
                </a:r>
                <a:r>
                  <a:rPr lang="es-PE" sz="900" b="0" i="0" dirty="0" err="1">
                    <a:solidFill>
                      <a:schemeClr val="tx1"/>
                    </a:solidFill>
                    <a:effectLst/>
                    <a:latin typeface="Segoe WPC"/>
                  </a:rPr>
                  <a:t>learns</a:t>
                </a:r>
                <a:r>
                  <a:rPr lang="es-PE" sz="900" b="0" i="0" dirty="0">
                    <a:solidFill>
                      <a:schemeClr val="tx1"/>
                    </a:solidFill>
                    <a:effectLst/>
                    <a:latin typeface="Segoe WPC"/>
                  </a:rPr>
                  <a:t> </a:t>
                </a:r>
                <a:r>
                  <a:rPr lang="es-PE" sz="900" b="0" i="0" dirty="0" err="1">
                    <a:solidFill>
                      <a:schemeClr val="tx1"/>
                    </a:solidFill>
                    <a:effectLst/>
                    <a:latin typeface="Segoe WPC"/>
                  </a:rPr>
                  <a:t>which</a:t>
                </a:r>
                <a:r>
                  <a:rPr lang="es-PE" sz="900" b="0" i="0" dirty="0">
                    <a:solidFill>
                      <a:schemeClr val="tx1"/>
                    </a:solidFill>
                    <a:effectLst/>
                    <a:latin typeface="Segoe WPC"/>
                  </a:rPr>
                  <a:t> </a:t>
                </a:r>
                <a:r>
                  <a:rPr lang="es-PE" sz="900" b="0" i="0" dirty="0" err="1">
                    <a:solidFill>
                      <a:schemeClr val="tx1"/>
                    </a:solidFill>
                    <a:effectLst/>
                    <a:latin typeface="Segoe WPC"/>
                  </a:rPr>
                  <a:t>action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best</a:t>
                </a:r>
                <a:r>
                  <a:rPr lang="es-PE" sz="900" b="0" i="0" dirty="0">
                    <a:solidFill>
                      <a:schemeClr val="tx1"/>
                    </a:solidFill>
                    <a:effectLst/>
                    <a:latin typeface="Segoe WPC"/>
                  </a:rPr>
                  <a:t> in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state</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repeatedly</a:t>
                </a:r>
                <a:r>
                  <a:rPr lang="es-PE" sz="900" b="0" i="0" dirty="0">
                    <a:solidFill>
                      <a:schemeClr val="tx1"/>
                    </a:solidFill>
                    <a:effectLst/>
                    <a:latin typeface="Segoe WPC"/>
                  </a:rPr>
                  <a:t> </a:t>
                </a:r>
                <a:r>
                  <a:rPr lang="es-PE" sz="900" b="0" i="0" dirty="0" err="1">
                    <a:solidFill>
                      <a:schemeClr val="tx1"/>
                    </a:solidFill>
                    <a:effectLst/>
                    <a:latin typeface="Segoe WPC"/>
                  </a:rPr>
                  <a:t>trying</a:t>
                </a:r>
                <a:r>
                  <a:rPr lang="es-PE" sz="900" b="0" i="0" dirty="0">
                    <a:solidFill>
                      <a:schemeClr val="tx1"/>
                    </a:solidFill>
                    <a:effectLst/>
                    <a:latin typeface="Segoe WPC"/>
                  </a:rPr>
                  <a:t> </a:t>
                </a:r>
                <a:r>
                  <a:rPr lang="es-PE" sz="900" b="0" i="0" dirty="0" err="1">
                    <a:solidFill>
                      <a:schemeClr val="tx1"/>
                    </a:solidFill>
                    <a:effectLst/>
                    <a:latin typeface="Segoe WPC"/>
                  </a:rPr>
                  <a:t>actions</a:t>
                </a:r>
                <a:r>
                  <a:rPr lang="es-PE" sz="900" b="0" i="0" dirty="0">
                    <a:solidFill>
                      <a:schemeClr val="tx1"/>
                    </a:solidFill>
                    <a:effectLst/>
                    <a:latin typeface="Segoe WPC"/>
                  </a:rPr>
                  <a:t> and </a:t>
                </a:r>
                <a:r>
                  <a:rPr lang="es-PE" sz="900" b="0" i="0" dirty="0" err="1">
                    <a:solidFill>
                      <a:schemeClr val="tx1"/>
                    </a:solidFill>
                    <a:effectLst/>
                    <a:latin typeface="Segoe WPC"/>
                  </a:rPr>
                  <a:t>updating</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rewards</a:t>
                </a:r>
                <a:r>
                  <a:rPr lang="es-PE" sz="900" b="0" i="0" dirty="0">
                    <a:solidFill>
                      <a:schemeClr val="tx1"/>
                    </a:solidFill>
                    <a:effectLst/>
                    <a:latin typeface="Segoe WPC"/>
                  </a:rPr>
                  <a:t> </a:t>
                </a:r>
                <a:r>
                  <a:rPr lang="es-PE" sz="900" b="0" i="0" dirty="0" err="1">
                    <a:solidFill>
                      <a:schemeClr val="tx1"/>
                    </a:solidFill>
                    <a:effectLst/>
                    <a:latin typeface="Segoe WPC"/>
                  </a:rPr>
                  <a:t>received</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experiments</a:t>
                </a:r>
                <a:r>
                  <a:rPr lang="es-PE" sz="900" b="0" i="0" dirty="0">
                    <a:solidFill>
                      <a:schemeClr val="tx1"/>
                    </a:solidFill>
                    <a:effectLst/>
                    <a:latin typeface="Segoe WPC"/>
                  </a:rPr>
                  <a:t>; </a:t>
                </a:r>
                <a:r>
                  <a:rPr lang="es-PE" sz="900" b="0" i="0" dirty="0" err="1">
                    <a:solidFill>
                      <a:schemeClr val="tx1"/>
                    </a:solidFill>
                    <a:effectLst/>
                    <a:latin typeface="Segoe WPC"/>
                  </a:rPr>
                  <a:t>later</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increasingly</a:t>
                </a:r>
                <a:r>
                  <a:rPr lang="es-PE" sz="900" b="0" i="0" dirty="0">
                    <a:solidFill>
                      <a:schemeClr val="tx1"/>
                    </a:solidFill>
                    <a:effectLst/>
                    <a:latin typeface="Segoe WPC"/>
                  </a:rPr>
                  <a:t> </a:t>
                </a:r>
                <a:r>
                  <a:rPr lang="es-PE" sz="900" b="0" i="0" dirty="0" err="1">
                    <a:solidFill>
                      <a:schemeClr val="tx1"/>
                    </a:solidFill>
                    <a:effectLst/>
                    <a:latin typeface="Segoe WPC"/>
                  </a:rPr>
                  <a:t>exploits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actions</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appear</a:t>
                </a:r>
                <a:r>
                  <a:rPr lang="es-PE" sz="900" b="0" i="0" dirty="0">
                    <a:solidFill>
                      <a:schemeClr val="tx1"/>
                    </a:solidFill>
                    <a:effectLst/>
                    <a:latin typeface="Segoe WPC"/>
                  </a:rPr>
                  <a:t> </a:t>
                </a:r>
                <a:r>
                  <a:rPr lang="es-PE" sz="900" b="0" i="0" dirty="0" err="1">
                    <a:solidFill>
                      <a:schemeClr val="tx1"/>
                    </a:solidFill>
                    <a:effectLst/>
                    <a:latin typeface="Segoe WPC"/>
                  </a:rPr>
                  <a:t>best</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𝑄</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𝑆</m:t>
                        </m:r>
                      </m:e>
                      <m:e>
                        <m:r>
                          <a:rPr lang="ar-AE" sz="900" i="1">
                            <a:solidFill>
                              <a:schemeClr val="tx1"/>
                            </a:solidFill>
                            <a:latin typeface="Cambria Math" panose="02040503050406030204" pitchFamily="18" charset="0"/>
                          </a:rPr>
                          <m:t>𝐴</m:t>
                        </m:r>
                      </m:e>
                    </m:d>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taking</a:t>
                </a:r>
                <a:r>
                  <a:rPr lang="es-PE" sz="900" b="0" i="0" dirty="0">
                    <a:solidFill>
                      <a:schemeClr val="tx1"/>
                    </a:solidFill>
                    <a:effectLst/>
                    <a:latin typeface="Segoe WPC"/>
                  </a:rPr>
                  <a:t> </a:t>
                </a:r>
                <a:r>
                  <a:rPr lang="es-PE" sz="900" b="0" i="0" dirty="0" err="1">
                    <a:solidFill>
                      <a:schemeClr val="tx1"/>
                    </a:solidFill>
                    <a:effectLst/>
                    <a:latin typeface="Segoe WPC"/>
                  </a:rPr>
                  <a:t>action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𝐴</m:t>
                    </m:r>
                  </m:oMath>
                </a14:m>
                <a:r>
                  <a:rPr lang="es-PE" sz="900" b="0" i="0" dirty="0">
                    <a:solidFill>
                      <a:schemeClr val="tx1"/>
                    </a:solidFill>
                    <a:effectLst/>
                    <a:latin typeface="Segoe WPC"/>
                  </a:rPr>
                  <a:t> in </a:t>
                </a:r>
                <a:r>
                  <a:rPr lang="es-PE" sz="900" b="0" i="0" dirty="0" err="1">
                    <a:solidFill>
                      <a:schemeClr val="tx1"/>
                    </a:solidFill>
                    <a:effectLst/>
                    <a:latin typeface="Segoe WPC"/>
                  </a:rPr>
                  <a:t>state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𝑆</m:t>
                    </m:r>
                  </m:oMath>
                </a14:m>
                <a:r>
                  <a:rPr lang="es-PE" sz="900" b="0" i="0" dirty="0">
                    <a:solidFill>
                      <a:schemeClr val="tx1"/>
                    </a:solidFill>
                    <a:effectLst/>
                    <a:latin typeface="Segoe WPC"/>
                  </a:rPr>
                  <a:t>. Monte Carlo </a:t>
                </a:r>
                <a:r>
                  <a:rPr lang="es-PE" sz="900" b="0" i="0" dirty="0" err="1">
                    <a:solidFill>
                      <a:schemeClr val="tx1"/>
                    </a:solidFill>
                    <a:effectLst/>
                    <a:latin typeface="Segoe WPC"/>
                  </a:rPr>
                  <a:t>update</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𝑄</m:t>
                        </m:r>
                      </m:e>
                      <m:sub>
                        <m:r>
                          <m:rPr>
                            <m:nor/>
                          </m:rPr>
                          <a:rPr lang="es-PE" sz="900" b="0" i="1">
                            <a:solidFill>
                              <a:schemeClr val="tx1"/>
                            </a:solidFill>
                            <a:latin typeface="Cambria Math" panose="02040503050406030204" pitchFamily="18" charset="0"/>
                          </a:rPr>
                          <m:t>new</m:t>
                        </m:r>
                      </m:sub>
                    </m:sSub>
                    <m:d>
                      <m:dPr>
                        <m:sepChr m:val=","/>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𝑆</m:t>
                        </m:r>
                      </m:e>
                      <m:e>
                        <m:r>
                          <a:rPr lang="ar-AE" sz="900" b="0" i="1">
                            <a:solidFill>
                              <a:schemeClr val="tx1"/>
                            </a:solidFill>
                            <a:latin typeface="Cambria Math" panose="02040503050406030204" pitchFamily="18" charset="0"/>
                          </a:rPr>
                          <m:t>𝐴</m:t>
                        </m:r>
                      </m:e>
                    </m:d>
                    <m:r>
                      <a:rPr lang="ar-A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𝑄</m:t>
                        </m:r>
                      </m:e>
                      <m:sub>
                        <m:r>
                          <m:rPr>
                            <m:nor/>
                          </m:rPr>
                          <a:rPr lang="es-PE" sz="900" b="0" i="1">
                            <a:solidFill>
                              <a:schemeClr val="tx1"/>
                            </a:solidFill>
                            <a:latin typeface="Cambria Math" panose="02040503050406030204" pitchFamily="18" charset="0"/>
                          </a:rPr>
                          <m:t>old</m:t>
                        </m:r>
                      </m:sub>
                    </m:sSub>
                    <m:d>
                      <m:dPr>
                        <m:sepChr m:val=","/>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𝑆</m:t>
                        </m:r>
                      </m:e>
                      <m:e>
                        <m:r>
                          <a:rPr lang="ar-AE" sz="900" b="0" i="1">
                            <a:solidFill>
                              <a:schemeClr val="tx1"/>
                            </a:solidFill>
                            <a:latin typeface="Cambria Math" panose="02040503050406030204" pitchFamily="18" charset="0"/>
                          </a:rPr>
                          <m:t>𝐴</m:t>
                        </m:r>
                      </m:e>
                    </m:d>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𝛼</m:t>
                    </m:r>
                    <m:d>
                      <m:dPr>
                        <m:begChr m:val="["/>
                        <m:endChr m:val="]"/>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𝑅</m:t>
                        </m:r>
                        <m:r>
                          <a:rPr lang="ar-A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𝑄</m:t>
                            </m:r>
                          </m:e>
                          <m:sub>
                            <m:r>
                              <m:rPr>
                                <m:nor/>
                              </m:rPr>
                              <a:rPr lang="es-PE" sz="900" b="0" i="1">
                                <a:solidFill>
                                  <a:schemeClr val="tx1"/>
                                </a:solidFill>
                                <a:latin typeface="Cambria Math" panose="02040503050406030204" pitchFamily="18" charset="0"/>
                              </a:rPr>
                              <m:t>old</m:t>
                            </m:r>
                          </m:sub>
                        </m:sSub>
                        <m:d>
                          <m:dPr>
                            <m:sepChr m:val=","/>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𝑆</m:t>
                            </m:r>
                          </m:e>
                          <m:e>
                            <m:r>
                              <a:rPr lang="ar-AE" sz="900" b="0" i="1">
                                <a:solidFill>
                                  <a:schemeClr val="tx1"/>
                                </a:solidFill>
                                <a:latin typeface="Cambria Math" panose="02040503050406030204" pitchFamily="18" charset="0"/>
                              </a:rPr>
                              <m:t>𝐴</m:t>
                            </m:r>
                          </m:e>
                        </m:d>
                      </m:e>
                    </m:d>
                  </m:oMath>
                </a14:m>
                <a:r>
                  <a:rPr lang="ar-AE" sz="900" b="0" i="0" dirty="0">
                    <a:solidFill>
                      <a:schemeClr val="tx1"/>
                    </a:solidFill>
                    <a:effectLst/>
                    <a:latin typeface="Segoe WPC"/>
                  </a:rPr>
                  <a:t>. </a:t>
                </a:r>
                <a:r>
                  <a:rPr lang="es-PE" sz="900" b="0" i="0" dirty="0">
                    <a:solidFill>
                      <a:schemeClr val="tx1"/>
                    </a:solidFill>
                    <a:effectLst/>
                    <a:latin typeface="Segoe WPC"/>
                  </a:rPr>
                  <a:t>Temporal-</a:t>
                </a:r>
                <a:r>
                  <a:rPr lang="es-PE" sz="900" b="0" i="0" dirty="0" err="1">
                    <a:solidFill>
                      <a:schemeClr val="tx1"/>
                    </a:solidFill>
                    <a:effectLst/>
                    <a:latin typeface="Segoe WPC"/>
                  </a:rPr>
                  <a:t>difference</a:t>
                </a:r>
                <a:r>
                  <a:rPr lang="es-PE" sz="900" b="0" i="0" dirty="0">
                    <a:solidFill>
                      <a:schemeClr val="tx1"/>
                    </a:solidFill>
                    <a:effectLst/>
                    <a:latin typeface="Segoe WPC"/>
                  </a:rPr>
                  <a:t> </a:t>
                </a:r>
                <a:r>
                  <a:rPr lang="es-PE" sz="900" b="0" i="0" dirty="0" err="1">
                    <a:solidFill>
                      <a:schemeClr val="tx1"/>
                    </a:solidFill>
                    <a:effectLst/>
                    <a:latin typeface="Segoe WPC"/>
                  </a:rPr>
                  <a:t>learning</a:t>
                </a:r>
                <a:r>
                  <a:rPr lang="es-PE" sz="900" b="0" i="0" dirty="0">
                    <a:solidFill>
                      <a:schemeClr val="tx1"/>
                    </a:solidFill>
                    <a:effectLst/>
                    <a:latin typeface="Segoe WPC"/>
                  </a:rPr>
                  <a:t> </a:t>
                </a:r>
                <a:r>
                  <a:rPr lang="es-PE" sz="900" b="0" i="0" dirty="0" err="1">
                    <a:solidFill>
                      <a:schemeClr val="tx1"/>
                    </a:solidFill>
                    <a:effectLst/>
                    <a:latin typeface="Segoe WPC"/>
                  </a:rPr>
                  <a:t>updates</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t>
                </a:r>
                <a:r>
                  <a:rPr lang="es-PE" sz="900" b="0" i="0" dirty="0" err="1">
                    <a:solidFill>
                      <a:schemeClr val="tx1"/>
                    </a:solidFill>
                    <a:effectLst/>
                    <a:latin typeface="Segoe WPC"/>
                  </a:rPr>
                  <a:t>current</a:t>
                </a:r>
                <a:r>
                  <a:rPr lang="es-PE" sz="900" b="0" i="0" dirty="0">
                    <a:solidFill>
                      <a:schemeClr val="tx1"/>
                    </a:solidFill>
                    <a:effectLst/>
                    <a:latin typeface="Segoe WPC"/>
                  </a:rPr>
                  <a:t> </a:t>
                </a:r>
                <a:r>
                  <a:rPr lang="es-PE" sz="900" b="0" i="0" dirty="0" err="1">
                    <a:solidFill>
                      <a:schemeClr val="tx1"/>
                    </a:solidFill>
                    <a:effectLst/>
                    <a:latin typeface="Segoe WPC"/>
                  </a:rPr>
                  <a:t>reward</a:t>
                </a:r>
                <a:r>
                  <a:rPr lang="es-PE" sz="900" b="0" i="0" dirty="0">
                    <a:solidFill>
                      <a:schemeClr val="tx1"/>
                    </a:solidFill>
                    <a:effectLst/>
                    <a:latin typeface="Segoe WPC"/>
                  </a:rPr>
                  <a:t> plus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next</a:t>
                </a:r>
                <a:r>
                  <a:rPr lang="es-PE" sz="900" b="0" i="0" dirty="0">
                    <a:solidFill>
                      <a:schemeClr val="tx1"/>
                    </a:solidFill>
                    <a:effectLst/>
                    <a:latin typeface="Segoe WPC"/>
                  </a:rPr>
                  <a:t> </a:t>
                </a:r>
                <a:r>
                  <a:rPr lang="es-PE" sz="900" b="0" i="0" dirty="0" err="1">
                    <a:solidFill>
                      <a:schemeClr val="tx1"/>
                    </a:solidFill>
                    <a:effectLst/>
                    <a:latin typeface="Segoe WPC"/>
                  </a:rPr>
                  <a:t>state’s</a:t>
                </a:r>
                <a:r>
                  <a:rPr lang="es-PE" sz="900" b="0" i="0" dirty="0">
                    <a:solidFill>
                      <a:schemeClr val="tx1"/>
                    </a:solidFill>
                    <a:effectLst/>
                    <a:latin typeface="Segoe WPC"/>
                  </a:rPr>
                  <a:t> </a:t>
                </a:r>
                <a:r>
                  <a:rPr lang="es-PE" sz="900" b="0" i="0" dirty="0" err="1">
                    <a:solidFill>
                      <a:schemeClr val="tx1"/>
                    </a:solidFill>
                    <a:effectLst/>
                    <a:latin typeface="Segoe WPC"/>
                  </a:rPr>
                  <a:t>estimated</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Reinforcement</a:t>
                </a:r>
                <a:r>
                  <a:rPr lang="es-PE" sz="900" b="0" i="0" dirty="0">
                    <a:solidFill>
                      <a:schemeClr val="tx1"/>
                    </a:solidFill>
                    <a:effectLst/>
                    <a:latin typeface="Segoe WPC"/>
                  </a:rPr>
                  <a:t> </a:t>
                </a:r>
                <a:r>
                  <a:rPr lang="es-PE" sz="900" b="0" i="0" dirty="0" err="1">
                    <a:solidFill>
                      <a:schemeClr val="tx1"/>
                    </a:solidFill>
                    <a:effectLst/>
                    <a:latin typeface="Segoe WPC"/>
                  </a:rPr>
                  <a:t>learning</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execution</a:t>
                </a:r>
                <a:r>
                  <a:rPr lang="es-PE" sz="900" b="0" i="0" dirty="0">
                    <a:solidFill>
                      <a:schemeClr val="tx1"/>
                    </a:solidFill>
                    <a:effectLst/>
                    <a:latin typeface="Segoe WPC"/>
                  </a:rPr>
                  <a:t>, trading, </a:t>
                </a:r>
                <a:r>
                  <a:rPr lang="es-PE" sz="900" b="0" i="0" dirty="0" err="1">
                    <a:solidFill>
                      <a:schemeClr val="tx1"/>
                    </a:solidFill>
                    <a:effectLst/>
                    <a:latin typeface="Segoe WPC"/>
                  </a:rPr>
                  <a:t>hedging</a:t>
                </a:r>
                <a:r>
                  <a:rPr lang="es-PE" sz="900" b="0" i="0" dirty="0">
                    <a:solidFill>
                      <a:schemeClr val="tx1"/>
                    </a:solidFill>
                    <a:effectLst/>
                    <a:latin typeface="Segoe WPC"/>
                  </a:rPr>
                  <a:t>, and portfolio </a:t>
                </a:r>
                <a:r>
                  <a:rPr lang="es-PE" sz="900" b="0" i="0" dirty="0" err="1">
                    <a:solidFill>
                      <a:schemeClr val="tx1"/>
                    </a:solidFill>
                    <a:effectLst/>
                    <a:latin typeface="Segoe WPC"/>
                  </a:rPr>
                  <a:t>management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balances </a:t>
                </a:r>
                <a:r>
                  <a:rPr lang="es-PE" sz="900" b="0" i="0" dirty="0" err="1">
                    <a:solidFill>
                      <a:schemeClr val="tx1"/>
                    </a:solidFill>
                    <a:effectLst/>
                    <a:latin typeface="Segoe WPC"/>
                  </a:rPr>
                  <a:t>exploration</a:t>
                </a:r>
                <a:r>
                  <a:rPr lang="es-PE" sz="900" b="0" i="0" dirty="0">
                    <a:solidFill>
                      <a:schemeClr val="tx1"/>
                    </a:solidFill>
                    <a:effectLst/>
                    <a:latin typeface="Segoe WPC"/>
                  </a:rPr>
                  <a:t> and </a:t>
                </a:r>
                <a:r>
                  <a:rPr lang="es-PE" sz="900" b="0" i="0" dirty="0" err="1">
                    <a:solidFill>
                      <a:schemeClr val="tx1"/>
                    </a:solidFill>
                    <a:effectLst/>
                    <a:latin typeface="Segoe WPC"/>
                  </a:rPr>
                  <a:t>exploitation</a:t>
                </a:r>
                <a:r>
                  <a:rPr lang="es-PE" sz="900" b="0" i="0" dirty="0">
                    <a:solidFill>
                      <a:schemeClr val="tx1"/>
                    </a:solidFill>
                    <a:effectLst/>
                    <a:latin typeface="Segoe WPC"/>
                  </a:rPr>
                  <a:t>, and </a:t>
                </a:r>
                <a:r>
                  <a:rPr lang="es-PE" sz="900" b="0" i="0" dirty="0" err="1">
                    <a:solidFill>
                      <a:schemeClr val="tx1"/>
                    </a:solidFill>
                    <a:effectLst/>
                    <a:latin typeface="Segoe WPC"/>
                  </a:rPr>
                  <a:t>very</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state-action</a:t>
                </a:r>
                <a:r>
                  <a:rPr lang="es-PE" sz="900" b="0" i="0" dirty="0">
                    <a:solidFill>
                      <a:schemeClr val="tx1"/>
                    </a:solidFill>
                    <a:effectLst/>
                    <a:latin typeface="Segoe WPC"/>
                  </a:rPr>
                  <a:t> </a:t>
                </a:r>
                <a:r>
                  <a:rPr lang="es-PE" sz="900" b="0" i="0" dirty="0" err="1">
                    <a:solidFill>
                      <a:schemeClr val="tx1"/>
                    </a:solidFill>
                    <a:effectLst/>
                    <a:latin typeface="Segoe WPC"/>
                  </a:rPr>
                  <a:t>spaces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require</a:t>
                </a:r>
                <a:r>
                  <a:rPr lang="es-PE" sz="900" b="0" i="0" dirty="0">
                    <a:solidFill>
                      <a:schemeClr val="tx1"/>
                    </a:solidFill>
                    <a:effectLst/>
                    <a:latin typeface="Segoe WPC"/>
                  </a:rPr>
                  <a:t> </a:t>
                </a:r>
                <a:r>
                  <a:rPr lang="es-PE" sz="900" b="0" i="0" dirty="0" err="1">
                    <a:solidFill>
                      <a:schemeClr val="tx1"/>
                    </a:solidFill>
                    <a:effectLst/>
                    <a:latin typeface="Segoe WPC"/>
                  </a:rPr>
                  <a:t>deep</a:t>
                </a:r>
                <a:r>
                  <a:rPr lang="es-PE" sz="900" b="0" i="0" dirty="0">
                    <a:solidFill>
                      <a:schemeClr val="tx1"/>
                    </a:solidFill>
                    <a:effectLst/>
                    <a:latin typeface="Segoe WPC"/>
                  </a:rPr>
                  <a:t> </a:t>
                </a:r>
                <a:r>
                  <a:rPr lang="es-PE" sz="900" b="0" i="0" dirty="0" err="1">
                    <a:solidFill>
                      <a:schemeClr val="tx1"/>
                    </a:solidFill>
                    <a:effectLst/>
                    <a:latin typeface="Segoe WPC"/>
                  </a:rPr>
                  <a:t>reinforcement</a:t>
                </a:r>
                <a:r>
                  <a:rPr lang="es-PE" sz="900" b="0" i="0" dirty="0">
                    <a:solidFill>
                      <a:schemeClr val="tx1"/>
                    </a:solidFill>
                    <a:effectLst/>
                    <a:latin typeface="Segoe WPC"/>
                  </a:rPr>
                  <a:t> </a:t>
                </a:r>
                <a:r>
                  <a:rPr lang="es-PE" sz="900" b="0" i="0" dirty="0" err="1">
                    <a:solidFill>
                      <a:schemeClr val="tx1"/>
                    </a:solidFill>
                    <a:effectLst/>
                    <a:latin typeface="Segoe WPC"/>
                  </a:rPr>
                  <a:t>learning</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neural </a:t>
                </a:r>
                <a:r>
                  <a:rPr lang="es-PE" sz="900" b="0" i="0" dirty="0" err="1">
                    <a:solidFill>
                      <a:schemeClr val="tx1"/>
                    </a:solidFill>
                    <a:effectLst/>
                    <a:latin typeface="Segoe WPC"/>
                  </a:rPr>
                  <a:t>networks</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Reinforcement</a:t>
                </a:r>
                <a:r>
                  <a:rPr lang="es-PE" sz="900" b="0" i="0" dirty="0">
                    <a:solidFill>
                      <a:schemeClr val="tx1"/>
                    </a:solidFill>
                    <a:effectLst/>
                    <a:latin typeface="Segoe WPC"/>
                  </a:rPr>
                  <a:t> </a:t>
                </a:r>
                <a:r>
                  <a:rPr lang="es-PE" sz="900" b="0" i="0" dirty="0" err="1">
                    <a:solidFill>
                      <a:schemeClr val="tx1"/>
                    </a:solidFill>
                    <a:effectLst/>
                    <a:latin typeface="Segoe WPC"/>
                  </a:rPr>
                  <a:t>learning</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needs</a:t>
                </a:r>
                <a:r>
                  <a:rPr lang="es-PE" sz="900" b="0" i="0" dirty="0">
                    <a:solidFill>
                      <a:schemeClr val="tx1"/>
                    </a:solidFill>
                    <a:effectLst/>
                    <a:latin typeface="Segoe WPC"/>
                  </a:rPr>
                  <a:t> a </a:t>
                </a:r>
                <a:r>
                  <a:rPr lang="es-PE" sz="900" b="0" i="0" dirty="0" err="1">
                    <a:solidFill>
                      <a:schemeClr val="tx1"/>
                    </a:solidFill>
                    <a:effectLst/>
                    <a:latin typeface="Segoe WPC"/>
                  </a:rPr>
                  <a:t>lot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data and can </a:t>
                </a:r>
                <a:r>
                  <a:rPr lang="es-PE" sz="900" b="0" i="0" dirty="0" err="1">
                    <a:solidFill>
                      <a:schemeClr val="tx1"/>
                    </a:solidFill>
                    <a:effectLst/>
                    <a:latin typeface="Segoe WPC"/>
                  </a:rPr>
                  <a:t>learn</a:t>
                </a:r>
                <a:r>
                  <a:rPr lang="es-PE" sz="900" b="0" i="0" dirty="0">
                    <a:solidFill>
                      <a:schemeClr val="tx1"/>
                    </a:solidFill>
                    <a:effectLst/>
                    <a:latin typeface="Segoe WPC"/>
                  </a:rPr>
                  <a:t> </a:t>
                </a:r>
                <a:r>
                  <a:rPr lang="es-PE" sz="900" b="0" i="0" dirty="0" err="1">
                    <a:solidFill>
                      <a:schemeClr val="tx1"/>
                    </a:solidFill>
                    <a:effectLst/>
                    <a:latin typeface="Segoe WPC"/>
                  </a:rPr>
                  <a:t>slowly</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number</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states</a:t>
                </a:r>
                <a:r>
                  <a:rPr lang="es-PE" sz="900" b="0" i="0" dirty="0">
                    <a:solidFill>
                      <a:schemeClr val="tx1"/>
                    </a:solidFill>
                    <a:effectLst/>
                    <a:latin typeface="Segoe WPC"/>
                  </a:rPr>
                  <a:t> and </a:t>
                </a:r>
                <a:r>
                  <a:rPr lang="es-PE" sz="900" b="0" i="0" dirty="0" err="1">
                    <a:solidFill>
                      <a:schemeClr val="tx1"/>
                    </a:solidFill>
                    <a:effectLst/>
                    <a:latin typeface="Segoe WPC"/>
                  </a:rPr>
                  <a:t>actions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a:t>
                </a:r>
                <a:endParaRPr lang="es-PE" sz="900" dirty="0">
                  <a:solidFill>
                    <a:schemeClr val="tx1"/>
                  </a:solidFill>
                </a:endParaRPr>
              </a:p>
            </p:txBody>
          </p:sp>
        </mc:Choice>
        <mc:Fallback xmlns="">
          <p:sp>
            <p:nvSpPr>
              <p:cNvPr id="33" name="CuadroTexto 32">
                <a:extLst>
                  <a:ext uri="{FF2B5EF4-FFF2-40B4-BE49-F238E27FC236}">
                    <a16:creationId xmlns:a16="http://schemas.microsoft.com/office/drawing/2014/main" id="{E0A7D75F-46E2-DB5C-9251-7A113F0BB6F7}"/>
                  </a:ext>
                </a:extLst>
              </p:cNvPr>
              <p:cNvSpPr txBox="1">
                <a:spLocks noRot="1" noChangeAspect="1" noMove="1" noResize="1" noEditPoints="1" noAdjustHandles="1" noChangeArrowheads="1" noChangeShapeType="1" noTextEdit="1"/>
              </p:cNvSpPr>
              <p:nvPr/>
            </p:nvSpPr>
            <p:spPr>
              <a:xfrm>
                <a:off x="6095999" y="3375063"/>
                <a:ext cx="5865020" cy="1922514"/>
              </a:xfrm>
              <a:prstGeom prst="rect">
                <a:avLst/>
              </a:prstGeom>
              <a:blipFill>
                <a:blip r:embed="rId4"/>
                <a:stretch>
                  <a:fillRect b="-317"/>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D6F7FDB9-92C0-0A32-DA25-F981EA77D2C0}"/>
                  </a:ext>
                </a:extLst>
              </p:cNvPr>
              <p:cNvSpPr txBox="1"/>
              <p:nvPr/>
            </p:nvSpPr>
            <p:spPr>
              <a:xfrm>
                <a:off x="6095999" y="5242173"/>
                <a:ext cx="6175830" cy="1477328"/>
              </a:xfrm>
              <a:prstGeom prst="rect">
                <a:avLst/>
              </a:prstGeom>
              <a:noFill/>
            </p:spPr>
            <p:txBody>
              <a:bodyPr wrap="square">
                <a:spAutoFit/>
              </a:bodyPr>
              <a:lstStyle/>
              <a:p>
                <a:r>
                  <a:rPr lang="en-US" sz="900" b="1" i="0" dirty="0">
                    <a:solidFill>
                      <a:schemeClr val="tx1"/>
                    </a:solidFill>
                    <a:effectLst/>
                    <a:latin typeface="Segoe WPC"/>
                  </a:rPr>
                  <a:t>8. Natural Language Processing (NLP)</a:t>
                </a:r>
                <a:br>
                  <a:rPr lang="en-US" sz="900" dirty="0">
                    <a:solidFill>
                      <a:schemeClr val="tx1"/>
                    </a:solidFill>
                  </a:rPr>
                </a:br>
                <a:r>
                  <a:rPr lang="en-US" sz="900" b="1" i="0" dirty="0">
                    <a:solidFill>
                      <a:schemeClr val="tx1"/>
                    </a:solidFill>
                    <a:effectLst/>
                    <a:latin typeface="Segoe WPC"/>
                  </a:rPr>
                  <a:t>Statistical Object:</a:t>
                </a:r>
                <a:r>
                  <a:rPr lang="en-US" sz="900" b="0" i="0" dirty="0">
                    <a:solidFill>
                      <a:schemeClr val="tx1"/>
                    </a:solidFill>
                    <a:effectLst/>
                    <a:latin typeface="Segoe WPC"/>
                  </a:rPr>
                  <a:t> Converting human language into analyzable features for classification, routing, fraud detection, or sentiment analysis.</a:t>
                </a:r>
                <a:br>
                  <a:rPr lang="en-US" sz="900" dirty="0">
                    <a:solidFill>
                      <a:schemeClr val="tx1"/>
                    </a:solidFill>
                  </a:rPr>
                </a:br>
                <a:r>
                  <a:rPr lang="en-US" sz="900" b="1" i="0" dirty="0">
                    <a:solidFill>
                      <a:schemeClr val="tx1"/>
                    </a:solidFill>
                    <a:effectLst/>
                    <a:latin typeface="Segoe WPC"/>
                  </a:rPr>
                  <a:t>Plain Intuition:</a:t>
                </a:r>
                <a:r>
                  <a:rPr lang="en-US" sz="900" b="0" i="0" dirty="0">
                    <a:solidFill>
                      <a:schemeClr val="tx1"/>
                    </a:solidFill>
                    <a:effectLst/>
                    <a:latin typeface="Segoe WPC"/>
                  </a:rPr>
                  <a:t> Break text into tokens, clean and simplify the words, then classify or score the resulting text.</a:t>
                </a:r>
                <a:br>
                  <a:rPr lang="en-US" sz="900" dirty="0">
                    <a:solidFill>
                      <a:schemeClr val="tx1"/>
                    </a:solidFill>
                  </a:rPr>
                </a:br>
                <a:r>
                  <a:rPr lang="en-US" sz="900" b="1" i="0" dirty="0">
                    <a:solidFill>
                      <a:schemeClr val="tx1"/>
                    </a:solidFill>
                    <a:effectLst/>
                    <a:latin typeface="Segoe WPC"/>
                  </a:rPr>
                  <a:t>Visual Intuition:</a:t>
                </a:r>
                <a:r>
                  <a:rPr lang="en-US" sz="900" b="0" i="0" dirty="0">
                    <a:solidFill>
                      <a:schemeClr val="tx1"/>
                    </a:solidFill>
                    <a:effectLst/>
                    <a:latin typeface="Segoe WPC"/>
                  </a:rPr>
                  <a:t> Turn a document into a bag of important words or phrases and use those to infer meaning.</a:t>
                </a:r>
                <a:br>
                  <a:rPr lang="en-US" sz="900" dirty="0">
                    <a:solidFill>
                      <a:schemeClr val="tx1"/>
                    </a:solidFill>
                  </a:rPr>
                </a:br>
                <a:r>
                  <a:rPr lang="en-US" sz="900" b="1" i="0" dirty="0">
                    <a:solidFill>
                      <a:schemeClr val="tx1"/>
                    </a:solidFill>
                    <a:effectLst/>
                    <a:latin typeface="Segoe WPC"/>
                  </a:rPr>
                  <a:t>Key Formula:</a:t>
                </a:r>
                <a:r>
                  <a:rPr lang="en-US" sz="900" b="0" i="0" dirty="0">
                    <a:solidFill>
                      <a:schemeClr val="tx1"/>
                    </a:solidFill>
                    <a:effectLst/>
                    <a:latin typeface="Segoe WPC"/>
                  </a:rPr>
                  <a:t> Typical preprocessing includes tokenization, stop-word removal, stemming, lemmatization, and use of </a:t>
                </a:r>
                <a14:m>
                  <m:oMath xmlns:m="http://schemas.openxmlformats.org/officeDocument/2006/math">
                    <m:r>
                      <a:rPr lang="en-US" sz="900" i="1">
                        <a:solidFill>
                          <a:schemeClr val="tx1"/>
                        </a:solidFill>
                        <a:latin typeface="Cambria Math" panose="02040503050406030204" pitchFamily="18" charset="0"/>
                      </a:rPr>
                      <m:t>𝑛</m:t>
                    </m:r>
                  </m:oMath>
                </a14:m>
                <a:r>
                  <a:rPr lang="en-US" sz="900" b="0" i="0" dirty="0">
                    <a:solidFill>
                      <a:schemeClr val="tx1"/>
                    </a:solidFill>
                    <a:effectLst/>
                    <a:latin typeface="Segoe WPC"/>
                  </a:rPr>
                  <a:t>-grams. Simple sentiment analysis compares counts of positive and negative words.</a:t>
                </a:r>
                <a:br>
                  <a:rPr lang="en-US" sz="900" dirty="0">
                    <a:solidFill>
                      <a:schemeClr val="tx1"/>
                    </a:solidFill>
                  </a:rPr>
                </a:br>
                <a:r>
                  <a:rPr lang="en-US" sz="900" b="1" i="0" dirty="0">
                    <a:solidFill>
                      <a:schemeClr val="tx1"/>
                    </a:solidFill>
                    <a:effectLst/>
                    <a:latin typeface="Segoe WPC"/>
                  </a:rPr>
                  <a:t>Interpretation:</a:t>
                </a:r>
                <a:r>
                  <a:rPr lang="en-US" sz="900" b="0" i="0" dirty="0">
                    <a:solidFill>
                      <a:schemeClr val="tx1"/>
                    </a:solidFill>
                    <a:effectLst/>
                    <a:latin typeface="Segoe WPC"/>
                  </a:rPr>
                  <a:t> NLP is fast, scalable, and consistent, and is widely used in finance for fraud detection, call routing, text categorization, and sentiment measurement. More advanced approaches can learn from pre-labeled text.</a:t>
                </a:r>
                <a:br>
                  <a:rPr lang="en-US" sz="900" dirty="0">
                    <a:solidFill>
                      <a:schemeClr val="tx1"/>
                    </a:solidFill>
                  </a:rPr>
                </a:br>
                <a:r>
                  <a:rPr lang="en-US" sz="900" b="1" i="0" dirty="0">
                    <a:solidFill>
                      <a:schemeClr val="tx1"/>
                    </a:solidFill>
                    <a:effectLst/>
                    <a:latin typeface="Segoe WPC"/>
                  </a:rPr>
                  <a:t>Exam Trap:</a:t>
                </a:r>
                <a:r>
                  <a:rPr lang="en-US" sz="900" b="0" i="0" dirty="0">
                    <a:solidFill>
                      <a:schemeClr val="tx1"/>
                    </a:solidFill>
                    <a:effectLst/>
                    <a:latin typeface="Segoe WPC"/>
                  </a:rPr>
                  <a:t> Simple bag-of-words methods ignore context, so they can misread complex or counterfactual sentences.</a:t>
                </a:r>
                <a:endParaRPr lang="es-PE" sz="900" dirty="0">
                  <a:solidFill>
                    <a:schemeClr val="tx1"/>
                  </a:solidFill>
                </a:endParaRPr>
              </a:p>
            </p:txBody>
          </p:sp>
        </mc:Choice>
        <mc:Fallback xmlns="">
          <p:sp>
            <p:nvSpPr>
              <p:cNvPr id="35" name="CuadroTexto 34">
                <a:extLst>
                  <a:ext uri="{FF2B5EF4-FFF2-40B4-BE49-F238E27FC236}">
                    <a16:creationId xmlns:a16="http://schemas.microsoft.com/office/drawing/2014/main" id="{D6F7FDB9-92C0-0A32-DA25-F981EA77D2C0}"/>
                  </a:ext>
                </a:extLst>
              </p:cNvPr>
              <p:cNvSpPr txBox="1">
                <a:spLocks noRot="1" noChangeAspect="1" noMove="1" noResize="1" noEditPoints="1" noAdjustHandles="1" noChangeArrowheads="1" noChangeShapeType="1" noTextEdit="1"/>
              </p:cNvSpPr>
              <p:nvPr/>
            </p:nvSpPr>
            <p:spPr>
              <a:xfrm>
                <a:off x="6095999" y="5242173"/>
                <a:ext cx="6175830" cy="1477328"/>
              </a:xfrm>
              <a:prstGeom prst="rect">
                <a:avLst/>
              </a:prstGeom>
              <a:blipFill>
                <a:blip r:embed="rId5"/>
                <a:stretch>
                  <a:fillRect b="-826"/>
                </a:stretch>
              </a:blipFill>
            </p:spPr>
            <p:txBody>
              <a:bodyPr/>
              <a:lstStyle/>
              <a:p>
                <a:r>
                  <a:rPr lang="es-PE">
                    <a:noFill/>
                  </a:rPr>
                  <a:t> </a:t>
                </a:r>
              </a:p>
            </p:txBody>
          </p:sp>
        </mc:Fallback>
      </mc:AlternateContent>
    </p:spTree>
    <p:extLst>
      <p:ext uri="{BB962C8B-B14F-4D97-AF65-F5344CB8AC3E}">
        <p14:creationId xmlns:p14="http://schemas.microsoft.com/office/powerpoint/2010/main" val="2863004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369C58-B324-5192-4576-77518A18A2AE}"/>
              </a:ext>
            </a:extLst>
          </p:cNvPr>
          <p:cNvSpPr>
            <a:spLocks noGrp="1"/>
          </p:cNvSpPr>
          <p:nvPr>
            <p:ph type="title"/>
          </p:nvPr>
        </p:nvSpPr>
        <p:spPr>
          <a:xfrm>
            <a:off x="0" y="23018"/>
            <a:ext cx="10515600" cy="253207"/>
          </a:xfrm>
        </p:spPr>
        <p:txBody>
          <a:bodyPr>
            <a:normAutofit fontScale="90000"/>
          </a:bodyPr>
          <a:lstStyle/>
          <a:p>
            <a:r>
              <a:rPr lang="es-PE" dirty="0"/>
              <a:t>Machine </a:t>
            </a:r>
            <a:r>
              <a:rPr lang="es-PE" dirty="0" err="1"/>
              <a:t>Learning</a:t>
            </a:r>
            <a:r>
              <a:rPr lang="es-PE" dirty="0"/>
              <a:t> and </a:t>
            </a:r>
            <a:r>
              <a:rPr lang="es-PE" dirty="0" err="1"/>
              <a:t>Predictions</a:t>
            </a:r>
            <a:r>
              <a:rPr lang="es-PE" dirty="0"/>
              <a:t>:</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500682FE-C0F6-BDEB-ADDA-2FAEF09974DD}"/>
                  </a:ext>
                </a:extLst>
              </p:cNvPr>
              <p:cNvSpPr txBox="1"/>
              <p:nvPr/>
            </p:nvSpPr>
            <p:spPr>
              <a:xfrm>
                <a:off x="0" y="276225"/>
                <a:ext cx="5876925" cy="6620467"/>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a:t>
                </a:r>
                <a:r>
                  <a:rPr lang="es-PE" sz="900" b="1" i="0" dirty="0" err="1">
                    <a:solidFill>
                      <a:schemeClr val="tx1"/>
                    </a:solidFill>
                    <a:effectLst/>
                    <a:latin typeface="Segoe WPC"/>
                  </a:rPr>
                  <a:t>Categorical</a:t>
                </a:r>
                <a:r>
                  <a:rPr lang="es-PE" sz="900" b="1" i="0" dirty="0">
                    <a:solidFill>
                      <a:schemeClr val="tx1"/>
                    </a:solidFill>
                    <a:effectLst/>
                    <a:latin typeface="Segoe WPC"/>
                  </a:rPr>
                  <a:t> Variables and </a:t>
                </a:r>
                <a:r>
                  <a:rPr lang="es-PE" sz="900" b="1" i="0" dirty="0" err="1">
                    <a:solidFill>
                      <a:schemeClr val="tx1"/>
                    </a:solidFill>
                    <a:effectLst/>
                    <a:latin typeface="Segoe WPC"/>
                  </a:rPr>
                  <a:t>Encoding</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Converting</a:t>
                </a:r>
                <a:r>
                  <a:rPr lang="es-PE" sz="900" b="0" i="0" dirty="0">
                    <a:solidFill>
                      <a:schemeClr val="tx1"/>
                    </a:solidFill>
                    <a:effectLst/>
                    <a:latin typeface="Segoe WPC"/>
                  </a:rPr>
                  <a:t> </a:t>
                </a:r>
                <a:r>
                  <a:rPr lang="es-PE" sz="900" b="0" i="0" dirty="0" err="1">
                    <a:solidFill>
                      <a:schemeClr val="tx1"/>
                    </a:solidFill>
                    <a:effectLst/>
                    <a:latin typeface="Segoe WPC"/>
                  </a:rPr>
                  <a:t>qualitative</a:t>
                </a:r>
                <a:r>
                  <a:rPr lang="es-PE" sz="900" b="0" i="0" dirty="0">
                    <a:solidFill>
                      <a:schemeClr val="tx1"/>
                    </a:solidFill>
                    <a:effectLst/>
                    <a:latin typeface="Segoe WPC"/>
                  </a:rPr>
                  <a:t> </a:t>
                </a:r>
                <a:r>
                  <a:rPr lang="es-PE" sz="900" b="0" i="0" dirty="0" err="1">
                    <a:solidFill>
                      <a:schemeClr val="tx1"/>
                    </a:solidFill>
                    <a:effectLst/>
                    <a:latin typeface="Segoe WPC"/>
                  </a:rPr>
                  <a:t>information</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numerical</a:t>
                </a:r>
                <a:r>
                  <a:rPr lang="es-PE" sz="900" b="0" i="0" dirty="0">
                    <a:solidFill>
                      <a:schemeClr val="tx1"/>
                    </a:solidFill>
                    <a:effectLst/>
                    <a:latin typeface="Segoe WPC"/>
                  </a:rPr>
                  <a:t> inputs.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Unordered</a:t>
                </a:r>
                <a:r>
                  <a:rPr lang="es-PE" sz="900" b="0" i="0" dirty="0">
                    <a:solidFill>
                      <a:schemeClr val="tx1"/>
                    </a:solidFill>
                    <a:effectLst/>
                    <a:latin typeface="Segoe WPC"/>
                  </a:rPr>
                  <a:t> </a:t>
                </a:r>
                <a:r>
                  <a:rPr lang="es-PE" sz="900" b="0" i="0" dirty="0" err="1">
                    <a:solidFill>
                      <a:schemeClr val="tx1"/>
                    </a:solidFill>
                    <a:effectLst/>
                    <a:latin typeface="Segoe WPC"/>
                  </a:rPr>
                  <a:t>categories</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be </a:t>
                </a:r>
                <a:r>
                  <a:rPr lang="es-PE" sz="900" b="0" i="0" dirty="0" err="1">
                    <a:solidFill>
                      <a:schemeClr val="tx1"/>
                    </a:solidFill>
                    <a:effectLst/>
                    <a:latin typeface="Segoe WPC"/>
                  </a:rPr>
                  <a:t>represented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separate</a:t>
                </a:r>
                <a:r>
                  <a:rPr lang="es-PE" sz="900" b="0" i="0" dirty="0">
                    <a:solidFill>
                      <a:schemeClr val="tx1"/>
                    </a:solidFill>
                    <a:effectLst/>
                    <a:latin typeface="Segoe WPC"/>
                  </a:rPr>
                  <a:t> </a:t>
                </a:r>
                <a:r>
                  <a:rPr lang="es-PE" sz="900" b="0" i="0" dirty="0" err="1">
                    <a:solidFill>
                      <a:schemeClr val="tx1"/>
                    </a:solidFill>
                    <a:effectLst/>
                    <a:latin typeface="Segoe WPC"/>
                  </a:rPr>
                  <a:t>dummy</a:t>
                </a:r>
                <a:r>
                  <a:rPr lang="es-PE" sz="900" b="0" i="0" dirty="0">
                    <a:solidFill>
                      <a:schemeClr val="tx1"/>
                    </a:solidFill>
                    <a:effectLst/>
                    <a:latin typeface="Segoe WPC"/>
                  </a:rPr>
                  <a:t> variables; </a:t>
                </a:r>
                <a:r>
                  <a:rPr lang="es-PE" sz="900" b="0" i="0" dirty="0" err="1">
                    <a:solidFill>
                      <a:schemeClr val="tx1"/>
                    </a:solidFill>
                    <a:effectLst/>
                    <a:latin typeface="Segoe WPC"/>
                  </a:rPr>
                  <a:t>ordered</a:t>
                </a:r>
                <a:r>
                  <a:rPr lang="es-PE" sz="900" b="0" i="0" dirty="0">
                    <a:solidFill>
                      <a:schemeClr val="tx1"/>
                    </a:solidFill>
                    <a:effectLst/>
                    <a:latin typeface="Segoe WPC"/>
                  </a:rPr>
                  <a:t> </a:t>
                </a:r>
                <a:r>
                  <a:rPr lang="es-PE" sz="900" b="0" i="0" dirty="0" err="1">
                    <a:solidFill>
                      <a:schemeClr val="tx1"/>
                    </a:solidFill>
                    <a:effectLst/>
                    <a:latin typeface="Segoe WPC"/>
                  </a:rPr>
                  <a:t>categories</a:t>
                </a:r>
                <a:r>
                  <a:rPr lang="es-PE" sz="900" b="0" i="0" dirty="0">
                    <a:solidFill>
                      <a:schemeClr val="tx1"/>
                    </a:solidFill>
                    <a:effectLst/>
                    <a:latin typeface="Segoe WPC"/>
                  </a:rPr>
                  <a:t> can use </a:t>
                </a:r>
                <a:r>
                  <a:rPr lang="es-PE" sz="900" b="0" i="0" dirty="0" err="1">
                    <a:solidFill>
                      <a:schemeClr val="tx1"/>
                    </a:solidFill>
                    <a:effectLst/>
                    <a:latin typeface="Segoe WPC"/>
                  </a:rPr>
                  <a:t>integer</a:t>
                </a:r>
                <a:r>
                  <a:rPr lang="es-PE" sz="900" b="0" i="0" dirty="0">
                    <a:solidFill>
                      <a:schemeClr val="tx1"/>
                    </a:solidFill>
                    <a:effectLst/>
                    <a:latin typeface="Segoe WPC"/>
                  </a:rPr>
                  <a:t> </a:t>
                </a:r>
                <a:r>
                  <a:rPr lang="es-PE" sz="900" b="0" i="0" dirty="0" err="1">
                    <a:solidFill>
                      <a:schemeClr val="tx1"/>
                    </a:solidFill>
                    <a:effectLst/>
                    <a:latin typeface="Segoe WPC"/>
                  </a:rPr>
                  <a:t>coding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unordered</a:t>
                </a:r>
                <a:r>
                  <a:rPr lang="es-PE" sz="900" b="0" i="0" dirty="0">
                    <a:solidFill>
                      <a:schemeClr val="tx1"/>
                    </a:solidFill>
                    <a:effectLst/>
                    <a:latin typeface="Segoe WPC"/>
                  </a:rPr>
                  <a:t> </a:t>
                </a:r>
                <a:r>
                  <a:rPr lang="es-PE" sz="900" b="0" i="0" dirty="0" err="1">
                    <a:solidFill>
                      <a:schemeClr val="tx1"/>
                    </a:solidFill>
                    <a:effectLst/>
                    <a:latin typeface="Segoe WPC"/>
                  </a:rPr>
                  <a:t>categories</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category</a:t>
                </a:r>
                <a:r>
                  <a:rPr lang="es-PE" sz="900" b="0" i="0" dirty="0">
                    <a:solidFill>
                      <a:schemeClr val="tx1"/>
                    </a:solidFill>
                    <a:effectLst/>
                    <a:latin typeface="Segoe WPC"/>
                  </a:rPr>
                  <a:t> </a:t>
                </a:r>
                <a:r>
                  <a:rPr lang="es-PE" sz="900" b="0" i="0" dirty="0" err="1">
                    <a:solidFill>
                      <a:schemeClr val="tx1"/>
                    </a:solidFill>
                    <a:effectLst/>
                    <a:latin typeface="Segoe WPC"/>
                  </a:rPr>
                  <a:t>gets</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own</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/off switch.</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One-hot</a:t>
                </a:r>
                <a:r>
                  <a:rPr lang="es-PE" sz="900" b="0" i="0" dirty="0">
                    <a:solidFill>
                      <a:schemeClr val="tx1"/>
                    </a:solidFill>
                    <a:effectLst/>
                    <a:latin typeface="Segoe WPC"/>
                  </a:rPr>
                  <a:t> </a:t>
                </a:r>
                <a:r>
                  <a:rPr lang="es-PE" sz="900" b="0" i="0" dirty="0" err="1">
                    <a:solidFill>
                      <a:schemeClr val="tx1"/>
                    </a:solidFill>
                    <a:effectLst/>
                    <a:latin typeface="Segoe WPC"/>
                  </a:rPr>
                  <a:t>encoding</a:t>
                </a:r>
                <a:r>
                  <a:rPr lang="es-PE" sz="900" b="0" i="0" dirty="0">
                    <a:solidFill>
                      <a:schemeClr val="tx1"/>
                    </a:solidFill>
                    <a:effectLst/>
                    <a:latin typeface="Segoe WPC"/>
                  </a:rPr>
                  <a:t> uses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dummy</a:t>
                </a:r>
                <a:r>
                  <a:rPr lang="es-PE" sz="900" b="0" i="0" dirty="0">
                    <a:solidFill>
                      <a:schemeClr val="tx1"/>
                    </a:solidFill>
                    <a:effectLst/>
                    <a:latin typeface="Segoe WPC"/>
                  </a:rPr>
                  <a:t> per </a:t>
                </a:r>
                <a:r>
                  <a:rPr lang="es-PE" sz="900" b="0" i="0" dirty="0" err="1">
                    <a:solidFill>
                      <a:schemeClr val="tx1"/>
                    </a:solidFill>
                    <a:effectLst/>
                    <a:latin typeface="Segoe WPC"/>
                  </a:rPr>
                  <a:t>category</a:t>
                </a:r>
                <a:r>
                  <a:rPr lang="es-PE" sz="900" b="0" i="0" dirty="0">
                    <a:solidFill>
                      <a:schemeClr val="tx1"/>
                    </a:solidFill>
                    <a:effectLst/>
                    <a:latin typeface="Segoe WPC"/>
                  </a:rPr>
                  <a:t>; ordinal </a:t>
                </a:r>
                <a:r>
                  <a:rPr lang="es-PE" sz="900" b="0" i="0" dirty="0" err="1">
                    <a:solidFill>
                      <a:schemeClr val="tx1"/>
                    </a:solidFill>
                    <a:effectLst/>
                    <a:latin typeface="Segoe WPC"/>
                  </a:rPr>
                  <a:t>encoding</a:t>
                </a:r>
                <a:r>
                  <a:rPr lang="es-PE" sz="900" b="0" i="0" dirty="0">
                    <a:solidFill>
                      <a:schemeClr val="tx1"/>
                    </a:solidFill>
                    <a:effectLst/>
                    <a:latin typeface="Segoe WPC"/>
                  </a:rPr>
                  <a:t> uses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0</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1</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2</m:t>
                    </m:r>
                  </m:oMath>
                </a14:m>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order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meaningful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One-hot</a:t>
                </a:r>
                <a:r>
                  <a:rPr lang="es-PE" sz="900" b="0" i="0" dirty="0">
                    <a:solidFill>
                      <a:schemeClr val="tx1"/>
                    </a:solidFill>
                    <a:effectLst/>
                    <a:latin typeface="Segoe WPC"/>
                  </a:rPr>
                  <a:t> </a:t>
                </a:r>
                <a:r>
                  <a:rPr lang="es-PE" sz="900" b="0" i="0" dirty="0" err="1">
                    <a:solidFill>
                      <a:schemeClr val="tx1"/>
                    </a:solidFill>
                    <a:effectLst/>
                    <a:latin typeface="Segoe WPC"/>
                  </a:rPr>
                  <a:t>encoding</a:t>
                </a:r>
                <a:r>
                  <a:rPr lang="es-PE" sz="900" b="0" i="0" dirty="0">
                    <a:solidFill>
                      <a:schemeClr val="tx1"/>
                    </a:solidFill>
                    <a:effectLst/>
                    <a:latin typeface="Segoe WPC"/>
                  </a:rPr>
                  <a:t> </a:t>
                </a:r>
                <a:r>
                  <a:rPr lang="es-PE" sz="900" b="0" i="0" dirty="0" err="1">
                    <a:solidFill>
                      <a:schemeClr val="tx1"/>
                    </a:solidFill>
                    <a:effectLst/>
                    <a:latin typeface="Segoe WPC"/>
                  </a:rPr>
                  <a:t>avoids</a:t>
                </a:r>
                <a:r>
                  <a:rPr lang="es-PE" sz="900" b="0" i="0" dirty="0">
                    <a:solidFill>
                      <a:schemeClr val="tx1"/>
                    </a:solidFill>
                    <a:effectLst/>
                    <a:latin typeface="Segoe WPC"/>
                  </a:rPr>
                  <a:t> </a:t>
                </a:r>
                <a:r>
                  <a:rPr lang="es-PE" sz="900" b="0" i="0" dirty="0" err="1">
                    <a:solidFill>
                      <a:schemeClr val="tx1"/>
                    </a:solidFill>
                    <a:effectLst/>
                    <a:latin typeface="Segoe WPC"/>
                  </a:rPr>
                  <a:t>imposing</a:t>
                </a:r>
                <a:r>
                  <a:rPr lang="es-PE" sz="900" b="0" i="0" dirty="0">
                    <a:solidFill>
                      <a:schemeClr val="tx1"/>
                    </a:solidFill>
                    <a:effectLst/>
                    <a:latin typeface="Segoe WPC"/>
                  </a:rPr>
                  <a:t> a false ranking </a:t>
                </a:r>
                <a:r>
                  <a:rPr lang="es-PE" sz="900" b="0" i="0" dirty="0" err="1">
                    <a:solidFill>
                      <a:schemeClr val="tx1"/>
                    </a:solidFill>
                    <a:effectLst/>
                    <a:latin typeface="Segoe WPC"/>
                  </a:rPr>
                  <a:t>across</a:t>
                </a:r>
                <a:r>
                  <a:rPr lang="es-PE" sz="900" b="0" i="0" dirty="0">
                    <a:solidFill>
                      <a:schemeClr val="tx1"/>
                    </a:solidFill>
                    <a:effectLst/>
                    <a:latin typeface="Segoe WPC"/>
                  </a:rPr>
                  <a:t> </a:t>
                </a:r>
                <a:r>
                  <a:rPr lang="es-PE" sz="900" b="0" i="0" dirty="0" err="1">
                    <a:solidFill>
                      <a:schemeClr val="tx1"/>
                    </a:solidFill>
                    <a:effectLst/>
                    <a:latin typeface="Segoe WPC"/>
                  </a:rPr>
                  <a:t>categories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Never</a:t>
                </a:r>
                <a:r>
                  <a:rPr lang="es-PE" sz="900" b="0" i="0" dirty="0">
                    <a:solidFill>
                      <a:schemeClr val="tx1"/>
                    </a:solidFill>
                    <a:effectLst/>
                    <a:latin typeface="Segoe WPC"/>
                  </a:rPr>
                  <a:t> </a:t>
                </a:r>
                <a:r>
                  <a:rPr lang="es-PE" sz="900" b="0" i="0" dirty="0" err="1">
                    <a:solidFill>
                      <a:schemeClr val="tx1"/>
                    </a:solidFill>
                    <a:effectLst/>
                    <a:latin typeface="Segoe WPC"/>
                  </a:rPr>
                  <a:t>code</a:t>
                </a:r>
                <a:r>
                  <a:rPr lang="es-PE" sz="900" b="0" i="0" dirty="0">
                    <a:solidFill>
                      <a:schemeClr val="tx1"/>
                    </a:solidFill>
                    <a:effectLst/>
                    <a:latin typeface="Segoe WPC"/>
                  </a:rPr>
                  <a:t> </a:t>
                </a:r>
                <a:r>
                  <a:rPr lang="es-PE" sz="900" b="0" i="0" dirty="0" err="1">
                    <a:solidFill>
                      <a:schemeClr val="tx1"/>
                    </a:solidFill>
                    <a:effectLst/>
                    <a:latin typeface="Segoe WPC"/>
                  </a:rPr>
                  <a:t>unordered</a:t>
                </a:r>
                <a:r>
                  <a:rPr lang="es-PE" sz="900" b="0" i="0" dirty="0">
                    <a:solidFill>
                      <a:schemeClr val="tx1"/>
                    </a:solidFill>
                    <a:effectLst/>
                    <a:latin typeface="Segoe WPC"/>
                  </a:rPr>
                  <a:t> </a:t>
                </a:r>
                <a:r>
                  <a:rPr lang="es-PE" sz="900" b="0" i="0" dirty="0" err="1">
                    <a:solidFill>
                      <a:schemeClr val="tx1"/>
                    </a:solidFill>
                    <a:effectLst/>
                    <a:latin typeface="Segoe WPC"/>
                  </a:rPr>
                  <a:t>categories</a:t>
                </a:r>
                <a:r>
                  <a:rPr lang="es-PE" sz="900" b="0" i="0" dirty="0">
                    <a:solidFill>
                      <a:schemeClr val="tx1"/>
                    </a:solidFill>
                    <a:effectLst/>
                    <a:latin typeface="Segoe WPC"/>
                  </a:rPr>
                  <a:t> as </a:t>
                </a:r>
                <a14:m>
                  <m:oMath xmlns:m="http://schemas.openxmlformats.org/officeDocument/2006/math">
                    <m:r>
                      <a:rPr lang="es-PE" sz="900">
                        <a:solidFill>
                          <a:schemeClr val="tx1"/>
                        </a:solidFill>
                        <a:latin typeface="Cambria Math" panose="02040503050406030204" pitchFamily="18" charset="0"/>
                      </a:rPr>
                      <m:t>0</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1</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2</m:t>
                    </m:r>
                    <m:r>
                      <a:rPr lang="es-PE" sz="900" i="0">
                        <a:solidFill>
                          <a:schemeClr val="tx1"/>
                        </a:solidFill>
                        <a:latin typeface="Cambria Math" panose="02040503050406030204" pitchFamily="18" charset="0"/>
                      </a:rPr>
                      <m:t>,…</m:t>
                    </m:r>
                  </m:oMath>
                </a14:m>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creates</a:t>
                </a:r>
                <a:r>
                  <a:rPr lang="es-PE" sz="900" b="0" i="0" dirty="0">
                    <a:solidFill>
                      <a:schemeClr val="tx1"/>
                    </a:solidFill>
                    <a:effectLst/>
                    <a:latin typeface="Segoe WPC"/>
                  </a:rPr>
                  <a:t> artificial </a:t>
                </a:r>
                <a:r>
                  <a:rPr lang="es-PE" sz="900" b="0" i="0" dirty="0" err="1">
                    <a:solidFill>
                      <a:schemeClr val="tx1"/>
                    </a:solidFill>
                    <a:effectLst/>
                    <a:latin typeface="Segoe WPC"/>
                  </a:rPr>
                  <a:t>order</a:t>
                </a:r>
                <a:r>
                  <a:rPr lang="es-PE" sz="900" b="0" i="0" dirty="0">
                    <a:solidFill>
                      <a:schemeClr val="tx1"/>
                    </a:solidFill>
                    <a:effectLst/>
                    <a:latin typeface="Segoe WPC"/>
                  </a:rPr>
                  <a:t> and </a:t>
                </a:r>
                <a:r>
                  <a:rPr lang="es-PE" sz="900" b="0" i="0" dirty="0" err="1">
                    <a:solidFill>
                      <a:schemeClr val="tx1"/>
                    </a:solidFill>
                    <a:effectLst/>
                    <a:latin typeface="Segoe WPC"/>
                  </a:rPr>
                  <a:t>distance</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2. </a:t>
                </a:r>
                <a:r>
                  <a:rPr lang="es-PE" sz="900" b="1" i="0" dirty="0" err="1">
                    <a:solidFill>
                      <a:schemeClr val="tx1"/>
                    </a:solidFill>
                    <a:effectLst/>
                    <a:latin typeface="Segoe WPC"/>
                  </a:rPr>
                  <a:t>Regularization</a:t>
                </a:r>
                <a:r>
                  <a:rPr lang="es-PE" sz="900" b="1" i="0" dirty="0">
                    <a:solidFill>
                      <a:schemeClr val="tx1"/>
                    </a:solidFill>
                    <a:effectLst/>
                    <a:latin typeface="Segoe WPC"/>
                  </a:rPr>
                  <a:t>: Ridge, LASSO, and </a:t>
                </a:r>
                <a:r>
                  <a:rPr lang="es-PE" sz="900" b="1" i="0" dirty="0" err="1">
                    <a:solidFill>
                      <a:schemeClr val="tx1"/>
                    </a:solidFill>
                    <a:effectLst/>
                    <a:latin typeface="Segoe WPC"/>
                  </a:rPr>
                  <a:t>Elastic</a:t>
                </a:r>
                <a:r>
                  <a:rPr lang="es-PE" sz="900" b="1" i="0" dirty="0">
                    <a:solidFill>
                      <a:schemeClr val="tx1"/>
                    </a:solidFill>
                    <a:effectLst/>
                    <a:latin typeface="Segoe WPC"/>
                  </a:rPr>
                  <a:t> Net</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Linear </a:t>
                </a:r>
                <a:r>
                  <a:rPr lang="es-PE" sz="900" b="0" i="0" dirty="0" err="1">
                    <a:solidFill>
                      <a:schemeClr val="tx1"/>
                    </a:solidFill>
                    <a:effectLst/>
                    <a:latin typeface="Segoe WPC"/>
                  </a:rPr>
                  <a:t>prediction</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penalties</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shrink</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there</a:t>
                </a:r>
                <a:r>
                  <a:rPr lang="es-PE" sz="900" b="0" i="0" dirty="0">
                    <a:solidFill>
                      <a:schemeClr val="tx1"/>
                    </a:solidFill>
                    <a:effectLst/>
                    <a:latin typeface="Segoe WPC"/>
                  </a:rPr>
                  <a:t> are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correlated</a:t>
                </a:r>
                <a:r>
                  <a:rPr lang="es-PE" sz="900" b="0" i="0" dirty="0">
                    <a:solidFill>
                      <a:schemeClr val="tx1"/>
                    </a:solidFill>
                    <a:effectLst/>
                    <a:latin typeface="Segoe WPC"/>
                  </a:rPr>
                  <a:t> </a:t>
                </a:r>
                <a:r>
                  <a:rPr lang="es-PE" sz="900" b="0" i="0" dirty="0" err="1">
                    <a:solidFill>
                      <a:schemeClr val="tx1"/>
                    </a:solidFill>
                    <a:effectLst/>
                    <a:latin typeface="Segoe WPC"/>
                  </a:rPr>
                  <a:t>features</a:t>
                </a:r>
                <a:r>
                  <a:rPr lang="es-PE" sz="900" b="0" i="0" dirty="0">
                    <a:solidFill>
                      <a:schemeClr val="tx1"/>
                    </a:solidFill>
                    <a:effectLst/>
                    <a:latin typeface="Segoe WPC"/>
                  </a:rPr>
                  <a:t>, OLS can produce </a:t>
                </a:r>
                <a:r>
                  <a:rPr lang="es-PE" sz="900" b="0" i="0" dirty="0" err="1">
                    <a:solidFill>
                      <a:schemeClr val="tx1"/>
                    </a:solidFill>
                    <a:effectLst/>
                    <a:latin typeface="Segoe WPC"/>
                  </a:rPr>
                  <a:t>unstable</a:t>
                </a:r>
                <a:r>
                  <a:rPr lang="es-PE" sz="900" b="0" i="0" dirty="0">
                    <a:solidFill>
                      <a:schemeClr val="tx1"/>
                    </a:solidFill>
                    <a:effectLst/>
                    <a:latin typeface="Segoe WPC"/>
                  </a:rPr>
                  <a:t>, </a:t>
                </a:r>
                <a:r>
                  <a:rPr lang="es-PE" sz="900" b="0" i="0" dirty="0" err="1">
                    <a:solidFill>
                      <a:schemeClr val="tx1"/>
                    </a:solidFill>
                    <a:effectLst/>
                    <a:latin typeface="Segoe WPC"/>
                  </a:rPr>
                  <a:t>offsetting</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a:t>
                </a:r>
                <a:r>
                  <a:rPr lang="es-PE" sz="900" b="0" i="0" dirty="0" err="1">
                    <a:solidFill>
                      <a:schemeClr val="tx1"/>
                    </a:solidFill>
                    <a:effectLst/>
                    <a:latin typeface="Segoe WPC"/>
                  </a:rPr>
                  <a:t>regularization</a:t>
                </a:r>
                <a:r>
                  <a:rPr lang="es-PE" sz="900" b="0" i="0" dirty="0">
                    <a:solidFill>
                      <a:schemeClr val="tx1"/>
                    </a:solidFill>
                    <a:effectLst/>
                    <a:latin typeface="Segoe WPC"/>
                  </a:rPr>
                  <a:t> </a:t>
                </a:r>
                <a:r>
                  <a:rPr lang="es-PE" sz="900" b="0" i="0" dirty="0" err="1">
                    <a:solidFill>
                      <a:schemeClr val="tx1"/>
                    </a:solidFill>
                    <a:effectLst/>
                    <a:latin typeface="Segoe WPC"/>
                  </a:rPr>
                  <a:t>keeps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smaller</a:t>
                </a:r>
                <a:r>
                  <a:rPr lang="es-PE" sz="900" b="0" i="0" dirty="0">
                    <a:solidFill>
                      <a:schemeClr val="tx1"/>
                    </a:solidFill>
                    <a:effectLst/>
                    <a:latin typeface="Segoe WPC"/>
                  </a:rPr>
                  <a:t> and more </a:t>
                </a:r>
                <a:r>
                  <a:rPr lang="es-PE" sz="900" b="0" i="0" dirty="0" err="1">
                    <a:solidFill>
                      <a:schemeClr val="tx1"/>
                    </a:solidFill>
                    <a:effectLst/>
                    <a:latin typeface="Segoe WPC"/>
                  </a:rPr>
                  <a:t>robust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Pull</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back </a:t>
                </a:r>
                <a:r>
                  <a:rPr lang="es-PE" sz="900" b="0" i="0" dirty="0" err="1">
                    <a:solidFill>
                      <a:schemeClr val="tx1"/>
                    </a:solidFill>
                    <a:effectLst/>
                    <a:latin typeface="Segoe WPC"/>
                  </a:rPr>
                  <a:t>toward</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 so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becomes</a:t>
                </a:r>
                <a:r>
                  <a:rPr lang="es-PE" sz="900" b="0" i="0" dirty="0">
                    <a:solidFill>
                      <a:schemeClr val="tx1"/>
                    </a:solidFill>
                    <a:effectLst/>
                    <a:latin typeface="Segoe WPC"/>
                  </a:rPr>
                  <a:t> </a:t>
                </a:r>
                <a:r>
                  <a:rPr lang="es-PE" sz="900" b="0" i="0" dirty="0" err="1">
                    <a:solidFill>
                      <a:schemeClr val="tx1"/>
                    </a:solidFill>
                    <a:effectLst/>
                    <a:latin typeface="Segoe WPC"/>
                  </a:rPr>
                  <a:t>smoother</a:t>
                </a:r>
                <a:r>
                  <a:rPr lang="es-PE" sz="900" b="0" i="0" dirty="0">
                    <a:solidFill>
                      <a:schemeClr val="tx1"/>
                    </a:solidFill>
                    <a:effectLst/>
                    <a:latin typeface="Segoe WPC"/>
                  </a:rPr>
                  <a:t> and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fragile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Ridge </a:t>
                </a:r>
                <a:r>
                  <a:rPr lang="es-PE" sz="900" b="0" i="0" dirty="0" err="1">
                    <a:solidFill>
                      <a:schemeClr val="tx1"/>
                    </a:solidFill>
                    <a:effectLst/>
                    <a:latin typeface="Segoe WPC"/>
                  </a:rPr>
                  <a:t>minimizes</a:t>
                </a:r>
                <a:r>
                  <a:rPr lang="es-PE" sz="900" b="0" i="0" dirty="0">
                    <a:solidFill>
                      <a:schemeClr val="tx1"/>
                    </a:solidFill>
                    <a:effectLst/>
                    <a:latin typeface="Segoe WPC"/>
                  </a:rPr>
                  <a:t> RSS </a:t>
                </a:r>
                <a14:m>
                  <m:oMath xmlns:m="http://schemas.openxmlformats.org/officeDocument/2006/math">
                    <m:r>
                      <a:rPr lang="es-PE" sz="90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𝜆</m:t>
                    </m:r>
                    <m:nary>
                      <m:naryPr>
                        <m:chr m:val="∑"/>
                        <m:grow m:val="on"/>
                        <m:subHide m:val="on"/>
                        <m:supHide m:val="on"/>
                        <m:ctrlPr>
                          <a:rPr lang="ar-AE" sz="900" i="1">
                            <a:solidFill>
                              <a:schemeClr val="tx1"/>
                            </a:solidFill>
                            <a:latin typeface="Cambria Math" panose="02040503050406030204" pitchFamily="18" charset="0"/>
                          </a:rPr>
                        </m:ctrlPr>
                      </m:naryPr>
                      <m:sub/>
                      <m:sup/>
                      <m:e>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𝛽</m:t>
                            </m:r>
                          </m:e>
                          <m:sub>
                            <m:r>
                              <a:rPr lang="ar-AE" sz="900" i="1">
                                <a:solidFill>
                                  <a:schemeClr val="tx1"/>
                                </a:solidFill>
                                <a:latin typeface="Cambria Math" panose="02040503050406030204" pitchFamily="18" charset="0"/>
                              </a:rPr>
                              <m:t>𝑖</m:t>
                            </m:r>
                          </m:sub>
                          <m:sup>
                            <m:r>
                              <a:rPr lang="ar-AE" sz="900" i="0">
                                <a:solidFill>
                                  <a:schemeClr val="tx1"/>
                                </a:solidFill>
                                <a:latin typeface="Cambria Math" panose="02040503050406030204" pitchFamily="18" charset="0"/>
                              </a:rPr>
                              <m:t>2</m:t>
                            </m:r>
                          </m:sup>
                        </m:sSubSup>
                      </m:e>
                    </m:nary>
                  </m:oMath>
                </a14:m>
                <a:r>
                  <a:rPr lang="ar-AE" sz="900" b="0" i="0" dirty="0">
                    <a:solidFill>
                      <a:schemeClr val="tx1"/>
                    </a:solidFill>
                    <a:effectLst/>
                    <a:latin typeface="Segoe WPC"/>
                  </a:rPr>
                  <a:t>; </a:t>
                </a:r>
                <a:r>
                  <a:rPr lang="es-PE" sz="900" b="0" i="0" dirty="0">
                    <a:solidFill>
                      <a:schemeClr val="tx1"/>
                    </a:solidFill>
                    <a:effectLst/>
                    <a:latin typeface="Segoe WPC"/>
                  </a:rPr>
                  <a:t>LASSO </a:t>
                </a:r>
                <a:r>
                  <a:rPr lang="es-PE" sz="900" b="0" i="0" dirty="0" err="1">
                    <a:solidFill>
                      <a:schemeClr val="tx1"/>
                    </a:solidFill>
                    <a:effectLst/>
                    <a:latin typeface="Segoe WPC"/>
                  </a:rPr>
                  <a:t>minimizes</a:t>
                </a:r>
                <a:r>
                  <a:rPr lang="es-PE" sz="900" b="0" i="0" dirty="0">
                    <a:solidFill>
                      <a:schemeClr val="tx1"/>
                    </a:solidFill>
                    <a:effectLst/>
                    <a:latin typeface="Segoe WPC"/>
                  </a:rPr>
                  <a:t> RSS </a:t>
                </a:r>
                <a14:m>
                  <m:oMath xmlns:m="http://schemas.openxmlformats.org/officeDocument/2006/math">
                    <m:r>
                      <a:rPr lang="es-PE" sz="90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𝜆</m:t>
                    </m:r>
                    <m:nary>
                      <m:naryPr>
                        <m:chr m:val="∑"/>
                        <m:grow m:val="on"/>
                        <m:subHide m:val="on"/>
                        <m:supHide m:val="on"/>
                        <m:ctrlPr>
                          <a:rPr lang="ar-AE" sz="900" i="1">
                            <a:solidFill>
                              <a:schemeClr val="tx1"/>
                            </a:solidFill>
                            <a:latin typeface="Cambria Math" panose="02040503050406030204" pitchFamily="18" charset="0"/>
                          </a:rPr>
                        </m:ctrlPr>
                      </m:naryPr>
                      <m:sub/>
                      <m:sup/>
                      <m:e>
                        <m:r>
                          <a:rPr lang="ar-AE" sz="900" i="0">
                            <a:solidFill>
                              <a:schemeClr val="tx1"/>
                            </a:solidFill>
                            <a:latin typeface="Cambria Math" panose="02040503050406030204" pitchFamily="18" charset="0"/>
                          </a:rPr>
                          <m:t>∣</m:t>
                        </m:r>
                      </m:e>
                    </m:nary>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oMath>
                </a14:m>
                <a:r>
                  <a:rPr lang="ar-AE" sz="900" b="0" i="0" dirty="0">
                    <a:solidFill>
                      <a:schemeClr val="tx1"/>
                    </a:solidFill>
                    <a:effectLst/>
                    <a:latin typeface="Segoe WPC"/>
                  </a:rPr>
                  <a:t>; </a:t>
                </a:r>
                <a:r>
                  <a:rPr lang="es-PE" sz="900" b="0" i="0" dirty="0" err="1">
                    <a:solidFill>
                      <a:schemeClr val="tx1"/>
                    </a:solidFill>
                    <a:effectLst/>
                    <a:latin typeface="Segoe WPC"/>
                  </a:rPr>
                  <a:t>Elastic</a:t>
                </a:r>
                <a:r>
                  <a:rPr lang="es-PE" sz="900" b="0" i="0" dirty="0">
                    <a:solidFill>
                      <a:schemeClr val="tx1"/>
                    </a:solidFill>
                    <a:effectLst/>
                    <a:latin typeface="Segoe WPC"/>
                  </a:rPr>
                  <a:t> Net combines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penalties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Ridge </a:t>
                </a:r>
                <a:r>
                  <a:rPr lang="es-PE" sz="900" b="0" i="0" dirty="0" err="1">
                    <a:solidFill>
                      <a:schemeClr val="tx1"/>
                    </a:solidFill>
                    <a:effectLst/>
                    <a:latin typeface="Segoe WPC"/>
                  </a:rPr>
                  <a:t>shrinks</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keeps</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variables; LASSO can set </a:t>
                </a:r>
                <a:r>
                  <a:rPr lang="es-PE" sz="900" b="0" i="0" dirty="0" err="1">
                    <a:solidFill>
                      <a:schemeClr val="tx1"/>
                    </a:solidFill>
                    <a:effectLst/>
                    <a:latin typeface="Segoe WPC"/>
                  </a:rPr>
                  <a:t>some</a:t>
                </a:r>
                <a:r>
                  <a:rPr lang="es-PE" sz="900" b="0" i="0" dirty="0">
                    <a:solidFill>
                      <a:schemeClr val="tx1"/>
                    </a:solidFill>
                    <a:effectLst/>
                    <a:latin typeface="Segoe WPC"/>
                  </a:rPr>
                  <a:t> </a:t>
                </a:r>
                <a:r>
                  <a:rPr lang="es-PE" sz="900" b="0" i="0" dirty="0" err="1">
                    <a:solidFill>
                      <a:schemeClr val="tx1"/>
                    </a:solidFill>
                    <a:effectLst/>
                    <a:latin typeface="Segoe WPC"/>
                  </a:rPr>
                  <a:t>coefficients</a:t>
                </a:r>
                <a:r>
                  <a:rPr lang="es-PE" sz="900" b="0" i="0" dirty="0">
                    <a:solidFill>
                      <a:schemeClr val="tx1"/>
                    </a:solidFill>
                    <a:effectLst/>
                    <a:latin typeface="Segoe WPC"/>
                  </a:rPr>
                  <a:t> </a:t>
                </a:r>
                <a:r>
                  <a:rPr lang="es-PE" sz="900" b="0" i="0" dirty="0" err="1">
                    <a:solidFill>
                      <a:schemeClr val="tx1"/>
                    </a:solidFill>
                    <a:effectLst/>
                    <a:latin typeface="Segoe WPC"/>
                  </a:rPr>
                  <a:t>exactly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 and </a:t>
                </a:r>
                <a:r>
                  <a:rPr lang="es-PE" sz="900" b="0" i="0" dirty="0" err="1">
                    <a:solidFill>
                      <a:schemeClr val="tx1"/>
                    </a:solidFill>
                    <a:effectLst/>
                    <a:latin typeface="Segoe WPC"/>
                  </a:rPr>
                  <a:t>acts</a:t>
                </a:r>
                <a:r>
                  <a:rPr lang="es-PE" sz="900" b="0" i="0" dirty="0">
                    <a:solidFill>
                      <a:schemeClr val="tx1"/>
                    </a:solidFill>
                    <a:effectLst/>
                    <a:latin typeface="Segoe WPC"/>
                  </a:rPr>
                  <a:t> as </a:t>
                </a:r>
                <a:r>
                  <a:rPr lang="es-PE" sz="900" b="0" i="0" dirty="0" err="1">
                    <a:solidFill>
                      <a:schemeClr val="tx1"/>
                    </a:solidFill>
                    <a:effectLst/>
                    <a:latin typeface="Segoe WPC"/>
                  </a:rPr>
                  <a:t>feature</a:t>
                </a:r>
                <a:r>
                  <a:rPr lang="es-PE" sz="900" b="0" i="0" dirty="0">
                    <a:solidFill>
                      <a:schemeClr val="tx1"/>
                    </a:solidFill>
                    <a:effectLst/>
                    <a:latin typeface="Segoe WPC"/>
                  </a:rPr>
                  <a:t> </a:t>
                </a:r>
                <a:r>
                  <a:rPr lang="es-PE" sz="900" b="0" i="0" dirty="0" err="1">
                    <a:solidFill>
                      <a:schemeClr val="tx1"/>
                    </a:solidFill>
                    <a:effectLst/>
                    <a:latin typeface="Segoe WPC"/>
                  </a:rPr>
                  <a:t>selection</a:t>
                </a:r>
                <a:r>
                  <a:rPr lang="es-PE" sz="900" b="0" i="0" dirty="0">
                    <a:solidFill>
                      <a:schemeClr val="tx1"/>
                    </a:solidFill>
                    <a:effectLst/>
                    <a:latin typeface="Segoe WPC"/>
                  </a:rPr>
                  <a:t>; </a:t>
                </a:r>
                <a:r>
                  <a:rPr lang="es-PE" sz="900" b="0" i="0" dirty="0" err="1">
                    <a:solidFill>
                      <a:schemeClr val="tx1"/>
                    </a:solidFill>
                    <a:effectLst/>
                    <a:latin typeface="Segoe WPC"/>
                  </a:rPr>
                  <a:t>Elastic</a:t>
                </a:r>
                <a:r>
                  <a:rPr lang="es-PE" sz="900" b="0" i="0" dirty="0">
                    <a:solidFill>
                      <a:schemeClr val="tx1"/>
                    </a:solidFill>
                    <a:effectLst/>
                    <a:latin typeface="Segoe WPC"/>
                  </a:rPr>
                  <a:t> Net mixes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effects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tuning</a:t>
                </a:r>
                <a:r>
                  <a:rPr lang="es-PE" sz="900" b="0" i="0" dirty="0">
                    <a:solidFill>
                      <a:schemeClr val="tx1"/>
                    </a:solidFill>
                    <a:effectLst/>
                    <a:latin typeface="Segoe WPC"/>
                  </a:rPr>
                  <a:t> </a:t>
                </a:r>
                <a:r>
                  <a:rPr lang="es-PE" sz="900" b="0" i="0" dirty="0" err="1">
                    <a:solidFill>
                      <a:schemeClr val="tx1"/>
                    </a:solidFill>
                    <a:effectLst/>
                    <a:latin typeface="Segoe WPC"/>
                  </a:rPr>
                  <a:t>parameter</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𝜆</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hyperparameter</a:t>
                </a:r>
                <a:r>
                  <a:rPr lang="es-PE" sz="900" b="0" i="0" dirty="0">
                    <a:solidFill>
                      <a:schemeClr val="tx1"/>
                    </a:solidFill>
                    <a:effectLst/>
                    <a:latin typeface="Segoe WPC"/>
                  </a:rPr>
                  <a:t> </a:t>
                </a:r>
                <a:r>
                  <a:rPr lang="es-PE" sz="900" b="0" i="0" dirty="0" err="1">
                    <a:solidFill>
                      <a:schemeClr val="tx1"/>
                    </a:solidFill>
                    <a:effectLst/>
                    <a:latin typeface="Segoe WPC"/>
                  </a:rPr>
                  <a:t>chosen</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training/</a:t>
                </a:r>
                <a:r>
                  <a:rPr lang="es-PE" sz="900" b="0" i="0" dirty="0" err="1">
                    <a:solidFill>
                      <a:schemeClr val="tx1"/>
                    </a:solidFill>
                    <a:effectLst/>
                    <a:latin typeface="Segoe WPC"/>
                  </a:rPr>
                  <a:t>validation</a:t>
                </a:r>
                <a:r>
                  <a:rPr lang="es-PE" sz="900" b="0" i="0" dirty="0">
                    <a:solidFill>
                      <a:schemeClr val="tx1"/>
                    </a:solidFill>
                    <a:effectLst/>
                    <a:latin typeface="Segoe WPC"/>
                  </a:rPr>
                  <a:t>/test </a:t>
                </a:r>
                <a:r>
                  <a:rPr lang="es-PE" sz="900" b="0" i="0" dirty="0" err="1">
                    <a:solidFill>
                      <a:schemeClr val="tx1"/>
                    </a:solidFill>
                    <a:effectLst/>
                    <a:latin typeface="Segoe WPC"/>
                  </a:rPr>
                  <a:t>splits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Ridge and LASSO are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Ridge </a:t>
                </a:r>
                <a:r>
                  <a:rPr lang="es-PE" sz="900" b="0" i="0" dirty="0" err="1">
                    <a:solidFill>
                      <a:schemeClr val="tx1"/>
                    </a:solidFill>
                    <a:effectLst/>
                    <a:latin typeface="Segoe WPC"/>
                  </a:rPr>
                  <a:t>shrinks</a:t>
                </a:r>
                <a:r>
                  <a:rPr lang="es-PE" sz="900" b="0" i="0" dirty="0">
                    <a:solidFill>
                      <a:schemeClr val="tx1"/>
                    </a:solidFill>
                    <a:effectLst/>
                    <a:latin typeface="Segoe WPC"/>
                  </a:rPr>
                  <a:t>, LASSO can </a:t>
                </a:r>
                <a:r>
                  <a:rPr lang="es-PE" sz="900" b="0" i="0" dirty="0" err="1">
                    <a:solidFill>
                      <a:schemeClr val="tx1"/>
                    </a:solidFill>
                    <a:effectLst/>
                    <a:latin typeface="Segoe WPC"/>
                  </a:rPr>
                  <a:t>eliminate</a:t>
                </a:r>
                <a:r>
                  <a:rPr lang="es-PE" sz="900" b="0" i="0" dirty="0">
                    <a:solidFill>
                      <a:schemeClr val="tx1"/>
                    </a:solidFill>
                    <a:effectLst/>
                    <a:latin typeface="Segoe WPC"/>
                  </a:rPr>
                  <a:t> </a:t>
                </a:r>
                <a:r>
                  <a:rPr lang="es-PE" sz="900" b="0" i="0" dirty="0" err="1">
                    <a:solidFill>
                      <a:schemeClr val="tx1"/>
                    </a:solidFill>
                    <a:effectLst/>
                    <a:latin typeface="Segoe WPC"/>
                  </a:rPr>
                  <a:t>features</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3. </a:t>
                </a:r>
                <a:r>
                  <a:rPr lang="es-PE" sz="900" b="1" i="0" dirty="0" err="1">
                    <a:solidFill>
                      <a:schemeClr val="tx1"/>
                    </a:solidFill>
                    <a:effectLst/>
                    <a:latin typeface="Segoe WPC"/>
                  </a:rPr>
                  <a:t>Logistic</a:t>
                </a:r>
                <a:r>
                  <a:rPr lang="es-PE" sz="900" b="1" i="0" dirty="0">
                    <a:solidFill>
                      <a:schemeClr val="tx1"/>
                    </a:solidFill>
                    <a:effectLst/>
                    <a:latin typeface="Segoe WPC"/>
                  </a:rPr>
                  <a:t> </a:t>
                </a:r>
                <a:r>
                  <a:rPr lang="es-PE" sz="900" b="1" i="0" dirty="0" err="1">
                    <a:solidFill>
                      <a:schemeClr val="tx1"/>
                    </a:solidFill>
                    <a:effectLst/>
                    <a:latin typeface="Segoe WPC"/>
                  </a:rPr>
                  <a:t>Regression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Predicting</a:t>
                </a:r>
                <a:r>
                  <a:rPr lang="es-PE" sz="900" b="0" i="0" dirty="0">
                    <a:solidFill>
                      <a:schemeClr val="tx1"/>
                    </a:solidFill>
                    <a:effectLst/>
                    <a:latin typeface="Segoe WPC"/>
                  </a:rPr>
                  <a:t> a </a:t>
                </a:r>
                <a:r>
                  <a:rPr lang="es-PE" sz="900" b="0" i="0" dirty="0" err="1">
                    <a:solidFill>
                      <a:schemeClr val="tx1"/>
                    </a:solidFill>
                    <a:effectLst/>
                    <a:latin typeface="Segoe WPC"/>
                  </a:rPr>
                  <a:t>binary</a:t>
                </a:r>
                <a:r>
                  <a:rPr lang="es-PE" sz="900" b="0" i="0" dirty="0">
                    <a:solidFill>
                      <a:schemeClr val="tx1"/>
                    </a:solidFill>
                    <a:effectLst/>
                    <a:latin typeface="Segoe WPC"/>
                  </a:rPr>
                  <a:t> </a:t>
                </a:r>
                <a:r>
                  <a:rPr lang="es-PE" sz="900" b="0" i="0" dirty="0" err="1">
                    <a:solidFill>
                      <a:schemeClr val="tx1"/>
                    </a:solidFill>
                    <a:effectLst/>
                    <a:latin typeface="Segoe WPC"/>
                  </a:rPr>
                  <a:t>outcome</a:t>
                </a:r>
                <a:r>
                  <a:rPr lang="es-PE" sz="900" b="0" i="0" dirty="0">
                    <a:solidFill>
                      <a:schemeClr val="tx1"/>
                    </a:solidFill>
                    <a:effectLst/>
                    <a:latin typeface="Segoe WPC"/>
                  </a:rPr>
                  <a:t> as a </a:t>
                </a:r>
                <a:r>
                  <a:rPr lang="es-PE" sz="900" b="0" i="0" dirty="0" err="1">
                    <a:solidFill>
                      <a:schemeClr val="tx1"/>
                    </a:solidFill>
                    <a:effectLst/>
                    <a:latin typeface="Segoe WPC"/>
                  </a:rPr>
                  <a:t>probability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yes/no </a:t>
                </a:r>
                <a:r>
                  <a:rPr lang="es-PE" sz="900" b="0" i="0" dirty="0" err="1">
                    <a:solidFill>
                      <a:schemeClr val="tx1"/>
                    </a:solidFill>
                    <a:effectLst/>
                    <a:latin typeface="Segoe WPC"/>
                  </a:rPr>
                  <a:t>problems</a:t>
                </a:r>
                <a:r>
                  <a:rPr lang="es-PE" sz="900" b="0" i="0" dirty="0">
                    <a:solidFill>
                      <a:schemeClr val="tx1"/>
                    </a:solidFill>
                    <a:effectLst/>
                    <a:latin typeface="Segoe WPC"/>
                  </a:rPr>
                  <a:t>, linear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inappropriate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predicted</a:t>
                </a:r>
                <a:r>
                  <a:rPr lang="es-PE" sz="900" b="0" i="0" dirty="0">
                    <a:solidFill>
                      <a:schemeClr val="tx1"/>
                    </a:solidFill>
                    <a:effectLst/>
                    <a:latin typeface="Segoe WPC"/>
                  </a:rPr>
                  <a:t> </a:t>
                </a:r>
                <a:r>
                  <a:rPr lang="es-PE" sz="900" b="0" i="0" dirty="0" err="1">
                    <a:solidFill>
                      <a:schemeClr val="tx1"/>
                    </a:solidFill>
                    <a:effectLst/>
                    <a:latin typeface="Segoe WPC"/>
                  </a:rPr>
                  <a:t>probabilities</a:t>
                </a:r>
                <a:r>
                  <a:rPr lang="es-PE" sz="900" b="0" i="0" dirty="0">
                    <a:solidFill>
                      <a:schemeClr val="tx1"/>
                    </a:solidFill>
                    <a:effectLst/>
                    <a:latin typeface="Segoe WPC"/>
                  </a:rPr>
                  <a:t> can </a:t>
                </a:r>
                <a:r>
                  <a:rPr lang="es-PE" sz="900" b="0" i="0" dirty="0" err="1">
                    <a:solidFill>
                      <a:schemeClr val="tx1"/>
                    </a:solidFill>
                    <a:effectLst/>
                    <a:latin typeface="Segoe WPC"/>
                  </a:rPr>
                  <a:t>fall</a:t>
                </a:r>
                <a:r>
                  <a:rPr lang="es-PE" sz="900" b="0" i="0" dirty="0">
                    <a:solidFill>
                      <a:schemeClr val="tx1"/>
                    </a:solidFill>
                    <a:effectLst/>
                    <a:latin typeface="Segoe WPC"/>
                  </a:rPr>
                  <a:t> </a:t>
                </a:r>
                <a:r>
                  <a:rPr lang="es-PE" sz="900" b="0" i="0" dirty="0" err="1">
                    <a:solidFill>
                      <a:schemeClr val="tx1"/>
                    </a:solidFill>
                    <a:effectLst/>
                    <a:latin typeface="Segoe WPC"/>
                  </a:rPr>
                  <a:t>outside</a:t>
                </a:r>
                <a:r>
                  <a:rPr lang="es-PE" sz="900" b="0" i="0" dirty="0">
                    <a:solidFill>
                      <a:schemeClr val="tx1"/>
                    </a:solidFill>
                    <a:effectLst/>
                    <a:latin typeface="Segoe WPC"/>
                  </a:rPr>
                  <a:t> </a:t>
                </a:r>
                <a14:m>
                  <m:oMath xmlns:m="http://schemas.openxmlformats.org/officeDocument/2006/math">
                    <m:d>
                      <m:dPr>
                        <m:begChr m:val="["/>
                        <m:endChr m:val="]"/>
                        <m:sepChr m:val=","/>
                        <m:ctrlPr>
                          <a:rPr lang="ar-AE" sz="900" i="1">
                            <a:solidFill>
                              <a:schemeClr val="tx1"/>
                            </a:solidFill>
                            <a:latin typeface="Cambria Math" panose="02040503050406030204" pitchFamily="18" charset="0"/>
                          </a:rPr>
                        </m:ctrlPr>
                      </m:dPr>
                      <m:e>
                        <m:r>
                          <a:rPr lang="ar-AE" sz="900">
                            <a:solidFill>
                              <a:schemeClr val="tx1"/>
                            </a:solidFill>
                            <a:latin typeface="Cambria Math" panose="02040503050406030204" pitchFamily="18" charset="0"/>
                          </a:rPr>
                          <m:t>0</m:t>
                        </m:r>
                      </m:e>
                      <m:e>
                        <m:r>
                          <a:rPr lang="ar-AE" sz="900" i="0">
                            <a:solidFill>
                              <a:schemeClr val="tx1"/>
                            </a:solidFill>
                            <a:latin typeface="Cambria Math" panose="02040503050406030204" pitchFamily="18" charset="0"/>
                          </a:rPr>
                          <m:t>1</m:t>
                        </m:r>
                      </m:e>
                    </m:d>
                  </m:oMath>
                </a14:m>
                <a:r>
                  <a:rPr lang="ar-AE" sz="900" b="0" i="0" dirty="0">
                    <a:solidFill>
                      <a:schemeClr val="tx1"/>
                    </a:solidFill>
                    <a:effectLst/>
                    <a:latin typeface="Segoe WPC"/>
                  </a:rPr>
                  <a:t>; </a:t>
                </a:r>
                <a:r>
                  <a:rPr lang="es-PE" sz="900" b="0" i="0" dirty="0" err="1">
                    <a:solidFill>
                      <a:schemeClr val="tx1"/>
                    </a:solidFill>
                    <a:effectLst/>
                    <a:latin typeface="Segoe WPC"/>
                  </a:rPr>
                  <a:t>logistic</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 </a:t>
                </a:r>
                <a:r>
                  <a:rPr lang="es-PE" sz="900" b="0" i="0" dirty="0" err="1">
                    <a:solidFill>
                      <a:schemeClr val="tx1"/>
                    </a:solidFill>
                    <a:effectLst/>
                    <a:latin typeface="Segoe WPC"/>
                  </a:rPr>
                  <a:t>maps</a:t>
                </a:r>
                <a:r>
                  <a:rPr lang="es-PE" sz="900" b="0" i="0" dirty="0">
                    <a:solidFill>
                      <a:schemeClr val="tx1"/>
                    </a:solidFill>
                    <a:effectLst/>
                    <a:latin typeface="Segoe WPC"/>
                  </a:rPr>
                  <a:t> a linear score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range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straight</a:t>
                </a:r>
                <a:r>
                  <a:rPr lang="es-PE" sz="900" b="0" i="0" dirty="0">
                    <a:solidFill>
                      <a:schemeClr val="tx1"/>
                    </a:solidFill>
                    <a:effectLst/>
                    <a:latin typeface="Segoe WPC"/>
                  </a:rPr>
                  <a:t>-line score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passed</a:t>
                </a:r>
                <a:r>
                  <a:rPr lang="es-PE" sz="900" b="0" i="0" dirty="0">
                    <a:solidFill>
                      <a:schemeClr val="tx1"/>
                    </a:solidFill>
                    <a:effectLst/>
                    <a:latin typeface="Segoe WPC"/>
                  </a:rPr>
                  <a:t> </a:t>
                </a:r>
                <a:r>
                  <a:rPr lang="es-PE" sz="900" b="0" i="0" dirty="0" err="1">
                    <a:solidFill>
                      <a:schemeClr val="tx1"/>
                    </a:solidFill>
                    <a:effectLst/>
                    <a:latin typeface="Segoe WPC"/>
                  </a:rPr>
                  <a:t>through</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S-</a:t>
                </a:r>
                <a:r>
                  <a:rPr lang="es-PE" sz="900" b="0" i="0" dirty="0" err="1">
                    <a:solidFill>
                      <a:schemeClr val="tx1"/>
                    </a:solidFill>
                    <a:effectLst/>
                    <a:latin typeface="Segoe WPC"/>
                  </a:rPr>
                  <a:t>shaped</a:t>
                </a:r>
                <a:r>
                  <a:rPr lang="es-PE" sz="900" b="0" i="0" dirty="0">
                    <a:solidFill>
                      <a:schemeClr val="tx1"/>
                    </a:solidFill>
                    <a:effectLst/>
                    <a:latin typeface="Segoe WPC"/>
                  </a:rPr>
                  <a:t> </a:t>
                </a:r>
                <a:r>
                  <a:rPr lang="es-PE" sz="900" b="0" i="0" dirty="0" err="1">
                    <a:solidFill>
                      <a:schemeClr val="tx1"/>
                    </a:solidFill>
                    <a:effectLst/>
                    <a:latin typeface="Segoe WPC"/>
                  </a:rPr>
                  <a:t>sigmoid</a:t>
                </a:r>
                <a:r>
                  <a:rPr lang="es-PE" sz="900" b="0" i="0" dirty="0">
                    <a:solidFill>
                      <a:schemeClr val="tx1"/>
                    </a:solidFill>
                    <a:effectLst/>
                    <a:latin typeface="Segoe WPC"/>
                  </a:rPr>
                  <a:t> curve.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1">
                            <a:solidFill>
                              <a:schemeClr val="tx1"/>
                            </a:solidFill>
                            <a:latin typeface="Cambria Math" panose="02040503050406030204" pitchFamily="18" charset="0"/>
                          </a:rPr>
                          <m:t>𝑗</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𝛼</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0">
                                        <a:solidFill>
                                          <a:schemeClr val="tx1"/>
                                        </a:solidFill>
                                        <a:latin typeface="Cambria Math" panose="02040503050406030204" pitchFamily="18" charset="0"/>
                                      </a:rPr>
                                      <m:t>1</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r>
                                      <a:rPr lang="ar-AE" sz="900" i="1">
                                        <a:solidFill>
                                          <a:schemeClr val="tx1"/>
                                        </a:solidFill>
                                        <a:latin typeface="Cambria Math" panose="02040503050406030204" pitchFamily="18" charset="0"/>
                                      </a:rPr>
                                      <m:t>𝑗</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𝛽</m:t>
                                    </m:r>
                                  </m:e>
                                  <m:sub>
                                    <m:r>
                                      <a:rPr lang="ar-AE" sz="900" i="1">
                                        <a:solidFill>
                                          <a:schemeClr val="tx1"/>
                                        </a:solidFill>
                                        <a:latin typeface="Cambria Math" panose="02040503050406030204" pitchFamily="18" charset="0"/>
                                      </a:rPr>
                                      <m:t>𝑚</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1">
                                        <a:solidFill>
                                          <a:schemeClr val="tx1"/>
                                        </a:solidFill>
                                        <a:latin typeface="Cambria Math" panose="02040503050406030204" pitchFamily="18" charset="0"/>
                                      </a:rPr>
                                      <m:t>𝑚𝑗</m:t>
                                    </m:r>
                                  </m:sub>
                                </m:sSub>
                              </m:e>
                            </m:d>
                          </m:sup>
                        </m:sSup>
                      </m:den>
                    </m:f>
                  </m:oMath>
                </a14:m>
                <a:r>
                  <a:rPr lang="ar-AE" sz="900" b="0" i="0" dirty="0">
                    <a:solidFill>
                      <a:schemeClr val="tx1"/>
                    </a:solidFill>
                    <a:effectLst/>
                    <a:latin typeface="Segoe WPC"/>
                  </a:rPr>
                  <a:t>. </a:t>
                </a:r>
                <a:r>
                  <a:rPr lang="es-PE" sz="900" b="0" i="0" dirty="0" err="1">
                    <a:solidFill>
                      <a:schemeClr val="tx1"/>
                    </a:solidFill>
                    <a:effectLst/>
                    <a:latin typeface="Segoe WPC"/>
                  </a:rPr>
                  <a:t>Predict</a:t>
                </a:r>
                <a:r>
                  <a:rPr lang="es-PE" sz="900" b="0" i="0" dirty="0">
                    <a:solidFill>
                      <a:schemeClr val="tx1"/>
                    </a:solidFill>
                    <a:effectLst/>
                    <a:latin typeface="Segoe WPC"/>
                  </a:rPr>
                  <a:t> </a:t>
                </a:r>
                <a:r>
                  <a:rPr lang="es-PE" sz="900" b="0" i="0" dirty="0" err="1">
                    <a:solidFill>
                      <a:schemeClr val="tx1"/>
                    </a:solidFill>
                    <a:effectLst/>
                    <a:latin typeface="Segoe WPC"/>
                  </a:rPr>
                  <a:t>class</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1</m:t>
                    </m:r>
                  </m:oMath>
                </a14:m>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1">
                            <a:solidFill>
                              <a:schemeClr val="tx1"/>
                            </a:solidFill>
                            <a:latin typeface="Cambria Math" panose="02040503050406030204" pitchFamily="18" charset="0"/>
                          </a:rPr>
                          <m:t>𝑗</m:t>
                        </m:r>
                      </m:sub>
                    </m:sSub>
                    <m:r>
                      <a:rPr lang="ar-AE" sz="900" i="0">
                        <a:solidFill>
                          <a:schemeClr val="tx1"/>
                        </a:solidFill>
                        <a:latin typeface="Cambria Math" panose="02040503050406030204" pitchFamily="18" charset="0"/>
                      </a:rPr>
                      <m:t>&gt;</m:t>
                    </m:r>
                    <m:r>
                      <a:rPr lang="ar-AE" sz="900" i="1">
                        <a:solidFill>
                          <a:schemeClr val="tx1"/>
                        </a:solidFill>
                        <a:latin typeface="Cambria Math" panose="02040503050406030204" pitchFamily="18" charset="0"/>
                      </a:rPr>
                      <m:t>𝑍</m:t>
                    </m:r>
                  </m:oMath>
                </a14:m>
                <a:r>
                  <a:rPr lang="ar-AE" sz="900" b="0" i="0" dirty="0">
                    <a:solidFill>
                      <a:schemeClr val="tx1"/>
                    </a:solidFill>
                    <a:effectLst/>
                    <a:latin typeface="Segoe WPC"/>
                  </a:rPr>
                  <a:t>, </a:t>
                </a:r>
                <a:r>
                  <a:rPr lang="es-PE" sz="900" b="0" i="0" dirty="0" err="1">
                    <a:solidFill>
                      <a:schemeClr val="tx1"/>
                    </a:solidFill>
                    <a:effectLst/>
                    <a:latin typeface="Segoe WPC"/>
                  </a:rPr>
                  <a:t>else</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0</m:t>
                    </m:r>
                  </m:oMath>
                </a14:m>
                <a:r>
                  <a:rPr lang="es-PE" sz="900" b="0" i="0" dirty="0">
                    <a:solidFill>
                      <a:schemeClr val="tx1"/>
                    </a:solidFill>
                    <a:effectLst/>
                    <a:latin typeface="Segoe WPC"/>
                  </a:rPr>
                  <a:t>. </a:t>
                </a:r>
                <a:r>
                  <a:rPr lang="es-PE" sz="900" b="0" i="0" dirty="0" err="1">
                    <a:solidFill>
                      <a:schemeClr val="tx1"/>
                    </a:solidFill>
                    <a:effectLst/>
                    <a:latin typeface="Segoe WPC"/>
                  </a:rPr>
                  <a:t>Parameters</a:t>
                </a:r>
                <a:r>
                  <a:rPr lang="es-PE" sz="900" b="0" i="0" dirty="0">
                    <a:solidFill>
                      <a:schemeClr val="tx1"/>
                    </a:solidFill>
                    <a:effectLst/>
                    <a:latin typeface="Segoe WPC"/>
                  </a:rPr>
                  <a:t> are </a:t>
                </a:r>
                <a:r>
                  <a:rPr lang="es-PE" sz="900" b="0" i="0" dirty="0" err="1">
                    <a:solidFill>
                      <a:schemeClr val="tx1"/>
                    </a:solidFill>
                    <a:effectLst/>
                    <a:latin typeface="Segoe WPC"/>
                  </a:rPr>
                  <a:t>estimated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maximum</a:t>
                </a:r>
                <a:r>
                  <a:rPr lang="es-PE" sz="900" b="0" i="0" dirty="0">
                    <a:solidFill>
                      <a:schemeClr val="tx1"/>
                    </a:solidFill>
                    <a:effectLst/>
                    <a:latin typeface="Segoe WPC"/>
                  </a:rPr>
                  <a:t> </a:t>
                </a:r>
                <a:r>
                  <a:rPr lang="es-PE" sz="900" b="0" i="0" dirty="0" err="1">
                    <a:solidFill>
                      <a:schemeClr val="tx1"/>
                    </a:solidFill>
                    <a:effectLst/>
                    <a:latin typeface="Segoe WPC"/>
                  </a:rPr>
                  <a:t>likelihood</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OLS.</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Coefficient</a:t>
                </a:r>
                <a:r>
                  <a:rPr lang="es-PE" sz="900" b="0" i="0" dirty="0">
                    <a:solidFill>
                      <a:schemeClr val="tx1"/>
                    </a:solidFill>
                    <a:effectLst/>
                    <a:latin typeface="Segoe WPC"/>
                  </a:rPr>
                  <a:t> </a:t>
                </a:r>
                <a:r>
                  <a:rPr lang="es-PE" sz="900" b="0" i="0" dirty="0" err="1">
                    <a:solidFill>
                      <a:schemeClr val="tx1"/>
                    </a:solidFill>
                    <a:effectLst/>
                    <a:latin typeface="Segoe WPC"/>
                  </a:rPr>
                  <a:t>signs</a:t>
                </a:r>
                <a:r>
                  <a:rPr lang="es-PE" sz="900" b="0" i="0" dirty="0">
                    <a:solidFill>
                      <a:schemeClr val="tx1"/>
                    </a:solidFill>
                    <a:effectLst/>
                    <a:latin typeface="Segoe WPC"/>
                  </a:rPr>
                  <a:t> </a:t>
                </a:r>
                <a:r>
                  <a:rPr lang="es-PE" sz="900" b="0" i="0" dirty="0" err="1">
                    <a:solidFill>
                      <a:schemeClr val="tx1"/>
                    </a:solidFill>
                    <a:effectLst/>
                    <a:latin typeface="Segoe WPC"/>
                  </a:rPr>
                  <a:t>still</a:t>
                </a:r>
                <a:r>
                  <a:rPr lang="es-PE" sz="900" b="0" i="0" dirty="0">
                    <a:solidFill>
                      <a:schemeClr val="tx1"/>
                    </a:solidFill>
                    <a:effectLst/>
                    <a:latin typeface="Segoe WPC"/>
                  </a:rPr>
                  <a:t> show </a:t>
                </a:r>
                <a:r>
                  <a:rPr lang="es-PE" sz="900" b="0" i="0" dirty="0" err="1">
                    <a:solidFill>
                      <a:schemeClr val="tx1"/>
                    </a:solidFill>
                    <a:effectLst/>
                    <a:latin typeface="Segoe WPC"/>
                  </a:rPr>
                  <a:t>direction</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magnitudes are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interpreted</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OLS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nonlinear</a:t>
                </a:r>
                <a:r>
                  <a:rPr lang="es-PE" sz="900" b="0" i="0" dirty="0">
                    <a:solidFill>
                      <a:schemeClr val="tx1"/>
                    </a:solidFill>
                    <a:effectLst/>
                    <a:latin typeface="Segoe WPC"/>
                  </a:rPr>
                  <a:t> </a:t>
                </a:r>
                <a:r>
                  <a:rPr lang="es-PE" sz="900" b="0" i="0" dirty="0" err="1">
                    <a:solidFill>
                      <a:schemeClr val="tx1"/>
                    </a:solidFill>
                    <a:effectLst/>
                    <a:latin typeface="Segoe WPC"/>
                  </a:rPr>
                  <a:t>transformation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threshold</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𝑍</m:t>
                    </m:r>
                  </m:oMath>
                </a14:m>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relative </a:t>
                </a:r>
                <a:r>
                  <a:rPr lang="es-PE" sz="900" b="0" i="0" dirty="0" err="1">
                    <a:solidFill>
                      <a:schemeClr val="tx1"/>
                    </a:solidFill>
                    <a:effectLst/>
                    <a:latin typeface="Segoe WPC"/>
                  </a:rPr>
                  <a:t>costs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false positives and false negatives. </a:t>
                </a:r>
                <a:r>
                  <a:rPr lang="es-PE" sz="900" b="0" i="0" dirty="0" err="1">
                    <a:solidFill>
                      <a:schemeClr val="tx1"/>
                    </a:solidFill>
                    <a:effectLst/>
                    <a:latin typeface="Segoe WPC"/>
                  </a:rPr>
                  <a:t>Regularization</a:t>
                </a:r>
                <a:r>
                  <a:rPr lang="es-PE" sz="900" b="0" i="0" dirty="0">
                    <a:solidFill>
                      <a:schemeClr val="tx1"/>
                    </a:solidFill>
                    <a:effectLst/>
                    <a:latin typeface="Segoe WPC"/>
                  </a:rPr>
                  <a:t> can </a:t>
                </a:r>
                <a:r>
                  <a:rPr lang="es-PE" sz="900" b="0" i="0" dirty="0" err="1">
                    <a:solidFill>
                      <a:schemeClr val="tx1"/>
                    </a:solidFill>
                    <a:effectLst/>
                    <a:latin typeface="Segoe WPC"/>
                  </a:rPr>
                  <a:t>also</a:t>
                </a:r>
                <a:r>
                  <a:rPr lang="es-PE" sz="900" b="0" i="0" dirty="0">
                    <a:solidFill>
                      <a:schemeClr val="tx1"/>
                    </a:solidFill>
                    <a:effectLst/>
                    <a:latin typeface="Segoe WPC"/>
                  </a:rPr>
                  <a:t> be </a:t>
                </a:r>
                <a:r>
                  <a:rPr lang="es-PE" sz="900" b="0" i="0" dirty="0" err="1">
                    <a:solidFill>
                      <a:schemeClr val="tx1"/>
                    </a:solidFill>
                    <a:effectLst/>
                    <a:latin typeface="Segoe WPC"/>
                  </a:rPr>
                  <a:t>applied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logistic</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cutoff</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automatically</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0</m:t>
                    </m:r>
                    <m:r>
                      <a:rPr lang="es-PE" sz="900">
                        <a:solidFill>
                          <a:schemeClr val="tx1"/>
                        </a:solidFill>
                        <a:latin typeface="Cambria Math" panose="02040503050406030204" pitchFamily="18" charset="0"/>
                      </a:rPr>
                      <m:t>.</m:t>
                    </m:r>
                    <m:r>
                      <a:rPr lang="es-PE" sz="900">
                        <a:solidFill>
                          <a:schemeClr val="tx1"/>
                        </a:solidFill>
                        <a:latin typeface="Cambria Math" panose="02040503050406030204" pitchFamily="18" charset="0"/>
                      </a:rPr>
                      <m:t>5</m:t>
                    </m:r>
                  </m:oMath>
                </a14:m>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should</a:t>
                </a:r>
                <a:r>
                  <a:rPr lang="es-PE" sz="900" b="0" i="0" dirty="0">
                    <a:solidFill>
                      <a:schemeClr val="tx1"/>
                    </a:solidFill>
                    <a:effectLst/>
                    <a:latin typeface="Segoe WPC"/>
                  </a:rPr>
                  <a:t> </a:t>
                </a:r>
                <a:r>
                  <a:rPr lang="es-PE" sz="900" b="0" i="0" dirty="0" err="1">
                    <a:solidFill>
                      <a:schemeClr val="tx1"/>
                    </a:solidFill>
                    <a:effectLst/>
                    <a:latin typeface="Segoe WPC"/>
                  </a:rPr>
                  <a:t>reflect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decision</a:t>
                </a:r>
                <a:r>
                  <a:rPr lang="es-PE" sz="900" b="0" i="0" dirty="0">
                    <a:solidFill>
                      <a:schemeClr val="tx1"/>
                    </a:solidFill>
                    <a:effectLst/>
                    <a:latin typeface="Segoe WPC"/>
                  </a:rPr>
                  <a:t> </a:t>
                </a:r>
                <a:r>
                  <a:rPr lang="es-PE" sz="900" b="0" i="0" dirty="0" err="1">
                    <a:solidFill>
                      <a:schemeClr val="tx1"/>
                    </a:solidFill>
                    <a:effectLst/>
                    <a:latin typeface="Segoe WPC"/>
                  </a:rPr>
                  <a:t>problem</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4. </a:t>
                </a:r>
                <a:r>
                  <a:rPr lang="es-PE" sz="900" b="1" i="0" dirty="0" err="1">
                    <a:solidFill>
                      <a:schemeClr val="tx1"/>
                    </a:solidFill>
                    <a:effectLst/>
                    <a:latin typeface="Segoe WPC"/>
                  </a:rPr>
                  <a:t>Model</a:t>
                </a:r>
                <a:r>
                  <a:rPr lang="es-PE" sz="900" b="1" i="0" dirty="0">
                    <a:solidFill>
                      <a:schemeClr val="tx1"/>
                    </a:solidFill>
                    <a:effectLst/>
                    <a:latin typeface="Segoe WPC"/>
                  </a:rPr>
                  <a:t> </a:t>
                </a:r>
                <a:r>
                  <a:rPr lang="es-PE" sz="900" b="1" i="0" dirty="0" err="1">
                    <a:solidFill>
                      <a:schemeClr val="tx1"/>
                    </a:solidFill>
                    <a:effectLst/>
                    <a:latin typeface="Segoe WPC"/>
                  </a:rPr>
                  <a:t>Evaluation</a:t>
                </a:r>
                <a:r>
                  <a:rPr lang="es-PE" sz="900" b="1" i="0" dirty="0">
                    <a:solidFill>
                      <a:schemeClr val="tx1"/>
                    </a:solidFill>
                    <a:effectLst/>
                    <a:latin typeface="Segoe WPC"/>
                  </a:rPr>
                  <a:t> </a:t>
                </a:r>
                <a:r>
                  <a:rPr lang="es-PE" sz="900" b="1" i="0" dirty="0" err="1">
                    <a:solidFill>
                      <a:schemeClr val="tx1"/>
                    </a:solidFill>
                    <a:effectLst/>
                    <a:latin typeface="Segoe WPC"/>
                  </a:rPr>
                  <a:t>for</a:t>
                </a:r>
                <a:r>
                  <a:rPr lang="es-PE" sz="900" b="1" i="0" dirty="0">
                    <a:solidFill>
                      <a:schemeClr val="tx1"/>
                    </a:solidFill>
                    <a:effectLst/>
                    <a:latin typeface="Segoe WPC"/>
                  </a:rPr>
                  <a:t> </a:t>
                </a:r>
                <a:r>
                  <a:rPr lang="es-PE" sz="900" b="1" i="0" dirty="0" err="1">
                    <a:solidFill>
                      <a:schemeClr val="tx1"/>
                    </a:solidFill>
                    <a:effectLst/>
                    <a:latin typeface="Segoe WPC"/>
                  </a:rPr>
                  <a:t>Prediction</a:t>
                </a:r>
                <a:r>
                  <a:rPr lang="es-PE" sz="900" b="1" i="0" dirty="0">
                    <a:solidFill>
                      <a:schemeClr val="tx1"/>
                    </a:solidFill>
                    <a:effectLst/>
                    <a:latin typeface="Segoe WPC"/>
                  </a:rPr>
                  <a:t> and </a:t>
                </a:r>
                <a:r>
                  <a:rPr lang="es-PE" sz="900" b="1" i="0" dirty="0" err="1">
                    <a:solidFill>
                      <a:schemeClr val="tx1"/>
                    </a:solidFill>
                    <a:effectLst/>
                    <a:latin typeface="Segoe WPC"/>
                  </a:rPr>
                  <a:t>Classification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Measuring</a:t>
                </a:r>
                <a:r>
                  <a:rPr lang="es-PE" sz="900" b="0" i="0" dirty="0">
                    <a:solidFill>
                      <a:schemeClr val="tx1"/>
                    </a:solidFill>
                    <a:effectLst/>
                    <a:latin typeface="Segoe WPC"/>
                  </a:rPr>
                  <a:t> </a:t>
                </a:r>
                <a:r>
                  <a:rPr lang="es-PE" sz="900" b="0" i="0" dirty="0" err="1">
                    <a:solidFill>
                      <a:schemeClr val="tx1"/>
                    </a:solidFill>
                    <a:effectLst/>
                    <a:latin typeface="Segoe WPC"/>
                  </a:rPr>
                  <a:t>out-of-sample</a:t>
                </a:r>
                <a:r>
                  <a:rPr lang="es-PE" sz="900" b="0" i="0" dirty="0">
                    <a:solidFill>
                      <a:schemeClr val="tx1"/>
                    </a:solidFill>
                    <a:effectLst/>
                    <a:latin typeface="Segoe WPC"/>
                  </a:rPr>
                  <a:t> predictive performance.</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Continuous</a:t>
                </a:r>
                <a:r>
                  <a:rPr lang="es-PE" sz="900" b="0" i="0" dirty="0">
                    <a:solidFill>
                      <a:schemeClr val="tx1"/>
                    </a:solidFill>
                    <a:effectLst/>
                    <a:latin typeface="Segoe WPC"/>
                  </a:rPr>
                  <a:t> targets are </a:t>
                </a:r>
                <a:r>
                  <a:rPr lang="es-PE" sz="900" b="0" i="0" dirty="0" err="1">
                    <a:solidFill>
                      <a:schemeClr val="tx1"/>
                    </a:solidFill>
                    <a:effectLst/>
                    <a:latin typeface="Segoe WPC"/>
                  </a:rPr>
                  <a:t>evaluated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forecast</a:t>
                </a:r>
                <a:r>
                  <a:rPr lang="es-PE" sz="900" b="0" i="0" dirty="0">
                    <a:solidFill>
                      <a:schemeClr val="tx1"/>
                    </a:solidFill>
                    <a:effectLst/>
                    <a:latin typeface="Segoe WPC"/>
                  </a:rPr>
                  <a:t> </a:t>
                </a:r>
                <a:r>
                  <a:rPr lang="es-PE" sz="900" b="0" i="0" dirty="0" err="1">
                    <a:solidFill>
                      <a:schemeClr val="tx1"/>
                    </a:solidFill>
                    <a:effectLst/>
                    <a:latin typeface="Segoe WPC"/>
                  </a:rPr>
                  <a:t>errors</a:t>
                </a:r>
                <a:r>
                  <a:rPr lang="es-PE" sz="900" b="0" i="0" dirty="0">
                    <a:solidFill>
                      <a:schemeClr val="tx1"/>
                    </a:solidFill>
                    <a:effectLst/>
                    <a:latin typeface="Segoe WPC"/>
                  </a:rPr>
                  <a:t>; </a:t>
                </a:r>
                <a:r>
                  <a:rPr lang="es-PE" sz="900" b="0" i="0" dirty="0" err="1">
                    <a:solidFill>
                      <a:schemeClr val="tx1"/>
                    </a:solidFill>
                    <a:effectLst/>
                    <a:latin typeface="Segoe WPC"/>
                  </a:rPr>
                  <a:t>binary</a:t>
                </a:r>
                <a:r>
                  <a:rPr lang="es-PE" sz="900" b="0" i="0" dirty="0">
                    <a:solidFill>
                      <a:schemeClr val="tx1"/>
                    </a:solidFill>
                    <a:effectLst/>
                    <a:latin typeface="Segoe WPC"/>
                  </a:rPr>
                  <a:t> targets are </a:t>
                </a:r>
                <a:r>
                  <a:rPr lang="es-PE" sz="900" b="0" i="0" dirty="0" err="1">
                    <a:solidFill>
                      <a:schemeClr val="tx1"/>
                    </a:solidFill>
                    <a:effectLst/>
                    <a:latin typeface="Segoe WPC"/>
                  </a:rPr>
                  <a:t>evaluated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confusion-matrix</a:t>
                </a:r>
                <a:r>
                  <a:rPr lang="es-PE" sz="900" b="0" i="0" dirty="0">
                    <a:solidFill>
                      <a:schemeClr val="tx1"/>
                    </a:solidFill>
                    <a:effectLst/>
                    <a:latin typeface="Segoe WPC"/>
                  </a:rPr>
                  <a:t> </a:t>
                </a:r>
                <a:r>
                  <a:rPr lang="es-PE" sz="900" b="0" i="0" dirty="0" err="1">
                    <a:solidFill>
                      <a:schemeClr val="tx1"/>
                    </a:solidFill>
                    <a:effectLst/>
                    <a:latin typeface="Segoe WPC"/>
                  </a:rPr>
                  <a:t>metrics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classification</a:t>
                </a:r>
                <a:r>
                  <a:rPr lang="es-PE" sz="900" b="0" i="0" dirty="0">
                    <a:solidFill>
                      <a:schemeClr val="tx1"/>
                    </a:solidFill>
                    <a:effectLst/>
                    <a:latin typeface="Segoe WPC"/>
                  </a:rPr>
                  <a:t>, place </a:t>
                </a:r>
                <a:r>
                  <a:rPr lang="es-PE" sz="900" b="0" i="0" dirty="0" err="1">
                    <a:solidFill>
                      <a:schemeClr val="tx1"/>
                    </a:solidFill>
                    <a:effectLst/>
                    <a:latin typeface="Segoe WPC"/>
                  </a:rPr>
                  <a:t>predictions</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 </a:t>
                </a:r>
                <a14:m>
                  <m:oMath xmlns:m="http://schemas.openxmlformats.org/officeDocument/2006/math">
                    <m:r>
                      <a:rPr lang="es-PE" sz="900">
                        <a:solidFill>
                          <a:schemeClr val="tx1"/>
                        </a:solidFill>
                        <a:latin typeface="Cambria Math" panose="02040503050406030204" pitchFamily="18" charset="0"/>
                      </a:rPr>
                      <m:t>2</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2</m:t>
                    </m:r>
                  </m:oMath>
                </a14:m>
                <a:r>
                  <a:rPr lang="es-PE" sz="900" b="0" i="0" dirty="0">
                    <a:solidFill>
                      <a:schemeClr val="tx1"/>
                    </a:solidFill>
                    <a:effectLst/>
                    <a:latin typeface="Segoe WPC"/>
                  </a:rPr>
                  <a:t> table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right</a:t>
                </a:r>
                <a:r>
                  <a:rPr lang="es-PE" sz="900" b="0" i="0" dirty="0">
                    <a:solidFill>
                      <a:schemeClr val="tx1"/>
                    </a:solidFill>
                    <a:effectLst/>
                    <a:latin typeface="Segoe WPC"/>
                  </a:rPr>
                  <a:t> and </a:t>
                </a:r>
                <a:r>
                  <a:rPr lang="es-PE" sz="900" b="0" i="0" dirty="0" err="1">
                    <a:solidFill>
                      <a:schemeClr val="tx1"/>
                    </a:solidFill>
                    <a:effectLst/>
                    <a:latin typeface="Segoe WPC"/>
                  </a:rPr>
                  <a:t>wrong</a:t>
                </a:r>
                <a:r>
                  <a:rPr lang="es-PE" sz="900" b="0" i="0" dirty="0">
                    <a:solidFill>
                      <a:schemeClr val="tx1"/>
                    </a:solidFill>
                    <a:effectLst/>
                    <a:latin typeface="Segoe WPC"/>
                  </a:rPr>
                  <a:t> </a:t>
                </a:r>
                <a:r>
                  <a:rPr lang="es-PE" sz="900" b="0" i="0" dirty="0" err="1">
                    <a:solidFill>
                      <a:schemeClr val="tx1"/>
                    </a:solidFill>
                    <a:effectLst/>
                    <a:latin typeface="Segoe WPC"/>
                  </a:rPr>
                  <a:t>decisions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Continuous</a:t>
                </a:r>
                <a:r>
                  <a:rPr lang="es-PE" sz="900" b="0" i="0" dirty="0">
                    <a:solidFill>
                      <a:schemeClr val="tx1"/>
                    </a:solidFill>
                    <a:effectLst/>
                    <a:latin typeface="Segoe WPC"/>
                  </a:rPr>
                  <a:t> case: </a:t>
                </a:r>
                <a14:m>
                  <m:oMath xmlns:m="http://schemas.openxmlformats.org/officeDocument/2006/math">
                    <m:r>
                      <a:rPr lang="es-PE" sz="900" i="1">
                        <a:solidFill>
                          <a:schemeClr val="tx1"/>
                        </a:solidFill>
                        <a:latin typeface="Cambria Math" panose="02040503050406030204" pitchFamily="18" charset="0"/>
                      </a:rPr>
                      <m:t>𝑀𝑆𝐹𝐸</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𝑛</m:t>
                            </m:r>
                          </m:e>
                          <m:sub>
                            <m:r>
                              <a:rPr lang="ar-AE" sz="900" i="1">
                                <a:solidFill>
                                  <a:schemeClr val="tx1"/>
                                </a:solidFill>
                                <a:latin typeface="Cambria Math" panose="02040503050406030204" pitchFamily="18" charset="0"/>
                              </a:rPr>
                              <m:t>𝑡𝑒𝑠𝑡</m:t>
                            </m:r>
                          </m:sub>
                        </m:sSub>
                      </m:den>
                    </m:f>
                    <m:nary>
                      <m:naryPr>
                        <m:chr m:val="∑"/>
                        <m:grow m:val="on"/>
                        <m:subHide m:val="on"/>
                        <m:supHide m:val="on"/>
                        <m:ctrlPr>
                          <a:rPr lang="ar-AE" sz="900" i="1">
                            <a:solidFill>
                              <a:schemeClr val="tx1"/>
                            </a:solidFill>
                            <a:latin typeface="Cambria Math" panose="02040503050406030204" pitchFamily="18" charset="0"/>
                          </a:rPr>
                        </m:ctrlPr>
                      </m:naryPr>
                      <m:sub/>
                      <m:sup/>
                      <m:e>
                        <m:r>
                          <a:rPr lang="ar-AE" sz="900" i="0">
                            <a:solidFill>
                              <a:schemeClr val="tx1"/>
                            </a:solidFill>
                            <a:latin typeface="Cambria Math" panose="02040503050406030204" pitchFamily="18" charset="0"/>
                          </a:rPr>
                          <m:t>(</m:t>
                        </m:r>
                      </m:e>
                    </m:nary>
                    <m:d>
                      <m:dPr>
                        <m:begChr m:val=""/>
                        <m:end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𝑦</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𝑦</m:t>
                                </m:r>
                              </m:e>
                            </m:acc>
                          </m:e>
                          <m:sub>
                            <m:r>
                              <a:rPr lang="ar-AE" sz="900" i="1">
                                <a:solidFill>
                                  <a:schemeClr val="tx1"/>
                                </a:solidFill>
                                <a:latin typeface="Cambria Math" panose="02040503050406030204" pitchFamily="18" charset="0"/>
                              </a:rPr>
                              <m:t>𝑖</m:t>
                            </m:r>
                          </m:sub>
                        </m:sSub>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e>
                    </m:d>
                  </m:oMath>
                </a14:m>
                <a:r>
                  <a:rPr lang="ar-AE" sz="900" b="0" i="0" dirty="0">
                    <a:solidFill>
                      <a:schemeClr val="tx1"/>
                    </a:solidFill>
                    <a:effectLst/>
                    <a:latin typeface="Segoe WPC"/>
                  </a:rPr>
                  <a:t>. </a:t>
                </a:r>
                <a:r>
                  <a:rPr lang="es-PE" sz="900" b="0" i="0" dirty="0" err="1">
                    <a:solidFill>
                      <a:schemeClr val="tx1"/>
                    </a:solidFill>
                    <a:effectLst/>
                    <a:latin typeface="Segoe WPC"/>
                  </a:rPr>
                  <a:t>Binary</a:t>
                </a:r>
                <a:r>
                  <a:rPr lang="es-PE" sz="900" b="0" i="0" dirty="0">
                    <a:solidFill>
                      <a:schemeClr val="tx1"/>
                    </a:solidFill>
                    <a:effectLst/>
                    <a:latin typeface="Segoe WPC"/>
                  </a:rPr>
                  <a:t> case: </a:t>
                </a:r>
                <a:r>
                  <a:rPr lang="es-PE" sz="900" b="0" i="0" dirty="0" err="1">
                    <a:solidFill>
                      <a:schemeClr val="tx1"/>
                    </a:solidFill>
                    <a:effectLst/>
                    <a:latin typeface="Segoe WPC"/>
                  </a:rPr>
                  <a:t>Accuracy</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𝑇𝑃</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𝑇𝑁</m:t>
                        </m:r>
                      </m:num>
                      <m:den>
                        <m:r>
                          <a:rPr lang="ar-AE" sz="900" i="1">
                            <a:solidFill>
                              <a:schemeClr val="tx1"/>
                            </a:solidFill>
                            <a:latin typeface="Cambria Math" panose="02040503050406030204" pitchFamily="18" charset="0"/>
                          </a:rPr>
                          <m:t>𝑇𝑃</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𝑇𝑁</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𝐹𝑃</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𝐹𝑁</m:t>
                        </m:r>
                      </m:den>
                    </m:f>
                  </m:oMath>
                </a14:m>
                <a:r>
                  <a:rPr lang="ar-AE" sz="900" b="0" i="0" dirty="0">
                    <a:solidFill>
                      <a:schemeClr val="tx1"/>
                    </a:solidFill>
                    <a:effectLst/>
                    <a:latin typeface="Segoe WPC"/>
                  </a:rPr>
                  <a:t>, </a:t>
                </a:r>
                <a:r>
                  <a:rPr lang="es-PE" sz="900" b="0" i="0" dirty="0" err="1">
                    <a:solidFill>
                      <a:schemeClr val="tx1"/>
                    </a:solidFill>
                    <a:effectLst/>
                    <a:latin typeface="Segoe WPC"/>
                  </a:rPr>
                  <a:t>Precision</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𝑇𝑃</m:t>
                        </m:r>
                      </m:num>
                      <m:den>
                        <m:r>
                          <a:rPr lang="ar-AE" sz="900" i="1">
                            <a:solidFill>
                              <a:schemeClr val="tx1"/>
                            </a:solidFill>
                            <a:latin typeface="Cambria Math" panose="02040503050406030204" pitchFamily="18" charset="0"/>
                          </a:rPr>
                          <m:t>𝑇𝑃</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𝐹𝑃</m:t>
                        </m:r>
                      </m:den>
                    </m:f>
                  </m:oMath>
                </a14:m>
                <a:r>
                  <a:rPr lang="ar-AE" sz="900" b="0" i="0" dirty="0">
                    <a:solidFill>
                      <a:schemeClr val="tx1"/>
                    </a:solidFill>
                    <a:effectLst/>
                    <a:latin typeface="Segoe WPC"/>
                  </a:rPr>
                  <a:t>, </a:t>
                </a:r>
                <a:r>
                  <a:rPr lang="es-PE" sz="900" b="0" i="0" dirty="0" err="1">
                    <a:solidFill>
                      <a:schemeClr val="tx1"/>
                    </a:solidFill>
                    <a:effectLst/>
                    <a:latin typeface="Segoe WPC"/>
                  </a:rPr>
                  <a:t>Recall</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𝑇𝑃</m:t>
                        </m:r>
                      </m:num>
                      <m:den>
                        <m:r>
                          <a:rPr lang="ar-AE" sz="900" i="1">
                            <a:solidFill>
                              <a:schemeClr val="tx1"/>
                            </a:solidFill>
                            <a:latin typeface="Cambria Math" panose="02040503050406030204" pitchFamily="18" charset="0"/>
                          </a:rPr>
                          <m:t>𝑇𝑃</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𝐹𝑁</m:t>
                        </m:r>
                      </m:den>
                    </m:f>
                  </m:oMath>
                </a14:m>
                <a:r>
                  <a:rPr lang="ar-AE" sz="900" b="0" i="0" dirty="0">
                    <a:solidFill>
                      <a:schemeClr val="tx1"/>
                    </a:solidFill>
                    <a:effectLst/>
                    <a:latin typeface="Segoe WPC"/>
                  </a:rPr>
                  <a:t>. </a:t>
                </a:r>
                <a:r>
                  <a:rPr lang="es-PE" sz="900" b="0" i="0" dirty="0">
                    <a:solidFill>
                      <a:schemeClr val="tx1"/>
                    </a:solidFill>
                    <a:effectLst/>
                    <a:latin typeface="Segoe WPC"/>
                  </a:rPr>
                  <a:t>ROC curves </a:t>
                </a:r>
                <a:r>
                  <a:rPr lang="es-PE" sz="900" b="0" i="0" dirty="0" err="1">
                    <a:solidFill>
                      <a:schemeClr val="tx1"/>
                    </a:solidFill>
                    <a:effectLst/>
                    <a:latin typeface="Segoe WPC"/>
                  </a:rPr>
                  <a:t>vary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threshold</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𝑍</m:t>
                    </m:r>
                  </m:oMath>
                </a14:m>
                <a:r>
                  <a:rPr lang="es-PE" sz="900" b="0" i="0" dirty="0">
                    <a:solidFill>
                      <a:schemeClr val="tx1"/>
                    </a:solidFill>
                    <a:effectLst/>
                    <a:latin typeface="Segoe WPC"/>
                  </a:rPr>
                  <a:t>, and AUC </a:t>
                </a:r>
                <a:r>
                  <a:rPr lang="es-PE" sz="900" b="0" i="0" dirty="0" err="1">
                    <a:solidFill>
                      <a:schemeClr val="tx1"/>
                    </a:solidFill>
                    <a:effectLst/>
                    <a:latin typeface="Segoe WPC"/>
                  </a:rPr>
                  <a:t>summarizes</a:t>
                </a:r>
                <a:r>
                  <a:rPr lang="es-PE" sz="900" b="0" i="0" dirty="0">
                    <a:solidFill>
                      <a:schemeClr val="tx1"/>
                    </a:solidFill>
                    <a:effectLst/>
                    <a:latin typeface="Segoe WPC"/>
                  </a:rPr>
                  <a:t> </a:t>
                </a:r>
                <a:r>
                  <a:rPr lang="es-PE" sz="900" b="0" i="0" dirty="0" err="1">
                    <a:solidFill>
                      <a:schemeClr val="tx1"/>
                    </a:solidFill>
                    <a:effectLst/>
                    <a:latin typeface="Segoe WPC"/>
                  </a:rPr>
                  <a:t>overall</a:t>
                </a:r>
                <a:r>
                  <a:rPr lang="es-PE" sz="900" b="0" i="0" dirty="0">
                    <a:solidFill>
                      <a:schemeClr val="tx1"/>
                    </a:solidFill>
                    <a:effectLst/>
                    <a:latin typeface="Segoe WPC"/>
                  </a:rPr>
                  <a:t> </a:t>
                </a:r>
                <a:r>
                  <a:rPr lang="es-PE" sz="900" b="0" i="0" dirty="0" err="1">
                    <a:solidFill>
                      <a:schemeClr val="tx1"/>
                    </a:solidFill>
                    <a:effectLst/>
                    <a:latin typeface="Segoe WPC"/>
                  </a:rPr>
                  <a:t>classification</a:t>
                </a:r>
                <a:r>
                  <a:rPr lang="es-PE" sz="900" b="0" i="0" dirty="0">
                    <a:solidFill>
                      <a:schemeClr val="tx1"/>
                    </a:solidFill>
                    <a:effectLst/>
                    <a:latin typeface="Segoe WPC"/>
                  </a:rPr>
                  <a:t> </a:t>
                </a:r>
                <a:r>
                  <a:rPr lang="es-PE" sz="900" b="0" i="0" dirty="0" err="1">
                    <a:solidFill>
                      <a:schemeClr val="tx1"/>
                    </a:solidFill>
                    <a:effectLst/>
                    <a:latin typeface="Segoe WPC"/>
                  </a:rPr>
                  <a:t>quality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metrics</a:t>
                </a:r>
                <a:r>
                  <a:rPr lang="es-PE" sz="900" b="0" i="0" dirty="0">
                    <a:solidFill>
                      <a:schemeClr val="tx1"/>
                    </a:solidFill>
                    <a:effectLst/>
                    <a:latin typeface="Segoe WPC"/>
                  </a:rPr>
                  <a:t> </a:t>
                </a:r>
                <a:r>
                  <a:rPr lang="es-PE" sz="900" b="0" i="0" dirty="0" err="1">
                    <a:solidFill>
                      <a:schemeClr val="tx1"/>
                    </a:solidFill>
                    <a:effectLst/>
                    <a:latin typeface="Segoe WPC"/>
                  </a:rPr>
                  <a:t>reward</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behavior</a:t>
                </a:r>
                <a:r>
                  <a:rPr lang="es-PE" sz="900" b="0" i="0" dirty="0">
                    <a:solidFill>
                      <a:schemeClr val="tx1"/>
                    </a:solidFill>
                    <a:effectLst/>
                    <a:latin typeface="Segoe WPC"/>
                  </a:rPr>
                  <a:t>. </a:t>
                </a:r>
                <a:r>
                  <a:rPr lang="es-PE" sz="900" b="0" i="0" dirty="0" err="1">
                    <a:solidFill>
                      <a:schemeClr val="tx1"/>
                    </a:solidFill>
                    <a:effectLst/>
                    <a:latin typeface="Segoe WPC"/>
                  </a:rPr>
                  <a:t>Precision</a:t>
                </a:r>
                <a:r>
                  <a:rPr lang="es-PE" sz="900" b="0" i="0" dirty="0">
                    <a:solidFill>
                      <a:schemeClr val="tx1"/>
                    </a:solidFill>
                    <a:effectLst/>
                    <a:latin typeface="Segoe WPC"/>
                  </a:rPr>
                  <a:t>, </a:t>
                </a:r>
                <a:r>
                  <a:rPr lang="es-PE" sz="900" b="0" i="0" dirty="0" err="1">
                    <a:solidFill>
                      <a:schemeClr val="tx1"/>
                    </a:solidFill>
                    <a:effectLst/>
                    <a:latin typeface="Segoe WPC"/>
                  </a:rPr>
                  <a:t>recall</a:t>
                </a:r>
                <a:r>
                  <a:rPr lang="es-PE" sz="900" b="0" i="0" dirty="0">
                    <a:solidFill>
                      <a:schemeClr val="tx1"/>
                    </a:solidFill>
                    <a:effectLst/>
                    <a:latin typeface="Segoe WPC"/>
                  </a:rPr>
                  <a:t>, and AUC are </a:t>
                </a:r>
                <a:r>
                  <a:rPr lang="es-PE" sz="900" b="0" i="0" dirty="0" err="1">
                    <a:solidFill>
                      <a:schemeClr val="tx1"/>
                    </a:solidFill>
                    <a:effectLst/>
                    <a:latin typeface="Segoe WPC"/>
                  </a:rPr>
                  <a:t>often</a:t>
                </a:r>
                <a:r>
                  <a:rPr lang="es-PE" sz="900" b="0" i="0" dirty="0">
                    <a:solidFill>
                      <a:schemeClr val="tx1"/>
                    </a:solidFill>
                    <a:effectLst/>
                    <a:latin typeface="Segoe WPC"/>
                  </a:rPr>
                  <a:t> more informative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accuracy</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class</a:t>
                </a:r>
                <a:r>
                  <a:rPr lang="es-PE" sz="900" b="0" i="0" dirty="0">
                    <a:solidFill>
                      <a:schemeClr val="tx1"/>
                    </a:solidFill>
                    <a:effectLst/>
                    <a:latin typeface="Segoe WPC"/>
                  </a:rPr>
                  <a:t> </a:t>
                </a:r>
                <a:r>
                  <a:rPr lang="es-PE" sz="900" b="0" i="0" dirty="0" err="1">
                    <a:solidFill>
                      <a:schemeClr val="tx1"/>
                    </a:solidFill>
                    <a:effectLst/>
                    <a:latin typeface="Segoe WPC"/>
                  </a:rPr>
                  <a:t>frequencies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error </a:t>
                </a:r>
                <a:r>
                  <a:rPr lang="es-PE" sz="900" b="0" i="0" dirty="0" err="1">
                    <a:solidFill>
                      <a:schemeClr val="tx1"/>
                    </a:solidFill>
                    <a:effectLst/>
                    <a:latin typeface="Segoe WPC"/>
                  </a:rPr>
                  <a:t>costs</a:t>
                </a:r>
                <a:r>
                  <a:rPr lang="es-PE" sz="900" b="0" i="0" dirty="0">
                    <a:solidFill>
                      <a:schemeClr val="tx1"/>
                    </a:solidFill>
                    <a:effectLst/>
                    <a:latin typeface="Segoe WPC"/>
                  </a:rPr>
                  <a:t> </a:t>
                </a:r>
                <a:r>
                  <a:rPr lang="es-PE" sz="900" b="0" i="0" dirty="0" err="1">
                    <a:solidFill>
                      <a:schemeClr val="tx1"/>
                    </a:solidFill>
                    <a:effectLst/>
                    <a:latin typeface="Segoe WPC"/>
                  </a:rPr>
                  <a:t>differ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High </a:t>
                </a:r>
                <a:r>
                  <a:rPr lang="es-PE" sz="900" b="0" i="0" dirty="0" err="1">
                    <a:solidFill>
                      <a:schemeClr val="tx1"/>
                    </a:solidFill>
                    <a:effectLst/>
                    <a:latin typeface="Segoe WPC"/>
                  </a:rPr>
                  <a:t>accuracy</a:t>
                </a:r>
                <a:r>
                  <a:rPr lang="es-PE" sz="900" b="0" i="0" dirty="0">
                    <a:solidFill>
                      <a:schemeClr val="tx1"/>
                    </a:solidFill>
                    <a:effectLst/>
                    <a:latin typeface="Segoe WPC"/>
                  </a:rPr>
                  <a:t> alone can be </a:t>
                </a:r>
                <a:r>
                  <a:rPr lang="es-PE" sz="900" b="0" i="0" dirty="0" err="1">
                    <a:solidFill>
                      <a:schemeClr val="tx1"/>
                    </a:solidFill>
                    <a:effectLst/>
                    <a:latin typeface="Segoe WPC"/>
                  </a:rPr>
                  <a:t>misleading</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important</a:t>
                </a:r>
                <a:r>
                  <a:rPr lang="es-PE" sz="900" b="0" i="0" dirty="0">
                    <a:solidFill>
                      <a:schemeClr val="tx1"/>
                    </a:solidFill>
                    <a:effectLst/>
                    <a:latin typeface="Segoe WPC"/>
                  </a:rPr>
                  <a:t> </a:t>
                </a:r>
                <a:r>
                  <a:rPr lang="es-PE" sz="900" b="0" i="0" dirty="0" err="1">
                    <a:solidFill>
                      <a:schemeClr val="tx1"/>
                    </a:solidFill>
                    <a:effectLst/>
                    <a:latin typeface="Segoe WPC"/>
                  </a:rPr>
                  <a:t>class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predicted</a:t>
                </a:r>
                <a:r>
                  <a:rPr lang="es-PE" sz="900" b="0" i="0" dirty="0">
                    <a:solidFill>
                      <a:schemeClr val="tx1"/>
                    </a:solidFill>
                    <a:effectLst/>
                    <a:latin typeface="Segoe WPC"/>
                  </a:rPr>
                  <a:t> </a:t>
                </a:r>
                <a:r>
                  <a:rPr lang="es-PE" sz="900" b="0" i="0" dirty="0" err="1">
                    <a:solidFill>
                      <a:schemeClr val="tx1"/>
                    </a:solidFill>
                    <a:effectLst/>
                    <a:latin typeface="Segoe WPC"/>
                  </a:rPr>
                  <a:t>poorly</a:t>
                </a:r>
                <a:r>
                  <a:rPr lang="es-PE" sz="900" b="0" i="0" dirty="0">
                    <a:solidFill>
                      <a:schemeClr val="tx1"/>
                    </a:solidFill>
                    <a:effectLst/>
                    <a:latin typeface="Segoe WPC"/>
                  </a:rPr>
                  <a:t>.</a:t>
                </a:r>
              </a:p>
              <a:p>
                <a:pPr algn="l">
                  <a:spcAft>
                    <a:spcPts val="600"/>
                  </a:spcAft>
                  <a:buNone/>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Bagging</a:t>
                </a:r>
                <a:r>
                  <a:rPr lang="es-PE" sz="900" b="0" i="0" dirty="0">
                    <a:solidFill>
                      <a:schemeClr val="tx1"/>
                    </a:solidFill>
                    <a:effectLst/>
                    <a:latin typeface="Segoe WPC"/>
                  </a:rPr>
                  <a:t> </a:t>
                </a:r>
                <a:r>
                  <a:rPr lang="es-PE" sz="900" b="0" i="0" dirty="0" err="1">
                    <a:solidFill>
                      <a:schemeClr val="tx1"/>
                    </a:solidFill>
                    <a:effectLst/>
                    <a:latin typeface="Segoe WPC"/>
                  </a:rPr>
                  <a:t>builds</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 </a:t>
                </a:r>
                <a:r>
                  <a:rPr lang="es-PE" sz="900" b="0" i="0" dirty="0" err="1">
                    <a:solidFill>
                      <a:schemeClr val="tx1"/>
                    </a:solidFill>
                    <a:effectLst/>
                    <a:latin typeface="Segoe WPC"/>
                  </a:rPr>
                  <a:t>independently</a:t>
                </a:r>
                <a:r>
                  <a:rPr lang="es-PE" sz="900" b="0" i="0" dirty="0">
                    <a:solidFill>
                      <a:schemeClr val="tx1"/>
                    </a:solidFill>
                    <a:effectLst/>
                    <a:latin typeface="Segoe WPC"/>
                  </a:rPr>
                  <a:t>; </a:t>
                </a:r>
                <a:r>
                  <a:rPr lang="es-PE" sz="900" b="0" i="0" dirty="0" err="1">
                    <a:solidFill>
                      <a:schemeClr val="tx1"/>
                    </a:solidFill>
                    <a:effectLst/>
                    <a:latin typeface="Segoe WPC"/>
                  </a:rPr>
                  <a:t>boosting</a:t>
                </a:r>
                <a:r>
                  <a:rPr lang="es-PE" sz="900" b="0" i="0" dirty="0">
                    <a:solidFill>
                      <a:schemeClr val="tx1"/>
                    </a:solidFill>
                    <a:effectLst/>
                    <a:latin typeface="Segoe WPC"/>
                  </a:rPr>
                  <a:t> </a:t>
                </a:r>
                <a:r>
                  <a:rPr lang="es-PE" sz="900" b="0" i="0" dirty="0" err="1">
                    <a:solidFill>
                      <a:schemeClr val="tx1"/>
                    </a:solidFill>
                    <a:effectLst/>
                    <a:latin typeface="Segoe WPC"/>
                  </a:rPr>
                  <a:t>builds</a:t>
                </a:r>
                <a:r>
                  <a:rPr lang="es-PE" sz="900" b="0" i="0" dirty="0">
                    <a:solidFill>
                      <a:schemeClr val="tx1"/>
                    </a:solidFill>
                    <a:effectLst/>
                    <a:latin typeface="Segoe WPC"/>
                  </a:rPr>
                  <a:t> </a:t>
                </a:r>
                <a:r>
                  <a:rPr lang="es-PE" sz="900" b="0" i="0" dirty="0" err="1">
                    <a:solidFill>
                      <a:schemeClr val="tx1"/>
                    </a:solidFill>
                    <a:effectLst/>
                    <a:latin typeface="Segoe WPC"/>
                  </a:rPr>
                  <a:t>them</a:t>
                </a:r>
                <a:r>
                  <a:rPr lang="es-PE" sz="900" b="0" i="0" dirty="0">
                    <a:solidFill>
                      <a:schemeClr val="tx1"/>
                    </a:solidFill>
                    <a:effectLst/>
                    <a:latin typeface="Segoe WPC"/>
                  </a:rPr>
                  <a:t> </a:t>
                </a:r>
                <a:r>
                  <a:rPr lang="es-PE" sz="900" b="0" i="0" dirty="0" err="1">
                    <a:solidFill>
                      <a:schemeClr val="tx1"/>
                    </a:solidFill>
                    <a:effectLst/>
                    <a:latin typeface="Segoe WPC"/>
                  </a:rPr>
                  <a:t>sequentially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correct</a:t>
                </a:r>
                <a:r>
                  <a:rPr lang="es-PE" sz="900" b="0" i="0" dirty="0">
                    <a:solidFill>
                      <a:schemeClr val="tx1"/>
                    </a:solidFill>
                    <a:effectLst/>
                    <a:latin typeface="Segoe WPC"/>
                  </a:rPr>
                  <a:t> </a:t>
                </a:r>
                <a:r>
                  <a:rPr lang="es-PE" sz="900" b="0" i="0" dirty="0" err="1">
                    <a:solidFill>
                      <a:schemeClr val="tx1"/>
                    </a:solidFill>
                    <a:effectLst/>
                    <a:latin typeface="Segoe WPC"/>
                  </a:rPr>
                  <a:t>earlier</a:t>
                </a:r>
                <a:r>
                  <a:rPr lang="es-PE" sz="900" b="0" i="0" dirty="0">
                    <a:solidFill>
                      <a:schemeClr val="tx1"/>
                    </a:solidFill>
                    <a:effectLst/>
                    <a:latin typeface="Segoe WPC"/>
                  </a:rPr>
                  <a:t> </a:t>
                </a:r>
                <a:r>
                  <a:rPr lang="es-PE" sz="900" b="0" i="0" dirty="0" err="1">
                    <a:solidFill>
                      <a:schemeClr val="tx1"/>
                    </a:solidFill>
                    <a:effectLst/>
                    <a:latin typeface="Segoe WPC"/>
                  </a:rPr>
                  <a:t>errors</a:t>
                </a:r>
                <a:r>
                  <a:rPr lang="es-PE" sz="900" b="0" i="0" dirty="0">
                    <a:solidFill>
                      <a:schemeClr val="tx1"/>
                    </a:solidFill>
                    <a:effectLst/>
                    <a:latin typeface="Segoe WPC"/>
                  </a:rPr>
                  <a:t>.</a:t>
                </a:r>
              </a:p>
            </p:txBody>
          </p:sp>
        </mc:Choice>
        <mc:Fallback xmlns="">
          <p:sp>
            <p:nvSpPr>
              <p:cNvPr id="7" name="CuadroTexto 6">
                <a:extLst>
                  <a:ext uri="{FF2B5EF4-FFF2-40B4-BE49-F238E27FC236}">
                    <a16:creationId xmlns:a16="http://schemas.microsoft.com/office/drawing/2014/main" id="{500682FE-C0F6-BDEB-ADDA-2FAEF09974DD}"/>
                  </a:ext>
                </a:extLst>
              </p:cNvPr>
              <p:cNvSpPr txBox="1">
                <a:spLocks noRot="1" noChangeAspect="1" noMove="1" noResize="1" noEditPoints="1" noAdjustHandles="1" noChangeArrowheads="1" noChangeShapeType="1" noTextEdit="1"/>
              </p:cNvSpPr>
              <p:nvPr/>
            </p:nvSpPr>
            <p:spPr>
              <a:xfrm>
                <a:off x="0" y="276225"/>
                <a:ext cx="5876925" cy="6620467"/>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3750042E-2C47-C6B2-9C78-E33AE4A7968B}"/>
                  </a:ext>
                </a:extLst>
              </p:cNvPr>
              <p:cNvSpPr txBox="1"/>
              <p:nvPr/>
            </p:nvSpPr>
            <p:spPr>
              <a:xfrm>
                <a:off x="6000750" y="411251"/>
                <a:ext cx="6191250" cy="3017749"/>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6. K-</a:t>
                </a:r>
                <a:r>
                  <a:rPr lang="es-PE" sz="900" b="1" i="0" dirty="0" err="1">
                    <a:solidFill>
                      <a:schemeClr val="tx1"/>
                    </a:solidFill>
                    <a:effectLst/>
                    <a:latin typeface="Segoe WPC"/>
                  </a:rPr>
                  <a:t>Nearest</a:t>
                </a:r>
                <a:r>
                  <a:rPr lang="es-PE" sz="900" b="1" i="0" dirty="0">
                    <a:solidFill>
                      <a:schemeClr val="tx1"/>
                    </a:solidFill>
                    <a:effectLst/>
                    <a:latin typeface="Segoe WPC"/>
                  </a:rPr>
                  <a:t> </a:t>
                </a:r>
                <a:r>
                  <a:rPr lang="es-PE" sz="900" b="1" i="0" dirty="0" err="1">
                    <a:solidFill>
                      <a:schemeClr val="tx1"/>
                    </a:solidFill>
                    <a:effectLst/>
                    <a:latin typeface="Segoe WPC"/>
                  </a:rPr>
                  <a:t>Neighbors</a:t>
                </a:r>
                <a:r>
                  <a:rPr lang="es-PE" sz="900" b="1" i="0" dirty="0">
                    <a:solidFill>
                      <a:schemeClr val="tx1"/>
                    </a:solidFill>
                    <a:effectLst/>
                    <a:latin typeface="Segoe WPC"/>
                  </a:rPr>
                  <a:t> (KNN)</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Prediction</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nearest</a:t>
                </a:r>
                <a:r>
                  <a:rPr lang="es-PE" sz="900" b="0" i="0" dirty="0">
                    <a:solidFill>
                      <a:schemeClr val="tx1"/>
                    </a:solidFill>
                    <a:effectLst/>
                    <a:latin typeface="Segoe WPC"/>
                  </a:rPr>
                  <a:t> </a:t>
                </a:r>
                <a:r>
                  <a:rPr lang="es-PE" sz="900" b="0" i="0" dirty="0" err="1">
                    <a:solidFill>
                      <a:schemeClr val="tx1"/>
                    </a:solidFill>
                    <a:effectLst/>
                    <a:latin typeface="Segoe WPC"/>
                  </a:rPr>
                  <a:t>observations</a:t>
                </a:r>
                <a:r>
                  <a:rPr lang="es-PE" sz="900" b="0" i="0" dirty="0">
                    <a:solidFill>
                      <a:schemeClr val="tx1"/>
                    </a:solidFill>
                    <a:effectLst/>
                    <a:latin typeface="Segoe WPC"/>
                  </a:rPr>
                  <a:t> in </a:t>
                </a:r>
                <a:r>
                  <a:rPr lang="es-PE" sz="900" b="0" i="0" dirty="0" err="1">
                    <a:solidFill>
                      <a:schemeClr val="tx1"/>
                    </a:solidFill>
                    <a:effectLst/>
                    <a:latin typeface="Segoe WPC"/>
                  </a:rPr>
                  <a:t>feature</a:t>
                </a:r>
                <a:r>
                  <a:rPr lang="es-PE" sz="900" b="0" i="0" dirty="0">
                    <a:solidFill>
                      <a:schemeClr val="tx1"/>
                    </a:solidFill>
                    <a:effectLst/>
                    <a:latin typeface="Segoe WPC"/>
                  </a:rPr>
                  <a:t> </a:t>
                </a:r>
                <a:r>
                  <a:rPr lang="es-PE" sz="900" b="0" i="0" dirty="0" err="1">
                    <a:solidFill>
                      <a:schemeClr val="tx1"/>
                    </a:solidFill>
                    <a:effectLst/>
                    <a:latin typeface="Segoe WPC"/>
                  </a:rPr>
                  <a:t>space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classify</a:t>
                </a:r>
                <a:r>
                  <a:rPr lang="es-PE" sz="900" b="0" i="0" dirty="0">
                    <a:solidFill>
                      <a:schemeClr val="tx1"/>
                    </a:solidFill>
                    <a:effectLst/>
                    <a:latin typeface="Segoe WPC"/>
                  </a:rPr>
                  <a:t> a new </a:t>
                </a:r>
                <a:r>
                  <a:rPr lang="es-PE" sz="900" b="0" i="0" dirty="0" err="1">
                    <a:solidFill>
                      <a:schemeClr val="tx1"/>
                    </a:solidFill>
                    <a:effectLst/>
                    <a:latin typeface="Segoe WPC"/>
                  </a:rPr>
                  <a:t>point</a:t>
                </a:r>
                <a:r>
                  <a:rPr lang="es-PE" sz="900" b="0" i="0" dirty="0">
                    <a:solidFill>
                      <a:schemeClr val="tx1"/>
                    </a:solidFill>
                    <a:effectLst/>
                    <a:latin typeface="Segoe WPC"/>
                  </a:rPr>
                  <a:t>, </a:t>
                </a:r>
                <a:r>
                  <a:rPr lang="es-PE" sz="900" b="0" i="0" dirty="0" err="1">
                    <a:solidFill>
                      <a:schemeClr val="tx1"/>
                    </a:solidFill>
                    <a:effectLst/>
                    <a:latin typeface="Segoe WPC"/>
                  </a:rPr>
                  <a:t>find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𝐾</m:t>
                    </m:r>
                  </m:oMath>
                </a14:m>
                <a:r>
                  <a:rPr lang="es-PE" sz="900" b="0" i="0" dirty="0">
                    <a:solidFill>
                      <a:schemeClr val="tx1"/>
                    </a:solidFill>
                    <a:effectLst/>
                    <a:latin typeface="Segoe WPC"/>
                  </a:rPr>
                  <a:t> </a:t>
                </a:r>
                <a:r>
                  <a:rPr lang="es-PE" sz="900" b="0" i="0" dirty="0" err="1">
                    <a:solidFill>
                      <a:schemeClr val="tx1"/>
                    </a:solidFill>
                    <a:effectLst/>
                    <a:latin typeface="Segoe WPC"/>
                  </a:rPr>
                  <a:t>closest</a:t>
                </a:r>
                <a:r>
                  <a:rPr lang="es-PE" sz="900" b="0" i="0" dirty="0">
                    <a:solidFill>
                      <a:schemeClr val="tx1"/>
                    </a:solidFill>
                    <a:effectLst/>
                    <a:latin typeface="Segoe WPC"/>
                  </a:rPr>
                  <a:t> training </a:t>
                </a:r>
                <a:r>
                  <a:rPr lang="es-PE" sz="900" b="0" i="0" dirty="0" err="1">
                    <a:solidFill>
                      <a:schemeClr val="tx1"/>
                    </a:solidFill>
                    <a:effectLst/>
                    <a:latin typeface="Segoe WPC"/>
                  </a:rPr>
                  <a:t>points</a:t>
                </a:r>
                <a:r>
                  <a:rPr lang="es-PE" sz="900" b="0" i="0" dirty="0">
                    <a:solidFill>
                      <a:schemeClr val="tx1"/>
                    </a:solidFill>
                    <a:effectLst/>
                    <a:latin typeface="Segoe WPC"/>
                  </a:rPr>
                  <a:t> and use </a:t>
                </a:r>
                <a:r>
                  <a:rPr lang="es-PE" sz="900" b="0" i="0" dirty="0" err="1">
                    <a:solidFill>
                      <a:schemeClr val="tx1"/>
                    </a:solidFill>
                    <a:effectLst/>
                    <a:latin typeface="Segoe WPC"/>
                  </a:rPr>
                  <a:t>their</a:t>
                </a:r>
                <a:r>
                  <a:rPr lang="es-PE" sz="900" b="0" i="0" dirty="0">
                    <a:solidFill>
                      <a:schemeClr val="tx1"/>
                    </a:solidFill>
                    <a:effectLst/>
                    <a:latin typeface="Segoe WPC"/>
                  </a:rPr>
                  <a:t> </a:t>
                </a:r>
                <a:r>
                  <a:rPr lang="es-PE" sz="900" b="0" i="0" dirty="0" err="1">
                    <a:solidFill>
                      <a:schemeClr val="tx1"/>
                    </a:solidFill>
                    <a:effectLst/>
                    <a:latin typeface="Segoe WPC"/>
                  </a:rPr>
                  <a:t>outcomes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Drop</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new </a:t>
                </a:r>
                <a:r>
                  <a:rPr lang="es-PE" sz="900" b="0" i="0" dirty="0" err="1">
                    <a:solidFill>
                      <a:schemeClr val="tx1"/>
                    </a:solidFill>
                    <a:effectLst/>
                    <a:latin typeface="Segoe WPC"/>
                  </a:rPr>
                  <a:t>point</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data </a:t>
                </a:r>
                <a:r>
                  <a:rPr lang="es-PE" sz="900" b="0" i="0" dirty="0" err="1">
                    <a:solidFill>
                      <a:schemeClr val="tx1"/>
                    </a:solidFill>
                    <a:effectLst/>
                    <a:latin typeface="Segoe WPC"/>
                  </a:rPr>
                  <a:t>cloud</a:t>
                </a:r>
                <a:r>
                  <a:rPr lang="es-PE" sz="900" b="0" i="0" dirty="0">
                    <a:solidFill>
                      <a:schemeClr val="tx1"/>
                    </a:solidFill>
                    <a:effectLst/>
                    <a:latin typeface="Segoe WPC"/>
                  </a:rPr>
                  <a:t> and </a:t>
                </a:r>
                <a:r>
                  <a:rPr lang="es-PE" sz="900" b="0" i="0" dirty="0" err="1">
                    <a:solidFill>
                      <a:schemeClr val="tx1"/>
                    </a:solidFill>
                    <a:effectLst/>
                    <a:latin typeface="Segoe WPC"/>
                  </a:rPr>
                  <a:t>let</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nearest</a:t>
                </a:r>
                <a:r>
                  <a:rPr lang="es-PE" sz="900" b="0" i="0" dirty="0">
                    <a:solidFill>
                      <a:schemeClr val="tx1"/>
                    </a:solidFill>
                    <a:effectLst/>
                    <a:latin typeface="Segoe WPC"/>
                  </a:rPr>
                  <a:t> </a:t>
                </a:r>
                <a:r>
                  <a:rPr lang="es-PE" sz="900" b="0" i="0" dirty="0" err="1">
                    <a:solidFill>
                      <a:schemeClr val="tx1"/>
                    </a:solidFill>
                    <a:effectLst/>
                    <a:latin typeface="Segoe WPC"/>
                  </a:rPr>
                  <a:t>neighbors</a:t>
                </a:r>
                <a:r>
                  <a:rPr lang="es-PE" sz="900" b="0" i="0" dirty="0">
                    <a:solidFill>
                      <a:schemeClr val="tx1"/>
                    </a:solidFill>
                    <a:effectLst/>
                    <a:latin typeface="Segoe WPC"/>
                  </a:rPr>
                  <a:t> vote.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Distance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Euclidean</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Manhattan; </a:t>
                </a:r>
                <a:r>
                  <a:rPr lang="es-PE" sz="900" b="0" i="0" dirty="0" err="1">
                    <a:solidFill>
                      <a:schemeClr val="tx1"/>
                    </a:solidFill>
                    <a:effectLst/>
                    <a:latin typeface="Segoe WPC"/>
                  </a:rPr>
                  <a:t>classification</a:t>
                </a:r>
                <a:r>
                  <a:rPr lang="es-PE" sz="900" b="0" i="0" dirty="0">
                    <a:solidFill>
                      <a:schemeClr val="tx1"/>
                    </a:solidFill>
                    <a:effectLst/>
                    <a:latin typeface="Segoe WPC"/>
                  </a:rPr>
                  <a:t> uses </a:t>
                </a:r>
                <a:r>
                  <a:rPr lang="es-PE" sz="900" b="0" i="0" dirty="0" err="1">
                    <a:solidFill>
                      <a:schemeClr val="tx1"/>
                    </a:solidFill>
                    <a:effectLst/>
                    <a:latin typeface="Segoe WPC"/>
                  </a:rPr>
                  <a:t>majority</a:t>
                </a:r>
                <a:r>
                  <a:rPr lang="es-PE" sz="900" b="0" i="0" dirty="0">
                    <a:solidFill>
                      <a:schemeClr val="tx1"/>
                    </a:solidFill>
                    <a:effectLst/>
                    <a:latin typeface="Segoe WPC"/>
                  </a:rPr>
                  <a:t> vote and </a:t>
                </a:r>
                <a:r>
                  <a:rPr lang="es-PE" sz="900" b="0" i="0" dirty="0" err="1">
                    <a:solidFill>
                      <a:schemeClr val="tx1"/>
                    </a:solidFill>
                    <a:effectLst/>
                    <a:latin typeface="Segoe WPC"/>
                  </a:rPr>
                  <a:t>regression</a:t>
                </a:r>
                <a:r>
                  <a:rPr lang="es-PE" sz="900" b="0" i="0" dirty="0">
                    <a:solidFill>
                      <a:schemeClr val="tx1"/>
                    </a:solidFill>
                    <a:effectLst/>
                    <a:latin typeface="Segoe WPC"/>
                  </a:rPr>
                  <a:t> uses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target </a:t>
                </a:r>
                <a:r>
                  <a:rPr lang="es-PE" sz="900" b="0" i="0" dirty="0" err="1">
                    <a:solidFill>
                      <a:schemeClr val="tx1"/>
                    </a:solidFill>
                    <a:effectLst/>
                    <a:latin typeface="Segoe WPC"/>
                  </a:rPr>
                  <a:t>across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𝐾</m:t>
                    </m:r>
                  </m:oMath>
                </a14:m>
                <a:r>
                  <a:rPr lang="es-PE" sz="900" b="0" i="0" dirty="0">
                    <a:solidFill>
                      <a:schemeClr val="tx1"/>
                    </a:solidFill>
                    <a:effectLst/>
                    <a:latin typeface="Segoe WPC"/>
                  </a:rPr>
                  <a:t> </a:t>
                </a:r>
                <a:r>
                  <a:rPr lang="es-PE" sz="900" b="0" i="0" dirty="0" err="1">
                    <a:solidFill>
                      <a:schemeClr val="tx1"/>
                    </a:solidFill>
                    <a:effectLst/>
                    <a:latin typeface="Segoe WPC"/>
                  </a:rPr>
                  <a:t>neighbors</a:t>
                </a:r>
                <a:r>
                  <a:rPr lang="es-PE" sz="900" b="0" i="0" dirty="0">
                    <a:solidFill>
                      <a:schemeClr val="tx1"/>
                    </a:solidFill>
                    <a:effectLst/>
                    <a:latin typeface="Segoe WPC"/>
                  </a:rPr>
                  <a:t>. A </a:t>
                </a:r>
                <a:r>
                  <a:rPr lang="es-PE" sz="900" b="0" i="0" dirty="0" err="1">
                    <a:solidFill>
                      <a:schemeClr val="tx1"/>
                    </a:solidFill>
                    <a:effectLst/>
                    <a:latin typeface="Segoe WPC"/>
                  </a:rPr>
                  <a:t>common</a:t>
                </a:r>
                <a:r>
                  <a:rPr lang="es-PE" sz="900" b="0" i="0" dirty="0">
                    <a:solidFill>
                      <a:schemeClr val="tx1"/>
                    </a:solidFill>
                    <a:effectLst/>
                    <a:latin typeface="Segoe WPC"/>
                  </a:rPr>
                  <a:t> rule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𝐾</m:t>
                    </m:r>
                    <m:r>
                      <a:rPr lang="es-PE" sz="900" i="0">
                        <a:solidFill>
                          <a:schemeClr val="tx1"/>
                        </a:solidFill>
                        <a:latin typeface="Cambria Math" panose="02040503050406030204" pitchFamily="18" charset="0"/>
                      </a:rPr>
                      <m:t>≈</m:t>
                    </m:r>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𝑛</m:t>
                        </m:r>
                      </m:e>
                    </m:ra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Small </a:t>
                </a:r>
                <a14:m>
                  <m:oMath xmlns:m="http://schemas.openxmlformats.org/officeDocument/2006/math">
                    <m:r>
                      <a:rPr lang="es-PE" sz="900" i="1">
                        <a:solidFill>
                          <a:schemeClr val="tx1"/>
                        </a:solidFill>
                        <a:latin typeface="Cambria Math" panose="02040503050406030204" pitchFamily="18" charset="0"/>
                      </a:rPr>
                      <m:t>𝐾</m:t>
                    </m:r>
                  </m:oMath>
                </a14:m>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low</a:t>
                </a:r>
                <a:r>
                  <a:rPr lang="es-PE" sz="900" b="0" i="0" dirty="0">
                    <a:solidFill>
                      <a:schemeClr val="tx1"/>
                    </a:solidFill>
                    <a:effectLst/>
                    <a:latin typeface="Segoe WPC"/>
                  </a:rPr>
                  <a:t> </a:t>
                </a:r>
                <a:r>
                  <a:rPr lang="es-PE" sz="900" b="0" i="0" dirty="0" err="1">
                    <a:solidFill>
                      <a:schemeClr val="tx1"/>
                    </a:solidFill>
                    <a:effectLst/>
                    <a:latin typeface="Segoe WPC"/>
                  </a:rPr>
                  <a:t>bias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high</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and more </a:t>
                </a:r>
                <a:r>
                  <a:rPr lang="es-PE" sz="900" b="0" i="0" dirty="0" err="1">
                    <a:solidFill>
                      <a:schemeClr val="tx1"/>
                    </a:solidFill>
                    <a:effectLst/>
                    <a:latin typeface="Segoe WPC"/>
                  </a:rPr>
                  <a:t>overfitting</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𝐾</m:t>
                    </m:r>
                  </m:oMath>
                </a14:m>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bias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KNN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heavily</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scaling</a:t>
                </a:r>
                <a:r>
                  <a:rPr lang="es-PE" sz="900" b="0" i="0" dirty="0">
                    <a:solidFill>
                      <a:schemeClr val="tx1"/>
                    </a:solidFill>
                    <a:effectLst/>
                    <a:latin typeface="Segoe WPC"/>
                  </a:rPr>
                  <a:t>, so inputs </a:t>
                </a:r>
                <a:r>
                  <a:rPr lang="es-PE" sz="900" b="0" i="0" dirty="0" err="1">
                    <a:solidFill>
                      <a:schemeClr val="tx1"/>
                    </a:solidFill>
                    <a:effectLst/>
                    <a:latin typeface="Segoe WPC"/>
                  </a:rPr>
                  <a:t>must</a:t>
                </a:r>
                <a:r>
                  <a:rPr lang="es-PE" sz="900" b="0" i="0" dirty="0">
                    <a:solidFill>
                      <a:schemeClr val="tx1"/>
                    </a:solidFill>
                    <a:effectLst/>
                    <a:latin typeface="Segoe WPC"/>
                  </a:rPr>
                  <a:t> be </a:t>
                </a:r>
                <a:r>
                  <a:rPr lang="es-PE" sz="900" b="0" i="0" dirty="0" err="1">
                    <a:solidFill>
                      <a:schemeClr val="tx1"/>
                    </a:solidFill>
                    <a:effectLst/>
                    <a:latin typeface="Segoe WPC"/>
                  </a:rPr>
                  <a:t>normalized</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standardized</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7. </a:t>
                </a:r>
                <a:r>
                  <a:rPr lang="es-PE" sz="900" b="1" i="0" dirty="0" err="1">
                    <a:solidFill>
                      <a:schemeClr val="tx1"/>
                    </a:solidFill>
                    <a:effectLst/>
                    <a:latin typeface="Segoe WPC"/>
                  </a:rPr>
                  <a:t>Support</a:t>
                </a:r>
                <a:r>
                  <a:rPr lang="es-PE" sz="900" b="1" i="0" dirty="0">
                    <a:solidFill>
                      <a:schemeClr val="tx1"/>
                    </a:solidFill>
                    <a:effectLst/>
                    <a:latin typeface="Segoe WPC"/>
                  </a:rPr>
                  <a:t> Vector Machines (</a:t>
                </a:r>
                <a:r>
                  <a:rPr lang="es-PE" sz="900" b="1" i="0" dirty="0" err="1">
                    <a:solidFill>
                      <a:schemeClr val="tx1"/>
                    </a:solidFill>
                    <a:effectLst/>
                    <a:latin typeface="Segoe WPC"/>
                  </a:rPr>
                  <a:t>SVMs</a:t>
                </a:r>
                <a:r>
                  <a:rPr lang="es-PE" sz="900" b="1"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Classification</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widest</a:t>
                </a:r>
                <a:r>
                  <a:rPr lang="es-PE" sz="900" b="0" i="0" dirty="0">
                    <a:solidFill>
                      <a:schemeClr val="tx1"/>
                    </a:solidFill>
                    <a:effectLst/>
                    <a:latin typeface="Segoe WPC"/>
                  </a:rPr>
                  <a:t> </a:t>
                </a:r>
                <a:r>
                  <a:rPr lang="es-PE" sz="900" b="0" i="0" dirty="0" err="1">
                    <a:solidFill>
                      <a:schemeClr val="tx1"/>
                    </a:solidFill>
                    <a:effectLst/>
                    <a:latin typeface="Segoe WPC"/>
                  </a:rPr>
                  <a:t>separating</a:t>
                </a:r>
                <a:r>
                  <a:rPr lang="es-PE" sz="900" b="0" i="0" dirty="0">
                    <a:solidFill>
                      <a:schemeClr val="tx1"/>
                    </a:solidFill>
                    <a:effectLst/>
                    <a:latin typeface="Segoe WPC"/>
                  </a:rPr>
                  <a:t> </a:t>
                </a:r>
                <a:r>
                  <a:rPr lang="es-PE" sz="900" b="0" i="0" dirty="0" err="1">
                    <a:solidFill>
                      <a:schemeClr val="tx1"/>
                    </a:solidFill>
                    <a:effectLst/>
                    <a:latin typeface="Segoe WPC"/>
                  </a:rPr>
                  <a:t>margin</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classes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Instead</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a:t>
                </a:r>
                <a:r>
                  <a:rPr lang="es-PE" sz="900" b="0" i="0" dirty="0" err="1">
                    <a:solidFill>
                      <a:schemeClr val="tx1"/>
                    </a:solidFill>
                    <a:effectLst/>
                    <a:latin typeface="Segoe WPC"/>
                  </a:rPr>
                  <a:t>separating</a:t>
                </a:r>
                <a:r>
                  <a:rPr lang="es-PE" sz="900" b="0" i="0" dirty="0">
                    <a:solidFill>
                      <a:schemeClr val="tx1"/>
                    </a:solidFill>
                    <a:effectLst/>
                    <a:latin typeface="Segoe WPC"/>
                  </a:rPr>
                  <a:t> </a:t>
                </a:r>
                <a:r>
                  <a:rPr lang="es-PE" sz="900" b="0" i="0" dirty="0" err="1">
                    <a:solidFill>
                      <a:schemeClr val="tx1"/>
                    </a:solidFill>
                    <a:effectLst/>
                    <a:latin typeface="Segoe WPC"/>
                  </a:rPr>
                  <a:t>classes</a:t>
                </a:r>
                <a:r>
                  <a:rPr lang="es-PE" sz="900" b="0" i="0" dirty="0">
                    <a:solidFill>
                      <a:schemeClr val="tx1"/>
                    </a:solidFill>
                    <a:effectLst/>
                    <a:latin typeface="Segoe WPC"/>
                  </a:rPr>
                  <a:t>, SVM </a:t>
                </a:r>
                <a:r>
                  <a:rPr lang="es-PE" sz="900" b="0" i="0" dirty="0" err="1">
                    <a:solidFill>
                      <a:schemeClr val="tx1"/>
                    </a:solidFill>
                    <a:effectLst/>
                    <a:latin typeface="Segoe WPC"/>
                  </a:rPr>
                  <a:t>finds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boundary</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largest</a:t>
                </a:r>
                <a:r>
                  <a:rPr lang="es-PE" sz="900" b="0" i="0" dirty="0">
                    <a:solidFill>
                      <a:schemeClr val="tx1"/>
                    </a:solidFill>
                    <a:effectLst/>
                    <a:latin typeface="Segoe WPC"/>
                  </a:rPr>
                  <a:t> safety gap.</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Draw</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widest</a:t>
                </a:r>
                <a:r>
                  <a:rPr lang="es-PE" sz="900" b="0" i="0" dirty="0">
                    <a:solidFill>
                      <a:schemeClr val="tx1"/>
                    </a:solidFill>
                    <a:effectLst/>
                    <a:latin typeface="Segoe WPC"/>
                  </a:rPr>
                  <a:t> </a:t>
                </a:r>
                <a:r>
                  <a:rPr lang="es-PE" sz="900" b="0" i="0" dirty="0" err="1">
                    <a:solidFill>
                      <a:schemeClr val="tx1"/>
                    </a:solidFill>
                    <a:effectLst/>
                    <a:latin typeface="Segoe WPC"/>
                  </a:rPr>
                  <a:t>possible</a:t>
                </a:r>
                <a:r>
                  <a:rPr lang="es-PE" sz="900" b="0" i="0" dirty="0">
                    <a:solidFill>
                      <a:schemeClr val="tx1"/>
                    </a:solidFill>
                    <a:effectLst/>
                    <a:latin typeface="Segoe WPC"/>
                  </a:rPr>
                  <a:t> </a:t>
                </a:r>
                <a:r>
                  <a:rPr lang="es-PE" sz="900" b="0" i="0" dirty="0" err="1">
                    <a:solidFill>
                      <a:schemeClr val="tx1"/>
                    </a:solidFill>
                    <a:effectLst/>
                    <a:latin typeface="Segoe WPC"/>
                  </a:rPr>
                  <a:t>corridor</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groups</a:t>
                </a:r>
                <a:r>
                  <a:rPr lang="es-PE" sz="900" b="0" i="0" dirty="0">
                    <a:solidFill>
                      <a:schemeClr val="tx1"/>
                    </a:solidFill>
                    <a:effectLst/>
                    <a:latin typeface="Segoe WPC"/>
                  </a:rPr>
                  <a:t> and </a:t>
                </a:r>
                <a:r>
                  <a:rPr lang="es-PE" sz="900" b="0" i="0" dirty="0" err="1">
                    <a:solidFill>
                      <a:schemeClr val="tx1"/>
                    </a:solidFill>
                    <a:effectLst/>
                    <a:latin typeface="Segoe WPC"/>
                  </a:rPr>
                  <a:t>classify</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center line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hyperplane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boundary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determined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support</a:t>
                </a:r>
                <a:r>
                  <a:rPr lang="es-PE" sz="900" b="0" i="0" dirty="0">
                    <a:solidFill>
                      <a:schemeClr val="tx1"/>
                    </a:solidFill>
                    <a:effectLst/>
                    <a:latin typeface="Segoe WPC"/>
                  </a:rPr>
                  <a:t> </a:t>
                </a:r>
                <a:r>
                  <a:rPr lang="es-PE" sz="900" b="0" i="0" dirty="0" err="1">
                    <a:solidFill>
                      <a:schemeClr val="tx1"/>
                    </a:solidFill>
                    <a:effectLst/>
                    <a:latin typeface="Segoe WPC"/>
                  </a:rPr>
                  <a:t>vectors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points</a:t>
                </a:r>
                <a:r>
                  <a:rPr lang="es-PE" sz="900" b="0" i="0" dirty="0">
                    <a:solidFill>
                      <a:schemeClr val="tx1"/>
                    </a:solidFill>
                    <a:effectLst/>
                    <a:latin typeface="Segoe WPC"/>
                  </a:rPr>
                  <a:t> </a:t>
                </a:r>
                <a:r>
                  <a:rPr lang="es-PE" sz="900" b="0" i="0" dirty="0" err="1">
                    <a:solidFill>
                      <a:schemeClr val="tx1"/>
                    </a:solidFill>
                    <a:effectLst/>
                    <a:latin typeface="Segoe WPC"/>
                  </a:rPr>
                  <a:t>lying</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edges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margin</a:t>
                </a:r>
                <a:r>
                  <a:rPr lang="es-PE" sz="900" b="0" i="0" dirty="0">
                    <a:solidFill>
                      <a:schemeClr val="tx1"/>
                    </a:solidFill>
                    <a:effectLst/>
                    <a:latin typeface="Segoe WPC"/>
                  </a:rPr>
                  <a:t>. In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dimensions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separator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hyperplane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SVMs</a:t>
                </a:r>
                <a:r>
                  <a:rPr lang="es-PE" sz="900" b="0" i="0" dirty="0">
                    <a:solidFill>
                      <a:schemeClr val="tx1"/>
                    </a:solidFill>
                    <a:effectLst/>
                    <a:latin typeface="Segoe WPC"/>
                  </a:rPr>
                  <a:t> are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there</a:t>
                </a:r>
                <a:r>
                  <a:rPr lang="es-PE" sz="900" b="0" i="0" dirty="0">
                    <a:solidFill>
                      <a:schemeClr val="tx1"/>
                    </a:solidFill>
                    <a:effectLst/>
                    <a:latin typeface="Segoe WPC"/>
                  </a:rPr>
                  <a:t> are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features</a:t>
                </a:r>
                <a:r>
                  <a:rPr lang="es-PE" sz="900" b="0" i="0" dirty="0">
                    <a:solidFill>
                      <a:schemeClr val="tx1"/>
                    </a:solidFill>
                    <a:effectLst/>
                    <a:latin typeface="Segoe WPC"/>
                  </a:rPr>
                  <a:t> and can be extended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allow</a:t>
                </a:r>
                <a:r>
                  <a:rPr lang="es-PE" sz="900" b="0" i="0" dirty="0">
                    <a:solidFill>
                      <a:schemeClr val="tx1"/>
                    </a:solidFill>
                    <a:effectLst/>
                    <a:latin typeface="Segoe WPC"/>
                  </a:rPr>
                  <a:t> </a:t>
                </a:r>
                <a:r>
                  <a:rPr lang="es-PE" sz="900" b="0" i="0" dirty="0" err="1">
                    <a:solidFill>
                      <a:schemeClr val="tx1"/>
                    </a:solidFill>
                    <a:effectLst/>
                    <a:latin typeface="Segoe WPC"/>
                  </a:rPr>
                  <a:t>misclassification</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nonlinear</a:t>
                </a:r>
                <a:r>
                  <a:rPr lang="es-PE" sz="900" b="0" i="0" dirty="0">
                    <a:solidFill>
                      <a:schemeClr val="tx1"/>
                    </a:solidFill>
                    <a:effectLst/>
                    <a:latin typeface="Segoe WPC"/>
                  </a:rPr>
                  <a:t> </a:t>
                </a:r>
                <a:r>
                  <a:rPr lang="es-PE" sz="900" b="0" i="0" dirty="0" err="1">
                    <a:solidFill>
                      <a:schemeClr val="tx1"/>
                    </a:solidFill>
                    <a:effectLst/>
                    <a:latin typeface="Segoe WPC"/>
                  </a:rPr>
                  <a:t>boundaries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Perfect</a:t>
                </a:r>
                <a:r>
                  <a:rPr lang="es-PE" sz="900" b="0" i="0" dirty="0">
                    <a:solidFill>
                      <a:schemeClr val="tx1"/>
                    </a:solidFill>
                    <a:effectLst/>
                    <a:latin typeface="Segoe WPC"/>
                  </a:rPr>
                  <a:t> </a:t>
                </a:r>
                <a:r>
                  <a:rPr lang="es-PE" sz="900" b="0" i="0" dirty="0" err="1">
                    <a:solidFill>
                      <a:schemeClr val="tx1"/>
                    </a:solidFill>
                    <a:effectLst/>
                    <a:latin typeface="Segoe WPC"/>
                  </a:rPr>
                  <a:t>separation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always</a:t>
                </a:r>
                <a:r>
                  <a:rPr lang="es-PE" sz="900" b="0" i="0" dirty="0">
                    <a:solidFill>
                      <a:schemeClr val="tx1"/>
                    </a:solidFill>
                    <a:effectLst/>
                    <a:latin typeface="Segoe WPC"/>
                  </a:rPr>
                  <a:t> </a:t>
                </a:r>
                <a:r>
                  <a:rPr lang="es-PE" sz="900" b="0" i="0" dirty="0" err="1">
                    <a:solidFill>
                      <a:schemeClr val="tx1"/>
                    </a:solidFill>
                    <a:effectLst/>
                    <a:latin typeface="Segoe WPC"/>
                  </a:rPr>
                  <a:t>possible</a:t>
                </a:r>
                <a:r>
                  <a:rPr lang="es-PE" sz="900" b="0" i="0" dirty="0">
                    <a:solidFill>
                      <a:schemeClr val="tx1"/>
                    </a:solidFill>
                    <a:effectLst/>
                    <a:latin typeface="Segoe WPC"/>
                  </a:rPr>
                  <a:t>, so </a:t>
                </a:r>
                <a:r>
                  <a:rPr lang="es-PE" sz="900" b="0" i="0" dirty="0" err="1">
                    <a:solidFill>
                      <a:schemeClr val="tx1"/>
                    </a:solidFill>
                    <a:effectLst/>
                    <a:latin typeface="Segoe WPC"/>
                  </a:rPr>
                  <a:t>practical</a:t>
                </a:r>
                <a:r>
                  <a:rPr lang="es-PE" sz="900" b="0" i="0" dirty="0">
                    <a:solidFill>
                      <a:schemeClr val="tx1"/>
                    </a:solidFill>
                    <a:effectLst/>
                    <a:latin typeface="Segoe WPC"/>
                  </a:rPr>
                  <a:t> </a:t>
                </a:r>
                <a:r>
                  <a:rPr lang="es-PE" sz="900" b="0" i="0" dirty="0" err="1">
                    <a:solidFill>
                      <a:schemeClr val="tx1"/>
                    </a:solidFill>
                    <a:effectLst/>
                    <a:latin typeface="Segoe WPC"/>
                  </a:rPr>
                  <a:t>SVMs</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trade</a:t>
                </a:r>
                <a:r>
                  <a:rPr lang="es-PE" sz="900" b="0" i="0" dirty="0">
                    <a:solidFill>
                      <a:schemeClr val="tx1"/>
                    </a:solidFill>
                    <a:effectLst/>
                    <a:latin typeface="Segoe WPC"/>
                  </a:rPr>
                  <a:t> off </a:t>
                </a:r>
                <a:r>
                  <a:rPr lang="es-PE" sz="900" b="0" i="0" dirty="0" err="1">
                    <a:solidFill>
                      <a:schemeClr val="tx1"/>
                    </a:solidFill>
                    <a:effectLst/>
                    <a:latin typeface="Segoe WPC"/>
                  </a:rPr>
                  <a:t>margin</a:t>
                </a:r>
                <a:r>
                  <a:rPr lang="es-PE" sz="900" b="0" i="0" dirty="0">
                    <a:solidFill>
                      <a:schemeClr val="tx1"/>
                    </a:solidFill>
                    <a:effectLst/>
                    <a:latin typeface="Segoe WPC"/>
                  </a:rPr>
                  <a:t> </a:t>
                </a:r>
                <a:r>
                  <a:rPr lang="es-PE" sz="900" b="0" i="0" dirty="0" err="1">
                    <a:solidFill>
                      <a:schemeClr val="tx1"/>
                    </a:solidFill>
                    <a:effectLst/>
                    <a:latin typeface="Segoe WPC"/>
                  </a:rPr>
                  <a:t>width</a:t>
                </a:r>
                <a:r>
                  <a:rPr lang="es-PE" sz="900" b="0" i="0" dirty="0">
                    <a:solidFill>
                      <a:schemeClr val="tx1"/>
                    </a:solidFill>
                    <a:effectLst/>
                    <a:latin typeface="Segoe WPC"/>
                  </a:rPr>
                  <a:t> </a:t>
                </a:r>
                <a:r>
                  <a:rPr lang="es-PE" sz="900" b="0" i="0" dirty="0" err="1">
                    <a:solidFill>
                      <a:schemeClr val="tx1"/>
                    </a:solidFill>
                    <a:effectLst/>
                    <a:latin typeface="Segoe WPC"/>
                  </a:rPr>
                  <a:t>against</a:t>
                </a:r>
                <a:r>
                  <a:rPr lang="es-PE" sz="900" b="0" i="0" dirty="0">
                    <a:solidFill>
                      <a:schemeClr val="tx1"/>
                    </a:solidFill>
                    <a:effectLst/>
                    <a:latin typeface="Segoe WPC"/>
                  </a:rPr>
                  <a:t> </a:t>
                </a:r>
                <a:r>
                  <a:rPr lang="es-PE" sz="900" b="0" i="0" dirty="0" err="1">
                    <a:solidFill>
                      <a:schemeClr val="tx1"/>
                    </a:solidFill>
                    <a:effectLst/>
                    <a:latin typeface="Segoe WPC"/>
                  </a:rPr>
                  <a:t>classification</a:t>
                </a:r>
                <a:r>
                  <a:rPr lang="es-PE" sz="900" b="0" i="0" dirty="0">
                    <a:solidFill>
                      <a:schemeClr val="tx1"/>
                    </a:solidFill>
                    <a:effectLst/>
                    <a:latin typeface="Segoe WPC"/>
                  </a:rPr>
                  <a:t> error.</a:t>
                </a:r>
              </a:p>
            </p:txBody>
          </p:sp>
        </mc:Choice>
        <mc:Fallback xmlns="">
          <p:sp>
            <p:nvSpPr>
              <p:cNvPr id="13" name="CuadroTexto 12">
                <a:extLst>
                  <a:ext uri="{FF2B5EF4-FFF2-40B4-BE49-F238E27FC236}">
                    <a16:creationId xmlns:a16="http://schemas.microsoft.com/office/drawing/2014/main" id="{3750042E-2C47-C6B2-9C78-E33AE4A7968B}"/>
                  </a:ext>
                </a:extLst>
              </p:cNvPr>
              <p:cNvSpPr txBox="1">
                <a:spLocks noRot="1" noChangeAspect="1" noMove="1" noResize="1" noEditPoints="1" noAdjustHandles="1" noChangeArrowheads="1" noChangeShapeType="1" noTextEdit="1"/>
              </p:cNvSpPr>
              <p:nvPr/>
            </p:nvSpPr>
            <p:spPr>
              <a:xfrm>
                <a:off x="6000750" y="411251"/>
                <a:ext cx="6191250" cy="3017749"/>
              </a:xfrm>
              <a:prstGeom prst="rect">
                <a:avLst/>
              </a:prstGeom>
              <a:blipFill>
                <a:blip r:embed="rId3"/>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45F4F9FD-E794-BB60-0DC9-C3737C600853}"/>
                  </a:ext>
                </a:extLst>
              </p:cNvPr>
              <p:cNvSpPr txBox="1"/>
              <p:nvPr/>
            </p:nvSpPr>
            <p:spPr>
              <a:xfrm>
                <a:off x="6000750" y="3429000"/>
                <a:ext cx="6191250" cy="2169825"/>
              </a:xfrm>
              <a:prstGeom prst="rect">
                <a:avLst/>
              </a:prstGeom>
              <a:noFill/>
            </p:spPr>
            <p:txBody>
              <a:bodyPr wrap="square">
                <a:spAutoFit/>
              </a:bodyPr>
              <a:lstStyle/>
              <a:p>
                <a:r>
                  <a:rPr lang="es-PE" sz="900" b="1" i="0" dirty="0">
                    <a:solidFill>
                      <a:schemeClr val="tx1"/>
                    </a:solidFill>
                    <a:effectLst/>
                    <a:latin typeface="Segoe WPC"/>
                  </a:rPr>
                  <a:t>8. Neural Networks and </a:t>
                </a:r>
                <a:r>
                  <a:rPr lang="es-PE" sz="900" b="1" i="0" dirty="0" err="1">
                    <a:solidFill>
                      <a:schemeClr val="tx1"/>
                    </a:solidFill>
                    <a:effectLst/>
                    <a:latin typeface="Segoe WPC"/>
                  </a:rPr>
                  <a:t>Comparison</a:t>
                </a:r>
                <a:r>
                  <a:rPr lang="es-PE" sz="900" b="1" i="0" dirty="0">
                    <a:solidFill>
                      <a:schemeClr val="tx1"/>
                    </a:solidFill>
                    <a:effectLst/>
                    <a:latin typeface="Segoe WPC"/>
                  </a:rPr>
                  <a:t> </a:t>
                </a:r>
                <a:r>
                  <a:rPr lang="es-PE" sz="900" b="1" i="0" dirty="0" err="1">
                    <a:solidFill>
                      <a:schemeClr val="tx1"/>
                    </a:solidFill>
                    <a:effectLst/>
                    <a:latin typeface="Segoe WPC"/>
                  </a:rPr>
                  <a:t>with</a:t>
                </a:r>
                <a:r>
                  <a:rPr lang="es-PE" sz="900" b="1" i="0" dirty="0">
                    <a:solidFill>
                      <a:schemeClr val="tx1"/>
                    </a:solidFill>
                    <a:effectLst/>
                    <a:latin typeface="Segoe WPC"/>
                  </a:rPr>
                  <a:t> </a:t>
                </a:r>
                <a:r>
                  <a:rPr lang="es-PE" sz="900" b="1" i="0" dirty="0" err="1">
                    <a:solidFill>
                      <a:schemeClr val="tx1"/>
                    </a:solidFill>
                    <a:effectLst/>
                    <a:latin typeface="Segoe WPC"/>
                  </a:rPr>
                  <a:t>Logistic</a:t>
                </a:r>
                <a:r>
                  <a:rPr lang="es-PE" sz="900" b="1" i="0" dirty="0">
                    <a:solidFill>
                      <a:schemeClr val="tx1"/>
                    </a:solidFill>
                    <a:effectLst/>
                    <a:latin typeface="Segoe WPC"/>
                  </a:rPr>
                  <a:t> </a:t>
                </a:r>
                <a:r>
                  <a:rPr lang="es-PE" sz="900" b="1" i="0" dirty="0" err="1">
                    <a:solidFill>
                      <a:schemeClr val="tx1"/>
                    </a:solidFill>
                    <a:effectLst/>
                    <a:latin typeface="Segoe WPC"/>
                  </a:rPr>
                  <a:t>Regression</a:t>
                </a:r>
                <a:br>
                  <a:rPr lang="es-PE" sz="900" dirty="0">
                    <a:solidFill>
                      <a:schemeClr val="tx1"/>
                    </a:solidFill>
                  </a:rPr>
                </a:br>
                <a:r>
                  <a:rPr lang="es-PE" sz="900" b="1" i="0" dirty="0" err="1">
                    <a:solidFill>
                      <a:schemeClr val="tx1"/>
                    </a:solidFill>
                    <a:effectLst/>
                    <a:latin typeface="Segoe WPC"/>
                  </a:rPr>
                  <a:t>Statistical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Flexible </a:t>
                </a:r>
                <a:r>
                  <a:rPr lang="es-PE" sz="900" b="0" i="0" dirty="0" err="1">
                    <a:solidFill>
                      <a:schemeClr val="tx1"/>
                    </a:solidFill>
                    <a:effectLst/>
                    <a:latin typeface="Segoe WPC"/>
                  </a:rPr>
                  <a:t>nonlinear</a:t>
                </a:r>
                <a:r>
                  <a:rPr lang="es-PE" sz="900" b="0" i="0" dirty="0">
                    <a:solidFill>
                      <a:schemeClr val="tx1"/>
                    </a:solidFill>
                    <a:effectLst/>
                    <a:latin typeface="Segoe WPC"/>
                  </a:rPr>
                  <a:t> </a:t>
                </a:r>
                <a:r>
                  <a:rPr lang="es-PE" sz="900" b="0" i="0" dirty="0" err="1">
                    <a:solidFill>
                      <a:schemeClr val="tx1"/>
                    </a:solidFill>
                    <a:effectLst/>
                    <a:latin typeface="Segoe WPC"/>
                  </a:rPr>
                  <a:t>prediction</a:t>
                </a:r>
                <a:r>
                  <a:rPr lang="es-PE" sz="900" b="0" i="0" dirty="0">
                    <a:solidFill>
                      <a:schemeClr val="tx1"/>
                    </a:solidFill>
                    <a:effectLst/>
                    <a:latin typeface="Segoe WPC"/>
                  </a:rPr>
                  <a:t> </a:t>
                </a:r>
                <a:r>
                  <a:rPr lang="es-PE" sz="900" b="0" i="0" dirty="0" err="1">
                    <a:solidFill>
                      <a:schemeClr val="tx1"/>
                    </a:solidFill>
                    <a:effectLst/>
                    <a:latin typeface="Segoe WPC"/>
                  </a:rPr>
                  <a:t>through</a:t>
                </a:r>
                <a:r>
                  <a:rPr lang="es-PE" sz="900" b="0" i="0" dirty="0">
                    <a:solidFill>
                      <a:schemeClr val="tx1"/>
                    </a:solidFill>
                    <a:effectLst/>
                    <a:latin typeface="Segoe WPC"/>
                  </a:rPr>
                  <a:t> </a:t>
                </a:r>
                <a:r>
                  <a:rPr lang="es-PE" sz="900" b="0" i="0" dirty="0" err="1">
                    <a:solidFill>
                      <a:schemeClr val="tx1"/>
                    </a:solidFill>
                    <a:effectLst/>
                    <a:latin typeface="Segoe WPC"/>
                  </a:rPr>
                  <a:t>layers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weighted</a:t>
                </a:r>
                <a:r>
                  <a:rPr lang="es-PE" sz="900" b="0" i="0" dirty="0">
                    <a:solidFill>
                      <a:schemeClr val="tx1"/>
                    </a:solidFill>
                    <a:effectLst/>
                    <a:latin typeface="Segoe WPC"/>
                  </a:rPr>
                  <a:t> </a:t>
                </a:r>
                <a:r>
                  <a:rPr lang="es-PE" sz="900" b="0" i="0" dirty="0" err="1">
                    <a:solidFill>
                      <a:schemeClr val="tx1"/>
                    </a:solidFill>
                    <a:effectLst/>
                    <a:latin typeface="Segoe WPC"/>
                  </a:rPr>
                  <a:t>nodes</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Inputs </a:t>
                </a:r>
                <a:r>
                  <a:rPr lang="es-PE" sz="900" b="0" i="0" dirty="0" err="1">
                    <a:solidFill>
                      <a:schemeClr val="tx1"/>
                    </a:solidFill>
                    <a:effectLst/>
                    <a:latin typeface="Segoe WPC"/>
                  </a:rPr>
                  <a:t>feed</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hidden</a:t>
                </a:r>
                <a:r>
                  <a:rPr lang="es-PE" sz="900" b="0" i="0" dirty="0">
                    <a:solidFill>
                      <a:schemeClr val="tx1"/>
                    </a:solidFill>
                    <a:effectLst/>
                    <a:latin typeface="Segoe WPC"/>
                  </a:rPr>
                  <a:t> </a:t>
                </a:r>
                <a:r>
                  <a:rPr lang="es-PE" sz="900" b="0" i="0" dirty="0" err="1">
                    <a:solidFill>
                      <a:schemeClr val="tx1"/>
                    </a:solidFill>
                    <a:effectLst/>
                    <a:latin typeface="Segoe WPC"/>
                  </a:rPr>
                  <a:t>units</a:t>
                </a:r>
                <a:r>
                  <a:rPr lang="es-PE" sz="900" b="0" i="0" dirty="0">
                    <a:solidFill>
                      <a:schemeClr val="tx1"/>
                    </a:solidFill>
                    <a:effectLst/>
                    <a:latin typeface="Segoe WPC"/>
                  </a:rPr>
                  <a:t>, </a:t>
                </a:r>
                <a:r>
                  <a:rPr lang="es-PE" sz="900" b="0" i="0" dirty="0" err="1">
                    <a:solidFill>
                      <a:schemeClr val="tx1"/>
                    </a:solidFill>
                    <a:effectLst/>
                    <a:latin typeface="Segoe WPC"/>
                  </a:rPr>
                  <a:t>activation</a:t>
                </a:r>
                <a:r>
                  <a:rPr lang="es-PE" sz="900" b="0" i="0" dirty="0">
                    <a:solidFill>
                      <a:schemeClr val="tx1"/>
                    </a:solidFill>
                    <a:effectLst/>
                    <a:latin typeface="Segoe WPC"/>
                  </a:rPr>
                  <a:t> </a:t>
                </a:r>
                <a:r>
                  <a:rPr lang="es-PE" sz="900" b="0" i="0" dirty="0" err="1">
                    <a:solidFill>
                      <a:schemeClr val="tx1"/>
                    </a:solidFill>
                    <a:effectLst/>
                    <a:latin typeface="Segoe WPC"/>
                  </a:rPr>
                  <a:t>functions</a:t>
                </a:r>
                <a:r>
                  <a:rPr lang="es-PE" sz="900" b="0" i="0" dirty="0">
                    <a:solidFill>
                      <a:schemeClr val="tx1"/>
                    </a:solidFill>
                    <a:effectLst/>
                    <a:latin typeface="Segoe WPC"/>
                  </a:rPr>
                  <a:t> </a:t>
                </a:r>
                <a:r>
                  <a:rPr lang="es-PE" sz="900" b="0" i="0" dirty="0" err="1">
                    <a:solidFill>
                      <a:schemeClr val="tx1"/>
                    </a:solidFill>
                    <a:effectLst/>
                    <a:latin typeface="Segoe WPC"/>
                  </a:rPr>
                  <a:t>create</a:t>
                </a:r>
                <a:r>
                  <a:rPr lang="es-PE" sz="900" b="0" i="0" dirty="0">
                    <a:solidFill>
                      <a:schemeClr val="tx1"/>
                    </a:solidFill>
                    <a:effectLst/>
                    <a:latin typeface="Segoe WPC"/>
                  </a:rPr>
                  <a:t> </a:t>
                </a:r>
                <a:r>
                  <a:rPr lang="es-PE" sz="900" b="0" i="0" dirty="0" err="1">
                    <a:solidFill>
                      <a:schemeClr val="tx1"/>
                    </a:solidFill>
                    <a:effectLst/>
                    <a:latin typeface="Segoe WPC"/>
                  </a:rPr>
                  <a:t>nonlinear</a:t>
                </a:r>
                <a:r>
                  <a:rPr lang="es-PE" sz="900" b="0" i="0" dirty="0">
                    <a:solidFill>
                      <a:schemeClr val="tx1"/>
                    </a:solidFill>
                    <a:effectLst/>
                    <a:latin typeface="Segoe WPC"/>
                  </a:rPr>
                  <a:t> </a:t>
                </a:r>
                <a:r>
                  <a:rPr lang="es-PE" sz="900" b="0" i="0" dirty="0" err="1">
                    <a:solidFill>
                      <a:schemeClr val="tx1"/>
                    </a:solidFill>
                    <a:effectLst/>
                    <a:latin typeface="Segoe WPC"/>
                  </a:rPr>
                  <a:t>transformations</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final output </a:t>
                </a:r>
                <a:r>
                  <a:rPr lang="es-PE" sz="900" b="0" i="0" dirty="0" err="1">
                    <a:solidFill>
                      <a:schemeClr val="tx1"/>
                    </a:solidFill>
                    <a:effectLst/>
                    <a:latin typeface="Segoe WPC"/>
                  </a:rPr>
                  <a:t>gives</a:t>
                </a:r>
                <a:r>
                  <a:rPr lang="es-PE" sz="900" b="0" i="0" dirty="0">
                    <a:solidFill>
                      <a:schemeClr val="tx1"/>
                    </a:solidFill>
                    <a:effectLst/>
                    <a:latin typeface="Segoe WPC"/>
                  </a:rPr>
                  <a:t> a </a:t>
                </a:r>
                <a:r>
                  <a:rPr lang="es-PE" sz="900" b="0" i="0" dirty="0" err="1">
                    <a:solidFill>
                      <a:schemeClr val="tx1"/>
                    </a:solidFill>
                    <a:effectLst/>
                    <a:latin typeface="Segoe WPC"/>
                  </a:rPr>
                  <a:t>prediction</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classification</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Data </a:t>
                </a:r>
                <a:r>
                  <a:rPr lang="es-PE" sz="900" b="0" i="0" dirty="0" err="1">
                    <a:solidFill>
                      <a:schemeClr val="tx1"/>
                    </a:solidFill>
                    <a:effectLst/>
                    <a:latin typeface="Segoe WPC"/>
                  </a:rPr>
                  <a:t>pass</a:t>
                </a:r>
                <a:r>
                  <a:rPr lang="es-PE" sz="900" b="0" i="0" dirty="0">
                    <a:solidFill>
                      <a:schemeClr val="tx1"/>
                    </a:solidFill>
                    <a:effectLst/>
                    <a:latin typeface="Segoe WPC"/>
                  </a:rPr>
                  <a:t> </a:t>
                </a:r>
                <a:r>
                  <a:rPr lang="es-PE" sz="900" b="0" i="0" dirty="0" err="1">
                    <a:solidFill>
                      <a:schemeClr val="tx1"/>
                    </a:solidFill>
                    <a:effectLst/>
                    <a:latin typeface="Segoe WPC"/>
                  </a:rPr>
                  <a:t>through</a:t>
                </a:r>
                <a:r>
                  <a:rPr lang="es-PE" sz="900" b="0" i="0" dirty="0">
                    <a:solidFill>
                      <a:schemeClr val="tx1"/>
                    </a:solidFill>
                    <a:effectLst/>
                    <a:latin typeface="Segoe WPC"/>
                  </a:rPr>
                  <a:t> </a:t>
                </a:r>
                <a:r>
                  <a:rPr lang="es-PE" sz="900" b="0" i="0" dirty="0" err="1">
                    <a:solidFill>
                      <a:schemeClr val="tx1"/>
                    </a:solidFill>
                    <a:effectLst/>
                    <a:latin typeface="Segoe WPC"/>
                  </a:rPr>
                  <a:t>successive</a:t>
                </a:r>
                <a:r>
                  <a:rPr lang="es-PE" sz="900" b="0" i="0" dirty="0">
                    <a:solidFill>
                      <a:schemeClr val="tx1"/>
                    </a:solidFill>
                    <a:effectLst/>
                    <a:latin typeface="Segoe WPC"/>
                  </a:rPr>
                  <a:t> </a:t>
                </a:r>
                <a:r>
                  <a:rPr lang="es-PE" sz="900" b="0" i="0" dirty="0" err="1">
                    <a:solidFill>
                      <a:schemeClr val="tx1"/>
                    </a:solidFill>
                    <a:effectLst/>
                    <a:latin typeface="Segoe WPC"/>
                  </a:rPr>
                  <a:t>layers</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learn</a:t>
                </a:r>
                <a:r>
                  <a:rPr lang="es-PE" sz="900" b="0" i="0" dirty="0">
                    <a:solidFill>
                      <a:schemeClr val="tx1"/>
                    </a:solidFill>
                    <a:effectLst/>
                    <a:latin typeface="Segoe WPC"/>
                  </a:rPr>
                  <a:t> </a:t>
                </a:r>
                <a:r>
                  <a:rPr lang="es-PE" sz="900" b="0" i="0" dirty="0" err="1">
                    <a:solidFill>
                      <a:schemeClr val="tx1"/>
                    </a:solidFill>
                    <a:effectLst/>
                    <a:latin typeface="Segoe WPC"/>
                  </a:rPr>
                  <a:t>increasingly</a:t>
                </a:r>
                <a:r>
                  <a:rPr lang="es-PE" sz="900" b="0" i="0" dirty="0">
                    <a:solidFill>
                      <a:schemeClr val="tx1"/>
                    </a:solidFill>
                    <a:effectLst/>
                    <a:latin typeface="Segoe WPC"/>
                  </a:rPr>
                  <a:t> </a:t>
                </a:r>
                <a:r>
                  <a:rPr lang="es-PE" sz="900" b="0" i="0" dirty="0" err="1">
                    <a:solidFill>
                      <a:schemeClr val="tx1"/>
                    </a:solidFill>
                    <a:effectLst/>
                    <a:latin typeface="Segoe WPC"/>
                  </a:rPr>
                  <a:t>complex</a:t>
                </a:r>
                <a:r>
                  <a:rPr lang="es-PE" sz="900" b="0" i="0" dirty="0">
                    <a:solidFill>
                      <a:schemeClr val="tx1"/>
                    </a:solidFill>
                    <a:effectLst/>
                    <a:latin typeface="Segoe WPC"/>
                  </a:rPr>
                  <a:t> </a:t>
                </a:r>
                <a:r>
                  <a:rPr lang="es-PE" sz="900" b="0" i="0" dirty="0" err="1">
                    <a:solidFill>
                      <a:schemeClr val="tx1"/>
                    </a:solidFill>
                    <a:effectLst/>
                    <a:latin typeface="Segoe WPC"/>
                  </a:rPr>
                  <a:t>patterns</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Hidden</a:t>
                </a:r>
                <a:r>
                  <a:rPr lang="es-PE" sz="900" b="0" i="0" dirty="0">
                    <a:solidFill>
                      <a:schemeClr val="tx1"/>
                    </a:solidFill>
                    <a:effectLst/>
                    <a:latin typeface="Segoe WPC"/>
                  </a:rPr>
                  <a:t> </a:t>
                </a:r>
                <a:r>
                  <a:rPr lang="es-PE" sz="900" b="0" i="0" dirty="0" err="1">
                    <a:solidFill>
                      <a:schemeClr val="tx1"/>
                    </a:solidFill>
                    <a:effectLst/>
                    <a:latin typeface="Segoe WPC"/>
                  </a:rPr>
                  <a:t>units</a:t>
                </a:r>
                <a:r>
                  <a:rPr lang="es-PE" sz="900" b="0" i="0" dirty="0">
                    <a:solidFill>
                      <a:schemeClr val="tx1"/>
                    </a:solidFill>
                    <a:effectLst/>
                    <a:latin typeface="Segoe WPC"/>
                  </a:rPr>
                  <a:t> </a:t>
                </a:r>
                <a:r>
                  <a:rPr lang="es-PE" sz="900" b="0" i="0" dirty="0" err="1">
                    <a:solidFill>
                      <a:schemeClr val="tx1"/>
                    </a:solidFill>
                    <a:effectLst/>
                    <a:latin typeface="Segoe WPC"/>
                  </a:rPr>
                  <a:t>take</a:t>
                </a:r>
                <a:r>
                  <a:rPr lang="es-PE" sz="900" b="0" i="0" dirty="0">
                    <a:solidFill>
                      <a:schemeClr val="tx1"/>
                    </a:solidFill>
                    <a:effectLst/>
                    <a:latin typeface="Segoe WPC"/>
                  </a:rPr>
                  <a:t> </a:t>
                </a:r>
                <a:r>
                  <a:rPr lang="es-PE" sz="900" b="0" i="0" dirty="0" err="1">
                    <a:solidFill>
                      <a:schemeClr val="tx1"/>
                    </a:solidFill>
                    <a:effectLst/>
                    <a:latin typeface="Segoe WPC"/>
                  </a:rPr>
                  <a:t>forms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𝐻</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𝜙</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𝑤</m:t>
                            </m:r>
                          </m:e>
                          <m:sub>
                            <m:r>
                              <a:rPr lang="ar-AE" sz="900" i="0">
                                <a:solidFill>
                                  <a:schemeClr val="tx1"/>
                                </a:solidFill>
                                <a:latin typeface="Cambria Math" panose="02040503050406030204" pitchFamily="18" charset="0"/>
                              </a:rPr>
                              <m:t>1</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𝑤</m:t>
                            </m:r>
                          </m:e>
                          <m:sub>
                            <m:r>
                              <a:rPr lang="ar-AE" sz="900" i="1">
                                <a:solidFill>
                                  <a:schemeClr val="tx1"/>
                                </a:solidFill>
                                <a:latin typeface="Cambria Math" panose="02040503050406030204" pitchFamily="18" charset="0"/>
                              </a:rPr>
                              <m:t>𝑚</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𝑋</m:t>
                            </m:r>
                          </m:e>
                          <m:sub>
                            <m:r>
                              <a:rPr lang="ar-AE" sz="900" i="1">
                                <a:solidFill>
                                  <a:schemeClr val="tx1"/>
                                </a:solidFill>
                                <a:latin typeface="Cambria Math" panose="02040503050406030204" pitchFamily="18" charset="0"/>
                              </a:rPr>
                              <m:t>𝑚</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𝑏</m:t>
                        </m:r>
                      </m:e>
                    </m:d>
                  </m:oMath>
                </a14:m>
                <a:r>
                  <a:rPr lang="ar-AE" sz="900" b="0" i="0" dirty="0">
                    <a:solidFill>
                      <a:schemeClr val="tx1"/>
                    </a:solidFill>
                    <a:effectLst/>
                    <a:latin typeface="Segoe WPC"/>
                  </a:rPr>
                  <a:t>, </a:t>
                </a:r>
                <a:r>
                  <a:rPr lang="es-PE" sz="900" b="0" i="0" dirty="0">
                    <a:solidFill>
                      <a:schemeClr val="tx1"/>
                    </a:solidFill>
                    <a:effectLst/>
                    <a:latin typeface="Segoe WPC"/>
                  </a:rPr>
                  <a:t>and outputs are </a:t>
                </a:r>
                <a:r>
                  <a:rPr lang="es-PE" sz="900" b="0" i="0" dirty="0" err="1">
                    <a:solidFill>
                      <a:schemeClr val="tx1"/>
                    </a:solidFill>
                    <a:effectLst/>
                    <a:latin typeface="Segoe WPC"/>
                  </a:rPr>
                  <a:t>computed</a:t>
                </a:r>
                <a:r>
                  <a:rPr lang="es-PE" sz="900" b="0" i="0" dirty="0">
                    <a:solidFill>
                      <a:schemeClr val="tx1"/>
                    </a:solidFill>
                    <a:effectLst/>
                    <a:latin typeface="Segoe WPC"/>
                  </a:rPr>
                  <a:t> </a:t>
                </a:r>
                <a:r>
                  <a:rPr lang="es-PE" sz="900" b="0" i="0" dirty="0" err="1">
                    <a:solidFill>
                      <a:schemeClr val="tx1"/>
                    </a:solidFill>
                    <a:effectLst/>
                    <a:latin typeface="Segoe WPC"/>
                  </a:rPr>
                  <a:t>similarly</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hidden-layer</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Weights</a:t>
                </a:r>
                <a:r>
                  <a:rPr lang="es-PE" sz="900" b="0" i="0" dirty="0">
                    <a:solidFill>
                      <a:schemeClr val="tx1"/>
                    </a:solidFill>
                    <a:effectLst/>
                    <a:latin typeface="Segoe WPC"/>
                  </a:rPr>
                  <a:t> and </a:t>
                </a:r>
                <a:r>
                  <a:rPr lang="es-PE" sz="900" b="0" i="0" dirty="0" err="1">
                    <a:solidFill>
                      <a:schemeClr val="tx1"/>
                    </a:solidFill>
                    <a:effectLst/>
                    <a:latin typeface="Segoe WPC"/>
                  </a:rPr>
                  <a:t>biases</a:t>
                </a:r>
                <a:r>
                  <a:rPr lang="es-PE" sz="900" b="0" i="0" dirty="0">
                    <a:solidFill>
                      <a:schemeClr val="tx1"/>
                    </a:solidFill>
                    <a:effectLst/>
                    <a:latin typeface="Segoe WPC"/>
                  </a:rPr>
                  <a:t> are </a:t>
                </a:r>
                <a:r>
                  <a:rPr lang="es-PE" sz="900" b="0" i="0" dirty="0" err="1">
                    <a:solidFill>
                      <a:schemeClr val="tx1"/>
                    </a:solidFill>
                    <a:effectLst/>
                    <a:latin typeface="Segoe WPC"/>
                  </a:rPr>
                  <a:t>estimated</a:t>
                </a:r>
                <a:r>
                  <a:rPr lang="es-PE" sz="900" b="0" i="0" dirty="0">
                    <a:solidFill>
                      <a:schemeClr val="tx1"/>
                    </a:solidFill>
                    <a:effectLst/>
                    <a:latin typeface="Segoe WPC"/>
                  </a:rPr>
                  <a:t> </a:t>
                </a:r>
                <a:r>
                  <a:rPr lang="es-PE" sz="900" b="0" i="0" dirty="0" err="1">
                    <a:solidFill>
                      <a:schemeClr val="tx1"/>
                    </a:solidFill>
                    <a:effectLst/>
                    <a:latin typeface="Segoe WPC"/>
                  </a:rPr>
                  <a:t>numerically</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t>
                </a:r>
                <a:r>
                  <a:rPr lang="es-PE" sz="900" b="0" i="0" dirty="0" err="1">
                    <a:solidFill>
                      <a:schemeClr val="tx1"/>
                    </a:solidFill>
                    <a:effectLst/>
                    <a:latin typeface="Segoe WPC"/>
                  </a:rPr>
                  <a:t>gradient</a:t>
                </a:r>
                <a:r>
                  <a:rPr lang="es-PE" sz="900" b="0" i="0" dirty="0">
                    <a:solidFill>
                      <a:schemeClr val="tx1"/>
                    </a:solidFill>
                    <a:effectLst/>
                    <a:latin typeface="Segoe WPC"/>
                  </a:rPr>
                  <a:t> </a:t>
                </a:r>
                <a:r>
                  <a:rPr lang="es-PE" sz="900" b="0" i="0" dirty="0" err="1">
                    <a:solidFill>
                      <a:schemeClr val="tx1"/>
                    </a:solidFill>
                    <a:effectLst/>
                    <a:latin typeface="Segoe WPC"/>
                  </a:rPr>
                  <a:t>descent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learning</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controls</a:t>
                </a:r>
                <a:r>
                  <a:rPr lang="es-PE" sz="900" b="0" i="0" dirty="0">
                    <a:solidFill>
                      <a:schemeClr val="tx1"/>
                    </a:solidFill>
                    <a:effectLst/>
                    <a:latin typeface="Segoe WPC"/>
                  </a:rPr>
                  <a:t> step </a:t>
                </a:r>
                <a:r>
                  <a:rPr lang="es-PE" sz="900" b="0" i="0" dirty="0" err="1">
                    <a:solidFill>
                      <a:schemeClr val="tx1"/>
                    </a:solidFill>
                    <a:effectLst/>
                    <a:latin typeface="Segoe WPC"/>
                  </a:rPr>
                  <a:t>size</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Without</a:t>
                </a:r>
                <a:r>
                  <a:rPr lang="es-PE" sz="900" b="0" i="0" dirty="0">
                    <a:solidFill>
                      <a:schemeClr val="tx1"/>
                    </a:solidFill>
                    <a:effectLst/>
                    <a:latin typeface="Segoe WPC"/>
                  </a:rPr>
                  <a:t> </a:t>
                </a:r>
                <a:r>
                  <a:rPr lang="es-PE" sz="900" b="0" i="0" dirty="0" err="1">
                    <a:solidFill>
                      <a:schemeClr val="tx1"/>
                    </a:solidFill>
                    <a:effectLst/>
                    <a:latin typeface="Segoe WPC"/>
                  </a:rPr>
                  <a:t>nonlinear</a:t>
                </a:r>
                <a:r>
                  <a:rPr lang="es-PE" sz="900" b="0" i="0" dirty="0">
                    <a:solidFill>
                      <a:schemeClr val="tx1"/>
                    </a:solidFill>
                    <a:effectLst/>
                    <a:latin typeface="Segoe WPC"/>
                  </a:rPr>
                  <a:t> </a:t>
                </a:r>
                <a:r>
                  <a:rPr lang="es-PE" sz="900" b="0" i="0" dirty="0" err="1">
                    <a:solidFill>
                      <a:schemeClr val="tx1"/>
                    </a:solidFill>
                    <a:effectLst/>
                    <a:latin typeface="Segoe WPC"/>
                  </a:rPr>
                  <a:t>activation</a:t>
                </a:r>
                <a:r>
                  <a:rPr lang="es-PE" sz="900" b="0" i="0" dirty="0">
                    <a:solidFill>
                      <a:schemeClr val="tx1"/>
                    </a:solidFill>
                    <a:effectLst/>
                    <a:latin typeface="Segoe WPC"/>
                  </a:rPr>
                  <a:t> </a:t>
                </a:r>
                <a:r>
                  <a:rPr lang="es-PE" sz="900" b="0" i="0" dirty="0" err="1">
                    <a:solidFill>
                      <a:schemeClr val="tx1"/>
                    </a:solidFill>
                    <a:effectLst/>
                    <a:latin typeface="Segoe WPC"/>
                  </a:rPr>
                  <a:t>functions</a:t>
                </a:r>
                <a:r>
                  <a:rPr lang="es-PE" sz="900" b="0" i="0" dirty="0">
                    <a:solidFill>
                      <a:schemeClr val="tx1"/>
                    </a:solidFill>
                    <a:effectLst/>
                    <a:latin typeface="Segoe WPC"/>
                  </a:rPr>
                  <a:t>, a neural </a:t>
                </a:r>
                <a:r>
                  <a:rPr lang="es-PE" sz="900" b="0" i="0" dirty="0" err="1">
                    <a:solidFill>
                      <a:schemeClr val="tx1"/>
                    </a:solidFill>
                    <a:effectLst/>
                    <a:latin typeface="Segoe WPC"/>
                  </a:rPr>
                  <a:t>network</a:t>
                </a:r>
                <a:r>
                  <a:rPr lang="es-PE" sz="900" b="0" i="0" dirty="0">
                    <a:solidFill>
                      <a:schemeClr val="tx1"/>
                    </a:solidFill>
                    <a:effectLst/>
                    <a:latin typeface="Segoe WPC"/>
                  </a:rPr>
                  <a:t> reduces </a:t>
                </a:r>
                <a:r>
                  <a:rPr lang="es-PE" sz="900" b="0" i="0" dirty="0" err="1">
                    <a:solidFill>
                      <a:schemeClr val="tx1"/>
                    </a:solidFill>
                    <a:effectLst/>
                    <a:latin typeface="Segoe WPC"/>
                  </a:rPr>
                  <a:t>to</a:t>
                </a:r>
                <a:r>
                  <a:rPr lang="es-PE" sz="900" b="0" i="0" dirty="0">
                    <a:solidFill>
                      <a:schemeClr val="tx1"/>
                    </a:solidFill>
                    <a:effectLst/>
                    <a:latin typeface="Segoe WPC"/>
                  </a:rPr>
                  <a:t> a linear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networks</a:t>
                </a:r>
                <a:r>
                  <a:rPr lang="es-PE" sz="900" b="0" i="0" dirty="0">
                    <a:solidFill>
                      <a:schemeClr val="tx1"/>
                    </a:solidFill>
                    <a:effectLst/>
                    <a:latin typeface="Segoe WPC"/>
                  </a:rPr>
                  <a:t> are flexible </a:t>
                </a:r>
                <a:r>
                  <a:rPr lang="es-PE" sz="900" b="0" i="0" dirty="0" err="1">
                    <a:solidFill>
                      <a:schemeClr val="tx1"/>
                    </a:solidFill>
                    <a:effectLst/>
                    <a:latin typeface="Segoe WPC"/>
                  </a:rPr>
                  <a:t>but</a:t>
                </a:r>
                <a:r>
                  <a:rPr lang="es-PE" sz="900" b="0" i="0" dirty="0">
                    <a:solidFill>
                      <a:schemeClr val="tx1"/>
                    </a:solidFill>
                    <a:effectLst/>
                    <a:latin typeface="Segoe WPC"/>
                  </a:rPr>
                  <a:t> prone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overfitting</a:t>
                </a:r>
                <a:r>
                  <a:rPr lang="es-PE" sz="900" b="0" i="0" dirty="0">
                    <a:solidFill>
                      <a:schemeClr val="tx1"/>
                    </a:solidFill>
                    <a:effectLst/>
                    <a:latin typeface="Segoe WPC"/>
                  </a:rPr>
                  <a:t>, so </a:t>
                </a:r>
                <a:r>
                  <a:rPr lang="es-PE" sz="900" b="0" i="0" dirty="0" err="1">
                    <a:solidFill>
                      <a:schemeClr val="tx1"/>
                    </a:solidFill>
                    <a:effectLst/>
                    <a:latin typeface="Segoe WPC"/>
                  </a:rPr>
                  <a:t>validation</a:t>
                </a:r>
                <a:r>
                  <a:rPr lang="es-PE" sz="900" b="0" i="0" dirty="0">
                    <a:solidFill>
                      <a:schemeClr val="tx1"/>
                    </a:solidFill>
                    <a:effectLst/>
                    <a:latin typeface="Segoe WPC"/>
                  </a:rPr>
                  <a:t> data are </a:t>
                </a:r>
                <a:r>
                  <a:rPr lang="es-PE" sz="900" b="0" i="0" dirty="0" err="1">
                    <a:solidFill>
                      <a:schemeClr val="tx1"/>
                    </a:solidFill>
                    <a:effectLst/>
                    <a:latin typeface="Segoe WPC"/>
                  </a:rPr>
                  <a:t>used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stop training. </a:t>
                </a:r>
                <a:r>
                  <a:rPr lang="es-PE" sz="900" b="0" i="0" dirty="0" err="1">
                    <a:solidFill>
                      <a:schemeClr val="tx1"/>
                    </a:solidFill>
                    <a:effectLst/>
                    <a:latin typeface="Segoe WPC"/>
                  </a:rPr>
                  <a:t>Compared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logistic</a:t>
                </a:r>
                <a:r>
                  <a:rPr lang="es-PE" sz="900" b="0" i="0" dirty="0">
                    <a:solidFill>
                      <a:schemeClr val="tx1"/>
                    </a:solidFill>
                    <a:effectLst/>
                    <a:latin typeface="Segoe WPC"/>
                  </a:rPr>
                  <a:t> </a:t>
                </a:r>
                <a:r>
                  <a:rPr lang="es-PE" sz="900" b="0" i="0" dirty="0" err="1">
                    <a:solidFill>
                      <a:schemeClr val="tx1"/>
                    </a:solidFill>
                    <a:effectLst/>
                    <a:latin typeface="Segoe WPC"/>
                  </a:rPr>
                  <a:t>regression</a:t>
                </a:r>
                <a:r>
                  <a:rPr lang="es-PE" sz="900" b="0" i="0" dirty="0">
                    <a:solidFill>
                      <a:schemeClr val="tx1"/>
                    </a:solidFill>
                    <a:effectLst/>
                    <a:latin typeface="Segoe WPC"/>
                  </a:rPr>
                  <a:t>, neural </a:t>
                </a:r>
                <a:r>
                  <a:rPr lang="es-PE" sz="900" b="0" i="0" dirty="0" err="1">
                    <a:solidFill>
                      <a:schemeClr val="tx1"/>
                    </a:solidFill>
                    <a:effectLst/>
                    <a:latin typeface="Segoe WPC"/>
                  </a:rPr>
                  <a:t>networks</a:t>
                </a:r>
                <a:r>
                  <a:rPr lang="es-PE" sz="900" b="0" i="0" dirty="0">
                    <a:solidFill>
                      <a:schemeClr val="tx1"/>
                    </a:solidFill>
                    <a:effectLst/>
                    <a:latin typeface="Segoe WPC"/>
                  </a:rPr>
                  <a:t> are </a:t>
                </a:r>
                <a:r>
                  <a:rPr lang="es-PE" sz="900" b="0" i="0" dirty="0" err="1">
                    <a:solidFill>
                      <a:schemeClr val="tx1"/>
                    </a:solidFill>
                    <a:effectLst/>
                    <a:latin typeface="Segoe WPC"/>
                  </a:rPr>
                  <a:t>less</a:t>
                </a:r>
                <a:r>
                  <a:rPr lang="es-PE" sz="900" b="0" i="0" dirty="0">
                    <a:solidFill>
                      <a:schemeClr val="tx1"/>
                    </a:solidFill>
                    <a:effectLst/>
                    <a:latin typeface="Segoe WPC"/>
                  </a:rPr>
                  <a:t> interpretable </a:t>
                </a:r>
                <a:r>
                  <a:rPr lang="es-PE" sz="900" b="0" i="0" dirty="0" err="1">
                    <a:solidFill>
                      <a:schemeClr val="tx1"/>
                    </a:solidFill>
                    <a:effectLst/>
                    <a:latin typeface="Segoe WPC"/>
                  </a:rPr>
                  <a:t>but</a:t>
                </a:r>
                <a:r>
                  <a:rPr lang="es-PE" sz="900" b="0" i="0" dirty="0">
                    <a:solidFill>
                      <a:schemeClr val="tx1"/>
                    </a:solidFill>
                    <a:effectLst/>
                    <a:latin typeface="Segoe WPC"/>
                  </a:rPr>
                  <a:t> can capture </a:t>
                </a:r>
                <a:r>
                  <a:rPr lang="es-PE" sz="900" b="0" i="0" dirty="0" err="1">
                    <a:solidFill>
                      <a:schemeClr val="tx1"/>
                    </a:solidFill>
                    <a:effectLst/>
                    <a:latin typeface="Segoe WPC"/>
                  </a:rPr>
                  <a:t>richer</a:t>
                </a:r>
                <a:r>
                  <a:rPr lang="es-PE" sz="900" b="0" i="0" dirty="0">
                    <a:solidFill>
                      <a:schemeClr val="tx1"/>
                    </a:solidFill>
                    <a:effectLst/>
                    <a:latin typeface="Segoe WPC"/>
                  </a:rPr>
                  <a:t> </a:t>
                </a:r>
                <a:r>
                  <a:rPr lang="es-PE" sz="900" b="0" i="0" dirty="0" err="1">
                    <a:solidFill>
                      <a:schemeClr val="tx1"/>
                    </a:solidFill>
                    <a:effectLst/>
                    <a:latin typeface="Segoe WPC"/>
                  </a:rPr>
                  <a:t>nonlinear</a:t>
                </a:r>
                <a:r>
                  <a:rPr lang="es-PE" sz="900" b="0" i="0" dirty="0">
                    <a:solidFill>
                      <a:schemeClr val="tx1"/>
                    </a:solidFill>
                    <a:effectLst/>
                    <a:latin typeface="Segoe WPC"/>
                  </a:rPr>
                  <a:t> </a:t>
                </a:r>
                <a:r>
                  <a:rPr lang="es-PE" sz="900" b="0" i="0" dirty="0" err="1">
                    <a:solidFill>
                      <a:schemeClr val="tx1"/>
                    </a:solidFill>
                    <a:effectLst/>
                    <a:latin typeface="Segoe WPC"/>
                  </a:rPr>
                  <a:t>structure</a:t>
                </a:r>
                <a:r>
                  <a:rPr lang="es-PE" sz="900" b="0" i="0" dirty="0">
                    <a:solidFill>
                      <a:schemeClr val="tx1"/>
                    </a:solidFill>
                    <a:effectLst/>
                    <a:latin typeface="Segoe WPC"/>
                  </a:rPr>
                  <a:t>. </a:t>
                </a:r>
                <a:r>
                  <a:rPr lang="es-PE" sz="900" b="0" i="0" dirty="0" err="1">
                    <a:solidFill>
                      <a:schemeClr val="tx1"/>
                    </a:solidFill>
                    <a:effectLst/>
                    <a:latin typeface="Segoe WPC"/>
                  </a:rPr>
                  <a:t>Confusion</a:t>
                </a:r>
                <a:r>
                  <a:rPr lang="es-PE" sz="900" b="0" i="0" dirty="0">
                    <a:solidFill>
                      <a:schemeClr val="tx1"/>
                    </a:solidFill>
                    <a:effectLst/>
                    <a:latin typeface="Segoe WPC"/>
                  </a:rPr>
                  <a:t> matrices show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do </a:t>
                </a:r>
                <a:r>
                  <a:rPr lang="es-PE" sz="900" b="0" i="0" dirty="0" err="1">
                    <a:solidFill>
                      <a:schemeClr val="tx1"/>
                    </a:solidFill>
                    <a:effectLst/>
                    <a:latin typeface="Segoe WPC"/>
                  </a:rPr>
                  <a:t>better</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precision</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better</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recall</a:t>
                </a:r>
                <a:r>
                  <a:rPr lang="es-PE" sz="900" b="0" i="0" dirty="0">
                    <a:solidFill>
                      <a:schemeClr val="tx1"/>
                    </a:solidFill>
                    <a:effectLst/>
                    <a:latin typeface="Segoe WPC"/>
                  </a:rPr>
                  <a:t>, so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preferred</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cost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type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error.</a:t>
                </a:r>
                <a:br>
                  <a:rPr lang="es-PE" sz="900" dirty="0">
                    <a:solidFill>
                      <a:schemeClr val="tx1"/>
                    </a:solidFill>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single </a:t>
                </a:r>
                <a:r>
                  <a:rPr lang="es-PE" sz="900" b="0" i="0" dirty="0" err="1">
                    <a:solidFill>
                      <a:schemeClr val="tx1"/>
                    </a:solidFill>
                    <a:effectLst/>
                    <a:latin typeface="Segoe WPC"/>
                  </a:rPr>
                  <a:t>metric</a:t>
                </a:r>
                <a:r>
                  <a:rPr lang="es-PE" sz="900" b="0" i="0" dirty="0">
                    <a:solidFill>
                      <a:schemeClr val="tx1"/>
                    </a:solidFill>
                    <a:effectLst/>
                    <a:latin typeface="Segoe WPC"/>
                  </a:rPr>
                  <a:t> determines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better</a:t>
                </a:r>
                <a:r>
                  <a:rPr lang="es-PE" sz="900" b="0" i="0" dirty="0">
                    <a:solidFill>
                      <a:schemeClr val="tx1"/>
                    </a:solidFill>
                    <a:effectLst/>
                    <a:latin typeface="Segoe WPC"/>
                  </a:rPr>
                  <a:t> </a:t>
                </a:r>
                <a:r>
                  <a:rPr lang="es-PE" sz="900" b="0" i="0" dirty="0" err="1">
                    <a:solidFill>
                      <a:schemeClr val="tx1"/>
                    </a:solidFill>
                    <a:effectLst/>
                    <a:latin typeface="Segoe WPC"/>
                  </a:rPr>
                  <a:t>classifier</a:t>
                </a:r>
                <a:r>
                  <a:rPr lang="es-PE" sz="900" b="0" i="0" dirty="0">
                    <a:solidFill>
                      <a:schemeClr val="tx1"/>
                    </a:solidFill>
                    <a:effectLst/>
                    <a:latin typeface="Segoe WPC"/>
                  </a:rPr>
                  <a:t>; </a:t>
                </a:r>
                <a:r>
                  <a:rPr lang="es-PE" sz="900" b="0" i="0" dirty="0" err="1">
                    <a:solidFill>
                      <a:schemeClr val="tx1"/>
                    </a:solidFill>
                    <a:effectLst/>
                    <a:latin typeface="Segoe WPC"/>
                  </a:rPr>
                  <a:t>accuracy</a:t>
                </a:r>
                <a:r>
                  <a:rPr lang="es-PE" sz="900" b="0" i="0" dirty="0">
                    <a:solidFill>
                      <a:schemeClr val="tx1"/>
                    </a:solidFill>
                    <a:effectLst/>
                    <a:latin typeface="Segoe WPC"/>
                  </a:rPr>
                  <a:t>, </a:t>
                </a:r>
                <a:r>
                  <a:rPr lang="es-PE" sz="900" b="0" i="0" dirty="0" err="1">
                    <a:solidFill>
                      <a:schemeClr val="tx1"/>
                    </a:solidFill>
                    <a:effectLst/>
                    <a:latin typeface="Segoe WPC"/>
                  </a:rPr>
                  <a:t>precision</a:t>
                </a:r>
                <a:r>
                  <a:rPr lang="es-PE" sz="900" b="0" i="0" dirty="0">
                    <a:solidFill>
                      <a:schemeClr val="tx1"/>
                    </a:solidFill>
                    <a:effectLst/>
                    <a:latin typeface="Segoe WPC"/>
                  </a:rPr>
                  <a:t>, and </a:t>
                </a:r>
                <a:r>
                  <a:rPr lang="es-PE" sz="900" b="0" i="0" dirty="0" err="1">
                    <a:solidFill>
                      <a:schemeClr val="tx1"/>
                    </a:solidFill>
                    <a:effectLst/>
                    <a:latin typeface="Segoe WPC"/>
                  </a:rPr>
                  <a:t>recall</a:t>
                </a:r>
                <a:r>
                  <a:rPr lang="es-PE" sz="900" b="0" i="0" dirty="0">
                    <a:solidFill>
                      <a:schemeClr val="tx1"/>
                    </a:solidFill>
                    <a:effectLst/>
                    <a:latin typeface="Segoe WPC"/>
                  </a:rPr>
                  <a:t> can </a:t>
                </a:r>
                <a:r>
                  <a:rPr lang="es-PE" sz="900" b="0" i="0" dirty="0" err="1">
                    <a:solidFill>
                      <a:schemeClr val="tx1"/>
                    </a:solidFill>
                    <a:effectLst/>
                    <a:latin typeface="Segoe WPC"/>
                  </a:rPr>
                  <a:t>point</a:t>
                </a:r>
                <a:r>
                  <a:rPr lang="es-PE" sz="900" b="0" i="0" dirty="0">
                    <a:solidFill>
                      <a:schemeClr val="tx1"/>
                    </a:solidFill>
                    <a:effectLst/>
                    <a:latin typeface="Segoe WPC"/>
                  </a:rPr>
                  <a:t> in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directions</a:t>
                </a:r>
                <a:r>
                  <a:rPr lang="es-PE" sz="900" b="0" i="0" dirty="0">
                    <a:solidFill>
                      <a:schemeClr val="tx1"/>
                    </a:solidFill>
                    <a:effectLst/>
                    <a:latin typeface="Segoe WPC"/>
                  </a:rPr>
                  <a:t>.</a:t>
                </a:r>
                <a:endParaRPr lang="es-PE" sz="900" dirty="0">
                  <a:solidFill>
                    <a:schemeClr val="tx1"/>
                  </a:solidFill>
                </a:endParaRPr>
              </a:p>
            </p:txBody>
          </p:sp>
        </mc:Choice>
        <mc:Fallback xmlns="">
          <p:sp>
            <p:nvSpPr>
              <p:cNvPr id="17" name="CuadroTexto 16">
                <a:extLst>
                  <a:ext uri="{FF2B5EF4-FFF2-40B4-BE49-F238E27FC236}">
                    <a16:creationId xmlns:a16="http://schemas.microsoft.com/office/drawing/2014/main" id="{45F4F9FD-E794-BB60-0DC9-C3737C600853}"/>
                  </a:ext>
                </a:extLst>
              </p:cNvPr>
              <p:cNvSpPr txBox="1">
                <a:spLocks noRot="1" noChangeAspect="1" noMove="1" noResize="1" noEditPoints="1" noAdjustHandles="1" noChangeArrowheads="1" noChangeShapeType="1" noTextEdit="1"/>
              </p:cNvSpPr>
              <p:nvPr/>
            </p:nvSpPr>
            <p:spPr>
              <a:xfrm>
                <a:off x="6000750" y="3429000"/>
                <a:ext cx="6191250" cy="2169825"/>
              </a:xfrm>
              <a:prstGeom prst="rect">
                <a:avLst/>
              </a:prstGeom>
              <a:blipFill>
                <a:blip r:embed="rId4"/>
                <a:stretch>
                  <a:fillRect b="-282"/>
                </a:stretch>
              </a:blipFill>
            </p:spPr>
            <p:txBody>
              <a:bodyPr/>
              <a:lstStyle/>
              <a:p>
                <a:r>
                  <a:rPr lang="es-PE">
                    <a:noFill/>
                  </a:rPr>
                  <a:t> </a:t>
                </a:r>
              </a:p>
            </p:txBody>
          </p:sp>
        </mc:Fallback>
      </mc:AlternateContent>
    </p:spTree>
    <p:extLst>
      <p:ext uri="{BB962C8B-B14F-4D97-AF65-F5344CB8AC3E}">
        <p14:creationId xmlns:p14="http://schemas.microsoft.com/office/powerpoint/2010/main" val="29080768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FBA12-882D-39AC-12ED-854B372F2EA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1BC7BA5-E496-8AB3-5332-67C22B1D1FBE}"/>
              </a:ext>
            </a:extLst>
          </p:cNvPr>
          <p:cNvSpPr>
            <a:spLocks noGrp="1"/>
          </p:cNvSpPr>
          <p:nvPr>
            <p:ph type="title"/>
          </p:nvPr>
        </p:nvSpPr>
        <p:spPr/>
        <p:txBody>
          <a:bodyPr/>
          <a:lstStyle/>
          <a:p>
            <a:r>
              <a:rPr lang="en-US" dirty="0"/>
              <a:t>Financial Products and Markets</a:t>
            </a:r>
            <a:endParaRPr lang="es-PE" dirty="0"/>
          </a:p>
        </p:txBody>
      </p:sp>
    </p:spTree>
    <p:extLst>
      <p:ext uri="{BB962C8B-B14F-4D97-AF65-F5344CB8AC3E}">
        <p14:creationId xmlns:p14="http://schemas.microsoft.com/office/powerpoint/2010/main" val="38471784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99B0E-77C7-DE0A-A4D1-85FB69943B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55C1200-69D4-F54B-3F09-CC1CBADB7CE2}"/>
              </a:ext>
            </a:extLst>
          </p:cNvPr>
          <p:cNvSpPr>
            <a:spLocks noGrp="1"/>
          </p:cNvSpPr>
          <p:nvPr>
            <p:ph type="title"/>
          </p:nvPr>
        </p:nvSpPr>
        <p:spPr>
          <a:xfrm>
            <a:off x="0" y="-46991"/>
            <a:ext cx="10515600" cy="253207"/>
          </a:xfrm>
        </p:spPr>
        <p:txBody>
          <a:bodyPr>
            <a:noAutofit/>
          </a:bodyPr>
          <a:lstStyle/>
          <a:p>
            <a:r>
              <a:rPr lang="es-PE" sz="2800" dirty="0"/>
              <a:t>Bancos:</a:t>
            </a: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61CDBFC-67B9-42A2-D403-1EFEDD1AC8FE}"/>
                  </a:ext>
                </a:extLst>
              </p:cNvPr>
              <p:cNvSpPr txBox="1"/>
              <p:nvPr/>
            </p:nvSpPr>
            <p:spPr>
              <a:xfrm>
                <a:off x="0" y="206216"/>
                <a:ext cx="6157684" cy="6093976"/>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1. </a:t>
                </a:r>
                <a:r>
                  <a:rPr lang="es-PE" sz="900" b="1" i="0" dirty="0" err="1">
                    <a:solidFill>
                      <a:schemeClr val="tx1"/>
                    </a:solidFill>
                    <a:effectLst/>
                    <a:latin typeface="Segoe WPC"/>
                  </a:rPr>
                  <a:t>Commercial</a:t>
                </a:r>
                <a:r>
                  <a:rPr lang="es-PE" sz="900" b="1" i="0" dirty="0">
                    <a:solidFill>
                      <a:schemeClr val="tx1"/>
                    </a:solidFill>
                    <a:effectLst/>
                    <a:latin typeface="Segoe WPC"/>
                  </a:rPr>
                  <a:t> vs </a:t>
                </a:r>
                <a:r>
                  <a:rPr lang="es-PE" sz="900" b="1" i="0" dirty="0" err="1">
                    <a:solidFill>
                      <a:schemeClr val="tx1"/>
                    </a:solidFill>
                    <a:effectLst/>
                    <a:latin typeface="Segoe WPC"/>
                  </a:rPr>
                  <a:t>Investment</a:t>
                </a:r>
                <a:r>
                  <a:rPr lang="es-PE" sz="900" b="1" i="0" dirty="0">
                    <a:solidFill>
                      <a:schemeClr val="tx1"/>
                    </a:solidFill>
                    <a:effectLst/>
                    <a:latin typeface="Segoe WPC"/>
                  </a:rPr>
                  <a:t> </a:t>
                </a:r>
                <a:r>
                  <a:rPr lang="es-PE" sz="900" b="1" i="0" dirty="0" err="1">
                    <a:solidFill>
                      <a:schemeClr val="tx1"/>
                    </a:solidFill>
                    <a:effectLst/>
                    <a:latin typeface="Segoe WPC"/>
                  </a:rPr>
                  <a:t>Banking</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banking</a:t>
                </a:r>
                <a:r>
                  <a:rPr lang="es-PE" sz="900" b="0" i="0" dirty="0">
                    <a:solidFill>
                      <a:schemeClr val="tx1"/>
                    </a:solidFill>
                    <a:effectLst/>
                    <a:latin typeface="Segoe WPC"/>
                  </a:rPr>
                  <a:t> </a:t>
                </a:r>
                <a:r>
                  <a:rPr lang="es-PE" sz="900" b="0" i="0" dirty="0" err="1">
                    <a:solidFill>
                      <a:schemeClr val="tx1"/>
                    </a:solidFill>
                    <a:effectLst/>
                    <a:latin typeface="Segoe WPC"/>
                  </a:rPr>
                  <a:t>functions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Commercial</a:t>
                </a:r>
                <a:r>
                  <a:rPr lang="es-PE" sz="900" b="0" i="0" dirty="0">
                    <a:solidFill>
                      <a:schemeClr val="tx1"/>
                    </a:solidFill>
                    <a:effectLst/>
                    <a:latin typeface="Segoe WPC"/>
                  </a:rPr>
                  <a:t> </a:t>
                </a:r>
                <a:r>
                  <a:rPr lang="es-PE" sz="900" b="0" i="0" dirty="0" err="1">
                    <a:solidFill>
                      <a:schemeClr val="tx1"/>
                    </a:solidFill>
                    <a:effectLst/>
                    <a:latin typeface="Segoe WPC"/>
                  </a:rPr>
                  <a:t>banking</a:t>
                </a:r>
                <a:r>
                  <a:rPr lang="es-PE" sz="900" b="0" i="0" dirty="0">
                    <a:solidFill>
                      <a:schemeClr val="tx1"/>
                    </a:solidFill>
                    <a:effectLst/>
                    <a:latin typeface="Segoe WPC"/>
                  </a:rPr>
                  <a:t> </a:t>
                </a:r>
                <a:r>
                  <a:rPr lang="es-PE" sz="900" b="0" i="0" dirty="0" err="1">
                    <a:solidFill>
                      <a:schemeClr val="tx1"/>
                    </a:solidFill>
                    <a:effectLst/>
                    <a:latin typeface="Segoe WPC"/>
                  </a:rPr>
                  <a:t>takes</a:t>
                </a:r>
                <a:r>
                  <a:rPr lang="es-PE" sz="900" b="0" i="0" dirty="0">
                    <a:solidFill>
                      <a:schemeClr val="tx1"/>
                    </a:solidFill>
                    <a:effectLst/>
                    <a:latin typeface="Segoe WPC"/>
                  </a:rPr>
                  <a:t> </a:t>
                </a:r>
                <a:r>
                  <a:rPr lang="es-PE" sz="900" b="0" i="0" dirty="0" err="1">
                    <a:solidFill>
                      <a:schemeClr val="tx1"/>
                    </a:solidFill>
                    <a:effectLst/>
                    <a:latin typeface="Segoe WPC"/>
                  </a:rPr>
                  <a:t>deposits</a:t>
                </a:r>
                <a:r>
                  <a:rPr lang="es-PE" sz="900" b="0" i="0" dirty="0">
                    <a:solidFill>
                      <a:schemeClr val="tx1"/>
                    </a:solidFill>
                    <a:effectLst/>
                    <a:latin typeface="Segoe WPC"/>
                  </a:rPr>
                  <a:t> and </a:t>
                </a:r>
                <a:r>
                  <a:rPr lang="es-PE" sz="900" b="0" i="0" dirty="0" err="1">
                    <a:solidFill>
                      <a:schemeClr val="tx1"/>
                    </a:solidFill>
                    <a:effectLst/>
                    <a:latin typeface="Segoe WPC"/>
                  </a:rPr>
                  <a:t>makes</a:t>
                </a:r>
                <a:r>
                  <a:rPr lang="es-PE" sz="900" b="0" i="0" dirty="0">
                    <a:solidFill>
                      <a:schemeClr val="tx1"/>
                    </a:solidFill>
                    <a:effectLst/>
                    <a:latin typeface="Segoe WPC"/>
                  </a:rPr>
                  <a:t> </a:t>
                </a:r>
                <a:r>
                  <a:rPr lang="es-PE" sz="900" b="0" i="0" dirty="0" err="1">
                    <a:solidFill>
                      <a:schemeClr val="tx1"/>
                    </a:solidFill>
                    <a:effectLst/>
                    <a:latin typeface="Segoe WPC"/>
                  </a:rPr>
                  <a:t>loans</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investment</a:t>
                </a:r>
                <a:r>
                  <a:rPr lang="es-PE" sz="900" b="0" i="0" dirty="0">
                    <a:solidFill>
                      <a:schemeClr val="tx1"/>
                    </a:solidFill>
                    <a:effectLst/>
                    <a:latin typeface="Segoe WPC"/>
                  </a:rPr>
                  <a:t> </a:t>
                </a:r>
                <a:r>
                  <a:rPr lang="es-PE" sz="900" b="0" i="0" dirty="0" err="1">
                    <a:solidFill>
                      <a:schemeClr val="tx1"/>
                    </a:solidFill>
                    <a:effectLst/>
                    <a:latin typeface="Segoe WPC"/>
                  </a:rPr>
                  <a:t>banking</a:t>
                </a:r>
                <a:r>
                  <a:rPr lang="es-PE" sz="900" b="0" i="0" dirty="0">
                    <a:solidFill>
                      <a:schemeClr val="tx1"/>
                    </a:solidFill>
                    <a:effectLst/>
                    <a:latin typeface="Segoe WPC"/>
                  </a:rPr>
                  <a:t> raises capital, </a:t>
                </a:r>
                <a:r>
                  <a:rPr lang="es-PE" sz="900" b="0" i="0" dirty="0" err="1">
                    <a:solidFill>
                      <a:schemeClr val="tx1"/>
                    </a:solidFill>
                    <a:effectLst/>
                    <a:latin typeface="Segoe WPC"/>
                  </a:rPr>
                  <a:t>advises</a:t>
                </a:r>
                <a:r>
                  <a:rPr lang="es-PE" sz="900" b="0" i="0" dirty="0">
                    <a:solidFill>
                      <a:schemeClr val="tx1"/>
                    </a:solidFill>
                    <a:effectLst/>
                    <a:latin typeface="Segoe WPC"/>
                  </a:rPr>
                  <a:t> </a:t>
                </a:r>
                <a:r>
                  <a:rPr lang="es-PE" sz="900" b="0" i="0" dirty="0" err="1">
                    <a:solidFill>
                      <a:schemeClr val="tx1"/>
                    </a:solidFill>
                    <a:effectLst/>
                    <a:latin typeface="Segoe WPC"/>
                  </a:rPr>
                  <a:t>firms</a:t>
                </a:r>
                <a:r>
                  <a:rPr lang="es-PE" sz="900" b="0" i="0" dirty="0">
                    <a:solidFill>
                      <a:schemeClr val="tx1"/>
                    </a:solidFill>
                    <a:effectLst/>
                    <a:latin typeface="Segoe WPC"/>
                  </a:rPr>
                  <a:t>, and </a:t>
                </a:r>
                <a:r>
                  <a:rPr lang="es-PE" sz="900" b="0" i="0" dirty="0" err="1">
                    <a:solidFill>
                      <a:schemeClr val="tx1"/>
                    </a:solidFill>
                    <a:effectLst/>
                    <a:latin typeface="Segoe WPC"/>
                  </a:rPr>
                  <a:t>intermediates</a:t>
                </a:r>
                <a:r>
                  <a:rPr lang="es-PE" sz="900" b="0" i="0" dirty="0">
                    <a:solidFill>
                      <a:schemeClr val="tx1"/>
                    </a:solidFill>
                    <a:effectLst/>
                    <a:latin typeface="Segoe WPC"/>
                  </a:rPr>
                  <a:t> </a:t>
                </a:r>
                <a:r>
                  <a:rPr lang="es-PE" sz="900" b="0" i="0" dirty="0" err="1">
                    <a:solidFill>
                      <a:schemeClr val="tx1"/>
                    </a:solidFill>
                    <a:effectLst/>
                    <a:latin typeface="Segoe WPC"/>
                  </a:rPr>
                  <a:t>securities</a:t>
                </a:r>
                <a:r>
                  <a:rPr lang="es-PE" sz="900" b="0" i="0" dirty="0">
                    <a:solidFill>
                      <a:schemeClr val="tx1"/>
                    </a:solidFill>
                    <a:effectLst/>
                    <a:latin typeface="Segoe WPC"/>
                  </a:rPr>
                  <a:t> trading. </a:t>
                </a:r>
                <a:r>
                  <a:rPr lang="es-PE" sz="900" b="0" i="0" dirty="0" err="1">
                    <a:solidFill>
                      <a:schemeClr val="tx1"/>
                    </a:solidFill>
                    <a:effectLst/>
                    <a:latin typeface="Segoe WPC"/>
                  </a:rPr>
                  <a:t>Retail</a:t>
                </a:r>
                <a:r>
                  <a:rPr lang="es-PE" sz="900" b="0" i="0" dirty="0">
                    <a:solidFill>
                      <a:schemeClr val="tx1"/>
                    </a:solidFill>
                    <a:effectLst/>
                    <a:latin typeface="Segoe WPC"/>
                  </a:rPr>
                  <a:t> </a:t>
                </a:r>
                <a:r>
                  <a:rPr lang="es-PE" sz="900" b="0" i="0" dirty="0" err="1">
                    <a:solidFill>
                      <a:schemeClr val="tx1"/>
                    </a:solidFill>
                    <a:effectLst/>
                    <a:latin typeface="Segoe WPC"/>
                  </a:rPr>
                  <a:t>banking</a:t>
                </a:r>
                <a:r>
                  <a:rPr lang="es-PE" sz="900" b="0" i="0" dirty="0">
                    <a:solidFill>
                      <a:schemeClr val="tx1"/>
                    </a:solidFill>
                    <a:effectLst/>
                    <a:latin typeface="Segoe WPC"/>
                  </a:rPr>
                  <a:t> serves </a:t>
                </a:r>
                <a:r>
                  <a:rPr lang="es-PE" sz="900" b="0" i="0" dirty="0" err="1">
                    <a:solidFill>
                      <a:schemeClr val="tx1"/>
                    </a:solidFill>
                    <a:effectLst/>
                    <a:latin typeface="Segoe WPC"/>
                  </a:rPr>
                  <a:t>individuals</a:t>
                </a:r>
                <a:r>
                  <a:rPr lang="es-PE" sz="900" b="0" i="0" dirty="0">
                    <a:solidFill>
                      <a:schemeClr val="tx1"/>
                    </a:solidFill>
                    <a:effectLst/>
                    <a:latin typeface="Segoe WPC"/>
                  </a:rPr>
                  <a:t> and </a:t>
                </a:r>
                <a:r>
                  <a:rPr lang="es-PE" sz="900" b="0" i="0" dirty="0" err="1">
                    <a:solidFill>
                      <a:schemeClr val="tx1"/>
                    </a:solidFill>
                    <a:effectLst/>
                    <a:latin typeface="Segoe WPC"/>
                  </a:rPr>
                  <a:t>small</a:t>
                </a:r>
                <a:r>
                  <a:rPr lang="es-PE" sz="900" b="0" i="0" dirty="0">
                    <a:solidFill>
                      <a:schemeClr val="tx1"/>
                    </a:solidFill>
                    <a:effectLst/>
                    <a:latin typeface="Segoe WPC"/>
                  </a:rPr>
                  <a:t> </a:t>
                </a:r>
                <a:r>
                  <a:rPr lang="es-PE" sz="900" b="0" i="0" dirty="0" err="1">
                    <a:solidFill>
                      <a:schemeClr val="tx1"/>
                    </a:solidFill>
                    <a:effectLst/>
                    <a:latin typeface="Segoe WPC"/>
                  </a:rPr>
                  <a:t>firms</a:t>
                </a:r>
                <a:r>
                  <a:rPr lang="es-PE" sz="900" b="0" i="0" dirty="0">
                    <a:solidFill>
                      <a:schemeClr val="tx1"/>
                    </a:solidFill>
                    <a:effectLst/>
                    <a:latin typeface="Segoe WPC"/>
                  </a:rPr>
                  <a:t>; </a:t>
                </a:r>
                <a:r>
                  <a:rPr lang="es-PE" sz="900" b="0" i="0" dirty="0" err="1">
                    <a:solidFill>
                      <a:schemeClr val="tx1"/>
                    </a:solidFill>
                    <a:effectLst/>
                    <a:latin typeface="Segoe WPC"/>
                  </a:rPr>
                  <a:t>wholesale</a:t>
                </a:r>
                <a:r>
                  <a:rPr lang="es-PE" sz="900" b="0" i="0" dirty="0">
                    <a:solidFill>
                      <a:schemeClr val="tx1"/>
                    </a:solidFill>
                    <a:effectLst/>
                    <a:latin typeface="Segoe WPC"/>
                  </a:rPr>
                  <a:t> </a:t>
                </a:r>
                <a:r>
                  <a:rPr lang="es-PE" sz="900" b="0" i="0" dirty="0" err="1">
                    <a:solidFill>
                      <a:schemeClr val="tx1"/>
                    </a:solidFill>
                    <a:effectLst/>
                    <a:latin typeface="Segoe WPC"/>
                  </a:rPr>
                  <a:t>banking</a:t>
                </a:r>
                <a:r>
                  <a:rPr lang="es-PE" sz="900" b="0" i="0" dirty="0">
                    <a:solidFill>
                      <a:schemeClr val="tx1"/>
                    </a:solidFill>
                    <a:effectLst/>
                    <a:latin typeface="Segoe WPC"/>
                  </a:rPr>
                  <a:t> serves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corporations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larger</a:t>
                </a:r>
                <a:r>
                  <a:rPr lang="es-PE" sz="900" b="0" i="0" dirty="0">
                    <a:solidFill>
                      <a:schemeClr val="tx1"/>
                    </a:solidFill>
                    <a:effectLst/>
                    <a:latin typeface="Segoe WPC"/>
                  </a:rPr>
                  <a:t> </a:t>
                </a:r>
                <a:r>
                  <a:rPr lang="es-PE" sz="900" b="0" i="0" dirty="0" err="1">
                    <a:solidFill>
                      <a:schemeClr val="tx1"/>
                    </a:solidFill>
                    <a:effectLst/>
                    <a:latin typeface="Segoe WPC"/>
                  </a:rPr>
                  <a:t>transactions</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unit</a:t>
                </a:r>
                <a:r>
                  <a:rPr lang="es-PE" sz="900" b="0" i="0" dirty="0">
                    <a:solidFill>
                      <a:schemeClr val="tx1"/>
                    </a:solidFill>
                    <a:effectLst/>
                    <a:latin typeface="Segoe WPC"/>
                  </a:rPr>
                  <a:t> </a:t>
                </a:r>
                <a:r>
                  <a:rPr lang="es-PE" sz="900" b="0" i="0" dirty="0" err="1">
                    <a:solidFill>
                      <a:schemeClr val="tx1"/>
                    </a:solidFill>
                    <a:effectLst/>
                    <a:latin typeface="Segoe WPC"/>
                  </a:rPr>
                  <a:t>costs</a:t>
                </a:r>
                <a:r>
                  <a:rPr lang="es-PE" sz="900" b="0" i="0" dirty="0">
                    <a:solidFill>
                      <a:schemeClr val="tx1"/>
                    </a:solidFill>
                    <a:effectLst/>
                    <a:latin typeface="Segoe WPC"/>
                  </a:rPr>
                  <a:t>, and </a:t>
                </a:r>
                <a:r>
                  <a:rPr lang="es-PE" sz="900" b="0" i="0" dirty="0" err="1">
                    <a:solidFill>
                      <a:schemeClr val="tx1"/>
                    </a:solidFill>
                    <a:effectLst/>
                    <a:latin typeface="Segoe WPC"/>
                  </a:rPr>
                  <a:t>lower</a:t>
                </a:r>
                <a:r>
                  <a:rPr lang="es-PE" sz="900" b="0" i="0" dirty="0">
                    <a:solidFill>
                      <a:schemeClr val="tx1"/>
                    </a:solidFill>
                    <a:effectLst/>
                    <a:latin typeface="Segoe WPC"/>
                  </a:rPr>
                  <a:t> spreads.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Commercial</a:t>
                </a:r>
                <a:r>
                  <a:rPr lang="es-PE" sz="900" b="0" i="0" dirty="0">
                    <a:solidFill>
                      <a:schemeClr val="tx1"/>
                    </a:solidFill>
                    <a:effectLst/>
                    <a:latin typeface="Segoe WPC"/>
                  </a:rPr>
                  <a:t> </a:t>
                </a:r>
                <a:r>
                  <a:rPr lang="es-PE" sz="900" b="0" i="0" dirty="0" err="1">
                    <a:solidFill>
                      <a:schemeClr val="tx1"/>
                    </a:solidFill>
                    <a:effectLst/>
                    <a:latin typeface="Segoe WPC"/>
                  </a:rPr>
                  <a:t>banking</a:t>
                </a:r>
                <a:r>
                  <a:rPr lang="es-PE" sz="900" b="0" i="0" dirty="0">
                    <a:solidFill>
                      <a:schemeClr val="tx1"/>
                    </a:solidFill>
                    <a:effectLst/>
                    <a:latin typeface="Segoe WPC"/>
                  </a:rPr>
                  <a:t> = balance-</a:t>
                </a:r>
                <a:r>
                  <a:rPr lang="es-PE" sz="900" b="0" i="0" dirty="0" err="1">
                    <a:solidFill>
                      <a:schemeClr val="tx1"/>
                    </a:solidFill>
                    <a:effectLst/>
                    <a:latin typeface="Segoe WPC"/>
                  </a:rPr>
                  <a:t>sheet</a:t>
                </a:r>
                <a:r>
                  <a:rPr lang="es-PE" sz="900" b="0" i="0" dirty="0">
                    <a:solidFill>
                      <a:schemeClr val="tx1"/>
                    </a:solidFill>
                    <a:effectLst/>
                    <a:latin typeface="Segoe WPC"/>
                  </a:rPr>
                  <a:t> </a:t>
                </a:r>
                <a:r>
                  <a:rPr lang="es-PE" sz="900" b="0" i="0" dirty="0" err="1">
                    <a:solidFill>
                      <a:schemeClr val="tx1"/>
                    </a:solidFill>
                    <a:effectLst/>
                    <a:latin typeface="Segoe WPC"/>
                  </a:rPr>
                  <a:t>intermediation</a:t>
                </a:r>
                <a:r>
                  <a:rPr lang="es-PE" sz="900" b="0" i="0" dirty="0">
                    <a:solidFill>
                      <a:schemeClr val="tx1"/>
                    </a:solidFill>
                    <a:effectLst/>
                    <a:latin typeface="Segoe WPC"/>
                  </a:rPr>
                  <a:t>; </a:t>
                </a:r>
                <a:r>
                  <a:rPr lang="es-PE" sz="900" b="0" i="0" dirty="0" err="1">
                    <a:solidFill>
                      <a:schemeClr val="tx1"/>
                    </a:solidFill>
                    <a:effectLst/>
                    <a:latin typeface="Segoe WPC"/>
                  </a:rPr>
                  <a:t>investment</a:t>
                </a:r>
                <a:r>
                  <a:rPr lang="es-PE" sz="900" b="0" i="0" dirty="0">
                    <a:solidFill>
                      <a:schemeClr val="tx1"/>
                    </a:solidFill>
                    <a:effectLst/>
                    <a:latin typeface="Segoe WPC"/>
                  </a:rPr>
                  <a:t> </a:t>
                </a:r>
                <a:r>
                  <a:rPr lang="es-PE" sz="900" b="0" i="0" dirty="0" err="1">
                    <a:solidFill>
                      <a:schemeClr val="tx1"/>
                    </a:solidFill>
                    <a:effectLst/>
                    <a:latin typeface="Segoe WPC"/>
                  </a:rPr>
                  <a:t>banking</a:t>
                </a:r>
                <a:r>
                  <a:rPr lang="es-PE" sz="900" b="0" i="0" dirty="0">
                    <a:solidFill>
                      <a:schemeClr val="tx1"/>
                    </a:solidFill>
                    <a:effectLst/>
                    <a:latin typeface="Segoe WPC"/>
                  </a:rPr>
                  <a:t> = capital </a:t>
                </a:r>
                <a:r>
                  <a:rPr lang="es-PE" sz="900" b="0" i="0" dirty="0" err="1">
                    <a:solidFill>
                      <a:schemeClr val="tx1"/>
                    </a:solidFill>
                    <a:effectLst/>
                    <a:latin typeface="Segoe WPC"/>
                  </a:rPr>
                  <a:t>markets</a:t>
                </a:r>
                <a:r>
                  <a:rPr lang="es-PE" sz="900" b="0" i="0" dirty="0">
                    <a:solidFill>
                      <a:schemeClr val="tx1"/>
                    </a:solidFill>
                    <a:effectLst/>
                    <a:latin typeface="Segoe WPC"/>
                  </a:rPr>
                  <a:t> and </a:t>
                </a:r>
                <a:r>
                  <a:rPr lang="es-PE" sz="900" b="0" i="0" dirty="0" err="1">
                    <a:solidFill>
                      <a:schemeClr val="tx1"/>
                    </a:solidFill>
                    <a:effectLst/>
                    <a:latin typeface="Segoe WPC"/>
                  </a:rPr>
                  <a:t>advisory</a:t>
                </a:r>
                <a:r>
                  <a:rPr lang="es-PE" sz="900" b="0" i="0" dirty="0">
                    <a:solidFill>
                      <a:schemeClr val="tx1"/>
                    </a:solidFill>
                    <a:effectLst/>
                    <a:latin typeface="Segoe WPC"/>
                  </a:rPr>
                  <a:t> </a:t>
                </a:r>
                <a:r>
                  <a:rPr lang="es-PE" sz="900" b="0" i="0" dirty="0" err="1">
                    <a:solidFill>
                      <a:schemeClr val="tx1"/>
                    </a:solidFill>
                    <a:effectLst/>
                    <a:latin typeface="Segoe WPC"/>
                  </a:rPr>
                  <a:t>services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formula;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key</a:t>
                </a:r>
                <a:r>
                  <a:rPr lang="es-PE" sz="900" b="0" i="0" dirty="0">
                    <a:solidFill>
                      <a:schemeClr val="tx1"/>
                    </a:solidFill>
                    <a:effectLst/>
                    <a:latin typeface="Segoe WPC"/>
                  </a:rPr>
                  <a:t> </a:t>
                </a:r>
                <a:r>
                  <a:rPr lang="es-PE" sz="900" b="0" i="0" dirty="0" err="1">
                    <a:solidFill>
                      <a:schemeClr val="tx1"/>
                    </a:solidFill>
                    <a:effectLst/>
                    <a:latin typeface="Segoe WPC"/>
                  </a:rPr>
                  <a:t>distinction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deposits</a:t>
                </a:r>
                <a:r>
                  <a:rPr lang="es-PE" sz="900" b="0" i="0" dirty="0">
                    <a:solidFill>
                      <a:schemeClr val="tx1"/>
                    </a:solidFill>
                    <a:effectLst/>
                    <a:latin typeface="Segoe WPC"/>
                  </a:rPr>
                  <a:t>/</a:t>
                </a:r>
                <a:r>
                  <a:rPr lang="es-PE" sz="900" b="0" i="0" dirty="0" err="1">
                    <a:solidFill>
                      <a:schemeClr val="tx1"/>
                    </a:solidFill>
                    <a:effectLst/>
                    <a:latin typeface="Segoe WPC"/>
                  </a:rPr>
                  <a:t>loans</a:t>
                </a:r>
                <a:r>
                  <a:rPr lang="es-PE" sz="900" b="0" i="0" dirty="0">
                    <a:solidFill>
                      <a:schemeClr val="tx1"/>
                    </a:solidFill>
                    <a:effectLst/>
                    <a:latin typeface="Segoe WPC"/>
                  </a:rPr>
                  <a:t> versus </a:t>
                </a:r>
                <a:r>
                  <a:rPr lang="es-PE" sz="900" b="0" i="0" dirty="0" err="1">
                    <a:solidFill>
                      <a:schemeClr val="tx1"/>
                    </a:solidFill>
                    <a:effectLst/>
                    <a:latin typeface="Segoe WPC"/>
                  </a:rPr>
                  <a:t>underwriting</a:t>
                </a:r>
                <a:r>
                  <a:rPr lang="es-PE" sz="900" b="0" i="0" dirty="0">
                    <a:solidFill>
                      <a:schemeClr val="tx1"/>
                    </a:solidFill>
                    <a:effectLst/>
                    <a:latin typeface="Segoe WPC"/>
                  </a:rPr>
                  <a:t>/</a:t>
                </a:r>
                <a:r>
                  <a:rPr lang="es-PE" sz="900" b="0" i="0" dirty="0" err="1">
                    <a:solidFill>
                      <a:schemeClr val="tx1"/>
                    </a:solidFill>
                    <a:effectLst/>
                    <a:latin typeface="Segoe WPC"/>
                  </a:rPr>
                  <a:t>advisory</a:t>
                </a:r>
                <a:r>
                  <a:rPr lang="es-PE" sz="900" b="0" i="0" dirty="0">
                    <a:solidFill>
                      <a:schemeClr val="tx1"/>
                    </a:solidFill>
                    <a:effectLst/>
                    <a:latin typeface="Segoe WPC"/>
                  </a:rPr>
                  <a:t>/trading.</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Some</a:t>
                </a:r>
                <a:r>
                  <a:rPr lang="es-PE" sz="900" b="0" i="0" dirty="0">
                    <a:solidFill>
                      <a:schemeClr val="tx1"/>
                    </a:solidFill>
                    <a:effectLst/>
                    <a:latin typeface="Segoe WPC"/>
                  </a:rPr>
                  <a:t> </a:t>
                </a:r>
                <a:r>
                  <a:rPr lang="es-PE" sz="900" b="0" i="0" dirty="0" err="1">
                    <a:solidFill>
                      <a:schemeClr val="tx1"/>
                    </a:solidFill>
                    <a:effectLst/>
                    <a:latin typeface="Segoe WPC"/>
                  </a:rPr>
                  <a:t>countries</a:t>
                </a:r>
                <a:r>
                  <a:rPr lang="es-PE" sz="900" b="0" i="0" dirty="0">
                    <a:solidFill>
                      <a:schemeClr val="tx1"/>
                    </a:solidFill>
                    <a:effectLst/>
                    <a:latin typeface="Segoe WPC"/>
                  </a:rPr>
                  <a:t> </a:t>
                </a:r>
                <a:r>
                  <a:rPr lang="es-PE" sz="900" b="0" i="0" dirty="0" err="1">
                    <a:solidFill>
                      <a:schemeClr val="tx1"/>
                    </a:solidFill>
                    <a:effectLst/>
                    <a:latin typeface="Segoe WPC"/>
                  </a:rPr>
                  <a:t>separate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more </a:t>
                </a:r>
                <a:r>
                  <a:rPr lang="es-PE" sz="900" b="0" i="0" dirty="0" err="1">
                    <a:solidFill>
                      <a:schemeClr val="tx1"/>
                    </a:solidFill>
                    <a:effectLst/>
                    <a:latin typeface="Segoe WPC"/>
                  </a:rPr>
                  <a:t>strictly</a:t>
                </a:r>
                <a:r>
                  <a:rPr lang="es-PE" sz="900" b="0" i="0" dirty="0">
                    <a:solidFill>
                      <a:schemeClr val="tx1"/>
                    </a:solidFill>
                    <a:effectLst/>
                    <a:latin typeface="Segoe WPC"/>
                  </a:rPr>
                  <a:t>, </a:t>
                </a:r>
                <a:r>
                  <a:rPr lang="es-PE" sz="900" b="0" i="0" dirty="0" err="1">
                    <a:solidFill>
                      <a:schemeClr val="tx1"/>
                    </a:solidFill>
                    <a:effectLst/>
                    <a:latin typeface="Segoe WPC"/>
                  </a:rPr>
                  <a:t>especially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prevent</a:t>
                </a:r>
                <a:r>
                  <a:rPr lang="es-PE" sz="900" b="0" i="0" dirty="0">
                    <a:solidFill>
                      <a:schemeClr val="tx1"/>
                    </a:solidFill>
                    <a:effectLst/>
                    <a:latin typeface="Segoe WPC"/>
                  </a:rPr>
                  <a:t> </a:t>
                </a:r>
                <a:r>
                  <a:rPr lang="es-PE" sz="900" b="0" i="0" dirty="0" err="1">
                    <a:solidFill>
                      <a:schemeClr val="tx1"/>
                    </a:solidFill>
                    <a:effectLst/>
                    <a:latin typeface="Segoe WPC"/>
                  </a:rPr>
                  <a:t>deposit-funded</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taking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Wholesale</a:t>
                </a:r>
                <a:r>
                  <a:rPr lang="es-PE" sz="900" b="0" i="0" dirty="0">
                    <a:solidFill>
                      <a:schemeClr val="tx1"/>
                    </a:solidFill>
                    <a:effectLst/>
                    <a:latin typeface="Segoe WPC"/>
                  </a:rPr>
                  <a:t> </a:t>
                </a:r>
                <a:r>
                  <a:rPr lang="es-PE" sz="900" b="0" i="0" dirty="0" err="1">
                    <a:solidFill>
                      <a:schemeClr val="tx1"/>
                    </a:solidFill>
                    <a:effectLst/>
                    <a:latin typeface="Segoe WPC"/>
                  </a:rPr>
                  <a:t>banking</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part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commercial</a:t>
                </a:r>
                <a:r>
                  <a:rPr lang="es-PE" sz="900" b="0" i="0" dirty="0">
                    <a:solidFill>
                      <a:schemeClr val="tx1"/>
                    </a:solidFill>
                    <a:effectLst/>
                    <a:latin typeface="Segoe WPC"/>
                  </a:rPr>
                  <a:t> </a:t>
                </a:r>
                <a:r>
                  <a:rPr lang="es-PE" sz="900" b="0" i="0" dirty="0" err="1">
                    <a:solidFill>
                      <a:schemeClr val="tx1"/>
                    </a:solidFill>
                    <a:effectLst/>
                    <a:latin typeface="Segoe WPC"/>
                  </a:rPr>
                  <a:t>banking</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as </a:t>
                </a:r>
                <a:r>
                  <a:rPr lang="es-PE" sz="900" b="0" i="0" dirty="0" err="1">
                    <a:solidFill>
                      <a:schemeClr val="tx1"/>
                    </a:solidFill>
                    <a:effectLst/>
                    <a:latin typeface="Segoe WPC"/>
                  </a:rPr>
                  <a:t>investment</a:t>
                </a:r>
                <a:r>
                  <a:rPr lang="es-PE" sz="900" b="0" i="0" dirty="0">
                    <a:solidFill>
                      <a:schemeClr val="tx1"/>
                    </a:solidFill>
                    <a:effectLst/>
                    <a:latin typeface="Segoe WPC"/>
                  </a:rPr>
                  <a:t> </a:t>
                </a:r>
                <a:r>
                  <a:rPr lang="es-PE" sz="900" b="0" i="0" dirty="0" err="1">
                    <a:solidFill>
                      <a:schemeClr val="tx1"/>
                    </a:solidFill>
                    <a:effectLst/>
                    <a:latin typeface="Segoe WPC"/>
                  </a:rPr>
                  <a:t>banking</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2. </a:t>
                </a:r>
                <a:r>
                  <a:rPr lang="es-PE" sz="900" b="1" i="0" dirty="0" err="1">
                    <a:solidFill>
                      <a:schemeClr val="tx1"/>
                    </a:solidFill>
                    <a:effectLst/>
                    <a:latin typeface="Segoe WPC"/>
                  </a:rPr>
                  <a:t>Main</a:t>
                </a:r>
                <a:r>
                  <a:rPr lang="es-PE" sz="900" b="1" i="0" dirty="0">
                    <a:solidFill>
                      <a:schemeClr val="tx1"/>
                    </a:solidFill>
                    <a:effectLst/>
                    <a:latin typeface="Segoe WPC"/>
                  </a:rPr>
                  <a:t> </a:t>
                </a:r>
                <a:r>
                  <a:rPr lang="es-PE" sz="900" b="1" i="0" dirty="0" err="1">
                    <a:solidFill>
                      <a:schemeClr val="tx1"/>
                    </a:solidFill>
                    <a:effectLst/>
                    <a:latin typeface="Segoe WPC"/>
                  </a:rPr>
                  <a:t>Risks</a:t>
                </a:r>
                <a:r>
                  <a:rPr lang="es-PE" sz="900" b="1" i="0" dirty="0">
                    <a:solidFill>
                      <a:schemeClr val="tx1"/>
                    </a:solidFill>
                    <a:effectLst/>
                    <a:latin typeface="Segoe WPC"/>
                  </a:rPr>
                  <a:t> </a:t>
                </a:r>
                <a:r>
                  <a:rPr lang="es-PE" sz="900" b="1" i="0" dirty="0" err="1">
                    <a:solidFill>
                      <a:schemeClr val="tx1"/>
                    </a:solidFill>
                    <a:effectLst/>
                    <a:latin typeface="Segoe WPC"/>
                  </a:rPr>
                  <a:t>Faced</a:t>
                </a:r>
                <a:r>
                  <a:rPr lang="es-PE" sz="900" b="1" i="0" dirty="0">
                    <a:solidFill>
                      <a:schemeClr val="tx1"/>
                    </a:solidFill>
                    <a:effectLst/>
                    <a:latin typeface="Segoe WPC"/>
                  </a:rPr>
                  <a:t> </a:t>
                </a:r>
                <a:r>
                  <a:rPr lang="es-PE" sz="900" b="1" i="0" dirty="0" err="1">
                    <a:solidFill>
                      <a:schemeClr val="tx1"/>
                    </a:solidFill>
                    <a:effectLst/>
                    <a:latin typeface="Segoe WPC"/>
                  </a:rPr>
                  <a:t>by</a:t>
                </a:r>
                <a:r>
                  <a:rPr lang="es-PE" sz="900" b="1" i="0" dirty="0">
                    <a:solidFill>
                      <a:schemeClr val="tx1"/>
                    </a:solidFill>
                    <a:effectLst/>
                    <a:latin typeface="Segoe WPC"/>
                  </a:rPr>
                  <a:t> Banks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credit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and </a:t>
                </a:r>
                <a:r>
                  <a:rPr lang="es-PE" sz="900" b="0" i="0" dirty="0" err="1">
                    <a:solidFill>
                      <a:schemeClr val="tx1"/>
                    </a:solidFill>
                    <a:effectLst/>
                    <a:latin typeface="Segoe WPC"/>
                  </a:rPr>
                  <a:t>operational</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Banks can lose </a:t>
                </a:r>
                <a:r>
                  <a:rPr lang="es-PE" sz="900" b="0" i="0" dirty="0" err="1">
                    <a:solidFill>
                      <a:schemeClr val="tx1"/>
                    </a:solidFill>
                    <a:effectLst/>
                    <a:latin typeface="Segoe WPC"/>
                  </a:rPr>
                  <a:t>money</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prices</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a:t>
                </a:r>
                <a:r>
                  <a:rPr lang="es-PE" sz="900" b="0" i="0" dirty="0" err="1">
                    <a:solidFill>
                      <a:schemeClr val="tx1"/>
                    </a:solidFill>
                    <a:effectLst/>
                    <a:latin typeface="Segoe WPC"/>
                  </a:rPr>
                  <a:t>borrowers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counterparties</a:t>
                </a:r>
                <a:r>
                  <a:rPr lang="es-PE" sz="900" b="0" i="0" dirty="0">
                    <a:solidFill>
                      <a:schemeClr val="tx1"/>
                    </a:solidFill>
                    <a:effectLst/>
                    <a:latin typeface="Segoe WPC"/>
                  </a:rPr>
                  <a:t> default,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systems</a:t>
                </a:r>
                <a:r>
                  <a:rPr lang="es-PE" sz="900" b="0" i="0" dirty="0">
                    <a:solidFill>
                      <a:schemeClr val="tx1"/>
                    </a:solidFill>
                    <a:effectLst/>
                    <a:latin typeface="Segoe WPC"/>
                  </a:rPr>
                  <a:t>/</a:t>
                </a:r>
                <a:r>
                  <a:rPr lang="es-PE" sz="900" b="0" i="0" dirty="0" err="1">
                    <a:solidFill>
                      <a:schemeClr val="tx1"/>
                    </a:solidFill>
                    <a:effectLst/>
                    <a:latin typeface="Segoe WPC"/>
                  </a:rPr>
                  <a:t>people</a:t>
                </a:r>
                <a:r>
                  <a:rPr lang="es-PE" sz="900" b="0" i="0" dirty="0">
                    <a:solidFill>
                      <a:schemeClr val="tx1"/>
                    </a:solidFill>
                    <a:effectLst/>
                    <a:latin typeface="Segoe WPC"/>
                  </a:rPr>
                  <a:t>/</a:t>
                </a:r>
                <a:r>
                  <a:rPr lang="es-PE" sz="900" b="0" i="0" dirty="0" err="1">
                    <a:solidFill>
                      <a:schemeClr val="tx1"/>
                    </a:solidFill>
                    <a:effectLst/>
                    <a:latin typeface="Segoe WPC"/>
                  </a:rPr>
                  <a:t>processes</a:t>
                </a:r>
                <a:r>
                  <a:rPr lang="es-PE" sz="900" b="0" i="0" dirty="0">
                    <a:solidFill>
                      <a:schemeClr val="tx1"/>
                    </a:solidFill>
                    <a:effectLst/>
                    <a:latin typeface="Segoe WPC"/>
                  </a:rPr>
                  <a:t> </a:t>
                </a:r>
                <a:r>
                  <a:rPr lang="es-PE" sz="900" b="0" i="0" dirty="0" err="1">
                    <a:solidFill>
                      <a:schemeClr val="tx1"/>
                    </a:solidFill>
                    <a:effectLst/>
                    <a:latin typeface="Segoe WPC"/>
                  </a:rPr>
                  <a:t>fail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Trading </a:t>
                </a:r>
                <a:r>
                  <a:rPr lang="es-PE" sz="900" b="0" i="0" dirty="0" err="1">
                    <a:solidFill>
                      <a:schemeClr val="tx1"/>
                    </a:solidFill>
                    <a:effectLst/>
                    <a:latin typeface="Segoe WPC"/>
                  </a:rPr>
                  <a:t>exposures</a:t>
                </a:r>
                <a:r>
                  <a:rPr lang="es-PE" sz="900" b="0" i="0" dirty="0">
                    <a:solidFill>
                      <a:schemeClr val="tx1"/>
                    </a:solidFill>
                    <a:effectLst/>
                    <a:latin typeface="Segoe WPC"/>
                  </a:rPr>
                  <a:t>, </a:t>
                </a:r>
                <a:r>
                  <a:rPr lang="es-PE" sz="900" b="0" i="0" dirty="0" err="1">
                    <a:solidFill>
                      <a:schemeClr val="tx1"/>
                    </a:solidFill>
                    <a:effectLst/>
                    <a:latin typeface="Segoe WPC"/>
                  </a:rPr>
                  <a:t>lending</a:t>
                </a:r>
                <a:r>
                  <a:rPr lang="es-PE" sz="900" b="0" i="0" dirty="0">
                    <a:solidFill>
                      <a:schemeClr val="tx1"/>
                    </a:solidFill>
                    <a:effectLst/>
                    <a:latin typeface="Segoe WPC"/>
                  </a:rPr>
                  <a:t> </a:t>
                </a:r>
                <a:r>
                  <a:rPr lang="es-PE" sz="900" b="0" i="0" dirty="0" err="1">
                    <a:solidFill>
                      <a:schemeClr val="tx1"/>
                    </a:solidFill>
                    <a:effectLst/>
                    <a:latin typeface="Segoe WPC"/>
                  </a:rPr>
                  <a:t>exposures</a:t>
                </a:r>
                <a:r>
                  <a:rPr lang="es-PE" sz="900" b="0" i="0" dirty="0">
                    <a:solidFill>
                      <a:schemeClr val="tx1"/>
                    </a:solidFill>
                    <a:effectLst/>
                    <a:latin typeface="Segoe WPC"/>
                  </a:rPr>
                  <a:t>, and </a:t>
                </a:r>
                <a:r>
                  <a:rPr lang="es-PE" sz="900" b="0" i="0" dirty="0" err="1">
                    <a:solidFill>
                      <a:schemeClr val="tx1"/>
                    </a:solidFill>
                    <a:effectLst/>
                    <a:latin typeface="Segoe WPC"/>
                  </a:rPr>
                  <a:t>business-process</a:t>
                </a:r>
                <a:r>
                  <a:rPr lang="es-PE" sz="900" b="0" i="0" dirty="0">
                    <a:solidFill>
                      <a:schemeClr val="tx1"/>
                    </a:solidFill>
                    <a:effectLst/>
                    <a:latin typeface="Segoe WPC"/>
                  </a:rPr>
                  <a:t> </a:t>
                </a:r>
                <a:r>
                  <a:rPr lang="es-PE" sz="900" b="0" i="0" dirty="0" err="1">
                    <a:solidFill>
                      <a:schemeClr val="tx1"/>
                    </a:solidFill>
                    <a:effectLst/>
                    <a:latin typeface="Segoe WPC"/>
                  </a:rPr>
                  <a:t>failures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Net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margin</a:t>
                </a:r>
                <a:r>
                  <a:rPr lang="es-PE" sz="900" b="0" i="0" dirty="0">
                    <a:solidFill>
                      <a:schemeClr val="tx1"/>
                    </a:solidFill>
                    <a:effectLst/>
                    <a:latin typeface="Segoe WPC"/>
                  </a:rPr>
                  <a:t> = loan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minus</a:t>
                </a:r>
                <a:r>
                  <a:rPr lang="es-PE" sz="900" b="0" i="0" dirty="0">
                    <a:solidFill>
                      <a:schemeClr val="tx1"/>
                    </a:solidFill>
                    <a:effectLst/>
                    <a:latin typeface="Segoe WPC"/>
                  </a:rPr>
                  <a:t> </a:t>
                </a:r>
                <a:r>
                  <a:rPr lang="es-PE" sz="900" b="0" i="0" dirty="0" err="1">
                    <a:solidFill>
                      <a:schemeClr val="tx1"/>
                    </a:solidFill>
                    <a:effectLst/>
                    <a:latin typeface="Segoe WPC"/>
                  </a:rPr>
                  <a:t>funding</a:t>
                </a:r>
                <a:r>
                  <a:rPr lang="es-PE" sz="900" b="0" i="0" dirty="0">
                    <a:solidFill>
                      <a:schemeClr val="tx1"/>
                    </a:solidFill>
                    <a:effectLst/>
                    <a:latin typeface="Segoe WPC"/>
                  </a:rPr>
                  <a:t> </a:t>
                </a:r>
                <a:r>
                  <a:rPr lang="es-PE" sz="900" b="0" i="0" dirty="0" err="1">
                    <a:solidFill>
                      <a:schemeClr val="tx1"/>
                    </a:solidFill>
                    <a:effectLst/>
                    <a:latin typeface="Segoe WPC"/>
                  </a:rPr>
                  <a:t>cost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mainly</a:t>
                </a:r>
                <a:r>
                  <a:rPr lang="es-PE" sz="900" b="0" i="0" dirty="0">
                    <a:solidFill>
                      <a:schemeClr val="tx1"/>
                    </a:solidFill>
                    <a:effectLst/>
                    <a:latin typeface="Segoe WPC"/>
                  </a:rPr>
                  <a:t> comes </a:t>
                </a:r>
                <a:r>
                  <a:rPr lang="es-PE" sz="900" b="0" i="0" dirty="0" err="1">
                    <a:solidFill>
                      <a:schemeClr val="tx1"/>
                    </a:solidFill>
                    <a:effectLst/>
                    <a:latin typeface="Segoe WPC"/>
                  </a:rPr>
                  <a:t>from</a:t>
                </a:r>
                <a:r>
                  <a:rPr lang="es-PE" sz="900" b="0" i="0" dirty="0">
                    <a:solidFill>
                      <a:schemeClr val="tx1"/>
                    </a:solidFill>
                    <a:effectLst/>
                    <a:latin typeface="Segoe WPC"/>
                  </a:rPr>
                  <a:t> trading and </a:t>
                </a:r>
                <a:r>
                  <a:rPr lang="es-PE" sz="900" b="0" i="0" dirty="0" err="1">
                    <a:solidFill>
                      <a:schemeClr val="tx1"/>
                    </a:solidFill>
                    <a:effectLst/>
                    <a:latin typeface="Segoe WPC"/>
                  </a:rPr>
                  <a:t>market-making</a:t>
                </a:r>
                <a:r>
                  <a:rPr lang="es-PE" sz="900" b="0" i="0" dirty="0">
                    <a:solidFill>
                      <a:schemeClr val="tx1"/>
                    </a:solidFill>
                    <a:effectLst/>
                    <a:latin typeface="Segoe WPC"/>
                  </a:rPr>
                  <a:t>; </a:t>
                </a:r>
                <a:r>
                  <a:rPr lang="es-PE" sz="900" b="0" i="0" dirty="0" err="1">
                    <a:solidFill>
                      <a:schemeClr val="tx1"/>
                    </a:solidFill>
                    <a:effectLst/>
                    <a:latin typeface="Segoe WPC"/>
                  </a:rPr>
                  <a:t>credit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loans</a:t>
                </a:r>
                <a:r>
                  <a:rPr lang="es-PE" sz="900" b="0" i="0" dirty="0">
                    <a:solidFill>
                      <a:schemeClr val="tx1"/>
                    </a:solidFill>
                    <a:effectLst/>
                    <a:latin typeface="Segoe WPC"/>
                  </a:rPr>
                  <a:t> and derivatives </a:t>
                </a:r>
                <a:r>
                  <a:rPr lang="es-PE" sz="900" b="0" i="0" dirty="0" err="1">
                    <a:solidFill>
                      <a:schemeClr val="tx1"/>
                    </a:solidFill>
                    <a:effectLst/>
                    <a:latin typeface="Segoe WPC"/>
                  </a:rPr>
                  <a:t>counterparties</a:t>
                </a:r>
                <a:r>
                  <a:rPr lang="es-PE" sz="900" b="0" i="0" dirty="0">
                    <a:solidFill>
                      <a:schemeClr val="tx1"/>
                    </a:solidFill>
                    <a:effectLst/>
                    <a:latin typeface="Segoe WPC"/>
                  </a:rPr>
                  <a:t>; </a:t>
                </a:r>
                <a:r>
                  <a:rPr lang="es-PE" sz="900" b="0" i="0" dirty="0" err="1">
                    <a:solidFill>
                      <a:schemeClr val="tx1"/>
                    </a:solidFill>
                    <a:effectLst/>
                    <a:latin typeface="Segoe WPC"/>
                  </a:rPr>
                  <a:t>operational</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includes</a:t>
                </a:r>
                <a:r>
                  <a:rPr lang="es-PE" sz="900" b="0" i="0" dirty="0">
                    <a:solidFill>
                      <a:schemeClr val="tx1"/>
                    </a:solidFill>
                    <a:effectLst/>
                    <a:latin typeface="Segoe WPC"/>
                  </a:rPr>
                  <a:t> </a:t>
                </a:r>
                <a:r>
                  <a:rPr lang="es-PE" sz="900" b="0" i="0" dirty="0" err="1">
                    <a:solidFill>
                      <a:schemeClr val="tx1"/>
                    </a:solidFill>
                    <a:effectLst/>
                    <a:latin typeface="Segoe WPC"/>
                  </a:rPr>
                  <a:t>fraud</a:t>
                </a:r>
                <a:r>
                  <a:rPr lang="es-PE" sz="900" b="0" i="0" dirty="0">
                    <a:solidFill>
                      <a:schemeClr val="tx1"/>
                    </a:solidFill>
                    <a:effectLst/>
                    <a:latin typeface="Segoe WPC"/>
                  </a:rPr>
                  <a:t>, </a:t>
                </a:r>
                <a:r>
                  <a:rPr lang="es-PE" sz="900" b="0" i="0" dirty="0" err="1">
                    <a:solidFill>
                      <a:schemeClr val="tx1"/>
                    </a:solidFill>
                    <a:effectLst/>
                    <a:latin typeface="Segoe WPC"/>
                  </a:rPr>
                  <a:t>cyber</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legal/</a:t>
                </a:r>
                <a:r>
                  <a:rPr lang="es-PE" sz="900" b="0" i="0" dirty="0" err="1">
                    <a:solidFill>
                      <a:schemeClr val="tx1"/>
                    </a:solidFill>
                    <a:effectLst/>
                    <a:latin typeface="Segoe WPC"/>
                  </a:rPr>
                  <a:t>compliance</a:t>
                </a:r>
                <a:r>
                  <a:rPr lang="es-PE" sz="900" b="0" i="0" dirty="0">
                    <a:solidFill>
                      <a:schemeClr val="tx1"/>
                    </a:solidFill>
                    <a:effectLst/>
                    <a:latin typeface="Segoe WPC"/>
                  </a:rPr>
                  <a:t> </a:t>
                </a:r>
                <a:r>
                  <a:rPr lang="es-PE" sz="900" b="0" i="0" dirty="0" err="1">
                    <a:solidFill>
                      <a:schemeClr val="tx1"/>
                    </a:solidFill>
                    <a:effectLst/>
                    <a:latin typeface="Segoe WPC"/>
                  </a:rPr>
                  <a:t>failures</a:t>
                </a:r>
                <a:r>
                  <a:rPr lang="es-PE" sz="900" b="0" i="0" dirty="0">
                    <a:solidFill>
                      <a:schemeClr val="tx1"/>
                    </a:solidFill>
                    <a:effectLst/>
                    <a:latin typeface="Segoe WPC"/>
                  </a:rPr>
                  <a:t>, </a:t>
                </a:r>
                <a:r>
                  <a:rPr lang="es-PE" sz="900" b="0" i="0" dirty="0" err="1">
                    <a:solidFill>
                      <a:schemeClr val="tx1"/>
                    </a:solidFill>
                    <a:effectLst/>
                    <a:latin typeface="Segoe WPC"/>
                  </a:rPr>
                  <a:t>process</a:t>
                </a:r>
                <a:r>
                  <a:rPr lang="es-PE" sz="900" b="0" i="0" dirty="0">
                    <a:solidFill>
                      <a:schemeClr val="tx1"/>
                    </a:solidFill>
                    <a:effectLst/>
                    <a:latin typeface="Segoe WPC"/>
                  </a:rPr>
                  <a:t> </a:t>
                </a:r>
                <a:r>
                  <a:rPr lang="es-PE" sz="900" b="0" i="0" dirty="0" err="1">
                    <a:solidFill>
                      <a:schemeClr val="tx1"/>
                    </a:solidFill>
                    <a:effectLst/>
                    <a:latin typeface="Segoe WPC"/>
                  </a:rPr>
                  <a:t>errors</a:t>
                </a:r>
                <a:r>
                  <a:rPr lang="es-PE" sz="900" b="0" i="0" dirty="0">
                    <a:solidFill>
                      <a:schemeClr val="tx1"/>
                    </a:solidFill>
                    <a:effectLst/>
                    <a:latin typeface="Segoe WPC"/>
                  </a:rPr>
                  <a:t>, and </a:t>
                </a:r>
                <a:r>
                  <a:rPr lang="es-PE" sz="900" b="0" i="0" dirty="0" err="1">
                    <a:solidFill>
                      <a:schemeClr val="tx1"/>
                    </a:solidFill>
                    <a:effectLst/>
                    <a:latin typeface="Segoe WPC"/>
                  </a:rPr>
                  <a:t>system</a:t>
                </a:r>
                <a:r>
                  <a:rPr lang="es-PE" sz="900" b="0" i="0" dirty="0">
                    <a:solidFill>
                      <a:schemeClr val="tx1"/>
                    </a:solidFill>
                    <a:effectLst/>
                    <a:latin typeface="Segoe WPC"/>
                  </a:rPr>
                  <a:t> </a:t>
                </a:r>
                <a:r>
                  <a:rPr lang="es-PE" sz="900" b="0" i="0" dirty="0" err="1">
                    <a:solidFill>
                      <a:schemeClr val="tx1"/>
                    </a:solidFill>
                    <a:effectLst/>
                    <a:latin typeface="Segoe WPC"/>
                  </a:rPr>
                  <a:t>disruptions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Operational</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broad</a:t>
                </a:r>
                <a:r>
                  <a:rPr lang="es-PE" sz="900" b="0" i="0" dirty="0">
                    <a:solidFill>
                      <a:schemeClr val="tx1"/>
                    </a:solidFill>
                    <a:effectLst/>
                    <a:latin typeface="Segoe WPC"/>
                  </a:rPr>
                  <a:t> residual </a:t>
                </a:r>
                <a:r>
                  <a:rPr lang="es-PE" sz="900" b="0" i="0" dirty="0" err="1">
                    <a:solidFill>
                      <a:schemeClr val="tx1"/>
                    </a:solidFill>
                    <a:effectLst/>
                    <a:latin typeface="Segoe WPC"/>
                  </a:rPr>
                  <a:t>category</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back-office </a:t>
                </a:r>
                <a:r>
                  <a:rPr lang="es-PE" sz="900" b="0" i="0" dirty="0" err="1">
                    <a:solidFill>
                      <a:schemeClr val="tx1"/>
                    </a:solidFill>
                    <a:effectLst/>
                    <a:latin typeface="Segoe WPC"/>
                  </a:rPr>
                  <a:t>mistakes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3. </a:t>
                </a:r>
                <a:r>
                  <a:rPr lang="es-PE" sz="900" b="1" i="0" dirty="0" err="1">
                    <a:solidFill>
                      <a:schemeClr val="tx1"/>
                    </a:solidFill>
                    <a:effectLst/>
                    <a:latin typeface="Segoe WPC"/>
                  </a:rPr>
                  <a:t>Credit</a:t>
                </a:r>
                <a:r>
                  <a:rPr lang="es-PE" sz="900" b="1" i="0" dirty="0">
                    <a:solidFill>
                      <a:schemeClr val="tx1"/>
                    </a:solidFill>
                    <a:effectLst/>
                    <a:latin typeface="Segoe WPC"/>
                  </a:rPr>
                  <a:t> </a:t>
                </a:r>
                <a:r>
                  <a:rPr lang="es-PE" sz="900" b="1" i="0" dirty="0" err="1">
                    <a:solidFill>
                      <a:schemeClr val="tx1"/>
                    </a:solidFill>
                    <a:effectLst/>
                    <a:latin typeface="Segoe WPC"/>
                  </a:rPr>
                  <a:t>Losses</a:t>
                </a:r>
                <a:r>
                  <a:rPr lang="es-PE" sz="900" b="1" i="0" dirty="0">
                    <a:solidFill>
                      <a:schemeClr val="tx1"/>
                    </a:solidFill>
                    <a:effectLst/>
                    <a:latin typeface="Segoe WPC"/>
                  </a:rPr>
                  <a:t>, Capital, and </a:t>
                </a:r>
                <a:r>
                  <a:rPr lang="es-PE" sz="900" b="1" i="0" dirty="0" err="1">
                    <a:solidFill>
                      <a:schemeClr val="tx1"/>
                    </a:solidFill>
                    <a:effectLst/>
                    <a:latin typeface="Segoe WPC"/>
                  </a:rPr>
                  <a:t>Regulation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banks</a:t>
                </a:r>
                <a:r>
                  <a:rPr lang="es-PE" sz="900" b="0" i="0" dirty="0">
                    <a:solidFill>
                      <a:schemeClr val="tx1"/>
                    </a:solidFill>
                    <a:effectLst/>
                    <a:latin typeface="Segoe WPC"/>
                  </a:rPr>
                  <a:t> </a:t>
                </a:r>
                <a:r>
                  <a:rPr lang="es-PE" sz="900" b="0" i="0" dirty="0" err="1">
                    <a:solidFill>
                      <a:schemeClr val="tx1"/>
                    </a:solidFill>
                    <a:effectLst/>
                    <a:latin typeface="Segoe WPC"/>
                  </a:rPr>
                  <a:t>absorb</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and </a:t>
                </a:r>
                <a:r>
                  <a:rPr lang="es-PE" sz="900" b="0" i="0" dirty="0" err="1">
                    <a:solidFill>
                      <a:schemeClr val="tx1"/>
                    </a:solidFill>
                    <a:effectLst/>
                    <a:latin typeface="Segoe WPC"/>
                  </a:rPr>
                  <a:t>unexpected</a:t>
                </a:r>
                <a:r>
                  <a:rPr lang="es-PE" sz="900" b="0" i="0" dirty="0">
                    <a:solidFill>
                      <a:schemeClr val="tx1"/>
                    </a:solidFill>
                    <a:effectLst/>
                    <a:latin typeface="Segoe WPC"/>
                  </a:rPr>
                  <a:t> </a:t>
                </a:r>
                <a:r>
                  <a:rPr lang="es-PE" sz="900" b="0" i="0" dirty="0" err="1">
                    <a:solidFill>
                      <a:schemeClr val="tx1"/>
                    </a:solidFill>
                    <a:effectLst/>
                    <a:latin typeface="Segoe WPC"/>
                  </a:rPr>
                  <a:t>losses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losses</a:t>
                </a:r>
                <a:r>
                  <a:rPr lang="es-PE" sz="900" b="0" i="0" dirty="0">
                    <a:solidFill>
                      <a:schemeClr val="tx1"/>
                    </a:solidFill>
                    <a:effectLst/>
                    <a:latin typeface="Segoe WPC"/>
                  </a:rPr>
                  <a:t> are </a:t>
                </a:r>
                <a:r>
                  <a:rPr lang="es-PE" sz="900" b="0" i="0" dirty="0" err="1">
                    <a:solidFill>
                      <a:schemeClr val="tx1"/>
                    </a:solidFill>
                    <a:effectLst/>
                    <a:latin typeface="Segoe WPC"/>
                  </a:rPr>
                  <a:t>built</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pricing</a:t>
                </a:r>
                <a:r>
                  <a:rPr lang="es-PE" sz="900" b="0" i="0" dirty="0">
                    <a:solidFill>
                      <a:schemeClr val="tx1"/>
                    </a:solidFill>
                    <a:effectLst/>
                    <a:latin typeface="Segoe WPC"/>
                  </a:rPr>
                  <a:t> and </a:t>
                </a:r>
                <a:r>
                  <a:rPr lang="es-PE" sz="900" b="0" i="0" dirty="0" err="1">
                    <a:solidFill>
                      <a:schemeClr val="tx1"/>
                    </a:solidFill>
                    <a:effectLst/>
                    <a:latin typeface="Segoe WPC"/>
                  </a:rPr>
                  <a:t>accounting</a:t>
                </a:r>
                <a:r>
                  <a:rPr lang="es-PE" sz="900" b="0" i="0" dirty="0">
                    <a:solidFill>
                      <a:schemeClr val="tx1"/>
                    </a:solidFill>
                    <a:effectLst/>
                    <a:latin typeface="Segoe WPC"/>
                  </a:rPr>
                  <a:t> </a:t>
                </a:r>
                <a:r>
                  <a:rPr lang="es-PE" sz="900" b="0" i="0" dirty="0" err="1">
                    <a:solidFill>
                      <a:schemeClr val="tx1"/>
                    </a:solidFill>
                    <a:effectLst/>
                    <a:latin typeface="Segoe WPC"/>
                  </a:rPr>
                  <a:t>adjustments</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capital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held</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unexpected</a:t>
                </a:r>
                <a:r>
                  <a:rPr lang="es-PE" sz="900" b="0" i="0" dirty="0">
                    <a:solidFill>
                      <a:schemeClr val="tx1"/>
                    </a:solidFill>
                    <a:effectLst/>
                    <a:latin typeface="Segoe WPC"/>
                  </a:rPr>
                  <a:t> </a:t>
                </a:r>
                <a:r>
                  <a:rPr lang="es-PE" sz="900" b="0" i="0" dirty="0" err="1">
                    <a:solidFill>
                      <a:schemeClr val="tx1"/>
                    </a:solidFill>
                    <a:effectLst/>
                    <a:latin typeface="Segoe WPC"/>
                  </a:rPr>
                  <a:t>losses</a:t>
                </a:r>
                <a:r>
                  <a:rPr lang="es-PE" sz="900" b="0" i="0" dirty="0">
                    <a:solidFill>
                      <a:schemeClr val="tx1"/>
                    </a:solidFill>
                    <a:effectLst/>
                    <a:latin typeface="Segoe WPC"/>
                  </a:rPr>
                  <a:t>. </a:t>
                </a:r>
                <a:r>
                  <a:rPr lang="es-PE" sz="900" b="0" i="0" dirty="0" err="1">
                    <a:solidFill>
                      <a:schemeClr val="tx1"/>
                    </a:solidFill>
                    <a:effectLst/>
                    <a:latin typeface="Segoe WPC"/>
                  </a:rPr>
                  <a:t>Equity</a:t>
                </a:r>
                <a:r>
                  <a:rPr lang="es-PE" sz="900" b="0" i="0" dirty="0">
                    <a:solidFill>
                      <a:schemeClr val="tx1"/>
                    </a:solidFill>
                    <a:effectLst/>
                    <a:latin typeface="Segoe WPC"/>
                  </a:rPr>
                  <a:t> </a:t>
                </a:r>
                <a:r>
                  <a:rPr lang="es-PE" sz="900" b="0" i="0" dirty="0" err="1">
                    <a:solidFill>
                      <a:schemeClr val="tx1"/>
                    </a:solidFill>
                    <a:effectLst/>
                    <a:latin typeface="Segoe WPC"/>
                  </a:rPr>
                  <a:t>absorbs</a:t>
                </a:r>
                <a:r>
                  <a:rPr lang="es-PE" sz="900" b="0" i="0" dirty="0">
                    <a:solidFill>
                      <a:schemeClr val="tx1"/>
                    </a:solidFill>
                    <a:effectLst/>
                    <a:latin typeface="Segoe WPC"/>
                  </a:rPr>
                  <a:t> </a:t>
                </a:r>
                <a:r>
                  <a:rPr lang="es-PE" sz="900" b="0" i="0" dirty="0" err="1">
                    <a:solidFill>
                      <a:schemeClr val="tx1"/>
                    </a:solidFill>
                    <a:effectLst/>
                    <a:latin typeface="Segoe WPC"/>
                  </a:rPr>
                  <a:t>losses</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bank</a:t>
                </a:r>
                <a:r>
                  <a:rPr lang="es-PE" sz="900" b="0" i="0" dirty="0">
                    <a:solidFill>
                      <a:schemeClr val="tx1"/>
                    </a:solidFill>
                    <a:effectLst/>
                    <a:latin typeface="Segoe WPC"/>
                  </a:rPr>
                  <a:t> </a:t>
                </a:r>
                <a:r>
                  <a:rPr lang="es-PE" sz="900" b="0" i="0" dirty="0" err="1">
                    <a:solidFill>
                      <a:schemeClr val="tx1"/>
                    </a:solidFill>
                    <a:effectLst/>
                    <a:latin typeface="Segoe WPC"/>
                  </a:rPr>
                  <a:t>survives</a:t>
                </a:r>
                <a:r>
                  <a:rPr lang="es-PE" sz="900" b="0" i="0" dirty="0">
                    <a:solidFill>
                      <a:schemeClr val="tx1"/>
                    </a:solidFill>
                    <a:effectLst/>
                    <a:latin typeface="Segoe WPC"/>
                  </a:rPr>
                  <a:t>; </a:t>
                </a:r>
                <a:r>
                  <a:rPr lang="es-PE" sz="900" b="0" i="0" dirty="0" err="1">
                    <a:solidFill>
                      <a:schemeClr val="tx1"/>
                    </a:solidFill>
                    <a:effectLst/>
                    <a:latin typeface="Segoe WPC"/>
                  </a:rPr>
                  <a:t>debt</a:t>
                </a:r>
                <a:r>
                  <a:rPr lang="es-PE" sz="900" b="0" i="0" dirty="0">
                    <a:solidFill>
                      <a:schemeClr val="tx1"/>
                    </a:solidFill>
                    <a:effectLst/>
                    <a:latin typeface="Segoe WPC"/>
                  </a:rPr>
                  <a:t> capital </a:t>
                </a:r>
                <a:r>
                  <a:rPr lang="es-PE" sz="900" b="0" i="0" dirty="0" err="1">
                    <a:solidFill>
                      <a:schemeClr val="tx1"/>
                    </a:solidFill>
                    <a:effectLst/>
                    <a:latin typeface="Segoe WPC"/>
                  </a:rPr>
                  <a:t>absorbs</a:t>
                </a:r>
                <a:r>
                  <a:rPr lang="es-PE" sz="900" b="0" i="0" dirty="0">
                    <a:solidFill>
                      <a:schemeClr val="tx1"/>
                    </a:solidFill>
                    <a:effectLst/>
                    <a:latin typeface="Segoe WPC"/>
                  </a:rPr>
                  <a:t> </a:t>
                </a:r>
                <a:r>
                  <a:rPr lang="es-PE" sz="900" b="0" i="0" dirty="0" err="1">
                    <a:solidFill>
                      <a:schemeClr val="tx1"/>
                    </a:solidFill>
                    <a:effectLst/>
                    <a:latin typeface="Segoe WPC"/>
                  </a:rPr>
                  <a:t>losses</a:t>
                </a:r>
                <a:r>
                  <a:rPr lang="es-PE" sz="900" b="0" i="0" dirty="0">
                    <a:solidFill>
                      <a:schemeClr val="tx1"/>
                    </a:solidFill>
                    <a:effectLst/>
                    <a:latin typeface="Segoe WPC"/>
                  </a:rPr>
                  <a:t> after </a:t>
                </a:r>
                <a:r>
                  <a:rPr lang="es-PE" sz="900" b="0" i="0" dirty="0" err="1">
                    <a:solidFill>
                      <a:schemeClr val="tx1"/>
                    </a:solidFill>
                    <a:effectLst/>
                    <a:latin typeface="Segoe WPC"/>
                  </a:rPr>
                  <a:t>failure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Margins</a:t>
                </a:r>
                <a:r>
                  <a:rPr lang="es-PE" sz="900" b="0" i="0" dirty="0">
                    <a:solidFill>
                      <a:schemeClr val="tx1"/>
                    </a:solidFill>
                    <a:effectLst/>
                    <a:latin typeface="Segoe WPC"/>
                  </a:rPr>
                  <a:t> </a:t>
                </a:r>
                <a:r>
                  <a:rPr lang="es-PE" sz="900" b="0" i="0" dirty="0" err="1">
                    <a:solidFill>
                      <a:schemeClr val="tx1"/>
                    </a:solidFill>
                    <a:effectLst/>
                    <a:latin typeface="Segoe WPC"/>
                  </a:rPr>
                  <a:t>cover</a:t>
                </a:r>
                <a:r>
                  <a:rPr lang="es-PE" sz="900" b="0" i="0" dirty="0">
                    <a:solidFill>
                      <a:schemeClr val="tx1"/>
                    </a:solidFill>
                    <a:effectLst/>
                    <a:latin typeface="Segoe WPC"/>
                  </a:rPr>
                  <a:t> normal </a:t>
                </a:r>
                <a:r>
                  <a:rPr lang="es-PE" sz="900" b="0" i="0" dirty="0" err="1">
                    <a:solidFill>
                      <a:schemeClr val="tx1"/>
                    </a:solidFill>
                    <a:effectLst/>
                    <a:latin typeface="Segoe WPC"/>
                  </a:rPr>
                  <a:t>losses</a:t>
                </a:r>
                <a:r>
                  <a:rPr lang="es-PE" sz="900" b="0" i="0" dirty="0">
                    <a:solidFill>
                      <a:schemeClr val="tx1"/>
                    </a:solidFill>
                    <a:effectLst/>
                    <a:latin typeface="Segoe WPC"/>
                  </a:rPr>
                  <a:t>; capital </a:t>
                </a:r>
                <a:r>
                  <a:rPr lang="es-PE" sz="900" b="0" i="0" dirty="0" err="1">
                    <a:solidFill>
                      <a:schemeClr val="tx1"/>
                    </a:solidFill>
                    <a:effectLst/>
                    <a:latin typeface="Segoe WPC"/>
                  </a:rPr>
                  <a:t>covers</a:t>
                </a:r>
                <a:r>
                  <a:rPr lang="es-PE" sz="900" b="0" i="0" dirty="0">
                    <a:solidFill>
                      <a:schemeClr val="tx1"/>
                    </a:solidFill>
                    <a:effectLst/>
                    <a:latin typeface="Segoe WPC"/>
                  </a:rPr>
                  <a:t> stress </a:t>
                </a:r>
                <a:r>
                  <a:rPr lang="es-PE" sz="900" b="0" i="0" dirty="0" err="1">
                    <a:solidFill>
                      <a:schemeClr val="tx1"/>
                    </a:solidFill>
                    <a:effectLst/>
                    <a:latin typeface="Segoe WPC"/>
                  </a:rPr>
                  <a:t>losses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Required</a:t>
                </a:r>
                <a:r>
                  <a:rPr lang="es-PE" sz="900" b="0" i="0" dirty="0">
                    <a:solidFill>
                      <a:schemeClr val="tx1"/>
                    </a:solidFill>
                    <a:effectLst/>
                    <a:latin typeface="Segoe WPC"/>
                  </a:rPr>
                  <a:t> Capital = </a:t>
                </a:r>
                <a14:m>
                  <m:oMath xmlns:m="http://schemas.openxmlformats.org/officeDocument/2006/math">
                    <m:r>
                      <m:rPr>
                        <m:sty m:val="p"/>
                      </m:rPr>
                      <a:rPr lang="es-PE" sz="90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𝐼</m:t>
                        </m:r>
                      </m:e>
                      <m:e>
                        <m:r>
                          <a:rPr lang="ar-AE" sz="900" i="1">
                            <a:solidFill>
                              <a:schemeClr val="tx1"/>
                            </a:solidFill>
                            <a:latin typeface="Cambria Math" panose="02040503050406030204" pitchFamily="18" charset="0"/>
                          </a:rPr>
                          <m:t>𝑀𝐶</m:t>
                        </m:r>
                        <m:r>
                          <m:rPr>
                            <m:nor/>
                          </m:rPr>
                          <a:rPr lang="ar-AE" sz="900" b="0" i="1">
                            <a:solidFill>
                              <a:schemeClr val="tx1"/>
                            </a:solidFill>
                            <a:latin typeface="Cambria Math" panose="02040503050406030204" pitchFamily="18" charset="0"/>
                          </a:rPr>
                          <m:t>  </m:t>
                        </m:r>
                        <m:r>
                          <a:rPr lang="ar-AE" sz="900" b="0" i="0">
                            <a:solidFill>
                              <a:schemeClr val="tx1"/>
                            </a:solidFill>
                            <a:latin typeface="Cambria Math" panose="02040503050406030204" pitchFamily="18" charset="0"/>
                          </a:rPr>
                          <m:t>0</m:t>
                        </m:r>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725</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𝑆𝑀𝐶</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Regulatory</a:t>
                </a:r>
                <a:r>
                  <a:rPr lang="es-PE" sz="900" b="0" i="0" dirty="0">
                    <a:solidFill>
                      <a:schemeClr val="tx1"/>
                    </a:solidFill>
                    <a:effectLst/>
                    <a:latin typeface="Segoe WPC"/>
                  </a:rPr>
                  <a:t> capital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minimum</a:t>
                </a:r>
                <a:r>
                  <a:rPr lang="es-PE" sz="900" b="0" i="0" dirty="0">
                    <a:solidFill>
                      <a:schemeClr val="tx1"/>
                    </a:solidFill>
                    <a:effectLst/>
                    <a:latin typeface="Segoe WPC"/>
                  </a:rPr>
                  <a:t> </a:t>
                </a:r>
                <a:r>
                  <a:rPr lang="es-PE" sz="900" b="0" i="0" dirty="0" err="1">
                    <a:solidFill>
                      <a:schemeClr val="tx1"/>
                    </a:solidFill>
                    <a:effectLst/>
                    <a:latin typeface="Segoe WPC"/>
                  </a:rPr>
                  <a:t>required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regulators</a:t>
                </a:r>
                <a:r>
                  <a:rPr lang="es-PE" sz="900" b="0" i="0" dirty="0">
                    <a:solidFill>
                      <a:schemeClr val="tx1"/>
                    </a:solidFill>
                    <a:effectLst/>
                    <a:latin typeface="Segoe WPC"/>
                  </a:rPr>
                  <a:t>; </a:t>
                </a:r>
                <a:r>
                  <a:rPr lang="es-PE" sz="900" b="0" i="0" dirty="0" err="1">
                    <a:solidFill>
                      <a:schemeClr val="tx1"/>
                    </a:solidFill>
                    <a:effectLst/>
                    <a:latin typeface="Segoe WPC"/>
                  </a:rPr>
                  <a:t>economic</a:t>
                </a:r>
                <a:r>
                  <a:rPr lang="es-PE" sz="900" b="0" i="0" dirty="0">
                    <a:solidFill>
                      <a:schemeClr val="tx1"/>
                    </a:solidFill>
                    <a:effectLst/>
                    <a:latin typeface="Segoe WPC"/>
                  </a:rPr>
                  <a:t> capital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bank’s</a:t>
                </a:r>
                <a:r>
                  <a:rPr lang="es-PE" sz="900" b="0" i="0" dirty="0">
                    <a:solidFill>
                      <a:schemeClr val="tx1"/>
                    </a:solidFill>
                    <a:effectLst/>
                    <a:latin typeface="Segoe WPC"/>
                  </a:rPr>
                  <a:t> </a:t>
                </a:r>
                <a:r>
                  <a:rPr lang="es-PE" sz="900" b="0" i="0" dirty="0" err="1">
                    <a:solidFill>
                      <a:schemeClr val="tx1"/>
                    </a:solidFill>
                    <a:effectLst/>
                    <a:latin typeface="Segoe WPC"/>
                  </a:rPr>
                  <a:t>own</a:t>
                </a:r>
                <a:r>
                  <a:rPr lang="es-PE" sz="900" b="0" i="0" dirty="0">
                    <a:solidFill>
                      <a:schemeClr val="tx1"/>
                    </a:solidFill>
                    <a:effectLst/>
                    <a:latin typeface="Segoe WPC"/>
                  </a:rPr>
                  <a:t> </a:t>
                </a:r>
                <a:r>
                  <a:rPr lang="es-PE" sz="900" b="0" i="0" dirty="0" err="1">
                    <a:solidFill>
                      <a:schemeClr val="tx1"/>
                    </a:solidFill>
                    <a:effectLst/>
                    <a:latin typeface="Segoe WPC"/>
                  </a:rPr>
                  <a:t>estimate</a:t>
                </a:r>
                <a:r>
                  <a:rPr lang="es-PE" sz="900" b="0" i="0" dirty="0">
                    <a:solidFill>
                      <a:schemeClr val="tx1"/>
                    </a:solidFill>
                    <a:effectLst/>
                    <a:latin typeface="Segoe WPC"/>
                  </a:rPr>
                  <a:t>. </a:t>
                </a:r>
                <a:r>
                  <a:rPr lang="es-PE" sz="900" b="0" i="0" dirty="0" err="1">
                    <a:solidFill>
                      <a:schemeClr val="tx1"/>
                    </a:solidFill>
                    <a:effectLst/>
                    <a:latin typeface="Segoe WPC"/>
                  </a:rPr>
                  <a:t>Basel</a:t>
                </a:r>
                <a:r>
                  <a:rPr lang="es-PE" sz="900" b="0" i="0" dirty="0">
                    <a:solidFill>
                      <a:schemeClr val="tx1"/>
                    </a:solidFill>
                    <a:effectLst/>
                    <a:latin typeface="Segoe WPC"/>
                  </a:rPr>
                  <a:t> I set </a:t>
                </a:r>
                <a:r>
                  <a:rPr lang="es-PE" sz="900" b="0" i="0" dirty="0" err="1">
                    <a:solidFill>
                      <a:schemeClr val="tx1"/>
                    </a:solidFill>
                    <a:effectLst/>
                    <a:latin typeface="Segoe WPC"/>
                  </a:rPr>
                  <a:t>common</a:t>
                </a:r>
                <a:r>
                  <a:rPr lang="es-PE" sz="900" b="0" i="0" dirty="0">
                    <a:solidFill>
                      <a:schemeClr val="tx1"/>
                    </a:solidFill>
                    <a:effectLst/>
                    <a:latin typeface="Segoe WPC"/>
                  </a:rPr>
                  <a:t> capital rules, </a:t>
                </a:r>
                <a:r>
                  <a:rPr lang="es-PE" sz="900" b="0" i="0" dirty="0" err="1">
                    <a:solidFill>
                      <a:schemeClr val="tx1"/>
                    </a:solidFill>
                    <a:effectLst/>
                    <a:latin typeface="Segoe WPC"/>
                  </a:rPr>
                  <a:t>Basel</a:t>
                </a:r>
                <a:r>
                  <a:rPr lang="es-PE" sz="900" b="0" i="0" dirty="0">
                    <a:solidFill>
                      <a:schemeClr val="tx1"/>
                    </a:solidFill>
                    <a:effectLst/>
                    <a:latin typeface="Segoe WPC"/>
                  </a:rPr>
                  <a:t> II </a:t>
                </a:r>
                <a:r>
                  <a:rPr lang="es-PE" sz="900" b="0" i="0" dirty="0" err="1">
                    <a:solidFill>
                      <a:schemeClr val="tx1"/>
                    </a:solidFill>
                    <a:effectLst/>
                    <a:latin typeface="Segoe WPC"/>
                  </a:rPr>
                  <a:t>added</a:t>
                </a:r>
                <a:r>
                  <a:rPr lang="es-PE" sz="900" b="0" i="0" dirty="0">
                    <a:solidFill>
                      <a:schemeClr val="tx1"/>
                    </a:solidFill>
                    <a:effectLst/>
                    <a:latin typeface="Segoe WPC"/>
                  </a:rPr>
                  <a:t> </a:t>
                </a:r>
                <a:r>
                  <a:rPr lang="es-PE" sz="900" b="0" i="0" dirty="0" err="1">
                    <a:solidFill>
                      <a:schemeClr val="tx1"/>
                    </a:solidFill>
                    <a:effectLst/>
                    <a:latin typeface="Segoe WPC"/>
                  </a:rPr>
                  <a:t>operational</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and </a:t>
                </a:r>
                <a:r>
                  <a:rPr lang="es-PE" sz="900" b="0" i="0" dirty="0" err="1">
                    <a:solidFill>
                      <a:schemeClr val="tx1"/>
                    </a:solidFill>
                    <a:effectLst/>
                    <a:latin typeface="Segoe WPC"/>
                  </a:rPr>
                  <a:t>improved</a:t>
                </a:r>
                <a:r>
                  <a:rPr lang="es-PE" sz="900" b="0" i="0" dirty="0">
                    <a:solidFill>
                      <a:schemeClr val="tx1"/>
                    </a:solidFill>
                    <a:effectLst/>
                    <a:latin typeface="Segoe WPC"/>
                  </a:rPr>
                  <a:t> </a:t>
                </a:r>
                <a:r>
                  <a:rPr lang="es-PE" sz="900" b="0" i="0" dirty="0" err="1">
                    <a:solidFill>
                      <a:schemeClr val="tx1"/>
                    </a:solidFill>
                    <a:effectLst/>
                    <a:latin typeface="Segoe WPC"/>
                  </a:rPr>
                  <a:t>credit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treatment</a:t>
                </a:r>
                <a:r>
                  <a:rPr lang="es-PE" sz="900" b="0" i="0" dirty="0">
                    <a:solidFill>
                      <a:schemeClr val="tx1"/>
                    </a:solidFill>
                    <a:effectLst/>
                    <a:latin typeface="Segoe WPC"/>
                  </a:rPr>
                  <a:t>, and </a:t>
                </a:r>
                <a:r>
                  <a:rPr lang="es-PE" sz="900" b="0" i="0" dirty="0" err="1">
                    <a:solidFill>
                      <a:schemeClr val="tx1"/>
                    </a:solidFill>
                    <a:effectLst/>
                    <a:latin typeface="Segoe WPC"/>
                  </a:rPr>
                  <a:t>Basel</a:t>
                </a:r>
                <a:r>
                  <a:rPr lang="es-PE" sz="900" b="0" i="0" dirty="0">
                    <a:solidFill>
                      <a:schemeClr val="tx1"/>
                    </a:solidFill>
                    <a:effectLst/>
                    <a:latin typeface="Segoe WPC"/>
                  </a:rPr>
                  <a:t> III </a:t>
                </a:r>
                <a:r>
                  <a:rPr lang="es-PE" sz="900" b="0" i="0" dirty="0" err="1">
                    <a:solidFill>
                      <a:schemeClr val="tx1"/>
                    </a:solidFill>
                    <a:effectLst/>
                    <a:latin typeface="Segoe WPC"/>
                  </a:rPr>
                  <a:t>raised</a:t>
                </a:r>
                <a:r>
                  <a:rPr lang="es-PE" sz="900" b="0" i="0" dirty="0">
                    <a:solidFill>
                      <a:schemeClr val="tx1"/>
                    </a:solidFill>
                    <a:effectLst/>
                    <a:latin typeface="Segoe WPC"/>
                  </a:rPr>
                  <a:t> </a:t>
                </a:r>
                <a:r>
                  <a:rPr lang="es-PE" sz="900" b="0" i="0" dirty="0" err="1">
                    <a:solidFill>
                      <a:schemeClr val="tx1"/>
                    </a:solidFill>
                    <a:effectLst/>
                    <a:latin typeface="Segoe WPC"/>
                  </a:rPr>
                  <a:t>equity</a:t>
                </a:r>
                <a:r>
                  <a:rPr lang="es-PE" sz="900" b="0" i="0" dirty="0">
                    <a:solidFill>
                      <a:schemeClr val="tx1"/>
                    </a:solidFill>
                    <a:effectLst/>
                    <a:latin typeface="Segoe WPC"/>
                  </a:rPr>
                  <a:t> and </a:t>
                </a:r>
                <a:r>
                  <a:rPr lang="es-PE" sz="900" b="0" i="0" dirty="0" err="1">
                    <a:solidFill>
                      <a:schemeClr val="tx1"/>
                    </a:solidFill>
                    <a:effectLst/>
                    <a:latin typeface="Segoe WPC"/>
                  </a:rPr>
                  <a:t>tightened</a:t>
                </a:r>
                <a:r>
                  <a:rPr lang="es-PE" sz="900" b="0" i="0" dirty="0">
                    <a:solidFill>
                      <a:schemeClr val="tx1"/>
                    </a:solidFill>
                    <a:effectLst/>
                    <a:latin typeface="Segoe WPC"/>
                  </a:rPr>
                  <a:t> </a:t>
                </a:r>
                <a:r>
                  <a:rPr lang="es-PE" sz="900" b="0" i="0" dirty="0" err="1">
                    <a:solidFill>
                      <a:schemeClr val="tx1"/>
                    </a:solidFill>
                    <a:effectLst/>
                    <a:latin typeface="Segoe WPC"/>
                  </a:rPr>
                  <a:t>standards</a:t>
                </a:r>
                <a:r>
                  <a:rPr lang="es-PE" sz="900" b="0" i="0" dirty="0">
                    <a:solidFill>
                      <a:schemeClr val="tx1"/>
                    </a:solidFill>
                    <a:effectLst/>
                    <a:latin typeface="Segoe WPC"/>
                  </a:rPr>
                  <a:t> after </a:t>
                </a:r>
                <a:r>
                  <a:rPr lang="es-PE" sz="900" b="0" i="0" dirty="0" err="1">
                    <a:solidFill>
                      <a:schemeClr val="tx1"/>
                    </a:solidFill>
                    <a:effectLst/>
                    <a:latin typeface="Segoe WPC"/>
                  </a:rPr>
                  <a:t>the</a:t>
                </a:r>
                <a:r>
                  <a:rPr lang="es-PE" sz="900" b="0" i="0" dirty="0">
                    <a:solidFill>
                      <a:schemeClr val="tx1"/>
                    </a:solidFill>
                    <a:effectLst/>
                    <a:latin typeface="Segoe WPC"/>
                  </a:rPr>
                  <a:t> crisis.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Capital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mainly</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unexpected</a:t>
                </a:r>
                <a:r>
                  <a:rPr lang="es-PE" sz="900" b="0" i="0" dirty="0">
                    <a:solidFill>
                      <a:schemeClr val="tx1"/>
                    </a:solidFill>
                    <a:effectLst/>
                    <a:latin typeface="Segoe WPC"/>
                  </a:rPr>
                  <a:t> </a:t>
                </a:r>
                <a:r>
                  <a:rPr lang="es-PE" sz="900" b="0" i="0" dirty="0" err="1">
                    <a:solidFill>
                      <a:schemeClr val="tx1"/>
                    </a:solidFill>
                    <a:effectLst/>
                    <a:latin typeface="Segoe WPC"/>
                  </a:rPr>
                  <a:t>losses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losses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4. Trading Book, </a:t>
                </a:r>
                <a:r>
                  <a:rPr lang="es-PE" sz="900" b="1" i="0" dirty="0" err="1">
                    <a:solidFill>
                      <a:schemeClr val="tx1"/>
                    </a:solidFill>
                    <a:effectLst/>
                    <a:latin typeface="Segoe WPC"/>
                  </a:rPr>
                  <a:t>Banking</a:t>
                </a:r>
                <a:r>
                  <a:rPr lang="es-PE" sz="900" b="1" i="0" dirty="0">
                    <a:solidFill>
                      <a:schemeClr val="tx1"/>
                    </a:solidFill>
                    <a:effectLst/>
                    <a:latin typeface="Segoe WPC"/>
                  </a:rPr>
                  <a:t> Book, and </a:t>
                </a:r>
                <a:r>
                  <a:rPr lang="es-PE" sz="900" b="1" i="0" dirty="0" err="1">
                    <a:solidFill>
                      <a:schemeClr val="tx1"/>
                    </a:solidFill>
                    <a:effectLst/>
                    <a:latin typeface="Segoe WPC"/>
                  </a:rPr>
                  <a:t>Liquidity</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Regulatory</a:t>
                </a:r>
                <a:r>
                  <a:rPr lang="es-PE" sz="900" b="0" i="0" dirty="0">
                    <a:solidFill>
                      <a:schemeClr val="tx1"/>
                    </a:solidFill>
                    <a:effectLst/>
                    <a:latin typeface="Segoe WPC"/>
                  </a:rPr>
                  <a:t> </a:t>
                </a:r>
                <a:r>
                  <a:rPr lang="es-PE" sz="900" b="0" i="0" dirty="0" err="1">
                    <a:solidFill>
                      <a:schemeClr val="tx1"/>
                    </a:solidFill>
                    <a:effectLst/>
                    <a:latin typeface="Segoe WPC"/>
                  </a:rPr>
                  <a:t>treatment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positions and </a:t>
                </a:r>
                <a:r>
                  <a:rPr lang="es-PE" sz="900" b="0" i="0" dirty="0" err="1">
                    <a:solidFill>
                      <a:schemeClr val="tx1"/>
                    </a:solidFill>
                    <a:effectLst/>
                    <a:latin typeface="Segoe WPC"/>
                  </a:rPr>
                  <a:t>funding</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Trading </a:t>
                </a:r>
                <a:r>
                  <a:rPr lang="es-PE" sz="900" b="0" i="0" dirty="0" err="1">
                    <a:solidFill>
                      <a:schemeClr val="tx1"/>
                    </a:solidFill>
                    <a:effectLst/>
                    <a:latin typeface="Segoe WPC"/>
                  </a:rPr>
                  <a:t>book</a:t>
                </a:r>
                <a:r>
                  <a:rPr lang="es-PE" sz="900" b="0" i="0" dirty="0">
                    <a:solidFill>
                      <a:schemeClr val="tx1"/>
                    </a:solidFill>
                    <a:effectLst/>
                    <a:latin typeface="Segoe WPC"/>
                  </a:rPr>
                  <a:t> </a:t>
                </a:r>
                <a:r>
                  <a:rPr lang="es-PE" sz="900" b="0" i="0" dirty="0" err="1">
                    <a:solidFill>
                      <a:schemeClr val="tx1"/>
                    </a:solidFill>
                    <a:effectLst/>
                    <a:latin typeface="Segoe WPC"/>
                  </a:rPr>
                  <a:t>items</a:t>
                </a:r>
                <a:r>
                  <a:rPr lang="es-PE" sz="900" b="0" i="0" dirty="0">
                    <a:solidFill>
                      <a:schemeClr val="tx1"/>
                    </a:solidFill>
                    <a:effectLst/>
                    <a:latin typeface="Segoe WPC"/>
                  </a:rPr>
                  <a:t> are </a:t>
                </a:r>
                <a:r>
                  <a:rPr lang="es-PE" sz="900" b="0" i="0" dirty="0" err="1">
                    <a:solidFill>
                      <a:schemeClr val="tx1"/>
                    </a:solidFill>
                    <a:effectLst/>
                    <a:latin typeface="Segoe WPC"/>
                  </a:rPr>
                  <a:t>held</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trading and </a:t>
                </a:r>
                <a:r>
                  <a:rPr lang="es-PE" sz="900" b="0" i="0" dirty="0" err="1">
                    <a:solidFill>
                      <a:schemeClr val="tx1"/>
                    </a:solidFill>
                    <a:effectLst/>
                    <a:latin typeface="Segoe WPC"/>
                  </a:rPr>
                  <a:t>mainly</a:t>
                </a:r>
                <a:r>
                  <a:rPr lang="es-PE" sz="900" b="0" i="0" dirty="0">
                    <a:solidFill>
                      <a:schemeClr val="tx1"/>
                    </a:solidFill>
                    <a:effectLst/>
                    <a:latin typeface="Segoe WPC"/>
                  </a:rPr>
                  <a:t> </a:t>
                </a:r>
                <a:r>
                  <a:rPr lang="es-PE" sz="900" b="0" i="0" dirty="0" err="1">
                    <a:solidFill>
                      <a:schemeClr val="tx1"/>
                    </a:solidFill>
                    <a:effectLst/>
                    <a:latin typeface="Segoe WPC"/>
                  </a:rPr>
                  <a:t>attract</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capital; </a:t>
                </a:r>
                <a:r>
                  <a:rPr lang="es-PE" sz="900" b="0" i="0" dirty="0" err="1">
                    <a:solidFill>
                      <a:schemeClr val="tx1"/>
                    </a:solidFill>
                    <a:effectLst/>
                    <a:latin typeface="Segoe WPC"/>
                  </a:rPr>
                  <a:t>banking</a:t>
                </a:r>
                <a:r>
                  <a:rPr lang="es-PE" sz="900" b="0" i="0" dirty="0">
                    <a:solidFill>
                      <a:schemeClr val="tx1"/>
                    </a:solidFill>
                    <a:effectLst/>
                    <a:latin typeface="Segoe WPC"/>
                  </a:rPr>
                  <a:t> </a:t>
                </a:r>
                <a:r>
                  <a:rPr lang="es-PE" sz="900" b="0" i="0" dirty="0" err="1">
                    <a:solidFill>
                      <a:schemeClr val="tx1"/>
                    </a:solidFill>
                    <a:effectLst/>
                    <a:latin typeface="Segoe WPC"/>
                  </a:rPr>
                  <a:t>book</a:t>
                </a:r>
                <a:r>
                  <a:rPr lang="es-PE" sz="900" b="0" i="0" dirty="0">
                    <a:solidFill>
                      <a:schemeClr val="tx1"/>
                    </a:solidFill>
                    <a:effectLst/>
                    <a:latin typeface="Segoe WPC"/>
                  </a:rPr>
                  <a:t> </a:t>
                </a:r>
                <a:r>
                  <a:rPr lang="es-PE" sz="900" b="0" i="0" dirty="0" err="1">
                    <a:solidFill>
                      <a:schemeClr val="tx1"/>
                    </a:solidFill>
                    <a:effectLst/>
                    <a:latin typeface="Segoe WPC"/>
                  </a:rPr>
                  <a:t>items</a:t>
                </a:r>
                <a:r>
                  <a:rPr lang="es-PE" sz="900" b="0" i="0" dirty="0">
                    <a:solidFill>
                      <a:schemeClr val="tx1"/>
                    </a:solidFill>
                    <a:effectLst/>
                    <a:latin typeface="Segoe WPC"/>
                  </a:rPr>
                  <a:t> are </a:t>
                </a:r>
                <a:r>
                  <a:rPr lang="es-PE" sz="900" b="0" i="0" dirty="0" err="1">
                    <a:solidFill>
                      <a:schemeClr val="tx1"/>
                    </a:solidFill>
                    <a:effectLst/>
                    <a:latin typeface="Segoe WPC"/>
                  </a:rPr>
                  <a:t>generally</a:t>
                </a:r>
                <a:r>
                  <a:rPr lang="es-PE" sz="900" b="0" i="0" dirty="0">
                    <a:solidFill>
                      <a:schemeClr val="tx1"/>
                    </a:solidFill>
                    <a:effectLst/>
                    <a:latin typeface="Segoe WPC"/>
                  </a:rPr>
                  <a:t> </a:t>
                </a:r>
                <a:r>
                  <a:rPr lang="es-PE" sz="900" b="0" i="0" dirty="0" err="1">
                    <a:solidFill>
                      <a:schemeClr val="tx1"/>
                    </a:solidFill>
                    <a:effectLst/>
                    <a:latin typeface="Segoe WPC"/>
                  </a:rPr>
                  <a:t>held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 and </a:t>
                </a:r>
                <a:r>
                  <a:rPr lang="es-PE" sz="900" b="0" i="0" dirty="0" err="1">
                    <a:solidFill>
                      <a:schemeClr val="tx1"/>
                    </a:solidFill>
                    <a:effectLst/>
                    <a:latin typeface="Segoe WPC"/>
                  </a:rPr>
                  <a:t>mainly</a:t>
                </a:r>
                <a:r>
                  <a:rPr lang="es-PE" sz="900" b="0" i="0" dirty="0">
                    <a:solidFill>
                      <a:schemeClr val="tx1"/>
                    </a:solidFill>
                    <a:effectLst/>
                    <a:latin typeface="Segoe WPC"/>
                  </a:rPr>
                  <a:t> </a:t>
                </a:r>
                <a:r>
                  <a:rPr lang="es-PE" sz="900" b="0" i="0" dirty="0" err="1">
                    <a:solidFill>
                      <a:schemeClr val="tx1"/>
                    </a:solidFill>
                    <a:effectLst/>
                    <a:latin typeface="Segoe WPC"/>
                  </a:rPr>
                  <a:t>attract</a:t>
                </a:r>
                <a:r>
                  <a:rPr lang="es-PE" sz="900" b="0" i="0" dirty="0">
                    <a:solidFill>
                      <a:schemeClr val="tx1"/>
                    </a:solidFill>
                    <a:effectLst/>
                    <a:latin typeface="Segoe WPC"/>
                  </a:rPr>
                  <a:t> </a:t>
                </a:r>
                <a:r>
                  <a:rPr lang="es-PE" sz="900" b="0" i="0" dirty="0" err="1">
                    <a:solidFill>
                      <a:schemeClr val="tx1"/>
                    </a:solidFill>
                    <a:effectLst/>
                    <a:latin typeface="Segoe WPC"/>
                  </a:rPr>
                  <a:t>credit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capital. </a:t>
                </a:r>
                <a:r>
                  <a:rPr lang="es-PE" sz="900" b="0" i="0" dirty="0" err="1">
                    <a:solidFill>
                      <a:schemeClr val="tx1"/>
                    </a:solidFill>
                    <a:effectLst/>
                    <a:latin typeface="Segoe WPC"/>
                  </a:rPr>
                  <a:t>Separately</a:t>
                </a:r>
                <a:r>
                  <a:rPr lang="es-PE" sz="900" b="0" i="0" dirty="0">
                    <a:solidFill>
                      <a:schemeClr val="tx1"/>
                    </a:solidFill>
                    <a:effectLst/>
                    <a:latin typeface="Segoe WPC"/>
                  </a:rPr>
                  <a:t>, a </a:t>
                </a:r>
                <a:r>
                  <a:rPr lang="es-PE" sz="900" b="0" i="0" dirty="0" err="1">
                    <a:solidFill>
                      <a:schemeClr val="tx1"/>
                    </a:solidFill>
                    <a:effectLst/>
                    <a:latin typeface="Segoe WPC"/>
                  </a:rPr>
                  <a:t>bank</a:t>
                </a:r>
                <a:r>
                  <a:rPr lang="es-PE" sz="900" b="0" i="0" dirty="0">
                    <a:solidFill>
                      <a:schemeClr val="tx1"/>
                    </a:solidFill>
                    <a:effectLst/>
                    <a:latin typeface="Segoe WPC"/>
                  </a:rPr>
                  <a:t> can </a:t>
                </a:r>
                <a:r>
                  <a:rPr lang="es-PE" sz="900" b="0" i="0" dirty="0" err="1">
                    <a:solidFill>
                      <a:schemeClr val="tx1"/>
                    </a:solidFill>
                    <a:effectLst/>
                    <a:latin typeface="Segoe WPC"/>
                  </a:rPr>
                  <a:t>fail</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short-</a:t>
                </a:r>
                <a:r>
                  <a:rPr lang="es-PE" sz="900" b="0" i="0" dirty="0" err="1">
                    <a:solidFill>
                      <a:schemeClr val="tx1"/>
                    </a:solidFill>
                    <a:effectLst/>
                    <a:latin typeface="Segoe WPC"/>
                  </a:rPr>
                  <a:t>term</a:t>
                </a:r>
                <a:r>
                  <a:rPr lang="es-PE" sz="900" b="0" i="0" dirty="0">
                    <a:solidFill>
                      <a:schemeClr val="tx1"/>
                    </a:solidFill>
                    <a:effectLst/>
                    <a:latin typeface="Segoe WPC"/>
                  </a:rPr>
                  <a:t> </a:t>
                </a:r>
                <a:r>
                  <a:rPr lang="es-PE" sz="900" b="0" i="0" dirty="0" err="1">
                    <a:solidFill>
                      <a:schemeClr val="tx1"/>
                    </a:solidFill>
                    <a:effectLst/>
                    <a:latin typeface="Segoe WPC"/>
                  </a:rPr>
                  <a:t>funding</a:t>
                </a:r>
                <a:r>
                  <a:rPr lang="es-PE" sz="900" b="0" i="0" dirty="0">
                    <a:solidFill>
                      <a:schemeClr val="tx1"/>
                    </a:solidFill>
                    <a:effectLst/>
                    <a:latin typeface="Segoe WPC"/>
                  </a:rPr>
                  <a:t> </a:t>
                </a:r>
                <a:r>
                  <a:rPr lang="es-PE" sz="900" b="0" i="0" dirty="0" err="1">
                    <a:solidFill>
                      <a:schemeClr val="tx1"/>
                    </a:solidFill>
                    <a:effectLst/>
                    <a:latin typeface="Segoe WPC"/>
                  </a:rPr>
                  <a:t>disappears</a:t>
                </a:r>
                <a:r>
                  <a:rPr lang="es-PE" sz="900" b="0" i="0" dirty="0">
                    <a:solidFill>
                      <a:schemeClr val="tx1"/>
                    </a:solidFill>
                    <a:effectLst/>
                    <a:latin typeface="Segoe WPC"/>
                  </a:rPr>
                  <a:t> </a:t>
                </a:r>
                <a:r>
                  <a:rPr lang="es-PE" sz="900" b="0" i="0" dirty="0" err="1">
                    <a:solidFill>
                      <a:schemeClr val="tx1"/>
                    </a:solidFill>
                    <a:effectLst/>
                    <a:latin typeface="Segoe WPC"/>
                  </a:rPr>
                  <a:t>before</a:t>
                </a:r>
                <a:r>
                  <a:rPr lang="es-PE" sz="900" b="0" i="0" dirty="0">
                    <a:solidFill>
                      <a:schemeClr val="tx1"/>
                    </a:solidFill>
                    <a:effectLst/>
                    <a:latin typeface="Segoe WPC"/>
                  </a:rPr>
                  <a:t> </a:t>
                </a:r>
                <a:r>
                  <a:rPr lang="es-PE" sz="900" b="0" i="0" dirty="0" err="1">
                    <a:solidFill>
                      <a:schemeClr val="tx1"/>
                    </a:solidFill>
                    <a:effectLst/>
                    <a:latin typeface="Segoe WPC"/>
                  </a:rPr>
                  <a:t>long-term</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t>
                </a:r>
                <a:r>
                  <a:rPr lang="es-PE" sz="900" b="0" i="0" dirty="0" err="1">
                    <a:solidFill>
                      <a:schemeClr val="tx1"/>
                    </a:solidFill>
                    <a:effectLst/>
                    <a:latin typeface="Segoe WPC"/>
                  </a:rPr>
                  <a:t>mature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Dealer </a:t>
                </a:r>
                <a:r>
                  <a:rPr lang="es-PE" sz="900" b="0" i="0" dirty="0" err="1">
                    <a:solidFill>
                      <a:schemeClr val="tx1"/>
                    </a:solidFill>
                    <a:effectLst/>
                    <a:latin typeface="Segoe WPC"/>
                  </a:rPr>
                  <a:t>inventory</a:t>
                </a:r>
                <a:r>
                  <a:rPr lang="es-PE" sz="900" b="0" i="0" dirty="0">
                    <a:solidFill>
                      <a:schemeClr val="tx1"/>
                    </a:solidFill>
                    <a:effectLst/>
                    <a:latin typeface="Segoe WPC"/>
                  </a:rPr>
                  <a:t> versus </a:t>
                </a:r>
                <a:r>
                  <a:rPr lang="es-PE" sz="900" b="0" i="0" dirty="0" err="1">
                    <a:solidFill>
                      <a:schemeClr val="tx1"/>
                    </a:solidFill>
                    <a:effectLst/>
                    <a:latin typeface="Segoe WPC"/>
                  </a:rPr>
                  <a:t>hold-to-collect</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short-</a:t>
                </a:r>
                <a:r>
                  <a:rPr lang="es-PE" sz="900" b="0" i="0" dirty="0" err="1">
                    <a:solidFill>
                      <a:schemeClr val="tx1"/>
                    </a:solidFill>
                    <a:effectLst/>
                    <a:latin typeface="Segoe WPC"/>
                  </a:rPr>
                  <a:t>term</a:t>
                </a:r>
                <a:r>
                  <a:rPr lang="es-PE" sz="900" b="0" i="0" dirty="0">
                    <a:solidFill>
                      <a:schemeClr val="tx1"/>
                    </a:solidFill>
                    <a:effectLst/>
                    <a:latin typeface="Segoe WPC"/>
                  </a:rPr>
                  <a:t> </a:t>
                </a:r>
                <a:r>
                  <a:rPr lang="es-PE" sz="900" b="0" i="0" dirty="0" err="1">
                    <a:solidFill>
                      <a:schemeClr val="tx1"/>
                    </a:solidFill>
                    <a:effectLst/>
                    <a:latin typeface="Segoe WPC"/>
                  </a:rPr>
                  <a:t>funding</a:t>
                </a:r>
                <a:r>
                  <a:rPr lang="es-PE" sz="900" b="0" i="0" dirty="0">
                    <a:solidFill>
                      <a:schemeClr val="tx1"/>
                    </a:solidFill>
                    <a:effectLst/>
                    <a:latin typeface="Segoe WPC"/>
                  </a:rPr>
                  <a:t> </a:t>
                </a:r>
                <a:r>
                  <a:rPr lang="es-PE" sz="900" b="0" i="0" dirty="0" err="1">
                    <a:solidFill>
                      <a:schemeClr val="tx1"/>
                    </a:solidFill>
                    <a:effectLst/>
                    <a:latin typeface="Segoe WPC"/>
                  </a:rPr>
                  <a:t>supporting</a:t>
                </a:r>
                <a:r>
                  <a:rPr lang="es-PE" sz="900" b="0" i="0" dirty="0">
                    <a:solidFill>
                      <a:schemeClr val="tx1"/>
                    </a:solidFill>
                    <a:effectLst/>
                    <a:latin typeface="Segoe WPC"/>
                  </a:rPr>
                  <a:t> </a:t>
                </a:r>
                <a:r>
                  <a:rPr lang="es-PE" sz="900" b="0" i="0" dirty="0" err="1">
                    <a:solidFill>
                      <a:schemeClr val="tx1"/>
                    </a:solidFill>
                    <a:effectLst/>
                    <a:latin typeface="Segoe WPC"/>
                  </a:rPr>
                  <a:t>long-term</a:t>
                </a:r>
                <a:r>
                  <a:rPr lang="es-PE" sz="900" b="0" i="0" dirty="0">
                    <a:solidFill>
                      <a:schemeClr val="tx1"/>
                    </a:solidFill>
                    <a:effectLst/>
                    <a:latin typeface="Segoe WPC"/>
                  </a:rPr>
                  <a:t> </a:t>
                </a:r>
                <a:r>
                  <a:rPr lang="es-PE" sz="900" b="0" i="0" dirty="0" err="1">
                    <a:solidFill>
                      <a:schemeClr val="tx1"/>
                    </a:solidFill>
                    <a:effectLst/>
                    <a:latin typeface="Segoe WPC"/>
                  </a:rPr>
                  <a:t>loans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single formula; </a:t>
                </a:r>
                <a:r>
                  <a:rPr lang="es-PE" sz="900" b="0" i="0" dirty="0" err="1">
                    <a:solidFill>
                      <a:schemeClr val="tx1"/>
                    </a:solidFill>
                    <a:effectLst/>
                    <a:latin typeface="Segoe WPC"/>
                  </a:rPr>
                  <a:t>key</a:t>
                </a:r>
                <a:r>
                  <a:rPr lang="es-PE" sz="900" b="0" i="0" dirty="0">
                    <a:solidFill>
                      <a:schemeClr val="tx1"/>
                    </a:solidFill>
                    <a:effectLst/>
                    <a:latin typeface="Segoe WPC"/>
                  </a:rPr>
                  <a:t> </a:t>
                </a:r>
                <a:r>
                  <a:rPr lang="es-PE" sz="900" b="0" i="0" dirty="0" err="1">
                    <a:solidFill>
                      <a:schemeClr val="tx1"/>
                    </a:solidFill>
                    <a:effectLst/>
                    <a:latin typeface="Segoe WPC"/>
                  </a:rPr>
                  <a:t>Basel</a:t>
                </a:r>
                <a:r>
                  <a:rPr lang="es-PE" sz="900" b="0" i="0" dirty="0">
                    <a:solidFill>
                      <a:schemeClr val="tx1"/>
                    </a:solidFill>
                    <a:effectLst/>
                    <a:latin typeface="Segoe WPC"/>
                  </a:rPr>
                  <a:t> III </a:t>
                </a:r>
                <a:r>
                  <a:rPr lang="es-PE" sz="900" b="0" i="0" dirty="0" err="1">
                    <a:solidFill>
                      <a:schemeClr val="tx1"/>
                    </a:solidFill>
                    <a:effectLst/>
                    <a:latin typeface="Segoe WPC"/>
                  </a:rPr>
                  <a:t>tools</a:t>
                </a:r>
                <a:r>
                  <a:rPr lang="es-PE" sz="900" b="0" i="0" dirty="0">
                    <a:solidFill>
                      <a:schemeClr val="tx1"/>
                    </a:solidFill>
                    <a:effectLst/>
                    <a:latin typeface="Segoe WPC"/>
                  </a:rPr>
                  <a:t> are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Liquidity</a:t>
                </a:r>
                <a:r>
                  <a:rPr lang="es-PE" sz="900" b="0" i="0" dirty="0">
                    <a:solidFill>
                      <a:schemeClr val="tx1"/>
                    </a:solidFill>
                    <a:effectLst/>
                    <a:latin typeface="Segoe WPC"/>
                  </a:rPr>
                  <a:t> </a:t>
                </a:r>
                <a:r>
                  <a:rPr lang="es-PE" sz="900" b="0" i="0" dirty="0" err="1">
                    <a:solidFill>
                      <a:schemeClr val="tx1"/>
                    </a:solidFill>
                    <a:effectLst/>
                    <a:latin typeface="Segoe WPC"/>
                  </a:rPr>
                  <a:t>Coverage</a:t>
                </a:r>
                <a:r>
                  <a:rPr lang="es-PE" sz="900" b="0" i="0" dirty="0">
                    <a:solidFill>
                      <a:schemeClr val="tx1"/>
                    </a:solidFill>
                    <a:effectLst/>
                    <a:latin typeface="Segoe WPC"/>
                  </a:rPr>
                  <a:t> Ratio and Net </a:t>
                </a:r>
                <a:r>
                  <a:rPr lang="es-PE" sz="900" b="0" i="0" dirty="0" err="1">
                    <a:solidFill>
                      <a:schemeClr val="tx1"/>
                    </a:solidFill>
                    <a:effectLst/>
                    <a:latin typeface="Segoe WPC"/>
                  </a:rPr>
                  <a:t>Stable</a:t>
                </a:r>
                <a:r>
                  <a:rPr lang="es-PE" sz="900" b="0" i="0" dirty="0">
                    <a:solidFill>
                      <a:schemeClr val="tx1"/>
                    </a:solidFill>
                    <a:effectLst/>
                    <a:latin typeface="Segoe WPC"/>
                  </a:rPr>
                  <a:t> </a:t>
                </a:r>
                <a:r>
                  <a:rPr lang="es-PE" sz="900" b="0" i="0" dirty="0" err="1">
                    <a:solidFill>
                      <a:schemeClr val="tx1"/>
                    </a:solidFill>
                    <a:effectLst/>
                    <a:latin typeface="Segoe WPC"/>
                  </a:rPr>
                  <a:t>Funding</a:t>
                </a:r>
                <a:r>
                  <a:rPr lang="es-PE" sz="900" b="0" i="0" dirty="0">
                    <a:solidFill>
                      <a:schemeClr val="tx1"/>
                    </a:solidFill>
                    <a:effectLst/>
                    <a:latin typeface="Segoe WPC"/>
                  </a:rPr>
                  <a:t> Ratio.</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Liquidity</a:t>
                </a:r>
                <a:r>
                  <a:rPr lang="es-PE" sz="900" b="0" i="0" dirty="0">
                    <a:solidFill>
                      <a:schemeClr val="tx1"/>
                    </a:solidFill>
                    <a:effectLst/>
                    <a:latin typeface="Segoe WPC"/>
                  </a:rPr>
                  <a:t> </a:t>
                </a:r>
                <a:r>
                  <a:rPr lang="es-PE" sz="900" b="0" i="0" dirty="0" err="1">
                    <a:solidFill>
                      <a:schemeClr val="tx1"/>
                    </a:solidFill>
                    <a:effectLst/>
                    <a:latin typeface="Segoe WPC"/>
                  </a:rPr>
                  <a:t>Coverage</a:t>
                </a:r>
                <a:r>
                  <a:rPr lang="es-PE" sz="900" b="0" i="0" dirty="0">
                    <a:solidFill>
                      <a:schemeClr val="tx1"/>
                    </a:solidFill>
                    <a:effectLst/>
                    <a:latin typeface="Segoe WPC"/>
                  </a:rPr>
                  <a:t> Ratio </a:t>
                </a:r>
                <a:r>
                  <a:rPr lang="es-PE" sz="900" b="0" i="0" dirty="0" err="1">
                    <a:solidFill>
                      <a:schemeClr val="tx1"/>
                    </a:solidFill>
                    <a:effectLst/>
                    <a:latin typeface="Segoe WPC"/>
                  </a:rPr>
                  <a:t>protects</a:t>
                </a:r>
                <a:r>
                  <a:rPr lang="es-PE" sz="900" b="0" i="0" dirty="0">
                    <a:solidFill>
                      <a:schemeClr val="tx1"/>
                    </a:solidFill>
                    <a:effectLst/>
                    <a:latin typeface="Segoe WPC"/>
                  </a:rPr>
                  <a:t> </a:t>
                </a:r>
                <a:r>
                  <a:rPr lang="es-PE" sz="900" b="0" i="0" dirty="0" err="1">
                    <a:solidFill>
                      <a:schemeClr val="tx1"/>
                    </a:solidFill>
                    <a:effectLst/>
                    <a:latin typeface="Segoe WPC"/>
                  </a:rPr>
                  <a:t>against</a:t>
                </a:r>
                <a:r>
                  <a:rPr lang="es-PE" sz="900" b="0" i="0" dirty="0">
                    <a:solidFill>
                      <a:schemeClr val="tx1"/>
                    </a:solidFill>
                    <a:effectLst/>
                    <a:latin typeface="Segoe WPC"/>
                  </a:rPr>
                  <a:t> a 30-day stress </a:t>
                </a:r>
                <a:r>
                  <a:rPr lang="es-PE" sz="900" b="0" i="0" dirty="0" err="1">
                    <a:solidFill>
                      <a:schemeClr val="tx1"/>
                    </a:solidFill>
                    <a:effectLst/>
                    <a:latin typeface="Segoe WPC"/>
                  </a:rPr>
                  <a:t>scenario</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Net </a:t>
                </a:r>
                <a:r>
                  <a:rPr lang="es-PE" sz="900" b="0" i="0" dirty="0" err="1">
                    <a:solidFill>
                      <a:schemeClr val="tx1"/>
                    </a:solidFill>
                    <a:effectLst/>
                    <a:latin typeface="Segoe WPC"/>
                  </a:rPr>
                  <a:t>Stable</a:t>
                </a:r>
                <a:r>
                  <a:rPr lang="es-PE" sz="900" b="0" i="0" dirty="0">
                    <a:solidFill>
                      <a:schemeClr val="tx1"/>
                    </a:solidFill>
                    <a:effectLst/>
                    <a:latin typeface="Segoe WPC"/>
                  </a:rPr>
                  <a:t> </a:t>
                </a:r>
                <a:r>
                  <a:rPr lang="es-PE" sz="900" b="0" i="0" dirty="0" err="1">
                    <a:solidFill>
                      <a:schemeClr val="tx1"/>
                    </a:solidFill>
                    <a:effectLst/>
                    <a:latin typeface="Segoe WPC"/>
                  </a:rPr>
                  <a:t>Funding</a:t>
                </a:r>
                <a:r>
                  <a:rPr lang="es-PE" sz="900" b="0" i="0" dirty="0">
                    <a:solidFill>
                      <a:schemeClr val="tx1"/>
                    </a:solidFill>
                    <a:effectLst/>
                    <a:latin typeface="Segoe WPC"/>
                  </a:rPr>
                  <a:t> Ratio </a:t>
                </a:r>
                <a:r>
                  <a:rPr lang="es-PE" sz="900" b="0" i="0" dirty="0" err="1">
                    <a:solidFill>
                      <a:schemeClr val="tx1"/>
                    </a:solidFill>
                    <a:effectLst/>
                    <a:latin typeface="Segoe WPC"/>
                  </a:rPr>
                  <a:t>limits</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 </a:t>
                </a:r>
                <a:r>
                  <a:rPr lang="es-PE" sz="900" b="0" i="0" dirty="0" err="1">
                    <a:solidFill>
                      <a:schemeClr val="tx1"/>
                    </a:solidFill>
                    <a:effectLst/>
                    <a:latin typeface="Segoe WPC"/>
                  </a:rPr>
                  <a:t>mismatch</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bank</a:t>
                </a:r>
                <a:r>
                  <a:rPr lang="es-PE" sz="900" b="0" i="0" dirty="0">
                    <a:solidFill>
                      <a:schemeClr val="tx1"/>
                    </a:solidFill>
                    <a:effectLst/>
                    <a:latin typeface="Segoe WPC"/>
                  </a:rPr>
                  <a:t> can be </a:t>
                </a:r>
                <a:r>
                  <a:rPr lang="es-PE" sz="900" b="0" i="0" dirty="0" err="1">
                    <a:solidFill>
                      <a:schemeClr val="tx1"/>
                    </a:solidFill>
                    <a:effectLst/>
                    <a:latin typeface="Segoe WPC"/>
                  </a:rPr>
                  <a:t>solvent</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still</a:t>
                </a:r>
                <a:r>
                  <a:rPr lang="es-PE" sz="900" b="0" i="0" dirty="0">
                    <a:solidFill>
                      <a:schemeClr val="tx1"/>
                    </a:solidFill>
                    <a:effectLst/>
                    <a:latin typeface="Segoe WPC"/>
                  </a:rPr>
                  <a:t> </a:t>
                </a:r>
                <a:r>
                  <a:rPr lang="es-PE" sz="900" b="0" i="0" dirty="0" err="1">
                    <a:solidFill>
                      <a:schemeClr val="tx1"/>
                    </a:solidFill>
                    <a:effectLst/>
                    <a:latin typeface="Segoe WPC"/>
                  </a:rPr>
                  <a:t>fail</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liquidity</a:t>
                </a:r>
                <a:r>
                  <a:rPr lang="es-PE" sz="900" b="0" i="0" dirty="0">
                    <a:solidFill>
                      <a:schemeClr val="tx1"/>
                    </a:solidFill>
                    <a:effectLst/>
                    <a:latin typeface="Segoe WPC"/>
                  </a:rPr>
                  <a:t> </a:t>
                </a:r>
                <a:r>
                  <a:rPr lang="es-PE" sz="900" b="0" i="0" dirty="0" err="1">
                    <a:solidFill>
                      <a:schemeClr val="tx1"/>
                    </a:solidFill>
                    <a:effectLst/>
                    <a:latin typeface="Segoe WPC"/>
                  </a:rPr>
                  <a:t>problems</a:t>
                </a:r>
                <a:r>
                  <a:rPr lang="es-PE" sz="900" b="0" i="0" dirty="0">
                    <a:solidFill>
                      <a:schemeClr val="tx1"/>
                    </a:solidFill>
                    <a:effectLst/>
                    <a:latin typeface="Segoe WPC"/>
                  </a:rPr>
                  <a:t>.</a:t>
                </a:r>
              </a:p>
            </p:txBody>
          </p:sp>
        </mc:Choice>
        <mc:Fallback xmlns="">
          <p:sp>
            <p:nvSpPr>
              <p:cNvPr id="9" name="CuadroTexto 8">
                <a:extLst>
                  <a:ext uri="{FF2B5EF4-FFF2-40B4-BE49-F238E27FC236}">
                    <a16:creationId xmlns:a16="http://schemas.microsoft.com/office/drawing/2014/main" id="{061CDBFC-67B9-42A2-D403-1EFEDD1AC8FE}"/>
                  </a:ext>
                </a:extLst>
              </p:cNvPr>
              <p:cNvSpPr txBox="1">
                <a:spLocks noRot="1" noChangeAspect="1" noMove="1" noResize="1" noEditPoints="1" noAdjustHandles="1" noChangeArrowheads="1" noChangeShapeType="1" noTextEdit="1"/>
              </p:cNvSpPr>
              <p:nvPr/>
            </p:nvSpPr>
            <p:spPr>
              <a:xfrm>
                <a:off x="0" y="206216"/>
                <a:ext cx="6157684" cy="6093976"/>
              </a:xfrm>
              <a:prstGeom prst="rect">
                <a:avLst/>
              </a:prstGeom>
              <a:blipFill>
                <a:blip r:embed="rId2"/>
                <a:stretch>
                  <a:fillRect/>
                </a:stretch>
              </a:blipFill>
            </p:spPr>
            <p:txBody>
              <a:bodyPr/>
              <a:lstStyle/>
              <a:p>
                <a:r>
                  <a:rPr lang="es-PE">
                    <a:noFill/>
                  </a:rPr>
                  <a:t> </a:t>
                </a:r>
              </a:p>
            </p:txBody>
          </p:sp>
        </mc:Fallback>
      </mc:AlternateContent>
      <p:sp>
        <p:nvSpPr>
          <p:cNvPr id="11" name="CuadroTexto 10">
            <a:extLst>
              <a:ext uri="{FF2B5EF4-FFF2-40B4-BE49-F238E27FC236}">
                <a16:creationId xmlns:a16="http://schemas.microsoft.com/office/drawing/2014/main" id="{21C35323-BC35-AC53-B2DE-2B8324214E3F}"/>
              </a:ext>
            </a:extLst>
          </p:cNvPr>
          <p:cNvSpPr txBox="1"/>
          <p:nvPr/>
        </p:nvSpPr>
        <p:spPr>
          <a:xfrm>
            <a:off x="6034316" y="340869"/>
            <a:ext cx="6157684" cy="5678478"/>
          </a:xfrm>
          <a:prstGeom prst="rect">
            <a:avLst/>
          </a:prstGeom>
          <a:noFill/>
        </p:spPr>
        <p:txBody>
          <a:bodyPr wrap="square">
            <a:spAutoFit/>
          </a:bodyPr>
          <a:lstStyle/>
          <a:p>
            <a:pPr algn="l">
              <a:spcAft>
                <a:spcPts val="1200"/>
              </a:spcAft>
              <a:buNone/>
            </a:pPr>
            <a:r>
              <a:rPr lang="en-US" sz="900" b="1" i="0" dirty="0">
                <a:effectLst/>
                <a:latin typeface="Segoe WPC"/>
              </a:rPr>
              <a:t>5. Deposit Insurance and Moral Hazard</a:t>
            </a:r>
            <a:br>
              <a:rPr lang="en-US" sz="900" b="0" i="0" dirty="0">
                <a:effectLst/>
                <a:latin typeface="Segoe WPC"/>
              </a:rPr>
            </a:br>
            <a:r>
              <a:rPr lang="en-US" sz="900" b="1" i="0" dirty="0">
                <a:effectLst/>
                <a:latin typeface="Segoe WPC"/>
              </a:rPr>
              <a:t>Financial Object:</a:t>
            </a:r>
            <a:r>
              <a:rPr lang="en-US" sz="900" b="0" i="0" dirty="0">
                <a:effectLst/>
                <a:latin typeface="Segoe WPC"/>
              </a:rPr>
              <a:t> Protection for depositors and the incentives it creates.</a:t>
            </a:r>
            <a:br>
              <a:rPr lang="en-US" sz="900" b="0" i="0" dirty="0">
                <a:effectLst/>
                <a:latin typeface="Segoe WPC"/>
              </a:rPr>
            </a:br>
            <a:r>
              <a:rPr lang="en-US" sz="900" b="1" i="0" dirty="0">
                <a:effectLst/>
                <a:latin typeface="Segoe WPC"/>
              </a:rPr>
              <a:t>Plain Intuition:</a:t>
            </a:r>
            <a:r>
              <a:rPr lang="en-US" sz="900" b="0" i="0" dirty="0">
                <a:effectLst/>
                <a:latin typeface="Segoe WPC"/>
              </a:rPr>
              <a:t> Deposit insurance supports confidence in banks, but it can also encourage banks to take more risk because depositors stop monitoring them.</a:t>
            </a:r>
            <a:br>
              <a:rPr lang="en-US" sz="900" b="0" i="0" dirty="0">
                <a:effectLst/>
                <a:latin typeface="Segoe WPC"/>
              </a:rPr>
            </a:br>
            <a:r>
              <a:rPr lang="en-US" sz="900" b="1" i="0" dirty="0">
                <a:effectLst/>
                <a:latin typeface="Segoe WPC"/>
              </a:rPr>
              <a:t>Visual Intuition:</a:t>
            </a:r>
            <a:r>
              <a:rPr lang="en-US" sz="900" b="0" i="0" dirty="0">
                <a:effectLst/>
                <a:latin typeface="Segoe WPC"/>
              </a:rPr>
              <a:t> Depositors feel safe, so market discipline weakens.</a:t>
            </a:r>
            <a:br>
              <a:rPr lang="en-US" sz="900" b="0" i="0" dirty="0">
                <a:effectLst/>
                <a:latin typeface="Segoe WPC"/>
              </a:rPr>
            </a:br>
            <a:r>
              <a:rPr lang="en-US" sz="900" b="1" i="0" dirty="0">
                <a:effectLst/>
                <a:latin typeface="Segoe WPC"/>
              </a:rPr>
              <a:t>Key Formula:</a:t>
            </a:r>
            <a:r>
              <a:rPr lang="en-US" sz="900" b="0" i="0" dirty="0">
                <a:effectLst/>
                <a:latin typeface="Segoe WPC"/>
              </a:rPr>
              <a:t> No formula; the key concept is moral hazard.</a:t>
            </a:r>
            <a:br>
              <a:rPr lang="en-US" sz="900" b="0" i="0" dirty="0">
                <a:effectLst/>
                <a:latin typeface="Segoe WPC"/>
              </a:rPr>
            </a:br>
            <a:r>
              <a:rPr lang="en-US" sz="900" b="1" i="0" dirty="0">
                <a:effectLst/>
                <a:latin typeface="Segoe WPC"/>
              </a:rPr>
              <a:t>Interpretation:</a:t>
            </a:r>
            <a:r>
              <a:rPr lang="en-US" sz="900" b="0" i="0" dirty="0">
                <a:effectLst/>
                <a:latin typeface="Segoe WPC"/>
              </a:rPr>
              <a:t> Risk-based insurance premiums and risk-sensitive capital requirements reduce this problem.</a:t>
            </a:r>
            <a:br>
              <a:rPr lang="en-US" sz="900" b="0" i="0" dirty="0">
                <a:effectLst/>
                <a:latin typeface="Segoe WPC"/>
              </a:rPr>
            </a:br>
            <a:r>
              <a:rPr lang="en-US" sz="900" b="1" i="0" dirty="0">
                <a:effectLst/>
                <a:latin typeface="Segoe WPC"/>
              </a:rPr>
              <a:t>Exam Trap:</a:t>
            </a:r>
            <a:r>
              <a:rPr lang="en-US" sz="900" b="0" i="0" dirty="0">
                <a:effectLst/>
                <a:latin typeface="Segoe WPC"/>
              </a:rPr>
              <a:t> Deposit insurance improves stability, but by itself it can worsen risk-taking incentives.</a:t>
            </a:r>
          </a:p>
          <a:p>
            <a:pPr algn="l">
              <a:spcAft>
                <a:spcPts val="1200"/>
              </a:spcAft>
              <a:buNone/>
            </a:pPr>
            <a:r>
              <a:rPr lang="en-US" sz="900" b="1" i="0" dirty="0">
                <a:effectLst/>
                <a:latin typeface="Segoe WPC"/>
              </a:rPr>
              <a:t>6. Investment Banking: Underwriting, IPOs, and Advice</a:t>
            </a:r>
            <a:br>
              <a:rPr lang="en-US" sz="900" b="0" i="0" dirty="0">
                <a:effectLst/>
                <a:latin typeface="Segoe WPC"/>
              </a:rPr>
            </a:br>
            <a:r>
              <a:rPr lang="en-US" sz="900" b="1" i="0" dirty="0">
                <a:effectLst/>
                <a:latin typeface="Segoe WPC"/>
              </a:rPr>
              <a:t>Financial Object:</a:t>
            </a:r>
            <a:r>
              <a:rPr lang="en-US" sz="900" b="0" i="0" dirty="0">
                <a:effectLst/>
                <a:latin typeface="Segoe WPC"/>
              </a:rPr>
              <a:t> Raising capital and advising firms on strategic transactions.</a:t>
            </a:r>
            <a:br>
              <a:rPr lang="en-US" sz="900" b="0" i="0" dirty="0">
                <a:effectLst/>
                <a:latin typeface="Segoe WPC"/>
              </a:rPr>
            </a:br>
            <a:r>
              <a:rPr lang="en-US" sz="900" b="1" i="0" dirty="0">
                <a:effectLst/>
                <a:latin typeface="Segoe WPC"/>
              </a:rPr>
              <a:t>Plain Intuition:</a:t>
            </a:r>
            <a:r>
              <a:rPr lang="en-US" sz="900" b="0" i="0" dirty="0">
                <a:effectLst/>
                <a:latin typeface="Segoe WPC"/>
              </a:rPr>
              <a:t> Investment banks help firms issue securities, price IPOs, and advise on mergers, acquisitions, divestitures, and restructurings. Public offerings can be done on a best-efforts basis or a firm-commitment basis.</a:t>
            </a:r>
            <a:br>
              <a:rPr lang="en-US" sz="900" b="0" i="0" dirty="0">
                <a:effectLst/>
                <a:latin typeface="Segoe WPC"/>
              </a:rPr>
            </a:br>
            <a:r>
              <a:rPr lang="en-US" sz="900" b="1" i="0" dirty="0">
                <a:effectLst/>
                <a:latin typeface="Segoe WPC"/>
              </a:rPr>
              <a:t>Visual Intuition:</a:t>
            </a:r>
            <a:r>
              <a:rPr lang="en-US" sz="900" b="0" i="0" dirty="0">
                <a:effectLst/>
                <a:latin typeface="Segoe WPC"/>
              </a:rPr>
              <a:t> The bank stands between issuers and investors, helping price and distribute securities.</a:t>
            </a:r>
            <a:br>
              <a:rPr lang="en-US" sz="900" b="0" i="0" dirty="0">
                <a:effectLst/>
                <a:latin typeface="Segoe WPC"/>
              </a:rPr>
            </a:br>
            <a:r>
              <a:rPr lang="en-US" sz="900" b="1" i="0" dirty="0">
                <a:effectLst/>
                <a:latin typeface="Segoe WPC"/>
              </a:rPr>
              <a:t>Key Formula:</a:t>
            </a:r>
            <a:r>
              <a:rPr lang="en-US" sz="900" b="0" i="0" dirty="0">
                <a:effectLst/>
                <a:latin typeface="Segoe WPC"/>
              </a:rPr>
              <a:t> In a firm commitment, bank profit depends on resale price minus purchase price.</a:t>
            </a:r>
            <a:br>
              <a:rPr lang="en-US" sz="900" b="0" i="0" dirty="0">
                <a:effectLst/>
                <a:latin typeface="Segoe WPC"/>
              </a:rPr>
            </a:br>
            <a:r>
              <a:rPr lang="en-US" sz="900" b="1" i="0" dirty="0">
                <a:effectLst/>
                <a:latin typeface="Segoe WPC"/>
              </a:rPr>
              <a:t>Interpretation:</a:t>
            </a:r>
            <a:r>
              <a:rPr lang="en-US" sz="900" b="0" i="0" dirty="0">
                <a:effectLst/>
                <a:latin typeface="Segoe WPC"/>
              </a:rPr>
              <a:t> Best efforts is safer for the bank; firm commitment is safer for the issuer. IPO pricing is difficult because no market price exists yet, and Dutch auctions try to let the market set the issue price.</a:t>
            </a:r>
            <a:br>
              <a:rPr lang="en-US" sz="900" b="0" i="0" dirty="0">
                <a:effectLst/>
                <a:latin typeface="Segoe WPC"/>
              </a:rPr>
            </a:br>
            <a:r>
              <a:rPr lang="en-US" sz="900" b="1" i="0" dirty="0">
                <a:effectLst/>
                <a:latin typeface="Segoe WPC"/>
              </a:rPr>
              <a:t>Exam Trap:</a:t>
            </a:r>
            <a:r>
              <a:rPr lang="en-US" sz="900" b="0" i="0" dirty="0">
                <a:effectLst/>
                <a:latin typeface="Segoe WPC"/>
              </a:rPr>
              <a:t> IPO underpricing can still occur even with auction-based issuance.</a:t>
            </a:r>
          </a:p>
          <a:p>
            <a:pPr algn="l">
              <a:spcAft>
                <a:spcPts val="1200"/>
              </a:spcAft>
              <a:buNone/>
            </a:pPr>
            <a:r>
              <a:rPr lang="en-US" sz="900" b="1" i="0" dirty="0">
                <a:effectLst/>
                <a:latin typeface="Segoe WPC"/>
              </a:rPr>
              <a:t>7. Trading, Conflicts of Interest, and Chinese Walls</a:t>
            </a:r>
            <a:br>
              <a:rPr lang="en-US" sz="900" b="0" i="0" dirty="0">
                <a:effectLst/>
                <a:latin typeface="Segoe WPC"/>
              </a:rPr>
            </a:br>
            <a:r>
              <a:rPr lang="en-US" sz="900" b="1" i="0" dirty="0">
                <a:effectLst/>
                <a:latin typeface="Segoe WPC"/>
              </a:rPr>
              <a:t>Financial Object:</a:t>
            </a:r>
            <a:r>
              <a:rPr lang="en-US" sz="900" b="0" i="0" dirty="0">
                <a:effectLst/>
                <a:latin typeface="Segoe WPC"/>
              </a:rPr>
              <a:t> Market-making activity and internal incentive conflicts.</a:t>
            </a:r>
            <a:br>
              <a:rPr lang="en-US" sz="900" b="0" i="0" dirty="0">
                <a:effectLst/>
                <a:latin typeface="Segoe WPC"/>
              </a:rPr>
            </a:br>
            <a:r>
              <a:rPr lang="en-US" sz="900" b="1" i="0" dirty="0">
                <a:effectLst/>
                <a:latin typeface="Segoe WPC"/>
              </a:rPr>
              <a:t>Plain Intuition:</a:t>
            </a:r>
            <a:r>
              <a:rPr lang="en-US" sz="900" b="0" i="0" dirty="0">
                <a:effectLst/>
                <a:latin typeface="Segoe WPC"/>
              </a:rPr>
              <a:t> Banks provide clients with trading and brokerage services, but different divisions may have conflicting incentives, such as research, lending, underwriting, and advisory teams influencing each other.</a:t>
            </a:r>
            <a:br>
              <a:rPr lang="en-US" sz="900" b="0" i="0" dirty="0">
                <a:effectLst/>
                <a:latin typeface="Segoe WPC"/>
              </a:rPr>
            </a:br>
            <a:r>
              <a:rPr lang="en-US" sz="900" b="1" i="0" dirty="0">
                <a:effectLst/>
                <a:latin typeface="Segoe WPC"/>
              </a:rPr>
              <a:t>Visual Intuition:</a:t>
            </a:r>
            <a:r>
              <a:rPr lang="en-US" sz="900" b="0" i="0" dirty="0">
                <a:effectLst/>
                <a:latin typeface="Segoe WPC"/>
              </a:rPr>
              <a:t> One bank, many businesses, overlapping interests.</a:t>
            </a:r>
            <a:br>
              <a:rPr lang="en-US" sz="900" b="0" i="0" dirty="0">
                <a:effectLst/>
                <a:latin typeface="Segoe WPC"/>
              </a:rPr>
            </a:br>
            <a:r>
              <a:rPr lang="en-US" sz="900" b="1" i="0" dirty="0">
                <a:effectLst/>
                <a:latin typeface="Segoe WPC"/>
              </a:rPr>
              <a:t>Key Formula:</a:t>
            </a:r>
            <a:r>
              <a:rPr lang="en-US" sz="900" b="0" i="0" dirty="0">
                <a:effectLst/>
                <a:latin typeface="Segoe WPC"/>
              </a:rPr>
              <a:t> No formula; the key mechanism is information barriers.</a:t>
            </a:r>
            <a:br>
              <a:rPr lang="en-US" sz="900" b="0" i="0" dirty="0">
                <a:effectLst/>
                <a:latin typeface="Segoe WPC"/>
              </a:rPr>
            </a:br>
            <a:r>
              <a:rPr lang="en-US" sz="900" b="1" i="0" dirty="0">
                <a:effectLst/>
                <a:latin typeface="Segoe WPC"/>
              </a:rPr>
              <a:t>Interpretation:</a:t>
            </a:r>
            <a:r>
              <a:rPr lang="en-US" sz="900" b="0" i="0" dirty="0">
                <a:effectLst/>
                <a:latin typeface="Segoe WPC"/>
              </a:rPr>
              <a:t> Chinese walls are internal rules that limit information sharing to reduce conflicts of interest. These matter because fines and reputational damage can be large.</a:t>
            </a:r>
            <a:br>
              <a:rPr lang="en-US" sz="900" b="0" i="0" dirty="0">
                <a:effectLst/>
                <a:latin typeface="Segoe WPC"/>
              </a:rPr>
            </a:br>
            <a:r>
              <a:rPr lang="en-US" sz="900" b="1" i="0" dirty="0">
                <a:effectLst/>
                <a:latin typeface="Segoe WPC"/>
              </a:rPr>
              <a:t>Exam Trap:</a:t>
            </a:r>
            <a:r>
              <a:rPr lang="en-US" sz="900" b="0" i="0" dirty="0">
                <a:effectLst/>
                <a:latin typeface="Segoe WPC"/>
              </a:rPr>
              <a:t> Conflicts of interest are one reason regulators have historically separated commercial and investment banking.</a:t>
            </a:r>
          </a:p>
          <a:p>
            <a:pPr algn="l">
              <a:spcAft>
                <a:spcPts val="1200"/>
              </a:spcAft>
              <a:buNone/>
            </a:pPr>
            <a:r>
              <a:rPr lang="en-US" sz="900" b="1" i="0" dirty="0">
                <a:effectLst/>
                <a:latin typeface="Segoe WPC"/>
              </a:rPr>
              <a:t>8. Originate-to-Distribute and Securitization</a:t>
            </a:r>
            <a:br>
              <a:rPr lang="en-US" sz="900" b="0" i="0" dirty="0">
                <a:effectLst/>
                <a:latin typeface="Segoe WPC"/>
              </a:rPr>
            </a:br>
            <a:r>
              <a:rPr lang="en-US" sz="900" b="1" i="0" dirty="0">
                <a:effectLst/>
                <a:latin typeface="Segoe WPC"/>
              </a:rPr>
              <a:t>Financial Object:</a:t>
            </a:r>
            <a:r>
              <a:rPr lang="en-US" sz="900" b="0" i="0" dirty="0">
                <a:effectLst/>
                <a:latin typeface="Segoe WPC"/>
              </a:rPr>
              <a:t> Moving loans off the balance sheet and redistributing risk.</a:t>
            </a:r>
            <a:br>
              <a:rPr lang="en-US" sz="900" b="0" i="0" dirty="0">
                <a:effectLst/>
                <a:latin typeface="Segoe WPC"/>
              </a:rPr>
            </a:br>
            <a:r>
              <a:rPr lang="en-US" sz="900" b="1" i="0" dirty="0">
                <a:effectLst/>
                <a:latin typeface="Segoe WPC"/>
              </a:rPr>
              <a:t>Plain Intuition:</a:t>
            </a:r>
            <a:r>
              <a:rPr lang="en-US" sz="900" b="0" i="0" dirty="0">
                <a:effectLst/>
                <a:latin typeface="Segoe WPC"/>
              </a:rPr>
              <a:t> Instead of keeping loans, banks can originate them, package them into securities, and sell the risk to investors.</a:t>
            </a:r>
            <a:br>
              <a:rPr lang="en-US" sz="900" b="0" i="0" dirty="0">
                <a:effectLst/>
                <a:latin typeface="Segoe WPC"/>
              </a:rPr>
            </a:br>
            <a:r>
              <a:rPr lang="en-US" sz="900" b="1" i="0" dirty="0">
                <a:effectLst/>
                <a:latin typeface="Segoe WPC"/>
              </a:rPr>
              <a:t>Visual Intuition:</a:t>
            </a:r>
            <a:r>
              <a:rPr lang="en-US" sz="900" b="0" i="0" dirty="0">
                <a:effectLst/>
                <a:latin typeface="Segoe WPC"/>
              </a:rPr>
              <a:t> Loans flow into an SPV, which creates tranches with different exposures to loss.</a:t>
            </a:r>
            <a:br>
              <a:rPr lang="en-US" sz="900" b="0" i="0" dirty="0">
                <a:effectLst/>
                <a:latin typeface="Segoe WPC"/>
              </a:rPr>
            </a:br>
            <a:r>
              <a:rPr lang="en-US" sz="900" b="1" i="0" dirty="0">
                <a:effectLst/>
                <a:latin typeface="Segoe WPC"/>
              </a:rPr>
              <a:t>Key Formula:</a:t>
            </a:r>
            <a:r>
              <a:rPr lang="en-US" sz="900" b="0" i="0" dirty="0">
                <a:effectLst/>
                <a:latin typeface="Segoe WPC"/>
              </a:rPr>
              <a:t> Equity tranche bears first losses, mezzanine bears the next layer, and senior tranche bears losses only after subordinate tranches are wiped out.</a:t>
            </a:r>
            <a:br>
              <a:rPr lang="en-US" sz="900" b="0" i="0" dirty="0">
                <a:effectLst/>
                <a:latin typeface="Segoe WPC"/>
              </a:rPr>
            </a:br>
            <a:r>
              <a:rPr lang="en-US" sz="900" b="1" i="0" dirty="0">
                <a:effectLst/>
                <a:latin typeface="Segoe WPC"/>
              </a:rPr>
              <a:t>Interpretation:</a:t>
            </a:r>
            <a:r>
              <a:rPr lang="en-US" sz="900" b="0" i="0" dirty="0">
                <a:effectLst/>
                <a:latin typeface="Segoe WPC"/>
              </a:rPr>
              <a:t> This model frees balance-sheet capacity and generates fees, but it contributed to the 2007-2008 crisis because weak loans were still securitized and even re-securitized.</a:t>
            </a:r>
            <a:br>
              <a:rPr lang="en-US" sz="900" b="0" i="0" dirty="0">
                <a:effectLst/>
                <a:latin typeface="Segoe WPC"/>
              </a:rPr>
            </a:br>
            <a:r>
              <a:rPr lang="en-US" sz="900" b="1" i="0" dirty="0">
                <a:effectLst/>
                <a:latin typeface="Segoe WPC"/>
              </a:rPr>
              <a:t>Exam Trap:</a:t>
            </a:r>
            <a:r>
              <a:rPr lang="en-US" sz="900" b="0" i="0" dirty="0">
                <a:effectLst/>
                <a:latin typeface="Segoe WPC"/>
              </a:rPr>
              <a:t> Securitization transfers risk; it does not eliminate it.</a:t>
            </a:r>
          </a:p>
        </p:txBody>
      </p:sp>
    </p:spTree>
    <p:extLst>
      <p:ext uri="{BB962C8B-B14F-4D97-AF65-F5344CB8AC3E}">
        <p14:creationId xmlns:p14="http://schemas.microsoft.com/office/powerpoint/2010/main" val="40797901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F61988-4FFB-26F5-06CA-6EA759375C69}"/>
              </a:ext>
            </a:extLst>
          </p:cNvPr>
          <p:cNvSpPr>
            <a:spLocks noGrp="1"/>
          </p:cNvSpPr>
          <p:nvPr>
            <p:ph type="title"/>
          </p:nvPr>
        </p:nvSpPr>
        <p:spPr>
          <a:xfrm>
            <a:off x="0" y="-110444"/>
            <a:ext cx="10515600" cy="390639"/>
          </a:xfrm>
        </p:spPr>
        <p:txBody>
          <a:bodyPr>
            <a:normAutofit/>
          </a:bodyPr>
          <a:lstStyle/>
          <a:p>
            <a:r>
              <a:rPr lang="en-US" sz="2000" dirty="0"/>
              <a:t>Insurance Companies and Pension plans</a:t>
            </a:r>
            <a:endParaRPr lang="es-PE" sz="2000"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8AB09FFC-3967-3F44-40A8-B14102E95290}"/>
                  </a:ext>
                </a:extLst>
              </p:cNvPr>
              <p:cNvSpPr txBox="1"/>
              <p:nvPr/>
            </p:nvSpPr>
            <p:spPr>
              <a:xfrm>
                <a:off x="0" y="105013"/>
                <a:ext cx="5848350" cy="7063472"/>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a:t>
                </a:r>
                <a:r>
                  <a:rPr lang="es-PE" sz="900" b="1" i="0" dirty="0" err="1">
                    <a:solidFill>
                      <a:schemeClr val="tx1"/>
                    </a:solidFill>
                    <a:effectLst/>
                    <a:latin typeface="Segoe WPC"/>
                  </a:rPr>
                  <a:t>Insurance</a:t>
                </a:r>
                <a:r>
                  <a:rPr lang="es-PE" sz="900" b="1" i="0" dirty="0">
                    <a:solidFill>
                      <a:schemeClr val="tx1"/>
                    </a:solidFill>
                    <a:effectLst/>
                    <a:latin typeface="Segoe WPC"/>
                  </a:rPr>
                  <a:t>, </a:t>
                </a:r>
                <a:r>
                  <a:rPr lang="es-PE" sz="900" b="1" i="0" dirty="0" err="1">
                    <a:solidFill>
                      <a:schemeClr val="tx1"/>
                    </a:solidFill>
                    <a:effectLst/>
                    <a:latin typeface="Segoe WPC"/>
                  </a:rPr>
                  <a:t>Life</a:t>
                </a:r>
                <a:r>
                  <a:rPr lang="es-PE" sz="900" b="1" i="0" dirty="0">
                    <a:solidFill>
                      <a:schemeClr val="tx1"/>
                    </a:solidFill>
                    <a:effectLst/>
                    <a:latin typeface="Segoe WPC"/>
                  </a:rPr>
                  <a:t> </a:t>
                </a:r>
                <a:r>
                  <a:rPr lang="es-PE" sz="900" b="1" i="0" dirty="0" err="1">
                    <a:solidFill>
                      <a:schemeClr val="tx1"/>
                    </a:solidFill>
                    <a:effectLst/>
                    <a:latin typeface="Segoe WPC"/>
                  </a:rPr>
                  <a:t>Insurance</a:t>
                </a:r>
                <a:r>
                  <a:rPr lang="es-PE" sz="900" b="1" i="0" dirty="0">
                    <a:solidFill>
                      <a:schemeClr val="tx1"/>
                    </a:solidFill>
                    <a:effectLst/>
                    <a:latin typeface="Segoe WPC"/>
                  </a:rPr>
                  <a:t>, and </a:t>
                </a:r>
                <a:r>
                  <a:rPr lang="es-PE" sz="900" b="1" i="0" dirty="0" err="1">
                    <a:solidFill>
                      <a:schemeClr val="tx1"/>
                    </a:solidFill>
                    <a:effectLst/>
                    <a:latin typeface="Segoe WPC"/>
                  </a:rPr>
                  <a:t>Pension</a:t>
                </a:r>
                <a:r>
                  <a:rPr lang="es-PE" sz="900" b="1" i="0" dirty="0">
                    <a:solidFill>
                      <a:schemeClr val="tx1"/>
                    </a:solidFill>
                    <a:effectLst/>
                    <a:latin typeface="Segoe WPC"/>
                  </a:rPr>
                  <a:t> </a:t>
                </a:r>
                <a:r>
                  <a:rPr lang="es-PE" sz="900" b="1" i="0" dirty="0" err="1">
                    <a:solidFill>
                      <a:schemeClr val="tx1"/>
                    </a:solidFill>
                    <a:effectLst/>
                    <a:latin typeface="Segoe WPC"/>
                  </a:rPr>
                  <a:t>Basics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exchange</a:t>
                </a:r>
                <a:r>
                  <a:rPr lang="es-PE" sz="900" b="0" i="0" dirty="0">
                    <a:solidFill>
                      <a:schemeClr val="tx1"/>
                    </a:solidFill>
                    <a:effectLst/>
                    <a:latin typeface="Segoe WPC"/>
                  </a:rPr>
                  <a:t> regular </a:t>
                </a:r>
                <a:r>
                  <a:rPr lang="es-PE" sz="900" b="0" i="0" dirty="0" err="1">
                    <a:solidFill>
                      <a:schemeClr val="tx1"/>
                    </a:solidFill>
                    <a:effectLst/>
                    <a:latin typeface="Segoe WPC"/>
                  </a:rPr>
                  <a:t>contributions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premiums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protection</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future </a:t>
                </a:r>
                <a:r>
                  <a:rPr lang="es-PE" sz="900" b="0" i="0" dirty="0" err="1">
                    <a:solidFill>
                      <a:schemeClr val="tx1"/>
                    </a:solidFill>
                    <a:effectLst/>
                    <a:latin typeface="Segoe WPC"/>
                  </a:rPr>
                  <a:t>income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protects</a:t>
                </a:r>
                <a:r>
                  <a:rPr lang="es-PE" sz="900" b="0" i="0" dirty="0">
                    <a:solidFill>
                      <a:schemeClr val="tx1"/>
                    </a:solidFill>
                    <a:effectLst/>
                    <a:latin typeface="Segoe WPC"/>
                  </a:rPr>
                  <a:t> </a:t>
                </a:r>
                <a:r>
                  <a:rPr lang="es-PE" sz="900" b="0" i="0" dirty="0" err="1">
                    <a:solidFill>
                      <a:schemeClr val="tx1"/>
                    </a:solidFill>
                    <a:effectLst/>
                    <a:latin typeface="Segoe WPC"/>
                  </a:rPr>
                  <a:t>against</a:t>
                </a:r>
                <a:r>
                  <a:rPr lang="es-PE" sz="900" b="0" i="0" dirty="0">
                    <a:solidFill>
                      <a:schemeClr val="tx1"/>
                    </a:solidFill>
                    <a:effectLst/>
                    <a:latin typeface="Segoe WPC"/>
                  </a:rPr>
                  <a:t> adverse </a:t>
                </a:r>
                <a:r>
                  <a:rPr lang="es-PE" sz="900" b="0" i="0" dirty="0" err="1">
                    <a:solidFill>
                      <a:schemeClr val="tx1"/>
                    </a:solidFill>
                    <a:effectLst/>
                    <a:latin typeface="Segoe WPC"/>
                  </a:rPr>
                  <a:t>events</a:t>
                </a:r>
                <a:r>
                  <a:rPr lang="es-PE" sz="900" b="0" i="0" dirty="0">
                    <a:solidFill>
                      <a:schemeClr val="tx1"/>
                    </a:solidFill>
                    <a:effectLst/>
                    <a:latin typeface="Segoe WPC"/>
                  </a:rPr>
                  <a:t>: </a:t>
                </a:r>
                <a:r>
                  <a:rPr lang="es-PE" sz="900" b="0" i="0" dirty="0" err="1">
                    <a:solidFill>
                      <a:schemeClr val="tx1"/>
                    </a:solidFill>
                    <a:effectLst/>
                    <a:latin typeface="Segoe WPC"/>
                  </a:rPr>
                  <a:t>most</a:t>
                </a:r>
                <a:r>
                  <a:rPr lang="es-PE" sz="900" b="0" i="0" dirty="0">
                    <a:solidFill>
                      <a:schemeClr val="tx1"/>
                    </a:solidFill>
                    <a:effectLst/>
                    <a:latin typeface="Segoe WPC"/>
                  </a:rPr>
                  <a:t> </a:t>
                </a:r>
                <a:r>
                  <a:rPr lang="es-PE" sz="900" b="0" i="0" dirty="0" err="1">
                    <a:solidFill>
                      <a:schemeClr val="tx1"/>
                    </a:solidFill>
                    <a:effectLst/>
                    <a:latin typeface="Segoe WPC"/>
                  </a:rPr>
                  <a:t>years</a:t>
                </a:r>
                <a:r>
                  <a:rPr lang="es-PE" sz="900" b="0" i="0" dirty="0">
                    <a:solidFill>
                      <a:schemeClr val="tx1"/>
                    </a:solidFill>
                    <a:effectLst/>
                    <a:latin typeface="Segoe WPC"/>
                  </a:rPr>
                  <a:t> no </a:t>
                </a:r>
                <a:r>
                  <a:rPr lang="es-PE" sz="900" b="0" i="0" dirty="0" err="1">
                    <a:solidFill>
                      <a:schemeClr val="tx1"/>
                    </a:solidFill>
                    <a:effectLst/>
                    <a:latin typeface="Segoe WPC"/>
                  </a:rPr>
                  <a:t>claim</a:t>
                </a:r>
                <a:r>
                  <a:rPr lang="es-PE" sz="900" b="0" i="0" dirty="0">
                    <a:solidFill>
                      <a:schemeClr val="tx1"/>
                    </a:solidFill>
                    <a:effectLst/>
                    <a:latin typeface="Segoe WPC"/>
                  </a:rPr>
                  <a:t> </a:t>
                </a:r>
                <a:r>
                  <a:rPr lang="es-PE" sz="900" b="0" i="0" dirty="0" err="1">
                    <a:solidFill>
                      <a:schemeClr val="tx1"/>
                    </a:solidFill>
                    <a:effectLst/>
                    <a:latin typeface="Segoe WPC"/>
                  </a:rPr>
                  <a:t>occurs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insured</a:t>
                </a:r>
                <a:r>
                  <a:rPr lang="es-PE" sz="900" b="0" i="0" dirty="0">
                    <a:solidFill>
                      <a:schemeClr val="tx1"/>
                    </a:solidFill>
                    <a:effectLst/>
                    <a:latin typeface="Segoe WPC"/>
                  </a:rPr>
                  <a:t> </a:t>
                </a:r>
                <a:r>
                  <a:rPr lang="es-PE" sz="900" b="0" i="0" dirty="0" err="1">
                    <a:solidFill>
                      <a:schemeClr val="tx1"/>
                    </a:solidFill>
                    <a:effectLst/>
                    <a:latin typeface="Segoe WPC"/>
                  </a:rPr>
                  <a:t>event</a:t>
                </a:r>
                <a:r>
                  <a:rPr lang="es-PE" sz="900" b="0" i="0" dirty="0">
                    <a:solidFill>
                      <a:schemeClr val="tx1"/>
                    </a:solidFill>
                    <a:effectLst/>
                    <a:latin typeface="Segoe WPC"/>
                  </a:rPr>
                  <a:t> </a:t>
                </a:r>
                <a:r>
                  <a:rPr lang="es-PE" sz="900" b="0" i="0" dirty="0" err="1">
                    <a:solidFill>
                      <a:schemeClr val="tx1"/>
                    </a:solidFill>
                    <a:effectLst/>
                    <a:latin typeface="Segoe WPC"/>
                  </a:rPr>
                  <a:t>happens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insurer</a:t>
                </a:r>
                <a:r>
                  <a:rPr lang="es-PE" sz="900" b="0" i="0" dirty="0">
                    <a:solidFill>
                      <a:schemeClr val="tx1"/>
                    </a:solidFill>
                    <a:effectLst/>
                    <a:latin typeface="Segoe WPC"/>
                  </a:rPr>
                  <a:t> </a:t>
                </a:r>
                <a:r>
                  <a:rPr lang="es-PE" sz="900" b="0" i="0" dirty="0" err="1">
                    <a:solidFill>
                      <a:schemeClr val="tx1"/>
                    </a:solidFill>
                    <a:effectLst/>
                    <a:latin typeface="Segoe WPC"/>
                  </a:rPr>
                  <a:t>makes</a:t>
                </a:r>
                <a:r>
                  <a:rPr lang="es-PE" sz="900" b="0" i="0" dirty="0">
                    <a:solidFill>
                      <a:schemeClr val="tx1"/>
                    </a:solidFill>
                    <a:effectLst/>
                    <a:latin typeface="Segoe WPC"/>
                  </a:rPr>
                  <a:t> a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payout</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and </a:t>
                </a:r>
                <a:r>
                  <a:rPr lang="es-PE" sz="900" b="0" i="0" dirty="0" err="1">
                    <a:solidFill>
                      <a:schemeClr val="tx1"/>
                    </a:solidFill>
                    <a:effectLst/>
                    <a:latin typeface="Segoe WPC"/>
                  </a:rPr>
                  <a:t>pensions</a:t>
                </a:r>
                <a:r>
                  <a:rPr lang="es-PE" sz="900" b="0" i="0" dirty="0">
                    <a:solidFill>
                      <a:schemeClr val="tx1"/>
                    </a:solidFill>
                    <a:effectLst/>
                    <a:latin typeface="Segoe WPC"/>
                  </a:rPr>
                  <a:t> are </a:t>
                </a:r>
                <a:r>
                  <a:rPr lang="es-PE" sz="900" b="0" i="0" dirty="0" err="1">
                    <a:solidFill>
                      <a:schemeClr val="tx1"/>
                    </a:solidFill>
                    <a:effectLst/>
                    <a:latin typeface="Segoe WPC"/>
                  </a:rPr>
                  <a:t>closely</a:t>
                </a:r>
                <a:r>
                  <a:rPr lang="es-PE" sz="900" b="0" i="0" dirty="0">
                    <a:solidFill>
                      <a:schemeClr val="tx1"/>
                    </a:solidFill>
                    <a:effectLst/>
                    <a:latin typeface="Segoe WPC"/>
                  </a:rPr>
                  <a:t> </a:t>
                </a:r>
                <a:r>
                  <a:rPr lang="es-PE" sz="900" b="0" i="0" dirty="0" err="1">
                    <a:solidFill>
                      <a:schemeClr val="tx1"/>
                    </a:solidFill>
                    <a:effectLst/>
                    <a:latin typeface="Segoe WPC"/>
                  </a:rPr>
                  <a:t>related</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convert</a:t>
                </a:r>
                <a:r>
                  <a:rPr lang="es-PE" sz="900" b="0" i="0" dirty="0">
                    <a:solidFill>
                      <a:schemeClr val="tx1"/>
                    </a:solidFill>
                    <a:effectLst/>
                    <a:latin typeface="Segoe WPC"/>
                  </a:rPr>
                  <a:t> </a:t>
                </a:r>
                <a:r>
                  <a:rPr lang="es-PE" sz="900" b="0" i="0" dirty="0" err="1">
                    <a:solidFill>
                      <a:schemeClr val="tx1"/>
                    </a:solidFill>
                    <a:effectLst/>
                    <a:latin typeface="Segoe WPC"/>
                  </a:rPr>
                  <a:t>contributions</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future </a:t>
                </a:r>
                <a:r>
                  <a:rPr lang="es-PE" sz="900" b="0" i="0" dirty="0" err="1">
                    <a:solidFill>
                      <a:schemeClr val="tx1"/>
                    </a:solidFill>
                    <a:effectLst/>
                    <a:latin typeface="Segoe WPC"/>
                  </a:rPr>
                  <a:t>benefits</a:t>
                </a:r>
                <a:r>
                  <a:rPr lang="es-PE" sz="900" b="0" i="0" dirty="0">
                    <a:solidFill>
                      <a:schemeClr val="tx1"/>
                    </a:solidFill>
                    <a:effectLst/>
                    <a:latin typeface="Segoe WPC"/>
                  </a:rPr>
                  <a:t> </a:t>
                </a:r>
                <a:r>
                  <a:rPr lang="es-PE" sz="900" b="0" i="0" dirty="0" err="1">
                    <a:solidFill>
                      <a:schemeClr val="tx1"/>
                    </a:solidFill>
                    <a:effectLst/>
                    <a:latin typeface="Segoe WPC"/>
                  </a:rPr>
                  <a:t>tied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events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small</a:t>
                </a:r>
                <a:r>
                  <a:rPr lang="es-PE" sz="900" b="0" i="0" dirty="0">
                    <a:solidFill>
                      <a:schemeClr val="tx1"/>
                    </a:solidFill>
                    <a:effectLst/>
                    <a:latin typeface="Segoe WPC"/>
                  </a:rPr>
                  <a:t> premium </a:t>
                </a:r>
                <a:r>
                  <a:rPr lang="es-PE" sz="900" b="0" i="0" dirty="0" err="1">
                    <a:solidFill>
                      <a:schemeClr val="tx1"/>
                    </a:solidFill>
                    <a:effectLst/>
                    <a:latin typeface="Segoe WPC"/>
                  </a:rPr>
                  <a:t>inflows</a:t>
                </a:r>
                <a:r>
                  <a:rPr lang="es-PE" sz="900" b="0" i="0" dirty="0">
                    <a:solidFill>
                      <a:schemeClr val="tx1"/>
                    </a:solidFill>
                    <a:effectLst/>
                    <a:latin typeface="Segoe WPC"/>
                  </a:rPr>
                  <a:t> </a:t>
                </a:r>
                <a:r>
                  <a:rPr lang="es-PE" sz="900" b="0" i="0" dirty="0" err="1">
                    <a:solidFill>
                      <a:schemeClr val="tx1"/>
                    </a:solidFill>
                    <a:effectLst/>
                    <a:latin typeface="Segoe WPC"/>
                  </a:rPr>
                  <a:t>fund</a:t>
                </a:r>
                <a:r>
                  <a:rPr lang="es-PE" sz="900" b="0" i="0" dirty="0">
                    <a:solidFill>
                      <a:schemeClr val="tx1"/>
                    </a:solidFill>
                    <a:effectLst/>
                    <a:latin typeface="Segoe WPC"/>
                  </a:rPr>
                  <a:t> </a:t>
                </a:r>
                <a:r>
                  <a:rPr lang="es-PE" sz="900" b="0" i="0" dirty="0" err="1">
                    <a:solidFill>
                      <a:schemeClr val="tx1"/>
                    </a:solidFill>
                    <a:effectLst/>
                    <a:latin typeface="Segoe WPC"/>
                  </a:rPr>
                  <a:t>occasional</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claims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retirement</a:t>
                </a:r>
                <a:r>
                  <a:rPr lang="es-PE" sz="900" b="0" i="0" dirty="0">
                    <a:solidFill>
                      <a:schemeClr val="tx1"/>
                    </a:solidFill>
                    <a:effectLst/>
                    <a:latin typeface="Segoe WPC"/>
                  </a:rPr>
                  <a:t> </a:t>
                </a:r>
                <a:r>
                  <a:rPr lang="es-PE" sz="900" b="0" i="0" dirty="0" err="1">
                    <a:solidFill>
                      <a:schemeClr val="tx1"/>
                    </a:solidFill>
                    <a:effectLst/>
                    <a:latin typeface="Segoe WPC"/>
                  </a:rPr>
                  <a:t>payments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single formula;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structure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premiums</a:t>
                </a:r>
                <a:r>
                  <a:rPr lang="es-PE" sz="900" b="0" i="0" dirty="0">
                    <a:solidFill>
                      <a:schemeClr val="tx1"/>
                    </a:solidFill>
                    <a:effectLst/>
                    <a:latin typeface="Segoe WPC"/>
                  </a:rPr>
                  <a:t>/</a:t>
                </a:r>
                <a:r>
                  <a:rPr lang="es-PE" sz="900" b="0" i="0" dirty="0" err="1">
                    <a:solidFill>
                      <a:schemeClr val="tx1"/>
                    </a:solidFill>
                    <a:effectLst/>
                    <a:latin typeface="Segoe WPC"/>
                  </a:rPr>
                  <a:t>contributions</a:t>
                </a:r>
                <a:r>
                  <a:rPr lang="es-PE" sz="900" b="0" i="0" dirty="0">
                    <a:solidFill>
                      <a:schemeClr val="tx1"/>
                    </a:solidFill>
                    <a:effectLst/>
                    <a:latin typeface="Segoe WPC"/>
                  </a:rPr>
                  <a:t> </a:t>
                </a:r>
                <a:r>
                  <a:rPr lang="es-PE" sz="900" b="0" i="0" dirty="0" err="1">
                    <a:solidFill>
                      <a:schemeClr val="tx1"/>
                    </a:solidFill>
                    <a:effectLst/>
                    <a:latin typeface="Segoe WPC"/>
                  </a:rPr>
                  <a:t>today</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contingent</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deferred</a:t>
                </a:r>
                <a:r>
                  <a:rPr lang="es-PE" sz="900" b="0" i="0" dirty="0">
                    <a:solidFill>
                      <a:schemeClr val="tx1"/>
                    </a:solidFill>
                    <a:effectLst/>
                    <a:latin typeface="Segoe WPC"/>
                  </a:rPr>
                  <a:t> </a:t>
                </a:r>
                <a:r>
                  <a:rPr lang="es-PE" sz="900" b="0" i="0" dirty="0" err="1">
                    <a:solidFill>
                      <a:schemeClr val="tx1"/>
                    </a:solidFill>
                    <a:effectLst/>
                    <a:latin typeface="Segoe WPC"/>
                  </a:rPr>
                  <a:t>payouts</a:t>
                </a:r>
                <a:r>
                  <a:rPr lang="es-PE" sz="900" b="0" i="0" dirty="0">
                    <a:solidFill>
                      <a:schemeClr val="tx1"/>
                    </a:solidFill>
                    <a:effectLst/>
                    <a:latin typeface="Segoe WPC"/>
                  </a:rPr>
                  <a:t> </a:t>
                </a:r>
                <a:r>
                  <a:rPr lang="es-PE" sz="900" b="0" i="0" dirty="0" err="1">
                    <a:solidFill>
                      <a:schemeClr val="tx1"/>
                    </a:solidFill>
                    <a:effectLst/>
                    <a:latin typeface="Segoe WPC"/>
                  </a:rPr>
                  <a:t>later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and </a:t>
                </a:r>
                <a:r>
                  <a:rPr lang="es-PE" sz="900" b="0" i="0" dirty="0" err="1">
                    <a:solidFill>
                      <a:schemeClr val="tx1"/>
                    </a:solidFill>
                    <a:effectLst/>
                    <a:latin typeface="Segoe WPC"/>
                  </a:rPr>
                  <a:t>property-casualty</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are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categories</a:t>
                </a:r>
                <a:r>
                  <a:rPr lang="es-PE" sz="900" b="0" i="0" dirty="0">
                    <a:solidFill>
                      <a:schemeClr val="tx1"/>
                    </a:solidFill>
                    <a:effectLst/>
                    <a:latin typeface="Segoe WPC"/>
                  </a:rPr>
                  <a:t>. </a:t>
                </a:r>
                <a:r>
                  <a:rPr lang="es-PE" sz="900" b="0" i="0" dirty="0" err="1">
                    <a:solidFill>
                      <a:schemeClr val="tx1"/>
                    </a:solidFill>
                    <a:effectLst/>
                    <a:latin typeface="Segoe WPC"/>
                  </a:rPr>
                  <a:t>Pension</a:t>
                </a:r>
                <a:r>
                  <a:rPr lang="es-PE" sz="900" b="0" i="0" dirty="0">
                    <a:solidFill>
                      <a:schemeClr val="tx1"/>
                    </a:solidFill>
                    <a:effectLst/>
                    <a:latin typeface="Segoe WPC"/>
                  </a:rPr>
                  <a:t> </a:t>
                </a:r>
                <a:r>
                  <a:rPr lang="es-PE" sz="900" b="0" i="0" dirty="0" err="1">
                    <a:solidFill>
                      <a:schemeClr val="tx1"/>
                    </a:solidFill>
                    <a:effectLst/>
                    <a:latin typeface="Segoe WPC"/>
                  </a:rPr>
                  <a:t>plans</a:t>
                </a:r>
                <a:r>
                  <a:rPr lang="es-PE" sz="900" b="0" i="0" dirty="0">
                    <a:solidFill>
                      <a:schemeClr val="tx1"/>
                    </a:solidFill>
                    <a:effectLst/>
                    <a:latin typeface="Segoe WPC"/>
                  </a:rPr>
                  <a:t> are similar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annuities</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provide</a:t>
                </a:r>
                <a:r>
                  <a:rPr lang="es-PE" sz="900" b="0" i="0" dirty="0">
                    <a:solidFill>
                      <a:schemeClr val="tx1"/>
                    </a:solidFill>
                    <a:effectLst/>
                    <a:latin typeface="Segoe WPC"/>
                  </a:rPr>
                  <a:t> </a:t>
                </a:r>
                <a:r>
                  <a:rPr lang="es-PE" sz="900" b="0" i="0" dirty="0" err="1">
                    <a:solidFill>
                      <a:schemeClr val="tx1"/>
                    </a:solidFill>
                    <a:effectLst/>
                    <a:latin typeface="Segoe WPC"/>
                  </a:rPr>
                  <a:t>retirement</a:t>
                </a:r>
                <a:r>
                  <a:rPr lang="es-PE" sz="900" b="0" i="0" dirty="0">
                    <a:solidFill>
                      <a:schemeClr val="tx1"/>
                    </a:solidFill>
                    <a:effectLst/>
                    <a:latin typeface="Segoe WPC"/>
                  </a:rPr>
                  <a:t> </a:t>
                </a:r>
                <a:r>
                  <a:rPr lang="es-PE" sz="900" b="0" i="0" dirty="0" err="1">
                    <a:solidFill>
                      <a:schemeClr val="tx1"/>
                    </a:solidFill>
                    <a:effectLst/>
                    <a:latin typeface="Segoe WPC"/>
                  </a:rPr>
                  <a:t>income</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and </a:t>
                </a:r>
                <a:r>
                  <a:rPr lang="es-PE" sz="900" b="0" i="0" dirty="0" err="1">
                    <a:solidFill>
                      <a:schemeClr val="tx1"/>
                    </a:solidFill>
                    <a:effectLst/>
                    <a:latin typeface="Segoe WPC"/>
                  </a:rPr>
                  <a:t>pensions</a:t>
                </a:r>
                <a:r>
                  <a:rPr lang="es-PE" sz="900" b="0" i="0" dirty="0">
                    <a:solidFill>
                      <a:schemeClr val="tx1"/>
                    </a:solidFill>
                    <a:effectLst/>
                    <a:latin typeface="Segoe WPC"/>
                  </a:rPr>
                  <a:t> are </a:t>
                </a:r>
                <a:r>
                  <a:rPr lang="es-PE" sz="900" b="0" i="0" dirty="0" err="1">
                    <a:solidFill>
                      <a:schemeClr val="tx1"/>
                    </a:solidFill>
                    <a:effectLst/>
                    <a:latin typeface="Segoe WPC"/>
                  </a:rPr>
                  <a:t>long-horizon</a:t>
                </a:r>
                <a:r>
                  <a:rPr lang="es-PE" sz="900" b="0" i="0" dirty="0">
                    <a:solidFill>
                      <a:schemeClr val="tx1"/>
                    </a:solidFill>
                    <a:effectLst/>
                    <a:latin typeface="Segoe WPC"/>
                  </a:rPr>
                  <a:t> </a:t>
                </a:r>
                <a:r>
                  <a:rPr lang="es-PE" sz="900" b="0" i="0" dirty="0" err="1">
                    <a:solidFill>
                      <a:schemeClr val="tx1"/>
                    </a:solidFill>
                    <a:effectLst/>
                    <a:latin typeface="Segoe WPC"/>
                  </a:rPr>
                  <a:t>mortality-based</a:t>
                </a:r>
                <a:r>
                  <a:rPr lang="es-PE" sz="900" b="0" i="0" dirty="0">
                    <a:solidFill>
                      <a:schemeClr val="tx1"/>
                    </a:solidFill>
                    <a:effectLst/>
                    <a:latin typeface="Segoe WPC"/>
                  </a:rPr>
                  <a:t> </a:t>
                </a:r>
                <a:r>
                  <a:rPr lang="es-PE" sz="900" b="0" i="0" dirty="0" err="1">
                    <a:solidFill>
                      <a:schemeClr val="tx1"/>
                    </a:solidFill>
                    <a:effectLst/>
                    <a:latin typeface="Segoe WPC"/>
                  </a:rPr>
                  <a:t>products</a:t>
                </a:r>
                <a:r>
                  <a:rPr lang="es-PE" sz="900" b="0" i="0" dirty="0">
                    <a:solidFill>
                      <a:schemeClr val="tx1"/>
                    </a:solidFill>
                    <a:effectLst/>
                    <a:latin typeface="Segoe WPC"/>
                  </a:rPr>
                  <a:t>; </a:t>
                </a:r>
                <a:r>
                  <a:rPr lang="es-PE" sz="900" b="0" i="0" dirty="0" err="1">
                    <a:solidFill>
                      <a:schemeClr val="tx1"/>
                    </a:solidFill>
                    <a:effectLst/>
                    <a:latin typeface="Segoe WPC"/>
                  </a:rPr>
                  <a:t>property-casualty</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short-</a:t>
                </a:r>
                <a:r>
                  <a:rPr lang="es-PE" sz="900" b="0" i="0" dirty="0" err="1">
                    <a:solidFill>
                      <a:schemeClr val="tx1"/>
                    </a:solidFill>
                    <a:effectLst/>
                    <a:latin typeface="Segoe WPC"/>
                  </a:rPr>
                  <a:t>term</a:t>
                </a:r>
                <a:r>
                  <a:rPr lang="es-PE" sz="900" b="0" i="0" dirty="0">
                    <a:solidFill>
                      <a:schemeClr val="tx1"/>
                    </a:solidFill>
                    <a:effectLst/>
                    <a:latin typeface="Segoe WPC"/>
                  </a:rPr>
                  <a:t> and </a:t>
                </a:r>
                <a:r>
                  <a:rPr lang="es-PE" sz="900" b="0" i="0" dirty="0" err="1">
                    <a:solidFill>
                      <a:schemeClr val="tx1"/>
                    </a:solidFill>
                    <a:effectLst/>
                    <a:latin typeface="Segoe WPC"/>
                  </a:rPr>
                  <a:t>renewed</a:t>
                </a:r>
                <a:r>
                  <a:rPr lang="es-PE" sz="900" b="0" i="0" dirty="0">
                    <a:solidFill>
                      <a:schemeClr val="tx1"/>
                    </a:solidFill>
                    <a:effectLst/>
                    <a:latin typeface="Segoe WPC"/>
                  </a:rPr>
                  <a:t> </a:t>
                </a:r>
                <a:r>
                  <a:rPr lang="es-PE" sz="900" b="0" i="0" dirty="0" err="1">
                    <a:solidFill>
                      <a:schemeClr val="tx1"/>
                    </a:solidFill>
                    <a:effectLst/>
                    <a:latin typeface="Segoe WPC"/>
                  </a:rPr>
                  <a:t>frequently</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2. </a:t>
                </a:r>
                <a:r>
                  <a:rPr lang="es-PE" sz="900" b="1" i="0" dirty="0" err="1">
                    <a:solidFill>
                      <a:schemeClr val="tx1"/>
                    </a:solidFill>
                    <a:effectLst/>
                    <a:latin typeface="Segoe WPC"/>
                  </a:rPr>
                  <a:t>Mortality</a:t>
                </a:r>
                <a:r>
                  <a:rPr lang="es-PE" sz="900" b="1" i="0" dirty="0">
                    <a:solidFill>
                      <a:schemeClr val="tx1"/>
                    </a:solidFill>
                    <a:effectLst/>
                    <a:latin typeface="Segoe WPC"/>
                  </a:rPr>
                  <a:t> Tables and </a:t>
                </a:r>
                <a:r>
                  <a:rPr lang="es-PE" sz="900" b="1" i="0" dirty="0" err="1">
                    <a:solidFill>
                      <a:schemeClr val="tx1"/>
                    </a:solidFill>
                    <a:effectLst/>
                    <a:latin typeface="Segoe WPC"/>
                  </a:rPr>
                  <a:t>Life</a:t>
                </a:r>
                <a:r>
                  <a:rPr lang="es-PE" sz="900" b="1" i="0" dirty="0">
                    <a:solidFill>
                      <a:schemeClr val="tx1"/>
                    </a:solidFill>
                    <a:effectLst/>
                    <a:latin typeface="Segoe WPC"/>
                  </a:rPr>
                  <a:t> </a:t>
                </a:r>
                <a:r>
                  <a:rPr lang="es-PE" sz="900" b="1" i="0" dirty="0" err="1">
                    <a:solidFill>
                      <a:schemeClr val="tx1"/>
                    </a:solidFill>
                    <a:effectLst/>
                    <a:latin typeface="Segoe WPC"/>
                  </a:rPr>
                  <a:t>Expectancy</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Probabilities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death</a:t>
                </a:r>
                <a:r>
                  <a:rPr lang="es-PE" sz="900" b="0" i="0" dirty="0">
                    <a:solidFill>
                      <a:schemeClr val="tx1"/>
                    </a:solidFill>
                    <a:effectLst/>
                    <a:latin typeface="Segoe WPC"/>
                  </a:rPr>
                  <a:t> and </a:t>
                </a:r>
                <a:r>
                  <a:rPr lang="es-PE" sz="900" b="0" i="0" dirty="0" err="1">
                    <a:solidFill>
                      <a:schemeClr val="tx1"/>
                    </a:solidFill>
                    <a:effectLst/>
                    <a:latin typeface="Segoe WPC"/>
                  </a:rPr>
                  <a:t>survival</a:t>
                </a:r>
                <a:r>
                  <a:rPr lang="es-PE" sz="900" b="0" i="0" dirty="0">
                    <a:solidFill>
                      <a:schemeClr val="tx1"/>
                    </a:solidFill>
                    <a:effectLst/>
                    <a:latin typeface="Segoe WPC"/>
                  </a:rPr>
                  <a:t> </a:t>
                </a:r>
                <a:r>
                  <a:rPr lang="es-PE" sz="900" b="0" i="0" dirty="0" err="1">
                    <a:solidFill>
                      <a:schemeClr val="tx1"/>
                    </a:solidFill>
                    <a:effectLst/>
                    <a:latin typeface="Segoe WPC"/>
                  </a:rPr>
                  <a:t>used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actuaries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and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pensions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Mortality</a:t>
                </a:r>
                <a:r>
                  <a:rPr lang="es-PE" sz="900" b="0" i="0" dirty="0">
                    <a:solidFill>
                      <a:schemeClr val="tx1"/>
                    </a:solidFill>
                    <a:effectLst/>
                    <a:latin typeface="Segoe WPC"/>
                  </a:rPr>
                  <a:t> tables show </a:t>
                </a:r>
                <a:r>
                  <a:rPr lang="es-PE" sz="900" b="0" i="0" dirty="0" err="1">
                    <a:solidFill>
                      <a:schemeClr val="tx1"/>
                    </a:solidFill>
                    <a:effectLst/>
                    <a:latin typeface="Segoe WPC"/>
                  </a:rPr>
                  <a:t>the</a:t>
                </a:r>
                <a:r>
                  <a:rPr lang="es-PE" sz="900" b="0" i="0" dirty="0">
                    <a:solidFill>
                      <a:schemeClr val="tx1"/>
                    </a:solidFill>
                    <a:effectLst/>
                    <a:latin typeface="Segoe WPC"/>
                  </a:rPr>
                  <a:t> chance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dying</a:t>
                </a:r>
                <a:r>
                  <a:rPr lang="es-PE" sz="900" b="0" i="0" dirty="0">
                    <a:solidFill>
                      <a:schemeClr val="tx1"/>
                    </a:solidFill>
                    <a:effectLst/>
                    <a:latin typeface="Segoe WPC"/>
                  </a:rPr>
                  <a:t> </a:t>
                </a:r>
                <a:r>
                  <a:rPr lang="es-PE" sz="900" b="0" i="0" dirty="0" err="1">
                    <a:solidFill>
                      <a:schemeClr val="tx1"/>
                    </a:solidFill>
                    <a:effectLst/>
                    <a:latin typeface="Segoe WPC"/>
                  </a:rPr>
                  <a:t>within</a:t>
                </a:r>
                <a:r>
                  <a:rPr lang="es-PE" sz="900" b="0" i="0" dirty="0">
                    <a:solidFill>
                      <a:schemeClr val="tx1"/>
                    </a:solidFill>
                    <a:effectLst/>
                    <a:latin typeface="Segoe WPC"/>
                  </a:rPr>
                  <a:t> a </a:t>
                </a:r>
                <a:r>
                  <a:rPr lang="es-PE" sz="900" b="0" i="0" dirty="0" err="1">
                    <a:solidFill>
                      <a:schemeClr val="tx1"/>
                    </a:solidFill>
                    <a:effectLst/>
                    <a:latin typeface="Segoe WPC"/>
                  </a:rPr>
                  <a:t>year</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cumulative chance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surviving</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later</a:t>
                </a:r>
                <a:r>
                  <a:rPr lang="es-PE" sz="900" b="0" i="0" dirty="0">
                    <a:solidFill>
                      <a:schemeClr val="tx1"/>
                    </a:solidFill>
                    <a:effectLst/>
                    <a:latin typeface="Segoe WPC"/>
                  </a:rPr>
                  <a:t> </a:t>
                </a:r>
                <a:r>
                  <a:rPr lang="es-PE" sz="900" b="0" i="0" dirty="0" err="1">
                    <a:solidFill>
                      <a:schemeClr val="tx1"/>
                    </a:solidFill>
                    <a:effectLst/>
                    <a:latin typeface="Segoe WPC"/>
                  </a:rPr>
                  <a:t>ages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survival</a:t>
                </a:r>
                <a:r>
                  <a:rPr lang="es-PE" sz="900" b="0" i="0" dirty="0">
                    <a:solidFill>
                      <a:schemeClr val="tx1"/>
                    </a:solidFill>
                    <a:effectLst/>
                    <a:latin typeface="Segoe WPC"/>
                  </a:rPr>
                  <a:t> curve declines </a:t>
                </a:r>
                <a:r>
                  <a:rPr lang="es-PE" sz="900" b="0" i="0" dirty="0" err="1">
                    <a:solidFill>
                      <a:schemeClr val="tx1"/>
                    </a:solidFill>
                    <a:effectLst/>
                    <a:latin typeface="Segoe WPC"/>
                  </a:rPr>
                  <a:t>gradually</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age</a:t>
                </a:r>
                <a:r>
                  <a:rPr lang="es-PE" sz="900" b="0" i="0" dirty="0">
                    <a:solidFill>
                      <a:schemeClr val="tx1"/>
                    </a:solidFill>
                    <a:effectLst/>
                    <a:latin typeface="Segoe WPC"/>
                  </a:rPr>
                  <a:t> as </a:t>
                </a:r>
                <a:r>
                  <a:rPr lang="es-PE" sz="900" b="0" i="0" dirty="0" err="1">
                    <a:solidFill>
                      <a:schemeClr val="tx1"/>
                    </a:solidFill>
                    <a:effectLst/>
                    <a:latin typeface="Segoe WPC"/>
                  </a:rPr>
                  <a:t>yearly</a:t>
                </a:r>
                <a:r>
                  <a:rPr lang="es-PE" sz="900" b="0" i="0" dirty="0">
                    <a:solidFill>
                      <a:schemeClr val="tx1"/>
                    </a:solidFill>
                    <a:effectLst/>
                    <a:latin typeface="Segoe WPC"/>
                  </a:rPr>
                  <a:t> </a:t>
                </a:r>
                <a:r>
                  <a:rPr lang="es-PE" sz="900" b="0" i="0" dirty="0" err="1">
                    <a:solidFill>
                      <a:schemeClr val="tx1"/>
                    </a:solidFill>
                    <a:effectLst/>
                    <a:latin typeface="Segoe WPC"/>
                  </a:rPr>
                  <a:t>death</a:t>
                </a:r>
                <a:r>
                  <a:rPr lang="es-PE" sz="900" b="0" i="0" dirty="0">
                    <a:solidFill>
                      <a:schemeClr val="tx1"/>
                    </a:solidFill>
                    <a:effectLst/>
                    <a:latin typeface="Segoe WPC"/>
                  </a:rPr>
                  <a:t> </a:t>
                </a:r>
                <a:r>
                  <a:rPr lang="es-PE" sz="900" b="0" i="0" dirty="0" err="1">
                    <a:solidFill>
                      <a:schemeClr val="tx1"/>
                    </a:solidFill>
                    <a:effectLst/>
                    <a:latin typeface="Segoe WPC"/>
                  </a:rPr>
                  <a:t>probabilities</a:t>
                </a:r>
                <a:r>
                  <a:rPr lang="es-PE" sz="900" b="0" i="0" dirty="0">
                    <a:solidFill>
                      <a:schemeClr val="tx1"/>
                    </a:solidFill>
                    <a:effectLst/>
                    <a:latin typeface="Segoe WPC"/>
                  </a:rPr>
                  <a:t> </a:t>
                </a:r>
                <a:r>
                  <a:rPr lang="es-PE" sz="900" b="0" i="0" dirty="0" err="1">
                    <a:solidFill>
                      <a:schemeClr val="tx1"/>
                    </a:solidFill>
                    <a:effectLst/>
                    <a:latin typeface="Segoe WPC"/>
                  </a:rPr>
                  <a:t>increase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Survival</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year</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𝑛</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1</m:t>
                    </m:r>
                  </m:oMath>
                </a14:m>
                <a:r>
                  <a:rPr lang="es-PE" sz="900" b="0" i="0" dirty="0">
                    <a:solidFill>
                      <a:schemeClr val="tx1"/>
                    </a:solidFill>
                    <a:effectLst/>
                    <a:latin typeface="Segoe WPC"/>
                  </a:rPr>
                  <a:t> = </a:t>
                </a:r>
                <a:r>
                  <a:rPr lang="es-PE" sz="900" b="0" i="0" dirty="0" err="1">
                    <a:solidFill>
                      <a:schemeClr val="tx1"/>
                    </a:solidFill>
                    <a:effectLst/>
                    <a:latin typeface="Segoe WPC"/>
                  </a:rPr>
                  <a:t>survival</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year</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𝑛</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𝑞</m:t>
                            </m:r>
                          </m:e>
                          <m:sub>
                            <m:r>
                              <a:rPr lang="ar-AE" sz="900" i="1">
                                <a:solidFill>
                                  <a:schemeClr val="tx1"/>
                                </a:solidFill>
                                <a:latin typeface="Cambria Math" panose="02040503050406030204" pitchFamily="18" charset="0"/>
                              </a:rPr>
                              <m:t>𝑛</m:t>
                            </m:r>
                          </m:sub>
                        </m:sSub>
                      </m:e>
                    </m:d>
                  </m:oMath>
                </a14:m>
                <a:r>
                  <a:rPr lang="ar-A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𝑞</m:t>
                        </m:r>
                      </m:e>
                      <m:sub>
                        <m:r>
                          <a:rPr lang="ar-AE" sz="900" i="1">
                            <a:solidFill>
                              <a:schemeClr val="tx1"/>
                            </a:solidFill>
                            <a:latin typeface="Cambria Math" panose="02040503050406030204" pitchFamily="18" charset="0"/>
                          </a:rPr>
                          <m:t>𝑛</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one-year</a:t>
                </a:r>
                <a:r>
                  <a:rPr lang="es-PE" sz="900" b="0" i="0" dirty="0">
                    <a:solidFill>
                      <a:schemeClr val="tx1"/>
                    </a:solidFill>
                    <a:effectLst/>
                    <a:latin typeface="Segoe WPC"/>
                  </a:rPr>
                  <a:t> </a:t>
                </a:r>
                <a:r>
                  <a:rPr lang="es-PE" sz="900" b="0" i="0" dirty="0" err="1">
                    <a:solidFill>
                      <a:schemeClr val="tx1"/>
                    </a:solidFill>
                    <a:effectLst/>
                    <a:latin typeface="Segoe WPC"/>
                  </a:rPr>
                  <a:t>death</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expectancy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probability-weighted</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a:t>
                </a:r>
                <a:r>
                  <a:rPr lang="es-PE" sz="900" b="0" i="0" dirty="0" err="1">
                    <a:solidFill>
                      <a:schemeClr val="tx1"/>
                    </a:solidFill>
                    <a:effectLst/>
                    <a:latin typeface="Segoe WPC"/>
                  </a:rPr>
                  <a:t>remaining</a:t>
                </a:r>
                <a:r>
                  <a:rPr lang="es-PE" sz="900" b="0" i="0" dirty="0">
                    <a:solidFill>
                      <a:schemeClr val="tx1"/>
                    </a:solidFill>
                    <a:effectLst/>
                    <a:latin typeface="Segoe WPC"/>
                  </a:rPr>
                  <a:t> </a:t>
                </a:r>
                <a:r>
                  <a:rPr lang="es-PE" sz="900" b="0" i="0" dirty="0" err="1">
                    <a:solidFill>
                      <a:schemeClr val="tx1"/>
                    </a:solidFill>
                    <a:effectLst/>
                    <a:latin typeface="Segoe WPC"/>
                  </a:rPr>
                  <a:t>lifetime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tables determine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payouts</a:t>
                </a:r>
                <a:r>
                  <a:rPr lang="es-PE" sz="900" b="0" i="0" dirty="0">
                    <a:solidFill>
                      <a:schemeClr val="tx1"/>
                    </a:solidFill>
                    <a:effectLst/>
                    <a:latin typeface="Segoe WPC"/>
                  </a:rPr>
                  <a:t>, </a:t>
                </a:r>
                <a:r>
                  <a:rPr lang="es-PE" sz="900" b="0" i="0" dirty="0" err="1">
                    <a:solidFill>
                      <a:schemeClr val="tx1"/>
                    </a:solidFill>
                    <a:effectLst/>
                    <a:latin typeface="Segoe WPC"/>
                  </a:rPr>
                  <a:t>premiums</a:t>
                </a:r>
                <a:r>
                  <a:rPr lang="es-PE" sz="900" b="0" i="0" dirty="0">
                    <a:solidFill>
                      <a:schemeClr val="tx1"/>
                    </a:solidFill>
                    <a:effectLst/>
                    <a:latin typeface="Segoe WPC"/>
                  </a:rPr>
                  <a:t>, </a:t>
                </a:r>
                <a:r>
                  <a:rPr lang="es-PE" sz="900" b="0" i="0" dirty="0" err="1">
                    <a:solidFill>
                      <a:schemeClr val="tx1"/>
                    </a:solidFill>
                    <a:effectLst/>
                    <a:latin typeface="Segoe WPC"/>
                  </a:rPr>
                  <a:t>annuity</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and </a:t>
                </a:r>
                <a:r>
                  <a:rPr lang="es-PE" sz="900" b="0" i="0" dirty="0" err="1">
                    <a:solidFill>
                      <a:schemeClr val="tx1"/>
                    </a:solidFill>
                    <a:effectLst/>
                    <a:latin typeface="Segoe WPC"/>
                  </a:rPr>
                  <a:t>pension</a:t>
                </a:r>
                <a:r>
                  <a:rPr lang="es-PE" sz="900" b="0" i="0" dirty="0">
                    <a:solidFill>
                      <a:schemeClr val="tx1"/>
                    </a:solidFill>
                    <a:effectLst/>
                    <a:latin typeface="Segoe WPC"/>
                  </a:rPr>
                  <a:t> </a:t>
                </a:r>
                <a:r>
                  <a:rPr lang="es-PE" sz="900" b="0" i="0" dirty="0" err="1">
                    <a:solidFill>
                      <a:schemeClr val="tx1"/>
                    </a:solidFill>
                    <a:effectLst/>
                    <a:latin typeface="Segoe WPC"/>
                  </a:rPr>
                  <a:t>obligations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death</a:t>
                </a:r>
                <a:r>
                  <a:rPr lang="es-PE" sz="900" b="0" i="0" dirty="0">
                    <a:solidFill>
                      <a:schemeClr val="tx1"/>
                    </a:solidFill>
                    <a:effectLst/>
                    <a:latin typeface="Segoe WPC"/>
                  </a:rPr>
                  <a:t> </a:t>
                </a:r>
                <a:r>
                  <a:rPr lang="es-PE" sz="900" b="0" i="0" dirty="0" err="1">
                    <a:solidFill>
                      <a:schemeClr val="tx1"/>
                    </a:solidFill>
                    <a:effectLst/>
                    <a:latin typeface="Segoe WPC"/>
                  </a:rPr>
                  <a:t>within</a:t>
                </a:r>
                <a:r>
                  <a:rPr lang="es-PE" sz="900" b="0" i="0" dirty="0">
                    <a:solidFill>
                      <a:schemeClr val="tx1"/>
                    </a:solidFill>
                    <a:effectLst/>
                    <a:latin typeface="Segoe WPC"/>
                  </a:rPr>
                  <a:t> a </a:t>
                </a:r>
                <a:r>
                  <a:rPr lang="es-PE" sz="900" b="0" i="0" dirty="0" err="1">
                    <a:solidFill>
                      <a:schemeClr val="tx1"/>
                    </a:solidFill>
                    <a:effectLst/>
                    <a:latin typeface="Segoe WPC"/>
                  </a:rPr>
                  <a:t>year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conditional</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being</a:t>
                </a:r>
                <a:r>
                  <a:rPr lang="es-PE" sz="900" b="0" i="0" dirty="0">
                    <a:solidFill>
                      <a:schemeClr val="tx1"/>
                    </a:solidFill>
                    <a:effectLst/>
                    <a:latin typeface="Segoe WPC"/>
                  </a:rPr>
                  <a:t> </a:t>
                </a:r>
                <a:r>
                  <a:rPr lang="es-PE" sz="900" b="0" i="0" dirty="0" err="1">
                    <a:solidFill>
                      <a:schemeClr val="tx1"/>
                    </a:solidFill>
                    <a:effectLst/>
                    <a:latin typeface="Segoe WPC"/>
                  </a:rPr>
                  <a:t>alive</a:t>
                </a:r>
                <a:r>
                  <a:rPr lang="es-PE" sz="900" b="0" i="0" dirty="0">
                    <a:solidFill>
                      <a:schemeClr val="tx1"/>
                    </a:solidFill>
                    <a:effectLst/>
                    <a:latin typeface="Segoe WPC"/>
                  </a:rPr>
                  <a:t>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start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year</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3. </a:t>
                </a:r>
                <a:r>
                  <a:rPr lang="es-PE" sz="900" b="1" i="0" dirty="0" err="1">
                    <a:solidFill>
                      <a:schemeClr val="tx1"/>
                    </a:solidFill>
                    <a:effectLst/>
                    <a:latin typeface="Segoe WPC"/>
                  </a:rPr>
                  <a:t>Whole</a:t>
                </a:r>
                <a:r>
                  <a:rPr lang="es-PE" sz="900" b="1" i="0" dirty="0">
                    <a:solidFill>
                      <a:schemeClr val="tx1"/>
                    </a:solidFill>
                    <a:effectLst/>
                    <a:latin typeface="Segoe WPC"/>
                  </a:rPr>
                  <a:t> </a:t>
                </a:r>
                <a:r>
                  <a:rPr lang="es-PE" sz="900" b="1" i="0" dirty="0" err="1">
                    <a:solidFill>
                      <a:schemeClr val="tx1"/>
                    </a:solidFill>
                    <a:effectLst/>
                    <a:latin typeface="Segoe WPC"/>
                  </a:rPr>
                  <a:t>Life</a:t>
                </a:r>
                <a:r>
                  <a:rPr lang="es-PE" sz="900" b="1" i="0" dirty="0">
                    <a:solidFill>
                      <a:schemeClr val="tx1"/>
                    </a:solidFill>
                    <a:effectLst/>
                    <a:latin typeface="Segoe WPC"/>
                  </a:rPr>
                  <a:t> </a:t>
                </a:r>
                <a:r>
                  <a:rPr lang="es-PE" sz="900" b="1" i="0" dirty="0" err="1">
                    <a:solidFill>
                      <a:schemeClr val="tx1"/>
                    </a:solidFill>
                    <a:effectLst/>
                    <a:latin typeface="Segoe WPC"/>
                  </a:rPr>
                  <a:t>Insurance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covering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policyholder’s</a:t>
                </a:r>
                <a:r>
                  <a:rPr lang="es-PE" sz="900" b="0" i="0" dirty="0">
                    <a:solidFill>
                      <a:schemeClr val="tx1"/>
                    </a:solidFill>
                    <a:effectLst/>
                    <a:latin typeface="Segoe WPC"/>
                  </a:rPr>
                  <a:t> </a:t>
                </a:r>
                <a:r>
                  <a:rPr lang="es-PE" sz="900" b="0" i="0" dirty="0" err="1">
                    <a:solidFill>
                      <a:schemeClr val="tx1"/>
                    </a:solidFill>
                    <a:effectLst/>
                    <a:latin typeface="Segoe WPC"/>
                  </a:rPr>
                  <a:t>entire</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Premiums</a:t>
                </a:r>
                <a:r>
                  <a:rPr lang="es-PE" sz="900" b="0" i="0" dirty="0">
                    <a:solidFill>
                      <a:schemeClr val="tx1"/>
                    </a:solidFill>
                    <a:effectLst/>
                    <a:latin typeface="Segoe WPC"/>
                  </a:rPr>
                  <a:t> are </a:t>
                </a:r>
                <a:r>
                  <a:rPr lang="es-PE" sz="900" b="0" i="0" dirty="0" err="1">
                    <a:solidFill>
                      <a:schemeClr val="tx1"/>
                    </a:solidFill>
                    <a:effectLst/>
                    <a:latin typeface="Segoe WPC"/>
                  </a:rPr>
                  <a:t>paid</a:t>
                </a:r>
                <a:r>
                  <a:rPr lang="es-PE" sz="900" b="0" i="0" dirty="0">
                    <a:solidFill>
                      <a:schemeClr val="tx1"/>
                    </a:solidFill>
                    <a:effectLst/>
                    <a:latin typeface="Segoe WPC"/>
                  </a:rPr>
                  <a:t> </a:t>
                </a:r>
                <a:r>
                  <a:rPr lang="es-PE" sz="900" b="0" i="0" dirty="0" err="1">
                    <a:solidFill>
                      <a:schemeClr val="tx1"/>
                    </a:solidFill>
                    <a:effectLst/>
                    <a:latin typeface="Segoe WPC"/>
                  </a:rPr>
                  <a:t>until</a:t>
                </a:r>
                <a:r>
                  <a:rPr lang="es-PE" sz="900" b="0" i="0" dirty="0">
                    <a:solidFill>
                      <a:schemeClr val="tx1"/>
                    </a:solidFill>
                    <a:effectLst/>
                    <a:latin typeface="Segoe WPC"/>
                  </a:rPr>
                  <a:t> </a:t>
                </a:r>
                <a:r>
                  <a:rPr lang="es-PE" sz="900" b="0" i="0" dirty="0" err="1">
                    <a:solidFill>
                      <a:schemeClr val="tx1"/>
                    </a:solidFill>
                    <a:effectLst/>
                    <a:latin typeface="Segoe WPC"/>
                  </a:rPr>
                  <a:t>death</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insurer</a:t>
                </a:r>
                <a:r>
                  <a:rPr lang="es-PE" sz="900" b="0" i="0" dirty="0">
                    <a:solidFill>
                      <a:schemeClr val="tx1"/>
                    </a:solidFill>
                    <a:effectLst/>
                    <a:latin typeface="Segoe WPC"/>
                  </a:rPr>
                  <a:t> </a:t>
                </a:r>
                <a:r>
                  <a:rPr lang="es-PE" sz="900" b="0" i="0" dirty="0" err="1">
                    <a:solidFill>
                      <a:schemeClr val="tx1"/>
                    </a:solidFill>
                    <a:effectLst/>
                    <a:latin typeface="Segoe WPC"/>
                  </a:rPr>
                  <a:t>definitely</a:t>
                </a:r>
                <a:r>
                  <a:rPr lang="es-PE" sz="900" b="0" i="0" dirty="0">
                    <a:solidFill>
                      <a:schemeClr val="tx1"/>
                    </a:solidFill>
                    <a:effectLst/>
                    <a:latin typeface="Segoe WPC"/>
                  </a:rPr>
                  <a:t> </a:t>
                </a:r>
                <a:r>
                  <a:rPr lang="es-PE" sz="900" b="0" i="0" dirty="0" err="1">
                    <a:solidFill>
                      <a:schemeClr val="tx1"/>
                    </a:solidFill>
                    <a:effectLst/>
                    <a:latin typeface="Segoe WPC"/>
                  </a:rPr>
                  <a:t>pays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face</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t>
                </a:r>
                <a:r>
                  <a:rPr lang="es-PE" sz="900" b="0" i="0" dirty="0" err="1">
                    <a:solidFill>
                      <a:schemeClr val="tx1"/>
                    </a:solidFill>
                    <a:effectLst/>
                    <a:latin typeface="Segoe WPC"/>
                  </a:rPr>
                  <a:t>death</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timing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uncertain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cash </a:t>
                </a:r>
                <a:r>
                  <a:rPr lang="es-PE" sz="900" b="0" i="0" dirty="0" err="1">
                    <a:solidFill>
                      <a:schemeClr val="tx1"/>
                    </a:solidFill>
                    <a:effectLst/>
                    <a:latin typeface="Segoe WPC"/>
                  </a:rPr>
                  <a:t>surpluses</a:t>
                </a:r>
                <a:r>
                  <a:rPr lang="es-PE" sz="900" b="0" i="0" dirty="0">
                    <a:solidFill>
                      <a:schemeClr val="tx1"/>
                    </a:solidFill>
                    <a:effectLst/>
                    <a:latin typeface="Segoe WPC"/>
                  </a:rPr>
                  <a:t> </a:t>
                </a:r>
                <a:r>
                  <a:rPr lang="es-PE" sz="900" b="0" i="0" dirty="0" err="1">
                    <a:solidFill>
                      <a:schemeClr val="tx1"/>
                    </a:solidFill>
                    <a:effectLst/>
                    <a:latin typeface="Segoe WPC"/>
                  </a:rPr>
                  <a:t>occur</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 in </a:t>
                </a:r>
                <a:r>
                  <a:rPr lang="es-PE" sz="900" b="0" i="0" dirty="0" err="1">
                    <a:solidFill>
                      <a:schemeClr val="tx1"/>
                    </a:solidFill>
                    <a:effectLst/>
                    <a:latin typeface="Segoe WPC"/>
                  </a:rPr>
                  <a:t>life</a:t>
                </a:r>
                <a:r>
                  <a:rPr lang="es-PE" sz="900" b="0" i="0" dirty="0">
                    <a:solidFill>
                      <a:schemeClr val="tx1"/>
                    </a:solidFill>
                    <a:effectLst/>
                    <a:latin typeface="Segoe WPC"/>
                  </a:rPr>
                  <a:t> and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deficits</a:t>
                </a:r>
                <a:r>
                  <a:rPr lang="es-PE" sz="900" b="0" i="0" dirty="0">
                    <a:solidFill>
                      <a:schemeClr val="tx1"/>
                    </a:solidFill>
                    <a:effectLst/>
                    <a:latin typeface="Segoe WPC"/>
                  </a:rPr>
                  <a:t> </a:t>
                </a:r>
                <a:r>
                  <a:rPr lang="es-PE" sz="900" b="0" i="0" dirty="0" err="1">
                    <a:solidFill>
                      <a:schemeClr val="tx1"/>
                    </a:solidFill>
                    <a:effectLst/>
                    <a:latin typeface="Segoe WPC"/>
                  </a:rPr>
                  <a:t>later</a:t>
                </a:r>
                <a:r>
                  <a:rPr lang="es-PE" sz="900" b="0" i="0" dirty="0">
                    <a:solidFill>
                      <a:schemeClr val="tx1"/>
                    </a:solidFill>
                    <a:effectLst/>
                    <a:latin typeface="Segoe WPC"/>
                  </a:rPr>
                  <a:t>, so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surpluses</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be </a:t>
                </a:r>
                <a:r>
                  <a:rPr lang="es-PE" sz="900" b="0" i="0" dirty="0" err="1">
                    <a:solidFill>
                      <a:schemeClr val="tx1"/>
                    </a:solidFill>
                    <a:effectLst/>
                    <a:latin typeface="Segoe WPC"/>
                  </a:rPr>
                  <a:t>invested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finance</a:t>
                </a:r>
                <a:r>
                  <a:rPr lang="es-PE" sz="900" b="0" i="0" dirty="0">
                    <a:solidFill>
                      <a:schemeClr val="tx1"/>
                    </a:solidFill>
                    <a:effectLst/>
                    <a:latin typeface="Segoe WPC"/>
                  </a:rPr>
                  <a:t> </a:t>
                </a:r>
                <a:r>
                  <a:rPr lang="es-PE" sz="900" b="0" i="0" dirty="0" err="1">
                    <a:solidFill>
                      <a:schemeClr val="tx1"/>
                    </a:solidFill>
                    <a:effectLst/>
                    <a:latin typeface="Segoe WPC"/>
                  </a:rPr>
                  <a:t>later</a:t>
                </a:r>
                <a:r>
                  <a:rPr lang="es-PE" sz="900" b="0" i="0" dirty="0">
                    <a:solidFill>
                      <a:schemeClr val="tx1"/>
                    </a:solidFill>
                    <a:effectLst/>
                    <a:latin typeface="Segoe WPC"/>
                  </a:rPr>
                  <a:t> </a:t>
                </a:r>
                <a:r>
                  <a:rPr lang="es-PE" sz="900" b="0" i="0" dirty="0" err="1">
                    <a:solidFill>
                      <a:schemeClr val="tx1"/>
                    </a:solidFill>
                    <a:effectLst/>
                    <a:latin typeface="Segoe WPC"/>
                  </a:rPr>
                  <a:t>payouts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payout</a:t>
                </a:r>
                <a:r>
                  <a:rPr lang="es-PE" sz="900" b="0" i="0" dirty="0">
                    <a:solidFill>
                      <a:schemeClr val="tx1"/>
                    </a:solidFill>
                    <a:effectLst/>
                    <a:latin typeface="Segoe WPC"/>
                  </a:rPr>
                  <a:t> in a </a:t>
                </a:r>
                <a:r>
                  <a:rPr lang="es-PE" sz="900" b="0" i="0" dirty="0" err="1">
                    <a:solidFill>
                      <a:schemeClr val="tx1"/>
                    </a:solidFill>
                    <a:effectLst/>
                    <a:latin typeface="Segoe WPC"/>
                  </a:rPr>
                  <a:t>year</a:t>
                </a:r>
                <a:r>
                  <a:rPr lang="es-PE" sz="900" b="0" i="0" dirty="0">
                    <a:solidFill>
                      <a:schemeClr val="tx1"/>
                    </a:solidFill>
                    <a:effectLst/>
                    <a:latin typeface="Segoe WPC"/>
                  </a:rPr>
                  <a:t> = </a:t>
                </a:r>
                <a:r>
                  <a:rPr lang="es-PE" sz="900" b="0" i="0" dirty="0" err="1">
                    <a:solidFill>
                      <a:schemeClr val="tx1"/>
                    </a:solidFill>
                    <a:effectLst/>
                    <a:latin typeface="Segoe WPC"/>
                  </a:rPr>
                  <a:t>face</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oMath>
                </a14:m>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death</a:t>
                </a:r>
                <a:r>
                  <a:rPr lang="es-PE" sz="900" b="0" i="0" dirty="0">
                    <a:solidFill>
                      <a:schemeClr val="tx1"/>
                    </a:solidFill>
                    <a:effectLst/>
                    <a:latin typeface="Segoe WPC"/>
                  </a:rPr>
                  <a:t> in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year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Whole</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policies</a:t>
                </a:r>
                <a:r>
                  <a:rPr lang="es-PE" sz="900" b="0" i="0" dirty="0">
                    <a:solidFill>
                      <a:schemeClr val="tx1"/>
                    </a:solidFill>
                    <a:effectLst/>
                    <a:latin typeface="Segoe WPC"/>
                  </a:rPr>
                  <a:t> </a:t>
                </a:r>
                <a:r>
                  <a:rPr lang="es-PE" sz="900" b="0" i="0" dirty="0" err="1">
                    <a:solidFill>
                      <a:schemeClr val="tx1"/>
                    </a:solidFill>
                    <a:effectLst/>
                    <a:latin typeface="Segoe WPC"/>
                  </a:rPr>
                  <a:t>rely</a:t>
                </a:r>
                <a:r>
                  <a:rPr lang="es-PE" sz="900" b="0" i="0" dirty="0">
                    <a:solidFill>
                      <a:schemeClr val="tx1"/>
                    </a:solidFill>
                    <a:effectLst/>
                    <a:latin typeface="Segoe WPC"/>
                  </a:rPr>
                  <a:t> </a:t>
                </a:r>
                <a:r>
                  <a:rPr lang="es-PE" sz="900" b="0" i="0" dirty="0" err="1">
                    <a:solidFill>
                      <a:schemeClr val="tx1"/>
                    </a:solidFill>
                    <a:effectLst/>
                    <a:latin typeface="Segoe WPC"/>
                  </a:rPr>
                  <a:t>heavily</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investment</a:t>
                </a:r>
                <a:r>
                  <a:rPr lang="es-PE" sz="900" b="0" i="0" dirty="0">
                    <a:solidFill>
                      <a:schemeClr val="tx1"/>
                    </a:solidFill>
                    <a:effectLst/>
                    <a:latin typeface="Segoe WPC"/>
                  </a:rPr>
                  <a:t> </a:t>
                </a:r>
                <a:r>
                  <a:rPr lang="es-PE" sz="900" b="0" i="0" dirty="0" err="1">
                    <a:solidFill>
                      <a:schemeClr val="tx1"/>
                    </a:solidFill>
                    <a:effectLst/>
                    <a:latin typeface="Segoe WPC"/>
                  </a:rPr>
                  <a:t>income</a:t>
                </a:r>
                <a:r>
                  <a:rPr lang="es-PE" sz="900" b="0" i="0" dirty="0">
                    <a:solidFill>
                      <a:schemeClr val="tx1"/>
                    </a:solidFill>
                    <a:effectLst/>
                    <a:latin typeface="Segoe WPC"/>
                  </a:rPr>
                  <a:t>. </a:t>
                </a:r>
                <a:r>
                  <a:rPr lang="es-PE" sz="900" b="0" i="0" dirty="0" err="1">
                    <a:solidFill>
                      <a:schemeClr val="tx1"/>
                    </a:solidFill>
                    <a:effectLst/>
                    <a:latin typeface="Segoe WPC"/>
                  </a:rPr>
                  <a:t>Variants</a:t>
                </a:r>
                <a:r>
                  <a:rPr lang="es-PE" sz="900" b="0" i="0" dirty="0">
                    <a:solidFill>
                      <a:schemeClr val="tx1"/>
                    </a:solidFill>
                    <a:effectLst/>
                    <a:latin typeface="Segoe WPC"/>
                  </a:rPr>
                  <a:t> </a:t>
                </a:r>
                <a:r>
                  <a:rPr lang="es-PE" sz="900" b="0" i="0" dirty="0" err="1">
                    <a:solidFill>
                      <a:schemeClr val="tx1"/>
                    </a:solidFill>
                    <a:effectLst/>
                    <a:latin typeface="Segoe WPC"/>
                  </a:rPr>
                  <a:t>include</a:t>
                </a:r>
                <a:r>
                  <a:rPr lang="es-PE" sz="900" b="0" i="0" dirty="0">
                    <a:solidFill>
                      <a:schemeClr val="tx1"/>
                    </a:solidFill>
                    <a:effectLst/>
                    <a:latin typeface="Segoe WPC"/>
                  </a:rPr>
                  <a:t> variable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a:t>
                </a:r>
                <a:r>
                  <a:rPr lang="es-PE" sz="900" b="0" i="0" dirty="0" err="1">
                    <a:solidFill>
                      <a:schemeClr val="tx1"/>
                    </a:solidFill>
                    <a:effectLst/>
                    <a:latin typeface="Segoe WPC"/>
                  </a:rPr>
                  <a:t>policyholders</a:t>
                </a:r>
                <a:r>
                  <a:rPr lang="es-PE" sz="900" b="0" i="0" dirty="0">
                    <a:solidFill>
                      <a:schemeClr val="tx1"/>
                    </a:solidFill>
                    <a:effectLst/>
                    <a:latin typeface="Segoe WPC"/>
                  </a:rPr>
                  <a:t> </a:t>
                </a:r>
                <a:r>
                  <a:rPr lang="es-PE" sz="900" b="0" i="0" dirty="0" err="1">
                    <a:solidFill>
                      <a:schemeClr val="tx1"/>
                    </a:solidFill>
                    <a:effectLst/>
                    <a:latin typeface="Segoe WPC"/>
                  </a:rPr>
                  <a:t>choose</a:t>
                </a:r>
                <a:r>
                  <a:rPr lang="es-PE" sz="900" b="0" i="0" dirty="0">
                    <a:solidFill>
                      <a:schemeClr val="tx1"/>
                    </a:solidFill>
                    <a:effectLst/>
                    <a:latin typeface="Segoe WPC"/>
                  </a:rPr>
                  <a:t> </a:t>
                </a:r>
                <a:r>
                  <a:rPr lang="es-PE" sz="900" b="0" i="0" dirty="0" err="1">
                    <a:solidFill>
                      <a:schemeClr val="tx1"/>
                    </a:solidFill>
                    <a:effectLst/>
                    <a:latin typeface="Segoe WPC"/>
                  </a:rPr>
                  <a:t>investments</a:t>
                </a:r>
                <a:r>
                  <a:rPr lang="es-PE" sz="900" b="0" i="0" dirty="0">
                    <a:solidFill>
                      <a:schemeClr val="tx1"/>
                    </a:solidFill>
                    <a:effectLst/>
                    <a:latin typeface="Segoe WPC"/>
                  </a:rPr>
                  <a:t>, and universal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a:t>
                </a:r>
                <a:r>
                  <a:rPr lang="es-PE" sz="900" b="0" i="0" dirty="0" err="1">
                    <a:solidFill>
                      <a:schemeClr val="tx1"/>
                    </a:solidFill>
                    <a:effectLst/>
                    <a:latin typeface="Segoe WPC"/>
                  </a:rPr>
                  <a:t>premiums</a:t>
                </a:r>
                <a:r>
                  <a:rPr lang="es-PE" sz="900" b="0" i="0" dirty="0">
                    <a:solidFill>
                      <a:schemeClr val="tx1"/>
                    </a:solidFill>
                    <a:effectLst/>
                    <a:latin typeface="Segoe WPC"/>
                  </a:rPr>
                  <a:t> can be </a:t>
                </a:r>
                <a:r>
                  <a:rPr lang="es-PE" sz="900" b="0" i="0" dirty="0" err="1">
                    <a:solidFill>
                      <a:schemeClr val="tx1"/>
                    </a:solidFill>
                    <a:effectLst/>
                    <a:latin typeface="Segoe WPC"/>
                  </a:rPr>
                  <a:t>reduced</a:t>
                </a:r>
                <a:r>
                  <a:rPr lang="es-PE" sz="900" b="0" i="0" dirty="0">
                    <a:solidFill>
                      <a:schemeClr val="tx1"/>
                    </a:solidFill>
                    <a:effectLst/>
                    <a:latin typeface="Segoe WPC"/>
                  </a:rPr>
                  <a:t> </a:t>
                </a:r>
                <a:r>
                  <a:rPr lang="es-PE" sz="900" b="0" i="0" dirty="0" err="1">
                    <a:solidFill>
                      <a:schemeClr val="tx1"/>
                    </a:solidFill>
                    <a:effectLst/>
                    <a:latin typeface="Segoe WPC"/>
                  </a:rPr>
                  <a:t>without</a:t>
                </a:r>
                <a:r>
                  <a:rPr lang="es-PE" sz="900" b="0" i="0" dirty="0">
                    <a:solidFill>
                      <a:schemeClr val="tx1"/>
                    </a:solidFill>
                    <a:effectLst/>
                    <a:latin typeface="Segoe WPC"/>
                  </a:rPr>
                  <a:t> lapse; variable-universal combines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features</a:t>
                </a:r>
                <a:r>
                  <a:rPr lang="es-PE" sz="900" b="0" i="0" dirty="0">
                    <a:solidFill>
                      <a:schemeClr val="tx1"/>
                    </a:solidFill>
                    <a:effectLst/>
                    <a:latin typeface="Segoe WPC"/>
                  </a:rPr>
                  <a:t>. </a:t>
                </a:r>
                <a:r>
                  <a:rPr lang="es-PE" sz="900" b="0" i="0" dirty="0" err="1">
                    <a:solidFill>
                      <a:schemeClr val="tx1"/>
                    </a:solidFill>
                    <a:effectLst/>
                    <a:latin typeface="Segoe WPC"/>
                  </a:rPr>
                  <a:t>Tax</a:t>
                </a:r>
                <a:r>
                  <a:rPr lang="es-PE" sz="900" b="0" i="0" dirty="0">
                    <a:solidFill>
                      <a:schemeClr val="tx1"/>
                    </a:solidFill>
                    <a:effectLst/>
                    <a:latin typeface="Segoe WPC"/>
                  </a:rPr>
                  <a:t> </a:t>
                </a:r>
                <a:r>
                  <a:rPr lang="es-PE" sz="900" b="0" i="0" dirty="0" err="1">
                    <a:solidFill>
                      <a:schemeClr val="tx1"/>
                    </a:solidFill>
                    <a:effectLst/>
                    <a:latin typeface="Segoe WPC"/>
                  </a:rPr>
                  <a:t>advantages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arise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investment</a:t>
                </a:r>
                <a:r>
                  <a:rPr lang="es-PE" sz="900" b="0" i="0" dirty="0">
                    <a:solidFill>
                      <a:schemeClr val="tx1"/>
                    </a:solidFill>
                    <a:effectLst/>
                    <a:latin typeface="Segoe WPC"/>
                  </a:rPr>
                  <a:t> </a:t>
                </a:r>
                <a:r>
                  <a:rPr lang="es-PE" sz="900" b="0" i="0" dirty="0" err="1">
                    <a:solidFill>
                      <a:schemeClr val="tx1"/>
                    </a:solidFill>
                    <a:effectLst/>
                    <a:latin typeface="Segoe WPC"/>
                  </a:rPr>
                  <a:t>income</a:t>
                </a:r>
                <a:r>
                  <a:rPr lang="es-PE" sz="900" b="0" i="0" dirty="0">
                    <a:solidFill>
                      <a:schemeClr val="tx1"/>
                    </a:solidFill>
                    <a:effectLst/>
                    <a:latin typeface="Segoe WPC"/>
                  </a:rPr>
                  <a:t> </a:t>
                </a:r>
                <a:r>
                  <a:rPr lang="es-PE" sz="900" b="0" i="0" dirty="0" err="1">
                    <a:solidFill>
                      <a:schemeClr val="tx1"/>
                    </a:solidFill>
                    <a:effectLst/>
                    <a:latin typeface="Segoe WPC"/>
                  </a:rPr>
                  <a:t>grows</a:t>
                </a:r>
                <a:r>
                  <a:rPr lang="es-PE" sz="900" b="0" i="0" dirty="0">
                    <a:solidFill>
                      <a:schemeClr val="tx1"/>
                    </a:solidFill>
                    <a:effectLst/>
                    <a:latin typeface="Segoe WPC"/>
                  </a:rPr>
                  <a:t> </a:t>
                </a:r>
                <a:r>
                  <a:rPr lang="es-PE" sz="900" b="0" i="0" dirty="0" err="1">
                    <a:solidFill>
                      <a:schemeClr val="tx1"/>
                    </a:solidFill>
                    <a:effectLst/>
                    <a:latin typeface="Segoe WPC"/>
                  </a:rPr>
                  <a:t>inside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contract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Whole</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term</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insurer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certain</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pay</a:t>
                </a:r>
                <a:r>
                  <a:rPr lang="es-PE" sz="900" b="0" i="0" dirty="0">
                    <a:solidFill>
                      <a:schemeClr val="tx1"/>
                    </a:solidFill>
                    <a:effectLst/>
                    <a:latin typeface="Segoe WPC"/>
                  </a:rPr>
                  <a:t> </a:t>
                </a:r>
                <a:r>
                  <a:rPr lang="es-PE" sz="900" b="0" i="0" dirty="0" err="1">
                    <a:solidFill>
                      <a:schemeClr val="tx1"/>
                    </a:solidFill>
                    <a:effectLst/>
                    <a:latin typeface="Segoe WPC"/>
                  </a:rPr>
                  <a:t>eventually</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4. </a:t>
                </a:r>
                <a:r>
                  <a:rPr lang="es-PE" sz="900" b="1" i="0" dirty="0" err="1">
                    <a:solidFill>
                      <a:schemeClr val="tx1"/>
                    </a:solidFill>
                    <a:effectLst/>
                    <a:latin typeface="Segoe WPC"/>
                  </a:rPr>
                  <a:t>Term</a:t>
                </a:r>
                <a:r>
                  <a:rPr lang="es-PE" sz="900" b="1" i="0" dirty="0">
                    <a:solidFill>
                      <a:schemeClr val="tx1"/>
                    </a:solidFill>
                    <a:effectLst/>
                    <a:latin typeface="Segoe WPC"/>
                  </a:rPr>
                  <a:t> </a:t>
                </a:r>
                <a:r>
                  <a:rPr lang="es-PE" sz="900" b="1" i="0" dirty="0" err="1">
                    <a:solidFill>
                      <a:schemeClr val="tx1"/>
                    </a:solidFill>
                    <a:effectLst/>
                    <a:latin typeface="Segoe WPC"/>
                  </a:rPr>
                  <a:t>Insurance</a:t>
                </a:r>
                <a:r>
                  <a:rPr lang="es-PE" sz="900" b="1" i="0" dirty="0">
                    <a:solidFill>
                      <a:schemeClr val="tx1"/>
                    </a:solidFill>
                    <a:effectLst/>
                    <a:latin typeface="Segoe WPC"/>
                  </a:rPr>
                  <a:t>, </a:t>
                </a:r>
                <a:r>
                  <a:rPr lang="es-PE" sz="900" b="1" i="0" dirty="0" err="1">
                    <a:solidFill>
                      <a:schemeClr val="tx1"/>
                    </a:solidFill>
                    <a:effectLst/>
                    <a:latin typeface="Segoe WPC"/>
                  </a:rPr>
                  <a:t>Endowment</a:t>
                </a:r>
                <a:r>
                  <a:rPr lang="es-PE" sz="900" b="1" i="0" dirty="0">
                    <a:solidFill>
                      <a:schemeClr val="tx1"/>
                    </a:solidFill>
                    <a:effectLst/>
                    <a:latin typeface="Segoe WPC"/>
                  </a:rPr>
                  <a:t> </a:t>
                </a:r>
                <a:r>
                  <a:rPr lang="es-PE" sz="900" b="1" i="0" dirty="0" err="1">
                    <a:solidFill>
                      <a:schemeClr val="tx1"/>
                    </a:solidFill>
                    <a:effectLst/>
                    <a:latin typeface="Segoe WPC"/>
                  </a:rPr>
                  <a:t>Insurance</a:t>
                </a:r>
                <a:r>
                  <a:rPr lang="es-PE" sz="900" b="1" i="0" dirty="0">
                    <a:solidFill>
                      <a:schemeClr val="tx1"/>
                    </a:solidFill>
                    <a:effectLst/>
                    <a:latin typeface="Segoe WPC"/>
                  </a:rPr>
                  <a:t>, </a:t>
                </a:r>
                <a:r>
                  <a:rPr lang="es-PE" sz="900" b="1" i="0" dirty="0" err="1">
                    <a:solidFill>
                      <a:schemeClr val="tx1"/>
                    </a:solidFill>
                    <a:effectLst/>
                    <a:latin typeface="Segoe WPC"/>
                  </a:rPr>
                  <a:t>Group</a:t>
                </a:r>
                <a:r>
                  <a:rPr lang="es-PE" sz="900" b="1" i="0" dirty="0">
                    <a:solidFill>
                      <a:schemeClr val="tx1"/>
                    </a:solidFill>
                    <a:effectLst/>
                    <a:latin typeface="Segoe WPC"/>
                  </a:rPr>
                  <a:t> </a:t>
                </a:r>
                <a:r>
                  <a:rPr lang="es-PE" sz="900" b="1" i="0" dirty="0" err="1">
                    <a:solidFill>
                      <a:schemeClr val="tx1"/>
                    </a:solidFill>
                    <a:effectLst/>
                    <a:latin typeface="Segoe WPC"/>
                  </a:rPr>
                  <a:t>Life</a:t>
                </a:r>
                <a:r>
                  <a:rPr lang="es-PE" sz="900" b="1" i="0" dirty="0">
                    <a:solidFill>
                      <a:schemeClr val="tx1"/>
                    </a:solidFill>
                    <a:effectLst/>
                    <a:latin typeface="Segoe WPC"/>
                  </a:rPr>
                  <a:t>, and </a:t>
                </a:r>
                <a:r>
                  <a:rPr lang="es-PE" sz="900" b="1" i="0" dirty="0" err="1">
                    <a:solidFill>
                      <a:schemeClr val="tx1"/>
                    </a:solidFill>
                    <a:effectLst/>
                    <a:latin typeface="Segoe WPC"/>
                  </a:rPr>
                  <a:t>Annuities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 </a:t>
                </a:r>
                <a:r>
                  <a:rPr lang="es-PE" sz="900" b="0" i="0" dirty="0" err="1">
                    <a:solidFill>
                      <a:schemeClr val="tx1"/>
                    </a:solidFill>
                    <a:effectLst/>
                    <a:latin typeface="Segoe WPC"/>
                  </a:rPr>
                  <a:t>major</a:t>
                </a:r>
                <a:r>
                  <a:rPr lang="es-PE" sz="900" b="0" i="0" dirty="0">
                    <a:solidFill>
                      <a:schemeClr val="tx1"/>
                    </a:solidFill>
                    <a:effectLst/>
                    <a:latin typeface="Segoe WPC"/>
                  </a:rPr>
                  <a:t> </a:t>
                </a:r>
                <a:r>
                  <a:rPr lang="es-PE" sz="900" b="0" i="0" dirty="0" err="1">
                    <a:solidFill>
                      <a:schemeClr val="tx1"/>
                    </a:solidFill>
                    <a:effectLst/>
                    <a:latin typeface="Segoe WPC"/>
                  </a:rPr>
                  <a:t>life-insurance-type</a:t>
                </a:r>
                <a:r>
                  <a:rPr lang="es-P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Term</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pays</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death</a:t>
                </a:r>
                <a:r>
                  <a:rPr lang="es-PE" sz="900" b="0" i="0" dirty="0">
                    <a:solidFill>
                      <a:schemeClr val="tx1"/>
                    </a:solidFill>
                    <a:effectLst/>
                    <a:latin typeface="Segoe WPC"/>
                  </a:rPr>
                  <a:t> </a:t>
                </a:r>
                <a:r>
                  <a:rPr lang="es-PE" sz="900" b="0" i="0" dirty="0" err="1">
                    <a:solidFill>
                      <a:schemeClr val="tx1"/>
                    </a:solidFill>
                    <a:effectLst/>
                    <a:latin typeface="Segoe WPC"/>
                  </a:rPr>
                  <a:t>occurs</a:t>
                </a:r>
                <a:r>
                  <a:rPr lang="es-PE" sz="900" b="0" i="0" dirty="0">
                    <a:solidFill>
                      <a:schemeClr val="tx1"/>
                    </a:solidFill>
                    <a:effectLst/>
                    <a:latin typeface="Segoe WPC"/>
                  </a:rPr>
                  <a:t> </a:t>
                </a:r>
                <a:r>
                  <a:rPr lang="es-PE" sz="900" b="0" i="0" dirty="0" err="1">
                    <a:solidFill>
                      <a:schemeClr val="tx1"/>
                    </a:solidFill>
                    <a:effectLst/>
                    <a:latin typeface="Segoe WPC"/>
                  </a:rPr>
                  <a:t>during</a:t>
                </a:r>
                <a:r>
                  <a:rPr lang="es-PE" sz="900" b="0" i="0" dirty="0">
                    <a:solidFill>
                      <a:schemeClr val="tx1"/>
                    </a:solidFill>
                    <a:effectLst/>
                    <a:latin typeface="Segoe WPC"/>
                  </a:rPr>
                  <a:t> a </a:t>
                </a:r>
                <a:r>
                  <a:rPr lang="es-PE" sz="900" b="0" i="0" dirty="0" err="1">
                    <a:solidFill>
                      <a:schemeClr val="tx1"/>
                    </a:solidFill>
                    <a:effectLst/>
                    <a:latin typeface="Segoe WPC"/>
                  </a:rPr>
                  <a:t>fixed</a:t>
                </a:r>
                <a:r>
                  <a:rPr lang="es-PE" sz="900" b="0" i="0" dirty="0">
                    <a:solidFill>
                      <a:schemeClr val="tx1"/>
                    </a:solidFill>
                    <a:effectLst/>
                    <a:latin typeface="Segoe WPC"/>
                  </a:rPr>
                  <a:t> </a:t>
                </a:r>
                <a:r>
                  <a:rPr lang="es-PE" sz="900" b="0" i="0" dirty="0" err="1">
                    <a:solidFill>
                      <a:schemeClr val="tx1"/>
                    </a:solidFill>
                    <a:effectLst/>
                    <a:latin typeface="Segoe WPC"/>
                  </a:rPr>
                  <a:t>period</a:t>
                </a:r>
                <a:r>
                  <a:rPr lang="es-PE" sz="900" b="0" i="0" dirty="0">
                    <a:solidFill>
                      <a:schemeClr val="tx1"/>
                    </a:solidFill>
                    <a:effectLst/>
                    <a:latin typeface="Segoe WPC"/>
                  </a:rPr>
                  <a:t>; </a:t>
                </a:r>
                <a:r>
                  <a:rPr lang="es-PE" sz="900" b="0" i="0" dirty="0" err="1">
                    <a:solidFill>
                      <a:schemeClr val="tx1"/>
                    </a:solidFill>
                    <a:effectLst/>
                    <a:latin typeface="Segoe WPC"/>
                  </a:rPr>
                  <a:t>endowment</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always</a:t>
                </a:r>
                <a:r>
                  <a:rPr lang="es-PE" sz="900" b="0" i="0" dirty="0">
                    <a:solidFill>
                      <a:schemeClr val="tx1"/>
                    </a:solidFill>
                    <a:effectLst/>
                    <a:latin typeface="Segoe WPC"/>
                  </a:rPr>
                  <a:t> </a:t>
                </a:r>
                <a:r>
                  <a:rPr lang="es-PE" sz="900" b="0" i="0" dirty="0" err="1">
                    <a:solidFill>
                      <a:schemeClr val="tx1"/>
                    </a:solidFill>
                    <a:effectLst/>
                    <a:latin typeface="Segoe WPC"/>
                  </a:rPr>
                  <a:t>pays</a:t>
                </a:r>
                <a:r>
                  <a:rPr lang="es-PE" sz="900" b="0" i="0" dirty="0">
                    <a:solidFill>
                      <a:schemeClr val="tx1"/>
                    </a:solidFill>
                    <a:effectLst/>
                    <a:latin typeface="Segoe WPC"/>
                  </a:rPr>
                  <a:t> </a:t>
                </a:r>
                <a:r>
                  <a:rPr lang="es-PE" sz="900" b="0" i="0" dirty="0" err="1">
                    <a:solidFill>
                      <a:schemeClr val="tx1"/>
                    </a:solidFill>
                    <a:effectLst/>
                    <a:latin typeface="Segoe WPC"/>
                  </a:rPr>
                  <a:t>either</a:t>
                </a:r>
                <a:r>
                  <a:rPr lang="es-PE" sz="900" b="0" i="0" dirty="0">
                    <a:solidFill>
                      <a:schemeClr val="tx1"/>
                    </a:solidFill>
                    <a:effectLst/>
                    <a:latin typeface="Segoe WPC"/>
                  </a:rPr>
                  <a:t> at </a:t>
                </a:r>
                <a:r>
                  <a:rPr lang="es-PE" sz="900" b="0" i="0" dirty="0" err="1">
                    <a:solidFill>
                      <a:schemeClr val="tx1"/>
                    </a:solidFill>
                    <a:effectLst/>
                    <a:latin typeface="Segoe WPC"/>
                  </a:rPr>
                  <a:t>death</a:t>
                </a:r>
                <a:r>
                  <a:rPr lang="es-PE" sz="900" b="0" i="0" dirty="0">
                    <a:solidFill>
                      <a:schemeClr val="tx1"/>
                    </a:solidFill>
                    <a:effectLst/>
                    <a:latin typeface="Segoe WPC"/>
                  </a:rPr>
                  <a:t> </a:t>
                </a:r>
                <a:r>
                  <a:rPr lang="es-PE" sz="900" b="0" i="0" dirty="0" err="1">
                    <a:solidFill>
                      <a:schemeClr val="tx1"/>
                    </a:solidFill>
                    <a:effectLst/>
                    <a:latin typeface="Segoe WPC"/>
                  </a:rPr>
                  <a:t>during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term</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t>
                </a:r>
                <a:r>
                  <a:rPr lang="es-PE" sz="900" b="0" i="0" dirty="0" err="1">
                    <a:solidFill>
                      <a:schemeClr val="tx1"/>
                    </a:solidFill>
                    <a:effectLst/>
                    <a:latin typeface="Segoe WPC"/>
                  </a:rPr>
                  <a:t>maturity</a:t>
                </a:r>
                <a:r>
                  <a:rPr lang="es-PE" sz="900" b="0" i="0" dirty="0">
                    <a:solidFill>
                      <a:schemeClr val="tx1"/>
                    </a:solidFill>
                    <a:effectLst/>
                    <a:latin typeface="Segoe WPC"/>
                  </a:rPr>
                  <a:t>; </a:t>
                </a:r>
                <a:r>
                  <a:rPr lang="es-PE" sz="900" b="0" i="0" dirty="0" err="1">
                    <a:solidFill>
                      <a:schemeClr val="tx1"/>
                    </a:solidFill>
                    <a:effectLst/>
                    <a:latin typeface="Segoe WPC"/>
                  </a:rPr>
                  <a:t>group</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covers</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employees</a:t>
                </a:r>
                <a:r>
                  <a:rPr lang="es-PE" sz="900" b="0" i="0" dirty="0">
                    <a:solidFill>
                      <a:schemeClr val="tx1"/>
                    </a:solidFill>
                    <a:effectLst/>
                    <a:latin typeface="Segoe WPC"/>
                  </a:rPr>
                  <a:t> </a:t>
                </a:r>
                <a:r>
                  <a:rPr lang="es-PE" sz="900" b="0" i="0" dirty="0" err="1">
                    <a:solidFill>
                      <a:schemeClr val="tx1"/>
                    </a:solidFill>
                    <a:effectLst/>
                    <a:latin typeface="Segoe WPC"/>
                  </a:rPr>
                  <a:t>together</a:t>
                </a:r>
                <a:r>
                  <a:rPr lang="es-PE" sz="900" b="0" i="0" dirty="0">
                    <a:solidFill>
                      <a:schemeClr val="tx1"/>
                    </a:solidFill>
                    <a:effectLst/>
                    <a:latin typeface="Segoe WPC"/>
                  </a:rPr>
                  <a:t>; </a:t>
                </a:r>
                <a:r>
                  <a:rPr lang="es-PE" sz="900" b="0" i="0" dirty="0" err="1">
                    <a:solidFill>
                      <a:schemeClr val="tx1"/>
                    </a:solidFill>
                    <a:effectLst/>
                    <a:latin typeface="Segoe WPC"/>
                  </a:rPr>
                  <a:t>annuities</a:t>
                </a:r>
                <a:r>
                  <a:rPr lang="es-PE" sz="900" b="0" i="0" dirty="0">
                    <a:solidFill>
                      <a:schemeClr val="tx1"/>
                    </a:solidFill>
                    <a:effectLst/>
                    <a:latin typeface="Segoe WPC"/>
                  </a:rPr>
                  <a:t> reverse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converting</a:t>
                </a:r>
                <a:r>
                  <a:rPr lang="es-PE" sz="900" b="0" i="0" dirty="0">
                    <a:solidFill>
                      <a:schemeClr val="tx1"/>
                    </a:solidFill>
                    <a:effectLst/>
                    <a:latin typeface="Segoe WPC"/>
                  </a:rPr>
                  <a:t> a </a:t>
                </a:r>
                <a:r>
                  <a:rPr lang="es-PE" sz="900" b="0" i="0" dirty="0" err="1">
                    <a:solidFill>
                      <a:schemeClr val="tx1"/>
                    </a:solidFill>
                    <a:effectLst/>
                    <a:latin typeface="Segoe WPC"/>
                  </a:rPr>
                  <a:t>lump</a:t>
                </a:r>
                <a:r>
                  <a:rPr lang="es-PE" sz="900" b="0" i="0" dirty="0">
                    <a:solidFill>
                      <a:schemeClr val="tx1"/>
                    </a:solidFill>
                    <a:effectLst/>
                    <a:latin typeface="Segoe WPC"/>
                  </a:rPr>
                  <a:t> sum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lifetime</a:t>
                </a:r>
                <a:r>
                  <a:rPr lang="es-PE" sz="900" b="0" i="0" dirty="0">
                    <a:solidFill>
                      <a:schemeClr val="tx1"/>
                    </a:solidFill>
                    <a:effectLst/>
                    <a:latin typeface="Segoe WPC"/>
                  </a:rPr>
                  <a:t> </a:t>
                </a:r>
                <a:r>
                  <a:rPr lang="es-PE" sz="900" b="0" i="0" dirty="0" err="1">
                    <a:solidFill>
                      <a:schemeClr val="tx1"/>
                    </a:solidFill>
                    <a:effectLst/>
                    <a:latin typeface="Segoe WPC"/>
                  </a:rPr>
                  <a:t>payments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Term</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protects</a:t>
                </a:r>
                <a:r>
                  <a:rPr lang="es-PE" sz="900" b="0" i="0" dirty="0">
                    <a:solidFill>
                      <a:schemeClr val="tx1"/>
                    </a:solidFill>
                    <a:effectLst/>
                    <a:latin typeface="Segoe WPC"/>
                  </a:rPr>
                  <a:t> </a:t>
                </a:r>
                <a:r>
                  <a:rPr lang="es-PE" sz="900" b="0" i="0" dirty="0" err="1">
                    <a:solidFill>
                      <a:schemeClr val="tx1"/>
                    </a:solidFill>
                    <a:effectLst/>
                    <a:latin typeface="Segoe WPC"/>
                  </a:rPr>
                  <a:t>against</a:t>
                </a:r>
                <a:r>
                  <a:rPr lang="es-PE" sz="900" b="0" i="0" dirty="0">
                    <a:solidFill>
                      <a:schemeClr val="tx1"/>
                    </a:solidFill>
                    <a:effectLst/>
                    <a:latin typeface="Segoe WPC"/>
                  </a:rPr>
                  <a:t> </a:t>
                </a:r>
                <a:r>
                  <a:rPr lang="es-PE" sz="900" b="0" i="0" dirty="0" err="1">
                    <a:solidFill>
                      <a:schemeClr val="tx1"/>
                    </a:solidFill>
                    <a:effectLst/>
                    <a:latin typeface="Segoe WPC"/>
                  </a:rPr>
                  <a:t>dying</a:t>
                </a:r>
                <a:r>
                  <a:rPr lang="es-PE" sz="900" b="0" i="0" dirty="0">
                    <a:solidFill>
                      <a:schemeClr val="tx1"/>
                    </a:solidFill>
                    <a:effectLst/>
                    <a:latin typeface="Segoe WPC"/>
                  </a:rPr>
                  <a:t> </a:t>
                </a:r>
                <a:r>
                  <a:rPr lang="es-PE" sz="900" b="0" i="0" dirty="0" err="1">
                    <a:solidFill>
                      <a:schemeClr val="tx1"/>
                    </a:solidFill>
                    <a:effectLst/>
                    <a:latin typeface="Segoe WPC"/>
                  </a:rPr>
                  <a:t>too</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annuities</a:t>
                </a:r>
                <a:r>
                  <a:rPr lang="es-PE" sz="900" b="0" i="0" dirty="0">
                    <a:solidFill>
                      <a:schemeClr val="tx1"/>
                    </a:solidFill>
                    <a:effectLst/>
                    <a:latin typeface="Segoe WPC"/>
                  </a:rPr>
                  <a:t> </a:t>
                </a:r>
                <a:r>
                  <a:rPr lang="es-PE" sz="900" b="0" i="0" dirty="0" err="1">
                    <a:solidFill>
                      <a:schemeClr val="tx1"/>
                    </a:solidFill>
                    <a:effectLst/>
                    <a:latin typeface="Segoe WPC"/>
                  </a:rPr>
                  <a:t>protect</a:t>
                </a:r>
                <a:r>
                  <a:rPr lang="es-PE" sz="900" b="0" i="0" dirty="0">
                    <a:solidFill>
                      <a:schemeClr val="tx1"/>
                    </a:solidFill>
                    <a:effectLst/>
                    <a:latin typeface="Segoe WPC"/>
                  </a:rPr>
                  <a:t> </a:t>
                </a:r>
                <a:r>
                  <a:rPr lang="es-PE" sz="900" b="0" i="0" dirty="0" err="1">
                    <a:solidFill>
                      <a:schemeClr val="tx1"/>
                    </a:solidFill>
                    <a:effectLst/>
                    <a:latin typeface="Segoe WPC"/>
                  </a:rPr>
                  <a:t>against</a:t>
                </a:r>
                <a:r>
                  <a:rPr lang="es-PE" sz="900" b="0" i="0" dirty="0">
                    <a:solidFill>
                      <a:schemeClr val="tx1"/>
                    </a:solidFill>
                    <a:effectLst/>
                    <a:latin typeface="Segoe WPC"/>
                  </a:rPr>
                  <a:t> living </a:t>
                </a:r>
                <a:r>
                  <a:rPr lang="es-PE" sz="900" b="0" i="0" dirty="0" err="1">
                    <a:solidFill>
                      <a:schemeClr val="tx1"/>
                    </a:solidFill>
                    <a:effectLst/>
                    <a:latin typeface="Segoe WPC"/>
                  </a:rPr>
                  <a:t>too</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Breakeven</a:t>
                </a:r>
                <a:r>
                  <a:rPr lang="es-PE" sz="900" b="0" i="0" dirty="0">
                    <a:solidFill>
                      <a:schemeClr val="tx1"/>
                    </a:solidFill>
                    <a:effectLst/>
                    <a:latin typeface="Segoe WPC"/>
                  </a:rPr>
                  <a:t> premium = </a:t>
                </a:r>
                <a:r>
                  <a:rPr lang="es-PE" sz="900" b="0" i="0" dirty="0" err="1">
                    <a:solidFill>
                      <a:schemeClr val="tx1"/>
                    </a:solidFill>
                    <a:effectLst/>
                    <a:latin typeface="Segoe WPC"/>
                  </a:rPr>
                  <a:t>present</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payouts</a:t>
                </a:r>
                <a:r>
                  <a:rPr lang="es-PE" sz="900" b="0" i="0" dirty="0">
                    <a:solidFill>
                      <a:schemeClr val="tx1"/>
                    </a:solidFill>
                    <a:effectLst/>
                    <a:latin typeface="Segoe WPC"/>
                  </a:rPr>
                  <a:t> </a:t>
                </a:r>
                <a:r>
                  <a:rPr lang="es-PE" sz="900" b="0" i="0" dirty="0" err="1">
                    <a:solidFill>
                      <a:schemeClr val="tx1"/>
                    </a:solidFill>
                    <a:effectLst/>
                    <a:latin typeface="Segoe WPC"/>
                  </a:rPr>
                  <a:t>divided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present</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premiums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Group</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avoids</a:t>
                </a:r>
                <a:r>
                  <a:rPr lang="es-PE" sz="900" b="0" i="0" dirty="0">
                    <a:solidFill>
                      <a:schemeClr val="tx1"/>
                    </a:solidFill>
                    <a:effectLst/>
                    <a:latin typeface="Segoe WPC"/>
                  </a:rPr>
                  <a:t> extensive individual </a:t>
                </a:r>
                <a:r>
                  <a:rPr lang="es-PE" sz="900" b="0" i="0" dirty="0" err="1">
                    <a:solidFill>
                      <a:schemeClr val="tx1"/>
                    </a:solidFill>
                    <a:effectLst/>
                    <a:latin typeface="Segoe WPC"/>
                  </a:rPr>
                  <a:t>underwriting</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risks</a:t>
                </a:r>
                <a:r>
                  <a:rPr lang="es-PE" sz="900" b="0" i="0" dirty="0">
                    <a:solidFill>
                      <a:schemeClr val="tx1"/>
                    </a:solidFill>
                    <a:effectLst/>
                    <a:latin typeface="Segoe WPC"/>
                  </a:rPr>
                  <a:t> are </a:t>
                </a:r>
                <a:r>
                  <a:rPr lang="es-PE" sz="900" b="0" i="0" dirty="0" err="1">
                    <a:solidFill>
                      <a:schemeClr val="tx1"/>
                    </a:solidFill>
                    <a:effectLst/>
                    <a:latin typeface="Segoe WPC"/>
                  </a:rPr>
                  <a:t>pooled</a:t>
                </a:r>
                <a:r>
                  <a:rPr lang="es-PE" sz="900" b="0" i="0" dirty="0">
                    <a:solidFill>
                      <a:schemeClr val="tx1"/>
                    </a:solidFill>
                    <a:effectLst/>
                    <a:latin typeface="Segoe WPC"/>
                  </a:rPr>
                  <a:t>. </a:t>
                </a:r>
                <a:r>
                  <a:rPr lang="es-PE" sz="900" b="0" i="0" dirty="0" err="1">
                    <a:solidFill>
                      <a:schemeClr val="tx1"/>
                    </a:solidFill>
                    <a:effectLst/>
                    <a:latin typeface="Segoe WPC"/>
                  </a:rPr>
                  <a:t>Deferred</a:t>
                </a:r>
                <a:r>
                  <a:rPr lang="es-PE" sz="900" b="0" i="0" dirty="0">
                    <a:solidFill>
                      <a:schemeClr val="tx1"/>
                    </a:solidFill>
                    <a:effectLst/>
                    <a:latin typeface="Segoe WPC"/>
                  </a:rPr>
                  <a:t> </a:t>
                </a:r>
                <a:r>
                  <a:rPr lang="es-PE" sz="900" b="0" i="0" dirty="0" err="1">
                    <a:solidFill>
                      <a:schemeClr val="tx1"/>
                    </a:solidFill>
                    <a:effectLst/>
                    <a:latin typeface="Segoe WPC"/>
                  </a:rPr>
                  <a:t>annuities</a:t>
                </a:r>
                <a:r>
                  <a:rPr lang="es-PE" sz="900" b="0" i="0" dirty="0">
                    <a:solidFill>
                      <a:schemeClr val="tx1"/>
                    </a:solidFill>
                    <a:effectLst/>
                    <a:latin typeface="Segoe WPC"/>
                  </a:rPr>
                  <a:t> </a:t>
                </a:r>
                <a:r>
                  <a:rPr lang="es-PE" sz="900" b="0" i="0" dirty="0" err="1">
                    <a:solidFill>
                      <a:schemeClr val="tx1"/>
                    </a:solidFill>
                    <a:effectLst/>
                    <a:latin typeface="Segoe WPC"/>
                  </a:rPr>
                  <a:t>start</a:t>
                </a:r>
                <a:r>
                  <a:rPr lang="es-PE" sz="900" b="0" i="0" dirty="0">
                    <a:solidFill>
                      <a:schemeClr val="tx1"/>
                    </a:solidFill>
                    <a:effectLst/>
                    <a:latin typeface="Segoe WPC"/>
                  </a:rPr>
                  <a:t> </a:t>
                </a:r>
                <a:r>
                  <a:rPr lang="es-PE" sz="900" b="0" i="0" dirty="0" err="1">
                    <a:solidFill>
                      <a:schemeClr val="tx1"/>
                    </a:solidFill>
                    <a:effectLst/>
                    <a:latin typeface="Segoe WPC"/>
                  </a:rPr>
                  <a:t>later</a:t>
                </a:r>
                <a:r>
                  <a:rPr lang="es-PE" sz="900" b="0" i="0" dirty="0">
                    <a:solidFill>
                      <a:schemeClr val="tx1"/>
                    </a:solidFill>
                    <a:effectLst/>
                    <a:latin typeface="Segoe WPC"/>
                  </a:rPr>
                  <a:t> and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contain</a:t>
                </a:r>
                <a:r>
                  <a:rPr lang="es-PE" sz="900" b="0" i="0" dirty="0">
                    <a:solidFill>
                      <a:schemeClr val="tx1"/>
                    </a:solidFill>
                    <a:effectLst/>
                    <a:latin typeface="Segoe WPC"/>
                  </a:rPr>
                  <a:t> </a:t>
                </a:r>
                <a:r>
                  <a:rPr lang="es-PE" sz="900" b="0" i="0" dirty="0" err="1">
                    <a:solidFill>
                      <a:schemeClr val="tx1"/>
                    </a:solidFill>
                    <a:effectLst/>
                    <a:latin typeface="Segoe WPC"/>
                  </a:rPr>
                  <a:t>guarantees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investment-linked</a:t>
                </a:r>
                <a:r>
                  <a:rPr lang="es-PE" sz="900" b="0" i="0" dirty="0">
                    <a:solidFill>
                      <a:schemeClr val="tx1"/>
                    </a:solidFill>
                    <a:effectLst/>
                    <a:latin typeface="Segoe WPC"/>
                  </a:rPr>
                  <a:t> </a:t>
                </a:r>
                <a:r>
                  <a:rPr lang="es-PE" sz="900" b="0" i="0" dirty="0" err="1">
                    <a:solidFill>
                      <a:schemeClr val="tx1"/>
                    </a:solidFill>
                    <a:effectLst/>
                    <a:latin typeface="Segoe WPC"/>
                  </a:rPr>
                  <a:t>features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and </a:t>
                </a:r>
                <a:r>
                  <a:rPr lang="es-PE" sz="900" b="0" i="0" dirty="0" err="1">
                    <a:solidFill>
                      <a:schemeClr val="tx1"/>
                    </a:solidFill>
                    <a:effectLst/>
                    <a:latin typeface="Segoe WPC"/>
                  </a:rPr>
                  <a:t>annuities</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opposite</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mortality</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death</a:t>
                </a:r>
                <a:r>
                  <a:rPr lang="es-PE" sz="900" b="0" i="0" dirty="0">
                    <a:solidFill>
                      <a:schemeClr val="tx1"/>
                    </a:solidFill>
                    <a:effectLst/>
                    <a:latin typeface="Segoe WPC"/>
                  </a:rPr>
                  <a:t> </a:t>
                </a:r>
                <a:r>
                  <a:rPr lang="es-PE" sz="900" b="0" i="0" dirty="0" err="1">
                    <a:solidFill>
                      <a:schemeClr val="tx1"/>
                    </a:solidFill>
                    <a:effectLst/>
                    <a:latin typeface="Segoe WPC"/>
                  </a:rPr>
                  <a:t>hurts</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insurers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helps</a:t>
                </a:r>
                <a:r>
                  <a:rPr lang="es-PE" sz="900" b="0" i="0" dirty="0">
                    <a:solidFill>
                      <a:schemeClr val="tx1"/>
                    </a:solidFill>
                    <a:effectLst/>
                    <a:latin typeface="Segoe WPC"/>
                  </a:rPr>
                  <a:t> </a:t>
                </a:r>
                <a:r>
                  <a:rPr lang="es-PE" sz="900" b="0" i="0" dirty="0" err="1">
                    <a:solidFill>
                      <a:schemeClr val="tx1"/>
                    </a:solidFill>
                    <a:effectLst/>
                    <a:latin typeface="Segoe WPC"/>
                  </a:rPr>
                  <a:t>annuity</a:t>
                </a:r>
                <a:r>
                  <a:rPr lang="es-PE" sz="900" b="0" i="0" dirty="0">
                    <a:solidFill>
                      <a:schemeClr val="tx1"/>
                    </a:solidFill>
                    <a:effectLst/>
                    <a:latin typeface="Segoe WPC"/>
                  </a:rPr>
                  <a:t> </a:t>
                </a:r>
                <a:r>
                  <a:rPr lang="es-PE" sz="900" b="0" i="0" dirty="0" err="1">
                    <a:solidFill>
                      <a:schemeClr val="tx1"/>
                    </a:solidFill>
                    <a:effectLst/>
                    <a:latin typeface="Segoe WPC"/>
                  </a:rPr>
                  <a:t>writers</a:t>
                </a:r>
                <a:r>
                  <a:rPr lang="es-PE" sz="900" b="0" i="0" dirty="0">
                    <a:solidFill>
                      <a:schemeClr val="tx1"/>
                    </a:solidFill>
                    <a:effectLst/>
                    <a:latin typeface="Segoe WPC"/>
                  </a:rPr>
                  <a:t>.</a:t>
                </a:r>
              </a:p>
            </p:txBody>
          </p:sp>
        </mc:Choice>
        <mc:Fallback xmlns="">
          <p:sp>
            <p:nvSpPr>
              <p:cNvPr id="9" name="CuadroTexto 8">
                <a:extLst>
                  <a:ext uri="{FF2B5EF4-FFF2-40B4-BE49-F238E27FC236}">
                    <a16:creationId xmlns:a16="http://schemas.microsoft.com/office/drawing/2014/main" id="{8AB09FFC-3967-3F44-40A8-B14102E95290}"/>
                  </a:ext>
                </a:extLst>
              </p:cNvPr>
              <p:cNvSpPr txBox="1">
                <a:spLocks noRot="1" noChangeAspect="1" noMove="1" noResize="1" noEditPoints="1" noAdjustHandles="1" noChangeArrowheads="1" noChangeShapeType="1" noTextEdit="1"/>
              </p:cNvSpPr>
              <p:nvPr/>
            </p:nvSpPr>
            <p:spPr>
              <a:xfrm>
                <a:off x="0" y="105013"/>
                <a:ext cx="5848350" cy="7063472"/>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5A868FEF-8088-B774-DE06-E828D74C7C1F}"/>
                  </a:ext>
                </a:extLst>
              </p:cNvPr>
              <p:cNvSpPr txBox="1"/>
              <p:nvPr/>
            </p:nvSpPr>
            <p:spPr>
              <a:xfrm>
                <a:off x="5741307" y="-84395"/>
                <a:ext cx="6336505" cy="7617470"/>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5. </a:t>
                </a:r>
                <a:r>
                  <a:rPr lang="es-PE" sz="900" b="1" i="0" dirty="0" err="1">
                    <a:solidFill>
                      <a:schemeClr val="tx1"/>
                    </a:solidFill>
                    <a:effectLst/>
                    <a:latin typeface="Segoe WPC"/>
                  </a:rPr>
                  <a:t>Longevity</a:t>
                </a:r>
                <a:r>
                  <a:rPr lang="es-PE" sz="900" b="1" i="0" dirty="0">
                    <a:solidFill>
                      <a:schemeClr val="tx1"/>
                    </a:solidFill>
                    <a:effectLst/>
                    <a:latin typeface="Segoe WPC"/>
                  </a:rPr>
                  <a:t>, </a:t>
                </a:r>
                <a:r>
                  <a:rPr lang="es-PE" sz="900" b="1" i="0" dirty="0" err="1">
                    <a:solidFill>
                      <a:schemeClr val="tx1"/>
                    </a:solidFill>
                    <a:effectLst/>
                    <a:latin typeface="Segoe WPC"/>
                  </a:rPr>
                  <a:t>Mortality</a:t>
                </a:r>
                <a:r>
                  <a:rPr lang="es-PE" sz="900" b="1" i="0" dirty="0">
                    <a:solidFill>
                      <a:schemeClr val="tx1"/>
                    </a:solidFill>
                    <a:effectLst/>
                    <a:latin typeface="Segoe WPC"/>
                  </a:rPr>
                  <a:t>, and </a:t>
                </a:r>
                <a:r>
                  <a:rPr lang="es-PE" sz="900" b="1" i="0" dirty="0" err="1">
                    <a:solidFill>
                      <a:schemeClr val="tx1"/>
                    </a:solidFill>
                    <a:effectLst/>
                    <a:latin typeface="Segoe WPC"/>
                  </a:rPr>
                  <a:t>Investment</a:t>
                </a:r>
                <a:r>
                  <a:rPr lang="es-PE" sz="900" b="1" i="0" dirty="0">
                    <a:solidFill>
                      <a:schemeClr val="tx1"/>
                    </a:solidFill>
                    <a:effectLst/>
                    <a:latin typeface="Segoe WPC"/>
                  </a:rPr>
                  <a:t> </a:t>
                </a:r>
                <a:r>
                  <a:rPr lang="es-PE" sz="900" b="1" i="0" dirty="0" err="1">
                    <a:solidFill>
                      <a:schemeClr val="tx1"/>
                    </a:solidFill>
                    <a:effectLst/>
                    <a:latin typeface="Segoe WPC"/>
                  </a:rPr>
                  <a:t>Risk</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Key </a:t>
                </a:r>
                <a:r>
                  <a:rPr lang="es-PE" sz="900" b="0" i="0" dirty="0" err="1">
                    <a:solidFill>
                      <a:schemeClr val="tx1"/>
                    </a:solidFill>
                    <a:effectLst/>
                    <a:latin typeface="Segoe WPC"/>
                  </a:rPr>
                  <a:t>risks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insurers</a:t>
                </a:r>
                <a:r>
                  <a:rPr lang="es-PE" sz="900" b="0" i="0" dirty="0">
                    <a:solidFill>
                      <a:schemeClr val="tx1"/>
                    </a:solidFill>
                    <a:effectLst/>
                    <a:latin typeface="Segoe WPC"/>
                  </a:rPr>
                  <a:t>’ </a:t>
                </a:r>
                <a:r>
                  <a:rPr lang="es-PE" sz="900" b="0" i="0" dirty="0" err="1">
                    <a:solidFill>
                      <a:schemeClr val="tx1"/>
                    </a:solidFill>
                    <a:effectLst/>
                    <a:latin typeface="Segoe WPC"/>
                  </a:rPr>
                  <a:t>liabilities</a:t>
                </a:r>
                <a:r>
                  <a:rPr lang="es-PE" sz="900" b="0" i="0" dirty="0">
                    <a:solidFill>
                      <a:schemeClr val="tx1"/>
                    </a:solidFill>
                    <a:effectLst/>
                    <a:latin typeface="Segoe WPC"/>
                  </a:rPr>
                  <a:t> and </a:t>
                </a:r>
                <a:r>
                  <a:rPr lang="es-PE" sz="900" b="0" i="0" dirty="0" err="1">
                    <a:solidFill>
                      <a:schemeClr val="tx1"/>
                    </a:solidFill>
                    <a:effectLst/>
                    <a:latin typeface="Segoe WPC"/>
                  </a:rPr>
                  <a:t>assets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Longevity</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people</a:t>
                </a:r>
                <a:r>
                  <a:rPr lang="es-PE" sz="900" b="0" i="0" dirty="0">
                    <a:solidFill>
                      <a:schemeClr val="tx1"/>
                    </a:solidFill>
                    <a:effectLst/>
                    <a:latin typeface="Segoe WPC"/>
                  </a:rPr>
                  <a:t> </a:t>
                </a:r>
                <a:r>
                  <a:rPr lang="es-PE" sz="900" b="0" i="0" dirty="0" err="1">
                    <a:solidFill>
                      <a:schemeClr val="tx1"/>
                    </a:solidFill>
                    <a:effectLst/>
                    <a:latin typeface="Segoe WPC"/>
                  </a:rPr>
                  <a:t>live</a:t>
                </a:r>
                <a:r>
                  <a:rPr lang="es-PE" sz="900" b="0" i="0" dirty="0">
                    <a:solidFill>
                      <a:schemeClr val="tx1"/>
                    </a:solidFill>
                    <a:effectLst/>
                    <a:latin typeface="Segoe WPC"/>
                  </a:rPr>
                  <a:t> </a:t>
                </a:r>
                <a:r>
                  <a:rPr lang="es-PE" sz="900" b="0" i="0" dirty="0" err="1">
                    <a:solidFill>
                      <a:schemeClr val="tx1"/>
                    </a:solidFill>
                    <a:effectLst/>
                    <a:latin typeface="Segoe WPC"/>
                  </a:rPr>
                  <a:t>longer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mortality</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die </a:t>
                </a:r>
                <a:r>
                  <a:rPr lang="es-PE" sz="900" b="0" i="0" dirty="0" err="1">
                    <a:solidFill>
                      <a:schemeClr val="tx1"/>
                    </a:solidFill>
                    <a:effectLst/>
                    <a:latin typeface="Segoe WPC"/>
                  </a:rPr>
                  <a:t>sooner</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benefits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longevity</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annuities</a:t>
                </a:r>
                <a:r>
                  <a:rPr lang="es-PE" sz="900" b="0" i="0" dirty="0">
                    <a:solidFill>
                      <a:schemeClr val="tx1"/>
                    </a:solidFill>
                    <a:effectLst/>
                    <a:latin typeface="Segoe WPC"/>
                  </a:rPr>
                  <a:t> and </a:t>
                </a:r>
                <a:r>
                  <a:rPr lang="es-PE" sz="900" b="0" i="0" dirty="0" err="1">
                    <a:solidFill>
                      <a:schemeClr val="tx1"/>
                    </a:solidFill>
                    <a:effectLst/>
                    <a:latin typeface="Segoe WPC"/>
                  </a:rPr>
                  <a:t>defined</a:t>
                </a:r>
                <a:r>
                  <a:rPr lang="es-PE" sz="900" b="0" i="0" dirty="0">
                    <a:solidFill>
                      <a:schemeClr val="tx1"/>
                    </a:solidFill>
                    <a:effectLst/>
                    <a:latin typeface="Segoe WPC"/>
                  </a:rPr>
                  <a:t> </a:t>
                </a:r>
                <a:r>
                  <a:rPr lang="es-PE" sz="900" b="0" i="0" dirty="0" err="1">
                    <a:solidFill>
                      <a:schemeClr val="tx1"/>
                    </a:solidFill>
                    <a:effectLst/>
                    <a:latin typeface="Segoe WPC"/>
                  </a:rPr>
                  <a:t>benefit</a:t>
                </a:r>
                <a:r>
                  <a:rPr lang="es-PE" sz="900" b="0" i="0" dirty="0">
                    <a:solidFill>
                      <a:schemeClr val="tx1"/>
                    </a:solidFill>
                    <a:effectLst/>
                    <a:latin typeface="Segoe WPC"/>
                  </a:rPr>
                  <a:t> </a:t>
                </a:r>
                <a:r>
                  <a:rPr lang="es-PE" sz="900" b="0" i="0" dirty="0" err="1">
                    <a:solidFill>
                      <a:schemeClr val="tx1"/>
                    </a:solidFill>
                    <a:effectLst/>
                    <a:latin typeface="Segoe WPC"/>
                  </a:rPr>
                  <a:t>pensions</a:t>
                </a:r>
                <a:r>
                  <a:rPr lang="es-PE" sz="900" b="0" i="0" dirty="0">
                    <a:solidFill>
                      <a:schemeClr val="tx1"/>
                    </a:solidFill>
                    <a:effectLst/>
                    <a:latin typeface="Segoe WPC"/>
                  </a:rPr>
                  <a:t> are </a:t>
                </a:r>
                <a:r>
                  <a:rPr lang="es-PE" sz="900" b="0" i="0" dirty="0" err="1">
                    <a:solidFill>
                      <a:schemeClr val="tx1"/>
                    </a:solidFill>
                    <a:effectLst/>
                    <a:latin typeface="Segoe WPC"/>
                  </a:rPr>
                  <a:t>hurt</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Longer</a:t>
                </a:r>
                <a:r>
                  <a:rPr lang="es-PE" sz="900" b="0" i="0" dirty="0">
                    <a:solidFill>
                      <a:schemeClr val="tx1"/>
                    </a:solidFill>
                    <a:effectLst/>
                    <a:latin typeface="Segoe WPC"/>
                  </a:rPr>
                  <a:t> </a:t>
                </a:r>
                <a:r>
                  <a:rPr lang="es-PE" sz="900" b="0" i="0" dirty="0" err="1">
                    <a:solidFill>
                      <a:schemeClr val="tx1"/>
                    </a:solidFill>
                    <a:effectLst/>
                    <a:latin typeface="Segoe WPC"/>
                  </a:rPr>
                  <a:t>lives</a:t>
                </a:r>
                <a:r>
                  <a:rPr lang="es-PE" sz="900" b="0" i="0" dirty="0">
                    <a:solidFill>
                      <a:schemeClr val="tx1"/>
                    </a:solidFill>
                    <a:effectLst/>
                    <a:latin typeface="Segoe WPC"/>
                  </a:rPr>
                  <a:t> </a:t>
                </a:r>
                <a:r>
                  <a:rPr lang="es-PE" sz="900" b="0" i="0" dirty="0" err="1">
                    <a:solidFill>
                      <a:schemeClr val="tx1"/>
                    </a:solidFill>
                    <a:effectLst/>
                    <a:latin typeface="Segoe WPC"/>
                  </a:rPr>
                  <a:t>delay</a:t>
                </a:r>
                <a:r>
                  <a:rPr lang="es-PE" sz="900" b="0" i="0" dirty="0">
                    <a:solidFill>
                      <a:schemeClr val="tx1"/>
                    </a:solidFill>
                    <a:effectLst/>
                    <a:latin typeface="Segoe WPC"/>
                  </a:rPr>
                  <a:t> </a:t>
                </a:r>
                <a:r>
                  <a:rPr lang="es-PE" sz="900" b="0" i="0" dirty="0" err="1">
                    <a:solidFill>
                      <a:schemeClr val="tx1"/>
                    </a:solidFill>
                    <a:effectLst/>
                    <a:latin typeface="Segoe WPC"/>
                  </a:rPr>
                  <a:t>death</a:t>
                </a:r>
                <a:r>
                  <a:rPr lang="es-PE" sz="900" b="0" i="0" dirty="0">
                    <a:solidFill>
                      <a:schemeClr val="tx1"/>
                    </a:solidFill>
                    <a:effectLst/>
                    <a:latin typeface="Segoe WPC"/>
                  </a:rPr>
                  <a:t> </a:t>
                </a:r>
                <a:r>
                  <a:rPr lang="es-PE" sz="900" b="0" i="0" dirty="0" err="1">
                    <a:solidFill>
                      <a:schemeClr val="tx1"/>
                    </a:solidFill>
                    <a:effectLst/>
                    <a:latin typeface="Segoe WPC"/>
                  </a:rPr>
                  <a:t>benefits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increase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length</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annuity</a:t>
                </a:r>
                <a:r>
                  <a:rPr lang="es-PE" sz="900" b="0" i="0" dirty="0">
                    <a:solidFill>
                      <a:schemeClr val="tx1"/>
                    </a:solidFill>
                    <a:effectLst/>
                    <a:latin typeface="Segoe WPC"/>
                  </a:rPr>
                  <a:t> and </a:t>
                </a:r>
                <a:r>
                  <a:rPr lang="es-PE" sz="900" b="0" i="0" dirty="0" err="1">
                    <a:solidFill>
                      <a:schemeClr val="tx1"/>
                    </a:solidFill>
                    <a:effectLst/>
                    <a:latin typeface="Segoe WPC"/>
                  </a:rPr>
                  <a:t>pension</a:t>
                </a:r>
                <a:r>
                  <a:rPr lang="es-PE" sz="900" b="0" i="0" dirty="0">
                    <a:solidFill>
                      <a:schemeClr val="tx1"/>
                    </a:solidFill>
                    <a:effectLst/>
                    <a:latin typeface="Segoe WPC"/>
                  </a:rPr>
                  <a:t> </a:t>
                </a:r>
                <a:r>
                  <a:rPr lang="es-PE" sz="900" b="0" i="0" dirty="0" err="1">
                    <a:solidFill>
                      <a:schemeClr val="tx1"/>
                    </a:solidFill>
                    <a:effectLst/>
                    <a:latin typeface="Segoe WPC"/>
                  </a:rPr>
                  <a:t>payments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 simple </a:t>
                </a:r>
                <a:r>
                  <a:rPr lang="es-PE" sz="900" b="0" i="0" dirty="0" err="1">
                    <a:solidFill>
                      <a:schemeClr val="tx1"/>
                    </a:solidFill>
                    <a:effectLst/>
                    <a:latin typeface="Segoe WPC"/>
                  </a:rPr>
                  <a:t>longevity</a:t>
                </a:r>
                <a:r>
                  <a:rPr lang="es-PE" sz="900" b="0" i="0" dirty="0">
                    <a:solidFill>
                      <a:schemeClr val="tx1"/>
                    </a:solidFill>
                    <a:effectLst/>
                    <a:latin typeface="Segoe WPC"/>
                  </a:rPr>
                  <a:t> derivative </a:t>
                </a:r>
                <a:r>
                  <a:rPr lang="es-PE" sz="900" b="0" i="0" dirty="0" err="1">
                    <a:solidFill>
                      <a:schemeClr val="tx1"/>
                    </a:solidFill>
                    <a:effectLst/>
                    <a:latin typeface="Segoe WPC"/>
                  </a:rPr>
                  <a:t>payoff</a:t>
                </a:r>
                <a:r>
                  <a:rPr lang="es-PE" sz="900" b="0" i="0" dirty="0">
                    <a:solidFill>
                      <a:schemeClr val="tx1"/>
                    </a:solidFill>
                    <a:effectLst/>
                    <a:latin typeface="Segoe WPC"/>
                  </a:rPr>
                  <a:t> can be </a:t>
                </a:r>
                <a14:m>
                  <m:oMath xmlns:m="http://schemas.openxmlformats.org/officeDocument/2006/math">
                    <m:d>
                      <m:dPr>
                        <m:ctrlPr>
                          <a:rPr lang="ar-AE" sz="900" b="0" i="1">
                            <a:solidFill>
                              <a:schemeClr val="tx1"/>
                            </a:solidFill>
                            <a:latin typeface="Cambria Math" panose="02040503050406030204" pitchFamily="18" charset="0"/>
                          </a:rPr>
                        </m:ctrlPr>
                      </m:dPr>
                      <m:e>
                        <m:r>
                          <m:rPr>
                            <m:nor/>
                          </m:rPr>
                          <a:rPr lang="es-PE" sz="900" b="0">
                            <a:solidFill>
                              <a:schemeClr val="tx1"/>
                            </a:solidFill>
                          </a:rPr>
                          <m:t>fixed</m:t>
                        </m:r>
                        <m:r>
                          <m:rPr>
                            <m:nor/>
                          </m:rPr>
                          <a:rPr lang="es-PE" sz="900" b="0">
                            <a:solidFill>
                              <a:schemeClr val="tx1"/>
                            </a:solidFill>
                          </a:rPr>
                          <m:t> </m:t>
                        </m:r>
                        <m:r>
                          <m:rPr>
                            <m:nor/>
                          </m:rPr>
                          <a:rPr lang="es-PE" sz="900" b="0">
                            <a:solidFill>
                              <a:schemeClr val="tx1"/>
                            </a:solidFill>
                          </a:rPr>
                          <m:t>mortality</m:t>
                        </m:r>
                        <m:r>
                          <m:rPr>
                            <m:nor/>
                          </m:rPr>
                          <a:rPr lang="es-PE" sz="900" b="0">
                            <a:solidFill>
                              <a:schemeClr val="tx1"/>
                            </a:solidFill>
                          </a:rPr>
                          <m:t> </m:t>
                        </m:r>
                        <m:r>
                          <m:rPr>
                            <m:nor/>
                          </m:rPr>
                          <a:rPr lang="es-PE" sz="900" b="0">
                            <a:solidFill>
                              <a:schemeClr val="tx1"/>
                            </a:solidFill>
                          </a:rPr>
                          <m:t>rate</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realized</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mortality</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rate</m:t>
                        </m:r>
                      </m:e>
                    </m:d>
                    <m:r>
                      <a:rPr lang="ar-A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principal</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insurers</a:t>
                </a:r>
                <a:r>
                  <a:rPr lang="es-PE" sz="900" b="0" i="0" dirty="0">
                    <a:solidFill>
                      <a:schemeClr val="tx1"/>
                    </a:solidFill>
                    <a:effectLst/>
                    <a:latin typeface="Segoe WPC"/>
                  </a:rPr>
                  <a:t> </a:t>
                </a:r>
                <a:r>
                  <a:rPr lang="es-PE" sz="900" b="0" i="0" dirty="0" err="1">
                    <a:solidFill>
                      <a:schemeClr val="tx1"/>
                    </a:solidFill>
                    <a:effectLst/>
                    <a:latin typeface="Segoe WPC"/>
                  </a:rPr>
                  <a:t>partly</a:t>
                </a:r>
                <a:r>
                  <a:rPr lang="es-PE" sz="900" b="0" i="0" dirty="0">
                    <a:solidFill>
                      <a:schemeClr val="tx1"/>
                    </a:solidFill>
                    <a:effectLst/>
                    <a:latin typeface="Segoe WPC"/>
                  </a:rPr>
                  <a:t> offset </a:t>
                </a:r>
                <a:r>
                  <a:rPr lang="es-PE" sz="900" b="0" i="0" dirty="0" err="1">
                    <a:solidFill>
                      <a:schemeClr val="tx1"/>
                    </a:solidFill>
                    <a:effectLst/>
                    <a:latin typeface="Segoe WPC"/>
                  </a:rPr>
                  <a:t>mortality</a:t>
                </a:r>
                <a:r>
                  <a:rPr lang="es-PE" sz="900" b="0" i="0" dirty="0">
                    <a:solidFill>
                      <a:schemeClr val="tx1"/>
                    </a:solidFill>
                    <a:effectLst/>
                    <a:latin typeface="Segoe WPC"/>
                  </a:rPr>
                  <a:t> and </a:t>
                </a:r>
                <a:r>
                  <a:rPr lang="es-PE" sz="900" b="0" i="0" dirty="0" err="1">
                    <a:solidFill>
                      <a:schemeClr val="tx1"/>
                    </a:solidFill>
                    <a:effectLst/>
                    <a:latin typeface="Segoe WPC"/>
                  </a:rPr>
                  <a:t>longevity</a:t>
                </a:r>
                <a:r>
                  <a:rPr lang="es-PE" sz="900" b="0" i="0" dirty="0">
                    <a:solidFill>
                      <a:schemeClr val="tx1"/>
                    </a:solidFill>
                    <a:effectLst/>
                    <a:latin typeface="Segoe WPC"/>
                  </a:rPr>
                  <a:t> </a:t>
                </a:r>
                <a:r>
                  <a:rPr lang="es-PE" sz="900" b="0" i="0" dirty="0" err="1">
                    <a:solidFill>
                      <a:schemeClr val="tx1"/>
                    </a:solidFill>
                    <a:effectLst/>
                    <a:latin typeface="Segoe WPC"/>
                  </a:rPr>
                  <a:t>exposures</a:t>
                </a:r>
                <a:r>
                  <a:rPr lang="es-PE" sz="900" b="0" i="0" dirty="0">
                    <a:solidFill>
                      <a:schemeClr val="tx1"/>
                    </a:solidFill>
                    <a:effectLst/>
                    <a:latin typeface="Segoe WPC"/>
                  </a:rPr>
                  <a:t> </a:t>
                </a:r>
                <a:r>
                  <a:rPr lang="es-PE" sz="900" b="0" i="0" dirty="0" err="1">
                    <a:solidFill>
                      <a:schemeClr val="tx1"/>
                    </a:solidFill>
                    <a:effectLst/>
                    <a:latin typeface="Segoe WPC"/>
                  </a:rPr>
                  <a:t>across</a:t>
                </a:r>
                <a:r>
                  <a:rPr lang="es-PE" sz="900" b="0" i="0" dirty="0">
                    <a:solidFill>
                      <a:schemeClr val="tx1"/>
                    </a:solidFill>
                    <a:effectLst/>
                    <a:latin typeface="Segoe WPC"/>
                  </a:rPr>
                  <a:t> </a:t>
                </a:r>
                <a:r>
                  <a:rPr lang="es-PE" sz="900" b="0" i="0" dirty="0" err="1">
                    <a:solidFill>
                      <a:schemeClr val="tx1"/>
                    </a:solidFill>
                    <a:effectLst/>
                    <a:latin typeface="Segoe WPC"/>
                  </a:rPr>
                  <a:t>products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residual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remains</a:t>
                </a:r>
                <a:r>
                  <a:rPr lang="es-PE" sz="900" b="0" i="0" dirty="0">
                    <a:solidFill>
                      <a:schemeClr val="tx1"/>
                    </a:solidFill>
                    <a:effectLst/>
                    <a:latin typeface="Segoe WPC"/>
                  </a:rPr>
                  <a:t> and can be </a:t>
                </a:r>
                <a:r>
                  <a:rPr lang="es-PE" sz="900" b="0" i="0" dirty="0" err="1">
                    <a:solidFill>
                      <a:schemeClr val="tx1"/>
                    </a:solidFill>
                    <a:effectLst/>
                    <a:latin typeface="Segoe WPC"/>
                  </a:rPr>
                  <a:t>hedged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longevity</a:t>
                </a:r>
                <a:r>
                  <a:rPr lang="es-PE" sz="900" b="0" i="0" dirty="0">
                    <a:solidFill>
                      <a:schemeClr val="tx1"/>
                    </a:solidFill>
                    <a:effectLst/>
                    <a:latin typeface="Segoe WPC"/>
                  </a:rPr>
                  <a:t> derivatives.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side</a:t>
                </a:r>
                <a:r>
                  <a:rPr lang="es-PE" sz="900" b="0" i="0" dirty="0">
                    <a:solidFill>
                      <a:schemeClr val="tx1"/>
                    </a:solidFill>
                    <a:effectLst/>
                    <a:latin typeface="Segoe WPC"/>
                  </a:rPr>
                  <a:t>, </a:t>
                </a:r>
                <a:r>
                  <a:rPr lang="es-PE" sz="900" b="0" i="0" dirty="0" err="1">
                    <a:solidFill>
                      <a:schemeClr val="tx1"/>
                    </a:solidFill>
                    <a:effectLst/>
                    <a:latin typeface="Segoe WPC"/>
                  </a:rPr>
                  <a:t>insurers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invest</a:t>
                </a:r>
                <a:r>
                  <a:rPr lang="es-PE" sz="900" b="0" i="0" dirty="0">
                    <a:solidFill>
                      <a:schemeClr val="tx1"/>
                    </a:solidFill>
                    <a:effectLst/>
                    <a:latin typeface="Segoe WPC"/>
                  </a:rPr>
                  <a:t> in </a:t>
                </a:r>
                <a:r>
                  <a:rPr lang="es-PE" sz="900" b="0" i="0" dirty="0" err="1">
                    <a:solidFill>
                      <a:schemeClr val="tx1"/>
                    </a:solidFill>
                    <a:effectLst/>
                    <a:latin typeface="Segoe WPC"/>
                  </a:rPr>
                  <a:t>long-term</a:t>
                </a:r>
                <a:r>
                  <a:rPr lang="es-PE" sz="900" b="0" i="0" dirty="0">
                    <a:solidFill>
                      <a:schemeClr val="tx1"/>
                    </a:solidFill>
                    <a:effectLst/>
                    <a:latin typeface="Segoe WPC"/>
                  </a:rPr>
                  <a:t> </a:t>
                </a:r>
                <a:r>
                  <a:rPr lang="es-PE" sz="900" b="0" i="0" dirty="0" err="1">
                    <a:solidFill>
                      <a:schemeClr val="tx1"/>
                    </a:solidFill>
                    <a:effectLst/>
                    <a:latin typeface="Segoe WPC"/>
                  </a:rPr>
                  <a:t>corporate</a:t>
                </a:r>
                <a:r>
                  <a:rPr lang="es-PE" sz="900" b="0" i="0" dirty="0">
                    <a:solidFill>
                      <a:schemeClr val="tx1"/>
                    </a:solidFill>
                    <a:effectLst/>
                    <a:latin typeface="Segoe WPC"/>
                  </a:rPr>
                  <a:t> </a:t>
                </a:r>
                <a:r>
                  <a:rPr lang="es-PE" sz="900" b="0" i="0" dirty="0" err="1">
                    <a:solidFill>
                      <a:schemeClr val="tx1"/>
                    </a:solidFill>
                    <a:effectLst/>
                    <a:latin typeface="Segoe WPC"/>
                  </a:rPr>
                  <a:t>bonds</a:t>
                </a:r>
                <a:r>
                  <a:rPr lang="es-PE" sz="900" b="0" i="0" dirty="0">
                    <a:solidFill>
                      <a:schemeClr val="tx1"/>
                    </a:solidFill>
                    <a:effectLst/>
                    <a:latin typeface="Segoe WPC"/>
                  </a:rPr>
                  <a:t>, </a:t>
                </a:r>
                <a:r>
                  <a:rPr lang="es-PE" sz="900" b="0" i="0" dirty="0" err="1">
                    <a:solidFill>
                      <a:schemeClr val="tx1"/>
                    </a:solidFill>
                    <a:effectLst/>
                    <a:latin typeface="Segoe WPC"/>
                  </a:rPr>
                  <a:t>which</a:t>
                </a:r>
                <a:r>
                  <a:rPr lang="es-PE" sz="900" b="0" i="0" dirty="0">
                    <a:solidFill>
                      <a:schemeClr val="tx1"/>
                    </a:solidFill>
                    <a:effectLst/>
                    <a:latin typeface="Segoe WPC"/>
                  </a:rPr>
                  <a:t> introduce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and </a:t>
                </a:r>
                <a:r>
                  <a:rPr lang="es-PE" sz="900" b="0" i="0" dirty="0" err="1">
                    <a:solidFill>
                      <a:schemeClr val="tx1"/>
                    </a:solidFill>
                    <a:effectLst/>
                    <a:latin typeface="Segoe WPC"/>
                  </a:rPr>
                  <a:t>credit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Longevity</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favorable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whole</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unfavorable</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annuities</a:t>
                </a:r>
                <a:r>
                  <a:rPr lang="es-PE" sz="900" b="0" i="0" dirty="0">
                    <a:solidFill>
                      <a:schemeClr val="tx1"/>
                    </a:solidFill>
                    <a:effectLst/>
                    <a:latin typeface="Segoe WPC"/>
                  </a:rPr>
                  <a:t> and </a:t>
                </a:r>
                <a:r>
                  <a:rPr lang="es-PE" sz="900" b="0" i="0" dirty="0" err="1">
                    <a:solidFill>
                      <a:schemeClr val="tx1"/>
                    </a:solidFill>
                    <a:effectLst/>
                    <a:latin typeface="Segoe WPC"/>
                  </a:rPr>
                  <a:t>pension</a:t>
                </a:r>
                <a:r>
                  <a:rPr lang="es-PE" sz="900" b="0" i="0" dirty="0">
                    <a:solidFill>
                      <a:schemeClr val="tx1"/>
                    </a:solidFill>
                    <a:effectLst/>
                    <a:latin typeface="Segoe WPC"/>
                  </a:rPr>
                  <a:t> </a:t>
                </a:r>
                <a:r>
                  <a:rPr lang="es-PE" sz="900" b="0" i="0" dirty="0" err="1">
                    <a:solidFill>
                      <a:schemeClr val="tx1"/>
                    </a:solidFill>
                    <a:effectLst/>
                    <a:latin typeface="Segoe WPC"/>
                  </a:rPr>
                  <a:t>obligations</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6. </a:t>
                </a:r>
                <a:r>
                  <a:rPr lang="es-PE" sz="900" b="1" i="0" dirty="0" err="1">
                    <a:solidFill>
                      <a:schemeClr val="tx1"/>
                    </a:solidFill>
                    <a:effectLst/>
                    <a:latin typeface="Segoe WPC"/>
                  </a:rPr>
                  <a:t>Pension</a:t>
                </a:r>
                <a:r>
                  <a:rPr lang="es-PE" sz="900" b="1" i="0" dirty="0">
                    <a:solidFill>
                      <a:schemeClr val="tx1"/>
                    </a:solidFill>
                    <a:effectLst/>
                    <a:latin typeface="Segoe WPC"/>
                  </a:rPr>
                  <a:t> </a:t>
                </a:r>
                <a:r>
                  <a:rPr lang="es-PE" sz="900" b="1" i="0" dirty="0" err="1">
                    <a:solidFill>
                      <a:schemeClr val="tx1"/>
                    </a:solidFill>
                    <a:effectLst/>
                    <a:latin typeface="Segoe WPC"/>
                  </a:rPr>
                  <a:t>Plans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Retirement</a:t>
                </a:r>
                <a:r>
                  <a:rPr lang="es-PE" sz="900" b="0" i="0" dirty="0">
                    <a:solidFill>
                      <a:schemeClr val="tx1"/>
                    </a:solidFill>
                    <a:effectLst/>
                    <a:latin typeface="Segoe WPC"/>
                  </a:rPr>
                  <a:t> </a:t>
                </a:r>
                <a:r>
                  <a:rPr lang="es-PE" sz="900" b="0" i="0" dirty="0" err="1">
                    <a:solidFill>
                      <a:schemeClr val="tx1"/>
                    </a:solidFill>
                    <a:effectLst/>
                    <a:latin typeface="Segoe WPC"/>
                  </a:rPr>
                  <a:t>arrangements</a:t>
                </a:r>
                <a:r>
                  <a:rPr lang="es-PE" sz="900" b="0" i="0" dirty="0">
                    <a:solidFill>
                      <a:schemeClr val="tx1"/>
                    </a:solidFill>
                    <a:effectLst/>
                    <a:latin typeface="Segoe WPC"/>
                  </a:rPr>
                  <a:t> </a:t>
                </a:r>
                <a:r>
                  <a:rPr lang="es-PE" sz="900" b="0" i="0" dirty="0" err="1">
                    <a:solidFill>
                      <a:schemeClr val="tx1"/>
                    </a:solidFill>
                    <a:effectLst/>
                    <a:latin typeface="Segoe WPC"/>
                  </a:rPr>
                  <a:t>funded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employee</a:t>
                </a:r>
                <a:r>
                  <a:rPr lang="es-PE" sz="900" b="0" i="0" dirty="0">
                    <a:solidFill>
                      <a:schemeClr val="tx1"/>
                    </a:solidFill>
                    <a:effectLst/>
                    <a:latin typeface="Segoe WPC"/>
                  </a:rPr>
                  <a:t> and </a:t>
                </a:r>
                <a:r>
                  <a:rPr lang="es-PE" sz="900" b="0" i="0" dirty="0" err="1">
                    <a:solidFill>
                      <a:schemeClr val="tx1"/>
                    </a:solidFill>
                    <a:effectLst/>
                    <a:latin typeface="Segoe WPC"/>
                  </a:rPr>
                  <a:t>employer</a:t>
                </a:r>
                <a:r>
                  <a:rPr lang="es-PE" sz="900" b="0" i="0" dirty="0">
                    <a:solidFill>
                      <a:schemeClr val="tx1"/>
                    </a:solidFill>
                    <a:effectLst/>
                    <a:latin typeface="Segoe WPC"/>
                  </a:rPr>
                  <a:t> </a:t>
                </a:r>
                <a:r>
                  <a:rPr lang="es-PE" sz="900" b="0" i="0" dirty="0" err="1">
                    <a:solidFill>
                      <a:schemeClr val="tx1"/>
                    </a:solidFill>
                    <a:effectLst/>
                    <a:latin typeface="Segoe WPC"/>
                  </a:rPr>
                  <a:t>contributions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Defined</a:t>
                </a:r>
                <a:r>
                  <a:rPr lang="es-PE" sz="900" b="0" i="0" dirty="0">
                    <a:solidFill>
                      <a:schemeClr val="tx1"/>
                    </a:solidFill>
                    <a:effectLst/>
                    <a:latin typeface="Segoe WPC"/>
                  </a:rPr>
                  <a:t> </a:t>
                </a:r>
                <a:r>
                  <a:rPr lang="es-PE" sz="900" b="0" i="0" dirty="0" err="1">
                    <a:solidFill>
                      <a:schemeClr val="tx1"/>
                    </a:solidFill>
                    <a:effectLst/>
                    <a:latin typeface="Segoe WPC"/>
                  </a:rPr>
                  <a:t>contribution</a:t>
                </a:r>
                <a:r>
                  <a:rPr lang="es-PE" sz="900" b="0" i="0" dirty="0">
                    <a:solidFill>
                      <a:schemeClr val="tx1"/>
                    </a:solidFill>
                    <a:effectLst/>
                    <a:latin typeface="Segoe WPC"/>
                  </a:rPr>
                  <a:t> </a:t>
                </a:r>
                <a:r>
                  <a:rPr lang="es-PE" sz="900" b="0" i="0" dirty="0" err="1">
                    <a:solidFill>
                      <a:schemeClr val="tx1"/>
                    </a:solidFill>
                    <a:effectLst/>
                    <a:latin typeface="Segoe WPC"/>
                  </a:rPr>
                  <a:t>plans</a:t>
                </a:r>
                <a:r>
                  <a:rPr lang="es-PE" sz="900" b="0" i="0" dirty="0">
                    <a:solidFill>
                      <a:schemeClr val="tx1"/>
                    </a:solidFill>
                    <a:effectLst/>
                    <a:latin typeface="Segoe WPC"/>
                  </a:rPr>
                  <a:t>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invested</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t>
                </a:r>
                <a:r>
                  <a:rPr lang="es-PE" sz="900" b="0" i="0" dirty="0" err="1">
                    <a:solidFill>
                      <a:schemeClr val="tx1"/>
                    </a:solidFill>
                    <a:effectLst/>
                    <a:latin typeface="Segoe WPC"/>
                  </a:rPr>
                  <a:t>perform</a:t>
                </a:r>
                <a:r>
                  <a:rPr lang="es-PE" sz="900" b="0" i="0" dirty="0">
                    <a:solidFill>
                      <a:schemeClr val="tx1"/>
                    </a:solidFill>
                    <a:effectLst/>
                    <a:latin typeface="Segoe WPC"/>
                  </a:rPr>
                  <a:t>; </a:t>
                </a:r>
                <a:r>
                  <a:rPr lang="es-PE" sz="900" b="0" i="0" dirty="0" err="1">
                    <a:solidFill>
                      <a:schemeClr val="tx1"/>
                    </a:solidFill>
                    <a:effectLst/>
                    <a:latin typeface="Segoe WPC"/>
                  </a:rPr>
                  <a:t>defined</a:t>
                </a:r>
                <a:r>
                  <a:rPr lang="es-PE" sz="900" b="0" i="0" dirty="0">
                    <a:solidFill>
                      <a:schemeClr val="tx1"/>
                    </a:solidFill>
                    <a:effectLst/>
                    <a:latin typeface="Segoe WPC"/>
                  </a:rPr>
                  <a:t> </a:t>
                </a:r>
                <a:r>
                  <a:rPr lang="es-PE" sz="900" b="0" i="0" dirty="0" err="1">
                    <a:solidFill>
                      <a:schemeClr val="tx1"/>
                    </a:solidFill>
                    <a:effectLst/>
                    <a:latin typeface="Segoe WPC"/>
                  </a:rPr>
                  <a:t>benefit</a:t>
                </a:r>
                <a:r>
                  <a:rPr lang="es-PE" sz="900" b="0" i="0" dirty="0">
                    <a:solidFill>
                      <a:schemeClr val="tx1"/>
                    </a:solidFill>
                    <a:effectLst/>
                    <a:latin typeface="Segoe WPC"/>
                  </a:rPr>
                  <a:t> </a:t>
                </a:r>
                <a:r>
                  <a:rPr lang="es-PE" sz="900" b="0" i="0" dirty="0" err="1">
                    <a:solidFill>
                      <a:schemeClr val="tx1"/>
                    </a:solidFill>
                    <a:effectLst/>
                    <a:latin typeface="Segoe WPC"/>
                  </a:rPr>
                  <a:t>plans</a:t>
                </a:r>
                <a:r>
                  <a:rPr lang="es-PE" sz="900" b="0" i="0" dirty="0">
                    <a:solidFill>
                      <a:schemeClr val="tx1"/>
                    </a:solidFill>
                    <a:effectLst/>
                    <a:latin typeface="Segoe WPC"/>
                  </a:rPr>
                  <a:t> </a:t>
                </a:r>
                <a:r>
                  <a:rPr lang="es-PE" sz="900" b="0" i="0" dirty="0" err="1">
                    <a:solidFill>
                      <a:schemeClr val="tx1"/>
                    </a:solidFill>
                    <a:effectLst/>
                    <a:latin typeface="Segoe WPC"/>
                  </a:rPr>
                  <a:t>promise</a:t>
                </a:r>
                <a:r>
                  <a:rPr lang="es-PE" sz="900" b="0" i="0" dirty="0">
                    <a:solidFill>
                      <a:schemeClr val="tx1"/>
                    </a:solidFill>
                    <a:effectLst/>
                    <a:latin typeface="Segoe WPC"/>
                  </a:rPr>
                  <a:t> </a:t>
                </a:r>
                <a:r>
                  <a:rPr lang="es-PE" sz="900" b="0" i="0" dirty="0" err="1">
                    <a:solidFill>
                      <a:schemeClr val="tx1"/>
                    </a:solidFill>
                    <a:effectLst/>
                    <a:latin typeface="Segoe WPC"/>
                  </a:rPr>
                  <a:t>pensions</a:t>
                </a:r>
                <a:r>
                  <a:rPr lang="es-PE" sz="900" b="0" i="0" dirty="0">
                    <a:solidFill>
                      <a:schemeClr val="tx1"/>
                    </a:solidFill>
                    <a:effectLst/>
                    <a:latin typeface="Segoe WPC"/>
                  </a:rPr>
                  <a:t> </a:t>
                </a:r>
                <a:r>
                  <a:rPr lang="es-PE" sz="900" b="0" i="0" dirty="0" err="1">
                    <a:solidFill>
                      <a:schemeClr val="tx1"/>
                    </a:solidFill>
                    <a:effectLst/>
                    <a:latin typeface="Segoe WPC"/>
                  </a:rPr>
                  <a:t>based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 formula, so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employer</a:t>
                </a:r>
                <a:r>
                  <a:rPr lang="es-PE" sz="900" b="0" i="0" dirty="0">
                    <a:solidFill>
                      <a:schemeClr val="tx1"/>
                    </a:solidFill>
                    <a:effectLst/>
                    <a:latin typeface="Segoe WPC"/>
                  </a:rPr>
                  <a:t> </a:t>
                </a:r>
                <a:r>
                  <a:rPr lang="es-PE" sz="900" b="0" i="0" dirty="0" err="1">
                    <a:solidFill>
                      <a:schemeClr val="tx1"/>
                    </a:solidFill>
                    <a:effectLst/>
                    <a:latin typeface="Segoe WPC"/>
                  </a:rPr>
                  <a:t>bears</a:t>
                </a:r>
                <a:r>
                  <a:rPr lang="es-PE" sz="900" b="0" i="0" dirty="0">
                    <a:solidFill>
                      <a:schemeClr val="tx1"/>
                    </a:solidFill>
                    <a:effectLst/>
                    <a:latin typeface="Segoe WPC"/>
                  </a:rPr>
                  <a:t> </a:t>
                </a:r>
                <a:r>
                  <a:rPr lang="es-PE" sz="900" b="0" i="0" dirty="0" err="1">
                    <a:solidFill>
                      <a:schemeClr val="tx1"/>
                    </a:solidFill>
                    <a:effectLst/>
                    <a:latin typeface="Segoe WPC"/>
                  </a:rPr>
                  <a:t>funding</a:t>
                </a:r>
                <a:r>
                  <a:rPr lang="es-PE" sz="900" b="0" i="0" dirty="0">
                    <a:solidFill>
                      <a:schemeClr val="tx1"/>
                    </a:solidFill>
                    <a:effectLst/>
                    <a:latin typeface="Segoe WPC"/>
                  </a:rPr>
                  <a:t> and </a:t>
                </a:r>
                <a:r>
                  <a:rPr lang="es-PE" sz="900" b="0" i="0" dirty="0" err="1">
                    <a:solidFill>
                      <a:schemeClr val="tx1"/>
                    </a:solidFill>
                    <a:effectLst/>
                    <a:latin typeface="Segoe WPC"/>
                  </a:rPr>
                  <a:t>investment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Defined</a:t>
                </a:r>
                <a:r>
                  <a:rPr lang="es-PE" sz="900" b="0" i="0" dirty="0">
                    <a:solidFill>
                      <a:schemeClr val="tx1"/>
                    </a:solidFill>
                    <a:effectLst/>
                    <a:latin typeface="Segoe WPC"/>
                  </a:rPr>
                  <a:t> </a:t>
                </a:r>
                <a:r>
                  <a:rPr lang="es-PE" sz="900" b="0" i="0" dirty="0" err="1">
                    <a:solidFill>
                      <a:schemeClr val="tx1"/>
                    </a:solidFill>
                    <a:effectLst/>
                    <a:latin typeface="Segoe WPC"/>
                  </a:rPr>
                  <a:t>contribution</a:t>
                </a:r>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employee</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investment</a:t>
                </a:r>
                <a:r>
                  <a:rPr lang="es-PE" sz="900" b="0" i="0" dirty="0">
                    <a:solidFill>
                      <a:schemeClr val="tx1"/>
                    </a:solidFill>
                    <a:effectLst/>
                    <a:latin typeface="Segoe WPC"/>
                  </a:rPr>
                  <a:t> </a:t>
                </a:r>
                <a:r>
                  <a:rPr lang="es-PE" sz="900" b="0" i="0" dirty="0" err="1">
                    <a:solidFill>
                      <a:schemeClr val="tx1"/>
                    </a:solidFill>
                    <a:effectLst/>
                    <a:latin typeface="Segoe WPC"/>
                  </a:rPr>
                  <a:t>pot</a:t>
                </a:r>
                <a:r>
                  <a:rPr lang="es-PE" sz="900" b="0" i="0" dirty="0">
                    <a:solidFill>
                      <a:schemeClr val="tx1"/>
                    </a:solidFill>
                    <a:effectLst/>
                    <a:latin typeface="Segoe WPC"/>
                  </a:rPr>
                  <a:t>; </a:t>
                </a:r>
                <a:r>
                  <a:rPr lang="es-PE" sz="900" b="0" i="0" dirty="0" err="1">
                    <a:solidFill>
                      <a:schemeClr val="tx1"/>
                    </a:solidFill>
                    <a:effectLst/>
                    <a:latin typeface="Segoe WPC"/>
                  </a:rPr>
                  <a:t>defined</a:t>
                </a:r>
                <a:r>
                  <a:rPr lang="es-PE" sz="900" b="0" i="0" dirty="0">
                    <a:solidFill>
                      <a:schemeClr val="tx1"/>
                    </a:solidFill>
                    <a:effectLst/>
                    <a:latin typeface="Segoe WPC"/>
                  </a:rPr>
                  <a:t> </a:t>
                </a:r>
                <a:r>
                  <a:rPr lang="es-PE" sz="900" b="0" i="0" dirty="0" err="1">
                    <a:solidFill>
                      <a:schemeClr val="tx1"/>
                    </a:solidFill>
                    <a:effectLst/>
                    <a:latin typeface="Segoe WPC"/>
                  </a:rPr>
                  <a:t>benefit</a:t>
                </a:r>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employee</a:t>
                </a:r>
                <a:r>
                  <a:rPr lang="es-PE" sz="900" b="0" i="0" dirty="0">
                    <a:solidFill>
                      <a:schemeClr val="tx1"/>
                    </a:solidFill>
                    <a:effectLst/>
                    <a:latin typeface="Segoe WPC"/>
                  </a:rPr>
                  <a:t> a </a:t>
                </a:r>
                <a:r>
                  <a:rPr lang="es-PE" sz="900" b="0" i="0" dirty="0" err="1">
                    <a:solidFill>
                      <a:schemeClr val="tx1"/>
                    </a:solidFill>
                    <a:effectLst/>
                    <a:latin typeface="Segoe WPC"/>
                  </a:rPr>
                  <a:t>promised</a:t>
                </a:r>
                <a:r>
                  <a:rPr lang="es-PE" sz="900" b="0" i="0" dirty="0">
                    <a:solidFill>
                      <a:schemeClr val="tx1"/>
                    </a:solidFill>
                    <a:effectLst/>
                    <a:latin typeface="Segoe WPC"/>
                  </a:rPr>
                  <a:t> </a:t>
                </a:r>
                <a:r>
                  <a:rPr lang="es-PE" sz="900" b="0" i="0" dirty="0" err="1">
                    <a:solidFill>
                      <a:schemeClr val="tx1"/>
                    </a:solidFill>
                    <a:effectLst/>
                    <a:latin typeface="Segoe WPC"/>
                  </a:rPr>
                  <a:t>retirement</a:t>
                </a:r>
                <a:r>
                  <a:rPr lang="es-PE" sz="900" b="0" i="0" dirty="0">
                    <a:solidFill>
                      <a:schemeClr val="tx1"/>
                    </a:solidFill>
                    <a:effectLst/>
                    <a:latin typeface="Segoe WPC"/>
                  </a:rPr>
                  <a:t> </a:t>
                </a:r>
                <a:r>
                  <a:rPr lang="es-PE" sz="900" b="0" i="0" dirty="0" err="1">
                    <a:solidFill>
                      <a:schemeClr val="tx1"/>
                    </a:solidFill>
                    <a:effectLst/>
                    <a:latin typeface="Segoe WPC"/>
                  </a:rPr>
                  <a:t>stream</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 </a:t>
                </a:r>
                <a:r>
                  <a:rPr lang="es-PE" sz="900" b="0" i="0" dirty="0" err="1">
                    <a:solidFill>
                      <a:schemeClr val="tx1"/>
                    </a:solidFill>
                    <a:effectLst/>
                    <a:latin typeface="Segoe WPC"/>
                  </a:rPr>
                  <a:t>typical</a:t>
                </a:r>
                <a:r>
                  <a:rPr lang="es-PE" sz="900" b="0" i="0" dirty="0">
                    <a:solidFill>
                      <a:schemeClr val="tx1"/>
                    </a:solidFill>
                    <a:effectLst/>
                    <a:latin typeface="Segoe WPC"/>
                  </a:rPr>
                  <a:t> </a:t>
                </a:r>
                <a:r>
                  <a:rPr lang="es-PE" sz="900" b="0" i="0" dirty="0" err="1">
                    <a:solidFill>
                      <a:schemeClr val="tx1"/>
                    </a:solidFill>
                    <a:effectLst/>
                    <a:latin typeface="Segoe WPC"/>
                  </a:rPr>
                  <a:t>defined</a:t>
                </a:r>
                <a:r>
                  <a:rPr lang="es-PE" sz="900" b="0" i="0" dirty="0">
                    <a:solidFill>
                      <a:schemeClr val="tx1"/>
                    </a:solidFill>
                    <a:effectLst/>
                    <a:latin typeface="Segoe WPC"/>
                  </a:rPr>
                  <a:t> </a:t>
                </a:r>
                <a:r>
                  <a:rPr lang="es-PE" sz="900" b="0" i="0" dirty="0" err="1">
                    <a:solidFill>
                      <a:schemeClr val="tx1"/>
                    </a:solidFill>
                    <a:effectLst/>
                    <a:latin typeface="Segoe WPC"/>
                  </a:rPr>
                  <a:t>benefit</a:t>
                </a:r>
                <a:r>
                  <a:rPr lang="es-PE" sz="900" b="0" i="0" dirty="0">
                    <a:solidFill>
                      <a:schemeClr val="tx1"/>
                    </a:solidFill>
                    <a:effectLst/>
                    <a:latin typeface="Segoe WPC"/>
                  </a:rPr>
                  <a:t> </a:t>
                </a:r>
                <a:r>
                  <a:rPr lang="es-PE" sz="900" b="0" i="0" dirty="0" err="1">
                    <a:solidFill>
                      <a:schemeClr val="tx1"/>
                    </a:solidFill>
                    <a:effectLst/>
                    <a:latin typeface="Segoe WPC"/>
                  </a:rPr>
                  <a:t>pension</a:t>
                </a:r>
                <a:r>
                  <a:rPr lang="es-PE" sz="900" b="0" i="0" dirty="0">
                    <a:solidFill>
                      <a:schemeClr val="tx1"/>
                    </a:solidFill>
                    <a:effectLst/>
                    <a:latin typeface="Segoe WPC"/>
                  </a:rPr>
                  <a:t> can be </a:t>
                </a:r>
                <a:r>
                  <a:rPr lang="es-PE" sz="900" b="0" i="0" dirty="0" err="1">
                    <a:solidFill>
                      <a:schemeClr val="tx1"/>
                    </a:solidFill>
                    <a:effectLst/>
                    <a:latin typeface="Segoe WPC"/>
                  </a:rPr>
                  <a:t>average</a:t>
                </a:r>
                <a:r>
                  <a:rPr lang="es-PE" sz="900" b="0" i="0" dirty="0">
                    <a:solidFill>
                      <a:schemeClr val="tx1"/>
                    </a:solidFill>
                    <a:effectLst/>
                    <a:latin typeface="Segoe WPC"/>
                  </a:rPr>
                  <a:t> final </a:t>
                </a:r>
                <a:r>
                  <a:rPr lang="es-PE" sz="900" b="0" i="0" dirty="0" err="1">
                    <a:solidFill>
                      <a:schemeClr val="tx1"/>
                    </a:solidFill>
                    <a:effectLst/>
                    <a:latin typeface="Segoe WPC"/>
                  </a:rPr>
                  <a:t>salary</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oMath>
                </a14:m>
                <a:r>
                  <a:rPr lang="es-PE" sz="900" b="0" i="0" dirty="0">
                    <a:solidFill>
                      <a:schemeClr val="tx1"/>
                    </a:solidFill>
                    <a:effectLst/>
                    <a:latin typeface="Segoe WPC"/>
                  </a:rPr>
                  <a:t> </a:t>
                </a:r>
                <a:r>
                  <a:rPr lang="es-PE" sz="900" b="0" i="0" dirty="0" err="1">
                    <a:solidFill>
                      <a:schemeClr val="tx1"/>
                    </a:solidFill>
                    <a:effectLst/>
                    <a:latin typeface="Segoe WPC"/>
                  </a:rPr>
                  <a:t>years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service</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oMath>
                </a14:m>
                <a:r>
                  <a:rPr lang="es-PE" sz="900" b="0" i="0" dirty="0">
                    <a:solidFill>
                      <a:schemeClr val="tx1"/>
                    </a:solidFill>
                    <a:effectLst/>
                    <a:latin typeface="Segoe WPC"/>
                  </a:rPr>
                  <a:t> </a:t>
                </a:r>
                <a:r>
                  <a:rPr lang="es-PE" sz="900" b="0" i="0" dirty="0" err="1">
                    <a:solidFill>
                      <a:schemeClr val="tx1"/>
                    </a:solidFill>
                    <a:effectLst/>
                    <a:latin typeface="Segoe WPC"/>
                  </a:rPr>
                  <a:t>accrual</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Defined</a:t>
                </a:r>
                <a:r>
                  <a:rPr lang="es-PE" sz="900" b="0" i="0" dirty="0">
                    <a:solidFill>
                      <a:schemeClr val="tx1"/>
                    </a:solidFill>
                    <a:effectLst/>
                    <a:latin typeface="Segoe WPC"/>
                  </a:rPr>
                  <a:t> </a:t>
                </a:r>
                <a:r>
                  <a:rPr lang="es-PE" sz="900" b="0" i="0" dirty="0" err="1">
                    <a:solidFill>
                      <a:schemeClr val="tx1"/>
                    </a:solidFill>
                    <a:effectLst/>
                    <a:latin typeface="Segoe WPC"/>
                  </a:rPr>
                  <a:t>benefit</a:t>
                </a:r>
                <a:r>
                  <a:rPr lang="es-PE" sz="900" b="0" i="0" dirty="0">
                    <a:solidFill>
                      <a:schemeClr val="tx1"/>
                    </a:solidFill>
                    <a:effectLst/>
                    <a:latin typeface="Segoe WPC"/>
                  </a:rPr>
                  <a:t> </a:t>
                </a:r>
                <a:r>
                  <a:rPr lang="es-PE" sz="900" b="0" i="0" dirty="0" err="1">
                    <a:solidFill>
                      <a:schemeClr val="tx1"/>
                    </a:solidFill>
                    <a:effectLst/>
                    <a:latin typeface="Segoe WPC"/>
                  </a:rPr>
                  <a:t>obligations</a:t>
                </a:r>
                <a:r>
                  <a:rPr lang="es-PE" sz="900" b="0" i="0" dirty="0">
                    <a:solidFill>
                      <a:schemeClr val="tx1"/>
                    </a:solidFill>
                    <a:effectLst/>
                    <a:latin typeface="Segoe WPC"/>
                  </a:rPr>
                  <a:t> are </a:t>
                </a:r>
                <a:r>
                  <a:rPr lang="es-PE" sz="900" b="0" i="0" dirty="0" err="1">
                    <a:solidFill>
                      <a:schemeClr val="tx1"/>
                    </a:solidFill>
                    <a:effectLst/>
                    <a:latin typeface="Segoe WPC"/>
                  </a:rPr>
                  <a:t>long-dated</a:t>
                </a:r>
                <a:r>
                  <a:rPr lang="es-PE" sz="900" b="0" i="0" dirty="0">
                    <a:solidFill>
                      <a:schemeClr val="tx1"/>
                    </a:solidFill>
                    <a:effectLst/>
                    <a:latin typeface="Segoe WPC"/>
                  </a:rPr>
                  <a:t> and </a:t>
                </a:r>
                <a:r>
                  <a:rPr lang="es-PE" sz="900" b="0" i="0" dirty="0" err="1">
                    <a:solidFill>
                      <a:schemeClr val="tx1"/>
                    </a:solidFill>
                    <a:effectLst/>
                    <a:latin typeface="Segoe WPC"/>
                  </a:rPr>
                  <a:t>highly</a:t>
                </a:r>
                <a:r>
                  <a:rPr lang="es-PE" sz="900" b="0" i="0" dirty="0">
                    <a:solidFill>
                      <a:schemeClr val="tx1"/>
                    </a:solidFill>
                    <a:effectLst/>
                    <a:latin typeface="Segoe WPC"/>
                  </a:rPr>
                  <a:t> sensitive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discount</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based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AA bond </a:t>
                </a:r>
                <a:r>
                  <a:rPr lang="es-PE" sz="900" b="0" i="0" dirty="0" err="1">
                    <a:solidFill>
                      <a:schemeClr val="tx1"/>
                    </a:solidFill>
                    <a:effectLst/>
                    <a:latin typeface="Segoe WPC"/>
                  </a:rPr>
                  <a:t>yields</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pension</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are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invested</a:t>
                </a:r>
                <a:r>
                  <a:rPr lang="es-PE" sz="900" b="0" i="0" dirty="0">
                    <a:solidFill>
                      <a:schemeClr val="tx1"/>
                    </a:solidFill>
                    <a:effectLst/>
                    <a:latin typeface="Segoe WPC"/>
                  </a:rPr>
                  <a:t> </a:t>
                </a:r>
                <a:r>
                  <a:rPr lang="es-PE" sz="900" b="0" i="0" dirty="0" err="1">
                    <a:solidFill>
                      <a:schemeClr val="tx1"/>
                    </a:solidFill>
                    <a:effectLst/>
                    <a:latin typeface="Segoe WPC"/>
                  </a:rPr>
                  <a:t>heavily</a:t>
                </a:r>
                <a:r>
                  <a:rPr lang="es-PE" sz="900" b="0" i="0" dirty="0">
                    <a:solidFill>
                      <a:schemeClr val="tx1"/>
                    </a:solidFill>
                    <a:effectLst/>
                    <a:latin typeface="Segoe WPC"/>
                  </a:rPr>
                  <a:t> in </a:t>
                </a:r>
                <a:r>
                  <a:rPr lang="es-PE" sz="900" b="0" i="0" dirty="0" err="1">
                    <a:solidFill>
                      <a:schemeClr val="tx1"/>
                    </a:solidFill>
                    <a:effectLst/>
                    <a:latin typeface="Segoe WPC"/>
                  </a:rPr>
                  <a:t>equities</a:t>
                </a:r>
                <a:r>
                  <a:rPr lang="es-PE" sz="900" b="0" i="0" dirty="0">
                    <a:solidFill>
                      <a:schemeClr val="tx1"/>
                    </a:solidFill>
                    <a:effectLst/>
                    <a:latin typeface="Segoe WPC"/>
                  </a:rPr>
                  <a:t>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fully</a:t>
                </a:r>
                <a:r>
                  <a:rPr lang="es-PE" sz="900" b="0" i="0" dirty="0">
                    <a:solidFill>
                      <a:schemeClr val="tx1"/>
                    </a:solidFill>
                    <a:effectLst/>
                    <a:latin typeface="Segoe WPC"/>
                  </a:rPr>
                  <a:t> </a:t>
                </a:r>
                <a:r>
                  <a:rPr lang="es-PE" sz="900" b="0" i="0" dirty="0" err="1">
                    <a:solidFill>
                      <a:schemeClr val="tx1"/>
                    </a:solidFill>
                    <a:effectLst/>
                    <a:latin typeface="Segoe WPC"/>
                  </a:rPr>
                  <a:t>matched</a:t>
                </a:r>
                <a:r>
                  <a:rPr lang="es-PE" sz="900" b="0" i="0" dirty="0">
                    <a:solidFill>
                      <a:schemeClr val="tx1"/>
                    </a:solidFill>
                    <a:effectLst/>
                    <a:latin typeface="Segoe WPC"/>
                  </a:rPr>
                  <a:t> in </a:t>
                </a:r>
                <a:r>
                  <a:rPr lang="es-PE" sz="900" b="0" i="0" dirty="0" err="1">
                    <a:solidFill>
                      <a:schemeClr val="tx1"/>
                    </a:solidFill>
                    <a:effectLst/>
                    <a:latin typeface="Segoe WPC"/>
                  </a:rPr>
                  <a:t>bonds</a:t>
                </a:r>
                <a:r>
                  <a:rPr lang="es-PE" sz="900" b="0" i="0" dirty="0">
                    <a:solidFill>
                      <a:schemeClr val="tx1"/>
                    </a:solidFill>
                    <a:effectLst/>
                    <a:latin typeface="Segoe WPC"/>
                  </a:rPr>
                  <a:t>, </a:t>
                </a:r>
                <a:r>
                  <a:rPr lang="es-PE" sz="900" b="0" i="0" dirty="0" err="1">
                    <a:solidFill>
                      <a:schemeClr val="tx1"/>
                    </a:solidFill>
                    <a:effectLst/>
                    <a:latin typeface="Segoe WPC"/>
                  </a:rPr>
                  <a:t>poor</a:t>
                </a:r>
                <a:r>
                  <a:rPr lang="es-PE" sz="900" b="0" i="0" dirty="0">
                    <a:solidFill>
                      <a:schemeClr val="tx1"/>
                    </a:solidFill>
                    <a:effectLst/>
                    <a:latin typeface="Segoe WPC"/>
                  </a:rPr>
                  <a:t> </a:t>
                </a:r>
                <a:r>
                  <a:rPr lang="es-PE" sz="900" b="0" i="0" dirty="0" err="1">
                    <a:solidFill>
                      <a:schemeClr val="tx1"/>
                    </a:solidFill>
                    <a:effectLst/>
                    <a:latin typeface="Segoe WPC"/>
                  </a:rPr>
                  <a:t>equity</a:t>
                </a:r>
                <a:r>
                  <a:rPr lang="es-PE" sz="900" b="0" i="0" dirty="0">
                    <a:solidFill>
                      <a:schemeClr val="tx1"/>
                    </a:solidFill>
                    <a:effectLst/>
                    <a:latin typeface="Segoe WPC"/>
                  </a:rPr>
                  <a:t> performance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rising</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 </a:t>
                </a:r>
                <a:r>
                  <a:rPr lang="es-PE" sz="900" b="0" i="0" dirty="0" err="1">
                    <a:solidFill>
                      <a:schemeClr val="tx1"/>
                    </a:solidFill>
                    <a:effectLst/>
                    <a:latin typeface="Segoe WPC"/>
                  </a:rPr>
                  <a:t>expectancy</a:t>
                </a:r>
                <a:r>
                  <a:rPr lang="es-PE" sz="900" b="0" i="0" dirty="0">
                    <a:solidFill>
                      <a:schemeClr val="tx1"/>
                    </a:solidFill>
                    <a:effectLst/>
                    <a:latin typeface="Segoe WPC"/>
                  </a:rPr>
                  <a:t> can </a:t>
                </a:r>
                <a:r>
                  <a:rPr lang="es-PE" sz="900" b="0" i="0" dirty="0" err="1">
                    <a:solidFill>
                      <a:schemeClr val="tx1"/>
                    </a:solidFill>
                    <a:effectLst/>
                    <a:latin typeface="Segoe WPC"/>
                  </a:rPr>
                  <a:t>create</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deficits</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t>
                </a:r>
                <a:r>
                  <a:rPr lang="es-PE" sz="900" b="0" i="0" dirty="0" err="1">
                    <a:solidFill>
                      <a:schemeClr val="tx1"/>
                    </a:solidFill>
                    <a:effectLst/>
                    <a:latin typeface="Segoe WPC"/>
                  </a:rPr>
                  <a:t>deficits</a:t>
                </a:r>
                <a:r>
                  <a:rPr lang="es-PE" sz="900" b="0" i="0" dirty="0">
                    <a:solidFill>
                      <a:schemeClr val="tx1"/>
                    </a:solidFill>
                    <a:effectLst/>
                    <a:latin typeface="Segoe WPC"/>
                  </a:rPr>
                  <a:t> reduce </a:t>
                </a:r>
                <a:r>
                  <a:rPr lang="es-PE" sz="900" b="0" i="0" dirty="0" err="1">
                    <a:solidFill>
                      <a:schemeClr val="tx1"/>
                    </a:solidFill>
                    <a:effectLst/>
                    <a:latin typeface="Segoe WPC"/>
                  </a:rPr>
                  <a:t>shareholder</a:t>
                </a:r>
                <a:r>
                  <a:rPr lang="es-PE" sz="900" b="0" i="0" dirty="0">
                    <a:solidFill>
                      <a:schemeClr val="tx1"/>
                    </a:solidFill>
                    <a:effectLst/>
                    <a:latin typeface="Segoe WPC"/>
                  </a:rPr>
                  <a:t> </a:t>
                </a:r>
                <a:r>
                  <a:rPr lang="es-PE" sz="900" b="0" i="0" dirty="0" err="1">
                    <a:solidFill>
                      <a:schemeClr val="tx1"/>
                    </a:solidFill>
                    <a:effectLst/>
                    <a:latin typeface="Segoe WPC"/>
                  </a:rPr>
                  <a:t>equity</a:t>
                </a:r>
                <a:r>
                  <a:rPr lang="es-PE" sz="900" b="0" i="0" dirty="0">
                    <a:solidFill>
                      <a:schemeClr val="tx1"/>
                    </a:solidFill>
                    <a:effectLst/>
                    <a:latin typeface="Segoe WPC"/>
                  </a:rPr>
                  <a:t> and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ultimately</a:t>
                </a:r>
                <a:r>
                  <a:rPr lang="es-PE" sz="900" b="0" i="0" dirty="0">
                    <a:solidFill>
                      <a:schemeClr val="tx1"/>
                    </a:solidFill>
                    <a:effectLst/>
                    <a:latin typeface="Segoe WPC"/>
                  </a:rPr>
                  <a:t> shift </a:t>
                </a:r>
                <a:r>
                  <a:rPr lang="es-PE" sz="900" b="0" i="0" dirty="0" err="1">
                    <a:solidFill>
                      <a:schemeClr val="tx1"/>
                    </a:solidFill>
                    <a:effectLst/>
                    <a:latin typeface="Segoe WPC"/>
                  </a:rPr>
                  <a:t>costs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guaranty</a:t>
                </a:r>
                <a:r>
                  <a:rPr lang="es-PE" sz="900" b="0" i="0" dirty="0">
                    <a:solidFill>
                      <a:schemeClr val="tx1"/>
                    </a:solidFill>
                    <a:effectLst/>
                    <a:latin typeface="Segoe WPC"/>
                  </a:rPr>
                  <a:t> </a:t>
                </a:r>
                <a:r>
                  <a:rPr lang="es-PE" sz="900" b="0" i="0" dirty="0" err="1">
                    <a:solidFill>
                      <a:schemeClr val="tx1"/>
                    </a:solidFill>
                    <a:effectLst/>
                    <a:latin typeface="Segoe WPC"/>
                  </a:rPr>
                  <a:t>entities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younger</a:t>
                </a:r>
                <a:r>
                  <a:rPr lang="es-PE" sz="900" b="0" i="0" dirty="0">
                    <a:solidFill>
                      <a:schemeClr val="tx1"/>
                    </a:solidFill>
                    <a:effectLst/>
                    <a:latin typeface="Segoe WPC"/>
                  </a:rPr>
                  <a:t> </a:t>
                </a:r>
                <a:r>
                  <a:rPr lang="es-PE" sz="900" b="0" i="0" dirty="0" err="1">
                    <a:solidFill>
                      <a:schemeClr val="tx1"/>
                    </a:solidFill>
                    <a:effectLst/>
                    <a:latin typeface="Segoe WPC"/>
                  </a:rPr>
                  <a:t>generations</a:t>
                </a:r>
                <a:r>
                  <a:rPr lang="es-PE" sz="900" b="0" i="0" dirty="0">
                    <a:solidFill>
                      <a:schemeClr val="tx1"/>
                    </a:solidFill>
                    <a:effectLst/>
                    <a:latin typeface="Segoe WPC"/>
                  </a:rPr>
                  <a:t>, </a:t>
                </a:r>
                <a:r>
                  <a:rPr lang="es-PE" sz="900" b="0" i="0" dirty="0" err="1">
                    <a:solidFill>
                      <a:schemeClr val="tx1"/>
                    </a:solidFill>
                    <a:effectLst/>
                    <a:latin typeface="Segoe WPC"/>
                  </a:rPr>
                  <a:t>which</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why</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sharing</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discussed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Defined</a:t>
                </a:r>
                <a:r>
                  <a:rPr lang="es-PE" sz="900" b="0" i="0" dirty="0">
                    <a:solidFill>
                      <a:schemeClr val="tx1"/>
                    </a:solidFill>
                    <a:effectLst/>
                    <a:latin typeface="Segoe WPC"/>
                  </a:rPr>
                  <a:t> </a:t>
                </a:r>
                <a:r>
                  <a:rPr lang="es-PE" sz="900" b="0" i="0" dirty="0" err="1">
                    <a:solidFill>
                      <a:schemeClr val="tx1"/>
                    </a:solidFill>
                    <a:effectLst/>
                    <a:latin typeface="Segoe WPC"/>
                  </a:rPr>
                  <a:t>benefit</a:t>
                </a:r>
                <a:r>
                  <a:rPr lang="es-PE" sz="900" b="0" i="0" dirty="0">
                    <a:solidFill>
                      <a:schemeClr val="tx1"/>
                    </a:solidFill>
                    <a:effectLst/>
                    <a:latin typeface="Segoe WPC"/>
                  </a:rPr>
                  <a:t> </a:t>
                </a:r>
                <a:r>
                  <a:rPr lang="es-PE" sz="900" b="0" i="0" dirty="0" err="1">
                    <a:solidFill>
                      <a:schemeClr val="tx1"/>
                    </a:solidFill>
                    <a:effectLst/>
                    <a:latin typeface="Segoe WPC"/>
                  </a:rPr>
                  <a:t>plans</a:t>
                </a:r>
                <a:r>
                  <a:rPr lang="es-PE" sz="900" b="0" i="0" dirty="0">
                    <a:solidFill>
                      <a:schemeClr val="tx1"/>
                    </a:solidFill>
                    <a:effectLst/>
                    <a:latin typeface="Segoe WPC"/>
                  </a:rPr>
                  <a:t> are </a:t>
                </a:r>
                <a:r>
                  <a:rPr lang="es-PE" sz="900" b="0" i="0" dirty="0" err="1">
                    <a:solidFill>
                      <a:schemeClr val="tx1"/>
                    </a:solidFill>
                    <a:effectLst/>
                    <a:latin typeface="Segoe WPC"/>
                  </a:rPr>
                  <a:t>much</a:t>
                </a:r>
                <a:r>
                  <a:rPr lang="es-PE" sz="900" b="0" i="0" dirty="0">
                    <a:solidFill>
                      <a:schemeClr val="tx1"/>
                    </a:solidFill>
                    <a:effectLst/>
                    <a:latin typeface="Segoe WPC"/>
                  </a:rPr>
                  <a:t> </a:t>
                </a:r>
                <a:r>
                  <a:rPr lang="es-PE" sz="900" b="0" i="0" dirty="0" err="1">
                    <a:solidFill>
                      <a:schemeClr val="tx1"/>
                    </a:solidFill>
                    <a:effectLst/>
                    <a:latin typeface="Segoe WPC"/>
                  </a:rPr>
                  <a:t>riskier</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employers</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defined</a:t>
                </a:r>
                <a:r>
                  <a:rPr lang="es-PE" sz="900" b="0" i="0" dirty="0">
                    <a:solidFill>
                      <a:schemeClr val="tx1"/>
                    </a:solidFill>
                    <a:effectLst/>
                    <a:latin typeface="Segoe WPC"/>
                  </a:rPr>
                  <a:t> </a:t>
                </a:r>
                <a:r>
                  <a:rPr lang="es-PE" sz="900" b="0" i="0" dirty="0" err="1">
                    <a:solidFill>
                      <a:schemeClr val="tx1"/>
                    </a:solidFill>
                    <a:effectLst/>
                    <a:latin typeface="Segoe WPC"/>
                  </a:rPr>
                  <a:t>contribution</a:t>
                </a:r>
                <a:r>
                  <a:rPr lang="es-PE" sz="900" b="0" i="0" dirty="0">
                    <a:solidFill>
                      <a:schemeClr val="tx1"/>
                    </a:solidFill>
                    <a:effectLst/>
                    <a:latin typeface="Segoe WPC"/>
                  </a:rPr>
                  <a:t> </a:t>
                </a:r>
                <a:r>
                  <a:rPr lang="es-PE" sz="900" b="0" i="0" dirty="0" err="1">
                    <a:solidFill>
                      <a:schemeClr val="tx1"/>
                    </a:solidFill>
                    <a:effectLst/>
                    <a:latin typeface="Segoe WPC"/>
                  </a:rPr>
                  <a:t>plans</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promised</a:t>
                </a:r>
                <a:r>
                  <a:rPr lang="es-PE" sz="900" b="0" i="0" dirty="0">
                    <a:solidFill>
                      <a:schemeClr val="tx1"/>
                    </a:solidFill>
                    <a:effectLst/>
                    <a:latin typeface="Segoe WPC"/>
                  </a:rPr>
                  <a:t> </a:t>
                </a:r>
                <a:r>
                  <a:rPr lang="es-PE" sz="900" b="0" i="0" dirty="0" err="1">
                    <a:solidFill>
                      <a:schemeClr val="tx1"/>
                    </a:solidFill>
                    <a:effectLst/>
                    <a:latin typeface="Segoe WPC"/>
                  </a:rPr>
                  <a:t>benefits</a:t>
                </a:r>
                <a:r>
                  <a:rPr lang="es-PE" sz="900" b="0" i="0" dirty="0">
                    <a:solidFill>
                      <a:schemeClr val="tx1"/>
                    </a:solidFill>
                    <a:effectLst/>
                    <a:latin typeface="Segoe WPC"/>
                  </a:rPr>
                  <a:t> are </a:t>
                </a:r>
                <a:r>
                  <a:rPr lang="es-PE" sz="900" b="0" i="0" dirty="0" err="1">
                    <a:solidFill>
                      <a:schemeClr val="tx1"/>
                    </a:solidFill>
                    <a:effectLst/>
                    <a:latin typeface="Segoe WPC"/>
                  </a:rPr>
                  <a:t>fixed</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performance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uncertain</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7. </a:t>
                </a:r>
                <a:r>
                  <a:rPr lang="es-PE" sz="900" b="1" i="0" dirty="0" err="1">
                    <a:solidFill>
                      <a:schemeClr val="tx1"/>
                    </a:solidFill>
                    <a:effectLst/>
                    <a:latin typeface="Segoe WPC"/>
                  </a:rPr>
                  <a:t>Property</a:t>
                </a:r>
                <a:r>
                  <a:rPr lang="es-PE" sz="900" b="1" i="0" dirty="0">
                    <a:solidFill>
                      <a:schemeClr val="tx1"/>
                    </a:solidFill>
                    <a:effectLst/>
                    <a:latin typeface="Segoe WPC"/>
                  </a:rPr>
                  <a:t> and </a:t>
                </a:r>
                <a:r>
                  <a:rPr lang="es-PE" sz="900" b="1" i="0" dirty="0" err="1">
                    <a:solidFill>
                      <a:schemeClr val="tx1"/>
                    </a:solidFill>
                    <a:effectLst/>
                    <a:latin typeface="Segoe WPC"/>
                  </a:rPr>
                  <a:t>Casualty</a:t>
                </a:r>
                <a:r>
                  <a:rPr lang="es-PE" sz="900" b="1" i="0" dirty="0">
                    <a:solidFill>
                      <a:schemeClr val="tx1"/>
                    </a:solidFill>
                    <a:effectLst/>
                    <a:latin typeface="Segoe WPC"/>
                  </a:rPr>
                  <a:t> </a:t>
                </a:r>
                <a:r>
                  <a:rPr lang="es-PE" sz="900" b="1" i="0" dirty="0" err="1">
                    <a:solidFill>
                      <a:schemeClr val="tx1"/>
                    </a:solidFill>
                    <a:effectLst/>
                    <a:latin typeface="Segoe WPC"/>
                  </a:rPr>
                  <a:t>Insurance</a:t>
                </a:r>
                <a:r>
                  <a:rPr lang="es-PE" sz="900" b="1" i="0" dirty="0">
                    <a:solidFill>
                      <a:schemeClr val="tx1"/>
                    </a:solidFill>
                    <a:effectLst/>
                    <a:latin typeface="Segoe WPC"/>
                  </a:rPr>
                  <a:t> and CAT Bonds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Short-</a:t>
                </a:r>
                <a:r>
                  <a:rPr lang="es-PE" sz="900" b="0" i="0" dirty="0" err="1">
                    <a:solidFill>
                      <a:schemeClr val="tx1"/>
                    </a:solidFill>
                    <a:effectLst/>
                    <a:latin typeface="Segoe WPC"/>
                  </a:rPr>
                  <a:t>term</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against</a:t>
                </a:r>
                <a:r>
                  <a:rPr lang="es-PE" sz="900" b="0" i="0" dirty="0">
                    <a:solidFill>
                      <a:schemeClr val="tx1"/>
                    </a:solidFill>
                    <a:effectLst/>
                    <a:latin typeface="Segoe WPC"/>
                  </a:rPr>
                  <a:t> </a:t>
                </a:r>
                <a:r>
                  <a:rPr lang="es-PE" sz="900" b="0" i="0" dirty="0" err="1">
                    <a:solidFill>
                      <a:schemeClr val="tx1"/>
                    </a:solidFill>
                    <a:effectLst/>
                    <a:latin typeface="Segoe WPC"/>
                  </a:rPr>
                  <a:t>property</a:t>
                </a:r>
                <a:r>
                  <a:rPr lang="es-PE" sz="900" b="0" i="0" dirty="0">
                    <a:solidFill>
                      <a:schemeClr val="tx1"/>
                    </a:solidFill>
                    <a:effectLst/>
                    <a:latin typeface="Segoe WPC"/>
                  </a:rPr>
                  <a:t> </a:t>
                </a:r>
                <a:r>
                  <a:rPr lang="es-PE" sz="900" b="0" i="0" dirty="0" err="1">
                    <a:solidFill>
                      <a:schemeClr val="tx1"/>
                    </a:solidFill>
                    <a:effectLst/>
                    <a:latin typeface="Segoe WPC"/>
                  </a:rPr>
                  <a:t>damage</a:t>
                </a:r>
                <a:r>
                  <a:rPr lang="es-PE" sz="900" b="0" i="0" dirty="0">
                    <a:solidFill>
                      <a:schemeClr val="tx1"/>
                    </a:solidFill>
                    <a:effectLst/>
                    <a:latin typeface="Segoe WPC"/>
                  </a:rPr>
                  <a:t>, </a:t>
                </a:r>
                <a:r>
                  <a:rPr lang="es-PE" sz="900" b="0" i="0" dirty="0" err="1">
                    <a:solidFill>
                      <a:schemeClr val="tx1"/>
                    </a:solidFill>
                    <a:effectLst/>
                    <a:latin typeface="Segoe WPC"/>
                  </a:rPr>
                  <a:t>liability</a:t>
                </a:r>
                <a:r>
                  <a:rPr lang="es-PE" sz="900" b="0" i="0" dirty="0">
                    <a:solidFill>
                      <a:schemeClr val="tx1"/>
                    </a:solidFill>
                    <a:effectLst/>
                    <a:latin typeface="Segoe WPC"/>
                  </a:rPr>
                  <a:t>, and </a:t>
                </a:r>
                <a:r>
                  <a:rPr lang="es-PE" sz="900" b="0" i="0" dirty="0" err="1">
                    <a:solidFill>
                      <a:schemeClr val="tx1"/>
                    </a:solidFill>
                    <a:effectLst/>
                    <a:latin typeface="Segoe WPC"/>
                  </a:rPr>
                  <a:t>catastrophic</a:t>
                </a:r>
                <a:r>
                  <a:rPr lang="es-PE" sz="900" b="0" i="0" dirty="0">
                    <a:solidFill>
                      <a:schemeClr val="tx1"/>
                    </a:solidFill>
                    <a:effectLst/>
                    <a:latin typeface="Segoe WPC"/>
                  </a:rPr>
                  <a:t> </a:t>
                </a:r>
                <a:r>
                  <a:rPr lang="es-PE" sz="900" b="0" i="0" dirty="0" err="1">
                    <a:solidFill>
                      <a:schemeClr val="tx1"/>
                    </a:solidFill>
                    <a:effectLst/>
                    <a:latin typeface="Segoe WPC"/>
                  </a:rPr>
                  <a:t>events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Property-casualty</a:t>
                </a:r>
                <a:r>
                  <a:rPr lang="es-PE" sz="900" b="0" i="0" dirty="0">
                    <a:solidFill>
                      <a:schemeClr val="tx1"/>
                    </a:solidFill>
                    <a:effectLst/>
                    <a:latin typeface="Segoe WPC"/>
                  </a:rPr>
                  <a:t> </a:t>
                </a:r>
                <a:r>
                  <a:rPr lang="es-PE" sz="900" b="0" i="0" dirty="0" err="1">
                    <a:solidFill>
                      <a:schemeClr val="tx1"/>
                    </a:solidFill>
                    <a:effectLst/>
                    <a:latin typeface="Segoe WPC"/>
                  </a:rPr>
                  <a:t>policies</a:t>
                </a:r>
                <a:r>
                  <a:rPr lang="es-PE" sz="900" b="0" i="0" dirty="0">
                    <a:solidFill>
                      <a:schemeClr val="tx1"/>
                    </a:solidFill>
                    <a:effectLst/>
                    <a:latin typeface="Segoe WPC"/>
                  </a:rPr>
                  <a:t> are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one-year</a:t>
                </a:r>
                <a:r>
                  <a:rPr lang="es-P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 </a:t>
                </a:r>
                <a:r>
                  <a:rPr lang="es-PE" sz="900" b="0" i="0" dirty="0" err="1">
                    <a:solidFill>
                      <a:schemeClr val="tx1"/>
                    </a:solidFill>
                    <a:effectLst/>
                    <a:latin typeface="Segoe WPC"/>
                  </a:rPr>
                  <a:t>repriced</a:t>
                </a:r>
                <a:r>
                  <a:rPr lang="es-PE" sz="900" b="0" i="0" dirty="0">
                    <a:solidFill>
                      <a:schemeClr val="tx1"/>
                    </a:solidFill>
                    <a:effectLst/>
                    <a:latin typeface="Segoe WPC"/>
                  </a:rPr>
                  <a:t> </a:t>
                </a:r>
                <a:r>
                  <a:rPr lang="es-PE" sz="900" b="0" i="0" dirty="0" err="1">
                    <a:solidFill>
                      <a:schemeClr val="tx1"/>
                    </a:solidFill>
                    <a:effectLst/>
                    <a:latin typeface="Segoe WPC"/>
                  </a:rPr>
                  <a:t>annually</a:t>
                </a:r>
                <a:r>
                  <a:rPr lang="es-PE" sz="900" b="0" i="0" dirty="0">
                    <a:solidFill>
                      <a:schemeClr val="tx1"/>
                    </a:solidFill>
                    <a:effectLst/>
                    <a:latin typeface="Segoe WPC"/>
                  </a:rPr>
                  <a:t>. </a:t>
                </a:r>
                <a:r>
                  <a:rPr lang="es-PE" sz="900" b="0" i="0" dirty="0" err="1">
                    <a:solidFill>
                      <a:schemeClr val="tx1"/>
                    </a:solidFill>
                    <a:effectLst/>
                    <a:latin typeface="Segoe WPC"/>
                  </a:rPr>
                  <a:t>Some</a:t>
                </a:r>
                <a:r>
                  <a:rPr lang="es-PE" sz="900" b="0" i="0" dirty="0">
                    <a:solidFill>
                      <a:schemeClr val="tx1"/>
                    </a:solidFill>
                    <a:effectLst/>
                    <a:latin typeface="Segoe WPC"/>
                  </a:rPr>
                  <a:t> </a:t>
                </a:r>
                <a:r>
                  <a:rPr lang="es-PE" sz="900" b="0" i="0" dirty="0" err="1">
                    <a:solidFill>
                      <a:schemeClr val="tx1"/>
                    </a:solidFill>
                    <a:effectLst/>
                    <a:latin typeface="Segoe WPC"/>
                  </a:rPr>
                  <a:t>risks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auto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involve</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largely</a:t>
                </a:r>
                <a:r>
                  <a:rPr lang="es-PE" sz="900" b="0" i="0" dirty="0">
                    <a:solidFill>
                      <a:schemeClr val="tx1"/>
                    </a:solidFill>
                    <a:effectLst/>
                    <a:latin typeface="Segoe WPC"/>
                  </a:rPr>
                  <a:t> </a:t>
                </a:r>
                <a:r>
                  <a:rPr lang="es-PE" sz="900" b="0" i="0" dirty="0" err="1">
                    <a:solidFill>
                      <a:schemeClr val="tx1"/>
                    </a:solidFill>
                    <a:effectLst/>
                    <a:latin typeface="Segoe WPC"/>
                  </a:rPr>
                  <a:t>independent</a:t>
                </a:r>
                <a:r>
                  <a:rPr lang="es-PE" sz="900" b="0" i="0" dirty="0">
                    <a:solidFill>
                      <a:schemeClr val="tx1"/>
                    </a:solidFill>
                    <a:effectLst/>
                    <a:latin typeface="Segoe WPC"/>
                  </a:rPr>
                  <a:t> </a:t>
                </a:r>
                <a:r>
                  <a:rPr lang="es-PE" sz="900" b="0" i="0" dirty="0" err="1">
                    <a:solidFill>
                      <a:schemeClr val="tx1"/>
                    </a:solidFill>
                    <a:effectLst/>
                    <a:latin typeface="Segoe WPC"/>
                  </a:rPr>
                  <a:t>claims</a:t>
                </a:r>
                <a:r>
                  <a:rPr lang="es-PE" sz="900" b="0" i="0" dirty="0">
                    <a:solidFill>
                      <a:schemeClr val="tx1"/>
                    </a:solidFill>
                    <a:effectLst/>
                    <a:latin typeface="Segoe WPC"/>
                  </a:rPr>
                  <a:t> and are </a:t>
                </a:r>
                <a:r>
                  <a:rPr lang="es-PE" sz="900" b="0" i="0" dirty="0" err="1">
                    <a:solidFill>
                      <a:schemeClr val="tx1"/>
                    </a:solidFill>
                    <a:effectLst/>
                    <a:latin typeface="Segoe WPC"/>
                  </a:rPr>
                  <a:t>predictable</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experience</a:t>
                </a:r>
                <a:r>
                  <a:rPr lang="es-PE" sz="900" b="0" i="0" dirty="0">
                    <a:solidFill>
                      <a:schemeClr val="tx1"/>
                    </a:solidFill>
                    <a:effectLst/>
                    <a:latin typeface="Segoe WPC"/>
                  </a:rPr>
                  <a:t>; </a:t>
                </a:r>
                <a:r>
                  <a:rPr lang="es-PE" sz="900" b="0" i="0" dirty="0" err="1">
                    <a:solidFill>
                      <a:schemeClr val="tx1"/>
                    </a:solidFill>
                    <a:effectLst/>
                    <a:latin typeface="Segoe WPC"/>
                  </a:rPr>
                  <a:t>catastrophe</a:t>
                </a:r>
                <a:r>
                  <a:rPr lang="es-PE" sz="900" b="0" i="0" dirty="0">
                    <a:solidFill>
                      <a:schemeClr val="tx1"/>
                    </a:solidFill>
                    <a:effectLst/>
                    <a:latin typeface="Segoe WPC"/>
                  </a:rPr>
                  <a:t> </a:t>
                </a:r>
                <a:r>
                  <a:rPr lang="es-PE" sz="900" b="0" i="0" dirty="0" err="1">
                    <a:solidFill>
                      <a:schemeClr val="tx1"/>
                    </a:solidFill>
                    <a:effectLst/>
                    <a:latin typeface="Segoe WPC"/>
                  </a:rPr>
                  <a:t>risks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hurricanes</a:t>
                </a:r>
                <a:r>
                  <a:rPr lang="es-PE" sz="900" b="0" i="0" dirty="0">
                    <a:solidFill>
                      <a:schemeClr val="tx1"/>
                    </a:solidFill>
                    <a:effectLst/>
                    <a:latin typeface="Segoe WPC"/>
                  </a:rPr>
                  <a:t>, can </a:t>
                </a:r>
                <a:r>
                  <a:rPr lang="es-PE" sz="900" b="0" i="0" dirty="0" err="1">
                    <a:solidFill>
                      <a:schemeClr val="tx1"/>
                    </a:solidFill>
                    <a:effectLst/>
                    <a:latin typeface="Segoe WPC"/>
                  </a:rPr>
                  <a:t>create</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correlated</a:t>
                </a:r>
                <a:r>
                  <a:rPr lang="es-PE" sz="900" b="0" i="0" dirty="0">
                    <a:solidFill>
                      <a:schemeClr val="tx1"/>
                    </a:solidFill>
                    <a:effectLst/>
                    <a:latin typeface="Segoe WPC"/>
                  </a:rPr>
                  <a:t> </a:t>
                </a:r>
                <a:r>
                  <a:rPr lang="es-PE" sz="900" b="0" i="0" dirty="0" err="1">
                    <a:solidFill>
                      <a:schemeClr val="tx1"/>
                    </a:solidFill>
                    <a:effectLst/>
                    <a:latin typeface="Segoe WPC"/>
                  </a:rPr>
                  <a:t>claims</a:t>
                </a:r>
                <a:r>
                  <a:rPr lang="es-PE" sz="900" b="0" i="0" dirty="0">
                    <a:solidFill>
                      <a:schemeClr val="tx1"/>
                    </a:solidFill>
                    <a:effectLst/>
                    <a:latin typeface="Segoe WPC"/>
                  </a:rPr>
                  <a:t> at once.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Ordinary</a:t>
                </a:r>
                <a:r>
                  <a:rPr lang="es-PE" sz="900" b="0" i="0" dirty="0">
                    <a:solidFill>
                      <a:schemeClr val="tx1"/>
                    </a:solidFill>
                    <a:effectLst/>
                    <a:latin typeface="Segoe WPC"/>
                  </a:rPr>
                  <a:t> </a:t>
                </a:r>
                <a:r>
                  <a:rPr lang="es-PE" sz="900" b="0" i="0" dirty="0" err="1">
                    <a:solidFill>
                      <a:schemeClr val="tx1"/>
                    </a:solidFill>
                    <a:effectLst/>
                    <a:latin typeface="Segoe WPC"/>
                  </a:rPr>
                  <a:t>claims</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a:t>
                </a:r>
                <a:r>
                  <a:rPr lang="es-PE" sz="900" b="0" i="0" dirty="0" err="1">
                    <a:solidFill>
                      <a:schemeClr val="tx1"/>
                    </a:solidFill>
                    <a:effectLst/>
                    <a:latin typeface="Segoe WPC"/>
                  </a:rPr>
                  <a:t>out</a:t>
                </a:r>
                <a:r>
                  <a:rPr lang="es-PE" sz="900" b="0" i="0" dirty="0">
                    <a:solidFill>
                      <a:schemeClr val="tx1"/>
                    </a:solidFill>
                    <a:effectLst/>
                    <a:latin typeface="Segoe WPC"/>
                  </a:rPr>
                  <a:t> </a:t>
                </a:r>
                <a:r>
                  <a:rPr lang="es-PE" sz="900" b="0" i="0" dirty="0" err="1">
                    <a:solidFill>
                      <a:schemeClr val="tx1"/>
                    </a:solidFill>
                    <a:effectLst/>
                    <a:latin typeface="Segoe WPC"/>
                  </a:rPr>
                  <a:t>across</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policyholders</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catastrophe</a:t>
                </a:r>
                <a:r>
                  <a:rPr lang="es-PE" sz="900" b="0" i="0" dirty="0">
                    <a:solidFill>
                      <a:schemeClr val="tx1"/>
                    </a:solidFill>
                    <a:effectLst/>
                    <a:latin typeface="Segoe WPC"/>
                  </a:rPr>
                  <a:t> </a:t>
                </a:r>
                <a:r>
                  <a:rPr lang="es-PE" sz="900" b="0" i="0" dirty="0" err="1">
                    <a:solidFill>
                      <a:schemeClr val="tx1"/>
                    </a:solidFill>
                    <a:effectLst/>
                    <a:latin typeface="Segoe WPC"/>
                  </a:rPr>
                  <a:t>losses</a:t>
                </a:r>
                <a:r>
                  <a:rPr lang="es-PE" sz="900" b="0" i="0" dirty="0">
                    <a:solidFill>
                      <a:schemeClr val="tx1"/>
                    </a:solidFill>
                    <a:effectLst/>
                    <a:latin typeface="Segoe WPC"/>
                  </a:rPr>
                  <a:t> hit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insureds</a:t>
                </a:r>
                <a:r>
                  <a:rPr lang="es-PE" sz="900" b="0" i="0" dirty="0">
                    <a:solidFill>
                      <a:schemeClr val="tx1"/>
                    </a:solidFill>
                    <a:effectLst/>
                    <a:latin typeface="Segoe WPC"/>
                  </a:rPr>
                  <a:t> </a:t>
                </a:r>
                <a:r>
                  <a:rPr lang="es-PE" sz="900" b="0" i="0" dirty="0" err="1">
                    <a:solidFill>
                      <a:schemeClr val="tx1"/>
                    </a:solidFill>
                    <a:effectLst/>
                    <a:latin typeface="Segoe WPC"/>
                  </a:rPr>
                  <a:t>simultaneously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Loss</a:t>
                </a:r>
                <a:r>
                  <a:rPr lang="es-PE" sz="900" b="0" i="0" dirty="0">
                    <a:solidFill>
                      <a:schemeClr val="tx1"/>
                    </a:solidFill>
                    <a:effectLst/>
                    <a:latin typeface="Segoe WPC"/>
                  </a:rPr>
                  <a:t> ratio = </a:t>
                </a:r>
                <a:r>
                  <a:rPr lang="es-PE" sz="900" b="0" i="0" dirty="0" err="1">
                    <a:solidFill>
                      <a:schemeClr val="tx1"/>
                    </a:solidFill>
                    <a:effectLst/>
                    <a:latin typeface="Segoe WPC"/>
                  </a:rPr>
                  <a:t>payouts</a:t>
                </a:r>
                <a:r>
                  <a:rPr lang="es-PE" sz="900" b="0" i="0" dirty="0">
                    <a:solidFill>
                      <a:schemeClr val="tx1"/>
                    </a:solidFill>
                    <a:effectLst/>
                    <a:latin typeface="Segoe WPC"/>
                  </a:rPr>
                  <a:t> / </a:t>
                </a:r>
                <a:r>
                  <a:rPr lang="es-PE" sz="900" b="0" i="0" dirty="0" err="1">
                    <a:solidFill>
                      <a:schemeClr val="tx1"/>
                    </a:solidFill>
                    <a:effectLst/>
                    <a:latin typeface="Segoe WPC"/>
                  </a:rPr>
                  <a:t>premiums</a:t>
                </a:r>
                <a:r>
                  <a:rPr lang="es-PE" sz="900" b="0" i="0" dirty="0">
                    <a:solidFill>
                      <a:schemeClr val="tx1"/>
                    </a:solidFill>
                    <a:effectLst/>
                    <a:latin typeface="Segoe WPC"/>
                  </a:rPr>
                  <a:t>. Expense ratio = expenses / </a:t>
                </a:r>
                <a:r>
                  <a:rPr lang="es-PE" sz="900" b="0" i="0" dirty="0" err="1">
                    <a:solidFill>
                      <a:schemeClr val="tx1"/>
                    </a:solidFill>
                    <a:effectLst/>
                    <a:latin typeface="Segoe WPC"/>
                  </a:rPr>
                  <a:t>premiums</a:t>
                </a:r>
                <a:r>
                  <a:rPr lang="es-PE" sz="900" b="0" i="0" dirty="0">
                    <a:solidFill>
                      <a:schemeClr val="tx1"/>
                    </a:solidFill>
                    <a:effectLst/>
                    <a:latin typeface="Segoe WPC"/>
                  </a:rPr>
                  <a:t>. </a:t>
                </a:r>
                <a:r>
                  <a:rPr lang="es-PE" sz="900" b="0" i="0" dirty="0" err="1">
                    <a:solidFill>
                      <a:schemeClr val="tx1"/>
                    </a:solidFill>
                    <a:effectLst/>
                    <a:latin typeface="Segoe WPC"/>
                  </a:rPr>
                  <a:t>Combined</a:t>
                </a:r>
                <a:r>
                  <a:rPr lang="es-PE" sz="900" b="0" i="0" dirty="0">
                    <a:solidFill>
                      <a:schemeClr val="tx1"/>
                    </a:solidFill>
                    <a:effectLst/>
                    <a:latin typeface="Segoe WPC"/>
                  </a:rPr>
                  <a:t> ratio = </a:t>
                </a:r>
                <a:r>
                  <a:rPr lang="es-PE" sz="900" b="0" i="0" dirty="0" err="1">
                    <a:solidFill>
                      <a:schemeClr val="tx1"/>
                    </a:solidFill>
                    <a:effectLst/>
                    <a:latin typeface="Segoe WPC"/>
                  </a:rPr>
                  <a:t>loss</a:t>
                </a:r>
                <a:r>
                  <a:rPr lang="es-PE" sz="900" b="0" i="0" dirty="0">
                    <a:solidFill>
                      <a:schemeClr val="tx1"/>
                    </a:solidFill>
                    <a:effectLst/>
                    <a:latin typeface="Segoe WPC"/>
                  </a:rPr>
                  <a:t> ratio + expense ratio. </a:t>
                </a:r>
                <a:r>
                  <a:rPr lang="es-PE" sz="900" b="0" i="0" dirty="0" err="1">
                    <a:solidFill>
                      <a:schemeClr val="tx1"/>
                    </a:solidFill>
                    <a:effectLst/>
                    <a:latin typeface="Segoe WPC"/>
                  </a:rPr>
                  <a:t>Operating</a:t>
                </a:r>
                <a:r>
                  <a:rPr lang="es-PE" sz="900" b="0" i="0" dirty="0">
                    <a:solidFill>
                      <a:schemeClr val="tx1"/>
                    </a:solidFill>
                    <a:effectLst/>
                    <a:latin typeface="Segoe WPC"/>
                  </a:rPr>
                  <a:t> ratio </a:t>
                </a:r>
                <a:r>
                  <a:rPr lang="es-PE" sz="900" b="0" i="0" dirty="0" err="1">
                    <a:solidFill>
                      <a:schemeClr val="tx1"/>
                    </a:solidFill>
                    <a:effectLst/>
                    <a:latin typeface="Segoe WPC"/>
                  </a:rPr>
                  <a:t>adjusts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combined</a:t>
                </a:r>
                <a:r>
                  <a:rPr lang="es-PE" sz="900" b="0" i="0" dirty="0">
                    <a:solidFill>
                      <a:schemeClr val="tx1"/>
                    </a:solidFill>
                    <a:effectLst/>
                    <a:latin typeface="Segoe WPC"/>
                  </a:rPr>
                  <a:t> ratio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investment</a:t>
                </a:r>
                <a:r>
                  <a:rPr lang="es-PE" sz="900" b="0" i="0" dirty="0">
                    <a:solidFill>
                      <a:schemeClr val="tx1"/>
                    </a:solidFill>
                    <a:effectLst/>
                    <a:latin typeface="Segoe WPC"/>
                  </a:rPr>
                  <a:t> </a:t>
                </a:r>
                <a:r>
                  <a:rPr lang="es-PE" sz="900" b="0" i="0" dirty="0" err="1">
                    <a:solidFill>
                      <a:schemeClr val="tx1"/>
                    </a:solidFill>
                    <a:effectLst/>
                    <a:latin typeface="Segoe WPC"/>
                  </a:rPr>
                  <a:t>income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Catastrophe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much</a:t>
                </a:r>
                <a:r>
                  <a:rPr lang="es-PE" sz="900" b="0" i="0" dirty="0">
                    <a:solidFill>
                      <a:schemeClr val="tx1"/>
                    </a:solidFill>
                    <a:effectLst/>
                    <a:latin typeface="Segoe WPC"/>
                  </a:rPr>
                  <a:t> </a:t>
                </a:r>
                <a:r>
                  <a:rPr lang="es-PE" sz="900" b="0" i="0" dirty="0" err="1">
                    <a:solidFill>
                      <a:schemeClr val="tx1"/>
                    </a:solidFill>
                    <a:effectLst/>
                    <a:latin typeface="Segoe WPC"/>
                  </a:rPr>
                  <a:t>harder</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diversify</a:t>
                </a:r>
                <a:r>
                  <a:rPr lang="es-PE" sz="900" b="0" i="0" dirty="0">
                    <a:solidFill>
                      <a:schemeClr val="tx1"/>
                    </a:solidFill>
                    <a:effectLst/>
                    <a:latin typeface="Segoe WPC"/>
                  </a:rPr>
                  <a:t>, so </a:t>
                </a:r>
                <a:r>
                  <a:rPr lang="es-PE" sz="900" b="0" i="0" dirty="0" err="1">
                    <a:solidFill>
                      <a:schemeClr val="tx1"/>
                    </a:solidFill>
                    <a:effectLst/>
                    <a:latin typeface="Segoe WPC"/>
                  </a:rPr>
                  <a:t>insurers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transfer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through</a:t>
                </a:r>
                <a:r>
                  <a:rPr lang="es-PE" sz="900" b="0" i="0" dirty="0">
                    <a:solidFill>
                      <a:schemeClr val="tx1"/>
                    </a:solidFill>
                    <a:effectLst/>
                    <a:latin typeface="Segoe WPC"/>
                  </a:rPr>
                  <a:t> </a:t>
                </a:r>
                <a:r>
                  <a:rPr lang="es-PE" sz="900" b="0" i="0" dirty="0" err="1">
                    <a:solidFill>
                      <a:schemeClr val="tx1"/>
                    </a:solidFill>
                    <a:effectLst/>
                    <a:latin typeface="Segoe WPC"/>
                  </a:rPr>
                  <a:t>reinsurance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CAT </a:t>
                </a:r>
                <a:r>
                  <a:rPr lang="es-PE" sz="900" b="0" i="0" dirty="0" err="1">
                    <a:solidFill>
                      <a:schemeClr val="tx1"/>
                    </a:solidFill>
                    <a:effectLst/>
                    <a:latin typeface="Segoe WPC"/>
                  </a:rPr>
                  <a:t>bonds</a:t>
                </a:r>
                <a:r>
                  <a:rPr lang="es-P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 </a:t>
                </a:r>
                <a:r>
                  <a:rPr lang="es-PE" sz="900" b="0" i="0" dirty="0" err="1">
                    <a:solidFill>
                      <a:schemeClr val="tx1"/>
                    </a:solidFill>
                    <a:effectLst/>
                    <a:latin typeface="Segoe WPC"/>
                  </a:rPr>
                  <a:t>receive</a:t>
                </a:r>
                <a:r>
                  <a:rPr lang="es-PE" sz="900" b="0" i="0" dirty="0">
                    <a:solidFill>
                      <a:schemeClr val="tx1"/>
                    </a:solidFill>
                    <a:effectLst/>
                    <a:latin typeface="Segoe WPC"/>
                  </a:rPr>
                  <a:t> </a:t>
                </a:r>
                <a:r>
                  <a:rPr lang="es-PE" sz="900" b="0" i="0" dirty="0" err="1">
                    <a:solidFill>
                      <a:schemeClr val="tx1"/>
                    </a:solidFill>
                    <a:effectLst/>
                    <a:latin typeface="Segoe WPC"/>
                  </a:rPr>
                  <a:t>high</a:t>
                </a:r>
                <a:r>
                  <a:rPr lang="es-PE" sz="900" b="0" i="0" dirty="0">
                    <a:solidFill>
                      <a:schemeClr val="tx1"/>
                    </a:solidFill>
                    <a:effectLst/>
                    <a:latin typeface="Segoe WPC"/>
                  </a:rPr>
                  <a:t> </a:t>
                </a:r>
                <a:r>
                  <a:rPr lang="es-PE" sz="900" b="0" i="0" dirty="0" err="1">
                    <a:solidFill>
                      <a:schemeClr val="tx1"/>
                    </a:solidFill>
                    <a:effectLst/>
                    <a:latin typeface="Segoe WPC"/>
                  </a:rPr>
                  <a:t>yields</a:t>
                </a:r>
                <a:r>
                  <a:rPr lang="es-PE" sz="900" b="0" i="0" dirty="0">
                    <a:solidFill>
                      <a:schemeClr val="tx1"/>
                    </a:solidFill>
                    <a:effectLst/>
                    <a:latin typeface="Segoe WPC"/>
                  </a:rPr>
                  <a:t> in </a:t>
                </a:r>
                <a:r>
                  <a:rPr lang="es-PE" sz="900" b="0" i="0" dirty="0" err="1">
                    <a:solidFill>
                      <a:schemeClr val="tx1"/>
                    </a:solidFill>
                    <a:effectLst/>
                    <a:latin typeface="Segoe WPC"/>
                  </a:rPr>
                  <a:t>exchange</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losing</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principal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specified</a:t>
                </a:r>
                <a:r>
                  <a:rPr lang="es-PE" sz="900" b="0" i="0" dirty="0">
                    <a:solidFill>
                      <a:schemeClr val="tx1"/>
                    </a:solidFill>
                    <a:effectLst/>
                    <a:latin typeface="Segoe WPC"/>
                  </a:rPr>
                  <a:t> </a:t>
                </a:r>
                <a:r>
                  <a:rPr lang="es-PE" sz="900" b="0" i="0" dirty="0" err="1">
                    <a:solidFill>
                      <a:schemeClr val="tx1"/>
                    </a:solidFill>
                    <a:effectLst/>
                    <a:latin typeface="Segoe WPC"/>
                  </a:rPr>
                  <a:t>catastrophe</a:t>
                </a:r>
                <a:r>
                  <a:rPr lang="es-PE" sz="900" b="0" i="0" dirty="0">
                    <a:solidFill>
                      <a:schemeClr val="tx1"/>
                    </a:solidFill>
                    <a:effectLst/>
                    <a:latin typeface="Segoe WPC"/>
                  </a:rPr>
                  <a:t> </a:t>
                </a:r>
                <a:r>
                  <a:rPr lang="es-PE" sz="900" b="0" i="0" dirty="0" err="1">
                    <a:solidFill>
                      <a:schemeClr val="tx1"/>
                    </a:solidFill>
                    <a:effectLst/>
                    <a:latin typeface="Segoe WPC"/>
                  </a:rPr>
                  <a:t>losses</a:t>
                </a:r>
                <a:r>
                  <a:rPr lang="es-PE" sz="900" b="0" i="0" dirty="0">
                    <a:solidFill>
                      <a:schemeClr val="tx1"/>
                    </a:solidFill>
                    <a:effectLst/>
                    <a:latin typeface="Segoe WPC"/>
                  </a:rPr>
                  <a:t> </a:t>
                </a:r>
                <a:r>
                  <a:rPr lang="es-PE" sz="900" b="0" i="0" dirty="0" err="1">
                    <a:solidFill>
                      <a:schemeClr val="tx1"/>
                    </a:solidFill>
                    <a:effectLst/>
                    <a:latin typeface="Segoe WPC"/>
                  </a:rPr>
                  <a:t>occur</a:t>
                </a:r>
                <a:r>
                  <a:rPr lang="es-PE" sz="900" b="0" i="0" dirty="0">
                    <a:solidFill>
                      <a:schemeClr val="tx1"/>
                    </a:solidFill>
                    <a:effectLst/>
                    <a:latin typeface="Segoe WPC"/>
                  </a:rPr>
                  <a:t>. CAT </a:t>
                </a:r>
                <a:r>
                  <a:rPr lang="es-PE" sz="900" b="0" i="0" dirty="0" err="1">
                    <a:solidFill>
                      <a:schemeClr val="tx1"/>
                    </a:solidFill>
                    <a:effectLst/>
                    <a:latin typeface="Segoe WPC"/>
                  </a:rPr>
                  <a:t>bonds</a:t>
                </a:r>
                <a:r>
                  <a:rPr lang="es-PE" sz="900" b="0" i="0" dirty="0">
                    <a:solidFill>
                      <a:schemeClr val="tx1"/>
                    </a:solidFill>
                    <a:effectLst/>
                    <a:latin typeface="Segoe WPC"/>
                  </a:rPr>
                  <a:t> are </a:t>
                </a:r>
                <a:r>
                  <a:rPr lang="es-PE" sz="900" b="0" i="0" dirty="0" err="1">
                    <a:solidFill>
                      <a:schemeClr val="tx1"/>
                    </a:solidFill>
                    <a:effectLst/>
                    <a:latin typeface="Segoe WPC"/>
                  </a:rPr>
                  <a:t>attractive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their</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weakly</a:t>
                </a:r>
                <a:r>
                  <a:rPr lang="es-PE" sz="900" b="0" i="0" dirty="0">
                    <a:solidFill>
                      <a:schemeClr val="tx1"/>
                    </a:solidFill>
                    <a:effectLst/>
                    <a:latin typeface="Segoe WPC"/>
                  </a:rPr>
                  <a:t> </a:t>
                </a:r>
                <a:r>
                  <a:rPr lang="es-PE" sz="900" b="0" i="0" dirty="0" err="1">
                    <a:solidFill>
                      <a:schemeClr val="tx1"/>
                    </a:solidFill>
                    <a:effectLst/>
                    <a:latin typeface="Segoe WPC"/>
                  </a:rPr>
                  <a:t>correlated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traditional</a:t>
                </a:r>
                <a:r>
                  <a:rPr lang="es-PE" sz="900" b="0" i="0" dirty="0">
                    <a:solidFill>
                      <a:schemeClr val="tx1"/>
                    </a:solidFill>
                    <a:effectLst/>
                    <a:latin typeface="Segoe WPC"/>
                  </a:rPr>
                  <a:t> </a:t>
                </a:r>
                <a:r>
                  <a:rPr lang="es-PE" sz="900" b="0" i="0" dirty="0" err="1">
                    <a:solidFill>
                      <a:schemeClr val="tx1"/>
                    </a:solidFill>
                    <a:effectLst/>
                    <a:latin typeface="Segoe WPC"/>
                  </a:rPr>
                  <a:t>financial</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low</a:t>
                </a:r>
                <a:r>
                  <a:rPr lang="es-PE" sz="900" b="0" i="0" dirty="0">
                    <a:solidFill>
                      <a:schemeClr val="tx1"/>
                    </a:solidFill>
                    <a:effectLst/>
                    <a:latin typeface="Segoe WPC"/>
                  </a:rPr>
                  <a:t> </a:t>
                </a:r>
                <a:r>
                  <a:rPr lang="es-PE" sz="900" b="0" i="0" dirty="0" err="1">
                    <a:solidFill>
                      <a:schemeClr val="tx1"/>
                    </a:solidFill>
                    <a:effectLst/>
                    <a:latin typeface="Segoe WPC"/>
                  </a:rPr>
                  <a:t>loss</a:t>
                </a:r>
                <a:r>
                  <a:rPr lang="es-PE" sz="900" b="0" i="0" dirty="0">
                    <a:solidFill>
                      <a:schemeClr val="tx1"/>
                    </a:solidFill>
                    <a:effectLst/>
                    <a:latin typeface="Segoe WPC"/>
                  </a:rPr>
                  <a:t> ratio alone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guarantee</a:t>
                </a:r>
                <a:r>
                  <a:rPr lang="es-PE" sz="900" b="0" i="0" dirty="0">
                    <a:solidFill>
                      <a:schemeClr val="tx1"/>
                    </a:solidFill>
                    <a:effectLst/>
                    <a:latin typeface="Segoe WPC"/>
                  </a:rPr>
                  <a:t> </a:t>
                </a:r>
                <a:r>
                  <a:rPr lang="es-PE" sz="900" b="0" i="0" dirty="0" err="1">
                    <a:solidFill>
                      <a:schemeClr val="tx1"/>
                    </a:solidFill>
                    <a:effectLst/>
                    <a:latin typeface="Segoe WPC"/>
                  </a:rPr>
                  <a:t>profitability</a:t>
                </a:r>
                <a:r>
                  <a:rPr lang="es-PE" sz="900" b="0" i="0" dirty="0">
                    <a:solidFill>
                      <a:schemeClr val="tx1"/>
                    </a:solidFill>
                    <a:effectLst/>
                    <a:latin typeface="Segoe WPC"/>
                  </a:rPr>
                  <a:t>; expenses and </a:t>
                </a:r>
                <a:r>
                  <a:rPr lang="es-PE" sz="900" b="0" i="0" dirty="0" err="1">
                    <a:solidFill>
                      <a:schemeClr val="tx1"/>
                    </a:solidFill>
                    <a:effectLst/>
                    <a:latin typeface="Segoe WPC"/>
                  </a:rPr>
                  <a:t>investment</a:t>
                </a:r>
                <a:r>
                  <a:rPr lang="es-PE" sz="900" b="0" i="0" dirty="0">
                    <a:solidFill>
                      <a:schemeClr val="tx1"/>
                    </a:solidFill>
                    <a:effectLst/>
                    <a:latin typeface="Segoe WPC"/>
                  </a:rPr>
                  <a:t> </a:t>
                </a:r>
                <a:r>
                  <a:rPr lang="es-PE" sz="900" b="0" i="0" dirty="0" err="1">
                    <a:solidFill>
                      <a:schemeClr val="tx1"/>
                    </a:solidFill>
                    <a:effectLst/>
                    <a:latin typeface="Segoe WPC"/>
                  </a:rPr>
                  <a:t>income</a:t>
                </a:r>
                <a:r>
                  <a:rPr lang="es-PE" sz="900" b="0" i="0" dirty="0">
                    <a:solidFill>
                      <a:schemeClr val="tx1"/>
                    </a:solidFill>
                    <a:effectLst/>
                    <a:latin typeface="Segoe WPC"/>
                  </a:rPr>
                  <a:t> </a:t>
                </a:r>
                <a:r>
                  <a:rPr lang="es-PE" sz="900" b="0" i="0" dirty="0" err="1">
                    <a:solidFill>
                      <a:schemeClr val="tx1"/>
                    </a:solidFill>
                    <a:effectLst/>
                    <a:latin typeface="Segoe WPC"/>
                  </a:rPr>
                  <a:t>also</a:t>
                </a:r>
                <a:r>
                  <a:rPr lang="es-PE" sz="900" b="0" i="0" dirty="0">
                    <a:solidFill>
                      <a:schemeClr val="tx1"/>
                    </a:solidFill>
                    <a:effectLst/>
                    <a:latin typeface="Segoe WPC"/>
                  </a:rPr>
                  <a:t> </a:t>
                </a:r>
                <a:r>
                  <a:rPr lang="es-PE" sz="900" b="0" i="0" dirty="0" err="1">
                    <a:solidFill>
                      <a:schemeClr val="tx1"/>
                    </a:solidFill>
                    <a:effectLst/>
                    <a:latin typeface="Segoe WPC"/>
                  </a:rPr>
                  <a:t>matter</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8. </a:t>
                </a:r>
                <a:r>
                  <a:rPr lang="es-PE" sz="900" b="1" i="0" dirty="0" err="1">
                    <a:solidFill>
                      <a:schemeClr val="tx1"/>
                    </a:solidFill>
                    <a:effectLst/>
                    <a:latin typeface="Segoe WPC"/>
                  </a:rPr>
                  <a:t>Health</a:t>
                </a:r>
                <a:r>
                  <a:rPr lang="es-PE" sz="900" b="1" i="0" dirty="0">
                    <a:solidFill>
                      <a:schemeClr val="tx1"/>
                    </a:solidFill>
                    <a:effectLst/>
                    <a:latin typeface="Segoe WPC"/>
                  </a:rPr>
                  <a:t> </a:t>
                </a:r>
                <a:r>
                  <a:rPr lang="es-PE" sz="900" b="1" i="0" dirty="0" err="1">
                    <a:solidFill>
                      <a:schemeClr val="tx1"/>
                    </a:solidFill>
                    <a:effectLst/>
                    <a:latin typeface="Segoe WPC"/>
                  </a:rPr>
                  <a:t>Insurance</a:t>
                </a:r>
                <a:r>
                  <a:rPr lang="es-PE" sz="900" b="1" i="0" dirty="0">
                    <a:solidFill>
                      <a:schemeClr val="tx1"/>
                    </a:solidFill>
                    <a:effectLst/>
                    <a:latin typeface="Segoe WPC"/>
                  </a:rPr>
                  <a:t>, Moral Hazard, Adverse </a:t>
                </a:r>
                <a:r>
                  <a:rPr lang="es-PE" sz="900" b="1" i="0" dirty="0" err="1">
                    <a:solidFill>
                      <a:schemeClr val="tx1"/>
                    </a:solidFill>
                    <a:effectLst/>
                    <a:latin typeface="Segoe WPC"/>
                  </a:rPr>
                  <a:t>Selection</a:t>
                </a:r>
                <a:r>
                  <a:rPr lang="es-PE" sz="900" b="1" i="0" dirty="0">
                    <a:solidFill>
                      <a:schemeClr val="tx1"/>
                    </a:solidFill>
                    <a:effectLst/>
                    <a:latin typeface="Segoe WPC"/>
                  </a:rPr>
                  <a:t>, and </a:t>
                </a:r>
                <a:r>
                  <a:rPr lang="es-PE" sz="900" b="1" i="0" dirty="0" err="1">
                    <a:solidFill>
                      <a:schemeClr val="tx1"/>
                    </a:solidFill>
                    <a:effectLst/>
                    <a:latin typeface="Segoe WPC"/>
                  </a:rPr>
                  <a:t>Regulation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Insurance-market</a:t>
                </a:r>
                <a:r>
                  <a:rPr lang="es-PE" sz="900" b="0" i="0" dirty="0">
                    <a:solidFill>
                      <a:schemeClr val="tx1"/>
                    </a:solidFill>
                    <a:effectLst/>
                    <a:latin typeface="Segoe WPC"/>
                  </a:rPr>
                  <a:t> </a:t>
                </a:r>
                <a:r>
                  <a:rPr lang="es-PE" sz="900" b="0" i="0" dirty="0" err="1">
                    <a:solidFill>
                      <a:schemeClr val="tx1"/>
                    </a:solidFill>
                    <a:effectLst/>
                    <a:latin typeface="Segoe WPC"/>
                  </a:rPr>
                  <a:t>frictions</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solvency</a:t>
                </a:r>
                <a:r>
                  <a:rPr lang="es-PE" sz="900" b="0" i="0" dirty="0">
                    <a:solidFill>
                      <a:schemeClr val="tx1"/>
                    </a:solidFill>
                    <a:effectLst/>
                    <a:latin typeface="Segoe WPC"/>
                  </a:rPr>
                  <a:t> </a:t>
                </a:r>
                <a:r>
                  <a:rPr lang="es-PE" sz="900" b="0" i="0" dirty="0" err="1">
                    <a:solidFill>
                      <a:schemeClr val="tx1"/>
                    </a:solidFill>
                    <a:effectLst/>
                    <a:latin typeface="Segoe WPC"/>
                  </a:rPr>
                  <a:t>framework</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insurers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Health</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covers</a:t>
                </a:r>
                <a:r>
                  <a:rPr lang="es-PE" sz="900" b="0" i="0" dirty="0">
                    <a:solidFill>
                      <a:schemeClr val="tx1"/>
                    </a:solidFill>
                    <a:effectLst/>
                    <a:latin typeface="Segoe WPC"/>
                  </a:rPr>
                  <a:t> medical </a:t>
                </a:r>
                <a:r>
                  <a:rPr lang="es-PE" sz="900" b="0" i="0" dirty="0" err="1">
                    <a:solidFill>
                      <a:schemeClr val="tx1"/>
                    </a:solidFill>
                    <a:effectLst/>
                    <a:latin typeface="Segoe WPC"/>
                  </a:rPr>
                  <a:t>costs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unlike</a:t>
                </a:r>
                <a:r>
                  <a:rPr lang="es-PE" sz="900" b="0" i="0" dirty="0">
                    <a:solidFill>
                      <a:schemeClr val="tx1"/>
                    </a:solidFill>
                    <a:effectLst/>
                    <a:latin typeface="Segoe WPC"/>
                  </a:rPr>
                  <a:t> </a:t>
                </a:r>
                <a:r>
                  <a:rPr lang="es-PE" sz="900" b="0" i="0" dirty="0" err="1">
                    <a:solidFill>
                      <a:schemeClr val="tx1"/>
                    </a:solidFill>
                    <a:effectLst/>
                    <a:latin typeface="Segoe WPC"/>
                  </a:rPr>
                  <a:t>property-casualty</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premiums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cannot</a:t>
                </a:r>
                <a:r>
                  <a:rPr lang="es-PE" sz="900" b="0" i="0" dirty="0">
                    <a:solidFill>
                      <a:schemeClr val="tx1"/>
                    </a:solidFill>
                    <a:effectLst/>
                    <a:latin typeface="Segoe WPC"/>
                  </a:rPr>
                  <a:t> </a:t>
                </a:r>
                <a:r>
                  <a:rPr lang="es-PE" sz="900" b="0" i="0" dirty="0" err="1">
                    <a:solidFill>
                      <a:schemeClr val="tx1"/>
                    </a:solidFill>
                    <a:effectLst/>
                    <a:latin typeface="Segoe WPC"/>
                  </a:rPr>
                  <a:t>rise</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 </a:t>
                </a:r>
                <a:r>
                  <a:rPr lang="es-PE" sz="900" b="0" i="0" dirty="0" err="1">
                    <a:solidFill>
                      <a:schemeClr val="tx1"/>
                    </a:solidFill>
                    <a:effectLst/>
                    <a:latin typeface="Segoe WPC"/>
                  </a:rPr>
                  <a:t>policyholder</a:t>
                </a:r>
                <a:r>
                  <a:rPr lang="es-PE" sz="900" b="0" i="0" dirty="0">
                    <a:solidFill>
                      <a:schemeClr val="tx1"/>
                    </a:solidFill>
                    <a:effectLst/>
                    <a:latin typeface="Segoe WPC"/>
                  </a:rPr>
                  <a:t> </a:t>
                </a:r>
                <a:r>
                  <a:rPr lang="es-PE" sz="900" b="0" i="0" dirty="0" err="1">
                    <a:solidFill>
                      <a:schemeClr val="tx1"/>
                    </a:solidFill>
                    <a:effectLst/>
                    <a:latin typeface="Segoe WPC"/>
                  </a:rPr>
                  <a:t>unexpectedly</a:t>
                </a:r>
                <a:r>
                  <a:rPr lang="es-PE" sz="900" b="0" i="0" dirty="0">
                    <a:solidFill>
                      <a:schemeClr val="tx1"/>
                    </a:solidFill>
                    <a:effectLst/>
                    <a:latin typeface="Segoe WPC"/>
                  </a:rPr>
                  <a:t> </a:t>
                </a:r>
                <a:r>
                  <a:rPr lang="es-PE" sz="900" b="0" i="0" dirty="0" err="1">
                    <a:solidFill>
                      <a:schemeClr val="tx1"/>
                    </a:solidFill>
                    <a:effectLst/>
                    <a:latin typeface="Segoe WPC"/>
                  </a:rPr>
                  <a:t>becomes</a:t>
                </a:r>
                <a:r>
                  <a:rPr lang="es-PE" sz="900" b="0" i="0" dirty="0">
                    <a:solidFill>
                      <a:schemeClr val="tx1"/>
                    </a:solidFill>
                    <a:effectLst/>
                    <a:latin typeface="Segoe WPC"/>
                  </a:rPr>
                  <a:t> </a:t>
                </a:r>
                <a:r>
                  <a:rPr lang="es-PE" sz="900" b="0" i="0" dirty="0" err="1">
                    <a:solidFill>
                      <a:schemeClr val="tx1"/>
                    </a:solidFill>
                    <a:effectLst/>
                    <a:latin typeface="Segoe WPC"/>
                  </a:rPr>
                  <a:t>ill</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markets</a:t>
                </a:r>
                <a:r>
                  <a:rPr lang="es-PE" sz="900" b="0" i="0" dirty="0">
                    <a:solidFill>
                      <a:schemeClr val="tx1"/>
                    </a:solidFill>
                    <a:effectLst/>
                    <a:latin typeface="Segoe WPC"/>
                  </a:rPr>
                  <a:t> </a:t>
                </a:r>
                <a:r>
                  <a:rPr lang="es-PE" sz="900" b="0" i="0" dirty="0" err="1">
                    <a:solidFill>
                      <a:schemeClr val="tx1"/>
                    </a:solidFill>
                    <a:effectLst/>
                    <a:latin typeface="Segoe WPC"/>
                  </a:rPr>
                  <a:t>also</a:t>
                </a:r>
                <a:r>
                  <a:rPr lang="es-PE" sz="900" b="0" i="0" dirty="0">
                    <a:solidFill>
                      <a:schemeClr val="tx1"/>
                    </a:solidFill>
                    <a:effectLst/>
                    <a:latin typeface="Segoe WPC"/>
                  </a:rPr>
                  <a:t> </a:t>
                </a:r>
                <a:r>
                  <a:rPr lang="es-PE" sz="900" b="0" i="0" dirty="0" err="1">
                    <a:solidFill>
                      <a:schemeClr val="tx1"/>
                    </a:solidFill>
                    <a:effectLst/>
                    <a:latin typeface="Segoe WPC"/>
                  </a:rPr>
                  <a:t>face</a:t>
                </a:r>
                <a:r>
                  <a:rPr lang="es-PE" sz="900" b="0" i="0" dirty="0">
                    <a:solidFill>
                      <a:schemeClr val="tx1"/>
                    </a:solidFill>
                    <a:effectLst/>
                    <a:latin typeface="Segoe WPC"/>
                  </a:rPr>
                  <a:t> moral </a:t>
                </a:r>
                <a:r>
                  <a:rPr lang="es-PE" sz="900" b="0" i="0" dirty="0" err="1">
                    <a:solidFill>
                      <a:schemeClr val="tx1"/>
                    </a:solidFill>
                    <a:effectLst/>
                    <a:latin typeface="Segoe WPC"/>
                  </a:rPr>
                  <a:t>hazard</a:t>
                </a:r>
                <a:r>
                  <a:rPr lang="es-PE" sz="900" b="0" i="0" dirty="0">
                    <a:solidFill>
                      <a:schemeClr val="tx1"/>
                    </a:solidFill>
                    <a:effectLst/>
                    <a:latin typeface="Segoe WPC"/>
                  </a:rPr>
                  <a:t> and adverse </a:t>
                </a:r>
                <a:r>
                  <a:rPr lang="es-PE" sz="900" b="0" i="0" dirty="0" err="1">
                    <a:solidFill>
                      <a:schemeClr val="tx1"/>
                    </a:solidFill>
                    <a:effectLst/>
                    <a:latin typeface="Segoe WPC"/>
                  </a:rPr>
                  <a:t>selection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can </a:t>
                </a:r>
                <a:r>
                  <a:rPr lang="es-PE" sz="900" b="0" i="0" dirty="0" err="1">
                    <a:solidFill>
                      <a:schemeClr val="tx1"/>
                    </a:solidFill>
                    <a:effectLst/>
                    <a:latin typeface="Segoe WPC"/>
                  </a:rPr>
                  <a:t>change</a:t>
                </a:r>
                <a:r>
                  <a:rPr lang="es-PE" sz="900" b="0" i="0" dirty="0">
                    <a:solidFill>
                      <a:schemeClr val="tx1"/>
                    </a:solidFill>
                    <a:effectLst/>
                    <a:latin typeface="Segoe WPC"/>
                  </a:rPr>
                  <a:t> </a:t>
                </a:r>
                <a:r>
                  <a:rPr lang="es-PE" sz="900" b="0" i="0" dirty="0" err="1">
                    <a:solidFill>
                      <a:schemeClr val="tx1"/>
                    </a:solidFill>
                    <a:effectLst/>
                    <a:latin typeface="Segoe WPC"/>
                  </a:rPr>
                  <a:t>behavior</a:t>
                </a:r>
                <a:r>
                  <a:rPr lang="es-PE" sz="900" b="0" i="0" dirty="0">
                    <a:solidFill>
                      <a:schemeClr val="tx1"/>
                    </a:solidFill>
                    <a:effectLst/>
                    <a:latin typeface="Segoe WPC"/>
                  </a:rPr>
                  <a:t> after </a:t>
                </a:r>
                <a:r>
                  <a:rPr lang="es-PE" sz="900" b="0" i="0" dirty="0" err="1">
                    <a:solidFill>
                      <a:schemeClr val="tx1"/>
                    </a:solidFill>
                    <a:effectLst/>
                    <a:latin typeface="Segoe WPC"/>
                  </a:rPr>
                  <a:t>purchase</a:t>
                </a:r>
                <a:r>
                  <a:rPr lang="es-PE" sz="900" b="0" i="0" dirty="0">
                    <a:solidFill>
                      <a:schemeClr val="tx1"/>
                    </a:solidFill>
                    <a:effectLst/>
                    <a:latin typeface="Segoe WPC"/>
                  </a:rPr>
                  <a:t> and </a:t>
                </a:r>
                <a:r>
                  <a:rPr lang="es-PE" sz="900" b="0" i="0" dirty="0" err="1">
                    <a:solidFill>
                      <a:schemeClr val="tx1"/>
                    </a:solidFill>
                    <a:effectLst/>
                    <a:latin typeface="Segoe WPC"/>
                  </a:rPr>
                  <a:t>attract</a:t>
                </a:r>
                <a:r>
                  <a:rPr lang="es-PE" sz="900" b="0" i="0" dirty="0">
                    <a:solidFill>
                      <a:schemeClr val="tx1"/>
                    </a:solidFill>
                    <a:effectLst/>
                    <a:latin typeface="Segoe WPC"/>
                  </a:rPr>
                  <a:t> </a:t>
                </a:r>
                <a:r>
                  <a:rPr lang="es-PE" sz="900" b="0" i="0" dirty="0" err="1">
                    <a:solidFill>
                      <a:schemeClr val="tx1"/>
                    </a:solidFill>
                    <a:effectLst/>
                    <a:latin typeface="Segoe WPC"/>
                  </a:rPr>
                  <a:t>high-risk</a:t>
                </a:r>
                <a:r>
                  <a:rPr lang="es-PE" sz="900" b="0" i="0" dirty="0">
                    <a:solidFill>
                      <a:schemeClr val="tx1"/>
                    </a:solidFill>
                    <a:effectLst/>
                    <a:latin typeface="Segoe WPC"/>
                  </a:rPr>
                  <a:t> </a:t>
                </a:r>
                <a:r>
                  <a:rPr lang="es-PE" sz="900" b="0" i="0" dirty="0" err="1">
                    <a:solidFill>
                      <a:schemeClr val="tx1"/>
                    </a:solidFill>
                    <a:effectLst/>
                    <a:latin typeface="Segoe WPC"/>
                  </a:rPr>
                  <a:t>buyers</a:t>
                </a:r>
                <a:r>
                  <a:rPr lang="es-PE" sz="900" b="0" i="0" dirty="0">
                    <a:solidFill>
                      <a:schemeClr val="tx1"/>
                    </a:solidFill>
                    <a:effectLst/>
                    <a:latin typeface="Segoe WPC"/>
                  </a:rPr>
                  <a:t> </a:t>
                </a:r>
                <a:r>
                  <a:rPr lang="es-PE" sz="900" b="0" i="0" dirty="0" err="1">
                    <a:solidFill>
                      <a:schemeClr val="tx1"/>
                    </a:solidFill>
                    <a:effectLst/>
                    <a:latin typeface="Segoe WPC"/>
                  </a:rPr>
                  <a:t>before</a:t>
                </a:r>
                <a:r>
                  <a:rPr lang="es-PE" sz="900" b="0" i="0" dirty="0">
                    <a:solidFill>
                      <a:schemeClr val="tx1"/>
                    </a:solidFill>
                    <a:effectLst/>
                    <a:latin typeface="Segoe WPC"/>
                  </a:rPr>
                  <a:t> </a:t>
                </a:r>
                <a:r>
                  <a:rPr lang="es-PE" sz="900" b="0" i="0" dirty="0" err="1">
                    <a:solidFill>
                      <a:schemeClr val="tx1"/>
                    </a:solidFill>
                    <a:effectLst/>
                    <a:latin typeface="Segoe WPC"/>
                  </a:rPr>
                  <a:t>purchase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Under</a:t>
                </a:r>
                <a:r>
                  <a:rPr lang="es-PE" sz="900" b="0" i="0" dirty="0">
                    <a:solidFill>
                      <a:schemeClr val="tx1"/>
                    </a:solidFill>
                    <a:effectLst/>
                    <a:latin typeface="Segoe WPC"/>
                  </a:rPr>
                  <a:t> </a:t>
                </a:r>
                <a:r>
                  <a:rPr lang="es-PE" sz="900" b="0" i="0" dirty="0" err="1">
                    <a:solidFill>
                      <a:schemeClr val="tx1"/>
                    </a:solidFill>
                    <a:effectLst/>
                    <a:latin typeface="Segoe WPC"/>
                  </a:rPr>
                  <a:t>Solvency</a:t>
                </a:r>
                <a:r>
                  <a:rPr lang="es-PE" sz="900" b="0" i="0" dirty="0">
                    <a:solidFill>
                      <a:schemeClr val="tx1"/>
                    </a:solidFill>
                    <a:effectLst/>
                    <a:latin typeface="Segoe WPC"/>
                  </a:rPr>
                  <a:t> II, </a:t>
                </a:r>
                <a:r>
                  <a:rPr lang="es-PE" sz="900" b="0" i="0" dirty="0" err="1">
                    <a:solidFill>
                      <a:schemeClr val="tx1"/>
                    </a:solidFill>
                    <a:effectLst/>
                    <a:latin typeface="Segoe WPC"/>
                  </a:rPr>
                  <a:t>insurers</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satisfy</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 </a:t>
                </a:r>
                <a:r>
                  <a:rPr lang="es-PE" sz="900" b="0" i="0" dirty="0" err="1">
                    <a:solidFill>
                      <a:schemeClr val="tx1"/>
                    </a:solidFill>
                    <a:effectLst/>
                    <a:latin typeface="Segoe WPC"/>
                  </a:rPr>
                  <a:t>Minimum</a:t>
                </a:r>
                <a:r>
                  <a:rPr lang="es-PE" sz="900" b="0" i="0" dirty="0">
                    <a:solidFill>
                      <a:schemeClr val="tx1"/>
                    </a:solidFill>
                    <a:effectLst/>
                    <a:latin typeface="Segoe WPC"/>
                  </a:rPr>
                  <a:t> Capital </a:t>
                </a:r>
                <a:r>
                  <a:rPr lang="es-PE" sz="900" b="0" i="0" dirty="0" err="1">
                    <a:solidFill>
                      <a:schemeClr val="tx1"/>
                    </a:solidFill>
                    <a:effectLst/>
                    <a:latin typeface="Segoe WPC"/>
                  </a:rPr>
                  <a:t>Requirement</a:t>
                </a:r>
                <a:r>
                  <a:rPr lang="es-PE" sz="900" b="0" i="0" dirty="0">
                    <a:solidFill>
                      <a:schemeClr val="tx1"/>
                    </a:solidFill>
                    <a:effectLst/>
                    <a:latin typeface="Segoe WPC"/>
                  </a:rPr>
                  <a:t> (MCR) and a </a:t>
                </a:r>
                <a:r>
                  <a:rPr lang="es-PE" sz="900" b="0" i="0" dirty="0" err="1">
                    <a:solidFill>
                      <a:schemeClr val="tx1"/>
                    </a:solidFill>
                    <a:effectLst/>
                    <a:latin typeface="Segoe WPC"/>
                  </a:rPr>
                  <a:t>Solvency</a:t>
                </a:r>
                <a:r>
                  <a:rPr lang="es-PE" sz="900" b="0" i="0" dirty="0">
                    <a:solidFill>
                      <a:schemeClr val="tx1"/>
                    </a:solidFill>
                    <a:effectLst/>
                    <a:latin typeface="Segoe WPC"/>
                  </a:rPr>
                  <a:t> Capital </a:t>
                </a:r>
                <a:r>
                  <a:rPr lang="es-PE" sz="900" b="0" i="0" dirty="0" err="1">
                    <a:solidFill>
                      <a:schemeClr val="tx1"/>
                    </a:solidFill>
                    <a:effectLst/>
                    <a:latin typeface="Segoe WPC"/>
                  </a:rPr>
                  <a:t>Requirement</a:t>
                </a:r>
                <a:r>
                  <a:rPr lang="es-PE" sz="900" b="0" i="0" dirty="0">
                    <a:solidFill>
                      <a:schemeClr val="tx1"/>
                    </a:solidFill>
                    <a:effectLst/>
                    <a:latin typeface="Segoe WPC"/>
                  </a:rPr>
                  <a:t> (SCR), </a:t>
                </a:r>
                <a:r>
                  <a:rPr lang="es-PE" sz="900" b="0" i="0" dirty="0" err="1">
                    <a:solidFill>
                      <a:schemeClr val="tx1"/>
                    </a:solidFill>
                    <a:effectLst/>
                    <a:latin typeface="Segoe WPC"/>
                  </a:rPr>
                  <a:t>with</a:t>
                </a:r>
                <a:r>
                  <a:rPr lang="es-PE" sz="900" b="0" i="0" dirty="0">
                    <a:solidFill>
                      <a:schemeClr val="tx1"/>
                    </a:solidFill>
                    <a:effectLst/>
                    <a:latin typeface="Segoe WPC"/>
                  </a:rPr>
                  <a:t> MCR </a:t>
                </a:r>
                <a:r>
                  <a:rPr lang="es-PE" sz="900" b="0" i="0" dirty="0" err="1">
                    <a:solidFill>
                      <a:schemeClr val="tx1"/>
                    </a:solidFill>
                    <a:effectLst/>
                    <a:latin typeface="Segoe WPC"/>
                  </a:rPr>
                  <a:t>usually</a:t>
                </a:r>
                <a:r>
                  <a:rPr lang="es-PE" sz="900" b="0" i="0" dirty="0">
                    <a:solidFill>
                      <a:schemeClr val="tx1"/>
                    </a:solidFill>
                    <a:effectLst/>
                    <a:latin typeface="Segoe WPC"/>
                  </a:rPr>
                  <a:t> 25% </a:t>
                </a:r>
                <a:r>
                  <a:rPr lang="es-PE" sz="900" b="0" i="0" dirty="0" err="1">
                    <a:solidFill>
                      <a:schemeClr val="tx1"/>
                    </a:solidFill>
                    <a:effectLst/>
                    <a:latin typeface="Segoe WPC"/>
                  </a:rPr>
                  <a:t>to</a:t>
                </a:r>
                <a:r>
                  <a:rPr lang="es-PE" sz="900" b="0" i="0" dirty="0">
                    <a:solidFill>
                      <a:schemeClr val="tx1"/>
                    </a:solidFill>
                    <a:effectLst/>
                    <a:latin typeface="Segoe WPC"/>
                  </a:rPr>
                  <a:t> 45% </a:t>
                </a:r>
                <a:r>
                  <a:rPr lang="es-PE" sz="900" b="0" i="0" dirty="0" err="1">
                    <a:solidFill>
                      <a:schemeClr val="tx1"/>
                    </a:solidFill>
                    <a:effectLst/>
                    <a:latin typeface="Segoe WPC"/>
                  </a:rPr>
                  <a:t>of</a:t>
                </a:r>
                <a:r>
                  <a:rPr lang="es-PE" sz="900" b="0" i="0" dirty="0">
                    <a:solidFill>
                      <a:schemeClr val="tx1"/>
                    </a:solidFill>
                    <a:effectLst/>
                    <a:latin typeface="Segoe WPC"/>
                  </a:rPr>
                  <a:t> SCR.</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Moral </a:t>
                </a:r>
                <a:r>
                  <a:rPr lang="es-PE" sz="900" b="0" i="0" dirty="0" err="1">
                    <a:solidFill>
                      <a:schemeClr val="tx1"/>
                    </a:solidFill>
                    <a:effectLst/>
                    <a:latin typeface="Segoe WPC"/>
                  </a:rPr>
                  <a:t>hazard</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insured</a:t>
                </a:r>
                <a:r>
                  <a:rPr lang="es-PE" sz="900" b="0" i="0" dirty="0">
                    <a:solidFill>
                      <a:schemeClr val="tx1"/>
                    </a:solidFill>
                    <a:effectLst/>
                    <a:latin typeface="Segoe WPC"/>
                  </a:rPr>
                  <a:t> </a:t>
                </a:r>
                <a:r>
                  <a:rPr lang="es-PE" sz="900" b="0" i="0" dirty="0" err="1">
                    <a:solidFill>
                      <a:schemeClr val="tx1"/>
                    </a:solidFill>
                    <a:effectLst/>
                    <a:latin typeface="Segoe WPC"/>
                  </a:rPr>
                  <a:t>parties</a:t>
                </a:r>
                <a:r>
                  <a:rPr lang="es-PE" sz="900" b="0" i="0" dirty="0">
                    <a:solidFill>
                      <a:schemeClr val="tx1"/>
                    </a:solidFill>
                    <a:effectLst/>
                    <a:latin typeface="Segoe WPC"/>
                  </a:rPr>
                  <a:t> </a:t>
                </a:r>
                <a:r>
                  <a:rPr lang="es-PE" sz="900" b="0" i="0" dirty="0" err="1">
                    <a:solidFill>
                      <a:schemeClr val="tx1"/>
                    </a:solidFill>
                    <a:effectLst/>
                    <a:latin typeface="Segoe WPC"/>
                  </a:rPr>
                  <a:t>behave</a:t>
                </a:r>
                <a:r>
                  <a:rPr lang="es-PE" sz="900" b="0" i="0" dirty="0">
                    <a:solidFill>
                      <a:schemeClr val="tx1"/>
                    </a:solidFill>
                    <a:effectLst/>
                    <a:latin typeface="Segoe WPC"/>
                  </a:rPr>
                  <a:t> </a:t>
                </a:r>
                <a:r>
                  <a:rPr lang="es-PE" sz="900" b="0" i="0" dirty="0" err="1">
                    <a:solidFill>
                      <a:schemeClr val="tx1"/>
                    </a:solidFill>
                    <a:effectLst/>
                    <a:latin typeface="Segoe WPC"/>
                  </a:rPr>
                  <a:t>differently</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are </a:t>
                </a:r>
                <a:r>
                  <a:rPr lang="es-PE" sz="900" b="0" i="0" dirty="0" err="1">
                    <a:solidFill>
                      <a:schemeClr val="tx1"/>
                    </a:solidFill>
                    <a:effectLst/>
                    <a:latin typeface="Segoe WPC"/>
                  </a:rPr>
                  <a:t>protected</a:t>
                </a:r>
                <a:r>
                  <a:rPr lang="es-PE" sz="900" b="0" i="0" dirty="0">
                    <a:solidFill>
                      <a:schemeClr val="tx1"/>
                    </a:solidFill>
                    <a:effectLst/>
                    <a:latin typeface="Segoe WPC"/>
                  </a:rPr>
                  <a:t>; adverse </a:t>
                </a:r>
                <a:r>
                  <a:rPr lang="es-PE" sz="900" b="0" i="0" dirty="0" err="1">
                    <a:solidFill>
                      <a:schemeClr val="tx1"/>
                    </a:solidFill>
                    <a:effectLst/>
                    <a:latin typeface="Segoe WPC"/>
                  </a:rPr>
                  <a:t>selection</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higher-risk</a:t>
                </a:r>
                <a:r>
                  <a:rPr lang="es-PE" sz="900" b="0" i="0" dirty="0">
                    <a:solidFill>
                      <a:schemeClr val="tx1"/>
                    </a:solidFill>
                    <a:effectLst/>
                    <a:latin typeface="Segoe WPC"/>
                  </a:rPr>
                  <a:t> </a:t>
                </a:r>
                <a:r>
                  <a:rPr lang="es-PE" sz="900" b="0" i="0" dirty="0" err="1">
                    <a:solidFill>
                      <a:schemeClr val="tx1"/>
                    </a:solidFill>
                    <a:effectLst/>
                    <a:latin typeface="Segoe WPC"/>
                  </a:rPr>
                  <a:t>people</a:t>
                </a:r>
                <a:r>
                  <a:rPr lang="es-PE" sz="900" b="0" i="0" dirty="0">
                    <a:solidFill>
                      <a:schemeClr val="tx1"/>
                    </a:solidFill>
                    <a:effectLst/>
                    <a:latin typeface="Segoe WPC"/>
                  </a:rPr>
                  <a:t> are more </a:t>
                </a:r>
                <a:r>
                  <a:rPr lang="es-PE" sz="900" b="0" i="0" dirty="0" err="1">
                    <a:solidFill>
                      <a:schemeClr val="tx1"/>
                    </a:solidFill>
                    <a:effectLst/>
                    <a:latin typeface="Segoe WPC"/>
                  </a:rPr>
                  <a:t>likely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buy</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premiums</a:t>
                </a:r>
                <a:r>
                  <a:rPr lang="es-PE" sz="900" b="0" i="0" dirty="0">
                    <a:solidFill>
                      <a:schemeClr val="tx1"/>
                    </a:solidFill>
                    <a:effectLst/>
                    <a:latin typeface="Segoe WPC"/>
                  </a:rPr>
                  <a:t> are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-sensitive. Deductibles, </a:t>
                </a:r>
                <a:r>
                  <a:rPr lang="es-PE" sz="900" b="0" i="0" dirty="0" err="1">
                    <a:solidFill>
                      <a:schemeClr val="tx1"/>
                    </a:solidFill>
                    <a:effectLst/>
                    <a:latin typeface="Segoe WPC"/>
                  </a:rPr>
                  <a:t>co-insurance</a:t>
                </a:r>
                <a:r>
                  <a:rPr lang="es-PE" sz="900" b="0" i="0" dirty="0">
                    <a:solidFill>
                      <a:schemeClr val="tx1"/>
                    </a:solidFill>
                    <a:effectLst/>
                    <a:latin typeface="Segoe WPC"/>
                  </a:rPr>
                  <a:t>, and </a:t>
                </a:r>
                <a:r>
                  <a:rPr lang="es-PE" sz="900" b="0" i="0" dirty="0" err="1">
                    <a:solidFill>
                      <a:schemeClr val="tx1"/>
                    </a:solidFill>
                    <a:effectLst/>
                    <a:latin typeface="Segoe WPC"/>
                  </a:rPr>
                  <a:t>claim</a:t>
                </a:r>
                <a:r>
                  <a:rPr lang="es-PE" sz="900" b="0" i="0" dirty="0">
                    <a:solidFill>
                      <a:schemeClr val="tx1"/>
                    </a:solidFill>
                    <a:effectLst/>
                    <a:latin typeface="Segoe WPC"/>
                  </a:rPr>
                  <a:t> </a:t>
                </a:r>
                <a:r>
                  <a:rPr lang="es-PE" sz="900" b="0" i="0" dirty="0" err="1">
                    <a:solidFill>
                      <a:schemeClr val="tx1"/>
                    </a:solidFill>
                    <a:effectLst/>
                    <a:latin typeface="Segoe WPC"/>
                  </a:rPr>
                  <a:t>limits</a:t>
                </a:r>
                <a:r>
                  <a:rPr lang="es-PE" sz="900" b="0" i="0" dirty="0">
                    <a:solidFill>
                      <a:schemeClr val="tx1"/>
                    </a:solidFill>
                    <a:effectLst/>
                    <a:latin typeface="Segoe WPC"/>
                  </a:rPr>
                  <a:t> reduce moral </a:t>
                </a:r>
                <a:r>
                  <a:rPr lang="es-PE" sz="900" b="0" i="0" dirty="0" err="1">
                    <a:solidFill>
                      <a:schemeClr val="tx1"/>
                    </a:solidFill>
                    <a:effectLst/>
                    <a:latin typeface="Segoe WPC"/>
                  </a:rPr>
                  <a:t>hazard</a:t>
                </a:r>
                <a:r>
                  <a:rPr lang="es-PE" sz="900" b="0" i="0" dirty="0">
                    <a:solidFill>
                      <a:schemeClr val="tx1"/>
                    </a:solidFill>
                    <a:effectLst/>
                    <a:latin typeface="Segoe WPC"/>
                  </a:rPr>
                  <a:t>. </a:t>
                </a:r>
                <a:r>
                  <a:rPr lang="es-PE" sz="900" b="0" i="0" dirty="0" err="1">
                    <a:solidFill>
                      <a:schemeClr val="tx1"/>
                    </a:solidFill>
                    <a:effectLst/>
                    <a:latin typeface="Segoe WPC"/>
                  </a:rPr>
                  <a:t>Solvency</a:t>
                </a:r>
                <a:r>
                  <a:rPr lang="es-PE" sz="900" b="0" i="0" dirty="0">
                    <a:solidFill>
                      <a:schemeClr val="tx1"/>
                    </a:solidFill>
                    <a:effectLst/>
                    <a:latin typeface="Segoe WPC"/>
                  </a:rPr>
                  <a:t> II in </a:t>
                </a:r>
                <a:r>
                  <a:rPr lang="es-PE" sz="900" b="0" i="0" dirty="0" err="1">
                    <a:solidFill>
                      <a:schemeClr val="tx1"/>
                    </a:solidFill>
                    <a:effectLst/>
                    <a:latin typeface="Segoe WPC"/>
                  </a:rPr>
                  <a:t>Europe</a:t>
                </a:r>
                <a:r>
                  <a:rPr lang="es-PE" sz="900" b="0" i="0" dirty="0">
                    <a:solidFill>
                      <a:schemeClr val="tx1"/>
                    </a:solidFill>
                    <a:effectLst/>
                    <a:latin typeface="Segoe WPC"/>
                  </a:rPr>
                  <a:t> </a:t>
                </a:r>
                <a:r>
                  <a:rPr lang="es-PE" sz="900" b="0" i="0" dirty="0" err="1">
                    <a:solidFill>
                      <a:schemeClr val="tx1"/>
                    </a:solidFill>
                    <a:effectLst/>
                    <a:latin typeface="Segoe WPC"/>
                  </a:rPr>
                  <a:t>imposes</a:t>
                </a:r>
                <a:r>
                  <a:rPr lang="es-PE" sz="900" b="0" i="0" dirty="0">
                    <a:solidFill>
                      <a:schemeClr val="tx1"/>
                    </a:solidFill>
                    <a:effectLst/>
                    <a:latin typeface="Segoe WPC"/>
                  </a:rPr>
                  <a:t> capital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investment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underwriting</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and </a:t>
                </a:r>
                <a:r>
                  <a:rPr lang="es-PE" sz="900" b="0" i="0" dirty="0" err="1">
                    <a:solidFill>
                      <a:schemeClr val="tx1"/>
                    </a:solidFill>
                    <a:effectLst/>
                    <a:latin typeface="Segoe WPC"/>
                  </a:rPr>
                  <a:t>operational</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U.S.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regulation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state-based</a:t>
                </a:r>
                <a:r>
                  <a:rPr lang="es-PE" sz="900" b="0" i="0" dirty="0">
                    <a:solidFill>
                      <a:schemeClr val="tx1"/>
                    </a:solidFill>
                    <a:effectLst/>
                    <a:latin typeface="Segoe WPC"/>
                  </a:rPr>
                  <a:t> and </a:t>
                </a:r>
                <a:r>
                  <a:rPr lang="es-PE" sz="900" b="0" i="0" dirty="0" err="1">
                    <a:solidFill>
                      <a:schemeClr val="tx1"/>
                    </a:solidFill>
                    <a:effectLst/>
                    <a:latin typeface="Segoe WPC"/>
                  </a:rPr>
                  <a:t>policyholder</a:t>
                </a:r>
                <a:r>
                  <a:rPr lang="es-PE" sz="900" b="0" i="0" dirty="0">
                    <a:solidFill>
                      <a:schemeClr val="tx1"/>
                    </a:solidFill>
                    <a:effectLst/>
                    <a:latin typeface="Segoe WPC"/>
                  </a:rPr>
                  <a:t> </a:t>
                </a:r>
                <a:r>
                  <a:rPr lang="es-PE" sz="900" b="0" i="0" dirty="0" err="1">
                    <a:solidFill>
                      <a:schemeClr val="tx1"/>
                    </a:solidFill>
                    <a:effectLst/>
                    <a:latin typeface="Segoe WPC"/>
                  </a:rPr>
                  <a:t>protection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handled</a:t>
                </a:r>
                <a:r>
                  <a:rPr lang="es-PE" sz="900" b="0" i="0" dirty="0">
                    <a:solidFill>
                      <a:schemeClr val="tx1"/>
                    </a:solidFill>
                    <a:effectLst/>
                    <a:latin typeface="Segoe WPC"/>
                  </a:rPr>
                  <a:t> after </a:t>
                </a:r>
                <a:r>
                  <a:rPr lang="es-PE" sz="900" b="0" i="0" dirty="0" err="1">
                    <a:solidFill>
                      <a:schemeClr val="tx1"/>
                    </a:solidFill>
                    <a:effectLst/>
                    <a:latin typeface="Segoe WPC"/>
                  </a:rPr>
                  <a:t>insolvency</a:t>
                </a:r>
                <a:r>
                  <a:rPr lang="es-PE" sz="900" b="0" i="0" dirty="0">
                    <a:solidFill>
                      <a:schemeClr val="tx1"/>
                    </a:solidFill>
                    <a:effectLst/>
                    <a:latin typeface="Segoe WPC"/>
                  </a:rPr>
                  <a:t>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through</a:t>
                </a:r>
                <a:r>
                  <a:rPr lang="es-PE" sz="900" b="0" i="0" dirty="0">
                    <a:solidFill>
                      <a:schemeClr val="tx1"/>
                    </a:solidFill>
                    <a:effectLst/>
                    <a:latin typeface="Segoe WPC"/>
                  </a:rPr>
                  <a:t> a </a:t>
                </a:r>
                <a:r>
                  <a:rPr lang="es-PE" sz="900" b="0" i="0" dirty="0" err="1">
                    <a:solidFill>
                      <a:schemeClr val="tx1"/>
                    </a:solidFill>
                    <a:effectLst/>
                    <a:latin typeface="Segoe WPC"/>
                  </a:rPr>
                  <a:t>permanent</a:t>
                </a:r>
                <a:r>
                  <a:rPr lang="es-PE" sz="900" b="0" i="0" dirty="0">
                    <a:solidFill>
                      <a:schemeClr val="tx1"/>
                    </a:solidFill>
                    <a:effectLst/>
                    <a:latin typeface="Segoe WPC"/>
                  </a:rPr>
                  <a:t> </a:t>
                </a:r>
                <a:r>
                  <a:rPr lang="es-PE" sz="900" b="0" i="0" dirty="0" err="1">
                    <a:solidFill>
                      <a:schemeClr val="tx1"/>
                    </a:solidFill>
                    <a:effectLst/>
                    <a:latin typeface="Segoe WPC"/>
                  </a:rPr>
                  <a:t>pre-funded</a:t>
                </a:r>
                <a:r>
                  <a:rPr lang="es-PE" sz="900" b="0" i="0" dirty="0">
                    <a:solidFill>
                      <a:schemeClr val="tx1"/>
                    </a:solidFill>
                    <a:effectLst/>
                    <a:latin typeface="Segoe WPC"/>
                  </a:rPr>
                  <a:t> federal pool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bank</a:t>
                </a:r>
                <a:r>
                  <a:rPr lang="es-PE" sz="900" b="0" i="0" dirty="0">
                    <a:solidFill>
                      <a:schemeClr val="tx1"/>
                    </a:solidFill>
                    <a:effectLst/>
                    <a:latin typeface="Segoe WPC"/>
                  </a:rPr>
                  <a:t> </a:t>
                </a:r>
                <a:r>
                  <a:rPr lang="es-PE" sz="900" b="0" i="0" dirty="0" err="1">
                    <a:solidFill>
                      <a:schemeClr val="tx1"/>
                    </a:solidFill>
                    <a:effectLst/>
                    <a:latin typeface="Segoe WPC"/>
                  </a:rPr>
                  <a:t>deposit</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Moral </a:t>
                </a:r>
                <a:r>
                  <a:rPr lang="es-PE" sz="900" b="0" i="0" dirty="0" err="1">
                    <a:solidFill>
                      <a:schemeClr val="tx1"/>
                    </a:solidFill>
                    <a:effectLst/>
                    <a:latin typeface="Segoe WPC"/>
                  </a:rPr>
                  <a:t>hazard</a:t>
                </a:r>
                <a:r>
                  <a:rPr lang="es-PE" sz="900" b="0" i="0" dirty="0">
                    <a:solidFill>
                      <a:schemeClr val="tx1"/>
                    </a:solidFill>
                    <a:effectLst/>
                    <a:latin typeface="Segoe WPC"/>
                  </a:rPr>
                  <a:t> and adverse </a:t>
                </a:r>
                <a:r>
                  <a:rPr lang="es-PE" sz="900" b="0" i="0" dirty="0" err="1">
                    <a:solidFill>
                      <a:schemeClr val="tx1"/>
                    </a:solidFill>
                    <a:effectLst/>
                    <a:latin typeface="Segoe WPC"/>
                  </a:rPr>
                  <a:t>selection</a:t>
                </a:r>
                <a:r>
                  <a:rPr lang="es-PE" sz="900" b="0" i="0" dirty="0">
                    <a:solidFill>
                      <a:schemeClr val="tx1"/>
                    </a:solidFill>
                    <a:effectLst/>
                    <a:latin typeface="Segoe WPC"/>
                  </a:rPr>
                  <a:t> are </a:t>
                </a:r>
                <a:r>
                  <a:rPr lang="es-PE" sz="900" b="0" i="0" dirty="0" err="1">
                    <a:solidFill>
                      <a:schemeClr val="tx1"/>
                    </a:solidFill>
                    <a:effectLst/>
                    <a:latin typeface="Segoe WPC"/>
                  </a:rPr>
                  <a:t>different</a:t>
                </a:r>
                <a:r>
                  <a:rPr lang="es-PE" sz="900" b="0" i="0" dirty="0">
                    <a:solidFill>
                      <a:schemeClr val="tx1"/>
                    </a:solidFill>
                    <a:effectLst/>
                    <a:latin typeface="Segoe WPC"/>
                  </a:rPr>
                  <a:t>: moral </a:t>
                </a:r>
                <a:r>
                  <a:rPr lang="es-PE" sz="900" b="0" i="0" dirty="0" err="1">
                    <a:solidFill>
                      <a:schemeClr val="tx1"/>
                    </a:solidFill>
                    <a:effectLst/>
                    <a:latin typeface="Segoe WPC"/>
                  </a:rPr>
                  <a:t>hazard</a:t>
                </a:r>
                <a:r>
                  <a:rPr lang="es-PE" sz="900" b="0" i="0" dirty="0">
                    <a:solidFill>
                      <a:schemeClr val="tx1"/>
                    </a:solidFill>
                    <a:effectLst/>
                    <a:latin typeface="Segoe WPC"/>
                  </a:rPr>
                  <a:t> </a:t>
                </a:r>
                <a:r>
                  <a:rPr lang="es-PE" sz="900" b="0" i="0" dirty="0" err="1">
                    <a:solidFill>
                      <a:schemeClr val="tx1"/>
                    </a:solidFill>
                    <a:effectLst/>
                    <a:latin typeface="Segoe WPC"/>
                  </a:rPr>
                  <a:t>concerns</a:t>
                </a:r>
                <a:r>
                  <a:rPr lang="es-PE" sz="900" b="0" i="0" dirty="0">
                    <a:solidFill>
                      <a:schemeClr val="tx1"/>
                    </a:solidFill>
                    <a:effectLst/>
                    <a:latin typeface="Segoe WPC"/>
                  </a:rPr>
                  <a:t> </a:t>
                </a:r>
                <a:r>
                  <a:rPr lang="es-PE" sz="900" b="0" i="0" dirty="0" err="1">
                    <a:solidFill>
                      <a:schemeClr val="tx1"/>
                    </a:solidFill>
                    <a:effectLst/>
                    <a:latin typeface="Segoe WPC"/>
                  </a:rPr>
                  <a:t>behavior</a:t>
                </a:r>
                <a:r>
                  <a:rPr lang="es-PE" sz="900" b="0" i="0" dirty="0">
                    <a:solidFill>
                      <a:schemeClr val="tx1"/>
                    </a:solidFill>
                    <a:effectLst/>
                    <a:latin typeface="Segoe WPC"/>
                  </a:rPr>
                  <a:t> after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purchased</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adverse </a:t>
                </a:r>
                <a:r>
                  <a:rPr lang="es-PE" sz="900" b="0" i="0" dirty="0" err="1">
                    <a:solidFill>
                      <a:schemeClr val="tx1"/>
                    </a:solidFill>
                    <a:effectLst/>
                    <a:latin typeface="Segoe WPC"/>
                  </a:rPr>
                  <a:t>selection</a:t>
                </a:r>
                <a:r>
                  <a:rPr lang="es-PE" sz="900" b="0" i="0" dirty="0">
                    <a:solidFill>
                      <a:schemeClr val="tx1"/>
                    </a:solidFill>
                    <a:effectLst/>
                    <a:latin typeface="Segoe WPC"/>
                  </a:rPr>
                  <a:t> </a:t>
                </a:r>
                <a:r>
                  <a:rPr lang="es-PE" sz="900" b="0" i="0" dirty="0" err="1">
                    <a:solidFill>
                      <a:schemeClr val="tx1"/>
                    </a:solidFill>
                    <a:effectLst/>
                    <a:latin typeface="Segoe WPC"/>
                  </a:rPr>
                  <a:t>concerns</a:t>
                </a:r>
                <a:r>
                  <a:rPr lang="es-PE" sz="900" b="0" i="0" dirty="0">
                    <a:solidFill>
                      <a:schemeClr val="tx1"/>
                    </a:solidFill>
                    <a:effectLst/>
                    <a:latin typeface="Segoe WPC"/>
                  </a:rPr>
                  <a:t> </a:t>
                </a:r>
                <a:r>
                  <a:rPr lang="es-PE" sz="900" b="0" i="0" dirty="0" err="1">
                    <a:solidFill>
                      <a:schemeClr val="tx1"/>
                    </a:solidFill>
                    <a:effectLst/>
                    <a:latin typeface="Segoe WPC"/>
                  </a:rPr>
                  <a:t>who</a:t>
                </a:r>
                <a:r>
                  <a:rPr lang="es-PE" sz="900" b="0" i="0" dirty="0">
                    <a:solidFill>
                      <a:schemeClr val="tx1"/>
                    </a:solidFill>
                    <a:effectLst/>
                    <a:latin typeface="Segoe WPC"/>
                  </a:rPr>
                  <a:t> </a:t>
                </a:r>
                <a:r>
                  <a:rPr lang="es-PE" sz="900" b="0" i="0" dirty="0" err="1">
                    <a:solidFill>
                      <a:schemeClr val="tx1"/>
                    </a:solidFill>
                    <a:effectLst/>
                    <a:latin typeface="Segoe WPC"/>
                  </a:rPr>
                  <a:t>chooses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buy</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before</a:t>
                </a:r>
                <a:r>
                  <a:rPr lang="es-PE" sz="900" b="0" i="0" dirty="0">
                    <a:solidFill>
                      <a:schemeClr val="tx1"/>
                    </a:solidFill>
                    <a:effectLst/>
                    <a:latin typeface="Segoe WPC"/>
                  </a:rPr>
                  <a:t> </a:t>
                </a:r>
                <a:r>
                  <a:rPr lang="es-PE" sz="900" b="0" i="0" dirty="0" err="1">
                    <a:solidFill>
                      <a:schemeClr val="tx1"/>
                    </a:solidFill>
                    <a:effectLst/>
                    <a:latin typeface="Segoe WPC"/>
                  </a:rPr>
                  <a:t>pricing</a:t>
                </a:r>
                <a:r>
                  <a:rPr lang="es-PE" sz="900" b="0" i="0" dirty="0">
                    <a:solidFill>
                      <a:schemeClr val="tx1"/>
                    </a:solidFill>
                    <a:effectLst/>
                    <a:latin typeface="Segoe WPC"/>
                  </a:rPr>
                  <a:t> </a:t>
                </a:r>
                <a:r>
                  <a:rPr lang="es-PE" sz="900" b="0" i="0" dirty="0" err="1">
                    <a:solidFill>
                      <a:schemeClr val="tx1"/>
                    </a:solidFill>
                    <a:effectLst/>
                    <a:latin typeface="Segoe WPC"/>
                  </a:rPr>
                  <a:t>fully</a:t>
                </a:r>
                <a:r>
                  <a:rPr lang="es-PE" sz="900" b="0" i="0" dirty="0">
                    <a:solidFill>
                      <a:schemeClr val="tx1"/>
                    </a:solidFill>
                    <a:effectLst/>
                    <a:latin typeface="Segoe WPC"/>
                  </a:rPr>
                  <a:t> </a:t>
                </a:r>
                <a:r>
                  <a:rPr lang="es-PE" sz="900" b="0" i="0" dirty="0" err="1">
                    <a:solidFill>
                      <a:schemeClr val="tx1"/>
                    </a:solidFill>
                    <a:effectLst/>
                    <a:latin typeface="Segoe WPC"/>
                  </a:rPr>
                  <a:t>reflects</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p>
            </p:txBody>
          </p:sp>
        </mc:Choice>
        <mc:Fallback xmlns="">
          <p:sp>
            <p:nvSpPr>
              <p:cNvPr id="11" name="CuadroTexto 10">
                <a:extLst>
                  <a:ext uri="{FF2B5EF4-FFF2-40B4-BE49-F238E27FC236}">
                    <a16:creationId xmlns:a16="http://schemas.microsoft.com/office/drawing/2014/main" id="{5A868FEF-8088-B774-DE06-E828D74C7C1F}"/>
                  </a:ext>
                </a:extLst>
              </p:cNvPr>
              <p:cNvSpPr txBox="1">
                <a:spLocks noRot="1" noChangeAspect="1" noMove="1" noResize="1" noEditPoints="1" noAdjustHandles="1" noChangeArrowheads="1" noChangeShapeType="1" noTextEdit="1"/>
              </p:cNvSpPr>
              <p:nvPr/>
            </p:nvSpPr>
            <p:spPr>
              <a:xfrm>
                <a:off x="5741307" y="-84395"/>
                <a:ext cx="6336505" cy="7617470"/>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5531187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A21E1-9E9C-81F0-15E1-2E15DBFA035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E7A10C5-BF31-0B56-CC51-5457817402D4}"/>
              </a:ext>
            </a:extLst>
          </p:cNvPr>
          <p:cNvSpPr>
            <a:spLocks noGrp="1"/>
          </p:cNvSpPr>
          <p:nvPr>
            <p:ph type="title"/>
          </p:nvPr>
        </p:nvSpPr>
        <p:spPr>
          <a:xfrm>
            <a:off x="-50800" y="-81416"/>
            <a:ext cx="10515600" cy="390639"/>
          </a:xfrm>
        </p:spPr>
        <p:txBody>
          <a:bodyPr>
            <a:normAutofit/>
          </a:bodyPr>
          <a:lstStyle/>
          <a:p>
            <a:r>
              <a:rPr lang="en-US" sz="2000" dirty="0"/>
              <a:t>Fund </a:t>
            </a:r>
            <a:r>
              <a:rPr lang="en-US" sz="2000" dirty="0" err="1"/>
              <a:t>Managment</a:t>
            </a:r>
            <a:endParaRPr lang="es-PE" sz="2000" dirty="0"/>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E1E2FB8C-1B69-377C-98C8-1B2B4C7AC3FB}"/>
                  </a:ext>
                </a:extLst>
              </p:cNvPr>
              <p:cNvSpPr txBox="1"/>
              <p:nvPr/>
            </p:nvSpPr>
            <p:spPr>
              <a:xfrm>
                <a:off x="-58056" y="175537"/>
                <a:ext cx="6154056" cy="7058279"/>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Mutual </a:t>
                </a:r>
                <a:r>
                  <a:rPr lang="es-PE" sz="900" b="1" i="0" dirty="0" err="1">
                    <a:solidFill>
                      <a:schemeClr val="tx1"/>
                    </a:solidFill>
                    <a:effectLst/>
                    <a:latin typeface="Segoe WPC"/>
                  </a:rPr>
                  <a:t>Funds</a:t>
                </a:r>
                <a:r>
                  <a:rPr lang="es-PE" sz="900" b="1" i="0" dirty="0">
                    <a:solidFill>
                      <a:schemeClr val="tx1"/>
                    </a:solidFill>
                    <a:effectLst/>
                    <a:latin typeface="Segoe WPC"/>
                  </a:rPr>
                  <a:t>, </a:t>
                </a:r>
                <a:r>
                  <a:rPr lang="es-PE" sz="900" b="1" i="0" dirty="0" err="1">
                    <a:solidFill>
                      <a:schemeClr val="tx1"/>
                    </a:solidFill>
                    <a:effectLst/>
                    <a:latin typeface="Segoe WPC"/>
                  </a:rPr>
                  <a:t>ETFs</a:t>
                </a:r>
                <a:r>
                  <a:rPr lang="es-PE" sz="900" b="1" i="0" dirty="0">
                    <a:solidFill>
                      <a:schemeClr val="tx1"/>
                    </a:solidFill>
                    <a:effectLst/>
                    <a:latin typeface="Segoe WPC"/>
                  </a:rPr>
                  <a:t>, and </a:t>
                </a:r>
                <a:r>
                  <a:rPr lang="es-PE" sz="900" b="1" i="0" dirty="0" err="1">
                    <a:solidFill>
                      <a:schemeClr val="tx1"/>
                    </a:solidFill>
                    <a:effectLst/>
                    <a:latin typeface="Segoe WPC"/>
                  </a:rPr>
                  <a:t>Hedge</a:t>
                </a:r>
                <a:r>
                  <a:rPr lang="es-PE" sz="900" b="1" i="0" dirty="0">
                    <a:solidFill>
                      <a:schemeClr val="tx1"/>
                    </a:solidFill>
                    <a:effectLst/>
                    <a:latin typeface="Segoe WPC"/>
                  </a:rPr>
                  <a:t> </a:t>
                </a:r>
                <a:r>
                  <a:rPr lang="es-PE" sz="900" b="1" i="0" dirty="0" err="1">
                    <a:solidFill>
                      <a:schemeClr val="tx1"/>
                    </a:solidFill>
                    <a:effectLst/>
                    <a:latin typeface="Segoe WPC"/>
                  </a:rPr>
                  <a:t>Funds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Pooled</a:t>
                </a:r>
                <a:r>
                  <a:rPr lang="es-PE" sz="900" b="0" i="0" dirty="0">
                    <a:solidFill>
                      <a:schemeClr val="tx1"/>
                    </a:solidFill>
                    <a:effectLst/>
                    <a:latin typeface="Segoe WPC"/>
                  </a:rPr>
                  <a:t> </a:t>
                </a:r>
                <a:r>
                  <a:rPr lang="es-PE" sz="900" b="0" i="0" dirty="0" err="1">
                    <a:solidFill>
                      <a:schemeClr val="tx1"/>
                    </a:solidFill>
                    <a:effectLst/>
                    <a:latin typeface="Segoe WPC"/>
                  </a:rPr>
                  <a:t>investment</a:t>
                </a:r>
                <a:r>
                  <a:rPr lang="es-PE" sz="900" b="0" i="0" dirty="0">
                    <a:solidFill>
                      <a:schemeClr val="tx1"/>
                    </a:solidFill>
                    <a:effectLst/>
                    <a:latin typeface="Segoe WPC"/>
                  </a:rPr>
                  <a:t> </a:t>
                </a:r>
                <a:r>
                  <a:rPr lang="es-PE" sz="900" b="0" i="0" dirty="0" err="1">
                    <a:solidFill>
                      <a:schemeClr val="tx1"/>
                    </a:solidFill>
                    <a:effectLst/>
                    <a:latin typeface="Segoe WPC"/>
                  </a:rPr>
                  <a:t>vehicles</a:t>
                </a:r>
                <a:r>
                  <a:rPr lang="es-PE" sz="900" b="0" i="0" dirty="0">
                    <a:solidFill>
                      <a:schemeClr val="tx1"/>
                    </a:solidFill>
                    <a:effectLst/>
                    <a:latin typeface="Segoe WPC"/>
                  </a:rPr>
                  <a:t> </a:t>
                </a:r>
                <a:r>
                  <a:rPr lang="es-PE" sz="900" b="0" i="0" dirty="0" err="1">
                    <a:solidFill>
                      <a:schemeClr val="tx1"/>
                    </a:solidFill>
                    <a:effectLst/>
                    <a:latin typeface="Segoe WPC"/>
                  </a:rPr>
                  <a:t>managed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behalf</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Fund</a:t>
                </a:r>
                <a:r>
                  <a:rPr lang="es-PE" sz="900" b="0" i="0" dirty="0">
                    <a:solidFill>
                      <a:schemeClr val="tx1"/>
                    </a:solidFill>
                    <a:effectLst/>
                    <a:latin typeface="Segoe WPC"/>
                  </a:rPr>
                  <a:t> managers pool </a:t>
                </a:r>
                <a:r>
                  <a:rPr lang="es-PE" sz="900" b="0" i="0" dirty="0" err="1">
                    <a:solidFill>
                      <a:schemeClr val="tx1"/>
                    </a:solidFill>
                    <a:effectLst/>
                    <a:latin typeface="Segoe WPC"/>
                  </a:rPr>
                  <a:t>money</a:t>
                </a:r>
                <a:r>
                  <a:rPr lang="es-PE" sz="900" b="0" i="0" dirty="0">
                    <a:solidFill>
                      <a:schemeClr val="tx1"/>
                    </a:solidFill>
                    <a:effectLst/>
                    <a:latin typeface="Segoe WPC"/>
                  </a:rPr>
                  <a:t>, </a:t>
                </a:r>
                <a:r>
                  <a:rPr lang="es-PE" sz="900" b="0" i="0" dirty="0" err="1">
                    <a:solidFill>
                      <a:schemeClr val="tx1"/>
                    </a:solidFill>
                    <a:effectLst/>
                    <a:latin typeface="Segoe WPC"/>
                  </a:rPr>
                  <a:t>invest</a:t>
                </a:r>
                <a:r>
                  <a:rPr lang="es-PE" sz="900" b="0" i="0" dirty="0">
                    <a:solidFill>
                      <a:schemeClr val="tx1"/>
                    </a:solidFill>
                    <a:effectLst/>
                    <a:latin typeface="Segoe WPC"/>
                  </a:rPr>
                  <a:t> </a:t>
                </a:r>
                <a:r>
                  <a:rPr lang="es-PE" sz="900" b="0" i="0" dirty="0" err="1">
                    <a:solidFill>
                      <a:schemeClr val="tx1"/>
                    </a:solidFill>
                    <a:effectLst/>
                    <a:latin typeface="Segoe WPC"/>
                  </a:rPr>
                  <a:t>according</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stated</a:t>
                </a:r>
                <a:r>
                  <a:rPr lang="es-PE" sz="900" b="0" i="0" dirty="0">
                    <a:solidFill>
                      <a:schemeClr val="tx1"/>
                    </a:solidFill>
                    <a:effectLst/>
                    <a:latin typeface="Segoe WPC"/>
                  </a:rPr>
                  <a:t> </a:t>
                </a:r>
                <a:r>
                  <a:rPr lang="es-PE" sz="900" b="0" i="0" dirty="0" err="1">
                    <a:solidFill>
                      <a:schemeClr val="tx1"/>
                    </a:solidFill>
                    <a:effectLst/>
                    <a:latin typeface="Segoe WPC"/>
                  </a:rPr>
                  <a:t>objectives</a:t>
                </a:r>
                <a:r>
                  <a:rPr lang="es-PE" sz="900" b="0" i="0" dirty="0">
                    <a:solidFill>
                      <a:schemeClr val="tx1"/>
                    </a:solidFill>
                    <a:effectLst/>
                    <a:latin typeface="Segoe WPC"/>
                  </a:rPr>
                  <a:t>, and </a:t>
                </a:r>
                <a:r>
                  <a:rPr lang="es-PE" sz="900" b="0" i="0" dirty="0" err="1">
                    <a:solidFill>
                      <a:schemeClr val="tx1"/>
                    </a:solidFill>
                    <a:effectLst/>
                    <a:latin typeface="Segoe WPC"/>
                  </a:rPr>
                  <a:t>offer</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 </a:t>
                </a:r>
                <a:r>
                  <a:rPr lang="es-PE" sz="900" b="0" i="0" dirty="0" err="1">
                    <a:solidFill>
                      <a:schemeClr val="tx1"/>
                    </a:solidFill>
                    <a:effectLst/>
                    <a:latin typeface="Segoe WPC"/>
                  </a:rPr>
                  <a:t>expertise</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transaction</a:t>
                </a:r>
                <a:r>
                  <a:rPr lang="es-PE" sz="900" b="0" i="0" dirty="0">
                    <a:solidFill>
                      <a:schemeClr val="tx1"/>
                    </a:solidFill>
                    <a:effectLst/>
                    <a:latin typeface="Segoe WPC"/>
                  </a:rPr>
                  <a:t> </a:t>
                </a:r>
                <a:r>
                  <a:rPr lang="es-PE" sz="900" b="0" i="0" dirty="0" err="1">
                    <a:solidFill>
                      <a:schemeClr val="tx1"/>
                    </a:solidFill>
                    <a:effectLst/>
                    <a:latin typeface="Segoe WPC"/>
                  </a:rPr>
                  <a:t>costs</a:t>
                </a:r>
                <a:r>
                  <a:rPr lang="es-PE" sz="900" b="0" i="0" dirty="0">
                    <a:solidFill>
                      <a:schemeClr val="tx1"/>
                    </a:solidFill>
                    <a:effectLst/>
                    <a:latin typeface="Segoe WPC"/>
                  </a:rPr>
                  <a:t>, and </a:t>
                </a:r>
                <a:r>
                  <a:rPr lang="es-PE" sz="900" b="0" i="0" dirty="0" err="1">
                    <a:solidFill>
                      <a:schemeClr val="tx1"/>
                    </a:solidFill>
                    <a:effectLst/>
                    <a:latin typeface="Segoe WPC"/>
                  </a:rPr>
                  <a:t>diversification</a:t>
                </a:r>
                <a:r>
                  <a:rPr lang="es-PE" sz="900" b="0" i="0" dirty="0">
                    <a:solidFill>
                      <a:schemeClr val="tx1"/>
                    </a:solidFill>
                    <a:effectLst/>
                    <a:latin typeface="Segoe WPC"/>
                  </a:rPr>
                  <a:t>. Mutual </a:t>
                </a:r>
                <a:r>
                  <a:rPr lang="es-PE" sz="900" b="0" i="0" dirty="0" err="1">
                    <a:solidFill>
                      <a:schemeClr val="tx1"/>
                    </a:solidFill>
                    <a:effectLst/>
                    <a:latin typeface="Segoe WPC"/>
                  </a:rPr>
                  <a:t>funds</a:t>
                </a:r>
                <a:r>
                  <a:rPr lang="es-PE" sz="900" b="0" i="0" dirty="0">
                    <a:solidFill>
                      <a:schemeClr val="tx1"/>
                    </a:solidFill>
                    <a:effectLst/>
                    <a:latin typeface="Segoe WPC"/>
                  </a:rPr>
                  <a:t> and </a:t>
                </a:r>
                <a:r>
                  <a:rPr lang="es-PE" sz="900" b="0" i="0" dirty="0" err="1">
                    <a:solidFill>
                      <a:schemeClr val="tx1"/>
                    </a:solidFill>
                    <a:effectLst/>
                    <a:latin typeface="Segoe WPC"/>
                  </a:rPr>
                  <a:t>ETFs</a:t>
                </a:r>
                <a:r>
                  <a:rPr lang="es-PE" sz="900" b="0" i="0" dirty="0">
                    <a:solidFill>
                      <a:schemeClr val="tx1"/>
                    </a:solidFill>
                    <a:effectLst/>
                    <a:latin typeface="Segoe WPC"/>
                  </a:rPr>
                  <a:t> </a:t>
                </a:r>
                <a:r>
                  <a:rPr lang="es-PE" sz="900" b="0" i="0" dirty="0" err="1">
                    <a:solidFill>
                      <a:schemeClr val="tx1"/>
                    </a:solidFill>
                    <a:effectLst/>
                    <a:latin typeface="Segoe WPC"/>
                  </a:rPr>
                  <a:t>mainly</a:t>
                </a:r>
                <a:r>
                  <a:rPr lang="es-PE" sz="900" b="0" i="0" dirty="0">
                    <a:solidFill>
                      <a:schemeClr val="tx1"/>
                    </a:solidFill>
                    <a:effectLst/>
                    <a:latin typeface="Segoe WPC"/>
                  </a:rPr>
                  <a:t> serve </a:t>
                </a:r>
                <a:r>
                  <a:rPr lang="es-PE" sz="900" b="0" i="0" dirty="0" err="1">
                    <a:solidFill>
                      <a:schemeClr val="tx1"/>
                    </a:solidFill>
                    <a:effectLst/>
                    <a:latin typeface="Segoe WPC"/>
                  </a:rPr>
                  <a:t>retail</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mainly</a:t>
                </a:r>
                <a:r>
                  <a:rPr lang="es-PE" sz="900" b="0" i="0" dirty="0">
                    <a:solidFill>
                      <a:schemeClr val="tx1"/>
                    </a:solidFill>
                    <a:effectLst/>
                    <a:latin typeface="Segoe WPC"/>
                  </a:rPr>
                  <a:t> serve </a:t>
                </a:r>
                <a:r>
                  <a:rPr lang="es-PE" sz="900" b="0" i="0" dirty="0" err="1">
                    <a:solidFill>
                      <a:schemeClr val="tx1"/>
                    </a:solidFill>
                    <a:effectLst/>
                    <a:latin typeface="Segoe WPC"/>
                  </a:rPr>
                  <a:t>wealthy</a:t>
                </a:r>
                <a:r>
                  <a:rPr lang="es-PE" sz="900" b="0" i="0" dirty="0">
                    <a:solidFill>
                      <a:schemeClr val="tx1"/>
                    </a:solidFill>
                    <a:effectLst/>
                    <a:latin typeface="Segoe WPC"/>
                  </a:rPr>
                  <a:t> </a:t>
                </a:r>
                <a:r>
                  <a:rPr lang="es-PE" sz="900" b="0" i="0" dirty="0" err="1">
                    <a:solidFill>
                      <a:schemeClr val="tx1"/>
                    </a:solidFill>
                    <a:effectLst/>
                    <a:latin typeface="Segoe WPC"/>
                  </a:rPr>
                  <a:t>individuals</a:t>
                </a:r>
                <a:r>
                  <a:rPr lang="es-PE" sz="900" b="0" i="0" dirty="0">
                    <a:solidFill>
                      <a:schemeClr val="tx1"/>
                    </a:solidFill>
                    <a:effectLst/>
                    <a:latin typeface="Segoe WPC"/>
                  </a:rPr>
                  <a:t> and </a:t>
                </a:r>
                <a:r>
                  <a:rPr lang="es-PE" sz="900" b="0" i="0" dirty="0" err="1">
                    <a:solidFill>
                      <a:schemeClr val="tx1"/>
                    </a:solidFill>
                    <a:effectLst/>
                    <a:latin typeface="Segoe WPC"/>
                  </a:rPr>
                  <a:t>institutions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 place </a:t>
                </a:r>
                <a:r>
                  <a:rPr lang="es-PE" sz="900" b="0" i="0" dirty="0" err="1">
                    <a:solidFill>
                      <a:schemeClr val="tx1"/>
                    </a:solidFill>
                    <a:effectLst/>
                    <a:latin typeface="Segoe WPC"/>
                  </a:rPr>
                  <a:t>money</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portfolio </a:t>
                </a:r>
                <a:r>
                  <a:rPr lang="es-PE" sz="900" b="0" i="0" dirty="0" err="1">
                    <a:solidFill>
                      <a:schemeClr val="tx1"/>
                    </a:solidFill>
                    <a:effectLst/>
                    <a:latin typeface="Segoe WPC"/>
                  </a:rPr>
                  <a:t>managed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 </a:t>
                </a:r>
                <a:r>
                  <a:rPr lang="es-PE" sz="900" b="0" i="0" dirty="0" err="1">
                    <a:solidFill>
                      <a:schemeClr val="tx1"/>
                    </a:solidFill>
                    <a:effectLst/>
                    <a:latin typeface="Segoe WPC"/>
                  </a:rPr>
                  <a:t>professional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single formula;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key</a:t>
                </a:r>
                <a:r>
                  <a:rPr lang="es-PE" sz="900" b="0" i="0" dirty="0">
                    <a:solidFill>
                      <a:schemeClr val="tx1"/>
                    </a:solidFill>
                    <a:effectLst/>
                    <a:latin typeface="Segoe WPC"/>
                  </a:rPr>
                  <a:t> </a:t>
                </a:r>
                <a:r>
                  <a:rPr lang="es-PE" sz="900" b="0" i="0" dirty="0" err="1">
                    <a:solidFill>
                      <a:schemeClr val="tx1"/>
                    </a:solidFill>
                    <a:effectLst/>
                    <a:latin typeface="Segoe WPC"/>
                  </a:rPr>
                  <a:t>distinction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structure</a:t>
                </a:r>
                <a:r>
                  <a:rPr lang="es-PE" sz="900" b="0" i="0" dirty="0">
                    <a:solidFill>
                      <a:schemeClr val="tx1"/>
                    </a:solidFill>
                    <a:effectLst/>
                    <a:latin typeface="Segoe WPC"/>
                  </a:rPr>
                  <a:t>, </a:t>
                </a:r>
                <a:r>
                  <a:rPr lang="es-PE" sz="900" b="0" i="0" dirty="0" err="1">
                    <a:solidFill>
                      <a:schemeClr val="tx1"/>
                    </a:solidFill>
                    <a:effectLst/>
                    <a:latin typeface="Segoe WPC"/>
                  </a:rPr>
                  <a:t>regulation</a:t>
                </a:r>
                <a:r>
                  <a:rPr lang="es-PE" sz="900" b="0" i="0" dirty="0">
                    <a:solidFill>
                      <a:schemeClr val="tx1"/>
                    </a:solidFill>
                    <a:effectLst/>
                    <a:latin typeface="Segoe WPC"/>
                  </a:rPr>
                  <a:t>, </a:t>
                </a:r>
                <a:r>
                  <a:rPr lang="es-PE" sz="900" b="0" i="0" dirty="0" err="1">
                    <a:solidFill>
                      <a:schemeClr val="tx1"/>
                    </a:solidFill>
                    <a:effectLst/>
                    <a:latin typeface="Segoe WPC"/>
                  </a:rPr>
                  <a:t>liquidity</a:t>
                </a:r>
                <a:r>
                  <a:rPr lang="es-PE" sz="900" b="0" i="0" dirty="0">
                    <a:solidFill>
                      <a:schemeClr val="tx1"/>
                    </a:solidFill>
                    <a:effectLst/>
                    <a:latin typeface="Segoe WPC"/>
                  </a:rPr>
                  <a:t>, and </a:t>
                </a:r>
                <a:r>
                  <a:rPr lang="es-PE" sz="900" b="0" i="0" dirty="0" err="1">
                    <a:solidFill>
                      <a:schemeClr val="tx1"/>
                    </a:solidFill>
                    <a:effectLst/>
                    <a:latin typeface="Segoe WPC"/>
                  </a:rPr>
                  <a:t>investor</a:t>
                </a:r>
                <a:r>
                  <a:rPr lang="es-PE" sz="900" b="0" i="0" dirty="0">
                    <a:solidFill>
                      <a:schemeClr val="tx1"/>
                    </a:solidFill>
                    <a:effectLst/>
                    <a:latin typeface="Segoe WPC"/>
                  </a:rPr>
                  <a:t> base.</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Mutual </a:t>
                </a:r>
                <a:r>
                  <a:rPr lang="es-PE" sz="900" b="0" i="0" dirty="0" err="1">
                    <a:solidFill>
                      <a:schemeClr val="tx1"/>
                    </a:solidFill>
                    <a:effectLst/>
                    <a:latin typeface="Segoe WPC"/>
                  </a:rPr>
                  <a:t>funds</a:t>
                </a:r>
                <a:r>
                  <a:rPr lang="es-PE" sz="900" b="0" i="0" dirty="0">
                    <a:solidFill>
                      <a:schemeClr val="tx1"/>
                    </a:solidFill>
                    <a:effectLst/>
                    <a:latin typeface="Segoe WPC"/>
                  </a:rPr>
                  <a:t> and </a:t>
                </a:r>
                <a:r>
                  <a:rPr lang="es-PE" sz="900" b="0" i="0" dirty="0" err="1">
                    <a:solidFill>
                      <a:schemeClr val="tx1"/>
                    </a:solidFill>
                    <a:effectLst/>
                    <a:latin typeface="Segoe WPC"/>
                  </a:rPr>
                  <a:t>ETFs</a:t>
                </a:r>
                <a:r>
                  <a:rPr lang="es-PE" sz="900" b="0" i="0" dirty="0">
                    <a:solidFill>
                      <a:schemeClr val="tx1"/>
                    </a:solidFill>
                    <a:effectLst/>
                    <a:latin typeface="Segoe WPC"/>
                  </a:rPr>
                  <a:t> are more </a:t>
                </a:r>
                <a:r>
                  <a:rPr lang="es-PE" sz="900" b="0" i="0" dirty="0" err="1">
                    <a:solidFill>
                      <a:schemeClr val="tx1"/>
                    </a:solidFill>
                    <a:effectLst/>
                    <a:latin typeface="Segoe WPC"/>
                  </a:rPr>
                  <a:t>regulated</a:t>
                </a:r>
                <a:r>
                  <a:rPr lang="es-PE" sz="900" b="0" i="0" dirty="0">
                    <a:solidFill>
                      <a:schemeClr val="tx1"/>
                    </a:solidFill>
                    <a:effectLst/>
                    <a:latin typeface="Segoe WPC"/>
                  </a:rPr>
                  <a:t> and </a:t>
                </a:r>
                <a:r>
                  <a:rPr lang="es-PE" sz="900" b="0" i="0" dirty="0" err="1">
                    <a:solidFill>
                      <a:schemeClr val="tx1"/>
                    </a:solidFill>
                    <a:effectLst/>
                    <a:latin typeface="Segoe WPC"/>
                  </a:rPr>
                  <a:t>transparent</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are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regulated</a:t>
                </a:r>
                <a:r>
                  <a:rPr lang="es-PE" sz="900" b="0" i="0" dirty="0">
                    <a:solidFill>
                      <a:schemeClr val="tx1"/>
                    </a:solidFill>
                    <a:effectLst/>
                    <a:latin typeface="Segoe WPC"/>
                  </a:rPr>
                  <a:t>, use </a:t>
                </a:r>
                <a:r>
                  <a:rPr lang="es-PE" sz="900" b="0" i="0" dirty="0" err="1">
                    <a:solidFill>
                      <a:schemeClr val="tx1"/>
                    </a:solidFill>
                    <a:effectLst/>
                    <a:latin typeface="Segoe WPC"/>
                  </a:rPr>
                  <a:t>wider</a:t>
                </a:r>
                <a:r>
                  <a:rPr lang="es-PE" sz="900" b="0" i="0" dirty="0">
                    <a:solidFill>
                      <a:schemeClr val="tx1"/>
                    </a:solidFill>
                    <a:effectLst/>
                    <a:latin typeface="Segoe WPC"/>
                  </a:rPr>
                  <a:t> </a:t>
                </a:r>
                <a:r>
                  <a:rPr lang="es-PE" sz="900" b="0" i="0" dirty="0" err="1">
                    <a:solidFill>
                      <a:schemeClr val="tx1"/>
                    </a:solidFill>
                    <a:effectLst/>
                    <a:latin typeface="Segoe WPC"/>
                  </a:rPr>
                  <a:t>strategies</a:t>
                </a:r>
                <a:r>
                  <a:rPr lang="es-PE" sz="900" b="0" i="0" dirty="0">
                    <a:solidFill>
                      <a:schemeClr val="tx1"/>
                    </a:solidFill>
                    <a:effectLst/>
                    <a:latin typeface="Segoe WPC"/>
                  </a:rPr>
                  <a:t>, and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require</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minimum</a:t>
                </a:r>
                <a:r>
                  <a:rPr lang="es-PE" sz="900" b="0" i="0" dirty="0">
                    <a:solidFill>
                      <a:schemeClr val="tx1"/>
                    </a:solidFill>
                    <a:effectLst/>
                    <a:latin typeface="Segoe WPC"/>
                  </a:rPr>
                  <a:t> </a:t>
                </a:r>
                <a:r>
                  <a:rPr lang="es-PE" sz="900" b="0" i="0" dirty="0" err="1">
                    <a:solidFill>
                      <a:schemeClr val="tx1"/>
                    </a:solidFill>
                    <a:effectLst/>
                    <a:latin typeface="Segoe WPC"/>
                  </a:rPr>
                  <a:t>investments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are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a:t>
                </a:r>
                <a:r>
                  <a:rPr lang="es-PE" sz="900" b="0" i="0" dirty="0" err="1">
                    <a:solidFill>
                      <a:schemeClr val="tx1"/>
                    </a:solidFill>
                    <a:effectLst/>
                    <a:latin typeface="Segoe WPC"/>
                  </a:rPr>
                  <a:t>riskier</a:t>
                </a:r>
                <a:r>
                  <a:rPr lang="es-PE" sz="900" b="0" i="0" dirty="0">
                    <a:solidFill>
                      <a:schemeClr val="tx1"/>
                    </a:solidFill>
                    <a:effectLst/>
                    <a:latin typeface="Segoe WPC"/>
                  </a:rPr>
                  <a:t> mutual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differ</a:t>
                </a:r>
                <a:r>
                  <a:rPr lang="es-PE" sz="900" b="0" i="0" dirty="0">
                    <a:solidFill>
                      <a:schemeClr val="tx1"/>
                    </a:solidFill>
                    <a:effectLst/>
                    <a:latin typeface="Segoe WPC"/>
                  </a:rPr>
                  <a:t> in </a:t>
                </a:r>
                <a:r>
                  <a:rPr lang="es-PE" sz="900" b="0" i="0" dirty="0" err="1">
                    <a:solidFill>
                      <a:schemeClr val="tx1"/>
                    </a:solidFill>
                    <a:effectLst/>
                    <a:latin typeface="Segoe WPC"/>
                  </a:rPr>
                  <a:t>lockups</a:t>
                </a:r>
                <a:r>
                  <a:rPr lang="es-PE" sz="900" b="0" i="0" dirty="0">
                    <a:solidFill>
                      <a:schemeClr val="tx1"/>
                    </a:solidFill>
                    <a:effectLst/>
                    <a:latin typeface="Segoe WPC"/>
                  </a:rPr>
                  <a:t>, </a:t>
                </a:r>
                <a:r>
                  <a:rPr lang="es-PE" sz="900" b="0" i="0" dirty="0" err="1">
                    <a:solidFill>
                      <a:schemeClr val="tx1"/>
                    </a:solidFill>
                    <a:effectLst/>
                    <a:latin typeface="Segoe WPC"/>
                  </a:rPr>
                  <a:t>leverage</a:t>
                </a:r>
                <a:r>
                  <a:rPr lang="es-PE" sz="900" b="0" i="0" dirty="0">
                    <a:solidFill>
                      <a:schemeClr val="tx1"/>
                    </a:solidFill>
                    <a:effectLst/>
                    <a:latin typeface="Segoe WPC"/>
                  </a:rPr>
                  <a:t>, fees, </a:t>
                </a:r>
                <a:r>
                  <a:rPr lang="es-PE" sz="900" b="0" i="0" dirty="0" err="1">
                    <a:solidFill>
                      <a:schemeClr val="tx1"/>
                    </a:solidFill>
                    <a:effectLst/>
                    <a:latin typeface="Segoe WPC"/>
                  </a:rPr>
                  <a:t>disclosure</a:t>
                </a:r>
                <a:r>
                  <a:rPr lang="es-PE" sz="900" b="0" i="0" dirty="0">
                    <a:solidFill>
                      <a:schemeClr val="tx1"/>
                    </a:solidFill>
                    <a:effectLst/>
                    <a:latin typeface="Segoe WPC"/>
                  </a:rPr>
                  <a:t>, and </a:t>
                </a:r>
                <a:r>
                  <a:rPr lang="es-PE" sz="900" b="0" i="0" dirty="0" err="1">
                    <a:solidFill>
                      <a:schemeClr val="tx1"/>
                    </a:solidFill>
                    <a:effectLst/>
                    <a:latin typeface="Segoe WPC"/>
                  </a:rPr>
                  <a:t>regulation</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2. Open-</a:t>
                </a:r>
                <a:r>
                  <a:rPr lang="es-PE" sz="900" b="1" i="0" dirty="0" err="1">
                    <a:solidFill>
                      <a:schemeClr val="tx1"/>
                    </a:solidFill>
                    <a:effectLst/>
                    <a:latin typeface="Segoe WPC"/>
                  </a:rPr>
                  <a:t>End</a:t>
                </a:r>
                <a:r>
                  <a:rPr lang="es-PE" sz="900" b="1" i="0" dirty="0">
                    <a:solidFill>
                      <a:schemeClr val="tx1"/>
                    </a:solidFill>
                    <a:effectLst/>
                    <a:latin typeface="Segoe WPC"/>
                  </a:rPr>
                  <a:t> Mutual </a:t>
                </a:r>
                <a:r>
                  <a:rPr lang="es-PE" sz="900" b="1" i="0" dirty="0" err="1">
                    <a:solidFill>
                      <a:schemeClr val="tx1"/>
                    </a:solidFill>
                    <a:effectLst/>
                    <a:latin typeface="Segoe WPC"/>
                  </a:rPr>
                  <a:t>Funds</a:t>
                </a:r>
                <a:r>
                  <a:rPr lang="es-PE" sz="900" b="1" i="0" dirty="0">
                    <a:solidFill>
                      <a:schemeClr val="tx1"/>
                    </a:solidFill>
                    <a:effectLst/>
                    <a:latin typeface="Segoe WPC"/>
                  </a:rPr>
                  <a:t> and NAV</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Mutual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whose</a:t>
                </a:r>
                <a:r>
                  <a:rPr lang="es-PE" sz="900" b="0" i="0" dirty="0">
                    <a:solidFill>
                      <a:schemeClr val="tx1"/>
                    </a:solidFill>
                    <a:effectLst/>
                    <a:latin typeface="Segoe WPC"/>
                  </a:rPr>
                  <a:t> shares </a:t>
                </a:r>
                <a:r>
                  <a:rPr lang="es-PE" sz="900" b="0" i="0" dirty="0" err="1">
                    <a:solidFill>
                      <a:schemeClr val="tx1"/>
                    </a:solidFill>
                    <a:effectLst/>
                    <a:latin typeface="Segoe WPC"/>
                  </a:rPr>
                  <a:t>expand</a:t>
                </a:r>
                <a:r>
                  <a:rPr lang="es-PE" sz="900" b="0" i="0" dirty="0">
                    <a:solidFill>
                      <a:schemeClr val="tx1"/>
                    </a:solidFill>
                    <a:effectLst/>
                    <a:latin typeface="Segoe WPC"/>
                  </a:rPr>
                  <a:t> and </a:t>
                </a:r>
                <a:r>
                  <a:rPr lang="es-PE" sz="900" b="0" i="0" dirty="0" err="1">
                    <a:solidFill>
                      <a:schemeClr val="tx1"/>
                    </a:solidFill>
                    <a:effectLst/>
                    <a:latin typeface="Segoe WPC"/>
                  </a:rPr>
                  <a:t>contract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investor</a:t>
                </a:r>
                <a:r>
                  <a:rPr lang="es-PE" sz="900" b="0" i="0" dirty="0">
                    <a:solidFill>
                      <a:schemeClr val="tx1"/>
                    </a:solidFill>
                    <a:effectLst/>
                    <a:latin typeface="Segoe WPC"/>
                  </a:rPr>
                  <a:t> </a:t>
                </a:r>
                <a:r>
                  <a:rPr lang="es-PE" sz="900" b="0" i="0" dirty="0" err="1">
                    <a:solidFill>
                      <a:schemeClr val="tx1"/>
                    </a:solidFill>
                    <a:effectLst/>
                    <a:latin typeface="Segoe WPC"/>
                  </a:rPr>
                  <a:t>demand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 </a:t>
                </a:r>
                <a:r>
                  <a:rPr lang="es-PE" sz="900" b="0" i="0" dirty="0" err="1">
                    <a:solidFill>
                      <a:schemeClr val="tx1"/>
                    </a:solidFill>
                    <a:effectLst/>
                    <a:latin typeface="Segoe WPC"/>
                  </a:rPr>
                  <a:t>buy</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and </a:t>
                </a:r>
                <a:r>
                  <a:rPr lang="es-PE" sz="900" b="0" i="0" dirty="0" err="1">
                    <a:solidFill>
                      <a:schemeClr val="tx1"/>
                    </a:solidFill>
                    <a:effectLst/>
                    <a:latin typeface="Segoe WPC"/>
                  </a:rPr>
                  <a:t>redeem</a:t>
                </a:r>
                <a:r>
                  <a:rPr lang="es-PE" sz="900" b="0" i="0" dirty="0">
                    <a:solidFill>
                      <a:schemeClr val="tx1"/>
                    </a:solidFill>
                    <a:effectLst/>
                    <a:latin typeface="Segoe WPC"/>
                  </a:rPr>
                  <a:t> shares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fund</a:t>
                </a:r>
                <a:r>
                  <a:rPr lang="es-PE" sz="900" b="0" i="0" dirty="0">
                    <a:solidFill>
                      <a:schemeClr val="tx1"/>
                    </a:solidFill>
                    <a:effectLst/>
                    <a:latin typeface="Segoe WPC"/>
                  </a:rPr>
                  <a:t> </a:t>
                </a:r>
                <a:r>
                  <a:rPr lang="es-PE" sz="900" b="0" i="0" dirty="0" err="1">
                    <a:solidFill>
                      <a:schemeClr val="tx1"/>
                    </a:solidFill>
                    <a:effectLst/>
                    <a:latin typeface="Segoe WPC"/>
                  </a:rPr>
                  <a:t>itself</a:t>
                </a:r>
                <a:r>
                  <a:rPr lang="es-PE" sz="900" b="0" i="0" dirty="0">
                    <a:solidFill>
                      <a:schemeClr val="tx1"/>
                    </a:solidFill>
                    <a:effectLst/>
                    <a:latin typeface="Segoe WPC"/>
                  </a:rPr>
                  <a:t>, so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number</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shares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time.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trades</a:t>
                </a:r>
                <a:r>
                  <a:rPr lang="es-PE" sz="900" b="0" i="0" dirty="0">
                    <a:solidFill>
                      <a:schemeClr val="tx1"/>
                    </a:solidFill>
                    <a:effectLst/>
                    <a:latin typeface="Segoe WPC"/>
                  </a:rPr>
                  <a:t> </a:t>
                </a:r>
                <a:r>
                  <a:rPr lang="es-PE" sz="900" b="0" i="0" dirty="0" err="1">
                    <a:solidFill>
                      <a:schemeClr val="tx1"/>
                    </a:solidFill>
                    <a:effectLst/>
                    <a:latin typeface="Segoe WPC"/>
                  </a:rPr>
                  <a:t>occur</a:t>
                </a:r>
                <a:r>
                  <a:rPr lang="es-PE" sz="900" b="0" i="0" dirty="0">
                    <a:solidFill>
                      <a:schemeClr val="tx1"/>
                    </a:solidFill>
                    <a:effectLst/>
                    <a:latin typeface="Segoe WPC"/>
                  </a:rPr>
                  <a:t>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end-of-day</a:t>
                </a:r>
                <a:r>
                  <a:rPr lang="es-PE" sz="900" b="0" i="0" dirty="0">
                    <a:solidFill>
                      <a:schemeClr val="tx1"/>
                    </a:solidFill>
                    <a:effectLst/>
                    <a:latin typeface="Segoe WPC"/>
                  </a:rPr>
                  <a:t> net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Cash </a:t>
                </a:r>
                <a:r>
                  <a:rPr lang="es-PE" sz="900" b="0" i="0" dirty="0" err="1">
                    <a:solidFill>
                      <a:schemeClr val="tx1"/>
                    </a:solidFill>
                    <a:effectLst/>
                    <a:latin typeface="Segoe WPC"/>
                  </a:rPr>
                  <a:t>enters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leaves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fund</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fund</a:t>
                </a:r>
                <a:r>
                  <a:rPr lang="es-PE" sz="900" b="0" i="0" dirty="0">
                    <a:solidFill>
                      <a:schemeClr val="tx1"/>
                    </a:solidFill>
                    <a:effectLst/>
                    <a:latin typeface="Segoe WPC"/>
                  </a:rPr>
                  <a:t> </a:t>
                </a:r>
                <a:r>
                  <a:rPr lang="es-PE" sz="900" b="0" i="0" dirty="0" err="1">
                    <a:solidFill>
                      <a:schemeClr val="tx1"/>
                    </a:solidFill>
                    <a:effectLst/>
                    <a:latin typeface="Segoe WPC"/>
                  </a:rPr>
                  <a:t>creates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cancels</a:t>
                </a:r>
                <a:r>
                  <a:rPr lang="es-PE" sz="900" b="0" i="0" dirty="0">
                    <a:solidFill>
                      <a:schemeClr val="tx1"/>
                    </a:solidFill>
                    <a:effectLst/>
                    <a:latin typeface="Segoe WPC"/>
                  </a:rPr>
                  <a:t> shares </a:t>
                </a:r>
                <a:r>
                  <a:rPr lang="es-PE" sz="900" b="0" i="0" dirty="0" err="1">
                    <a:solidFill>
                      <a:schemeClr val="tx1"/>
                    </a:solidFill>
                    <a:effectLst/>
                    <a:latin typeface="Segoe WPC"/>
                  </a:rPr>
                  <a:t>accordingly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NAV</m:t>
                    </m:r>
                    <m:r>
                      <a:rPr lang="es-PE" sz="900" b="0" i="0">
                        <a:solidFill>
                          <a:schemeClr val="tx1"/>
                        </a:solidFill>
                        <a:latin typeface="Cambria Math" panose="02040503050406030204" pitchFamily="18" charset="0"/>
                      </a:rPr>
                      <m:t>=</m:t>
                    </m:r>
                    <m:f>
                      <m:fPr>
                        <m:ctrlPr>
                          <a:rPr lang="ar-AE" sz="900" b="0" i="1">
                            <a:solidFill>
                              <a:schemeClr val="tx1"/>
                            </a:solidFill>
                            <a:latin typeface="Cambria Math" panose="02040503050406030204" pitchFamily="18" charset="0"/>
                          </a:rPr>
                        </m:ctrlPr>
                      </m:fPr>
                      <m:num>
                        <m:r>
                          <m:rPr>
                            <m:nor/>
                          </m:rPr>
                          <a:rPr lang="es-PE" sz="900" b="0" i="1">
                            <a:solidFill>
                              <a:schemeClr val="tx1"/>
                            </a:solidFill>
                            <a:latin typeface="Cambria Math" panose="02040503050406030204" pitchFamily="18" charset="0"/>
                          </a:rPr>
                          <m:t>value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of</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fund</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assets</m:t>
                        </m:r>
                      </m:num>
                      <m:den>
                        <m:r>
                          <m:rPr>
                            <m:nor/>
                          </m:rPr>
                          <a:rPr lang="es-PE" sz="900" b="0" i="1">
                            <a:solidFill>
                              <a:schemeClr val="tx1"/>
                            </a:solidFill>
                            <a:latin typeface="Cambria Math" panose="02040503050406030204" pitchFamily="18" charset="0"/>
                          </a:rPr>
                          <m:t>number</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of</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fund</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shares</m:t>
                        </m:r>
                      </m:den>
                    </m:f>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are </a:t>
                </a:r>
                <a:r>
                  <a:rPr lang="es-PE" sz="900" b="0" i="0" dirty="0" err="1">
                    <a:solidFill>
                      <a:schemeClr val="tx1"/>
                    </a:solidFill>
                    <a:effectLst/>
                    <a:latin typeface="Segoe WPC"/>
                  </a:rPr>
                  <a:t>valued</a:t>
                </a:r>
                <a:r>
                  <a:rPr lang="es-PE" sz="900" b="0" i="0" dirty="0">
                    <a:solidFill>
                      <a:schemeClr val="tx1"/>
                    </a:solidFill>
                    <a:effectLst/>
                    <a:latin typeface="Segoe WPC"/>
                  </a:rPr>
                  <a:t> at 4 p.m., and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orders</a:t>
                </a:r>
                <a:r>
                  <a:rPr lang="es-PE" sz="900" b="0" i="0" dirty="0">
                    <a:solidFill>
                      <a:schemeClr val="tx1"/>
                    </a:solidFill>
                    <a:effectLst/>
                    <a:latin typeface="Segoe WPC"/>
                  </a:rPr>
                  <a:t> placed </a:t>
                </a:r>
                <a:r>
                  <a:rPr lang="es-PE" sz="900" b="0" i="0" dirty="0" err="1">
                    <a:solidFill>
                      <a:schemeClr val="tx1"/>
                    </a:solidFill>
                    <a:effectLst/>
                    <a:latin typeface="Segoe WPC"/>
                  </a:rPr>
                  <a:t>before</a:t>
                </a:r>
                <a:r>
                  <a:rPr lang="es-P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r>
                  <a:rPr lang="es-PE" sz="900" b="0" i="0" dirty="0" err="1">
                    <a:solidFill>
                      <a:schemeClr val="tx1"/>
                    </a:solidFill>
                    <a:effectLst/>
                    <a:latin typeface="Segoe WPC"/>
                  </a:rPr>
                  <a:t>transact</a:t>
                </a:r>
                <a:r>
                  <a:rPr lang="es-PE" sz="900" b="0" i="0" dirty="0">
                    <a:solidFill>
                      <a:schemeClr val="tx1"/>
                    </a:solidFill>
                    <a:effectLst/>
                    <a:latin typeface="Segoe WPC"/>
                  </a:rPr>
                  <a:t> at </a:t>
                </a:r>
                <a:r>
                  <a:rPr lang="es-PE" sz="900" b="0" i="0" dirty="0" err="1">
                    <a:solidFill>
                      <a:schemeClr val="tx1"/>
                    </a:solidFill>
                    <a:effectLst/>
                    <a:latin typeface="Segoe WPC"/>
                  </a:rPr>
                  <a:t>that</a:t>
                </a:r>
                <a:r>
                  <a:rPr lang="es-PE" sz="900" b="0" i="0" dirty="0">
                    <a:solidFill>
                      <a:schemeClr val="tx1"/>
                    </a:solidFill>
                    <a:effectLst/>
                    <a:latin typeface="Segoe WPC"/>
                  </a:rPr>
                  <a:t> 4 p.m. NAV. Open-</a:t>
                </a:r>
                <a:r>
                  <a:rPr lang="es-PE" sz="900" b="0" i="0" dirty="0" err="1">
                    <a:solidFill>
                      <a:schemeClr val="tx1"/>
                    </a:solidFill>
                    <a:effectLst/>
                    <a:latin typeface="Segoe WPC"/>
                  </a:rPr>
                  <a:t>end</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include</a:t>
                </a:r>
                <a:r>
                  <a:rPr lang="es-PE" sz="900" b="0" i="0" dirty="0">
                    <a:solidFill>
                      <a:schemeClr val="tx1"/>
                    </a:solidFill>
                    <a:effectLst/>
                    <a:latin typeface="Segoe WPC"/>
                  </a:rPr>
                  <a:t> </a:t>
                </a:r>
                <a:r>
                  <a:rPr lang="es-PE" sz="900" b="0" i="0" dirty="0" err="1">
                    <a:solidFill>
                      <a:schemeClr val="tx1"/>
                    </a:solidFill>
                    <a:effectLst/>
                    <a:latin typeface="Segoe WPC"/>
                  </a:rPr>
                  <a:t>money</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bond, </a:t>
                </a:r>
                <a:r>
                  <a:rPr lang="es-PE" sz="900" b="0" i="0" dirty="0" err="1">
                    <a:solidFill>
                      <a:schemeClr val="tx1"/>
                    </a:solidFill>
                    <a:effectLst/>
                    <a:latin typeface="Segoe WPC"/>
                  </a:rPr>
                  <a:t>equity</a:t>
                </a:r>
                <a:r>
                  <a:rPr lang="es-PE" sz="900" b="0" i="0" dirty="0">
                    <a:solidFill>
                      <a:schemeClr val="tx1"/>
                    </a:solidFill>
                    <a:effectLst/>
                    <a:latin typeface="Segoe WPC"/>
                  </a:rPr>
                  <a:t>, and </a:t>
                </a:r>
                <a:r>
                  <a:rPr lang="es-PE" sz="900" b="0" i="0" dirty="0" err="1">
                    <a:solidFill>
                      <a:schemeClr val="tx1"/>
                    </a:solidFill>
                    <a:effectLst/>
                    <a:latin typeface="Segoe WPC"/>
                  </a:rPr>
                  <a:t>hybrid</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Equity</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be </a:t>
                </a:r>
                <a:r>
                  <a:rPr lang="es-PE" sz="900" b="0" i="0" dirty="0" err="1">
                    <a:solidFill>
                      <a:schemeClr val="tx1"/>
                    </a:solidFill>
                    <a:effectLst/>
                    <a:latin typeface="Segoe WPC"/>
                  </a:rPr>
                  <a:t>actively</a:t>
                </a:r>
                <a:r>
                  <a:rPr lang="es-PE" sz="900" b="0" i="0" dirty="0">
                    <a:solidFill>
                      <a:schemeClr val="tx1"/>
                    </a:solidFill>
                    <a:effectLst/>
                    <a:latin typeface="Segoe WPC"/>
                  </a:rPr>
                  <a:t> </a:t>
                </a:r>
                <a:r>
                  <a:rPr lang="es-PE" sz="900" b="0" i="0" dirty="0" err="1">
                    <a:solidFill>
                      <a:schemeClr val="tx1"/>
                    </a:solidFill>
                    <a:effectLst/>
                    <a:latin typeface="Segoe WPC"/>
                  </a:rPr>
                  <a:t>managed</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passive</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investor</a:t>
                </a:r>
                <a:r>
                  <a:rPr lang="es-PE" sz="900" b="0" i="0" dirty="0">
                    <a:solidFill>
                      <a:schemeClr val="tx1"/>
                    </a:solidFill>
                    <a:effectLst/>
                    <a:latin typeface="Segoe WPC"/>
                  </a:rPr>
                  <a:t> </a:t>
                </a:r>
                <a:r>
                  <a:rPr lang="es-PE" sz="900" b="0" i="0" dirty="0" err="1">
                    <a:solidFill>
                      <a:schemeClr val="tx1"/>
                    </a:solidFill>
                    <a:effectLst/>
                    <a:latin typeface="Segoe WPC"/>
                  </a:rPr>
                  <a:t>placing</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order</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morning</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lock</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morning</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trade</a:t>
                </a:r>
                <a:r>
                  <a:rPr lang="es-PE" sz="900" b="0" i="0" dirty="0">
                    <a:solidFill>
                      <a:schemeClr val="tx1"/>
                    </a:solidFill>
                    <a:effectLst/>
                    <a:latin typeface="Segoe WPC"/>
                  </a:rPr>
                  <a:t> </a:t>
                </a:r>
                <a:r>
                  <a:rPr lang="es-PE" sz="900" b="0" i="0" dirty="0" err="1">
                    <a:solidFill>
                      <a:schemeClr val="tx1"/>
                    </a:solidFill>
                    <a:effectLst/>
                    <a:latin typeface="Segoe WPC"/>
                  </a:rPr>
                  <a:t>occurs</a:t>
                </a:r>
                <a:r>
                  <a:rPr lang="es-PE" sz="900" b="0" i="0" dirty="0">
                    <a:solidFill>
                      <a:schemeClr val="tx1"/>
                    </a:solidFill>
                    <a:effectLst/>
                    <a:latin typeface="Segoe WPC"/>
                  </a:rPr>
                  <a:t>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next</a:t>
                </a:r>
                <a:r>
                  <a:rPr lang="es-PE" sz="900" b="0" i="0" dirty="0">
                    <a:solidFill>
                      <a:schemeClr val="tx1"/>
                    </a:solidFill>
                    <a:effectLst/>
                    <a:latin typeface="Segoe WPC"/>
                  </a:rPr>
                  <a:t> 4 p.m. NAV.</a:t>
                </a:r>
              </a:p>
              <a:p>
                <a:pPr algn="l">
                  <a:spcAft>
                    <a:spcPts val="600"/>
                  </a:spcAft>
                  <a:buNone/>
                </a:pPr>
                <a:r>
                  <a:rPr lang="es-PE" sz="900" b="1" i="0" dirty="0">
                    <a:solidFill>
                      <a:schemeClr val="tx1"/>
                    </a:solidFill>
                    <a:effectLst/>
                    <a:latin typeface="Segoe WPC"/>
                  </a:rPr>
                  <a:t>3. </a:t>
                </a:r>
                <a:r>
                  <a:rPr lang="es-PE" sz="900" b="1" i="0" dirty="0" err="1">
                    <a:solidFill>
                      <a:schemeClr val="tx1"/>
                    </a:solidFill>
                    <a:effectLst/>
                    <a:latin typeface="Segoe WPC"/>
                  </a:rPr>
                  <a:t>Index</a:t>
                </a:r>
                <a:r>
                  <a:rPr lang="es-PE" sz="900" b="1" i="0" dirty="0">
                    <a:solidFill>
                      <a:schemeClr val="tx1"/>
                    </a:solidFill>
                    <a:effectLst/>
                    <a:latin typeface="Segoe WPC"/>
                  </a:rPr>
                  <a:t> </a:t>
                </a:r>
                <a:r>
                  <a:rPr lang="es-PE" sz="900" b="1" i="0" dirty="0" err="1">
                    <a:solidFill>
                      <a:schemeClr val="tx1"/>
                    </a:solidFill>
                    <a:effectLst/>
                    <a:latin typeface="Segoe WPC"/>
                  </a:rPr>
                  <a:t>Funds</a:t>
                </a:r>
                <a:r>
                  <a:rPr lang="es-PE" sz="900" b="1" i="0" dirty="0">
                    <a:solidFill>
                      <a:schemeClr val="tx1"/>
                    </a:solidFill>
                    <a:effectLst/>
                    <a:latin typeface="Segoe WPC"/>
                  </a:rPr>
                  <a:t>, Tracking Error, Fees, and </a:t>
                </a:r>
                <a:r>
                  <a:rPr lang="es-PE" sz="900" b="1" i="0" dirty="0" err="1">
                    <a:solidFill>
                      <a:schemeClr val="tx1"/>
                    </a:solidFill>
                    <a:effectLst/>
                    <a:latin typeface="Segoe WPC"/>
                  </a:rPr>
                  <a:t>Closed-End</a:t>
                </a:r>
                <a:r>
                  <a:rPr lang="es-PE" sz="900" b="1" i="0" dirty="0">
                    <a:solidFill>
                      <a:schemeClr val="tx1"/>
                    </a:solidFill>
                    <a:effectLst/>
                    <a:latin typeface="Segoe WPC"/>
                  </a:rPr>
                  <a:t> </a:t>
                </a:r>
                <a:r>
                  <a:rPr lang="es-PE" sz="900" b="1" i="0" dirty="0" err="1">
                    <a:solidFill>
                      <a:schemeClr val="tx1"/>
                    </a:solidFill>
                    <a:effectLst/>
                    <a:latin typeface="Segoe WPC"/>
                  </a:rPr>
                  <a:t>Funds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Passive</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fee </a:t>
                </a:r>
                <a:r>
                  <a:rPr lang="es-PE" sz="900" b="0" i="0" dirty="0" err="1">
                    <a:solidFill>
                      <a:schemeClr val="tx1"/>
                    </a:solidFill>
                    <a:effectLst/>
                    <a:latin typeface="Segoe WPC"/>
                  </a:rPr>
                  <a:t>structures</a:t>
                </a:r>
                <a:r>
                  <a:rPr lang="es-PE" sz="900" b="0" i="0" dirty="0">
                    <a:solidFill>
                      <a:schemeClr val="tx1"/>
                    </a:solidFill>
                    <a:effectLst/>
                    <a:latin typeface="Segoe WPC"/>
                  </a:rPr>
                  <a:t>, and </a:t>
                </a:r>
                <a:r>
                  <a:rPr lang="es-PE" sz="900" b="0" i="0" dirty="0" err="1">
                    <a:solidFill>
                      <a:schemeClr val="tx1"/>
                    </a:solidFill>
                    <a:effectLst/>
                    <a:latin typeface="Segoe WPC"/>
                  </a:rPr>
                  <a:t>closed-end</a:t>
                </a:r>
                <a:r>
                  <a:rPr lang="es-PE" sz="900" b="0" i="0" dirty="0">
                    <a:solidFill>
                      <a:schemeClr val="tx1"/>
                    </a:solidFill>
                    <a:effectLst/>
                    <a:latin typeface="Segoe WPC"/>
                  </a:rPr>
                  <a:t> mutual </a:t>
                </a:r>
                <a:r>
                  <a:rPr lang="es-PE" sz="900" b="0" i="0" dirty="0" err="1">
                    <a:solidFill>
                      <a:schemeClr val="tx1"/>
                    </a:solidFill>
                    <a:effectLst/>
                    <a:latin typeface="Segoe WPC"/>
                  </a:rPr>
                  <a:t>funds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try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replicate</a:t>
                </a:r>
                <a:r>
                  <a:rPr lang="es-PE" sz="900" b="0" i="0" dirty="0">
                    <a:solidFill>
                      <a:schemeClr val="tx1"/>
                    </a:solidFill>
                    <a:effectLst/>
                    <a:latin typeface="Segoe WPC"/>
                  </a:rPr>
                  <a:t> a </a:t>
                </a:r>
                <a:r>
                  <a:rPr lang="es-PE" sz="900" b="0" i="0" dirty="0" err="1">
                    <a:solidFill>
                      <a:schemeClr val="tx1"/>
                    </a:solidFill>
                    <a:effectLst/>
                    <a:latin typeface="Segoe WPC"/>
                  </a:rPr>
                  <a:t>benchmark</a:t>
                </a:r>
                <a:r>
                  <a:rPr lang="es-PE" sz="900" b="0" i="0" dirty="0">
                    <a:solidFill>
                      <a:schemeClr val="tx1"/>
                    </a:solidFill>
                    <a:effectLst/>
                    <a:latin typeface="Segoe WPC"/>
                  </a:rPr>
                  <a:t>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beat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closed-end</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 </a:t>
                </a:r>
                <a:r>
                  <a:rPr lang="es-PE" sz="900" b="0" i="0" dirty="0" err="1">
                    <a:solidFill>
                      <a:schemeClr val="tx1"/>
                    </a:solidFill>
                    <a:effectLst/>
                    <a:latin typeface="Segoe WPC"/>
                  </a:rPr>
                  <a:t>fixed</a:t>
                </a:r>
                <a:r>
                  <a:rPr lang="es-PE" sz="900" b="0" i="0" dirty="0">
                    <a:solidFill>
                      <a:schemeClr val="tx1"/>
                    </a:solidFill>
                    <a:effectLst/>
                    <a:latin typeface="Segoe WPC"/>
                  </a:rPr>
                  <a:t> </a:t>
                </a:r>
                <a:r>
                  <a:rPr lang="es-PE" sz="900" b="0" i="0" dirty="0" err="1">
                    <a:solidFill>
                      <a:schemeClr val="tx1"/>
                    </a:solidFill>
                    <a:effectLst/>
                    <a:latin typeface="Segoe WPC"/>
                  </a:rPr>
                  <a:t>number</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shares and </a:t>
                </a:r>
                <a:r>
                  <a:rPr lang="es-PE" sz="900" b="0" i="0" dirty="0" err="1">
                    <a:solidFill>
                      <a:schemeClr val="tx1"/>
                    </a:solidFill>
                    <a:effectLst/>
                    <a:latin typeface="Segoe WPC"/>
                  </a:rPr>
                  <a:t>trade</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ordinary</a:t>
                </a:r>
                <a:r>
                  <a:rPr lang="es-PE" sz="900" b="0" i="0" dirty="0">
                    <a:solidFill>
                      <a:schemeClr val="tx1"/>
                    </a:solidFill>
                    <a:effectLst/>
                    <a:latin typeface="Segoe WPC"/>
                  </a:rPr>
                  <a:t> stocks.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shadow</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a:t>
                </a:r>
                <a:r>
                  <a:rPr lang="es-PE" sz="900" b="0" i="0" dirty="0" err="1">
                    <a:solidFill>
                      <a:schemeClr val="tx1"/>
                    </a:solidFill>
                    <a:effectLst/>
                    <a:latin typeface="Segoe WPC"/>
                  </a:rPr>
                  <a:t>closed-end</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can </a:t>
                </a:r>
                <a:r>
                  <a:rPr lang="es-PE" sz="900" b="0" i="0" dirty="0" err="1">
                    <a:solidFill>
                      <a:schemeClr val="tx1"/>
                    </a:solidFill>
                    <a:effectLst/>
                    <a:latin typeface="Segoe WPC"/>
                  </a:rPr>
                  <a:t>differ</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Tracking error can be </a:t>
                </a:r>
                <a:r>
                  <a:rPr lang="es-PE" sz="900" b="0" i="0" dirty="0" err="1">
                    <a:solidFill>
                      <a:schemeClr val="tx1"/>
                    </a:solidFill>
                    <a:effectLst/>
                    <a:latin typeface="Segoe WPC"/>
                  </a:rPr>
                  <a:t>measured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root</a:t>
                </a:r>
                <a:r>
                  <a:rPr lang="es-PE" sz="900" b="0" i="0" dirty="0">
                    <a:solidFill>
                      <a:schemeClr val="tx1"/>
                    </a:solidFill>
                    <a:effectLst/>
                    <a:latin typeface="Segoe WPC"/>
                  </a:rPr>
                  <a:t>-mean-</a:t>
                </a:r>
                <a:r>
                  <a:rPr lang="es-PE" sz="900" b="0" i="0" dirty="0" err="1">
                    <a:solidFill>
                      <a:schemeClr val="tx1"/>
                    </a:solidFill>
                    <a:effectLst/>
                    <a:latin typeface="Segoe WPC"/>
                  </a:rPr>
                  <a:t>square</a:t>
                </a:r>
                <a:r>
                  <a:rPr lang="es-PE" sz="900" b="0" i="0" dirty="0">
                    <a:solidFill>
                      <a:schemeClr val="tx1"/>
                    </a:solidFill>
                    <a:effectLst/>
                    <a:latin typeface="Segoe WPC"/>
                  </a:rPr>
                  <a:t> </a:t>
                </a:r>
                <a:r>
                  <a:rPr lang="es-PE" sz="900" b="0" i="0" dirty="0" err="1">
                    <a:solidFill>
                      <a:schemeClr val="tx1"/>
                    </a:solidFill>
                    <a:effectLst/>
                    <a:latin typeface="Segoe WPC"/>
                  </a:rPr>
                  <a:t>difference</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fund</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and </a:t>
                </a:r>
                <a:r>
                  <a:rPr lang="es-PE" sz="900" b="0" i="0" dirty="0" err="1">
                    <a:solidFill>
                      <a:schemeClr val="tx1"/>
                    </a:solidFill>
                    <a:effectLst/>
                    <a:latin typeface="Segoe WPC"/>
                  </a:rPr>
                  <a:t>index</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charge</a:t>
                </a:r>
                <a:r>
                  <a:rPr lang="es-PE" sz="900" b="0" i="0" dirty="0">
                    <a:solidFill>
                      <a:schemeClr val="tx1"/>
                    </a:solidFill>
                    <a:effectLst/>
                    <a:latin typeface="Segoe WPC"/>
                  </a:rPr>
                  <a:t> </a:t>
                </a:r>
                <a:r>
                  <a:rPr lang="es-PE" sz="900" b="0" i="0" dirty="0" err="1">
                    <a:solidFill>
                      <a:schemeClr val="tx1"/>
                    </a:solidFill>
                    <a:effectLst/>
                    <a:latin typeface="Segoe WPC"/>
                  </a:rPr>
                  <a:t>much</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fees </a:t>
                </a:r>
                <a:r>
                  <a:rPr lang="es-PE" sz="900" b="0" i="0" dirty="0" err="1">
                    <a:solidFill>
                      <a:schemeClr val="tx1"/>
                    </a:solidFill>
                    <a:effectLst/>
                    <a:latin typeface="Segoe WPC"/>
                  </a:rPr>
                  <a:t>than</a:t>
                </a:r>
                <a:r>
                  <a:rPr lang="es-PE" sz="900" b="0" i="0" dirty="0">
                    <a:solidFill>
                      <a:schemeClr val="tx1"/>
                    </a:solidFill>
                    <a:effectLst/>
                    <a:latin typeface="Segoe WPC"/>
                  </a:rPr>
                  <a:t> active </a:t>
                </a:r>
                <a:r>
                  <a:rPr lang="es-PE" sz="900" b="0" i="0" dirty="0" err="1">
                    <a:solidFill>
                      <a:schemeClr val="tx1"/>
                    </a:solidFill>
                    <a:effectLst/>
                    <a:latin typeface="Segoe WPC"/>
                  </a:rPr>
                  <a:t>funds</a:t>
                </a:r>
                <a:r>
                  <a:rPr lang="es-PE" sz="900" b="0" i="0" dirty="0">
                    <a:solidFill>
                      <a:schemeClr val="tx1"/>
                    </a:solidFill>
                    <a:effectLst/>
                    <a:latin typeface="Segoe WPC"/>
                  </a:rPr>
                  <a:t> and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grown</a:t>
                </a:r>
                <a:r>
                  <a:rPr lang="es-PE" sz="900" b="0" i="0" dirty="0">
                    <a:solidFill>
                      <a:schemeClr val="tx1"/>
                    </a:solidFill>
                    <a:effectLst/>
                    <a:latin typeface="Segoe WPC"/>
                  </a:rPr>
                  <a:t> </a:t>
                </a:r>
                <a:r>
                  <a:rPr lang="es-PE" sz="900" b="0" i="0" dirty="0" err="1">
                    <a:solidFill>
                      <a:schemeClr val="tx1"/>
                    </a:solidFill>
                    <a:effectLst/>
                    <a:latin typeface="Segoe WPC"/>
                  </a:rPr>
                  <a:t>rapidly</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active </a:t>
                </a:r>
                <a:r>
                  <a:rPr lang="es-PE" sz="900" b="0" i="0" dirty="0" err="1">
                    <a:solidFill>
                      <a:schemeClr val="tx1"/>
                    </a:solidFill>
                    <a:effectLst/>
                    <a:latin typeface="Segoe WPC"/>
                  </a:rPr>
                  <a:t>funds</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outperform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after fees. </a:t>
                </a:r>
                <a:r>
                  <a:rPr lang="es-PE" sz="900" b="0" i="0" dirty="0" err="1">
                    <a:solidFill>
                      <a:schemeClr val="tx1"/>
                    </a:solidFill>
                    <a:effectLst/>
                    <a:latin typeface="Segoe WPC"/>
                  </a:rPr>
                  <a:t>Closed-end</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trade</a:t>
                </a:r>
                <a:r>
                  <a:rPr lang="es-PE" sz="900" b="0" i="0" dirty="0">
                    <a:solidFill>
                      <a:schemeClr val="tx1"/>
                    </a:solidFill>
                    <a:effectLst/>
                    <a:latin typeface="Segoe WPC"/>
                  </a:rPr>
                  <a:t> </a:t>
                </a:r>
                <a:r>
                  <a:rPr lang="es-PE" sz="900" b="0" i="0" dirty="0" err="1">
                    <a:solidFill>
                      <a:schemeClr val="tx1"/>
                    </a:solidFill>
                    <a:effectLst/>
                    <a:latin typeface="Segoe WPC"/>
                  </a:rPr>
                  <a:t>below</a:t>
                </a:r>
                <a:r>
                  <a:rPr lang="es-PE" sz="900" b="0" i="0" dirty="0">
                    <a:solidFill>
                      <a:schemeClr val="tx1"/>
                    </a:solidFill>
                    <a:effectLst/>
                    <a:latin typeface="Segoe WPC"/>
                  </a:rPr>
                  <a:t> NAV, </a:t>
                </a:r>
                <a:r>
                  <a:rPr lang="es-PE" sz="900" b="0" i="0" dirty="0" err="1">
                    <a:solidFill>
                      <a:schemeClr val="tx1"/>
                    </a:solidFill>
                    <a:effectLst/>
                    <a:latin typeface="Segoe WPC"/>
                  </a:rPr>
                  <a:t>partly</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management</a:t>
                </a:r>
                <a:r>
                  <a:rPr lang="es-PE" sz="900" b="0" i="0" dirty="0">
                    <a:solidFill>
                      <a:schemeClr val="tx1"/>
                    </a:solidFill>
                    <a:effectLst/>
                    <a:latin typeface="Segoe WPC"/>
                  </a:rPr>
                  <a:t> fees reduce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present</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 </a:t>
                </a:r>
                <a:r>
                  <a:rPr lang="es-PE" sz="900" b="0" i="0" dirty="0" err="1">
                    <a:solidFill>
                      <a:schemeClr val="tx1"/>
                    </a:solidFill>
                    <a:effectLst/>
                    <a:latin typeface="Segoe WPC"/>
                  </a:rPr>
                  <a:t>Unlike</a:t>
                </a:r>
                <a:r>
                  <a:rPr lang="es-PE" sz="900" b="0" i="0" dirty="0">
                    <a:solidFill>
                      <a:schemeClr val="tx1"/>
                    </a:solidFill>
                    <a:effectLst/>
                    <a:latin typeface="Segoe WPC"/>
                  </a:rPr>
                  <a:t> open-</a:t>
                </a:r>
                <a:r>
                  <a:rPr lang="es-PE" sz="900" b="0" i="0" dirty="0" err="1">
                    <a:solidFill>
                      <a:schemeClr val="tx1"/>
                    </a:solidFill>
                    <a:effectLst/>
                    <a:latin typeface="Segoe WPC"/>
                  </a:rPr>
                  <a:t>end</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closed-end</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can be </a:t>
                </a:r>
                <a:r>
                  <a:rPr lang="es-PE" sz="900" b="0" i="0" dirty="0" err="1">
                    <a:solidFill>
                      <a:schemeClr val="tx1"/>
                    </a:solidFill>
                    <a:effectLst/>
                    <a:latin typeface="Segoe WPC"/>
                  </a:rPr>
                  <a:t>traded</a:t>
                </a:r>
                <a:r>
                  <a:rPr lang="es-PE" sz="900" b="0" i="0" dirty="0">
                    <a:solidFill>
                      <a:schemeClr val="tx1"/>
                    </a:solidFill>
                    <a:effectLst/>
                    <a:latin typeface="Segoe WPC"/>
                  </a:rPr>
                  <a:t> </a:t>
                </a:r>
                <a:r>
                  <a:rPr lang="es-PE" sz="900" b="0" i="0" dirty="0" err="1">
                    <a:solidFill>
                      <a:schemeClr val="tx1"/>
                    </a:solidFill>
                    <a:effectLst/>
                    <a:latin typeface="Segoe WPC"/>
                  </a:rPr>
                  <a:t>intraday</a:t>
                </a:r>
                <a:r>
                  <a:rPr lang="es-PE" sz="900" b="0" i="0" dirty="0">
                    <a:solidFill>
                      <a:schemeClr val="tx1"/>
                    </a:solidFill>
                    <a:effectLst/>
                    <a:latin typeface="Segoe WPC"/>
                  </a:rPr>
                  <a:t> and </a:t>
                </a:r>
                <a:r>
                  <a:rPr lang="es-PE" sz="900" b="0" i="0" dirty="0" err="1">
                    <a:solidFill>
                      <a:schemeClr val="tx1"/>
                    </a:solidFill>
                    <a:effectLst/>
                    <a:latin typeface="Segoe WPC"/>
                  </a:rPr>
                  <a:t>shorted</a:t>
                </a:r>
                <a:r>
                  <a:rPr lang="es-PE" sz="900" b="0" i="0" dirty="0">
                    <a:solidFill>
                      <a:schemeClr val="tx1"/>
                    </a:solidFill>
                    <a:effectLst/>
                    <a:latin typeface="Segoe WPC"/>
                  </a:rPr>
                  <a:t>, and </a:t>
                </a:r>
                <a:r>
                  <a:rPr lang="es-PE" sz="900" b="0" i="0" dirty="0" err="1">
                    <a:solidFill>
                      <a:schemeClr val="tx1"/>
                    </a:solidFill>
                    <a:effectLst/>
                    <a:latin typeface="Segoe WPC"/>
                  </a:rPr>
                  <a:t>they</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need</a:t>
                </a:r>
                <a:r>
                  <a:rPr lang="es-PE" sz="900" b="0" i="0" dirty="0">
                    <a:solidFill>
                      <a:schemeClr val="tx1"/>
                    </a:solidFill>
                    <a:effectLst/>
                    <a:latin typeface="Segoe WPC"/>
                  </a:rPr>
                  <a:t> </a:t>
                </a:r>
                <a:r>
                  <a:rPr lang="es-PE" sz="900" b="0" i="0" dirty="0" err="1">
                    <a:solidFill>
                      <a:schemeClr val="tx1"/>
                    </a:solidFill>
                    <a:effectLst/>
                    <a:latin typeface="Segoe WPC"/>
                  </a:rPr>
                  <a:t>liquidity</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redemptions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Closed-end</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trade</a:t>
                </a:r>
                <a:r>
                  <a:rPr lang="es-PE" sz="900" b="0" i="0" dirty="0">
                    <a:solidFill>
                      <a:schemeClr val="tx1"/>
                    </a:solidFill>
                    <a:effectLst/>
                    <a:latin typeface="Segoe WPC"/>
                  </a:rPr>
                  <a:t> at NAV </a:t>
                </a:r>
                <a:r>
                  <a:rPr lang="es-PE" sz="900" b="0" i="0" dirty="0" err="1">
                    <a:solidFill>
                      <a:schemeClr val="tx1"/>
                    </a:solidFill>
                    <a:effectLst/>
                    <a:latin typeface="Segoe WPC"/>
                  </a:rPr>
                  <a:t>like</a:t>
                </a:r>
                <a:r>
                  <a:rPr lang="es-PE" sz="900" b="0" i="0" dirty="0">
                    <a:solidFill>
                      <a:schemeClr val="tx1"/>
                    </a:solidFill>
                    <a:effectLst/>
                    <a:latin typeface="Segoe WPC"/>
                  </a:rPr>
                  <a:t> open-</a:t>
                </a:r>
                <a:r>
                  <a:rPr lang="es-PE" sz="900" b="0" i="0" dirty="0" err="1">
                    <a:solidFill>
                      <a:schemeClr val="tx1"/>
                    </a:solidFill>
                    <a:effectLst/>
                    <a:latin typeface="Segoe WPC"/>
                  </a:rPr>
                  <a:t>end</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their</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determined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supply</a:t>
                </a:r>
                <a:r>
                  <a:rPr lang="es-PE" sz="900" b="0" i="0" dirty="0">
                    <a:solidFill>
                      <a:schemeClr val="tx1"/>
                    </a:solidFill>
                    <a:effectLst/>
                    <a:latin typeface="Segoe WPC"/>
                  </a:rPr>
                  <a:t> and </a:t>
                </a:r>
                <a:r>
                  <a:rPr lang="es-PE" sz="900" b="0" i="0" dirty="0" err="1">
                    <a:solidFill>
                      <a:schemeClr val="tx1"/>
                    </a:solidFill>
                    <a:effectLst/>
                    <a:latin typeface="Segoe WPC"/>
                  </a:rPr>
                  <a:t>demand</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4. Exchange-</a:t>
                </a:r>
                <a:r>
                  <a:rPr lang="es-PE" sz="900" b="1" i="0" dirty="0" err="1">
                    <a:solidFill>
                      <a:schemeClr val="tx1"/>
                    </a:solidFill>
                    <a:effectLst/>
                    <a:latin typeface="Segoe WPC"/>
                  </a:rPr>
                  <a:t>Traded</a:t>
                </a:r>
                <a:r>
                  <a:rPr lang="es-PE" sz="900" b="1" i="0" dirty="0">
                    <a:solidFill>
                      <a:schemeClr val="tx1"/>
                    </a:solidFill>
                    <a:effectLst/>
                    <a:latin typeface="Segoe WPC"/>
                  </a:rPr>
                  <a:t> </a:t>
                </a:r>
                <a:r>
                  <a:rPr lang="es-PE" sz="900" b="1" i="0" dirty="0" err="1">
                    <a:solidFill>
                      <a:schemeClr val="tx1"/>
                    </a:solidFill>
                    <a:effectLst/>
                    <a:latin typeface="Segoe WPC"/>
                  </a:rPr>
                  <a:t>Funds</a:t>
                </a:r>
                <a:r>
                  <a:rPr lang="es-PE" sz="900" b="1" i="0" dirty="0">
                    <a:solidFill>
                      <a:schemeClr val="tx1"/>
                    </a:solidFill>
                    <a:effectLst/>
                    <a:latin typeface="Segoe WPC"/>
                  </a:rPr>
                  <a:t> (</a:t>
                </a:r>
                <a:r>
                  <a:rPr lang="es-PE" sz="900" b="1" i="0" dirty="0" err="1">
                    <a:solidFill>
                      <a:schemeClr val="tx1"/>
                    </a:solidFill>
                    <a:effectLst/>
                    <a:latin typeface="Segoe WPC"/>
                  </a:rPr>
                  <a:t>ETFs</a:t>
                </a:r>
                <a:r>
                  <a:rPr lang="es-PE" sz="900" b="1"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combining</a:t>
                </a:r>
                <a:r>
                  <a:rPr lang="es-PE" sz="900" b="0" i="0" dirty="0">
                    <a:solidFill>
                      <a:schemeClr val="tx1"/>
                    </a:solidFill>
                    <a:effectLst/>
                    <a:latin typeface="Segoe WPC"/>
                  </a:rPr>
                  <a:t> </a:t>
                </a:r>
                <a:r>
                  <a:rPr lang="es-PE" sz="900" b="0" i="0" dirty="0" err="1">
                    <a:solidFill>
                      <a:schemeClr val="tx1"/>
                    </a:solidFill>
                    <a:effectLst/>
                    <a:latin typeface="Segoe WPC"/>
                  </a:rPr>
                  <a:t>features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open-</a:t>
                </a:r>
                <a:r>
                  <a:rPr lang="es-PE" sz="900" b="0" i="0" dirty="0" err="1">
                    <a:solidFill>
                      <a:schemeClr val="tx1"/>
                    </a:solidFill>
                    <a:effectLst/>
                    <a:latin typeface="Segoe WPC"/>
                  </a:rPr>
                  <a:t>end</a:t>
                </a:r>
                <a:r>
                  <a:rPr lang="es-PE" sz="900" b="0" i="0" dirty="0">
                    <a:solidFill>
                      <a:schemeClr val="tx1"/>
                    </a:solidFill>
                    <a:effectLst/>
                    <a:latin typeface="Segoe WPC"/>
                  </a:rPr>
                  <a:t> and </a:t>
                </a:r>
                <a:r>
                  <a:rPr lang="es-PE" sz="900" b="0" i="0" dirty="0" err="1">
                    <a:solidFill>
                      <a:schemeClr val="tx1"/>
                    </a:solidFill>
                    <a:effectLst/>
                    <a:latin typeface="Segoe WPC"/>
                  </a:rPr>
                  <a:t>closed-end</a:t>
                </a:r>
                <a:r>
                  <a:rPr lang="es-PE" sz="900" b="0" i="0" dirty="0">
                    <a:solidFill>
                      <a:schemeClr val="tx1"/>
                    </a:solidFill>
                    <a:effectLst/>
                    <a:latin typeface="Segoe WPC"/>
                  </a:rPr>
                  <a:t> </a:t>
                </a:r>
                <a:r>
                  <a:rPr lang="es-PE" sz="900" b="0" i="0" dirty="0" err="1">
                    <a:solidFill>
                      <a:schemeClr val="tx1"/>
                    </a:solidFill>
                    <a:effectLst/>
                    <a:latin typeface="Segoe WPC"/>
                  </a:rPr>
                  <a:t>structures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ETFs</a:t>
                </a:r>
                <a:r>
                  <a:rPr lang="es-PE" sz="900" b="0" i="0" dirty="0">
                    <a:solidFill>
                      <a:schemeClr val="tx1"/>
                    </a:solidFill>
                    <a:effectLst/>
                    <a:latin typeface="Segoe WPC"/>
                  </a:rPr>
                  <a:t> </a:t>
                </a:r>
                <a:r>
                  <a:rPr lang="es-PE" sz="900" b="0" i="0" dirty="0" err="1">
                    <a:solidFill>
                      <a:schemeClr val="tx1"/>
                    </a:solidFill>
                    <a:effectLst/>
                    <a:latin typeface="Segoe WPC"/>
                  </a:rPr>
                  <a:t>trade</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exchanges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stocks,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authorized</a:t>
                </a:r>
                <a:r>
                  <a:rPr lang="es-PE" sz="900" b="0" i="0" dirty="0">
                    <a:solidFill>
                      <a:schemeClr val="tx1"/>
                    </a:solidFill>
                    <a:effectLst/>
                    <a:latin typeface="Segoe WPC"/>
                  </a:rPr>
                  <a:t> </a:t>
                </a:r>
                <a:r>
                  <a:rPr lang="es-PE" sz="900" b="0" i="0" dirty="0" err="1">
                    <a:solidFill>
                      <a:schemeClr val="tx1"/>
                    </a:solidFill>
                    <a:effectLst/>
                    <a:latin typeface="Segoe WPC"/>
                  </a:rPr>
                  <a:t>institutional</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 can </a:t>
                </a:r>
                <a:r>
                  <a:rPr lang="es-PE" sz="900" b="0" i="0" dirty="0" err="1">
                    <a:solidFill>
                      <a:schemeClr val="tx1"/>
                    </a:solidFill>
                    <a:effectLst/>
                    <a:latin typeface="Segoe WPC"/>
                  </a:rPr>
                  <a:t>create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redeem</a:t>
                </a:r>
                <a:r>
                  <a:rPr lang="es-PE" sz="900" b="0" i="0" dirty="0">
                    <a:solidFill>
                      <a:schemeClr val="tx1"/>
                    </a:solidFill>
                    <a:effectLst/>
                    <a:latin typeface="Segoe WPC"/>
                  </a:rPr>
                  <a:t> shares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exchanging</a:t>
                </a:r>
                <a:r>
                  <a:rPr lang="es-PE" sz="900" b="0" i="0" dirty="0">
                    <a:solidFill>
                      <a:schemeClr val="tx1"/>
                    </a:solidFill>
                    <a:effectLst/>
                    <a:latin typeface="Segoe WPC"/>
                  </a:rPr>
                  <a:t> </a:t>
                </a:r>
                <a:r>
                  <a:rPr lang="es-PE" sz="900" b="0" i="0" dirty="0" err="1">
                    <a:solidFill>
                      <a:schemeClr val="tx1"/>
                    </a:solidFill>
                    <a:effectLst/>
                    <a:latin typeface="Segoe WPC"/>
                  </a:rPr>
                  <a:t>baskets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securities</a:t>
                </a:r>
                <a:r>
                  <a:rPr lang="es-PE" sz="900" b="0" i="0" dirty="0">
                    <a:solidFill>
                      <a:schemeClr val="tx1"/>
                    </a:solidFill>
                    <a:effectLst/>
                    <a:latin typeface="Segoe WPC"/>
                  </a:rPr>
                  <a:t>, </a:t>
                </a:r>
                <a:r>
                  <a:rPr lang="es-PE" sz="900" b="0" i="0" dirty="0" err="1">
                    <a:solidFill>
                      <a:schemeClr val="tx1"/>
                    </a:solidFill>
                    <a:effectLst/>
                    <a:latin typeface="Segoe WPC"/>
                  </a:rPr>
                  <a:t>which</a:t>
                </a:r>
                <a:r>
                  <a:rPr lang="es-PE" sz="900" b="0" i="0" dirty="0">
                    <a:solidFill>
                      <a:schemeClr val="tx1"/>
                    </a:solidFill>
                    <a:effectLst/>
                    <a:latin typeface="Segoe WPC"/>
                  </a:rPr>
                  <a:t> </a:t>
                </a:r>
                <a:r>
                  <a:rPr lang="es-PE" sz="900" b="0" i="0" dirty="0" err="1">
                    <a:solidFill>
                      <a:schemeClr val="tx1"/>
                    </a:solidFill>
                    <a:effectLst/>
                    <a:latin typeface="Segoe WPC"/>
                  </a:rPr>
                  <a:t>keeps</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close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NAV.</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ETF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drifts</a:t>
                </a:r>
                <a:r>
                  <a:rPr lang="es-PE" sz="900" b="0" i="0" dirty="0">
                    <a:solidFill>
                      <a:schemeClr val="tx1"/>
                    </a:solidFill>
                    <a:effectLst/>
                    <a:latin typeface="Segoe WPC"/>
                  </a:rPr>
                  <a:t> </a:t>
                </a:r>
                <a:r>
                  <a:rPr lang="es-PE" sz="900" b="0" i="0" dirty="0" err="1">
                    <a:solidFill>
                      <a:schemeClr val="tx1"/>
                    </a:solidFill>
                    <a:effectLst/>
                    <a:latin typeface="Segoe WPC"/>
                  </a:rPr>
                  <a:t>away</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NAV, </a:t>
                </a:r>
                <a:r>
                  <a:rPr lang="es-PE" sz="900" b="0" i="0" dirty="0" err="1">
                    <a:solidFill>
                      <a:schemeClr val="tx1"/>
                    </a:solidFill>
                    <a:effectLst/>
                    <a:latin typeface="Segoe WPC"/>
                  </a:rPr>
                  <a:t>institutions</a:t>
                </a:r>
                <a:r>
                  <a:rPr lang="es-PE" sz="900" b="0" i="0" dirty="0">
                    <a:solidFill>
                      <a:schemeClr val="tx1"/>
                    </a:solidFill>
                    <a:effectLst/>
                    <a:latin typeface="Segoe WPC"/>
                  </a:rPr>
                  <a:t> </a:t>
                </a:r>
                <a:r>
                  <a:rPr lang="es-PE" sz="900" b="0" i="0" dirty="0" err="1">
                    <a:solidFill>
                      <a:schemeClr val="tx1"/>
                    </a:solidFill>
                    <a:effectLst/>
                    <a:latin typeface="Segoe WPC"/>
                  </a:rPr>
                  <a:t>arbitrage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gap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swapping</a:t>
                </a:r>
                <a:r>
                  <a:rPr lang="es-PE" sz="900" b="0" i="0" dirty="0">
                    <a:solidFill>
                      <a:schemeClr val="tx1"/>
                    </a:solidFill>
                    <a:effectLst/>
                    <a:latin typeface="Segoe WPC"/>
                  </a:rPr>
                  <a:t> ETF shares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portfolio </a:t>
                </a:r>
                <a:r>
                  <a:rPr lang="es-PE" sz="900" b="0" i="0" dirty="0" err="1">
                    <a:solidFill>
                      <a:schemeClr val="tx1"/>
                    </a:solidFill>
                    <a:effectLst/>
                    <a:latin typeface="Segoe WPC"/>
                  </a:rPr>
                  <a:t>or</a:t>
                </a:r>
                <a:r>
                  <a:rPr lang="es-PE" sz="900" b="0" i="0" dirty="0">
                    <a:solidFill>
                      <a:schemeClr val="tx1"/>
                    </a:solidFill>
                    <a:effectLst/>
                    <a:latin typeface="Segoe WPC"/>
                  </a:rPr>
                  <a:t> vice versa.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single formula </a:t>
                </a:r>
                <a:r>
                  <a:rPr lang="es-PE" sz="900" b="0" i="0" dirty="0" err="1">
                    <a:solidFill>
                      <a:schemeClr val="tx1"/>
                    </a:solidFill>
                    <a:effectLst/>
                    <a:latin typeface="Segoe WPC"/>
                  </a:rPr>
                  <a:t>beyond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NAV concept;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key</a:t>
                </a:r>
                <a:r>
                  <a:rPr lang="es-PE" sz="900" b="0" i="0" dirty="0">
                    <a:solidFill>
                      <a:schemeClr val="tx1"/>
                    </a:solidFill>
                    <a:effectLst/>
                    <a:latin typeface="Segoe WPC"/>
                  </a:rPr>
                  <a:t> </a:t>
                </a:r>
                <a:r>
                  <a:rPr lang="es-PE" sz="900" b="0" i="0" dirty="0" err="1">
                    <a:solidFill>
                      <a:schemeClr val="tx1"/>
                    </a:solidFill>
                    <a:effectLst/>
                    <a:latin typeface="Segoe WPC"/>
                  </a:rPr>
                  <a:t>mechanism</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creation</a:t>
                </a:r>
                <a:r>
                  <a:rPr lang="es-PE" sz="900" b="0" i="0" dirty="0">
                    <a:solidFill>
                      <a:schemeClr val="tx1"/>
                    </a:solidFill>
                    <a:effectLst/>
                    <a:latin typeface="Segoe WPC"/>
                  </a:rPr>
                  <a:t>/</a:t>
                </a:r>
                <a:r>
                  <a:rPr lang="es-PE" sz="900" b="0" i="0" dirty="0" err="1">
                    <a:solidFill>
                      <a:schemeClr val="tx1"/>
                    </a:solidFill>
                    <a:effectLst/>
                    <a:latin typeface="Segoe WPC"/>
                  </a:rPr>
                  <a:t>redemption</a:t>
                </a:r>
                <a:r>
                  <a:rPr lang="es-PE" sz="900" b="0" i="0" dirty="0">
                    <a:solidFill>
                      <a:schemeClr val="tx1"/>
                    </a:solidFill>
                    <a:effectLst/>
                    <a:latin typeface="Segoe WPC"/>
                  </a:rPr>
                  <a:t> </a:t>
                </a:r>
                <a:r>
                  <a:rPr lang="es-PE" sz="900" b="0" i="0" dirty="0" err="1">
                    <a:solidFill>
                      <a:schemeClr val="tx1"/>
                    </a:solidFill>
                    <a:effectLst/>
                    <a:latin typeface="Segoe WPC"/>
                  </a:rPr>
                  <a:t>arbitrage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ETFs</a:t>
                </a:r>
                <a:r>
                  <a:rPr lang="es-PE" sz="900" b="0" i="0" dirty="0">
                    <a:solidFill>
                      <a:schemeClr val="tx1"/>
                    </a:solidFill>
                    <a:effectLst/>
                    <a:latin typeface="Segoe WPC"/>
                  </a:rPr>
                  <a:t> can be </a:t>
                </a:r>
                <a:r>
                  <a:rPr lang="es-PE" sz="900" b="0" i="0" dirty="0" err="1">
                    <a:solidFill>
                      <a:schemeClr val="tx1"/>
                    </a:solidFill>
                    <a:effectLst/>
                    <a:latin typeface="Segoe WPC"/>
                  </a:rPr>
                  <a:t>traded</a:t>
                </a:r>
                <a:r>
                  <a:rPr lang="es-PE" sz="900" b="0" i="0" dirty="0">
                    <a:solidFill>
                      <a:schemeClr val="tx1"/>
                    </a:solidFill>
                    <a:effectLst/>
                    <a:latin typeface="Segoe WPC"/>
                  </a:rPr>
                  <a:t> </a:t>
                </a:r>
                <a:r>
                  <a:rPr lang="es-PE" sz="900" b="0" i="0" dirty="0" err="1">
                    <a:solidFill>
                      <a:schemeClr val="tx1"/>
                    </a:solidFill>
                    <a:effectLst/>
                    <a:latin typeface="Segoe WPC"/>
                  </a:rPr>
                  <a:t>intraday</a:t>
                </a:r>
                <a:r>
                  <a:rPr lang="es-PE" sz="900" b="0" i="0" dirty="0">
                    <a:solidFill>
                      <a:schemeClr val="tx1"/>
                    </a:solidFill>
                    <a:effectLst/>
                    <a:latin typeface="Segoe WPC"/>
                  </a:rPr>
                  <a:t>, </a:t>
                </a:r>
                <a:r>
                  <a:rPr lang="es-PE" sz="900" b="0" i="0" dirty="0" err="1">
                    <a:solidFill>
                      <a:schemeClr val="tx1"/>
                    </a:solidFill>
                    <a:effectLst/>
                    <a:latin typeface="Segoe WPC"/>
                  </a:rPr>
                  <a:t>shorted</a:t>
                </a:r>
                <a:r>
                  <a:rPr lang="es-PE" sz="900" b="0" i="0" dirty="0">
                    <a:solidFill>
                      <a:schemeClr val="tx1"/>
                    </a:solidFill>
                    <a:effectLst/>
                    <a:latin typeface="Segoe WPC"/>
                  </a:rPr>
                  <a:t>, and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require</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liquidity</a:t>
                </a:r>
                <a:r>
                  <a:rPr lang="es-PE" sz="900" b="0" i="0" dirty="0">
                    <a:solidFill>
                      <a:schemeClr val="tx1"/>
                    </a:solidFill>
                    <a:effectLst/>
                    <a:latin typeface="Segoe WPC"/>
                  </a:rPr>
                  <a:t> buffers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retail</a:t>
                </a:r>
                <a:r>
                  <a:rPr lang="es-PE" sz="900" b="0" i="0" dirty="0">
                    <a:solidFill>
                      <a:schemeClr val="tx1"/>
                    </a:solidFill>
                    <a:effectLst/>
                    <a:latin typeface="Segoe WPC"/>
                  </a:rPr>
                  <a:t> </a:t>
                </a:r>
                <a:r>
                  <a:rPr lang="es-PE" sz="900" b="0" i="0" dirty="0" err="1">
                    <a:solidFill>
                      <a:schemeClr val="tx1"/>
                    </a:solidFill>
                    <a:effectLst/>
                    <a:latin typeface="Segoe WPC"/>
                  </a:rPr>
                  <a:t>redemptions</a:t>
                </a:r>
                <a:r>
                  <a:rPr lang="es-PE" sz="900" b="0" i="0" dirty="0">
                    <a:solidFill>
                      <a:schemeClr val="tx1"/>
                    </a:solidFill>
                    <a:effectLst/>
                    <a:latin typeface="Segoe WPC"/>
                  </a:rPr>
                  <a:t>, </a:t>
                </a:r>
                <a:r>
                  <a:rPr lang="es-PE" sz="900" b="0" i="0" dirty="0" err="1">
                    <a:solidFill>
                      <a:schemeClr val="tx1"/>
                    </a:solidFill>
                    <a:effectLst/>
                    <a:latin typeface="Segoe WPC"/>
                  </a:rPr>
                  <a:t>yet</a:t>
                </a:r>
                <a:r>
                  <a:rPr lang="es-PE" sz="900" b="0" i="0" dirty="0">
                    <a:solidFill>
                      <a:schemeClr val="tx1"/>
                    </a:solidFill>
                    <a:effectLst/>
                    <a:latin typeface="Segoe WPC"/>
                  </a:rPr>
                  <a:t> </a:t>
                </a:r>
                <a:r>
                  <a:rPr lang="es-PE" sz="900" b="0" i="0" dirty="0" err="1">
                    <a:solidFill>
                      <a:schemeClr val="tx1"/>
                    </a:solidFill>
                    <a:effectLst/>
                    <a:latin typeface="Segoe WPC"/>
                  </a:rPr>
                  <a:t>unlike</a:t>
                </a:r>
                <a:r>
                  <a:rPr lang="es-PE" sz="900" b="0" i="0" dirty="0">
                    <a:solidFill>
                      <a:schemeClr val="tx1"/>
                    </a:solidFill>
                    <a:effectLst/>
                    <a:latin typeface="Segoe WPC"/>
                  </a:rPr>
                  <a:t> </a:t>
                </a:r>
                <a:r>
                  <a:rPr lang="es-PE" sz="900" b="0" i="0" dirty="0" err="1">
                    <a:solidFill>
                      <a:schemeClr val="tx1"/>
                    </a:solidFill>
                    <a:effectLst/>
                    <a:latin typeface="Segoe WPC"/>
                  </a:rPr>
                  <a:t>closed-end</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trade</a:t>
                </a:r>
                <a:r>
                  <a:rPr lang="es-PE" sz="900" b="0" i="0" dirty="0">
                    <a:solidFill>
                      <a:schemeClr val="tx1"/>
                    </a:solidFill>
                    <a:effectLst/>
                    <a:latin typeface="Segoe WPC"/>
                  </a:rPr>
                  <a:t> at </a:t>
                </a:r>
                <a:r>
                  <a:rPr lang="es-PE" sz="900" b="0" i="0" dirty="0" err="1">
                    <a:solidFill>
                      <a:schemeClr val="tx1"/>
                    </a:solidFill>
                    <a:effectLst/>
                    <a:latin typeface="Segoe WPC"/>
                  </a:rPr>
                  <a:t>persistent</a:t>
                </a:r>
                <a:r>
                  <a:rPr lang="es-PE" sz="900" b="0" i="0" dirty="0">
                    <a:solidFill>
                      <a:schemeClr val="tx1"/>
                    </a:solidFill>
                    <a:effectLst/>
                    <a:latin typeface="Segoe WPC"/>
                  </a:rPr>
                  <a:t> </a:t>
                </a:r>
                <a:r>
                  <a:rPr lang="es-PE" sz="900" b="0" i="0" dirty="0" err="1">
                    <a:solidFill>
                      <a:schemeClr val="tx1"/>
                    </a:solidFill>
                    <a:effectLst/>
                    <a:latin typeface="Segoe WPC"/>
                  </a:rPr>
                  <a:t>discounts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premiums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NAV. </a:t>
                </a:r>
                <a:r>
                  <a:rPr lang="es-PE" sz="900" b="0" i="0" dirty="0" err="1">
                    <a:solidFill>
                      <a:schemeClr val="tx1"/>
                    </a:solidFill>
                    <a:effectLst/>
                    <a:latin typeface="Segoe WPC"/>
                  </a:rPr>
                  <a:t>Some</a:t>
                </a:r>
                <a:r>
                  <a:rPr lang="es-PE" sz="900" b="0" i="0" dirty="0">
                    <a:solidFill>
                      <a:schemeClr val="tx1"/>
                    </a:solidFill>
                    <a:effectLst/>
                    <a:latin typeface="Segoe WPC"/>
                  </a:rPr>
                  <a:t> are </a:t>
                </a:r>
                <a:r>
                  <a:rPr lang="es-PE" sz="900" b="0" i="0" dirty="0" err="1">
                    <a:solidFill>
                      <a:schemeClr val="tx1"/>
                    </a:solidFill>
                    <a:effectLst/>
                    <a:latin typeface="Segoe WPC"/>
                  </a:rPr>
                  <a:t>passive</a:t>
                </a:r>
                <a:r>
                  <a:rPr lang="es-PE" sz="900" b="0" i="0" dirty="0">
                    <a:solidFill>
                      <a:schemeClr val="tx1"/>
                    </a:solidFill>
                    <a:effectLst/>
                    <a:latin typeface="Segoe WPC"/>
                  </a:rPr>
                  <a:t> and </a:t>
                </a:r>
                <a:r>
                  <a:rPr lang="es-PE" sz="900" b="0" i="0" dirty="0" err="1">
                    <a:solidFill>
                      <a:schemeClr val="tx1"/>
                    </a:solidFill>
                    <a:effectLst/>
                    <a:latin typeface="Segoe WPC"/>
                  </a:rPr>
                  <a:t>some</a:t>
                </a:r>
                <a:r>
                  <a:rPr lang="es-PE" sz="900" b="0" i="0" dirty="0">
                    <a:solidFill>
                      <a:schemeClr val="tx1"/>
                    </a:solidFill>
                    <a:effectLst/>
                    <a:latin typeface="Segoe WPC"/>
                  </a:rPr>
                  <a:t> are active, </a:t>
                </a:r>
                <a:r>
                  <a:rPr lang="es-PE" sz="900" b="0" i="0" dirty="0" err="1">
                    <a:solidFill>
                      <a:schemeClr val="tx1"/>
                    </a:solidFill>
                    <a:effectLst/>
                    <a:latin typeface="Segoe WPC"/>
                  </a:rPr>
                  <a:t>though</a:t>
                </a:r>
                <a:r>
                  <a:rPr lang="es-PE" sz="900" b="0" i="0" dirty="0">
                    <a:solidFill>
                      <a:schemeClr val="tx1"/>
                    </a:solidFill>
                    <a:effectLst/>
                    <a:latin typeface="Segoe WPC"/>
                  </a:rPr>
                  <a:t> active </a:t>
                </a:r>
                <a:r>
                  <a:rPr lang="es-PE" sz="900" b="0" i="0" dirty="0" err="1">
                    <a:solidFill>
                      <a:schemeClr val="tx1"/>
                    </a:solidFill>
                    <a:effectLst/>
                    <a:latin typeface="Segoe WPC"/>
                  </a:rPr>
                  <a:t>ETFs</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disclose</a:t>
                </a:r>
                <a:r>
                  <a:rPr lang="es-PE" sz="900" b="0" i="0" dirty="0">
                    <a:solidFill>
                      <a:schemeClr val="tx1"/>
                    </a:solidFill>
                    <a:effectLst/>
                    <a:latin typeface="Segoe WPC"/>
                  </a:rPr>
                  <a:t> holdings more </a:t>
                </a:r>
                <a:r>
                  <a:rPr lang="es-PE" sz="900" b="0" i="0" dirty="0" err="1">
                    <a:solidFill>
                      <a:schemeClr val="tx1"/>
                    </a:solidFill>
                    <a:effectLst/>
                    <a:latin typeface="Segoe WPC"/>
                  </a:rPr>
                  <a:t>frequently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ETFs</a:t>
                </a:r>
                <a:r>
                  <a:rPr lang="es-PE" sz="900" b="0" i="0" dirty="0">
                    <a:solidFill>
                      <a:schemeClr val="tx1"/>
                    </a:solidFill>
                    <a:effectLst/>
                    <a:latin typeface="Segoe WPC"/>
                  </a:rPr>
                  <a:t> are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as </a:t>
                </a:r>
                <a:r>
                  <a:rPr lang="es-PE" sz="900" b="0" i="0" dirty="0" err="1">
                    <a:solidFill>
                      <a:schemeClr val="tx1"/>
                    </a:solidFill>
                    <a:effectLst/>
                    <a:latin typeface="Segoe WPC"/>
                  </a:rPr>
                  <a:t>index</a:t>
                </a:r>
                <a:r>
                  <a:rPr lang="es-PE" sz="900" b="0" i="0" dirty="0">
                    <a:solidFill>
                      <a:schemeClr val="tx1"/>
                    </a:solidFill>
                    <a:effectLst/>
                    <a:latin typeface="Segoe WPC"/>
                  </a:rPr>
                  <a:t> mutual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track</a:t>
                </a:r>
                <a:r>
                  <a:rPr lang="es-PE" sz="900" b="0" i="0" dirty="0">
                    <a:solidFill>
                      <a:schemeClr val="tx1"/>
                    </a:solidFill>
                    <a:effectLst/>
                    <a:latin typeface="Segoe WPC"/>
                  </a:rPr>
                  <a:t> indexes, </a:t>
                </a:r>
                <a:r>
                  <a:rPr lang="es-PE" sz="900" b="0" i="0" dirty="0" err="1">
                    <a:solidFill>
                      <a:schemeClr val="tx1"/>
                    </a:solidFill>
                    <a:effectLst/>
                    <a:latin typeface="Segoe WPC"/>
                  </a:rPr>
                  <a:t>but</a:t>
                </a:r>
                <a:r>
                  <a:rPr lang="es-PE" sz="900" b="0" i="0" dirty="0">
                    <a:solidFill>
                      <a:schemeClr val="tx1"/>
                    </a:solidFill>
                    <a:effectLst/>
                    <a:latin typeface="Segoe WPC"/>
                  </a:rPr>
                  <a:t> ETF shares </a:t>
                </a:r>
                <a:r>
                  <a:rPr lang="es-PE" sz="900" b="0" i="0" dirty="0" err="1">
                    <a:solidFill>
                      <a:schemeClr val="tx1"/>
                    </a:solidFill>
                    <a:effectLst/>
                    <a:latin typeface="Segoe WPC"/>
                  </a:rPr>
                  <a:t>trade</a:t>
                </a:r>
                <a:r>
                  <a:rPr lang="es-PE" sz="900" b="0" i="0" dirty="0">
                    <a:solidFill>
                      <a:schemeClr val="tx1"/>
                    </a:solidFill>
                    <a:effectLst/>
                    <a:latin typeface="Segoe WPC"/>
                  </a:rPr>
                  <a:t> </a:t>
                </a:r>
                <a:r>
                  <a:rPr lang="es-PE" sz="900" b="0" i="0" dirty="0" err="1">
                    <a:solidFill>
                      <a:schemeClr val="tx1"/>
                    </a:solidFill>
                    <a:effectLst/>
                    <a:latin typeface="Segoe WPC"/>
                  </a:rPr>
                  <a:t>continuously</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exchanges</a:t>
                </a:r>
                <a:r>
                  <a:rPr lang="es-PE" sz="900" b="0" i="0" dirty="0">
                    <a:solidFill>
                      <a:schemeClr val="tx1"/>
                    </a:solidFill>
                    <a:effectLst/>
                    <a:latin typeface="Segoe WPC"/>
                  </a:rPr>
                  <a:t>.</a:t>
                </a:r>
              </a:p>
            </p:txBody>
          </p:sp>
        </mc:Choice>
        <mc:Fallback xmlns="">
          <p:sp>
            <p:nvSpPr>
              <p:cNvPr id="4" name="CuadroTexto 3">
                <a:extLst>
                  <a:ext uri="{FF2B5EF4-FFF2-40B4-BE49-F238E27FC236}">
                    <a16:creationId xmlns:a16="http://schemas.microsoft.com/office/drawing/2014/main" id="{E1E2FB8C-1B69-377C-98C8-1B2B4C7AC3FB}"/>
                  </a:ext>
                </a:extLst>
              </p:cNvPr>
              <p:cNvSpPr txBox="1">
                <a:spLocks noRot="1" noChangeAspect="1" noMove="1" noResize="1" noEditPoints="1" noAdjustHandles="1" noChangeArrowheads="1" noChangeShapeType="1" noTextEdit="1"/>
              </p:cNvSpPr>
              <p:nvPr/>
            </p:nvSpPr>
            <p:spPr>
              <a:xfrm>
                <a:off x="-58056" y="175537"/>
                <a:ext cx="6154056" cy="7058279"/>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3A44C59E-269B-CC15-8E0A-D282602040CF}"/>
                  </a:ext>
                </a:extLst>
              </p:cNvPr>
              <p:cNvSpPr txBox="1"/>
              <p:nvPr/>
            </p:nvSpPr>
            <p:spPr>
              <a:xfrm>
                <a:off x="5929086" y="-81416"/>
                <a:ext cx="6342743" cy="8371523"/>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6. </a:t>
                </a:r>
                <a:r>
                  <a:rPr lang="es-PE" sz="900" b="1" i="0" dirty="0" err="1">
                    <a:solidFill>
                      <a:schemeClr val="tx1"/>
                    </a:solidFill>
                    <a:effectLst/>
                    <a:latin typeface="Segoe WPC"/>
                  </a:rPr>
                  <a:t>Hedge</a:t>
                </a:r>
                <a:r>
                  <a:rPr lang="es-PE" sz="900" b="1" i="0" dirty="0">
                    <a:solidFill>
                      <a:schemeClr val="tx1"/>
                    </a:solidFill>
                    <a:effectLst/>
                    <a:latin typeface="Segoe WPC"/>
                  </a:rPr>
                  <a:t> </a:t>
                </a:r>
                <a:r>
                  <a:rPr lang="es-PE" sz="900" b="1" i="0" dirty="0" err="1">
                    <a:solidFill>
                      <a:schemeClr val="tx1"/>
                    </a:solidFill>
                    <a:effectLst/>
                    <a:latin typeface="Segoe WPC"/>
                  </a:rPr>
                  <a:t>Funds</a:t>
                </a:r>
                <a:r>
                  <a:rPr lang="es-PE" sz="900" b="1" i="0" dirty="0">
                    <a:solidFill>
                      <a:schemeClr val="tx1"/>
                    </a:solidFill>
                    <a:effectLst/>
                    <a:latin typeface="Segoe WPC"/>
                  </a:rPr>
                  <a:t> and Incentive Fees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Less-regulated</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flexible </a:t>
                </a:r>
                <a:r>
                  <a:rPr lang="es-PE" sz="900" b="0" i="0" dirty="0" err="1">
                    <a:solidFill>
                      <a:schemeClr val="tx1"/>
                    </a:solidFill>
                    <a:effectLst/>
                    <a:latin typeface="Segoe WPC"/>
                  </a:rPr>
                  <a:t>strategies</a:t>
                </a:r>
                <a:r>
                  <a:rPr lang="es-PE" sz="900" b="0" i="0" dirty="0">
                    <a:solidFill>
                      <a:schemeClr val="tx1"/>
                    </a:solidFill>
                    <a:effectLst/>
                    <a:latin typeface="Segoe WPC"/>
                  </a:rPr>
                  <a:t> and performance-</a:t>
                </a:r>
                <a:r>
                  <a:rPr lang="es-PE" sz="900" b="0" i="0" dirty="0" err="1">
                    <a:solidFill>
                      <a:schemeClr val="tx1"/>
                    </a:solidFill>
                    <a:effectLst/>
                    <a:latin typeface="Segoe WPC"/>
                  </a:rPr>
                  <a:t>based</a:t>
                </a:r>
                <a:r>
                  <a:rPr lang="es-PE" sz="900" b="0" i="0" dirty="0">
                    <a:solidFill>
                      <a:schemeClr val="tx1"/>
                    </a:solidFill>
                    <a:effectLst/>
                    <a:latin typeface="Segoe WPC"/>
                  </a:rPr>
                  <a:t> </a:t>
                </a:r>
                <a:r>
                  <a:rPr lang="es-PE" sz="900" b="0" i="0" dirty="0" err="1">
                    <a:solidFill>
                      <a:schemeClr val="tx1"/>
                    </a:solidFill>
                    <a:effectLst/>
                    <a:latin typeface="Segoe WPC"/>
                  </a:rPr>
                  <a:t>compensation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impose</a:t>
                </a:r>
                <a:r>
                  <a:rPr lang="es-PE" sz="900" b="0" i="0" dirty="0">
                    <a:solidFill>
                      <a:schemeClr val="tx1"/>
                    </a:solidFill>
                    <a:effectLst/>
                    <a:latin typeface="Segoe WPC"/>
                  </a:rPr>
                  <a:t> </a:t>
                </a:r>
                <a:r>
                  <a:rPr lang="es-PE" sz="900" b="0" i="0" dirty="0" err="1">
                    <a:solidFill>
                      <a:schemeClr val="tx1"/>
                    </a:solidFill>
                    <a:effectLst/>
                    <a:latin typeface="Segoe WPC"/>
                  </a:rPr>
                  <a:t>lockups</a:t>
                </a:r>
                <a:r>
                  <a:rPr lang="es-PE" sz="900" b="0" i="0" dirty="0">
                    <a:solidFill>
                      <a:schemeClr val="tx1"/>
                    </a:solidFill>
                    <a:effectLst/>
                    <a:latin typeface="Segoe WPC"/>
                  </a:rPr>
                  <a:t>, use </a:t>
                </a:r>
                <a:r>
                  <a:rPr lang="es-PE" sz="900" b="0" i="0" dirty="0" err="1">
                    <a:solidFill>
                      <a:schemeClr val="tx1"/>
                    </a:solidFill>
                    <a:effectLst/>
                    <a:latin typeface="Segoe WPC"/>
                  </a:rPr>
                  <a:t>leverage</a:t>
                </a:r>
                <a:r>
                  <a:rPr lang="es-PE" sz="900" b="0" i="0" dirty="0">
                    <a:solidFill>
                      <a:schemeClr val="tx1"/>
                    </a:solidFill>
                    <a:effectLst/>
                    <a:latin typeface="Segoe WPC"/>
                  </a:rPr>
                  <a:t>, </a:t>
                </a:r>
                <a:r>
                  <a:rPr lang="es-PE" sz="900" b="0" i="0" dirty="0" err="1">
                    <a:solidFill>
                      <a:schemeClr val="tx1"/>
                    </a:solidFill>
                    <a:effectLst/>
                    <a:latin typeface="Segoe WPC"/>
                  </a:rPr>
                  <a:t>disclose</a:t>
                </a:r>
                <a:r>
                  <a:rPr lang="es-PE" sz="900" b="0" i="0" dirty="0">
                    <a:solidFill>
                      <a:schemeClr val="tx1"/>
                    </a:solidFill>
                    <a:effectLst/>
                    <a:latin typeface="Segoe WPC"/>
                  </a:rPr>
                  <a:t> </a:t>
                </a:r>
                <a:r>
                  <a:rPr lang="es-PE" sz="900" b="0" i="0" dirty="0" err="1">
                    <a:solidFill>
                      <a:schemeClr val="tx1"/>
                    </a:solidFill>
                    <a:effectLst/>
                    <a:latin typeface="Segoe WPC"/>
                  </a:rPr>
                  <a:t>less</a:t>
                </a:r>
                <a:r>
                  <a:rPr lang="es-PE" sz="900" b="0" i="0" dirty="0">
                    <a:solidFill>
                      <a:schemeClr val="tx1"/>
                    </a:solidFill>
                    <a:effectLst/>
                    <a:latin typeface="Segoe WPC"/>
                  </a:rPr>
                  <a:t>, and </a:t>
                </a:r>
                <a:r>
                  <a:rPr lang="es-PE" sz="900" b="0" i="0" dirty="0" err="1">
                    <a:solidFill>
                      <a:schemeClr val="tx1"/>
                    </a:solidFill>
                    <a:effectLst/>
                    <a:latin typeface="Segoe WPC"/>
                  </a:rPr>
                  <a:t>charge</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management</a:t>
                </a:r>
                <a:r>
                  <a:rPr lang="es-PE" sz="900" b="0" i="0" dirty="0">
                    <a:solidFill>
                      <a:schemeClr val="tx1"/>
                    </a:solidFill>
                    <a:effectLst/>
                    <a:latin typeface="Segoe WPC"/>
                  </a:rPr>
                  <a:t> and incentive fees.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classic</a:t>
                </a:r>
                <a:r>
                  <a:rPr lang="es-PE" sz="900" b="0" i="0" dirty="0">
                    <a:solidFill>
                      <a:schemeClr val="tx1"/>
                    </a:solidFill>
                    <a:effectLst/>
                    <a:latin typeface="Segoe WPC"/>
                  </a:rPr>
                  <a:t> fee </a:t>
                </a:r>
                <a:r>
                  <a:rPr lang="es-PE" sz="900" b="0" i="0" dirty="0" err="1">
                    <a:solidFill>
                      <a:schemeClr val="tx1"/>
                    </a:solidFill>
                    <a:effectLst/>
                    <a:latin typeface="Segoe WPC"/>
                  </a:rPr>
                  <a:t>structure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“2 and 20.”</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Managers </a:t>
                </a:r>
                <a:r>
                  <a:rPr lang="es-PE" sz="900" b="0" i="0" dirty="0" err="1">
                    <a:solidFill>
                      <a:schemeClr val="tx1"/>
                    </a:solidFill>
                    <a:effectLst/>
                    <a:latin typeface="Segoe WPC"/>
                  </a:rPr>
                  <a:t>earn</a:t>
                </a:r>
                <a:r>
                  <a:rPr lang="es-PE" sz="900" b="0" i="0" dirty="0">
                    <a:solidFill>
                      <a:schemeClr val="tx1"/>
                    </a:solidFill>
                    <a:effectLst/>
                    <a:latin typeface="Segoe WPC"/>
                  </a:rPr>
                  <a:t> a </a:t>
                </a:r>
                <a:r>
                  <a:rPr lang="es-PE" sz="900" b="0" i="0" dirty="0" err="1">
                    <a:solidFill>
                      <a:schemeClr val="tx1"/>
                    </a:solidFill>
                    <a:effectLst/>
                    <a:latin typeface="Segoe WPC"/>
                  </a:rPr>
                  <a:t>steady</a:t>
                </a:r>
                <a:r>
                  <a:rPr lang="es-PE" sz="900" b="0" i="0" dirty="0">
                    <a:solidFill>
                      <a:schemeClr val="tx1"/>
                    </a:solidFill>
                    <a:effectLst/>
                    <a:latin typeface="Segoe WPC"/>
                  </a:rPr>
                  <a:t> fee plus a </a:t>
                </a:r>
                <a:r>
                  <a:rPr lang="es-PE" sz="900" b="0" i="0" dirty="0" err="1">
                    <a:solidFill>
                      <a:schemeClr val="tx1"/>
                    </a:solidFill>
                    <a:effectLst/>
                    <a:latin typeface="Segoe WPC"/>
                  </a:rPr>
                  <a:t>call-option-like</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profits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Incentive fee </a:t>
                </a:r>
                <a:r>
                  <a:rPr lang="es-PE" sz="900" b="0" i="0" dirty="0" err="1">
                    <a:solidFill>
                      <a:schemeClr val="tx1"/>
                    </a:solidFill>
                    <a:effectLst/>
                    <a:latin typeface="Segoe WPC"/>
                  </a:rPr>
                  <a:t>under</a:t>
                </a:r>
                <a:r>
                  <a:rPr lang="es-PE" sz="900" b="0" i="0" dirty="0">
                    <a:solidFill>
                      <a:schemeClr val="tx1"/>
                    </a:solidFill>
                    <a:effectLst/>
                    <a:latin typeface="Segoe WPC"/>
                  </a:rPr>
                  <a:t> 2 and 20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0</m:t>
                    </m:r>
                    <m:r>
                      <a:rPr lang="es-PE" sz="900">
                        <a:solidFill>
                          <a:schemeClr val="tx1"/>
                        </a:solidFill>
                        <a:latin typeface="Cambria Math" panose="02040503050406030204" pitchFamily="18" charset="0"/>
                      </a:rPr>
                      <m:t>.</m:t>
                    </m:r>
                    <m:r>
                      <a:rPr lang="es-PE" sz="900">
                        <a:solidFill>
                          <a:schemeClr val="tx1"/>
                        </a:solidFill>
                        <a:latin typeface="Cambria Math" panose="02040503050406030204" pitchFamily="18" charset="0"/>
                      </a:rPr>
                      <m:t>2</m:t>
                    </m:r>
                    <m:r>
                      <a:rPr lang="es-PE" sz="900" i="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𝑅</m:t>
                        </m:r>
                      </m:e>
                      <m:e>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02</m:t>
                        </m:r>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𝐴</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beginning</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and </a:t>
                </a:r>
                <a14:m>
                  <m:oMath xmlns:m="http://schemas.openxmlformats.org/officeDocument/2006/math">
                    <m:r>
                      <a:rPr lang="es-PE" sz="900" i="1">
                        <a:solidFill>
                          <a:schemeClr val="tx1"/>
                        </a:solidFill>
                        <a:latin typeface="Cambria Math" panose="02040503050406030204" pitchFamily="18" charset="0"/>
                      </a:rPr>
                      <m:t>𝑅</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gross</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Incentive fees </a:t>
                </a:r>
                <a:r>
                  <a:rPr lang="es-PE" sz="900" b="0" i="0" dirty="0" err="1">
                    <a:solidFill>
                      <a:schemeClr val="tx1"/>
                    </a:solidFill>
                    <a:effectLst/>
                    <a:latin typeface="Segoe WPC"/>
                  </a:rPr>
                  <a:t>give</a:t>
                </a:r>
                <a:r>
                  <a:rPr lang="es-PE" sz="900" b="0" i="0" dirty="0">
                    <a:solidFill>
                      <a:schemeClr val="tx1"/>
                    </a:solidFill>
                    <a:effectLst/>
                    <a:latin typeface="Segoe WPC"/>
                  </a:rPr>
                  <a:t> managers </a:t>
                </a:r>
                <a:r>
                  <a:rPr lang="es-PE" sz="900" b="0" i="0" dirty="0" err="1">
                    <a:solidFill>
                      <a:schemeClr val="tx1"/>
                    </a:solidFill>
                    <a:effectLst/>
                    <a:latin typeface="Segoe WPC"/>
                  </a:rPr>
                  <a:t>upside</a:t>
                </a:r>
                <a:r>
                  <a:rPr lang="es-PE" sz="900" b="0" i="0" dirty="0">
                    <a:solidFill>
                      <a:schemeClr val="tx1"/>
                    </a:solidFill>
                    <a:effectLst/>
                    <a:latin typeface="Segoe WPC"/>
                  </a:rPr>
                  <a:t> </a:t>
                </a:r>
                <a:r>
                  <a:rPr lang="es-PE" sz="900" b="0" i="0" dirty="0" err="1">
                    <a:solidFill>
                      <a:schemeClr val="tx1"/>
                    </a:solidFill>
                    <a:effectLst/>
                    <a:latin typeface="Segoe WPC"/>
                  </a:rPr>
                  <a:t>without</a:t>
                </a:r>
                <a:r>
                  <a:rPr lang="es-PE" sz="900" b="0" i="0" dirty="0">
                    <a:solidFill>
                      <a:schemeClr val="tx1"/>
                    </a:solidFill>
                    <a:effectLst/>
                    <a:latin typeface="Segoe WPC"/>
                  </a:rPr>
                  <a:t> comparable </a:t>
                </a:r>
                <a:r>
                  <a:rPr lang="es-PE" sz="900" b="0" i="0" dirty="0" err="1">
                    <a:solidFill>
                      <a:schemeClr val="tx1"/>
                    </a:solidFill>
                    <a:effectLst/>
                    <a:latin typeface="Segoe WPC"/>
                  </a:rPr>
                  <a:t>downside</a:t>
                </a:r>
                <a:r>
                  <a:rPr lang="es-PE" sz="900" b="0" i="0" dirty="0">
                    <a:solidFill>
                      <a:schemeClr val="tx1"/>
                    </a:solidFill>
                    <a:effectLst/>
                    <a:latin typeface="Segoe WPC"/>
                  </a:rPr>
                  <a:t>, so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encourage</a:t>
                </a:r>
                <a:r>
                  <a:rPr lang="es-PE" sz="900" b="0" i="0" dirty="0">
                    <a:solidFill>
                      <a:schemeClr val="tx1"/>
                    </a:solidFill>
                    <a:effectLst/>
                    <a:latin typeface="Segoe WPC"/>
                  </a:rPr>
                  <a:t> </a:t>
                </a:r>
                <a:r>
                  <a:rPr lang="es-PE" sz="900" b="0" i="0" dirty="0" err="1">
                    <a:solidFill>
                      <a:schemeClr val="tx1"/>
                    </a:solidFill>
                    <a:effectLst/>
                    <a:latin typeface="Segoe WPC"/>
                  </a:rPr>
                  <a:t>excessive</a:t>
                </a:r>
                <a:r>
                  <a:rPr lang="es-PE" sz="900" b="0" i="0" dirty="0">
                    <a:solidFill>
                      <a:schemeClr val="tx1"/>
                    </a:solidFill>
                    <a:effectLst/>
                    <a:latin typeface="Segoe WPC"/>
                  </a:rPr>
                  <a:t> </a:t>
                </a:r>
                <a:r>
                  <a:rPr lang="es-PE" sz="900" b="0" i="0" dirty="0" err="1">
                    <a:solidFill>
                      <a:schemeClr val="tx1"/>
                    </a:solidFill>
                    <a:effectLst/>
                    <a:latin typeface="Segoe WPC"/>
                  </a:rPr>
                  <a:t>risk-taking</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 </a:t>
                </a:r>
                <a:r>
                  <a:rPr lang="es-PE" sz="900" b="0" i="0" dirty="0" err="1">
                    <a:solidFill>
                      <a:schemeClr val="tx1"/>
                    </a:solidFill>
                    <a:effectLst/>
                    <a:latin typeface="Segoe WPC"/>
                  </a:rPr>
                  <a:t>therefore</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require</a:t>
                </a:r>
                <a:r>
                  <a:rPr lang="es-PE" sz="900" b="0" i="0" dirty="0">
                    <a:solidFill>
                      <a:schemeClr val="tx1"/>
                    </a:solidFill>
                    <a:effectLst/>
                    <a:latin typeface="Segoe WPC"/>
                  </a:rPr>
                  <a:t> </a:t>
                </a:r>
                <a:r>
                  <a:rPr lang="es-PE" sz="900" b="0" i="0" dirty="0" err="1">
                    <a:solidFill>
                      <a:schemeClr val="tx1"/>
                    </a:solidFill>
                    <a:effectLst/>
                    <a:latin typeface="Segoe WPC"/>
                  </a:rPr>
                  <a:t>protections</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a:t>
                </a:r>
                <a:r>
                  <a:rPr lang="es-PE" sz="900" b="0" i="0" dirty="0" err="1">
                    <a:solidFill>
                      <a:schemeClr val="tx1"/>
                    </a:solidFill>
                    <a:effectLst/>
                    <a:latin typeface="Segoe WPC"/>
                  </a:rPr>
                  <a:t>hurdle</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high-water</a:t>
                </a:r>
                <a:r>
                  <a:rPr lang="es-PE" sz="900" b="0" i="0" dirty="0">
                    <a:solidFill>
                      <a:schemeClr val="tx1"/>
                    </a:solidFill>
                    <a:effectLst/>
                    <a:latin typeface="Segoe WPC"/>
                  </a:rPr>
                  <a:t> </a:t>
                </a:r>
                <a:r>
                  <a:rPr lang="es-PE" sz="900" b="0" i="0" dirty="0" err="1">
                    <a:solidFill>
                      <a:schemeClr val="tx1"/>
                    </a:solidFill>
                    <a:effectLst/>
                    <a:latin typeface="Segoe WPC"/>
                  </a:rPr>
                  <a:t>marks</a:t>
                </a:r>
                <a:r>
                  <a:rPr lang="es-PE" sz="900" b="0" i="0" dirty="0">
                    <a:solidFill>
                      <a:schemeClr val="tx1"/>
                    </a:solidFill>
                    <a:effectLst/>
                    <a:latin typeface="Segoe WPC"/>
                  </a:rPr>
                  <a:t>, </a:t>
                </a:r>
                <a:r>
                  <a:rPr lang="es-PE" sz="900" b="0" i="0" dirty="0" err="1">
                    <a:solidFill>
                      <a:schemeClr val="tx1"/>
                    </a:solidFill>
                    <a:effectLst/>
                    <a:latin typeface="Segoe WPC"/>
                  </a:rPr>
                  <a:t>proportional</a:t>
                </a:r>
                <a:r>
                  <a:rPr lang="es-PE" sz="900" b="0" i="0" dirty="0">
                    <a:solidFill>
                      <a:schemeClr val="tx1"/>
                    </a:solidFill>
                    <a:effectLst/>
                    <a:latin typeface="Segoe WPC"/>
                  </a:rPr>
                  <a:t> </a:t>
                </a:r>
                <a:r>
                  <a:rPr lang="es-PE" sz="900" b="0" i="0" dirty="0" err="1">
                    <a:solidFill>
                      <a:schemeClr val="tx1"/>
                    </a:solidFill>
                    <a:effectLst/>
                    <a:latin typeface="Segoe WPC"/>
                  </a:rPr>
                  <a:t>adjustment</a:t>
                </a:r>
                <a:r>
                  <a:rPr lang="es-PE" sz="900" b="0" i="0" dirty="0">
                    <a:solidFill>
                      <a:schemeClr val="tx1"/>
                    </a:solidFill>
                    <a:effectLst/>
                    <a:latin typeface="Segoe WPC"/>
                  </a:rPr>
                  <a:t> </a:t>
                </a:r>
                <a:r>
                  <a:rPr lang="es-PE" sz="900" b="0" i="0" dirty="0" err="1">
                    <a:solidFill>
                      <a:schemeClr val="tx1"/>
                    </a:solidFill>
                    <a:effectLst/>
                    <a:latin typeface="Segoe WPC"/>
                  </a:rPr>
                  <a:t>clauses</a:t>
                </a:r>
                <a:r>
                  <a:rPr lang="es-PE" sz="900" b="0" i="0" dirty="0">
                    <a:solidFill>
                      <a:schemeClr val="tx1"/>
                    </a:solidFill>
                    <a:effectLst/>
                    <a:latin typeface="Segoe WPC"/>
                  </a:rPr>
                  <a:t>, and </a:t>
                </a:r>
                <a:r>
                  <a:rPr lang="es-PE" sz="900" b="0" i="0" dirty="0" err="1">
                    <a:solidFill>
                      <a:schemeClr val="tx1"/>
                    </a:solidFill>
                    <a:effectLst/>
                    <a:latin typeface="Segoe WPC"/>
                  </a:rPr>
                  <a:t>clawbacks</a:t>
                </a:r>
                <a:r>
                  <a:rPr lang="es-PE" sz="900" b="0" i="0" dirty="0">
                    <a:solidFill>
                      <a:schemeClr val="tx1"/>
                    </a:solidFill>
                    <a:effectLst/>
                    <a:latin typeface="Segoe WPC"/>
                  </a:rPr>
                  <a:t>. Prime </a:t>
                </a:r>
                <a:r>
                  <a:rPr lang="es-PE" sz="900" b="0" i="0" dirty="0" err="1">
                    <a:solidFill>
                      <a:schemeClr val="tx1"/>
                    </a:solidFill>
                    <a:effectLst/>
                    <a:latin typeface="Segoe WPC"/>
                  </a:rPr>
                  <a:t>brokers</a:t>
                </a:r>
                <a:r>
                  <a:rPr lang="es-PE" sz="900" b="0" i="0" dirty="0">
                    <a:solidFill>
                      <a:schemeClr val="tx1"/>
                    </a:solidFill>
                    <a:effectLst/>
                    <a:latin typeface="Segoe WPC"/>
                  </a:rPr>
                  <a:t> </a:t>
                </a:r>
                <a:r>
                  <a:rPr lang="es-PE" sz="900" b="0" i="0" dirty="0" err="1">
                    <a:solidFill>
                      <a:schemeClr val="tx1"/>
                    </a:solidFill>
                    <a:effectLst/>
                    <a:latin typeface="Segoe WPC"/>
                  </a:rPr>
                  <a:t>provide</a:t>
                </a:r>
                <a:r>
                  <a:rPr lang="es-PE" sz="900" b="0" i="0" dirty="0">
                    <a:solidFill>
                      <a:schemeClr val="tx1"/>
                    </a:solidFill>
                    <a:effectLst/>
                    <a:latin typeface="Segoe WPC"/>
                  </a:rPr>
                  <a:t> </a:t>
                </a:r>
                <a:r>
                  <a:rPr lang="es-PE" sz="900" b="0" i="0" dirty="0" err="1">
                    <a:solidFill>
                      <a:schemeClr val="tx1"/>
                    </a:solidFill>
                    <a:effectLst/>
                    <a:latin typeface="Segoe WPC"/>
                  </a:rPr>
                  <a:t>financing</a:t>
                </a:r>
                <a:r>
                  <a:rPr lang="es-PE" sz="900" b="0" i="0" dirty="0">
                    <a:solidFill>
                      <a:schemeClr val="tx1"/>
                    </a:solidFill>
                    <a:effectLst/>
                    <a:latin typeface="Segoe WPC"/>
                  </a:rPr>
                  <a:t>, </a:t>
                </a:r>
                <a:r>
                  <a:rPr lang="es-PE" sz="900" b="0" i="0" dirty="0" err="1">
                    <a:solidFill>
                      <a:schemeClr val="tx1"/>
                    </a:solidFill>
                    <a:effectLst/>
                    <a:latin typeface="Segoe WPC"/>
                  </a:rPr>
                  <a:t>execution</a:t>
                </a:r>
                <a:r>
                  <a:rPr lang="es-PE" sz="900" b="0" i="0" dirty="0">
                    <a:solidFill>
                      <a:schemeClr val="tx1"/>
                    </a:solidFill>
                    <a:effectLst/>
                    <a:latin typeface="Segoe WPC"/>
                  </a:rPr>
                  <a:t>, </a:t>
                </a:r>
                <a:r>
                  <a:rPr lang="es-PE" sz="900" b="0" i="0" dirty="0" err="1">
                    <a:solidFill>
                      <a:schemeClr val="tx1"/>
                    </a:solidFill>
                    <a:effectLst/>
                    <a:latin typeface="Segoe WPC"/>
                  </a:rPr>
                  <a:t>shorting</a:t>
                </a:r>
                <a:r>
                  <a:rPr lang="es-PE" sz="900" b="0" i="0" dirty="0">
                    <a:solidFill>
                      <a:schemeClr val="tx1"/>
                    </a:solidFill>
                    <a:effectLst/>
                    <a:latin typeface="Segoe WPC"/>
                  </a:rPr>
                  <a:t>, </a:t>
                </a:r>
                <a:r>
                  <a:rPr lang="es-PE" sz="900" b="0" i="0" dirty="0" err="1">
                    <a:solidFill>
                      <a:schemeClr val="tx1"/>
                    </a:solidFill>
                    <a:effectLst/>
                    <a:latin typeface="Segoe WPC"/>
                  </a:rPr>
                  <a:t>collateral</a:t>
                </a:r>
                <a:r>
                  <a:rPr lang="es-PE" sz="900" b="0" i="0" dirty="0">
                    <a:solidFill>
                      <a:schemeClr val="tx1"/>
                    </a:solidFill>
                    <a:effectLst/>
                    <a:latin typeface="Segoe WPC"/>
                  </a:rPr>
                  <a:t> </a:t>
                </a:r>
                <a:r>
                  <a:rPr lang="es-PE" sz="900" b="0" i="0" dirty="0" err="1">
                    <a:solidFill>
                      <a:schemeClr val="tx1"/>
                    </a:solidFill>
                    <a:effectLst/>
                    <a:latin typeface="Segoe WPC"/>
                  </a:rPr>
                  <a:t>management</a:t>
                </a:r>
                <a:r>
                  <a:rPr lang="es-PE" sz="900" b="0" i="0" dirty="0">
                    <a:solidFill>
                      <a:schemeClr val="tx1"/>
                    </a:solidFill>
                    <a:effectLst/>
                    <a:latin typeface="Segoe WPC"/>
                  </a:rPr>
                  <a:t>, and </a:t>
                </a:r>
                <a:r>
                  <a:rPr lang="es-PE" sz="900" b="0" i="0" dirty="0" err="1">
                    <a:solidFill>
                      <a:schemeClr val="tx1"/>
                    </a:solidFill>
                    <a:effectLst/>
                    <a:latin typeface="Segoe WPC"/>
                  </a:rPr>
                  <a:t>risk</a:t>
                </a:r>
                <a:r>
                  <a:rPr lang="es-PE" sz="900" b="0" i="0" dirty="0">
                    <a:solidFill>
                      <a:schemeClr val="tx1"/>
                    </a:solidFill>
                    <a:effectLst/>
                    <a:latin typeface="Segoe WPC"/>
                  </a:rPr>
                  <a:t> control, </a:t>
                </a:r>
                <a:r>
                  <a:rPr lang="es-PE" sz="900" b="0" i="0" dirty="0" err="1">
                    <a:solidFill>
                      <a:schemeClr val="tx1"/>
                    </a:solidFill>
                    <a:effectLst/>
                    <a:latin typeface="Segoe WPC"/>
                  </a:rPr>
                  <a:t>but</a:t>
                </a:r>
                <a:r>
                  <a:rPr lang="es-PE" sz="900" b="0" i="0" dirty="0">
                    <a:solidFill>
                      <a:schemeClr val="tx1"/>
                    </a:solidFill>
                    <a:effectLst/>
                    <a:latin typeface="Segoe WPC"/>
                  </a:rPr>
                  <a:t> can </a:t>
                </a:r>
                <a:r>
                  <a:rPr lang="es-PE" sz="900" b="0" i="0" dirty="0" err="1">
                    <a:solidFill>
                      <a:schemeClr val="tx1"/>
                    </a:solidFill>
                    <a:effectLst/>
                    <a:latin typeface="Segoe WPC"/>
                  </a:rPr>
                  <a:t>also</a:t>
                </a:r>
                <a:r>
                  <a:rPr lang="es-PE" sz="900" b="0" i="0" dirty="0">
                    <a:solidFill>
                      <a:schemeClr val="tx1"/>
                    </a:solidFill>
                    <a:effectLst/>
                    <a:latin typeface="Segoe WPC"/>
                  </a:rPr>
                  <a:t> </a:t>
                </a:r>
                <a:r>
                  <a:rPr lang="es-PE" sz="900" b="0" i="0" dirty="0" err="1">
                    <a:solidFill>
                      <a:schemeClr val="tx1"/>
                    </a:solidFill>
                    <a:effectLst/>
                    <a:latin typeface="Segoe WPC"/>
                  </a:rPr>
                  <a:t>force</a:t>
                </a:r>
                <a:r>
                  <a:rPr lang="es-PE" sz="900" b="0" i="0" dirty="0">
                    <a:solidFill>
                      <a:schemeClr val="tx1"/>
                    </a:solidFill>
                    <a:effectLst/>
                    <a:latin typeface="Segoe WPC"/>
                  </a:rPr>
                  <a:t> </a:t>
                </a:r>
                <a:r>
                  <a:rPr lang="es-PE" sz="900" b="0" i="0" dirty="0" err="1">
                    <a:solidFill>
                      <a:schemeClr val="tx1"/>
                    </a:solidFill>
                    <a:effectLst/>
                    <a:latin typeface="Segoe WPC"/>
                  </a:rPr>
                  <a:t>deleveraging</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conditions</a:t>
                </a:r>
                <a:r>
                  <a:rPr lang="es-PE" sz="900" b="0" i="0" dirty="0">
                    <a:solidFill>
                      <a:schemeClr val="tx1"/>
                    </a:solidFill>
                    <a:effectLst/>
                    <a:latin typeface="Segoe WPC"/>
                  </a:rPr>
                  <a:t> </a:t>
                </a:r>
                <a:r>
                  <a:rPr lang="es-PE" sz="900" b="0" i="0" dirty="0" err="1">
                    <a:solidFill>
                      <a:schemeClr val="tx1"/>
                    </a:solidFill>
                    <a:effectLst/>
                    <a:latin typeface="Segoe WPC"/>
                  </a:rPr>
                  <a:t>deteriorate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fund</a:t>
                </a:r>
                <a:r>
                  <a:rPr lang="es-PE" sz="900" b="0" i="0" dirty="0">
                    <a:solidFill>
                      <a:schemeClr val="tx1"/>
                    </a:solidFill>
                    <a:effectLst/>
                    <a:latin typeface="Segoe WPC"/>
                  </a:rPr>
                  <a:t> manager can </a:t>
                </a:r>
                <a:r>
                  <a:rPr lang="es-PE" sz="900" b="0" i="0" dirty="0" err="1">
                    <a:solidFill>
                      <a:schemeClr val="tx1"/>
                    </a:solidFill>
                    <a:effectLst/>
                    <a:latin typeface="Segoe WPC"/>
                  </a:rPr>
                  <a:t>benefit</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taking</a:t>
                </a:r>
                <a:r>
                  <a:rPr lang="es-PE" sz="900" b="0" i="0" dirty="0">
                    <a:solidFill>
                      <a:schemeClr val="tx1"/>
                    </a:solidFill>
                    <a:effectLst/>
                    <a:latin typeface="Segoe WPC"/>
                  </a:rPr>
                  <a:t> more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even</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investor</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improve</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7. </a:t>
                </a:r>
                <a:r>
                  <a:rPr lang="es-PE" sz="900" b="1" i="0" dirty="0" err="1">
                    <a:solidFill>
                      <a:schemeClr val="tx1"/>
                    </a:solidFill>
                    <a:effectLst/>
                    <a:latin typeface="Segoe WPC"/>
                  </a:rPr>
                  <a:t>Hedge</a:t>
                </a:r>
                <a:r>
                  <a:rPr lang="es-PE" sz="900" b="1" i="0" dirty="0">
                    <a:solidFill>
                      <a:schemeClr val="tx1"/>
                    </a:solidFill>
                    <a:effectLst/>
                    <a:latin typeface="Segoe WPC"/>
                  </a:rPr>
                  <a:t> </a:t>
                </a:r>
                <a:r>
                  <a:rPr lang="es-PE" sz="900" b="1" i="0" dirty="0" err="1">
                    <a:solidFill>
                      <a:schemeClr val="tx1"/>
                    </a:solidFill>
                    <a:effectLst/>
                    <a:latin typeface="Segoe WPC"/>
                  </a:rPr>
                  <a:t>Fund</a:t>
                </a:r>
                <a:r>
                  <a:rPr lang="es-PE" sz="900" b="1" i="0" dirty="0">
                    <a:solidFill>
                      <a:schemeClr val="tx1"/>
                    </a:solidFill>
                    <a:effectLst/>
                    <a:latin typeface="Segoe WPC"/>
                  </a:rPr>
                  <a:t> </a:t>
                </a:r>
                <a:r>
                  <a:rPr lang="es-PE" sz="900" b="1" i="0" dirty="0" err="1">
                    <a:solidFill>
                      <a:schemeClr val="tx1"/>
                    </a:solidFill>
                    <a:effectLst/>
                    <a:latin typeface="Segoe WPC"/>
                  </a:rPr>
                  <a:t>Strategies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Major</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fund</a:t>
                </a:r>
                <a:r>
                  <a:rPr lang="es-PE" sz="900" b="0" i="0" dirty="0">
                    <a:solidFill>
                      <a:schemeClr val="tx1"/>
                    </a:solidFill>
                    <a:effectLst/>
                    <a:latin typeface="Segoe WPC"/>
                  </a:rPr>
                  <a:t> trading </a:t>
                </a:r>
                <a:r>
                  <a:rPr lang="es-PE" sz="900" b="0" i="0" dirty="0" err="1">
                    <a:solidFill>
                      <a:schemeClr val="tx1"/>
                    </a:solidFill>
                    <a:effectLst/>
                    <a:latin typeface="Segoe WPC"/>
                  </a:rPr>
                  <a:t>styles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pursue</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strategies</a:t>
                </a:r>
                <a:r>
                  <a:rPr lang="es-PE" sz="900" b="0" i="0" dirty="0">
                    <a:solidFill>
                      <a:schemeClr val="tx1"/>
                    </a:solidFill>
                    <a:effectLst/>
                    <a:latin typeface="Segoe WPC"/>
                  </a:rPr>
                  <a:t> </a:t>
                </a:r>
                <a:r>
                  <a:rPr lang="es-PE" sz="900" b="0" i="0" dirty="0" err="1">
                    <a:solidFill>
                      <a:schemeClr val="tx1"/>
                    </a:solidFill>
                    <a:effectLst/>
                    <a:latin typeface="Segoe WPC"/>
                  </a:rPr>
                  <a:t>depending</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mispricing</a:t>
                </a:r>
                <a:r>
                  <a:rPr lang="es-PE" sz="900" b="0" i="0" dirty="0">
                    <a:solidFill>
                      <a:schemeClr val="tx1"/>
                    </a:solidFill>
                    <a:effectLst/>
                    <a:latin typeface="Segoe WPC"/>
                  </a:rPr>
                  <a:t>, macro </a:t>
                </a:r>
                <a:r>
                  <a:rPr lang="es-PE" sz="900" b="0" i="0" dirty="0" err="1">
                    <a:solidFill>
                      <a:schemeClr val="tx1"/>
                    </a:solidFill>
                    <a:effectLst/>
                    <a:latin typeface="Segoe WPC"/>
                  </a:rPr>
                  <a:t>views</a:t>
                </a:r>
                <a:r>
                  <a:rPr lang="es-PE" sz="900" b="0" i="0" dirty="0">
                    <a:solidFill>
                      <a:schemeClr val="tx1"/>
                    </a:solidFill>
                    <a:effectLst/>
                    <a:latin typeface="Segoe WPC"/>
                  </a:rPr>
                  <a:t>, </a:t>
                </a:r>
                <a:r>
                  <a:rPr lang="es-PE" sz="900" b="0" i="0" dirty="0" err="1">
                    <a:solidFill>
                      <a:schemeClr val="tx1"/>
                    </a:solidFill>
                    <a:effectLst/>
                    <a:latin typeface="Segoe WPC"/>
                  </a:rPr>
                  <a:t>event</a:t>
                </a:r>
                <a:r>
                  <a:rPr lang="es-PE" sz="900" b="0" i="0" dirty="0">
                    <a:solidFill>
                      <a:schemeClr val="tx1"/>
                    </a:solidFill>
                    <a:effectLst/>
                    <a:latin typeface="Segoe WPC"/>
                  </a:rPr>
                  <a:t> </a:t>
                </a:r>
                <a:r>
                  <a:rPr lang="es-PE" sz="900" b="0" i="0" dirty="0" err="1">
                    <a:solidFill>
                      <a:schemeClr val="tx1"/>
                    </a:solidFill>
                    <a:effectLst/>
                    <a:latin typeface="Segoe WPC"/>
                  </a:rPr>
                  <a:t>outcomes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model-based</a:t>
                </a:r>
                <a:r>
                  <a:rPr lang="es-PE" sz="900" b="0" i="0" dirty="0">
                    <a:solidFill>
                      <a:schemeClr val="tx1"/>
                    </a:solidFill>
                    <a:effectLst/>
                    <a:latin typeface="Segoe WPC"/>
                  </a:rPr>
                  <a:t> relative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trades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Some</a:t>
                </a:r>
                <a:r>
                  <a:rPr lang="es-PE" sz="900" b="0" i="0" dirty="0">
                    <a:solidFill>
                      <a:schemeClr val="tx1"/>
                    </a:solidFill>
                    <a:effectLst/>
                    <a:latin typeface="Segoe WPC"/>
                  </a:rPr>
                  <a:t> </a:t>
                </a:r>
                <a:r>
                  <a:rPr lang="es-PE" sz="900" b="0" i="0" dirty="0" err="1">
                    <a:solidFill>
                      <a:schemeClr val="tx1"/>
                    </a:solidFill>
                    <a:effectLst/>
                    <a:latin typeface="Segoe WPC"/>
                  </a:rPr>
                  <a:t>strategies</a:t>
                </a:r>
                <a:r>
                  <a:rPr lang="es-PE" sz="900" b="0" i="0" dirty="0">
                    <a:solidFill>
                      <a:schemeClr val="tx1"/>
                    </a:solidFill>
                    <a:effectLst/>
                    <a:latin typeface="Segoe WPC"/>
                  </a:rPr>
                  <a:t> </a:t>
                </a:r>
                <a:r>
                  <a:rPr lang="es-PE" sz="900" b="0" i="0" dirty="0" err="1">
                    <a:solidFill>
                      <a:schemeClr val="tx1"/>
                    </a:solidFill>
                    <a:effectLst/>
                    <a:latin typeface="Segoe WPC"/>
                  </a:rPr>
                  <a:t>bet</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spreads </a:t>
                </a:r>
                <a:r>
                  <a:rPr lang="es-PE" sz="900" b="0" i="0" dirty="0" err="1">
                    <a:solidFill>
                      <a:schemeClr val="tx1"/>
                    </a:solidFill>
                    <a:effectLst/>
                    <a:latin typeface="Segoe WPC"/>
                  </a:rPr>
                  <a:t>converging</a:t>
                </a:r>
                <a:r>
                  <a:rPr lang="es-PE" sz="900" b="0" i="0" dirty="0">
                    <a:solidFill>
                      <a:schemeClr val="tx1"/>
                    </a:solidFill>
                    <a:effectLst/>
                    <a:latin typeface="Segoe WPC"/>
                  </a:rPr>
                  <a:t>, </a:t>
                </a:r>
                <a:r>
                  <a:rPr lang="es-PE" sz="900" b="0" i="0" dirty="0" err="1">
                    <a:solidFill>
                      <a:schemeClr val="tx1"/>
                    </a:solidFill>
                    <a:effectLst/>
                    <a:latin typeface="Segoe WPC"/>
                  </a:rPr>
                  <a:t>some</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corporate</a:t>
                </a:r>
                <a:r>
                  <a:rPr lang="es-PE" sz="900" b="0" i="0" dirty="0">
                    <a:solidFill>
                      <a:schemeClr val="tx1"/>
                    </a:solidFill>
                    <a:effectLst/>
                    <a:latin typeface="Segoe WPC"/>
                  </a:rPr>
                  <a:t> </a:t>
                </a:r>
                <a:r>
                  <a:rPr lang="es-PE" sz="900" b="0" i="0" dirty="0" err="1">
                    <a:solidFill>
                      <a:schemeClr val="tx1"/>
                    </a:solidFill>
                    <a:effectLst/>
                    <a:latin typeface="Segoe WPC"/>
                  </a:rPr>
                  <a:t>events</a:t>
                </a:r>
                <a:r>
                  <a:rPr lang="es-PE" sz="900" b="0" i="0" dirty="0">
                    <a:solidFill>
                      <a:schemeClr val="tx1"/>
                    </a:solidFill>
                    <a:effectLst/>
                    <a:latin typeface="Segoe WPC"/>
                  </a:rPr>
                  <a:t>, </a:t>
                </a:r>
                <a:r>
                  <a:rPr lang="es-PE" sz="900" b="0" i="0" dirty="0" err="1">
                    <a:solidFill>
                      <a:schemeClr val="tx1"/>
                    </a:solidFill>
                    <a:effectLst/>
                    <a:latin typeface="Segoe WPC"/>
                  </a:rPr>
                  <a:t>some</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macroeconomic</a:t>
                </a:r>
                <a:r>
                  <a:rPr lang="es-PE" sz="900" b="0" i="0" dirty="0">
                    <a:solidFill>
                      <a:schemeClr val="tx1"/>
                    </a:solidFill>
                    <a:effectLst/>
                    <a:latin typeface="Segoe WPC"/>
                  </a:rPr>
                  <a:t> </a:t>
                </a:r>
                <a:r>
                  <a:rPr lang="es-PE" sz="900" b="0" i="0" dirty="0" err="1">
                    <a:solidFill>
                      <a:schemeClr val="tx1"/>
                    </a:solidFill>
                    <a:effectLst/>
                    <a:latin typeface="Segoe WPC"/>
                  </a:rPr>
                  <a:t>imbalances</a:t>
                </a:r>
                <a:r>
                  <a:rPr lang="es-PE" sz="900" b="0" i="0" dirty="0">
                    <a:solidFill>
                      <a:schemeClr val="tx1"/>
                    </a:solidFill>
                    <a:effectLst/>
                    <a:latin typeface="Segoe WPC"/>
                  </a:rPr>
                  <a:t>, and </a:t>
                </a:r>
                <a:r>
                  <a:rPr lang="es-PE" sz="900" b="0" i="0" dirty="0" err="1">
                    <a:solidFill>
                      <a:schemeClr val="tx1"/>
                    </a:solidFill>
                    <a:effectLst/>
                    <a:latin typeface="Segoe WPC"/>
                  </a:rPr>
                  <a:t>some</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trends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universal formula;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strategy</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identifying</a:t>
                </a:r>
                <a:r>
                  <a:rPr lang="es-PE" sz="900" b="0" i="0" dirty="0">
                    <a:solidFill>
                      <a:schemeClr val="tx1"/>
                    </a:solidFill>
                    <a:effectLst/>
                    <a:latin typeface="Segoe WPC"/>
                  </a:rPr>
                  <a:t> </a:t>
                </a:r>
                <a:r>
                  <a:rPr lang="es-PE" sz="900" b="0" i="0" dirty="0" err="1">
                    <a:solidFill>
                      <a:schemeClr val="tx1"/>
                    </a:solidFill>
                    <a:effectLst/>
                    <a:latin typeface="Segoe WPC"/>
                  </a:rPr>
                  <a:t>pricing</a:t>
                </a:r>
                <a:r>
                  <a:rPr lang="es-PE" sz="900" b="0" i="0" dirty="0">
                    <a:solidFill>
                      <a:schemeClr val="tx1"/>
                    </a:solidFill>
                    <a:effectLst/>
                    <a:latin typeface="Segoe WPC"/>
                  </a:rPr>
                  <a:t> </a:t>
                </a:r>
                <a:r>
                  <a:rPr lang="es-PE" sz="900" b="0" i="0" dirty="0" err="1">
                    <a:solidFill>
                      <a:schemeClr val="tx1"/>
                    </a:solidFill>
                    <a:effectLst/>
                    <a:latin typeface="Segoe WPC"/>
                  </a:rPr>
                  <a:t>discrepancies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directional</a:t>
                </a:r>
                <a:r>
                  <a:rPr lang="es-PE" sz="900" b="0" i="0" dirty="0">
                    <a:solidFill>
                      <a:schemeClr val="tx1"/>
                    </a:solidFill>
                    <a:effectLst/>
                    <a:latin typeface="Segoe WPC"/>
                  </a:rPr>
                  <a:t> </a:t>
                </a:r>
                <a:r>
                  <a:rPr lang="es-PE" sz="900" b="0" i="0" dirty="0" err="1">
                    <a:solidFill>
                      <a:schemeClr val="tx1"/>
                    </a:solidFill>
                    <a:effectLst/>
                    <a:latin typeface="Segoe WPC"/>
                  </a:rPr>
                  <a:t>opportunities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Long-short </a:t>
                </a:r>
                <a:r>
                  <a:rPr lang="es-PE" sz="900" b="0" i="0" dirty="0" err="1">
                    <a:solidFill>
                      <a:schemeClr val="tx1"/>
                    </a:solidFill>
                    <a:effectLst/>
                    <a:latin typeface="Segoe WPC"/>
                  </a:rPr>
                  <a:t>equity</a:t>
                </a:r>
                <a:r>
                  <a:rPr lang="es-PE" sz="900" b="0" i="0" dirty="0">
                    <a:solidFill>
                      <a:schemeClr val="tx1"/>
                    </a:solidFill>
                    <a:effectLst/>
                    <a:latin typeface="Segoe WPC"/>
                  </a:rPr>
                  <a:t> </a:t>
                </a:r>
                <a:r>
                  <a:rPr lang="es-PE" sz="900" b="0" i="0" dirty="0" err="1">
                    <a:solidFill>
                      <a:schemeClr val="tx1"/>
                    </a:solidFill>
                    <a:effectLst/>
                    <a:latin typeface="Segoe WPC"/>
                  </a:rPr>
                  <a:t>buys</a:t>
                </a:r>
                <a:r>
                  <a:rPr lang="es-PE" sz="900" b="0" i="0" dirty="0">
                    <a:solidFill>
                      <a:schemeClr val="tx1"/>
                    </a:solidFill>
                    <a:effectLst/>
                    <a:latin typeface="Segoe WPC"/>
                  </a:rPr>
                  <a:t> </a:t>
                </a:r>
                <a:r>
                  <a:rPr lang="es-PE" sz="900" b="0" i="0" dirty="0" err="1">
                    <a:solidFill>
                      <a:schemeClr val="tx1"/>
                    </a:solidFill>
                    <a:effectLst/>
                    <a:latin typeface="Segoe WPC"/>
                  </a:rPr>
                  <a:t>undervalued</a:t>
                </a:r>
                <a:r>
                  <a:rPr lang="es-PE" sz="900" b="0" i="0" dirty="0">
                    <a:solidFill>
                      <a:schemeClr val="tx1"/>
                    </a:solidFill>
                    <a:effectLst/>
                    <a:latin typeface="Segoe WPC"/>
                  </a:rPr>
                  <a:t> stocks and shorts </a:t>
                </a:r>
                <a:r>
                  <a:rPr lang="es-PE" sz="900" b="0" i="0" dirty="0" err="1">
                    <a:solidFill>
                      <a:schemeClr val="tx1"/>
                    </a:solidFill>
                    <a:effectLst/>
                    <a:latin typeface="Segoe WPC"/>
                  </a:rPr>
                  <a:t>overvalued</a:t>
                </a:r>
                <a:r>
                  <a:rPr lang="es-PE" sz="900" b="0" i="0" dirty="0">
                    <a:solidFill>
                      <a:schemeClr val="tx1"/>
                    </a:solidFill>
                    <a:effectLst/>
                    <a:latin typeface="Segoe WPC"/>
                  </a:rPr>
                  <a:t> </a:t>
                </a:r>
                <a:r>
                  <a:rPr lang="es-PE" sz="900" b="0" i="0" dirty="0" err="1">
                    <a:solidFill>
                      <a:schemeClr val="tx1"/>
                    </a:solidFill>
                    <a:effectLst/>
                    <a:latin typeface="Segoe WPC"/>
                  </a:rPr>
                  <a:t>ones</a:t>
                </a:r>
                <a:r>
                  <a:rPr lang="es-PE" sz="900" b="0" i="0" dirty="0">
                    <a:solidFill>
                      <a:schemeClr val="tx1"/>
                    </a:solidFill>
                    <a:effectLst/>
                    <a:latin typeface="Segoe WPC"/>
                  </a:rPr>
                  <a:t>. </a:t>
                </a:r>
                <a:r>
                  <a:rPr lang="es-PE" sz="900" b="0" i="0" dirty="0" err="1">
                    <a:solidFill>
                      <a:schemeClr val="tx1"/>
                    </a:solidFill>
                    <a:effectLst/>
                    <a:latin typeface="Segoe WPC"/>
                  </a:rPr>
                  <a:t>Dedicated</a:t>
                </a:r>
                <a:r>
                  <a:rPr lang="es-PE" sz="900" b="0" i="0" dirty="0">
                    <a:solidFill>
                      <a:schemeClr val="tx1"/>
                    </a:solidFill>
                    <a:effectLst/>
                    <a:latin typeface="Segoe WPC"/>
                  </a:rPr>
                  <a:t> short </a:t>
                </a:r>
                <a:r>
                  <a:rPr lang="es-PE" sz="900" b="0" i="0" dirty="0" err="1">
                    <a:solidFill>
                      <a:schemeClr val="tx1"/>
                    </a:solidFill>
                    <a:effectLst/>
                    <a:latin typeface="Segoe WPC"/>
                  </a:rPr>
                  <a:t>focuses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overpriced</a:t>
                </a:r>
                <a:r>
                  <a:rPr lang="es-PE" sz="900" b="0" i="0" dirty="0">
                    <a:solidFill>
                      <a:schemeClr val="tx1"/>
                    </a:solidFill>
                    <a:effectLst/>
                    <a:latin typeface="Segoe WPC"/>
                  </a:rPr>
                  <a:t> stocks and </a:t>
                </a:r>
                <a:r>
                  <a:rPr lang="es-PE" sz="900" b="0" i="0" dirty="0" err="1">
                    <a:solidFill>
                      <a:schemeClr val="tx1"/>
                    </a:solidFill>
                    <a:effectLst/>
                    <a:latin typeface="Segoe WPC"/>
                  </a:rPr>
                  <a:t>tends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do </a:t>
                </a:r>
                <a:r>
                  <a:rPr lang="es-PE" sz="900" b="0" i="0" dirty="0" err="1">
                    <a:solidFill>
                      <a:schemeClr val="tx1"/>
                    </a:solidFill>
                    <a:effectLst/>
                    <a:latin typeface="Segoe WPC"/>
                  </a:rPr>
                  <a:t>poorly</a:t>
                </a:r>
                <a:r>
                  <a:rPr lang="es-PE" sz="900" b="0" i="0" dirty="0">
                    <a:solidFill>
                      <a:schemeClr val="tx1"/>
                    </a:solidFill>
                    <a:effectLst/>
                    <a:latin typeface="Segoe WPC"/>
                  </a:rPr>
                  <a:t> in </a:t>
                </a:r>
                <a:r>
                  <a:rPr lang="es-PE" sz="900" b="0" i="0" dirty="0" err="1">
                    <a:solidFill>
                      <a:schemeClr val="tx1"/>
                    </a:solidFill>
                    <a:effectLst/>
                    <a:latin typeface="Segoe WPC"/>
                  </a:rPr>
                  <a:t>bull</a:t>
                </a:r>
                <a:r>
                  <a:rPr lang="es-PE" sz="900" b="0" i="0" dirty="0">
                    <a:solidFill>
                      <a:schemeClr val="tx1"/>
                    </a:solidFill>
                    <a:effectLst/>
                    <a:latin typeface="Segoe WPC"/>
                  </a:rPr>
                  <a:t> </a:t>
                </a:r>
                <a:r>
                  <a:rPr lang="es-PE" sz="900" b="0" i="0" dirty="0" err="1">
                    <a:solidFill>
                      <a:schemeClr val="tx1"/>
                    </a:solidFill>
                    <a:effectLst/>
                    <a:latin typeface="Segoe WPC"/>
                  </a:rPr>
                  <a:t>markets</a:t>
                </a:r>
                <a:r>
                  <a:rPr lang="es-PE" sz="900" b="0" i="0" dirty="0">
                    <a:solidFill>
                      <a:schemeClr val="tx1"/>
                    </a:solidFill>
                    <a:effectLst/>
                    <a:latin typeface="Segoe WPC"/>
                  </a:rPr>
                  <a:t>. </a:t>
                </a:r>
                <a:r>
                  <a:rPr lang="es-PE" sz="900" b="0" i="0" dirty="0" err="1">
                    <a:solidFill>
                      <a:schemeClr val="tx1"/>
                    </a:solidFill>
                    <a:effectLst/>
                    <a:latin typeface="Segoe WPC"/>
                  </a:rPr>
                  <a:t>Distressed</a:t>
                </a:r>
                <a:r>
                  <a:rPr lang="es-PE" sz="900" b="0" i="0" dirty="0">
                    <a:solidFill>
                      <a:schemeClr val="tx1"/>
                    </a:solidFill>
                    <a:effectLst/>
                    <a:latin typeface="Segoe WPC"/>
                  </a:rPr>
                  <a:t> </a:t>
                </a:r>
                <a:r>
                  <a:rPr lang="es-PE" sz="900" b="0" i="0" dirty="0" err="1">
                    <a:solidFill>
                      <a:schemeClr val="tx1"/>
                    </a:solidFill>
                    <a:effectLst/>
                    <a:latin typeface="Segoe WPC"/>
                  </a:rPr>
                  <a:t>debt</a:t>
                </a:r>
                <a:r>
                  <a:rPr lang="es-PE" sz="900" b="0" i="0" dirty="0">
                    <a:solidFill>
                      <a:schemeClr val="tx1"/>
                    </a:solidFill>
                    <a:effectLst/>
                    <a:latin typeface="Segoe WPC"/>
                  </a:rPr>
                  <a:t> targets </a:t>
                </a:r>
                <a:r>
                  <a:rPr lang="es-PE" sz="900" b="0" i="0" dirty="0" err="1">
                    <a:solidFill>
                      <a:schemeClr val="tx1"/>
                    </a:solidFill>
                    <a:effectLst/>
                    <a:latin typeface="Segoe WPC"/>
                  </a:rPr>
                  <a:t>troubled</a:t>
                </a:r>
                <a:r>
                  <a:rPr lang="es-PE" sz="900" b="0" i="0" dirty="0">
                    <a:solidFill>
                      <a:schemeClr val="tx1"/>
                    </a:solidFill>
                    <a:effectLst/>
                    <a:latin typeface="Segoe WPC"/>
                  </a:rPr>
                  <a:t> </a:t>
                </a:r>
                <a:r>
                  <a:rPr lang="es-PE" sz="900" b="0" i="0" dirty="0" err="1">
                    <a:solidFill>
                      <a:schemeClr val="tx1"/>
                    </a:solidFill>
                    <a:effectLst/>
                    <a:latin typeface="Segoe WPC"/>
                  </a:rPr>
                  <a:t>issuers</a:t>
                </a:r>
                <a:r>
                  <a:rPr lang="es-PE" sz="900" b="0" i="0" dirty="0">
                    <a:solidFill>
                      <a:schemeClr val="tx1"/>
                    </a:solidFill>
                    <a:effectLst/>
                    <a:latin typeface="Segoe WPC"/>
                  </a:rPr>
                  <a:t> and </a:t>
                </a:r>
                <a:r>
                  <a:rPr lang="es-PE" sz="900" b="0" i="0" dirty="0" err="1">
                    <a:solidFill>
                      <a:schemeClr val="tx1"/>
                    </a:solidFill>
                    <a:effectLst/>
                    <a:latin typeface="Segoe WPC"/>
                  </a:rPr>
                  <a:t>restructurings</a:t>
                </a:r>
                <a:r>
                  <a:rPr lang="es-PE" sz="900" b="0" i="0" dirty="0">
                    <a:solidFill>
                      <a:schemeClr val="tx1"/>
                    </a:solidFill>
                    <a:effectLst/>
                    <a:latin typeface="Segoe WPC"/>
                  </a:rPr>
                  <a:t>. </a:t>
                </a:r>
                <a:r>
                  <a:rPr lang="es-PE" sz="900" b="0" i="0" dirty="0" err="1">
                    <a:solidFill>
                      <a:schemeClr val="tx1"/>
                    </a:solidFill>
                    <a:effectLst/>
                    <a:latin typeface="Segoe WPC"/>
                  </a:rPr>
                  <a:t>Merger</a:t>
                </a:r>
                <a:r>
                  <a:rPr lang="es-PE" sz="900" b="0" i="0" dirty="0">
                    <a:solidFill>
                      <a:schemeClr val="tx1"/>
                    </a:solidFill>
                    <a:effectLst/>
                    <a:latin typeface="Segoe WPC"/>
                  </a:rPr>
                  <a:t> </a:t>
                </a:r>
                <a:r>
                  <a:rPr lang="es-PE" sz="900" b="0" i="0" dirty="0" err="1">
                    <a:solidFill>
                      <a:schemeClr val="tx1"/>
                    </a:solidFill>
                    <a:effectLst/>
                    <a:latin typeface="Segoe WPC"/>
                  </a:rPr>
                  <a:t>arbitrage</a:t>
                </a:r>
                <a:r>
                  <a:rPr lang="es-PE" sz="900" b="0" i="0" dirty="0">
                    <a:solidFill>
                      <a:schemeClr val="tx1"/>
                    </a:solidFill>
                    <a:effectLst/>
                    <a:latin typeface="Segoe WPC"/>
                  </a:rPr>
                  <a:t> </a:t>
                </a:r>
                <a:r>
                  <a:rPr lang="es-PE" sz="900" b="0" i="0" dirty="0" err="1">
                    <a:solidFill>
                      <a:schemeClr val="tx1"/>
                    </a:solidFill>
                    <a:effectLst/>
                    <a:latin typeface="Segoe WPC"/>
                  </a:rPr>
                  <a:t>trades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announced</a:t>
                </a:r>
                <a:r>
                  <a:rPr lang="es-PE" sz="900" b="0" i="0" dirty="0">
                    <a:solidFill>
                      <a:schemeClr val="tx1"/>
                    </a:solidFill>
                    <a:effectLst/>
                    <a:latin typeface="Segoe WPC"/>
                  </a:rPr>
                  <a:t> </a:t>
                </a:r>
                <a:r>
                  <a:rPr lang="es-PE" sz="900" b="0" i="0" dirty="0" err="1">
                    <a:solidFill>
                      <a:schemeClr val="tx1"/>
                    </a:solidFill>
                    <a:effectLst/>
                    <a:latin typeface="Segoe WPC"/>
                  </a:rPr>
                  <a:t>deals</a:t>
                </a:r>
                <a:r>
                  <a:rPr lang="es-PE" sz="900" b="0" i="0" dirty="0">
                    <a:solidFill>
                      <a:schemeClr val="tx1"/>
                    </a:solidFill>
                    <a:effectLst/>
                    <a:latin typeface="Segoe WPC"/>
                  </a:rPr>
                  <a:t>. Convertible </a:t>
                </a:r>
                <a:r>
                  <a:rPr lang="es-PE" sz="900" b="0" i="0" dirty="0" err="1">
                    <a:solidFill>
                      <a:schemeClr val="tx1"/>
                    </a:solidFill>
                    <a:effectLst/>
                    <a:latin typeface="Segoe WPC"/>
                  </a:rPr>
                  <a:t>arbitrage</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convertible </a:t>
                </a:r>
                <a:r>
                  <a:rPr lang="es-PE" sz="900" b="0" i="0" dirty="0" err="1">
                    <a:solidFill>
                      <a:schemeClr val="tx1"/>
                    </a:solidFill>
                    <a:effectLst/>
                    <a:latin typeface="Segoe WPC"/>
                  </a:rPr>
                  <a:t>bonds</a:t>
                </a:r>
                <a:r>
                  <a:rPr lang="es-PE" sz="900" b="0" i="0" dirty="0">
                    <a:solidFill>
                      <a:schemeClr val="tx1"/>
                    </a:solidFill>
                    <a:effectLst/>
                    <a:latin typeface="Segoe WPC"/>
                  </a:rPr>
                  <a:t> and </a:t>
                </a:r>
                <a:r>
                  <a:rPr lang="es-PE" sz="900" b="0" i="0" dirty="0" err="1">
                    <a:solidFill>
                      <a:schemeClr val="tx1"/>
                    </a:solidFill>
                    <a:effectLst/>
                    <a:latin typeface="Segoe WPC"/>
                  </a:rPr>
                  <a:t>hedges</a:t>
                </a:r>
                <a:r>
                  <a:rPr lang="es-PE" sz="900" b="0" i="0" dirty="0">
                    <a:solidFill>
                      <a:schemeClr val="tx1"/>
                    </a:solidFill>
                    <a:effectLst/>
                    <a:latin typeface="Segoe WPC"/>
                  </a:rPr>
                  <a:t> </a:t>
                </a:r>
                <a:r>
                  <a:rPr lang="es-PE" sz="900" b="0" i="0" dirty="0" err="1">
                    <a:solidFill>
                      <a:schemeClr val="tx1"/>
                    </a:solidFill>
                    <a:effectLst/>
                    <a:latin typeface="Segoe WPC"/>
                  </a:rPr>
                  <a:t>embedded</a:t>
                </a:r>
                <a:r>
                  <a:rPr lang="es-PE" sz="900" b="0" i="0" dirty="0">
                    <a:solidFill>
                      <a:schemeClr val="tx1"/>
                    </a:solidFill>
                    <a:effectLst/>
                    <a:latin typeface="Segoe WPC"/>
                  </a:rPr>
                  <a:t> </a:t>
                </a:r>
                <a:r>
                  <a:rPr lang="es-PE" sz="900" b="0" i="0" dirty="0" err="1">
                    <a:solidFill>
                      <a:schemeClr val="tx1"/>
                    </a:solidFill>
                    <a:effectLst/>
                    <a:latin typeface="Segoe WPC"/>
                  </a:rPr>
                  <a:t>risks</a:t>
                </a:r>
                <a:r>
                  <a:rPr lang="es-PE" sz="900" b="0" i="0" dirty="0">
                    <a:solidFill>
                      <a:schemeClr val="tx1"/>
                    </a:solidFill>
                    <a:effectLst/>
                    <a:latin typeface="Segoe WPC"/>
                  </a:rPr>
                  <a:t>. </a:t>
                </a:r>
                <a:r>
                  <a:rPr lang="es-PE" sz="900" b="0" i="0" dirty="0" err="1">
                    <a:solidFill>
                      <a:schemeClr val="tx1"/>
                    </a:solidFill>
                    <a:effectLst/>
                    <a:latin typeface="Segoe WPC"/>
                  </a:rPr>
                  <a:t>Fixed-income</a:t>
                </a:r>
                <a:r>
                  <a:rPr lang="es-PE" sz="900" b="0" i="0" dirty="0">
                    <a:solidFill>
                      <a:schemeClr val="tx1"/>
                    </a:solidFill>
                    <a:effectLst/>
                    <a:latin typeface="Segoe WPC"/>
                  </a:rPr>
                  <a:t> </a:t>
                </a:r>
                <a:r>
                  <a:rPr lang="es-PE" sz="900" b="0" i="0" dirty="0" err="1">
                    <a:solidFill>
                      <a:schemeClr val="tx1"/>
                    </a:solidFill>
                    <a:effectLst/>
                    <a:latin typeface="Segoe WPC"/>
                  </a:rPr>
                  <a:t>arbitrage</a:t>
                </a:r>
                <a:r>
                  <a:rPr lang="es-PE" sz="900" b="0" i="0" dirty="0">
                    <a:solidFill>
                      <a:schemeClr val="tx1"/>
                    </a:solidFill>
                    <a:effectLst/>
                    <a:latin typeface="Segoe WPC"/>
                  </a:rPr>
                  <a:t> </a:t>
                </a:r>
                <a:r>
                  <a:rPr lang="es-PE" sz="900" b="0" i="0" dirty="0" err="1">
                    <a:solidFill>
                      <a:schemeClr val="tx1"/>
                    </a:solidFill>
                    <a:effectLst/>
                    <a:latin typeface="Segoe WPC"/>
                  </a:rPr>
                  <a:t>exploits</a:t>
                </a:r>
                <a:r>
                  <a:rPr lang="es-PE" sz="900" b="0" i="0" dirty="0">
                    <a:solidFill>
                      <a:schemeClr val="tx1"/>
                    </a:solidFill>
                    <a:effectLst/>
                    <a:latin typeface="Segoe WPC"/>
                  </a:rPr>
                  <a:t> relative </a:t>
                </a:r>
                <a:r>
                  <a:rPr lang="es-PE" sz="900" b="0" i="0" dirty="0" err="1">
                    <a:solidFill>
                      <a:schemeClr val="tx1"/>
                    </a:solidFill>
                    <a:effectLst/>
                    <a:latin typeface="Segoe WPC"/>
                  </a:rPr>
                  <a:t>mispricing</a:t>
                </a:r>
                <a:r>
                  <a:rPr lang="es-PE" sz="900" b="0" i="0" dirty="0">
                    <a:solidFill>
                      <a:schemeClr val="tx1"/>
                    </a:solidFill>
                    <a:effectLst/>
                    <a:latin typeface="Segoe WPC"/>
                  </a:rPr>
                  <a:t> </a:t>
                </a:r>
                <a:r>
                  <a:rPr lang="es-PE" sz="900" b="0" i="0" dirty="0" err="1">
                    <a:solidFill>
                      <a:schemeClr val="tx1"/>
                    </a:solidFill>
                    <a:effectLst/>
                    <a:latin typeface="Segoe WPC"/>
                  </a:rPr>
                  <a:t>among</a:t>
                </a:r>
                <a:r>
                  <a:rPr lang="es-PE" sz="900" b="0" i="0" dirty="0">
                    <a:solidFill>
                      <a:schemeClr val="tx1"/>
                    </a:solidFill>
                    <a:effectLst/>
                    <a:latin typeface="Segoe WPC"/>
                  </a:rPr>
                  <a:t> </a:t>
                </a:r>
                <a:r>
                  <a:rPr lang="es-PE" sz="900" b="0" i="0" dirty="0" err="1">
                    <a:solidFill>
                      <a:schemeClr val="tx1"/>
                    </a:solidFill>
                    <a:effectLst/>
                    <a:latin typeface="Segoe WPC"/>
                  </a:rPr>
                  <a:t>bonds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leverage</a:t>
                </a:r>
                <a:r>
                  <a:rPr lang="es-PE" sz="900" b="0" i="0" dirty="0">
                    <a:solidFill>
                      <a:schemeClr val="tx1"/>
                    </a:solidFill>
                    <a:effectLst/>
                    <a:latin typeface="Segoe WPC"/>
                  </a:rPr>
                  <a:t>. </a:t>
                </a:r>
                <a:r>
                  <a:rPr lang="es-PE" sz="900" b="0" i="0" dirty="0" err="1">
                    <a:solidFill>
                      <a:schemeClr val="tx1"/>
                    </a:solidFill>
                    <a:effectLst/>
                    <a:latin typeface="Segoe WPC"/>
                  </a:rPr>
                  <a:t>Emerging</a:t>
                </a:r>
                <a:r>
                  <a:rPr lang="es-PE" sz="900" b="0" i="0" dirty="0">
                    <a:solidFill>
                      <a:schemeClr val="tx1"/>
                    </a:solidFill>
                    <a:effectLst/>
                    <a:latin typeface="Segoe WPC"/>
                  </a:rPr>
                  <a:t> </a:t>
                </a:r>
                <a:r>
                  <a:rPr lang="es-PE" sz="900" b="0" i="0" dirty="0" err="1">
                    <a:solidFill>
                      <a:schemeClr val="tx1"/>
                    </a:solidFill>
                    <a:effectLst/>
                    <a:latin typeface="Segoe WPC"/>
                  </a:rPr>
                  <a:t>markets</a:t>
                </a:r>
                <a:r>
                  <a:rPr lang="es-PE" sz="900" b="0" i="0" dirty="0">
                    <a:solidFill>
                      <a:schemeClr val="tx1"/>
                    </a:solidFill>
                    <a:effectLst/>
                    <a:latin typeface="Segoe WPC"/>
                  </a:rPr>
                  <a:t> </a:t>
                </a:r>
                <a:r>
                  <a:rPr lang="es-PE" sz="900" b="0" i="0" dirty="0" err="1">
                    <a:solidFill>
                      <a:schemeClr val="tx1"/>
                    </a:solidFill>
                    <a:effectLst/>
                    <a:latin typeface="Segoe WPC"/>
                  </a:rPr>
                  <a:t>strategies</a:t>
                </a:r>
                <a:r>
                  <a:rPr lang="es-PE" sz="900" b="0" i="0" dirty="0">
                    <a:solidFill>
                      <a:schemeClr val="tx1"/>
                    </a:solidFill>
                    <a:effectLst/>
                    <a:latin typeface="Segoe WPC"/>
                  </a:rPr>
                  <a:t> </a:t>
                </a:r>
                <a:r>
                  <a:rPr lang="es-PE" sz="900" b="0" i="0" dirty="0" err="1">
                    <a:solidFill>
                      <a:schemeClr val="tx1"/>
                    </a:solidFill>
                    <a:effectLst/>
                    <a:latin typeface="Segoe WPC"/>
                  </a:rPr>
                  <a:t>trade</a:t>
                </a:r>
                <a:r>
                  <a:rPr lang="es-PE" sz="900" b="0" i="0" dirty="0">
                    <a:solidFill>
                      <a:schemeClr val="tx1"/>
                    </a:solidFill>
                    <a:effectLst/>
                    <a:latin typeface="Segoe WPC"/>
                  </a:rPr>
                  <a:t> </a:t>
                </a:r>
                <a:r>
                  <a:rPr lang="es-PE" sz="900" b="0" i="0" dirty="0" err="1">
                    <a:solidFill>
                      <a:schemeClr val="tx1"/>
                    </a:solidFill>
                    <a:effectLst/>
                    <a:latin typeface="Segoe WPC"/>
                  </a:rPr>
                  <a:t>securities</a:t>
                </a:r>
                <a:r>
                  <a:rPr lang="es-PE" sz="900" b="0" i="0" dirty="0">
                    <a:solidFill>
                      <a:schemeClr val="tx1"/>
                    </a:solidFill>
                    <a:effectLst/>
                    <a:latin typeface="Segoe WPC"/>
                  </a:rPr>
                  <a:t> in </a:t>
                </a:r>
                <a:r>
                  <a:rPr lang="es-PE" sz="900" b="0" i="0" dirty="0" err="1">
                    <a:solidFill>
                      <a:schemeClr val="tx1"/>
                    </a:solidFill>
                    <a:effectLst/>
                    <a:latin typeface="Segoe WPC"/>
                  </a:rPr>
                  <a:t>developing</a:t>
                </a:r>
                <a:r>
                  <a:rPr lang="es-PE" sz="900" b="0" i="0" dirty="0">
                    <a:solidFill>
                      <a:schemeClr val="tx1"/>
                    </a:solidFill>
                    <a:effectLst/>
                    <a:latin typeface="Segoe WPC"/>
                  </a:rPr>
                  <a:t> </a:t>
                </a:r>
                <a:r>
                  <a:rPr lang="es-PE" sz="900" b="0" i="0" dirty="0" err="1">
                    <a:solidFill>
                      <a:schemeClr val="tx1"/>
                    </a:solidFill>
                    <a:effectLst/>
                    <a:latin typeface="Segoe WPC"/>
                  </a:rPr>
                  <a:t>economies</a:t>
                </a:r>
                <a:r>
                  <a:rPr lang="es-PE" sz="900" b="0" i="0" dirty="0">
                    <a:solidFill>
                      <a:schemeClr val="tx1"/>
                    </a:solidFill>
                    <a:effectLst/>
                    <a:latin typeface="Segoe WPC"/>
                  </a:rPr>
                  <a:t>. Global macro uses </a:t>
                </a:r>
                <a:r>
                  <a:rPr lang="es-PE" sz="900" b="0" i="0" dirty="0" err="1">
                    <a:solidFill>
                      <a:schemeClr val="tx1"/>
                    </a:solidFill>
                    <a:effectLst/>
                    <a:latin typeface="Segoe WPC"/>
                  </a:rPr>
                  <a:t>macroeconomic</a:t>
                </a:r>
                <a:r>
                  <a:rPr lang="es-PE" sz="900" b="0" i="0" dirty="0">
                    <a:solidFill>
                      <a:schemeClr val="tx1"/>
                    </a:solidFill>
                    <a:effectLst/>
                    <a:latin typeface="Segoe WPC"/>
                  </a:rPr>
                  <a:t> </a:t>
                </a:r>
                <a:r>
                  <a:rPr lang="es-PE" sz="900" b="0" i="0" dirty="0" err="1">
                    <a:solidFill>
                      <a:schemeClr val="tx1"/>
                    </a:solidFill>
                    <a:effectLst/>
                    <a:latin typeface="Segoe WPC"/>
                  </a:rPr>
                  <a:t>views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FX, and </a:t>
                </a:r>
                <a:r>
                  <a:rPr lang="es-PE" sz="900" b="0" i="0" dirty="0" err="1">
                    <a:solidFill>
                      <a:schemeClr val="tx1"/>
                    </a:solidFill>
                    <a:effectLst/>
                    <a:latin typeface="Segoe WPC"/>
                  </a:rPr>
                  <a:t>other</a:t>
                </a:r>
                <a:r>
                  <a:rPr lang="es-PE" sz="900" b="0" i="0" dirty="0">
                    <a:solidFill>
                      <a:schemeClr val="tx1"/>
                    </a:solidFill>
                    <a:effectLst/>
                    <a:latin typeface="Segoe WPC"/>
                  </a:rPr>
                  <a:t> variables. </a:t>
                </a:r>
                <a:r>
                  <a:rPr lang="es-PE" sz="900" b="0" i="0" dirty="0" err="1">
                    <a:solidFill>
                      <a:schemeClr val="tx1"/>
                    </a:solidFill>
                    <a:effectLst/>
                    <a:latin typeface="Segoe WPC"/>
                  </a:rPr>
                  <a:t>Managed</a:t>
                </a:r>
                <a:r>
                  <a:rPr lang="es-PE" sz="900" b="0" i="0" dirty="0">
                    <a:solidFill>
                      <a:schemeClr val="tx1"/>
                    </a:solidFill>
                    <a:effectLst/>
                    <a:latin typeface="Segoe WPC"/>
                  </a:rPr>
                  <a:t> futures use </a:t>
                </a:r>
                <a:r>
                  <a:rPr lang="es-PE" sz="900" b="0" i="0" dirty="0" err="1">
                    <a:solidFill>
                      <a:schemeClr val="tx1"/>
                    </a:solidFill>
                    <a:effectLst/>
                    <a:latin typeface="Segoe WPC"/>
                  </a:rPr>
                  <a:t>models</a:t>
                </a:r>
                <a:r>
                  <a:rPr lang="es-PE" sz="900" b="0" i="0" dirty="0">
                    <a:solidFill>
                      <a:schemeClr val="tx1"/>
                    </a:solidFill>
                    <a:effectLst/>
                    <a:latin typeface="Segoe WPC"/>
                  </a:rPr>
                  <a:t> and back-</a:t>
                </a:r>
                <a:r>
                  <a:rPr lang="es-PE" sz="900" b="0" i="0" dirty="0" err="1">
                    <a:solidFill>
                      <a:schemeClr val="tx1"/>
                    </a:solidFill>
                    <a:effectLst/>
                    <a:latin typeface="Segoe WPC"/>
                  </a:rPr>
                  <a:t>testing</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trade</a:t>
                </a:r>
                <a:r>
                  <a:rPr lang="es-PE" sz="900" b="0" i="0" dirty="0">
                    <a:solidFill>
                      <a:schemeClr val="tx1"/>
                    </a:solidFill>
                    <a:effectLst/>
                    <a:latin typeface="Segoe WPC"/>
                  </a:rPr>
                  <a:t> futures </a:t>
                </a:r>
                <a:r>
                  <a:rPr lang="es-PE" sz="900" b="0" i="0" dirty="0" err="1">
                    <a:solidFill>
                      <a:schemeClr val="tx1"/>
                    </a:solidFill>
                    <a:effectLst/>
                    <a:latin typeface="Segoe WPC"/>
                  </a:rPr>
                  <a:t>markets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Arbitrage</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fund</a:t>
                </a:r>
                <a:r>
                  <a:rPr lang="es-PE" sz="900" b="0" i="0" dirty="0">
                    <a:solidFill>
                      <a:schemeClr val="tx1"/>
                    </a:solidFill>
                    <a:effectLst/>
                    <a:latin typeface="Segoe WPC"/>
                  </a:rPr>
                  <a:t> </a:t>
                </a:r>
                <a:r>
                  <a:rPr lang="es-PE" sz="900" b="0" i="0" dirty="0" err="1">
                    <a:solidFill>
                      <a:schemeClr val="tx1"/>
                    </a:solidFill>
                    <a:effectLst/>
                    <a:latin typeface="Segoe WPC"/>
                  </a:rPr>
                  <a:t>strategies</a:t>
                </a:r>
                <a:r>
                  <a:rPr lang="es-PE" sz="900" b="0" i="0" dirty="0">
                    <a:solidFill>
                      <a:schemeClr val="tx1"/>
                    </a:solidFill>
                    <a:effectLst/>
                    <a:latin typeface="Segoe WPC"/>
                  </a:rPr>
                  <a:t> are </a:t>
                </a:r>
                <a:r>
                  <a:rPr lang="es-PE" sz="900" b="0" i="0" dirty="0" err="1">
                    <a:solidFill>
                      <a:schemeClr val="tx1"/>
                    </a:solidFill>
                    <a:effectLst/>
                    <a:latin typeface="Segoe WPC"/>
                  </a:rPr>
                  <a:t>rarely</a:t>
                </a:r>
                <a:r>
                  <a:rPr lang="es-PE" sz="900" b="0" i="0" dirty="0">
                    <a:solidFill>
                      <a:schemeClr val="tx1"/>
                    </a:solidFill>
                    <a:effectLst/>
                    <a:latin typeface="Segoe WPC"/>
                  </a:rPr>
                  <a:t> </a:t>
                </a:r>
                <a:r>
                  <a:rPr lang="es-PE" sz="900" b="0" i="0" dirty="0" err="1">
                    <a:solidFill>
                      <a:schemeClr val="tx1"/>
                    </a:solidFill>
                    <a:effectLst/>
                    <a:latin typeface="Segoe WPC"/>
                  </a:rPr>
                  <a:t>riskless</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involve</a:t>
                </a:r>
                <a:r>
                  <a:rPr lang="es-PE" sz="900" b="0" i="0" dirty="0">
                    <a:solidFill>
                      <a:schemeClr val="tx1"/>
                    </a:solidFill>
                    <a:effectLst/>
                    <a:latin typeface="Segoe WPC"/>
                  </a:rPr>
                  <a:t> </a:t>
                </a:r>
                <a:r>
                  <a:rPr lang="es-PE" sz="900" b="0" i="0" dirty="0" err="1">
                    <a:solidFill>
                      <a:schemeClr val="tx1"/>
                    </a:solidFill>
                    <a:effectLst/>
                    <a:latin typeface="Segoe WPC"/>
                  </a:rPr>
                  <a:t>leverage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liquidity</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and </a:t>
                </a:r>
                <a:r>
                  <a:rPr lang="es-PE" sz="900" b="0" i="0" dirty="0" err="1">
                    <a:solidFill>
                      <a:schemeClr val="tx1"/>
                    </a:solidFill>
                    <a:effectLst/>
                    <a:latin typeface="Segoe WPC"/>
                  </a:rPr>
                  <a:t>event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8. Performance and </a:t>
                </a:r>
                <a:r>
                  <a:rPr lang="es-PE" sz="900" b="1" i="0" dirty="0" err="1">
                    <a:solidFill>
                      <a:schemeClr val="tx1"/>
                    </a:solidFill>
                    <a:effectLst/>
                    <a:latin typeface="Segoe WPC"/>
                  </a:rPr>
                  <a:t>Measurement</a:t>
                </a:r>
                <a:r>
                  <a:rPr lang="es-PE" sz="900" b="1" i="0" dirty="0">
                    <a:solidFill>
                      <a:schemeClr val="tx1"/>
                    </a:solidFill>
                    <a:effectLst/>
                    <a:latin typeface="Segoe WPC"/>
                  </a:rPr>
                  <a:t> </a:t>
                </a:r>
                <a:r>
                  <a:rPr lang="es-PE" sz="900" b="1" i="0" dirty="0" err="1">
                    <a:solidFill>
                      <a:schemeClr val="tx1"/>
                    </a:solidFill>
                    <a:effectLst/>
                    <a:latin typeface="Segoe WPC"/>
                  </a:rPr>
                  <a:t>Biases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Assessing</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active </a:t>
                </a:r>
                <a:r>
                  <a:rPr lang="es-PE" sz="900" b="0" i="0" dirty="0" err="1">
                    <a:solidFill>
                      <a:schemeClr val="tx1"/>
                    </a:solidFill>
                    <a:effectLst/>
                    <a:latin typeface="Segoe WPC"/>
                  </a:rPr>
                  <a:t>fund</a:t>
                </a:r>
                <a:r>
                  <a:rPr lang="es-PE" sz="900" b="0" i="0" dirty="0">
                    <a:solidFill>
                      <a:schemeClr val="tx1"/>
                    </a:solidFill>
                    <a:effectLst/>
                    <a:latin typeface="Segoe WPC"/>
                  </a:rPr>
                  <a:t> </a:t>
                </a:r>
                <a:r>
                  <a:rPr lang="es-PE" sz="900" b="0" i="0" dirty="0" err="1">
                    <a:solidFill>
                      <a:schemeClr val="tx1"/>
                    </a:solidFill>
                    <a:effectLst/>
                    <a:latin typeface="Segoe WPC"/>
                  </a:rPr>
                  <a:t>management</a:t>
                </a:r>
                <a:r>
                  <a:rPr lang="es-PE" sz="900" b="0" i="0" dirty="0">
                    <a:solidFill>
                      <a:schemeClr val="tx1"/>
                    </a:solidFill>
                    <a:effectLst/>
                    <a:latin typeface="Segoe WPC"/>
                  </a:rPr>
                  <a:t> </a:t>
                </a:r>
                <a:r>
                  <a:rPr lang="es-PE" sz="900" b="0" i="0" dirty="0" err="1">
                    <a:solidFill>
                      <a:schemeClr val="tx1"/>
                    </a:solidFill>
                    <a:effectLst/>
                    <a:latin typeface="Segoe WPC"/>
                  </a:rPr>
                  <a:t>adds</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Research</a:t>
                </a:r>
                <a:r>
                  <a:rPr lang="es-PE" sz="900" b="0" i="0" dirty="0">
                    <a:solidFill>
                      <a:schemeClr val="tx1"/>
                    </a:solidFill>
                    <a:effectLst/>
                    <a:latin typeface="Segoe WPC"/>
                  </a:rPr>
                  <a:t> shows </a:t>
                </a:r>
                <a:r>
                  <a:rPr lang="es-PE" sz="900" b="0" i="0" dirty="0" err="1">
                    <a:solidFill>
                      <a:schemeClr val="tx1"/>
                    </a:solidFill>
                    <a:effectLst/>
                    <a:latin typeface="Segoe WPC"/>
                  </a:rPr>
                  <a:t>actively</a:t>
                </a:r>
                <a:r>
                  <a:rPr lang="es-PE" sz="900" b="0" i="0" dirty="0">
                    <a:solidFill>
                      <a:schemeClr val="tx1"/>
                    </a:solidFill>
                    <a:effectLst/>
                    <a:latin typeface="Segoe WPC"/>
                  </a:rPr>
                  <a:t> </a:t>
                </a:r>
                <a:r>
                  <a:rPr lang="es-PE" sz="900" b="0" i="0" dirty="0" err="1">
                    <a:solidFill>
                      <a:schemeClr val="tx1"/>
                    </a:solidFill>
                    <a:effectLst/>
                    <a:latin typeface="Segoe WPC"/>
                  </a:rPr>
                  <a:t>managed</a:t>
                </a:r>
                <a:r>
                  <a:rPr lang="es-PE" sz="900" b="0" i="0" dirty="0">
                    <a:solidFill>
                      <a:schemeClr val="tx1"/>
                    </a:solidFill>
                    <a:effectLst/>
                    <a:latin typeface="Segoe WPC"/>
                  </a:rPr>
                  <a:t> mutual </a:t>
                </a:r>
                <a:r>
                  <a:rPr lang="es-PE" sz="900" b="0" i="0" dirty="0" err="1">
                    <a:solidFill>
                      <a:schemeClr val="tx1"/>
                    </a:solidFill>
                    <a:effectLst/>
                    <a:latin typeface="Segoe WPC"/>
                  </a:rPr>
                  <a:t>funds</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beat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after fees, and </a:t>
                </a:r>
                <a:r>
                  <a:rPr lang="es-PE" sz="900" b="0" i="0" dirty="0" err="1">
                    <a:solidFill>
                      <a:schemeClr val="tx1"/>
                    </a:solidFill>
                    <a:effectLst/>
                    <a:latin typeface="Segoe WPC"/>
                  </a:rPr>
                  <a:t>past</a:t>
                </a:r>
                <a:r>
                  <a:rPr lang="es-PE" sz="900" b="0" i="0" dirty="0">
                    <a:solidFill>
                      <a:schemeClr val="tx1"/>
                    </a:solidFill>
                    <a:effectLst/>
                    <a:latin typeface="Segoe WPC"/>
                  </a:rPr>
                  <a:t> </a:t>
                </a:r>
                <a:r>
                  <a:rPr lang="es-PE" sz="900" b="0" i="0" dirty="0" err="1">
                    <a:solidFill>
                      <a:schemeClr val="tx1"/>
                    </a:solidFill>
                    <a:effectLst/>
                    <a:latin typeface="Segoe WPC"/>
                  </a:rPr>
                  <a:t>outperformance</a:t>
                </a:r>
                <a:r>
                  <a:rPr lang="es-PE" sz="900" b="0" i="0" dirty="0">
                    <a:solidFill>
                      <a:schemeClr val="tx1"/>
                    </a:solidFill>
                    <a:effectLst/>
                    <a:latin typeface="Segoe WPC"/>
                  </a:rPr>
                  <a:t> </a:t>
                </a:r>
                <a:r>
                  <a:rPr lang="es-PE" sz="900" b="0" i="0" dirty="0" err="1">
                    <a:solidFill>
                      <a:schemeClr val="tx1"/>
                    </a:solidFill>
                    <a:effectLst/>
                    <a:latin typeface="Segoe WPC"/>
                  </a:rPr>
                  <a:t>rarely</a:t>
                </a:r>
                <a:r>
                  <a:rPr lang="es-PE" sz="900" b="0" i="0" dirty="0">
                    <a:solidFill>
                      <a:schemeClr val="tx1"/>
                    </a:solidFill>
                    <a:effectLst/>
                    <a:latin typeface="Segoe WPC"/>
                  </a:rPr>
                  <a:t> </a:t>
                </a:r>
                <a:r>
                  <a:rPr lang="es-PE" sz="900" b="0" i="0" dirty="0" err="1">
                    <a:solidFill>
                      <a:schemeClr val="tx1"/>
                    </a:solidFill>
                    <a:effectLst/>
                    <a:latin typeface="Segoe WPC"/>
                  </a:rPr>
                  <a:t>persists</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fund</a:t>
                </a:r>
                <a:r>
                  <a:rPr lang="es-PE" sz="900" b="0" i="0" dirty="0">
                    <a:solidFill>
                      <a:schemeClr val="tx1"/>
                    </a:solidFill>
                    <a:effectLst/>
                    <a:latin typeface="Segoe WPC"/>
                  </a:rPr>
                  <a:t> performance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harder</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evaluate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reporting</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incomplete and </a:t>
                </a:r>
                <a:r>
                  <a:rPr lang="es-PE" sz="900" b="0" i="0" dirty="0" err="1">
                    <a:solidFill>
                      <a:schemeClr val="tx1"/>
                    </a:solidFill>
                    <a:effectLst/>
                    <a:latin typeface="Segoe WPC"/>
                  </a:rPr>
                  <a:t>biased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Strong</a:t>
                </a:r>
                <a:r>
                  <a:rPr lang="es-PE" sz="900" b="0" i="0" dirty="0">
                    <a:solidFill>
                      <a:schemeClr val="tx1"/>
                    </a:solidFill>
                    <a:effectLst/>
                    <a:latin typeface="Segoe WPC"/>
                  </a:rPr>
                  <a:t> </a:t>
                </a:r>
                <a:r>
                  <a:rPr lang="es-PE" sz="900" b="0" i="0" dirty="0" err="1">
                    <a:solidFill>
                      <a:schemeClr val="tx1"/>
                    </a:solidFill>
                    <a:effectLst/>
                    <a:latin typeface="Segoe WPC"/>
                  </a:rPr>
                  <a:t>historical</a:t>
                </a:r>
                <a:r>
                  <a:rPr lang="es-PE" sz="900" b="0" i="0" dirty="0">
                    <a:solidFill>
                      <a:schemeClr val="tx1"/>
                    </a:solidFill>
                    <a:effectLst/>
                    <a:latin typeface="Segoe WPC"/>
                  </a:rPr>
                  <a:t> performance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reflect</a:t>
                </a:r>
                <a:r>
                  <a:rPr lang="es-PE" sz="900" b="0" i="0" dirty="0">
                    <a:solidFill>
                      <a:schemeClr val="tx1"/>
                    </a:solidFill>
                    <a:effectLst/>
                    <a:latin typeface="Segoe WPC"/>
                  </a:rPr>
                  <a:t> </a:t>
                </a:r>
                <a:r>
                  <a:rPr lang="es-PE" sz="900" b="0" i="0" dirty="0" err="1">
                    <a:solidFill>
                      <a:schemeClr val="tx1"/>
                    </a:solidFill>
                    <a:effectLst/>
                    <a:latin typeface="Segoe WPC"/>
                  </a:rPr>
                  <a:t>luck</a:t>
                </a:r>
                <a:r>
                  <a:rPr lang="es-PE" sz="900" b="0" i="0" dirty="0">
                    <a:solidFill>
                      <a:schemeClr val="tx1"/>
                    </a:solidFill>
                    <a:effectLst/>
                    <a:latin typeface="Segoe WPC"/>
                  </a:rPr>
                  <a:t>, </a:t>
                </a:r>
                <a:r>
                  <a:rPr lang="es-PE" sz="900" b="0" i="0" dirty="0" err="1">
                    <a:solidFill>
                      <a:schemeClr val="tx1"/>
                    </a:solidFill>
                    <a:effectLst/>
                    <a:latin typeface="Segoe WPC"/>
                  </a:rPr>
                  <a:t>selection</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missing</a:t>
                </a:r>
                <a:r>
                  <a:rPr lang="es-PE" sz="900" b="0" i="0" dirty="0">
                    <a:solidFill>
                      <a:schemeClr val="tx1"/>
                    </a:solidFill>
                    <a:effectLst/>
                    <a:latin typeface="Segoe WPC"/>
                  </a:rPr>
                  <a:t> </a:t>
                </a:r>
                <a:r>
                  <a:rPr lang="es-PE" sz="900" b="0" i="0" dirty="0" err="1">
                    <a:solidFill>
                      <a:schemeClr val="tx1"/>
                    </a:solidFill>
                    <a:effectLst/>
                    <a:latin typeface="Segoe WPC"/>
                  </a:rPr>
                  <a:t>bad</a:t>
                </a:r>
                <a:r>
                  <a:rPr lang="es-PE" sz="900" b="0" i="0" dirty="0">
                    <a:solidFill>
                      <a:schemeClr val="tx1"/>
                    </a:solidFill>
                    <a:effectLst/>
                    <a:latin typeface="Segoe WPC"/>
                  </a:rPr>
                  <a:t> </a:t>
                </a:r>
                <a:r>
                  <a:rPr lang="es-PE" sz="900" b="0" i="0" dirty="0" err="1">
                    <a:solidFill>
                      <a:schemeClr val="tx1"/>
                    </a:solidFill>
                    <a:effectLst/>
                    <a:latin typeface="Segoe WPC"/>
                  </a:rPr>
                  <a:t>outcomes</a:t>
                </a:r>
                <a:r>
                  <a:rPr lang="es-PE" sz="900" b="0" i="0" dirty="0">
                    <a:solidFill>
                      <a:schemeClr val="tx1"/>
                    </a:solidFill>
                    <a:effectLst/>
                    <a:latin typeface="Segoe WPC"/>
                  </a:rPr>
                  <a:t>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persistent</a:t>
                </a:r>
                <a:r>
                  <a:rPr lang="es-PE" sz="900" b="0" i="0" dirty="0">
                    <a:solidFill>
                      <a:schemeClr val="tx1"/>
                    </a:solidFill>
                    <a:effectLst/>
                    <a:latin typeface="Segoe WPC"/>
                  </a:rPr>
                  <a:t> </a:t>
                </a:r>
                <a:r>
                  <a:rPr lang="es-PE" sz="900" b="0" i="0" dirty="0" err="1">
                    <a:solidFill>
                      <a:schemeClr val="tx1"/>
                    </a:solidFill>
                    <a:effectLst/>
                    <a:latin typeface="Segoe WPC"/>
                  </a:rPr>
                  <a:t>skill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single formula;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issues</a:t>
                </a:r>
                <a:r>
                  <a:rPr lang="es-PE" sz="900" b="0" i="0" dirty="0">
                    <a:solidFill>
                      <a:schemeClr val="tx1"/>
                    </a:solidFill>
                    <a:effectLst/>
                    <a:latin typeface="Segoe WPC"/>
                  </a:rPr>
                  <a:t> are </a:t>
                </a:r>
                <a:r>
                  <a:rPr lang="es-PE" sz="900" b="0" i="0" dirty="0" err="1">
                    <a:solidFill>
                      <a:schemeClr val="tx1"/>
                    </a:solidFill>
                    <a:effectLst/>
                    <a:latin typeface="Segoe WPC"/>
                  </a:rPr>
                  <a:t>average</a:t>
                </a:r>
                <a:r>
                  <a:rPr lang="es-PE" sz="900" b="0" i="0" dirty="0">
                    <a:solidFill>
                      <a:schemeClr val="tx1"/>
                    </a:solidFill>
                    <a:effectLst/>
                    <a:latin typeface="Segoe WPC"/>
                  </a:rPr>
                  <a:t> </a:t>
                </a:r>
                <a:r>
                  <a:rPr lang="es-PE" sz="900" b="0" i="0" dirty="0" err="1">
                    <a:solidFill>
                      <a:schemeClr val="tx1"/>
                    </a:solidFill>
                    <a:effectLst/>
                    <a:latin typeface="Segoe WPC"/>
                  </a:rPr>
                  <a:t>abnormal</a:t>
                </a:r>
                <a:r>
                  <a:rPr lang="es-PE" sz="900" b="0" i="0" dirty="0">
                    <a:solidFill>
                      <a:schemeClr val="tx1"/>
                    </a:solidFill>
                    <a:effectLst/>
                    <a:latin typeface="Segoe WPC"/>
                  </a:rPr>
                  <a:t> performance, </a:t>
                </a:r>
                <a:r>
                  <a:rPr lang="es-PE" sz="900" b="0" i="0" dirty="0" err="1">
                    <a:solidFill>
                      <a:schemeClr val="tx1"/>
                    </a:solidFill>
                    <a:effectLst/>
                    <a:latin typeface="Segoe WPC"/>
                  </a:rPr>
                  <a:t>persistence</a:t>
                </a:r>
                <a:r>
                  <a:rPr lang="es-PE" sz="900" b="0" i="0" dirty="0">
                    <a:solidFill>
                      <a:schemeClr val="tx1"/>
                    </a:solidFill>
                    <a:effectLst/>
                    <a:latin typeface="Segoe WPC"/>
                  </a:rPr>
                  <a:t>, and </a:t>
                </a:r>
                <a:r>
                  <a:rPr lang="es-PE" sz="900" b="0" i="0" dirty="0" err="1">
                    <a:solidFill>
                      <a:schemeClr val="tx1"/>
                    </a:solidFill>
                    <a:effectLst/>
                    <a:latin typeface="Segoe WPC"/>
                  </a:rPr>
                  <a:t>reporting</a:t>
                </a:r>
                <a:r>
                  <a:rPr lang="es-PE" sz="900" b="0" i="0" dirty="0">
                    <a:solidFill>
                      <a:schemeClr val="tx1"/>
                    </a:solidFill>
                    <a:effectLst/>
                    <a:latin typeface="Segoe WPC"/>
                  </a:rPr>
                  <a:t> </a:t>
                </a:r>
                <a:r>
                  <a:rPr lang="es-PE" sz="900" b="0" i="0" dirty="0" err="1">
                    <a:solidFill>
                      <a:schemeClr val="tx1"/>
                    </a:solidFill>
                    <a:effectLst/>
                    <a:latin typeface="Segoe WPC"/>
                  </a:rPr>
                  <a:t>bias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Mutual </a:t>
                </a:r>
                <a:r>
                  <a:rPr lang="es-PE" sz="900" b="0" i="0" dirty="0" err="1">
                    <a:solidFill>
                      <a:schemeClr val="tx1"/>
                    </a:solidFill>
                    <a:effectLst/>
                    <a:latin typeface="Segoe WPC"/>
                  </a:rPr>
                  <a:t>fund</a:t>
                </a:r>
                <a:r>
                  <a:rPr lang="es-PE" sz="900" b="0" i="0" dirty="0">
                    <a:solidFill>
                      <a:schemeClr val="tx1"/>
                    </a:solidFill>
                    <a:effectLst/>
                    <a:latin typeface="Segoe WPC"/>
                  </a:rPr>
                  <a:t> </a:t>
                </a:r>
                <a:r>
                  <a:rPr lang="es-PE" sz="900" b="0" i="0" dirty="0" err="1">
                    <a:solidFill>
                      <a:schemeClr val="tx1"/>
                    </a:solidFill>
                    <a:effectLst/>
                    <a:latin typeface="Segoe WPC"/>
                  </a:rPr>
                  <a:t>evidence</a:t>
                </a:r>
                <a:r>
                  <a:rPr lang="es-PE" sz="900" b="0" i="0" dirty="0">
                    <a:solidFill>
                      <a:schemeClr val="tx1"/>
                    </a:solidFill>
                    <a:effectLst/>
                    <a:latin typeface="Segoe WPC"/>
                  </a:rPr>
                  <a:t> </a:t>
                </a:r>
                <a:r>
                  <a:rPr lang="es-PE" sz="900" b="0" i="0" dirty="0" err="1">
                    <a:solidFill>
                      <a:schemeClr val="tx1"/>
                    </a:solidFill>
                    <a:effectLst/>
                    <a:latin typeface="Segoe WPC"/>
                  </a:rPr>
                  <a:t>supports</a:t>
                </a:r>
                <a:r>
                  <a:rPr lang="es-PE" sz="900" b="0" i="0" dirty="0">
                    <a:solidFill>
                      <a:schemeClr val="tx1"/>
                    </a:solidFill>
                    <a:effectLst/>
                    <a:latin typeface="Segoe WPC"/>
                  </a:rPr>
                  <a:t> </a:t>
                </a:r>
                <a:r>
                  <a:rPr lang="es-PE" sz="900" b="0" i="0" dirty="0" err="1">
                    <a:solidFill>
                      <a:schemeClr val="tx1"/>
                    </a:solidFill>
                    <a:effectLst/>
                    <a:latin typeface="Segoe WPC"/>
                  </a:rPr>
                  <a:t>passive</a:t>
                </a:r>
                <a:r>
                  <a:rPr lang="es-PE" sz="900" b="0" i="0" dirty="0">
                    <a:solidFill>
                      <a:schemeClr val="tx1"/>
                    </a:solidFill>
                    <a:effectLst/>
                    <a:latin typeface="Segoe WPC"/>
                  </a:rPr>
                  <a:t> </a:t>
                </a:r>
                <a:r>
                  <a:rPr lang="es-PE" sz="900" b="0" i="0" dirty="0" err="1">
                    <a:solidFill>
                      <a:schemeClr val="tx1"/>
                    </a:solidFill>
                    <a:effectLst/>
                    <a:latin typeface="Segoe WPC"/>
                  </a:rPr>
                  <a:t>investing</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charge</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fees and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outperform</a:t>
                </a:r>
                <a:r>
                  <a:rPr lang="es-PE" sz="900" b="0" i="0" dirty="0">
                    <a:solidFill>
                      <a:schemeClr val="tx1"/>
                    </a:solidFill>
                    <a:effectLst/>
                    <a:latin typeface="Segoe WPC"/>
                  </a:rPr>
                  <a:t> active </a:t>
                </a:r>
                <a:r>
                  <a:rPr lang="es-PE" sz="900" b="0" i="0" dirty="0" err="1">
                    <a:solidFill>
                      <a:schemeClr val="tx1"/>
                    </a:solidFill>
                    <a:effectLst/>
                    <a:latin typeface="Segoe WPC"/>
                  </a:rPr>
                  <a:t>funds</a:t>
                </a:r>
                <a:r>
                  <a:rPr lang="es-PE" sz="900" b="0" i="0" dirty="0">
                    <a:solidFill>
                      <a:schemeClr val="tx1"/>
                    </a:solidFill>
                    <a:effectLst/>
                    <a:latin typeface="Segoe WPC"/>
                  </a:rPr>
                  <a:t> after expenses.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fund</a:t>
                </a:r>
                <a:r>
                  <a:rPr lang="es-PE" sz="900" b="0" i="0" dirty="0">
                    <a:solidFill>
                      <a:schemeClr val="tx1"/>
                    </a:solidFill>
                    <a:effectLst/>
                    <a:latin typeface="Segoe WPC"/>
                  </a:rPr>
                  <a:t> </a:t>
                </a:r>
                <a:r>
                  <a:rPr lang="es-PE" sz="900" b="0" i="0" dirty="0" err="1">
                    <a:solidFill>
                      <a:schemeClr val="tx1"/>
                    </a:solidFill>
                    <a:effectLst/>
                    <a:latin typeface="Segoe WPC"/>
                  </a:rPr>
                  <a:t>databases</a:t>
                </a:r>
                <a:r>
                  <a:rPr lang="es-PE" sz="900" b="0" i="0" dirty="0">
                    <a:solidFill>
                      <a:schemeClr val="tx1"/>
                    </a:solidFill>
                    <a:effectLst/>
                    <a:latin typeface="Segoe WPC"/>
                  </a:rPr>
                  <a:t> </a:t>
                </a:r>
                <a:r>
                  <a:rPr lang="es-PE" sz="900" b="0" i="0" dirty="0" err="1">
                    <a:solidFill>
                      <a:schemeClr val="tx1"/>
                    </a:solidFill>
                    <a:effectLst/>
                    <a:latin typeface="Segoe WPC"/>
                  </a:rPr>
                  <a:t>suffer</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self-reporting</a:t>
                </a:r>
                <a:r>
                  <a:rPr lang="es-PE" sz="900" b="0" i="0" dirty="0">
                    <a:solidFill>
                      <a:schemeClr val="tx1"/>
                    </a:solidFill>
                    <a:effectLst/>
                    <a:latin typeface="Segoe WPC"/>
                  </a:rPr>
                  <a:t>, </a:t>
                </a:r>
                <a:r>
                  <a:rPr lang="es-PE" sz="900" b="0" i="0" dirty="0" err="1">
                    <a:solidFill>
                      <a:schemeClr val="tx1"/>
                    </a:solidFill>
                    <a:effectLst/>
                    <a:latin typeface="Segoe WPC"/>
                  </a:rPr>
                  <a:t>survivorship</a:t>
                </a:r>
                <a:r>
                  <a:rPr lang="es-PE" sz="900" b="0" i="0" dirty="0">
                    <a:solidFill>
                      <a:schemeClr val="tx1"/>
                    </a:solidFill>
                    <a:effectLst/>
                    <a:latin typeface="Segoe WPC"/>
                  </a:rPr>
                  <a:t>, and </a:t>
                </a:r>
                <a:r>
                  <a:rPr lang="es-PE" sz="900" b="0" i="0" dirty="0" err="1">
                    <a:solidFill>
                      <a:schemeClr val="tx1"/>
                    </a:solidFill>
                    <a:effectLst/>
                    <a:latin typeface="Segoe WPC"/>
                  </a:rPr>
                  <a:t>selection</a:t>
                </a:r>
                <a:r>
                  <a:rPr lang="es-PE" sz="900" b="0" i="0" dirty="0">
                    <a:solidFill>
                      <a:schemeClr val="tx1"/>
                    </a:solidFill>
                    <a:effectLst/>
                    <a:latin typeface="Segoe WPC"/>
                  </a:rPr>
                  <a:t> </a:t>
                </a:r>
                <a:r>
                  <a:rPr lang="es-PE" sz="900" b="0" i="0" dirty="0" err="1">
                    <a:solidFill>
                      <a:schemeClr val="tx1"/>
                    </a:solidFill>
                    <a:effectLst/>
                    <a:latin typeface="Segoe WPC"/>
                  </a:rPr>
                  <a:t>biases</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poorly</a:t>
                </a:r>
                <a:r>
                  <a:rPr lang="es-PE" sz="900" b="0" i="0" dirty="0">
                    <a:solidFill>
                      <a:schemeClr val="tx1"/>
                    </a:solidFill>
                    <a:effectLst/>
                    <a:latin typeface="Segoe WPC"/>
                  </a:rPr>
                  <a:t> </a:t>
                </a:r>
                <a:r>
                  <a:rPr lang="es-PE" sz="900" b="0" i="0" dirty="0" err="1">
                    <a:solidFill>
                      <a:schemeClr val="tx1"/>
                    </a:solidFill>
                    <a:effectLst/>
                    <a:latin typeface="Segoe WPC"/>
                  </a:rPr>
                  <a:t>performing</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closed</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are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likely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report</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outperform</a:t>
                </a:r>
                <a:r>
                  <a:rPr lang="es-PE" sz="900" b="0" i="0" dirty="0">
                    <a:solidFill>
                      <a:schemeClr val="tx1"/>
                    </a:solidFill>
                    <a:effectLst/>
                    <a:latin typeface="Segoe WPC"/>
                  </a:rPr>
                  <a:t> in </a:t>
                </a:r>
                <a:r>
                  <a:rPr lang="es-PE" sz="900" b="0" i="0" dirty="0" err="1">
                    <a:solidFill>
                      <a:schemeClr val="tx1"/>
                    </a:solidFill>
                    <a:effectLst/>
                    <a:latin typeface="Segoe WPC"/>
                  </a:rPr>
                  <a:t>bear</a:t>
                </a:r>
                <a:r>
                  <a:rPr lang="es-PE" sz="900" b="0" i="0" dirty="0">
                    <a:solidFill>
                      <a:schemeClr val="tx1"/>
                    </a:solidFill>
                    <a:effectLst/>
                    <a:latin typeface="Segoe WPC"/>
                  </a:rPr>
                  <a:t> </a:t>
                </a:r>
                <a:r>
                  <a:rPr lang="es-PE" sz="900" b="0" i="0" dirty="0" err="1">
                    <a:solidFill>
                      <a:schemeClr val="tx1"/>
                    </a:solidFill>
                    <a:effectLst/>
                    <a:latin typeface="Segoe WPC"/>
                  </a:rPr>
                  <a:t>markets</a:t>
                </a:r>
                <a:r>
                  <a:rPr lang="es-PE" sz="900" b="0" i="0" dirty="0">
                    <a:solidFill>
                      <a:schemeClr val="tx1"/>
                    </a:solidFill>
                    <a:effectLst/>
                    <a:latin typeface="Segoe WPC"/>
                  </a:rPr>
                  <a:t> and </a:t>
                </a:r>
                <a:r>
                  <a:rPr lang="es-PE" sz="900" b="0" i="0" dirty="0" err="1">
                    <a:solidFill>
                      <a:schemeClr val="tx1"/>
                    </a:solidFill>
                    <a:effectLst/>
                    <a:latin typeface="Segoe WPC"/>
                  </a:rPr>
                  <a:t>underperform</a:t>
                </a:r>
                <a:r>
                  <a:rPr lang="es-PE" sz="900" b="0" i="0" dirty="0">
                    <a:solidFill>
                      <a:schemeClr val="tx1"/>
                    </a:solidFill>
                    <a:effectLst/>
                    <a:latin typeface="Segoe WPC"/>
                  </a:rPr>
                  <a:t> in </a:t>
                </a:r>
                <a:r>
                  <a:rPr lang="es-PE" sz="900" b="0" i="0" dirty="0" err="1">
                    <a:solidFill>
                      <a:schemeClr val="tx1"/>
                    </a:solidFill>
                    <a:effectLst/>
                    <a:latin typeface="Segoe WPC"/>
                  </a:rPr>
                  <a:t>bull</a:t>
                </a:r>
                <a:r>
                  <a:rPr lang="es-PE" sz="900" b="0" i="0" dirty="0">
                    <a:solidFill>
                      <a:schemeClr val="tx1"/>
                    </a:solidFill>
                    <a:effectLst/>
                    <a:latin typeface="Segoe WPC"/>
                  </a:rPr>
                  <a:t> </a:t>
                </a:r>
                <a:r>
                  <a:rPr lang="es-PE" sz="900" b="0" i="0" dirty="0" err="1">
                    <a:solidFill>
                      <a:schemeClr val="tx1"/>
                    </a:solidFill>
                    <a:effectLst/>
                    <a:latin typeface="Segoe WPC"/>
                  </a:rPr>
                  <a:t>markets</a:t>
                </a:r>
                <a:r>
                  <a:rPr lang="es-PE" sz="900" b="0" i="0" dirty="0">
                    <a:solidFill>
                      <a:schemeClr val="tx1"/>
                    </a:solidFill>
                    <a:effectLst/>
                    <a:latin typeface="Segoe WPC"/>
                  </a:rPr>
                  <a:t>, </a:t>
                </a:r>
                <a:r>
                  <a:rPr lang="es-PE" sz="900" b="0" i="0" dirty="0" err="1">
                    <a:solidFill>
                      <a:schemeClr val="tx1"/>
                    </a:solidFill>
                    <a:effectLst/>
                    <a:latin typeface="Segoe WPC"/>
                  </a:rPr>
                  <a:t>which</a:t>
                </a:r>
                <a:r>
                  <a:rPr lang="es-PE" sz="900" b="0" i="0" dirty="0">
                    <a:solidFill>
                      <a:schemeClr val="tx1"/>
                    </a:solidFill>
                    <a:effectLst/>
                    <a:latin typeface="Segoe WPC"/>
                  </a:rPr>
                  <a:t> </a:t>
                </a:r>
                <a:r>
                  <a:rPr lang="es-PE" sz="900" b="0" i="0" dirty="0" err="1">
                    <a:solidFill>
                      <a:schemeClr val="tx1"/>
                    </a:solidFill>
                    <a:effectLst/>
                    <a:latin typeface="Segoe WPC"/>
                  </a:rPr>
                  <a:t>partly</a:t>
                </a:r>
                <a:r>
                  <a:rPr lang="es-PE" sz="900" b="0" i="0" dirty="0">
                    <a:solidFill>
                      <a:schemeClr val="tx1"/>
                    </a:solidFill>
                    <a:effectLst/>
                    <a:latin typeface="Segoe WPC"/>
                  </a:rPr>
                  <a:t> </a:t>
                </a:r>
                <a:r>
                  <a:rPr lang="es-PE" sz="900" b="0" i="0" dirty="0" err="1">
                    <a:solidFill>
                      <a:schemeClr val="tx1"/>
                    </a:solidFill>
                    <a:effectLst/>
                    <a:latin typeface="Segoe WPC"/>
                  </a:rPr>
                  <a:t>explains</a:t>
                </a:r>
                <a:r>
                  <a:rPr lang="es-PE" sz="900" b="0" i="0" dirty="0">
                    <a:solidFill>
                      <a:schemeClr val="tx1"/>
                    </a:solidFill>
                    <a:effectLst/>
                    <a:latin typeface="Segoe WPC"/>
                  </a:rPr>
                  <a:t> </a:t>
                </a:r>
                <a:r>
                  <a:rPr lang="es-PE" sz="900" b="0" i="0" dirty="0" err="1">
                    <a:solidFill>
                      <a:schemeClr val="tx1"/>
                    </a:solidFill>
                    <a:effectLst/>
                    <a:latin typeface="Segoe WPC"/>
                  </a:rPr>
                  <a:t>mixed</a:t>
                </a:r>
                <a:r>
                  <a:rPr lang="es-PE" sz="900" b="0" i="0" dirty="0">
                    <a:solidFill>
                      <a:schemeClr val="tx1"/>
                    </a:solidFill>
                    <a:effectLst/>
                    <a:latin typeface="Segoe WPC"/>
                  </a:rPr>
                  <a:t> </a:t>
                </a:r>
                <a:r>
                  <a:rPr lang="es-PE" sz="900" b="0" i="0" dirty="0" err="1">
                    <a:solidFill>
                      <a:schemeClr val="tx1"/>
                    </a:solidFill>
                    <a:effectLst/>
                    <a:latin typeface="Segoe WPC"/>
                  </a:rPr>
                  <a:t>evidence</a:t>
                </a:r>
                <a:r>
                  <a:rPr lang="es-PE" sz="900" b="0" i="0" dirty="0">
                    <a:solidFill>
                      <a:schemeClr val="tx1"/>
                    </a:solidFill>
                    <a:effectLst/>
                    <a:latin typeface="Segoe WPC"/>
                  </a:rPr>
                  <a:t> relative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broad</a:t>
                </a:r>
                <a:r>
                  <a:rPr lang="es-PE" sz="900" b="0" i="0" dirty="0">
                    <a:solidFill>
                      <a:schemeClr val="tx1"/>
                    </a:solidFill>
                    <a:effectLst/>
                    <a:latin typeface="Segoe WPC"/>
                  </a:rPr>
                  <a:t> </a:t>
                </a:r>
                <a:r>
                  <a:rPr lang="es-PE" sz="900" b="0" i="0" dirty="0" err="1">
                    <a:solidFill>
                      <a:schemeClr val="tx1"/>
                    </a:solidFill>
                    <a:effectLst/>
                    <a:latin typeface="Segoe WPC"/>
                  </a:rPr>
                  <a:t>equity</a:t>
                </a:r>
                <a:r>
                  <a:rPr lang="es-PE" sz="900" b="0" i="0" dirty="0">
                    <a:solidFill>
                      <a:schemeClr val="tx1"/>
                    </a:solidFill>
                    <a:effectLst/>
                    <a:latin typeface="Segoe WPC"/>
                  </a:rPr>
                  <a:t> indexes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S&amp;P 500.</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interpret</a:t>
                </a:r>
                <a:r>
                  <a:rPr lang="es-PE" sz="900" b="0" i="0" dirty="0">
                    <a:solidFill>
                      <a:schemeClr val="tx1"/>
                    </a:solidFill>
                    <a:effectLst/>
                    <a:latin typeface="Segoe WPC"/>
                  </a:rPr>
                  <a:t> </a:t>
                </a:r>
                <a:r>
                  <a:rPr lang="es-PE" sz="900" b="0" i="0" dirty="0" err="1">
                    <a:solidFill>
                      <a:schemeClr val="tx1"/>
                    </a:solidFill>
                    <a:effectLst/>
                    <a:latin typeface="Segoe WPC"/>
                  </a:rPr>
                  <a:t>reported</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fund</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at </a:t>
                </a:r>
                <a:r>
                  <a:rPr lang="es-PE" sz="900" b="0" i="0" dirty="0" err="1">
                    <a:solidFill>
                      <a:schemeClr val="tx1"/>
                    </a:solidFill>
                    <a:effectLst/>
                    <a:latin typeface="Segoe WPC"/>
                  </a:rPr>
                  <a:t>face</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measurement</a:t>
                </a:r>
                <a:r>
                  <a:rPr lang="es-PE" sz="900" b="0" i="0" dirty="0">
                    <a:solidFill>
                      <a:schemeClr val="tx1"/>
                    </a:solidFill>
                    <a:effectLst/>
                    <a:latin typeface="Segoe WPC"/>
                  </a:rPr>
                  <a:t> </a:t>
                </a:r>
                <a:r>
                  <a:rPr lang="es-PE" sz="900" b="0" i="0" dirty="0" err="1">
                    <a:solidFill>
                      <a:schemeClr val="tx1"/>
                    </a:solidFill>
                    <a:effectLst/>
                    <a:latin typeface="Segoe WPC"/>
                  </a:rPr>
                  <a:t>biases</a:t>
                </a:r>
                <a:r>
                  <a:rPr lang="es-PE" sz="900" b="0" i="0" dirty="0">
                    <a:solidFill>
                      <a:schemeClr val="tx1"/>
                    </a:solidFill>
                    <a:effectLst/>
                    <a:latin typeface="Segoe WPC"/>
                  </a:rPr>
                  <a:t> can </a:t>
                </a:r>
                <a:r>
                  <a:rPr lang="es-PE" sz="900" b="0" i="0" dirty="0" err="1">
                    <a:solidFill>
                      <a:schemeClr val="tx1"/>
                    </a:solidFill>
                    <a:effectLst/>
                    <a:latin typeface="Segoe WPC"/>
                  </a:rPr>
                  <a:t>overstate</a:t>
                </a:r>
                <a:r>
                  <a:rPr lang="es-PE" sz="900" b="0" i="0" dirty="0">
                    <a:solidFill>
                      <a:schemeClr val="tx1"/>
                    </a:solidFill>
                    <a:effectLst/>
                    <a:latin typeface="Segoe WPC"/>
                  </a:rPr>
                  <a:t> true performance.</a:t>
                </a:r>
              </a:p>
              <a:p>
                <a:pPr>
                  <a:spcAft>
                    <a:spcPts val="600"/>
                  </a:spcAft>
                </a:pPr>
                <a:r>
                  <a:rPr lang="es-PE" sz="900" b="1" dirty="0">
                    <a:latin typeface="Segoe WPC"/>
                  </a:rPr>
                  <a:t>5. </a:t>
                </a:r>
                <a:r>
                  <a:rPr lang="es-PE" sz="900" b="1" dirty="0" err="1">
                    <a:latin typeface="Segoe WPC"/>
                  </a:rPr>
                  <a:t>Undesirable</a:t>
                </a:r>
                <a:r>
                  <a:rPr lang="es-PE" sz="900" b="1" dirty="0">
                    <a:latin typeface="Segoe WPC"/>
                  </a:rPr>
                  <a:t> Trading </a:t>
                </a:r>
                <a:r>
                  <a:rPr lang="es-PE" sz="900" b="1" dirty="0" err="1">
                    <a:latin typeface="Segoe WPC"/>
                  </a:rPr>
                  <a:t>Behavior</a:t>
                </a:r>
                <a:r>
                  <a:rPr lang="es-PE" sz="900" b="1" dirty="0">
                    <a:latin typeface="Segoe WPC"/>
                  </a:rPr>
                  <a:t> in Mutual </a:t>
                </a:r>
                <a:r>
                  <a:rPr lang="es-PE" sz="900" b="1" dirty="0" err="1">
                    <a:latin typeface="Segoe WPC"/>
                  </a:rPr>
                  <a:t>Funds</a:t>
                </a:r>
                <a:br>
                  <a:rPr lang="es-PE" sz="900" dirty="0">
                    <a:latin typeface="Segoe WPC"/>
                  </a:rPr>
                </a:br>
                <a:r>
                  <a:rPr lang="es-PE" sz="900" b="1" dirty="0" err="1">
                    <a:latin typeface="Segoe WPC"/>
                  </a:rPr>
                  <a:t>Financial</a:t>
                </a:r>
                <a:r>
                  <a:rPr lang="es-PE" sz="900" b="1" dirty="0">
                    <a:latin typeface="Segoe WPC"/>
                  </a:rPr>
                  <a:t> </a:t>
                </a:r>
                <a:r>
                  <a:rPr lang="es-PE" sz="900" b="1" dirty="0" err="1">
                    <a:latin typeface="Segoe WPC"/>
                  </a:rPr>
                  <a:t>Object</a:t>
                </a:r>
                <a:r>
                  <a:rPr lang="es-PE" sz="900" b="1" dirty="0">
                    <a:latin typeface="Segoe WPC"/>
                  </a:rPr>
                  <a:t>:</a:t>
                </a:r>
                <a:r>
                  <a:rPr lang="es-PE" sz="900" dirty="0">
                    <a:latin typeface="Segoe WPC"/>
                  </a:rPr>
                  <a:t> Trading abuses and </a:t>
                </a:r>
                <a:r>
                  <a:rPr lang="es-PE" sz="900" dirty="0" err="1">
                    <a:latin typeface="Segoe WPC"/>
                  </a:rPr>
                  <a:t>conflicts</a:t>
                </a:r>
                <a:r>
                  <a:rPr lang="es-PE" sz="900" dirty="0">
                    <a:latin typeface="Segoe WPC"/>
                  </a:rPr>
                  <a:t> in </a:t>
                </a:r>
                <a:r>
                  <a:rPr lang="es-PE" sz="900" dirty="0" err="1">
                    <a:latin typeface="Segoe WPC"/>
                  </a:rPr>
                  <a:t>fund</a:t>
                </a:r>
                <a:r>
                  <a:rPr lang="es-PE" sz="900" dirty="0">
                    <a:latin typeface="Segoe WPC"/>
                  </a:rPr>
                  <a:t> </a:t>
                </a:r>
                <a:r>
                  <a:rPr lang="es-PE" sz="900" dirty="0" err="1">
                    <a:latin typeface="Segoe WPC"/>
                  </a:rPr>
                  <a:t>management</a:t>
                </a:r>
                <a:r>
                  <a:rPr lang="es-PE" sz="900" dirty="0">
                    <a:latin typeface="Segoe WPC"/>
                  </a:rPr>
                  <a:t>.</a:t>
                </a:r>
                <a:br>
                  <a:rPr lang="es-PE" sz="900" dirty="0">
                    <a:latin typeface="Segoe WPC"/>
                  </a:rPr>
                </a:br>
                <a:r>
                  <a:rPr lang="es-PE" sz="900" b="1" dirty="0" err="1">
                    <a:latin typeface="Segoe WPC"/>
                  </a:rPr>
                  <a:t>Plain</a:t>
                </a:r>
                <a:r>
                  <a:rPr lang="es-PE" sz="900" b="1" dirty="0">
                    <a:latin typeface="Segoe WPC"/>
                  </a:rPr>
                  <a:t> </a:t>
                </a:r>
                <a:r>
                  <a:rPr lang="es-PE" sz="900" b="1" dirty="0" err="1">
                    <a:latin typeface="Segoe WPC"/>
                  </a:rPr>
                  <a:t>Intuition</a:t>
                </a:r>
                <a:r>
                  <a:rPr lang="es-PE" sz="900" b="1" dirty="0">
                    <a:latin typeface="Segoe WPC"/>
                  </a:rPr>
                  <a:t>:</a:t>
                </a:r>
                <a:r>
                  <a:rPr lang="es-PE" sz="900" dirty="0">
                    <a:latin typeface="Segoe WPC"/>
                  </a:rPr>
                  <a:t> </a:t>
                </a:r>
                <a:r>
                  <a:rPr lang="es-PE" sz="900" dirty="0" err="1">
                    <a:latin typeface="Segoe WPC"/>
                  </a:rPr>
                  <a:t>Some</a:t>
                </a:r>
                <a:r>
                  <a:rPr lang="es-PE" sz="900" dirty="0">
                    <a:latin typeface="Segoe WPC"/>
                  </a:rPr>
                  <a:t> trading </a:t>
                </a:r>
                <a:r>
                  <a:rPr lang="es-PE" sz="900" dirty="0" err="1">
                    <a:latin typeface="Segoe WPC"/>
                  </a:rPr>
                  <a:t>behaviors</a:t>
                </a:r>
                <a:r>
                  <a:rPr lang="es-PE" sz="900" dirty="0">
                    <a:latin typeface="Segoe WPC"/>
                  </a:rPr>
                  <a:t> </a:t>
                </a:r>
                <a:r>
                  <a:rPr lang="es-PE" sz="900" dirty="0" err="1">
                    <a:latin typeface="Segoe WPC"/>
                  </a:rPr>
                  <a:t>exploit</a:t>
                </a:r>
                <a:r>
                  <a:rPr lang="es-PE" sz="900" dirty="0">
                    <a:latin typeface="Segoe WPC"/>
                  </a:rPr>
                  <a:t> </a:t>
                </a:r>
                <a:r>
                  <a:rPr lang="es-PE" sz="900" dirty="0" err="1">
                    <a:latin typeface="Segoe WPC"/>
                  </a:rPr>
                  <a:t>stale</a:t>
                </a:r>
                <a:r>
                  <a:rPr lang="es-PE" sz="900" dirty="0">
                    <a:latin typeface="Segoe WPC"/>
                  </a:rPr>
                  <a:t> </a:t>
                </a:r>
                <a:r>
                  <a:rPr lang="es-PE" sz="900" dirty="0" err="1">
                    <a:latin typeface="Segoe WPC"/>
                  </a:rPr>
                  <a:t>pricing</a:t>
                </a:r>
                <a:r>
                  <a:rPr lang="es-PE" sz="900" dirty="0">
                    <a:latin typeface="Segoe WPC"/>
                  </a:rPr>
                  <a:t>, </a:t>
                </a:r>
                <a:r>
                  <a:rPr lang="es-PE" sz="900" dirty="0" err="1">
                    <a:latin typeface="Segoe WPC"/>
                  </a:rPr>
                  <a:t>privileged</a:t>
                </a:r>
                <a:r>
                  <a:rPr lang="es-PE" sz="900" dirty="0">
                    <a:latin typeface="Segoe WPC"/>
                  </a:rPr>
                  <a:t> timing, </a:t>
                </a:r>
                <a:r>
                  <a:rPr lang="es-PE" sz="900" dirty="0" err="1">
                    <a:latin typeface="Segoe WPC"/>
                  </a:rPr>
                  <a:t>or</a:t>
                </a:r>
                <a:r>
                  <a:rPr lang="es-PE" sz="900" dirty="0">
                    <a:latin typeface="Segoe WPC"/>
                  </a:rPr>
                  <a:t> </a:t>
                </a:r>
                <a:r>
                  <a:rPr lang="es-PE" sz="900" dirty="0" err="1">
                    <a:latin typeface="Segoe WPC"/>
                  </a:rPr>
                  <a:t>knowledge</a:t>
                </a:r>
                <a:r>
                  <a:rPr lang="es-PE" sz="900" dirty="0">
                    <a:latin typeface="Segoe WPC"/>
                  </a:rPr>
                  <a:t> </a:t>
                </a:r>
                <a:r>
                  <a:rPr lang="es-PE" sz="900" dirty="0" err="1">
                    <a:latin typeface="Segoe WPC"/>
                  </a:rPr>
                  <a:t>of</a:t>
                </a:r>
                <a:r>
                  <a:rPr lang="es-PE" sz="900" dirty="0">
                    <a:latin typeface="Segoe WPC"/>
                  </a:rPr>
                  <a:t> </a:t>
                </a:r>
                <a:r>
                  <a:rPr lang="es-PE" sz="900" dirty="0" err="1">
                    <a:latin typeface="Segoe WPC"/>
                  </a:rPr>
                  <a:t>pending</a:t>
                </a:r>
                <a:r>
                  <a:rPr lang="es-PE" sz="900" dirty="0">
                    <a:latin typeface="Segoe WPC"/>
                  </a:rPr>
                  <a:t> </a:t>
                </a:r>
                <a:r>
                  <a:rPr lang="es-PE" sz="900" dirty="0" err="1">
                    <a:latin typeface="Segoe WPC"/>
                  </a:rPr>
                  <a:t>trades</a:t>
                </a:r>
                <a:r>
                  <a:rPr lang="es-PE" sz="900" dirty="0">
                    <a:latin typeface="Segoe WPC"/>
                  </a:rPr>
                  <a:t> at </a:t>
                </a:r>
                <a:r>
                  <a:rPr lang="es-PE" sz="900" dirty="0" err="1">
                    <a:latin typeface="Segoe WPC"/>
                  </a:rPr>
                  <a:t>the</a:t>
                </a:r>
                <a:r>
                  <a:rPr lang="es-PE" sz="900" dirty="0">
                    <a:latin typeface="Segoe WPC"/>
                  </a:rPr>
                  <a:t> expense </a:t>
                </a:r>
                <a:r>
                  <a:rPr lang="es-PE" sz="900" dirty="0" err="1">
                    <a:latin typeface="Segoe WPC"/>
                  </a:rPr>
                  <a:t>of</a:t>
                </a:r>
                <a:r>
                  <a:rPr lang="es-PE" sz="900" dirty="0">
                    <a:latin typeface="Segoe WPC"/>
                  </a:rPr>
                  <a:t> </a:t>
                </a:r>
                <a:r>
                  <a:rPr lang="es-PE" sz="900" dirty="0" err="1">
                    <a:latin typeface="Segoe WPC"/>
                  </a:rPr>
                  <a:t>other</a:t>
                </a:r>
                <a:r>
                  <a:rPr lang="es-PE" sz="900" dirty="0">
                    <a:latin typeface="Segoe WPC"/>
                  </a:rPr>
                  <a:t> </a:t>
                </a:r>
                <a:r>
                  <a:rPr lang="es-PE" sz="900" dirty="0" err="1">
                    <a:latin typeface="Segoe WPC"/>
                  </a:rPr>
                  <a:t>investors</a:t>
                </a:r>
                <a:r>
                  <a:rPr lang="es-PE" sz="900" dirty="0">
                    <a:latin typeface="Segoe WPC"/>
                  </a:rPr>
                  <a:t>.</a:t>
                </a:r>
                <a:br>
                  <a:rPr lang="es-PE" sz="900" dirty="0">
                    <a:latin typeface="Segoe WPC"/>
                  </a:rPr>
                </a:br>
                <a:r>
                  <a:rPr lang="es-PE" sz="900" b="1" dirty="0">
                    <a:latin typeface="Segoe WPC"/>
                  </a:rPr>
                  <a:t>Visual </a:t>
                </a:r>
                <a:r>
                  <a:rPr lang="es-PE" sz="900" b="1" dirty="0" err="1">
                    <a:latin typeface="Segoe WPC"/>
                  </a:rPr>
                  <a:t>Intuition</a:t>
                </a:r>
                <a:r>
                  <a:rPr lang="es-PE" sz="900" b="1" dirty="0">
                    <a:latin typeface="Segoe WPC"/>
                  </a:rPr>
                  <a:t>:</a:t>
                </a:r>
                <a:r>
                  <a:rPr lang="es-PE" sz="900" dirty="0">
                    <a:latin typeface="Segoe WPC"/>
                  </a:rPr>
                  <a:t> </a:t>
                </a:r>
                <a:r>
                  <a:rPr lang="es-PE" sz="900" dirty="0" err="1">
                    <a:latin typeface="Segoe WPC"/>
                  </a:rPr>
                  <a:t>Traders</a:t>
                </a:r>
                <a:r>
                  <a:rPr lang="es-PE" sz="900" dirty="0">
                    <a:latin typeface="Segoe WPC"/>
                  </a:rPr>
                  <a:t> </a:t>
                </a:r>
                <a:r>
                  <a:rPr lang="es-PE" sz="900" dirty="0" err="1">
                    <a:latin typeface="Segoe WPC"/>
                  </a:rPr>
                  <a:t>or</a:t>
                </a:r>
                <a:r>
                  <a:rPr lang="es-PE" sz="900" dirty="0">
                    <a:latin typeface="Segoe WPC"/>
                  </a:rPr>
                  <a:t> </a:t>
                </a:r>
                <a:r>
                  <a:rPr lang="es-PE" sz="900" dirty="0" err="1">
                    <a:latin typeface="Segoe WPC"/>
                  </a:rPr>
                  <a:t>brokers</a:t>
                </a:r>
                <a:r>
                  <a:rPr lang="es-PE" sz="900" dirty="0">
                    <a:latin typeface="Segoe WPC"/>
                  </a:rPr>
                  <a:t> use </a:t>
                </a:r>
                <a:r>
                  <a:rPr lang="es-PE" sz="900" dirty="0" err="1">
                    <a:latin typeface="Segoe WPC"/>
                  </a:rPr>
                  <a:t>information</a:t>
                </a:r>
                <a:r>
                  <a:rPr lang="es-PE" sz="900" dirty="0">
                    <a:latin typeface="Segoe WPC"/>
                  </a:rPr>
                  <a:t> </a:t>
                </a:r>
                <a:r>
                  <a:rPr lang="es-PE" sz="900" dirty="0" err="1">
                    <a:latin typeface="Segoe WPC"/>
                  </a:rPr>
                  <a:t>others</a:t>
                </a:r>
                <a:r>
                  <a:rPr lang="es-PE" sz="900" dirty="0">
                    <a:latin typeface="Segoe WPC"/>
                  </a:rPr>
                  <a:t> do </a:t>
                </a:r>
                <a:r>
                  <a:rPr lang="es-PE" sz="900" dirty="0" err="1">
                    <a:latin typeface="Segoe WPC"/>
                  </a:rPr>
                  <a:t>not</a:t>
                </a:r>
                <a:r>
                  <a:rPr lang="es-PE" sz="900" dirty="0">
                    <a:latin typeface="Segoe WPC"/>
                  </a:rPr>
                  <a:t> </a:t>
                </a:r>
                <a:r>
                  <a:rPr lang="es-PE" sz="900" dirty="0" err="1">
                    <a:latin typeface="Segoe WPC"/>
                  </a:rPr>
                  <a:t>have</a:t>
                </a:r>
                <a:r>
                  <a:rPr lang="es-PE" sz="900" dirty="0">
                    <a:latin typeface="Segoe WPC"/>
                  </a:rPr>
                  <a:t> </a:t>
                </a:r>
                <a:r>
                  <a:rPr lang="es-PE" sz="900" dirty="0" err="1">
                    <a:latin typeface="Segoe WPC"/>
                  </a:rPr>
                  <a:t>to</a:t>
                </a:r>
                <a:r>
                  <a:rPr lang="es-PE" sz="900" dirty="0">
                    <a:latin typeface="Segoe WPC"/>
                  </a:rPr>
                  <a:t> </a:t>
                </a:r>
                <a:r>
                  <a:rPr lang="es-PE" sz="900" dirty="0" err="1">
                    <a:latin typeface="Segoe WPC"/>
                  </a:rPr>
                  <a:t>obtain</a:t>
                </a:r>
                <a:r>
                  <a:rPr lang="es-PE" sz="900" dirty="0">
                    <a:latin typeface="Segoe WPC"/>
                  </a:rPr>
                  <a:t> </a:t>
                </a:r>
                <a:r>
                  <a:rPr lang="es-PE" sz="900" dirty="0" err="1">
                    <a:latin typeface="Segoe WPC"/>
                  </a:rPr>
                  <a:t>an</a:t>
                </a:r>
                <a:r>
                  <a:rPr lang="es-PE" sz="900" dirty="0">
                    <a:latin typeface="Segoe WPC"/>
                  </a:rPr>
                  <a:t> </a:t>
                </a:r>
                <a:r>
                  <a:rPr lang="es-PE" sz="900" dirty="0" err="1">
                    <a:latin typeface="Segoe WPC"/>
                  </a:rPr>
                  <a:t>unfair</a:t>
                </a:r>
                <a:r>
                  <a:rPr lang="es-PE" sz="900" dirty="0">
                    <a:latin typeface="Segoe WPC"/>
                  </a:rPr>
                  <a:t> </a:t>
                </a:r>
                <a:r>
                  <a:rPr lang="es-PE" sz="900" dirty="0" err="1">
                    <a:latin typeface="Segoe WPC"/>
                  </a:rPr>
                  <a:t>advantage</a:t>
                </a:r>
                <a:r>
                  <a:rPr lang="es-PE" sz="900" dirty="0">
                    <a:latin typeface="Segoe WPC"/>
                  </a:rPr>
                  <a:t>.</a:t>
                </a:r>
                <a:br>
                  <a:rPr lang="es-PE" sz="900" dirty="0">
                    <a:latin typeface="Segoe WPC"/>
                  </a:rPr>
                </a:br>
                <a:r>
                  <a:rPr lang="es-PE" sz="900" b="1" dirty="0">
                    <a:latin typeface="Segoe WPC"/>
                  </a:rPr>
                  <a:t>Key Formula:</a:t>
                </a:r>
                <a:r>
                  <a:rPr lang="es-PE" sz="900" dirty="0">
                    <a:latin typeface="Segoe WPC"/>
                  </a:rPr>
                  <a:t> No formula; </a:t>
                </a:r>
                <a:r>
                  <a:rPr lang="es-PE" sz="900" dirty="0" err="1">
                    <a:latin typeface="Segoe WPC"/>
                  </a:rPr>
                  <a:t>the</a:t>
                </a:r>
                <a:r>
                  <a:rPr lang="es-PE" sz="900" dirty="0">
                    <a:latin typeface="Segoe WPC"/>
                  </a:rPr>
                  <a:t> </a:t>
                </a:r>
                <a:r>
                  <a:rPr lang="es-PE" sz="900" dirty="0" err="1">
                    <a:latin typeface="Segoe WPC"/>
                  </a:rPr>
                  <a:t>issue</a:t>
                </a:r>
                <a:r>
                  <a:rPr lang="es-PE" sz="900" dirty="0">
                    <a:latin typeface="Segoe WPC"/>
                  </a:rPr>
                  <a:t> </a:t>
                </a:r>
                <a:r>
                  <a:rPr lang="es-PE" sz="900" dirty="0" err="1">
                    <a:latin typeface="Segoe WPC"/>
                  </a:rPr>
                  <a:t>is</a:t>
                </a:r>
                <a:r>
                  <a:rPr lang="es-PE" sz="900" dirty="0">
                    <a:latin typeface="Segoe WPC"/>
                  </a:rPr>
                  <a:t> </a:t>
                </a:r>
                <a:r>
                  <a:rPr lang="es-PE" sz="900" dirty="0" err="1">
                    <a:latin typeface="Segoe WPC"/>
                  </a:rPr>
                  <a:t>unfair</a:t>
                </a:r>
                <a:r>
                  <a:rPr lang="es-PE" sz="900" dirty="0">
                    <a:latin typeface="Segoe WPC"/>
                  </a:rPr>
                  <a:t> </a:t>
                </a:r>
                <a:r>
                  <a:rPr lang="es-PE" sz="900" dirty="0" err="1">
                    <a:latin typeface="Segoe WPC"/>
                  </a:rPr>
                  <a:t>execution</a:t>
                </a:r>
                <a:r>
                  <a:rPr lang="es-PE" sz="900" dirty="0">
                    <a:latin typeface="Segoe WPC"/>
                  </a:rPr>
                  <a:t> </a:t>
                </a:r>
                <a:r>
                  <a:rPr lang="es-PE" sz="900" dirty="0" err="1">
                    <a:latin typeface="Segoe WPC"/>
                  </a:rPr>
                  <a:t>or</a:t>
                </a:r>
                <a:r>
                  <a:rPr lang="es-PE" sz="900" dirty="0">
                    <a:latin typeface="Segoe WPC"/>
                  </a:rPr>
                  <a:t> </a:t>
                </a:r>
                <a:r>
                  <a:rPr lang="es-PE" sz="900" dirty="0" err="1">
                    <a:latin typeface="Segoe WPC"/>
                  </a:rPr>
                  <a:t>informational</a:t>
                </a:r>
                <a:r>
                  <a:rPr lang="es-PE" sz="900" dirty="0">
                    <a:latin typeface="Segoe WPC"/>
                  </a:rPr>
                  <a:t> </a:t>
                </a:r>
                <a:r>
                  <a:rPr lang="es-PE" sz="900" dirty="0" err="1">
                    <a:latin typeface="Segoe WPC"/>
                  </a:rPr>
                  <a:t>advantage</a:t>
                </a:r>
                <a:r>
                  <a:rPr lang="es-PE" sz="900" dirty="0">
                    <a:latin typeface="Segoe WPC"/>
                  </a:rPr>
                  <a:t>.</a:t>
                </a:r>
                <a:br>
                  <a:rPr lang="es-PE" sz="900" dirty="0">
                    <a:latin typeface="Segoe WPC"/>
                  </a:rPr>
                </a:br>
                <a:r>
                  <a:rPr lang="es-PE" sz="900" b="1" dirty="0" err="1">
                    <a:latin typeface="Segoe WPC"/>
                  </a:rPr>
                  <a:t>Interpretation</a:t>
                </a:r>
                <a:r>
                  <a:rPr lang="es-PE" sz="900" b="1" dirty="0">
                    <a:latin typeface="Segoe WPC"/>
                  </a:rPr>
                  <a:t>:</a:t>
                </a:r>
                <a:r>
                  <a:rPr lang="es-PE" sz="900" dirty="0">
                    <a:latin typeface="Segoe WPC"/>
                  </a:rPr>
                  <a:t> Late trading </a:t>
                </a:r>
                <a:r>
                  <a:rPr lang="es-PE" sz="900" dirty="0" err="1">
                    <a:latin typeface="Segoe WPC"/>
                  </a:rPr>
                  <a:t>means</a:t>
                </a:r>
                <a:r>
                  <a:rPr lang="es-PE" sz="900" dirty="0">
                    <a:latin typeface="Segoe WPC"/>
                  </a:rPr>
                  <a:t> </a:t>
                </a:r>
                <a:r>
                  <a:rPr lang="es-PE" sz="900" dirty="0" err="1">
                    <a:latin typeface="Segoe WPC"/>
                  </a:rPr>
                  <a:t>placing</a:t>
                </a:r>
                <a:r>
                  <a:rPr lang="es-PE" sz="900" dirty="0">
                    <a:latin typeface="Segoe WPC"/>
                  </a:rPr>
                  <a:t> </a:t>
                </a:r>
                <a:r>
                  <a:rPr lang="es-PE" sz="900" dirty="0" err="1">
                    <a:latin typeface="Segoe WPC"/>
                  </a:rPr>
                  <a:t>or</a:t>
                </a:r>
                <a:r>
                  <a:rPr lang="es-PE" sz="900" dirty="0">
                    <a:latin typeface="Segoe WPC"/>
                  </a:rPr>
                  <a:t> </a:t>
                </a:r>
                <a:r>
                  <a:rPr lang="es-PE" sz="900" dirty="0" err="1">
                    <a:latin typeface="Segoe WPC"/>
                  </a:rPr>
                  <a:t>changing</a:t>
                </a:r>
                <a:r>
                  <a:rPr lang="es-PE" sz="900" dirty="0">
                    <a:latin typeface="Segoe WPC"/>
                  </a:rPr>
                  <a:t> </a:t>
                </a:r>
                <a:r>
                  <a:rPr lang="es-PE" sz="900" dirty="0" err="1">
                    <a:latin typeface="Segoe WPC"/>
                  </a:rPr>
                  <a:t>trades</a:t>
                </a:r>
                <a:r>
                  <a:rPr lang="es-PE" sz="900" dirty="0">
                    <a:latin typeface="Segoe WPC"/>
                  </a:rPr>
                  <a:t> after 4 p.m. </a:t>
                </a:r>
                <a:r>
                  <a:rPr lang="es-PE" sz="900" dirty="0" err="1">
                    <a:latin typeface="Segoe WPC"/>
                  </a:rPr>
                  <a:t>but</a:t>
                </a:r>
                <a:r>
                  <a:rPr lang="es-PE" sz="900" dirty="0">
                    <a:latin typeface="Segoe WPC"/>
                  </a:rPr>
                  <a:t> </a:t>
                </a:r>
                <a:r>
                  <a:rPr lang="es-PE" sz="900" dirty="0" err="1">
                    <a:latin typeface="Segoe WPC"/>
                  </a:rPr>
                  <a:t>receiving</a:t>
                </a:r>
                <a:r>
                  <a:rPr lang="es-PE" sz="900" dirty="0">
                    <a:latin typeface="Segoe WPC"/>
                  </a:rPr>
                  <a:t> </a:t>
                </a:r>
                <a:r>
                  <a:rPr lang="es-PE" sz="900" dirty="0" err="1">
                    <a:latin typeface="Segoe WPC"/>
                  </a:rPr>
                  <a:t>the</a:t>
                </a:r>
                <a:r>
                  <a:rPr lang="es-PE" sz="900" dirty="0">
                    <a:latin typeface="Segoe WPC"/>
                  </a:rPr>
                  <a:t> 4 p.m. </a:t>
                </a:r>
                <a:r>
                  <a:rPr lang="es-PE" sz="900" dirty="0" err="1">
                    <a:latin typeface="Segoe WPC"/>
                  </a:rPr>
                  <a:t>price</a:t>
                </a:r>
                <a:r>
                  <a:rPr lang="es-PE" sz="900" dirty="0">
                    <a:latin typeface="Segoe WPC"/>
                  </a:rPr>
                  <a:t>, </a:t>
                </a:r>
                <a:r>
                  <a:rPr lang="es-PE" sz="900" dirty="0" err="1">
                    <a:latin typeface="Segoe WPC"/>
                  </a:rPr>
                  <a:t>which</a:t>
                </a:r>
                <a:r>
                  <a:rPr lang="es-PE" sz="900" dirty="0">
                    <a:latin typeface="Segoe WPC"/>
                  </a:rPr>
                  <a:t> </a:t>
                </a:r>
                <a:r>
                  <a:rPr lang="es-PE" sz="900" dirty="0" err="1">
                    <a:latin typeface="Segoe WPC"/>
                  </a:rPr>
                  <a:t>is</a:t>
                </a:r>
                <a:r>
                  <a:rPr lang="es-PE" sz="900" dirty="0">
                    <a:latin typeface="Segoe WPC"/>
                  </a:rPr>
                  <a:t> </a:t>
                </a:r>
                <a:r>
                  <a:rPr lang="es-PE" sz="900" dirty="0" err="1">
                    <a:latin typeface="Segoe WPC"/>
                  </a:rPr>
                  <a:t>illegal</a:t>
                </a:r>
                <a:r>
                  <a:rPr lang="es-PE" sz="900" dirty="0">
                    <a:latin typeface="Segoe WPC"/>
                  </a:rPr>
                  <a:t>. </a:t>
                </a:r>
                <a:r>
                  <a:rPr lang="es-PE" sz="900" dirty="0" err="1">
                    <a:latin typeface="Segoe WPC"/>
                  </a:rPr>
                  <a:t>Market</a:t>
                </a:r>
                <a:r>
                  <a:rPr lang="es-PE" sz="900" dirty="0">
                    <a:latin typeface="Segoe WPC"/>
                  </a:rPr>
                  <a:t> timing </a:t>
                </a:r>
                <a:r>
                  <a:rPr lang="es-PE" sz="900" dirty="0" err="1">
                    <a:latin typeface="Segoe WPC"/>
                  </a:rPr>
                  <a:t>exploits</a:t>
                </a:r>
                <a:r>
                  <a:rPr lang="es-PE" sz="900" dirty="0">
                    <a:latin typeface="Segoe WPC"/>
                  </a:rPr>
                  <a:t> </a:t>
                </a:r>
                <a:r>
                  <a:rPr lang="es-PE" sz="900" dirty="0" err="1">
                    <a:latin typeface="Segoe WPC"/>
                  </a:rPr>
                  <a:t>stale</a:t>
                </a:r>
                <a:r>
                  <a:rPr lang="es-PE" sz="900" dirty="0">
                    <a:latin typeface="Segoe WPC"/>
                  </a:rPr>
                  <a:t> </a:t>
                </a:r>
                <a:r>
                  <a:rPr lang="es-PE" sz="900" dirty="0" err="1">
                    <a:latin typeface="Segoe WPC"/>
                  </a:rPr>
                  <a:t>prices</a:t>
                </a:r>
                <a:r>
                  <a:rPr lang="es-PE" sz="900" dirty="0">
                    <a:latin typeface="Segoe WPC"/>
                  </a:rPr>
                  <a:t> and </a:t>
                </a:r>
                <a:r>
                  <a:rPr lang="es-PE" sz="900" dirty="0" err="1">
                    <a:latin typeface="Segoe WPC"/>
                  </a:rPr>
                  <a:t>is</a:t>
                </a:r>
                <a:r>
                  <a:rPr lang="es-PE" sz="900" dirty="0">
                    <a:latin typeface="Segoe WPC"/>
                  </a:rPr>
                  <a:t> </a:t>
                </a:r>
                <a:r>
                  <a:rPr lang="es-PE" sz="900" dirty="0" err="1">
                    <a:latin typeface="Segoe WPC"/>
                  </a:rPr>
                  <a:t>not</a:t>
                </a:r>
                <a:r>
                  <a:rPr lang="es-PE" sz="900" dirty="0">
                    <a:latin typeface="Segoe WPC"/>
                  </a:rPr>
                  <a:t> </a:t>
                </a:r>
                <a:r>
                  <a:rPr lang="es-PE" sz="900" dirty="0" err="1">
                    <a:latin typeface="Segoe WPC"/>
                  </a:rPr>
                  <a:t>necessarily</a:t>
                </a:r>
                <a:r>
                  <a:rPr lang="es-PE" sz="900" dirty="0">
                    <a:latin typeface="Segoe WPC"/>
                  </a:rPr>
                  <a:t> </a:t>
                </a:r>
                <a:r>
                  <a:rPr lang="es-PE" sz="900" dirty="0" err="1">
                    <a:latin typeface="Segoe WPC"/>
                  </a:rPr>
                  <a:t>illegal</a:t>
                </a:r>
                <a:r>
                  <a:rPr lang="es-PE" sz="900" dirty="0">
                    <a:latin typeface="Segoe WPC"/>
                  </a:rPr>
                  <a:t>, </a:t>
                </a:r>
                <a:r>
                  <a:rPr lang="es-PE" sz="900" dirty="0" err="1">
                    <a:latin typeface="Segoe WPC"/>
                  </a:rPr>
                  <a:t>but</a:t>
                </a:r>
                <a:r>
                  <a:rPr lang="es-PE" sz="900" dirty="0">
                    <a:latin typeface="Segoe WPC"/>
                  </a:rPr>
                  <a:t> can </a:t>
                </a:r>
                <a:r>
                  <a:rPr lang="es-PE" sz="900" dirty="0" err="1">
                    <a:latin typeface="Segoe WPC"/>
                  </a:rPr>
                  <a:t>harm</a:t>
                </a:r>
                <a:r>
                  <a:rPr lang="es-PE" sz="900" dirty="0">
                    <a:latin typeface="Segoe WPC"/>
                  </a:rPr>
                  <a:t> </a:t>
                </a:r>
                <a:r>
                  <a:rPr lang="es-PE" sz="900" dirty="0" err="1">
                    <a:latin typeface="Segoe WPC"/>
                  </a:rPr>
                  <a:t>other</a:t>
                </a:r>
                <a:r>
                  <a:rPr lang="es-PE" sz="900" dirty="0">
                    <a:latin typeface="Segoe WPC"/>
                  </a:rPr>
                  <a:t> </a:t>
                </a:r>
                <a:r>
                  <a:rPr lang="es-PE" sz="900" dirty="0" err="1">
                    <a:latin typeface="Segoe WPC"/>
                  </a:rPr>
                  <a:t>investors</a:t>
                </a:r>
                <a:r>
                  <a:rPr lang="es-PE" sz="900" dirty="0">
                    <a:latin typeface="Segoe WPC"/>
                  </a:rPr>
                  <a:t>. Front running </a:t>
                </a:r>
                <a:r>
                  <a:rPr lang="es-PE" sz="900" dirty="0" err="1">
                    <a:latin typeface="Segoe WPC"/>
                  </a:rPr>
                  <a:t>means</a:t>
                </a:r>
                <a:r>
                  <a:rPr lang="es-PE" sz="900" dirty="0">
                    <a:latin typeface="Segoe WPC"/>
                  </a:rPr>
                  <a:t> trading </a:t>
                </a:r>
                <a:r>
                  <a:rPr lang="es-PE" sz="900" dirty="0" err="1">
                    <a:latin typeface="Segoe WPC"/>
                  </a:rPr>
                  <a:t>ahead</a:t>
                </a:r>
                <a:r>
                  <a:rPr lang="es-PE" sz="900" dirty="0">
                    <a:latin typeface="Segoe WPC"/>
                  </a:rPr>
                  <a:t> </a:t>
                </a:r>
                <a:r>
                  <a:rPr lang="es-PE" sz="900" dirty="0" err="1">
                    <a:latin typeface="Segoe WPC"/>
                  </a:rPr>
                  <a:t>of</a:t>
                </a:r>
                <a:r>
                  <a:rPr lang="es-PE" sz="900" dirty="0">
                    <a:latin typeface="Segoe WPC"/>
                  </a:rPr>
                  <a:t> </a:t>
                </a:r>
                <a:r>
                  <a:rPr lang="es-PE" sz="900" dirty="0" err="1">
                    <a:latin typeface="Segoe WPC"/>
                  </a:rPr>
                  <a:t>known</a:t>
                </a:r>
                <a:r>
                  <a:rPr lang="es-PE" sz="900" dirty="0">
                    <a:latin typeface="Segoe WPC"/>
                  </a:rPr>
                  <a:t> </a:t>
                </a:r>
                <a:r>
                  <a:rPr lang="es-PE" sz="900" dirty="0" err="1">
                    <a:latin typeface="Segoe WPC"/>
                  </a:rPr>
                  <a:t>large</a:t>
                </a:r>
                <a:r>
                  <a:rPr lang="es-PE" sz="900" dirty="0">
                    <a:latin typeface="Segoe WPC"/>
                  </a:rPr>
                  <a:t> </a:t>
                </a:r>
                <a:r>
                  <a:rPr lang="es-PE" sz="900" dirty="0" err="1">
                    <a:latin typeface="Segoe WPC"/>
                  </a:rPr>
                  <a:t>fund</a:t>
                </a:r>
                <a:r>
                  <a:rPr lang="es-PE" sz="900" dirty="0">
                    <a:latin typeface="Segoe WPC"/>
                  </a:rPr>
                  <a:t> </a:t>
                </a:r>
                <a:r>
                  <a:rPr lang="es-PE" sz="900" dirty="0" err="1">
                    <a:latin typeface="Segoe WPC"/>
                  </a:rPr>
                  <a:t>orders</a:t>
                </a:r>
                <a:r>
                  <a:rPr lang="es-PE" sz="900" dirty="0">
                    <a:latin typeface="Segoe WPC"/>
                  </a:rPr>
                  <a:t> and </a:t>
                </a:r>
                <a:r>
                  <a:rPr lang="es-PE" sz="900" dirty="0" err="1">
                    <a:latin typeface="Segoe WPC"/>
                  </a:rPr>
                  <a:t>is</a:t>
                </a:r>
                <a:r>
                  <a:rPr lang="es-PE" sz="900" dirty="0">
                    <a:latin typeface="Segoe WPC"/>
                  </a:rPr>
                  <a:t> </a:t>
                </a:r>
                <a:r>
                  <a:rPr lang="es-PE" sz="900" dirty="0" err="1">
                    <a:latin typeface="Segoe WPC"/>
                  </a:rPr>
                  <a:t>illegal</a:t>
                </a:r>
                <a:r>
                  <a:rPr lang="es-PE" sz="900" dirty="0">
                    <a:latin typeface="Segoe WPC"/>
                  </a:rPr>
                  <a:t>. </a:t>
                </a:r>
                <a:r>
                  <a:rPr lang="es-PE" sz="900" dirty="0" err="1">
                    <a:latin typeface="Segoe WPC"/>
                  </a:rPr>
                  <a:t>Directed</a:t>
                </a:r>
                <a:r>
                  <a:rPr lang="es-PE" sz="900" dirty="0">
                    <a:latin typeface="Segoe WPC"/>
                  </a:rPr>
                  <a:t> </a:t>
                </a:r>
                <a:r>
                  <a:rPr lang="es-PE" sz="900" dirty="0" err="1">
                    <a:latin typeface="Segoe WPC"/>
                  </a:rPr>
                  <a:t>brokerage</a:t>
                </a:r>
                <a:r>
                  <a:rPr lang="es-PE" sz="900" dirty="0">
                    <a:latin typeface="Segoe WPC"/>
                  </a:rPr>
                  <a:t> </a:t>
                </a:r>
                <a:r>
                  <a:rPr lang="es-PE" sz="900" dirty="0" err="1">
                    <a:latin typeface="Segoe WPC"/>
                  </a:rPr>
                  <a:t>means</a:t>
                </a:r>
                <a:r>
                  <a:rPr lang="es-PE" sz="900" dirty="0">
                    <a:latin typeface="Segoe WPC"/>
                  </a:rPr>
                  <a:t> </a:t>
                </a:r>
                <a:r>
                  <a:rPr lang="es-PE" sz="900" dirty="0" err="1">
                    <a:latin typeface="Segoe WPC"/>
                  </a:rPr>
                  <a:t>routing</a:t>
                </a:r>
                <a:r>
                  <a:rPr lang="es-PE" sz="900" dirty="0">
                    <a:latin typeface="Segoe WPC"/>
                  </a:rPr>
                  <a:t> </a:t>
                </a:r>
                <a:r>
                  <a:rPr lang="es-PE" sz="900" dirty="0" err="1">
                    <a:latin typeface="Segoe WPC"/>
                  </a:rPr>
                  <a:t>trades</a:t>
                </a:r>
                <a:r>
                  <a:rPr lang="es-PE" sz="900" dirty="0">
                    <a:latin typeface="Segoe WPC"/>
                  </a:rPr>
                  <a:t> </a:t>
                </a:r>
                <a:r>
                  <a:rPr lang="es-PE" sz="900" dirty="0" err="1">
                    <a:latin typeface="Segoe WPC"/>
                  </a:rPr>
                  <a:t>to</a:t>
                </a:r>
                <a:r>
                  <a:rPr lang="es-PE" sz="900" dirty="0">
                    <a:latin typeface="Segoe WPC"/>
                  </a:rPr>
                  <a:t> </a:t>
                </a:r>
                <a:r>
                  <a:rPr lang="es-PE" sz="900" dirty="0" err="1">
                    <a:latin typeface="Segoe WPC"/>
                  </a:rPr>
                  <a:t>brokers</a:t>
                </a:r>
                <a:r>
                  <a:rPr lang="es-PE" sz="900" dirty="0">
                    <a:latin typeface="Segoe WPC"/>
                  </a:rPr>
                  <a:t> in </a:t>
                </a:r>
                <a:r>
                  <a:rPr lang="es-PE" sz="900" dirty="0" err="1">
                    <a:latin typeface="Segoe WPC"/>
                  </a:rPr>
                  <a:t>exchange</a:t>
                </a:r>
                <a:r>
                  <a:rPr lang="es-PE" sz="900" dirty="0">
                    <a:latin typeface="Segoe WPC"/>
                  </a:rPr>
                  <a:t> </a:t>
                </a:r>
                <a:r>
                  <a:rPr lang="es-PE" sz="900" dirty="0" err="1">
                    <a:latin typeface="Segoe WPC"/>
                  </a:rPr>
                  <a:t>for</a:t>
                </a:r>
                <a:r>
                  <a:rPr lang="es-PE" sz="900" dirty="0">
                    <a:latin typeface="Segoe WPC"/>
                  </a:rPr>
                  <a:t> </a:t>
                </a:r>
                <a:r>
                  <a:rPr lang="es-PE" sz="900" dirty="0" err="1">
                    <a:latin typeface="Segoe WPC"/>
                  </a:rPr>
                  <a:t>distribution</a:t>
                </a:r>
                <a:r>
                  <a:rPr lang="es-PE" sz="900" dirty="0">
                    <a:latin typeface="Segoe WPC"/>
                  </a:rPr>
                  <a:t> </a:t>
                </a:r>
                <a:r>
                  <a:rPr lang="es-PE" sz="900" dirty="0" err="1">
                    <a:latin typeface="Segoe WPC"/>
                  </a:rPr>
                  <a:t>support</a:t>
                </a:r>
                <a:r>
                  <a:rPr lang="es-PE" sz="900" dirty="0">
                    <a:latin typeface="Segoe WPC"/>
                  </a:rPr>
                  <a:t> and </a:t>
                </a:r>
                <a:r>
                  <a:rPr lang="es-PE" sz="900" dirty="0" err="1">
                    <a:latin typeface="Segoe WPC"/>
                  </a:rPr>
                  <a:t>is</a:t>
                </a:r>
                <a:r>
                  <a:rPr lang="es-PE" sz="900" dirty="0">
                    <a:latin typeface="Segoe WPC"/>
                  </a:rPr>
                  <a:t> </a:t>
                </a:r>
                <a:r>
                  <a:rPr lang="es-PE" sz="900" dirty="0" err="1">
                    <a:latin typeface="Segoe WPC"/>
                  </a:rPr>
                  <a:t>frowned</a:t>
                </a:r>
                <a:r>
                  <a:rPr lang="es-PE" sz="900" dirty="0">
                    <a:latin typeface="Segoe WPC"/>
                  </a:rPr>
                  <a:t> </a:t>
                </a:r>
                <a:r>
                  <a:rPr lang="es-PE" sz="900" dirty="0" err="1">
                    <a:latin typeface="Segoe WPC"/>
                  </a:rPr>
                  <a:t>upon</a:t>
                </a:r>
                <a:r>
                  <a:rPr lang="es-PE" sz="900" dirty="0">
                    <a:latin typeface="Segoe WPC"/>
                  </a:rPr>
                  <a:t> </a:t>
                </a:r>
                <a:r>
                  <a:rPr lang="es-PE" sz="900" dirty="0" err="1">
                    <a:latin typeface="Segoe WPC"/>
                  </a:rPr>
                  <a:t>by</a:t>
                </a:r>
                <a:r>
                  <a:rPr lang="es-PE" sz="900" dirty="0">
                    <a:latin typeface="Segoe WPC"/>
                  </a:rPr>
                  <a:t> </a:t>
                </a:r>
                <a:r>
                  <a:rPr lang="es-PE" sz="900" dirty="0" err="1">
                    <a:latin typeface="Segoe WPC"/>
                  </a:rPr>
                  <a:t>regulators</a:t>
                </a:r>
                <a:r>
                  <a:rPr lang="es-PE" sz="900" dirty="0">
                    <a:latin typeface="Segoe WPC"/>
                  </a:rPr>
                  <a:t>.</a:t>
                </a:r>
                <a:br>
                  <a:rPr lang="es-PE" sz="900" dirty="0">
                    <a:latin typeface="Segoe WPC"/>
                  </a:rPr>
                </a:br>
                <a:r>
                  <a:rPr lang="es-PE" sz="900" b="1" dirty="0" err="1">
                    <a:latin typeface="Segoe WPC"/>
                  </a:rPr>
                  <a:t>Exam</a:t>
                </a:r>
                <a:r>
                  <a:rPr lang="es-PE" sz="900" b="1" dirty="0">
                    <a:latin typeface="Segoe WPC"/>
                  </a:rPr>
                  <a:t> </a:t>
                </a:r>
                <a:r>
                  <a:rPr lang="es-PE" sz="900" b="1" dirty="0" err="1">
                    <a:latin typeface="Segoe WPC"/>
                  </a:rPr>
                  <a:t>Trap</a:t>
                </a:r>
                <a:r>
                  <a:rPr lang="es-PE" sz="900" b="1" dirty="0">
                    <a:latin typeface="Segoe WPC"/>
                  </a:rPr>
                  <a:t>:</a:t>
                </a:r>
                <a:r>
                  <a:rPr lang="es-PE" sz="900" dirty="0">
                    <a:latin typeface="Segoe WPC"/>
                  </a:rPr>
                  <a:t> </a:t>
                </a:r>
                <a:r>
                  <a:rPr lang="es-PE" sz="900" dirty="0" err="1">
                    <a:latin typeface="Segoe WPC"/>
                  </a:rPr>
                  <a:t>Market</a:t>
                </a:r>
                <a:r>
                  <a:rPr lang="es-PE" sz="900" dirty="0">
                    <a:latin typeface="Segoe WPC"/>
                  </a:rPr>
                  <a:t> timing </a:t>
                </a:r>
                <a:r>
                  <a:rPr lang="es-PE" sz="900" dirty="0" err="1">
                    <a:latin typeface="Segoe WPC"/>
                  </a:rPr>
                  <a:t>is</a:t>
                </a:r>
                <a:r>
                  <a:rPr lang="es-PE" sz="900" dirty="0">
                    <a:latin typeface="Segoe WPC"/>
                  </a:rPr>
                  <a:t> </a:t>
                </a:r>
                <a:r>
                  <a:rPr lang="es-PE" sz="900" dirty="0" err="1">
                    <a:latin typeface="Segoe WPC"/>
                  </a:rPr>
                  <a:t>not</a:t>
                </a:r>
                <a:r>
                  <a:rPr lang="es-PE" sz="900" dirty="0">
                    <a:latin typeface="Segoe WPC"/>
                  </a:rPr>
                  <a:t> </a:t>
                </a:r>
                <a:r>
                  <a:rPr lang="es-PE" sz="900" dirty="0" err="1">
                    <a:latin typeface="Segoe WPC"/>
                  </a:rPr>
                  <a:t>the</a:t>
                </a:r>
                <a:r>
                  <a:rPr lang="es-PE" sz="900" dirty="0">
                    <a:latin typeface="Segoe WPC"/>
                  </a:rPr>
                  <a:t> </a:t>
                </a:r>
                <a:r>
                  <a:rPr lang="es-PE" sz="900" dirty="0" err="1">
                    <a:latin typeface="Segoe WPC"/>
                  </a:rPr>
                  <a:t>same</a:t>
                </a:r>
                <a:r>
                  <a:rPr lang="es-PE" sz="900" dirty="0">
                    <a:latin typeface="Segoe WPC"/>
                  </a:rPr>
                  <a:t> as late trading; </a:t>
                </a:r>
                <a:r>
                  <a:rPr lang="es-PE" sz="900" dirty="0" err="1">
                    <a:latin typeface="Segoe WPC"/>
                  </a:rPr>
                  <a:t>the</a:t>
                </a:r>
                <a:r>
                  <a:rPr lang="es-PE" sz="900" dirty="0">
                    <a:latin typeface="Segoe WPC"/>
                  </a:rPr>
                  <a:t> </a:t>
                </a:r>
                <a:r>
                  <a:rPr lang="es-PE" sz="900" dirty="0" err="1">
                    <a:latin typeface="Segoe WPC"/>
                  </a:rPr>
                  <a:t>former</a:t>
                </a:r>
                <a:r>
                  <a:rPr lang="es-PE" sz="900" dirty="0">
                    <a:latin typeface="Segoe WPC"/>
                  </a:rPr>
                  <a:t> </a:t>
                </a:r>
                <a:r>
                  <a:rPr lang="es-PE" sz="900" dirty="0" err="1">
                    <a:latin typeface="Segoe WPC"/>
                  </a:rPr>
                  <a:t>exploits</a:t>
                </a:r>
                <a:r>
                  <a:rPr lang="es-PE" sz="900" dirty="0">
                    <a:latin typeface="Segoe WPC"/>
                  </a:rPr>
                  <a:t> </a:t>
                </a:r>
                <a:r>
                  <a:rPr lang="es-PE" sz="900" dirty="0" err="1">
                    <a:latin typeface="Segoe WPC"/>
                  </a:rPr>
                  <a:t>stale</a:t>
                </a:r>
                <a:r>
                  <a:rPr lang="es-PE" sz="900" dirty="0">
                    <a:latin typeface="Segoe WPC"/>
                  </a:rPr>
                  <a:t> </a:t>
                </a:r>
                <a:r>
                  <a:rPr lang="es-PE" sz="900" dirty="0" err="1">
                    <a:latin typeface="Segoe WPC"/>
                  </a:rPr>
                  <a:t>prices</a:t>
                </a:r>
                <a:r>
                  <a:rPr lang="es-PE" sz="900" dirty="0">
                    <a:latin typeface="Segoe WPC"/>
                  </a:rPr>
                  <a:t>, </a:t>
                </a:r>
                <a:r>
                  <a:rPr lang="es-PE" sz="900" dirty="0" err="1">
                    <a:latin typeface="Segoe WPC"/>
                  </a:rPr>
                  <a:t>the</a:t>
                </a:r>
                <a:r>
                  <a:rPr lang="es-PE" sz="900" dirty="0">
                    <a:latin typeface="Segoe WPC"/>
                  </a:rPr>
                  <a:t> </a:t>
                </a:r>
                <a:r>
                  <a:rPr lang="es-PE" sz="900" dirty="0" err="1">
                    <a:latin typeface="Segoe WPC"/>
                  </a:rPr>
                  <a:t>latter</a:t>
                </a:r>
                <a:r>
                  <a:rPr lang="es-PE" sz="900" dirty="0">
                    <a:latin typeface="Segoe WPC"/>
                  </a:rPr>
                  <a:t> </a:t>
                </a:r>
                <a:r>
                  <a:rPr lang="es-PE" sz="900" dirty="0" err="1">
                    <a:latin typeface="Segoe WPC"/>
                  </a:rPr>
                  <a:t>violates</a:t>
                </a:r>
                <a:r>
                  <a:rPr lang="es-PE" sz="900" dirty="0">
                    <a:latin typeface="Segoe WPC"/>
                  </a:rPr>
                  <a:t> </a:t>
                </a:r>
                <a:r>
                  <a:rPr lang="es-PE" sz="900" dirty="0" err="1">
                    <a:latin typeface="Segoe WPC"/>
                  </a:rPr>
                  <a:t>the</a:t>
                </a:r>
                <a:r>
                  <a:rPr lang="es-PE" sz="900" dirty="0">
                    <a:latin typeface="Segoe WPC"/>
                  </a:rPr>
                  <a:t> </a:t>
                </a:r>
                <a:r>
                  <a:rPr lang="es-PE" sz="900" dirty="0" err="1">
                    <a:latin typeface="Segoe WPC"/>
                  </a:rPr>
                  <a:t>pricing</a:t>
                </a:r>
                <a:r>
                  <a:rPr lang="es-PE" sz="900" dirty="0">
                    <a:latin typeface="Segoe WPC"/>
                  </a:rPr>
                  <a:t> </a:t>
                </a:r>
                <a:r>
                  <a:rPr lang="es-PE" sz="900" dirty="0" err="1">
                    <a:latin typeface="Segoe WPC"/>
                  </a:rPr>
                  <a:t>cutoff</a:t>
                </a:r>
                <a:r>
                  <a:rPr lang="es-PE" sz="900" dirty="0">
                    <a:latin typeface="Segoe WPC"/>
                  </a:rPr>
                  <a:t>.</a:t>
                </a:r>
              </a:p>
              <a:p>
                <a:pPr algn="l">
                  <a:spcAft>
                    <a:spcPts val="600"/>
                  </a:spcAft>
                  <a:buNone/>
                </a:pPr>
                <a:endParaRPr lang="es-PE" sz="900" b="0" i="0" dirty="0">
                  <a:solidFill>
                    <a:schemeClr val="tx1"/>
                  </a:solidFill>
                  <a:effectLst/>
                  <a:latin typeface="Segoe WPC"/>
                </a:endParaRPr>
              </a:p>
              <a:p>
                <a:pPr>
                  <a:spcAft>
                    <a:spcPts val="600"/>
                  </a:spcAft>
                  <a:buNone/>
                </a:pPr>
                <a:br>
                  <a:rPr lang="es-PE" sz="900" dirty="0">
                    <a:solidFill>
                      <a:schemeClr val="tx1"/>
                    </a:solidFill>
                  </a:rPr>
                </a:br>
                <a:endParaRPr lang="es-PE" sz="900" dirty="0">
                  <a:solidFill>
                    <a:schemeClr val="tx1"/>
                  </a:solidFill>
                </a:endParaRPr>
              </a:p>
            </p:txBody>
          </p:sp>
        </mc:Choice>
        <mc:Fallback xmlns="">
          <p:sp>
            <p:nvSpPr>
              <p:cNvPr id="6" name="CuadroTexto 5">
                <a:extLst>
                  <a:ext uri="{FF2B5EF4-FFF2-40B4-BE49-F238E27FC236}">
                    <a16:creationId xmlns:a16="http://schemas.microsoft.com/office/drawing/2014/main" id="{3A44C59E-269B-CC15-8E0A-D282602040CF}"/>
                  </a:ext>
                </a:extLst>
              </p:cNvPr>
              <p:cNvSpPr txBox="1">
                <a:spLocks noRot="1" noChangeAspect="1" noMove="1" noResize="1" noEditPoints="1" noAdjustHandles="1" noChangeArrowheads="1" noChangeShapeType="1" noTextEdit="1"/>
              </p:cNvSpPr>
              <p:nvPr/>
            </p:nvSpPr>
            <p:spPr>
              <a:xfrm>
                <a:off x="5929086" y="-81416"/>
                <a:ext cx="6342743" cy="8371523"/>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16536908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F054B0-A160-E1B1-1DB0-62FED538BA2A}"/>
              </a:ext>
            </a:extLst>
          </p:cNvPr>
          <p:cNvSpPr>
            <a:spLocks noGrp="1"/>
          </p:cNvSpPr>
          <p:nvPr>
            <p:ph type="title"/>
          </p:nvPr>
        </p:nvSpPr>
        <p:spPr>
          <a:xfrm>
            <a:off x="0" y="74839"/>
            <a:ext cx="10515600" cy="320675"/>
          </a:xfrm>
        </p:spPr>
        <p:txBody>
          <a:bodyPr>
            <a:normAutofit fontScale="90000"/>
          </a:bodyPr>
          <a:lstStyle/>
          <a:p>
            <a:r>
              <a:rPr lang="es-PE" sz="2000" dirty="0" err="1"/>
              <a:t>Introduction</a:t>
            </a:r>
            <a:r>
              <a:rPr lang="es-PE" sz="2000" dirty="0"/>
              <a:t> </a:t>
            </a:r>
            <a:r>
              <a:rPr lang="es-PE" sz="2000" dirty="0" err="1"/>
              <a:t>to</a:t>
            </a:r>
            <a:r>
              <a:rPr lang="es-PE" sz="2000" dirty="0"/>
              <a:t> Derivatives </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7D8A9CD2-134D-F5C4-8CF5-E0BC0EE4745C}"/>
                  </a:ext>
                </a:extLst>
              </p:cNvPr>
              <p:cNvSpPr txBox="1"/>
              <p:nvPr/>
            </p:nvSpPr>
            <p:spPr>
              <a:xfrm>
                <a:off x="72571" y="395514"/>
                <a:ext cx="6233886" cy="6509474"/>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a:t>
                </a:r>
                <a:r>
                  <a:rPr lang="es-PE" sz="900" b="1" i="0" dirty="0" err="1">
                    <a:solidFill>
                      <a:schemeClr val="tx1"/>
                    </a:solidFill>
                    <a:effectLst/>
                    <a:latin typeface="Segoe WPC"/>
                  </a:rPr>
                  <a:t>What</a:t>
                </a:r>
                <a:r>
                  <a:rPr lang="es-PE" sz="900" b="1" i="0" dirty="0">
                    <a:solidFill>
                      <a:schemeClr val="tx1"/>
                    </a:solidFill>
                    <a:effectLst/>
                    <a:latin typeface="Segoe WPC"/>
                  </a:rPr>
                  <a:t> Derivatives Are and </a:t>
                </a: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They</a:t>
                </a:r>
                <a:r>
                  <a:rPr lang="es-PE" sz="900" b="1" i="0" dirty="0">
                    <a:solidFill>
                      <a:schemeClr val="tx1"/>
                    </a:solidFill>
                    <a:effectLst/>
                    <a:latin typeface="Segoe WPC"/>
                  </a:rPr>
                  <a:t> </a:t>
                </a:r>
                <a:r>
                  <a:rPr lang="es-PE" sz="900" b="1" i="0" dirty="0" err="1">
                    <a:solidFill>
                      <a:schemeClr val="tx1"/>
                    </a:solidFill>
                    <a:effectLst/>
                    <a:latin typeface="Segoe WPC"/>
                  </a:rPr>
                  <a:t>Matter</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 </a:t>
                </a:r>
                <a:r>
                  <a:rPr lang="es-PE" sz="900" b="0" i="0" dirty="0" err="1">
                    <a:solidFill>
                      <a:schemeClr val="tx1"/>
                    </a:solidFill>
                    <a:effectLst/>
                    <a:latin typeface="Segoe WPC"/>
                  </a:rPr>
                  <a:t>whose</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more </a:t>
                </a:r>
                <a:r>
                  <a:rPr lang="es-PE" sz="900" b="0" i="0" dirty="0" err="1">
                    <a:solidFill>
                      <a:schemeClr val="tx1"/>
                    </a:solidFill>
                    <a:effectLst/>
                    <a:latin typeface="Segoe WPC"/>
                  </a:rPr>
                  <a:t>underlying</a:t>
                </a:r>
                <a:r>
                  <a:rPr lang="es-PE" sz="900" b="0" i="0" dirty="0">
                    <a:solidFill>
                      <a:schemeClr val="tx1"/>
                    </a:solidFill>
                    <a:effectLst/>
                    <a:latin typeface="Segoe WPC"/>
                  </a:rPr>
                  <a:t> variables.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derivative </a:t>
                </a:r>
                <a:r>
                  <a:rPr lang="es-PE" sz="900" b="0" i="0" dirty="0" err="1">
                    <a:solidFill>
                      <a:schemeClr val="tx1"/>
                    </a:solidFill>
                    <a:effectLst/>
                    <a:latin typeface="Segoe WPC"/>
                  </a:rPr>
                  <a:t>gets</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something</a:t>
                </a:r>
                <a:r>
                  <a:rPr lang="es-PE" sz="900" b="0" i="0" dirty="0">
                    <a:solidFill>
                      <a:schemeClr val="tx1"/>
                    </a:solidFill>
                    <a:effectLst/>
                    <a:latin typeface="Segoe WPC"/>
                  </a:rPr>
                  <a:t> </a:t>
                </a:r>
                <a:r>
                  <a:rPr lang="es-PE" sz="900" b="0" i="0" dirty="0" err="1">
                    <a:solidFill>
                      <a:schemeClr val="tx1"/>
                    </a:solidFill>
                    <a:effectLst/>
                    <a:latin typeface="Segoe WPC"/>
                  </a:rPr>
                  <a:t>else</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a stock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exchange</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commodity</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temperature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even</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losses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derivative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layer</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top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variable;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moves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derivative’s</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moves</a:t>
                </a:r>
                <a:r>
                  <a:rPr lang="es-PE" sz="900" b="0" i="0" dirty="0">
                    <a:solidFill>
                      <a:schemeClr val="tx1"/>
                    </a:solidFill>
                    <a:effectLst/>
                    <a:latin typeface="Segoe WPC"/>
                  </a:rPr>
                  <a:t> </a:t>
                </a:r>
                <a:r>
                  <a:rPr lang="es-PE" sz="900" b="0" i="0" dirty="0" err="1">
                    <a:solidFill>
                      <a:schemeClr val="tx1"/>
                    </a:solidFill>
                    <a:effectLst/>
                    <a:latin typeface="Segoe WPC"/>
                  </a:rPr>
                  <a:t>too</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single formula;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essential</a:t>
                </a:r>
                <a:r>
                  <a:rPr lang="es-PE" sz="900" b="0" i="0" dirty="0">
                    <a:solidFill>
                      <a:schemeClr val="tx1"/>
                    </a:solidFill>
                    <a:effectLst/>
                    <a:latin typeface="Segoe WPC"/>
                  </a:rPr>
                  <a:t> idea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derivative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function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and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 variables </a:t>
                </a:r>
                <a:r>
                  <a:rPr lang="es-PE" sz="900" b="0" i="0" dirty="0" err="1">
                    <a:solidFill>
                      <a:schemeClr val="tx1"/>
                    </a:solidFill>
                    <a:effectLst/>
                    <a:latin typeface="Segoe WPC"/>
                  </a:rPr>
                  <a:t>such</a:t>
                </a:r>
                <a:r>
                  <a:rPr lang="es-PE" sz="900" b="0" i="0" dirty="0">
                    <a:solidFill>
                      <a:schemeClr val="tx1"/>
                    </a:solidFill>
                    <a:effectLst/>
                    <a:latin typeface="Segoe WPC"/>
                  </a:rPr>
                  <a:t> as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and </a:t>
                </a:r>
                <a:r>
                  <a:rPr lang="es-PE" sz="900" b="0" i="0" dirty="0" err="1">
                    <a:solidFill>
                      <a:schemeClr val="tx1"/>
                    </a:solidFill>
                    <a:effectLst/>
                    <a:latin typeface="Segoe WPC"/>
                  </a:rPr>
                  <a:t>volatility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Derivatives can be linear, </a:t>
                </a:r>
                <a:r>
                  <a:rPr lang="es-PE" sz="900" b="0" i="0" dirty="0" err="1">
                    <a:solidFill>
                      <a:schemeClr val="tx1"/>
                    </a:solidFill>
                    <a:effectLst/>
                    <a:latin typeface="Segoe WPC"/>
                  </a:rPr>
                  <a:t>like</a:t>
                </a:r>
                <a:r>
                  <a:rPr lang="es-PE" sz="900" b="0" i="0" dirty="0">
                    <a:solidFill>
                      <a:schemeClr val="tx1"/>
                    </a:solidFill>
                    <a:effectLst/>
                    <a:latin typeface="Segoe WPC"/>
                  </a:rPr>
                  <a:t> forwards, </a:t>
                </a:r>
                <a:r>
                  <a:rPr lang="es-PE" sz="900" b="0" i="0" dirty="0" err="1">
                    <a:solidFill>
                      <a:schemeClr val="tx1"/>
                    </a:solidFill>
                    <a:effectLst/>
                    <a:latin typeface="Segoe WPC"/>
                  </a:rPr>
                  <a:t>where</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proportionally</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non-linear,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asymmetrically</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are </a:t>
                </a:r>
                <a:r>
                  <a:rPr lang="es-PE" sz="900" b="0" i="0" dirty="0" err="1">
                    <a:solidFill>
                      <a:schemeClr val="tx1"/>
                    </a:solidFill>
                    <a:effectLst/>
                    <a:latin typeface="Segoe WPC"/>
                  </a:rPr>
                  <a:t>used</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hedging</a:t>
                </a:r>
                <a:r>
                  <a:rPr lang="es-PE" sz="900" b="0" i="0" dirty="0">
                    <a:solidFill>
                      <a:schemeClr val="tx1"/>
                    </a:solidFill>
                    <a:effectLst/>
                    <a:latin typeface="Segoe WPC"/>
                  </a:rPr>
                  <a:t>, </a:t>
                </a:r>
                <a:r>
                  <a:rPr lang="es-PE" sz="900" b="0" i="0" dirty="0" err="1">
                    <a:solidFill>
                      <a:schemeClr val="tx1"/>
                    </a:solidFill>
                    <a:effectLst/>
                    <a:latin typeface="Segoe WPC"/>
                  </a:rPr>
                  <a:t>speculation</a:t>
                </a:r>
                <a:r>
                  <a:rPr lang="es-PE" sz="900" b="0" i="0" dirty="0">
                    <a:solidFill>
                      <a:schemeClr val="tx1"/>
                    </a:solidFill>
                    <a:effectLst/>
                    <a:latin typeface="Segoe WPC"/>
                  </a:rPr>
                  <a:t>, </a:t>
                </a:r>
                <a:r>
                  <a:rPr lang="es-PE" sz="900" b="0" i="0" dirty="0" err="1">
                    <a:solidFill>
                      <a:schemeClr val="tx1"/>
                    </a:solidFill>
                    <a:effectLst/>
                    <a:latin typeface="Segoe WPC"/>
                  </a:rPr>
                  <a:t>structuring</a:t>
                </a:r>
                <a:r>
                  <a:rPr lang="es-PE" sz="900" b="0" i="0" dirty="0">
                    <a:solidFill>
                      <a:schemeClr val="tx1"/>
                    </a:solidFill>
                    <a:effectLst/>
                    <a:latin typeface="Segoe WPC"/>
                  </a:rPr>
                  <a:t> </a:t>
                </a:r>
                <a:r>
                  <a:rPr lang="es-PE" sz="900" b="0" i="0" dirty="0" err="1">
                    <a:solidFill>
                      <a:schemeClr val="tx1"/>
                    </a:solidFill>
                    <a:effectLst/>
                    <a:latin typeface="Segoe WPC"/>
                  </a:rPr>
                  <a:t>securities</a:t>
                </a:r>
                <a:r>
                  <a:rPr lang="es-PE" sz="900" b="0" i="0" dirty="0">
                    <a:solidFill>
                      <a:schemeClr val="tx1"/>
                    </a:solidFill>
                    <a:effectLst/>
                    <a:latin typeface="Segoe WPC"/>
                  </a:rPr>
                  <a:t>, </a:t>
                </a:r>
                <a:r>
                  <a:rPr lang="es-PE" sz="900" b="0" i="0" dirty="0" err="1">
                    <a:solidFill>
                      <a:schemeClr val="tx1"/>
                    </a:solidFill>
                    <a:effectLst/>
                    <a:latin typeface="Segoe WPC"/>
                  </a:rPr>
                  <a:t>employee</a:t>
                </a:r>
                <a:r>
                  <a:rPr lang="es-PE" sz="900" b="0" i="0" dirty="0">
                    <a:solidFill>
                      <a:schemeClr val="tx1"/>
                    </a:solidFill>
                    <a:effectLst/>
                    <a:latin typeface="Segoe WPC"/>
                  </a:rPr>
                  <a:t> </a:t>
                </a:r>
                <a:r>
                  <a:rPr lang="es-PE" sz="900" b="0" i="0" dirty="0" err="1">
                    <a:solidFill>
                      <a:schemeClr val="tx1"/>
                    </a:solidFill>
                    <a:effectLst/>
                    <a:latin typeface="Segoe WPC"/>
                  </a:rPr>
                  <a:t>compensation</a:t>
                </a:r>
                <a:r>
                  <a:rPr lang="es-PE" sz="900" b="0" i="0" dirty="0">
                    <a:solidFill>
                      <a:schemeClr val="tx1"/>
                    </a:solidFill>
                    <a:effectLst/>
                    <a:latin typeface="Segoe WPC"/>
                  </a:rPr>
                  <a:t>, real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mortgages</a:t>
                </a:r>
                <a:r>
                  <a:rPr lang="es-PE" sz="900" b="0" i="0" dirty="0">
                    <a:solidFill>
                      <a:schemeClr val="tx1"/>
                    </a:solidFill>
                    <a:effectLst/>
                    <a:latin typeface="Segoe WPC"/>
                  </a:rPr>
                  <a:t>, and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 </a:t>
                </a:r>
                <a:r>
                  <a:rPr lang="es-PE" sz="900" b="0" i="0" dirty="0" err="1">
                    <a:solidFill>
                      <a:schemeClr val="tx1"/>
                    </a:solidFill>
                    <a:effectLst/>
                    <a:latin typeface="Segoe WPC"/>
                  </a:rPr>
                  <a:t>applications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Derivatives are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always</a:t>
                </a:r>
                <a:r>
                  <a:rPr lang="es-PE" sz="900" b="0" i="0" dirty="0">
                    <a:solidFill>
                      <a:schemeClr val="tx1"/>
                    </a:solidFill>
                    <a:effectLst/>
                    <a:latin typeface="Segoe WPC"/>
                  </a:rPr>
                  <a:t> </a:t>
                </a:r>
                <a:r>
                  <a:rPr lang="es-PE" sz="900" b="0" i="0" dirty="0" err="1">
                    <a:solidFill>
                      <a:schemeClr val="tx1"/>
                    </a:solidFill>
                    <a:effectLst/>
                    <a:latin typeface="Segoe WPC"/>
                  </a:rPr>
                  <a:t>based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financial</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t>
                </a:r>
                <a:r>
                  <a:rPr lang="es-PE" sz="900" b="0" i="0" dirty="0" err="1">
                    <a:solidFill>
                      <a:schemeClr val="tx1"/>
                    </a:solidFill>
                    <a:effectLst/>
                    <a:latin typeface="Segoe WPC"/>
                  </a:rPr>
                  <a:t>almost</a:t>
                </a:r>
                <a:r>
                  <a:rPr lang="es-PE" sz="900" b="0" i="0" dirty="0">
                    <a:solidFill>
                      <a:schemeClr val="tx1"/>
                    </a:solidFill>
                    <a:effectLst/>
                    <a:latin typeface="Segoe WPC"/>
                  </a:rPr>
                  <a:t> </a:t>
                </a:r>
                <a:r>
                  <a:rPr lang="es-PE" sz="900" b="0" i="0" dirty="0" err="1">
                    <a:solidFill>
                      <a:schemeClr val="tx1"/>
                    </a:solidFill>
                    <a:effectLst/>
                    <a:latin typeface="Segoe WPC"/>
                  </a:rPr>
                  <a:t>any</a:t>
                </a:r>
                <a:r>
                  <a:rPr lang="es-PE" sz="900" b="0" i="0" dirty="0">
                    <a:solidFill>
                      <a:schemeClr val="tx1"/>
                    </a:solidFill>
                    <a:effectLst/>
                    <a:latin typeface="Segoe WPC"/>
                  </a:rPr>
                  <a:t> observable variable can be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2. Exchange-</a:t>
                </a:r>
                <a:r>
                  <a:rPr lang="es-PE" sz="900" b="1" i="0" dirty="0" err="1">
                    <a:solidFill>
                      <a:schemeClr val="tx1"/>
                    </a:solidFill>
                    <a:effectLst/>
                    <a:latin typeface="Segoe WPC"/>
                  </a:rPr>
                  <a:t>Traded</a:t>
                </a:r>
                <a:r>
                  <a:rPr lang="es-PE" sz="900" b="1" i="0" dirty="0">
                    <a:solidFill>
                      <a:schemeClr val="tx1"/>
                    </a:solidFill>
                    <a:effectLst/>
                    <a:latin typeface="Segoe WPC"/>
                  </a:rPr>
                  <a:t> vs </a:t>
                </a:r>
                <a:r>
                  <a:rPr lang="es-PE" sz="900" b="1" i="0" dirty="0" err="1">
                    <a:solidFill>
                      <a:schemeClr val="tx1"/>
                    </a:solidFill>
                    <a:effectLst/>
                    <a:latin typeface="Segoe WPC"/>
                  </a:rPr>
                  <a:t>Over-the-Counter</a:t>
                </a:r>
                <a:r>
                  <a:rPr lang="es-PE" sz="900" b="1" i="0" dirty="0">
                    <a:solidFill>
                      <a:schemeClr val="tx1"/>
                    </a:solidFill>
                    <a:effectLst/>
                    <a:latin typeface="Segoe WPC"/>
                  </a:rPr>
                  <a:t> </a:t>
                </a:r>
                <a:r>
                  <a:rPr lang="es-PE" sz="900" b="1" i="0" dirty="0" err="1">
                    <a:solidFill>
                      <a:schemeClr val="tx1"/>
                    </a:solidFill>
                    <a:effectLst/>
                    <a:latin typeface="Segoe WPC"/>
                  </a:rPr>
                  <a:t>Markets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ways</a:t>
                </a:r>
                <a:r>
                  <a:rPr lang="es-PE" sz="900" b="0" i="0" dirty="0">
                    <a:solidFill>
                      <a:schemeClr val="tx1"/>
                    </a:solidFill>
                    <a:effectLst/>
                    <a:latin typeface="Segoe WPC"/>
                  </a:rPr>
                  <a:t> derivatives are </a:t>
                </a:r>
                <a:r>
                  <a:rPr lang="es-PE" sz="900" b="0" i="0" dirty="0" err="1">
                    <a:solidFill>
                      <a:schemeClr val="tx1"/>
                    </a:solidFill>
                    <a:effectLst/>
                    <a:latin typeface="Segoe WPC"/>
                  </a:rPr>
                  <a:t>traded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Exchange-</a:t>
                </a:r>
                <a:r>
                  <a:rPr lang="es-PE" sz="900" b="0" i="0" dirty="0" err="1">
                    <a:solidFill>
                      <a:schemeClr val="tx1"/>
                    </a:solidFill>
                    <a:effectLst/>
                    <a:latin typeface="Segoe WPC"/>
                  </a:rPr>
                  <a:t>traded</a:t>
                </a:r>
                <a:r>
                  <a:rPr lang="es-PE" sz="900" b="0" i="0" dirty="0">
                    <a:solidFill>
                      <a:schemeClr val="tx1"/>
                    </a:solidFill>
                    <a:effectLst/>
                    <a:latin typeface="Segoe WPC"/>
                  </a:rPr>
                  <a:t> derivatives are </a:t>
                </a:r>
                <a:r>
                  <a:rPr lang="es-PE" sz="900" b="0" i="0" dirty="0" err="1">
                    <a:solidFill>
                      <a:schemeClr val="tx1"/>
                    </a:solidFill>
                    <a:effectLst/>
                    <a:latin typeface="Segoe WPC"/>
                  </a:rPr>
                  <a:t>standardized</a:t>
                </a:r>
                <a:r>
                  <a:rPr lang="es-P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 </a:t>
                </a:r>
                <a:r>
                  <a:rPr lang="es-PE" sz="900" b="0" i="0" dirty="0" err="1">
                    <a:solidFill>
                      <a:schemeClr val="tx1"/>
                    </a:solidFill>
                    <a:effectLst/>
                    <a:latin typeface="Segoe WPC"/>
                  </a:rPr>
                  <a:t>traded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organized</a:t>
                </a:r>
                <a:r>
                  <a:rPr lang="es-PE" sz="900" b="0" i="0" dirty="0">
                    <a:solidFill>
                      <a:schemeClr val="tx1"/>
                    </a:solidFill>
                    <a:effectLst/>
                    <a:latin typeface="Segoe WPC"/>
                  </a:rPr>
                  <a:t> </a:t>
                </a:r>
                <a:r>
                  <a:rPr lang="es-PE" sz="900" b="0" i="0" dirty="0" err="1">
                    <a:solidFill>
                      <a:schemeClr val="tx1"/>
                    </a:solidFill>
                    <a:effectLst/>
                    <a:latin typeface="Segoe WPC"/>
                  </a:rPr>
                  <a:t>exchanges</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OTC derivatives are </a:t>
                </a:r>
                <a:r>
                  <a:rPr lang="es-PE" sz="900" b="0" i="0" dirty="0" err="1">
                    <a:solidFill>
                      <a:schemeClr val="tx1"/>
                    </a:solidFill>
                    <a:effectLst/>
                    <a:latin typeface="Segoe WPC"/>
                  </a:rPr>
                  <a:t>privately</a:t>
                </a:r>
                <a:r>
                  <a:rPr lang="es-PE" sz="900" b="0" i="0" dirty="0">
                    <a:solidFill>
                      <a:schemeClr val="tx1"/>
                    </a:solidFill>
                    <a:effectLst/>
                    <a:latin typeface="Segoe WPC"/>
                  </a:rPr>
                  <a:t> </a:t>
                </a:r>
                <a:r>
                  <a:rPr lang="es-PE" sz="900" b="0" i="0" dirty="0" err="1">
                    <a:solidFill>
                      <a:schemeClr val="tx1"/>
                    </a:solidFill>
                    <a:effectLst/>
                    <a:latin typeface="Segoe WPC"/>
                  </a:rPr>
                  <a:t>negotiated</a:t>
                </a:r>
                <a:r>
                  <a:rPr lang="es-P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 </a:t>
                </a:r>
                <a:r>
                  <a:rPr lang="es-PE" sz="900" b="0" i="0" dirty="0" err="1">
                    <a:solidFill>
                      <a:schemeClr val="tx1"/>
                    </a:solidFill>
                    <a:effectLst/>
                    <a:latin typeface="Segoe WPC"/>
                  </a:rPr>
                  <a:t>tailored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users</a:t>
                </a:r>
                <a:r>
                  <a:rPr lang="es-PE" sz="900" b="0" i="0" dirty="0">
                    <a:solidFill>
                      <a:schemeClr val="tx1"/>
                    </a:solidFill>
                    <a:effectLst/>
                    <a:latin typeface="Segoe WPC"/>
                  </a:rPr>
                  <a:t>’ </a:t>
                </a:r>
                <a:r>
                  <a:rPr lang="es-PE" sz="900" b="0" i="0" dirty="0" err="1">
                    <a:solidFill>
                      <a:schemeClr val="tx1"/>
                    </a:solidFill>
                    <a:effectLst/>
                    <a:latin typeface="Segoe WPC"/>
                  </a:rPr>
                  <a:t>needs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Exchange </a:t>
                </a:r>
                <a:r>
                  <a:rPr lang="es-PE" sz="900" b="0" i="0" dirty="0" err="1">
                    <a:solidFill>
                      <a:schemeClr val="tx1"/>
                    </a:solidFill>
                    <a:effectLst/>
                    <a:latin typeface="Segoe WPC"/>
                  </a:rPr>
                  <a:t>markets</a:t>
                </a:r>
                <a:r>
                  <a:rPr lang="es-PE" sz="900" b="0" i="0" dirty="0">
                    <a:solidFill>
                      <a:schemeClr val="tx1"/>
                    </a:solidFill>
                    <a:effectLst/>
                    <a:latin typeface="Segoe WPC"/>
                  </a:rPr>
                  <a:t> are </a:t>
                </a:r>
                <a:r>
                  <a:rPr lang="es-PE" sz="900" b="0" i="0" dirty="0" err="1">
                    <a:solidFill>
                      <a:schemeClr val="tx1"/>
                    </a:solidFill>
                    <a:effectLst/>
                    <a:latin typeface="Segoe WPC"/>
                  </a:rPr>
                  <a:t>standardized</a:t>
                </a:r>
                <a:r>
                  <a:rPr lang="es-PE" sz="900" b="0" i="0" dirty="0">
                    <a:solidFill>
                      <a:schemeClr val="tx1"/>
                    </a:solidFill>
                    <a:effectLst/>
                    <a:latin typeface="Segoe WPC"/>
                  </a:rPr>
                  <a:t> and </a:t>
                </a:r>
                <a:r>
                  <a:rPr lang="es-PE" sz="900" b="0" i="0" dirty="0" err="1">
                    <a:solidFill>
                      <a:schemeClr val="tx1"/>
                    </a:solidFill>
                    <a:effectLst/>
                    <a:latin typeface="Segoe WPC"/>
                  </a:rPr>
                  <a:t>centralized</a:t>
                </a:r>
                <a:r>
                  <a:rPr lang="es-PE" sz="900" b="0" i="0" dirty="0">
                    <a:solidFill>
                      <a:schemeClr val="tx1"/>
                    </a:solidFill>
                    <a:effectLst/>
                    <a:latin typeface="Segoe WPC"/>
                  </a:rPr>
                  <a:t>; OTC </a:t>
                </a:r>
                <a:r>
                  <a:rPr lang="es-PE" sz="900" b="0" i="0" dirty="0" err="1">
                    <a:solidFill>
                      <a:schemeClr val="tx1"/>
                    </a:solidFill>
                    <a:effectLst/>
                    <a:latin typeface="Segoe WPC"/>
                  </a:rPr>
                  <a:t>markets</a:t>
                </a:r>
                <a:r>
                  <a:rPr lang="es-PE" sz="900" b="0" i="0" dirty="0">
                    <a:solidFill>
                      <a:schemeClr val="tx1"/>
                    </a:solidFill>
                    <a:effectLst/>
                    <a:latin typeface="Segoe WPC"/>
                  </a:rPr>
                  <a:t> are flexible and </a:t>
                </a:r>
                <a:r>
                  <a:rPr lang="es-PE" sz="900" b="0" i="0" dirty="0" err="1">
                    <a:solidFill>
                      <a:schemeClr val="tx1"/>
                    </a:solidFill>
                    <a:effectLst/>
                    <a:latin typeface="Segoe WPC"/>
                  </a:rPr>
                  <a:t>customized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formula;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core</a:t>
                </a:r>
                <a:r>
                  <a:rPr lang="es-PE" sz="900" b="0" i="0" dirty="0">
                    <a:solidFill>
                      <a:schemeClr val="tx1"/>
                    </a:solidFill>
                    <a:effectLst/>
                    <a:latin typeface="Segoe WPC"/>
                  </a:rPr>
                  <a:t> </a:t>
                </a:r>
                <a:r>
                  <a:rPr lang="es-PE" sz="900" b="0" i="0" dirty="0" err="1">
                    <a:solidFill>
                      <a:schemeClr val="tx1"/>
                    </a:solidFill>
                    <a:effectLst/>
                    <a:latin typeface="Segoe WPC"/>
                  </a:rPr>
                  <a:t>contrast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standardization</a:t>
                </a:r>
                <a:r>
                  <a:rPr lang="es-PE" sz="900" b="0" i="0" dirty="0">
                    <a:solidFill>
                      <a:schemeClr val="tx1"/>
                    </a:solidFill>
                    <a:effectLst/>
                    <a:latin typeface="Segoe WPC"/>
                  </a:rPr>
                  <a:t> versus </a:t>
                </a:r>
                <a:r>
                  <a:rPr lang="es-PE" sz="900" b="0" i="0" dirty="0" err="1">
                    <a:solidFill>
                      <a:schemeClr val="tx1"/>
                    </a:solidFill>
                    <a:effectLst/>
                    <a:latin typeface="Segoe WPC"/>
                  </a:rPr>
                  <a:t>customization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Exchange-</a:t>
                </a:r>
                <a:r>
                  <a:rPr lang="es-PE" sz="900" b="0" i="0" dirty="0" err="1">
                    <a:solidFill>
                      <a:schemeClr val="tx1"/>
                    </a:solidFill>
                    <a:effectLst/>
                    <a:latin typeface="Segoe WPC"/>
                  </a:rPr>
                  <a:t>traded</a:t>
                </a:r>
                <a:r>
                  <a:rPr lang="es-PE" sz="900" b="0" i="0" dirty="0">
                    <a:solidFill>
                      <a:schemeClr val="tx1"/>
                    </a:solidFill>
                    <a:effectLst/>
                    <a:latin typeface="Segoe WPC"/>
                  </a:rPr>
                  <a:t> </a:t>
                </a:r>
                <a:r>
                  <a:rPr lang="es-PE" sz="900" b="0" i="0" dirty="0" err="1">
                    <a:solidFill>
                      <a:schemeClr val="tx1"/>
                    </a:solidFill>
                    <a:effectLst/>
                    <a:latin typeface="Segoe WPC"/>
                  </a:rPr>
                  <a:t>markets</a:t>
                </a:r>
                <a:r>
                  <a:rPr lang="es-PE" sz="900" b="0" i="0" dirty="0">
                    <a:solidFill>
                      <a:schemeClr val="tx1"/>
                    </a:solidFill>
                    <a:effectLst/>
                    <a:latin typeface="Segoe WPC"/>
                  </a:rPr>
                  <a:t> </a:t>
                </a:r>
                <a:r>
                  <a:rPr lang="es-PE" sz="900" b="0" i="0" dirty="0" err="1">
                    <a:solidFill>
                      <a:schemeClr val="tx1"/>
                    </a:solidFill>
                    <a:effectLst/>
                    <a:latin typeface="Segoe WPC"/>
                  </a:rPr>
                  <a:t>provide</a:t>
                </a:r>
                <a:r>
                  <a:rPr lang="es-PE" sz="900" b="0" i="0" dirty="0">
                    <a:solidFill>
                      <a:schemeClr val="tx1"/>
                    </a:solidFill>
                    <a:effectLst/>
                    <a:latin typeface="Segoe WPC"/>
                  </a:rPr>
                  <a:t> standard </a:t>
                </a:r>
                <a:r>
                  <a:rPr lang="es-PE" sz="900" b="0" i="0" dirty="0" err="1">
                    <a:solidFill>
                      <a:schemeClr val="tx1"/>
                    </a:solidFill>
                    <a:effectLst/>
                    <a:latin typeface="Segoe WPC"/>
                  </a:rPr>
                  <a:t>contracts</a:t>
                </a:r>
                <a:r>
                  <a:rPr lang="es-PE" sz="900" b="0" i="0" dirty="0">
                    <a:solidFill>
                      <a:schemeClr val="tx1"/>
                    </a:solidFill>
                    <a:effectLst/>
                    <a:latin typeface="Segoe WPC"/>
                  </a:rPr>
                  <a:t> and </a:t>
                </a:r>
                <a:r>
                  <a:rPr lang="es-PE" sz="900" b="0" i="0" dirty="0" err="1">
                    <a:solidFill>
                      <a:schemeClr val="tx1"/>
                    </a:solidFill>
                    <a:effectLst/>
                    <a:latin typeface="Segoe WPC"/>
                  </a:rPr>
                  <a:t>mechanisms</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reduce default </a:t>
                </a:r>
                <a:r>
                  <a:rPr lang="es-PE" sz="900" b="0" i="0" dirty="0" err="1">
                    <a:solidFill>
                      <a:schemeClr val="tx1"/>
                    </a:solidFill>
                    <a:effectLst/>
                    <a:latin typeface="Segoe WPC"/>
                  </a:rPr>
                  <a:t>risk</a:t>
                </a:r>
                <a:r>
                  <a:rPr lang="es-PE" sz="900" b="0" i="0" dirty="0">
                    <a:solidFill>
                      <a:schemeClr val="tx1"/>
                    </a:solidFill>
                    <a:effectLst/>
                    <a:latin typeface="Segoe WPC"/>
                  </a:rPr>
                  <a:t>. OTC </a:t>
                </a:r>
                <a:r>
                  <a:rPr lang="es-PE" sz="900" b="0" i="0" dirty="0" err="1">
                    <a:solidFill>
                      <a:schemeClr val="tx1"/>
                    </a:solidFill>
                    <a:effectLst/>
                    <a:latin typeface="Segoe WPC"/>
                  </a:rPr>
                  <a:t>markets</a:t>
                </a:r>
                <a:r>
                  <a:rPr lang="es-PE" sz="900" b="0" i="0" dirty="0">
                    <a:solidFill>
                      <a:schemeClr val="tx1"/>
                    </a:solidFill>
                    <a:effectLst/>
                    <a:latin typeface="Segoe WPC"/>
                  </a:rPr>
                  <a:t> </a:t>
                </a:r>
                <a:r>
                  <a:rPr lang="es-PE" sz="900" b="0" i="0" dirty="0" err="1">
                    <a:solidFill>
                      <a:schemeClr val="tx1"/>
                    </a:solidFill>
                    <a:effectLst/>
                    <a:latin typeface="Segoe WPC"/>
                  </a:rPr>
                  <a:t>allow</a:t>
                </a:r>
                <a:r>
                  <a:rPr lang="es-PE" sz="900" b="0" i="0" dirty="0">
                    <a:solidFill>
                      <a:schemeClr val="tx1"/>
                    </a:solidFill>
                    <a:effectLst/>
                    <a:latin typeface="Segoe WPC"/>
                  </a:rPr>
                  <a:t> </a:t>
                </a:r>
                <a:r>
                  <a:rPr lang="es-PE" sz="900" b="0" i="0" dirty="0" err="1">
                    <a:solidFill>
                      <a:schemeClr val="tx1"/>
                    </a:solidFill>
                    <a:effectLst/>
                    <a:latin typeface="Segoe WPC"/>
                  </a:rPr>
                  <a:t>customization</a:t>
                </a:r>
                <a:r>
                  <a:rPr lang="es-PE" sz="900" b="0" i="0" dirty="0">
                    <a:solidFill>
                      <a:schemeClr val="tx1"/>
                    </a:solidFill>
                    <a:effectLst/>
                    <a:latin typeface="Segoe WPC"/>
                  </a:rPr>
                  <a:t> and are </a:t>
                </a:r>
                <a:r>
                  <a:rPr lang="es-PE" sz="900" b="0" i="0" dirty="0" err="1">
                    <a:solidFill>
                      <a:schemeClr val="tx1"/>
                    </a:solidFill>
                    <a:effectLst/>
                    <a:latin typeface="Segoe WPC"/>
                  </a:rPr>
                  <a:t>used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end</a:t>
                </a:r>
                <a:r>
                  <a:rPr lang="es-PE" sz="900" b="0" i="0" dirty="0">
                    <a:solidFill>
                      <a:schemeClr val="tx1"/>
                    </a:solidFill>
                    <a:effectLst/>
                    <a:latin typeface="Segoe WPC"/>
                  </a:rPr>
                  <a:t> </a:t>
                </a:r>
                <a:r>
                  <a:rPr lang="es-PE" sz="900" b="0" i="0" dirty="0" err="1">
                    <a:solidFill>
                      <a:schemeClr val="tx1"/>
                    </a:solidFill>
                    <a:effectLst/>
                    <a:latin typeface="Segoe WPC"/>
                  </a:rPr>
                  <a:t>users</a:t>
                </a:r>
                <a:r>
                  <a:rPr lang="es-PE" sz="900" b="0" i="0" dirty="0">
                    <a:solidFill>
                      <a:schemeClr val="tx1"/>
                    </a:solidFill>
                    <a:effectLst/>
                    <a:latin typeface="Segoe WPC"/>
                  </a:rPr>
                  <a:t> and dealers, </a:t>
                </a:r>
                <a:r>
                  <a:rPr lang="es-PE" sz="900" b="0" i="0" dirty="0" err="1">
                    <a:solidFill>
                      <a:schemeClr val="tx1"/>
                    </a:solidFill>
                    <a:effectLst/>
                    <a:latin typeface="Segoe WPC"/>
                  </a:rPr>
                  <a:t>with</a:t>
                </a:r>
                <a:r>
                  <a:rPr lang="es-PE" sz="900" b="0" i="0" dirty="0">
                    <a:solidFill>
                      <a:schemeClr val="tx1"/>
                    </a:solidFill>
                    <a:effectLst/>
                    <a:latin typeface="Segoe WPC"/>
                  </a:rPr>
                  <a:t> dealers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hedging</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in </a:t>
                </a:r>
                <a:r>
                  <a:rPr lang="es-PE" sz="900" b="0" i="0" dirty="0" err="1">
                    <a:solidFill>
                      <a:schemeClr val="tx1"/>
                    </a:solidFill>
                    <a:effectLst/>
                    <a:latin typeface="Segoe WPC"/>
                  </a:rPr>
                  <a:t>interdealer</a:t>
                </a:r>
                <a:r>
                  <a:rPr lang="es-PE" sz="900" b="0" i="0" dirty="0">
                    <a:solidFill>
                      <a:schemeClr val="tx1"/>
                    </a:solidFill>
                    <a:effectLst/>
                    <a:latin typeface="Segoe WPC"/>
                  </a:rPr>
                  <a:t> </a:t>
                </a:r>
                <a:r>
                  <a:rPr lang="es-PE" sz="900" b="0" i="0" dirty="0" err="1">
                    <a:solidFill>
                      <a:schemeClr val="tx1"/>
                    </a:solidFill>
                    <a:effectLst/>
                    <a:latin typeface="Segoe WPC"/>
                  </a:rPr>
                  <a:t>markets</a:t>
                </a:r>
                <a:r>
                  <a:rPr lang="es-PE" sz="900" b="0" i="0" dirty="0">
                    <a:solidFill>
                      <a:schemeClr val="tx1"/>
                    </a:solidFill>
                    <a:effectLst/>
                    <a:latin typeface="Segoe WPC"/>
                  </a:rPr>
                  <a:t>. Post-2008 </a:t>
                </a:r>
                <a:r>
                  <a:rPr lang="es-PE" sz="900" b="0" i="0" dirty="0" err="1">
                    <a:solidFill>
                      <a:schemeClr val="tx1"/>
                    </a:solidFill>
                    <a:effectLst/>
                    <a:latin typeface="Segoe WPC"/>
                  </a:rPr>
                  <a:t>reforms</a:t>
                </a:r>
                <a:r>
                  <a:rPr lang="es-PE" sz="900" b="0" i="0" dirty="0">
                    <a:solidFill>
                      <a:schemeClr val="tx1"/>
                    </a:solidFill>
                    <a:effectLst/>
                    <a:latin typeface="Segoe WPC"/>
                  </a:rPr>
                  <a:t> </a:t>
                </a:r>
                <a:r>
                  <a:rPr lang="es-PE" sz="900" b="0" i="0" dirty="0" err="1">
                    <a:solidFill>
                      <a:schemeClr val="tx1"/>
                    </a:solidFill>
                    <a:effectLst/>
                    <a:latin typeface="Segoe WPC"/>
                  </a:rPr>
                  <a:t>increased</a:t>
                </a:r>
                <a:r>
                  <a:rPr lang="es-PE" sz="900" b="0" i="0" dirty="0">
                    <a:solidFill>
                      <a:schemeClr val="tx1"/>
                    </a:solidFill>
                    <a:effectLst/>
                    <a:latin typeface="Segoe WPC"/>
                  </a:rPr>
                  <a:t> OTC </a:t>
                </a:r>
                <a:r>
                  <a:rPr lang="es-PE" sz="900" b="0" i="0" dirty="0" err="1">
                    <a:solidFill>
                      <a:schemeClr val="tx1"/>
                    </a:solidFill>
                    <a:effectLst/>
                    <a:latin typeface="Segoe WPC"/>
                  </a:rPr>
                  <a:t>transparency</a:t>
                </a:r>
                <a:r>
                  <a:rPr lang="es-PE" sz="900" b="0" i="0" dirty="0">
                    <a:solidFill>
                      <a:schemeClr val="tx1"/>
                    </a:solidFill>
                    <a:effectLst/>
                    <a:latin typeface="Segoe WPC"/>
                  </a:rPr>
                  <a:t> </a:t>
                </a:r>
                <a:r>
                  <a:rPr lang="es-PE" sz="900" b="0" i="0" dirty="0" err="1">
                    <a:solidFill>
                      <a:schemeClr val="tx1"/>
                    </a:solidFill>
                    <a:effectLst/>
                    <a:latin typeface="Segoe WPC"/>
                  </a:rPr>
                  <a:t>through</a:t>
                </a:r>
                <a:r>
                  <a:rPr lang="es-PE" sz="900" b="0" i="0" dirty="0">
                    <a:solidFill>
                      <a:schemeClr val="tx1"/>
                    </a:solidFill>
                    <a:effectLst/>
                    <a:latin typeface="Segoe WPC"/>
                  </a:rPr>
                  <a:t> trading </a:t>
                </a:r>
                <a:r>
                  <a:rPr lang="es-PE" sz="900" b="0" i="0" dirty="0" err="1">
                    <a:solidFill>
                      <a:schemeClr val="tx1"/>
                    </a:solidFill>
                    <a:effectLst/>
                    <a:latin typeface="Segoe WPC"/>
                  </a:rPr>
                  <a:t>platforms</a:t>
                </a:r>
                <a:r>
                  <a:rPr lang="es-PE" sz="900" b="0" i="0" dirty="0">
                    <a:solidFill>
                      <a:schemeClr val="tx1"/>
                    </a:solidFill>
                    <a:effectLst/>
                    <a:latin typeface="Segoe WPC"/>
                  </a:rPr>
                  <a:t>, central </a:t>
                </a:r>
                <a:r>
                  <a:rPr lang="es-PE" sz="900" b="0" i="0" dirty="0" err="1">
                    <a:solidFill>
                      <a:schemeClr val="tx1"/>
                    </a:solidFill>
                    <a:effectLst/>
                    <a:latin typeface="Segoe WPC"/>
                  </a:rPr>
                  <a:t>clearing</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standardized</a:t>
                </a:r>
                <a:r>
                  <a:rPr lang="es-PE" sz="900" b="0" i="0" dirty="0">
                    <a:solidFill>
                      <a:schemeClr val="tx1"/>
                    </a:solidFill>
                    <a:effectLst/>
                    <a:latin typeface="Segoe WPC"/>
                  </a:rPr>
                  <a:t> </a:t>
                </a:r>
                <a:r>
                  <a:rPr lang="es-PE" sz="900" b="0" i="0" dirty="0" err="1">
                    <a:solidFill>
                      <a:schemeClr val="tx1"/>
                    </a:solidFill>
                    <a:effectLst/>
                    <a:latin typeface="Segoe WPC"/>
                  </a:rPr>
                  <a:t>trades</a:t>
                </a:r>
                <a:r>
                  <a:rPr lang="es-PE" sz="900" b="0" i="0" dirty="0">
                    <a:solidFill>
                      <a:schemeClr val="tx1"/>
                    </a:solidFill>
                    <a:effectLst/>
                    <a:latin typeface="Segoe WPC"/>
                  </a:rPr>
                  <a:t>, and </a:t>
                </a:r>
                <a:r>
                  <a:rPr lang="es-PE" sz="900" b="0" i="0" dirty="0" err="1">
                    <a:solidFill>
                      <a:schemeClr val="tx1"/>
                    </a:solidFill>
                    <a:effectLst/>
                    <a:latin typeface="Segoe WPC"/>
                  </a:rPr>
                  <a:t>trade</a:t>
                </a:r>
                <a:r>
                  <a:rPr lang="es-PE" sz="900" b="0" i="0" dirty="0">
                    <a:solidFill>
                      <a:schemeClr val="tx1"/>
                    </a:solidFill>
                    <a:effectLst/>
                    <a:latin typeface="Segoe WPC"/>
                  </a:rPr>
                  <a:t> </a:t>
                </a:r>
                <a:r>
                  <a:rPr lang="es-PE" sz="900" b="0" i="0" dirty="0" err="1">
                    <a:solidFill>
                      <a:schemeClr val="tx1"/>
                    </a:solidFill>
                    <a:effectLst/>
                    <a:latin typeface="Segoe WPC"/>
                  </a:rPr>
                  <a:t>reporting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OTC </a:t>
                </a:r>
                <a:r>
                  <a:rPr lang="es-PE" sz="900" b="0" i="0" dirty="0" err="1">
                    <a:solidFill>
                      <a:schemeClr val="tx1"/>
                    </a:solidFill>
                    <a:effectLst/>
                    <a:latin typeface="Segoe WPC"/>
                  </a:rPr>
                  <a:t>markets</a:t>
                </a:r>
                <a:r>
                  <a:rPr lang="es-PE" sz="900" b="0" i="0" dirty="0">
                    <a:solidFill>
                      <a:schemeClr val="tx1"/>
                    </a:solidFill>
                    <a:effectLst/>
                    <a:latin typeface="Segoe WPC"/>
                  </a:rPr>
                  <a:t> are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necessarily</a:t>
                </a:r>
                <a:r>
                  <a:rPr lang="es-PE" sz="900" b="0" i="0" dirty="0">
                    <a:solidFill>
                      <a:schemeClr val="tx1"/>
                    </a:solidFill>
                    <a:effectLst/>
                    <a:latin typeface="Segoe WPC"/>
                  </a:rPr>
                  <a:t> informal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small</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are </a:t>
                </a:r>
                <a:r>
                  <a:rPr lang="es-PE" sz="900" b="0" i="0" dirty="0" err="1">
                    <a:solidFill>
                      <a:schemeClr val="tx1"/>
                    </a:solidFill>
                    <a:effectLst/>
                    <a:latin typeface="Segoe WPC"/>
                  </a:rPr>
                  <a:t>very</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and </a:t>
                </a:r>
                <a:r>
                  <a:rPr lang="es-PE" sz="900" b="0" i="0" dirty="0" err="1">
                    <a:solidFill>
                      <a:schemeClr val="tx1"/>
                    </a:solidFill>
                    <a:effectLst/>
                    <a:latin typeface="Segoe WPC"/>
                  </a:rPr>
                  <a:t>often</a:t>
                </a:r>
                <a:r>
                  <a:rPr lang="es-PE" sz="900" b="0" i="0" dirty="0">
                    <a:solidFill>
                      <a:schemeClr val="tx1"/>
                    </a:solidFill>
                    <a:effectLst/>
                    <a:latin typeface="Segoe WPC"/>
                  </a:rPr>
                  <a:t> dealer-</a:t>
                </a:r>
                <a:r>
                  <a:rPr lang="es-PE" sz="900" b="0" i="0" dirty="0" err="1">
                    <a:solidFill>
                      <a:schemeClr val="tx1"/>
                    </a:solidFill>
                    <a:effectLst/>
                    <a:latin typeface="Segoe WPC"/>
                  </a:rPr>
                  <a:t>driven</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3. Forward </a:t>
                </a:r>
                <a:r>
                  <a:rPr lang="es-PE" sz="900" b="1" i="0" dirty="0" err="1">
                    <a:solidFill>
                      <a:schemeClr val="tx1"/>
                    </a:solidFill>
                    <a:effectLst/>
                    <a:latin typeface="Segoe WPC"/>
                  </a:rPr>
                  <a:t>Contracts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OTC </a:t>
                </a:r>
                <a:r>
                  <a:rPr lang="es-PE" sz="900" b="0" i="0" dirty="0" err="1">
                    <a:solidFill>
                      <a:schemeClr val="tx1"/>
                    </a:solidFill>
                    <a:effectLst/>
                    <a:latin typeface="Segoe WPC"/>
                  </a:rPr>
                  <a:t>agreements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buy</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sell</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 </a:t>
                </a:r>
                <a:r>
                  <a:rPr lang="es-PE" sz="900" b="0" i="0" dirty="0" err="1">
                    <a:solidFill>
                      <a:schemeClr val="tx1"/>
                    </a:solidFill>
                    <a:effectLst/>
                    <a:latin typeface="Segoe WPC"/>
                  </a:rPr>
                  <a:t>specified</a:t>
                </a:r>
                <a:r>
                  <a:rPr lang="es-PE" sz="900" b="0" i="0" dirty="0">
                    <a:solidFill>
                      <a:schemeClr val="tx1"/>
                    </a:solidFill>
                    <a:effectLst/>
                    <a:latin typeface="Segoe WPC"/>
                  </a:rPr>
                  <a:t> future date </a:t>
                </a:r>
                <a:r>
                  <a:rPr lang="es-PE" sz="900" b="0" i="0" dirty="0" err="1">
                    <a:solidFill>
                      <a:schemeClr val="tx1"/>
                    </a:solidFill>
                    <a:effectLst/>
                    <a:latin typeface="Segoe WPC"/>
                  </a:rPr>
                  <a:t>for</a:t>
                </a:r>
                <a:r>
                  <a:rPr lang="es-PE" sz="900" b="0" i="0" dirty="0">
                    <a:solidFill>
                      <a:schemeClr val="tx1"/>
                    </a:solidFill>
                    <a:effectLst/>
                    <a:latin typeface="Segoe WPC"/>
                  </a:rPr>
                  <a:t> a </a:t>
                </a:r>
                <a:r>
                  <a:rPr lang="es-PE" sz="900" b="0" i="0" dirty="0" err="1">
                    <a:solidFill>
                      <a:schemeClr val="tx1"/>
                    </a:solidFill>
                    <a:effectLst/>
                    <a:latin typeface="Segoe WPC"/>
                  </a:rPr>
                  <a:t>predetermined</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forward </a:t>
                </a:r>
                <a:r>
                  <a:rPr lang="es-PE" sz="900" b="0" i="0" dirty="0" err="1">
                    <a:solidFill>
                      <a:schemeClr val="tx1"/>
                    </a:solidFill>
                    <a:effectLst/>
                    <a:latin typeface="Segoe WPC"/>
                  </a:rPr>
                  <a:t>locks</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today</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 </a:t>
                </a:r>
                <a:r>
                  <a:rPr lang="es-PE" sz="900" b="0" i="0" dirty="0" err="1">
                    <a:solidFill>
                      <a:schemeClr val="tx1"/>
                    </a:solidFill>
                    <a:effectLst/>
                    <a:latin typeface="Segoe WPC"/>
                  </a:rPr>
                  <a:t>transaction</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will</a:t>
                </a:r>
                <a:r>
                  <a:rPr lang="es-PE" sz="900" b="0" i="0" dirty="0">
                    <a:solidFill>
                      <a:schemeClr val="tx1"/>
                    </a:solidFill>
                    <a:effectLst/>
                    <a:latin typeface="Segoe WPC"/>
                  </a:rPr>
                  <a:t> </a:t>
                </a:r>
                <a:r>
                  <a:rPr lang="es-PE" sz="900" b="0" i="0" dirty="0" err="1">
                    <a:solidFill>
                      <a:schemeClr val="tx1"/>
                    </a:solidFill>
                    <a:effectLst/>
                    <a:latin typeface="Segoe WPC"/>
                  </a:rPr>
                  <a:t>happen</a:t>
                </a:r>
                <a:r>
                  <a:rPr lang="es-PE" sz="900" b="0" i="0" dirty="0">
                    <a:solidFill>
                      <a:schemeClr val="tx1"/>
                    </a:solidFill>
                    <a:effectLst/>
                    <a:latin typeface="Segoe WPC"/>
                  </a:rPr>
                  <a:t> </a:t>
                </a:r>
                <a:r>
                  <a:rPr lang="es-PE" sz="900" b="0" i="0" dirty="0" err="1">
                    <a:solidFill>
                      <a:schemeClr val="tx1"/>
                    </a:solidFill>
                    <a:effectLst/>
                    <a:latin typeface="Segoe WPC"/>
                  </a:rPr>
                  <a:t>later</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side</a:t>
                </a:r>
                <a:r>
                  <a:rPr lang="es-PE" sz="900" b="0" i="0" dirty="0">
                    <a:solidFill>
                      <a:schemeClr val="tx1"/>
                    </a:solidFill>
                    <a:effectLst/>
                    <a:latin typeface="Segoe WPC"/>
                  </a:rPr>
                  <a:t> </a:t>
                </a:r>
                <a:r>
                  <a:rPr lang="es-PE" sz="900" b="0" i="0" dirty="0" err="1">
                    <a:solidFill>
                      <a:schemeClr val="tx1"/>
                    </a:solidFill>
                    <a:effectLst/>
                    <a:latin typeface="Segoe WPC"/>
                  </a:rPr>
                  <a:t>agrees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buy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sell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benefits</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future spot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rises</a:t>
                </a:r>
                <a:r>
                  <a:rPr lang="es-PE" sz="900" b="0" i="0" dirty="0">
                    <a:solidFill>
                      <a:schemeClr val="tx1"/>
                    </a:solidFill>
                    <a:effectLst/>
                    <a:latin typeface="Segoe WPC"/>
                  </a:rPr>
                  <a:t> </a:t>
                </a:r>
                <a:r>
                  <a:rPr lang="es-PE" sz="900" b="0" i="0" dirty="0" err="1">
                    <a:solidFill>
                      <a:schemeClr val="tx1"/>
                    </a:solidFill>
                    <a:effectLst/>
                    <a:latin typeface="Segoe WPC"/>
                  </a:rPr>
                  <a:t>above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delivery</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short </a:t>
                </a:r>
                <a:r>
                  <a:rPr lang="es-PE" sz="900" b="0" i="0" dirty="0" err="1">
                    <a:solidFill>
                      <a:schemeClr val="tx1"/>
                    </a:solidFill>
                    <a:effectLst/>
                    <a:latin typeface="Segoe WPC"/>
                  </a:rPr>
                  <a:t>benefits</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falls</a:t>
                </a:r>
                <a:r>
                  <a:rPr lang="es-PE" sz="900" b="0" i="0" dirty="0">
                    <a:solidFill>
                      <a:schemeClr val="tx1"/>
                    </a:solidFill>
                    <a:effectLst/>
                    <a:latin typeface="Segoe WPC"/>
                  </a:rPr>
                  <a:t> </a:t>
                </a:r>
                <a:r>
                  <a:rPr lang="es-PE" sz="900" b="0" i="0" dirty="0" err="1">
                    <a:solidFill>
                      <a:schemeClr val="tx1"/>
                    </a:solidFill>
                    <a:effectLst/>
                    <a:latin typeface="Segoe WPC"/>
                  </a:rPr>
                  <a:t>below</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Long forward </a:t>
                </a:r>
                <a:r>
                  <a:rPr lang="es-PE" sz="900" b="0" i="0" dirty="0" err="1">
                    <a:solidFill>
                      <a:schemeClr val="tx1"/>
                    </a:solidFill>
                    <a:effectLst/>
                    <a:latin typeface="Segoe WPC"/>
                  </a:rPr>
                  <a:t>payoff</a:t>
                </a:r>
                <a:r>
                  <a:rPr lang="es-PE" sz="900" b="0" i="0" dirty="0">
                    <a:solidFill>
                      <a:schemeClr val="tx1"/>
                    </a:solidFill>
                    <a:effectLst/>
                    <a:latin typeface="Segoe WPC"/>
                  </a:rPr>
                  <a:t> =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oMath>
                </a14:m>
                <a:r>
                  <a:rPr lang="ar-AE" sz="900" b="0" i="0" dirty="0">
                    <a:solidFill>
                      <a:schemeClr val="tx1"/>
                    </a:solidFill>
                    <a:effectLst/>
                    <a:latin typeface="Segoe WPC"/>
                  </a:rPr>
                  <a:t>. </a:t>
                </a:r>
                <a:r>
                  <a:rPr lang="es-PE" sz="900" b="0" i="0" dirty="0">
                    <a:solidFill>
                      <a:schemeClr val="tx1"/>
                    </a:solidFill>
                    <a:effectLst/>
                    <a:latin typeface="Segoe WPC"/>
                  </a:rPr>
                  <a:t>Short forward </a:t>
                </a:r>
                <a:r>
                  <a:rPr lang="es-PE" sz="900" b="0" i="0" dirty="0" err="1">
                    <a:solidFill>
                      <a:schemeClr val="tx1"/>
                    </a:solidFill>
                    <a:effectLst/>
                    <a:latin typeface="Segoe WPC"/>
                  </a:rPr>
                  <a:t>payoff</a:t>
                </a:r>
                <a:r>
                  <a:rPr lang="es-PE" sz="900" b="0" i="0" dirty="0">
                    <a:solidFill>
                      <a:schemeClr val="tx1"/>
                    </a:solidFill>
                    <a:effectLst/>
                    <a:latin typeface="Segoe WPC"/>
                  </a:rPr>
                  <a:t> = </a:t>
                </a:r>
                <a14:m>
                  <m:oMath xmlns:m="http://schemas.openxmlformats.org/officeDocument/2006/math">
                    <m:r>
                      <a:rPr lang="es-PE" sz="900" i="1">
                        <a:solidFill>
                          <a:schemeClr val="tx1"/>
                        </a:solidFill>
                        <a:latin typeface="Cambria Math" panose="02040503050406030204" pitchFamily="18" charset="0"/>
                      </a:rPr>
                      <m:t>𝐾</m:t>
                    </m:r>
                    <m:r>
                      <a:rPr lang="es-P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Forwards are linear derivatives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linearly</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t>
                </a:r>
                <a:r>
                  <a:rPr lang="es-PE" sz="900" b="0" i="0" dirty="0" err="1">
                    <a:solidFill>
                      <a:schemeClr val="tx1"/>
                    </a:solidFill>
                    <a:effectLst/>
                    <a:latin typeface="Segoe WPC"/>
                  </a:rPr>
                  <a:t>maturity</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are </a:t>
                </a:r>
                <a:r>
                  <a:rPr lang="es-PE" sz="900" b="0" i="0" dirty="0" err="1">
                    <a:solidFill>
                      <a:schemeClr val="tx1"/>
                    </a:solidFill>
                    <a:effectLst/>
                    <a:latin typeface="Segoe WPC"/>
                  </a:rPr>
                  <a:t>widely</a:t>
                </a:r>
                <a:r>
                  <a:rPr lang="es-PE" sz="900" b="0" i="0" dirty="0">
                    <a:solidFill>
                      <a:schemeClr val="tx1"/>
                    </a:solidFill>
                    <a:effectLst/>
                    <a:latin typeface="Segoe WPC"/>
                  </a:rPr>
                  <a:t> </a:t>
                </a:r>
                <a:r>
                  <a:rPr lang="es-PE" sz="900" b="0" i="0" dirty="0" err="1">
                    <a:solidFill>
                      <a:schemeClr val="tx1"/>
                    </a:solidFill>
                    <a:effectLst/>
                    <a:latin typeface="Segoe WPC"/>
                  </a:rPr>
                  <a:t>used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foreign</a:t>
                </a:r>
                <a:r>
                  <a:rPr lang="es-PE" sz="900" b="0" i="0" dirty="0">
                    <a:solidFill>
                      <a:schemeClr val="tx1"/>
                    </a:solidFill>
                    <a:effectLst/>
                    <a:latin typeface="Segoe WPC"/>
                  </a:rPr>
                  <a:t> </a:t>
                </a:r>
                <a:r>
                  <a:rPr lang="es-PE" sz="900" b="0" i="0" dirty="0" err="1">
                    <a:solidFill>
                      <a:schemeClr val="tx1"/>
                    </a:solidFill>
                    <a:effectLst/>
                    <a:latin typeface="Segoe WPC"/>
                  </a:rPr>
                  <a:t>exchange</a:t>
                </a:r>
                <a:r>
                  <a:rPr lang="es-PE" sz="900" b="0" i="0" dirty="0">
                    <a:solidFill>
                      <a:schemeClr val="tx1"/>
                    </a:solidFill>
                    <a:effectLst/>
                    <a:latin typeface="Segoe WPC"/>
                  </a:rPr>
                  <a:t> and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exposures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forward </a:t>
                </a:r>
                <a:r>
                  <a:rPr lang="es-PE" sz="900" b="0" i="0" dirty="0" err="1">
                    <a:solidFill>
                      <a:schemeClr val="tx1"/>
                    </a:solidFill>
                    <a:effectLst/>
                    <a:latin typeface="Segoe WPC"/>
                  </a:rPr>
                  <a:t>contract</a:t>
                </a:r>
                <a:r>
                  <a:rPr lang="es-PE" sz="900" b="0" i="0" dirty="0">
                    <a:solidFill>
                      <a:schemeClr val="tx1"/>
                    </a:solidFill>
                    <a:effectLst/>
                    <a:latin typeface="Segoe WPC"/>
                  </a:rPr>
                  <a:t> has no </a:t>
                </a:r>
                <a:r>
                  <a:rPr lang="es-PE" sz="900" b="0" i="0" dirty="0" err="1">
                    <a:solidFill>
                      <a:schemeClr val="tx1"/>
                    </a:solidFill>
                    <a:effectLst/>
                    <a:latin typeface="Segoe WPC"/>
                  </a:rPr>
                  <a:t>upfront</a:t>
                </a:r>
                <a:r>
                  <a:rPr lang="es-PE" sz="900" b="0" i="0" dirty="0">
                    <a:solidFill>
                      <a:schemeClr val="tx1"/>
                    </a:solidFill>
                    <a:effectLst/>
                    <a:latin typeface="Segoe WPC"/>
                  </a:rPr>
                  <a:t> </a:t>
                </a:r>
                <a:r>
                  <a:rPr lang="es-PE" sz="900" b="0" i="0" dirty="0" err="1">
                    <a:solidFill>
                      <a:schemeClr val="tx1"/>
                    </a:solidFill>
                    <a:effectLst/>
                    <a:latin typeface="Segoe WPC"/>
                  </a:rPr>
                  <a:t>cost</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still</a:t>
                </a:r>
                <a:r>
                  <a:rPr lang="es-PE" sz="900" b="0" i="0" dirty="0">
                    <a:solidFill>
                      <a:schemeClr val="tx1"/>
                    </a:solidFill>
                    <a:effectLst/>
                    <a:latin typeface="Segoe WPC"/>
                  </a:rPr>
                  <a:t> </a:t>
                </a:r>
                <a:r>
                  <a:rPr lang="es-PE" sz="900" b="0" i="0" dirty="0" err="1">
                    <a:solidFill>
                      <a:schemeClr val="tx1"/>
                    </a:solidFill>
                    <a:effectLst/>
                    <a:latin typeface="Segoe WPC"/>
                  </a:rPr>
                  <a:t>creates</a:t>
                </a:r>
                <a:r>
                  <a:rPr lang="es-PE" sz="900" b="0" i="0" dirty="0">
                    <a:solidFill>
                      <a:schemeClr val="tx1"/>
                    </a:solidFill>
                    <a:effectLst/>
                    <a:latin typeface="Segoe WPC"/>
                  </a:rPr>
                  <a:t> </a:t>
                </a:r>
                <a:r>
                  <a:rPr lang="es-PE" sz="900" b="0" i="0" dirty="0" err="1">
                    <a:solidFill>
                      <a:schemeClr val="tx1"/>
                    </a:solidFill>
                    <a:effectLst/>
                    <a:latin typeface="Segoe WPC"/>
                  </a:rPr>
                  <a:t>gain</a:t>
                </a:r>
                <a:r>
                  <a:rPr lang="es-PE" sz="900" b="0" i="0" dirty="0">
                    <a:solidFill>
                      <a:schemeClr val="tx1"/>
                    </a:solidFill>
                    <a:effectLst/>
                    <a:latin typeface="Segoe WPC"/>
                  </a:rPr>
                  <a:t>/</a:t>
                </a:r>
                <a:r>
                  <a:rPr lang="es-PE" sz="900" b="0" i="0" dirty="0" err="1">
                    <a:solidFill>
                      <a:schemeClr val="tx1"/>
                    </a:solidFill>
                    <a:effectLst/>
                    <a:latin typeface="Segoe WPC"/>
                  </a:rPr>
                  <a:t>loss</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at </a:t>
                </a:r>
                <a:r>
                  <a:rPr lang="es-PE" sz="900" b="0" i="0" dirty="0" err="1">
                    <a:solidFill>
                      <a:schemeClr val="tx1"/>
                    </a:solidFill>
                    <a:effectLst/>
                    <a:latin typeface="Segoe WPC"/>
                  </a:rPr>
                  <a:t>maturity</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4. Futures </a:t>
                </a:r>
                <a:r>
                  <a:rPr lang="es-PE" sz="900" b="1" i="0" dirty="0" err="1">
                    <a:solidFill>
                      <a:schemeClr val="tx1"/>
                    </a:solidFill>
                    <a:effectLst/>
                    <a:latin typeface="Segoe WPC"/>
                  </a:rPr>
                  <a:t>Contracts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Exchange-</a:t>
                </a:r>
                <a:r>
                  <a:rPr lang="es-PE" sz="900" b="0" i="0" dirty="0" err="1">
                    <a:solidFill>
                      <a:schemeClr val="tx1"/>
                    </a:solidFill>
                    <a:effectLst/>
                    <a:latin typeface="Segoe WPC"/>
                  </a:rPr>
                  <a:t>traded</a:t>
                </a:r>
                <a:r>
                  <a:rPr lang="es-P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payoffs</a:t>
                </a:r>
                <a:r>
                  <a:rPr lang="es-PE" sz="900" b="0" i="0" dirty="0">
                    <a:solidFill>
                      <a:schemeClr val="tx1"/>
                    </a:solidFill>
                    <a:effectLst/>
                    <a:latin typeface="Segoe WPC"/>
                  </a:rPr>
                  <a:t> similar </a:t>
                </a:r>
                <a:r>
                  <a:rPr lang="es-PE" sz="900" b="0" i="0" dirty="0" err="1">
                    <a:solidFill>
                      <a:schemeClr val="tx1"/>
                    </a:solidFill>
                    <a:effectLst/>
                    <a:latin typeface="Segoe WPC"/>
                  </a:rPr>
                  <a:t>to</a:t>
                </a:r>
                <a:r>
                  <a:rPr lang="es-PE" sz="900" b="0" i="0" dirty="0">
                    <a:solidFill>
                      <a:schemeClr val="tx1"/>
                    </a:solidFill>
                    <a:effectLst/>
                    <a:latin typeface="Segoe WPC"/>
                  </a:rPr>
                  <a:t> forwards.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futures </a:t>
                </a:r>
                <a:r>
                  <a:rPr lang="es-PE" sz="900" b="0" i="0" dirty="0" err="1">
                    <a:solidFill>
                      <a:schemeClr val="tx1"/>
                    </a:solidFill>
                    <a:effectLst/>
                    <a:latin typeface="Segoe WPC"/>
                  </a:rPr>
                  <a:t>contract</a:t>
                </a:r>
                <a:r>
                  <a:rPr lang="es-PE" sz="900" b="0" i="0" dirty="0">
                    <a:solidFill>
                      <a:schemeClr val="tx1"/>
                    </a:solidFill>
                    <a:effectLst/>
                    <a:latin typeface="Segoe WPC"/>
                  </a:rPr>
                  <a:t> </a:t>
                </a:r>
                <a:r>
                  <a:rPr lang="es-PE" sz="900" b="0" i="0" dirty="0" err="1">
                    <a:solidFill>
                      <a:schemeClr val="tx1"/>
                    </a:solidFill>
                    <a:effectLst/>
                    <a:latin typeface="Segoe WPC"/>
                  </a:rPr>
                  <a:t>works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 forward,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standardized</a:t>
                </a:r>
                <a:r>
                  <a:rPr lang="es-PE" sz="900" b="0" i="0" dirty="0">
                    <a:solidFill>
                      <a:schemeClr val="tx1"/>
                    </a:solidFill>
                    <a:effectLst/>
                    <a:latin typeface="Segoe WPC"/>
                  </a:rPr>
                  <a:t> and </a:t>
                </a:r>
                <a:r>
                  <a:rPr lang="es-PE" sz="900" b="0" i="0" dirty="0" err="1">
                    <a:solidFill>
                      <a:schemeClr val="tx1"/>
                    </a:solidFill>
                    <a:effectLst/>
                    <a:latin typeface="Segoe WPC"/>
                  </a:rPr>
                  <a:t>traded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exchange</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much</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credit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directional</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as a forward,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exchange</a:t>
                </a:r>
                <a:r>
                  <a:rPr lang="es-PE" sz="900" b="0" i="0" dirty="0">
                    <a:solidFill>
                      <a:schemeClr val="tx1"/>
                    </a:solidFill>
                    <a:effectLst/>
                    <a:latin typeface="Segoe WPC"/>
                  </a:rPr>
                  <a:t> </a:t>
                </a:r>
                <a:r>
                  <a:rPr lang="es-PE" sz="900" b="0" i="0" dirty="0" err="1">
                    <a:solidFill>
                      <a:schemeClr val="tx1"/>
                    </a:solidFill>
                    <a:effectLst/>
                    <a:latin typeface="Segoe WPC"/>
                  </a:rPr>
                  <a:t>infrastructure</a:t>
                </a:r>
                <a:r>
                  <a:rPr lang="es-PE" sz="900" b="0" i="0" dirty="0">
                    <a:solidFill>
                      <a:schemeClr val="tx1"/>
                    </a:solidFill>
                    <a:effectLst/>
                    <a:latin typeface="Segoe WPC"/>
                  </a:rPr>
                  <a:t> standing </a:t>
                </a:r>
                <a:r>
                  <a:rPr lang="es-PE" sz="900" b="0" i="0" dirty="0" err="1">
                    <a:solidFill>
                      <a:schemeClr val="tx1"/>
                    </a:solidFill>
                    <a:effectLst/>
                    <a:latin typeface="Segoe WPC"/>
                  </a:rPr>
                  <a:t>behind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contract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pattern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similar </a:t>
                </a:r>
                <a:r>
                  <a:rPr lang="es-PE" sz="900" b="0" i="0" dirty="0" err="1">
                    <a:solidFill>
                      <a:schemeClr val="tx1"/>
                    </a:solidFill>
                    <a:effectLst/>
                    <a:latin typeface="Segoe WPC"/>
                  </a:rPr>
                  <a:t>to</a:t>
                </a:r>
                <a:r>
                  <a:rPr lang="es-PE" sz="900" b="0" i="0" dirty="0">
                    <a:solidFill>
                      <a:schemeClr val="tx1"/>
                    </a:solidFill>
                    <a:effectLst/>
                    <a:latin typeface="Segoe WPC"/>
                  </a:rPr>
                  <a:t> a forward: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gains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rises</a:t>
                </a:r>
                <a:r>
                  <a:rPr lang="es-PE" sz="900" b="0" i="0" dirty="0">
                    <a:solidFill>
                      <a:schemeClr val="tx1"/>
                    </a:solidFill>
                    <a:effectLst/>
                    <a:latin typeface="Segoe WPC"/>
                  </a:rPr>
                  <a:t>, short </a:t>
                </a:r>
                <a:r>
                  <a:rPr lang="es-PE" sz="900" b="0" i="0" dirty="0" err="1">
                    <a:solidFill>
                      <a:schemeClr val="tx1"/>
                    </a:solidFill>
                    <a:effectLst/>
                    <a:latin typeface="Segoe WPC"/>
                  </a:rPr>
                  <a:t>gains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falls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Futures </a:t>
                </a:r>
                <a:r>
                  <a:rPr lang="es-PE" sz="900" b="0" i="0" dirty="0" err="1">
                    <a:solidFill>
                      <a:schemeClr val="tx1"/>
                    </a:solidFill>
                    <a:effectLst/>
                    <a:latin typeface="Segoe WPC"/>
                  </a:rPr>
                  <a:t>trade</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underlyings</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a:t>
                </a:r>
                <a:r>
                  <a:rPr lang="es-PE" sz="900" b="0" i="0" dirty="0" err="1">
                    <a:solidFill>
                      <a:schemeClr val="tx1"/>
                    </a:solidFill>
                    <a:effectLst/>
                    <a:latin typeface="Segoe WPC"/>
                  </a:rPr>
                  <a:t>commodities</a:t>
                </a:r>
                <a:r>
                  <a:rPr lang="es-PE" sz="900" b="0" i="0" dirty="0">
                    <a:solidFill>
                      <a:schemeClr val="tx1"/>
                    </a:solidFill>
                    <a:effectLst/>
                    <a:latin typeface="Segoe WPC"/>
                  </a:rPr>
                  <a:t>, stock </a:t>
                </a:r>
                <a:r>
                  <a:rPr lang="es-PE" sz="900" b="0" i="0" dirty="0" err="1">
                    <a:solidFill>
                      <a:schemeClr val="tx1"/>
                    </a:solidFill>
                    <a:effectLst/>
                    <a:latin typeface="Segoe WPC"/>
                  </a:rPr>
                  <a:t>indices</a:t>
                </a:r>
                <a:r>
                  <a:rPr lang="es-PE" sz="900" b="0" i="0" dirty="0">
                    <a:solidFill>
                      <a:schemeClr val="tx1"/>
                    </a:solidFill>
                    <a:effectLst/>
                    <a:latin typeface="Segoe WPC"/>
                  </a:rPr>
                  <a:t>, </a:t>
                </a:r>
                <a:r>
                  <a:rPr lang="es-PE" sz="900" b="0" i="0" dirty="0" err="1">
                    <a:solidFill>
                      <a:schemeClr val="tx1"/>
                    </a:solidFill>
                    <a:effectLst/>
                    <a:latin typeface="Segoe WPC"/>
                  </a:rPr>
                  <a:t>energy</a:t>
                </a:r>
                <a:r>
                  <a:rPr lang="es-PE" sz="900" b="0" i="0" dirty="0">
                    <a:solidFill>
                      <a:schemeClr val="tx1"/>
                    </a:solidFill>
                    <a:effectLst/>
                    <a:latin typeface="Segoe WPC"/>
                  </a:rPr>
                  <a:t>, real estate, </a:t>
                </a:r>
                <a:r>
                  <a:rPr lang="es-PE" sz="900" b="0" i="0" dirty="0" err="1">
                    <a:solidFill>
                      <a:schemeClr val="tx1"/>
                    </a:solidFill>
                    <a:effectLst/>
                    <a:latin typeface="Segoe WPC"/>
                  </a:rPr>
                  <a:t>weather</a:t>
                </a:r>
                <a:r>
                  <a:rPr lang="es-PE" sz="900" b="0" i="0" dirty="0">
                    <a:solidFill>
                      <a:schemeClr val="tx1"/>
                    </a:solidFill>
                    <a:effectLst/>
                    <a:latin typeface="Segoe WPC"/>
                  </a:rPr>
                  <a:t>, and </a:t>
                </a:r>
                <a:r>
                  <a:rPr lang="es-PE" sz="900" b="0" i="0" dirty="0" err="1">
                    <a:solidFill>
                      <a:schemeClr val="tx1"/>
                    </a:solidFill>
                    <a:effectLst/>
                    <a:latin typeface="Segoe WPC"/>
                  </a:rPr>
                  <a:t>cryptocurrencies</a:t>
                </a:r>
                <a:r>
                  <a:rPr lang="es-PE" sz="900" b="0" i="0" dirty="0">
                    <a:solidFill>
                      <a:schemeClr val="tx1"/>
                    </a:solidFill>
                    <a:effectLst/>
                    <a:latin typeface="Segoe WPC"/>
                  </a:rPr>
                  <a:t>. </a:t>
                </a:r>
                <a:r>
                  <a:rPr lang="es-PE" sz="900" b="0" i="0" dirty="0" err="1">
                    <a:solidFill>
                      <a:schemeClr val="tx1"/>
                    </a:solidFill>
                    <a:effectLst/>
                    <a:latin typeface="Segoe WPC"/>
                  </a:rPr>
                  <a:t>Exchanges</a:t>
                </a:r>
                <a:r>
                  <a:rPr lang="es-PE" sz="900" b="0" i="0" dirty="0">
                    <a:solidFill>
                      <a:schemeClr val="tx1"/>
                    </a:solidFill>
                    <a:effectLst/>
                    <a:latin typeface="Segoe WPC"/>
                  </a:rPr>
                  <a:t> define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and </a:t>
                </a:r>
                <a:r>
                  <a:rPr lang="es-PE" sz="900" b="0" i="0" dirty="0" err="1">
                    <a:solidFill>
                      <a:schemeClr val="tx1"/>
                    </a:solidFill>
                    <a:effectLst/>
                    <a:latin typeface="Segoe WPC"/>
                  </a:rPr>
                  <a:t>maturity</a:t>
                </a:r>
                <a:r>
                  <a:rPr lang="es-PE" sz="900" b="0" i="0" dirty="0">
                    <a:solidFill>
                      <a:schemeClr val="tx1"/>
                    </a:solidFill>
                    <a:effectLst/>
                    <a:latin typeface="Segoe WPC"/>
                  </a:rPr>
                  <a:t> dates and </a:t>
                </a:r>
                <a:r>
                  <a:rPr lang="es-PE" sz="900" b="0" i="0" dirty="0" err="1">
                    <a:solidFill>
                      <a:schemeClr val="tx1"/>
                    </a:solidFill>
                    <a:effectLst/>
                    <a:latin typeface="Segoe WPC"/>
                  </a:rPr>
                  <a:t>organize</a:t>
                </a:r>
                <a:r>
                  <a:rPr lang="es-PE" sz="900" b="0" i="0" dirty="0">
                    <a:solidFill>
                      <a:schemeClr val="tx1"/>
                    </a:solidFill>
                    <a:effectLst/>
                    <a:latin typeface="Segoe WPC"/>
                  </a:rPr>
                  <a:t> trading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minimize</a:t>
                </a:r>
                <a:r>
                  <a:rPr lang="es-PE" sz="900" b="0" i="0" dirty="0">
                    <a:solidFill>
                      <a:schemeClr val="tx1"/>
                    </a:solidFill>
                    <a:effectLst/>
                    <a:latin typeface="Segoe WPC"/>
                  </a:rPr>
                  <a:t> default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Futures and forwards </a:t>
                </a:r>
                <a:r>
                  <a:rPr lang="es-PE" sz="900" b="0" i="0" dirty="0" err="1">
                    <a:solidFill>
                      <a:schemeClr val="tx1"/>
                    </a:solidFill>
                    <a:effectLst/>
                    <a:latin typeface="Segoe WPC"/>
                  </a:rPr>
                  <a:t>have</a:t>
                </a:r>
                <a:r>
                  <a:rPr lang="es-PE" sz="900" b="0" i="0" dirty="0">
                    <a:solidFill>
                      <a:schemeClr val="tx1"/>
                    </a:solidFill>
                    <a:effectLst/>
                    <a:latin typeface="Segoe WPC"/>
                  </a:rPr>
                  <a:t> similar </a:t>
                </a:r>
                <a:r>
                  <a:rPr lang="es-PE" sz="900" b="0" i="0" dirty="0" err="1">
                    <a:solidFill>
                      <a:schemeClr val="tx1"/>
                    </a:solidFill>
                    <a:effectLst/>
                    <a:latin typeface="Segoe WPC"/>
                  </a:rPr>
                  <a:t>payoffs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are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instrument</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trading </a:t>
                </a:r>
                <a:r>
                  <a:rPr lang="es-PE" sz="900" b="0" i="0" dirty="0" err="1">
                    <a:solidFill>
                      <a:schemeClr val="tx1"/>
                    </a:solidFill>
                    <a:effectLst/>
                    <a:latin typeface="Segoe WPC"/>
                  </a:rPr>
                  <a:t>venue</a:t>
                </a:r>
                <a:r>
                  <a:rPr lang="es-PE" sz="900" b="0" i="0" dirty="0">
                    <a:solidFill>
                      <a:schemeClr val="tx1"/>
                    </a:solidFill>
                    <a:effectLst/>
                    <a:latin typeface="Segoe WPC"/>
                  </a:rPr>
                  <a:t>, </a:t>
                </a:r>
                <a:r>
                  <a:rPr lang="es-PE" sz="900" b="0" i="0" dirty="0" err="1">
                    <a:solidFill>
                      <a:schemeClr val="tx1"/>
                    </a:solidFill>
                    <a:effectLst/>
                    <a:latin typeface="Segoe WPC"/>
                  </a:rPr>
                  <a:t>standardization</a:t>
                </a:r>
                <a:r>
                  <a:rPr lang="es-PE" sz="900" b="0" i="0" dirty="0">
                    <a:solidFill>
                      <a:schemeClr val="tx1"/>
                    </a:solidFill>
                    <a:effectLst/>
                    <a:latin typeface="Segoe WPC"/>
                  </a:rPr>
                  <a:t>, and </a:t>
                </a:r>
                <a:r>
                  <a:rPr lang="es-PE" sz="900" b="0" i="0" dirty="0" err="1">
                    <a:solidFill>
                      <a:schemeClr val="tx1"/>
                    </a:solidFill>
                    <a:effectLst/>
                    <a:latin typeface="Segoe WPC"/>
                  </a:rPr>
                  <a:t>credit-risk</a:t>
                </a:r>
                <a:r>
                  <a:rPr lang="es-PE" sz="900" b="0" i="0" dirty="0">
                    <a:solidFill>
                      <a:schemeClr val="tx1"/>
                    </a:solidFill>
                    <a:effectLst/>
                    <a:latin typeface="Segoe WPC"/>
                  </a:rPr>
                  <a:t> </a:t>
                </a:r>
                <a:r>
                  <a:rPr lang="es-PE" sz="900" b="0" i="0" dirty="0" err="1">
                    <a:solidFill>
                      <a:schemeClr val="tx1"/>
                    </a:solidFill>
                    <a:effectLst/>
                    <a:latin typeface="Segoe WPC"/>
                  </a:rPr>
                  <a:t>mechanics</a:t>
                </a:r>
                <a:r>
                  <a:rPr lang="es-PE" sz="900" b="0" i="0" dirty="0">
                    <a:solidFill>
                      <a:schemeClr val="tx1"/>
                    </a:solidFill>
                    <a:effectLst/>
                    <a:latin typeface="Segoe WPC"/>
                  </a:rPr>
                  <a:t> </a:t>
                </a:r>
                <a:r>
                  <a:rPr lang="es-PE" sz="900" b="0" i="0" dirty="0" err="1">
                    <a:solidFill>
                      <a:schemeClr val="tx1"/>
                    </a:solidFill>
                    <a:effectLst/>
                    <a:latin typeface="Segoe WPC"/>
                  </a:rPr>
                  <a:t>differ</a:t>
                </a:r>
                <a:r>
                  <a:rPr lang="es-PE" sz="900" b="0" i="0" dirty="0">
                    <a:solidFill>
                      <a:schemeClr val="tx1"/>
                    </a:solidFill>
                    <a:effectLst/>
                    <a:latin typeface="Segoe WPC"/>
                  </a:rPr>
                  <a:t>.</a:t>
                </a:r>
              </a:p>
            </p:txBody>
          </p:sp>
        </mc:Choice>
        <mc:Fallback xmlns="">
          <p:sp>
            <p:nvSpPr>
              <p:cNvPr id="5" name="CuadroTexto 4">
                <a:extLst>
                  <a:ext uri="{FF2B5EF4-FFF2-40B4-BE49-F238E27FC236}">
                    <a16:creationId xmlns:a16="http://schemas.microsoft.com/office/drawing/2014/main" id="{7D8A9CD2-134D-F5C4-8CF5-E0BC0EE4745C}"/>
                  </a:ext>
                </a:extLst>
              </p:cNvPr>
              <p:cNvSpPr txBox="1">
                <a:spLocks noRot="1" noChangeAspect="1" noMove="1" noResize="1" noEditPoints="1" noAdjustHandles="1" noChangeArrowheads="1" noChangeShapeType="1" noTextEdit="1"/>
              </p:cNvSpPr>
              <p:nvPr/>
            </p:nvSpPr>
            <p:spPr>
              <a:xfrm>
                <a:off x="72571" y="395514"/>
                <a:ext cx="6233886" cy="6509474"/>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6BF38430-EAF7-504F-9554-15B3FF335506}"/>
                  </a:ext>
                </a:extLst>
              </p:cNvPr>
              <p:cNvSpPr txBox="1"/>
              <p:nvPr/>
            </p:nvSpPr>
            <p:spPr>
              <a:xfrm>
                <a:off x="6070600" y="0"/>
                <a:ext cx="6121400" cy="6924973"/>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5. </a:t>
                </a:r>
                <a:r>
                  <a:rPr lang="es-PE" sz="900" b="1" i="0" dirty="0" err="1">
                    <a:solidFill>
                      <a:schemeClr val="tx1"/>
                    </a:solidFill>
                    <a:effectLst/>
                    <a:latin typeface="Segoe WPC"/>
                  </a:rPr>
                  <a:t>Options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 </a:t>
                </a:r>
                <a:r>
                  <a:rPr lang="es-PE" sz="900" b="0" i="0" dirty="0" err="1">
                    <a:solidFill>
                      <a:schemeClr val="tx1"/>
                    </a:solidFill>
                    <a:effectLst/>
                    <a:latin typeface="Segoe WPC"/>
                  </a:rPr>
                  <a:t>giving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right</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obligation</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buy</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sell</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 </a:t>
                </a:r>
                <a:r>
                  <a:rPr lang="es-PE" sz="900" b="0" i="0" dirty="0" err="1">
                    <a:solidFill>
                      <a:schemeClr val="tx1"/>
                    </a:solidFill>
                    <a:effectLst/>
                    <a:latin typeface="Segoe WPC"/>
                  </a:rPr>
                  <a:t>fixed</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right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buy</a:t>
                </a:r>
                <a:r>
                  <a:rPr lang="es-PE" sz="900" b="0" i="0" dirty="0">
                    <a:solidFill>
                      <a:schemeClr val="tx1"/>
                    </a:solidFill>
                    <a:effectLst/>
                    <a:latin typeface="Segoe WPC"/>
                  </a:rPr>
                  <a:t>; a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right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sell</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buyer</a:t>
                </a:r>
                <a:r>
                  <a:rPr lang="es-PE" sz="900" b="0" i="0" dirty="0">
                    <a:solidFill>
                      <a:schemeClr val="tx1"/>
                    </a:solidFill>
                    <a:effectLst/>
                    <a:latin typeface="Segoe WPC"/>
                  </a:rPr>
                  <a:t> </a:t>
                </a:r>
                <a:r>
                  <a:rPr lang="es-PE" sz="900" b="0" i="0" dirty="0" err="1">
                    <a:solidFill>
                      <a:schemeClr val="tx1"/>
                    </a:solidFill>
                    <a:effectLst/>
                    <a:latin typeface="Segoe WPC"/>
                  </a:rPr>
                  <a:t>pays</a:t>
                </a:r>
                <a:r>
                  <a:rPr lang="es-PE" sz="900" b="0" i="0" dirty="0">
                    <a:solidFill>
                      <a:schemeClr val="tx1"/>
                    </a:solidFill>
                    <a:effectLst/>
                    <a:latin typeface="Segoe WPC"/>
                  </a:rPr>
                  <a:t> a premium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a:t>
                </a:r>
                <a:r>
                  <a:rPr lang="es-PE" sz="900" b="0" i="0" dirty="0" err="1">
                    <a:solidFill>
                      <a:schemeClr val="tx1"/>
                    </a:solidFill>
                    <a:effectLst/>
                    <a:latin typeface="Segoe WPC"/>
                  </a:rPr>
                  <a:t>flexibility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protect</a:t>
                </a:r>
                <a:r>
                  <a:rPr lang="es-PE" sz="900" b="0" i="0" dirty="0">
                    <a:solidFill>
                      <a:schemeClr val="tx1"/>
                    </a:solidFill>
                    <a:effectLst/>
                    <a:latin typeface="Segoe WPC"/>
                  </a:rPr>
                  <a:t> </a:t>
                </a:r>
                <a:r>
                  <a:rPr lang="es-PE" sz="900" b="0" i="0" dirty="0" err="1">
                    <a:solidFill>
                      <a:schemeClr val="tx1"/>
                    </a:solidFill>
                    <a:effectLst/>
                    <a:latin typeface="Segoe WPC"/>
                  </a:rPr>
                  <a:t>against</a:t>
                </a:r>
                <a:r>
                  <a:rPr lang="es-PE" sz="900" b="0" i="0" dirty="0">
                    <a:solidFill>
                      <a:schemeClr val="tx1"/>
                    </a:solidFill>
                    <a:effectLst/>
                    <a:latin typeface="Segoe WPC"/>
                  </a:rPr>
                  <a:t> </a:t>
                </a:r>
                <a:r>
                  <a:rPr lang="es-PE" sz="900" b="0" i="0" dirty="0" err="1">
                    <a:solidFill>
                      <a:schemeClr val="tx1"/>
                    </a:solidFill>
                    <a:effectLst/>
                    <a:latin typeface="Segoe WPC"/>
                  </a:rPr>
                  <a:t>bad</a:t>
                </a:r>
                <a:r>
                  <a:rPr lang="es-PE" sz="900" b="0" i="0" dirty="0">
                    <a:solidFill>
                      <a:schemeClr val="tx1"/>
                    </a:solidFill>
                    <a:effectLst/>
                    <a:latin typeface="Segoe WPC"/>
                  </a:rPr>
                  <a:t> </a:t>
                </a:r>
                <a:r>
                  <a:rPr lang="es-PE" sz="900" b="0" i="0" dirty="0" err="1">
                    <a:solidFill>
                      <a:schemeClr val="tx1"/>
                    </a:solidFill>
                    <a:effectLst/>
                    <a:latin typeface="Segoe WPC"/>
                  </a:rPr>
                  <a:t>outcomes</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allowing</a:t>
                </a:r>
                <a:r>
                  <a:rPr lang="es-PE" sz="900" b="0" i="0" dirty="0">
                    <a:solidFill>
                      <a:schemeClr val="tx1"/>
                    </a:solidFill>
                    <a:effectLst/>
                    <a:latin typeface="Segoe WPC"/>
                  </a:rPr>
                  <a:t> favorable </a:t>
                </a:r>
                <a:r>
                  <a:rPr lang="es-PE" sz="900" b="0" i="0" dirty="0" err="1">
                    <a:solidFill>
                      <a:schemeClr val="tx1"/>
                    </a:solidFill>
                    <a:effectLst/>
                    <a:latin typeface="Segoe WPC"/>
                  </a:rPr>
                  <a:t>outcomes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be </a:t>
                </a:r>
                <a:r>
                  <a:rPr lang="es-PE" sz="900" b="0" i="0" dirty="0" err="1">
                    <a:solidFill>
                      <a:schemeClr val="tx1"/>
                    </a:solidFill>
                    <a:effectLst/>
                    <a:latin typeface="Segoe WPC"/>
                  </a:rPr>
                  <a:t>retained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Long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 </a:t>
                </a:r>
                <a14:m>
                  <m:oMath xmlns:m="http://schemas.openxmlformats.org/officeDocument/2006/math">
                    <m:r>
                      <m:rPr>
                        <m:sty m:val="p"/>
                      </m:rPr>
                      <a:rPr lang="es-PE" sz="90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a:solidFill>
                      <a:schemeClr val="tx1"/>
                    </a:solidFill>
                    <a:effectLst/>
                    <a:latin typeface="Segoe WPC"/>
                  </a:rPr>
                  <a:t>Short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 </a:t>
                </a:r>
                <a14:m>
                  <m:oMath xmlns:m="http://schemas.openxmlformats.org/officeDocument/2006/math">
                    <m:r>
                      <a:rPr lang="es-PE" sz="90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a:solidFill>
                      <a:schemeClr val="tx1"/>
                    </a:solidFill>
                    <a:effectLst/>
                    <a:latin typeface="Segoe WPC"/>
                  </a:rPr>
                  <a:t>Long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 </a:t>
                </a:r>
                <a14:m>
                  <m:oMath xmlns:m="http://schemas.openxmlformats.org/officeDocument/2006/math">
                    <m:r>
                      <m:rPr>
                        <m:sty m:val="p"/>
                      </m:rPr>
                      <a:rPr lang="es-PE" sz="90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e>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a:solidFill>
                      <a:schemeClr val="tx1"/>
                    </a:solidFill>
                    <a:effectLst/>
                    <a:latin typeface="Segoe WPC"/>
                  </a:rPr>
                  <a:t>Short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 </a:t>
                </a:r>
                <a14:m>
                  <m:oMath xmlns:m="http://schemas.openxmlformats.org/officeDocument/2006/math">
                    <m:r>
                      <a:rPr lang="es-PE" sz="90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e>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can be </a:t>
                </a:r>
                <a:r>
                  <a:rPr lang="es-PE" sz="900" b="0" i="0" dirty="0" err="1">
                    <a:solidFill>
                      <a:schemeClr val="tx1"/>
                    </a:solidFill>
                    <a:effectLst/>
                    <a:latin typeface="Segoe WPC"/>
                  </a:rPr>
                  <a:t>exercised</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t>
                </a:r>
                <a:r>
                  <a:rPr lang="es-PE" sz="900" b="0" i="0" dirty="0" err="1">
                    <a:solidFill>
                      <a:schemeClr val="tx1"/>
                    </a:solidFill>
                    <a:effectLst/>
                    <a:latin typeface="Segoe WPC"/>
                  </a:rPr>
                  <a:t>expiration</a:t>
                </a:r>
                <a:r>
                  <a:rPr lang="es-PE" sz="900" b="0" i="0" dirty="0">
                    <a:solidFill>
                      <a:schemeClr val="tx1"/>
                    </a:solidFill>
                    <a:effectLst/>
                    <a:latin typeface="Segoe WPC"/>
                  </a:rPr>
                  <a:t>; American </a:t>
                </a:r>
                <a:r>
                  <a:rPr lang="es-PE" sz="900" b="0" i="0" dirty="0" err="1">
                    <a:solidFill>
                      <a:schemeClr val="tx1"/>
                    </a:solidFill>
                    <a:effectLst/>
                    <a:latin typeface="Segoe WPC"/>
                  </a:rPr>
                  <a:t>options</a:t>
                </a:r>
                <a:r>
                  <a:rPr lang="es-PE" sz="900" b="0" i="0" dirty="0">
                    <a:solidFill>
                      <a:schemeClr val="tx1"/>
                    </a:solidFill>
                    <a:effectLst/>
                    <a:latin typeface="Segoe WPC"/>
                  </a:rPr>
                  <a:t> can be </a:t>
                </a:r>
                <a:r>
                  <a:rPr lang="es-PE" sz="900" b="0" i="0" dirty="0" err="1">
                    <a:solidFill>
                      <a:schemeClr val="tx1"/>
                    </a:solidFill>
                    <a:effectLst/>
                    <a:latin typeface="Segoe WPC"/>
                  </a:rPr>
                  <a:t>exercised</a:t>
                </a:r>
                <a:r>
                  <a:rPr lang="es-PE" sz="900" b="0" i="0" dirty="0">
                    <a:solidFill>
                      <a:schemeClr val="tx1"/>
                    </a:solidFill>
                    <a:effectLst/>
                    <a:latin typeface="Segoe WPC"/>
                  </a:rPr>
                  <a:t> at </a:t>
                </a:r>
                <a:r>
                  <a:rPr lang="es-PE" sz="900" b="0" i="0" dirty="0" err="1">
                    <a:solidFill>
                      <a:schemeClr val="tx1"/>
                    </a:solidFill>
                    <a:effectLst/>
                    <a:latin typeface="Segoe WPC"/>
                  </a:rPr>
                  <a:t>any</a:t>
                </a:r>
                <a:r>
                  <a:rPr lang="es-PE" sz="900" b="0" i="0" dirty="0">
                    <a:solidFill>
                      <a:schemeClr val="tx1"/>
                    </a:solidFill>
                    <a:effectLst/>
                    <a:latin typeface="Segoe WPC"/>
                  </a:rPr>
                  <a:t> time up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expiration</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are non-linear derivatives, so </a:t>
                </a:r>
                <a:r>
                  <a:rPr lang="es-PE" sz="900" b="0" i="0" dirty="0" err="1">
                    <a:solidFill>
                      <a:schemeClr val="tx1"/>
                    </a:solidFill>
                    <a:effectLst/>
                    <a:latin typeface="Segoe WPC"/>
                  </a:rPr>
                  <a:t>their</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in a non-linear </a:t>
                </a:r>
                <a:r>
                  <a:rPr lang="es-PE" sz="900" b="0" i="0" dirty="0" err="1">
                    <a:solidFill>
                      <a:schemeClr val="tx1"/>
                    </a:solidFill>
                    <a:effectLst/>
                    <a:latin typeface="Segoe WPC"/>
                  </a:rPr>
                  <a:t>way</a:t>
                </a:r>
                <a:r>
                  <a:rPr lang="es-PE" sz="900" b="0" i="0" dirty="0">
                    <a:solidFill>
                      <a:schemeClr val="tx1"/>
                    </a:solidFill>
                    <a:effectLst/>
                    <a:latin typeface="Segoe WPC"/>
                  </a:rPr>
                  <a:t> and are </a:t>
                </a:r>
                <a:r>
                  <a:rPr lang="es-PE" sz="900" b="0" i="0" dirty="0" err="1">
                    <a:solidFill>
                      <a:schemeClr val="tx1"/>
                    </a:solidFill>
                    <a:effectLst/>
                    <a:latin typeface="Segoe WPC"/>
                  </a:rPr>
                  <a:t>also</a:t>
                </a:r>
                <a:r>
                  <a:rPr lang="es-PE" sz="900" b="0" i="0" dirty="0">
                    <a:solidFill>
                      <a:schemeClr val="tx1"/>
                    </a:solidFill>
                    <a:effectLst/>
                    <a:latin typeface="Segoe WPC"/>
                  </a:rPr>
                  <a:t> sensitive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Entering</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requires</a:t>
                </a:r>
                <a:r>
                  <a:rPr lang="es-PE" sz="900" b="0" i="0" dirty="0">
                    <a:solidFill>
                      <a:schemeClr val="tx1"/>
                    </a:solidFill>
                    <a:effectLst/>
                    <a:latin typeface="Segoe WPC"/>
                  </a:rPr>
                  <a:t> </a:t>
                </a:r>
                <a:r>
                  <a:rPr lang="es-PE" sz="900" b="0" i="0" dirty="0" err="1">
                    <a:solidFill>
                      <a:schemeClr val="tx1"/>
                    </a:solidFill>
                    <a:effectLst/>
                    <a:latin typeface="Segoe WPC"/>
                  </a:rPr>
                  <a:t>paying</a:t>
                </a:r>
                <a:r>
                  <a:rPr lang="es-PE" sz="900" b="0" i="0" dirty="0">
                    <a:solidFill>
                      <a:schemeClr val="tx1"/>
                    </a:solidFill>
                    <a:effectLst/>
                    <a:latin typeface="Segoe WPC"/>
                  </a:rPr>
                  <a:t> a premium, </a:t>
                </a:r>
                <a:r>
                  <a:rPr lang="es-PE" sz="900" b="0" i="0" dirty="0" err="1">
                    <a:solidFill>
                      <a:schemeClr val="tx1"/>
                    </a:solidFill>
                    <a:effectLst/>
                    <a:latin typeface="Segoe WPC"/>
                  </a:rPr>
                  <a:t>unlike</a:t>
                </a:r>
                <a:r>
                  <a:rPr lang="es-PE" sz="900" b="0" i="0" dirty="0">
                    <a:solidFill>
                      <a:schemeClr val="tx1"/>
                    </a:solidFill>
                    <a:effectLst/>
                    <a:latin typeface="Segoe WPC"/>
                  </a:rPr>
                  <a:t> </a:t>
                </a:r>
                <a:r>
                  <a:rPr lang="es-PE" sz="900" b="0" i="0" dirty="0" err="1">
                    <a:solidFill>
                      <a:schemeClr val="tx1"/>
                    </a:solidFill>
                    <a:effectLst/>
                    <a:latin typeface="Segoe WPC"/>
                  </a:rPr>
                  <a:t>entering</a:t>
                </a:r>
                <a:r>
                  <a:rPr lang="es-PE" sz="900" b="0" i="0" dirty="0">
                    <a:solidFill>
                      <a:schemeClr val="tx1"/>
                    </a:solidFill>
                    <a:effectLst/>
                    <a:latin typeface="Segoe WPC"/>
                  </a:rPr>
                  <a:t> a forward.</a:t>
                </a:r>
              </a:p>
              <a:p>
                <a:pPr algn="l">
                  <a:spcAft>
                    <a:spcPts val="600"/>
                  </a:spcAft>
                  <a:buNone/>
                </a:pPr>
                <a:r>
                  <a:rPr lang="es-PE" sz="900" b="1" i="0" dirty="0">
                    <a:solidFill>
                      <a:schemeClr val="tx1"/>
                    </a:solidFill>
                    <a:effectLst/>
                    <a:latin typeface="Segoe WPC"/>
                  </a:rPr>
                  <a:t>6. </a:t>
                </a:r>
                <a:r>
                  <a:rPr lang="es-PE" sz="900" b="1" i="0" dirty="0" err="1">
                    <a:solidFill>
                      <a:schemeClr val="tx1"/>
                    </a:solidFill>
                    <a:effectLst/>
                    <a:latin typeface="Segoe WPC"/>
                  </a:rPr>
                  <a:t>Hedgers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Traders</a:t>
                </a:r>
                <a:r>
                  <a:rPr lang="es-PE" sz="900" b="0" i="0" dirty="0">
                    <a:solidFill>
                      <a:schemeClr val="tx1"/>
                    </a:solidFill>
                    <a:effectLst/>
                    <a:latin typeface="Segoe WPC"/>
                  </a:rPr>
                  <a:t> </a:t>
                </a:r>
                <a:r>
                  <a:rPr lang="es-PE" sz="900" b="0" i="0" dirty="0" err="1">
                    <a:solidFill>
                      <a:schemeClr val="tx1"/>
                    </a:solidFill>
                    <a:effectLst/>
                    <a:latin typeface="Segoe WPC"/>
                  </a:rPr>
                  <a:t>who</a:t>
                </a:r>
                <a:r>
                  <a:rPr lang="es-PE" sz="900" b="0" i="0" dirty="0">
                    <a:solidFill>
                      <a:schemeClr val="tx1"/>
                    </a:solidFill>
                    <a:effectLst/>
                    <a:latin typeface="Segoe WPC"/>
                  </a:rPr>
                  <a:t> use derivatives </a:t>
                </a:r>
                <a:r>
                  <a:rPr lang="es-PE" sz="900" b="0" i="0" dirty="0" err="1">
                    <a:solidFill>
                      <a:schemeClr val="tx1"/>
                    </a:solidFill>
                    <a:effectLst/>
                    <a:latin typeface="Segoe WPC"/>
                  </a:rPr>
                  <a:t>to</a:t>
                </a:r>
                <a:r>
                  <a:rPr lang="es-PE" sz="900" b="0" i="0" dirty="0">
                    <a:solidFill>
                      <a:schemeClr val="tx1"/>
                    </a:solidFill>
                    <a:effectLst/>
                    <a:latin typeface="Segoe WPC"/>
                  </a:rPr>
                  <a:t> reduce </a:t>
                </a:r>
                <a:r>
                  <a:rPr lang="es-PE" sz="900" b="0" i="0" dirty="0" err="1">
                    <a:solidFill>
                      <a:schemeClr val="tx1"/>
                    </a:solidFill>
                    <a:effectLst/>
                    <a:latin typeface="Segoe WPC"/>
                  </a:rPr>
                  <a:t>existing</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exposures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Hedgers</a:t>
                </a:r>
                <a:r>
                  <a:rPr lang="es-PE" sz="900" b="0" i="0" dirty="0">
                    <a:solidFill>
                      <a:schemeClr val="tx1"/>
                    </a:solidFill>
                    <a:effectLst/>
                    <a:latin typeface="Segoe WPC"/>
                  </a:rPr>
                  <a:t> use forwards, futures,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protect</a:t>
                </a:r>
                <a:r>
                  <a:rPr lang="es-PE" sz="900" b="0" i="0" dirty="0">
                    <a:solidFill>
                      <a:schemeClr val="tx1"/>
                    </a:solidFill>
                    <a:effectLst/>
                    <a:latin typeface="Segoe WPC"/>
                  </a:rPr>
                  <a:t> </a:t>
                </a:r>
                <a:r>
                  <a:rPr lang="es-PE" sz="900" b="0" i="0" dirty="0" err="1">
                    <a:solidFill>
                      <a:schemeClr val="tx1"/>
                    </a:solidFill>
                    <a:effectLst/>
                    <a:latin typeface="Segoe WPC"/>
                  </a:rPr>
                  <a:t>themselves</a:t>
                </a:r>
                <a:r>
                  <a:rPr lang="es-PE" sz="900" b="0" i="0" dirty="0">
                    <a:solidFill>
                      <a:schemeClr val="tx1"/>
                    </a:solidFill>
                    <a:effectLst/>
                    <a:latin typeface="Segoe WPC"/>
                  </a:rPr>
                  <a:t> </a:t>
                </a:r>
                <a:r>
                  <a:rPr lang="es-PE" sz="900" b="0" i="0" dirty="0" err="1">
                    <a:solidFill>
                      <a:schemeClr val="tx1"/>
                    </a:solidFill>
                    <a:effectLst/>
                    <a:latin typeface="Segoe WPC"/>
                  </a:rPr>
                  <a:t>against</a:t>
                </a:r>
                <a:r>
                  <a:rPr lang="es-PE" sz="900" b="0" i="0" dirty="0">
                    <a:solidFill>
                      <a:schemeClr val="tx1"/>
                    </a:solidFill>
                    <a:effectLst/>
                    <a:latin typeface="Segoe WPC"/>
                  </a:rPr>
                  <a:t> adverse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moves</a:t>
                </a:r>
                <a:r>
                  <a:rPr lang="es-PE" sz="900" b="0" i="0" dirty="0">
                    <a:solidFill>
                      <a:schemeClr val="tx1"/>
                    </a:solidFill>
                    <a:effectLst/>
                    <a:latin typeface="Segoe WPC"/>
                  </a:rPr>
                  <a:t> in </a:t>
                </a:r>
                <a:r>
                  <a:rPr lang="es-PE" sz="900" b="0" i="0" dirty="0" err="1">
                    <a:solidFill>
                      <a:schemeClr val="tx1"/>
                    </a:solidFill>
                    <a:effectLst/>
                    <a:latin typeface="Segoe WPC"/>
                  </a:rPr>
                  <a:t>something</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already</a:t>
                </a:r>
                <a:r>
                  <a:rPr lang="es-PE" sz="900" b="0" i="0" dirty="0">
                    <a:solidFill>
                      <a:schemeClr val="tx1"/>
                    </a:solidFill>
                    <a:effectLst/>
                    <a:latin typeface="Segoe WPC"/>
                  </a:rPr>
                  <a:t> care </a:t>
                </a:r>
                <a:r>
                  <a:rPr lang="es-PE" sz="900" b="0" i="0" dirty="0" err="1">
                    <a:solidFill>
                      <a:schemeClr val="tx1"/>
                    </a:solidFill>
                    <a:effectLst/>
                    <a:latin typeface="Segoe WPC"/>
                  </a:rPr>
                  <a:t>about</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FX,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commodities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offsets</a:t>
                </a:r>
                <a:r>
                  <a:rPr lang="es-PE" sz="900" b="0" i="0" dirty="0">
                    <a:solidFill>
                      <a:schemeClr val="tx1"/>
                    </a:solidFill>
                    <a:effectLst/>
                    <a:latin typeface="Segoe WPC"/>
                  </a:rPr>
                  <a:t> a </a:t>
                </a:r>
                <a:r>
                  <a:rPr lang="es-PE" sz="900" b="0" i="0" dirty="0" err="1">
                    <a:solidFill>
                      <a:schemeClr val="tx1"/>
                    </a:solidFill>
                    <a:effectLst/>
                    <a:latin typeface="Segoe WPC"/>
                  </a:rPr>
                  <a:t>risky</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 derivative position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gains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original </a:t>
                </a:r>
                <a:r>
                  <a:rPr lang="es-PE" sz="900" b="0" i="0" dirty="0" err="1">
                    <a:solidFill>
                      <a:schemeClr val="tx1"/>
                    </a:solidFill>
                    <a:effectLst/>
                    <a:latin typeface="Segoe WPC"/>
                  </a:rPr>
                  <a:t>exposure</a:t>
                </a:r>
                <a:r>
                  <a:rPr lang="es-PE" sz="900" b="0" i="0" dirty="0">
                    <a:solidFill>
                      <a:schemeClr val="tx1"/>
                    </a:solidFill>
                    <a:effectLst/>
                    <a:latin typeface="Segoe WPC"/>
                  </a:rPr>
                  <a:t> loses.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 forward </a:t>
                </a:r>
                <a:r>
                  <a:rPr lang="es-PE" sz="900" b="0" i="0" dirty="0" err="1">
                    <a:solidFill>
                      <a:schemeClr val="tx1"/>
                    </a:solidFill>
                    <a:effectLst/>
                    <a:latin typeface="Segoe WPC"/>
                  </a:rPr>
                  <a:t>locks</a:t>
                </a:r>
                <a:r>
                  <a:rPr lang="es-PE" sz="900" b="0" i="0" dirty="0">
                    <a:solidFill>
                      <a:schemeClr val="tx1"/>
                    </a:solidFill>
                    <a:effectLst/>
                    <a:latin typeface="Segoe WPC"/>
                  </a:rPr>
                  <a:t> in a future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provides</a:t>
                </a:r>
                <a:r>
                  <a:rPr lang="es-PE" sz="900" b="0" i="0" dirty="0">
                    <a:solidFill>
                      <a:schemeClr val="tx1"/>
                    </a:solidFill>
                    <a:effectLst/>
                    <a:latin typeface="Segoe WPC"/>
                  </a:rPr>
                  <a:t> </a:t>
                </a:r>
                <a:r>
                  <a:rPr lang="es-PE" sz="900" b="0" i="0" dirty="0" err="1">
                    <a:solidFill>
                      <a:schemeClr val="tx1"/>
                    </a:solidFill>
                    <a:effectLst/>
                    <a:latin typeface="Segoe WPC"/>
                  </a:rPr>
                  <a:t>one-sided</a:t>
                </a:r>
                <a:r>
                  <a:rPr lang="es-PE" sz="900" b="0" i="0" dirty="0">
                    <a:solidFill>
                      <a:schemeClr val="tx1"/>
                    </a:solidFill>
                    <a:effectLst/>
                    <a:latin typeface="Segoe WPC"/>
                  </a:rPr>
                  <a:t> </a:t>
                </a:r>
                <a:r>
                  <a:rPr lang="es-PE" sz="900" b="0" i="0" dirty="0" err="1">
                    <a:solidFill>
                      <a:schemeClr val="tx1"/>
                    </a:solidFill>
                    <a:effectLst/>
                    <a:latin typeface="Segoe WPC"/>
                  </a:rPr>
                  <a:t>protection</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a:t>
                </a:r>
                <a14:m>
                  <m:oMath xmlns:m="http://schemas.openxmlformats.org/officeDocument/2006/math">
                    <m:r>
                      <m:rPr>
                        <m:sty m:val="p"/>
                      </m:rPr>
                      <a:rPr lang="es-PE" sz="90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14:m>
                  <m:oMath xmlns:m="http://schemas.openxmlformats.org/officeDocument/2006/math">
                    <m:r>
                      <m:rPr>
                        <m:sty m:val="p"/>
                      </m:rPr>
                      <a:rPr lang="es-PE" sz="90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e>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firm</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pay</a:t>
                </a:r>
                <a:r>
                  <a:rPr lang="es-PE" sz="900" b="0" i="0" dirty="0">
                    <a:solidFill>
                      <a:schemeClr val="tx1"/>
                    </a:solidFill>
                    <a:effectLst/>
                    <a:latin typeface="Segoe WPC"/>
                  </a:rPr>
                  <a:t> euros in </a:t>
                </a:r>
                <a:r>
                  <a:rPr lang="es-PE" sz="900" b="0" i="0" dirty="0" err="1">
                    <a:solidFill>
                      <a:schemeClr val="tx1"/>
                    </a:solidFill>
                    <a:effectLst/>
                    <a:latin typeface="Segoe WPC"/>
                  </a:rPr>
                  <a:t>the</a:t>
                </a:r>
                <a:r>
                  <a:rPr lang="es-PE" sz="900" b="0" i="0" dirty="0">
                    <a:solidFill>
                      <a:schemeClr val="tx1"/>
                    </a:solidFill>
                    <a:effectLst/>
                    <a:latin typeface="Segoe WPC"/>
                  </a:rPr>
                  <a:t> future can </a:t>
                </a:r>
                <a:r>
                  <a:rPr lang="es-PE" sz="900" b="0" i="0" dirty="0" err="1">
                    <a:solidFill>
                      <a:schemeClr val="tx1"/>
                    </a:solidFill>
                    <a:effectLst/>
                    <a:latin typeface="Segoe WPC"/>
                  </a:rPr>
                  <a:t>buy</a:t>
                </a:r>
                <a:r>
                  <a:rPr lang="es-PE" sz="900" b="0" i="0" dirty="0">
                    <a:solidFill>
                      <a:schemeClr val="tx1"/>
                    </a:solidFill>
                    <a:effectLst/>
                    <a:latin typeface="Segoe WPC"/>
                  </a:rPr>
                  <a:t> euros forward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buy</a:t>
                </a:r>
                <a:r>
                  <a:rPr lang="es-PE" sz="900" b="0" i="0" dirty="0">
                    <a:solidFill>
                      <a:schemeClr val="tx1"/>
                    </a:solidFill>
                    <a:effectLst/>
                    <a:latin typeface="Segoe WPC"/>
                  </a:rPr>
                  <a:t> a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euros. </a:t>
                </a:r>
                <a:r>
                  <a:rPr lang="es-PE" sz="900" b="0" i="0" dirty="0" err="1">
                    <a:solidFill>
                      <a:schemeClr val="tx1"/>
                    </a:solidFill>
                    <a:effectLst/>
                    <a:latin typeface="Segoe WPC"/>
                  </a:rPr>
                  <a:t>The</a:t>
                </a:r>
                <a:r>
                  <a:rPr lang="es-PE" sz="900" b="0" i="0" dirty="0">
                    <a:solidFill>
                      <a:schemeClr val="tx1"/>
                    </a:solidFill>
                    <a:effectLst/>
                    <a:latin typeface="Segoe WPC"/>
                  </a:rPr>
                  <a:t> forward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certainty</a:t>
                </a:r>
                <a:r>
                  <a:rPr lang="es-PE" sz="900" b="0" i="0" dirty="0">
                    <a:solidFill>
                      <a:schemeClr val="tx1"/>
                    </a:solidFill>
                    <a:effectLst/>
                    <a:latin typeface="Segoe WPC"/>
                  </a:rPr>
                  <a:t> at no premium,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costs</a:t>
                </a:r>
                <a:r>
                  <a:rPr lang="es-PE" sz="900" b="0" i="0" dirty="0">
                    <a:solidFill>
                      <a:schemeClr val="tx1"/>
                    </a:solidFill>
                    <a:effectLst/>
                    <a:latin typeface="Segoe WPC"/>
                  </a:rPr>
                  <a:t> </a:t>
                </a:r>
                <a:r>
                  <a:rPr lang="es-PE" sz="900" b="0" i="0" dirty="0" err="1">
                    <a:solidFill>
                      <a:schemeClr val="tx1"/>
                    </a:solidFill>
                    <a:effectLst/>
                    <a:latin typeface="Segoe WPC"/>
                  </a:rPr>
                  <a:t>money</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preserves </a:t>
                </a:r>
                <a:r>
                  <a:rPr lang="es-PE" sz="900" b="0" i="0" dirty="0" err="1">
                    <a:solidFill>
                      <a:schemeClr val="tx1"/>
                    </a:solidFill>
                    <a:effectLst/>
                    <a:latin typeface="Segoe WPC"/>
                  </a:rPr>
                  <a:t>upside</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exchange</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a:t>
                </a:r>
                <a:r>
                  <a:rPr lang="es-PE" sz="900" b="0" i="0" dirty="0" err="1">
                    <a:solidFill>
                      <a:schemeClr val="tx1"/>
                    </a:solidFill>
                    <a:effectLst/>
                    <a:latin typeface="Segoe WPC"/>
                  </a:rPr>
                  <a:t>favorably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forward </a:t>
                </a:r>
                <a:r>
                  <a:rPr lang="es-PE" sz="900" b="0" i="0" dirty="0" err="1">
                    <a:solidFill>
                      <a:schemeClr val="tx1"/>
                    </a:solidFill>
                    <a:effectLst/>
                    <a:latin typeface="Segoe WPC"/>
                  </a:rPr>
                  <a:t>removes</a:t>
                </a:r>
                <a:r>
                  <a:rPr lang="es-PE" sz="900" b="0" i="0" dirty="0">
                    <a:solidFill>
                      <a:schemeClr val="tx1"/>
                    </a:solidFill>
                    <a:effectLst/>
                    <a:latin typeface="Segoe WPC"/>
                  </a:rPr>
                  <a:t> </a:t>
                </a:r>
                <a:r>
                  <a:rPr lang="es-PE" sz="900" b="0" i="0" dirty="0" err="1">
                    <a:solidFill>
                      <a:schemeClr val="tx1"/>
                    </a:solidFill>
                    <a:effectLst/>
                    <a:latin typeface="Segoe WPC"/>
                  </a:rPr>
                  <a:t>upside</a:t>
                </a:r>
                <a:r>
                  <a:rPr lang="es-PE" sz="900" b="0" i="0" dirty="0">
                    <a:solidFill>
                      <a:schemeClr val="tx1"/>
                    </a:solidFill>
                    <a:effectLst/>
                    <a:latin typeface="Segoe WPC"/>
                  </a:rPr>
                  <a:t> and </a:t>
                </a:r>
                <a:r>
                  <a:rPr lang="es-PE" sz="900" b="0" i="0" dirty="0" err="1">
                    <a:solidFill>
                      <a:schemeClr val="tx1"/>
                    </a:solidFill>
                    <a:effectLst/>
                    <a:latin typeface="Segoe WPC"/>
                  </a:rPr>
                  <a:t>downside</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protects</a:t>
                </a:r>
                <a:r>
                  <a:rPr lang="es-PE" sz="900" b="0" i="0" dirty="0">
                    <a:solidFill>
                      <a:schemeClr val="tx1"/>
                    </a:solidFill>
                    <a:effectLst/>
                    <a:latin typeface="Segoe WPC"/>
                  </a:rPr>
                  <a:t> </a:t>
                </a:r>
                <a:r>
                  <a:rPr lang="es-PE" sz="900" b="0" i="0" dirty="0" err="1">
                    <a:solidFill>
                      <a:schemeClr val="tx1"/>
                    </a:solidFill>
                    <a:effectLst/>
                    <a:latin typeface="Segoe WPC"/>
                  </a:rPr>
                  <a:t>downside</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keeps</a:t>
                </a:r>
                <a:r>
                  <a:rPr lang="es-PE" sz="900" b="0" i="0" dirty="0">
                    <a:solidFill>
                      <a:schemeClr val="tx1"/>
                    </a:solidFill>
                    <a:effectLst/>
                    <a:latin typeface="Segoe WPC"/>
                  </a:rPr>
                  <a:t> </a:t>
                </a:r>
                <a:r>
                  <a:rPr lang="es-PE" sz="900" b="0" i="0" dirty="0" err="1">
                    <a:solidFill>
                      <a:schemeClr val="tx1"/>
                    </a:solidFill>
                    <a:effectLst/>
                    <a:latin typeface="Segoe WPC"/>
                  </a:rPr>
                  <a:t>upside</a:t>
                </a:r>
                <a:r>
                  <a:rPr lang="es-PE" sz="900" b="0" i="0" dirty="0">
                    <a:solidFill>
                      <a:schemeClr val="tx1"/>
                    </a:solidFill>
                    <a:effectLst/>
                    <a:latin typeface="Segoe WPC"/>
                  </a:rPr>
                  <a:t>,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cost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 premium.</a:t>
                </a:r>
              </a:p>
              <a:p>
                <a:pPr algn="l">
                  <a:spcAft>
                    <a:spcPts val="600"/>
                  </a:spcAft>
                  <a:buNone/>
                </a:pPr>
                <a:r>
                  <a:rPr lang="es-PE" sz="900" b="1" i="0" dirty="0">
                    <a:solidFill>
                      <a:schemeClr val="tx1"/>
                    </a:solidFill>
                    <a:effectLst/>
                    <a:latin typeface="Segoe WPC"/>
                  </a:rPr>
                  <a:t>7. </a:t>
                </a:r>
                <a:r>
                  <a:rPr lang="es-PE" sz="900" b="1" i="0" dirty="0" err="1">
                    <a:solidFill>
                      <a:schemeClr val="tx1"/>
                    </a:solidFill>
                    <a:effectLst/>
                    <a:latin typeface="Segoe WPC"/>
                  </a:rPr>
                  <a:t>Speculators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Traders</a:t>
                </a:r>
                <a:r>
                  <a:rPr lang="es-PE" sz="900" b="0" i="0" dirty="0">
                    <a:solidFill>
                      <a:schemeClr val="tx1"/>
                    </a:solidFill>
                    <a:effectLst/>
                    <a:latin typeface="Segoe WPC"/>
                  </a:rPr>
                  <a:t> </a:t>
                </a:r>
                <a:r>
                  <a:rPr lang="es-PE" sz="900" b="0" i="0" dirty="0" err="1">
                    <a:solidFill>
                      <a:schemeClr val="tx1"/>
                    </a:solidFill>
                    <a:effectLst/>
                    <a:latin typeface="Segoe WPC"/>
                  </a:rPr>
                  <a:t>who</a:t>
                </a:r>
                <a:r>
                  <a:rPr lang="es-PE" sz="900" b="0" i="0" dirty="0">
                    <a:solidFill>
                      <a:schemeClr val="tx1"/>
                    </a:solidFill>
                    <a:effectLst/>
                    <a:latin typeface="Segoe WPC"/>
                  </a:rPr>
                  <a:t> use derivatives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bet</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future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movements</a:t>
                </a:r>
                <a:r>
                  <a:rPr lang="es-PE" sz="900" b="0" i="0" dirty="0">
                    <a:solidFill>
                      <a:schemeClr val="tx1"/>
                    </a:solidFill>
                    <a:effectLst/>
                    <a:latin typeface="Segoe WPC"/>
                  </a:rPr>
                  <a:t> </a:t>
                </a:r>
                <a:r>
                  <a:rPr lang="es-PE" sz="900" b="0" i="0" dirty="0" err="1">
                    <a:solidFill>
                      <a:schemeClr val="tx1"/>
                    </a:solidFill>
                    <a:effectLst/>
                    <a:latin typeface="Segoe WPC"/>
                  </a:rPr>
                  <a:t>without</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offsetting</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Derivatives </a:t>
                </a:r>
                <a:r>
                  <a:rPr lang="es-PE" sz="900" b="0" i="0" dirty="0" err="1">
                    <a:solidFill>
                      <a:schemeClr val="tx1"/>
                    </a:solidFill>
                    <a:effectLst/>
                    <a:latin typeface="Segoe WPC"/>
                  </a:rPr>
                  <a:t>allow</a:t>
                </a:r>
                <a:r>
                  <a:rPr lang="es-PE" sz="900" b="0" i="0" dirty="0">
                    <a:solidFill>
                      <a:schemeClr val="tx1"/>
                    </a:solidFill>
                    <a:effectLst/>
                    <a:latin typeface="Segoe WPC"/>
                  </a:rPr>
                  <a:t> </a:t>
                </a:r>
                <a:r>
                  <a:rPr lang="es-PE" sz="900" b="0" i="0" dirty="0" err="1">
                    <a:solidFill>
                      <a:schemeClr val="tx1"/>
                    </a:solidFill>
                    <a:effectLst/>
                    <a:latin typeface="Segoe WPC"/>
                  </a:rPr>
                  <a:t>speculators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take</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positions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relatively</a:t>
                </a:r>
                <a:r>
                  <a:rPr lang="es-PE" sz="900" b="0" i="0" dirty="0">
                    <a:solidFill>
                      <a:schemeClr val="tx1"/>
                    </a:solidFill>
                    <a:effectLst/>
                    <a:latin typeface="Segoe WPC"/>
                  </a:rPr>
                  <a:t> </a:t>
                </a:r>
                <a:r>
                  <a:rPr lang="es-PE" sz="900" b="0" i="0" dirty="0" err="1">
                    <a:solidFill>
                      <a:schemeClr val="tx1"/>
                    </a:solidFill>
                    <a:effectLst/>
                    <a:latin typeface="Segoe WPC"/>
                  </a:rPr>
                  <a:t>small</a:t>
                </a:r>
                <a:r>
                  <a:rPr lang="es-PE" sz="900" b="0" i="0" dirty="0">
                    <a:solidFill>
                      <a:schemeClr val="tx1"/>
                    </a:solidFill>
                    <a:effectLst/>
                    <a:latin typeface="Segoe WPC"/>
                  </a:rPr>
                  <a:t> </a:t>
                </a:r>
                <a:r>
                  <a:rPr lang="es-PE" sz="900" b="0" i="0" dirty="0" err="1">
                    <a:solidFill>
                      <a:schemeClr val="tx1"/>
                    </a:solidFill>
                    <a:effectLst/>
                    <a:latin typeface="Segoe WPC"/>
                  </a:rPr>
                  <a:t>upfront</a:t>
                </a:r>
                <a:r>
                  <a:rPr lang="es-PE" sz="900" b="0" i="0" dirty="0">
                    <a:solidFill>
                      <a:schemeClr val="tx1"/>
                    </a:solidFill>
                    <a:effectLst/>
                    <a:latin typeface="Segoe WPC"/>
                  </a:rPr>
                  <a:t> cash, </a:t>
                </a:r>
                <a:r>
                  <a:rPr lang="es-PE" sz="900" b="0" i="0" dirty="0" err="1">
                    <a:solidFill>
                      <a:schemeClr val="tx1"/>
                    </a:solidFill>
                    <a:effectLst/>
                    <a:latin typeface="Segoe WPC"/>
                  </a:rPr>
                  <a:t>creating</a:t>
                </a:r>
                <a:r>
                  <a:rPr lang="es-PE" sz="900" b="0" i="0" dirty="0">
                    <a:solidFill>
                      <a:schemeClr val="tx1"/>
                    </a:solidFill>
                    <a:effectLst/>
                    <a:latin typeface="Segoe WPC"/>
                  </a:rPr>
                  <a:t> </a:t>
                </a:r>
                <a:r>
                  <a:rPr lang="es-PE" sz="900" b="0" i="0" dirty="0" err="1">
                    <a:solidFill>
                      <a:schemeClr val="tx1"/>
                    </a:solidFill>
                    <a:effectLst/>
                    <a:latin typeface="Segoe WPC"/>
                  </a:rPr>
                  <a:t>leverage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small</a:t>
                </a:r>
                <a:r>
                  <a:rPr lang="es-PE" sz="900" b="0" i="0" dirty="0">
                    <a:solidFill>
                      <a:schemeClr val="tx1"/>
                    </a:solidFill>
                    <a:effectLst/>
                    <a:latin typeface="Segoe WPC"/>
                  </a:rPr>
                  <a:t> premium can control a </a:t>
                </a:r>
                <a:r>
                  <a:rPr lang="es-PE" sz="900" b="0" i="0" dirty="0" err="1">
                    <a:solidFill>
                      <a:schemeClr val="tx1"/>
                    </a:solidFill>
                    <a:effectLst/>
                    <a:latin typeface="Segoe WPC"/>
                  </a:rPr>
                  <a:t>much</a:t>
                </a:r>
                <a:r>
                  <a:rPr lang="es-PE" sz="900" b="0" i="0" dirty="0">
                    <a:solidFill>
                      <a:schemeClr val="tx1"/>
                    </a:solidFill>
                    <a:effectLst/>
                    <a:latin typeface="Segoe WPC"/>
                  </a:rPr>
                  <a:t> </a:t>
                </a:r>
                <a:r>
                  <a:rPr lang="es-PE" sz="900" b="0" i="0" dirty="0" err="1">
                    <a:solidFill>
                      <a:schemeClr val="tx1"/>
                    </a:solidFill>
                    <a:effectLst/>
                    <a:latin typeface="Segoe WPC"/>
                  </a:rPr>
                  <a:t>larger</a:t>
                </a:r>
                <a:r>
                  <a:rPr lang="es-PE" sz="900" b="0" i="0" dirty="0">
                    <a:solidFill>
                      <a:schemeClr val="tx1"/>
                    </a:solidFill>
                    <a:effectLst/>
                    <a:latin typeface="Segoe WPC"/>
                  </a:rPr>
                  <a:t> </a:t>
                </a:r>
                <a:r>
                  <a:rPr lang="es-PE" sz="900" b="0" i="0" dirty="0" err="1">
                    <a:solidFill>
                      <a:schemeClr val="tx1"/>
                    </a:solidFill>
                    <a:effectLst/>
                    <a:latin typeface="Segoe WPC"/>
                  </a:rPr>
                  <a:t>notional</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magnifies</a:t>
                </a:r>
                <a:r>
                  <a:rPr lang="es-PE" sz="900" b="0" i="0" dirty="0">
                    <a:solidFill>
                      <a:schemeClr val="tx1"/>
                    </a:solidFill>
                    <a:effectLst/>
                    <a:latin typeface="Segoe WPC"/>
                  </a:rPr>
                  <a:t> </a:t>
                </a:r>
                <a:r>
                  <a:rPr lang="es-PE" sz="900" b="0" i="0" dirty="0" err="1">
                    <a:solidFill>
                      <a:schemeClr val="tx1"/>
                    </a:solidFill>
                    <a:effectLst/>
                    <a:latin typeface="Segoe WPC"/>
                  </a:rPr>
                  <a:t>gains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trade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right</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can lose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entire</a:t>
                </a:r>
                <a:r>
                  <a:rPr lang="es-PE" sz="900" b="0" i="0" dirty="0">
                    <a:solidFill>
                      <a:schemeClr val="tx1"/>
                    </a:solidFill>
                    <a:effectLst/>
                    <a:latin typeface="Segoe WPC"/>
                  </a:rPr>
                  <a:t> premium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wrong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Compared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buying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buying</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can </a:t>
                </a:r>
                <a:r>
                  <a:rPr lang="es-PE" sz="900" b="0" i="0" dirty="0" err="1">
                    <a:solidFill>
                      <a:schemeClr val="tx1"/>
                    </a:solidFill>
                    <a:effectLst/>
                    <a:latin typeface="Segoe WPC"/>
                  </a:rPr>
                  <a:t>create</a:t>
                </a:r>
                <a:r>
                  <a:rPr lang="es-PE" sz="900" b="0" i="0" dirty="0">
                    <a:solidFill>
                      <a:schemeClr val="tx1"/>
                    </a:solidFill>
                    <a:effectLst/>
                    <a:latin typeface="Segoe WPC"/>
                  </a:rPr>
                  <a:t> </a:t>
                </a:r>
                <a:r>
                  <a:rPr lang="es-PE" sz="900" b="0" i="0" dirty="0" err="1">
                    <a:solidFill>
                      <a:schemeClr val="tx1"/>
                    </a:solidFill>
                    <a:effectLst/>
                    <a:latin typeface="Segoe WPC"/>
                  </a:rPr>
                  <a:t>much</a:t>
                </a:r>
                <a:r>
                  <a:rPr lang="es-PE" sz="900" b="0" i="0" dirty="0">
                    <a:solidFill>
                      <a:schemeClr val="tx1"/>
                    </a:solidFill>
                    <a:effectLst/>
                    <a:latin typeface="Segoe WPC"/>
                  </a:rPr>
                  <a:t> </a:t>
                </a:r>
                <a:r>
                  <a:rPr lang="es-PE" sz="900" b="0" i="0" dirty="0" err="1">
                    <a:solidFill>
                      <a:schemeClr val="tx1"/>
                    </a:solidFill>
                    <a:effectLst/>
                    <a:latin typeface="Segoe WPC"/>
                  </a:rPr>
                  <a:t>larger</a:t>
                </a:r>
                <a:r>
                  <a:rPr lang="es-PE" sz="900" b="0" i="0" dirty="0">
                    <a:solidFill>
                      <a:schemeClr val="tx1"/>
                    </a:solidFill>
                    <a:effectLst/>
                    <a:latin typeface="Segoe WPC"/>
                  </a:rPr>
                  <a:t> </a:t>
                </a:r>
                <a:r>
                  <a:rPr lang="es-PE" sz="900" b="0" i="0" dirty="0" err="1">
                    <a:solidFill>
                      <a:schemeClr val="tx1"/>
                    </a:solidFill>
                    <a:effectLst/>
                    <a:latin typeface="Segoe WPC"/>
                  </a:rPr>
                  <a:t>percentage</a:t>
                </a:r>
                <a:r>
                  <a:rPr lang="es-PE" sz="900" b="0" i="0" dirty="0">
                    <a:solidFill>
                      <a:schemeClr val="tx1"/>
                    </a:solidFill>
                    <a:effectLst/>
                    <a:latin typeface="Segoe WPC"/>
                  </a:rPr>
                  <a:t> </a:t>
                </a:r>
                <a:r>
                  <a:rPr lang="es-PE" sz="900" b="0" i="0" dirty="0" err="1">
                    <a:solidFill>
                      <a:schemeClr val="tx1"/>
                    </a:solidFill>
                    <a:effectLst/>
                    <a:latin typeface="Segoe WPC"/>
                  </a:rPr>
                  <a:t>gains</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prices</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a:t>
                </a:r>
                <a:r>
                  <a:rPr lang="es-PE" sz="900" b="0" i="0" dirty="0" err="1">
                    <a:solidFill>
                      <a:schemeClr val="tx1"/>
                    </a:solidFill>
                    <a:effectLst/>
                    <a:latin typeface="Segoe WPC"/>
                  </a:rPr>
                  <a:t>favorably</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also</a:t>
                </a:r>
                <a:r>
                  <a:rPr lang="es-PE" sz="900" b="0" i="0" dirty="0">
                    <a:solidFill>
                      <a:schemeClr val="tx1"/>
                    </a:solidFill>
                    <a:effectLst/>
                    <a:latin typeface="Segoe WPC"/>
                  </a:rPr>
                  <a:t> total </a:t>
                </a:r>
                <a:r>
                  <a:rPr lang="es-PE" sz="900" b="0" i="0" dirty="0" err="1">
                    <a:solidFill>
                      <a:schemeClr val="tx1"/>
                    </a:solidFill>
                    <a:effectLst/>
                    <a:latin typeface="Segoe WPC"/>
                  </a:rPr>
                  <a:t>loss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premium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Derivatives </a:t>
                </a:r>
                <a:r>
                  <a:rPr lang="es-PE" sz="900" b="0" i="0" dirty="0" err="1">
                    <a:solidFill>
                      <a:schemeClr val="tx1"/>
                    </a:solidFill>
                    <a:effectLst/>
                    <a:latin typeface="Segoe WPC"/>
                  </a:rPr>
                  <a:t>therefore</a:t>
                </a:r>
                <a:r>
                  <a:rPr lang="es-PE" sz="900" b="0" i="0" dirty="0">
                    <a:solidFill>
                      <a:schemeClr val="tx1"/>
                    </a:solidFill>
                    <a:effectLst/>
                    <a:latin typeface="Segoe WPC"/>
                  </a:rPr>
                  <a:t> </a:t>
                </a:r>
                <a:r>
                  <a:rPr lang="es-PE" sz="900" b="0" i="0" dirty="0" err="1">
                    <a:solidFill>
                      <a:schemeClr val="tx1"/>
                    </a:solidFill>
                    <a:effectLst/>
                    <a:latin typeface="Segoe WPC"/>
                  </a:rPr>
                  <a:t>make</a:t>
                </a:r>
                <a:r>
                  <a:rPr lang="es-PE" sz="900" b="0" i="0" dirty="0">
                    <a:solidFill>
                      <a:schemeClr val="tx1"/>
                    </a:solidFill>
                    <a:effectLst/>
                    <a:latin typeface="Segoe WPC"/>
                  </a:rPr>
                  <a:t> </a:t>
                </a:r>
                <a:r>
                  <a:rPr lang="es-PE" sz="900" b="0" i="0" dirty="0" err="1">
                    <a:solidFill>
                      <a:schemeClr val="tx1"/>
                    </a:solidFill>
                    <a:effectLst/>
                    <a:latin typeface="Segoe WPC"/>
                  </a:rPr>
                  <a:t>speculation</a:t>
                </a:r>
                <a:r>
                  <a:rPr lang="es-PE" sz="900" b="0" i="0" dirty="0">
                    <a:solidFill>
                      <a:schemeClr val="tx1"/>
                    </a:solidFill>
                    <a:effectLst/>
                    <a:latin typeface="Segoe WPC"/>
                  </a:rPr>
                  <a:t> </a:t>
                </a:r>
                <a:r>
                  <a:rPr lang="es-PE" sz="900" b="0" i="0" dirty="0" err="1">
                    <a:solidFill>
                      <a:schemeClr val="tx1"/>
                    </a:solidFill>
                    <a:effectLst/>
                    <a:latin typeface="Segoe WPC"/>
                  </a:rPr>
                  <a:t>highly</a:t>
                </a:r>
                <a:r>
                  <a:rPr lang="es-PE" sz="900" b="0" i="0" dirty="0">
                    <a:solidFill>
                      <a:schemeClr val="tx1"/>
                    </a:solidFill>
                    <a:effectLst/>
                    <a:latin typeface="Segoe WPC"/>
                  </a:rPr>
                  <a:t> </a:t>
                </a:r>
                <a:r>
                  <a:rPr lang="es-PE" sz="900" b="0" i="0" dirty="0" err="1">
                    <a:solidFill>
                      <a:schemeClr val="tx1"/>
                    </a:solidFill>
                    <a:effectLst/>
                    <a:latin typeface="Segoe WPC"/>
                  </a:rPr>
                  <a:t>attractive</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highly</a:t>
                </a:r>
                <a:r>
                  <a:rPr lang="es-PE" sz="900" b="0" i="0" dirty="0">
                    <a:solidFill>
                      <a:schemeClr val="tx1"/>
                    </a:solidFill>
                    <a:effectLst/>
                    <a:latin typeface="Segoe WPC"/>
                  </a:rPr>
                  <a:t> </a:t>
                </a:r>
                <a:r>
                  <a:rPr lang="es-PE" sz="900" b="0" i="0" dirty="0" err="1">
                    <a:solidFill>
                      <a:schemeClr val="tx1"/>
                    </a:solidFill>
                    <a:effectLst/>
                    <a:latin typeface="Segoe WPC"/>
                  </a:rPr>
                  <a:t>risky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Leverage</a:t>
                </a:r>
                <a:r>
                  <a:rPr lang="es-PE" sz="900" b="0" i="0" dirty="0">
                    <a:solidFill>
                      <a:schemeClr val="tx1"/>
                    </a:solidFill>
                    <a:effectLst/>
                    <a:latin typeface="Segoe WPC"/>
                  </a:rPr>
                  <a:t> </a:t>
                </a:r>
                <a:r>
                  <a:rPr lang="es-PE" sz="900" b="0" i="0" dirty="0" err="1">
                    <a:solidFill>
                      <a:schemeClr val="tx1"/>
                    </a:solidFill>
                    <a:effectLst/>
                    <a:latin typeface="Segoe WPC"/>
                  </a:rPr>
                  <a:t>increases</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potential</a:t>
                </a:r>
                <a:r>
                  <a:rPr lang="es-PE" sz="900" b="0" i="0" dirty="0">
                    <a:solidFill>
                      <a:schemeClr val="tx1"/>
                    </a:solidFill>
                    <a:effectLst/>
                    <a:latin typeface="Segoe WPC"/>
                  </a:rPr>
                  <a:t> </a:t>
                </a:r>
                <a:r>
                  <a:rPr lang="es-PE" sz="900" b="0" i="0" dirty="0" err="1">
                    <a:solidFill>
                      <a:schemeClr val="tx1"/>
                    </a:solidFill>
                    <a:effectLst/>
                    <a:latin typeface="Segoe WPC"/>
                  </a:rPr>
                  <a:t>reward</a:t>
                </a:r>
                <a:r>
                  <a:rPr lang="es-PE" sz="900" b="0" i="0" dirty="0">
                    <a:solidFill>
                      <a:schemeClr val="tx1"/>
                    </a:solidFill>
                    <a:effectLst/>
                    <a:latin typeface="Segoe WPC"/>
                  </a:rPr>
                  <a:t> and </a:t>
                </a:r>
                <a:r>
                  <a:rPr lang="es-PE" sz="900" b="0" i="0" dirty="0" err="1">
                    <a:solidFill>
                      <a:schemeClr val="tx1"/>
                    </a:solidFill>
                    <a:effectLst/>
                    <a:latin typeface="Segoe WPC"/>
                  </a:rPr>
                  <a:t>potential</a:t>
                </a:r>
                <a:r>
                  <a:rPr lang="es-PE" sz="900" b="0" i="0" dirty="0">
                    <a:solidFill>
                      <a:schemeClr val="tx1"/>
                    </a:solidFill>
                    <a:effectLst/>
                    <a:latin typeface="Segoe WPC"/>
                  </a:rPr>
                  <a:t> </a:t>
                </a:r>
                <a:r>
                  <a:rPr lang="es-PE" sz="900" b="0" i="0" dirty="0" err="1">
                    <a:solidFill>
                      <a:schemeClr val="tx1"/>
                    </a:solidFill>
                    <a:effectLst/>
                    <a:latin typeface="Segoe WPC"/>
                  </a:rPr>
                  <a:t>loss</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can expire </a:t>
                </a:r>
                <a:r>
                  <a:rPr lang="es-PE" sz="900" b="0" i="0" dirty="0" err="1">
                    <a:solidFill>
                      <a:schemeClr val="tx1"/>
                    </a:solidFill>
                    <a:effectLst/>
                    <a:latin typeface="Segoe WPC"/>
                  </a:rPr>
                  <a:t>worthless</a:t>
                </a:r>
                <a:r>
                  <a:rPr lang="es-PE" sz="900" b="0" i="0" dirty="0">
                    <a:solidFill>
                      <a:schemeClr val="tx1"/>
                    </a:solidFill>
                    <a:effectLst/>
                    <a:latin typeface="Segoe WPC"/>
                  </a:rPr>
                  <a:t> </a:t>
                </a:r>
                <a:r>
                  <a:rPr lang="es-PE" sz="900" b="0" i="0" dirty="0" err="1">
                    <a:solidFill>
                      <a:schemeClr val="tx1"/>
                    </a:solidFill>
                    <a:effectLst/>
                    <a:latin typeface="Segoe WPC"/>
                  </a:rPr>
                  <a:t>even</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did</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a:t>
                </a:r>
                <a:r>
                  <a:rPr lang="es-PE" sz="900" b="0" i="0" dirty="0" err="1">
                    <a:solidFill>
                      <a:schemeClr val="tx1"/>
                    </a:solidFill>
                    <a:effectLst/>
                    <a:latin typeface="Segoe WPC"/>
                  </a:rPr>
                  <a:t>much</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8. </a:t>
                </a:r>
                <a:r>
                  <a:rPr lang="es-PE" sz="900" b="1" i="0" dirty="0" err="1">
                    <a:solidFill>
                      <a:schemeClr val="tx1"/>
                    </a:solidFill>
                    <a:effectLst/>
                    <a:latin typeface="Segoe WPC"/>
                  </a:rPr>
                  <a:t>Arbitrageurs</a:t>
                </a:r>
                <a:r>
                  <a:rPr lang="es-PE" sz="900" b="1" i="0" dirty="0">
                    <a:solidFill>
                      <a:schemeClr val="tx1"/>
                    </a:solidFill>
                    <a:effectLst/>
                    <a:latin typeface="Segoe WPC"/>
                  </a:rPr>
                  <a:t> and Derivatives </a:t>
                </a:r>
                <a:r>
                  <a:rPr lang="es-PE" sz="900" b="1" i="0" dirty="0" err="1">
                    <a:solidFill>
                      <a:schemeClr val="tx1"/>
                    </a:solidFill>
                    <a:effectLst/>
                    <a:latin typeface="Segoe WPC"/>
                  </a:rPr>
                  <a:t>Risks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Riskless</a:t>
                </a:r>
                <a:r>
                  <a:rPr lang="es-PE" sz="900" b="0" i="0" dirty="0">
                    <a:solidFill>
                      <a:schemeClr val="tx1"/>
                    </a:solidFill>
                    <a:effectLst/>
                    <a:latin typeface="Segoe WPC"/>
                  </a:rPr>
                  <a:t> </a:t>
                </a:r>
                <a:r>
                  <a:rPr lang="es-PE" sz="900" b="0" i="0" dirty="0" err="1">
                    <a:solidFill>
                      <a:schemeClr val="tx1"/>
                    </a:solidFill>
                    <a:effectLst/>
                    <a:latin typeface="Segoe WPC"/>
                  </a:rPr>
                  <a:t>pricing</a:t>
                </a:r>
                <a:r>
                  <a:rPr lang="es-PE" sz="900" b="0" i="0" dirty="0">
                    <a:solidFill>
                      <a:schemeClr val="tx1"/>
                    </a:solidFill>
                    <a:effectLst/>
                    <a:latin typeface="Segoe WPC"/>
                  </a:rPr>
                  <a:t> </a:t>
                </a:r>
                <a:r>
                  <a:rPr lang="es-PE" sz="900" b="0" i="0" dirty="0" err="1">
                    <a:solidFill>
                      <a:schemeClr val="tx1"/>
                    </a:solidFill>
                    <a:effectLst/>
                    <a:latin typeface="Segoe WPC"/>
                  </a:rPr>
                  <a:t>opportunities</a:t>
                </a:r>
                <a:r>
                  <a:rPr lang="es-PE" sz="900" b="0" i="0" dirty="0">
                    <a:solidFill>
                      <a:schemeClr val="tx1"/>
                    </a:solidFill>
                    <a:effectLst/>
                    <a:latin typeface="Segoe WPC"/>
                  </a:rPr>
                  <a:t> and </a:t>
                </a:r>
                <a:r>
                  <a:rPr lang="es-PE" sz="900" b="0" i="0" dirty="0" err="1">
                    <a:solidFill>
                      <a:schemeClr val="tx1"/>
                    </a:solidFill>
                    <a:effectLst/>
                    <a:latin typeface="Segoe WPC"/>
                  </a:rPr>
                  <a:t>dangers</a:t>
                </a:r>
                <a:r>
                  <a:rPr lang="es-PE" sz="900" b="0" i="0" dirty="0">
                    <a:solidFill>
                      <a:schemeClr val="tx1"/>
                    </a:solidFill>
                    <a:effectLst/>
                    <a:latin typeface="Segoe WPC"/>
                  </a:rPr>
                  <a:t> </a:t>
                </a:r>
                <a:r>
                  <a:rPr lang="es-PE" sz="900" b="0" i="0" dirty="0" err="1">
                    <a:solidFill>
                      <a:schemeClr val="tx1"/>
                    </a:solidFill>
                    <a:effectLst/>
                    <a:latin typeface="Segoe WPC"/>
                  </a:rPr>
                  <a:t>created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derivatives use.</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Arbitrageurs</a:t>
                </a:r>
                <a:r>
                  <a:rPr lang="es-PE" sz="900" b="0" i="0" dirty="0">
                    <a:solidFill>
                      <a:schemeClr val="tx1"/>
                    </a:solidFill>
                    <a:effectLst/>
                    <a:latin typeface="Segoe WPC"/>
                  </a:rPr>
                  <a:t> </a:t>
                </a:r>
                <a:r>
                  <a:rPr lang="es-PE" sz="900" b="0" i="0" dirty="0" err="1">
                    <a:solidFill>
                      <a:schemeClr val="tx1"/>
                    </a:solidFill>
                    <a:effectLst/>
                    <a:latin typeface="Segoe WPC"/>
                  </a:rPr>
                  <a:t>exploit</a:t>
                </a:r>
                <a:r>
                  <a:rPr lang="es-PE" sz="900" b="0" i="0" dirty="0">
                    <a:solidFill>
                      <a:schemeClr val="tx1"/>
                    </a:solidFill>
                    <a:effectLst/>
                    <a:latin typeface="Segoe WPC"/>
                  </a:rPr>
                  <a:t> </a:t>
                </a:r>
                <a:r>
                  <a:rPr lang="es-PE" sz="900" b="0" i="0" dirty="0" err="1">
                    <a:solidFill>
                      <a:schemeClr val="tx1"/>
                    </a:solidFill>
                    <a:effectLst/>
                    <a:latin typeface="Segoe WPC"/>
                  </a:rPr>
                  <a:t>inconsistent</a:t>
                </a:r>
                <a:r>
                  <a:rPr lang="es-PE" sz="900" b="0" i="0" dirty="0">
                    <a:solidFill>
                      <a:schemeClr val="tx1"/>
                    </a:solidFill>
                    <a:effectLst/>
                    <a:latin typeface="Segoe WPC"/>
                  </a:rPr>
                  <a:t> </a:t>
                </a:r>
                <a:r>
                  <a:rPr lang="es-PE" sz="900" b="0" i="0" dirty="0" err="1">
                    <a:solidFill>
                      <a:schemeClr val="tx1"/>
                    </a:solidFill>
                    <a:effectLst/>
                    <a:latin typeface="Segoe WPC"/>
                  </a:rPr>
                  <a:t>prices</a:t>
                </a:r>
                <a:r>
                  <a:rPr lang="es-PE" sz="900" b="0" i="0" dirty="0">
                    <a:solidFill>
                      <a:schemeClr val="tx1"/>
                    </a:solidFill>
                    <a:effectLst/>
                    <a:latin typeface="Segoe WPC"/>
                  </a:rPr>
                  <a:t> </a:t>
                </a:r>
                <a:r>
                  <a:rPr lang="es-PE" sz="900" b="0" i="0" dirty="0" err="1">
                    <a:solidFill>
                      <a:schemeClr val="tx1"/>
                    </a:solidFill>
                    <a:effectLst/>
                    <a:latin typeface="Segoe WPC"/>
                  </a:rPr>
                  <a:t>across</a:t>
                </a:r>
                <a:r>
                  <a:rPr lang="es-PE" sz="900" b="0" i="0" dirty="0">
                    <a:solidFill>
                      <a:schemeClr val="tx1"/>
                    </a:solidFill>
                    <a:effectLst/>
                    <a:latin typeface="Segoe WPC"/>
                  </a:rPr>
                  <a:t> </a:t>
                </a:r>
                <a:r>
                  <a:rPr lang="es-PE" sz="900" b="0" i="0" dirty="0" err="1">
                    <a:solidFill>
                      <a:schemeClr val="tx1"/>
                    </a:solidFill>
                    <a:effectLst/>
                    <a:latin typeface="Segoe WPC"/>
                  </a:rPr>
                  <a:t>markets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lock</a:t>
                </a:r>
                <a:r>
                  <a:rPr lang="es-PE" sz="900" b="0" i="0" dirty="0">
                    <a:solidFill>
                      <a:schemeClr val="tx1"/>
                    </a:solidFill>
                    <a:effectLst/>
                    <a:latin typeface="Segoe WPC"/>
                  </a:rPr>
                  <a:t> in </a:t>
                </a:r>
                <a:r>
                  <a:rPr lang="es-PE" sz="900" b="0" i="0" dirty="0" err="1">
                    <a:solidFill>
                      <a:schemeClr val="tx1"/>
                    </a:solidFill>
                    <a:effectLst/>
                    <a:latin typeface="Segoe WPC"/>
                  </a:rPr>
                  <a:t>profits</a:t>
                </a:r>
                <a:r>
                  <a:rPr lang="es-PE" sz="900" b="0" i="0" dirty="0">
                    <a:solidFill>
                      <a:schemeClr val="tx1"/>
                    </a:solidFill>
                    <a:effectLst/>
                    <a:latin typeface="Segoe WPC"/>
                  </a:rPr>
                  <a:t>.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time, derivatives can </a:t>
                </a:r>
                <a:r>
                  <a:rPr lang="es-PE" sz="900" b="0" i="0" dirty="0" err="1">
                    <a:solidFill>
                      <a:schemeClr val="tx1"/>
                    </a:solidFill>
                    <a:effectLst/>
                    <a:latin typeface="Segoe WPC"/>
                  </a:rPr>
                  <a:t>create</a:t>
                </a:r>
                <a:r>
                  <a:rPr lang="es-PE" sz="900" b="0" i="0" dirty="0">
                    <a:solidFill>
                      <a:schemeClr val="tx1"/>
                    </a:solidFill>
                    <a:effectLst/>
                    <a:latin typeface="Segoe WPC"/>
                  </a:rPr>
                  <a:t> </a:t>
                </a:r>
                <a:r>
                  <a:rPr lang="es-PE" sz="900" b="0" i="0" dirty="0" err="1">
                    <a:solidFill>
                      <a:schemeClr val="tx1"/>
                    </a:solidFill>
                    <a:effectLst/>
                    <a:latin typeface="Segoe WPC"/>
                  </a:rPr>
                  <a:t>major</a:t>
                </a:r>
                <a:r>
                  <a:rPr lang="es-PE" sz="900" b="0" i="0" dirty="0">
                    <a:solidFill>
                      <a:schemeClr val="tx1"/>
                    </a:solidFill>
                    <a:effectLst/>
                    <a:latin typeface="Segoe WPC"/>
                  </a:rPr>
                  <a:t> </a:t>
                </a:r>
                <a:r>
                  <a:rPr lang="es-PE" sz="900" b="0" i="0" dirty="0" err="1">
                    <a:solidFill>
                      <a:schemeClr val="tx1"/>
                    </a:solidFill>
                    <a:effectLst/>
                    <a:latin typeface="Segoe WPC"/>
                  </a:rPr>
                  <a:t>risks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used</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hidden</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excessive</a:t>
                </a:r>
                <a:r>
                  <a:rPr lang="es-PE" sz="900" b="0" i="0" dirty="0">
                    <a:solidFill>
                      <a:schemeClr val="tx1"/>
                    </a:solidFill>
                    <a:effectLst/>
                    <a:latin typeface="Segoe WPC"/>
                  </a:rPr>
                  <a:t> </a:t>
                </a:r>
                <a:r>
                  <a:rPr lang="es-PE" sz="900" b="0" i="0" dirty="0" err="1">
                    <a:solidFill>
                      <a:schemeClr val="tx1"/>
                    </a:solidFill>
                    <a:effectLst/>
                    <a:latin typeface="Segoe WPC"/>
                  </a:rPr>
                  <a:t>speculation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Arbitrage</a:t>
                </a:r>
                <a:r>
                  <a:rPr lang="es-PE" sz="900" b="0" i="0" dirty="0">
                    <a:solidFill>
                      <a:schemeClr val="tx1"/>
                    </a:solidFill>
                    <a:effectLst/>
                    <a:latin typeface="Segoe WPC"/>
                  </a:rPr>
                  <a:t> links </a:t>
                </a:r>
                <a:r>
                  <a:rPr lang="es-PE" sz="900" b="0" i="0" dirty="0" err="1">
                    <a:solidFill>
                      <a:schemeClr val="tx1"/>
                    </a:solidFill>
                    <a:effectLst/>
                    <a:latin typeface="Segoe WPC"/>
                  </a:rPr>
                  <a:t>markets</a:t>
                </a:r>
                <a:r>
                  <a:rPr lang="es-PE" sz="900" b="0" i="0" dirty="0">
                    <a:solidFill>
                      <a:schemeClr val="tx1"/>
                    </a:solidFill>
                    <a:effectLst/>
                    <a:latin typeface="Segoe WPC"/>
                  </a:rPr>
                  <a:t> </a:t>
                </a:r>
                <a:r>
                  <a:rPr lang="es-PE" sz="900" b="0" i="0" dirty="0" err="1">
                    <a:solidFill>
                      <a:schemeClr val="tx1"/>
                    </a:solidFill>
                    <a:effectLst/>
                    <a:latin typeface="Segoe WPC"/>
                  </a:rPr>
                  <a:t>together</a:t>
                </a:r>
                <a:r>
                  <a:rPr lang="es-PE" sz="900" b="0" i="0" dirty="0">
                    <a:solidFill>
                      <a:schemeClr val="tx1"/>
                    </a:solidFill>
                    <a:effectLst/>
                    <a:latin typeface="Segoe WPC"/>
                  </a:rPr>
                  <a:t>; </a:t>
                </a:r>
                <a:r>
                  <a:rPr lang="es-PE" sz="900" b="0" i="0" dirty="0" err="1">
                    <a:solidFill>
                      <a:schemeClr val="tx1"/>
                    </a:solidFill>
                    <a:effectLst/>
                    <a:latin typeface="Segoe WPC"/>
                  </a:rPr>
                  <a:t>poor</a:t>
                </a:r>
                <a:r>
                  <a:rPr lang="es-PE" sz="900" b="0" i="0" dirty="0">
                    <a:solidFill>
                      <a:schemeClr val="tx1"/>
                    </a:solidFill>
                    <a:effectLst/>
                    <a:latin typeface="Segoe WPC"/>
                  </a:rPr>
                  <a:t> </a:t>
                </a:r>
                <a:r>
                  <a:rPr lang="es-PE" sz="900" b="0" i="0" dirty="0" err="1">
                    <a:solidFill>
                      <a:schemeClr val="tx1"/>
                    </a:solidFill>
                    <a:effectLst/>
                    <a:latin typeface="Segoe WPC"/>
                  </a:rPr>
                  <a:t>controls</a:t>
                </a:r>
                <a:r>
                  <a:rPr lang="es-PE" sz="900" b="0" i="0" dirty="0">
                    <a:solidFill>
                      <a:schemeClr val="tx1"/>
                    </a:solidFill>
                    <a:effectLst/>
                    <a:latin typeface="Segoe WPC"/>
                  </a:rPr>
                  <a:t> </a:t>
                </a:r>
                <a:r>
                  <a:rPr lang="es-PE" sz="900" b="0" i="0" dirty="0" err="1">
                    <a:solidFill>
                      <a:schemeClr val="tx1"/>
                    </a:solidFill>
                    <a:effectLst/>
                    <a:latin typeface="Segoe WPC"/>
                  </a:rPr>
                  <a:t>let</a:t>
                </a:r>
                <a:r>
                  <a:rPr lang="es-PE" sz="900" b="0" i="0" dirty="0">
                    <a:solidFill>
                      <a:schemeClr val="tx1"/>
                    </a:solidFill>
                    <a:effectLst/>
                    <a:latin typeface="Segoe WPC"/>
                  </a:rPr>
                  <a:t> </a:t>
                </a:r>
                <a:r>
                  <a:rPr lang="es-PE" sz="900" b="0" i="0" dirty="0" err="1">
                    <a:solidFill>
                      <a:schemeClr val="tx1"/>
                    </a:solidFill>
                    <a:effectLst/>
                    <a:latin typeface="Segoe WPC"/>
                  </a:rPr>
                  <a:t>traders</a:t>
                </a:r>
                <a:r>
                  <a:rPr lang="es-PE" sz="900" b="0" i="0" dirty="0">
                    <a:solidFill>
                      <a:schemeClr val="tx1"/>
                    </a:solidFill>
                    <a:effectLst/>
                    <a:latin typeface="Segoe WPC"/>
                  </a:rPr>
                  <a:t> </a:t>
                </a:r>
                <a:r>
                  <a:rPr lang="es-PE" sz="900" b="0" i="0" dirty="0" err="1">
                    <a:solidFill>
                      <a:schemeClr val="tx1"/>
                    </a:solidFill>
                    <a:effectLst/>
                    <a:latin typeface="Segoe WPC"/>
                  </a:rPr>
                  <a:t>hide</a:t>
                </a:r>
                <a:r>
                  <a:rPr lang="es-PE" sz="900" b="0" i="0" dirty="0">
                    <a:solidFill>
                      <a:schemeClr val="tx1"/>
                    </a:solidFill>
                    <a:effectLst/>
                    <a:latin typeface="Segoe WPC"/>
                  </a:rPr>
                  <a:t> </a:t>
                </a:r>
                <a:r>
                  <a:rPr lang="es-PE" sz="900" b="0" i="0" dirty="0" err="1">
                    <a:solidFill>
                      <a:schemeClr val="tx1"/>
                    </a:solidFill>
                    <a:effectLst/>
                    <a:latin typeface="Segoe WPC"/>
                  </a:rPr>
                  <a:t>increasingly</a:t>
                </a:r>
                <a:r>
                  <a:rPr lang="es-PE" sz="900" b="0" i="0" dirty="0">
                    <a:solidFill>
                      <a:schemeClr val="tx1"/>
                    </a:solidFill>
                    <a:effectLst/>
                    <a:latin typeface="Segoe WPC"/>
                  </a:rPr>
                  <a:t> </a:t>
                </a:r>
                <a:r>
                  <a:rPr lang="es-PE" sz="900" b="0" i="0" dirty="0" err="1">
                    <a:solidFill>
                      <a:schemeClr val="tx1"/>
                    </a:solidFill>
                    <a:effectLst/>
                    <a:latin typeface="Segoe WPC"/>
                  </a:rPr>
                  <a:t>dangerous</a:t>
                </a:r>
                <a:r>
                  <a:rPr lang="es-PE" sz="900" b="0" i="0" dirty="0">
                    <a:solidFill>
                      <a:schemeClr val="tx1"/>
                    </a:solidFill>
                    <a:effectLst/>
                    <a:latin typeface="Segoe WPC"/>
                  </a:rPr>
                  <a:t> positions.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Example</a:t>
                </a:r>
                <a:r>
                  <a:rPr lang="es-PE" sz="900" b="0" i="0" dirty="0">
                    <a:solidFill>
                      <a:schemeClr val="tx1"/>
                    </a:solidFill>
                    <a:effectLst/>
                    <a:latin typeface="Segoe WPC"/>
                  </a:rPr>
                  <a:t> </a:t>
                </a:r>
                <a:r>
                  <a:rPr lang="es-PE" sz="900" b="0" i="0" dirty="0" err="1">
                    <a:solidFill>
                      <a:schemeClr val="tx1"/>
                    </a:solidFill>
                    <a:effectLst/>
                    <a:latin typeface="Segoe WPC"/>
                  </a:rPr>
                  <a:t>arbitrage</a:t>
                </a:r>
                <a:r>
                  <a:rPr lang="es-PE" sz="900" b="0" i="0" dirty="0">
                    <a:solidFill>
                      <a:schemeClr val="tx1"/>
                    </a:solidFill>
                    <a:effectLst/>
                    <a:latin typeface="Segoe WPC"/>
                  </a:rPr>
                  <a:t> </a:t>
                </a:r>
                <a:r>
                  <a:rPr lang="es-PE" sz="900" b="0" i="0" dirty="0" err="1">
                    <a:solidFill>
                      <a:schemeClr val="tx1"/>
                    </a:solidFill>
                    <a:effectLst/>
                    <a:latin typeface="Segoe WPC"/>
                  </a:rPr>
                  <a:t>profit</a:t>
                </a:r>
                <a:r>
                  <a:rPr lang="es-PE" sz="900" b="0" i="0" dirty="0">
                    <a:solidFill>
                      <a:schemeClr val="tx1"/>
                    </a:solidFill>
                    <a:effectLst/>
                    <a:latin typeface="Segoe WPC"/>
                  </a:rPr>
                  <a:t> = forward sale </a:t>
                </a:r>
                <a:r>
                  <a:rPr lang="es-PE" sz="900" b="0" i="0" dirty="0" err="1">
                    <a:solidFill>
                      <a:schemeClr val="tx1"/>
                    </a:solidFill>
                    <a:effectLst/>
                    <a:latin typeface="Segoe WPC"/>
                  </a:rPr>
                  <a:t>proceeds</a:t>
                </a:r>
                <a:r>
                  <a:rPr lang="es-PE" sz="900" b="0" i="0" dirty="0">
                    <a:solidFill>
                      <a:schemeClr val="tx1"/>
                    </a:solidFill>
                    <a:effectLst/>
                    <a:latin typeface="Segoe WPC"/>
                  </a:rPr>
                  <a:t> </a:t>
                </a:r>
                <a:r>
                  <a:rPr lang="es-PE" sz="900" b="0" i="0" dirty="0" err="1">
                    <a:solidFill>
                      <a:schemeClr val="tx1"/>
                    </a:solidFill>
                    <a:effectLst/>
                    <a:latin typeface="Segoe WPC"/>
                  </a:rPr>
                  <a:t>minus</a:t>
                </a:r>
                <a:r>
                  <a:rPr lang="es-PE" sz="900" b="0" i="0" dirty="0">
                    <a:solidFill>
                      <a:schemeClr val="tx1"/>
                    </a:solidFill>
                    <a:effectLst/>
                    <a:latin typeface="Segoe WPC"/>
                  </a:rPr>
                  <a:t> </a:t>
                </a:r>
                <a:r>
                  <a:rPr lang="es-PE" sz="900" b="0" i="0" dirty="0" err="1">
                    <a:solidFill>
                      <a:schemeClr val="tx1"/>
                    </a:solidFill>
                    <a:effectLst/>
                    <a:latin typeface="Segoe WPC"/>
                  </a:rPr>
                  <a:t>borrowing</a:t>
                </a:r>
                <a:r>
                  <a:rPr lang="es-PE" sz="900" b="0" i="0" dirty="0">
                    <a:solidFill>
                      <a:schemeClr val="tx1"/>
                    </a:solidFill>
                    <a:effectLst/>
                    <a:latin typeface="Segoe WPC"/>
                  </a:rPr>
                  <a:t> </a:t>
                </a:r>
                <a:r>
                  <a:rPr lang="es-PE" sz="900" b="0" i="0" dirty="0" err="1">
                    <a:solidFill>
                      <a:schemeClr val="tx1"/>
                    </a:solidFill>
                    <a:effectLst/>
                    <a:latin typeface="Segoe WPC"/>
                  </a:rPr>
                  <a:t>repayment</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forward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too</a:t>
                </a:r>
                <a:r>
                  <a:rPr lang="es-PE" sz="900" b="0" i="0" dirty="0">
                    <a:solidFill>
                      <a:schemeClr val="tx1"/>
                    </a:solidFill>
                    <a:effectLst/>
                    <a:latin typeface="Segoe WPC"/>
                  </a:rPr>
                  <a:t> </a:t>
                </a:r>
                <a:r>
                  <a:rPr lang="es-PE" sz="900" b="0" i="0" dirty="0" err="1">
                    <a:solidFill>
                      <a:schemeClr val="tx1"/>
                    </a:solidFill>
                    <a:effectLst/>
                    <a:latin typeface="Segoe WPC"/>
                  </a:rPr>
                  <a:t>high</a:t>
                </a:r>
                <a:r>
                  <a:rPr lang="es-PE" sz="900" b="0" i="0" dirty="0">
                    <a:solidFill>
                      <a:schemeClr val="tx1"/>
                    </a:solidFill>
                    <a:effectLst/>
                    <a:latin typeface="Segoe WPC"/>
                  </a:rPr>
                  <a:t> relative </a:t>
                </a:r>
                <a:r>
                  <a:rPr lang="es-PE" sz="900" b="0" i="0" dirty="0" err="1">
                    <a:solidFill>
                      <a:schemeClr val="tx1"/>
                    </a:solidFill>
                    <a:effectLst/>
                    <a:latin typeface="Segoe WPC"/>
                  </a:rPr>
                  <a:t>to</a:t>
                </a:r>
                <a:r>
                  <a:rPr lang="es-PE" sz="900" b="0" i="0" dirty="0">
                    <a:solidFill>
                      <a:schemeClr val="tx1"/>
                    </a:solidFill>
                    <a:effectLst/>
                    <a:latin typeface="Segoe WPC"/>
                  </a:rPr>
                  <a:t> spot and </a:t>
                </a:r>
                <a:r>
                  <a:rPr lang="es-PE" sz="900" b="0" i="0" dirty="0" err="1">
                    <a:solidFill>
                      <a:schemeClr val="tx1"/>
                    </a:solidFill>
                    <a:effectLst/>
                    <a:latin typeface="Segoe WPC"/>
                  </a:rPr>
                  <a:t>financing</a:t>
                </a:r>
                <a:r>
                  <a:rPr lang="es-PE" sz="900" b="0" i="0" dirty="0">
                    <a:solidFill>
                      <a:schemeClr val="tx1"/>
                    </a:solidFill>
                    <a:effectLst/>
                    <a:latin typeface="Segoe WPC"/>
                  </a:rPr>
                  <a:t> </a:t>
                </a:r>
                <a:r>
                  <a:rPr lang="es-PE" sz="900" b="0" i="0" dirty="0" err="1">
                    <a:solidFill>
                      <a:schemeClr val="tx1"/>
                    </a:solidFill>
                    <a:effectLst/>
                    <a:latin typeface="Segoe WPC"/>
                  </a:rPr>
                  <a:t>cost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Arbitrage</a:t>
                </a:r>
                <a:r>
                  <a:rPr lang="es-PE" sz="900" b="0" i="0" dirty="0">
                    <a:solidFill>
                      <a:schemeClr val="tx1"/>
                    </a:solidFill>
                    <a:effectLst/>
                    <a:latin typeface="Segoe WPC"/>
                  </a:rPr>
                  <a:t> </a:t>
                </a:r>
                <a:r>
                  <a:rPr lang="es-PE" sz="900" b="0" i="0" dirty="0" err="1">
                    <a:solidFill>
                      <a:schemeClr val="tx1"/>
                    </a:solidFill>
                    <a:effectLst/>
                    <a:latin typeface="Segoe WPC"/>
                  </a:rPr>
                  <a:t>helps</a:t>
                </a:r>
                <a:r>
                  <a:rPr lang="es-PE" sz="900" b="0" i="0" dirty="0">
                    <a:solidFill>
                      <a:schemeClr val="tx1"/>
                    </a:solidFill>
                    <a:effectLst/>
                    <a:latin typeface="Segoe WPC"/>
                  </a:rPr>
                  <a:t> </a:t>
                </a:r>
                <a:r>
                  <a:rPr lang="es-PE" sz="900" b="0" i="0" dirty="0" err="1">
                    <a:solidFill>
                      <a:schemeClr val="tx1"/>
                    </a:solidFill>
                    <a:effectLst/>
                    <a:latin typeface="Segoe WPC"/>
                  </a:rPr>
                  <a:t>enforce</a:t>
                </a:r>
                <a:r>
                  <a:rPr lang="es-PE" sz="900" b="0" i="0" dirty="0">
                    <a:solidFill>
                      <a:schemeClr val="tx1"/>
                    </a:solidFill>
                    <a:effectLst/>
                    <a:latin typeface="Segoe WPC"/>
                  </a:rPr>
                  <a:t> </a:t>
                </a:r>
                <a:r>
                  <a:rPr lang="es-PE" sz="900" b="0" i="0" dirty="0" err="1">
                    <a:solidFill>
                      <a:schemeClr val="tx1"/>
                    </a:solidFill>
                    <a:effectLst/>
                    <a:latin typeface="Segoe WPC"/>
                  </a:rPr>
                  <a:t>pricing</a:t>
                </a:r>
                <a:r>
                  <a:rPr lang="es-PE" sz="900" b="0" i="0" dirty="0">
                    <a:solidFill>
                      <a:schemeClr val="tx1"/>
                    </a:solidFill>
                    <a:effectLst/>
                    <a:latin typeface="Segoe WPC"/>
                  </a:rPr>
                  <a:t> </a:t>
                </a:r>
                <a:r>
                  <a:rPr lang="es-PE" sz="900" b="0" i="0" dirty="0" err="1">
                    <a:solidFill>
                      <a:schemeClr val="tx1"/>
                    </a:solidFill>
                    <a:effectLst/>
                    <a:latin typeface="Segoe WPC"/>
                  </a:rPr>
                  <a:t>consistency</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derivatives can lead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catastrophic</a:t>
                </a:r>
                <a:r>
                  <a:rPr lang="es-PE" sz="900" b="0" i="0" dirty="0">
                    <a:solidFill>
                      <a:schemeClr val="tx1"/>
                    </a:solidFill>
                    <a:effectLst/>
                    <a:latin typeface="Segoe WPC"/>
                  </a:rPr>
                  <a:t> </a:t>
                </a:r>
                <a:r>
                  <a:rPr lang="es-PE" sz="900" b="0" i="0" dirty="0" err="1">
                    <a:solidFill>
                      <a:schemeClr val="tx1"/>
                    </a:solidFill>
                    <a:effectLst/>
                    <a:latin typeface="Segoe WPC"/>
                  </a:rPr>
                  <a:t>losses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traders</a:t>
                </a:r>
                <a:r>
                  <a:rPr lang="es-PE" sz="900" b="0" i="0" dirty="0">
                    <a:solidFill>
                      <a:schemeClr val="tx1"/>
                    </a:solidFill>
                    <a:effectLst/>
                    <a:latin typeface="Segoe WPC"/>
                  </a:rPr>
                  <a:t> </a:t>
                </a:r>
                <a:r>
                  <a:rPr lang="es-PE" sz="900" b="0" i="0" dirty="0" err="1">
                    <a:solidFill>
                      <a:schemeClr val="tx1"/>
                    </a:solidFill>
                    <a:effectLst/>
                    <a:latin typeface="Segoe WPC"/>
                  </a:rPr>
                  <a:t>exceed</a:t>
                </a:r>
                <a:r>
                  <a:rPr lang="es-PE" sz="900" b="0" i="0" dirty="0">
                    <a:solidFill>
                      <a:schemeClr val="tx1"/>
                    </a:solidFill>
                    <a:effectLst/>
                    <a:latin typeface="Segoe WPC"/>
                  </a:rPr>
                  <a:t> mandates, </a:t>
                </a:r>
                <a:r>
                  <a:rPr lang="es-PE" sz="900" b="0" i="0" dirty="0" err="1">
                    <a:solidFill>
                      <a:schemeClr val="tx1"/>
                    </a:solidFill>
                    <a:effectLst/>
                    <a:latin typeface="Segoe WPC"/>
                  </a:rPr>
                  <a:t>hide</a:t>
                </a:r>
                <a:r>
                  <a:rPr lang="es-PE" sz="900" b="0" i="0" dirty="0">
                    <a:solidFill>
                      <a:schemeClr val="tx1"/>
                    </a:solidFill>
                    <a:effectLst/>
                    <a:latin typeface="Segoe WPC"/>
                  </a:rPr>
                  <a:t> positions,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double</a:t>
                </a:r>
                <a:r>
                  <a:rPr lang="es-PE" sz="900" b="0" i="0" dirty="0">
                    <a:solidFill>
                      <a:schemeClr val="tx1"/>
                    </a:solidFill>
                    <a:effectLst/>
                    <a:latin typeface="Segoe WPC"/>
                  </a:rPr>
                  <a:t> </a:t>
                </a:r>
                <a:r>
                  <a:rPr lang="es-PE" sz="900" b="0" i="0" dirty="0" err="1">
                    <a:solidFill>
                      <a:schemeClr val="tx1"/>
                    </a:solidFill>
                    <a:effectLst/>
                    <a:latin typeface="Segoe WPC"/>
                  </a:rPr>
                  <a:t>down</a:t>
                </a:r>
                <a:r>
                  <a:rPr lang="es-PE" sz="900" b="0" i="0" dirty="0">
                    <a:solidFill>
                      <a:schemeClr val="tx1"/>
                    </a:solidFill>
                    <a:effectLst/>
                    <a:latin typeface="Segoe WPC"/>
                  </a:rPr>
                  <a:t> after </a:t>
                </a:r>
                <a:r>
                  <a:rPr lang="es-PE" sz="900" b="0" i="0" dirty="0" err="1">
                    <a:solidFill>
                      <a:schemeClr val="tx1"/>
                    </a:solidFill>
                    <a:effectLst/>
                    <a:latin typeface="Segoe WPC"/>
                  </a:rPr>
                  <a:t>losses</a:t>
                </a:r>
                <a:r>
                  <a:rPr lang="es-PE" sz="900" b="0" i="0" dirty="0">
                    <a:solidFill>
                      <a:schemeClr val="tx1"/>
                    </a:solidFill>
                    <a:effectLst/>
                    <a:latin typeface="Segoe WPC"/>
                  </a:rPr>
                  <a:t>. </a:t>
                </a:r>
                <a:r>
                  <a:rPr lang="es-PE" sz="900" b="0" i="0" dirty="0" err="1">
                    <a:solidFill>
                      <a:schemeClr val="tx1"/>
                    </a:solidFill>
                    <a:effectLst/>
                    <a:latin typeface="Segoe WPC"/>
                  </a:rPr>
                  <a:t>Famous</a:t>
                </a:r>
                <a:r>
                  <a:rPr lang="es-PE" sz="900" b="0" i="0" dirty="0">
                    <a:solidFill>
                      <a:schemeClr val="tx1"/>
                    </a:solidFill>
                    <a:effectLst/>
                    <a:latin typeface="Segoe WPC"/>
                  </a:rPr>
                  <a:t> cases </a:t>
                </a:r>
                <a:r>
                  <a:rPr lang="es-PE" sz="900" b="0" i="0" dirty="0" err="1">
                    <a:solidFill>
                      <a:schemeClr val="tx1"/>
                    </a:solidFill>
                    <a:effectLst/>
                    <a:latin typeface="Segoe WPC"/>
                  </a:rPr>
                  <a:t>include</a:t>
                </a:r>
                <a:r>
                  <a:rPr lang="es-PE" sz="900" b="0" i="0" dirty="0">
                    <a:solidFill>
                      <a:schemeClr val="tx1"/>
                    </a:solidFill>
                    <a:effectLst/>
                    <a:latin typeface="Segoe WPC"/>
                  </a:rPr>
                  <a:t> </a:t>
                </a:r>
                <a:r>
                  <a:rPr lang="es-PE" sz="900" b="0" i="0" dirty="0" err="1">
                    <a:solidFill>
                      <a:schemeClr val="tx1"/>
                    </a:solidFill>
                    <a:effectLst/>
                    <a:latin typeface="Segoe WPC"/>
                  </a:rPr>
                  <a:t>Barings</a:t>
                </a:r>
                <a:r>
                  <a:rPr lang="es-PE" sz="900" b="0" i="0" dirty="0">
                    <a:solidFill>
                      <a:schemeClr val="tx1"/>
                    </a:solidFill>
                    <a:effectLst/>
                    <a:latin typeface="Segoe WPC"/>
                  </a:rPr>
                  <a:t>, </a:t>
                </a:r>
                <a:r>
                  <a:rPr lang="es-PE" sz="900" b="0" i="0" dirty="0" err="1">
                    <a:solidFill>
                      <a:schemeClr val="tx1"/>
                    </a:solidFill>
                    <a:effectLst/>
                    <a:latin typeface="Segoe WPC"/>
                  </a:rPr>
                  <a:t>Societe</a:t>
                </a:r>
                <a:r>
                  <a:rPr lang="es-PE" sz="900" b="0" i="0" dirty="0">
                    <a:solidFill>
                      <a:schemeClr val="tx1"/>
                    </a:solidFill>
                    <a:effectLst/>
                    <a:latin typeface="Segoe WPC"/>
                  </a:rPr>
                  <a:t> Generale, UBS, and </a:t>
                </a:r>
                <a:r>
                  <a:rPr lang="es-PE" sz="900" b="0" i="0" dirty="0" err="1">
                    <a:solidFill>
                      <a:schemeClr val="tx1"/>
                    </a:solidFill>
                    <a:effectLst/>
                    <a:latin typeface="Segoe WPC"/>
                  </a:rPr>
                  <a:t>Allied</a:t>
                </a:r>
                <a:r>
                  <a:rPr lang="es-PE" sz="900" b="0" i="0" dirty="0">
                    <a:solidFill>
                      <a:schemeClr val="tx1"/>
                    </a:solidFill>
                    <a:effectLst/>
                    <a:latin typeface="Segoe WPC"/>
                  </a:rPr>
                  <a:t> </a:t>
                </a:r>
                <a:r>
                  <a:rPr lang="es-PE" sz="900" b="0" i="0" dirty="0" err="1">
                    <a:solidFill>
                      <a:schemeClr val="tx1"/>
                    </a:solidFill>
                    <a:effectLst/>
                    <a:latin typeface="Segoe WPC"/>
                  </a:rPr>
                  <a:t>Irish</a:t>
                </a:r>
                <a:r>
                  <a:rPr lang="es-PE" sz="900" b="0" i="0" dirty="0">
                    <a:solidFill>
                      <a:schemeClr val="tx1"/>
                    </a:solidFill>
                    <a:effectLst/>
                    <a:latin typeface="Segoe WPC"/>
                  </a:rPr>
                  <a:t> Bank.</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Derivatives </a:t>
                </a:r>
                <a:r>
                  <a:rPr lang="es-PE" sz="900" b="0" i="0" dirty="0" err="1">
                    <a:solidFill>
                      <a:schemeClr val="tx1"/>
                    </a:solidFill>
                    <a:effectLst/>
                    <a:latin typeface="Segoe WPC"/>
                  </a:rPr>
                  <a:t>themselves</a:t>
                </a:r>
                <a:r>
                  <a:rPr lang="es-PE" sz="900" b="0" i="0" dirty="0">
                    <a:solidFill>
                      <a:schemeClr val="tx1"/>
                    </a:solidFill>
                    <a:effectLst/>
                    <a:latin typeface="Segoe WPC"/>
                  </a:rPr>
                  <a:t> are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inherently</a:t>
                </a:r>
                <a:r>
                  <a:rPr lang="es-PE" sz="900" b="0" i="0" dirty="0">
                    <a:solidFill>
                      <a:schemeClr val="tx1"/>
                    </a:solidFill>
                    <a:effectLst/>
                    <a:latin typeface="Segoe WPC"/>
                  </a:rPr>
                  <a:t> </a:t>
                </a:r>
                <a:r>
                  <a:rPr lang="es-PE" sz="900" b="0" i="0" dirty="0" err="1">
                    <a:solidFill>
                      <a:schemeClr val="tx1"/>
                    </a:solidFill>
                    <a:effectLst/>
                    <a:latin typeface="Segoe WPC"/>
                  </a:rPr>
                  <a:t>dangerous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danger</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comes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leverage</a:t>
                </a:r>
                <a:r>
                  <a:rPr lang="es-PE" sz="900" b="0" i="0" dirty="0">
                    <a:solidFill>
                      <a:schemeClr val="tx1"/>
                    </a:solidFill>
                    <a:effectLst/>
                    <a:latin typeface="Segoe WPC"/>
                  </a:rPr>
                  <a:t>, </a:t>
                </a:r>
                <a:r>
                  <a:rPr lang="es-PE" sz="900" b="0" i="0" dirty="0" err="1">
                    <a:solidFill>
                      <a:schemeClr val="tx1"/>
                    </a:solidFill>
                    <a:effectLst/>
                    <a:latin typeface="Segoe WPC"/>
                  </a:rPr>
                  <a:t>opacity</a:t>
                </a:r>
                <a:r>
                  <a:rPr lang="es-PE" sz="900" b="0" i="0" dirty="0">
                    <a:solidFill>
                      <a:schemeClr val="tx1"/>
                    </a:solidFill>
                    <a:effectLst/>
                    <a:latin typeface="Segoe WPC"/>
                  </a:rPr>
                  <a:t>, and </a:t>
                </a:r>
                <a:r>
                  <a:rPr lang="es-PE" sz="900" b="0" i="0" dirty="0" err="1">
                    <a:solidFill>
                      <a:schemeClr val="tx1"/>
                    </a:solidFill>
                    <a:effectLst/>
                    <a:latin typeface="Segoe WPC"/>
                  </a:rPr>
                  <a:t>weak</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controls</a:t>
                </a:r>
                <a:r>
                  <a:rPr lang="es-PE" sz="900" b="0" i="0" dirty="0">
                    <a:solidFill>
                      <a:schemeClr val="tx1"/>
                    </a:solidFill>
                    <a:effectLst/>
                    <a:latin typeface="Segoe WPC"/>
                  </a:rPr>
                  <a:t>.</a:t>
                </a:r>
              </a:p>
            </p:txBody>
          </p:sp>
        </mc:Choice>
        <mc:Fallback xmlns="">
          <p:sp>
            <p:nvSpPr>
              <p:cNvPr id="7" name="CuadroTexto 6">
                <a:extLst>
                  <a:ext uri="{FF2B5EF4-FFF2-40B4-BE49-F238E27FC236}">
                    <a16:creationId xmlns:a16="http://schemas.microsoft.com/office/drawing/2014/main" id="{6BF38430-EAF7-504F-9554-15B3FF335506}"/>
                  </a:ext>
                </a:extLst>
              </p:cNvPr>
              <p:cNvSpPr txBox="1">
                <a:spLocks noRot="1" noChangeAspect="1" noMove="1" noResize="1" noEditPoints="1" noAdjustHandles="1" noChangeArrowheads="1" noChangeShapeType="1" noTextEdit="1"/>
              </p:cNvSpPr>
              <p:nvPr/>
            </p:nvSpPr>
            <p:spPr>
              <a:xfrm>
                <a:off x="6070600" y="0"/>
                <a:ext cx="6121400" cy="6924973"/>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35813884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1DB6E6-21D8-CF26-E6FB-143EF407B6E1}"/>
              </a:ext>
            </a:extLst>
          </p:cNvPr>
          <p:cNvSpPr>
            <a:spLocks noGrp="1"/>
          </p:cNvSpPr>
          <p:nvPr>
            <p:ph type="title"/>
          </p:nvPr>
        </p:nvSpPr>
        <p:spPr>
          <a:xfrm>
            <a:off x="90714" y="-76697"/>
            <a:ext cx="10515600" cy="662782"/>
          </a:xfrm>
        </p:spPr>
        <p:txBody>
          <a:bodyPr>
            <a:normAutofit/>
          </a:bodyPr>
          <a:lstStyle/>
          <a:p>
            <a:r>
              <a:rPr lang="en-US" sz="2800" dirty="0"/>
              <a:t>Exchange and OTC Markets</a:t>
            </a:r>
            <a:endParaRPr lang="es-PE" sz="2800" dirty="0"/>
          </a:p>
        </p:txBody>
      </p:sp>
      <p:sp>
        <p:nvSpPr>
          <p:cNvPr id="5" name="CuadroTexto 4">
            <a:extLst>
              <a:ext uri="{FF2B5EF4-FFF2-40B4-BE49-F238E27FC236}">
                <a16:creationId xmlns:a16="http://schemas.microsoft.com/office/drawing/2014/main" id="{3D9447C7-6853-5201-E8CF-4C342396CC89}"/>
              </a:ext>
            </a:extLst>
          </p:cNvPr>
          <p:cNvSpPr txBox="1"/>
          <p:nvPr/>
        </p:nvSpPr>
        <p:spPr>
          <a:xfrm>
            <a:off x="-3629" y="387863"/>
            <a:ext cx="5910943" cy="6509474"/>
          </a:xfrm>
          <a:prstGeom prst="rect">
            <a:avLst/>
          </a:prstGeom>
          <a:noFill/>
        </p:spPr>
        <p:txBody>
          <a:bodyPr wrap="square">
            <a:spAutoFit/>
          </a:bodyPr>
          <a:lstStyle/>
          <a:p>
            <a:pPr algn="l">
              <a:spcAft>
                <a:spcPts val="1200"/>
              </a:spcAft>
              <a:buNone/>
            </a:pPr>
            <a:r>
              <a:rPr lang="en-US" sz="900" b="1" i="0" dirty="0">
                <a:effectLst/>
                <a:latin typeface="Segoe WPC"/>
              </a:rPr>
              <a:t>1. Why Exchanges Matter and How They Reduce Counterparty Risk</a:t>
            </a:r>
            <a:br>
              <a:rPr lang="en-US" sz="900" b="0" i="0" dirty="0">
                <a:effectLst/>
                <a:latin typeface="Segoe WPC"/>
              </a:rPr>
            </a:br>
            <a:r>
              <a:rPr lang="en-US" sz="900" b="1" i="0" dirty="0">
                <a:effectLst/>
                <a:latin typeface="Segoe WPC"/>
              </a:rPr>
              <a:t>Financial Object:</a:t>
            </a:r>
            <a:r>
              <a:rPr lang="en-US" sz="900" b="0" i="0" dirty="0">
                <a:effectLst/>
                <a:latin typeface="Segoe WPC"/>
              </a:rPr>
              <a:t> Organized markets where standardized derivatives trade and where a central counterparty stands between traders.</a:t>
            </a:r>
            <a:br>
              <a:rPr lang="en-US" sz="900" b="0" i="0" dirty="0">
                <a:effectLst/>
                <a:latin typeface="Segoe WPC"/>
              </a:rPr>
            </a:br>
            <a:r>
              <a:rPr lang="en-US" sz="900" b="1" i="0" dirty="0">
                <a:effectLst/>
                <a:latin typeface="Segoe WPC"/>
              </a:rPr>
              <a:t>Plain Intuition:</a:t>
            </a:r>
            <a:r>
              <a:rPr lang="en-US" sz="900" b="0" i="0" dirty="0">
                <a:effectLst/>
                <a:latin typeface="Segoe WPC"/>
              </a:rPr>
              <a:t> Early exchanges mainly provided a meeting place and standard contracts, but modern exchanges reduce counterparty risk by inserting a CCP between buyers and sellers.</a:t>
            </a:r>
            <a:br>
              <a:rPr lang="en-US" sz="900" b="0" i="0" dirty="0">
                <a:effectLst/>
                <a:latin typeface="Segoe WPC"/>
              </a:rPr>
            </a:br>
            <a:r>
              <a:rPr lang="en-US" sz="900" b="1" i="0" dirty="0">
                <a:effectLst/>
                <a:latin typeface="Segoe WPC"/>
              </a:rPr>
              <a:t>Visual Intuition:</a:t>
            </a:r>
            <a:r>
              <a:rPr lang="en-US" sz="900" b="0" i="0" dirty="0">
                <a:effectLst/>
                <a:latin typeface="Segoe WPC"/>
              </a:rPr>
              <a:t> Instead of Trader A facing Trader B directly, both face the CCP.</a:t>
            </a:r>
            <a:br>
              <a:rPr lang="en-US" sz="900" b="0" i="0" dirty="0">
                <a:effectLst/>
                <a:latin typeface="Segoe WPC"/>
              </a:rPr>
            </a:br>
            <a:r>
              <a:rPr lang="en-US" sz="900" b="1" i="0" dirty="0">
                <a:effectLst/>
                <a:latin typeface="Segoe WPC"/>
              </a:rPr>
              <a:t>Key Formula:</a:t>
            </a:r>
            <a:r>
              <a:rPr lang="en-US" sz="900" b="0" i="0" dirty="0">
                <a:effectLst/>
                <a:latin typeface="Segoe WPC"/>
              </a:rPr>
              <a:t> No single pricing formula; the key mechanism is novation, where the CCP becomes the buyer to every seller and the seller to every buyer.</a:t>
            </a:r>
            <a:br>
              <a:rPr lang="en-US" sz="900" b="0" i="0" dirty="0">
                <a:effectLst/>
                <a:latin typeface="Segoe WPC"/>
              </a:rPr>
            </a:br>
            <a:r>
              <a:rPr lang="en-US" sz="900" b="1" i="0" dirty="0">
                <a:effectLst/>
                <a:latin typeface="Segoe WPC"/>
              </a:rPr>
              <a:t>Interpretation:</a:t>
            </a:r>
            <a:r>
              <a:rPr lang="en-US" sz="900" b="0" i="0" dirty="0">
                <a:effectLst/>
                <a:latin typeface="Segoe WPC"/>
              </a:rPr>
              <a:t> This means members do not need to worry about the creditworthiness of whoever they originally traded with, and positions are easier to close out because traders can offset with any other member.</a:t>
            </a:r>
            <a:br>
              <a:rPr lang="en-US" sz="900" b="0" i="0" dirty="0">
                <a:effectLst/>
                <a:latin typeface="Segoe WPC"/>
              </a:rPr>
            </a:br>
            <a:r>
              <a:rPr lang="en-US" sz="900" b="1" i="0" dirty="0">
                <a:effectLst/>
                <a:latin typeface="Segoe WPC"/>
              </a:rPr>
              <a:t>Exam Trap:</a:t>
            </a:r>
            <a:r>
              <a:rPr lang="en-US" sz="900" b="0" i="0" dirty="0">
                <a:effectLst/>
                <a:latin typeface="Segoe WPC"/>
              </a:rPr>
              <a:t> The CCP does not eliminate risk; it centralizes and manages it.</a:t>
            </a:r>
          </a:p>
          <a:p>
            <a:pPr algn="l">
              <a:spcAft>
                <a:spcPts val="1200"/>
              </a:spcAft>
              <a:buNone/>
            </a:pPr>
            <a:r>
              <a:rPr lang="en-US" sz="900" b="1" i="0" dirty="0">
                <a:effectLst/>
                <a:latin typeface="Segoe WPC"/>
              </a:rPr>
              <a:t>2. Netting</a:t>
            </a:r>
            <a:br>
              <a:rPr lang="en-US" sz="900" b="0" i="0" dirty="0">
                <a:effectLst/>
                <a:latin typeface="Segoe WPC"/>
              </a:rPr>
            </a:br>
            <a:r>
              <a:rPr lang="en-US" sz="900" b="1" i="0" dirty="0">
                <a:effectLst/>
                <a:latin typeface="Segoe WPC"/>
              </a:rPr>
              <a:t>Financial Object:</a:t>
            </a:r>
            <a:r>
              <a:rPr lang="en-US" sz="900" b="0" i="0" dirty="0">
                <a:effectLst/>
                <a:latin typeface="Segoe WPC"/>
              </a:rPr>
              <a:t> Offsetting long and short positions to reduce exposures.</a:t>
            </a:r>
            <a:br>
              <a:rPr lang="en-US" sz="900" b="0" i="0" dirty="0">
                <a:effectLst/>
                <a:latin typeface="Segoe WPC"/>
              </a:rPr>
            </a:br>
            <a:r>
              <a:rPr lang="en-US" sz="900" b="1" i="0" dirty="0">
                <a:effectLst/>
                <a:latin typeface="Segoe WPC"/>
              </a:rPr>
              <a:t>Plain Intuition:</a:t>
            </a:r>
            <a:r>
              <a:rPr lang="en-US" sz="900" b="0" i="0" dirty="0">
                <a:effectLst/>
                <a:latin typeface="Segoe WPC"/>
              </a:rPr>
              <a:t> If positions move in opposite directions, they can cancel partially or fully, so fewer payments and less credit exposure remain.</a:t>
            </a:r>
            <a:br>
              <a:rPr lang="en-US" sz="900" b="0" i="0" dirty="0">
                <a:effectLst/>
                <a:latin typeface="Segoe WPC"/>
              </a:rPr>
            </a:br>
            <a:r>
              <a:rPr lang="en-US" sz="900" b="1" i="0" dirty="0">
                <a:effectLst/>
                <a:latin typeface="Segoe WPC"/>
              </a:rPr>
              <a:t>Visual Intuition:</a:t>
            </a:r>
            <a:r>
              <a:rPr lang="en-US" sz="900" b="0" i="0" dirty="0">
                <a:effectLst/>
                <a:latin typeface="Segoe WPC"/>
              </a:rPr>
              <a:t> Multiple contracts collapse into one smaller net position.</a:t>
            </a:r>
            <a:br>
              <a:rPr lang="en-US" sz="900" b="0" i="0" dirty="0">
                <a:effectLst/>
                <a:latin typeface="Segoe WPC"/>
              </a:rPr>
            </a:br>
            <a:r>
              <a:rPr lang="en-US" sz="900" b="1" i="0" dirty="0">
                <a:effectLst/>
                <a:latin typeface="Segoe WPC"/>
              </a:rPr>
              <a:t>Key Formula:</a:t>
            </a:r>
            <a:r>
              <a:rPr lang="en-US" sz="900" b="0" i="0" dirty="0">
                <a:effectLst/>
                <a:latin typeface="Segoe WPC"/>
              </a:rPr>
              <a:t> Net exposure = long positions minus short positions in the same contract or across covered contracts.</a:t>
            </a:r>
            <a:br>
              <a:rPr lang="en-US" sz="900" b="0" i="0" dirty="0">
                <a:effectLst/>
                <a:latin typeface="Segoe WPC"/>
              </a:rPr>
            </a:br>
            <a:r>
              <a:rPr lang="en-US" sz="900" b="1" i="0" dirty="0">
                <a:effectLst/>
                <a:latin typeface="Segoe WPC"/>
              </a:rPr>
              <a:t>Interpretation:</a:t>
            </a:r>
            <a:r>
              <a:rPr lang="en-US" sz="900" b="0" i="0" dirty="0">
                <a:effectLst/>
                <a:latin typeface="Segoe WPC"/>
              </a:rPr>
              <a:t> Netting reduces the amount of corn, cash, or other assets that would otherwise have to be exchanged and lowers counterparty exposure. In OTC markets, master agreements make all covered trades between two parties behave like one net transaction after default.</a:t>
            </a:r>
            <a:br>
              <a:rPr lang="en-US" sz="900" b="0" i="0" dirty="0">
                <a:effectLst/>
                <a:latin typeface="Segoe WPC"/>
              </a:rPr>
            </a:br>
            <a:r>
              <a:rPr lang="en-US" sz="900" b="1" i="0" dirty="0">
                <a:effectLst/>
                <a:latin typeface="Segoe WPC"/>
              </a:rPr>
              <a:t>Exam Trap:</a:t>
            </a:r>
            <a:r>
              <a:rPr lang="en-US" sz="900" b="0" i="0" dirty="0">
                <a:effectLst/>
                <a:latin typeface="Segoe WPC"/>
              </a:rPr>
              <a:t> Netting only works where contracts are sufficiently compatible and the legal agreement is enforceable.</a:t>
            </a:r>
          </a:p>
          <a:p>
            <a:pPr algn="l">
              <a:spcAft>
                <a:spcPts val="1200"/>
              </a:spcAft>
              <a:buNone/>
            </a:pPr>
            <a:r>
              <a:rPr lang="en-US" sz="900" b="1" i="0" dirty="0">
                <a:effectLst/>
                <a:latin typeface="Segoe WPC"/>
              </a:rPr>
              <a:t>3. Variation Margin and Daily Settlement</a:t>
            </a:r>
            <a:br>
              <a:rPr lang="en-US" sz="900" b="0" i="0" dirty="0">
                <a:effectLst/>
                <a:latin typeface="Segoe WPC"/>
              </a:rPr>
            </a:br>
            <a:r>
              <a:rPr lang="en-US" sz="900" b="1" i="0" dirty="0">
                <a:effectLst/>
                <a:latin typeface="Segoe WPC"/>
              </a:rPr>
              <a:t>Financial Object:</a:t>
            </a:r>
            <a:r>
              <a:rPr lang="en-US" sz="900" b="0" i="0" dirty="0">
                <a:effectLst/>
                <a:latin typeface="Segoe WPC"/>
              </a:rPr>
              <a:t> Daily transfers that reflect gains and losses on exchange-traded positions.</a:t>
            </a:r>
            <a:br>
              <a:rPr lang="en-US" sz="900" b="0" i="0" dirty="0">
                <a:effectLst/>
                <a:latin typeface="Segoe WPC"/>
              </a:rPr>
            </a:br>
            <a:r>
              <a:rPr lang="en-US" sz="900" b="1" i="0" dirty="0">
                <a:effectLst/>
                <a:latin typeface="Segoe WPC"/>
              </a:rPr>
              <a:t>Plain Intuition:</a:t>
            </a:r>
            <a:r>
              <a:rPr lang="en-US" sz="900" b="0" i="0" dirty="0">
                <a:effectLst/>
                <a:latin typeface="Segoe WPC"/>
              </a:rPr>
              <a:t> Futures are settled every day, not only at maturity. Losers pay the CCP and winners receive funds.</a:t>
            </a:r>
            <a:br>
              <a:rPr lang="en-US" sz="900" b="0" i="0" dirty="0">
                <a:effectLst/>
                <a:latin typeface="Segoe WPC"/>
              </a:rPr>
            </a:br>
            <a:r>
              <a:rPr lang="en-US" sz="900" b="1" i="0" dirty="0">
                <a:effectLst/>
                <a:latin typeface="Segoe WPC"/>
              </a:rPr>
              <a:t>Visual Intuition:</a:t>
            </a:r>
            <a:r>
              <a:rPr lang="en-US" sz="900" b="0" i="0" dirty="0">
                <a:effectLst/>
                <a:latin typeface="Segoe WPC"/>
              </a:rPr>
              <a:t> Each trading day resets the economic value of the position.</a:t>
            </a:r>
            <a:br>
              <a:rPr lang="en-US" sz="900" b="0" i="0" dirty="0">
                <a:effectLst/>
                <a:latin typeface="Segoe WPC"/>
              </a:rPr>
            </a:br>
            <a:r>
              <a:rPr lang="en-US" sz="900" b="1" i="0" dirty="0">
                <a:effectLst/>
                <a:latin typeface="Segoe WPC"/>
              </a:rPr>
              <a:t>Key Formula:</a:t>
            </a:r>
            <a:r>
              <a:rPr lang="en-US" sz="900" b="0" i="0" dirty="0">
                <a:effectLst/>
                <a:latin typeface="Segoe WPC"/>
              </a:rPr>
              <a:t> Variation margin = contract size × daily futures price change × number of contracts.</a:t>
            </a:r>
            <a:br>
              <a:rPr lang="en-US" sz="900" b="0" i="0" dirty="0">
                <a:effectLst/>
                <a:latin typeface="Segoe WPC"/>
              </a:rPr>
            </a:br>
            <a:r>
              <a:rPr lang="en-US" sz="900" b="1" i="0" dirty="0">
                <a:effectLst/>
                <a:latin typeface="Segoe WPC"/>
              </a:rPr>
              <a:t>Interpretation:</a:t>
            </a:r>
            <a:r>
              <a:rPr lang="en-US" sz="900" b="0" i="0" dirty="0">
                <a:effectLst/>
                <a:latin typeface="Segoe WPC"/>
              </a:rPr>
              <a:t> If futures prices rise, short positions pay and long positions receive; if prices fall, the reverse occurs. This process greatly reduces credit exposure because losses are realized immediately rather than accumulating to maturity.</a:t>
            </a:r>
            <a:br>
              <a:rPr lang="en-US" sz="900" b="0" i="0" dirty="0">
                <a:effectLst/>
                <a:latin typeface="Segoe WPC"/>
              </a:rPr>
            </a:br>
            <a:r>
              <a:rPr lang="en-US" sz="900" b="1" i="0" dirty="0">
                <a:effectLst/>
                <a:latin typeface="Segoe WPC"/>
              </a:rPr>
              <a:t>Exam Trap:</a:t>
            </a:r>
            <a:r>
              <a:rPr lang="en-US" sz="900" b="0" i="0" dirty="0">
                <a:effectLst/>
                <a:latin typeface="Segoe WPC"/>
              </a:rPr>
              <a:t> Futures are not only settled at the end; daily settlement is a core feature.</a:t>
            </a:r>
          </a:p>
          <a:p>
            <a:pPr algn="l">
              <a:spcAft>
                <a:spcPts val="1200"/>
              </a:spcAft>
              <a:buNone/>
            </a:pPr>
            <a:r>
              <a:rPr lang="en-US" sz="900" b="1" i="0" dirty="0">
                <a:effectLst/>
                <a:latin typeface="Segoe WPC"/>
              </a:rPr>
              <a:t>4. Initial Margin and Default Fund Contributions</a:t>
            </a:r>
            <a:br>
              <a:rPr lang="en-US" sz="900" b="0" i="0" dirty="0">
                <a:effectLst/>
                <a:latin typeface="Segoe WPC"/>
              </a:rPr>
            </a:br>
            <a:r>
              <a:rPr lang="en-US" sz="900" b="1" i="0" dirty="0">
                <a:effectLst/>
                <a:latin typeface="Segoe WPC"/>
              </a:rPr>
              <a:t>Financial Object:</a:t>
            </a:r>
            <a:r>
              <a:rPr lang="en-US" sz="900" b="0" i="0" dirty="0">
                <a:effectLst/>
                <a:latin typeface="Segoe WPC"/>
              </a:rPr>
              <a:t> Financial buffers protecting the CCP against member default.</a:t>
            </a:r>
            <a:br>
              <a:rPr lang="en-US" sz="900" b="0" i="0" dirty="0">
                <a:effectLst/>
                <a:latin typeface="Segoe WPC"/>
              </a:rPr>
            </a:br>
            <a:r>
              <a:rPr lang="en-US" sz="900" b="1" i="0" dirty="0">
                <a:effectLst/>
                <a:latin typeface="Segoe WPC"/>
              </a:rPr>
              <a:t>Plain Intuition:</a:t>
            </a:r>
            <a:r>
              <a:rPr lang="en-US" sz="900" b="0" i="0" dirty="0">
                <a:effectLst/>
                <a:latin typeface="Segoe WPC"/>
              </a:rPr>
              <a:t> Initial margin covers possible losses between the last settlement and the time a defaulting position can be closed. Default fund contributions are an additional shared safety net.</a:t>
            </a:r>
            <a:br>
              <a:rPr lang="en-US" sz="900" b="0" i="0" dirty="0">
                <a:effectLst/>
                <a:latin typeface="Segoe WPC"/>
              </a:rPr>
            </a:br>
            <a:r>
              <a:rPr lang="en-US" sz="900" b="1" i="0" dirty="0">
                <a:effectLst/>
                <a:latin typeface="Segoe WPC"/>
              </a:rPr>
              <a:t>Visual Intuition:</a:t>
            </a:r>
            <a:r>
              <a:rPr lang="en-US" sz="900" b="0" i="0" dirty="0">
                <a:effectLst/>
                <a:latin typeface="Segoe WPC"/>
              </a:rPr>
              <a:t> Initial margin is the first cushion, default fund the next cushion, and CCP equity the final buffer.</a:t>
            </a:r>
            <a:br>
              <a:rPr lang="en-US" sz="900" b="0" i="0" dirty="0">
                <a:effectLst/>
                <a:latin typeface="Segoe WPC"/>
              </a:rPr>
            </a:br>
            <a:r>
              <a:rPr lang="en-US" sz="900" b="1" i="0" dirty="0">
                <a:effectLst/>
                <a:latin typeface="Segoe WPC"/>
              </a:rPr>
              <a:t>Key Formula:</a:t>
            </a:r>
            <a:r>
              <a:rPr lang="en-US" sz="900" b="0" i="0" dirty="0">
                <a:effectLst/>
                <a:latin typeface="Segoe WPC"/>
              </a:rPr>
              <a:t> Initial margin is set by the exchange based largely on price volatility; total protection = defaulter’s variation margin shortfall + initial margin + default fund, then other layers.</a:t>
            </a:r>
            <a:br>
              <a:rPr lang="en-US" sz="900" b="0" i="0" dirty="0">
                <a:effectLst/>
                <a:latin typeface="Segoe WPC"/>
              </a:rPr>
            </a:br>
            <a:r>
              <a:rPr lang="en-US" sz="900" b="1" i="0" dirty="0">
                <a:effectLst/>
                <a:latin typeface="Segoe WPC"/>
              </a:rPr>
              <a:t>Interpretation:</a:t>
            </a:r>
            <a:r>
              <a:rPr lang="en-US" sz="900" b="0" i="0" dirty="0">
                <a:effectLst/>
                <a:latin typeface="Segoe WPC"/>
              </a:rPr>
              <a:t> Initial margin can be posted in cash or eligible securities subject to haircuts. Default fund contributions cover losses that exceed the defaulter’s own margin.</a:t>
            </a:r>
            <a:br>
              <a:rPr lang="en-US" sz="900" b="0" i="0" dirty="0">
                <a:effectLst/>
                <a:latin typeface="Segoe WPC"/>
              </a:rPr>
            </a:br>
            <a:r>
              <a:rPr lang="en-US" sz="900" b="1" i="0" dirty="0">
                <a:effectLst/>
                <a:latin typeface="Segoe WPC"/>
              </a:rPr>
              <a:t>Exam Trap:</a:t>
            </a:r>
            <a:r>
              <a:rPr lang="en-US" sz="900" b="0" i="0" dirty="0">
                <a:effectLst/>
                <a:latin typeface="Segoe WPC"/>
              </a:rPr>
              <a:t> Initial margin is not the same as variation margin; one is a buffer against future losses, the other settles realized daily losses.</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281758F6-9269-EA07-DBB6-0595D66838B6}"/>
                  </a:ext>
                </a:extLst>
              </p:cNvPr>
              <p:cNvSpPr txBox="1"/>
              <p:nvPr/>
            </p:nvSpPr>
            <p:spPr>
              <a:xfrm>
                <a:off x="5907314" y="41615"/>
                <a:ext cx="6193972" cy="7063472"/>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5. </a:t>
                </a:r>
                <a:r>
                  <a:rPr lang="es-PE" sz="900" b="1" i="0" dirty="0" err="1">
                    <a:solidFill>
                      <a:schemeClr val="tx1"/>
                    </a:solidFill>
                    <a:effectLst/>
                    <a:latin typeface="Segoe WPC"/>
                  </a:rPr>
                  <a:t>Margin</a:t>
                </a:r>
                <a:r>
                  <a:rPr lang="es-PE" sz="900" b="1" i="0" dirty="0">
                    <a:solidFill>
                      <a:schemeClr val="tx1"/>
                    </a:solidFill>
                    <a:effectLst/>
                    <a:latin typeface="Segoe WPC"/>
                  </a:rPr>
                  <a:t> </a:t>
                </a:r>
                <a:r>
                  <a:rPr lang="es-PE" sz="900" b="1" i="0" dirty="0" err="1">
                    <a:solidFill>
                      <a:schemeClr val="tx1"/>
                    </a:solidFill>
                    <a:effectLst/>
                    <a:latin typeface="Segoe WPC"/>
                  </a:rPr>
                  <a:t>Accounts</a:t>
                </a:r>
                <a:r>
                  <a:rPr lang="es-PE" sz="900" b="1" i="0" dirty="0">
                    <a:solidFill>
                      <a:schemeClr val="tx1"/>
                    </a:solidFill>
                    <a:effectLst/>
                    <a:latin typeface="Segoe WPC"/>
                  </a:rPr>
                  <a:t> in </a:t>
                </a:r>
                <a:r>
                  <a:rPr lang="es-PE" sz="900" b="1" i="0" dirty="0" err="1">
                    <a:solidFill>
                      <a:schemeClr val="tx1"/>
                    </a:solidFill>
                    <a:effectLst/>
                    <a:latin typeface="Segoe WPC"/>
                  </a:rPr>
                  <a:t>Other</a:t>
                </a:r>
                <a:r>
                  <a:rPr lang="es-PE" sz="900" b="1" i="0" dirty="0">
                    <a:solidFill>
                      <a:schemeClr val="tx1"/>
                    </a:solidFill>
                    <a:effectLst/>
                    <a:latin typeface="Segoe WPC"/>
                  </a:rPr>
                  <a:t> </a:t>
                </a:r>
                <a:r>
                  <a:rPr lang="es-PE" sz="900" b="1" i="0" dirty="0" err="1">
                    <a:solidFill>
                      <a:schemeClr val="tx1"/>
                    </a:solidFill>
                    <a:effectLst/>
                    <a:latin typeface="Segoe WPC"/>
                  </a:rPr>
                  <a:t>Contexts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Margining</a:t>
                </a:r>
                <a:r>
                  <a:rPr lang="es-PE" sz="900" b="0" i="0" dirty="0">
                    <a:solidFill>
                      <a:schemeClr val="tx1"/>
                    </a:solidFill>
                    <a:effectLst/>
                    <a:latin typeface="Segoe WPC"/>
                  </a:rPr>
                  <a:t> </a:t>
                </a:r>
                <a:r>
                  <a:rPr lang="es-PE" sz="900" b="0" i="0" dirty="0" err="1">
                    <a:solidFill>
                      <a:schemeClr val="tx1"/>
                    </a:solidFill>
                    <a:effectLst/>
                    <a:latin typeface="Segoe WPC"/>
                  </a:rPr>
                  <a:t>outside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core</a:t>
                </a:r>
                <a:r>
                  <a:rPr lang="es-PE" sz="900" b="0" i="0" dirty="0">
                    <a:solidFill>
                      <a:schemeClr val="tx1"/>
                    </a:solidFill>
                    <a:effectLst/>
                    <a:latin typeface="Segoe WPC"/>
                  </a:rPr>
                  <a:t> CCP-</a:t>
                </a:r>
                <a:r>
                  <a:rPr lang="es-PE" sz="900" b="0" i="0" dirty="0" err="1">
                    <a:solidFill>
                      <a:schemeClr val="tx1"/>
                    </a:solidFill>
                    <a:effectLst/>
                    <a:latin typeface="Segoe WPC"/>
                  </a:rPr>
                  <a:t>member</a:t>
                </a:r>
                <a:r>
                  <a:rPr lang="es-PE" sz="900" b="0" i="0" dirty="0">
                    <a:solidFill>
                      <a:schemeClr val="tx1"/>
                    </a:solidFill>
                    <a:effectLst/>
                    <a:latin typeface="Segoe WPC"/>
                  </a:rPr>
                  <a:t> </a:t>
                </a:r>
                <a:r>
                  <a:rPr lang="es-PE" sz="900" b="0" i="0" dirty="0" err="1">
                    <a:solidFill>
                      <a:schemeClr val="tx1"/>
                    </a:solidFill>
                    <a:effectLst/>
                    <a:latin typeface="Segoe WPC"/>
                  </a:rPr>
                  <a:t>relationship</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Margin</a:t>
                </a:r>
                <a:r>
                  <a:rPr lang="es-PE" sz="900" b="0" i="0" dirty="0">
                    <a:solidFill>
                      <a:schemeClr val="tx1"/>
                    </a:solidFill>
                    <a:effectLst/>
                    <a:latin typeface="Segoe WPC"/>
                  </a:rPr>
                  <a:t> </a:t>
                </a:r>
                <a:r>
                  <a:rPr lang="es-PE" sz="900" b="0" i="0" dirty="0" err="1">
                    <a:solidFill>
                      <a:schemeClr val="tx1"/>
                    </a:solidFill>
                    <a:effectLst/>
                    <a:latin typeface="Segoe WPC"/>
                  </a:rPr>
                  <a:t>accounts</a:t>
                </a:r>
                <a:r>
                  <a:rPr lang="es-PE" sz="900" b="0" i="0" dirty="0">
                    <a:solidFill>
                      <a:schemeClr val="tx1"/>
                    </a:solidFill>
                    <a:effectLst/>
                    <a:latin typeface="Segoe WPC"/>
                  </a:rPr>
                  <a:t> are </a:t>
                </a:r>
                <a:r>
                  <a:rPr lang="es-PE" sz="900" b="0" i="0" dirty="0" err="1">
                    <a:solidFill>
                      <a:schemeClr val="tx1"/>
                    </a:solidFill>
                    <a:effectLst/>
                    <a:latin typeface="Segoe WPC"/>
                  </a:rPr>
                  <a:t>also</a:t>
                </a:r>
                <a:r>
                  <a:rPr lang="es-PE" sz="900" b="0" i="0" dirty="0">
                    <a:solidFill>
                      <a:schemeClr val="tx1"/>
                    </a:solidFill>
                    <a:effectLst/>
                    <a:latin typeface="Segoe WPC"/>
                  </a:rPr>
                  <a:t> </a:t>
                </a:r>
                <a:r>
                  <a:rPr lang="es-PE" sz="900" b="0" i="0" dirty="0" err="1">
                    <a:solidFill>
                      <a:schemeClr val="tx1"/>
                    </a:solidFill>
                    <a:effectLst/>
                    <a:latin typeface="Segoe WPC"/>
                  </a:rPr>
                  <a:t>used</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brokers</a:t>
                </a:r>
                <a:r>
                  <a:rPr lang="es-PE" sz="900" b="0" i="0" dirty="0">
                    <a:solidFill>
                      <a:schemeClr val="tx1"/>
                    </a:solidFill>
                    <a:effectLst/>
                    <a:latin typeface="Segoe WPC"/>
                  </a:rPr>
                  <a:t> and </a:t>
                </a:r>
                <a:r>
                  <a:rPr lang="es-PE" sz="900" b="0" i="0" dirty="0" err="1">
                    <a:solidFill>
                      <a:schemeClr val="tx1"/>
                    </a:solidFill>
                    <a:effectLst/>
                    <a:latin typeface="Segoe WPC"/>
                  </a:rPr>
                  <a:t>retail</a:t>
                </a:r>
                <a:r>
                  <a:rPr lang="es-PE" sz="900" b="0" i="0" dirty="0">
                    <a:solidFill>
                      <a:schemeClr val="tx1"/>
                    </a:solidFill>
                    <a:effectLst/>
                    <a:latin typeface="Segoe WPC"/>
                  </a:rPr>
                  <a:t> </a:t>
                </a:r>
                <a:r>
                  <a:rPr lang="es-PE" sz="900" b="0" i="0" dirty="0" err="1">
                    <a:solidFill>
                      <a:schemeClr val="tx1"/>
                    </a:solidFill>
                    <a:effectLst/>
                    <a:latin typeface="Segoe WPC"/>
                  </a:rPr>
                  <a:t>clients</a:t>
                </a:r>
                <a:r>
                  <a:rPr lang="es-PE" sz="900" b="0" i="0" dirty="0">
                    <a:solidFill>
                      <a:schemeClr val="tx1"/>
                    </a:solidFill>
                    <a:effectLst/>
                    <a:latin typeface="Segoe WPC"/>
                  </a:rPr>
                  <a:t>, in short sales, stock </a:t>
                </a:r>
                <a:r>
                  <a:rPr lang="es-PE" sz="900" b="0" i="0" dirty="0" err="1">
                    <a:solidFill>
                      <a:schemeClr val="tx1"/>
                    </a:solidFill>
                    <a:effectLst/>
                    <a:latin typeface="Segoe WPC"/>
                  </a:rPr>
                  <a:t>purchases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margin</a:t>
                </a:r>
                <a:r>
                  <a:rPr lang="es-PE" sz="900" b="0" i="0" dirty="0">
                    <a:solidFill>
                      <a:schemeClr val="tx1"/>
                    </a:solidFill>
                    <a:effectLst/>
                    <a:latin typeface="Segoe WPC"/>
                  </a:rPr>
                  <a:t>, and short </a:t>
                </a:r>
                <a:r>
                  <a:rPr lang="es-PE" sz="900" b="0" i="0" dirty="0" err="1">
                    <a:solidFill>
                      <a:schemeClr val="tx1"/>
                    </a:solidFill>
                    <a:effectLst/>
                    <a:latin typeface="Segoe WPC"/>
                  </a:rPr>
                  <a:t>option</a:t>
                </a:r>
                <a:r>
                  <a:rPr lang="es-PE" sz="900" b="0" i="0" dirty="0">
                    <a:solidFill>
                      <a:schemeClr val="tx1"/>
                    </a:solidFill>
                    <a:effectLst/>
                    <a:latin typeface="Segoe WPC"/>
                  </a:rPr>
                  <a:t> positions.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Borrowed</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risky</a:t>
                </a:r>
                <a:r>
                  <a:rPr lang="es-PE" sz="900" b="0" i="0" dirty="0">
                    <a:solidFill>
                      <a:schemeClr val="tx1"/>
                    </a:solidFill>
                    <a:effectLst/>
                    <a:latin typeface="Segoe WPC"/>
                  </a:rPr>
                  <a:t> positions are </a:t>
                </a:r>
                <a:r>
                  <a:rPr lang="es-PE" sz="900" b="0" i="0" dirty="0" err="1">
                    <a:solidFill>
                      <a:schemeClr val="tx1"/>
                    </a:solidFill>
                    <a:effectLst/>
                    <a:latin typeface="Segoe WPC"/>
                  </a:rPr>
                  <a:t>backed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collateral</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adjusted</a:t>
                </a:r>
                <a:r>
                  <a:rPr lang="es-PE" sz="900" b="0" i="0" dirty="0">
                    <a:solidFill>
                      <a:schemeClr val="tx1"/>
                    </a:solidFill>
                    <a:effectLst/>
                    <a:latin typeface="Segoe WPC"/>
                  </a:rPr>
                  <a:t> as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prices</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buying</a:t>
                </a:r>
                <a:r>
                  <a:rPr lang="es-PE" sz="900" b="0" i="0" dirty="0">
                    <a:solidFill>
                      <a:schemeClr val="tx1"/>
                    </a:solidFill>
                    <a:effectLst/>
                    <a:latin typeface="Segoe WPC"/>
                  </a:rPr>
                  <a:t> stock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margin</a:t>
                </a:r>
                <a:r>
                  <a:rPr lang="es-PE" sz="900" b="0" i="0" dirty="0">
                    <a:solidFill>
                      <a:schemeClr val="tx1"/>
                    </a:solidFill>
                    <a:effectLst/>
                    <a:latin typeface="Segoe WPC"/>
                  </a:rPr>
                  <a:t>, </a:t>
                </a:r>
                <a:r>
                  <a:rPr lang="es-PE" sz="900" b="0" i="0" dirty="0" err="1">
                    <a:solidFill>
                      <a:schemeClr val="tx1"/>
                    </a:solidFill>
                    <a:effectLst/>
                    <a:latin typeface="Segoe WPC"/>
                  </a:rPr>
                  <a:t>account</a:t>
                </a:r>
                <a:r>
                  <a:rPr lang="es-PE" sz="900" b="0" i="0" dirty="0">
                    <a:solidFill>
                      <a:schemeClr val="tx1"/>
                    </a:solidFill>
                    <a:effectLst/>
                    <a:latin typeface="Segoe WPC"/>
                  </a:rPr>
                  <a:t> </a:t>
                </a:r>
                <a:r>
                  <a:rPr lang="es-PE" sz="900" b="0" i="0" dirty="0" err="1">
                    <a:solidFill>
                      <a:schemeClr val="tx1"/>
                    </a:solidFill>
                    <a:effectLst/>
                    <a:latin typeface="Segoe WPC"/>
                  </a:rPr>
                  <a:t>equity</a:t>
                </a:r>
                <a:r>
                  <a:rPr lang="es-PE" sz="900" b="0" i="0" dirty="0">
                    <a:solidFill>
                      <a:schemeClr val="tx1"/>
                    </a:solidFill>
                    <a:effectLst/>
                    <a:latin typeface="Segoe WPC"/>
                  </a:rPr>
                  <a:t> =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shares </a:t>
                </a:r>
                <a:r>
                  <a:rPr lang="es-PE" sz="900" b="0" i="0" dirty="0" err="1">
                    <a:solidFill>
                      <a:schemeClr val="tx1"/>
                    </a:solidFill>
                    <a:effectLst/>
                    <a:latin typeface="Segoe WPC"/>
                  </a:rPr>
                  <a:t>minus</a:t>
                </a:r>
                <a:r>
                  <a:rPr lang="es-PE" sz="900" b="0" i="0" dirty="0">
                    <a:solidFill>
                      <a:schemeClr val="tx1"/>
                    </a:solidFill>
                    <a:effectLst/>
                    <a:latin typeface="Segoe WPC"/>
                  </a:rPr>
                  <a:t> </a:t>
                </a:r>
                <a:r>
                  <a:rPr lang="es-PE" sz="900" b="0" i="0" dirty="0" err="1">
                    <a:solidFill>
                      <a:schemeClr val="tx1"/>
                    </a:solidFill>
                    <a:effectLst/>
                    <a:latin typeface="Segoe WPC"/>
                  </a:rPr>
                  <a:t>amount</a:t>
                </a:r>
                <a:r>
                  <a:rPr lang="es-PE" sz="900" b="0" i="0" dirty="0">
                    <a:solidFill>
                      <a:schemeClr val="tx1"/>
                    </a:solidFill>
                    <a:effectLst/>
                    <a:latin typeface="Segoe WPC"/>
                  </a:rPr>
                  <a:t> </a:t>
                </a:r>
                <a:r>
                  <a:rPr lang="es-PE" sz="900" b="0" i="0" dirty="0" err="1">
                    <a:solidFill>
                      <a:schemeClr val="tx1"/>
                    </a:solidFill>
                    <a:effectLst/>
                    <a:latin typeface="Segoe WPC"/>
                  </a:rPr>
                  <a:t>borrowed</a:t>
                </a:r>
                <a:r>
                  <a:rPr lang="es-PE" sz="900" b="0" i="0" dirty="0">
                    <a:solidFill>
                      <a:schemeClr val="tx1"/>
                    </a:solidFill>
                    <a:effectLst/>
                    <a:latin typeface="Segoe WPC"/>
                  </a:rPr>
                  <a:t>. </a:t>
                </a:r>
                <a:r>
                  <a:rPr lang="es-PE" sz="900" b="0" i="0" dirty="0" err="1">
                    <a:solidFill>
                      <a:schemeClr val="tx1"/>
                    </a:solidFill>
                    <a:effectLst/>
                    <a:latin typeface="Segoe WPC"/>
                  </a:rPr>
                  <a:t>Margin</a:t>
                </a:r>
                <a:r>
                  <a:rPr lang="es-PE" sz="900" b="0" i="0" dirty="0">
                    <a:solidFill>
                      <a:schemeClr val="tx1"/>
                    </a:solidFill>
                    <a:effectLst/>
                    <a:latin typeface="Segoe WPC"/>
                  </a:rPr>
                  <a:t> </a:t>
                </a:r>
                <a:r>
                  <a:rPr lang="es-PE" sz="900" b="0" i="0" dirty="0" err="1">
                    <a:solidFill>
                      <a:schemeClr val="tx1"/>
                    </a:solidFill>
                    <a:effectLst/>
                    <a:latin typeface="Segoe WPC"/>
                  </a:rPr>
                  <a:t>percentage</a:t>
                </a:r>
                <a:r>
                  <a:rPr lang="es-PE" sz="900" b="0" i="0" dirty="0">
                    <a:solidFill>
                      <a:schemeClr val="tx1"/>
                    </a:solidFill>
                    <a:effectLst/>
                    <a:latin typeface="Segoe WPC"/>
                  </a:rPr>
                  <a:t> = </a:t>
                </a:r>
                <a:r>
                  <a:rPr lang="es-PE" sz="900" b="0" i="0" dirty="0" err="1">
                    <a:solidFill>
                      <a:schemeClr val="tx1"/>
                    </a:solidFill>
                    <a:effectLst/>
                    <a:latin typeface="Segoe WPC"/>
                  </a:rPr>
                  <a:t>account</a:t>
                </a:r>
                <a:r>
                  <a:rPr lang="es-PE" sz="900" b="0" i="0" dirty="0">
                    <a:solidFill>
                      <a:schemeClr val="tx1"/>
                    </a:solidFill>
                    <a:effectLst/>
                    <a:latin typeface="Segoe WPC"/>
                  </a:rPr>
                  <a:t> </a:t>
                </a:r>
                <a:r>
                  <a:rPr lang="es-PE" sz="900" b="0" i="0" dirty="0" err="1">
                    <a:solidFill>
                      <a:schemeClr val="tx1"/>
                    </a:solidFill>
                    <a:effectLst/>
                    <a:latin typeface="Segoe WPC"/>
                  </a:rPr>
                  <a:t>equity</a:t>
                </a:r>
                <a:r>
                  <a:rPr lang="es-PE" sz="900" b="0" i="0" dirty="0">
                    <a:solidFill>
                      <a:schemeClr val="tx1"/>
                    </a:solidFill>
                    <a:effectLst/>
                    <a:latin typeface="Segoe WPC"/>
                  </a:rPr>
                  <a:t> /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shares.</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Maintenance</a:t>
                </a:r>
                <a:r>
                  <a:rPr lang="es-PE" sz="900" b="0" i="0" dirty="0">
                    <a:solidFill>
                      <a:schemeClr val="tx1"/>
                    </a:solidFill>
                    <a:effectLst/>
                    <a:latin typeface="Segoe WPC"/>
                  </a:rPr>
                  <a:t> </a:t>
                </a:r>
                <a:r>
                  <a:rPr lang="es-PE" sz="900" b="0" i="0" dirty="0" err="1">
                    <a:solidFill>
                      <a:schemeClr val="tx1"/>
                    </a:solidFill>
                    <a:effectLst/>
                    <a:latin typeface="Segoe WPC"/>
                  </a:rPr>
                  <a:t>margin</a:t>
                </a:r>
                <a:r>
                  <a:rPr lang="es-PE" sz="900" b="0" i="0" dirty="0">
                    <a:solidFill>
                      <a:schemeClr val="tx1"/>
                    </a:solidFill>
                    <a:effectLst/>
                    <a:latin typeface="Segoe WPC"/>
                  </a:rPr>
                  <a:t> sets a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limit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account</a:t>
                </a:r>
                <a:r>
                  <a:rPr lang="es-PE" sz="900" b="0" i="0" dirty="0">
                    <a:solidFill>
                      <a:schemeClr val="tx1"/>
                    </a:solidFill>
                    <a:effectLst/>
                    <a:latin typeface="Segoe WPC"/>
                  </a:rPr>
                  <a:t> </a:t>
                </a:r>
                <a:r>
                  <a:rPr lang="es-PE" sz="900" b="0" i="0" dirty="0" err="1">
                    <a:solidFill>
                      <a:schemeClr val="tx1"/>
                    </a:solidFill>
                    <a:effectLst/>
                    <a:latin typeface="Segoe WPC"/>
                  </a:rPr>
                  <a:t>falls</a:t>
                </a:r>
                <a:r>
                  <a:rPr lang="es-PE" sz="900" b="0" i="0" dirty="0">
                    <a:solidFill>
                      <a:schemeClr val="tx1"/>
                    </a:solidFill>
                    <a:effectLst/>
                    <a:latin typeface="Segoe WPC"/>
                  </a:rPr>
                  <a:t> </a:t>
                </a:r>
                <a:r>
                  <a:rPr lang="es-PE" sz="900" b="0" i="0" dirty="0" err="1">
                    <a:solidFill>
                      <a:schemeClr val="tx1"/>
                    </a:solidFill>
                    <a:effectLst/>
                    <a:latin typeface="Segoe WPC"/>
                  </a:rPr>
                  <a:t>below</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trader</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add</a:t>
                </a:r>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broker</a:t>
                </a:r>
                <a:r>
                  <a:rPr lang="es-PE" sz="900" b="0" i="0" dirty="0">
                    <a:solidFill>
                      <a:schemeClr val="tx1"/>
                    </a:solidFill>
                    <a:effectLst/>
                    <a:latin typeface="Segoe WPC"/>
                  </a:rPr>
                  <a:t> </a:t>
                </a:r>
                <a:r>
                  <a:rPr lang="es-PE" sz="900" b="0" i="0" dirty="0" err="1">
                    <a:solidFill>
                      <a:schemeClr val="tx1"/>
                    </a:solidFill>
                    <a:effectLst/>
                    <a:latin typeface="Segoe WPC"/>
                  </a:rPr>
                  <a:t>closes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position. Short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sellers</a:t>
                </a:r>
                <a:r>
                  <a:rPr lang="es-PE" sz="900" b="0" i="0" dirty="0">
                    <a:solidFill>
                      <a:schemeClr val="tx1"/>
                    </a:solidFill>
                    <a:effectLst/>
                    <a:latin typeface="Segoe WPC"/>
                  </a:rPr>
                  <a:t> </a:t>
                </a:r>
                <a:r>
                  <a:rPr lang="es-PE" sz="900" b="0" i="0" dirty="0" err="1">
                    <a:solidFill>
                      <a:schemeClr val="tx1"/>
                    </a:solidFill>
                    <a:effectLst/>
                    <a:latin typeface="Segoe WPC"/>
                  </a:rPr>
                  <a:t>also</a:t>
                </a:r>
                <a:r>
                  <a:rPr lang="es-PE" sz="900" b="0" i="0" dirty="0">
                    <a:solidFill>
                      <a:schemeClr val="tx1"/>
                    </a:solidFill>
                    <a:effectLst/>
                    <a:latin typeface="Segoe WPC"/>
                  </a:rPr>
                  <a:t> post </a:t>
                </a:r>
                <a:r>
                  <a:rPr lang="es-PE" sz="900" b="0" i="0" dirty="0" err="1">
                    <a:solidFill>
                      <a:schemeClr val="tx1"/>
                    </a:solidFill>
                    <a:effectLst/>
                    <a:latin typeface="Segoe WPC"/>
                  </a:rPr>
                  <a:t>margin</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can </a:t>
                </a:r>
                <a:r>
                  <a:rPr lang="es-PE" sz="900" b="0" i="0" dirty="0" err="1">
                    <a:solidFill>
                      <a:schemeClr val="tx1"/>
                    </a:solidFill>
                    <a:effectLst/>
                    <a:latin typeface="Segoe WPC"/>
                  </a:rPr>
                  <a:t>face</a:t>
                </a:r>
                <a:r>
                  <a:rPr lang="es-PE" sz="900" b="0" i="0" dirty="0">
                    <a:solidFill>
                      <a:schemeClr val="tx1"/>
                    </a:solidFill>
                    <a:effectLst/>
                    <a:latin typeface="Segoe WPC"/>
                  </a:rPr>
                  <a:t> future </a:t>
                </a:r>
                <a:r>
                  <a:rPr lang="es-PE" sz="900" b="0" i="0" dirty="0" err="1">
                    <a:solidFill>
                      <a:schemeClr val="tx1"/>
                    </a:solidFill>
                    <a:effectLst/>
                    <a:latin typeface="Segoe WPC"/>
                  </a:rPr>
                  <a:t>obligations</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buyers</a:t>
                </a:r>
                <a:r>
                  <a:rPr lang="es-PE" sz="900" b="0" i="0" dirty="0">
                    <a:solidFill>
                      <a:schemeClr val="tx1"/>
                    </a:solidFill>
                    <a:effectLst/>
                    <a:latin typeface="Segoe WPC"/>
                  </a:rPr>
                  <a:t> </a:t>
                </a:r>
                <a:r>
                  <a:rPr lang="es-PE" sz="900" b="0" i="0" dirty="0" err="1">
                    <a:solidFill>
                      <a:schemeClr val="tx1"/>
                    </a:solidFill>
                    <a:effectLst/>
                    <a:latin typeface="Segoe WPC"/>
                  </a:rPr>
                  <a:t>generally</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pay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premium </a:t>
                </a:r>
                <a:r>
                  <a:rPr lang="es-PE" sz="900" b="0" i="0" dirty="0" err="1">
                    <a:solidFill>
                      <a:schemeClr val="tx1"/>
                    </a:solidFill>
                    <a:effectLst/>
                    <a:latin typeface="Segoe WPC"/>
                  </a:rPr>
                  <a:t>upfront</a:t>
                </a:r>
                <a:r>
                  <a:rPr lang="es-PE" sz="900" b="0" i="0" dirty="0">
                    <a:solidFill>
                      <a:schemeClr val="tx1"/>
                    </a:solidFill>
                    <a:effectLst/>
                    <a:latin typeface="Segoe WPC"/>
                  </a:rPr>
                  <a:t> and </a:t>
                </a:r>
                <a:r>
                  <a:rPr lang="es-PE" sz="900" b="0" i="0" dirty="0" err="1">
                    <a:solidFill>
                      <a:schemeClr val="tx1"/>
                    </a:solidFill>
                    <a:effectLst/>
                    <a:latin typeface="Segoe WPC"/>
                  </a:rPr>
                  <a:t>have</a:t>
                </a:r>
                <a:r>
                  <a:rPr lang="es-PE" sz="900" b="0" i="0" dirty="0">
                    <a:solidFill>
                      <a:schemeClr val="tx1"/>
                    </a:solidFill>
                    <a:effectLst/>
                    <a:latin typeface="Segoe WPC"/>
                  </a:rPr>
                  <a:t> no </a:t>
                </a:r>
                <a:r>
                  <a:rPr lang="es-PE" sz="900" b="0" i="0" dirty="0" err="1">
                    <a:solidFill>
                      <a:schemeClr val="tx1"/>
                    </a:solidFill>
                    <a:effectLst/>
                    <a:latin typeface="Segoe WPC"/>
                  </a:rPr>
                  <a:t>further</a:t>
                </a:r>
                <a:r>
                  <a:rPr lang="es-PE" sz="900" b="0" i="0" dirty="0">
                    <a:solidFill>
                      <a:schemeClr val="tx1"/>
                    </a:solidFill>
                    <a:effectLst/>
                    <a:latin typeface="Segoe WPC"/>
                  </a:rPr>
                  <a:t> </a:t>
                </a:r>
                <a:r>
                  <a:rPr lang="es-PE" sz="900" b="0" i="0" dirty="0" err="1">
                    <a:solidFill>
                      <a:schemeClr val="tx1"/>
                    </a:solidFill>
                    <a:effectLst/>
                    <a:latin typeface="Segoe WPC"/>
                  </a:rPr>
                  <a:t>liability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Long </a:t>
                </a:r>
                <a:r>
                  <a:rPr lang="es-PE" sz="900" b="0" i="0" dirty="0" err="1">
                    <a:solidFill>
                      <a:schemeClr val="tx1"/>
                    </a:solidFill>
                    <a:effectLst/>
                    <a:latin typeface="Segoe WPC"/>
                  </a:rPr>
                  <a:t>option</a:t>
                </a:r>
                <a:r>
                  <a:rPr lang="es-PE" sz="900" b="0" i="0" dirty="0">
                    <a:solidFill>
                      <a:schemeClr val="tx1"/>
                    </a:solidFill>
                    <a:effectLst/>
                    <a:latin typeface="Segoe WPC"/>
                  </a:rPr>
                  <a:t> positions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require</a:t>
                </a:r>
                <a:r>
                  <a:rPr lang="es-PE" sz="900" b="0" i="0" dirty="0">
                    <a:solidFill>
                      <a:schemeClr val="tx1"/>
                    </a:solidFill>
                    <a:effectLst/>
                    <a:latin typeface="Segoe WPC"/>
                  </a:rPr>
                  <a:t> no </a:t>
                </a:r>
                <a:r>
                  <a:rPr lang="es-PE" sz="900" b="0" i="0" dirty="0" err="1">
                    <a:solidFill>
                      <a:schemeClr val="tx1"/>
                    </a:solidFill>
                    <a:effectLst/>
                    <a:latin typeface="Segoe WPC"/>
                  </a:rPr>
                  <a:t>margin</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short </a:t>
                </a:r>
                <a:r>
                  <a:rPr lang="es-PE" sz="900" b="0" i="0" dirty="0" err="1">
                    <a:solidFill>
                      <a:schemeClr val="tx1"/>
                    </a:solidFill>
                    <a:effectLst/>
                    <a:latin typeface="Segoe WPC"/>
                  </a:rPr>
                  <a:t>option</a:t>
                </a:r>
                <a:r>
                  <a:rPr lang="es-PE" sz="900" b="0" i="0" dirty="0">
                    <a:solidFill>
                      <a:schemeClr val="tx1"/>
                    </a:solidFill>
                    <a:effectLst/>
                    <a:latin typeface="Segoe WPC"/>
                  </a:rPr>
                  <a:t> positions do.</a:t>
                </a:r>
              </a:p>
              <a:p>
                <a:pPr algn="l">
                  <a:spcAft>
                    <a:spcPts val="1200"/>
                  </a:spcAft>
                  <a:buNone/>
                </a:pPr>
                <a:r>
                  <a:rPr lang="es-PE" sz="900" b="1" i="0" dirty="0">
                    <a:solidFill>
                      <a:schemeClr val="tx1"/>
                    </a:solidFill>
                    <a:effectLst/>
                    <a:latin typeface="Segoe WPC"/>
                  </a:rPr>
                  <a:t>6. OTC </a:t>
                </a:r>
                <a:r>
                  <a:rPr lang="es-PE" sz="900" b="1" i="0" dirty="0" err="1">
                    <a:solidFill>
                      <a:schemeClr val="tx1"/>
                    </a:solidFill>
                    <a:effectLst/>
                    <a:latin typeface="Segoe WPC"/>
                  </a:rPr>
                  <a:t>Markets</a:t>
                </a:r>
                <a:r>
                  <a:rPr lang="es-PE" sz="900" b="1" i="0" dirty="0">
                    <a:solidFill>
                      <a:schemeClr val="tx1"/>
                    </a:solidFill>
                    <a:effectLst/>
                    <a:latin typeface="Segoe WPC"/>
                  </a:rPr>
                  <a:t> and </a:t>
                </a:r>
                <a:r>
                  <a:rPr lang="es-PE" sz="900" b="1" i="0" dirty="0" err="1">
                    <a:solidFill>
                      <a:schemeClr val="tx1"/>
                    </a:solidFill>
                    <a:effectLst/>
                    <a:latin typeface="Segoe WPC"/>
                  </a:rPr>
                  <a:t>Their</a:t>
                </a:r>
                <a:r>
                  <a:rPr lang="es-PE" sz="900" b="1" i="0" dirty="0">
                    <a:solidFill>
                      <a:schemeClr val="tx1"/>
                    </a:solidFill>
                    <a:effectLst/>
                    <a:latin typeface="Segoe WPC"/>
                  </a:rPr>
                  <a:t> </a:t>
                </a:r>
                <a:r>
                  <a:rPr lang="es-PE" sz="900" b="1" i="0" dirty="0" err="1">
                    <a:solidFill>
                      <a:schemeClr val="tx1"/>
                    </a:solidFill>
                    <a:effectLst/>
                    <a:latin typeface="Segoe WPC"/>
                  </a:rPr>
                  <a:t>Main</a:t>
                </a:r>
                <a:r>
                  <a:rPr lang="es-PE" sz="900" b="1" i="0" dirty="0">
                    <a:solidFill>
                      <a:schemeClr val="tx1"/>
                    </a:solidFill>
                    <a:effectLst/>
                    <a:latin typeface="Segoe WPC"/>
                  </a:rPr>
                  <a:t> Uses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Customized</a:t>
                </a:r>
                <a:r>
                  <a:rPr lang="es-PE" sz="900" b="0" i="0" dirty="0">
                    <a:solidFill>
                      <a:schemeClr val="tx1"/>
                    </a:solidFill>
                    <a:effectLst/>
                    <a:latin typeface="Segoe WPC"/>
                  </a:rPr>
                  <a:t> bilateral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centrally</a:t>
                </a:r>
                <a:r>
                  <a:rPr lang="es-PE" sz="900" b="0" i="0" dirty="0">
                    <a:solidFill>
                      <a:schemeClr val="tx1"/>
                    </a:solidFill>
                    <a:effectLst/>
                    <a:latin typeface="Segoe WPC"/>
                  </a:rPr>
                  <a:t> </a:t>
                </a:r>
                <a:r>
                  <a:rPr lang="es-PE" sz="900" b="0" i="0" dirty="0" err="1">
                    <a:solidFill>
                      <a:schemeClr val="tx1"/>
                    </a:solidFill>
                    <a:effectLst/>
                    <a:latin typeface="Segoe WPC"/>
                  </a:rPr>
                  <a:t>cleared</a:t>
                </a:r>
                <a:r>
                  <a:rPr lang="es-PE" sz="900" b="0" i="0" dirty="0">
                    <a:solidFill>
                      <a:schemeClr val="tx1"/>
                    </a:solidFill>
                    <a:effectLst/>
                    <a:latin typeface="Segoe WPC"/>
                  </a:rPr>
                  <a:t> derivatives </a:t>
                </a:r>
                <a:r>
                  <a:rPr lang="es-PE" sz="900" b="0" i="0" dirty="0" err="1">
                    <a:solidFill>
                      <a:schemeClr val="tx1"/>
                    </a:solidFill>
                    <a:effectLst/>
                    <a:latin typeface="Segoe WPC"/>
                  </a:rPr>
                  <a:t>markets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OTC </a:t>
                </a:r>
                <a:r>
                  <a:rPr lang="es-PE" sz="900" b="0" i="0" dirty="0" err="1">
                    <a:solidFill>
                      <a:schemeClr val="tx1"/>
                    </a:solidFill>
                    <a:effectLst/>
                    <a:latin typeface="Segoe WPC"/>
                  </a:rPr>
                  <a:t>markets</a:t>
                </a:r>
                <a:r>
                  <a:rPr lang="es-PE" sz="900" b="0" i="0" dirty="0">
                    <a:solidFill>
                      <a:schemeClr val="tx1"/>
                    </a:solidFill>
                    <a:effectLst/>
                    <a:latin typeface="Segoe WPC"/>
                  </a:rPr>
                  <a:t> </a:t>
                </a:r>
                <a:r>
                  <a:rPr lang="es-PE" sz="900" b="0" i="0" dirty="0" err="1">
                    <a:solidFill>
                      <a:schemeClr val="tx1"/>
                    </a:solidFill>
                    <a:effectLst/>
                    <a:latin typeface="Segoe WPC"/>
                  </a:rPr>
                  <a:t>let</a:t>
                </a:r>
                <a:r>
                  <a:rPr lang="es-PE" sz="900" b="0" i="0" dirty="0">
                    <a:solidFill>
                      <a:schemeClr val="tx1"/>
                    </a:solidFill>
                    <a:effectLst/>
                    <a:latin typeface="Segoe WPC"/>
                  </a:rPr>
                  <a:t> </a:t>
                </a:r>
                <a:r>
                  <a:rPr lang="es-PE" sz="900" b="0" i="0" dirty="0" err="1">
                    <a:solidFill>
                      <a:schemeClr val="tx1"/>
                    </a:solidFill>
                    <a:effectLst/>
                    <a:latin typeface="Segoe WPC"/>
                  </a:rPr>
                  <a:t>participants</a:t>
                </a:r>
                <a:r>
                  <a:rPr lang="es-PE" sz="900" b="0" i="0" dirty="0">
                    <a:solidFill>
                      <a:schemeClr val="tx1"/>
                    </a:solidFill>
                    <a:effectLst/>
                    <a:latin typeface="Segoe WPC"/>
                  </a:rPr>
                  <a:t> </a:t>
                </a:r>
                <a:r>
                  <a:rPr lang="es-PE" sz="900" b="0" i="0" dirty="0" err="1">
                    <a:solidFill>
                      <a:schemeClr val="tx1"/>
                    </a:solidFill>
                    <a:effectLst/>
                    <a:latin typeface="Segoe WPC"/>
                  </a:rPr>
                  <a:t>tailor</a:t>
                </a:r>
                <a:r>
                  <a:rPr lang="es-P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their</a:t>
                </a:r>
                <a:r>
                  <a:rPr lang="es-PE" sz="900" b="0" i="0" dirty="0">
                    <a:solidFill>
                      <a:schemeClr val="tx1"/>
                    </a:solidFill>
                    <a:effectLst/>
                    <a:latin typeface="Segoe WPC"/>
                  </a:rPr>
                  <a:t> </a:t>
                </a:r>
                <a:r>
                  <a:rPr lang="es-PE" sz="900" b="0" i="0" dirty="0" err="1">
                    <a:solidFill>
                      <a:schemeClr val="tx1"/>
                    </a:solidFill>
                    <a:effectLst/>
                    <a:latin typeface="Segoe WPC"/>
                  </a:rPr>
                  <a:t>needs</a:t>
                </a:r>
                <a:r>
                  <a:rPr lang="es-PE" sz="900" b="0" i="0" dirty="0">
                    <a:solidFill>
                      <a:schemeClr val="tx1"/>
                    </a:solidFill>
                    <a:effectLst/>
                    <a:latin typeface="Segoe WPC"/>
                  </a:rPr>
                  <a:t>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use </a:t>
                </a:r>
                <a:r>
                  <a:rPr lang="es-PE" sz="900" b="0" i="0" dirty="0" err="1">
                    <a:solidFill>
                      <a:schemeClr val="tx1"/>
                    </a:solidFill>
                    <a:effectLst/>
                    <a:latin typeface="Segoe WPC"/>
                  </a:rPr>
                  <a:t>standardized</a:t>
                </a:r>
                <a:r>
                  <a:rPr lang="es-PE" sz="900" b="0" i="0" dirty="0">
                    <a:solidFill>
                      <a:schemeClr val="tx1"/>
                    </a:solidFill>
                    <a:effectLst/>
                    <a:latin typeface="Segoe WPC"/>
                  </a:rPr>
                  <a:t> </a:t>
                </a:r>
                <a:r>
                  <a:rPr lang="es-PE" sz="900" b="0" i="0" dirty="0" err="1">
                    <a:solidFill>
                      <a:schemeClr val="tx1"/>
                    </a:solidFill>
                    <a:effectLst/>
                    <a:latin typeface="Segoe WPC"/>
                  </a:rPr>
                  <a:t>exchange</a:t>
                </a:r>
                <a:r>
                  <a:rPr lang="es-P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End</a:t>
                </a:r>
                <a:r>
                  <a:rPr lang="es-PE" sz="900" b="0" i="0" dirty="0">
                    <a:solidFill>
                      <a:schemeClr val="tx1"/>
                    </a:solidFill>
                    <a:effectLst/>
                    <a:latin typeface="Segoe WPC"/>
                  </a:rPr>
                  <a:t> </a:t>
                </a:r>
                <a:r>
                  <a:rPr lang="es-PE" sz="900" b="0" i="0" dirty="0" err="1">
                    <a:solidFill>
                      <a:schemeClr val="tx1"/>
                    </a:solidFill>
                    <a:effectLst/>
                    <a:latin typeface="Segoe WPC"/>
                  </a:rPr>
                  <a:t>users</a:t>
                </a:r>
                <a:r>
                  <a:rPr lang="es-PE" sz="900" b="0" i="0" dirty="0">
                    <a:solidFill>
                      <a:schemeClr val="tx1"/>
                    </a:solidFill>
                    <a:effectLst/>
                    <a:latin typeface="Segoe WPC"/>
                  </a:rPr>
                  <a:t> </a:t>
                </a:r>
                <a:r>
                  <a:rPr lang="es-PE" sz="900" b="0" i="0" dirty="0" err="1">
                    <a:solidFill>
                      <a:schemeClr val="tx1"/>
                    </a:solidFill>
                    <a:effectLst/>
                    <a:latin typeface="Segoe WPC"/>
                  </a:rPr>
                  <a:t>request</a:t>
                </a:r>
                <a:r>
                  <a:rPr lang="es-PE" sz="900" b="0" i="0" dirty="0">
                    <a:solidFill>
                      <a:schemeClr val="tx1"/>
                    </a:solidFill>
                    <a:effectLst/>
                    <a:latin typeface="Segoe WPC"/>
                  </a:rPr>
                  <a:t> </a:t>
                </a:r>
                <a:r>
                  <a:rPr lang="es-PE" sz="900" b="0" i="0" dirty="0" err="1">
                    <a:solidFill>
                      <a:schemeClr val="tx1"/>
                    </a:solidFill>
                    <a:effectLst/>
                    <a:latin typeface="Segoe WPC"/>
                  </a:rPr>
                  <a:t>custom</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transfers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dealers, </a:t>
                </a:r>
                <a:r>
                  <a:rPr lang="es-PE" sz="900" b="0" i="0" dirty="0" err="1">
                    <a:solidFill>
                      <a:schemeClr val="tx1"/>
                    </a:solidFill>
                    <a:effectLst/>
                    <a:latin typeface="Segoe WPC"/>
                  </a:rPr>
                  <a:t>who</a:t>
                </a:r>
                <a:r>
                  <a:rPr lang="es-P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in </a:t>
                </a:r>
                <a:r>
                  <a:rPr lang="es-PE" sz="900" b="0" i="0" dirty="0" err="1">
                    <a:solidFill>
                      <a:schemeClr val="tx1"/>
                    </a:solidFill>
                    <a:effectLst/>
                    <a:latin typeface="Segoe WPC"/>
                  </a:rPr>
                  <a:t>interdealer</a:t>
                </a:r>
                <a:r>
                  <a:rPr lang="es-PE" sz="900" b="0" i="0" dirty="0">
                    <a:solidFill>
                      <a:schemeClr val="tx1"/>
                    </a:solidFill>
                    <a:effectLst/>
                    <a:latin typeface="Segoe WPC"/>
                  </a:rPr>
                  <a:t> </a:t>
                </a:r>
                <a:r>
                  <a:rPr lang="es-PE" sz="900" b="0" i="0" dirty="0" err="1">
                    <a:solidFill>
                      <a:schemeClr val="tx1"/>
                    </a:solidFill>
                    <a:effectLst/>
                    <a:latin typeface="Segoe WPC"/>
                  </a:rPr>
                  <a:t>markets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single formula;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distinction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customization</a:t>
                </a:r>
                <a:r>
                  <a:rPr lang="es-PE" sz="900" b="0" i="0" dirty="0">
                    <a:solidFill>
                      <a:schemeClr val="tx1"/>
                    </a:solidFill>
                    <a:effectLst/>
                    <a:latin typeface="Segoe WPC"/>
                  </a:rPr>
                  <a:t>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standardization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OTC </a:t>
                </a:r>
                <a:r>
                  <a:rPr lang="es-PE" sz="900" b="0" i="0" dirty="0" err="1">
                    <a:solidFill>
                      <a:schemeClr val="tx1"/>
                    </a:solidFill>
                    <a:effectLst/>
                    <a:latin typeface="Segoe WPC"/>
                  </a:rPr>
                  <a:t>markets</a:t>
                </a:r>
                <a:r>
                  <a:rPr lang="es-PE" sz="900" b="0" i="0" dirty="0">
                    <a:solidFill>
                      <a:schemeClr val="tx1"/>
                    </a:solidFill>
                    <a:effectLst/>
                    <a:latin typeface="Segoe WPC"/>
                  </a:rPr>
                  <a:t> are </a:t>
                </a:r>
                <a:r>
                  <a:rPr lang="es-PE" sz="900" b="0" i="0" dirty="0" err="1">
                    <a:solidFill>
                      <a:schemeClr val="tx1"/>
                    </a:solidFill>
                    <a:effectLst/>
                    <a:latin typeface="Segoe WPC"/>
                  </a:rPr>
                  <a:t>especially</a:t>
                </a:r>
                <a:r>
                  <a:rPr lang="es-PE" sz="900" b="0" i="0" dirty="0">
                    <a:solidFill>
                      <a:schemeClr val="tx1"/>
                    </a:solidFill>
                    <a:effectLst/>
                    <a:latin typeface="Segoe WPC"/>
                  </a:rPr>
                  <a:t> </a:t>
                </a:r>
                <a:r>
                  <a:rPr lang="es-PE" sz="900" b="0" i="0" dirty="0" err="1">
                    <a:solidFill>
                      <a:schemeClr val="tx1"/>
                    </a:solidFill>
                    <a:effectLst/>
                    <a:latin typeface="Segoe WPC"/>
                  </a:rPr>
                  <a:t>important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and </a:t>
                </a:r>
                <a:r>
                  <a:rPr lang="es-PE" sz="900" b="0" i="0" dirty="0" err="1">
                    <a:solidFill>
                      <a:schemeClr val="tx1"/>
                    </a:solidFill>
                    <a:effectLst/>
                    <a:latin typeface="Segoe WPC"/>
                  </a:rPr>
                  <a:t>foreign</a:t>
                </a:r>
                <a:r>
                  <a:rPr lang="es-PE" sz="900" b="0" i="0" dirty="0">
                    <a:solidFill>
                      <a:schemeClr val="tx1"/>
                    </a:solidFill>
                    <a:effectLst/>
                    <a:latin typeface="Segoe WPC"/>
                  </a:rPr>
                  <a:t> </a:t>
                </a:r>
                <a:r>
                  <a:rPr lang="es-PE" sz="900" b="0" i="0" dirty="0" err="1">
                    <a:solidFill>
                      <a:schemeClr val="tx1"/>
                    </a:solidFill>
                    <a:effectLst/>
                    <a:latin typeface="Segoe WPC"/>
                  </a:rPr>
                  <a:t>exchange</a:t>
                </a:r>
                <a:r>
                  <a:rPr lang="es-PE" sz="900" b="0" i="0" dirty="0">
                    <a:solidFill>
                      <a:schemeClr val="tx1"/>
                    </a:solidFill>
                    <a:effectLst/>
                    <a:latin typeface="Segoe WPC"/>
                  </a:rPr>
                  <a:t> derivatives. </a:t>
                </a:r>
                <a:r>
                  <a:rPr lang="es-PE" sz="900" b="0" i="0" dirty="0" err="1">
                    <a:solidFill>
                      <a:schemeClr val="tx1"/>
                    </a:solidFill>
                    <a:effectLst/>
                    <a:latin typeface="Segoe WPC"/>
                  </a:rPr>
                  <a:t>Their</a:t>
                </a:r>
                <a:r>
                  <a:rPr lang="es-PE" sz="900" b="0" i="0" dirty="0">
                    <a:solidFill>
                      <a:schemeClr val="tx1"/>
                    </a:solidFill>
                    <a:effectLst/>
                    <a:latin typeface="Segoe WPC"/>
                  </a:rPr>
                  <a:t> </a:t>
                </a:r>
                <a:r>
                  <a:rPr lang="es-PE" sz="900" b="0" i="0" dirty="0" err="1">
                    <a:solidFill>
                      <a:schemeClr val="tx1"/>
                    </a:solidFill>
                    <a:effectLst/>
                    <a:latin typeface="Segoe WPC"/>
                  </a:rPr>
                  <a:t>notional</a:t>
                </a:r>
                <a:r>
                  <a:rPr lang="es-PE" sz="900" b="0" i="0" dirty="0">
                    <a:solidFill>
                      <a:schemeClr val="tx1"/>
                    </a:solidFill>
                    <a:effectLst/>
                    <a:latin typeface="Segoe WPC"/>
                  </a:rPr>
                  <a:t> </a:t>
                </a:r>
                <a:r>
                  <a:rPr lang="es-PE" sz="900" b="0" i="0" dirty="0" err="1">
                    <a:solidFill>
                      <a:schemeClr val="tx1"/>
                    </a:solidFill>
                    <a:effectLst/>
                    <a:latin typeface="Segoe WPC"/>
                  </a:rPr>
                  <a:t>amounts</a:t>
                </a:r>
                <a:r>
                  <a:rPr lang="es-PE" sz="900" b="0" i="0" dirty="0">
                    <a:solidFill>
                      <a:schemeClr val="tx1"/>
                    </a:solidFill>
                    <a:effectLst/>
                    <a:latin typeface="Segoe WPC"/>
                  </a:rPr>
                  <a:t> are </a:t>
                </a:r>
                <a:r>
                  <a:rPr lang="es-PE" sz="900" b="0" i="0" dirty="0" err="1">
                    <a:solidFill>
                      <a:schemeClr val="tx1"/>
                    </a:solidFill>
                    <a:effectLst/>
                    <a:latin typeface="Segoe WPC"/>
                  </a:rPr>
                  <a:t>huge</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actual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are </a:t>
                </a:r>
                <a:r>
                  <a:rPr lang="es-PE" sz="900" b="0" i="0" dirty="0" err="1">
                    <a:solidFill>
                      <a:schemeClr val="tx1"/>
                    </a:solidFill>
                    <a:effectLst/>
                    <a:latin typeface="Segoe WPC"/>
                  </a:rPr>
                  <a:t>much</a:t>
                </a:r>
                <a:r>
                  <a:rPr lang="es-PE" sz="900" b="0" i="0" dirty="0">
                    <a:solidFill>
                      <a:schemeClr val="tx1"/>
                    </a:solidFill>
                    <a:effectLst/>
                    <a:latin typeface="Segoe WPC"/>
                  </a:rPr>
                  <a:t> </a:t>
                </a:r>
                <a:r>
                  <a:rPr lang="es-PE" sz="900" b="0" i="0" dirty="0" err="1">
                    <a:solidFill>
                      <a:schemeClr val="tx1"/>
                    </a:solidFill>
                    <a:effectLst/>
                    <a:latin typeface="Segoe WPC"/>
                  </a:rPr>
                  <a:t>smaller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notionals</a:t>
                </a:r>
                <a:r>
                  <a:rPr lang="es-PE" sz="900" b="0" i="0" dirty="0">
                    <a:solidFill>
                      <a:schemeClr val="tx1"/>
                    </a:solidFill>
                    <a:effectLst/>
                    <a:latin typeface="Segoe WPC"/>
                  </a:rPr>
                  <a:t>. OTC </a:t>
                </a:r>
                <a:r>
                  <a:rPr lang="es-PE" sz="900" b="0" i="0" dirty="0" err="1">
                    <a:solidFill>
                      <a:schemeClr val="tx1"/>
                    </a:solidFill>
                    <a:effectLst/>
                    <a:latin typeface="Segoe WPC"/>
                  </a:rPr>
                  <a:t>markets</a:t>
                </a:r>
                <a:r>
                  <a:rPr lang="es-PE" sz="900" b="0" i="0" dirty="0">
                    <a:solidFill>
                      <a:schemeClr val="tx1"/>
                    </a:solidFill>
                    <a:effectLst/>
                    <a:latin typeface="Segoe WPC"/>
                  </a:rPr>
                  <a:t> are </a:t>
                </a:r>
                <a:r>
                  <a:rPr lang="es-PE" sz="900" b="0" i="0" dirty="0" err="1">
                    <a:solidFill>
                      <a:schemeClr val="tx1"/>
                    </a:solidFill>
                    <a:effectLst/>
                    <a:latin typeface="Segoe WPC"/>
                  </a:rPr>
                  <a:t>attractive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fit</a:t>
                </a:r>
                <a:r>
                  <a:rPr lang="es-PE" sz="900" b="0" i="0" dirty="0">
                    <a:solidFill>
                      <a:schemeClr val="tx1"/>
                    </a:solidFill>
                    <a:effectLst/>
                    <a:latin typeface="Segoe WPC"/>
                  </a:rPr>
                  <a:t> precise </a:t>
                </a:r>
                <a:r>
                  <a:rPr lang="es-PE" sz="900" b="0" i="0" dirty="0" err="1">
                    <a:solidFill>
                      <a:schemeClr val="tx1"/>
                    </a:solidFill>
                    <a:effectLst/>
                    <a:latin typeface="Segoe WPC"/>
                  </a:rPr>
                  <a:t>corporate</a:t>
                </a:r>
                <a:r>
                  <a:rPr lang="es-PE" sz="900" b="0" i="0" dirty="0">
                    <a:solidFill>
                      <a:schemeClr val="tx1"/>
                    </a:solidFill>
                    <a:effectLst/>
                    <a:latin typeface="Segoe WPC"/>
                  </a:rPr>
                  <a:t>, </a:t>
                </a:r>
                <a:r>
                  <a:rPr lang="es-PE" sz="900" b="0" i="0" dirty="0" err="1">
                    <a:solidFill>
                      <a:schemeClr val="tx1"/>
                    </a:solidFill>
                    <a:effectLst/>
                    <a:latin typeface="Segoe WPC"/>
                  </a:rPr>
                  <a:t>institutional</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structured</a:t>
                </a:r>
                <a:r>
                  <a:rPr lang="es-PE" sz="900" b="0" i="0" dirty="0">
                    <a:solidFill>
                      <a:schemeClr val="tx1"/>
                    </a:solidFill>
                    <a:effectLst/>
                    <a:latin typeface="Segoe WPC"/>
                  </a:rPr>
                  <a:t> </a:t>
                </a:r>
                <a:r>
                  <a:rPr lang="es-PE" sz="900" b="0" i="0" dirty="0" err="1">
                    <a:solidFill>
                      <a:schemeClr val="tx1"/>
                    </a:solidFill>
                    <a:effectLst/>
                    <a:latin typeface="Segoe WPC"/>
                  </a:rPr>
                  <a:t>risk-management</a:t>
                </a:r>
                <a:r>
                  <a:rPr lang="es-PE" sz="900" b="0" i="0" dirty="0">
                    <a:solidFill>
                      <a:schemeClr val="tx1"/>
                    </a:solidFill>
                    <a:effectLst/>
                    <a:latin typeface="Segoe WPC"/>
                  </a:rPr>
                  <a:t> </a:t>
                </a:r>
                <a:r>
                  <a:rPr lang="es-PE" sz="900" b="0" i="0" dirty="0" err="1">
                    <a:solidFill>
                      <a:schemeClr val="tx1"/>
                    </a:solidFill>
                    <a:effectLst/>
                    <a:latin typeface="Segoe WPC"/>
                  </a:rPr>
                  <a:t>needs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Notional</a:t>
                </a:r>
                <a:r>
                  <a:rPr lang="es-PE" sz="900" b="0" i="0" dirty="0">
                    <a:solidFill>
                      <a:schemeClr val="tx1"/>
                    </a:solidFill>
                    <a:effectLst/>
                    <a:latin typeface="Segoe WPC"/>
                  </a:rPr>
                  <a:t> principal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as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credit</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7. </a:t>
                </a:r>
                <a:r>
                  <a:rPr lang="es-PE" sz="900" b="1" i="0" dirty="0" err="1">
                    <a:solidFill>
                      <a:schemeClr val="tx1"/>
                    </a:solidFill>
                    <a:effectLst/>
                    <a:latin typeface="Segoe WPC"/>
                  </a:rPr>
                  <a:t>Risks</a:t>
                </a:r>
                <a:r>
                  <a:rPr lang="es-PE" sz="900" b="1" i="0" dirty="0">
                    <a:solidFill>
                      <a:schemeClr val="tx1"/>
                    </a:solidFill>
                    <a:effectLst/>
                    <a:latin typeface="Segoe WPC"/>
                  </a:rPr>
                  <a:t> in OTC </a:t>
                </a:r>
                <a:r>
                  <a:rPr lang="es-PE" sz="900" b="1" i="0" dirty="0" err="1">
                    <a:solidFill>
                      <a:schemeClr val="tx1"/>
                    </a:solidFill>
                    <a:effectLst/>
                    <a:latin typeface="Segoe WPC"/>
                  </a:rPr>
                  <a:t>Markets</a:t>
                </a:r>
                <a:r>
                  <a:rPr lang="es-PE" sz="900" b="1" i="0" dirty="0">
                    <a:solidFill>
                      <a:schemeClr val="tx1"/>
                    </a:solidFill>
                    <a:effectLst/>
                    <a:latin typeface="Segoe WPC"/>
                  </a:rPr>
                  <a:t> and </a:t>
                </a:r>
                <a:r>
                  <a:rPr lang="es-PE" sz="900" b="1" i="0" dirty="0" err="1">
                    <a:solidFill>
                      <a:schemeClr val="tx1"/>
                    </a:solidFill>
                    <a:effectLst/>
                    <a:latin typeface="Segoe WPC"/>
                  </a:rPr>
                  <a:t>How</a:t>
                </a:r>
                <a:r>
                  <a:rPr lang="es-PE" sz="900" b="1" i="0" dirty="0">
                    <a:solidFill>
                      <a:schemeClr val="tx1"/>
                    </a:solidFill>
                    <a:effectLst/>
                    <a:latin typeface="Segoe WPC"/>
                  </a:rPr>
                  <a:t> </a:t>
                </a:r>
                <a:r>
                  <a:rPr lang="es-PE" sz="900" b="1" i="0" dirty="0" err="1">
                    <a:solidFill>
                      <a:schemeClr val="tx1"/>
                    </a:solidFill>
                    <a:effectLst/>
                    <a:latin typeface="Segoe WPC"/>
                  </a:rPr>
                  <a:t>They</a:t>
                </a:r>
                <a:r>
                  <a:rPr lang="es-PE" sz="900" b="1" i="0" dirty="0">
                    <a:solidFill>
                      <a:schemeClr val="tx1"/>
                    </a:solidFill>
                    <a:effectLst/>
                    <a:latin typeface="Segoe WPC"/>
                  </a:rPr>
                  <a:t> Are </a:t>
                </a:r>
                <a:r>
                  <a:rPr lang="es-PE" sz="900" b="1" i="0" dirty="0" err="1">
                    <a:solidFill>
                      <a:schemeClr val="tx1"/>
                    </a:solidFill>
                    <a:effectLst/>
                    <a:latin typeface="Segoe WPC"/>
                  </a:rPr>
                  <a:t>Mitigated</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Counterparty</a:t>
                </a:r>
                <a:r>
                  <a:rPr lang="es-PE" sz="900" b="0" i="0" dirty="0">
                    <a:solidFill>
                      <a:schemeClr val="tx1"/>
                    </a:solidFill>
                    <a:effectLst/>
                    <a:latin typeface="Segoe WPC"/>
                  </a:rPr>
                  <a:t> </a:t>
                </a:r>
                <a:r>
                  <a:rPr lang="es-PE" sz="900" b="0" i="0" dirty="0" err="1">
                    <a:solidFill>
                      <a:schemeClr val="tx1"/>
                    </a:solidFill>
                    <a:effectLst/>
                    <a:latin typeface="Segoe WPC"/>
                  </a:rPr>
                  <a:t>credit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in </a:t>
                </a:r>
                <a:r>
                  <a:rPr lang="es-PE" sz="900" b="0" i="0" dirty="0" err="1">
                    <a:solidFill>
                      <a:schemeClr val="tx1"/>
                    </a:solidFill>
                    <a:effectLst/>
                    <a:latin typeface="Segoe WPC"/>
                  </a:rPr>
                  <a:t>customized</a:t>
                </a:r>
                <a:r>
                  <a:rPr lang="es-PE" sz="900" b="0" i="0" dirty="0">
                    <a:solidFill>
                      <a:schemeClr val="tx1"/>
                    </a:solidFill>
                    <a:effectLst/>
                    <a:latin typeface="Segoe WPC"/>
                  </a:rPr>
                  <a:t> derivative </a:t>
                </a:r>
                <a:r>
                  <a:rPr lang="es-PE" sz="900" b="0" i="0" dirty="0" err="1">
                    <a:solidFill>
                      <a:schemeClr val="tx1"/>
                    </a:solidFill>
                    <a:effectLst/>
                    <a:latin typeface="Segoe WPC"/>
                  </a:rPr>
                  <a:t>contracts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In OTC </a:t>
                </a:r>
                <a:r>
                  <a:rPr lang="es-PE" sz="900" b="0" i="0" dirty="0" err="1">
                    <a:solidFill>
                      <a:schemeClr val="tx1"/>
                    </a:solidFill>
                    <a:effectLst/>
                    <a:latin typeface="Segoe WPC"/>
                  </a:rPr>
                  <a:t>markets</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side</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default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contract</a:t>
                </a:r>
                <a:r>
                  <a:rPr lang="es-PE" sz="900" b="0" i="0" dirty="0">
                    <a:solidFill>
                      <a:schemeClr val="tx1"/>
                    </a:solidFill>
                    <a:effectLst/>
                    <a:latin typeface="Segoe WPC"/>
                  </a:rPr>
                  <a:t> has positive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 </a:t>
                </a:r>
                <a:r>
                  <a:rPr lang="es-PE" sz="900" b="0" i="0" dirty="0" err="1">
                    <a:solidFill>
                      <a:schemeClr val="tx1"/>
                    </a:solidFill>
                    <a:effectLst/>
                    <a:latin typeface="Segoe WPC"/>
                  </a:rPr>
                  <a:t>side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derivative can </a:t>
                </a:r>
                <a:r>
                  <a:rPr lang="es-PE" sz="900" b="0" i="0" dirty="0" err="1">
                    <a:solidFill>
                      <a:schemeClr val="tx1"/>
                    </a:solidFill>
                    <a:effectLst/>
                    <a:latin typeface="Segoe WPC"/>
                  </a:rPr>
                  <a:t>become</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party</a:t>
                </a:r>
                <a:r>
                  <a:rPr lang="es-PE" sz="900" b="0" i="0" dirty="0">
                    <a:solidFill>
                      <a:schemeClr val="tx1"/>
                    </a:solidFill>
                    <a:effectLst/>
                    <a:latin typeface="Segoe WPC"/>
                  </a:rPr>
                  <a:t> and a </a:t>
                </a:r>
                <a:r>
                  <a:rPr lang="es-PE" sz="900" b="0" i="0" dirty="0" err="1">
                    <a:solidFill>
                      <a:schemeClr val="tx1"/>
                    </a:solidFill>
                    <a:effectLst/>
                    <a:latin typeface="Segoe WPC"/>
                  </a:rPr>
                  <a:t>liability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liability</a:t>
                </a:r>
                <a:r>
                  <a:rPr lang="es-PE" sz="900" b="0" i="0" dirty="0">
                    <a:solidFill>
                      <a:schemeClr val="tx1"/>
                    </a:solidFill>
                    <a:effectLst/>
                    <a:latin typeface="Segoe WPC"/>
                  </a:rPr>
                  <a:t> </a:t>
                </a:r>
                <a:r>
                  <a:rPr lang="es-PE" sz="900" b="0" i="0" dirty="0" err="1">
                    <a:solidFill>
                      <a:schemeClr val="tx1"/>
                    </a:solidFill>
                    <a:effectLst/>
                    <a:latin typeface="Segoe WPC"/>
                  </a:rPr>
                  <a:t>side</a:t>
                </a:r>
                <a:r>
                  <a:rPr lang="es-PE" sz="900" b="0" i="0" dirty="0">
                    <a:solidFill>
                      <a:schemeClr val="tx1"/>
                    </a:solidFill>
                    <a:effectLst/>
                    <a:latin typeface="Segoe WPC"/>
                  </a:rPr>
                  <a:t> defaults,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side</a:t>
                </a:r>
                <a:r>
                  <a:rPr lang="es-PE" sz="900" b="0" i="0" dirty="0">
                    <a:solidFill>
                      <a:schemeClr val="tx1"/>
                    </a:solidFill>
                    <a:effectLst/>
                    <a:latin typeface="Segoe WPC"/>
                  </a:rPr>
                  <a:t> loses </a:t>
                </a:r>
                <a:r>
                  <a:rPr lang="es-PE" sz="900" b="0" i="0" dirty="0" err="1">
                    <a:solidFill>
                      <a:schemeClr val="tx1"/>
                    </a:solidFill>
                    <a:effectLst/>
                    <a:latin typeface="Segoe WPC"/>
                  </a:rPr>
                  <a:t>value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Credit</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 </a:t>
                </a:r>
                <a:r>
                  <a:rPr lang="es-PE" sz="900" b="0" i="0" dirty="0" err="1">
                    <a:solidFill>
                      <a:schemeClr val="tx1"/>
                    </a:solidFill>
                    <a:effectLst/>
                    <a:latin typeface="Segoe WPC"/>
                  </a:rPr>
                  <a:t>trader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approximately</a:t>
                </a:r>
                <a:r>
                  <a:rPr lang="es-PE" sz="900" b="0" i="0" dirty="0">
                    <a:solidFill>
                      <a:schemeClr val="tx1"/>
                    </a:solidFill>
                    <a:effectLst/>
                    <a:latin typeface="Segoe WPC"/>
                  </a:rPr>
                  <a:t> </a:t>
                </a:r>
                <a14:m>
                  <m:oMath xmlns:m="http://schemas.openxmlformats.org/officeDocument/2006/math">
                    <m:r>
                      <m:rPr>
                        <m:sty m:val="p"/>
                      </m:rPr>
                      <a:rPr lang="es-PE" sz="90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𝑉</m:t>
                        </m:r>
                      </m:e>
                      <m:e>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𝑉</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derivative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trader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Credit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mitigated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enforceable</a:t>
                </a:r>
                <a:r>
                  <a:rPr lang="es-PE" sz="900" b="0" i="0" dirty="0">
                    <a:solidFill>
                      <a:schemeClr val="tx1"/>
                    </a:solidFill>
                    <a:effectLst/>
                    <a:latin typeface="Segoe WPC"/>
                  </a:rPr>
                  <a:t> bilateral </a:t>
                </a:r>
                <a:r>
                  <a:rPr lang="es-PE" sz="900" b="0" i="0" dirty="0" err="1">
                    <a:solidFill>
                      <a:schemeClr val="tx1"/>
                    </a:solidFill>
                    <a:effectLst/>
                    <a:latin typeface="Segoe WPC"/>
                  </a:rPr>
                  <a:t>netting</a:t>
                </a:r>
                <a:r>
                  <a:rPr lang="es-PE" sz="900" b="0" i="0" dirty="0">
                    <a:solidFill>
                      <a:schemeClr val="tx1"/>
                    </a:solidFill>
                    <a:effectLst/>
                    <a:latin typeface="Segoe WPC"/>
                  </a:rPr>
                  <a:t>, </a:t>
                </a:r>
                <a:r>
                  <a:rPr lang="es-PE" sz="900" b="0" i="0" dirty="0" err="1">
                    <a:solidFill>
                      <a:schemeClr val="tx1"/>
                    </a:solidFill>
                    <a:effectLst/>
                    <a:latin typeface="Segoe WPC"/>
                  </a:rPr>
                  <a:t>collateralization</a:t>
                </a:r>
                <a:r>
                  <a:rPr lang="es-PE" sz="900" b="0" i="0" dirty="0">
                    <a:solidFill>
                      <a:schemeClr val="tx1"/>
                    </a:solidFill>
                    <a:effectLst/>
                    <a:latin typeface="Segoe WPC"/>
                  </a:rPr>
                  <a:t> </a:t>
                </a:r>
                <a:r>
                  <a:rPr lang="es-PE" sz="900" b="0" i="0" dirty="0" err="1">
                    <a:solidFill>
                      <a:schemeClr val="tx1"/>
                    </a:solidFill>
                    <a:effectLst/>
                    <a:latin typeface="Segoe WPC"/>
                  </a:rPr>
                  <a:t>through</a:t>
                </a:r>
                <a:r>
                  <a:rPr lang="es-PE" sz="900" b="0" i="0" dirty="0">
                    <a:solidFill>
                      <a:schemeClr val="tx1"/>
                    </a:solidFill>
                    <a:effectLst/>
                    <a:latin typeface="Segoe WPC"/>
                  </a:rPr>
                  <a:t> a </a:t>
                </a:r>
                <a:r>
                  <a:rPr lang="es-PE" sz="900" b="0" i="0" dirty="0" err="1">
                    <a:solidFill>
                      <a:schemeClr val="tx1"/>
                    </a:solidFill>
                    <a:effectLst/>
                    <a:latin typeface="Segoe WPC"/>
                  </a:rPr>
                  <a:t>credit</a:t>
                </a:r>
                <a:r>
                  <a:rPr lang="es-PE" sz="900" b="0" i="0" dirty="0">
                    <a:solidFill>
                      <a:schemeClr val="tx1"/>
                    </a:solidFill>
                    <a:effectLst/>
                    <a:latin typeface="Segoe WPC"/>
                  </a:rPr>
                  <a:t> </a:t>
                </a:r>
                <a:r>
                  <a:rPr lang="es-PE" sz="900" b="0" i="0" dirty="0" err="1">
                    <a:solidFill>
                      <a:schemeClr val="tx1"/>
                    </a:solidFill>
                    <a:effectLst/>
                    <a:latin typeface="Segoe WPC"/>
                  </a:rPr>
                  <a:t>support</a:t>
                </a:r>
                <a:r>
                  <a:rPr lang="es-PE" sz="900" b="0" i="0" dirty="0">
                    <a:solidFill>
                      <a:schemeClr val="tx1"/>
                    </a:solidFill>
                    <a:effectLst/>
                    <a:latin typeface="Segoe WPC"/>
                  </a:rPr>
                  <a:t> </a:t>
                </a:r>
                <a:r>
                  <a:rPr lang="es-PE" sz="900" b="0" i="0" dirty="0" err="1">
                    <a:solidFill>
                      <a:schemeClr val="tx1"/>
                    </a:solidFill>
                    <a:effectLst/>
                    <a:latin typeface="Segoe WPC"/>
                  </a:rPr>
                  <a:t>annex</a:t>
                </a:r>
                <a:r>
                  <a:rPr lang="es-PE" sz="900" b="0" i="0" dirty="0">
                    <a:solidFill>
                      <a:schemeClr val="tx1"/>
                    </a:solidFill>
                    <a:effectLst/>
                    <a:latin typeface="Segoe WPC"/>
                  </a:rPr>
                  <a:t>, use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CCPs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standardized</a:t>
                </a:r>
                <a:r>
                  <a:rPr lang="es-PE" sz="900" b="0" i="0" dirty="0">
                    <a:solidFill>
                      <a:schemeClr val="tx1"/>
                    </a:solidFill>
                    <a:effectLst/>
                    <a:latin typeface="Segoe WPC"/>
                  </a:rPr>
                  <a:t> </a:t>
                </a:r>
                <a:r>
                  <a:rPr lang="es-PE" sz="900" b="0" i="0" dirty="0" err="1">
                    <a:solidFill>
                      <a:schemeClr val="tx1"/>
                    </a:solidFill>
                    <a:effectLst/>
                    <a:latin typeface="Segoe WPC"/>
                  </a:rPr>
                  <a:t>trades</a:t>
                </a:r>
                <a:r>
                  <a:rPr lang="es-PE" sz="900" b="0" i="0" dirty="0">
                    <a:solidFill>
                      <a:schemeClr val="tx1"/>
                    </a:solidFill>
                    <a:effectLst/>
                    <a:latin typeface="Segoe WPC"/>
                  </a:rPr>
                  <a:t>, and </a:t>
                </a:r>
                <a:r>
                  <a:rPr lang="es-PE" sz="900" b="0" i="0" dirty="0" err="1">
                    <a:solidFill>
                      <a:schemeClr val="tx1"/>
                    </a:solidFill>
                    <a:effectLst/>
                    <a:latin typeface="Segoe WPC"/>
                  </a:rPr>
                  <a:t>historically</a:t>
                </a:r>
                <a:r>
                  <a:rPr lang="es-PE" sz="900" b="0" i="0" dirty="0">
                    <a:solidFill>
                      <a:schemeClr val="tx1"/>
                    </a:solidFill>
                    <a:effectLst/>
                    <a:latin typeface="Segoe WPC"/>
                  </a:rPr>
                  <a:t> </a:t>
                </a:r>
                <a:r>
                  <a:rPr lang="es-PE" sz="900" b="0" i="0" dirty="0" err="1">
                    <a:solidFill>
                      <a:schemeClr val="tx1"/>
                    </a:solidFill>
                    <a:effectLst/>
                    <a:latin typeface="Segoe WPC"/>
                  </a:rPr>
                  <a:t>through</a:t>
                </a:r>
                <a:r>
                  <a:rPr lang="es-PE" sz="900" b="0" i="0" dirty="0">
                    <a:solidFill>
                      <a:schemeClr val="tx1"/>
                    </a:solidFill>
                    <a:effectLst/>
                    <a:latin typeface="Segoe WPC"/>
                  </a:rPr>
                  <a:t> </a:t>
                </a:r>
                <a:r>
                  <a:rPr lang="es-PE" sz="900" b="0" i="0" dirty="0" err="1">
                    <a:solidFill>
                      <a:schemeClr val="tx1"/>
                    </a:solidFill>
                    <a:effectLst/>
                    <a:latin typeface="Segoe WPC"/>
                  </a:rPr>
                  <a:t>structures</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a:t>
                </a:r>
                <a:r>
                  <a:rPr lang="es-PE" sz="900" b="0" i="0" dirty="0" err="1">
                    <a:solidFill>
                      <a:schemeClr val="tx1"/>
                    </a:solidFill>
                    <a:effectLst/>
                    <a:latin typeface="Segoe WPC"/>
                  </a:rPr>
                  <a:t>DPCs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credit</a:t>
                </a:r>
                <a:r>
                  <a:rPr lang="es-PE" sz="900" b="0" i="0" dirty="0">
                    <a:solidFill>
                      <a:schemeClr val="tx1"/>
                    </a:solidFill>
                    <a:effectLst/>
                    <a:latin typeface="Segoe WPC"/>
                  </a:rPr>
                  <a:t> default swap </a:t>
                </a:r>
                <a:r>
                  <a:rPr lang="es-PE" sz="900" b="0" i="0" dirty="0" err="1">
                    <a:solidFill>
                      <a:schemeClr val="tx1"/>
                    </a:solidFill>
                    <a:effectLst/>
                    <a:latin typeface="Segoe WPC"/>
                  </a:rPr>
                  <a:t>protection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OTC </a:t>
                </a:r>
                <a:r>
                  <a:rPr lang="es-PE" sz="900" b="0" i="0" dirty="0" err="1">
                    <a:solidFill>
                      <a:schemeClr val="tx1"/>
                    </a:solidFill>
                    <a:effectLst/>
                    <a:latin typeface="Segoe WPC"/>
                  </a:rPr>
                  <a:t>credit</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current</a:t>
                </a:r>
                <a:r>
                  <a:rPr lang="es-PE" sz="900" b="0" i="0" dirty="0">
                    <a:solidFill>
                      <a:schemeClr val="tx1"/>
                    </a:solidFill>
                    <a:effectLst/>
                    <a:latin typeface="Segoe WPC"/>
                  </a:rPr>
                  <a:t> positive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trade</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full </a:t>
                </a:r>
                <a:r>
                  <a:rPr lang="es-PE" sz="900" b="0" i="0" dirty="0" err="1">
                    <a:solidFill>
                      <a:schemeClr val="tx1"/>
                    </a:solidFill>
                    <a:effectLst/>
                    <a:latin typeface="Segoe WPC"/>
                  </a:rPr>
                  <a:t>notional</a:t>
                </a:r>
                <a:r>
                  <a:rPr lang="es-PE" sz="900" b="0" i="0" dirty="0">
                    <a:solidFill>
                      <a:schemeClr val="tx1"/>
                    </a:solidFill>
                    <a:effectLst/>
                    <a:latin typeface="Segoe WPC"/>
                  </a:rPr>
                  <a:t> principal.</a:t>
                </a:r>
              </a:p>
              <a:p>
                <a:pPr algn="l">
                  <a:spcAft>
                    <a:spcPts val="1200"/>
                  </a:spcAft>
                  <a:buNone/>
                </a:pPr>
                <a:r>
                  <a:rPr lang="es-PE" sz="900" b="1" i="0" dirty="0">
                    <a:solidFill>
                      <a:schemeClr val="tx1"/>
                    </a:solidFill>
                    <a:effectLst/>
                    <a:latin typeface="Segoe WPC"/>
                  </a:rPr>
                  <a:t>8. </a:t>
                </a:r>
                <a:r>
                  <a:rPr lang="es-PE" sz="900" b="1" i="0" dirty="0" err="1">
                    <a:solidFill>
                      <a:schemeClr val="tx1"/>
                    </a:solidFill>
                    <a:effectLst/>
                    <a:latin typeface="Segoe WPC"/>
                  </a:rPr>
                  <a:t>Collateralization</a:t>
                </a:r>
                <a:r>
                  <a:rPr lang="es-PE" sz="900" b="1" i="0" dirty="0">
                    <a:solidFill>
                      <a:schemeClr val="tx1"/>
                    </a:solidFill>
                    <a:effectLst/>
                    <a:latin typeface="Segoe WPC"/>
                  </a:rPr>
                  <a:t>, </a:t>
                </a:r>
                <a:r>
                  <a:rPr lang="es-PE" sz="900" b="1" i="0" dirty="0" err="1">
                    <a:solidFill>
                      <a:schemeClr val="tx1"/>
                    </a:solidFill>
                    <a:effectLst/>
                    <a:latin typeface="Segoe WPC"/>
                  </a:rPr>
                  <a:t>SPVs</a:t>
                </a:r>
                <a:r>
                  <a:rPr lang="es-PE" sz="900" b="1" i="0" dirty="0">
                    <a:solidFill>
                      <a:schemeClr val="tx1"/>
                    </a:solidFill>
                    <a:effectLst/>
                    <a:latin typeface="Segoe WPC"/>
                  </a:rPr>
                  <a:t>, and </a:t>
                </a:r>
                <a:r>
                  <a:rPr lang="es-PE" sz="900" b="1" i="0" dirty="0" err="1">
                    <a:solidFill>
                      <a:schemeClr val="tx1"/>
                    </a:solidFill>
                    <a:effectLst/>
                    <a:latin typeface="Segoe WPC"/>
                  </a:rPr>
                  <a:t>Other</a:t>
                </a:r>
                <a:r>
                  <a:rPr lang="es-PE" sz="900" b="1" i="0" dirty="0">
                    <a:solidFill>
                      <a:schemeClr val="tx1"/>
                    </a:solidFill>
                    <a:effectLst/>
                    <a:latin typeface="Segoe WPC"/>
                  </a:rPr>
                  <a:t> OTC </a:t>
                </a:r>
                <a:r>
                  <a:rPr lang="es-PE" sz="900" b="1" i="0" dirty="0" err="1">
                    <a:solidFill>
                      <a:schemeClr val="tx1"/>
                    </a:solidFill>
                    <a:effectLst/>
                    <a:latin typeface="Segoe WPC"/>
                  </a:rPr>
                  <a:t>Credit-Risk</a:t>
                </a:r>
                <a:r>
                  <a:rPr lang="es-PE" sz="900" b="1" i="0" dirty="0">
                    <a:solidFill>
                      <a:schemeClr val="tx1"/>
                    </a:solidFill>
                    <a:effectLst/>
                    <a:latin typeface="Segoe WPC"/>
                  </a:rPr>
                  <a:t> Tools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Additional</a:t>
                </a:r>
                <a:r>
                  <a:rPr lang="es-PE" sz="900" b="0" i="0" dirty="0">
                    <a:solidFill>
                      <a:schemeClr val="tx1"/>
                    </a:solidFill>
                    <a:effectLst/>
                    <a:latin typeface="Segoe WPC"/>
                  </a:rPr>
                  <a:t> </a:t>
                </a:r>
                <a:r>
                  <a:rPr lang="es-PE" sz="900" b="0" i="0" dirty="0" err="1">
                    <a:solidFill>
                      <a:schemeClr val="tx1"/>
                    </a:solidFill>
                    <a:effectLst/>
                    <a:latin typeface="Segoe WPC"/>
                  </a:rPr>
                  <a:t>methods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reducing</a:t>
                </a:r>
                <a:r>
                  <a:rPr lang="es-PE" sz="900" b="0" i="0" dirty="0">
                    <a:solidFill>
                      <a:schemeClr val="tx1"/>
                    </a:solidFill>
                    <a:effectLst/>
                    <a:latin typeface="Segoe WPC"/>
                  </a:rPr>
                  <a:t> OTC </a:t>
                </a:r>
                <a:r>
                  <a:rPr lang="es-PE" sz="900" b="0" i="0" dirty="0" err="1">
                    <a:solidFill>
                      <a:schemeClr val="tx1"/>
                    </a:solidFill>
                    <a:effectLst/>
                    <a:latin typeface="Segoe WPC"/>
                  </a:rPr>
                  <a:t>credit</a:t>
                </a:r>
                <a:r>
                  <a:rPr lang="es-PE" sz="900" b="0" i="0" dirty="0">
                    <a:solidFill>
                      <a:schemeClr val="tx1"/>
                    </a:solidFill>
                    <a:effectLst/>
                    <a:latin typeface="Segoe WPC"/>
                  </a:rPr>
                  <a:t> and </a:t>
                </a:r>
                <a:r>
                  <a:rPr lang="es-PE" sz="900" b="0" i="0" dirty="0" err="1">
                    <a:solidFill>
                      <a:schemeClr val="tx1"/>
                    </a:solidFill>
                    <a:effectLst/>
                    <a:latin typeface="Segoe WPC"/>
                  </a:rPr>
                  <a:t>structural</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Collateralization</a:t>
                </a:r>
                <a:r>
                  <a:rPr lang="es-PE" sz="900" b="0" i="0" dirty="0">
                    <a:solidFill>
                      <a:schemeClr val="tx1"/>
                    </a:solidFill>
                    <a:effectLst/>
                    <a:latin typeface="Segoe WPC"/>
                  </a:rPr>
                  <a:t> </a:t>
                </a:r>
                <a:r>
                  <a:rPr lang="es-PE" sz="900" b="0" i="0" dirty="0" err="1">
                    <a:solidFill>
                      <a:schemeClr val="tx1"/>
                    </a:solidFill>
                    <a:effectLst/>
                    <a:latin typeface="Segoe WPC"/>
                  </a:rPr>
                  <a:t>makes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losing</a:t>
                </a:r>
                <a:r>
                  <a:rPr lang="es-PE" sz="900" b="0" i="0" dirty="0">
                    <a:solidFill>
                      <a:schemeClr val="tx1"/>
                    </a:solidFill>
                    <a:effectLst/>
                    <a:latin typeface="Segoe WPC"/>
                  </a:rPr>
                  <a:t> </a:t>
                </a:r>
                <a:r>
                  <a:rPr lang="es-PE" sz="900" b="0" i="0" dirty="0" err="1">
                    <a:solidFill>
                      <a:schemeClr val="tx1"/>
                    </a:solidFill>
                    <a:effectLst/>
                    <a:latin typeface="Segoe WPC"/>
                  </a:rPr>
                  <a:t>side</a:t>
                </a:r>
                <a:r>
                  <a:rPr lang="es-PE" sz="900" b="0" i="0" dirty="0">
                    <a:solidFill>
                      <a:schemeClr val="tx1"/>
                    </a:solidFill>
                    <a:effectLst/>
                    <a:latin typeface="Segoe WPC"/>
                  </a:rPr>
                  <a:t> post </a:t>
                </a:r>
                <a:r>
                  <a:rPr lang="es-PE" sz="900" b="0" i="0" dirty="0" err="1">
                    <a:solidFill>
                      <a:schemeClr val="tx1"/>
                    </a:solidFill>
                    <a:effectLst/>
                    <a:latin typeface="Segoe WPC"/>
                  </a:rPr>
                  <a:t>assets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net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trades</a:t>
                </a:r>
                <a:r>
                  <a:rPr lang="es-PE" sz="900" b="0" i="0" dirty="0">
                    <a:solidFill>
                      <a:schemeClr val="tx1"/>
                    </a:solidFill>
                    <a:effectLst/>
                    <a:latin typeface="Segoe WPC"/>
                  </a:rPr>
                  <a:t> </a:t>
                </a:r>
                <a:r>
                  <a:rPr lang="es-PE" sz="900" b="0" i="0" dirty="0" err="1">
                    <a:solidFill>
                      <a:schemeClr val="tx1"/>
                    </a:solidFill>
                    <a:effectLst/>
                    <a:latin typeface="Segoe WPC"/>
                  </a:rPr>
                  <a:t>moves</a:t>
                </a:r>
                <a:r>
                  <a:rPr lang="es-PE" sz="900" b="0" i="0" dirty="0">
                    <a:solidFill>
                      <a:schemeClr val="tx1"/>
                    </a:solidFill>
                    <a:effectLst/>
                    <a:latin typeface="Segoe WPC"/>
                  </a:rPr>
                  <a:t> </a:t>
                </a:r>
                <a:r>
                  <a:rPr lang="es-PE" sz="900" b="0" i="0" dirty="0" err="1">
                    <a:solidFill>
                      <a:schemeClr val="tx1"/>
                    </a:solidFill>
                    <a:effectLst/>
                    <a:latin typeface="Segoe WPC"/>
                  </a:rPr>
                  <a:t>against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similar in </a:t>
                </a:r>
                <a:r>
                  <a:rPr lang="es-PE" sz="900" b="0" i="0" dirty="0" err="1">
                    <a:solidFill>
                      <a:schemeClr val="tx1"/>
                    </a:solidFill>
                    <a:effectLst/>
                    <a:latin typeface="Segoe WPC"/>
                  </a:rPr>
                  <a:t>spirit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exchange</a:t>
                </a:r>
                <a:r>
                  <a:rPr lang="es-PE" sz="900" b="0" i="0" dirty="0">
                    <a:solidFill>
                      <a:schemeClr val="tx1"/>
                    </a:solidFill>
                    <a:effectLst/>
                    <a:latin typeface="Segoe WPC"/>
                  </a:rPr>
                  <a:t> </a:t>
                </a:r>
                <a:r>
                  <a:rPr lang="es-PE" sz="900" b="0" i="0" dirty="0" err="1">
                    <a:solidFill>
                      <a:schemeClr val="tx1"/>
                    </a:solidFill>
                    <a:effectLst/>
                    <a:latin typeface="Segoe WPC"/>
                  </a:rPr>
                  <a:t>margining</a:t>
                </a:r>
                <a:r>
                  <a:rPr lang="es-PE" sz="900" b="0" i="0" dirty="0">
                    <a:solidFill>
                      <a:schemeClr val="tx1"/>
                    </a:solidFill>
                    <a:effectLst/>
                    <a:latin typeface="Segoe WPC"/>
                  </a:rPr>
                  <a:t>. </a:t>
                </a:r>
                <a:r>
                  <a:rPr lang="es-PE" sz="900" b="0" i="0" dirty="0" err="1">
                    <a:solidFill>
                      <a:schemeClr val="tx1"/>
                    </a:solidFill>
                    <a:effectLst/>
                    <a:latin typeface="Segoe WPC"/>
                  </a:rPr>
                  <a:t>SPVs</a:t>
                </a:r>
                <a:r>
                  <a:rPr lang="es-PE" sz="900" b="0" i="0" dirty="0">
                    <a:solidFill>
                      <a:schemeClr val="tx1"/>
                    </a:solidFill>
                    <a:effectLst/>
                    <a:latin typeface="Segoe WPC"/>
                  </a:rPr>
                  <a:t> </a:t>
                </a:r>
                <a:r>
                  <a:rPr lang="es-PE" sz="900" b="0" i="0" dirty="0" err="1">
                    <a:solidFill>
                      <a:schemeClr val="tx1"/>
                    </a:solidFill>
                    <a:effectLst/>
                    <a:latin typeface="Segoe WPC"/>
                  </a:rPr>
                  <a:t>isolate</a:t>
                </a:r>
                <a:r>
                  <a:rPr lang="es-PE" sz="900" b="0" i="0" dirty="0">
                    <a:solidFill>
                      <a:schemeClr val="tx1"/>
                    </a:solidFill>
                    <a:effectLst/>
                    <a:latin typeface="Segoe WPC"/>
                  </a:rPr>
                  <a:t> </a:t>
                </a:r>
                <a:r>
                  <a:rPr lang="es-PE" sz="900" b="0" i="0" dirty="0" err="1">
                    <a:solidFill>
                      <a:schemeClr val="tx1"/>
                    </a:solidFill>
                    <a:effectLst/>
                    <a:latin typeface="Segoe WPC"/>
                  </a:rPr>
                  <a:t>risks</a:t>
                </a:r>
                <a:r>
                  <a:rPr lang="es-PE" sz="900" b="0" i="0" dirty="0">
                    <a:solidFill>
                      <a:schemeClr val="tx1"/>
                    </a:solidFill>
                    <a:effectLst/>
                    <a:latin typeface="Segoe WPC"/>
                  </a:rPr>
                  <a:t> </a:t>
                </a:r>
                <a:r>
                  <a:rPr lang="es-PE" sz="900" b="0" i="0" dirty="0" err="1">
                    <a:solidFill>
                      <a:schemeClr val="tx1"/>
                    </a:solidFill>
                    <a:effectLst/>
                    <a:latin typeface="Segoe WPC"/>
                  </a:rPr>
                  <a:t>legally</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their</a:t>
                </a:r>
                <a:r>
                  <a:rPr lang="es-PE" sz="900" b="0" i="0" dirty="0">
                    <a:solidFill>
                      <a:schemeClr val="tx1"/>
                    </a:solidFill>
                    <a:effectLst/>
                    <a:latin typeface="Segoe WPC"/>
                  </a:rPr>
                  <a:t> sponsor.</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Collateral</a:t>
                </a:r>
                <a:r>
                  <a:rPr lang="es-PE" sz="900" b="0" i="0" dirty="0">
                    <a:solidFill>
                      <a:schemeClr val="tx1"/>
                    </a:solidFill>
                    <a:effectLst/>
                    <a:latin typeface="Segoe WPC"/>
                  </a:rPr>
                  <a:t> </a:t>
                </a:r>
                <a:r>
                  <a:rPr lang="es-PE" sz="900" b="0" i="0" dirty="0" err="1">
                    <a:solidFill>
                      <a:schemeClr val="tx1"/>
                    </a:solidFill>
                    <a:effectLst/>
                    <a:latin typeface="Segoe WPC"/>
                  </a:rPr>
                  <a:t>follows</a:t>
                </a:r>
                <a:r>
                  <a:rPr lang="es-PE" sz="900" b="0" i="0" dirty="0">
                    <a:solidFill>
                      <a:schemeClr val="tx1"/>
                    </a:solidFill>
                    <a:effectLst/>
                    <a:latin typeface="Segoe WPC"/>
                  </a:rPr>
                  <a:t> </a:t>
                </a:r>
                <a:r>
                  <a:rPr lang="es-PE" sz="900" b="0" i="0" dirty="0" err="1">
                    <a:solidFill>
                      <a:schemeClr val="tx1"/>
                    </a:solidFill>
                    <a:effectLst/>
                    <a:latin typeface="Segoe WPC"/>
                  </a:rPr>
                  <a:t>mark-to-market</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SPVs</a:t>
                </a:r>
                <a:r>
                  <a:rPr lang="es-PE" sz="900" b="0" i="0" dirty="0">
                    <a:solidFill>
                      <a:schemeClr val="tx1"/>
                    </a:solidFill>
                    <a:effectLst/>
                    <a:latin typeface="Segoe WPC"/>
                  </a:rPr>
                  <a:t> ring-</a:t>
                </a:r>
                <a:r>
                  <a:rPr lang="es-PE" sz="900" b="0" i="0" dirty="0" err="1">
                    <a:solidFill>
                      <a:schemeClr val="tx1"/>
                    </a:solidFill>
                    <a:effectLst/>
                    <a:latin typeface="Segoe WPC"/>
                  </a:rPr>
                  <a:t>fence</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and </a:t>
                </a:r>
                <a:r>
                  <a:rPr lang="es-PE" sz="900" b="0" i="0" dirty="0" err="1">
                    <a:solidFill>
                      <a:schemeClr val="tx1"/>
                    </a:solidFill>
                    <a:effectLst/>
                    <a:latin typeface="Segoe WPC"/>
                  </a:rPr>
                  <a:t>liabilities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parent</a:t>
                </a:r>
                <a:r>
                  <a:rPr lang="es-PE" sz="900" b="0" i="0" dirty="0">
                    <a:solidFill>
                      <a:schemeClr val="tx1"/>
                    </a:solidFill>
                    <a:effectLst/>
                    <a:latin typeface="Segoe WPC"/>
                  </a:rPr>
                  <a:t> </a:t>
                </a:r>
                <a:r>
                  <a:rPr lang="es-PE" sz="900" b="0" i="0" dirty="0" err="1">
                    <a:solidFill>
                      <a:schemeClr val="tx1"/>
                    </a:solidFill>
                    <a:effectLst/>
                    <a:latin typeface="Segoe WPC"/>
                  </a:rPr>
                  <a:t>company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Net </a:t>
                </a:r>
                <a:r>
                  <a:rPr lang="es-PE" sz="900" b="0" i="0" dirty="0" err="1">
                    <a:solidFill>
                      <a:schemeClr val="tx1"/>
                    </a:solidFill>
                    <a:effectLst/>
                    <a:latin typeface="Segoe WPC"/>
                  </a:rPr>
                  <a:t>collateral</a:t>
                </a:r>
                <a:r>
                  <a:rPr lang="es-PE" sz="900" b="0" i="0" dirty="0">
                    <a:solidFill>
                      <a:schemeClr val="tx1"/>
                    </a:solidFill>
                    <a:effectLst/>
                    <a:latin typeface="Segoe WPC"/>
                  </a:rPr>
                  <a:t> </a:t>
                </a:r>
                <a:r>
                  <a:rPr lang="es-PE" sz="900" b="0" i="0" dirty="0" err="1">
                    <a:solidFill>
                      <a:schemeClr val="tx1"/>
                    </a:solidFill>
                    <a:effectLst/>
                    <a:latin typeface="Segoe WPC"/>
                  </a:rPr>
                  <a:t>posted</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based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current</a:t>
                </a:r>
                <a:r>
                  <a:rPr lang="es-PE" sz="900" b="0" i="0" dirty="0">
                    <a:solidFill>
                      <a:schemeClr val="tx1"/>
                    </a:solidFill>
                    <a:effectLst/>
                    <a:latin typeface="Segoe WPC"/>
                  </a:rPr>
                  <a:t> net </a:t>
                </a:r>
                <a:r>
                  <a:rPr lang="es-PE" sz="900" b="0" i="0" dirty="0" err="1">
                    <a:solidFill>
                      <a:schemeClr val="tx1"/>
                    </a:solidFill>
                    <a:effectLst/>
                    <a:latin typeface="Segoe WPC"/>
                  </a:rPr>
                  <a:t>mark-to-market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covered</a:t>
                </a:r>
                <a:r>
                  <a:rPr lang="es-PE" sz="900" b="0" i="0" dirty="0">
                    <a:solidFill>
                      <a:schemeClr val="tx1"/>
                    </a:solidFill>
                    <a:effectLst/>
                    <a:latin typeface="Segoe WPC"/>
                  </a:rPr>
                  <a:t> </a:t>
                </a:r>
                <a:r>
                  <a:rPr lang="es-PE" sz="900" b="0" i="0" dirty="0" err="1">
                    <a:solidFill>
                      <a:schemeClr val="tx1"/>
                    </a:solidFill>
                    <a:effectLst/>
                    <a:latin typeface="Segoe WPC"/>
                  </a:rPr>
                  <a:t>trades</a:t>
                </a:r>
                <a:r>
                  <a:rPr lang="es-PE" sz="900" b="0" i="0" dirty="0">
                    <a:solidFill>
                      <a:schemeClr val="tx1"/>
                    </a:solidFill>
                    <a:effectLst/>
                    <a:latin typeface="Segoe WPC"/>
                  </a:rPr>
                  <a:t>, </a:t>
                </a:r>
                <a:r>
                  <a:rPr lang="es-PE" sz="900" b="0" i="0" dirty="0" err="1">
                    <a:solidFill>
                      <a:schemeClr val="tx1"/>
                    </a:solidFill>
                    <a:effectLst/>
                    <a:latin typeface="Segoe WPC"/>
                  </a:rPr>
                  <a:t>subject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thresholds</a:t>
                </a:r>
                <a:r>
                  <a:rPr lang="es-PE" sz="900" b="0" i="0" dirty="0">
                    <a:solidFill>
                      <a:schemeClr val="tx1"/>
                    </a:solidFill>
                    <a:effectLst/>
                    <a:latin typeface="Segoe WPC"/>
                  </a:rPr>
                  <a:t> and </a:t>
                </a:r>
                <a:r>
                  <a:rPr lang="es-PE" sz="900" b="0" i="0" dirty="0" err="1">
                    <a:solidFill>
                      <a:schemeClr val="tx1"/>
                    </a:solidFill>
                    <a:effectLst/>
                    <a:latin typeface="Segoe WPC"/>
                  </a:rPr>
                  <a:t>minimum</a:t>
                </a:r>
                <a:r>
                  <a:rPr lang="es-PE" sz="900" b="0" i="0" dirty="0">
                    <a:solidFill>
                      <a:schemeClr val="tx1"/>
                    </a:solidFill>
                    <a:effectLst/>
                    <a:latin typeface="Segoe WPC"/>
                  </a:rPr>
                  <a:t> transfer </a:t>
                </a:r>
                <a:r>
                  <a:rPr lang="es-PE" sz="900" b="0" i="0" dirty="0" err="1">
                    <a:solidFill>
                      <a:schemeClr val="tx1"/>
                    </a:solidFill>
                    <a:effectLst/>
                    <a:latin typeface="Segoe WPC"/>
                  </a:rPr>
                  <a:t>amounts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Collateralization</a:t>
                </a:r>
                <a:r>
                  <a:rPr lang="es-PE" sz="900" b="0" i="0" dirty="0">
                    <a:solidFill>
                      <a:schemeClr val="tx1"/>
                    </a:solidFill>
                    <a:effectLst/>
                    <a:latin typeface="Segoe WPC"/>
                  </a:rPr>
                  <a:t> resembles </a:t>
                </a:r>
                <a:r>
                  <a:rPr lang="es-PE" sz="900" b="0" i="0" dirty="0" err="1">
                    <a:solidFill>
                      <a:schemeClr val="tx1"/>
                    </a:solidFill>
                    <a:effectLst/>
                    <a:latin typeface="Segoe WPC"/>
                  </a:rPr>
                  <a:t>margining</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governed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bilateral </a:t>
                </a:r>
                <a:r>
                  <a:rPr lang="es-PE" sz="900" b="0" i="0" dirty="0" err="1">
                    <a:solidFill>
                      <a:schemeClr val="tx1"/>
                    </a:solidFill>
                    <a:effectLst/>
                    <a:latin typeface="Segoe WPC"/>
                  </a:rPr>
                  <a:t>agreements</a:t>
                </a:r>
                <a:r>
                  <a:rPr lang="es-PE" sz="900" b="0" i="0" dirty="0">
                    <a:solidFill>
                      <a:schemeClr val="tx1"/>
                    </a:solidFill>
                    <a:effectLst/>
                    <a:latin typeface="Segoe WPC"/>
                  </a:rPr>
                  <a:t>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exchange</a:t>
                </a:r>
                <a:r>
                  <a:rPr lang="es-PE" sz="900" b="0" i="0" dirty="0">
                    <a:solidFill>
                      <a:schemeClr val="tx1"/>
                    </a:solidFill>
                    <a:effectLst/>
                    <a:latin typeface="Segoe WPC"/>
                  </a:rPr>
                  <a:t> rules. </a:t>
                </a:r>
                <a:r>
                  <a:rPr lang="es-PE" sz="900" b="0" i="0" dirty="0" err="1">
                    <a:solidFill>
                      <a:schemeClr val="tx1"/>
                    </a:solidFill>
                    <a:effectLst/>
                    <a:latin typeface="Segoe WPC"/>
                  </a:rPr>
                  <a:t>SPVs</a:t>
                </a:r>
                <a:r>
                  <a:rPr lang="es-PE" sz="900" b="0" i="0" dirty="0">
                    <a:solidFill>
                      <a:schemeClr val="tx1"/>
                    </a:solidFill>
                    <a:effectLst/>
                    <a:latin typeface="Segoe WPC"/>
                  </a:rPr>
                  <a:t> are </a:t>
                </a:r>
                <a:r>
                  <a:rPr lang="es-PE" sz="900" b="0" i="0" dirty="0" err="1">
                    <a:solidFill>
                      <a:schemeClr val="tx1"/>
                    </a:solidFill>
                    <a:effectLst/>
                    <a:latin typeface="Segoe WPC"/>
                  </a:rPr>
                  <a:t>used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securitize</a:t>
                </a:r>
                <a:r>
                  <a:rPr lang="es-PE" sz="900" b="0" i="0" dirty="0">
                    <a:solidFill>
                      <a:schemeClr val="tx1"/>
                    </a:solidFill>
                    <a:effectLst/>
                    <a:latin typeface="Segoe WPC"/>
                  </a:rPr>
                  <a:t> portfolios and </a:t>
                </a:r>
                <a:r>
                  <a:rPr lang="es-PE" sz="900" b="0" i="0" dirty="0" err="1">
                    <a:solidFill>
                      <a:schemeClr val="tx1"/>
                    </a:solidFill>
                    <a:effectLst/>
                    <a:latin typeface="Segoe WPC"/>
                  </a:rPr>
                  <a:t>keep</a:t>
                </a:r>
                <a:r>
                  <a:rPr lang="es-PE" sz="900" b="0" i="0" dirty="0">
                    <a:solidFill>
                      <a:schemeClr val="tx1"/>
                    </a:solidFill>
                    <a:effectLst/>
                    <a:latin typeface="Segoe WPC"/>
                  </a:rPr>
                  <a:t> </a:t>
                </a:r>
                <a:r>
                  <a:rPr lang="es-PE" sz="900" b="0" i="0" dirty="0" err="1">
                    <a:solidFill>
                      <a:schemeClr val="tx1"/>
                    </a:solidFill>
                    <a:effectLst/>
                    <a:latin typeface="Segoe WPC"/>
                  </a:rPr>
                  <a:t>credit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legally</a:t>
                </a:r>
                <a:r>
                  <a:rPr lang="es-PE" sz="900" b="0" i="0" dirty="0">
                    <a:solidFill>
                      <a:schemeClr val="tx1"/>
                    </a:solidFill>
                    <a:effectLst/>
                    <a:latin typeface="Segoe WPC"/>
                  </a:rPr>
                  <a:t> </a:t>
                </a:r>
                <a:r>
                  <a:rPr lang="es-PE" sz="900" b="0" i="0" dirty="0" err="1">
                    <a:solidFill>
                      <a:schemeClr val="tx1"/>
                    </a:solidFill>
                    <a:effectLst/>
                    <a:latin typeface="Segoe WPC"/>
                  </a:rPr>
                  <a:t>separate</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sponsoring</a:t>
                </a:r>
                <a:r>
                  <a:rPr lang="es-PE" sz="900" b="0" i="0" dirty="0">
                    <a:solidFill>
                      <a:schemeClr val="tx1"/>
                    </a:solidFill>
                    <a:effectLst/>
                    <a:latin typeface="Segoe WPC"/>
                  </a:rPr>
                  <a:t> </a:t>
                </a:r>
                <a:r>
                  <a:rPr lang="es-PE" sz="900" b="0" i="0" dirty="0" err="1">
                    <a:solidFill>
                      <a:schemeClr val="tx1"/>
                    </a:solidFill>
                    <a:effectLst/>
                    <a:latin typeface="Segoe WPC"/>
                  </a:rPr>
                  <a:t>firm</a:t>
                </a:r>
                <a:r>
                  <a:rPr lang="es-PE" sz="900" b="0" i="0" dirty="0">
                    <a:solidFill>
                      <a:schemeClr val="tx1"/>
                    </a:solidFill>
                    <a:effectLst/>
                    <a:latin typeface="Segoe WPC"/>
                  </a:rPr>
                  <a:t>. </a:t>
                </a:r>
                <a:r>
                  <a:rPr lang="es-PE" sz="900" b="0" i="0" dirty="0" err="1">
                    <a:solidFill>
                      <a:schemeClr val="tx1"/>
                    </a:solidFill>
                    <a:effectLst/>
                    <a:latin typeface="Segoe WPC"/>
                  </a:rPr>
                  <a:t>DPCs</a:t>
                </a:r>
                <a:r>
                  <a:rPr lang="es-PE" sz="900" b="0" i="0" dirty="0">
                    <a:solidFill>
                      <a:schemeClr val="tx1"/>
                    </a:solidFill>
                    <a:effectLst/>
                    <a:latin typeface="Segoe WPC"/>
                  </a:rPr>
                  <a:t> </a:t>
                </a:r>
                <a:r>
                  <a:rPr lang="es-PE" sz="900" b="0" i="0" dirty="0" err="1">
                    <a:solidFill>
                      <a:schemeClr val="tx1"/>
                    </a:solidFill>
                    <a:effectLst/>
                    <a:latin typeface="Segoe WPC"/>
                  </a:rPr>
                  <a:t>historically</a:t>
                </a:r>
                <a:r>
                  <a:rPr lang="es-PE" sz="900" b="0" i="0" dirty="0">
                    <a:solidFill>
                      <a:schemeClr val="tx1"/>
                    </a:solidFill>
                    <a:effectLst/>
                    <a:latin typeface="Segoe WPC"/>
                  </a:rPr>
                  <a:t> </a:t>
                </a:r>
                <a:r>
                  <a:rPr lang="es-PE" sz="900" b="0" i="0" dirty="0" err="1">
                    <a:solidFill>
                      <a:schemeClr val="tx1"/>
                    </a:solidFill>
                    <a:effectLst/>
                    <a:latin typeface="Segoe WPC"/>
                  </a:rPr>
                  <a:t>tried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create</a:t>
                </a:r>
                <a:r>
                  <a:rPr lang="es-PE" sz="900" b="0" i="0" dirty="0">
                    <a:solidFill>
                      <a:schemeClr val="tx1"/>
                    </a:solidFill>
                    <a:effectLst/>
                    <a:latin typeface="Segoe WPC"/>
                  </a:rPr>
                  <a:t> AAA-</a:t>
                </a:r>
                <a:r>
                  <a:rPr lang="es-PE" sz="900" b="0" i="0" dirty="0" err="1">
                    <a:solidFill>
                      <a:schemeClr val="tx1"/>
                    </a:solidFill>
                    <a:effectLst/>
                    <a:latin typeface="Segoe WPC"/>
                  </a:rPr>
                  <a:t>rated</a:t>
                </a:r>
                <a:r>
                  <a:rPr lang="es-PE" sz="900" b="0" i="0" dirty="0">
                    <a:solidFill>
                      <a:schemeClr val="tx1"/>
                    </a:solidFill>
                    <a:effectLst/>
                    <a:latin typeface="Segoe WPC"/>
                  </a:rPr>
                  <a:t> </a:t>
                </a:r>
                <a:r>
                  <a:rPr lang="es-PE" sz="900" b="0" i="0" dirty="0" err="1">
                    <a:solidFill>
                      <a:schemeClr val="tx1"/>
                    </a:solidFill>
                    <a:effectLst/>
                    <a:latin typeface="Segoe WPC"/>
                  </a:rPr>
                  <a:t>counterparties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became</a:t>
                </a:r>
                <a:r>
                  <a:rPr lang="es-PE" sz="900" b="0" i="0" dirty="0">
                    <a:solidFill>
                      <a:schemeClr val="tx1"/>
                    </a:solidFill>
                    <a:effectLst/>
                    <a:latin typeface="Segoe WPC"/>
                  </a:rPr>
                  <a:t>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important</a:t>
                </a:r>
                <a:r>
                  <a:rPr lang="es-PE" sz="900" b="0" i="0" dirty="0">
                    <a:solidFill>
                      <a:schemeClr val="tx1"/>
                    </a:solidFill>
                    <a:effectLst/>
                    <a:latin typeface="Segoe WPC"/>
                  </a:rPr>
                  <a:t> as </a:t>
                </a:r>
                <a:r>
                  <a:rPr lang="es-PE" sz="900" b="0" i="0" dirty="0" err="1">
                    <a:solidFill>
                      <a:schemeClr val="tx1"/>
                    </a:solidFill>
                    <a:effectLst/>
                    <a:latin typeface="Segoe WPC"/>
                  </a:rPr>
                  <a:t>collateralization</a:t>
                </a:r>
                <a:r>
                  <a:rPr lang="es-PE" sz="900" b="0" i="0" dirty="0">
                    <a:solidFill>
                      <a:schemeClr val="tx1"/>
                    </a:solidFill>
                    <a:effectLst/>
                    <a:latin typeface="Segoe WPC"/>
                  </a:rPr>
                  <a:t> </a:t>
                </a:r>
                <a:r>
                  <a:rPr lang="es-PE" sz="900" b="0" i="0" dirty="0" err="1">
                    <a:solidFill>
                      <a:schemeClr val="tx1"/>
                    </a:solidFill>
                    <a:effectLst/>
                    <a:latin typeface="Segoe WPC"/>
                  </a:rPr>
                  <a:t>increased</a:t>
                </a:r>
                <a:r>
                  <a:rPr lang="es-PE" sz="900" b="0" i="0" dirty="0">
                    <a:solidFill>
                      <a:schemeClr val="tx1"/>
                    </a:solidFill>
                    <a:effectLst/>
                    <a:latin typeface="Segoe WPC"/>
                  </a:rPr>
                  <a:t>. </a:t>
                </a:r>
                <a:r>
                  <a:rPr lang="es-PE" sz="900" b="0" i="0" dirty="0" err="1">
                    <a:solidFill>
                      <a:schemeClr val="tx1"/>
                    </a:solidFill>
                    <a:effectLst/>
                    <a:latin typeface="Segoe WPC"/>
                  </a:rPr>
                  <a:t>Credit</a:t>
                </a:r>
                <a:r>
                  <a:rPr lang="es-PE" sz="900" b="0" i="0" dirty="0">
                    <a:solidFill>
                      <a:schemeClr val="tx1"/>
                    </a:solidFill>
                    <a:effectLst/>
                    <a:latin typeface="Segoe WPC"/>
                  </a:rPr>
                  <a:t> default swaps </a:t>
                </a:r>
                <a:r>
                  <a:rPr lang="es-PE" sz="900" b="0" i="0" dirty="0" err="1">
                    <a:solidFill>
                      <a:schemeClr val="tx1"/>
                    </a:solidFill>
                    <a:effectLst/>
                    <a:latin typeface="Segoe WPC"/>
                  </a:rPr>
                  <a:t>were</a:t>
                </a:r>
                <a:r>
                  <a:rPr lang="es-PE" sz="900" b="0" i="0" dirty="0">
                    <a:solidFill>
                      <a:schemeClr val="tx1"/>
                    </a:solidFill>
                    <a:effectLst/>
                    <a:latin typeface="Segoe WPC"/>
                  </a:rPr>
                  <a:t> </a:t>
                </a:r>
                <a:r>
                  <a:rPr lang="es-PE" sz="900" b="0" i="0" dirty="0" err="1">
                    <a:solidFill>
                      <a:schemeClr val="tx1"/>
                    </a:solidFill>
                    <a:effectLst/>
                    <a:latin typeface="Segoe WPC"/>
                  </a:rPr>
                  <a:t>also</a:t>
                </a:r>
                <a:r>
                  <a:rPr lang="es-PE" sz="900" b="0" i="0" dirty="0">
                    <a:solidFill>
                      <a:schemeClr val="tx1"/>
                    </a:solidFill>
                    <a:effectLst/>
                    <a:latin typeface="Segoe WPC"/>
                  </a:rPr>
                  <a:t> </a:t>
                </a:r>
                <a:r>
                  <a:rPr lang="es-PE" sz="900" b="0" i="0" dirty="0" err="1">
                    <a:solidFill>
                      <a:schemeClr val="tx1"/>
                    </a:solidFill>
                    <a:effectLst/>
                    <a:latin typeface="Segoe WPC"/>
                  </a:rPr>
                  <a:t>used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transfer </a:t>
                </a:r>
                <a:r>
                  <a:rPr lang="es-PE" sz="900" b="0" i="0" dirty="0" err="1">
                    <a:solidFill>
                      <a:schemeClr val="tx1"/>
                    </a:solidFill>
                    <a:effectLst/>
                    <a:latin typeface="Segoe WPC"/>
                  </a:rPr>
                  <a:t>credit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though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crisis </a:t>
                </a:r>
                <a:r>
                  <a:rPr lang="es-PE" sz="900" b="0" i="0" dirty="0" err="1">
                    <a:solidFill>
                      <a:schemeClr val="tx1"/>
                    </a:solidFill>
                    <a:effectLst/>
                    <a:latin typeface="Segoe WPC"/>
                  </a:rPr>
                  <a:t>showed</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protection</a:t>
                </a:r>
                <a:r>
                  <a:rPr lang="es-PE" sz="900" b="0" i="0" dirty="0">
                    <a:solidFill>
                      <a:schemeClr val="tx1"/>
                    </a:solidFill>
                    <a:effectLst/>
                    <a:latin typeface="Segoe WPC"/>
                  </a:rPr>
                  <a:t> </a:t>
                </a:r>
                <a:r>
                  <a:rPr lang="es-PE" sz="900" b="0" i="0" dirty="0" err="1">
                    <a:solidFill>
                      <a:schemeClr val="tx1"/>
                    </a:solidFill>
                    <a:effectLst/>
                    <a:latin typeface="Segoe WPC"/>
                  </a:rPr>
                  <a:t>sellers</a:t>
                </a:r>
                <a:r>
                  <a:rPr lang="es-PE" sz="900" b="0" i="0" dirty="0">
                    <a:solidFill>
                      <a:schemeClr val="tx1"/>
                    </a:solidFill>
                    <a:effectLst/>
                    <a:latin typeface="Segoe WPC"/>
                  </a:rPr>
                  <a:t> </a:t>
                </a:r>
                <a:r>
                  <a:rPr lang="es-PE" sz="900" b="0" i="0" dirty="0" err="1">
                    <a:solidFill>
                      <a:schemeClr val="tx1"/>
                    </a:solidFill>
                    <a:effectLst/>
                    <a:latin typeface="Segoe WPC"/>
                  </a:rPr>
                  <a:t>themselves</a:t>
                </a:r>
                <a:r>
                  <a:rPr lang="es-PE" sz="900" b="0" i="0" dirty="0">
                    <a:solidFill>
                      <a:schemeClr val="tx1"/>
                    </a:solidFill>
                    <a:effectLst/>
                    <a:latin typeface="Segoe WPC"/>
                  </a:rPr>
                  <a:t> can </a:t>
                </a:r>
                <a:r>
                  <a:rPr lang="es-PE" sz="900" b="0" i="0" dirty="0" err="1">
                    <a:solidFill>
                      <a:schemeClr val="tx1"/>
                    </a:solidFill>
                    <a:effectLst/>
                    <a:latin typeface="Segoe WPC"/>
                  </a:rPr>
                  <a:t>fail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Collateral</a:t>
                </a:r>
                <a:r>
                  <a:rPr lang="es-PE" sz="900" b="0" i="0" dirty="0">
                    <a:solidFill>
                      <a:schemeClr val="tx1"/>
                    </a:solidFill>
                    <a:effectLst/>
                    <a:latin typeface="Segoe WPC"/>
                  </a:rPr>
                  <a:t> reduces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necessarily</a:t>
                </a:r>
                <a:r>
                  <a:rPr lang="es-PE" sz="900" b="0" i="0" dirty="0">
                    <a:solidFill>
                      <a:schemeClr val="tx1"/>
                    </a:solidFill>
                    <a:effectLst/>
                    <a:latin typeface="Segoe WPC"/>
                  </a:rPr>
                  <a:t> </a:t>
                </a:r>
                <a:r>
                  <a:rPr lang="es-PE" sz="900" b="0" i="0" dirty="0" err="1">
                    <a:solidFill>
                      <a:schemeClr val="tx1"/>
                    </a:solidFill>
                    <a:effectLst/>
                    <a:latin typeface="Segoe WPC"/>
                  </a:rPr>
                  <a:t>eliminate</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a:t>
                </a:r>
                <a:r>
                  <a:rPr lang="es-PE" sz="900" b="0" i="0" dirty="0" err="1">
                    <a:solidFill>
                      <a:schemeClr val="tx1"/>
                    </a:solidFill>
                    <a:effectLst/>
                    <a:latin typeface="Segoe WPC"/>
                  </a:rPr>
                  <a:t>especially</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thresholds</a:t>
                </a:r>
                <a:r>
                  <a:rPr lang="es-PE" sz="900" b="0" i="0" dirty="0">
                    <a:solidFill>
                      <a:schemeClr val="tx1"/>
                    </a:solidFill>
                    <a:effectLst/>
                    <a:latin typeface="Segoe WPC"/>
                  </a:rPr>
                  <a:t>, transfer </a:t>
                </a:r>
                <a:r>
                  <a:rPr lang="es-PE" sz="900" b="0" i="0" dirty="0" err="1">
                    <a:solidFill>
                      <a:schemeClr val="tx1"/>
                    </a:solidFill>
                    <a:effectLst/>
                    <a:latin typeface="Segoe WPC"/>
                  </a:rPr>
                  <a:t>lags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legal </a:t>
                </a:r>
                <a:r>
                  <a:rPr lang="es-PE" sz="900" b="0" i="0" dirty="0" err="1">
                    <a:solidFill>
                      <a:schemeClr val="tx1"/>
                    </a:solidFill>
                    <a:effectLst/>
                    <a:latin typeface="Segoe WPC"/>
                  </a:rPr>
                  <a:t>problems</a:t>
                </a:r>
                <a:r>
                  <a:rPr lang="es-PE" sz="900" b="0" i="0" dirty="0">
                    <a:solidFill>
                      <a:schemeClr val="tx1"/>
                    </a:solidFill>
                    <a:effectLst/>
                    <a:latin typeface="Segoe WPC"/>
                  </a:rPr>
                  <a:t> </a:t>
                </a:r>
                <a:r>
                  <a:rPr lang="es-PE" sz="900" b="0" i="0" dirty="0" err="1">
                    <a:solidFill>
                      <a:schemeClr val="tx1"/>
                    </a:solidFill>
                    <a:effectLst/>
                    <a:latin typeface="Segoe WPC"/>
                  </a:rPr>
                  <a:t>exist</a:t>
                </a:r>
                <a:r>
                  <a:rPr lang="es-PE" sz="900" b="0" i="0" dirty="0">
                    <a:solidFill>
                      <a:schemeClr val="tx1"/>
                    </a:solidFill>
                    <a:effectLst/>
                    <a:latin typeface="Segoe WPC"/>
                  </a:rPr>
                  <a:t>.</a:t>
                </a:r>
              </a:p>
            </p:txBody>
          </p:sp>
        </mc:Choice>
        <mc:Fallback xmlns="">
          <p:sp>
            <p:nvSpPr>
              <p:cNvPr id="7" name="CuadroTexto 6">
                <a:extLst>
                  <a:ext uri="{FF2B5EF4-FFF2-40B4-BE49-F238E27FC236}">
                    <a16:creationId xmlns:a16="http://schemas.microsoft.com/office/drawing/2014/main" id="{281758F6-9269-EA07-DBB6-0595D66838B6}"/>
                  </a:ext>
                </a:extLst>
              </p:cNvPr>
              <p:cNvSpPr txBox="1">
                <a:spLocks noRot="1" noChangeAspect="1" noMove="1" noResize="1" noEditPoints="1" noAdjustHandles="1" noChangeArrowheads="1" noChangeShapeType="1" noTextEdit="1"/>
              </p:cNvSpPr>
              <p:nvPr/>
            </p:nvSpPr>
            <p:spPr>
              <a:xfrm>
                <a:off x="5907314" y="41615"/>
                <a:ext cx="6193972" cy="7063472"/>
              </a:xfrm>
              <a:prstGeom prst="rect">
                <a:avLst/>
              </a:prstGeom>
              <a:blipFill>
                <a:blip r:embed="rId2"/>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21009000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EA2DBC-2889-A95D-B436-09B3E52EF186}"/>
              </a:ext>
            </a:extLst>
          </p:cNvPr>
          <p:cNvSpPr>
            <a:spLocks noGrp="1"/>
          </p:cNvSpPr>
          <p:nvPr>
            <p:ph type="title"/>
          </p:nvPr>
        </p:nvSpPr>
        <p:spPr>
          <a:xfrm>
            <a:off x="-101600" y="-90929"/>
            <a:ext cx="10515600" cy="464457"/>
          </a:xfrm>
        </p:spPr>
        <p:txBody>
          <a:bodyPr>
            <a:noAutofit/>
          </a:bodyPr>
          <a:lstStyle/>
          <a:p>
            <a:r>
              <a:rPr lang="en-US" sz="2400" dirty="0"/>
              <a:t>Central Clearing</a:t>
            </a:r>
            <a:endParaRPr lang="es-PE" sz="2400" dirty="0"/>
          </a:p>
        </p:txBody>
      </p:sp>
      <p:sp>
        <p:nvSpPr>
          <p:cNvPr id="5" name="CuadroTexto 4">
            <a:extLst>
              <a:ext uri="{FF2B5EF4-FFF2-40B4-BE49-F238E27FC236}">
                <a16:creationId xmlns:a16="http://schemas.microsoft.com/office/drawing/2014/main" id="{0C0B3C0C-7AAC-1F94-8228-127A688F0699}"/>
              </a:ext>
            </a:extLst>
          </p:cNvPr>
          <p:cNvSpPr txBox="1"/>
          <p:nvPr/>
        </p:nvSpPr>
        <p:spPr>
          <a:xfrm>
            <a:off x="0" y="210026"/>
            <a:ext cx="6324600" cy="7248138"/>
          </a:xfrm>
          <a:prstGeom prst="rect">
            <a:avLst/>
          </a:prstGeom>
          <a:noFill/>
        </p:spPr>
        <p:txBody>
          <a:bodyPr wrap="square">
            <a:spAutoFit/>
          </a:bodyPr>
          <a:lstStyle/>
          <a:p>
            <a:pPr algn="l">
              <a:spcAft>
                <a:spcPts val="600"/>
              </a:spcAft>
              <a:buNone/>
            </a:pPr>
            <a:r>
              <a:rPr lang="en-US" sz="900" b="1" i="0" dirty="0">
                <a:effectLst/>
                <a:latin typeface="Segoe WPC"/>
              </a:rPr>
              <a:t>1. What a CCP Is and How It Works</a:t>
            </a:r>
            <a:br>
              <a:rPr lang="en-US" sz="900" b="0" i="0" dirty="0">
                <a:effectLst/>
                <a:latin typeface="Segoe WPC"/>
              </a:rPr>
            </a:br>
            <a:r>
              <a:rPr lang="en-US" sz="900" b="1" i="0" dirty="0">
                <a:effectLst/>
                <a:latin typeface="Segoe WPC"/>
              </a:rPr>
              <a:t>Financial Object:</a:t>
            </a:r>
            <a:r>
              <a:rPr lang="en-US" sz="900" b="0" i="0" dirty="0">
                <a:effectLst/>
                <a:latin typeface="Segoe WPC"/>
              </a:rPr>
              <a:t> A central counterparty (CCP) that becomes the buyer to every seller and the seller to every buyer.</a:t>
            </a:r>
            <a:br>
              <a:rPr lang="en-US" sz="900" b="0" i="0" dirty="0">
                <a:effectLst/>
                <a:latin typeface="Segoe WPC"/>
              </a:rPr>
            </a:br>
            <a:r>
              <a:rPr lang="en-US" sz="900" b="1" i="0" dirty="0">
                <a:effectLst/>
                <a:latin typeface="Segoe WPC"/>
              </a:rPr>
              <a:t>Plain Intuition:</a:t>
            </a:r>
            <a:r>
              <a:rPr lang="en-US" sz="900" b="0" i="0" dirty="0">
                <a:effectLst/>
                <a:latin typeface="Segoe WPC"/>
              </a:rPr>
              <a:t> Instead of market participants facing each other directly, they face the CCP, which manages margin, netting, settlement, and default resolution.</a:t>
            </a:r>
            <a:br>
              <a:rPr lang="en-US" sz="900" b="0" i="0" dirty="0">
                <a:effectLst/>
                <a:latin typeface="Segoe WPC"/>
              </a:rPr>
            </a:br>
            <a:r>
              <a:rPr lang="en-US" sz="900" b="1" i="0" dirty="0">
                <a:effectLst/>
                <a:latin typeface="Segoe WPC"/>
              </a:rPr>
              <a:t>Visual Intuition:</a:t>
            </a:r>
            <a:r>
              <a:rPr lang="en-US" sz="900" b="0" i="0" dirty="0">
                <a:effectLst/>
                <a:latin typeface="Segoe WPC"/>
              </a:rPr>
              <a:t> Many bilateral exposures are replaced by a hub-and-spoke structure centered on the CCP.</a:t>
            </a:r>
            <a:br>
              <a:rPr lang="en-US" sz="900" b="0" i="0" dirty="0">
                <a:effectLst/>
                <a:latin typeface="Segoe WPC"/>
              </a:rPr>
            </a:br>
            <a:r>
              <a:rPr lang="en-US" sz="900" b="1" i="0" dirty="0">
                <a:effectLst/>
                <a:latin typeface="Segoe WPC"/>
              </a:rPr>
              <a:t>Key Formula:</a:t>
            </a:r>
            <a:r>
              <a:rPr lang="en-US" sz="900" b="0" i="0" dirty="0">
                <a:effectLst/>
                <a:latin typeface="Segoe WPC"/>
              </a:rPr>
              <a:t> No single pricing formula; the key mechanism is novation plus margining and default-fund protection.</a:t>
            </a:r>
            <a:br>
              <a:rPr lang="en-US" sz="900" b="0" i="0" dirty="0">
                <a:effectLst/>
                <a:latin typeface="Segoe WPC"/>
              </a:rPr>
            </a:br>
            <a:r>
              <a:rPr lang="en-US" sz="900" b="1" i="0" dirty="0">
                <a:effectLst/>
                <a:latin typeface="Segoe WPC"/>
              </a:rPr>
              <a:t>Interpretation:</a:t>
            </a:r>
            <a:r>
              <a:rPr lang="en-US" sz="900" b="0" i="0" dirty="0">
                <a:effectLst/>
                <a:latin typeface="Segoe WPC"/>
              </a:rPr>
              <a:t> CCPs have long been used successfully in exchange-traded derivatives and now clear many OTC products as well. Their matched books mean they normally take no market risk except when a member defaults and positions must be closed out.</a:t>
            </a:r>
            <a:br>
              <a:rPr lang="en-US" sz="900" b="0" i="0" dirty="0">
                <a:effectLst/>
                <a:latin typeface="Segoe WPC"/>
              </a:rPr>
            </a:br>
            <a:r>
              <a:rPr lang="en-US" sz="900" b="1" i="0" dirty="0">
                <a:effectLst/>
                <a:latin typeface="Segoe WPC"/>
              </a:rPr>
              <a:t>Exam Trap:</a:t>
            </a:r>
            <a:r>
              <a:rPr lang="en-US" sz="900" b="0" i="0" dirty="0">
                <a:effectLst/>
                <a:latin typeface="Segoe WPC"/>
              </a:rPr>
              <a:t> A CCP does not eliminate counterparty risk; it transforms and concentrates it.</a:t>
            </a:r>
          </a:p>
          <a:p>
            <a:pPr algn="l">
              <a:spcAft>
                <a:spcPts val="600"/>
              </a:spcAft>
              <a:buNone/>
            </a:pPr>
            <a:r>
              <a:rPr lang="en-US" sz="900" b="1" i="0" dirty="0">
                <a:effectLst/>
                <a:latin typeface="Segoe WPC"/>
              </a:rPr>
              <a:t>2. How CCPs Control Credit Risk</a:t>
            </a:r>
            <a:br>
              <a:rPr lang="en-US" sz="900" b="0" i="0" dirty="0">
                <a:effectLst/>
                <a:latin typeface="Segoe WPC"/>
              </a:rPr>
            </a:br>
            <a:r>
              <a:rPr lang="en-US" sz="900" b="1" i="0" dirty="0">
                <a:effectLst/>
                <a:latin typeface="Segoe WPC"/>
              </a:rPr>
              <a:t>Financial Object:</a:t>
            </a:r>
            <a:r>
              <a:rPr lang="en-US" sz="900" b="0" i="0" dirty="0">
                <a:effectLst/>
                <a:latin typeface="Segoe WPC"/>
              </a:rPr>
              <a:t> The risk controls used by CCPs to survive member defaults.</a:t>
            </a:r>
            <a:br>
              <a:rPr lang="en-US" sz="900" b="0" i="0" dirty="0">
                <a:effectLst/>
                <a:latin typeface="Segoe WPC"/>
              </a:rPr>
            </a:br>
            <a:r>
              <a:rPr lang="en-US" sz="900" b="1" i="0" dirty="0">
                <a:effectLst/>
                <a:latin typeface="Segoe WPC"/>
              </a:rPr>
              <a:t>Plain Intuition:</a:t>
            </a:r>
            <a:r>
              <a:rPr lang="en-US" sz="900" b="0" i="0" dirty="0">
                <a:effectLst/>
                <a:latin typeface="Segoe WPC"/>
              </a:rPr>
              <a:t> CCPs protect themselves through netting, variation margin, initial margin, and default fund contributions.</a:t>
            </a:r>
            <a:br>
              <a:rPr lang="en-US" sz="900" b="0" i="0" dirty="0">
                <a:effectLst/>
                <a:latin typeface="Segoe WPC"/>
              </a:rPr>
            </a:br>
            <a:r>
              <a:rPr lang="en-US" sz="900" b="1" i="0" dirty="0">
                <a:effectLst/>
                <a:latin typeface="Segoe WPC"/>
              </a:rPr>
              <a:t>Visual Intuition:</a:t>
            </a:r>
            <a:r>
              <a:rPr lang="en-US" sz="900" b="0" i="0" dirty="0">
                <a:effectLst/>
                <a:latin typeface="Segoe WPC"/>
              </a:rPr>
              <a:t> Daily losses are settled immediately, future potential losses are buffered by initial margin, and extreme losses are absorbed by a shared default waterfall.</a:t>
            </a:r>
            <a:br>
              <a:rPr lang="en-US" sz="900" b="0" i="0" dirty="0">
                <a:effectLst/>
                <a:latin typeface="Segoe WPC"/>
              </a:rPr>
            </a:br>
            <a:r>
              <a:rPr lang="en-US" sz="900" b="1" i="0" dirty="0">
                <a:effectLst/>
                <a:latin typeface="Segoe WPC"/>
              </a:rPr>
              <a:t>Key Formula:</a:t>
            </a:r>
            <a:r>
              <a:rPr lang="en-US" sz="900" b="0" i="0" dirty="0">
                <a:effectLst/>
                <a:latin typeface="Segoe WPC"/>
              </a:rPr>
              <a:t> Initial margin is typically set so the CCP is about 99% confident losses over the close-out period, often five days for cleared OTC trades, will be covered.</a:t>
            </a:r>
            <a:br>
              <a:rPr lang="en-US" sz="900" b="0" i="0" dirty="0">
                <a:effectLst/>
                <a:latin typeface="Segoe WPC"/>
              </a:rPr>
            </a:br>
            <a:r>
              <a:rPr lang="en-US" sz="900" b="1" i="0" dirty="0">
                <a:effectLst/>
                <a:latin typeface="Segoe WPC"/>
              </a:rPr>
              <a:t>Interpretation:</a:t>
            </a:r>
            <a:r>
              <a:rPr lang="en-US" sz="900" b="0" i="0" dirty="0">
                <a:effectLst/>
                <a:latin typeface="Segoe WPC"/>
              </a:rPr>
              <a:t> Variation margin reflects daily changes in portfolio value. Initial margin covers losses between the last margin call and the close-out of a defaulting member’s positions. If that is insufficient, the defaulter’s default fund contribution is used, then the contributions of other members, and only then CCP equity is at risk.</a:t>
            </a:r>
            <a:br>
              <a:rPr lang="en-US" sz="900" b="0" i="0" dirty="0">
                <a:effectLst/>
                <a:latin typeface="Segoe WPC"/>
              </a:rPr>
            </a:br>
            <a:r>
              <a:rPr lang="en-US" sz="900" b="1" i="0" dirty="0">
                <a:effectLst/>
                <a:latin typeface="Segoe WPC"/>
              </a:rPr>
              <a:t>Exam Trap:</a:t>
            </a:r>
            <a:r>
              <a:rPr lang="en-US" sz="900" b="0" i="0" dirty="0">
                <a:effectLst/>
                <a:latin typeface="Segoe WPC"/>
              </a:rPr>
              <a:t> Variation margin covers realized mark-to-market losses; initial margin covers potential future losses during close-out.</a:t>
            </a:r>
          </a:p>
          <a:p>
            <a:pPr algn="l">
              <a:spcAft>
                <a:spcPts val="600"/>
              </a:spcAft>
              <a:buNone/>
            </a:pPr>
            <a:r>
              <a:rPr lang="en-US" sz="900" b="1" i="0" dirty="0">
                <a:effectLst/>
                <a:latin typeface="Segoe WPC"/>
              </a:rPr>
              <a:t>3. OTC CCPs vs Exchange CCPs</a:t>
            </a:r>
            <a:br>
              <a:rPr lang="en-US" sz="900" b="0" i="0" dirty="0">
                <a:effectLst/>
                <a:latin typeface="Segoe WPC"/>
              </a:rPr>
            </a:br>
            <a:r>
              <a:rPr lang="en-US" sz="900" b="1" i="0" dirty="0">
                <a:effectLst/>
                <a:latin typeface="Segoe WPC"/>
              </a:rPr>
              <a:t>Financial Object:</a:t>
            </a:r>
            <a:r>
              <a:rPr lang="en-US" sz="900" b="0" i="0" dirty="0">
                <a:effectLst/>
                <a:latin typeface="Segoe WPC"/>
              </a:rPr>
              <a:t> Central clearing in OTC markets compared with exchange-traded markets.</a:t>
            </a:r>
            <a:br>
              <a:rPr lang="en-US" sz="900" b="0" i="0" dirty="0">
                <a:effectLst/>
                <a:latin typeface="Segoe WPC"/>
              </a:rPr>
            </a:br>
            <a:r>
              <a:rPr lang="en-US" sz="900" b="1" i="0" dirty="0">
                <a:effectLst/>
                <a:latin typeface="Segoe WPC"/>
              </a:rPr>
              <a:t>Plain Intuition:</a:t>
            </a:r>
            <a:r>
              <a:rPr lang="en-US" sz="900" b="0" i="0" dirty="0">
                <a:effectLst/>
                <a:latin typeface="Segoe WPC"/>
              </a:rPr>
              <a:t> OTC CCPs operate similarly to exchange CCPs, but the products they clear are longer-dated, less liquid, and more model-dependent.</a:t>
            </a:r>
            <a:br>
              <a:rPr lang="en-US" sz="900" b="0" i="0" dirty="0">
                <a:effectLst/>
                <a:latin typeface="Segoe WPC"/>
              </a:rPr>
            </a:br>
            <a:r>
              <a:rPr lang="en-US" sz="900" b="1" i="0" dirty="0">
                <a:effectLst/>
                <a:latin typeface="Segoe WPC"/>
              </a:rPr>
              <a:t>Visual Intuition:</a:t>
            </a:r>
            <a:r>
              <a:rPr lang="en-US" sz="900" b="0" i="0" dirty="0">
                <a:effectLst/>
                <a:latin typeface="Segoe WPC"/>
              </a:rPr>
              <a:t> Exchange products are short-dated and standardized; OTC products are larger, longer, and trade less frequently.</a:t>
            </a:r>
            <a:br>
              <a:rPr lang="en-US" sz="900" b="0" i="0" dirty="0">
                <a:effectLst/>
                <a:latin typeface="Segoe WPC"/>
              </a:rPr>
            </a:br>
            <a:r>
              <a:rPr lang="en-US" sz="900" b="1" i="0" dirty="0">
                <a:effectLst/>
                <a:latin typeface="Segoe WPC"/>
              </a:rPr>
              <a:t>Key Formula:</a:t>
            </a:r>
            <a:r>
              <a:rPr lang="en-US" sz="900" b="0" i="0" dirty="0">
                <a:effectLst/>
                <a:latin typeface="Segoe WPC"/>
              </a:rPr>
              <a:t> OTC initial margin often targets a 99% loss coverage over a close-out horizon, but models are needed because prices are less directly observable.</a:t>
            </a:r>
            <a:br>
              <a:rPr lang="en-US" sz="900" b="0" i="0" dirty="0">
                <a:effectLst/>
                <a:latin typeface="Segoe WPC"/>
              </a:rPr>
            </a:br>
            <a:r>
              <a:rPr lang="en-US" sz="900" b="1" i="0" dirty="0">
                <a:effectLst/>
                <a:latin typeface="Segoe WPC"/>
              </a:rPr>
              <a:t>Interpretation:</a:t>
            </a:r>
            <a:r>
              <a:rPr lang="en-US" sz="900" b="0" i="0" dirty="0">
                <a:effectLst/>
                <a:latin typeface="Segoe WPC"/>
              </a:rPr>
              <a:t> Most exchange-traded contracts last only months, whereas OTC contracts may last ten years or more. Because OTC products trade less actively, CCPs rely more heavily on models for valuation, variation margin, and initial margin. Large OTC CCPs such as </a:t>
            </a:r>
            <a:r>
              <a:rPr lang="en-US" sz="900" b="0" i="0" dirty="0" err="1">
                <a:effectLst/>
                <a:latin typeface="Segoe WPC"/>
              </a:rPr>
              <a:t>SwapClear</a:t>
            </a:r>
            <a:r>
              <a:rPr lang="en-US" sz="900" b="0" i="0" dirty="0">
                <a:effectLst/>
                <a:latin typeface="Segoe WPC"/>
              </a:rPr>
              <a:t>, </a:t>
            </a:r>
            <a:r>
              <a:rPr lang="en-US" sz="900" b="0" i="0" dirty="0" err="1">
                <a:effectLst/>
                <a:latin typeface="Segoe WPC"/>
              </a:rPr>
              <a:t>ClearPort</a:t>
            </a:r>
            <a:r>
              <a:rPr lang="en-US" sz="900" b="0" i="0" dirty="0">
                <a:effectLst/>
                <a:latin typeface="Segoe WPC"/>
              </a:rPr>
              <a:t>, and ICE Clear Credit are systemically important and effectively treated as too big to fail.</a:t>
            </a:r>
            <a:br>
              <a:rPr lang="en-US" sz="900" b="0" i="0" dirty="0">
                <a:effectLst/>
                <a:latin typeface="Segoe WPC"/>
              </a:rPr>
            </a:br>
            <a:r>
              <a:rPr lang="en-US" sz="900" b="1" i="0" dirty="0">
                <a:effectLst/>
                <a:latin typeface="Segoe WPC"/>
              </a:rPr>
              <a:t>Exam Trap:</a:t>
            </a:r>
            <a:r>
              <a:rPr lang="en-US" sz="900" b="0" i="0" dirty="0">
                <a:effectLst/>
                <a:latin typeface="Segoe WPC"/>
              </a:rPr>
              <a:t> OTC CCPs are not just larger versions of exchange CCPs; model risk and liquidity risk are much more important.</a:t>
            </a:r>
          </a:p>
          <a:p>
            <a:pPr algn="l">
              <a:spcAft>
                <a:spcPts val="600"/>
              </a:spcAft>
              <a:buNone/>
            </a:pPr>
            <a:r>
              <a:rPr lang="en-US" sz="900" b="1" i="0" dirty="0">
                <a:effectLst/>
                <a:latin typeface="Segoe WPC"/>
              </a:rPr>
              <a:t>4. Regulation After the 2007-2008 Crisis</a:t>
            </a:r>
            <a:br>
              <a:rPr lang="en-US" sz="900" b="0" i="0" dirty="0">
                <a:effectLst/>
                <a:latin typeface="Segoe WPC"/>
              </a:rPr>
            </a:br>
            <a:r>
              <a:rPr lang="en-US" sz="900" b="1" i="0" dirty="0">
                <a:effectLst/>
                <a:latin typeface="Segoe WPC"/>
              </a:rPr>
              <a:t>Financial Object:</a:t>
            </a:r>
            <a:r>
              <a:rPr lang="en-US" sz="900" b="0" i="0" dirty="0">
                <a:effectLst/>
                <a:latin typeface="Segoe WPC"/>
              </a:rPr>
              <a:t> Post-crisis reforms of the OTC derivatives market.</a:t>
            </a:r>
            <a:br>
              <a:rPr lang="en-US" sz="900" b="0" i="0" dirty="0">
                <a:effectLst/>
                <a:latin typeface="Segoe WPC"/>
              </a:rPr>
            </a:br>
            <a:r>
              <a:rPr lang="en-US" sz="900" b="1" i="0" dirty="0">
                <a:effectLst/>
                <a:latin typeface="Segoe WPC"/>
              </a:rPr>
              <a:t>Plain Intuition:</a:t>
            </a:r>
            <a:r>
              <a:rPr lang="en-US" sz="900" b="0" i="0" dirty="0">
                <a:effectLst/>
                <a:latin typeface="Segoe WPC"/>
              </a:rPr>
              <a:t> Regulators wanted to reduce systemic risk and increase transparency in OTC markets, especially for standardized products.</a:t>
            </a:r>
            <a:br>
              <a:rPr lang="en-US" sz="900" b="0" i="0" dirty="0">
                <a:effectLst/>
                <a:latin typeface="Segoe WPC"/>
              </a:rPr>
            </a:br>
            <a:r>
              <a:rPr lang="en-US" sz="900" b="1" i="0" dirty="0">
                <a:effectLst/>
                <a:latin typeface="Segoe WPC"/>
              </a:rPr>
              <a:t>Visual Intuition:</a:t>
            </a:r>
            <a:r>
              <a:rPr lang="en-US" sz="900" b="0" i="0" dirty="0">
                <a:effectLst/>
                <a:latin typeface="Segoe WPC"/>
              </a:rPr>
              <a:t> The old opaque dealer network was pushed toward centrally cleared, electronically traded, and reported transactions.</a:t>
            </a:r>
            <a:br>
              <a:rPr lang="en-US" sz="900" b="0" i="0" dirty="0">
                <a:effectLst/>
                <a:latin typeface="Segoe WPC"/>
              </a:rPr>
            </a:br>
            <a:r>
              <a:rPr lang="en-US" sz="900" b="1" i="0" dirty="0">
                <a:effectLst/>
                <a:latin typeface="Segoe WPC"/>
              </a:rPr>
              <a:t>Key Formula:</a:t>
            </a:r>
            <a:r>
              <a:rPr lang="en-US" sz="900" b="0" i="0" dirty="0">
                <a:effectLst/>
                <a:latin typeface="Segoe WPC"/>
              </a:rPr>
              <a:t> Standardized OTC derivatives should be centrally cleared and, where appropriate, traded on platforms; uncleared trades face higher capital and margin requirements.</a:t>
            </a:r>
            <a:br>
              <a:rPr lang="en-US" sz="900" b="0" i="0" dirty="0">
                <a:effectLst/>
                <a:latin typeface="Segoe WPC"/>
              </a:rPr>
            </a:br>
            <a:r>
              <a:rPr lang="en-US" sz="900" b="1" i="0" dirty="0">
                <a:effectLst/>
                <a:latin typeface="Segoe WPC"/>
              </a:rPr>
              <a:t>Interpretation:</a:t>
            </a:r>
            <a:r>
              <a:rPr lang="en-US" sz="900" b="0" i="0" dirty="0">
                <a:effectLst/>
                <a:latin typeface="Segoe WPC"/>
              </a:rPr>
              <a:t> G-20 reforms led to three main rules: standardized OTC derivatives should be cleared through CCPs, standardized trades should move to electronic platforms, and all trades should be reported to trade repositories. These changes greatly increased central clearing for products such as plain vanilla interest rate swaps and CDS indices. Uncleared trades were also made more expensive through initial and variation margin requirements.</a:t>
            </a:r>
            <a:br>
              <a:rPr lang="en-US" sz="900" b="0" i="0" dirty="0">
                <a:effectLst/>
                <a:latin typeface="Segoe WPC"/>
              </a:rPr>
            </a:br>
            <a:r>
              <a:rPr lang="en-US" sz="900" b="1" i="0" dirty="0">
                <a:effectLst/>
                <a:latin typeface="Segoe WPC"/>
              </a:rPr>
              <a:t>Exam Trap:</a:t>
            </a:r>
            <a:r>
              <a:rPr lang="en-US" sz="900" b="0" i="0" dirty="0">
                <a:effectLst/>
                <a:latin typeface="Segoe WPC"/>
              </a:rPr>
              <a:t> Not all OTC derivatives must be centrally cleared; the rules mainly target standardized products and major financial counterparties.</a:t>
            </a:r>
          </a:p>
        </p:txBody>
      </p:sp>
      <p:sp>
        <p:nvSpPr>
          <p:cNvPr id="7" name="CuadroTexto 6">
            <a:extLst>
              <a:ext uri="{FF2B5EF4-FFF2-40B4-BE49-F238E27FC236}">
                <a16:creationId xmlns:a16="http://schemas.microsoft.com/office/drawing/2014/main" id="{510D7B50-0BE6-C511-7FAA-96BCB681FF3D}"/>
              </a:ext>
            </a:extLst>
          </p:cNvPr>
          <p:cNvSpPr txBox="1"/>
          <p:nvPr/>
        </p:nvSpPr>
        <p:spPr>
          <a:xfrm>
            <a:off x="6096001" y="0"/>
            <a:ext cx="6197599" cy="9987349"/>
          </a:xfrm>
          <a:prstGeom prst="rect">
            <a:avLst/>
          </a:prstGeom>
          <a:noFill/>
        </p:spPr>
        <p:txBody>
          <a:bodyPr wrap="square">
            <a:spAutoFit/>
          </a:bodyPr>
          <a:lstStyle/>
          <a:p>
            <a:pPr algn="l">
              <a:spcAft>
                <a:spcPts val="1200"/>
              </a:spcAft>
              <a:buNone/>
            </a:pPr>
            <a:r>
              <a:rPr lang="en-US" sz="900" b="1" i="0" dirty="0">
                <a:effectLst/>
                <a:latin typeface="Segoe WPC"/>
              </a:rPr>
              <a:t>5. Standard vs Non-Standard Transactions</a:t>
            </a:r>
            <a:br>
              <a:rPr lang="en-US" sz="900" b="0" i="0" dirty="0">
                <a:effectLst/>
                <a:latin typeface="Segoe WPC"/>
              </a:rPr>
            </a:br>
            <a:r>
              <a:rPr lang="en-US" sz="900" b="1" i="0" dirty="0">
                <a:effectLst/>
                <a:latin typeface="Segoe WPC"/>
              </a:rPr>
              <a:t>Financial Object:</a:t>
            </a:r>
            <a:r>
              <a:rPr lang="en-US" sz="900" b="0" i="0" dirty="0">
                <a:effectLst/>
                <a:latin typeface="Segoe WPC"/>
              </a:rPr>
              <a:t> The distinction between derivatives eligible for CCP clearing and those that remain bilaterally cleared.</a:t>
            </a:r>
            <a:br>
              <a:rPr lang="en-US" sz="900" b="0" i="0" dirty="0">
                <a:effectLst/>
                <a:latin typeface="Segoe WPC"/>
              </a:rPr>
            </a:br>
            <a:r>
              <a:rPr lang="en-US" sz="900" b="1" i="0" dirty="0">
                <a:effectLst/>
                <a:latin typeface="Segoe WPC"/>
              </a:rPr>
              <a:t>Plain Intuition:</a:t>
            </a:r>
            <a:r>
              <a:rPr lang="en-US" sz="900" b="0" i="0" dirty="0">
                <a:effectLst/>
                <a:latin typeface="Segoe WPC"/>
              </a:rPr>
              <a:t> A derivative can be centrally cleared only if it is standardized enough, liquid enough, and </a:t>
            </a:r>
            <a:r>
              <a:rPr lang="en-US" sz="900" b="0" i="0" dirty="0" err="1">
                <a:effectLst/>
                <a:latin typeface="Segoe WPC"/>
              </a:rPr>
              <a:t>modelable</a:t>
            </a:r>
            <a:r>
              <a:rPr lang="en-US" sz="900" b="0" i="0" dirty="0">
                <a:effectLst/>
                <a:latin typeface="Segoe WPC"/>
              </a:rPr>
              <a:t> enough for the CCP to manage safely.</a:t>
            </a:r>
            <a:br>
              <a:rPr lang="en-US" sz="900" b="0" i="0" dirty="0">
                <a:effectLst/>
                <a:latin typeface="Segoe WPC"/>
              </a:rPr>
            </a:br>
            <a:r>
              <a:rPr lang="en-US" sz="900" b="1" i="0" dirty="0">
                <a:effectLst/>
                <a:latin typeface="Segoe WPC"/>
              </a:rPr>
              <a:t>Visual Intuition:</a:t>
            </a:r>
            <a:r>
              <a:rPr lang="en-US" sz="900" b="0" i="0" dirty="0">
                <a:effectLst/>
                <a:latin typeface="Segoe WPC"/>
              </a:rPr>
              <a:t> Plain vanilla swaps fit inside the clearing system; exotic customized trades often stay outside it.</a:t>
            </a:r>
            <a:br>
              <a:rPr lang="en-US" sz="900" b="0" i="0" dirty="0">
                <a:effectLst/>
                <a:latin typeface="Segoe WPC"/>
              </a:rPr>
            </a:br>
            <a:r>
              <a:rPr lang="en-US" sz="900" b="1" i="0" dirty="0">
                <a:effectLst/>
                <a:latin typeface="Segoe WPC"/>
              </a:rPr>
              <a:t>Key Formula:</a:t>
            </a:r>
            <a:r>
              <a:rPr lang="en-US" sz="900" b="0" i="0" dirty="0">
                <a:effectLst/>
                <a:latin typeface="Segoe WPC"/>
              </a:rPr>
              <a:t> No single formula; eligibility depends on legal standardization, accepted valuation models, trading activity, and sufficient historical data for margin calibration.</a:t>
            </a:r>
            <a:br>
              <a:rPr lang="en-US" sz="900" b="0" i="0" dirty="0">
                <a:effectLst/>
                <a:latin typeface="Segoe WPC"/>
              </a:rPr>
            </a:br>
            <a:r>
              <a:rPr lang="en-US" sz="900" b="1" i="0" dirty="0">
                <a:effectLst/>
                <a:latin typeface="Segoe WPC"/>
              </a:rPr>
              <a:t>Interpretation:</a:t>
            </a:r>
            <a:r>
              <a:rPr lang="en-US" sz="900" b="0" i="0" dirty="0">
                <a:effectLst/>
                <a:latin typeface="Segoe WPC"/>
              </a:rPr>
              <a:t> Standard products currently include major interest rate swaps and CDS indices. Non-standard or exotic derivatives are generally uncleared. Regulators worried dealers would slightly customize standard products just to avoid clearing, so uncleared derivatives were made subject to margin rules as well. For uncleared trades, initial margin is usually held by a third party rather than exchanged directly between counterparties.</a:t>
            </a:r>
            <a:br>
              <a:rPr lang="en-US" sz="900" b="0" i="0" dirty="0">
                <a:effectLst/>
                <a:latin typeface="Segoe WPC"/>
              </a:rPr>
            </a:br>
            <a:r>
              <a:rPr lang="en-US" sz="900" b="1" i="0" dirty="0">
                <a:effectLst/>
                <a:latin typeface="Segoe WPC"/>
              </a:rPr>
              <a:t>Exam Trap:</a:t>
            </a:r>
            <a:r>
              <a:rPr lang="en-US" sz="900" b="0" i="0" dirty="0">
                <a:effectLst/>
                <a:latin typeface="Segoe WPC"/>
              </a:rPr>
              <a:t> “Uncleared” does not mean unregulated; non-centrally cleared derivatives are still subject to significant margin requirements.</a:t>
            </a:r>
          </a:p>
          <a:p>
            <a:pPr algn="l">
              <a:spcAft>
                <a:spcPts val="1200"/>
              </a:spcAft>
              <a:buNone/>
            </a:pPr>
            <a:r>
              <a:rPr lang="en-US" sz="900" b="1" i="0" dirty="0">
                <a:effectLst/>
                <a:latin typeface="Segoe WPC"/>
              </a:rPr>
              <a:t>6. Central Clearing vs Bilateral Clearing and Netting</a:t>
            </a:r>
            <a:br>
              <a:rPr lang="en-US" sz="900" b="0" i="0" dirty="0">
                <a:effectLst/>
                <a:latin typeface="Segoe WPC"/>
              </a:rPr>
            </a:br>
            <a:r>
              <a:rPr lang="en-US" sz="900" b="1" i="0" dirty="0">
                <a:effectLst/>
                <a:latin typeface="Segoe WPC"/>
              </a:rPr>
              <a:t>Financial Object:</a:t>
            </a:r>
            <a:r>
              <a:rPr lang="en-US" sz="900" b="0" i="0" dirty="0">
                <a:effectLst/>
                <a:latin typeface="Segoe WPC"/>
              </a:rPr>
              <a:t> The effect of central clearing on exposures and netting.</a:t>
            </a:r>
            <a:br>
              <a:rPr lang="en-US" sz="900" b="0" i="0" dirty="0">
                <a:effectLst/>
                <a:latin typeface="Segoe WPC"/>
              </a:rPr>
            </a:br>
            <a:r>
              <a:rPr lang="en-US" sz="900" b="1" i="0" dirty="0">
                <a:effectLst/>
                <a:latin typeface="Segoe WPC"/>
              </a:rPr>
              <a:t>Plain Intuition:</a:t>
            </a:r>
            <a:r>
              <a:rPr lang="en-US" sz="900" b="0" i="0" dirty="0">
                <a:effectLst/>
                <a:latin typeface="Segoe WPC"/>
              </a:rPr>
              <a:t> CCPs can increase netting by allowing members to offset trades with many counterparties through one hub, but sometimes they can also reduce netting if trades are split across CCPs or between cleared and uncleared markets.</a:t>
            </a:r>
            <a:br>
              <a:rPr lang="en-US" sz="900" b="0" i="0" dirty="0">
                <a:effectLst/>
                <a:latin typeface="Segoe WPC"/>
              </a:rPr>
            </a:br>
            <a:r>
              <a:rPr lang="en-US" sz="900" b="1" i="0" dirty="0">
                <a:effectLst/>
                <a:latin typeface="Segoe WPC"/>
              </a:rPr>
              <a:t>Visual Intuition:</a:t>
            </a:r>
            <a:r>
              <a:rPr lang="en-US" sz="900" b="0" i="0" dirty="0">
                <a:effectLst/>
                <a:latin typeface="Segoe WPC"/>
              </a:rPr>
              <a:t> A web of bilateral exposures can collapse into smaller net exposures to one CCP.</a:t>
            </a:r>
            <a:br>
              <a:rPr lang="en-US" sz="900" b="0" i="0" dirty="0">
                <a:effectLst/>
                <a:latin typeface="Segoe WPC"/>
              </a:rPr>
            </a:br>
            <a:r>
              <a:rPr lang="en-US" sz="900" b="1" i="0" dirty="0">
                <a:effectLst/>
                <a:latin typeface="Segoe WPC"/>
              </a:rPr>
              <a:t>Key Formula:</a:t>
            </a:r>
            <a:r>
              <a:rPr lang="en-US" sz="900" b="0" i="0" dirty="0">
                <a:effectLst/>
                <a:latin typeface="Segoe WPC"/>
              </a:rPr>
              <a:t> System-wide credit exposure may fall when many bilateral positive and negative positions are netted multilaterally through a CCP.</a:t>
            </a:r>
            <a:br>
              <a:rPr lang="en-US" sz="900" b="0" i="0" dirty="0">
                <a:effectLst/>
                <a:latin typeface="Segoe WPC"/>
              </a:rPr>
            </a:br>
            <a:r>
              <a:rPr lang="en-US" sz="900" b="1" i="0" dirty="0">
                <a:effectLst/>
                <a:latin typeface="Segoe WPC"/>
              </a:rPr>
              <a:t>Interpretation:</a:t>
            </a:r>
            <a:r>
              <a:rPr lang="en-US" sz="900" b="0" i="0" dirty="0">
                <a:effectLst/>
                <a:latin typeface="Segoe WPC"/>
              </a:rPr>
              <a:t> Central clearing often improves netting and reduces initial margin needs relative to fragmented bilateral relationships. But netting gains are not guaranteed. Trades at different CCPs usually cannot be netted against each other, and cleared standard trades cannot be netted against uncleared non-standard trades the way bilateral portfolios sometimes can.</a:t>
            </a:r>
            <a:br>
              <a:rPr lang="en-US" sz="900" b="0" i="0" dirty="0">
                <a:effectLst/>
                <a:latin typeface="Segoe WPC"/>
              </a:rPr>
            </a:br>
            <a:r>
              <a:rPr lang="en-US" sz="900" b="1" i="0" dirty="0">
                <a:effectLst/>
                <a:latin typeface="Segoe WPC"/>
              </a:rPr>
              <a:t>Exam Trap:</a:t>
            </a:r>
            <a:r>
              <a:rPr lang="en-US" sz="900" b="0" i="0" dirty="0">
                <a:effectLst/>
                <a:latin typeface="Segoe WPC"/>
              </a:rPr>
              <a:t> Central clearing usually increases netting, but not always.</a:t>
            </a:r>
          </a:p>
          <a:p>
            <a:pPr algn="l">
              <a:spcAft>
                <a:spcPts val="1200"/>
              </a:spcAft>
              <a:buNone/>
            </a:pPr>
            <a:r>
              <a:rPr lang="en-US" sz="900" b="1" i="0" dirty="0">
                <a:effectLst/>
                <a:latin typeface="Segoe WPC"/>
              </a:rPr>
              <a:t>7. Advantages of Central Clearing</a:t>
            </a:r>
            <a:br>
              <a:rPr lang="en-US" sz="900" b="0" i="0" dirty="0">
                <a:effectLst/>
                <a:latin typeface="Segoe WPC"/>
              </a:rPr>
            </a:br>
            <a:r>
              <a:rPr lang="en-US" sz="900" b="1" i="0" dirty="0">
                <a:effectLst/>
                <a:latin typeface="Segoe WPC"/>
              </a:rPr>
              <a:t>Financial Object:</a:t>
            </a:r>
            <a:r>
              <a:rPr lang="en-US" sz="900" b="0" i="0" dirty="0">
                <a:effectLst/>
                <a:latin typeface="Segoe WPC"/>
              </a:rPr>
              <a:t> Benefits of using CCPs in OTC markets.</a:t>
            </a:r>
            <a:br>
              <a:rPr lang="en-US" sz="900" b="0" i="0" dirty="0">
                <a:effectLst/>
                <a:latin typeface="Segoe WPC"/>
              </a:rPr>
            </a:br>
            <a:r>
              <a:rPr lang="en-US" sz="900" b="1" i="0" dirty="0">
                <a:effectLst/>
                <a:latin typeface="Segoe WPC"/>
              </a:rPr>
              <a:t>Plain Intuition:</a:t>
            </a:r>
            <a:r>
              <a:rPr lang="en-US" sz="900" b="0" i="0" dirty="0">
                <a:effectLst/>
                <a:latin typeface="Segoe WPC"/>
              </a:rPr>
              <a:t> CCPs make it easier to exit trades, mutualize losses, centralize operational processes, and potentially improve market liquidity and standardization.</a:t>
            </a:r>
            <a:br>
              <a:rPr lang="en-US" sz="900" b="0" i="0" dirty="0">
                <a:effectLst/>
                <a:latin typeface="Segoe WPC"/>
              </a:rPr>
            </a:br>
            <a:r>
              <a:rPr lang="en-US" sz="900" b="1" i="0" dirty="0">
                <a:effectLst/>
                <a:latin typeface="Segoe WPC"/>
              </a:rPr>
              <a:t>Visual Intuition:</a:t>
            </a:r>
            <a:r>
              <a:rPr lang="en-US" sz="900" b="0" i="0" dirty="0">
                <a:effectLst/>
                <a:latin typeface="Segoe WPC"/>
              </a:rPr>
              <a:t> One shared infrastructure replaces many separate bilateral risk-management systems.</a:t>
            </a:r>
            <a:br>
              <a:rPr lang="en-US" sz="900" b="0" i="0" dirty="0">
                <a:effectLst/>
                <a:latin typeface="Segoe WPC"/>
              </a:rPr>
            </a:br>
            <a:r>
              <a:rPr lang="en-US" sz="900" b="1" i="0" dirty="0">
                <a:effectLst/>
                <a:latin typeface="Segoe WPC"/>
              </a:rPr>
              <a:t>Key Formula:</a:t>
            </a:r>
            <a:r>
              <a:rPr lang="en-US" sz="900" b="0" i="0" dirty="0">
                <a:effectLst/>
                <a:latin typeface="Segoe WPC"/>
              </a:rPr>
              <a:t> No single formula; the benefits come from easier close-out, shared default management, and centralized risk controls.</a:t>
            </a:r>
            <a:br>
              <a:rPr lang="en-US" sz="900" b="0" i="0" dirty="0">
                <a:effectLst/>
                <a:latin typeface="Segoe WPC"/>
              </a:rPr>
            </a:br>
            <a:r>
              <a:rPr lang="en-US" sz="900" b="1" i="0" dirty="0">
                <a:effectLst/>
                <a:latin typeface="Segoe WPC"/>
              </a:rPr>
              <a:t>Interpretation:</a:t>
            </a:r>
            <a:r>
              <a:rPr lang="en-US" sz="900" b="0" i="0" dirty="0">
                <a:effectLst/>
                <a:latin typeface="Segoe WPC"/>
              </a:rPr>
              <a:t> A cleared trade can be offset more easily than a bilaterally cleared trade because the member only needs the CCP to recognize the offset. CCPs also mutualize losses among members, which regulators like because it reduces contagion from one firm’s failure. Centralizing margining, netting, settlement, and default management can improve efficiency and support standard documentation.</a:t>
            </a:r>
            <a:br>
              <a:rPr lang="en-US" sz="900" b="0" i="0" dirty="0">
                <a:effectLst/>
                <a:latin typeface="Segoe WPC"/>
              </a:rPr>
            </a:br>
            <a:r>
              <a:rPr lang="en-US" sz="900" b="1" i="0" dirty="0">
                <a:effectLst/>
                <a:latin typeface="Segoe WPC"/>
              </a:rPr>
              <a:t>Exam Trap:</a:t>
            </a:r>
            <a:r>
              <a:rPr lang="en-US" sz="900" b="0" i="0" dirty="0">
                <a:effectLst/>
                <a:latin typeface="Segoe WPC"/>
              </a:rPr>
              <a:t> Loss mutualization reduces concentrated bilateral exposure, but it also means members share losses from defaults they did not directly cause.</a:t>
            </a:r>
          </a:p>
          <a:p>
            <a:pPr algn="l">
              <a:spcAft>
                <a:spcPts val="1200"/>
              </a:spcAft>
              <a:buNone/>
            </a:pPr>
            <a:r>
              <a:rPr lang="en-US" sz="900" b="1" i="0" dirty="0">
                <a:effectLst/>
                <a:latin typeface="Segoe WPC"/>
              </a:rPr>
              <a:t>8. Disadvantages and Risks of CCPs</a:t>
            </a:r>
            <a:br>
              <a:rPr lang="en-US" sz="900" b="0" i="0" dirty="0">
                <a:effectLst/>
                <a:latin typeface="Segoe WPC"/>
              </a:rPr>
            </a:br>
            <a:r>
              <a:rPr lang="en-US" sz="900" b="1" i="0" dirty="0">
                <a:effectLst/>
                <a:latin typeface="Segoe WPC"/>
              </a:rPr>
              <a:t>Financial Object:</a:t>
            </a:r>
            <a:r>
              <a:rPr lang="en-US" sz="900" b="0" i="0" dirty="0">
                <a:effectLst/>
                <a:latin typeface="Segoe WPC"/>
              </a:rPr>
              <a:t> The dangers created by concentrating clearing activity in systemically important institutions.</a:t>
            </a:r>
            <a:br>
              <a:rPr lang="en-US" sz="900" b="0" i="0" dirty="0">
                <a:effectLst/>
                <a:latin typeface="Segoe WPC"/>
              </a:rPr>
            </a:br>
            <a:r>
              <a:rPr lang="en-US" sz="900" b="1" i="0" dirty="0">
                <a:effectLst/>
                <a:latin typeface="Segoe WPC"/>
              </a:rPr>
              <a:t>Plain Intuition:</a:t>
            </a:r>
            <a:r>
              <a:rPr lang="en-US" sz="900" b="0" i="0" dirty="0">
                <a:effectLst/>
                <a:latin typeface="Segoe WPC"/>
              </a:rPr>
              <a:t> CCPs reduce some risks but create others, including moral hazard, adverse selection, procyclicality, model risk, liquidity risk, operational risk, and concentration risk.</a:t>
            </a:r>
            <a:br>
              <a:rPr lang="en-US" sz="900" b="0" i="0" dirty="0">
                <a:effectLst/>
                <a:latin typeface="Segoe WPC"/>
              </a:rPr>
            </a:br>
            <a:r>
              <a:rPr lang="en-US" sz="900" b="1" i="0" dirty="0">
                <a:effectLst/>
                <a:latin typeface="Segoe WPC"/>
              </a:rPr>
              <a:t>Visual Intuition:</a:t>
            </a:r>
            <a:r>
              <a:rPr lang="en-US" sz="900" b="0" i="0" dirty="0">
                <a:effectLst/>
                <a:latin typeface="Segoe WPC"/>
              </a:rPr>
              <a:t> The financial system becomes safer in some dimensions but more dependent on a few central nodes.</a:t>
            </a:r>
            <a:br>
              <a:rPr lang="en-US" sz="900" b="0" i="0" dirty="0">
                <a:effectLst/>
                <a:latin typeface="Segoe WPC"/>
              </a:rPr>
            </a:br>
            <a:r>
              <a:rPr lang="en-US" sz="900" b="1" i="0" dirty="0">
                <a:effectLst/>
                <a:latin typeface="Segoe WPC"/>
              </a:rPr>
              <a:t>Key Formula:</a:t>
            </a:r>
            <a:r>
              <a:rPr lang="en-US" sz="900" b="0" i="0" dirty="0">
                <a:effectLst/>
                <a:latin typeface="Segoe WPC"/>
              </a:rPr>
              <a:t> No single formula; the key issue is that losses can move through the CCP default waterfall and stress can increase margin requirements when liquidity is already scarce.</a:t>
            </a:r>
            <a:br>
              <a:rPr lang="en-US" sz="900" b="0" i="0" dirty="0">
                <a:effectLst/>
                <a:latin typeface="Segoe WPC"/>
              </a:rPr>
            </a:br>
            <a:r>
              <a:rPr lang="en-US" sz="900" b="1" i="0" dirty="0">
                <a:effectLst/>
                <a:latin typeface="Segoe WPC"/>
              </a:rPr>
              <a:t>Interpretation:</a:t>
            </a:r>
            <a:r>
              <a:rPr lang="en-US" sz="900" b="0" i="0" dirty="0">
                <a:effectLst/>
                <a:latin typeface="Segoe WPC"/>
              </a:rPr>
              <a:t> Moral hazard arises because traders worry less about counterparties when the CCP stands in the middle. Adverse selection arises if dealers prefer to clear risky trades through the CCP while keeping safer ones bilateral. CCPs are also procyclical because they may raise margin and default fund requirements during stressed markets, worsening liquidity shortages. Members may not fully understand the risks they inherit through shared default resources. Additional risks include fraud, cyber failure, litigation, investment losses on margin cash, model risk in valuing illiquid OTC products, and liquidity risk from investing large margin balances.</a:t>
            </a:r>
            <a:br>
              <a:rPr lang="en-US" sz="900" b="0" i="0" dirty="0">
                <a:effectLst/>
                <a:latin typeface="Segoe WPC"/>
              </a:rPr>
            </a:br>
            <a:r>
              <a:rPr lang="en-US" sz="900" b="1" i="0" dirty="0">
                <a:effectLst/>
                <a:latin typeface="Segoe WPC"/>
              </a:rPr>
              <a:t>Exam Trap:</a:t>
            </a:r>
            <a:r>
              <a:rPr lang="en-US" sz="900" b="0" i="0" dirty="0">
                <a:effectLst/>
                <a:latin typeface="Segoe WPC"/>
              </a:rPr>
              <a:t> Replacing too-big-to-fail banks with too-big-to-fail CCPs does not remove systemic risk; it changes its form and location.</a:t>
            </a:r>
          </a:p>
          <a:p>
            <a:pPr algn="l">
              <a:spcAft>
                <a:spcPts val="1200"/>
              </a:spcAft>
              <a:buNone/>
            </a:pPr>
            <a:r>
              <a:rPr lang="en-US" sz="900" b="1" i="0" dirty="0">
                <a:effectLst/>
                <a:latin typeface="Segoe WPC"/>
              </a:rPr>
              <a:t>9. Risks to Members vs Non-Members</a:t>
            </a:r>
            <a:br>
              <a:rPr lang="en-US" sz="900" b="0" i="0" dirty="0">
                <a:effectLst/>
                <a:latin typeface="Segoe WPC"/>
              </a:rPr>
            </a:br>
            <a:r>
              <a:rPr lang="en-US" sz="900" b="1" i="0" dirty="0">
                <a:effectLst/>
                <a:latin typeface="Segoe WPC"/>
              </a:rPr>
              <a:t>Financial Object:</a:t>
            </a:r>
            <a:r>
              <a:rPr lang="en-US" sz="900" b="0" i="0" dirty="0">
                <a:effectLst/>
                <a:latin typeface="Segoe WPC"/>
              </a:rPr>
              <a:t> How central clearing affects clearing members and clients that are not members.</a:t>
            </a:r>
            <a:br>
              <a:rPr lang="en-US" sz="900" b="0" i="0" dirty="0">
                <a:effectLst/>
                <a:latin typeface="Segoe WPC"/>
              </a:rPr>
            </a:br>
            <a:r>
              <a:rPr lang="en-US" sz="900" b="1" i="0" dirty="0">
                <a:effectLst/>
                <a:latin typeface="Segoe WPC"/>
              </a:rPr>
              <a:t>Plain Intuition:</a:t>
            </a:r>
            <a:r>
              <a:rPr lang="en-US" sz="900" b="0" i="0" dirty="0">
                <a:effectLst/>
                <a:latin typeface="Segoe WPC"/>
              </a:rPr>
              <a:t> Members face direct CCP risk through margin, default fund contributions, and loss-sharing; non-members face CCP risk indirectly through their clearing members.</a:t>
            </a:r>
            <a:br>
              <a:rPr lang="en-US" sz="900" b="0" i="0" dirty="0">
                <a:effectLst/>
                <a:latin typeface="Segoe WPC"/>
              </a:rPr>
            </a:br>
            <a:r>
              <a:rPr lang="en-US" sz="900" b="1" i="0" dirty="0">
                <a:effectLst/>
                <a:latin typeface="Segoe WPC"/>
              </a:rPr>
              <a:t>Visual Intuition:</a:t>
            </a:r>
            <a:r>
              <a:rPr lang="en-US" sz="900" b="0" i="0" dirty="0">
                <a:effectLst/>
                <a:latin typeface="Segoe WPC"/>
              </a:rPr>
              <a:t> Members stand inside the clearing system; non-members stand outside and access it through a member.</a:t>
            </a:r>
            <a:br>
              <a:rPr lang="en-US" sz="900" b="0" i="0" dirty="0">
                <a:effectLst/>
                <a:latin typeface="Segoe WPC"/>
              </a:rPr>
            </a:br>
            <a:r>
              <a:rPr lang="en-US" sz="900" b="1" i="0" dirty="0">
                <a:effectLst/>
                <a:latin typeface="Segoe WPC"/>
              </a:rPr>
              <a:t>Key Formula:</a:t>
            </a:r>
            <a:r>
              <a:rPr lang="en-US" sz="900" b="0" i="0" dirty="0">
                <a:effectLst/>
                <a:latin typeface="Segoe WPC"/>
              </a:rPr>
              <a:t> Non-members post initial and variation margin to their clearing member, much like retail clients of brokers in exchange-traded markets.</a:t>
            </a:r>
            <a:br>
              <a:rPr lang="en-US" sz="900" b="0" i="0" dirty="0">
                <a:effectLst/>
                <a:latin typeface="Segoe WPC"/>
              </a:rPr>
            </a:br>
            <a:r>
              <a:rPr lang="en-US" sz="900" b="1" i="0" dirty="0">
                <a:effectLst/>
                <a:latin typeface="Segoe WPC"/>
              </a:rPr>
              <a:t>Interpretation:</a:t>
            </a:r>
            <a:r>
              <a:rPr lang="en-US" sz="900" b="0" i="0" dirty="0">
                <a:effectLst/>
                <a:latin typeface="Segoe WPC"/>
              </a:rPr>
              <a:t> Clearing members risk default fund contributions, possible variation-margin gains being at risk, and uncertainty about exposures created by other members’ portfolios. Non-members are exposed to the solvency and operational strength of their clearing member as well as to the CCP structure behind it. They benefit from the safety of central clearing but do not interact directly with the CCP.</a:t>
            </a:r>
            <a:br>
              <a:rPr lang="en-US" sz="900" b="0" i="0" dirty="0">
                <a:effectLst/>
                <a:latin typeface="Segoe WPC"/>
              </a:rPr>
            </a:br>
            <a:r>
              <a:rPr lang="en-US" sz="900" b="1" i="0" dirty="0">
                <a:effectLst/>
                <a:latin typeface="Segoe WPC"/>
              </a:rPr>
              <a:t>Exam Trap:</a:t>
            </a:r>
            <a:r>
              <a:rPr lang="en-US" sz="900" b="0" i="0" dirty="0">
                <a:effectLst/>
                <a:latin typeface="Segoe WPC"/>
              </a:rPr>
              <a:t> Non-members do not avoid clearing risk; they bear it indirectly through the clearing member relationship.</a:t>
            </a:r>
          </a:p>
        </p:txBody>
      </p:sp>
    </p:spTree>
    <p:extLst>
      <p:ext uri="{BB962C8B-B14F-4D97-AF65-F5344CB8AC3E}">
        <p14:creationId xmlns:p14="http://schemas.microsoft.com/office/powerpoint/2010/main" val="5344654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4C1EA2-0BEF-5545-905A-C520DCF0D657}"/>
              </a:ext>
            </a:extLst>
          </p:cNvPr>
          <p:cNvSpPr>
            <a:spLocks noGrp="1"/>
          </p:cNvSpPr>
          <p:nvPr>
            <p:ph type="title"/>
          </p:nvPr>
        </p:nvSpPr>
        <p:spPr>
          <a:xfrm>
            <a:off x="0" y="-6356"/>
            <a:ext cx="10515600" cy="425903"/>
          </a:xfrm>
        </p:spPr>
        <p:txBody>
          <a:bodyPr>
            <a:noAutofit/>
          </a:bodyPr>
          <a:lstStyle/>
          <a:p>
            <a:r>
              <a:rPr lang="en-US" sz="2800" dirty="0"/>
              <a:t>Future Markets</a:t>
            </a:r>
            <a:endParaRPr lang="es-PE" sz="2800" dirty="0"/>
          </a:p>
        </p:txBody>
      </p:sp>
      <p:sp>
        <p:nvSpPr>
          <p:cNvPr id="5" name="CuadroTexto 4">
            <a:extLst>
              <a:ext uri="{FF2B5EF4-FFF2-40B4-BE49-F238E27FC236}">
                <a16:creationId xmlns:a16="http://schemas.microsoft.com/office/drawing/2014/main" id="{4961ADD9-0ADB-3507-31B7-85F9739C1F46}"/>
              </a:ext>
            </a:extLst>
          </p:cNvPr>
          <p:cNvSpPr txBox="1"/>
          <p:nvPr/>
        </p:nvSpPr>
        <p:spPr>
          <a:xfrm>
            <a:off x="0" y="325204"/>
            <a:ext cx="6306458" cy="6971139"/>
          </a:xfrm>
          <a:prstGeom prst="rect">
            <a:avLst/>
          </a:prstGeom>
          <a:noFill/>
        </p:spPr>
        <p:txBody>
          <a:bodyPr wrap="square">
            <a:spAutoFit/>
          </a:bodyPr>
          <a:lstStyle/>
          <a:p>
            <a:pPr algn="l">
              <a:spcAft>
                <a:spcPts val="600"/>
              </a:spcAft>
              <a:buNone/>
            </a:pPr>
            <a:r>
              <a:rPr lang="en-US" sz="900" b="1" i="0" dirty="0">
                <a:effectLst/>
                <a:latin typeface="Segoe WPC"/>
              </a:rPr>
              <a:t>1. What Futures Contracts Are and How Exchanges Organize Them</a:t>
            </a:r>
            <a:br>
              <a:rPr lang="en-US" sz="900" b="0" i="0" dirty="0">
                <a:effectLst/>
                <a:latin typeface="Segoe WPC"/>
              </a:rPr>
            </a:br>
            <a:r>
              <a:rPr lang="en-US" sz="900" b="1" i="0" dirty="0">
                <a:effectLst/>
                <a:latin typeface="Segoe WPC"/>
              </a:rPr>
              <a:t>Financial Object:</a:t>
            </a:r>
            <a:r>
              <a:rPr lang="en-US" sz="900" b="0" i="0" dirty="0">
                <a:effectLst/>
                <a:latin typeface="Segoe WPC"/>
              </a:rPr>
              <a:t> Exchange-traded agreements to buy or sell an asset at a future time for a specified price.</a:t>
            </a:r>
            <a:br>
              <a:rPr lang="en-US" sz="900" b="0" i="0" dirty="0">
                <a:effectLst/>
                <a:latin typeface="Segoe WPC"/>
              </a:rPr>
            </a:br>
            <a:r>
              <a:rPr lang="en-US" sz="900" b="1" i="0" dirty="0">
                <a:effectLst/>
                <a:latin typeface="Segoe WPC"/>
              </a:rPr>
              <a:t>Plain Intuition:</a:t>
            </a:r>
            <a:r>
              <a:rPr lang="en-US" sz="900" b="0" i="0" dirty="0">
                <a:effectLst/>
                <a:latin typeface="Segoe WPC"/>
              </a:rPr>
              <a:t> Futures are standardized forwards traded on exchanges, with the exchange CCP standing between traders and managing credit risk through margining and clearing.</a:t>
            </a:r>
            <a:br>
              <a:rPr lang="en-US" sz="900" b="0" i="0" dirty="0">
                <a:effectLst/>
                <a:latin typeface="Segoe WPC"/>
              </a:rPr>
            </a:br>
            <a:r>
              <a:rPr lang="en-US" sz="900" b="1" i="0" dirty="0">
                <a:effectLst/>
                <a:latin typeface="Segoe WPC"/>
              </a:rPr>
              <a:t>Visual Intuition:</a:t>
            </a:r>
            <a:r>
              <a:rPr lang="en-US" sz="900" b="0" i="0" dirty="0">
                <a:effectLst/>
                <a:latin typeface="Segoe WPC"/>
              </a:rPr>
              <a:t> Many traders enter and exit standardized contracts through one organized exchange rather than negotiating directly with each other.</a:t>
            </a:r>
            <a:br>
              <a:rPr lang="en-US" sz="900" b="0" i="0" dirty="0">
                <a:effectLst/>
                <a:latin typeface="Segoe WPC"/>
              </a:rPr>
            </a:br>
            <a:r>
              <a:rPr lang="en-US" sz="900" b="1" i="0" dirty="0">
                <a:effectLst/>
                <a:latin typeface="Segoe WPC"/>
              </a:rPr>
              <a:t>Key Formula:</a:t>
            </a:r>
            <a:r>
              <a:rPr lang="en-US" sz="900" b="0" i="0" dirty="0">
                <a:effectLst/>
                <a:latin typeface="Segoe WPC"/>
              </a:rPr>
              <a:t> No single pricing formula here; the key institutional features are standardization, daily settlement, CCP clearing, and easy close-out.</a:t>
            </a:r>
            <a:br>
              <a:rPr lang="en-US" sz="900" b="0" i="0" dirty="0">
                <a:effectLst/>
                <a:latin typeface="Segoe WPC"/>
              </a:rPr>
            </a:br>
            <a:r>
              <a:rPr lang="en-US" sz="900" b="1" i="0" dirty="0">
                <a:effectLst/>
                <a:latin typeface="Segoe WPC"/>
              </a:rPr>
              <a:t>Interpretation:</a:t>
            </a:r>
            <a:r>
              <a:rPr lang="en-US" sz="900" b="0" i="0" dirty="0">
                <a:effectLst/>
                <a:latin typeface="Segoe WPC"/>
              </a:rPr>
              <a:t> Futures exchanges define contracts, require margin, settle gains and losses daily, and make it easy to offset positions before delivery. Open interest is the number of outstanding net long or net short contracts, while trading volume is the number of contracts traded during a day.</a:t>
            </a:r>
            <a:br>
              <a:rPr lang="en-US" sz="900" b="0" i="0" dirty="0">
                <a:effectLst/>
                <a:latin typeface="Segoe WPC"/>
              </a:rPr>
            </a:br>
            <a:r>
              <a:rPr lang="en-US" sz="900" b="1" i="0" dirty="0">
                <a:effectLst/>
                <a:latin typeface="Segoe WPC"/>
              </a:rPr>
              <a:t>Exam Trap:</a:t>
            </a:r>
            <a:r>
              <a:rPr lang="en-US" sz="900" b="0" i="0" dirty="0">
                <a:effectLst/>
                <a:latin typeface="Segoe WPC"/>
              </a:rPr>
              <a:t> Open interest is not the same as trading volume; volume can exceed open interest when positions are frequently opened and closed.</a:t>
            </a:r>
          </a:p>
          <a:p>
            <a:pPr algn="l">
              <a:spcAft>
                <a:spcPts val="600"/>
              </a:spcAft>
              <a:buNone/>
            </a:pPr>
            <a:r>
              <a:rPr lang="en-US" sz="900" b="1" i="0" dirty="0">
                <a:effectLst/>
                <a:latin typeface="Segoe WPC"/>
              </a:rPr>
              <a:t>2. Contract Specifications</a:t>
            </a:r>
            <a:br>
              <a:rPr lang="en-US" sz="900" b="0" i="0" dirty="0">
                <a:effectLst/>
                <a:latin typeface="Segoe WPC"/>
              </a:rPr>
            </a:br>
            <a:r>
              <a:rPr lang="en-US" sz="900" b="1" i="0" dirty="0">
                <a:effectLst/>
                <a:latin typeface="Segoe WPC"/>
              </a:rPr>
              <a:t>Financial Object:</a:t>
            </a:r>
            <a:r>
              <a:rPr lang="en-US" sz="900" b="0" i="0" dirty="0">
                <a:effectLst/>
                <a:latin typeface="Segoe WPC"/>
              </a:rPr>
              <a:t> The detailed terms defined by the exchange for each futures contract.</a:t>
            </a:r>
            <a:br>
              <a:rPr lang="en-US" sz="900" b="0" i="0" dirty="0">
                <a:effectLst/>
                <a:latin typeface="Segoe WPC"/>
              </a:rPr>
            </a:br>
            <a:r>
              <a:rPr lang="en-US" sz="900" b="1" i="0" dirty="0">
                <a:effectLst/>
                <a:latin typeface="Segoe WPC"/>
              </a:rPr>
              <a:t>Plain Intuition:</a:t>
            </a:r>
            <a:r>
              <a:rPr lang="en-US" sz="900" b="0" i="0" dirty="0">
                <a:effectLst/>
                <a:latin typeface="Segoe WPC"/>
              </a:rPr>
              <a:t> The exchange must specify exactly what is being traded, how much of it, where and when it can be delivered, and how price is quoted.</a:t>
            </a:r>
            <a:br>
              <a:rPr lang="en-US" sz="900" b="0" i="0" dirty="0">
                <a:effectLst/>
                <a:latin typeface="Segoe WPC"/>
              </a:rPr>
            </a:br>
            <a:r>
              <a:rPr lang="en-US" sz="900" b="1" i="0" dirty="0">
                <a:effectLst/>
                <a:latin typeface="Segoe WPC"/>
              </a:rPr>
              <a:t>Visual Intuition:</a:t>
            </a:r>
            <a:r>
              <a:rPr lang="en-US" sz="900" b="0" i="0" dirty="0">
                <a:effectLst/>
                <a:latin typeface="Segoe WPC"/>
              </a:rPr>
              <a:t> Every futures contract is a template with fixed rules on asset, size, location, timing, and trading conditions.</a:t>
            </a:r>
            <a:br>
              <a:rPr lang="en-US" sz="900" b="0" i="0" dirty="0">
                <a:effectLst/>
                <a:latin typeface="Segoe WPC"/>
              </a:rPr>
            </a:br>
            <a:r>
              <a:rPr lang="en-US" sz="900" b="1" i="0" dirty="0">
                <a:effectLst/>
                <a:latin typeface="Segoe WPC"/>
              </a:rPr>
              <a:t>Key Formula:</a:t>
            </a:r>
            <a:r>
              <a:rPr lang="en-US" sz="900" b="0" i="0" dirty="0">
                <a:effectLst/>
                <a:latin typeface="Segoe WPC"/>
              </a:rPr>
              <a:t> Minimum contract value movement = minimum quoted price movement × contract size.</a:t>
            </a:r>
            <a:br>
              <a:rPr lang="en-US" sz="900" b="0" i="0" dirty="0">
                <a:effectLst/>
                <a:latin typeface="Segoe WPC"/>
              </a:rPr>
            </a:br>
            <a:r>
              <a:rPr lang="en-US" sz="900" b="1" i="0" dirty="0">
                <a:effectLst/>
                <a:latin typeface="Segoe WPC"/>
              </a:rPr>
              <a:t>Interpretation:</a:t>
            </a:r>
            <a:r>
              <a:rPr lang="en-US" sz="900" b="0" i="0" dirty="0">
                <a:effectLst/>
                <a:latin typeface="Segoe WPC"/>
              </a:rPr>
              <a:t> Specifications include the underlying asset, contract size, delivery location, delivery period, quotation convention, minimum tick size, daily price limits, and position limits. For commodities, the exchange may also define acceptable grades and price adjustments across grades. Usually, when choices exist, the short side chooses quality, location, or delivery date.</a:t>
            </a:r>
            <a:br>
              <a:rPr lang="en-US" sz="900" b="0" i="0" dirty="0">
                <a:effectLst/>
                <a:latin typeface="Segoe WPC"/>
              </a:rPr>
            </a:br>
            <a:r>
              <a:rPr lang="en-US" sz="900" b="1" i="0" dirty="0">
                <a:effectLst/>
                <a:latin typeface="Segoe WPC"/>
              </a:rPr>
              <a:t>Exam Trap:</a:t>
            </a:r>
            <a:r>
              <a:rPr lang="en-US" sz="900" b="0" i="0" dirty="0">
                <a:effectLst/>
                <a:latin typeface="Segoe WPC"/>
              </a:rPr>
              <a:t> For commodity contracts, the exact grade and delivery terms matter; they are not minor details.</a:t>
            </a:r>
          </a:p>
          <a:p>
            <a:pPr algn="l">
              <a:spcAft>
                <a:spcPts val="600"/>
              </a:spcAft>
              <a:buNone/>
            </a:pPr>
            <a:r>
              <a:rPr lang="en-US" sz="900" b="1" i="0" dirty="0">
                <a:effectLst/>
                <a:latin typeface="Segoe WPC"/>
              </a:rPr>
              <a:t>3. Convergence of Futures and Spot Prices</a:t>
            </a:r>
            <a:br>
              <a:rPr lang="en-US" sz="900" b="0" i="0" dirty="0">
                <a:effectLst/>
                <a:latin typeface="Segoe WPC"/>
              </a:rPr>
            </a:br>
            <a:r>
              <a:rPr lang="en-US" sz="900" b="1" i="0" dirty="0">
                <a:effectLst/>
                <a:latin typeface="Segoe WPC"/>
              </a:rPr>
              <a:t>Financial Object:</a:t>
            </a:r>
            <a:r>
              <a:rPr lang="en-US" sz="900" b="0" i="0" dirty="0">
                <a:effectLst/>
                <a:latin typeface="Segoe WPC"/>
              </a:rPr>
              <a:t> The relationship between futures prices and spot prices as delivery approaches.</a:t>
            </a:r>
            <a:br>
              <a:rPr lang="en-US" sz="900" b="0" i="0" dirty="0">
                <a:effectLst/>
                <a:latin typeface="Segoe WPC"/>
              </a:rPr>
            </a:br>
            <a:r>
              <a:rPr lang="en-US" sz="900" b="1" i="0" dirty="0">
                <a:effectLst/>
                <a:latin typeface="Segoe WPC"/>
              </a:rPr>
              <a:t>Plain Intuition:</a:t>
            </a:r>
            <a:r>
              <a:rPr lang="en-US" sz="900" b="0" i="0" dirty="0">
                <a:effectLst/>
                <a:latin typeface="Segoe WPC"/>
              </a:rPr>
              <a:t> As the delivery period gets close, the futures price must converge to the spot price or arbitrage opportunities will arise.</a:t>
            </a:r>
            <a:br>
              <a:rPr lang="en-US" sz="900" b="0" i="0" dirty="0">
                <a:effectLst/>
                <a:latin typeface="Segoe WPC"/>
              </a:rPr>
            </a:br>
            <a:r>
              <a:rPr lang="en-US" sz="900" b="1" i="0" dirty="0">
                <a:effectLst/>
                <a:latin typeface="Segoe WPC"/>
              </a:rPr>
              <a:t>Visual Intuition:</a:t>
            </a:r>
            <a:r>
              <a:rPr lang="en-US" sz="900" b="0" i="0" dirty="0">
                <a:effectLst/>
                <a:latin typeface="Segoe WPC"/>
              </a:rPr>
              <a:t> Two price paths, one for spot and one for futures, move together and meet near delivery.</a:t>
            </a:r>
            <a:br>
              <a:rPr lang="en-US" sz="900" b="0" i="0" dirty="0">
                <a:effectLst/>
                <a:latin typeface="Segoe WPC"/>
              </a:rPr>
            </a:br>
            <a:r>
              <a:rPr lang="en-US" sz="900" b="1" i="0" dirty="0">
                <a:effectLst/>
                <a:latin typeface="Segoe WPC"/>
              </a:rPr>
              <a:t>Key Formula:</a:t>
            </a:r>
            <a:r>
              <a:rPr lang="en-US" sz="900" b="0" i="0" dirty="0">
                <a:effectLst/>
                <a:latin typeface="Segoe WPC"/>
              </a:rPr>
              <a:t> If futures are above spot during delivery, traders can short futures, buy spot, and deliver; if futures are below spot, traders can buy futures and wait for delivery.</a:t>
            </a:r>
            <a:br>
              <a:rPr lang="en-US" sz="900" b="0" i="0" dirty="0">
                <a:effectLst/>
                <a:latin typeface="Segoe WPC"/>
              </a:rPr>
            </a:br>
            <a:r>
              <a:rPr lang="en-US" sz="900" b="1" i="0" dirty="0">
                <a:effectLst/>
                <a:latin typeface="Segoe WPC"/>
              </a:rPr>
              <a:t>Interpretation:</a:t>
            </a:r>
            <a:r>
              <a:rPr lang="en-US" sz="900" b="0" i="0" dirty="0">
                <a:effectLst/>
                <a:latin typeface="Segoe WPC"/>
              </a:rPr>
              <a:t> Arbitrage enforces convergence. A futures price meaningfully above or below spot during the delivery period cannot persist because traders would exploit the difference.</a:t>
            </a:r>
            <a:br>
              <a:rPr lang="en-US" sz="900" b="0" i="0" dirty="0">
                <a:effectLst/>
                <a:latin typeface="Segoe WPC"/>
              </a:rPr>
            </a:br>
            <a:r>
              <a:rPr lang="en-US" sz="900" b="1" i="0" dirty="0">
                <a:effectLst/>
                <a:latin typeface="Segoe WPC"/>
              </a:rPr>
              <a:t>Exam Trap:</a:t>
            </a:r>
            <a:r>
              <a:rPr lang="en-US" sz="900" b="0" i="0" dirty="0">
                <a:effectLst/>
                <a:latin typeface="Segoe WPC"/>
              </a:rPr>
              <a:t> Convergence happens because delivery links the contracts economically; it is not just an empirical pattern.</a:t>
            </a:r>
          </a:p>
          <a:p>
            <a:pPr algn="l">
              <a:spcAft>
                <a:spcPts val="600"/>
              </a:spcAft>
              <a:buNone/>
            </a:pPr>
            <a:r>
              <a:rPr lang="en-US" sz="900" b="1" i="0" dirty="0">
                <a:effectLst/>
                <a:latin typeface="Segoe WPC"/>
              </a:rPr>
              <a:t>4. Delivery Process vs Cash Settlement</a:t>
            </a:r>
            <a:br>
              <a:rPr lang="en-US" sz="900" b="0" i="0" dirty="0">
                <a:effectLst/>
                <a:latin typeface="Segoe WPC"/>
              </a:rPr>
            </a:br>
            <a:r>
              <a:rPr lang="en-US" sz="900" b="1" i="0" dirty="0">
                <a:effectLst/>
                <a:latin typeface="Segoe WPC"/>
              </a:rPr>
              <a:t>Financial Object:</a:t>
            </a:r>
            <a:r>
              <a:rPr lang="en-US" sz="900" b="0" i="0" dirty="0">
                <a:effectLst/>
                <a:latin typeface="Segoe WPC"/>
              </a:rPr>
              <a:t> How futures contracts are finally settled.</a:t>
            </a:r>
            <a:br>
              <a:rPr lang="en-US" sz="900" b="0" i="0" dirty="0">
                <a:effectLst/>
                <a:latin typeface="Segoe WPC"/>
              </a:rPr>
            </a:br>
            <a:r>
              <a:rPr lang="en-US" sz="900" b="1" i="0" dirty="0">
                <a:effectLst/>
                <a:latin typeface="Segoe WPC"/>
              </a:rPr>
              <a:t>Plain Intuition:</a:t>
            </a:r>
            <a:r>
              <a:rPr lang="en-US" sz="900" b="0" i="0" dirty="0">
                <a:effectLst/>
                <a:latin typeface="Segoe WPC"/>
              </a:rPr>
              <a:t> Most futures are closed out before delivery, but the delivery process remains crucial because it ties futures prices to spot prices. Some contracts instead settle in cash.</a:t>
            </a:r>
            <a:br>
              <a:rPr lang="en-US" sz="900" b="0" i="0" dirty="0">
                <a:effectLst/>
                <a:latin typeface="Segoe WPC"/>
              </a:rPr>
            </a:br>
            <a:r>
              <a:rPr lang="en-US" sz="900" b="1" i="0" dirty="0">
                <a:effectLst/>
                <a:latin typeface="Segoe WPC"/>
              </a:rPr>
              <a:t>Visual Intuition:</a:t>
            </a:r>
            <a:r>
              <a:rPr lang="en-US" sz="900" b="0" i="0" dirty="0">
                <a:effectLst/>
                <a:latin typeface="Segoe WPC"/>
              </a:rPr>
              <a:t> In physical delivery, the short issues notice and the long must accept; in cash settlement, final value is transferred without delivering the asset.</a:t>
            </a:r>
            <a:br>
              <a:rPr lang="en-US" sz="900" b="0" i="0" dirty="0">
                <a:effectLst/>
                <a:latin typeface="Segoe WPC"/>
              </a:rPr>
            </a:br>
            <a:r>
              <a:rPr lang="en-US" sz="900" b="1" i="0" dirty="0">
                <a:effectLst/>
                <a:latin typeface="Segoe WPC"/>
              </a:rPr>
              <a:t>Key Formula:</a:t>
            </a:r>
            <a:r>
              <a:rPr lang="en-US" sz="900" b="0" i="0" dirty="0">
                <a:effectLst/>
                <a:latin typeface="Segoe WPC"/>
              </a:rPr>
              <a:t> Final settlement for cash-settled contracts is based on a specified final index or reference price.</a:t>
            </a:r>
            <a:br>
              <a:rPr lang="en-US" sz="900" b="0" i="0" dirty="0">
                <a:effectLst/>
                <a:latin typeface="Segoe WPC"/>
              </a:rPr>
            </a:br>
            <a:r>
              <a:rPr lang="en-US" sz="900" b="1" i="0" dirty="0">
                <a:effectLst/>
                <a:latin typeface="Segoe WPC"/>
              </a:rPr>
              <a:t>Interpretation:</a:t>
            </a:r>
            <a:r>
              <a:rPr lang="en-US" sz="900" b="0" i="0" dirty="0">
                <a:effectLst/>
                <a:latin typeface="Segoe WPC"/>
              </a:rPr>
              <a:t> Delivery begins when the short issues a notice of intention to deliver. The exchange allocates the notice to a long, and the short usually chooses the permitted delivery date, location, and sometimes grade. Cash settlement is common for stock index, weather, real estate, and some interest rate futures where physical delivery would be costly or impractical.</a:t>
            </a:r>
            <a:br>
              <a:rPr lang="en-US" sz="900" b="0" i="0" dirty="0">
                <a:effectLst/>
                <a:latin typeface="Segoe WPC"/>
              </a:rPr>
            </a:br>
            <a:r>
              <a:rPr lang="en-US" sz="900" b="1" i="0" dirty="0">
                <a:effectLst/>
                <a:latin typeface="Segoe WPC"/>
              </a:rPr>
              <a:t>Exam Trap:</a:t>
            </a:r>
            <a:r>
              <a:rPr lang="en-US" sz="900" b="0" i="0" dirty="0">
                <a:effectLst/>
                <a:latin typeface="Segoe WPC"/>
              </a:rPr>
              <a:t> Even if almost all contracts are closed out before delivery, the delivery process still matters because it anchors pricing.</a:t>
            </a:r>
          </a:p>
        </p:txBody>
      </p:sp>
      <p:sp>
        <p:nvSpPr>
          <p:cNvPr id="7" name="CuadroTexto 6">
            <a:extLst>
              <a:ext uri="{FF2B5EF4-FFF2-40B4-BE49-F238E27FC236}">
                <a16:creationId xmlns:a16="http://schemas.microsoft.com/office/drawing/2014/main" id="{1ADA15E5-7918-1505-A71B-4A23A3A79264}"/>
              </a:ext>
            </a:extLst>
          </p:cNvPr>
          <p:cNvSpPr txBox="1"/>
          <p:nvPr/>
        </p:nvSpPr>
        <p:spPr>
          <a:xfrm>
            <a:off x="6146800" y="54195"/>
            <a:ext cx="6157684" cy="6647974"/>
          </a:xfrm>
          <a:prstGeom prst="rect">
            <a:avLst/>
          </a:prstGeom>
          <a:noFill/>
        </p:spPr>
        <p:txBody>
          <a:bodyPr wrap="square">
            <a:spAutoFit/>
          </a:bodyPr>
          <a:lstStyle/>
          <a:p>
            <a:pPr algn="l">
              <a:spcAft>
                <a:spcPts val="1200"/>
              </a:spcAft>
              <a:buNone/>
            </a:pPr>
            <a:r>
              <a:rPr lang="en-US" sz="900" b="1" i="0" dirty="0">
                <a:effectLst/>
                <a:latin typeface="Segoe WPC"/>
              </a:rPr>
              <a:t>5. Futures Price Patterns</a:t>
            </a:r>
            <a:br>
              <a:rPr lang="en-US" sz="900" b="0" i="0" dirty="0">
                <a:effectLst/>
                <a:latin typeface="Segoe WPC"/>
              </a:rPr>
            </a:br>
            <a:r>
              <a:rPr lang="en-US" sz="900" b="1" i="0" dirty="0">
                <a:effectLst/>
                <a:latin typeface="Segoe WPC"/>
              </a:rPr>
              <a:t>Financial Object:</a:t>
            </a:r>
            <a:r>
              <a:rPr lang="en-US" sz="900" b="0" i="0" dirty="0">
                <a:effectLst/>
                <a:latin typeface="Segoe WPC"/>
              </a:rPr>
              <a:t> The term structure of futures prices across maturities.</a:t>
            </a:r>
            <a:br>
              <a:rPr lang="en-US" sz="900" b="0" i="0" dirty="0">
                <a:effectLst/>
                <a:latin typeface="Segoe WPC"/>
              </a:rPr>
            </a:br>
            <a:r>
              <a:rPr lang="en-US" sz="900" b="1" i="0" dirty="0">
                <a:effectLst/>
                <a:latin typeface="Segoe WPC"/>
              </a:rPr>
              <a:t>Plain Intuition:</a:t>
            </a:r>
            <a:r>
              <a:rPr lang="en-US" sz="900" b="0" i="0" dirty="0">
                <a:effectLst/>
                <a:latin typeface="Segoe WPC"/>
              </a:rPr>
              <a:t> Futures prices can rise with maturity in a normal market or fall with maturity in an inverted market.</a:t>
            </a:r>
            <a:br>
              <a:rPr lang="en-US" sz="900" b="0" i="0" dirty="0">
                <a:effectLst/>
                <a:latin typeface="Segoe WPC"/>
              </a:rPr>
            </a:br>
            <a:r>
              <a:rPr lang="en-US" sz="900" b="1" i="0" dirty="0">
                <a:effectLst/>
                <a:latin typeface="Segoe WPC"/>
              </a:rPr>
              <a:t>Visual Intuition:</a:t>
            </a:r>
            <a:r>
              <a:rPr lang="en-US" sz="900" b="0" i="0" dirty="0">
                <a:effectLst/>
                <a:latin typeface="Segoe WPC"/>
              </a:rPr>
              <a:t> The futures curve can slope upward, downward, or change shape across maturities.</a:t>
            </a:r>
            <a:br>
              <a:rPr lang="en-US" sz="900" b="0" i="0" dirty="0">
                <a:effectLst/>
                <a:latin typeface="Segoe WPC"/>
              </a:rPr>
            </a:br>
            <a:r>
              <a:rPr lang="en-US" sz="900" b="1" i="0" dirty="0">
                <a:effectLst/>
                <a:latin typeface="Segoe WPC"/>
              </a:rPr>
              <a:t>Key Formula:</a:t>
            </a:r>
            <a:r>
              <a:rPr lang="en-US" sz="900" b="0" i="0" dirty="0">
                <a:effectLst/>
                <a:latin typeface="Segoe WPC"/>
              </a:rPr>
              <a:t> No single formula here; the chapter just distinguishes normal and inverted patterns.</a:t>
            </a:r>
            <a:br>
              <a:rPr lang="en-US" sz="900" b="0" i="0" dirty="0">
                <a:effectLst/>
                <a:latin typeface="Segoe WPC"/>
              </a:rPr>
            </a:br>
            <a:r>
              <a:rPr lang="en-US" sz="900" b="1" i="0" dirty="0">
                <a:effectLst/>
                <a:latin typeface="Segoe WPC"/>
              </a:rPr>
              <a:t>Interpretation:</a:t>
            </a:r>
            <a:r>
              <a:rPr lang="en-US" sz="900" b="0" i="0" dirty="0">
                <a:effectLst/>
                <a:latin typeface="Segoe WPC"/>
              </a:rPr>
              <a:t> Gold futures often show a normal market, while crude oil may sometimes show an inverted market. The same asset can exhibit different futures curve shapes at different times.</a:t>
            </a:r>
            <a:br>
              <a:rPr lang="en-US" sz="900" b="0" i="0" dirty="0">
                <a:effectLst/>
                <a:latin typeface="Segoe WPC"/>
              </a:rPr>
            </a:br>
            <a:r>
              <a:rPr lang="en-US" sz="900" b="1" i="0" dirty="0">
                <a:effectLst/>
                <a:latin typeface="Segoe WPC"/>
              </a:rPr>
              <a:t>Exam Trap:</a:t>
            </a:r>
            <a:r>
              <a:rPr lang="en-US" sz="900" b="0" i="0" dirty="0">
                <a:effectLst/>
                <a:latin typeface="Segoe WPC"/>
              </a:rPr>
              <a:t> There is no universal rule that futures prices always rise with maturity.</a:t>
            </a:r>
          </a:p>
          <a:p>
            <a:pPr algn="l">
              <a:spcAft>
                <a:spcPts val="1200"/>
              </a:spcAft>
              <a:buNone/>
            </a:pPr>
            <a:r>
              <a:rPr lang="en-US" sz="900" b="1" i="0" dirty="0">
                <a:effectLst/>
                <a:latin typeface="Segoe WPC"/>
              </a:rPr>
              <a:t>6. Market Participants and Order Types</a:t>
            </a:r>
            <a:br>
              <a:rPr lang="en-US" sz="900" b="0" i="0" dirty="0">
                <a:effectLst/>
                <a:latin typeface="Segoe WPC"/>
              </a:rPr>
            </a:br>
            <a:r>
              <a:rPr lang="en-US" sz="900" b="1" i="0" dirty="0">
                <a:effectLst/>
                <a:latin typeface="Segoe WPC"/>
              </a:rPr>
              <a:t>Financial Object:</a:t>
            </a:r>
            <a:r>
              <a:rPr lang="en-US" sz="900" b="0" i="0" dirty="0">
                <a:effectLst/>
                <a:latin typeface="Segoe WPC"/>
              </a:rPr>
              <a:t> The main actors in futures markets and the instructions they use to trade.</a:t>
            </a:r>
            <a:br>
              <a:rPr lang="en-US" sz="900" b="0" i="0" dirty="0">
                <a:effectLst/>
                <a:latin typeface="Segoe WPC"/>
              </a:rPr>
            </a:br>
            <a:r>
              <a:rPr lang="en-US" sz="900" b="1" i="0" dirty="0">
                <a:effectLst/>
                <a:latin typeface="Segoe WPC"/>
              </a:rPr>
              <a:t>Plain Intuition:</a:t>
            </a:r>
            <a:r>
              <a:rPr lang="en-US" sz="900" b="0" i="0" dirty="0">
                <a:effectLst/>
                <a:latin typeface="Segoe WPC"/>
              </a:rPr>
              <a:t> Brokers and futures commission merchants handle customer orders, while locals trade for their own accounts. Different orders control execution price, timing, and risk management.</a:t>
            </a:r>
            <a:br>
              <a:rPr lang="en-US" sz="900" b="0" i="0" dirty="0">
                <a:effectLst/>
                <a:latin typeface="Segoe WPC"/>
              </a:rPr>
            </a:br>
            <a:r>
              <a:rPr lang="en-US" sz="900" b="1" i="0" dirty="0">
                <a:effectLst/>
                <a:latin typeface="Segoe WPC"/>
              </a:rPr>
              <a:t>Visual Intuition:</a:t>
            </a:r>
            <a:r>
              <a:rPr lang="en-US" sz="900" b="0" i="0" dirty="0">
                <a:effectLst/>
                <a:latin typeface="Segoe WPC"/>
              </a:rPr>
              <a:t> Traders choose not only direction, but also how aggressively or selectively to enter and exit the market.</a:t>
            </a:r>
            <a:br>
              <a:rPr lang="en-US" sz="900" b="0" i="0" dirty="0">
                <a:effectLst/>
                <a:latin typeface="Segoe WPC"/>
              </a:rPr>
            </a:br>
            <a:r>
              <a:rPr lang="en-US" sz="900" b="1" i="0" dirty="0">
                <a:effectLst/>
                <a:latin typeface="Segoe WPC"/>
              </a:rPr>
              <a:t>Key Formula:</a:t>
            </a:r>
            <a:r>
              <a:rPr lang="en-US" sz="900" b="0" i="0" dirty="0">
                <a:effectLst/>
                <a:latin typeface="Segoe WPC"/>
              </a:rPr>
              <a:t> No single formula; the key distinctions are among order types and trader roles.</a:t>
            </a:r>
            <a:br>
              <a:rPr lang="en-US" sz="900" b="0" i="0" dirty="0">
                <a:effectLst/>
                <a:latin typeface="Segoe WPC"/>
              </a:rPr>
            </a:br>
            <a:r>
              <a:rPr lang="en-US" sz="900" b="1" i="0" dirty="0">
                <a:effectLst/>
                <a:latin typeface="Segoe WPC"/>
              </a:rPr>
              <a:t>Interpretation:</a:t>
            </a:r>
            <a:r>
              <a:rPr lang="en-US" sz="900" b="0" i="0" dirty="0">
                <a:effectLst/>
                <a:latin typeface="Segoe WPC"/>
              </a:rPr>
              <a:t> Traders may be scalpers, day traders, or position traders. Common order types include market orders, limit orders, stop-loss orders, stop-limit orders, market-if-touched orders, discretionary orders, fill-or-kill orders, day orders, and good-till-cancelled orders.</a:t>
            </a:r>
            <a:br>
              <a:rPr lang="en-US" sz="900" b="0" i="0" dirty="0">
                <a:effectLst/>
                <a:latin typeface="Segoe WPC"/>
              </a:rPr>
            </a:br>
            <a:r>
              <a:rPr lang="en-US" sz="900" b="1" i="0" dirty="0">
                <a:effectLst/>
                <a:latin typeface="Segoe WPC"/>
              </a:rPr>
              <a:t>Exam Trap:</a:t>
            </a:r>
            <a:r>
              <a:rPr lang="en-US" sz="900" b="0" i="0" dirty="0">
                <a:effectLst/>
                <a:latin typeface="Segoe WPC"/>
              </a:rPr>
              <a:t> A stop-loss order becomes a market order once the stop is reached; a stop-limit order becomes a limit order.</a:t>
            </a:r>
          </a:p>
          <a:p>
            <a:pPr algn="l">
              <a:spcAft>
                <a:spcPts val="1200"/>
              </a:spcAft>
              <a:buNone/>
            </a:pPr>
            <a:r>
              <a:rPr lang="en-US" sz="900" b="1" i="0" dirty="0">
                <a:effectLst/>
                <a:latin typeface="Segoe WPC"/>
              </a:rPr>
              <a:t>7. Marking to Market and Hedge Accounting</a:t>
            </a:r>
            <a:br>
              <a:rPr lang="en-US" sz="900" b="0" i="0" dirty="0">
                <a:effectLst/>
                <a:latin typeface="Segoe WPC"/>
              </a:rPr>
            </a:br>
            <a:r>
              <a:rPr lang="en-US" sz="900" b="1" i="0" dirty="0">
                <a:effectLst/>
                <a:latin typeface="Segoe WPC"/>
              </a:rPr>
              <a:t>Financial Object:</a:t>
            </a:r>
            <a:r>
              <a:rPr lang="en-US" sz="900" b="0" i="0" dirty="0">
                <a:effectLst/>
                <a:latin typeface="Segoe WPC"/>
              </a:rPr>
              <a:t> The accounting treatment of futures gains and losses.</a:t>
            </a:r>
            <a:br>
              <a:rPr lang="en-US" sz="900" b="0" i="0" dirty="0">
                <a:effectLst/>
                <a:latin typeface="Segoe WPC"/>
              </a:rPr>
            </a:br>
            <a:r>
              <a:rPr lang="en-US" sz="900" b="1" i="0" dirty="0">
                <a:effectLst/>
                <a:latin typeface="Segoe WPC"/>
              </a:rPr>
              <a:t>Plain Intuition:</a:t>
            </a:r>
            <a:r>
              <a:rPr lang="en-US" sz="900" b="0" i="0" dirty="0">
                <a:effectLst/>
                <a:latin typeface="Segoe WPC"/>
              </a:rPr>
              <a:t> Futures gains and losses are normally recognized as they occur because contracts are settled daily, but hedge accounting can defer recognition so it matches the hedged item.</a:t>
            </a:r>
            <a:br>
              <a:rPr lang="en-US" sz="900" b="0" i="0" dirty="0">
                <a:effectLst/>
                <a:latin typeface="Segoe WPC"/>
              </a:rPr>
            </a:br>
            <a:r>
              <a:rPr lang="en-US" sz="900" b="1" i="0" dirty="0">
                <a:effectLst/>
                <a:latin typeface="Segoe WPC"/>
              </a:rPr>
              <a:t>Visual Intuition:</a:t>
            </a:r>
            <a:r>
              <a:rPr lang="en-US" sz="900" b="0" i="0" dirty="0">
                <a:effectLst/>
                <a:latin typeface="Segoe WPC"/>
              </a:rPr>
              <a:t> Without hedge accounting, earnings move as futures are marked to market each period; with hedge accounting, those effects are aligned with the exposure being hedged.</a:t>
            </a:r>
            <a:br>
              <a:rPr lang="en-US" sz="900" b="0" i="0" dirty="0">
                <a:effectLst/>
                <a:latin typeface="Segoe WPC"/>
              </a:rPr>
            </a:br>
            <a:r>
              <a:rPr lang="en-US" sz="900" b="1" i="0" dirty="0">
                <a:effectLst/>
                <a:latin typeface="Segoe WPC"/>
              </a:rPr>
              <a:t>Key Formula:</a:t>
            </a:r>
            <a:r>
              <a:rPr lang="en-US" sz="900" b="0" i="0" dirty="0">
                <a:effectLst/>
                <a:latin typeface="Segoe WPC"/>
              </a:rPr>
              <a:t> Mark-to-market profit or loss each period = change in futures price × contract size × number of contracts.</a:t>
            </a:r>
            <a:br>
              <a:rPr lang="en-US" sz="900" b="0" i="0" dirty="0">
                <a:effectLst/>
                <a:latin typeface="Segoe WPC"/>
              </a:rPr>
            </a:br>
            <a:r>
              <a:rPr lang="en-US" sz="900" b="1" i="0" dirty="0">
                <a:effectLst/>
                <a:latin typeface="Segoe WPC"/>
              </a:rPr>
              <a:t>Interpretation:</a:t>
            </a:r>
            <a:r>
              <a:rPr lang="en-US" sz="900" b="0" i="0" dirty="0">
                <a:effectLst/>
                <a:latin typeface="Segoe WPC"/>
              </a:rPr>
              <a:t> Daily settlement means profits and losses are realized continuously. This can increase reported earnings volatility unless the futures qualify for hedge accounting under accounting rules such as ASC 815 or IFRS 9. Hedge accounting is allowed only when strict documentation and effectiveness requirements are satisfied.</a:t>
            </a:r>
            <a:br>
              <a:rPr lang="en-US" sz="900" b="0" i="0" dirty="0">
                <a:effectLst/>
                <a:latin typeface="Segoe WPC"/>
              </a:rPr>
            </a:br>
            <a:r>
              <a:rPr lang="en-US" sz="900" b="1" i="0" dirty="0">
                <a:effectLst/>
                <a:latin typeface="Segoe WPC"/>
              </a:rPr>
              <a:t>Exam Trap:</a:t>
            </a:r>
            <a:r>
              <a:rPr lang="en-US" sz="900" b="0" i="0" dirty="0">
                <a:effectLst/>
                <a:latin typeface="Segoe WPC"/>
              </a:rPr>
              <a:t> A hedge for economic purposes is not automatically a hedge for accounting purposes.</a:t>
            </a:r>
          </a:p>
          <a:p>
            <a:pPr algn="l">
              <a:spcAft>
                <a:spcPts val="1200"/>
              </a:spcAft>
              <a:buNone/>
            </a:pPr>
            <a:r>
              <a:rPr lang="en-US" sz="900" b="1" i="0" dirty="0">
                <a:effectLst/>
                <a:latin typeface="Segoe WPC"/>
              </a:rPr>
              <a:t>8. Futures vs Forward Contracts</a:t>
            </a:r>
            <a:br>
              <a:rPr lang="en-US" sz="900" b="0" i="0" dirty="0">
                <a:effectLst/>
                <a:latin typeface="Segoe WPC"/>
              </a:rPr>
            </a:br>
            <a:r>
              <a:rPr lang="en-US" sz="900" b="1" i="0" dirty="0">
                <a:effectLst/>
                <a:latin typeface="Segoe WPC"/>
              </a:rPr>
              <a:t>Financial Object:</a:t>
            </a:r>
            <a:r>
              <a:rPr lang="en-US" sz="900" b="0" i="0" dirty="0">
                <a:effectLst/>
                <a:latin typeface="Segoe WPC"/>
              </a:rPr>
              <a:t> Comparison between exchange-traded futures and OTC forwards.</a:t>
            </a:r>
            <a:br>
              <a:rPr lang="en-US" sz="900" b="0" i="0" dirty="0">
                <a:effectLst/>
                <a:latin typeface="Segoe WPC"/>
              </a:rPr>
            </a:br>
            <a:r>
              <a:rPr lang="en-US" sz="900" b="1" i="0" dirty="0">
                <a:effectLst/>
                <a:latin typeface="Segoe WPC"/>
              </a:rPr>
              <a:t>Plain Intuition:</a:t>
            </a:r>
            <a:r>
              <a:rPr lang="en-US" sz="900" b="0" i="0" dirty="0">
                <a:effectLst/>
                <a:latin typeface="Segoe WPC"/>
              </a:rPr>
              <a:t> Both lock in a future transaction price, but futures are standardized, exchange-traded, and settled daily, while forwards are customized OTC contracts usually settled at maturity.</a:t>
            </a:r>
            <a:br>
              <a:rPr lang="en-US" sz="900" b="0" i="0" dirty="0">
                <a:effectLst/>
                <a:latin typeface="Segoe WPC"/>
              </a:rPr>
            </a:br>
            <a:r>
              <a:rPr lang="en-US" sz="900" b="1" i="0" dirty="0">
                <a:effectLst/>
                <a:latin typeface="Segoe WPC"/>
              </a:rPr>
              <a:t>Visual Intuition:</a:t>
            </a:r>
            <a:r>
              <a:rPr lang="en-US" sz="900" b="0" i="0" dirty="0">
                <a:effectLst/>
                <a:latin typeface="Segoe WPC"/>
              </a:rPr>
              <a:t> Futures are liquid and easy to offset; forwards are tailored but less flexible to unwind.</a:t>
            </a:r>
            <a:br>
              <a:rPr lang="en-US" sz="900" b="0" i="0" dirty="0">
                <a:effectLst/>
                <a:latin typeface="Segoe WPC"/>
              </a:rPr>
            </a:br>
            <a:r>
              <a:rPr lang="en-US" sz="900" b="1" i="0" dirty="0">
                <a:effectLst/>
                <a:latin typeface="Segoe WPC"/>
              </a:rPr>
              <a:t>Key Formula:</a:t>
            </a:r>
            <a:r>
              <a:rPr lang="en-US" sz="900" b="0" i="0" dirty="0">
                <a:effectLst/>
                <a:latin typeface="Segoe WPC"/>
              </a:rPr>
              <a:t> Futures and forwards have similar directional exposure, but futures are marked to market daily while forwards are not.</a:t>
            </a:r>
            <a:br>
              <a:rPr lang="en-US" sz="900" b="0" i="0" dirty="0">
                <a:effectLst/>
                <a:latin typeface="Segoe WPC"/>
              </a:rPr>
            </a:br>
            <a:r>
              <a:rPr lang="en-US" sz="900" b="1" i="0" dirty="0">
                <a:effectLst/>
                <a:latin typeface="Segoe WPC"/>
              </a:rPr>
              <a:t>Interpretation:</a:t>
            </a:r>
            <a:r>
              <a:rPr lang="en-US" sz="900" b="0" i="0" dirty="0">
                <a:effectLst/>
                <a:latin typeface="Segoe WPC"/>
              </a:rPr>
              <a:t> Futures cover a wide range of </a:t>
            </a:r>
            <a:r>
              <a:rPr lang="en-US" sz="900" b="0" i="0" dirty="0" err="1">
                <a:effectLst/>
                <a:latin typeface="Segoe WPC"/>
              </a:rPr>
              <a:t>underlyings</a:t>
            </a:r>
            <a:r>
              <a:rPr lang="en-US" sz="900" b="0" i="0" dirty="0">
                <a:effectLst/>
                <a:latin typeface="Segoe WPC"/>
              </a:rPr>
              <a:t> and are usually closed out before delivery. Forwards are especially common in FX and interest rates, often involve actual delivery, and are harder to close out because the original counterparty must agree. Futures specify a delivery period; forwards usually specify a single delivery date.</a:t>
            </a:r>
            <a:br>
              <a:rPr lang="en-US" sz="900" b="0" i="0" dirty="0">
                <a:effectLst/>
                <a:latin typeface="Segoe WPC"/>
              </a:rPr>
            </a:br>
            <a:r>
              <a:rPr lang="en-US" sz="900" b="1" i="0" dirty="0">
                <a:effectLst/>
                <a:latin typeface="Segoe WPC"/>
              </a:rPr>
              <a:t>Exam Trap:</a:t>
            </a:r>
            <a:r>
              <a:rPr lang="en-US" sz="900" b="0" i="0" dirty="0">
                <a:effectLst/>
                <a:latin typeface="Segoe WPC"/>
              </a:rPr>
              <a:t> Futures and forwards may look similar economically, but their settlement, liquidity, customization, and credit-risk characteristics are materially different.</a:t>
            </a:r>
          </a:p>
        </p:txBody>
      </p:sp>
    </p:spTree>
    <p:extLst>
      <p:ext uri="{BB962C8B-B14F-4D97-AF65-F5344CB8AC3E}">
        <p14:creationId xmlns:p14="http://schemas.microsoft.com/office/powerpoint/2010/main" val="1104795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426B8A-610A-E094-56AF-57EB3EA2E86A}"/>
              </a:ext>
            </a:extLst>
          </p:cNvPr>
          <p:cNvSpPr>
            <a:spLocks noGrp="1"/>
          </p:cNvSpPr>
          <p:nvPr>
            <p:ph type="title"/>
          </p:nvPr>
        </p:nvSpPr>
        <p:spPr>
          <a:xfrm>
            <a:off x="0" y="111125"/>
            <a:ext cx="10515600" cy="574675"/>
          </a:xfrm>
        </p:spPr>
        <p:txBody>
          <a:bodyPr>
            <a:noAutofit/>
          </a:bodyPr>
          <a:lstStyle/>
          <a:p>
            <a:r>
              <a:rPr lang="en-US" sz="2400" dirty="0"/>
              <a:t>Using Futures for hedging</a:t>
            </a:r>
            <a:endParaRPr lang="es-PE" sz="24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4D0A128E-0612-4CE9-51CF-ED217B618AD4}"/>
                  </a:ext>
                </a:extLst>
              </p:cNvPr>
              <p:cNvSpPr txBox="1"/>
              <p:nvPr/>
            </p:nvSpPr>
            <p:spPr>
              <a:xfrm>
                <a:off x="74385" y="552226"/>
                <a:ext cx="6152244" cy="6353984"/>
              </a:xfrm>
              <a:prstGeom prst="rect">
                <a:avLst/>
              </a:prstGeom>
              <a:noFill/>
            </p:spPr>
            <p:txBody>
              <a:bodyPr wrap="square">
                <a:spAutoFit/>
              </a:bodyPr>
              <a:lstStyle/>
              <a:p>
                <a:pPr algn="l">
                  <a:spcAft>
                    <a:spcPts val="600"/>
                  </a:spcAft>
                  <a:buNone/>
                </a:pPr>
                <a:r>
                  <a:rPr lang="en-US" sz="900" b="1" i="0" dirty="0">
                    <a:solidFill>
                      <a:schemeClr val="tx1"/>
                    </a:solidFill>
                    <a:effectLst/>
                    <a:latin typeface="Segoe WPC"/>
                  </a:rPr>
                  <a:t>1. Long and Short Hedges</a:t>
                </a:r>
                <a:br>
                  <a:rPr lang="en-US" sz="900" b="0" i="0" dirty="0">
                    <a:solidFill>
                      <a:schemeClr val="tx1"/>
                    </a:solidFill>
                    <a:effectLst/>
                    <a:latin typeface="Segoe WPC"/>
                  </a:rPr>
                </a:br>
                <a:r>
                  <a:rPr lang="en-US" sz="900" b="1" i="0" dirty="0">
                    <a:solidFill>
                      <a:schemeClr val="tx1"/>
                    </a:solidFill>
                    <a:effectLst/>
                    <a:latin typeface="Segoe WPC"/>
                  </a:rPr>
                  <a:t>Financial Object:</a:t>
                </a:r>
                <a:r>
                  <a:rPr lang="en-US" sz="900" b="0" i="0" dirty="0">
                    <a:solidFill>
                      <a:schemeClr val="tx1"/>
                    </a:solidFill>
                    <a:effectLst/>
                    <a:latin typeface="Segoe WPC"/>
                  </a:rPr>
                  <a:t> Using futures positions to reduce exposure to future price movements.</a:t>
                </a:r>
                <a:br>
                  <a:rPr lang="en-US" sz="900" b="0" i="0" dirty="0">
                    <a:solidFill>
                      <a:schemeClr val="tx1"/>
                    </a:solidFill>
                    <a:effectLst/>
                    <a:latin typeface="Segoe WPC"/>
                  </a:rPr>
                </a:br>
                <a:r>
                  <a:rPr lang="en-US" sz="900" b="1" i="0" dirty="0">
                    <a:solidFill>
                      <a:schemeClr val="tx1"/>
                    </a:solidFill>
                    <a:effectLst/>
                    <a:latin typeface="Segoe WPC"/>
                  </a:rPr>
                  <a:t>Plain Intuition:</a:t>
                </a:r>
                <a:r>
                  <a:rPr lang="en-US" sz="900" b="0" i="0" dirty="0">
                    <a:solidFill>
                      <a:schemeClr val="tx1"/>
                    </a:solidFill>
                    <a:effectLst/>
                    <a:latin typeface="Segoe WPC"/>
                  </a:rPr>
                  <a:t> Use a short hedge when you will sell an asset later; use a long hedge when you will buy an asset later.</a:t>
                </a:r>
                <a:br>
                  <a:rPr lang="en-US" sz="900" b="0" i="0" dirty="0">
                    <a:solidFill>
                      <a:schemeClr val="tx1"/>
                    </a:solidFill>
                    <a:effectLst/>
                    <a:latin typeface="Segoe WPC"/>
                  </a:rPr>
                </a:br>
                <a:r>
                  <a:rPr lang="en-US" sz="900" b="1" i="0" dirty="0">
                    <a:solidFill>
                      <a:schemeClr val="tx1"/>
                    </a:solidFill>
                    <a:effectLst/>
                    <a:latin typeface="Segoe WPC"/>
                  </a:rPr>
                  <a:t>Visual Intuition:</a:t>
                </a:r>
                <a:r>
                  <a:rPr lang="en-US" sz="900" b="0" i="0" dirty="0">
                    <a:solidFill>
                      <a:schemeClr val="tx1"/>
                    </a:solidFill>
                    <a:effectLst/>
                    <a:latin typeface="Segoe WPC"/>
                  </a:rPr>
                  <a:t> A short futures position offsets falling sale prices; a long futures position offsets rising purchase prices.</a:t>
                </a:r>
                <a:br>
                  <a:rPr lang="en-US" sz="900" b="0" i="0" dirty="0">
                    <a:solidFill>
                      <a:schemeClr val="tx1"/>
                    </a:solidFill>
                    <a:effectLst/>
                    <a:latin typeface="Segoe WPC"/>
                  </a:rPr>
                </a:br>
                <a:r>
                  <a:rPr lang="en-US" sz="900" b="1" i="0" dirty="0">
                    <a:solidFill>
                      <a:schemeClr val="tx1"/>
                    </a:solidFill>
                    <a:effectLst/>
                    <a:latin typeface="Segoe WPC"/>
                  </a:rPr>
                  <a:t>Key Formula:</a:t>
                </a:r>
                <a:r>
                  <a:rPr lang="en-US" sz="900" b="0" i="0" dirty="0">
                    <a:solidFill>
                      <a:schemeClr val="tx1"/>
                    </a:solidFill>
                    <a:effectLst/>
                    <a:latin typeface="Segoe WPC"/>
                  </a:rPr>
                  <a:t> Short hedge locks in approximately the initial futures price for a future sale; long hedge locks in approximately the initial futures price for a future purchase.</a:t>
                </a:r>
                <a:br>
                  <a:rPr lang="en-US" sz="900" b="0" i="0" dirty="0">
                    <a:solidFill>
                      <a:schemeClr val="tx1"/>
                    </a:solidFill>
                    <a:effectLst/>
                    <a:latin typeface="Segoe WPC"/>
                  </a:rPr>
                </a:br>
                <a:r>
                  <a:rPr lang="en-US" sz="900" b="1" i="0" dirty="0">
                    <a:solidFill>
                      <a:schemeClr val="tx1"/>
                    </a:solidFill>
                    <a:effectLst/>
                    <a:latin typeface="Segoe WPC"/>
                  </a:rPr>
                  <a:t>Interpretation:</a:t>
                </a:r>
                <a:r>
                  <a:rPr lang="en-US" sz="900" b="0" i="0" dirty="0">
                    <a:solidFill>
                      <a:schemeClr val="tx1"/>
                    </a:solidFill>
                    <a:effectLst/>
                    <a:latin typeface="Segoe WPC"/>
                  </a:rPr>
                  <a:t> A producer receiving oil later can short oil futures; a company needing copper later can go long copper futures. In idealized examples, gains or losses on the futures position offset the opposite movement in the spot price.</a:t>
                </a:r>
                <a:br>
                  <a:rPr lang="en-US" sz="900" b="0" i="0" dirty="0">
                    <a:solidFill>
                      <a:schemeClr val="tx1"/>
                    </a:solidFill>
                    <a:effectLst/>
                    <a:latin typeface="Segoe WPC"/>
                  </a:rPr>
                </a:br>
                <a:r>
                  <a:rPr lang="en-US" sz="900" b="1" i="0" dirty="0">
                    <a:solidFill>
                      <a:schemeClr val="tx1"/>
                    </a:solidFill>
                    <a:effectLst/>
                    <a:latin typeface="Segoe WPC"/>
                  </a:rPr>
                  <a:t>Exam Trap:</a:t>
                </a:r>
                <a:r>
                  <a:rPr lang="en-US" sz="900" b="0" i="0" dirty="0">
                    <a:solidFill>
                      <a:schemeClr val="tx1"/>
                    </a:solidFill>
                    <a:effectLst/>
                    <a:latin typeface="Segoe WPC"/>
                  </a:rPr>
                  <a:t> A short hedge is for future sales or future receipts of the asset, not for future purchases.</a:t>
                </a:r>
              </a:p>
              <a:p>
                <a:pPr algn="l">
                  <a:spcAft>
                    <a:spcPts val="600"/>
                  </a:spcAft>
                  <a:buNone/>
                </a:pPr>
                <a:r>
                  <a:rPr lang="en-US" sz="900" b="1" i="0" dirty="0">
                    <a:solidFill>
                      <a:schemeClr val="tx1"/>
                    </a:solidFill>
                    <a:effectLst/>
                    <a:latin typeface="Segoe WPC"/>
                  </a:rPr>
                  <a:t>2. Why Hedge and Why Some Firms Do Not</a:t>
                </a:r>
                <a:br>
                  <a:rPr lang="en-US" sz="900" b="0" i="0" dirty="0">
                    <a:solidFill>
                      <a:schemeClr val="tx1"/>
                    </a:solidFill>
                    <a:effectLst/>
                    <a:latin typeface="Segoe WPC"/>
                  </a:rPr>
                </a:br>
                <a:r>
                  <a:rPr lang="en-US" sz="900" b="1" i="0" dirty="0">
                    <a:solidFill>
                      <a:schemeClr val="tx1"/>
                    </a:solidFill>
                    <a:effectLst/>
                    <a:latin typeface="Segoe WPC"/>
                  </a:rPr>
                  <a:t>Financial Object:</a:t>
                </a:r>
                <a:r>
                  <a:rPr lang="en-US" sz="900" b="0" i="0" dirty="0">
                    <a:solidFill>
                      <a:schemeClr val="tx1"/>
                    </a:solidFill>
                    <a:effectLst/>
                    <a:latin typeface="Segoe WPC"/>
                  </a:rPr>
                  <a:t> The economic rationale for hedging and the arguments against it.</a:t>
                </a:r>
                <a:br>
                  <a:rPr lang="en-US" sz="900" b="0" i="0" dirty="0">
                    <a:solidFill>
                      <a:schemeClr val="tx1"/>
                    </a:solidFill>
                    <a:effectLst/>
                    <a:latin typeface="Segoe WPC"/>
                  </a:rPr>
                </a:br>
                <a:r>
                  <a:rPr lang="en-US" sz="900" b="1" i="0" dirty="0">
                    <a:solidFill>
                      <a:schemeClr val="tx1"/>
                    </a:solidFill>
                    <a:effectLst/>
                    <a:latin typeface="Segoe WPC"/>
                  </a:rPr>
                  <a:t>Plain Intuition:</a:t>
                </a:r>
                <a:r>
                  <a:rPr lang="en-US" sz="900" b="0" i="0" dirty="0">
                    <a:solidFill>
                      <a:schemeClr val="tx1"/>
                    </a:solidFill>
                    <a:effectLst/>
                    <a:latin typeface="Segoe WPC"/>
                  </a:rPr>
                  <a:t> Hedging reduces the variability of profits, but it does not necessarily increase expected profits. Some argue shareholders can diversify or hedge for themselves.</a:t>
                </a:r>
                <a:br>
                  <a:rPr lang="en-US" sz="900" b="0" i="0" dirty="0">
                    <a:solidFill>
                      <a:schemeClr val="tx1"/>
                    </a:solidFill>
                    <a:effectLst/>
                    <a:latin typeface="Segoe WPC"/>
                  </a:rPr>
                </a:br>
                <a:r>
                  <a:rPr lang="en-US" sz="900" b="1" i="0" dirty="0">
                    <a:solidFill>
                      <a:schemeClr val="tx1"/>
                    </a:solidFill>
                    <a:effectLst/>
                    <a:latin typeface="Segoe WPC"/>
                  </a:rPr>
                  <a:t>Visual Intuition:</a:t>
                </a:r>
                <a:r>
                  <a:rPr lang="en-US" sz="900" b="0" i="0" dirty="0">
                    <a:solidFill>
                      <a:schemeClr val="tx1"/>
                    </a:solidFill>
                    <a:effectLst/>
                    <a:latin typeface="Segoe WPC"/>
                  </a:rPr>
                  <a:t> Hedging smooths outcomes rather than maximizing them.</a:t>
                </a:r>
                <a:br>
                  <a:rPr lang="en-US" sz="900" b="0" i="0" dirty="0">
                    <a:solidFill>
                      <a:schemeClr val="tx1"/>
                    </a:solidFill>
                    <a:effectLst/>
                    <a:latin typeface="Segoe WPC"/>
                  </a:rPr>
                </a:br>
                <a:r>
                  <a:rPr lang="en-US" sz="900" b="1" i="0" dirty="0">
                    <a:solidFill>
                      <a:schemeClr val="tx1"/>
                    </a:solidFill>
                    <a:effectLst/>
                    <a:latin typeface="Segoe WPC"/>
                  </a:rPr>
                  <a:t>Key Formula:</a:t>
                </a:r>
                <a:r>
                  <a:rPr lang="en-US" sz="900" b="0" i="0" dirty="0">
                    <a:solidFill>
                      <a:schemeClr val="tx1"/>
                    </a:solidFill>
                    <a:effectLst/>
                    <a:latin typeface="Segoe WPC"/>
                  </a:rPr>
                  <a:t> No single formula; the main issue is reduced profit volatility, not necessarily higher expected return.</a:t>
                </a:r>
                <a:br>
                  <a:rPr lang="en-US" sz="900" b="0" i="0" dirty="0">
                    <a:solidFill>
                      <a:schemeClr val="tx1"/>
                    </a:solidFill>
                    <a:effectLst/>
                    <a:latin typeface="Segoe WPC"/>
                  </a:rPr>
                </a:br>
                <a:r>
                  <a:rPr lang="en-US" sz="900" b="1" i="0" dirty="0">
                    <a:solidFill>
                      <a:schemeClr val="tx1"/>
                    </a:solidFill>
                    <a:effectLst/>
                    <a:latin typeface="Segoe WPC"/>
                  </a:rPr>
                  <a:t>Interpretation:</a:t>
                </a:r>
                <a:r>
                  <a:rPr lang="en-US" sz="900" b="0" i="0" dirty="0">
                    <a:solidFill>
                      <a:schemeClr val="tx1"/>
                    </a:solidFill>
                    <a:effectLst/>
                    <a:latin typeface="Segoe WPC"/>
                  </a:rPr>
                  <a:t> Hedging can make earnings more stable and firms more attractive to investors. But shareholders may prefer firms not to hedge if they can diversify on their own. Also, firms may already have offsetting exposures, so hedging one side in isolation can increase risk rather than reduce it.</a:t>
                </a:r>
                <a:br>
                  <a:rPr lang="en-US" sz="900" b="0" i="0" dirty="0">
                    <a:solidFill>
                      <a:schemeClr val="tx1"/>
                    </a:solidFill>
                    <a:effectLst/>
                    <a:latin typeface="Segoe WPC"/>
                  </a:rPr>
                </a:br>
                <a:r>
                  <a:rPr lang="en-US" sz="900" b="1" i="0" dirty="0">
                    <a:solidFill>
                      <a:schemeClr val="tx1"/>
                    </a:solidFill>
                    <a:effectLst/>
                    <a:latin typeface="Segoe WPC"/>
                  </a:rPr>
                  <a:t>Exam Trap:</a:t>
                </a:r>
                <a:r>
                  <a:rPr lang="en-US" sz="900" b="0" i="0" dirty="0">
                    <a:solidFill>
                      <a:schemeClr val="tx1"/>
                    </a:solidFill>
                    <a:effectLst/>
                    <a:latin typeface="Segoe WPC"/>
                  </a:rPr>
                  <a:t> The purpose of hedging is risk reduction, not guaranteed profit improvement.</a:t>
                </a:r>
              </a:p>
              <a:p>
                <a:pPr algn="l">
                  <a:spcAft>
                    <a:spcPts val="600"/>
                  </a:spcAft>
                  <a:buNone/>
                </a:pPr>
                <a:r>
                  <a:rPr lang="en-US" sz="900" b="1" i="0" dirty="0">
                    <a:solidFill>
                      <a:schemeClr val="tx1"/>
                    </a:solidFill>
                    <a:effectLst/>
                    <a:latin typeface="Segoe WPC"/>
                  </a:rPr>
                  <a:t>3. Basis and Basis Risk</a:t>
                </a:r>
                <a:br>
                  <a:rPr lang="en-US" sz="900" b="0" i="0" dirty="0">
                    <a:solidFill>
                      <a:schemeClr val="tx1"/>
                    </a:solidFill>
                    <a:effectLst/>
                    <a:latin typeface="Segoe WPC"/>
                  </a:rPr>
                </a:br>
                <a:r>
                  <a:rPr lang="en-US" sz="900" b="1" i="0" dirty="0">
                    <a:solidFill>
                      <a:schemeClr val="tx1"/>
                    </a:solidFill>
                    <a:effectLst/>
                    <a:latin typeface="Segoe WPC"/>
                  </a:rPr>
                  <a:t>Financial Object:</a:t>
                </a:r>
                <a:r>
                  <a:rPr lang="en-US" sz="900" b="0" i="0" dirty="0">
                    <a:solidFill>
                      <a:schemeClr val="tx1"/>
                    </a:solidFill>
                    <a:effectLst/>
                    <a:latin typeface="Segoe WPC"/>
                  </a:rPr>
                  <a:t> The difference between the spot price of the hedged asset and the futures price used in the hedge.</a:t>
                </a:r>
                <a:br>
                  <a:rPr lang="en-US" sz="900" b="0" i="0" dirty="0">
                    <a:solidFill>
                      <a:schemeClr val="tx1"/>
                    </a:solidFill>
                    <a:effectLst/>
                    <a:latin typeface="Segoe WPC"/>
                  </a:rPr>
                </a:br>
                <a:r>
                  <a:rPr lang="en-US" sz="900" b="1" i="0" dirty="0">
                    <a:solidFill>
                      <a:schemeClr val="tx1"/>
                    </a:solidFill>
                    <a:effectLst/>
                    <a:latin typeface="Segoe WPC"/>
                  </a:rPr>
                  <a:t>Plain Intuition:</a:t>
                </a:r>
                <a:r>
                  <a:rPr lang="en-US" sz="900" b="0" i="0" dirty="0">
                    <a:solidFill>
                      <a:schemeClr val="tx1"/>
                    </a:solidFill>
                    <a:effectLst/>
                    <a:latin typeface="Segoe WPC"/>
                  </a:rPr>
                  <a:t> Futures hedges are rarely perfect because the futures price and the spot price at hedge close-out are usually not exactly equal.</a:t>
                </a:r>
                <a:br>
                  <a:rPr lang="en-US" sz="900" b="0" i="0" dirty="0">
                    <a:solidFill>
                      <a:schemeClr val="tx1"/>
                    </a:solidFill>
                    <a:effectLst/>
                    <a:latin typeface="Segoe WPC"/>
                  </a:rPr>
                </a:br>
                <a:r>
                  <a:rPr lang="en-US" sz="900" b="1" i="0" dirty="0">
                    <a:solidFill>
                      <a:schemeClr val="tx1"/>
                    </a:solidFill>
                    <a:effectLst/>
                    <a:latin typeface="Segoe WPC"/>
                  </a:rPr>
                  <a:t>Visual Intuition:</a:t>
                </a:r>
                <a:r>
                  <a:rPr lang="en-US" sz="900" b="0" i="0" dirty="0">
                    <a:solidFill>
                      <a:schemeClr val="tx1"/>
                    </a:solidFill>
                    <a:effectLst/>
                    <a:latin typeface="Segoe WPC"/>
                  </a:rPr>
                  <a:t> The hedge locks in the initial futures price plus whatever basis exists when the hedge is lifted.</a:t>
                </a:r>
                <a:br>
                  <a:rPr lang="en-US" sz="900" b="0" i="0" dirty="0">
                    <a:solidFill>
                      <a:schemeClr val="tx1"/>
                    </a:solidFill>
                    <a:effectLst/>
                    <a:latin typeface="Segoe WPC"/>
                  </a:rPr>
                </a:br>
                <a:r>
                  <a:rPr lang="en-US" sz="900" b="1" i="0" dirty="0">
                    <a:solidFill>
                      <a:schemeClr val="tx1"/>
                    </a:solidFill>
                    <a:effectLst/>
                    <a:latin typeface="Segoe WPC"/>
                  </a:rPr>
                  <a:t>Key Formula:</a:t>
                </a:r>
                <a:r>
                  <a:rPr lang="en-US" sz="900" b="0" i="0" dirty="0">
                    <a:solidFill>
                      <a:schemeClr val="tx1"/>
                    </a:solidFill>
                    <a:effectLst/>
                    <a:latin typeface="Segoe WPC"/>
                  </a:rPr>
                  <a:t> Basis = Spot price of hedged asset − Futures price. Net price under either a short or long hedge = initial futures price + basis at hedge close-out.</a:t>
                </a:r>
                <a:br>
                  <a:rPr lang="en-US" sz="900" b="0" i="0" dirty="0">
                    <a:solidFill>
                      <a:schemeClr val="tx1"/>
                    </a:solidFill>
                    <a:effectLst/>
                    <a:latin typeface="Segoe WPC"/>
                  </a:rPr>
                </a:br>
                <a:r>
                  <a:rPr lang="en-US" sz="900" b="1" i="0" dirty="0">
                    <a:solidFill>
                      <a:schemeClr val="tx1"/>
                    </a:solidFill>
                    <a:effectLst/>
                    <a:latin typeface="Segoe WPC"/>
                  </a:rPr>
                  <a:t>Interpretation:</a:t>
                </a:r>
                <a:r>
                  <a:rPr lang="en-US" sz="900" b="0" i="0" dirty="0">
                    <a:solidFill>
                      <a:schemeClr val="tx1"/>
                    </a:solidFill>
                    <a:effectLst/>
                    <a:latin typeface="Segoe WPC"/>
                  </a:rPr>
                  <a:t> The uncertainty in hedge performance comes from uncertainty in the future basis. Basis risk is especially important when the hedge is closed before delivery or when the asset being hedged differs from the asset underlying the futures contract.</a:t>
                </a:r>
                <a:br>
                  <a:rPr lang="en-US" sz="900" b="0" i="0" dirty="0">
                    <a:solidFill>
                      <a:schemeClr val="tx1"/>
                    </a:solidFill>
                    <a:effectLst/>
                    <a:latin typeface="Segoe WPC"/>
                  </a:rPr>
                </a:br>
                <a:r>
                  <a:rPr lang="en-US" sz="900" b="1" i="0" dirty="0">
                    <a:solidFill>
                      <a:schemeClr val="tx1"/>
                    </a:solidFill>
                    <a:effectLst/>
                    <a:latin typeface="Segoe WPC"/>
                  </a:rPr>
                  <a:t>Exam Trap:</a:t>
                </a:r>
                <a:r>
                  <a:rPr lang="en-US" sz="900" b="0" i="0" dirty="0">
                    <a:solidFill>
                      <a:schemeClr val="tx1"/>
                    </a:solidFill>
                    <a:effectLst/>
                    <a:latin typeface="Segoe WPC"/>
                  </a:rPr>
                  <a:t> Hedgers usually lock in the futures price plus the final basis, not the current spot price.</a:t>
                </a:r>
              </a:p>
              <a:p>
                <a:pPr algn="l">
                  <a:spcAft>
                    <a:spcPts val="600"/>
                  </a:spcAft>
                  <a:buNone/>
                </a:pPr>
                <a:r>
                  <a:rPr lang="en-US" sz="900" b="1" i="0" dirty="0">
                    <a:solidFill>
                      <a:schemeClr val="tx1"/>
                    </a:solidFill>
                    <a:effectLst/>
                    <a:latin typeface="Segoe WPC"/>
                  </a:rPr>
                  <a:t>4. Cross Hedging, Hedge Ratio, and Hedge Effectiveness</a:t>
                </a:r>
                <a:br>
                  <a:rPr lang="en-US" sz="900" b="0" i="0" dirty="0">
                    <a:solidFill>
                      <a:schemeClr val="tx1"/>
                    </a:solidFill>
                    <a:effectLst/>
                    <a:latin typeface="Segoe WPC"/>
                  </a:rPr>
                </a:br>
                <a:r>
                  <a:rPr lang="en-US" sz="900" b="1" i="0" dirty="0">
                    <a:solidFill>
                      <a:schemeClr val="tx1"/>
                    </a:solidFill>
                    <a:effectLst/>
                    <a:latin typeface="Segoe WPC"/>
                  </a:rPr>
                  <a:t>Financial Object:</a:t>
                </a:r>
                <a:r>
                  <a:rPr lang="en-US" sz="900" b="0" i="0" dirty="0">
                    <a:solidFill>
                      <a:schemeClr val="tx1"/>
                    </a:solidFill>
                    <a:effectLst/>
                    <a:latin typeface="Segoe WPC"/>
                  </a:rPr>
                  <a:t> Hedging one asset with futures on a different but related asset.</a:t>
                </a:r>
                <a:br>
                  <a:rPr lang="en-US" sz="900" b="0" i="0" dirty="0">
                    <a:solidFill>
                      <a:schemeClr val="tx1"/>
                    </a:solidFill>
                    <a:effectLst/>
                    <a:latin typeface="Segoe WPC"/>
                  </a:rPr>
                </a:br>
                <a:r>
                  <a:rPr lang="en-US" sz="900" b="1" i="0" dirty="0">
                    <a:solidFill>
                      <a:schemeClr val="tx1"/>
                    </a:solidFill>
                    <a:effectLst/>
                    <a:latin typeface="Segoe WPC"/>
                  </a:rPr>
                  <a:t>Plain Intuition:</a:t>
                </a:r>
                <a:r>
                  <a:rPr lang="en-US" sz="900" b="0" i="0" dirty="0">
                    <a:solidFill>
                      <a:schemeClr val="tx1"/>
                    </a:solidFill>
                    <a:effectLst/>
                    <a:latin typeface="Segoe WPC"/>
                  </a:rPr>
                  <a:t> When no perfect futures contract exists, use a related contract and choose the hedge ratio that minimizes risk.</a:t>
                </a:r>
                <a:br>
                  <a:rPr lang="en-US" sz="900" b="0" i="0" dirty="0">
                    <a:solidFill>
                      <a:schemeClr val="tx1"/>
                    </a:solidFill>
                    <a:effectLst/>
                    <a:latin typeface="Segoe WPC"/>
                  </a:rPr>
                </a:br>
                <a:r>
                  <a:rPr lang="en-US" sz="900" b="1" i="0" dirty="0">
                    <a:solidFill>
                      <a:schemeClr val="tx1"/>
                    </a:solidFill>
                    <a:effectLst/>
                    <a:latin typeface="Segoe WPC"/>
                  </a:rPr>
                  <a:t>Visual Intuition:</a:t>
                </a:r>
                <a:r>
                  <a:rPr lang="en-US" sz="900" b="0" i="0" dirty="0">
                    <a:solidFill>
                      <a:schemeClr val="tx1"/>
                    </a:solidFill>
                    <a:effectLst/>
                    <a:latin typeface="Segoe WPC"/>
                  </a:rPr>
                  <a:t> Match the hedge to the exposure as closely as possible, even when the two price series are not identical.</a:t>
                </a:r>
                <a:br>
                  <a:rPr lang="en-US" sz="900" b="0" i="0" dirty="0">
                    <a:solidFill>
                      <a:schemeClr val="tx1"/>
                    </a:solidFill>
                    <a:effectLst/>
                    <a:latin typeface="Segoe WPC"/>
                  </a:rPr>
                </a:br>
                <a:r>
                  <a:rPr lang="en-US" sz="900" b="1" i="0" dirty="0">
                    <a:solidFill>
                      <a:schemeClr val="tx1"/>
                    </a:solidFill>
                    <a:effectLst/>
                    <a:latin typeface="Segoe WPC"/>
                  </a:rPr>
                  <a:t>Key Formula:</a:t>
                </a:r>
                <a:r>
                  <a:rPr lang="en-US" sz="900" b="0" i="0" dirty="0">
                    <a:solidFill>
                      <a:schemeClr val="tx1"/>
                    </a:solidFill>
                    <a:effectLst/>
                    <a:latin typeface="Segoe WPC"/>
                  </a:rPr>
                  <a:t> Optimal hedge ratio: </a:t>
                </a:r>
                <a14:m>
                  <m:oMath xmlns:m="http://schemas.openxmlformats.org/officeDocument/2006/math">
                    <m:sSup>
                      <m:sSupPr>
                        <m:ctrlPr>
                          <a:rPr lang="en-US" sz="900" i="1">
                            <a:solidFill>
                              <a:schemeClr val="tx1"/>
                            </a:solidFill>
                            <a:latin typeface="Cambria Math" panose="02040503050406030204" pitchFamily="18" charset="0"/>
                          </a:rPr>
                        </m:ctrlPr>
                      </m:sSupPr>
                      <m:e>
                        <m:r>
                          <a:rPr lang="en-US" sz="900" i="1">
                            <a:solidFill>
                              <a:schemeClr val="tx1"/>
                            </a:solidFill>
                            <a:latin typeface="Cambria Math" panose="02040503050406030204" pitchFamily="18" charset="0"/>
                          </a:rPr>
                          <m:t>h</m:t>
                        </m:r>
                      </m:e>
                      <m:sup>
                        <m:r>
                          <a:rPr lang="en-US" sz="900" i="0">
                            <a:solidFill>
                              <a:schemeClr val="tx1"/>
                            </a:solidFill>
                            <a:latin typeface="Cambria Math" panose="02040503050406030204" pitchFamily="18" charset="0"/>
                          </a:rPr>
                          <m:t>∗</m:t>
                        </m:r>
                      </m:sup>
                    </m:sSup>
                    <m:r>
                      <a:rPr lang="en-US" sz="900" i="0">
                        <a:solidFill>
                          <a:schemeClr val="tx1"/>
                        </a:solidFill>
                        <a:latin typeface="Cambria Math" panose="02040503050406030204" pitchFamily="18" charset="0"/>
                      </a:rPr>
                      <m:t>=</m:t>
                    </m:r>
                    <m:r>
                      <a:rPr lang="en-US" sz="900" i="1">
                        <a:solidFill>
                          <a:schemeClr val="tx1"/>
                        </a:solidFill>
                        <a:latin typeface="Cambria Math" panose="02040503050406030204" pitchFamily="18" charset="0"/>
                      </a:rPr>
                      <m:t>𝜌</m:t>
                    </m:r>
                    <m:f>
                      <m:fPr>
                        <m:ctrlPr>
                          <a:rPr lang="en-US" sz="900" i="1">
                            <a:solidFill>
                              <a:schemeClr val="tx1"/>
                            </a:solidFill>
                            <a:latin typeface="Cambria Math" panose="02040503050406030204" pitchFamily="18" charset="0"/>
                          </a:rPr>
                        </m:ctrlPr>
                      </m:fPr>
                      <m:num>
                        <m:sSub>
                          <m:sSubPr>
                            <m:ctrlPr>
                              <a:rPr lang="en-US" sz="900" i="1">
                                <a:solidFill>
                                  <a:schemeClr val="tx1"/>
                                </a:solidFill>
                                <a:latin typeface="Cambria Math" panose="02040503050406030204" pitchFamily="18" charset="0"/>
                              </a:rPr>
                            </m:ctrlPr>
                          </m:sSubPr>
                          <m:e>
                            <m:r>
                              <a:rPr lang="en-US" sz="900" i="1">
                                <a:solidFill>
                                  <a:schemeClr val="tx1"/>
                                </a:solidFill>
                                <a:latin typeface="Cambria Math" panose="02040503050406030204" pitchFamily="18" charset="0"/>
                              </a:rPr>
                              <m:t>𝜎</m:t>
                            </m:r>
                          </m:e>
                          <m:sub>
                            <m:r>
                              <a:rPr lang="en-US" sz="900" i="1">
                                <a:solidFill>
                                  <a:schemeClr val="tx1"/>
                                </a:solidFill>
                                <a:latin typeface="Cambria Math" panose="02040503050406030204" pitchFamily="18" charset="0"/>
                              </a:rPr>
                              <m:t>𝑆</m:t>
                            </m:r>
                          </m:sub>
                        </m:sSub>
                      </m:num>
                      <m:den>
                        <m:sSub>
                          <m:sSubPr>
                            <m:ctrlPr>
                              <a:rPr lang="en-US" sz="900" i="1">
                                <a:solidFill>
                                  <a:schemeClr val="tx1"/>
                                </a:solidFill>
                                <a:latin typeface="Cambria Math" panose="02040503050406030204" pitchFamily="18" charset="0"/>
                              </a:rPr>
                            </m:ctrlPr>
                          </m:sSubPr>
                          <m:e>
                            <m:r>
                              <a:rPr lang="en-US" sz="900" i="1">
                                <a:solidFill>
                                  <a:schemeClr val="tx1"/>
                                </a:solidFill>
                                <a:latin typeface="Cambria Math" panose="02040503050406030204" pitchFamily="18" charset="0"/>
                              </a:rPr>
                              <m:t>𝜎</m:t>
                            </m:r>
                          </m:e>
                          <m:sub>
                            <m:r>
                              <a:rPr lang="en-US" sz="900" i="1">
                                <a:solidFill>
                                  <a:schemeClr val="tx1"/>
                                </a:solidFill>
                                <a:latin typeface="Cambria Math" panose="02040503050406030204" pitchFamily="18" charset="0"/>
                              </a:rPr>
                              <m:t>𝐹</m:t>
                            </m:r>
                          </m:sub>
                        </m:sSub>
                      </m:den>
                    </m:f>
                  </m:oMath>
                </a14:m>
                <a:r>
                  <a:rPr lang="en-US" sz="900" b="0" i="0" dirty="0">
                    <a:solidFill>
                      <a:schemeClr val="tx1"/>
                    </a:solidFill>
                    <a:effectLst/>
                    <a:latin typeface="Segoe WPC"/>
                  </a:rPr>
                  <a:t>. Optimal number of contracts: </a:t>
                </a:r>
                <a14:m>
                  <m:oMath xmlns:m="http://schemas.openxmlformats.org/officeDocument/2006/math">
                    <m:sSup>
                      <m:sSupPr>
                        <m:ctrlPr>
                          <a:rPr lang="en-US" sz="900" i="1">
                            <a:solidFill>
                              <a:schemeClr val="tx1"/>
                            </a:solidFill>
                            <a:latin typeface="Cambria Math" panose="02040503050406030204" pitchFamily="18" charset="0"/>
                          </a:rPr>
                        </m:ctrlPr>
                      </m:sSupPr>
                      <m:e>
                        <m:r>
                          <a:rPr lang="en-US" sz="900" i="1">
                            <a:solidFill>
                              <a:schemeClr val="tx1"/>
                            </a:solidFill>
                            <a:latin typeface="Cambria Math" panose="02040503050406030204" pitchFamily="18" charset="0"/>
                          </a:rPr>
                          <m:t>𝑁</m:t>
                        </m:r>
                      </m:e>
                      <m:sup>
                        <m:r>
                          <a:rPr lang="en-US" sz="900" i="0">
                            <a:solidFill>
                              <a:schemeClr val="tx1"/>
                            </a:solidFill>
                            <a:latin typeface="Cambria Math" panose="02040503050406030204" pitchFamily="18" charset="0"/>
                          </a:rPr>
                          <m:t>∗</m:t>
                        </m:r>
                      </m:sup>
                    </m:sSup>
                    <m:r>
                      <a:rPr lang="en-US" sz="900" i="0">
                        <a:solidFill>
                          <a:schemeClr val="tx1"/>
                        </a:solidFill>
                        <a:latin typeface="Cambria Math" panose="02040503050406030204" pitchFamily="18" charset="0"/>
                      </a:rPr>
                      <m:t>=</m:t>
                    </m:r>
                    <m:sSup>
                      <m:sSupPr>
                        <m:ctrlPr>
                          <a:rPr lang="en-US" sz="900" i="1">
                            <a:solidFill>
                              <a:schemeClr val="tx1"/>
                            </a:solidFill>
                            <a:latin typeface="Cambria Math" panose="02040503050406030204" pitchFamily="18" charset="0"/>
                          </a:rPr>
                        </m:ctrlPr>
                      </m:sSupPr>
                      <m:e>
                        <m:r>
                          <a:rPr lang="en-US" sz="900" i="1">
                            <a:solidFill>
                              <a:schemeClr val="tx1"/>
                            </a:solidFill>
                            <a:latin typeface="Cambria Math" panose="02040503050406030204" pitchFamily="18" charset="0"/>
                          </a:rPr>
                          <m:t>h</m:t>
                        </m:r>
                      </m:e>
                      <m:sup>
                        <m:r>
                          <a:rPr lang="en-US" sz="900" i="0">
                            <a:solidFill>
                              <a:schemeClr val="tx1"/>
                            </a:solidFill>
                            <a:latin typeface="Cambria Math" panose="02040503050406030204" pitchFamily="18" charset="0"/>
                          </a:rPr>
                          <m:t>∗</m:t>
                        </m:r>
                      </m:sup>
                    </m:sSup>
                    <m:f>
                      <m:fPr>
                        <m:ctrlPr>
                          <a:rPr lang="en-US" sz="900" i="1">
                            <a:solidFill>
                              <a:schemeClr val="tx1"/>
                            </a:solidFill>
                            <a:latin typeface="Cambria Math" panose="02040503050406030204" pitchFamily="18" charset="0"/>
                          </a:rPr>
                        </m:ctrlPr>
                      </m:fPr>
                      <m:num>
                        <m:sSub>
                          <m:sSubPr>
                            <m:ctrlPr>
                              <a:rPr lang="en-US" sz="900" i="1">
                                <a:solidFill>
                                  <a:schemeClr val="tx1"/>
                                </a:solidFill>
                                <a:latin typeface="Cambria Math" panose="02040503050406030204" pitchFamily="18" charset="0"/>
                              </a:rPr>
                            </m:ctrlPr>
                          </m:sSubPr>
                          <m:e>
                            <m:r>
                              <a:rPr lang="en-US" sz="900" i="1">
                                <a:solidFill>
                                  <a:schemeClr val="tx1"/>
                                </a:solidFill>
                                <a:latin typeface="Cambria Math" panose="02040503050406030204" pitchFamily="18" charset="0"/>
                              </a:rPr>
                              <m:t>𝑄</m:t>
                            </m:r>
                          </m:e>
                          <m:sub>
                            <m:r>
                              <a:rPr lang="en-US" sz="900" i="1">
                                <a:solidFill>
                                  <a:schemeClr val="tx1"/>
                                </a:solidFill>
                                <a:latin typeface="Cambria Math" panose="02040503050406030204" pitchFamily="18" charset="0"/>
                              </a:rPr>
                              <m:t>𝐴</m:t>
                            </m:r>
                          </m:sub>
                        </m:sSub>
                      </m:num>
                      <m:den>
                        <m:sSub>
                          <m:sSubPr>
                            <m:ctrlPr>
                              <a:rPr lang="en-US" sz="900" i="1">
                                <a:solidFill>
                                  <a:schemeClr val="tx1"/>
                                </a:solidFill>
                                <a:latin typeface="Cambria Math" panose="02040503050406030204" pitchFamily="18" charset="0"/>
                              </a:rPr>
                            </m:ctrlPr>
                          </m:sSubPr>
                          <m:e>
                            <m:r>
                              <a:rPr lang="en-US" sz="900" i="1">
                                <a:solidFill>
                                  <a:schemeClr val="tx1"/>
                                </a:solidFill>
                                <a:latin typeface="Cambria Math" panose="02040503050406030204" pitchFamily="18" charset="0"/>
                              </a:rPr>
                              <m:t>𝑄</m:t>
                            </m:r>
                          </m:e>
                          <m:sub>
                            <m:r>
                              <a:rPr lang="en-US" sz="900" i="1">
                                <a:solidFill>
                                  <a:schemeClr val="tx1"/>
                                </a:solidFill>
                                <a:latin typeface="Cambria Math" panose="02040503050406030204" pitchFamily="18" charset="0"/>
                              </a:rPr>
                              <m:t>𝐹</m:t>
                            </m:r>
                          </m:sub>
                        </m:sSub>
                      </m:den>
                    </m:f>
                  </m:oMath>
                </a14:m>
                <a:r>
                  <a:rPr lang="en-US" sz="900" b="0" i="0" dirty="0">
                    <a:solidFill>
                      <a:schemeClr val="tx1"/>
                    </a:solidFill>
                    <a:effectLst/>
                    <a:latin typeface="Segoe WPC"/>
                  </a:rPr>
                  <a:t>. Hedge effectiveness is approximately </a:t>
                </a:r>
                <a14:m>
                  <m:oMath xmlns:m="http://schemas.openxmlformats.org/officeDocument/2006/math">
                    <m:sSup>
                      <m:sSupPr>
                        <m:ctrlPr>
                          <a:rPr lang="en-US" sz="900" i="1">
                            <a:solidFill>
                              <a:schemeClr val="tx1"/>
                            </a:solidFill>
                            <a:latin typeface="Cambria Math" panose="02040503050406030204" pitchFamily="18" charset="0"/>
                          </a:rPr>
                        </m:ctrlPr>
                      </m:sSupPr>
                      <m:e>
                        <m:r>
                          <a:rPr lang="en-US" sz="900" i="1">
                            <a:solidFill>
                              <a:schemeClr val="tx1"/>
                            </a:solidFill>
                            <a:latin typeface="Cambria Math" panose="02040503050406030204" pitchFamily="18" charset="0"/>
                          </a:rPr>
                          <m:t>𝑅</m:t>
                        </m:r>
                      </m:e>
                      <m:sup>
                        <m:r>
                          <a:rPr lang="en-US" sz="900" i="0">
                            <a:solidFill>
                              <a:schemeClr val="tx1"/>
                            </a:solidFill>
                            <a:latin typeface="Cambria Math" panose="02040503050406030204" pitchFamily="18" charset="0"/>
                          </a:rPr>
                          <m:t>2</m:t>
                        </m:r>
                      </m:sup>
                    </m:sSup>
                    <m:r>
                      <a:rPr lang="en-US" sz="900" i="0">
                        <a:solidFill>
                          <a:schemeClr val="tx1"/>
                        </a:solidFill>
                        <a:latin typeface="Cambria Math" panose="02040503050406030204" pitchFamily="18" charset="0"/>
                      </a:rPr>
                      <m:t>=</m:t>
                    </m:r>
                    <m:sSup>
                      <m:sSupPr>
                        <m:ctrlPr>
                          <a:rPr lang="en-US" sz="900" i="1">
                            <a:solidFill>
                              <a:schemeClr val="tx1"/>
                            </a:solidFill>
                            <a:latin typeface="Cambria Math" panose="02040503050406030204" pitchFamily="18" charset="0"/>
                          </a:rPr>
                        </m:ctrlPr>
                      </m:sSupPr>
                      <m:e>
                        <m:r>
                          <a:rPr lang="en-US" sz="900" i="1">
                            <a:solidFill>
                              <a:schemeClr val="tx1"/>
                            </a:solidFill>
                            <a:latin typeface="Cambria Math" panose="02040503050406030204" pitchFamily="18" charset="0"/>
                          </a:rPr>
                          <m:t>𝜌</m:t>
                        </m:r>
                      </m:e>
                      <m:sup>
                        <m:r>
                          <a:rPr lang="en-US" sz="900" i="0">
                            <a:solidFill>
                              <a:schemeClr val="tx1"/>
                            </a:solidFill>
                            <a:latin typeface="Cambria Math" panose="02040503050406030204" pitchFamily="18" charset="0"/>
                          </a:rPr>
                          <m:t>2</m:t>
                        </m:r>
                      </m:sup>
                    </m:sSup>
                  </m:oMath>
                </a14:m>
                <a:r>
                  <a:rPr lang="en-US" sz="900" b="0" i="0" dirty="0">
                    <a:solidFill>
                      <a:schemeClr val="tx1"/>
                    </a:solidFill>
                    <a:effectLst/>
                    <a:latin typeface="Segoe WPC"/>
                  </a:rPr>
                  <a:t>.</a:t>
                </a:r>
                <a:br>
                  <a:rPr lang="en-US" sz="900" b="0" i="0" dirty="0">
                    <a:solidFill>
                      <a:schemeClr val="tx1"/>
                    </a:solidFill>
                    <a:effectLst/>
                    <a:latin typeface="Segoe WPC"/>
                  </a:rPr>
                </a:br>
                <a:r>
                  <a:rPr lang="en-US" sz="900" b="1" i="0" dirty="0">
                    <a:solidFill>
                      <a:schemeClr val="tx1"/>
                    </a:solidFill>
                    <a:effectLst/>
                    <a:latin typeface="Segoe WPC"/>
                  </a:rPr>
                  <a:t>Interpretation:</a:t>
                </a:r>
                <a:r>
                  <a:rPr lang="en-US" sz="900" b="0" i="0" dirty="0">
                    <a:solidFill>
                      <a:schemeClr val="tx1"/>
                    </a:solidFill>
                    <a:effectLst/>
                    <a:latin typeface="Segoe WPC"/>
                  </a:rPr>
                  <a:t> The hedge ratio depends on the correlation between spot and futures price changes and on their relative volatility. A higher correlation implies a more effective hedge.</a:t>
                </a:r>
                <a:br>
                  <a:rPr lang="en-US" sz="900" b="0" i="0" dirty="0">
                    <a:solidFill>
                      <a:schemeClr val="tx1"/>
                    </a:solidFill>
                    <a:effectLst/>
                    <a:latin typeface="Segoe WPC"/>
                  </a:rPr>
                </a:br>
                <a:r>
                  <a:rPr lang="en-US" sz="900" b="1" i="0" dirty="0">
                    <a:solidFill>
                      <a:schemeClr val="tx1"/>
                    </a:solidFill>
                    <a:effectLst/>
                    <a:latin typeface="Segoe WPC"/>
                  </a:rPr>
                  <a:t>Exam Trap:</a:t>
                </a:r>
                <a:r>
                  <a:rPr lang="en-US" sz="900" b="0" i="0" dirty="0">
                    <a:solidFill>
                      <a:schemeClr val="tx1"/>
                    </a:solidFill>
                    <a:effectLst/>
                    <a:latin typeface="Segoe WPC"/>
                  </a:rPr>
                  <a:t> The optimal hedge ratio is not always 1; it depends on correlation and volatility.</a:t>
                </a:r>
              </a:p>
            </p:txBody>
          </p:sp>
        </mc:Choice>
        <mc:Fallback xmlns="">
          <p:sp>
            <p:nvSpPr>
              <p:cNvPr id="5" name="CuadroTexto 4">
                <a:extLst>
                  <a:ext uri="{FF2B5EF4-FFF2-40B4-BE49-F238E27FC236}">
                    <a16:creationId xmlns:a16="http://schemas.microsoft.com/office/drawing/2014/main" id="{4D0A128E-0612-4CE9-51CF-ED217B618AD4}"/>
                  </a:ext>
                </a:extLst>
              </p:cNvPr>
              <p:cNvSpPr txBox="1">
                <a:spLocks noRot="1" noChangeAspect="1" noMove="1" noResize="1" noEditPoints="1" noAdjustHandles="1" noChangeArrowheads="1" noChangeShapeType="1" noTextEdit="1"/>
              </p:cNvSpPr>
              <p:nvPr/>
            </p:nvSpPr>
            <p:spPr>
              <a:xfrm>
                <a:off x="74385" y="552226"/>
                <a:ext cx="6152244" cy="6353984"/>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6A78E4AB-F9D7-6157-70A9-EE0B98DDBC8D}"/>
                  </a:ext>
                </a:extLst>
              </p:cNvPr>
              <p:cNvSpPr txBox="1"/>
              <p:nvPr/>
            </p:nvSpPr>
            <p:spPr>
              <a:xfrm>
                <a:off x="6096000" y="62405"/>
                <a:ext cx="6143170" cy="6733190"/>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5. </a:t>
                </a:r>
                <a:r>
                  <a:rPr lang="es-PE" sz="900" b="1" i="0" dirty="0" err="1">
                    <a:solidFill>
                      <a:schemeClr val="tx1"/>
                    </a:solidFill>
                    <a:effectLst/>
                    <a:latin typeface="Segoe WPC"/>
                  </a:rPr>
                  <a:t>Tailing</a:t>
                </a:r>
                <a:r>
                  <a:rPr lang="es-PE" sz="900" b="1" i="0" dirty="0">
                    <a:solidFill>
                      <a:schemeClr val="tx1"/>
                    </a:solidFill>
                    <a:effectLst/>
                    <a:latin typeface="Segoe WPC"/>
                  </a:rPr>
                  <a:t> </a:t>
                </a:r>
                <a:r>
                  <a:rPr lang="es-PE" sz="900" b="1" i="0" dirty="0" err="1">
                    <a:solidFill>
                      <a:schemeClr val="tx1"/>
                    </a:solidFill>
                    <a:effectLst/>
                    <a:latin typeface="Segoe WPC"/>
                  </a:rPr>
                  <a:t>the</a:t>
                </a:r>
                <a:r>
                  <a:rPr lang="es-PE" sz="900" b="1" i="0" dirty="0">
                    <a:solidFill>
                      <a:schemeClr val="tx1"/>
                    </a:solidFill>
                    <a:effectLst/>
                    <a:latin typeface="Segoe WPC"/>
                  </a:rPr>
                  <a:t> </a:t>
                </a:r>
                <a:r>
                  <a:rPr lang="es-PE" sz="900" b="1" i="0" dirty="0" err="1">
                    <a:solidFill>
                      <a:schemeClr val="tx1"/>
                    </a:solidFill>
                    <a:effectLst/>
                    <a:latin typeface="Segoe WPC"/>
                  </a:rPr>
                  <a:t>Hedge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Adjusting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ratio </a:t>
                </a:r>
                <a:r>
                  <a:rPr lang="es-PE" sz="900" b="0" i="0" dirty="0" err="1">
                    <a:solidFill>
                      <a:schemeClr val="tx1"/>
                    </a:solidFill>
                    <a:effectLst/>
                    <a:latin typeface="Segoe WPC"/>
                  </a:rPr>
                  <a:t>when</a:t>
                </a:r>
                <a:r>
                  <a:rPr lang="es-PE" sz="900" b="0" i="0" dirty="0">
                    <a:solidFill>
                      <a:schemeClr val="tx1"/>
                    </a:solidFill>
                    <a:effectLst/>
                    <a:latin typeface="Segoe WPC"/>
                  </a:rPr>
                  <a:t> futures,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forwards, are </a:t>
                </a:r>
                <a:r>
                  <a:rPr lang="es-PE" sz="900" b="0" i="0" dirty="0" err="1">
                    <a:solidFill>
                      <a:schemeClr val="tx1"/>
                    </a:solidFill>
                    <a:effectLst/>
                    <a:latin typeface="Segoe WPC"/>
                  </a:rPr>
                  <a:t>used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futures are </a:t>
                </a:r>
                <a:r>
                  <a:rPr lang="es-PE" sz="900" b="0" i="0" dirty="0" err="1">
                    <a:solidFill>
                      <a:schemeClr val="tx1"/>
                    </a:solidFill>
                    <a:effectLst/>
                    <a:latin typeface="Segoe WPC"/>
                  </a:rPr>
                  <a:t>settled</a:t>
                </a:r>
                <a:r>
                  <a:rPr lang="es-PE" sz="900" b="0" i="0" dirty="0">
                    <a:solidFill>
                      <a:schemeClr val="tx1"/>
                    </a:solidFill>
                    <a:effectLst/>
                    <a:latin typeface="Segoe WPC"/>
                  </a:rPr>
                  <a:t> </a:t>
                </a:r>
                <a:r>
                  <a:rPr lang="es-PE" sz="900" b="0" i="0" dirty="0" err="1">
                    <a:solidFill>
                      <a:schemeClr val="tx1"/>
                    </a:solidFill>
                    <a:effectLst/>
                    <a:latin typeface="Segoe WPC"/>
                  </a:rPr>
                  <a:t>daily</a:t>
                </a:r>
                <a:r>
                  <a:rPr lang="es-PE" sz="900" b="0" i="0" dirty="0">
                    <a:solidFill>
                      <a:schemeClr val="tx1"/>
                    </a:solidFill>
                    <a:effectLst/>
                    <a:latin typeface="Segoe WPC"/>
                  </a:rPr>
                  <a:t>, a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futures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really</a:t>
                </a:r>
                <a:r>
                  <a:rPr lang="es-PE" sz="900" b="0" i="0" dirty="0">
                    <a:solidFill>
                      <a:schemeClr val="tx1"/>
                    </a:solidFill>
                    <a:effectLst/>
                    <a:latin typeface="Segoe WPC"/>
                  </a:rPr>
                  <a:t> a </a:t>
                </a:r>
                <a:r>
                  <a:rPr lang="es-PE" sz="900" b="0" i="0" dirty="0" err="1">
                    <a:solidFill>
                      <a:schemeClr val="tx1"/>
                    </a:solidFill>
                    <a:effectLst/>
                    <a:latin typeface="Segoe WPC"/>
                  </a:rPr>
                  <a:t>sequence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short-</a:t>
                </a:r>
                <a:r>
                  <a:rPr lang="es-PE" sz="900" b="0" i="0" dirty="0" err="1">
                    <a:solidFill>
                      <a:schemeClr val="tx1"/>
                    </a:solidFill>
                    <a:effectLst/>
                    <a:latin typeface="Segoe WPC"/>
                  </a:rPr>
                  <a:t>term</a:t>
                </a:r>
                <a:r>
                  <a:rPr lang="es-PE" sz="900" b="0" i="0" dirty="0">
                    <a:solidFill>
                      <a:schemeClr val="tx1"/>
                    </a:solidFill>
                    <a:effectLst/>
                    <a:latin typeface="Segoe WPC"/>
                  </a:rPr>
                  <a:t> </a:t>
                </a:r>
                <a:r>
                  <a:rPr lang="es-PE" sz="900" b="0" i="0" dirty="0" err="1">
                    <a:solidFill>
                      <a:schemeClr val="tx1"/>
                    </a:solidFill>
                    <a:effectLst/>
                    <a:latin typeface="Segoe WPC"/>
                  </a:rPr>
                  <a:t>hedges</a:t>
                </a:r>
                <a:r>
                  <a:rPr lang="es-PE" sz="900" b="0" i="0" dirty="0">
                    <a:solidFill>
                      <a:schemeClr val="tx1"/>
                    </a:solidFill>
                    <a:effectLst/>
                    <a:latin typeface="Segoe WPC"/>
                  </a:rPr>
                  <a:t>, so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theoretically</a:t>
                </a:r>
                <a:r>
                  <a:rPr lang="es-PE" sz="900" b="0" i="0" dirty="0">
                    <a:solidFill>
                      <a:schemeClr val="tx1"/>
                    </a:solidFill>
                    <a:effectLst/>
                    <a:latin typeface="Segoe WPC"/>
                  </a:rPr>
                  <a:t> </a:t>
                </a:r>
                <a:r>
                  <a:rPr lang="es-PE" sz="900" b="0" i="0" dirty="0" err="1">
                    <a:solidFill>
                      <a:schemeClr val="tx1"/>
                    </a:solidFill>
                    <a:effectLst/>
                    <a:latin typeface="Segoe WPC"/>
                  </a:rPr>
                  <a:t>correct</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uses </a:t>
                </a:r>
                <a:r>
                  <a:rPr lang="es-PE" sz="900" b="0" i="0" dirty="0" err="1">
                    <a:solidFill>
                      <a:schemeClr val="tx1"/>
                    </a:solidFill>
                    <a:effectLst/>
                    <a:latin typeface="Segoe WPC"/>
                  </a:rPr>
                  <a:t>returns</a:t>
                </a:r>
                <a:r>
                  <a:rPr lang="es-PE" sz="900" b="0" i="0" dirty="0">
                    <a:solidFill>
                      <a:schemeClr val="tx1"/>
                    </a:solidFill>
                    <a:effectLst/>
                    <a:latin typeface="Segoe WPC"/>
                  </a:rPr>
                  <a:t> and </a:t>
                </a:r>
                <a:r>
                  <a:rPr lang="es-PE" sz="900" b="0" i="0" dirty="0" err="1">
                    <a:solidFill>
                      <a:schemeClr val="tx1"/>
                    </a:solidFill>
                    <a:effectLst/>
                    <a:latin typeface="Segoe WPC"/>
                  </a:rPr>
                  <a:t>current</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full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horizon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should</a:t>
                </a:r>
                <a:r>
                  <a:rPr lang="es-PE" sz="900" b="0" i="0" dirty="0">
                    <a:solidFill>
                      <a:schemeClr val="tx1"/>
                    </a:solidFill>
                    <a:effectLst/>
                    <a:latin typeface="Segoe WPC"/>
                  </a:rPr>
                  <a:t> be </a:t>
                </a:r>
                <a:r>
                  <a:rPr lang="es-PE" sz="900" b="0" i="0" dirty="0" err="1">
                    <a:solidFill>
                      <a:schemeClr val="tx1"/>
                    </a:solidFill>
                    <a:effectLst/>
                    <a:latin typeface="Segoe WPC"/>
                  </a:rPr>
                  <a:t>slightly</a:t>
                </a:r>
                <a:r>
                  <a:rPr lang="es-PE" sz="900" b="0" i="0" dirty="0">
                    <a:solidFill>
                      <a:schemeClr val="tx1"/>
                    </a:solidFill>
                    <a:effectLst/>
                    <a:latin typeface="Segoe WPC"/>
                  </a:rPr>
                  <a:t> “</a:t>
                </a:r>
                <a:r>
                  <a:rPr lang="es-PE" sz="900" b="0" i="0" dirty="0" err="1">
                    <a:solidFill>
                      <a:schemeClr val="tx1"/>
                    </a:solidFill>
                    <a:effectLst/>
                    <a:latin typeface="Segoe WPC"/>
                  </a:rPr>
                  <a:t>tailed</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time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daily</a:t>
                </a:r>
                <a:r>
                  <a:rPr lang="es-PE" sz="900" b="0" i="0" dirty="0">
                    <a:solidFill>
                      <a:schemeClr val="tx1"/>
                    </a:solidFill>
                    <a:effectLst/>
                    <a:latin typeface="Segoe WPC"/>
                  </a:rPr>
                  <a:t> </a:t>
                </a:r>
                <a:r>
                  <a:rPr lang="es-PE" sz="900" b="0" i="0" dirty="0" err="1">
                    <a:solidFill>
                      <a:schemeClr val="tx1"/>
                    </a:solidFill>
                    <a:effectLst/>
                    <a:latin typeface="Segoe WPC"/>
                  </a:rPr>
                  <a:t>settlement</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economics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h</m:t>
                        </m:r>
                      </m:e>
                      <m:sup>
                        <m:r>
                          <a:rPr lang="ar-AE" sz="900" i="0">
                            <a:solidFill>
                              <a:schemeClr val="tx1"/>
                            </a:solidFill>
                            <a:latin typeface="Cambria Math" panose="02040503050406030204" pitchFamily="18" charset="0"/>
                          </a:rPr>
                          <m:t>∗</m:t>
                        </m:r>
                      </m:sup>
                    </m:s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𝜌</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𝑠</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𝐹</m:t>
                            </m:r>
                          </m:sub>
                        </m:sSub>
                      </m:den>
                    </m:f>
                  </m:oMath>
                </a14:m>
                <a:r>
                  <a:rPr lang="ar-A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t>
                </a:r>
                <a:r>
                  <a:rPr lang="es-PE" sz="900" b="0" i="0" dirty="0" err="1">
                    <a:solidFill>
                      <a:schemeClr val="tx1"/>
                    </a:solidFill>
                    <a:effectLst/>
                    <a:latin typeface="Segoe WPC"/>
                  </a:rPr>
                  <a:t>daily</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t>
                </a:r>
                <a:r>
                  <a:rPr lang="es-PE" sz="900" b="0" i="0" dirty="0" err="1">
                    <a:solidFill>
                      <a:schemeClr val="tx1"/>
                    </a:solidFill>
                    <a:effectLst/>
                    <a:latin typeface="Segoe WPC"/>
                  </a:rPr>
                  <a:t>volatilities</a:t>
                </a:r>
                <a:r>
                  <a:rPr lang="es-PE" sz="900" b="0" i="0" dirty="0">
                    <a:solidFill>
                      <a:schemeClr val="tx1"/>
                    </a:solidFill>
                    <a:effectLst/>
                    <a:latin typeface="Segoe WPC"/>
                  </a:rPr>
                  <a:t>, and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𝑁</m:t>
                        </m:r>
                      </m:e>
                      <m:sup>
                        <m:r>
                          <a:rPr lang="ar-AE" sz="900" i="0">
                            <a:solidFill>
                              <a:schemeClr val="tx1"/>
                            </a:solidFill>
                            <a:latin typeface="Cambria Math" panose="02040503050406030204" pitchFamily="18" charset="0"/>
                          </a:rPr>
                          <m:t>∗</m:t>
                        </m:r>
                      </m:sup>
                    </m:sSup>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h</m:t>
                        </m:r>
                      </m:e>
                      <m:sup>
                        <m:r>
                          <a:rPr lang="ar-AE" sz="900" i="0">
                            <a:solidFill>
                              <a:schemeClr val="tx1"/>
                            </a:solidFill>
                            <a:latin typeface="Cambria Math" panose="02040503050406030204" pitchFamily="18" charset="0"/>
                          </a:rPr>
                          <m:t>∗</m:t>
                        </m:r>
                      </m:sup>
                    </m:sSup>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𝑉</m:t>
                            </m:r>
                          </m:e>
                          <m:sub>
                            <m:r>
                              <a:rPr lang="ar-AE" sz="900" i="1">
                                <a:solidFill>
                                  <a:schemeClr val="tx1"/>
                                </a:solidFill>
                                <a:latin typeface="Cambria Math" panose="02040503050406030204" pitchFamily="18" charset="0"/>
                              </a:rPr>
                              <m:t>𝐴</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𝑉</m:t>
                            </m:r>
                          </m:e>
                          <m:sub>
                            <m:r>
                              <a:rPr lang="ar-AE" sz="900" i="1">
                                <a:solidFill>
                                  <a:schemeClr val="tx1"/>
                                </a:solidFill>
                                <a:latin typeface="Cambria Math" panose="02040503050406030204" pitchFamily="18" charset="0"/>
                              </a:rPr>
                              <m:t>𝐹</m:t>
                            </m:r>
                          </m:sub>
                        </m:sSub>
                      </m:den>
                    </m:f>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In </a:t>
                </a:r>
                <a:r>
                  <a:rPr lang="es-PE" sz="900" b="0" i="0" dirty="0" err="1">
                    <a:solidFill>
                      <a:schemeClr val="tx1"/>
                    </a:solidFill>
                    <a:effectLst/>
                    <a:latin typeface="Segoe WPC"/>
                  </a:rPr>
                  <a:t>practice</a:t>
                </a:r>
                <a:r>
                  <a:rPr lang="es-PE" sz="900" b="0" i="0" dirty="0">
                    <a:solidFill>
                      <a:schemeClr val="tx1"/>
                    </a:solidFill>
                    <a:effectLst/>
                    <a:latin typeface="Segoe WPC"/>
                  </a:rPr>
                  <a:t>, </a:t>
                </a:r>
                <a:r>
                  <a:rPr lang="es-PE" sz="900" b="0" i="0" dirty="0" err="1">
                    <a:solidFill>
                      <a:schemeClr val="tx1"/>
                    </a:solidFill>
                    <a:effectLst/>
                    <a:latin typeface="Segoe WPC"/>
                  </a:rPr>
                  <a:t>analysts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simplify</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assuming</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𝑉</m:t>
                        </m:r>
                      </m:e>
                      <m:sub>
                        <m:r>
                          <a:rPr lang="ar-AE" sz="900" i="1">
                            <a:solidFill>
                              <a:schemeClr val="tx1"/>
                            </a:solidFill>
                            <a:latin typeface="Cambria Math" panose="02040503050406030204" pitchFamily="18" charset="0"/>
                          </a:rPr>
                          <m:t>𝐴</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𝑉</m:t>
                        </m:r>
                      </m:e>
                      <m:sub>
                        <m:r>
                          <a:rPr lang="ar-AE" sz="900" i="1">
                            <a:solidFill>
                              <a:schemeClr val="tx1"/>
                            </a:solidFill>
                            <a:latin typeface="Cambria Math" panose="02040503050406030204" pitchFamily="18" charset="0"/>
                          </a:rPr>
                          <m:t>𝐹</m:t>
                        </m:r>
                      </m:sub>
                    </m:sSub>
                  </m:oMath>
                </a14:m>
                <a:r>
                  <a:rPr lang="ar-AE" sz="900" b="0" i="0" dirty="0">
                    <a:solidFill>
                      <a:schemeClr val="tx1"/>
                    </a:solidFill>
                    <a:effectLst/>
                    <a:latin typeface="Segoe WPC"/>
                  </a:rPr>
                  <a:t> </a:t>
                </a:r>
                <a:r>
                  <a:rPr lang="es-PE" sz="900" b="0" i="0" dirty="0" err="1">
                    <a:solidFill>
                      <a:schemeClr val="tx1"/>
                    </a:solidFill>
                    <a:effectLst/>
                    <a:latin typeface="Segoe WPC"/>
                  </a:rPr>
                  <a:t>stays</a:t>
                </a:r>
                <a:r>
                  <a:rPr lang="es-PE" sz="900" b="0" i="0" dirty="0">
                    <a:solidFill>
                      <a:schemeClr val="tx1"/>
                    </a:solidFill>
                    <a:effectLst/>
                    <a:latin typeface="Segoe WPC"/>
                  </a:rPr>
                  <a:t> </a:t>
                </a:r>
                <a:r>
                  <a:rPr lang="es-PE" sz="900" b="0" i="0" dirty="0" err="1">
                    <a:solidFill>
                      <a:schemeClr val="tx1"/>
                    </a:solidFill>
                    <a:effectLst/>
                    <a:latin typeface="Segoe WPC"/>
                  </a:rPr>
                  <a:t>near</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initial</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and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ignoring</a:t>
                </a:r>
                <a:r>
                  <a:rPr lang="es-PE" sz="900" b="0" i="0" dirty="0">
                    <a:solidFill>
                      <a:schemeClr val="tx1"/>
                    </a:solidFill>
                    <a:effectLst/>
                    <a:latin typeface="Segoe WPC"/>
                  </a:rPr>
                  <a:t> </a:t>
                </a:r>
                <a:r>
                  <a:rPr lang="es-PE" sz="900" b="0" i="0" dirty="0" err="1">
                    <a:solidFill>
                      <a:schemeClr val="tx1"/>
                    </a:solidFill>
                    <a:effectLst/>
                    <a:latin typeface="Segoe WPC"/>
                  </a:rPr>
                  <a:t>small</a:t>
                </a:r>
                <a:r>
                  <a:rPr lang="es-PE" sz="900" b="0" i="0" dirty="0">
                    <a:solidFill>
                      <a:schemeClr val="tx1"/>
                    </a:solidFill>
                    <a:effectLst/>
                    <a:latin typeface="Segoe WPC"/>
                  </a:rPr>
                  <a:t> </a:t>
                </a:r>
                <a:r>
                  <a:rPr lang="es-PE" sz="900" b="0" i="0" dirty="0" err="1">
                    <a:solidFill>
                      <a:schemeClr val="tx1"/>
                    </a:solidFill>
                    <a:effectLst/>
                    <a:latin typeface="Segoe WPC"/>
                  </a:rPr>
                  <a:t>discounting</a:t>
                </a:r>
                <a:r>
                  <a:rPr lang="es-PE" sz="900" b="0" i="0" dirty="0">
                    <a:solidFill>
                      <a:schemeClr val="tx1"/>
                    </a:solidFill>
                    <a:effectLst/>
                    <a:latin typeface="Segoe WPC"/>
                  </a:rPr>
                  <a:t> </a:t>
                </a:r>
                <a:r>
                  <a:rPr lang="es-PE" sz="900" b="0" i="0" dirty="0" err="1">
                    <a:solidFill>
                      <a:schemeClr val="tx1"/>
                    </a:solidFill>
                    <a:effectLst/>
                    <a:latin typeface="Segoe WPC"/>
                  </a:rPr>
                  <a:t>adjustments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Tailing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matters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futures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daily</a:t>
                </a:r>
                <a:r>
                  <a:rPr lang="es-PE" sz="900" b="0" i="0" dirty="0">
                    <a:solidFill>
                      <a:schemeClr val="tx1"/>
                    </a:solidFill>
                    <a:effectLst/>
                    <a:latin typeface="Segoe WPC"/>
                  </a:rPr>
                  <a:t> </a:t>
                </a:r>
                <a:r>
                  <a:rPr lang="es-PE" sz="900" b="0" i="0" dirty="0" err="1">
                    <a:solidFill>
                      <a:schemeClr val="tx1"/>
                    </a:solidFill>
                    <a:effectLst/>
                    <a:latin typeface="Segoe WPC"/>
                  </a:rPr>
                  <a:t>settlement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simpler</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-ratio formula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exact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forwards.</a:t>
                </a:r>
              </a:p>
              <a:p>
                <a:pPr algn="l">
                  <a:spcAft>
                    <a:spcPts val="1200"/>
                  </a:spcAft>
                  <a:buNone/>
                </a:pPr>
                <a:r>
                  <a:rPr lang="es-PE" sz="900" b="1" i="0" dirty="0">
                    <a:solidFill>
                      <a:schemeClr val="tx1"/>
                    </a:solidFill>
                    <a:effectLst/>
                    <a:latin typeface="Segoe WPC"/>
                  </a:rPr>
                  <a:t>6. </a:t>
                </a:r>
                <a:r>
                  <a:rPr lang="es-PE" sz="900" b="1" i="0" dirty="0" err="1">
                    <a:solidFill>
                      <a:schemeClr val="tx1"/>
                    </a:solidFill>
                    <a:effectLst/>
                    <a:latin typeface="Segoe WPC"/>
                  </a:rPr>
                  <a:t>Hedging</a:t>
                </a:r>
                <a:r>
                  <a:rPr lang="es-PE" sz="900" b="1" i="0" dirty="0">
                    <a:solidFill>
                      <a:schemeClr val="tx1"/>
                    </a:solidFill>
                    <a:effectLst/>
                    <a:latin typeface="Segoe WPC"/>
                  </a:rPr>
                  <a:t> </a:t>
                </a:r>
                <a:r>
                  <a:rPr lang="es-PE" sz="900" b="1" i="0" dirty="0" err="1">
                    <a:solidFill>
                      <a:schemeClr val="tx1"/>
                    </a:solidFill>
                    <a:effectLst/>
                    <a:latin typeface="Segoe WPC"/>
                  </a:rPr>
                  <a:t>Equity</a:t>
                </a:r>
                <a:r>
                  <a:rPr lang="es-PE" sz="900" b="1" i="0" dirty="0">
                    <a:solidFill>
                      <a:schemeClr val="tx1"/>
                    </a:solidFill>
                    <a:effectLst/>
                    <a:latin typeface="Segoe WPC"/>
                  </a:rPr>
                  <a:t> Portfolios and </a:t>
                </a:r>
                <a:r>
                  <a:rPr lang="es-PE" sz="900" b="1" i="0" dirty="0" err="1">
                    <a:solidFill>
                      <a:schemeClr val="tx1"/>
                    </a:solidFill>
                    <a:effectLst/>
                    <a:latin typeface="Segoe WPC"/>
                  </a:rPr>
                  <a:t>Managing</a:t>
                </a:r>
                <a:r>
                  <a:rPr lang="es-PE" sz="900" b="1" i="0" dirty="0">
                    <a:solidFill>
                      <a:schemeClr val="tx1"/>
                    </a:solidFill>
                    <a:effectLst/>
                    <a:latin typeface="Segoe WPC"/>
                  </a:rPr>
                  <a:t> Beta</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stock </a:t>
                </a:r>
                <a:r>
                  <a:rPr lang="es-PE" sz="900" b="0" i="0" dirty="0" err="1">
                    <a:solidFill>
                      <a:schemeClr val="tx1"/>
                    </a:solidFill>
                    <a:effectLst/>
                    <a:latin typeface="Segoe WPC"/>
                  </a:rPr>
                  <a:t>index</a:t>
                </a:r>
                <a:r>
                  <a:rPr lang="es-PE" sz="900" b="0" i="0" dirty="0">
                    <a:solidFill>
                      <a:schemeClr val="tx1"/>
                    </a:solidFill>
                    <a:effectLst/>
                    <a:latin typeface="Segoe WPC"/>
                  </a:rPr>
                  <a:t> futures </a:t>
                </a:r>
                <a:r>
                  <a:rPr lang="es-PE" sz="900" b="0" i="0" dirty="0" err="1">
                    <a:solidFill>
                      <a:schemeClr val="tx1"/>
                    </a:solidFill>
                    <a:effectLst/>
                    <a:latin typeface="Segoe WPC"/>
                  </a:rPr>
                  <a:t>to</a:t>
                </a:r>
                <a:r>
                  <a:rPr lang="es-PE" sz="900" b="0" i="0" dirty="0">
                    <a:solidFill>
                      <a:schemeClr val="tx1"/>
                    </a:solidFill>
                    <a:effectLst/>
                    <a:latin typeface="Segoe WPC"/>
                  </a:rPr>
                  <a:t> reduce, </a:t>
                </a:r>
                <a:r>
                  <a:rPr lang="es-PE" sz="900" b="0" i="0" dirty="0" err="1">
                    <a:solidFill>
                      <a:schemeClr val="tx1"/>
                    </a:solidFill>
                    <a:effectLst/>
                    <a:latin typeface="Segoe WPC"/>
                  </a:rPr>
                  <a:t>eliminate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change</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 portfolio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well</a:t>
                </a:r>
                <a:r>
                  <a:rPr lang="es-PE" sz="900" b="0" i="0" dirty="0">
                    <a:solidFill>
                      <a:schemeClr val="tx1"/>
                    </a:solidFill>
                    <a:effectLst/>
                    <a:latin typeface="Segoe WPC"/>
                  </a:rPr>
                  <a:t> </a:t>
                </a:r>
                <a:r>
                  <a:rPr lang="es-PE" sz="900" b="0" i="0" dirty="0" err="1">
                    <a:solidFill>
                      <a:schemeClr val="tx1"/>
                    </a:solidFill>
                    <a:effectLst/>
                    <a:latin typeface="Segoe WPC"/>
                  </a:rPr>
                  <a:t>diversified</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futures can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systematic</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adjust</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beta </a:t>
                </a:r>
                <a:r>
                  <a:rPr lang="es-PE" sz="900" b="0" i="0" dirty="0" err="1">
                    <a:solidFill>
                      <a:schemeClr val="tx1"/>
                    </a:solidFill>
                    <a:effectLst/>
                    <a:latin typeface="Segoe WPC"/>
                  </a:rPr>
                  <a:t>to</a:t>
                </a:r>
                <a:r>
                  <a:rPr lang="es-PE" sz="900" b="0" i="0" dirty="0">
                    <a:solidFill>
                      <a:schemeClr val="tx1"/>
                    </a:solidFill>
                    <a:effectLst/>
                    <a:latin typeface="Segoe WPC"/>
                  </a:rPr>
                  <a:t> a </a:t>
                </a:r>
                <a:r>
                  <a:rPr lang="es-PE" sz="900" b="0" i="0" dirty="0" err="1">
                    <a:solidFill>
                      <a:schemeClr val="tx1"/>
                    </a:solidFill>
                    <a:effectLst/>
                    <a:latin typeface="Segoe WPC"/>
                  </a:rPr>
                  <a:t>desired</a:t>
                </a:r>
                <a:r>
                  <a:rPr lang="es-PE" sz="900" b="0" i="0" dirty="0">
                    <a:solidFill>
                      <a:schemeClr val="tx1"/>
                    </a:solidFill>
                    <a:effectLst/>
                    <a:latin typeface="Segoe WPC"/>
                  </a:rPr>
                  <a:t> </a:t>
                </a:r>
                <a:r>
                  <a:rPr lang="es-PE" sz="900" b="0" i="0" dirty="0" err="1">
                    <a:solidFill>
                      <a:schemeClr val="tx1"/>
                    </a:solidFill>
                    <a:effectLst/>
                    <a:latin typeface="Segoe WPC"/>
                  </a:rPr>
                  <a:t>level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Short </a:t>
                </a:r>
                <a:r>
                  <a:rPr lang="es-PE" sz="900" b="0" i="0" dirty="0" err="1">
                    <a:solidFill>
                      <a:schemeClr val="tx1"/>
                    </a:solidFill>
                    <a:effectLst/>
                    <a:latin typeface="Segoe WPC"/>
                  </a:rPr>
                  <a:t>index</a:t>
                </a:r>
                <a:r>
                  <a:rPr lang="es-PE" sz="900" b="0" i="0" dirty="0">
                    <a:solidFill>
                      <a:schemeClr val="tx1"/>
                    </a:solidFill>
                    <a:effectLst/>
                    <a:latin typeface="Segoe WPC"/>
                  </a:rPr>
                  <a:t> futures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futures </a:t>
                </a:r>
                <a:r>
                  <a:rPr lang="es-PE" sz="900" b="0" i="0" dirty="0" err="1">
                    <a:solidFill>
                      <a:schemeClr val="tx1"/>
                    </a:solidFill>
                    <a:effectLst/>
                    <a:latin typeface="Segoe WPC"/>
                  </a:rPr>
                  <a:t>increase</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Full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𝑁</m:t>
                        </m:r>
                      </m:e>
                      <m:sup>
                        <m:r>
                          <a:rPr lang="ar-AE" sz="900" i="0">
                            <a:solidFill>
                              <a:schemeClr val="tx1"/>
                            </a:solidFill>
                            <a:latin typeface="Cambria Math" panose="02040503050406030204" pitchFamily="18" charset="0"/>
                          </a:rPr>
                          <m:t>∗</m:t>
                        </m:r>
                      </m:sup>
                    </m:s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𝛽</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𝑉</m:t>
                            </m:r>
                          </m:e>
                          <m:sub>
                            <m:r>
                              <a:rPr lang="ar-AE" sz="900" i="1">
                                <a:solidFill>
                                  <a:schemeClr val="tx1"/>
                                </a:solidFill>
                                <a:latin typeface="Cambria Math" panose="02040503050406030204" pitchFamily="18" charset="0"/>
                              </a:rPr>
                              <m:t>𝐴</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𝑉</m:t>
                            </m:r>
                          </m:e>
                          <m:sub>
                            <m:r>
                              <a:rPr lang="ar-AE" sz="900" i="1">
                                <a:solidFill>
                                  <a:schemeClr val="tx1"/>
                                </a:solidFill>
                                <a:latin typeface="Cambria Math" panose="02040503050406030204" pitchFamily="18" charset="0"/>
                              </a:rPr>
                              <m:t>𝐹</m:t>
                            </m:r>
                          </m:sub>
                        </m:sSub>
                      </m:den>
                    </m:f>
                  </m:oMath>
                </a14:m>
                <a:r>
                  <a:rPr lang="ar-A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change</a:t>
                </a:r>
                <a:r>
                  <a:rPr lang="es-PE" sz="900" b="0" i="0" dirty="0">
                    <a:solidFill>
                      <a:schemeClr val="tx1"/>
                    </a:solidFill>
                    <a:effectLst/>
                    <a:latin typeface="Segoe WPC"/>
                  </a:rPr>
                  <a:t> beta </a:t>
                </a:r>
                <a:r>
                  <a:rPr lang="es-PE" sz="900" b="0" i="0" dirty="0" err="1">
                    <a:solidFill>
                      <a:schemeClr val="tx1"/>
                    </a:solidFill>
                    <a:effectLst/>
                    <a:latin typeface="Segoe WPC"/>
                  </a:rPr>
                  <a:t>from</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𝛽</m:t>
                    </m:r>
                  </m:oMath>
                </a14:m>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𝛽</m:t>
                        </m:r>
                      </m:e>
                      <m:sup>
                        <m:r>
                          <a:rPr lang="ar-AE" sz="900" i="0">
                            <a:solidFill>
                              <a:schemeClr val="tx1"/>
                            </a:solidFill>
                            <a:latin typeface="Cambria Math" panose="02040503050406030204" pitchFamily="18" charset="0"/>
                          </a:rPr>
                          <m:t>∗</m:t>
                        </m:r>
                      </m:sup>
                    </m:sSup>
                  </m:oMath>
                </a14:m>
                <a:r>
                  <a:rPr lang="ar-AE" sz="900" b="0" i="0" dirty="0">
                    <a:solidFill>
                      <a:schemeClr val="tx1"/>
                    </a:solidFill>
                    <a:effectLst/>
                    <a:latin typeface="Segoe WPC"/>
                  </a:rPr>
                  <a:t>, </a:t>
                </a:r>
                <a:r>
                  <a:rPr lang="es-PE" sz="900" b="0" i="0" dirty="0">
                    <a:solidFill>
                      <a:schemeClr val="tx1"/>
                    </a:solidFill>
                    <a:effectLst/>
                    <a:latin typeface="Segoe WPC"/>
                  </a:rPr>
                  <a:t>use </a:t>
                </a:r>
                <a14:m>
                  <m:oMath xmlns:m="http://schemas.openxmlformats.org/officeDocument/2006/math">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𝛽</m:t>
                        </m:r>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𝛽</m:t>
                            </m:r>
                          </m:e>
                          <m:sup>
                            <m:r>
                              <a:rPr lang="ar-AE" sz="900" i="0">
                                <a:solidFill>
                                  <a:schemeClr val="tx1"/>
                                </a:solidFill>
                                <a:latin typeface="Cambria Math" panose="02040503050406030204" pitchFamily="18" charset="0"/>
                              </a:rPr>
                              <m:t>∗</m:t>
                            </m:r>
                          </m:sup>
                        </m:sSup>
                      </m:e>
                    </m:d>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𝑉</m:t>
                            </m:r>
                          </m:e>
                          <m:sub>
                            <m:r>
                              <a:rPr lang="ar-AE" sz="900" i="1">
                                <a:solidFill>
                                  <a:schemeClr val="tx1"/>
                                </a:solidFill>
                                <a:latin typeface="Cambria Math" panose="02040503050406030204" pitchFamily="18" charset="0"/>
                              </a:rPr>
                              <m:t>𝐴</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𝑉</m:t>
                            </m:r>
                          </m:e>
                          <m:sub>
                            <m:r>
                              <a:rPr lang="ar-AE" sz="900" i="1">
                                <a:solidFill>
                                  <a:schemeClr val="tx1"/>
                                </a:solidFill>
                                <a:latin typeface="Cambria Math" panose="02040503050406030204" pitchFamily="18" charset="0"/>
                              </a:rPr>
                              <m:t>𝐹</m:t>
                            </m:r>
                          </m:sub>
                        </m:sSub>
                      </m:den>
                    </m:f>
                  </m:oMath>
                </a14:m>
                <a:r>
                  <a:rPr lang="ar-A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 short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reducing</a:t>
                </a:r>
                <a:r>
                  <a:rPr lang="es-PE" sz="900" b="0" i="0" dirty="0">
                    <a:solidFill>
                      <a:schemeClr val="tx1"/>
                    </a:solidFill>
                    <a:effectLst/>
                    <a:latin typeface="Segoe WPC"/>
                  </a:rPr>
                  <a:t> beta, </a:t>
                </a:r>
                <a:r>
                  <a:rPr lang="es-PE" sz="900" b="0" i="0" dirty="0" err="1">
                    <a:solidFill>
                      <a:schemeClr val="tx1"/>
                    </a:solidFill>
                    <a:effectLst/>
                    <a:latin typeface="Segoe WPC"/>
                  </a:rPr>
                  <a:t>or</a:t>
                </a:r>
                <a:r>
                  <a:rPr lang="es-PE" sz="900" b="0" i="0" dirty="0">
                    <a:solidFill>
                      <a:schemeClr val="tx1"/>
                    </a:solidFill>
                    <a:effectLst/>
                    <a:latin typeface="Segoe WPC"/>
                  </a:rPr>
                  <a:t> </a:t>
                </a:r>
                <a14:m>
                  <m:oMath xmlns:m="http://schemas.openxmlformats.org/officeDocument/2006/math">
                    <m:d>
                      <m:dPr>
                        <m:ctrlPr>
                          <a:rPr lang="ar-AE" sz="900" i="1">
                            <a:solidFill>
                              <a:schemeClr val="tx1"/>
                            </a:solidFill>
                            <a:latin typeface="Cambria Math" panose="02040503050406030204" pitchFamily="18" charset="0"/>
                          </a:rPr>
                        </m:ctrlPr>
                      </m:dPr>
                      <m:e>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𝛽</m:t>
                            </m:r>
                          </m:e>
                          <m:sup>
                            <m:r>
                              <a:rPr lang="ar-AE" sz="900" i="0">
                                <a:solidFill>
                                  <a:schemeClr val="tx1"/>
                                </a:solidFill>
                                <a:latin typeface="Cambria Math" panose="02040503050406030204" pitchFamily="18" charset="0"/>
                              </a:rPr>
                              <m:t>∗</m:t>
                            </m:r>
                          </m:sup>
                        </m:s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𝛽</m:t>
                        </m:r>
                      </m:e>
                    </m:d>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𝑉</m:t>
                            </m:r>
                          </m:e>
                          <m:sub>
                            <m:r>
                              <a:rPr lang="ar-AE" sz="900" i="1">
                                <a:solidFill>
                                  <a:schemeClr val="tx1"/>
                                </a:solidFill>
                                <a:latin typeface="Cambria Math" panose="02040503050406030204" pitchFamily="18" charset="0"/>
                              </a:rPr>
                              <m:t>𝐴</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𝑉</m:t>
                            </m:r>
                          </m:e>
                          <m:sub>
                            <m:r>
                              <a:rPr lang="ar-AE" sz="900" i="1">
                                <a:solidFill>
                                  <a:schemeClr val="tx1"/>
                                </a:solidFill>
                                <a:latin typeface="Cambria Math" panose="02040503050406030204" pitchFamily="18" charset="0"/>
                              </a:rPr>
                              <m:t>𝐹</m:t>
                            </m:r>
                          </m:sub>
                        </m:sSub>
                      </m:den>
                    </m:f>
                  </m:oMath>
                </a14:m>
                <a:r>
                  <a:rPr lang="ar-A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increasing</a:t>
                </a:r>
                <a:r>
                  <a:rPr lang="es-PE" sz="900" b="0" i="0" dirty="0">
                    <a:solidFill>
                      <a:schemeClr val="tx1"/>
                    </a:solidFill>
                    <a:effectLst/>
                    <a:latin typeface="Segoe WPC"/>
                  </a:rPr>
                  <a:t> beta.</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 portfolio </a:t>
                </a:r>
                <a:r>
                  <a:rPr lang="es-PE" sz="900" b="0" i="0" dirty="0" err="1">
                    <a:solidFill>
                      <a:schemeClr val="tx1"/>
                    </a:solidFill>
                    <a:effectLst/>
                    <a:latin typeface="Segoe WPC"/>
                  </a:rPr>
                  <a:t>with</a:t>
                </a:r>
                <a:r>
                  <a:rPr lang="es-PE" sz="900" b="0" i="0" dirty="0">
                    <a:solidFill>
                      <a:schemeClr val="tx1"/>
                    </a:solidFill>
                    <a:effectLst/>
                    <a:latin typeface="Segoe WPC"/>
                  </a:rPr>
                  <a:t> beta 1.25 can be </a:t>
                </a:r>
                <a:r>
                  <a:rPr lang="es-PE" sz="900" b="0" i="0" dirty="0" err="1">
                    <a:solidFill>
                      <a:schemeClr val="tx1"/>
                    </a:solidFill>
                    <a:effectLst/>
                    <a:latin typeface="Segoe WPC"/>
                  </a:rPr>
                  <a:t>hedged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beta 0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shorting</a:t>
                </a:r>
                <a:r>
                  <a:rPr lang="es-PE" sz="900" b="0" i="0" dirty="0">
                    <a:solidFill>
                      <a:schemeClr val="tx1"/>
                    </a:solidFill>
                    <a:effectLst/>
                    <a:latin typeface="Segoe WPC"/>
                  </a:rPr>
                  <a:t> </a:t>
                </a:r>
                <a:r>
                  <a:rPr lang="es-PE" sz="900" b="0" i="0" dirty="0" err="1">
                    <a:solidFill>
                      <a:schemeClr val="tx1"/>
                    </a:solidFill>
                    <a:effectLst/>
                    <a:latin typeface="Segoe WPC"/>
                  </a:rPr>
                  <a:t>enough</a:t>
                </a:r>
                <a:r>
                  <a:rPr lang="es-PE" sz="900" b="0" i="0" dirty="0">
                    <a:solidFill>
                      <a:schemeClr val="tx1"/>
                    </a:solidFill>
                    <a:effectLst/>
                    <a:latin typeface="Segoe WPC"/>
                  </a:rPr>
                  <a:t> futures,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partially</a:t>
                </a:r>
                <a:r>
                  <a:rPr lang="es-PE" sz="900" b="0" i="0" dirty="0">
                    <a:solidFill>
                      <a:schemeClr val="tx1"/>
                    </a:solidFill>
                    <a:effectLst/>
                    <a:latin typeface="Segoe WPC"/>
                  </a:rPr>
                  <a:t> </a:t>
                </a:r>
                <a:r>
                  <a:rPr lang="es-PE" sz="900" b="0" i="0" dirty="0" err="1">
                    <a:solidFill>
                      <a:schemeClr val="tx1"/>
                    </a:solidFill>
                    <a:effectLst/>
                    <a:latin typeface="Segoe WPC"/>
                  </a:rPr>
                  <a:t>hedged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any</a:t>
                </a:r>
                <a:r>
                  <a:rPr lang="es-PE" sz="900" b="0" i="0" dirty="0">
                    <a:solidFill>
                      <a:schemeClr val="tx1"/>
                    </a:solidFill>
                    <a:effectLst/>
                    <a:latin typeface="Segoe WPC"/>
                  </a:rPr>
                  <a:t> target beta.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result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keep</a:t>
                </a:r>
                <a:r>
                  <a:rPr lang="es-PE" sz="900" b="0" i="0" dirty="0">
                    <a:solidFill>
                      <a:schemeClr val="tx1"/>
                    </a:solidFill>
                    <a:effectLst/>
                    <a:latin typeface="Segoe WPC"/>
                  </a:rPr>
                  <a:t> stock-</a:t>
                </a:r>
                <a:r>
                  <a:rPr lang="es-PE" sz="900" b="0" i="0" dirty="0" err="1">
                    <a:solidFill>
                      <a:schemeClr val="tx1"/>
                    </a:solidFill>
                    <a:effectLst/>
                    <a:latin typeface="Segoe WPC"/>
                  </a:rPr>
                  <a:t>selection</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adjusting</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eliminating</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futures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systematic</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firm-specific</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7. Long-</a:t>
                </a:r>
                <a:r>
                  <a:rPr lang="es-PE" sz="900" b="1" i="0" dirty="0" err="1">
                    <a:solidFill>
                      <a:schemeClr val="tx1"/>
                    </a:solidFill>
                    <a:effectLst/>
                    <a:latin typeface="Segoe WPC"/>
                  </a:rPr>
                  <a:t>Term</a:t>
                </a:r>
                <a:r>
                  <a:rPr lang="es-PE" sz="900" b="1" i="0" dirty="0">
                    <a:solidFill>
                      <a:schemeClr val="tx1"/>
                    </a:solidFill>
                    <a:effectLst/>
                    <a:latin typeface="Segoe WPC"/>
                  </a:rPr>
                  <a:t> </a:t>
                </a:r>
                <a:r>
                  <a:rPr lang="es-PE" sz="900" b="1" i="0" dirty="0" err="1">
                    <a:solidFill>
                      <a:schemeClr val="tx1"/>
                    </a:solidFill>
                    <a:effectLst/>
                    <a:latin typeface="Segoe WPC"/>
                  </a:rPr>
                  <a:t>Hedges</a:t>
                </a:r>
                <a:r>
                  <a:rPr lang="es-PE" sz="900" b="1" i="0" dirty="0">
                    <a:solidFill>
                      <a:schemeClr val="tx1"/>
                    </a:solidFill>
                    <a:effectLst/>
                    <a:latin typeface="Segoe WPC"/>
                  </a:rPr>
                  <a:t> and </a:t>
                </a:r>
                <a:r>
                  <a:rPr lang="es-PE" sz="900" b="1" i="0" dirty="0" err="1">
                    <a:solidFill>
                      <a:schemeClr val="tx1"/>
                    </a:solidFill>
                    <a:effectLst/>
                    <a:latin typeface="Segoe WPC"/>
                  </a:rPr>
                  <a:t>Stack</a:t>
                </a:r>
                <a:r>
                  <a:rPr lang="es-PE" sz="900" b="1" i="0" dirty="0">
                    <a:solidFill>
                      <a:schemeClr val="tx1"/>
                    </a:solidFill>
                    <a:effectLst/>
                    <a:latin typeface="Segoe WPC"/>
                  </a:rPr>
                  <a:t>-and-Roll</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Creating</a:t>
                </a:r>
                <a:r>
                  <a:rPr lang="es-PE" sz="900" b="0" i="0" dirty="0">
                    <a:solidFill>
                      <a:schemeClr val="tx1"/>
                    </a:solidFill>
                    <a:effectLst/>
                    <a:latin typeface="Segoe WPC"/>
                  </a:rPr>
                  <a:t> </a:t>
                </a:r>
                <a:r>
                  <a:rPr lang="es-PE" sz="900" b="0" i="0" dirty="0" err="1">
                    <a:solidFill>
                      <a:schemeClr val="tx1"/>
                    </a:solidFill>
                    <a:effectLst/>
                    <a:latin typeface="Segoe WPC"/>
                  </a:rPr>
                  <a:t>long-horizon</a:t>
                </a:r>
                <a:r>
                  <a:rPr lang="es-PE" sz="900" b="0" i="0" dirty="0">
                    <a:solidFill>
                      <a:schemeClr val="tx1"/>
                    </a:solidFill>
                    <a:effectLst/>
                    <a:latin typeface="Segoe WPC"/>
                  </a:rPr>
                  <a:t> </a:t>
                </a:r>
                <a:r>
                  <a:rPr lang="es-PE" sz="900" b="0" i="0" dirty="0" err="1">
                    <a:solidFill>
                      <a:schemeClr val="tx1"/>
                    </a:solidFill>
                    <a:effectLst/>
                    <a:latin typeface="Segoe WPC"/>
                  </a:rPr>
                  <a:t>hedges</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 </a:t>
                </a:r>
                <a:r>
                  <a:rPr lang="es-PE" sz="900" b="0" i="0" dirty="0" err="1">
                    <a:solidFill>
                      <a:schemeClr val="tx1"/>
                    </a:solidFill>
                    <a:effectLst/>
                    <a:latin typeface="Segoe WPC"/>
                  </a:rPr>
                  <a:t>sequence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short-</a:t>
                </a:r>
                <a:r>
                  <a:rPr lang="es-PE" sz="900" b="0" i="0" dirty="0" err="1">
                    <a:solidFill>
                      <a:schemeClr val="tx1"/>
                    </a:solidFill>
                    <a:effectLst/>
                    <a:latin typeface="Segoe WPC"/>
                  </a:rPr>
                  <a:t>term</a:t>
                </a:r>
                <a:r>
                  <a:rPr lang="es-PE" sz="900" b="0" i="0" dirty="0">
                    <a:solidFill>
                      <a:schemeClr val="tx1"/>
                    </a:solidFill>
                    <a:effectLst/>
                    <a:latin typeface="Segoe WPC"/>
                  </a:rPr>
                  <a:t> futures </a:t>
                </a:r>
                <a:r>
                  <a:rPr lang="es-PE" sz="900" b="0" i="0" dirty="0" err="1">
                    <a:solidFill>
                      <a:schemeClr val="tx1"/>
                    </a:solidFill>
                    <a:effectLst/>
                    <a:latin typeface="Segoe WPC"/>
                  </a:rPr>
                  <a:t>contracts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no </a:t>
                </a:r>
                <a:r>
                  <a:rPr lang="es-PE" sz="900" b="0" i="0" dirty="0" err="1">
                    <a:solidFill>
                      <a:schemeClr val="tx1"/>
                    </a:solidFill>
                    <a:effectLst/>
                    <a:latin typeface="Segoe WPC"/>
                  </a:rPr>
                  <a:t>sufficiently</a:t>
                </a:r>
                <a:r>
                  <a:rPr lang="es-PE" sz="900" b="0" i="0" dirty="0">
                    <a:solidFill>
                      <a:schemeClr val="tx1"/>
                    </a:solidFill>
                    <a:effectLst/>
                    <a:latin typeface="Segoe WPC"/>
                  </a:rPr>
                  <a:t> </a:t>
                </a:r>
                <a:r>
                  <a:rPr lang="es-PE" sz="900" b="0" i="0" dirty="0" err="1">
                    <a:solidFill>
                      <a:schemeClr val="tx1"/>
                    </a:solidFill>
                    <a:effectLst/>
                    <a:latin typeface="Segoe WPC"/>
                  </a:rPr>
                  <a:t>liquid</a:t>
                </a:r>
                <a:r>
                  <a:rPr lang="es-PE" sz="900" b="0" i="0" dirty="0">
                    <a:solidFill>
                      <a:schemeClr val="tx1"/>
                    </a:solidFill>
                    <a:effectLst/>
                    <a:latin typeface="Segoe WPC"/>
                  </a:rPr>
                  <a:t> </a:t>
                </a:r>
                <a:r>
                  <a:rPr lang="es-PE" sz="900" b="0" i="0" dirty="0" err="1">
                    <a:solidFill>
                      <a:schemeClr val="tx1"/>
                    </a:solidFill>
                    <a:effectLst/>
                    <a:latin typeface="Segoe WPC"/>
                  </a:rPr>
                  <a:t>long-dated</a:t>
                </a:r>
                <a:r>
                  <a:rPr lang="es-PE" sz="900" b="0" i="0" dirty="0">
                    <a:solidFill>
                      <a:schemeClr val="tx1"/>
                    </a:solidFill>
                    <a:effectLst/>
                    <a:latin typeface="Segoe WPC"/>
                  </a:rPr>
                  <a:t> futures </a:t>
                </a:r>
                <a:r>
                  <a:rPr lang="es-PE" sz="900" b="0" i="0" dirty="0" err="1">
                    <a:solidFill>
                      <a:schemeClr val="tx1"/>
                    </a:solidFill>
                    <a:effectLst/>
                    <a:latin typeface="Segoe WPC"/>
                  </a:rPr>
                  <a:t>exist</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short-</a:t>
                </a:r>
                <a:r>
                  <a:rPr lang="es-PE" sz="900" b="0" i="0" dirty="0" err="1">
                    <a:solidFill>
                      <a:schemeClr val="tx1"/>
                    </a:solidFill>
                    <a:effectLst/>
                    <a:latin typeface="Segoe WPC"/>
                  </a:rPr>
                  <a:t>dated</a:t>
                </a:r>
                <a:r>
                  <a:rPr lang="es-PE" sz="900" b="0" i="0" dirty="0">
                    <a:solidFill>
                      <a:schemeClr val="tx1"/>
                    </a:solidFill>
                    <a:effectLst/>
                    <a:latin typeface="Segoe WPC"/>
                  </a:rPr>
                  <a:t> futures and </a:t>
                </a:r>
                <a:r>
                  <a:rPr lang="es-PE" sz="900" b="0" i="0" dirty="0" err="1">
                    <a:solidFill>
                      <a:schemeClr val="tx1"/>
                    </a:solidFill>
                    <a:effectLst/>
                    <a:latin typeface="Segoe WPC"/>
                  </a:rPr>
                  <a:t>repeatedly</a:t>
                </a:r>
                <a:r>
                  <a:rPr lang="es-PE" sz="900" b="0" i="0" dirty="0">
                    <a:solidFill>
                      <a:schemeClr val="tx1"/>
                    </a:solidFill>
                    <a:effectLst/>
                    <a:latin typeface="Segoe WPC"/>
                  </a:rPr>
                  <a:t> roll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forward as </a:t>
                </a:r>
                <a:r>
                  <a:rPr lang="es-PE" sz="900" b="0" i="0" dirty="0" err="1">
                    <a:solidFill>
                      <a:schemeClr val="tx1"/>
                    </a:solidFill>
                    <a:effectLst/>
                    <a:latin typeface="Segoe WPC"/>
                  </a:rPr>
                  <a:t>contracts</a:t>
                </a:r>
                <a:r>
                  <a:rPr lang="es-PE" sz="900" b="0" i="0" dirty="0">
                    <a:solidFill>
                      <a:schemeClr val="tx1"/>
                    </a:solidFill>
                    <a:effectLst/>
                    <a:latin typeface="Segoe WPC"/>
                  </a:rPr>
                  <a:t> </a:t>
                </a:r>
                <a:r>
                  <a:rPr lang="es-PE" sz="900" b="0" i="0" dirty="0" err="1">
                    <a:solidFill>
                      <a:schemeClr val="tx1"/>
                    </a:solidFill>
                    <a:effectLst/>
                    <a:latin typeface="Segoe WPC"/>
                  </a:rPr>
                  <a:t>near</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Build</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stacking</a:t>
                </a:r>
                <a:r>
                  <a:rPr lang="es-PE" sz="900" b="0" i="0" dirty="0">
                    <a:solidFill>
                      <a:schemeClr val="tx1"/>
                    </a:solidFill>
                    <a:effectLst/>
                    <a:latin typeface="Segoe WPC"/>
                  </a:rPr>
                  <a:t> a series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shorter</a:t>
                </a:r>
                <a:r>
                  <a:rPr lang="es-PE" sz="900" b="0" i="0" dirty="0">
                    <a:solidFill>
                      <a:schemeClr val="tx1"/>
                    </a:solidFill>
                    <a:effectLst/>
                    <a:latin typeface="Segoe WPC"/>
                  </a:rPr>
                  <a:t> </a:t>
                </a:r>
                <a:r>
                  <a:rPr lang="es-PE" sz="900" b="0" i="0" dirty="0" err="1">
                    <a:solidFill>
                      <a:schemeClr val="tx1"/>
                    </a:solidFill>
                    <a:effectLst/>
                    <a:latin typeface="Segoe WPC"/>
                  </a:rPr>
                  <a:t>hedges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new </a:t>
                </a:r>
                <a:r>
                  <a:rPr lang="es-PE" sz="900" b="0" i="0" dirty="0" err="1">
                    <a:solidFill>
                      <a:schemeClr val="tx1"/>
                    </a:solidFill>
                    <a:effectLst/>
                    <a:latin typeface="Segoe WPC"/>
                  </a:rPr>
                  <a:t>core</a:t>
                </a:r>
                <a:r>
                  <a:rPr lang="es-PE" sz="900" b="0" i="0" dirty="0">
                    <a:solidFill>
                      <a:schemeClr val="tx1"/>
                    </a:solidFill>
                    <a:effectLst/>
                    <a:latin typeface="Segoe WPC"/>
                  </a:rPr>
                  <a:t> formula;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outcome</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gains</a:t>
                </a:r>
                <a:r>
                  <a:rPr lang="es-PE" sz="900" b="0" i="0" dirty="0">
                    <a:solidFill>
                      <a:schemeClr val="tx1"/>
                    </a:solidFill>
                    <a:effectLst/>
                    <a:latin typeface="Segoe WPC"/>
                  </a:rPr>
                  <a:t> and </a:t>
                </a:r>
                <a:r>
                  <a:rPr lang="es-PE" sz="900" b="0" i="0" dirty="0" err="1">
                    <a:solidFill>
                      <a:schemeClr val="tx1"/>
                    </a:solidFill>
                    <a:effectLst/>
                    <a:latin typeface="Segoe WPC"/>
                  </a:rPr>
                  <a:t>losses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successive</a:t>
                </a:r>
                <a:r>
                  <a:rPr lang="es-PE" sz="900" b="0" i="0" dirty="0">
                    <a:solidFill>
                      <a:schemeClr val="tx1"/>
                    </a:solidFill>
                    <a:effectLst/>
                    <a:latin typeface="Segoe WPC"/>
                  </a:rPr>
                  <a:t> futures position </a:t>
                </a:r>
                <a:r>
                  <a:rPr lang="es-PE" sz="900" b="0" i="0" dirty="0" err="1">
                    <a:solidFill>
                      <a:schemeClr val="tx1"/>
                    </a:solidFill>
                    <a:effectLst/>
                    <a:latin typeface="Segoe WPC"/>
                  </a:rPr>
                  <a:t>rolled</a:t>
                </a:r>
                <a:r>
                  <a:rPr lang="es-PE" sz="900" b="0" i="0" dirty="0">
                    <a:solidFill>
                      <a:schemeClr val="tx1"/>
                    </a:solidFill>
                    <a:effectLst/>
                    <a:latin typeface="Segoe WPC"/>
                  </a:rPr>
                  <a:t> </a:t>
                </a:r>
                <a:r>
                  <a:rPr lang="es-PE" sz="900" b="0" i="0" dirty="0" err="1">
                    <a:solidFill>
                      <a:schemeClr val="tx1"/>
                    </a:solidFill>
                    <a:effectLst/>
                    <a:latin typeface="Segoe WPC"/>
                  </a:rPr>
                  <a:t>through</a:t>
                </a:r>
                <a:r>
                  <a:rPr lang="es-PE" sz="900" b="0" i="0" dirty="0">
                    <a:solidFill>
                      <a:schemeClr val="tx1"/>
                    </a:solidFill>
                    <a:effectLst/>
                    <a:latin typeface="Segoe WPC"/>
                  </a:rPr>
                  <a:t> time.</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stack</a:t>
                </a:r>
                <a:r>
                  <a:rPr lang="es-PE" sz="900" b="0" i="0" dirty="0">
                    <a:solidFill>
                      <a:schemeClr val="tx1"/>
                    </a:solidFill>
                    <a:effectLst/>
                    <a:latin typeface="Segoe WPC"/>
                  </a:rPr>
                  <a:t>-and-roll </a:t>
                </a:r>
                <a:r>
                  <a:rPr lang="es-PE" sz="900" b="0" i="0" dirty="0" err="1">
                    <a:solidFill>
                      <a:schemeClr val="tx1"/>
                    </a:solidFill>
                    <a:effectLst/>
                    <a:latin typeface="Segoe WPC"/>
                  </a:rPr>
                  <a:t>strategy</a:t>
                </a:r>
                <a:r>
                  <a:rPr lang="es-PE" sz="900" b="0" i="0" dirty="0">
                    <a:solidFill>
                      <a:schemeClr val="tx1"/>
                    </a:solidFill>
                    <a:effectLst/>
                    <a:latin typeface="Segoe WPC"/>
                  </a:rPr>
                  <a:t> can </a:t>
                </a:r>
                <a:r>
                  <a:rPr lang="es-PE" sz="900" b="0" i="0" dirty="0" err="1">
                    <a:solidFill>
                      <a:schemeClr val="tx1"/>
                    </a:solidFill>
                    <a:effectLst/>
                    <a:latin typeface="Segoe WPC"/>
                  </a:rPr>
                  <a:t>approximate</a:t>
                </a:r>
                <a:r>
                  <a:rPr lang="es-PE" sz="900" b="0" i="0" dirty="0">
                    <a:solidFill>
                      <a:schemeClr val="tx1"/>
                    </a:solidFill>
                    <a:effectLst/>
                    <a:latin typeface="Segoe WPC"/>
                  </a:rPr>
                  <a:t> a </a:t>
                </a:r>
                <a:r>
                  <a:rPr lang="es-PE" sz="900" b="0" i="0" dirty="0" err="1">
                    <a:solidFill>
                      <a:schemeClr val="tx1"/>
                    </a:solidFill>
                    <a:effectLst/>
                    <a:latin typeface="Segoe WPC"/>
                  </a:rPr>
                  <a:t>long-term</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creates</a:t>
                </a:r>
                <a:r>
                  <a:rPr lang="es-PE" sz="900" b="0" i="0" dirty="0">
                    <a:solidFill>
                      <a:schemeClr val="tx1"/>
                    </a:solidFill>
                    <a:effectLst/>
                    <a:latin typeface="Segoe WPC"/>
                  </a:rPr>
                  <a:t> extra </a:t>
                </a:r>
                <a:r>
                  <a:rPr lang="es-PE" sz="900" b="0" i="0" dirty="0" err="1">
                    <a:solidFill>
                      <a:schemeClr val="tx1"/>
                    </a:solidFill>
                    <a:effectLst/>
                    <a:latin typeface="Segoe WPC"/>
                  </a:rPr>
                  <a:t>uncertainty</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roll </a:t>
                </a:r>
                <a:r>
                  <a:rPr lang="es-PE" sz="900" b="0" i="0" dirty="0" err="1">
                    <a:solidFill>
                      <a:schemeClr val="tx1"/>
                    </a:solidFill>
                    <a:effectLst/>
                    <a:latin typeface="Segoe WPC"/>
                  </a:rPr>
                  <a:t>exposes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hedger</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new basis and </a:t>
                </a:r>
                <a:r>
                  <a:rPr lang="es-PE" sz="900" b="0" i="0" dirty="0" err="1">
                    <a:solidFill>
                      <a:schemeClr val="tx1"/>
                    </a:solidFill>
                    <a:effectLst/>
                    <a:latin typeface="Segoe WPC"/>
                  </a:rPr>
                  <a:t>term-structure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stack</a:t>
                </a:r>
                <a:r>
                  <a:rPr lang="es-PE" sz="900" b="0" i="0" dirty="0">
                    <a:solidFill>
                      <a:schemeClr val="tx1"/>
                    </a:solidFill>
                    <a:effectLst/>
                    <a:latin typeface="Segoe WPC"/>
                  </a:rPr>
                  <a:t>-and-roll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equivalent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 single </a:t>
                </a:r>
                <a:r>
                  <a:rPr lang="es-PE" sz="900" b="0" i="0" dirty="0" err="1">
                    <a:solidFill>
                      <a:schemeClr val="tx1"/>
                    </a:solidFill>
                    <a:effectLst/>
                    <a:latin typeface="Segoe WPC"/>
                  </a:rPr>
                  <a:t>long-dated</a:t>
                </a:r>
                <a:r>
                  <a:rPr lang="es-PE" sz="900" b="0" i="0" dirty="0">
                    <a:solidFill>
                      <a:schemeClr val="tx1"/>
                    </a:solidFill>
                    <a:effectLst/>
                    <a:latin typeface="Segoe WPC"/>
                  </a:rPr>
                  <a:t> futures </a:t>
                </a:r>
                <a:r>
                  <a:rPr lang="es-PE" sz="900" b="0" i="0" dirty="0" err="1">
                    <a:solidFill>
                      <a:schemeClr val="tx1"/>
                    </a:solidFill>
                    <a:effectLst/>
                    <a:latin typeface="Segoe WPC"/>
                  </a:rPr>
                  <a:t>hedge</a:t>
                </a:r>
                <a:r>
                  <a:rPr lang="es-PE" sz="900" b="0" i="0" dirty="0">
                    <a:solidFill>
                      <a:schemeClr val="tx1"/>
                    </a:solidFill>
                    <a:effectLst/>
                    <a:latin typeface="Segoe WPC"/>
                  </a:rPr>
                  <a:t>; roll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real.</a:t>
                </a:r>
              </a:p>
              <a:p>
                <a:pPr algn="l">
                  <a:spcAft>
                    <a:spcPts val="1200"/>
                  </a:spcAft>
                  <a:buNone/>
                </a:pPr>
                <a:r>
                  <a:rPr lang="es-PE" sz="900" b="1" i="0" dirty="0">
                    <a:solidFill>
                      <a:schemeClr val="tx1"/>
                    </a:solidFill>
                    <a:effectLst/>
                    <a:latin typeface="Segoe WPC"/>
                  </a:rPr>
                  <a:t>8. Cash Flow </a:t>
                </a:r>
                <a:r>
                  <a:rPr lang="es-PE" sz="900" b="1" i="0" dirty="0" err="1">
                    <a:solidFill>
                      <a:schemeClr val="tx1"/>
                    </a:solidFill>
                    <a:effectLst/>
                    <a:latin typeface="Segoe WPC"/>
                  </a:rPr>
                  <a:t>Risk</a:t>
                </a:r>
                <a:r>
                  <a:rPr lang="es-PE" sz="900" b="1" i="0" dirty="0">
                    <a:solidFill>
                      <a:schemeClr val="tx1"/>
                    </a:solidFill>
                    <a:effectLst/>
                    <a:latin typeface="Segoe WPC"/>
                  </a:rPr>
                  <a:t> in Futures </a:t>
                </a:r>
                <a:r>
                  <a:rPr lang="es-PE" sz="900" b="1" i="0" dirty="0" err="1">
                    <a:solidFill>
                      <a:schemeClr val="tx1"/>
                    </a:solidFill>
                    <a:effectLst/>
                    <a:latin typeface="Segoe WPC"/>
                  </a:rPr>
                  <a:t>Hedging</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liquidity</a:t>
                </a:r>
                <a:r>
                  <a:rPr lang="es-PE" sz="900" b="0" i="0" dirty="0">
                    <a:solidFill>
                      <a:schemeClr val="tx1"/>
                    </a:solidFill>
                    <a:effectLst/>
                    <a:latin typeface="Segoe WPC"/>
                  </a:rPr>
                  <a:t> </a:t>
                </a:r>
                <a:r>
                  <a:rPr lang="es-PE" sz="900" b="0" i="0" dirty="0" err="1">
                    <a:solidFill>
                      <a:schemeClr val="tx1"/>
                    </a:solidFill>
                    <a:effectLst/>
                    <a:latin typeface="Segoe WPC"/>
                  </a:rPr>
                  <a:t>impact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daily</a:t>
                </a:r>
                <a:r>
                  <a:rPr lang="es-PE" sz="900" b="0" i="0" dirty="0">
                    <a:solidFill>
                      <a:schemeClr val="tx1"/>
                    </a:solidFill>
                    <a:effectLst/>
                    <a:latin typeface="Segoe WPC"/>
                  </a:rPr>
                  <a:t> </a:t>
                </a:r>
                <a:r>
                  <a:rPr lang="es-PE" sz="900" b="0" i="0" dirty="0" err="1">
                    <a:solidFill>
                      <a:schemeClr val="tx1"/>
                    </a:solidFill>
                    <a:effectLst/>
                    <a:latin typeface="Segoe WPC"/>
                  </a:rPr>
                  <a:t>settlement</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hedging</a:t>
                </a:r>
                <a:r>
                  <a:rPr lang="es-PE" sz="900" b="0" i="0" dirty="0">
                    <a:solidFill>
                      <a:schemeClr val="tx1"/>
                    </a:solidFill>
                    <a:effectLst/>
                    <a:latin typeface="Segoe WPC"/>
                  </a:rPr>
                  <a:t> </a:t>
                </a:r>
                <a:r>
                  <a:rPr lang="es-PE" sz="900" b="0" i="0" dirty="0" err="1">
                    <a:solidFill>
                      <a:schemeClr val="tx1"/>
                    </a:solidFill>
                    <a:effectLst/>
                    <a:latin typeface="Segoe WPC"/>
                  </a:rPr>
                  <a:t>programs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Even</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 futures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works</a:t>
                </a:r>
                <a:r>
                  <a:rPr lang="es-PE" sz="900" b="0" i="0" dirty="0">
                    <a:solidFill>
                      <a:schemeClr val="tx1"/>
                    </a:solidFill>
                    <a:effectLst/>
                    <a:latin typeface="Segoe WPC"/>
                  </a:rPr>
                  <a:t> </a:t>
                </a:r>
                <a:r>
                  <a:rPr lang="es-PE" sz="900" b="0" i="0" dirty="0" err="1">
                    <a:solidFill>
                      <a:schemeClr val="tx1"/>
                    </a:solidFill>
                    <a:effectLst/>
                    <a:latin typeface="Segoe WPC"/>
                  </a:rPr>
                  <a:t>economically</a:t>
                </a:r>
                <a:r>
                  <a:rPr lang="es-PE" sz="900" b="0" i="0" dirty="0">
                    <a:solidFill>
                      <a:schemeClr val="tx1"/>
                    </a:solidFill>
                    <a:effectLst/>
                    <a:latin typeface="Segoe WPC"/>
                  </a:rPr>
                  <a:t>, </a:t>
                </a:r>
                <a:r>
                  <a:rPr lang="es-PE" sz="900" b="0" i="0" dirty="0" err="1">
                    <a:solidFill>
                      <a:schemeClr val="tx1"/>
                    </a:solidFill>
                    <a:effectLst/>
                    <a:latin typeface="Segoe WPC"/>
                  </a:rPr>
                  <a:t>variation</a:t>
                </a:r>
                <a:r>
                  <a:rPr lang="es-PE" sz="900" b="0" i="0" dirty="0">
                    <a:solidFill>
                      <a:schemeClr val="tx1"/>
                    </a:solidFill>
                    <a:effectLst/>
                    <a:latin typeface="Segoe WPC"/>
                  </a:rPr>
                  <a:t> </a:t>
                </a:r>
                <a:r>
                  <a:rPr lang="es-PE" sz="900" b="0" i="0" dirty="0" err="1">
                    <a:solidFill>
                      <a:schemeClr val="tx1"/>
                    </a:solidFill>
                    <a:effectLst/>
                    <a:latin typeface="Segoe WPC"/>
                  </a:rPr>
                  <a:t>margin</a:t>
                </a:r>
                <a:r>
                  <a:rPr lang="es-PE" sz="900" b="0" i="0" dirty="0">
                    <a:solidFill>
                      <a:schemeClr val="tx1"/>
                    </a:solidFill>
                    <a:effectLst/>
                    <a:latin typeface="Segoe WPC"/>
                  </a:rPr>
                  <a:t> can </a:t>
                </a:r>
                <a:r>
                  <a:rPr lang="es-PE" sz="900" b="0" i="0" dirty="0" err="1">
                    <a:solidFill>
                      <a:schemeClr val="tx1"/>
                    </a:solidFill>
                    <a:effectLst/>
                    <a:latin typeface="Segoe WPC"/>
                  </a:rPr>
                  <a:t>create</a:t>
                </a:r>
                <a:r>
                  <a:rPr lang="es-PE" sz="900" b="0" i="0" dirty="0">
                    <a:solidFill>
                      <a:schemeClr val="tx1"/>
                    </a:solidFill>
                    <a:effectLst/>
                    <a:latin typeface="Segoe WPC"/>
                  </a:rPr>
                  <a:t> short-</a:t>
                </a:r>
                <a:r>
                  <a:rPr lang="es-PE" sz="900" b="0" i="0" dirty="0" err="1">
                    <a:solidFill>
                      <a:schemeClr val="tx1"/>
                    </a:solidFill>
                    <a:effectLst/>
                    <a:latin typeface="Segoe WPC"/>
                  </a:rPr>
                  <a:t>term</a:t>
                </a:r>
                <a:r>
                  <a:rPr lang="es-PE" sz="900" b="0" i="0" dirty="0">
                    <a:solidFill>
                      <a:schemeClr val="tx1"/>
                    </a:solidFill>
                    <a:effectLst/>
                    <a:latin typeface="Segoe WPC"/>
                  </a:rPr>
                  <a:t> cash </a:t>
                </a:r>
                <a:r>
                  <a:rPr lang="es-PE" sz="900" b="0" i="0" dirty="0" err="1">
                    <a:solidFill>
                      <a:schemeClr val="tx1"/>
                    </a:solidFill>
                    <a:effectLst/>
                    <a:latin typeface="Segoe WPC"/>
                  </a:rPr>
                  <a:t>outflows</a:t>
                </a:r>
                <a:r>
                  <a:rPr lang="es-PE" sz="900" b="0" i="0" dirty="0">
                    <a:solidFill>
                      <a:schemeClr val="tx1"/>
                    </a:solidFill>
                    <a:effectLst/>
                    <a:latin typeface="Segoe WPC"/>
                  </a:rPr>
                  <a:t> </a:t>
                </a:r>
                <a:r>
                  <a:rPr lang="es-PE" sz="900" b="0" i="0" dirty="0" err="1">
                    <a:solidFill>
                      <a:schemeClr val="tx1"/>
                    </a:solidFill>
                    <a:effectLst/>
                    <a:latin typeface="Segoe WPC"/>
                  </a:rPr>
                  <a:t>before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produces </a:t>
                </a:r>
                <a:r>
                  <a:rPr lang="es-PE" sz="900" b="0" i="0" dirty="0" err="1">
                    <a:solidFill>
                      <a:schemeClr val="tx1"/>
                    </a:solidFill>
                    <a:effectLst/>
                    <a:latin typeface="Segoe WPC"/>
                  </a:rPr>
                  <a:t>offsetting</a:t>
                </a:r>
                <a:r>
                  <a:rPr lang="es-PE" sz="900" b="0" i="0" dirty="0">
                    <a:solidFill>
                      <a:schemeClr val="tx1"/>
                    </a:solidFill>
                    <a:effectLst/>
                    <a:latin typeface="Segoe WPC"/>
                  </a:rPr>
                  <a:t> </a:t>
                </a:r>
                <a:r>
                  <a:rPr lang="es-PE" sz="900" b="0" i="0" dirty="0" err="1">
                    <a:solidFill>
                      <a:schemeClr val="tx1"/>
                    </a:solidFill>
                    <a:effectLst/>
                    <a:latin typeface="Segoe WPC"/>
                  </a:rPr>
                  <a:t>gains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be </a:t>
                </a:r>
                <a:r>
                  <a:rPr lang="es-PE" sz="900" b="0" i="0" dirty="0" err="1">
                    <a:solidFill>
                      <a:schemeClr val="tx1"/>
                    </a:solidFill>
                    <a:effectLst/>
                    <a:latin typeface="Segoe WPC"/>
                  </a:rPr>
                  <a:t>right</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 run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still</a:t>
                </a:r>
                <a:r>
                  <a:rPr lang="es-PE" sz="900" b="0" i="0" dirty="0">
                    <a:solidFill>
                      <a:schemeClr val="tx1"/>
                    </a:solidFill>
                    <a:effectLst/>
                    <a:latin typeface="Segoe WPC"/>
                  </a:rPr>
                  <a:t> </a:t>
                </a:r>
                <a:r>
                  <a:rPr lang="es-PE" sz="900" b="0" i="0" dirty="0" err="1">
                    <a:solidFill>
                      <a:schemeClr val="tx1"/>
                    </a:solidFill>
                    <a:effectLst/>
                    <a:latin typeface="Segoe WPC"/>
                  </a:rPr>
                  <a:t>create</a:t>
                </a:r>
                <a:r>
                  <a:rPr lang="es-PE" sz="900" b="0" i="0" dirty="0">
                    <a:solidFill>
                      <a:schemeClr val="tx1"/>
                    </a:solidFill>
                    <a:effectLst/>
                    <a:latin typeface="Segoe WPC"/>
                  </a:rPr>
                  <a:t> </a:t>
                </a:r>
                <a:r>
                  <a:rPr lang="es-PE" sz="900" b="0" i="0" dirty="0" err="1">
                    <a:solidFill>
                      <a:schemeClr val="tx1"/>
                    </a:solidFill>
                    <a:effectLst/>
                    <a:latin typeface="Segoe WPC"/>
                  </a:rPr>
                  <a:t>immediate</a:t>
                </a:r>
                <a:r>
                  <a:rPr lang="es-PE" sz="900" b="0" i="0" dirty="0">
                    <a:solidFill>
                      <a:schemeClr val="tx1"/>
                    </a:solidFill>
                    <a:effectLst/>
                    <a:latin typeface="Segoe WPC"/>
                  </a:rPr>
                  <a:t> </a:t>
                </a:r>
                <a:r>
                  <a:rPr lang="es-PE" sz="900" b="0" i="0" dirty="0" err="1">
                    <a:solidFill>
                      <a:schemeClr val="tx1"/>
                    </a:solidFill>
                    <a:effectLst/>
                    <a:latin typeface="Segoe WPC"/>
                  </a:rPr>
                  <a:t>funding</a:t>
                </a:r>
                <a:r>
                  <a:rPr lang="es-PE" sz="900" b="0" i="0" dirty="0">
                    <a:solidFill>
                      <a:schemeClr val="tx1"/>
                    </a:solidFill>
                    <a:effectLst/>
                    <a:latin typeface="Segoe WPC"/>
                  </a:rPr>
                  <a:t> stress.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single formula;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issue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mismatch</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daily</a:t>
                </a:r>
                <a:r>
                  <a:rPr lang="es-PE" sz="900" b="0" i="0" dirty="0">
                    <a:solidFill>
                      <a:schemeClr val="tx1"/>
                    </a:solidFill>
                    <a:effectLst/>
                    <a:latin typeface="Segoe WPC"/>
                  </a:rPr>
                  <a:t> futures cash </a:t>
                </a:r>
                <a:r>
                  <a:rPr lang="es-PE" sz="900" b="0" i="0" dirty="0" err="1">
                    <a:solidFill>
                      <a:schemeClr val="tx1"/>
                    </a:solidFill>
                    <a:effectLst/>
                    <a:latin typeface="Segoe WPC"/>
                  </a:rPr>
                  <a:t>flows</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later</a:t>
                </a:r>
                <a:r>
                  <a:rPr lang="es-PE" sz="900" b="0" i="0" dirty="0">
                    <a:solidFill>
                      <a:schemeClr val="tx1"/>
                    </a:solidFill>
                    <a:effectLst/>
                    <a:latin typeface="Segoe WPC"/>
                  </a:rPr>
                  <a:t> cash </a:t>
                </a:r>
                <a:r>
                  <a:rPr lang="es-PE" sz="900" b="0" i="0" dirty="0" err="1">
                    <a:solidFill>
                      <a:schemeClr val="tx1"/>
                    </a:solidFill>
                    <a:effectLst/>
                    <a:latin typeface="Segoe WPC"/>
                  </a:rPr>
                  <a:t>flows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Hedgers</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be </a:t>
                </a:r>
                <a:r>
                  <a:rPr lang="es-PE" sz="900" b="0" i="0" dirty="0" err="1">
                    <a:solidFill>
                      <a:schemeClr val="tx1"/>
                    </a:solidFill>
                    <a:effectLst/>
                    <a:latin typeface="Segoe WPC"/>
                  </a:rPr>
                  <a:t>able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finance</a:t>
                </a:r>
                <a:r>
                  <a:rPr lang="es-PE" sz="900" b="0" i="0" dirty="0">
                    <a:solidFill>
                      <a:schemeClr val="tx1"/>
                    </a:solidFill>
                    <a:effectLst/>
                    <a:latin typeface="Segoe WPC"/>
                  </a:rPr>
                  <a:t> </a:t>
                </a:r>
                <a:r>
                  <a:rPr lang="es-PE" sz="900" b="0" i="0" dirty="0" err="1">
                    <a:solidFill>
                      <a:schemeClr val="tx1"/>
                    </a:solidFill>
                    <a:effectLst/>
                    <a:latin typeface="Segoe WPC"/>
                  </a:rPr>
                  <a:t>interim</a:t>
                </a:r>
                <a:r>
                  <a:rPr lang="es-PE" sz="900" b="0" i="0" dirty="0">
                    <a:solidFill>
                      <a:schemeClr val="tx1"/>
                    </a:solidFill>
                    <a:effectLst/>
                    <a:latin typeface="Segoe WPC"/>
                  </a:rPr>
                  <a:t> </a:t>
                </a:r>
                <a:r>
                  <a:rPr lang="es-PE" sz="900" b="0" i="0" dirty="0" err="1">
                    <a:solidFill>
                      <a:schemeClr val="tx1"/>
                    </a:solidFill>
                    <a:effectLst/>
                    <a:latin typeface="Segoe WPC"/>
                  </a:rPr>
                  <a:t>margin</a:t>
                </a:r>
                <a:r>
                  <a:rPr lang="es-PE" sz="900" b="0" i="0" dirty="0">
                    <a:solidFill>
                      <a:schemeClr val="tx1"/>
                    </a:solidFill>
                    <a:effectLst/>
                    <a:latin typeface="Segoe WPC"/>
                  </a:rPr>
                  <a:t> </a:t>
                </a:r>
                <a:r>
                  <a:rPr lang="es-PE" sz="900" b="0" i="0" dirty="0" err="1">
                    <a:solidFill>
                      <a:schemeClr val="tx1"/>
                    </a:solidFill>
                    <a:effectLst/>
                    <a:latin typeface="Segoe WPC"/>
                  </a:rPr>
                  <a:t>calls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Metallgesellschaft</a:t>
                </a:r>
                <a:r>
                  <a:rPr lang="es-PE" sz="900" b="0" i="0" dirty="0">
                    <a:solidFill>
                      <a:schemeClr val="tx1"/>
                    </a:solidFill>
                    <a:effectLst/>
                    <a:latin typeface="Segoe WPC"/>
                  </a:rPr>
                  <a:t> </a:t>
                </a:r>
                <a:r>
                  <a:rPr lang="es-PE" sz="900" b="0" i="0" dirty="0" err="1">
                    <a:solidFill>
                      <a:schemeClr val="tx1"/>
                    </a:solidFill>
                    <a:effectLst/>
                    <a:latin typeface="Segoe WPC"/>
                  </a:rPr>
                  <a:t>episode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classic</a:t>
                </a:r>
                <a:r>
                  <a:rPr lang="es-PE" sz="900" b="0" i="0" dirty="0">
                    <a:solidFill>
                      <a:schemeClr val="tx1"/>
                    </a:solidFill>
                    <a:effectLst/>
                    <a:latin typeface="Segoe WPC"/>
                  </a:rPr>
                  <a:t> </a:t>
                </a:r>
                <a:r>
                  <a:rPr lang="es-PE" sz="900" b="0" i="0" dirty="0" err="1">
                    <a:solidFill>
                      <a:schemeClr val="tx1"/>
                    </a:solidFill>
                    <a:effectLst/>
                    <a:latin typeface="Segoe WPC"/>
                  </a:rPr>
                  <a:t>example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-run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logic</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been</a:t>
                </a:r>
                <a:r>
                  <a:rPr lang="es-PE" sz="900" b="0" i="0" dirty="0">
                    <a:solidFill>
                      <a:schemeClr val="tx1"/>
                    </a:solidFill>
                    <a:effectLst/>
                    <a:latin typeface="Segoe WPC"/>
                  </a:rPr>
                  <a:t> </a:t>
                </a:r>
                <a:r>
                  <a:rPr lang="es-PE" sz="900" b="0" i="0" dirty="0" err="1">
                    <a:solidFill>
                      <a:schemeClr val="tx1"/>
                    </a:solidFill>
                    <a:effectLst/>
                    <a:latin typeface="Segoe WPC"/>
                  </a:rPr>
                  <a:t>defensible</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short-run </a:t>
                </a:r>
                <a:r>
                  <a:rPr lang="es-PE" sz="900" b="0" i="0" dirty="0" err="1">
                    <a:solidFill>
                      <a:schemeClr val="tx1"/>
                    </a:solidFill>
                    <a:effectLst/>
                    <a:latin typeface="Segoe WPC"/>
                  </a:rPr>
                  <a:t>liquidity</a:t>
                </a:r>
                <a:r>
                  <a:rPr lang="es-PE" sz="900" b="0" i="0" dirty="0">
                    <a:solidFill>
                      <a:schemeClr val="tx1"/>
                    </a:solidFill>
                    <a:effectLst/>
                    <a:latin typeface="Segoe WPC"/>
                  </a:rPr>
                  <a:t> </a:t>
                </a:r>
                <a:r>
                  <a:rPr lang="es-PE" sz="900" b="0" i="0" dirty="0" err="1">
                    <a:solidFill>
                      <a:schemeClr val="tx1"/>
                    </a:solidFill>
                    <a:effectLst/>
                    <a:latin typeface="Segoe WPC"/>
                  </a:rPr>
                  <a:t>pressure</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losses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rolled</a:t>
                </a:r>
                <a:r>
                  <a:rPr lang="es-PE" sz="900" b="0" i="0" dirty="0">
                    <a:solidFill>
                      <a:schemeClr val="tx1"/>
                    </a:solidFill>
                    <a:effectLst/>
                    <a:latin typeface="Segoe WPC"/>
                  </a:rPr>
                  <a:t> futures positions </a:t>
                </a:r>
                <a:r>
                  <a:rPr lang="es-PE" sz="900" b="0" i="0" dirty="0" err="1">
                    <a:solidFill>
                      <a:schemeClr val="tx1"/>
                    </a:solidFill>
                    <a:effectLst/>
                    <a:latin typeface="Segoe WPC"/>
                  </a:rPr>
                  <a:t>made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strategy</a:t>
                </a:r>
                <a:r>
                  <a:rPr lang="es-PE" sz="900" b="0" i="0" dirty="0">
                    <a:solidFill>
                      <a:schemeClr val="tx1"/>
                    </a:solidFill>
                    <a:effectLst/>
                    <a:latin typeface="Segoe WPC"/>
                  </a:rPr>
                  <a:t> </a:t>
                </a:r>
                <a:r>
                  <a:rPr lang="es-PE" sz="900" b="0" i="0" dirty="0" err="1">
                    <a:solidFill>
                      <a:schemeClr val="tx1"/>
                    </a:solidFill>
                    <a:effectLst/>
                    <a:latin typeface="Segoe WPC"/>
                  </a:rPr>
                  <a:t>unsustainable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hedge</a:t>
                </a:r>
                <a:r>
                  <a:rPr lang="es-PE" sz="900" b="0" i="0" dirty="0">
                    <a:solidFill>
                      <a:schemeClr val="tx1"/>
                    </a:solidFill>
                    <a:effectLst/>
                    <a:latin typeface="Segoe WPC"/>
                  </a:rPr>
                  <a:t> can </a:t>
                </a:r>
                <a:r>
                  <a:rPr lang="es-PE" sz="900" b="0" i="0" dirty="0" err="1">
                    <a:solidFill>
                      <a:schemeClr val="tx1"/>
                    </a:solidFill>
                    <a:effectLst/>
                    <a:latin typeface="Segoe WPC"/>
                  </a:rPr>
                  <a:t>fail</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liquidity</a:t>
                </a:r>
                <a:r>
                  <a:rPr lang="es-PE" sz="900" b="0" i="0" dirty="0">
                    <a:solidFill>
                      <a:schemeClr val="tx1"/>
                    </a:solidFill>
                    <a:effectLst/>
                    <a:latin typeface="Segoe WPC"/>
                  </a:rPr>
                  <a:t> and cash-flow </a:t>
                </a:r>
                <a:r>
                  <a:rPr lang="es-PE" sz="900" b="0" i="0" dirty="0" err="1">
                    <a:solidFill>
                      <a:schemeClr val="tx1"/>
                    </a:solidFill>
                    <a:effectLst/>
                    <a:latin typeface="Segoe WPC"/>
                  </a:rPr>
                  <a:t>pressure</a:t>
                </a:r>
                <a:r>
                  <a:rPr lang="es-PE" sz="900" b="0" i="0" dirty="0">
                    <a:solidFill>
                      <a:schemeClr val="tx1"/>
                    </a:solidFill>
                    <a:effectLst/>
                    <a:latin typeface="Segoe WPC"/>
                  </a:rPr>
                  <a:t> </a:t>
                </a:r>
                <a:r>
                  <a:rPr lang="es-PE" sz="900" b="0" i="0" dirty="0" err="1">
                    <a:solidFill>
                      <a:schemeClr val="tx1"/>
                    </a:solidFill>
                    <a:effectLst/>
                    <a:latin typeface="Segoe WPC"/>
                  </a:rPr>
                  <a:t>even</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-run </a:t>
                </a:r>
                <a:r>
                  <a:rPr lang="es-PE" sz="900" b="0" i="0" dirty="0" err="1">
                    <a:solidFill>
                      <a:schemeClr val="tx1"/>
                    </a:solidFill>
                    <a:effectLst/>
                    <a:latin typeface="Segoe WPC"/>
                  </a:rPr>
                  <a:t>economics</a:t>
                </a:r>
                <a:r>
                  <a:rPr lang="es-PE" sz="900" b="0" i="0" dirty="0">
                    <a:solidFill>
                      <a:schemeClr val="tx1"/>
                    </a:solidFill>
                    <a:effectLst/>
                    <a:latin typeface="Segoe WPC"/>
                  </a:rPr>
                  <a:t> </a:t>
                </a:r>
                <a:r>
                  <a:rPr lang="es-PE" sz="900" b="0" i="0" dirty="0" err="1">
                    <a:solidFill>
                      <a:schemeClr val="tx1"/>
                    </a:solidFill>
                    <a:effectLst/>
                    <a:latin typeface="Segoe WPC"/>
                  </a:rPr>
                  <a:t>appear</a:t>
                </a:r>
                <a:r>
                  <a:rPr lang="es-PE" sz="900" b="0" i="0" dirty="0">
                    <a:solidFill>
                      <a:schemeClr val="tx1"/>
                    </a:solidFill>
                    <a:effectLst/>
                    <a:latin typeface="Segoe WPC"/>
                  </a:rPr>
                  <a:t> </a:t>
                </a:r>
                <a:r>
                  <a:rPr lang="es-PE" sz="900" b="0" i="0" dirty="0" err="1">
                    <a:solidFill>
                      <a:schemeClr val="tx1"/>
                    </a:solidFill>
                    <a:effectLst/>
                    <a:latin typeface="Segoe WPC"/>
                  </a:rPr>
                  <a:t>sound</a:t>
                </a:r>
                <a:r>
                  <a:rPr lang="es-PE" sz="900" b="0" i="0" dirty="0">
                    <a:solidFill>
                      <a:schemeClr val="tx1"/>
                    </a:solidFill>
                    <a:effectLst/>
                    <a:latin typeface="Segoe WPC"/>
                  </a:rPr>
                  <a:t>.</a:t>
                </a:r>
              </a:p>
            </p:txBody>
          </p:sp>
        </mc:Choice>
        <mc:Fallback xmlns="">
          <p:sp>
            <p:nvSpPr>
              <p:cNvPr id="7" name="CuadroTexto 6">
                <a:extLst>
                  <a:ext uri="{FF2B5EF4-FFF2-40B4-BE49-F238E27FC236}">
                    <a16:creationId xmlns:a16="http://schemas.microsoft.com/office/drawing/2014/main" id="{6A78E4AB-F9D7-6157-70A9-EE0B98DDBC8D}"/>
                  </a:ext>
                </a:extLst>
              </p:cNvPr>
              <p:cNvSpPr txBox="1">
                <a:spLocks noRot="1" noChangeAspect="1" noMove="1" noResize="1" noEditPoints="1" noAdjustHandles="1" noChangeArrowheads="1" noChangeShapeType="1" noTextEdit="1"/>
              </p:cNvSpPr>
              <p:nvPr/>
            </p:nvSpPr>
            <p:spPr>
              <a:xfrm>
                <a:off x="6096000" y="62405"/>
                <a:ext cx="6143170" cy="6733190"/>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1880273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1B6FB7-4193-59E4-D3F0-5D0BEDFDB16E}"/>
              </a:ext>
            </a:extLst>
          </p:cNvPr>
          <p:cNvSpPr>
            <a:spLocks noGrp="1"/>
          </p:cNvSpPr>
          <p:nvPr>
            <p:ph type="title"/>
          </p:nvPr>
        </p:nvSpPr>
        <p:spPr>
          <a:xfrm>
            <a:off x="76200" y="-143366"/>
            <a:ext cx="10515600" cy="557553"/>
          </a:xfrm>
        </p:spPr>
        <p:txBody>
          <a:bodyPr>
            <a:normAutofit/>
          </a:bodyPr>
          <a:lstStyle/>
          <a:p>
            <a:r>
              <a:rPr lang="en-US" sz="2400" dirty="0"/>
              <a:t>Foreign Exchange Markets</a:t>
            </a:r>
            <a:endParaRPr lang="es-PE" sz="2400" dirty="0"/>
          </a:p>
        </p:txBody>
      </p:sp>
      <p:sp>
        <p:nvSpPr>
          <p:cNvPr id="5" name="CuadroTexto 4">
            <a:extLst>
              <a:ext uri="{FF2B5EF4-FFF2-40B4-BE49-F238E27FC236}">
                <a16:creationId xmlns:a16="http://schemas.microsoft.com/office/drawing/2014/main" id="{6211E28C-B61B-FE96-C2CE-01FC50A8A773}"/>
              </a:ext>
            </a:extLst>
          </p:cNvPr>
          <p:cNvSpPr txBox="1"/>
          <p:nvPr/>
        </p:nvSpPr>
        <p:spPr>
          <a:xfrm>
            <a:off x="18144" y="213786"/>
            <a:ext cx="5736770" cy="8179162"/>
          </a:xfrm>
          <a:prstGeom prst="rect">
            <a:avLst/>
          </a:prstGeom>
          <a:noFill/>
        </p:spPr>
        <p:txBody>
          <a:bodyPr wrap="square">
            <a:spAutoFit/>
          </a:bodyPr>
          <a:lstStyle/>
          <a:p>
            <a:pPr algn="l">
              <a:spcBef>
                <a:spcPts val="300"/>
              </a:spcBef>
              <a:buFont typeface="+mj-lt"/>
              <a:buAutoNum type="arabicPeriod"/>
            </a:pPr>
            <a:r>
              <a:rPr lang="en-US" sz="900" b="1" i="0" dirty="0">
                <a:effectLst/>
                <a:latin typeface="Segoe WPC"/>
              </a:rPr>
              <a:t>Quotes and Bid-Ask</a:t>
            </a:r>
            <a:br>
              <a:rPr lang="en-US" sz="900" b="0" i="0" dirty="0">
                <a:effectLst/>
                <a:latin typeface="Segoe WPC"/>
              </a:rPr>
            </a:br>
            <a:r>
              <a:rPr lang="en-US" sz="900" b="1" i="0" dirty="0">
                <a:effectLst/>
                <a:latin typeface="Segoe WPC"/>
              </a:rPr>
              <a:t>Financial Object:</a:t>
            </a:r>
            <a:r>
              <a:rPr lang="en-US" sz="900" b="0" i="0" dirty="0">
                <a:effectLst/>
                <a:latin typeface="Segoe WPC"/>
              </a:rPr>
              <a:t> Spot, forward, and futures FX quotes with base currency and quote currency.</a:t>
            </a:r>
            <a:br>
              <a:rPr lang="en-US" sz="900" b="0" i="0" dirty="0">
                <a:effectLst/>
                <a:latin typeface="Segoe WPC"/>
              </a:rPr>
            </a:br>
            <a:r>
              <a:rPr lang="en-US" sz="900" b="1" i="0" dirty="0">
                <a:effectLst/>
                <a:latin typeface="Segoe WPC"/>
              </a:rPr>
              <a:t>Plain Intuition:</a:t>
            </a:r>
            <a:r>
              <a:rPr lang="en-US" sz="900" b="0" i="0" dirty="0">
                <a:effectLst/>
                <a:latin typeface="Segoe WPC"/>
              </a:rPr>
              <a:t> In </a:t>
            </a:r>
            <a:r>
              <a:rPr lang="en-US" sz="900" b="0" i="0" dirty="0">
                <a:effectLst/>
                <a:latin typeface="Consolas" panose="020B0609020204030204" pitchFamily="49" charset="0"/>
              </a:rPr>
              <a:t>XXXYYY</a:t>
            </a:r>
            <a:r>
              <a:rPr lang="en-US" sz="900" b="0" i="0" dirty="0">
                <a:effectLst/>
                <a:latin typeface="Segoe WPC"/>
              </a:rPr>
              <a:t>, the quote tells how many units of </a:t>
            </a:r>
            <a:r>
              <a:rPr lang="en-US" sz="900" b="0" i="0" dirty="0">
                <a:effectLst/>
                <a:latin typeface="Consolas" panose="020B0609020204030204" pitchFamily="49" charset="0"/>
              </a:rPr>
              <a:t>YYY</a:t>
            </a:r>
            <a:r>
              <a:rPr lang="en-US" sz="900" b="0" i="0" dirty="0">
                <a:effectLst/>
                <a:latin typeface="Segoe WPC"/>
              </a:rPr>
              <a:t> are needed to buy 1 unit of </a:t>
            </a:r>
            <a:r>
              <a:rPr lang="en-US" sz="900" b="0" i="0" dirty="0">
                <a:effectLst/>
                <a:latin typeface="Consolas" panose="020B0609020204030204" pitchFamily="49" charset="0"/>
              </a:rPr>
              <a:t>XXX</a:t>
            </a:r>
            <a:r>
              <a:rPr lang="en-US" sz="900" b="0" i="0" dirty="0">
                <a:effectLst/>
                <a:latin typeface="Segoe WPC"/>
              </a:rPr>
              <a:t>. The bid is the dealer’s buying price; the ask is the dealer’s selling price.</a:t>
            </a:r>
            <a:br>
              <a:rPr lang="en-US" sz="900" b="0" i="0" dirty="0">
                <a:effectLst/>
                <a:latin typeface="Segoe WPC"/>
              </a:rPr>
            </a:br>
            <a:r>
              <a:rPr lang="en-US" sz="900" b="1" i="0" dirty="0">
                <a:effectLst/>
                <a:latin typeface="Segoe WPC"/>
              </a:rPr>
              <a:t>Visual Intuition:</a:t>
            </a:r>
            <a:r>
              <a:rPr lang="en-US" sz="900" b="0" i="0" dirty="0">
                <a:effectLst/>
                <a:latin typeface="Segoe WPC"/>
              </a:rPr>
              <a:t> If </a:t>
            </a:r>
            <a:r>
              <a:rPr lang="en-US" sz="900" b="0" i="0" dirty="0">
                <a:effectLst/>
                <a:latin typeface="Consolas" panose="020B0609020204030204" pitchFamily="49" charset="0"/>
              </a:rPr>
              <a:t>EURUSD = 1.2345</a:t>
            </a:r>
            <a:r>
              <a:rPr lang="en-US" sz="900" b="0" i="0" dirty="0">
                <a:effectLst/>
                <a:latin typeface="Segoe WPC"/>
              </a:rPr>
              <a:t>, one euro costs 1.2345 dollars. Bid-ask spread = ask minus bid.</a:t>
            </a:r>
            <a:br>
              <a:rPr lang="en-US" sz="900" b="0" i="0" dirty="0">
                <a:effectLst/>
                <a:latin typeface="Segoe WPC"/>
              </a:rPr>
            </a:br>
            <a:r>
              <a:rPr lang="en-US" sz="900" b="1" i="0" dirty="0">
                <a:effectLst/>
                <a:latin typeface="Segoe WPC"/>
              </a:rPr>
              <a:t>Key Formula:</a:t>
            </a:r>
            <a:r>
              <a:rPr lang="en-US" sz="900" b="0" i="0" dirty="0">
                <a:effectLst/>
                <a:latin typeface="Segoe WPC"/>
              </a:rPr>
              <a:t> Bid-ask spread = ask - bid.</a:t>
            </a:r>
            <a:br>
              <a:rPr lang="en-US" sz="900" b="0" i="0" dirty="0">
                <a:effectLst/>
                <a:latin typeface="Segoe WPC"/>
              </a:rPr>
            </a:br>
            <a:r>
              <a:rPr lang="en-US" sz="900" b="1" i="0" dirty="0">
                <a:effectLst/>
                <a:latin typeface="Segoe WPC"/>
              </a:rPr>
              <a:t>Interpretation:</a:t>
            </a:r>
            <a:r>
              <a:rPr lang="en-US" sz="900" b="0" i="0" dirty="0">
                <a:effectLst/>
                <a:latin typeface="Segoe WPC"/>
              </a:rPr>
              <a:t> Spot spreads are usually very small for large trades; forward spreads can differ because forward points also have bid and ask quotes.</a:t>
            </a:r>
            <a:br>
              <a:rPr lang="en-US" sz="900" b="0" i="0" dirty="0">
                <a:effectLst/>
                <a:latin typeface="Segoe WPC"/>
              </a:rPr>
            </a:br>
            <a:r>
              <a:rPr lang="en-US" sz="900" b="1" i="0" dirty="0">
                <a:effectLst/>
                <a:latin typeface="Segoe WPC"/>
              </a:rPr>
              <a:t>Exam Trap:</a:t>
            </a:r>
            <a:r>
              <a:rPr lang="en-US" sz="900" b="0" i="0" dirty="0">
                <a:effectLst/>
                <a:latin typeface="Segoe WPC"/>
              </a:rPr>
              <a:t> Do not confuse base and quote currency; appreciation/depreciation depends on how the pair is quoted.</a:t>
            </a:r>
          </a:p>
          <a:p>
            <a:pPr algn="l">
              <a:spcBef>
                <a:spcPts val="300"/>
              </a:spcBef>
              <a:buFont typeface="+mj-lt"/>
              <a:buAutoNum type="arabicPeriod"/>
            </a:pPr>
            <a:r>
              <a:rPr lang="en-US" sz="900" b="1" i="0" dirty="0">
                <a:effectLst/>
                <a:latin typeface="Segoe WPC"/>
              </a:rPr>
              <a:t>Forward Quotes, Points, </a:t>
            </a:r>
            <a:r>
              <a:rPr lang="en-US" sz="900" b="1" i="0" dirty="0" err="1">
                <a:effectLst/>
                <a:latin typeface="Segoe WPC"/>
              </a:rPr>
              <a:t>Outrights</a:t>
            </a:r>
            <a:r>
              <a:rPr lang="en-US" sz="900" b="1" i="0" dirty="0">
                <a:effectLst/>
                <a:latin typeface="Segoe WPC"/>
              </a:rPr>
              <a:t>, and Swaps</a:t>
            </a:r>
            <a:br>
              <a:rPr lang="en-US" sz="900" b="0" i="0" dirty="0">
                <a:effectLst/>
                <a:latin typeface="Segoe WPC"/>
              </a:rPr>
            </a:br>
            <a:r>
              <a:rPr lang="en-US" sz="900" b="1" i="0" dirty="0">
                <a:effectLst/>
                <a:latin typeface="Segoe WPC"/>
              </a:rPr>
              <a:t>Financial Object:</a:t>
            </a:r>
            <a:r>
              <a:rPr lang="en-US" sz="900" b="0" i="0" dirty="0">
                <a:effectLst/>
                <a:latin typeface="Segoe WPC"/>
              </a:rPr>
              <a:t> Forward FX rates may be quoted as outright rates or as points relative to spot.</a:t>
            </a:r>
            <a:br>
              <a:rPr lang="en-US" sz="900" b="0" i="0" dirty="0">
                <a:effectLst/>
                <a:latin typeface="Segoe WPC"/>
              </a:rPr>
            </a:br>
            <a:r>
              <a:rPr lang="en-US" sz="900" b="1" i="0" dirty="0">
                <a:effectLst/>
                <a:latin typeface="Segoe WPC"/>
              </a:rPr>
              <a:t>Plain Intuition:</a:t>
            </a:r>
            <a:r>
              <a:rPr lang="en-US" sz="900" b="0" i="0" dirty="0">
                <a:effectLst/>
                <a:latin typeface="Segoe WPC"/>
              </a:rPr>
              <a:t> Forward points adjust the spot rate up or down depending on the interest-rate differential between the two currencies. An outright is one future exchange; an FX swap is a spot exchange plus a reverse forward exchange.</a:t>
            </a:r>
            <a:br>
              <a:rPr lang="en-US" sz="900" b="0" i="0" dirty="0">
                <a:effectLst/>
                <a:latin typeface="Segoe WPC"/>
              </a:rPr>
            </a:br>
            <a:r>
              <a:rPr lang="en-US" sz="900" b="1" i="0" dirty="0">
                <a:effectLst/>
                <a:latin typeface="Segoe WPC"/>
              </a:rPr>
              <a:t>Visual Intuition:</a:t>
            </a:r>
            <a:r>
              <a:rPr lang="en-US" sz="900" b="0" i="0" dirty="0">
                <a:effectLst/>
                <a:latin typeface="Segoe WPC"/>
              </a:rPr>
              <a:t> Buy foreign currency today, agree to sell it later: that is effectively foreign funding using domestic borrowing.</a:t>
            </a:r>
            <a:br>
              <a:rPr lang="en-US" sz="900" b="0" i="0" dirty="0">
                <a:effectLst/>
                <a:latin typeface="Segoe WPC"/>
              </a:rPr>
            </a:br>
            <a:r>
              <a:rPr lang="en-US" sz="900" b="1" i="0" dirty="0">
                <a:effectLst/>
                <a:latin typeface="Segoe WPC"/>
              </a:rPr>
              <a:t>Key Formula:</a:t>
            </a:r>
            <a:r>
              <a:rPr lang="en-US" sz="900" b="0" i="0" dirty="0">
                <a:effectLst/>
                <a:latin typeface="Segoe WPC"/>
              </a:rPr>
              <a:t> Forward rate = spot rate plus/minus forward points.</a:t>
            </a:r>
            <a:br>
              <a:rPr lang="en-US" sz="900" b="0" i="0" dirty="0">
                <a:effectLst/>
                <a:latin typeface="Segoe WPC"/>
              </a:rPr>
            </a:br>
            <a:r>
              <a:rPr lang="en-US" sz="900" b="1" i="0" dirty="0">
                <a:effectLst/>
                <a:latin typeface="Segoe WPC"/>
              </a:rPr>
              <a:t>Interpretation:</a:t>
            </a:r>
            <a:r>
              <a:rPr lang="en-US" sz="900" b="0" i="0" dirty="0">
                <a:effectLst/>
                <a:latin typeface="Segoe WPC"/>
              </a:rPr>
              <a:t> If the foreign currency is stronger in the forward market, the forward exceeds spot; if weaker, the forward is below spot.</a:t>
            </a:r>
            <a:br>
              <a:rPr lang="en-US" sz="900" b="0" i="0" dirty="0">
                <a:effectLst/>
                <a:latin typeface="Segoe WPC"/>
              </a:rPr>
            </a:br>
            <a:r>
              <a:rPr lang="en-US" sz="900" b="1" i="0" dirty="0">
                <a:effectLst/>
                <a:latin typeface="Segoe WPC"/>
              </a:rPr>
              <a:t>Exam Trap:</a:t>
            </a:r>
            <a:r>
              <a:rPr lang="en-US" sz="900" b="0" i="0" dirty="0">
                <a:effectLst/>
                <a:latin typeface="Segoe WPC"/>
              </a:rPr>
              <a:t> When forward points are quoted with omitted minus signs, traders still know to subtract them if adding would imply an impossible narrowing of the forward spread.</a:t>
            </a:r>
          </a:p>
          <a:p>
            <a:pPr algn="l">
              <a:spcBef>
                <a:spcPts val="300"/>
              </a:spcBef>
              <a:buFont typeface="+mj-lt"/>
              <a:buAutoNum type="arabicPeriod"/>
            </a:pPr>
            <a:r>
              <a:rPr lang="en-US" sz="900" b="1" i="0" dirty="0">
                <a:effectLst/>
                <a:latin typeface="Segoe WPC"/>
              </a:rPr>
              <a:t>Futures Quotes</a:t>
            </a:r>
            <a:br>
              <a:rPr lang="en-US" sz="900" b="0" i="0" dirty="0">
                <a:effectLst/>
                <a:latin typeface="Segoe WPC"/>
              </a:rPr>
            </a:br>
            <a:r>
              <a:rPr lang="en-US" sz="900" b="1" i="0" dirty="0">
                <a:effectLst/>
                <a:latin typeface="Segoe WPC"/>
              </a:rPr>
              <a:t>Financial Object:</a:t>
            </a:r>
            <a:r>
              <a:rPr lang="en-US" sz="900" b="0" i="0" dirty="0">
                <a:effectLst/>
                <a:latin typeface="Segoe WPC"/>
              </a:rPr>
              <a:t> Exchange-traded FX futures.</a:t>
            </a:r>
            <a:br>
              <a:rPr lang="en-US" sz="900" b="0" i="0" dirty="0">
                <a:effectLst/>
                <a:latin typeface="Segoe WPC"/>
              </a:rPr>
            </a:br>
            <a:r>
              <a:rPr lang="en-US" sz="900" b="1" i="0" dirty="0">
                <a:effectLst/>
                <a:latin typeface="Segoe WPC"/>
              </a:rPr>
              <a:t>Plain Intuition:</a:t>
            </a:r>
            <a:r>
              <a:rPr lang="en-US" sz="900" b="0" i="0" dirty="0">
                <a:effectLst/>
                <a:latin typeface="Segoe WPC"/>
              </a:rPr>
              <a:t> Futures are standardized versions of forwards traded on exchanges; they are often quoted with USD as the quote currency.</a:t>
            </a:r>
            <a:br>
              <a:rPr lang="en-US" sz="900" b="0" i="0" dirty="0">
                <a:effectLst/>
                <a:latin typeface="Segoe WPC"/>
              </a:rPr>
            </a:br>
            <a:r>
              <a:rPr lang="en-US" sz="900" b="1" i="0" dirty="0">
                <a:effectLst/>
                <a:latin typeface="Segoe WPC"/>
              </a:rPr>
              <a:t>Visual Intuition:</a:t>
            </a:r>
            <a:r>
              <a:rPr lang="en-US" sz="900" b="0" i="0" dirty="0">
                <a:effectLst/>
                <a:latin typeface="Segoe WPC"/>
              </a:rPr>
              <a:t> If </a:t>
            </a:r>
            <a:r>
              <a:rPr lang="en-US" sz="900" b="0" i="0" dirty="0">
                <a:effectLst/>
                <a:latin typeface="Consolas" panose="020B0609020204030204" pitchFamily="49" charset="0"/>
              </a:rPr>
              <a:t>USDCAD = 1.3000</a:t>
            </a:r>
            <a:r>
              <a:rPr lang="en-US" sz="900" b="0" i="0" dirty="0">
                <a:effectLst/>
                <a:latin typeface="Segoe WPC"/>
              </a:rPr>
              <a:t>, the equivalent CAD futures quote in USD per CAD is </a:t>
            </a:r>
            <a:r>
              <a:rPr lang="en-US" sz="900" b="0" i="0" dirty="0">
                <a:effectLst/>
                <a:latin typeface="Consolas" panose="020B0609020204030204" pitchFamily="49" charset="0"/>
              </a:rPr>
              <a:t>1 / 1.3000 = 0.7692</a:t>
            </a:r>
            <a:r>
              <a:rPr lang="en-US" sz="900" b="0" i="0" dirty="0">
                <a:effectLst/>
                <a:latin typeface="Segoe WPC"/>
              </a:rPr>
              <a:t>.</a:t>
            </a:r>
            <a:br>
              <a:rPr lang="en-US" sz="900" b="0" i="0" dirty="0">
                <a:effectLst/>
                <a:latin typeface="Segoe WPC"/>
              </a:rPr>
            </a:br>
            <a:r>
              <a:rPr lang="en-US" sz="900" b="1" i="0" dirty="0">
                <a:effectLst/>
                <a:latin typeface="Segoe WPC"/>
              </a:rPr>
              <a:t>Key Formula:</a:t>
            </a:r>
            <a:r>
              <a:rPr lang="en-US" sz="900" b="0" i="0" dirty="0">
                <a:effectLst/>
                <a:latin typeface="Segoe WPC"/>
              </a:rPr>
              <a:t> Futures quote in inverse convention = </a:t>
            </a:r>
            <a:r>
              <a:rPr lang="en-US" sz="900" b="0" i="0" dirty="0">
                <a:effectLst/>
                <a:latin typeface="Consolas" panose="020B0609020204030204" pitchFamily="49" charset="0"/>
              </a:rPr>
              <a:t>1 / spot or forward quote</a:t>
            </a:r>
            <a:r>
              <a:rPr lang="en-US" sz="900" b="0" i="0" dirty="0">
                <a:effectLst/>
                <a:latin typeface="Segoe WPC"/>
              </a:rPr>
              <a:t>, when the exchange uses the opposite convention.</a:t>
            </a:r>
            <a:br>
              <a:rPr lang="en-US" sz="900" b="0" i="0" dirty="0">
                <a:effectLst/>
                <a:latin typeface="Segoe WPC"/>
              </a:rPr>
            </a:br>
            <a:r>
              <a:rPr lang="en-US" sz="900" b="1" i="0" dirty="0">
                <a:effectLst/>
                <a:latin typeface="Segoe WPC"/>
              </a:rPr>
              <a:t>Interpretation:</a:t>
            </a:r>
            <a:r>
              <a:rPr lang="en-US" sz="900" b="0" i="0" dirty="0">
                <a:effectLst/>
                <a:latin typeface="Segoe WPC"/>
              </a:rPr>
              <a:t> Same economics as forwards, but standardized contract sizes, dates, and exchange trading.</a:t>
            </a:r>
            <a:br>
              <a:rPr lang="en-US" sz="900" b="0" i="0" dirty="0">
                <a:effectLst/>
                <a:latin typeface="Segoe WPC"/>
              </a:rPr>
            </a:br>
            <a:r>
              <a:rPr lang="en-US" sz="900" b="1" i="0" dirty="0">
                <a:effectLst/>
                <a:latin typeface="Segoe WPC"/>
              </a:rPr>
              <a:t>Exam Trap:</a:t>
            </a:r>
            <a:r>
              <a:rPr lang="en-US" sz="900" b="0" i="0" dirty="0">
                <a:effectLst/>
                <a:latin typeface="Segoe WPC"/>
              </a:rPr>
              <a:t> A futures quote may look inverted relative to the OTC spot convention.</a:t>
            </a:r>
          </a:p>
          <a:p>
            <a:pPr algn="l">
              <a:spcBef>
                <a:spcPts val="300"/>
              </a:spcBef>
              <a:buFont typeface="+mj-lt"/>
              <a:buAutoNum type="arabicPeriod"/>
            </a:pPr>
            <a:r>
              <a:rPr lang="en-US" sz="900" b="1" i="0" dirty="0">
                <a:effectLst/>
                <a:latin typeface="Segoe WPC"/>
              </a:rPr>
              <a:t>Transaction, Translation, and Economic Risk</a:t>
            </a:r>
            <a:br>
              <a:rPr lang="en-US" sz="900" b="0" i="0" dirty="0">
                <a:effectLst/>
                <a:latin typeface="Segoe WPC"/>
              </a:rPr>
            </a:br>
            <a:r>
              <a:rPr lang="en-US" sz="900" b="1" i="0" dirty="0">
                <a:effectLst/>
                <a:latin typeface="Segoe WPC"/>
              </a:rPr>
              <a:t>Financial Object:</a:t>
            </a:r>
            <a:r>
              <a:rPr lang="en-US" sz="900" b="0" i="0" dirty="0">
                <a:effectLst/>
                <a:latin typeface="Segoe WPC"/>
              </a:rPr>
              <a:t> Three main corporate FX exposures.</a:t>
            </a:r>
            <a:br>
              <a:rPr lang="en-US" sz="900" b="0" i="0" dirty="0">
                <a:effectLst/>
                <a:latin typeface="Segoe WPC"/>
              </a:rPr>
            </a:br>
            <a:r>
              <a:rPr lang="en-US" sz="900" b="1" i="0" dirty="0">
                <a:effectLst/>
                <a:latin typeface="Segoe WPC"/>
              </a:rPr>
              <a:t>Plain Intuition:</a:t>
            </a:r>
            <a:r>
              <a:rPr lang="en-US" sz="900" b="0" i="0" dirty="0">
                <a:effectLst/>
                <a:latin typeface="Segoe WPC"/>
              </a:rPr>
              <a:t> Transaction risk comes from receivables/payables; translation risk comes from converting foreign assets, liabilities, or earnings into domestic reporting currency; economic risk comes from the long-run effect of FX moves on competitiveness and future cash flows.</a:t>
            </a:r>
            <a:br>
              <a:rPr lang="en-US" sz="900" b="0" i="0" dirty="0">
                <a:effectLst/>
                <a:latin typeface="Segoe WPC"/>
              </a:rPr>
            </a:br>
            <a:r>
              <a:rPr lang="en-US" sz="900" b="1" i="0" dirty="0">
                <a:effectLst/>
                <a:latin typeface="Segoe WPC"/>
              </a:rPr>
              <a:t>Visual Intuition:</a:t>
            </a:r>
            <a:r>
              <a:rPr lang="en-US" sz="900" b="0" i="0" dirty="0">
                <a:effectLst/>
                <a:latin typeface="Segoe WPC"/>
              </a:rPr>
              <a:t> Paying suppliers in foreign currency creates transaction risk; holding a foreign factory creates translation risk; facing cheaper foreign competitors creates economic risk.</a:t>
            </a:r>
            <a:br>
              <a:rPr lang="en-US" sz="900" b="0" i="0" dirty="0">
                <a:effectLst/>
                <a:latin typeface="Segoe WPC"/>
              </a:rPr>
            </a:br>
            <a:r>
              <a:rPr lang="en-US" sz="900" b="1" i="0" dirty="0">
                <a:effectLst/>
                <a:latin typeface="Segoe WPC"/>
              </a:rPr>
              <a:t>Key Formula:</a:t>
            </a:r>
            <a:r>
              <a:rPr lang="en-US" sz="900" b="0" i="0" dirty="0">
                <a:effectLst/>
                <a:latin typeface="Segoe WPC"/>
              </a:rPr>
              <a:t> FX gain/loss = foreign-currency amount × change in exchange rate.</a:t>
            </a:r>
            <a:br>
              <a:rPr lang="en-US" sz="900" b="0" i="0" dirty="0">
                <a:effectLst/>
                <a:latin typeface="Segoe WPC"/>
              </a:rPr>
            </a:br>
            <a:r>
              <a:rPr lang="en-US" sz="900" b="1" i="0" dirty="0">
                <a:effectLst/>
                <a:latin typeface="Segoe WPC"/>
              </a:rPr>
              <a:t>Interpretation:</a:t>
            </a:r>
            <a:r>
              <a:rPr lang="en-US" sz="900" b="0" i="0" dirty="0">
                <a:effectLst/>
                <a:latin typeface="Segoe WPC"/>
              </a:rPr>
              <a:t> Transaction risk affects cash flows directly, translation risk mainly affects reported earnings, and economic risk affects firm value more broadly.</a:t>
            </a:r>
            <a:br>
              <a:rPr lang="en-US" sz="900" b="0" i="0" dirty="0">
                <a:effectLst/>
                <a:latin typeface="Segoe WPC"/>
              </a:rPr>
            </a:br>
            <a:r>
              <a:rPr lang="en-US" sz="900" b="1" i="0" dirty="0">
                <a:effectLst/>
                <a:latin typeface="Segoe WPC"/>
              </a:rPr>
              <a:t>Exam Trap:</a:t>
            </a:r>
            <a:r>
              <a:rPr lang="en-US" sz="900" b="0" i="0" dirty="0">
                <a:effectLst/>
                <a:latin typeface="Segoe WPC"/>
              </a:rPr>
              <a:t> Translation risk is not the same as transaction risk; hedging translation exposure can reduce accounting volatility while increasing actual cash-flow exposure.</a:t>
            </a:r>
          </a:p>
          <a:p>
            <a:pPr>
              <a:spcBef>
                <a:spcPts val="300"/>
              </a:spcBef>
              <a:buFont typeface="+mj-lt"/>
              <a:buAutoNum type="arabicPeriod"/>
            </a:pPr>
            <a:r>
              <a:rPr lang="en-US" sz="900" b="1" dirty="0">
                <a:latin typeface="Segoe WPC"/>
              </a:rPr>
              <a:t>How to Hedge FX Risks</a:t>
            </a:r>
            <a:br>
              <a:rPr lang="en-US" sz="900" dirty="0">
                <a:latin typeface="Segoe WPC"/>
              </a:rPr>
            </a:br>
            <a:r>
              <a:rPr lang="en-US" sz="900" b="1" dirty="0">
                <a:latin typeface="Segoe WPC"/>
              </a:rPr>
              <a:t>Financial Object:</a:t>
            </a:r>
            <a:r>
              <a:rPr lang="en-US" sz="900" dirty="0">
                <a:latin typeface="Segoe WPC"/>
              </a:rPr>
              <a:t> Forward contracts, FX swaps, and matching foreign assets with foreign liabilities.</a:t>
            </a:r>
            <a:br>
              <a:rPr lang="en-US" sz="900" dirty="0">
                <a:latin typeface="Segoe WPC"/>
              </a:rPr>
            </a:br>
            <a:r>
              <a:rPr lang="en-US" sz="900" b="1" dirty="0">
                <a:latin typeface="Segoe WPC"/>
              </a:rPr>
              <a:t>Plain Intuition:</a:t>
            </a:r>
            <a:r>
              <a:rPr lang="en-US" sz="900" dirty="0">
                <a:latin typeface="Segoe WPC"/>
              </a:rPr>
              <a:t> Transaction risk is usually hedged with forwards. Translation risk is often better managed by financing foreign assets with debt in the same currency. Economic risk is harder to hedge and often enters strategic decisions.</a:t>
            </a:r>
            <a:br>
              <a:rPr lang="en-US" sz="900" dirty="0">
                <a:latin typeface="Segoe WPC"/>
              </a:rPr>
            </a:br>
            <a:r>
              <a:rPr lang="en-US" sz="900" b="1" dirty="0">
                <a:latin typeface="Segoe WPC"/>
              </a:rPr>
              <a:t>Visual Intuition:</a:t>
            </a:r>
            <a:r>
              <a:rPr lang="en-US" sz="900" dirty="0">
                <a:latin typeface="Segoe WPC"/>
              </a:rPr>
              <a:t> A GBP asset financed with GBP debt creates a natural hedge because FX gains on the asset are offset by FX losses on the liability.</a:t>
            </a:r>
            <a:br>
              <a:rPr lang="en-US" sz="900" dirty="0">
                <a:latin typeface="Segoe WPC"/>
              </a:rPr>
            </a:br>
            <a:r>
              <a:rPr lang="en-US" sz="900" b="1" dirty="0">
                <a:latin typeface="Segoe WPC"/>
              </a:rPr>
              <a:t>Key Formula:</a:t>
            </a:r>
            <a:r>
              <a:rPr lang="en-US" sz="900" dirty="0">
                <a:latin typeface="Segoe WPC"/>
              </a:rPr>
              <a:t> Natural hedge: foreign asset exposure - foreign liability exposure.</a:t>
            </a:r>
            <a:br>
              <a:rPr lang="en-US" sz="900" dirty="0">
                <a:latin typeface="Segoe WPC"/>
              </a:rPr>
            </a:br>
            <a:r>
              <a:rPr lang="en-US" sz="900" b="1" dirty="0">
                <a:latin typeface="Segoe WPC"/>
              </a:rPr>
              <a:t>Interpretation:</a:t>
            </a:r>
            <a:r>
              <a:rPr lang="en-US" sz="900" dirty="0">
                <a:latin typeface="Segoe WPC"/>
              </a:rPr>
              <a:t> The best hedge depends on whether the exposure is accounting-based, cash-flow-based, or strategic.</a:t>
            </a:r>
            <a:br>
              <a:rPr lang="en-US" sz="900" dirty="0">
                <a:latin typeface="Segoe WPC"/>
              </a:rPr>
            </a:br>
            <a:r>
              <a:rPr lang="en-US" sz="900" b="1" dirty="0">
                <a:latin typeface="Segoe WPC"/>
              </a:rPr>
              <a:t>Exam Trap:</a:t>
            </a:r>
            <a:r>
              <a:rPr lang="en-US" sz="900" dirty="0">
                <a:latin typeface="Segoe WPC"/>
              </a:rPr>
              <a:t> Hedging translation exposure at multiple future dates can over-hedge because the same value change may be counted more than once.</a:t>
            </a:r>
          </a:p>
          <a:p>
            <a:pPr algn="l">
              <a:spcBef>
                <a:spcPts val="300"/>
              </a:spcBef>
              <a:buFont typeface="+mj-lt"/>
              <a:buAutoNum type="arabicPeriod"/>
            </a:pPr>
            <a:endParaRPr lang="en-US" sz="900" b="0" i="0" dirty="0">
              <a:effectLst/>
              <a:latin typeface="Segoe WPC"/>
            </a:endParaRP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6C2D93BD-4768-CAF0-9DAE-3942C49A8B67}"/>
                  </a:ext>
                </a:extLst>
              </p:cNvPr>
              <p:cNvSpPr txBox="1"/>
              <p:nvPr/>
            </p:nvSpPr>
            <p:spPr>
              <a:xfrm>
                <a:off x="5653314" y="-59080"/>
                <a:ext cx="6705600" cy="8606074"/>
              </a:xfrm>
              <a:prstGeom prst="rect">
                <a:avLst/>
              </a:prstGeom>
              <a:noFill/>
            </p:spPr>
            <p:txBody>
              <a:bodyPr wrap="square">
                <a:spAutoFit/>
              </a:bodyPr>
              <a:lstStyle/>
              <a:p>
                <a:pPr algn="l">
                  <a:spcBef>
                    <a:spcPts val="300"/>
                  </a:spcBef>
                  <a:buFont typeface="+mj-lt"/>
                  <a:buAutoNum type="arabicPeriod"/>
                </a:pPr>
                <a:r>
                  <a:rPr lang="en-US" sz="900" b="1" i="0" dirty="0">
                    <a:solidFill>
                      <a:schemeClr val="tx1"/>
                    </a:solidFill>
                    <a:effectLst/>
                    <a:latin typeface="Segoe WPC"/>
                  </a:rPr>
                  <a:t>Multi-Currency Hedging with Options</a:t>
                </a:r>
                <a:br>
                  <a:rPr lang="en-US" sz="900" b="0" i="0" dirty="0">
                    <a:solidFill>
                      <a:schemeClr val="tx1"/>
                    </a:solidFill>
                    <a:effectLst/>
                    <a:latin typeface="Segoe WPC"/>
                  </a:rPr>
                </a:br>
                <a:r>
                  <a:rPr lang="en-US" sz="900" b="1" i="0" dirty="0">
                    <a:solidFill>
                      <a:schemeClr val="tx1"/>
                    </a:solidFill>
                    <a:effectLst/>
                    <a:latin typeface="Segoe WPC"/>
                  </a:rPr>
                  <a:t>Financial Object:</a:t>
                </a:r>
                <a:r>
                  <a:rPr lang="en-US" sz="900" b="0" i="0" dirty="0">
                    <a:solidFill>
                      <a:schemeClr val="tx1"/>
                    </a:solidFill>
                    <a:effectLst/>
                    <a:latin typeface="Segoe WPC"/>
                  </a:rPr>
                  <a:t> Basket options and Asian options.</a:t>
                </a:r>
                <a:br>
                  <a:rPr lang="en-US" sz="900" b="0" i="0" dirty="0">
                    <a:solidFill>
                      <a:schemeClr val="tx1"/>
                    </a:solidFill>
                    <a:effectLst/>
                    <a:latin typeface="Segoe WPC"/>
                  </a:rPr>
                </a:br>
                <a:r>
                  <a:rPr lang="en-US" sz="900" b="1" i="0" dirty="0">
                    <a:solidFill>
                      <a:schemeClr val="tx1"/>
                    </a:solidFill>
                    <a:effectLst/>
                    <a:latin typeface="Segoe WPC"/>
                  </a:rPr>
                  <a:t>Plain Intuition:</a:t>
                </a:r>
                <a:r>
                  <a:rPr lang="en-US" sz="900" b="0" i="0" dirty="0">
                    <a:solidFill>
                      <a:schemeClr val="tx1"/>
                    </a:solidFill>
                    <a:effectLst/>
                    <a:latin typeface="Segoe WPC"/>
                  </a:rPr>
                  <a:t> Multinationals face many currency exposures that are not perfectly correlated, so hedging the portfolio can be cheaper than hedging each currency separately. Options are attractive because they protect against adverse moves while preserving upside from favorable moves.</a:t>
                </a:r>
                <a:br>
                  <a:rPr lang="en-US" sz="900" b="0" i="0" dirty="0">
                    <a:solidFill>
                      <a:schemeClr val="tx1"/>
                    </a:solidFill>
                    <a:effectLst/>
                    <a:latin typeface="Segoe WPC"/>
                  </a:rPr>
                </a:br>
                <a:r>
                  <a:rPr lang="en-US" sz="900" b="1" i="0" dirty="0">
                    <a:solidFill>
                      <a:schemeClr val="tx1"/>
                    </a:solidFill>
                    <a:effectLst/>
                    <a:latin typeface="Segoe WPC"/>
                  </a:rPr>
                  <a:t>Visual Intuition:</a:t>
                </a:r>
                <a:r>
                  <a:rPr lang="en-US" sz="900" b="0" i="0" dirty="0">
                    <a:solidFill>
                      <a:schemeClr val="tx1"/>
                    </a:solidFill>
                    <a:effectLst/>
                    <a:latin typeface="Segoe WPC"/>
                  </a:rPr>
                  <a:t> A basket option hedges a whole FX portfolio; an Asian option hedges average exchange rates over time instead of one single date.</a:t>
                </a:r>
                <a:br>
                  <a:rPr lang="en-US" sz="900" b="0" i="0" dirty="0">
                    <a:solidFill>
                      <a:schemeClr val="tx1"/>
                    </a:solidFill>
                    <a:effectLst/>
                    <a:latin typeface="Segoe WPC"/>
                  </a:rPr>
                </a:br>
                <a:r>
                  <a:rPr lang="en-US" sz="900" b="1" i="0" dirty="0">
                    <a:solidFill>
                      <a:schemeClr val="tx1"/>
                    </a:solidFill>
                    <a:effectLst/>
                    <a:latin typeface="Segoe WPC"/>
                  </a:rPr>
                  <a:t>Key Formula:</a:t>
                </a:r>
                <a:r>
                  <a:rPr lang="en-US" sz="900" b="0" i="0" dirty="0">
                    <a:solidFill>
                      <a:schemeClr val="tx1"/>
                    </a:solidFill>
                    <a:effectLst/>
                    <a:latin typeface="Segoe WPC"/>
                  </a:rPr>
                  <a:t> No single closed-form formula is required here; the key idea is portfolio diversification across currencies and averaging across time.</a:t>
                </a:r>
                <a:br>
                  <a:rPr lang="en-US" sz="900" b="0" i="0" dirty="0">
                    <a:solidFill>
                      <a:schemeClr val="tx1"/>
                    </a:solidFill>
                    <a:effectLst/>
                    <a:latin typeface="Segoe WPC"/>
                  </a:rPr>
                </a:br>
                <a:r>
                  <a:rPr lang="en-US" sz="900" b="1" i="0" dirty="0">
                    <a:solidFill>
                      <a:schemeClr val="tx1"/>
                    </a:solidFill>
                    <a:effectLst/>
                    <a:latin typeface="Segoe WPC"/>
                  </a:rPr>
                  <a:t>Interpretation:</a:t>
                </a:r>
                <a:r>
                  <a:rPr lang="en-US" sz="900" b="0" i="0" dirty="0">
                    <a:solidFill>
                      <a:schemeClr val="tx1"/>
                    </a:solidFill>
                    <a:effectLst/>
                    <a:latin typeface="Segoe WPC"/>
                  </a:rPr>
                  <a:t> Basket and Asian structures usually lower hedging cost relative to many separate vanilla options.</a:t>
                </a:r>
                <a:br>
                  <a:rPr lang="en-US" sz="900" b="0" i="0" dirty="0">
                    <a:solidFill>
                      <a:schemeClr val="tx1"/>
                    </a:solidFill>
                    <a:effectLst/>
                    <a:latin typeface="Segoe WPC"/>
                  </a:rPr>
                </a:br>
                <a:r>
                  <a:rPr lang="en-US" sz="900" b="1" i="0" dirty="0">
                    <a:solidFill>
                      <a:schemeClr val="tx1"/>
                    </a:solidFill>
                    <a:effectLst/>
                    <a:latin typeface="Segoe WPC"/>
                  </a:rPr>
                  <a:t>Exam Trap:</a:t>
                </a:r>
                <a:r>
                  <a:rPr lang="en-US" sz="900" b="0" i="0" dirty="0">
                    <a:solidFill>
                      <a:schemeClr val="tx1"/>
                    </a:solidFill>
                    <a:effectLst/>
                    <a:latin typeface="Segoe WPC"/>
                  </a:rPr>
                  <a:t> A basket hedge is not the same as separate single-currency hedges; correlation across currencies reduces total risk.</a:t>
                </a:r>
              </a:p>
              <a:p>
                <a:pPr algn="l">
                  <a:spcBef>
                    <a:spcPts val="300"/>
                  </a:spcBef>
                  <a:buFont typeface="+mj-lt"/>
                  <a:buAutoNum type="arabicPeriod"/>
                </a:pPr>
                <a:r>
                  <a:rPr lang="en-US" sz="900" b="1" i="0" dirty="0">
                    <a:solidFill>
                      <a:schemeClr val="tx1"/>
                    </a:solidFill>
                    <a:effectLst/>
                    <a:latin typeface="Segoe WPC"/>
                  </a:rPr>
                  <a:t>What Determines Exchange Rates</a:t>
                </a:r>
                <a:br>
                  <a:rPr lang="en-US" sz="900" b="0" i="0" dirty="0">
                    <a:solidFill>
                      <a:schemeClr val="tx1"/>
                    </a:solidFill>
                    <a:effectLst/>
                    <a:latin typeface="Segoe WPC"/>
                  </a:rPr>
                </a:br>
                <a:r>
                  <a:rPr lang="en-US" sz="900" b="1" i="0" dirty="0">
                    <a:solidFill>
                      <a:schemeClr val="tx1"/>
                    </a:solidFill>
                    <a:effectLst/>
                    <a:latin typeface="Segoe WPC"/>
                  </a:rPr>
                  <a:t>Financial Object:</a:t>
                </a:r>
                <a:r>
                  <a:rPr lang="en-US" sz="900" b="0" i="0" dirty="0">
                    <a:solidFill>
                      <a:schemeClr val="tx1"/>
                    </a:solidFill>
                    <a:effectLst/>
                    <a:latin typeface="Segoe WPC"/>
                  </a:rPr>
                  <a:t> Supply and demand for currencies driven by trade flows, inflation, and monetary policy.</a:t>
                </a:r>
                <a:br>
                  <a:rPr lang="en-US" sz="900" b="0" i="0" dirty="0">
                    <a:solidFill>
                      <a:schemeClr val="tx1"/>
                    </a:solidFill>
                    <a:effectLst/>
                    <a:latin typeface="Segoe WPC"/>
                  </a:rPr>
                </a:br>
                <a:r>
                  <a:rPr lang="en-US" sz="900" b="1" i="0" dirty="0">
                    <a:solidFill>
                      <a:schemeClr val="tx1"/>
                    </a:solidFill>
                    <a:effectLst/>
                    <a:latin typeface="Segoe WPC"/>
                  </a:rPr>
                  <a:t>Plain Intuition:</a:t>
                </a:r>
                <a:r>
                  <a:rPr lang="en-US" sz="900" b="0" i="0" dirty="0">
                    <a:solidFill>
                      <a:schemeClr val="tx1"/>
                    </a:solidFill>
                    <a:effectLst/>
                    <a:latin typeface="Segoe WPC"/>
                  </a:rPr>
                  <a:t> More demand for a country’s goods tends to raise demand for its currency. Higher inflation tends to weaken a currency. Faster money-supply growth also tends to weaken a currency.</a:t>
                </a:r>
                <a:br>
                  <a:rPr lang="en-US" sz="900" b="0" i="0" dirty="0">
                    <a:solidFill>
                      <a:schemeClr val="tx1"/>
                    </a:solidFill>
                    <a:effectLst/>
                    <a:latin typeface="Segoe WPC"/>
                  </a:rPr>
                </a:br>
                <a:r>
                  <a:rPr lang="en-US" sz="900" b="1" i="0" dirty="0">
                    <a:solidFill>
                      <a:schemeClr val="tx1"/>
                    </a:solidFill>
                    <a:effectLst/>
                    <a:latin typeface="Segoe WPC"/>
                  </a:rPr>
                  <a:t>Visual Intuition:</a:t>
                </a:r>
                <a:r>
                  <a:rPr lang="en-US" sz="900" b="0" i="0" dirty="0">
                    <a:solidFill>
                      <a:schemeClr val="tx1"/>
                    </a:solidFill>
                    <a:effectLst/>
                    <a:latin typeface="Segoe WPC"/>
                  </a:rPr>
                  <a:t> Export demand supports a currency; high inflation erodes purchasing power; loose monetary policy raises currency supply.</a:t>
                </a:r>
                <a:br>
                  <a:rPr lang="en-US" sz="900" b="0" i="0" dirty="0">
                    <a:solidFill>
                      <a:schemeClr val="tx1"/>
                    </a:solidFill>
                    <a:effectLst/>
                    <a:latin typeface="Segoe WPC"/>
                  </a:rPr>
                </a:br>
                <a:r>
                  <a:rPr lang="en-US" sz="900" b="1" i="0" dirty="0">
                    <a:solidFill>
                      <a:schemeClr val="tx1"/>
                    </a:solidFill>
                    <a:effectLst/>
                    <a:latin typeface="Segoe WPC"/>
                  </a:rPr>
                  <a:t>Key Formula:</a:t>
                </a:r>
                <a:r>
                  <a:rPr lang="en-US" sz="900" b="0" i="0" dirty="0">
                    <a:solidFill>
                      <a:schemeClr val="tx1"/>
                    </a:solidFill>
                    <a:effectLst/>
                    <a:latin typeface="Segoe WPC"/>
                  </a:rPr>
                  <a:t> No single exact formula determines spot rates; they reflect many interacting forces.</a:t>
                </a:r>
                <a:br>
                  <a:rPr lang="en-US" sz="900" b="0" i="0" dirty="0">
                    <a:solidFill>
                      <a:schemeClr val="tx1"/>
                    </a:solidFill>
                    <a:effectLst/>
                    <a:latin typeface="Segoe WPC"/>
                  </a:rPr>
                </a:br>
                <a:r>
                  <a:rPr lang="en-US" sz="900" b="1" i="0" dirty="0">
                    <a:solidFill>
                      <a:schemeClr val="tx1"/>
                    </a:solidFill>
                    <a:effectLst/>
                    <a:latin typeface="Segoe WPC"/>
                  </a:rPr>
                  <a:t>Interpretation:</a:t>
                </a:r>
                <a:r>
                  <a:rPr lang="en-US" sz="900" b="0" i="0" dirty="0">
                    <a:solidFill>
                      <a:schemeClr val="tx1"/>
                    </a:solidFill>
                    <a:effectLst/>
                    <a:latin typeface="Segoe WPC"/>
                  </a:rPr>
                  <a:t> Exchange rates respond to macroeconomic fundamentals, but prediction is still highly uncertain.</a:t>
                </a:r>
                <a:br>
                  <a:rPr lang="en-US" sz="900" b="0" i="0" dirty="0">
                    <a:solidFill>
                      <a:schemeClr val="tx1"/>
                    </a:solidFill>
                    <a:effectLst/>
                    <a:latin typeface="Segoe WPC"/>
                  </a:rPr>
                </a:br>
                <a:r>
                  <a:rPr lang="en-US" sz="900" b="1" i="0" dirty="0">
                    <a:solidFill>
                      <a:schemeClr val="tx1"/>
                    </a:solidFill>
                    <a:effectLst/>
                    <a:latin typeface="Segoe WPC"/>
                  </a:rPr>
                  <a:t>Exam Trap:</a:t>
                </a:r>
                <a:r>
                  <a:rPr lang="en-US" sz="900" b="0" i="0" dirty="0">
                    <a:solidFill>
                      <a:schemeClr val="tx1"/>
                    </a:solidFill>
                    <a:effectLst/>
                    <a:latin typeface="Segoe WPC"/>
                  </a:rPr>
                  <a:t> Do not treat any one variable as mechanically determining FX; most results are approximate except arbitrage-based parity relations.</a:t>
                </a:r>
              </a:p>
              <a:p>
                <a:pPr algn="l">
                  <a:spcBef>
                    <a:spcPts val="300"/>
                  </a:spcBef>
                  <a:buFont typeface="+mj-lt"/>
                  <a:buAutoNum type="arabicPeriod"/>
                </a:pPr>
                <a:r>
                  <a:rPr lang="en-US" sz="900" b="1" i="0" dirty="0">
                    <a:solidFill>
                      <a:schemeClr val="tx1"/>
                    </a:solidFill>
                    <a:effectLst/>
                    <a:latin typeface="Segoe WPC"/>
                  </a:rPr>
                  <a:t>Appreciation, Depreciation, and Purchasing Power Parity</a:t>
                </a:r>
                <a:br>
                  <a:rPr lang="en-US" sz="900" b="0" i="0" dirty="0">
                    <a:solidFill>
                      <a:schemeClr val="tx1"/>
                    </a:solidFill>
                    <a:effectLst/>
                    <a:latin typeface="Segoe WPC"/>
                  </a:rPr>
                </a:br>
                <a:r>
                  <a:rPr lang="en-US" sz="900" b="1" i="0" dirty="0">
                    <a:solidFill>
                      <a:schemeClr val="tx1"/>
                    </a:solidFill>
                    <a:effectLst/>
                    <a:latin typeface="Segoe WPC"/>
                  </a:rPr>
                  <a:t>Financial Object:</a:t>
                </a:r>
                <a:r>
                  <a:rPr lang="en-US" sz="900" b="0" i="0" dirty="0">
                    <a:solidFill>
                      <a:schemeClr val="tx1"/>
                    </a:solidFill>
                    <a:effectLst/>
                    <a:latin typeface="Segoe WPC"/>
                  </a:rPr>
                  <a:t> PPP links inflation differentials to long-run currency movements.</a:t>
                </a:r>
                <a:br>
                  <a:rPr lang="en-US" sz="900" b="0" i="0" dirty="0">
                    <a:solidFill>
                      <a:schemeClr val="tx1"/>
                    </a:solidFill>
                    <a:effectLst/>
                    <a:latin typeface="Segoe WPC"/>
                  </a:rPr>
                </a:br>
                <a:r>
                  <a:rPr lang="en-US" sz="900" b="1" i="0" dirty="0">
                    <a:solidFill>
                      <a:schemeClr val="tx1"/>
                    </a:solidFill>
                    <a:effectLst/>
                    <a:latin typeface="Segoe WPC"/>
                  </a:rPr>
                  <a:t>Plain Intuition:</a:t>
                </a:r>
                <a:r>
                  <a:rPr lang="en-US" sz="900" b="0" i="0" dirty="0">
                    <a:solidFill>
                      <a:schemeClr val="tx1"/>
                    </a:solidFill>
                    <a:effectLst/>
                    <a:latin typeface="Segoe WPC"/>
                  </a:rPr>
                  <a:t> If domestic inflation exceeds foreign inflation, the domestic currency should depreciate over time so that goods cost roughly the same across countries.</a:t>
                </a:r>
                <a:br>
                  <a:rPr lang="en-US" sz="900" b="0" i="0" dirty="0">
                    <a:solidFill>
                      <a:schemeClr val="tx1"/>
                    </a:solidFill>
                    <a:effectLst/>
                    <a:latin typeface="Segoe WPC"/>
                  </a:rPr>
                </a:br>
                <a:r>
                  <a:rPr lang="en-US" sz="900" b="1" i="0" dirty="0">
                    <a:solidFill>
                      <a:schemeClr val="tx1"/>
                    </a:solidFill>
                    <a:effectLst/>
                    <a:latin typeface="Segoe WPC"/>
                  </a:rPr>
                  <a:t>Visual Intuition:</a:t>
                </a:r>
                <a:r>
                  <a:rPr lang="en-US" sz="900" b="0" i="0" dirty="0">
                    <a:solidFill>
                      <a:schemeClr val="tx1"/>
                    </a:solidFill>
                    <a:effectLst/>
                    <a:latin typeface="Segoe WPC"/>
                  </a:rPr>
                  <a:t> A country with faster-rising prices needs a weaker currency to preserve relative purchasing power.</a:t>
                </a:r>
                <a:br>
                  <a:rPr lang="en-US" sz="900" b="0" i="0" dirty="0">
                    <a:solidFill>
                      <a:schemeClr val="tx1"/>
                    </a:solidFill>
                    <a:effectLst/>
                    <a:latin typeface="Segoe WPC"/>
                  </a:rPr>
                </a:br>
                <a:r>
                  <a:rPr lang="en-US" sz="900" b="1" i="0" dirty="0">
                    <a:solidFill>
                      <a:schemeClr val="tx1"/>
                    </a:solidFill>
                    <a:effectLst/>
                    <a:latin typeface="Segoe WPC"/>
                  </a:rPr>
                  <a:t>Key Formula:</a:t>
                </a:r>
                <a:r>
                  <a:rPr lang="en-US" sz="900" b="0" i="0" dirty="0">
                    <a:solidFill>
                      <a:schemeClr val="tx1"/>
                    </a:solidFill>
                    <a:effectLst/>
                    <a:latin typeface="Segoe WPC"/>
                  </a:rPr>
                  <a:t> Approximate PPP: percentage change in domestic spot rate = foreign inflation rate - domestic inflation rate.</a:t>
                </a:r>
                <a:br>
                  <a:rPr lang="en-US" sz="900" b="0" i="0" dirty="0">
                    <a:solidFill>
                      <a:schemeClr val="tx1"/>
                    </a:solidFill>
                    <a:effectLst/>
                    <a:latin typeface="Segoe WPC"/>
                  </a:rPr>
                </a:br>
                <a:r>
                  <a:rPr lang="en-US" sz="900" b="1" i="0" dirty="0">
                    <a:solidFill>
                      <a:schemeClr val="tx1"/>
                    </a:solidFill>
                    <a:effectLst/>
                    <a:latin typeface="Segoe WPC"/>
                  </a:rPr>
                  <a:t>Interpretation:</a:t>
                </a:r>
                <a:r>
                  <a:rPr lang="en-US" sz="900" b="0" i="0" dirty="0">
                    <a:solidFill>
                      <a:schemeClr val="tx1"/>
                    </a:solidFill>
                    <a:effectLst/>
                    <a:latin typeface="Segoe WPC"/>
                  </a:rPr>
                  <a:t> If domestic inflation is higher, the domestic spot rate tends to weaken; if foreign inflation is higher, the domestic spot rate tends to strengthen.</a:t>
                </a:r>
                <a:br>
                  <a:rPr lang="en-US" sz="900" b="0" i="0" dirty="0">
                    <a:solidFill>
                      <a:schemeClr val="tx1"/>
                    </a:solidFill>
                    <a:effectLst/>
                    <a:latin typeface="Segoe WPC"/>
                  </a:rPr>
                </a:br>
                <a:r>
                  <a:rPr lang="en-US" sz="900" b="1" i="0" dirty="0">
                    <a:solidFill>
                      <a:schemeClr val="tx1"/>
                    </a:solidFill>
                    <a:effectLst/>
                    <a:latin typeface="Segoe WPC"/>
                  </a:rPr>
                  <a:t>Exam Trap:</a:t>
                </a:r>
                <a:r>
                  <a:rPr lang="en-US" sz="900" b="0" i="0" dirty="0">
                    <a:solidFill>
                      <a:schemeClr val="tx1"/>
                    </a:solidFill>
                    <a:effectLst/>
                    <a:latin typeface="Segoe WPC"/>
                  </a:rPr>
                  <a:t> PPP is a long-run approximation, not a precise short-run pricing rule.</a:t>
                </a:r>
              </a:p>
              <a:p>
                <a:pPr algn="l">
                  <a:spcBef>
                    <a:spcPts val="300"/>
                  </a:spcBef>
                  <a:buFont typeface="+mj-lt"/>
                  <a:buAutoNum type="arabicPeriod"/>
                </a:pPr>
                <a:r>
                  <a:rPr lang="en-US" sz="900" b="1" i="0" dirty="0">
                    <a:solidFill>
                      <a:schemeClr val="tx1"/>
                    </a:solidFill>
                    <a:effectLst/>
                    <a:latin typeface="Segoe WPC"/>
                  </a:rPr>
                  <a:t>Nominal vs Real Interest Rates</a:t>
                </a:r>
                <a:br>
                  <a:rPr lang="en-US" sz="900" b="0" i="0" dirty="0">
                    <a:solidFill>
                      <a:schemeClr val="tx1"/>
                    </a:solidFill>
                    <a:effectLst/>
                    <a:latin typeface="Segoe WPC"/>
                  </a:rPr>
                </a:br>
                <a:r>
                  <a:rPr lang="en-US" sz="900" b="1" i="0" dirty="0">
                    <a:solidFill>
                      <a:schemeClr val="tx1"/>
                    </a:solidFill>
                    <a:effectLst/>
                    <a:latin typeface="Segoe WPC"/>
                  </a:rPr>
                  <a:t>Financial Object:</a:t>
                </a:r>
                <a:r>
                  <a:rPr lang="en-US" sz="900" b="0" i="0" dirty="0">
                    <a:solidFill>
                      <a:schemeClr val="tx1"/>
                    </a:solidFill>
                    <a:effectLst/>
                    <a:latin typeface="Segoe WPC"/>
                  </a:rPr>
                  <a:t> Real interest rates adjust nominal rates for inflation.</a:t>
                </a:r>
                <a:br>
                  <a:rPr lang="en-US" sz="900" b="0" i="0" dirty="0">
                    <a:solidFill>
                      <a:schemeClr val="tx1"/>
                    </a:solidFill>
                    <a:effectLst/>
                    <a:latin typeface="Segoe WPC"/>
                  </a:rPr>
                </a:br>
                <a:r>
                  <a:rPr lang="en-US" sz="900" b="1" i="0" dirty="0">
                    <a:solidFill>
                      <a:schemeClr val="tx1"/>
                    </a:solidFill>
                    <a:effectLst/>
                    <a:latin typeface="Segoe WPC"/>
                  </a:rPr>
                  <a:t>Plain Intuition:</a:t>
                </a:r>
                <a:r>
                  <a:rPr lang="en-US" sz="900" b="0" i="0" dirty="0">
                    <a:solidFill>
                      <a:schemeClr val="tx1"/>
                    </a:solidFill>
                    <a:effectLst/>
                    <a:latin typeface="Segoe WPC"/>
                  </a:rPr>
                  <a:t> A nominal return can look high, but if prices also rise, the true increase in purchasing power may be small or even negative.</a:t>
                </a:r>
                <a:br>
                  <a:rPr lang="en-US" sz="900" b="0" i="0" dirty="0">
                    <a:solidFill>
                      <a:schemeClr val="tx1"/>
                    </a:solidFill>
                    <a:effectLst/>
                    <a:latin typeface="Segoe WPC"/>
                  </a:rPr>
                </a:br>
                <a:r>
                  <a:rPr lang="en-US" sz="900" b="1" i="0" dirty="0">
                    <a:solidFill>
                      <a:schemeClr val="tx1"/>
                    </a:solidFill>
                    <a:effectLst/>
                    <a:latin typeface="Segoe WPC"/>
                  </a:rPr>
                  <a:t>Visual Intuition:</a:t>
                </a:r>
                <a:r>
                  <a:rPr lang="en-US" sz="900" b="0" i="0" dirty="0">
                    <a:solidFill>
                      <a:schemeClr val="tx1"/>
                    </a:solidFill>
                    <a:effectLst/>
                    <a:latin typeface="Segoe WPC"/>
                  </a:rPr>
                  <a:t> Earning 4% in a country with 3% inflation gives only about 1% real growth in purchasing power.</a:t>
                </a:r>
                <a:br>
                  <a:rPr lang="en-US" sz="900" b="0" i="0" dirty="0">
                    <a:solidFill>
                      <a:schemeClr val="tx1"/>
                    </a:solidFill>
                    <a:effectLst/>
                    <a:latin typeface="Segoe WPC"/>
                  </a:rPr>
                </a:br>
                <a:r>
                  <a:rPr lang="en-US" sz="900" b="1" i="0" dirty="0">
                    <a:solidFill>
                      <a:schemeClr val="tx1"/>
                    </a:solidFill>
                    <a:effectLst/>
                    <a:latin typeface="Segoe WPC"/>
                  </a:rPr>
                  <a:t>Key Formula:</a:t>
                </a:r>
                <a:endParaRPr lang="en-US" sz="900" b="0" i="0" dirty="0">
                  <a:solidFill>
                    <a:schemeClr val="tx1"/>
                  </a:solidFill>
                  <a:effectLst/>
                  <a:latin typeface="Segoe WPC"/>
                </a:endParaRPr>
              </a:p>
              <a:p>
                <a:pPr algn="l">
                  <a:spcBef>
                    <a:spcPts val="300"/>
                  </a:spcBef>
                  <a:buFont typeface="+mj-lt"/>
                  <a:buAutoNum type="arabicPeriod"/>
                </a:pPr>
                <a14:m>
                  <m:oMath xmlns:m="http://schemas.openxmlformats.org/officeDocument/2006/math">
                    <m:r>
                      <a:rPr lang="en-US" sz="900">
                        <a:solidFill>
                          <a:schemeClr val="tx1"/>
                        </a:solidFill>
                        <a:latin typeface="Cambria Math" panose="02040503050406030204" pitchFamily="18" charset="0"/>
                      </a:rPr>
                      <m:t>1</m:t>
                    </m:r>
                    <m:r>
                      <a:rPr lang="en-US" sz="900" i="0">
                        <a:solidFill>
                          <a:schemeClr val="tx1"/>
                        </a:solidFill>
                        <a:latin typeface="Cambria Math" panose="02040503050406030204" pitchFamily="18" charset="0"/>
                      </a:rPr>
                      <m:t>+</m:t>
                    </m:r>
                    <m:sSub>
                      <m:sSubPr>
                        <m:ctrlPr>
                          <a:rPr lang="en-US" sz="900" i="1">
                            <a:solidFill>
                              <a:schemeClr val="tx1"/>
                            </a:solidFill>
                            <a:latin typeface="Cambria Math" panose="02040503050406030204" pitchFamily="18" charset="0"/>
                          </a:rPr>
                        </m:ctrlPr>
                      </m:sSubPr>
                      <m:e>
                        <m:r>
                          <a:rPr lang="en-US" sz="900" i="1">
                            <a:solidFill>
                              <a:schemeClr val="tx1"/>
                            </a:solidFill>
                            <a:latin typeface="Cambria Math" panose="02040503050406030204" pitchFamily="18" charset="0"/>
                          </a:rPr>
                          <m:t>𝑅</m:t>
                        </m:r>
                      </m:e>
                      <m:sub>
                        <m:r>
                          <a:rPr lang="en-US" sz="900" i="1">
                            <a:solidFill>
                              <a:schemeClr val="tx1"/>
                            </a:solidFill>
                            <a:latin typeface="Cambria Math" panose="02040503050406030204" pitchFamily="18" charset="0"/>
                          </a:rPr>
                          <m:t>𝑟𝑒𝑎𝑙</m:t>
                        </m:r>
                      </m:sub>
                    </m:sSub>
                    <m:r>
                      <a:rPr lang="en-US" sz="900" i="0">
                        <a:solidFill>
                          <a:schemeClr val="tx1"/>
                        </a:solidFill>
                        <a:latin typeface="Cambria Math" panose="02040503050406030204" pitchFamily="18" charset="0"/>
                      </a:rPr>
                      <m:t>=</m:t>
                    </m:r>
                    <m:f>
                      <m:fPr>
                        <m:ctrlPr>
                          <a:rPr lang="en-US" sz="900" i="1">
                            <a:solidFill>
                              <a:schemeClr val="tx1"/>
                            </a:solidFill>
                            <a:latin typeface="Cambria Math" panose="02040503050406030204" pitchFamily="18" charset="0"/>
                          </a:rPr>
                        </m:ctrlPr>
                      </m:fPr>
                      <m:num>
                        <m:r>
                          <a:rPr lang="en-US" sz="900" i="0">
                            <a:solidFill>
                              <a:schemeClr val="tx1"/>
                            </a:solidFill>
                            <a:latin typeface="Cambria Math" panose="02040503050406030204" pitchFamily="18" charset="0"/>
                          </a:rPr>
                          <m:t>1</m:t>
                        </m:r>
                        <m:r>
                          <a:rPr lang="en-US" sz="900" i="0">
                            <a:solidFill>
                              <a:schemeClr val="tx1"/>
                            </a:solidFill>
                            <a:latin typeface="Cambria Math" panose="02040503050406030204" pitchFamily="18" charset="0"/>
                          </a:rPr>
                          <m:t>+</m:t>
                        </m:r>
                        <m:sSub>
                          <m:sSubPr>
                            <m:ctrlPr>
                              <a:rPr lang="en-US" sz="900" i="1">
                                <a:solidFill>
                                  <a:schemeClr val="tx1"/>
                                </a:solidFill>
                                <a:latin typeface="Cambria Math" panose="02040503050406030204" pitchFamily="18" charset="0"/>
                              </a:rPr>
                            </m:ctrlPr>
                          </m:sSubPr>
                          <m:e>
                            <m:r>
                              <a:rPr lang="en-US" sz="900" i="1">
                                <a:solidFill>
                                  <a:schemeClr val="tx1"/>
                                </a:solidFill>
                                <a:latin typeface="Cambria Math" panose="02040503050406030204" pitchFamily="18" charset="0"/>
                              </a:rPr>
                              <m:t>𝑅</m:t>
                            </m:r>
                          </m:e>
                          <m:sub>
                            <m:r>
                              <a:rPr lang="en-US" sz="900" i="1">
                                <a:solidFill>
                                  <a:schemeClr val="tx1"/>
                                </a:solidFill>
                                <a:latin typeface="Cambria Math" panose="02040503050406030204" pitchFamily="18" charset="0"/>
                              </a:rPr>
                              <m:t>𝑛𝑜𝑚</m:t>
                            </m:r>
                          </m:sub>
                        </m:sSub>
                      </m:num>
                      <m:den>
                        <m:r>
                          <a:rPr lang="en-US" sz="900" i="0">
                            <a:solidFill>
                              <a:schemeClr val="tx1"/>
                            </a:solidFill>
                            <a:latin typeface="Cambria Math" panose="02040503050406030204" pitchFamily="18" charset="0"/>
                          </a:rPr>
                          <m:t>1</m:t>
                        </m:r>
                        <m:r>
                          <a:rPr lang="en-US" sz="900" i="0">
                            <a:solidFill>
                              <a:schemeClr val="tx1"/>
                            </a:solidFill>
                            <a:latin typeface="Cambria Math" panose="02040503050406030204" pitchFamily="18" charset="0"/>
                          </a:rPr>
                          <m:t>+</m:t>
                        </m:r>
                        <m:r>
                          <a:rPr lang="en-US" sz="900" i="1">
                            <a:solidFill>
                              <a:schemeClr val="tx1"/>
                            </a:solidFill>
                            <a:latin typeface="Cambria Math" panose="02040503050406030204" pitchFamily="18" charset="0"/>
                          </a:rPr>
                          <m:t>𝜋</m:t>
                        </m:r>
                      </m:den>
                    </m:f>
                  </m:oMath>
                </a14:m>
                <a:endParaRPr lang="en-US" sz="900" b="0" i="0" dirty="0">
                  <a:solidFill>
                    <a:schemeClr val="tx1"/>
                  </a:solidFill>
                  <a:effectLst/>
                  <a:latin typeface="Segoe WPC"/>
                </a:endParaRPr>
              </a:p>
              <a:p>
                <a:pPr algn="l">
                  <a:spcBef>
                    <a:spcPts val="300"/>
                  </a:spcBef>
                  <a:buFont typeface="+mj-lt"/>
                  <a:buAutoNum type="arabicPeriod"/>
                </a:pPr>
                <a:r>
                  <a:rPr lang="en-US" sz="900" b="0" i="0" dirty="0">
                    <a:solidFill>
                      <a:schemeClr val="tx1"/>
                    </a:solidFill>
                    <a:effectLst/>
                    <a:latin typeface="Segoe WPC"/>
                  </a:rPr>
                  <a:t>Approximation:</a:t>
                </a:r>
              </a:p>
              <a:p>
                <a:pPr algn="l">
                  <a:spcBef>
                    <a:spcPts val="300"/>
                  </a:spcBef>
                  <a:buFont typeface="+mj-lt"/>
                  <a:buAutoNum type="arabicPeriod"/>
                </a:pPr>
                <a14:m>
                  <m:oMath xmlns:m="http://schemas.openxmlformats.org/officeDocument/2006/math">
                    <m:sSub>
                      <m:sSubPr>
                        <m:ctrlPr>
                          <a:rPr lang="en-US" sz="900" i="1">
                            <a:solidFill>
                              <a:schemeClr val="tx1"/>
                            </a:solidFill>
                            <a:latin typeface="Cambria Math" panose="02040503050406030204" pitchFamily="18" charset="0"/>
                          </a:rPr>
                        </m:ctrlPr>
                      </m:sSubPr>
                      <m:e>
                        <m:r>
                          <a:rPr lang="en-US" sz="900" i="1">
                            <a:solidFill>
                              <a:schemeClr val="tx1"/>
                            </a:solidFill>
                            <a:latin typeface="Cambria Math" panose="02040503050406030204" pitchFamily="18" charset="0"/>
                          </a:rPr>
                          <m:t>𝑅</m:t>
                        </m:r>
                      </m:e>
                      <m:sub>
                        <m:r>
                          <a:rPr lang="en-US" sz="900" i="1">
                            <a:solidFill>
                              <a:schemeClr val="tx1"/>
                            </a:solidFill>
                            <a:latin typeface="Cambria Math" panose="02040503050406030204" pitchFamily="18" charset="0"/>
                          </a:rPr>
                          <m:t>𝑟𝑒𝑎𝑙</m:t>
                        </m:r>
                      </m:sub>
                    </m:sSub>
                    <m:r>
                      <a:rPr lang="en-US" sz="900" i="0">
                        <a:solidFill>
                          <a:schemeClr val="tx1"/>
                        </a:solidFill>
                        <a:latin typeface="Cambria Math" panose="02040503050406030204" pitchFamily="18" charset="0"/>
                      </a:rPr>
                      <m:t>≈</m:t>
                    </m:r>
                    <m:sSub>
                      <m:sSubPr>
                        <m:ctrlPr>
                          <a:rPr lang="en-US" sz="900" i="1">
                            <a:solidFill>
                              <a:schemeClr val="tx1"/>
                            </a:solidFill>
                            <a:latin typeface="Cambria Math" panose="02040503050406030204" pitchFamily="18" charset="0"/>
                          </a:rPr>
                        </m:ctrlPr>
                      </m:sSubPr>
                      <m:e>
                        <m:r>
                          <a:rPr lang="en-US" sz="900" i="1">
                            <a:solidFill>
                              <a:schemeClr val="tx1"/>
                            </a:solidFill>
                            <a:latin typeface="Cambria Math" panose="02040503050406030204" pitchFamily="18" charset="0"/>
                          </a:rPr>
                          <m:t>𝑅</m:t>
                        </m:r>
                      </m:e>
                      <m:sub>
                        <m:r>
                          <a:rPr lang="en-US" sz="900" i="1">
                            <a:solidFill>
                              <a:schemeClr val="tx1"/>
                            </a:solidFill>
                            <a:latin typeface="Cambria Math" panose="02040503050406030204" pitchFamily="18" charset="0"/>
                          </a:rPr>
                          <m:t>𝑛𝑜𝑚</m:t>
                        </m:r>
                      </m:sub>
                    </m:sSub>
                    <m:r>
                      <a:rPr lang="en-US" sz="900" i="0">
                        <a:solidFill>
                          <a:schemeClr val="tx1"/>
                        </a:solidFill>
                        <a:latin typeface="Cambria Math" panose="02040503050406030204" pitchFamily="18" charset="0"/>
                      </a:rPr>
                      <m:t>−</m:t>
                    </m:r>
                    <m:r>
                      <a:rPr lang="en-US" sz="900" i="1">
                        <a:solidFill>
                          <a:schemeClr val="tx1"/>
                        </a:solidFill>
                        <a:latin typeface="Cambria Math" panose="02040503050406030204" pitchFamily="18" charset="0"/>
                      </a:rPr>
                      <m:t>𝜋</m:t>
                    </m:r>
                  </m:oMath>
                </a14:m>
                <a:endParaRPr lang="en-US" sz="900" b="0" i="0" dirty="0">
                  <a:solidFill>
                    <a:schemeClr val="tx1"/>
                  </a:solidFill>
                  <a:effectLst/>
                  <a:latin typeface="Segoe WPC"/>
                </a:endParaRPr>
              </a:p>
              <a:p>
                <a:pPr algn="l">
                  <a:spcBef>
                    <a:spcPts val="300"/>
                  </a:spcBef>
                  <a:buFont typeface="+mj-lt"/>
                  <a:buAutoNum type="arabicPeriod"/>
                </a:pPr>
                <a:r>
                  <a:rPr lang="en-US" sz="900" b="1" i="0" dirty="0">
                    <a:solidFill>
                      <a:schemeClr val="tx1"/>
                    </a:solidFill>
                    <a:effectLst/>
                    <a:latin typeface="Segoe WPC"/>
                  </a:rPr>
                  <a:t>Interpretation:</a:t>
                </a:r>
                <a:r>
                  <a:rPr lang="en-US" sz="900" b="0" i="0" dirty="0">
                    <a:solidFill>
                      <a:schemeClr val="tx1"/>
                    </a:solidFill>
                    <a:effectLst/>
                    <a:latin typeface="Segoe WPC"/>
                  </a:rPr>
                  <a:t> Real rates matter for actual economic gain; nominal rates matter for market quotations and parity formulas.</a:t>
                </a:r>
                <a:br>
                  <a:rPr lang="en-US" sz="900" b="0" i="0" dirty="0">
                    <a:solidFill>
                      <a:schemeClr val="tx1"/>
                    </a:solidFill>
                    <a:effectLst/>
                    <a:latin typeface="Segoe WPC"/>
                  </a:rPr>
                </a:br>
                <a:r>
                  <a:rPr lang="en-US" sz="900" b="1" i="0" dirty="0">
                    <a:solidFill>
                      <a:schemeClr val="tx1"/>
                    </a:solidFill>
                    <a:effectLst/>
                    <a:latin typeface="Segoe WPC"/>
                  </a:rPr>
                  <a:t>Exam Trap:</a:t>
                </a:r>
                <a:r>
                  <a:rPr lang="en-US" sz="900" b="0" i="0" dirty="0">
                    <a:solidFill>
                      <a:schemeClr val="tx1"/>
                    </a:solidFill>
                    <a:effectLst/>
                    <a:latin typeface="Segoe WPC"/>
                  </a:rPr>
                  <a:t> Negative nominal rates are possible; storage costs prevent simple arbitrage through holding cash.</a:t>
                </a:r>
              </a:p>
              <a:p>
                <a:pPr algn="l">
                  <a:spcBef>
                    <a:spcPts val="300"/>
                  </a:spcBef>
                  <a:buFont typeface="+mj-lt"/>
                  <a:buAutoNum type="arabicPeriod"/>
                </a:pPr>
                <a:r>
                  <a:rPr lang="en-US" sz="900" b="1" i="0" dirty="0">
                    <a:solidFill>
                      <a:schemeClr val="tx1"/>
                    </a:solidFill>
                    <a:effectLst/>
                    <a:latin typeface="Segoe WPC"/>
                  </a:rPr>
                  <a:t>Covered and Uncovered Interest Parity</a:t>
                </a:r>
                <a:br>
                  <a:rPr lang="en-US" sz="900" b="0" i="0" dirty="0">
                    <a:solidFill>
                      <a:schemeClr val="tx1"/>
                    </a:solidFill>
                    <a:effectLst/>
                    <a:latin typeface="Segoe WPC"/>
                  </a:rPr>
                </a:br>
                <a:r>
                  <a:rPr lang="en-US" sz="900" b="1" i="0" dirty="0">
                    <a:solidFill>
                      <a:schemeClr val="tx1"/>
                    </a:solidFill>
                    <a:effectLst/>
                    <a:latin typeface="Segoe WPC"/>
                  </a:rPr>
                  <a:t>Financial Object:</a:t>
                </a:r>
                <a:r>
                  <a:rPr lang="en-US" sz="900" b="0" i="0" dirty="0">
                    <a:solidFill>
                      <a:schemeClr val="tx1"/>
                    </a:solidFill>
                    <a:effectLst/>
                    <a:latin typeface="Segoe WPC"/>
                  </a:rPr>
                  <a:t> Covered interest parity (CIP) links spot rates, forward rates, and interest rates by no-arbitrage; uncovered interest parity (UIP) links expected spot changes to interest-rate differentials.</a:t>
                </a:r>
                <a:br>
                  <a:rPr lang="en-US" sz="900" b="0" i="0" dirty="0">
                    <a:solidFill>
                      <a:schemeClr val="tx1"/>
                    </a:solidFill>
                    <a:effectLst/>
                    <a:latin typeface="Segoe WPC"/>
                  </a:rPr>
                </a:br>
                <a:r>
                  <a:rPr lang="en-US" sz="900" b="1" i="0" dirty="0">
                    <a:solidFill>
                      <a:schemeClr val="tx1"/>
                    </a:solidFill>
                    <a:effectLst/>
                    <a:latin typeface="Segoe WPC"/>
                  </a:rPr>
                  <a:t>Plain Intuition:</a:t>
                </a:r>
                <a:r>
                  <a:rPr lang="en-US" sz="900" b="0" i="0" dirty="0">
                    <a:solidFill>
                      <a:schemeClr val="tx1"/>
                    </a:solidFill>
                    <a:effectLst/>
                    <a:latin typeface="Segoe WPC"/>
                  </a:rPr>
                  <a:t> Under CIP, investing domestically or converting currency and investing abroad with a forward hedge must give the same risk-free result. Under UIP, higher-yield currencies are expected to depreciate enough to offset the yield advantage, but this is much less reliable.</a:t>
                </a:r>
                <a:br>
                  <a:rPr lang="en-US" sz="900" b="0" i="0" dirty="0">
                    <a:solidFill>
                      <a:schemeClr val="tx1"/>
                    </a:solidFill>
                    <a:effectLst/>
                    <a:latin typeface="Segoe WPC"/>
                  </a:rPr>
                </a:br>
                <a:r>
                  <a:rPr lang="en-US" sz="900" b="1" i="0" dirty="0">
                    <a:solidFill>
                      <a:schemeClr val="tx1"/>
                    </a:solidFill>
                    <a:effectLst/>
                    <a:latin typeface="Segoe WPC"/>
                  </a:rPr>
                  <a:t>Visual Intuition:</a:t>
                </a:r>
                <a:r>
                  <a:rPr lang="en-US" sz="900" b="0" i="0" dirty="0">
                    <a:solidFill>
                      <a:schemeClr val="tx1"/>
                    </a:solidFill>
                    <a:effectLst/>
                    <a:latin typeface="Segoe WPC"/>
                  </a:rPr>
                  <a:t> CIP is an arbitrage identity with a hedge; UIP is an equilibrium expectation without a hedge.</a:t>
                </a:r>
                <a:br>
                  <a:rPr lang="en-US" sz="900" b="0" i="0" dirty="0">
                    <a:solidFill>
                      <a:schemeClr val="tx1"/>
                    </a:solidFill>
                    <a:effectLst/>
                    <a:latin typeface="Segoe WPC"/>
                  </a:rPr>
                </a:br>
                <a:r>
                  <a:rPr lang="en-US" sz="900" b="1" i="0" dirty="0">
                    <a:solidFill>
                      <a:schemeClr val="tx1"/>
                    </a:solidFill>
                    <a:effectLst/>
                    <a:latin typeface="Segoe WPC"/>
                  </a:rPr>
                  <a:t>Key Formula:</a:t>
                </a:r>
                <a:r>
                  <a:rPr lang="en-US" sz="900" b="0" i="0" dirty="0">
                    <a:solidFill>
                      <a:schemeClr val="tx1"/>
                    </a:solidFill>
                    <a:effectLst/>
                    <a:latin typeface="Segoe WPC"/>
                  </a:rPr>
                  <a:t> For </a:t>
                </a:r>
                <a:r>
                  <a:rPr lang="en-US" sz="900" b="0" i="0" dirty="0">
                    <a:solidFill>
                      <a:schemeClr val="tx1"/>
                    </a:solidFill>
                    <a:effectLst/>
                    <a:latin typeface="Consolas" panose="020B0609020204030204" pitchFamily="49" charset="0"/>
                  </a:rPr>
                  <a:t>XXXYYY</a:t>
                </a:r>
                <a:r>
                  <a:rPr lang="en-US" sz="900" b="0" i="0" dirty="0">
                    <a:solidFill>
                      <a:schemeClr val="tx1"/>
                    </a:solidFill>
                    <a:effectLst/>
                    <a:latin typeface="Segoe WPC"/>
                  </a:rPr>
                  <a:t>,</a:t>
                </a:r>
              </a:p>
              <a:p>
                <a:pPr algn="l">
                  <a:spcBef>
                    <a:spcPts val="300"/>
                  </a:spcBef>
                  <a:buFont typeface="+mj-lt"/>
                  <a:buAutoNum type="arabicPeriod"/>
                </a:pPr>
                <a14:m>
                  <m:oMath xmlns:m="http://schemas.openxmlformats.org/officeDocument/2006/math">
                    <m:r>
                      <a:rPr lang="en-US" sz="900" i="1">
                        <a:solidFill>
                          <a:schemeClr val="tx1"/>
                        </a:solidFill>
                        <a:latin typeface="Cambria Math" panose="02040503050406030204" pitchFamily="18" charset="0"/>
                      </a:rPr>
                      <m:t>𝐹</m:t>
                    </m:r>
                    <m:r>
                      <a:rPr lang="en-US" sz="900" i="0">
                        <a:solidFill>
                          <a:schemeClr val="tx1"/>
                        </a:solidFill>
                        <a:latin typeface="Cambria Math" panose="02040503050406030204" pitchFamily="18" charset="0"/>
                      </a:rPr>
                      <m:t>=</m:t>
                    </m:r>
                    <m:r>
                      <a:rPr lang="en-US" sz="900" i="1">
                        <a:solidFill>
                          <a:schemeClr val="tx1"/>
                        </a:solidFill>
                        <a:latin typeface="Cambria Math" panose="02040503050406030204" pitchFamily="18" charset="0"/>
                      </a:rPr>
                      <m:t>𝑆</m:t>
                    </m:r>
                    <m:f>
                      <m:fPr>
                        <m:ctrlPr>
                          <a:rPr lang="en-US" sz="900" i="1">
                            <a:solidFill>
                              <a:schemeClr val="tx1"/>
                            </a:solidFill>
                            <a:latin typeface="Cambria Math" panose="02040503050406030204" pitchFamily="18" charset="0"/>
                          </a:rPr>
                        </m:ctrlPr>
                      </m:fPr>
                      <m:num>
                        <m:d>
                          <m:dPr>
                            <m:endChr m:val=""/>
                            <m:ctrlPr>
                              <a:rPr lang="en-US" sz="900" i="1">
                                <a:solidFill>
                                  <a:schemeClr val="tx1"/>
                                </a:solidFill>
                                <a:latin typeface="Cambria Math" panose="02040503050406030204" pitchFamily="18" charset="0"/>
                              </a:rPr>
                            </m:ctrlPr>
                          </m:dPr>
                          <m:e>
                            <m:r>
                              <a:rPr lang="en-US" sz="900" i="0">
                                <a:solidFill>
                                  <a:schemeClr val="tx1"/>
                                </a:solidFill>
                                <a:latin typeface="Cambria Math" panose="02040503050406030204" pitchFamily="18" charset="0"/>
                              </a:rPr>
                              <m:t>1</m:t>
                            </m:r>
                            <m:r>
                              <a:rPr lang="en-US" sz="900" i="0">
                                <a:solidFill>
                                  <a:schemeClr val="tx1"/>
                                </a:solidFill>
                                <a:latin typeface="Cambria Math" panose="02040503050406030204" pitchFamily="18" charset="0"/>
                              </a:rPr>
                              <m:t>+</m:t>
                            </m:r>
                            <m:sSub>
                              <m:sSubPr>
                                <m:ctrlPr>
                                  <a:rPr lang="en-US" sz="900" i="1">
                                    <a:solidFill>
                                      <a:schemeClr val="tx1"/>
                                    </a:solidFill>
                                    <a:latin typeface="Cambria Math" panose="02040503050406030204" pitchFamily="18" charset="0"/>
                                  </a:rPr>
                                </m:ctrlPr>
                              </m:sSubPr>
                              <m:e>
                                <m:r>
                                  <a:rPr lang="en-US" sz="900" i="1">
                                    <a:solidFill>
                                      <a:schemeClr val="tx1"/>
                                    </a:solidFill>
                                    <a:latin typeface="Cambria Math" panose="02040503050406030204" pitchFamily="18" charset="0"/>
                                  </a:rPr>
                                  <m:t>𝑅</m:t>
                                </m:r>
                              </m:e>
                              <m:sub>
                                <m:r>
                                  <a:rPr lang="en-US" sz="900" i="1">
                                    <a:solidFill>
                                      <a:schemeClr val="tx1"/>
                                    </a:solidFill>
                                    <a:latin typeface="Cambria Math" panose="02040503050406030204" pitchFamily="18" charset="0"/>
                                  </a:rPr>
                                  <m:t>𝑌𝑌𝑌</m:t>
                                </m:r>
                              </m:sub>
                            </m:sSub>
                            <m:sSup>
                              <m:sSupPr>
                                <m:ctrlPr>
                                  <a:rPr lang="en-US" sz="900" i="1">
                                    <a:solidFill>
                                      <a:schemeClr val="tx1"/>
                                    </a:solidFill>
                                    <a:latin typeface="Cambria Math" panose="02040503050406030204" pitchFamily="18" charset="0"/>
                                  </a:rPr>
                                </m:ctrlPr>
                              </m:sSupPr>
                              <m:e>
                                <m:d>
                                  <m:dPr>
                                    <m:begChr m:val=""/>
                                    <m:endChr m:val=""/>
                                    <m:ctrlPr>
                                      <a:rPr lang="en-US" sz="900" i="1">
                                        <a:solidFill>
                                          <a:schemeClr val="tx1"/>
                                        </a:solidFill>
                                        <a:latin typeface="Cambria Math" panose="02040503050406030204" pitchFamily="18" charset="0"/>
                                      </a:rPr>
                                    </m:ctrlPr>
                                  </m:dPr>
                                  <m:e>
                                    <m:r>
                                      <a:rPr lang="en-US" sz="900" i="0">
                                        <a:solidFill>
                                          <a:schemeClr val="tx1"/>
                                        </a:solidFill>
                                        <a:latin typeface="Cambria Math" panose="02040503050406030204" pitchFamily="18" charset="0"/>
                                      </a:rPr>
                                      <m:t>)</m:t>
                                    </m:r>
                                  </m:e>
                                </m:d>
                              </m:e>
                              <m:sup>
                                <m:r>
                                  <a:rPr lang="en-US" sz="900" i="1">
                                    <a:solidFill>
                                      <a:schemeClr val="tx1"/>
                                    </a:solidFill>
                                    <a:latin typeface="Cambria Math" panose="02040503050406030204" pitchFamily="18" charset="0"/>
                                  </a:rPr>
                                  <m:t>𝑇</m:t>
                                </m:r>
                              </m:sup>
                            </m:sSup>
                          </m:e>
                        </m:d>
                      </m:num>
                      <m:den>
                        <m:d>
                          <m:dPr>
                            <m:endChr m:val=""/>
                            <m:ctrlPr>
                              <a:rPr lang="en-US" sz="900" i="1">
                                <a:solidFill>
                                  <a:schemeClr val="tx1"/>
                                </a:solidFill>
                                <a:latin typeface="Cambria Math" panose="02040503050406030204" pitchFamily="18" charset="0"/>
                              </a:rPr>
                            </m:ctrlPr>
                          </m:dPr>
                          <m:e>
                            <m:r>
                              <a:rPr lang="en-US" sz="900" i="0">
                                <a:solidFill>
                                  <a:schemeClr val="tx1"/>
                                </a:solidFill>
                                <a:latin typeface="Cambria Math" panose="02040503050406030204" pitchFamily="18" charset="0"/>
                              </a:rPr>
                              <m:t>1</m:t>
                            </m:r>
                            <m:r>
                              <a:rPr lang="en-US" sz="900" i="0">
                                <a:solidFill>
                                  <a:schemeClr val="tx1"/>
                                </a:solidFill>
                                <a:latin typeface="Cambria Math" panose="02040503050406030204" pitchFamily="18" charset="0"/>
                              </a:rPr>
                              <m:t>+</m:t>
                            </m:r>
                            <m:sSub>
                              <m:sSubPr>
                                <m:ctrlPr>
                                  <a:rPr lang="en-US" sz="900" i="1">
                                    <a:solidFill>
                                      <a:schemeClr val="tx1"/>
                                    </a:solidFill>
                                    <a:latin typeface="Cambria Math" panose="02040503050406030204" pitchFamily="18" charset="0"/>
                                  </a:rPr>
                                </m:ctrlPr>
                              </m:sSubPr>
                              <m:e>
                                <m:r>
                                  <a:rPr lang="en-US" sz="900" i="1">
                                    <a:solidFill>
                                      <a:schemeClr val="tx1"/>
                                    </a:solidFill>
                                    <a:latin typeface="Cambria Math" panose="02040503050406030204" pitchFamily="18" charset="0"/>
                                  </a:rPr>
                                  <m:t>𝑅</m:t>
                                </m:r>
                              </m:e>
                              <m:sub>
                                <m:r>
                                  <a:rPr lang="en-US" sz="900" i="1">
                                    <a:solidFill>
                                      <a:schemeClr val="tx1"/>
                                    </a:solidFill>
                                    <a:latin typeface="Cambria Math" panose="02040503050406030204" pitchFamily="18" charset="0"/>
                                  </a:rPr>
                                  <m:t>𝑋𝑋𝑋</m:t>
                                </m:r>
                              </m:sub>
                            </m:sSub>
                            <m:sSup>
                              <m:sSupPr>
                                <m:ctrlPr>
                                  <a:rPr lang="en-US" sz="900" i="1">
                                    <a:solidFill>
                                      <a:schemeClr val="tx1"/>
                                    </a:solidFill>
                                    <a:latin typeface="Cambria Math" panose="02040503050406030204" pitchFamily="18" charset="0"/>
                                  </a:rPr>
                                </m:ctrlPr>
                              </m:sSupPr>
                              <m:e>
                                <m:d>
                                  <m:dPr>
                                    <m:begChr m:val=""/>
                                    <m:endChr m:val=""/>
                                    <m:ctrlPr>
                                      <a:rPr lang="en-US" sz="900" i="1">
                                        <a:solidFill>
                                          <a:schemeClr val="tx1"/>
                                        </a:solidFill>
                                        <a:latin typeface="Cambria Math" panose="02040503050406030204" pitchFamily="18" charset="0"/>
                                      </a:rPr>
                                    </m:ctrlPr>
                                  </m:dPr>
                                  <m:e>
                                    <m:r>
                                      <a:rPr lang="en-US" sz="900" i="0">
                                        <a:solidFill>
                                          <a:schemeClr val="tx1"/>
                                        </a:solidFill>
                                        <a:latin typeface="Cambria Math" panose="02040503050406030204" pitchFamily="18" charset="0"/>
                                      </a:rPr>
                                      <m:t>)</m:t>
                                    </m:r>
                                  </m:e>
                                </m:d>
                              </m:e>
                              <m:sup>
                                <m:r>
                                  <a:rPr lang="en-US" sz="900" i="1">
                                    <a:solidFill>
                                      <a:schemeClr val="tx1"/>
                                    </a:solidFill>
                                    <a:latin typeface="Cambria Math" panose="02040503050406030204" pitchFamily="18" charset="0"/>
                                  </a:rPr>
                                  <m:t>𝑇</m:t>
                                </m:r>
                              </m:sup>
                            </m:sSup>
                          </m:e>
                        </m:d>
                      </m:den>
                    </m:f>
                  </m:oMath>
                </a14:m>
                <a:endParaRPr lang="en-US" sz="900" b="0" i="0" dirty="0">
                  <a:solidFill>
                    <a:schemeClr val="tx1"/>
                  </a:solidFill>
                  <a:effectLst/>
                  <a:latin typeface="Segoe WPC"/>
                </a:endParaRPr>
              </a:p>
              <a:p>
                <a:pPr algn="l">
                  <a:spcBef>
                    <a:spcPts val="300"/>
                  </a:spcBef>
                  <a:buFont typeface="+mj-lt"/>
                  <a:buAutoNum type="arabicPeriod"/>
                </a:pPr>
                <a:r>
                  <a:rPr lang="en-US" sz="900" b="0" i="0" dirty="0">
                    <a:solidFill>
                      <a:schemeClr val="tx1"/>
                    </a:solidFill>
                    <a:effectLst/>
                    <a:latin typeface="Segoe WPC"/>
                  </a:rPr>
                  <a:t>Approximation for forward points:</a:t>
                </a:r>
              </a:p>
              <a:p>
                <a:pPr algn="l">
                  <a:spcBef>
                    <a:spcPts val="300"/>
                  </a:spcBef>
                  <a:buFont typeface="+mj-lt"/>
                  <a:buAutoNum type="arabicPeriod"/>
                </a:pPr>
                <a14:m>
                  <m:oMath xmlns:m="http://schemas.openxmlformats.org/officeDocument/2006/math">
                    <m:f>
                      <m:fPr>
                        <m:ctrlPr>
                          <a:rPr lang="en-US" sz="900" i="1">
                            <a:solidFill>
                              <a:schemeClr val="tx1"/>
                            </a:solidFill>
                            <a:latin typeface="Cambria Math" panose="02040503050406030204" pitchFamily="18" charset="0"/>
                          </a:rPr>
                        </m:ctrlPr>
                      </m:fPr>
                      <m:num>
                        <m:r>
                          <a:rPr lang="en-US" sz="900" i="1">
                            <a:solidFill>
                              <a:schemeClr val="tx1"/>
                            </a:solidFill>
                            <a:latin typeface="Cambria Math" panose="02040503050406030204" pitchFamily="18" charset="0"/>
                          </a:rPr>
                          <m:t>𝐹</m:t>
                        </m:r>
                        <m:r>
                          <a:rPr lang="en-US" sz="900" i="0">
                            <a:solidFill>
                              <a:schemeClr val="tx1"/>
                            </a:solidFill>
                            <a:latin typeface="Cambria Math" panose="02040503050406030204" pitchFamily="18" charset="0"/>
                          </a:rPr>
                          <m:t>−</m:t>
                        </m:r>
                        <m:r>
                          <a:rPr lang="en-US" sz="900" i="1">
                            <a:solidFill>
                              <a:schemeClr val="tx1"/>
                            </a:solidFill>
                            <a:latin typeface="Cambria Math" panose="02040503050406030204" pitchFamily="18" charset="0"/>
                          </a:rPr>
                          <m:t>𝑆</m:t>
                        </m:r>
                      </m:num>
                      <m:den>
                        <m:r>
                          <a:rPr lang="en-US" sz="900" i="1">
                            <a:solidFill>
                              <a:schemeClr val="tx1"/>
                            </a:solidFill>
                            <a:latin typeface="Cambria Math" panose="02040503050406030204" pitchFamily="18" charset="0"/>
                          </a:rPr>
                          <m:t>𝑆</m:t>
                        </m:r>
                      </m:den>
                    </m:f>
                    <m:r>
                      <a:rPr lang="en-US" sz="900" i="0">
                        <a:solidFill>
                          <a:schemeClr val="tx1"/>
                        </a:solidFill>
                        <a:latin typeface="Cambria Math" panose="02040503050406030204" pitchFamily="18" charset="0"/>
                      </a:rPr>
                      <m:t>≈</m:t>
                    </m:r>
                    <m:d>
                      <m:dPr>
                        <m:ctrlPr>
                          <a:rPr lang="en-US" sz="900" i="1">
                            <a:solidFill>
                              <a:schemeClr val="tx1"/>
                            </a:solidFill>
                            <a:latin typeface="Cambria Math" panose="02040503050406030204" pitchFamily="18" charset="0"/>
                          </a:rPr>
                        </m:ctrlPr>
                      </m:dPr>
                      <m:e>
                        <m:sSub>
                          <m:sSubPr>
                            <m:ctrlPr>
                              <a:rPr lang="en-US" sz="900" i="1">
                                <a:solidFill>
                                  <a:schemeClr val="tx1"/>
                                </a:solidFill>
                                <a:latin typeface="Cambria Math" panose="02040503050406030204" pitchFamily="18" charset="0"/>
                              </a:rPr>
                            </m:ctrlPr>
                          </m:sSubPr>
                          <m:e>
                            <m:r>
                              <a:rPr lang="en-US" sz="900" i="1">
                                <a:solidFill>
                                  <a:schemeClr val="tx1"/>
                                </a:solidFill>
                                <a:latin typeface="Cambria Math" panose="02040503050406030204" pitchFamily="18" charset="0"/>
                              </a:rPr>
                              <m:t>𝑅</m:t>
                            </m:r>
                          </m:e>
                          <m:sub>
                            <m:r>
                              <a:rPr lang="en-US" sz="900" i="1">
                                <a:solidFill>
                                  <a:schemeClr val="tx1"/>
                                </a:solidFill>
                                <a:latin typeface="Cambria Math" panose="02040503050406030204" pitchFamily="18" charset="0"/>
                              </a:rPr>
                              <m:t>𝑌𝑌𝑌</m:t>
                            </m:r>
                          </m:sub>
                        </m:sSub>
                        <m:r>
                          <a:rPr lang="en-US" sz="900" i="0">
                            <a:solidFill>
                              <a:schemeClr val="tx1"/>
                            </a:solidFill>
                            <a:latin typeface="Cambria Math" panose="02040503050406030204" pitchFamily="18" charset="0"/>
                          </a:rPr>
                          <m:t>−</m:t>
                        </m:r>
                        <m:sSub>
                          <m:sSubPr>
                            <m:ctrlPr>
                              <a:rPr lang="en-US" sz="900" i="1">
                                <a:solidFill>
                                  <a:schemeClr val="tx1"/>
                                </a:solidFill>
                                <a:latin typeface="Cambria Math" panose="02040503050406030204" pitchFamily="18" charset="0"/>
                              </a:rPr>
                            </m:ctrlPr>
                          </m:sSubPr>
                          <m:e>
                            <m:r>
                              <a:rPr lang="en-US" sz="900" i="1">
                                <a:solidFill>
                                  <a:schemeClr val="tx1"/>
                                </a:solidFill>
                                <a:latin typeface="Cambria Math" panose="02040503050406030204" pitchFamily="18" charset="0"/>
                              </a:rPr>
                              <m:t>𝑅</m:t>
                            </m:r>
                          </m:e>
                          <m:sub>
                            <m:r>
                              <a:rPr lang="en-US" sz="900" i="1">
                                <a:solidFill>
                                  <a:schemeClr val="tx1"/>
                                </a:solidFill>
                                <a:latin typeface="Cambria Math" panose="02040503050406030204" pitchFamily="18" charset="0"/>
                              </a:rPr>
                              <m:t>𝑋𝑋𝑋</m:t>
                            </m:r>
                          </m:sub>
                        </m:sSub>
                      </m:e>
                    </m:d>
                    <m:r>
                      <a:rPr lang="en-US" sz="900" i="1">
                        <a:solidFill>
                          <a:schemeClr val="tx1"/>
                        </a:solidFill>
                        <a:latin typeface="Cambria Math" panose="02040503050406030204" pitchFamily="18" charset="0"/>
                      </a:rPr>
                      <m:t>𝑇</m:t>
                    </m:r>
                  </m:oMath>
                </a14:m>
                <a:endParaRPr lang="en-US" sz="900" b="0" i="0" dirty="0">
                  <a:solidFill>
                    <a:schemeClr val="tx1"/>
                  </a:solidFill>
                  <a:effectLst/>
                  <a:latin typeface="Segoe WPC"/>
                </a:endParaRPr>
              </a:p>
              <a:p>
                <a:pPr algn="l">
                  <a:spcBef>
                    <a:spcPts val="300"/>
                  </a:spcBef>
                  <a:buFont typeface="+mj-lt"/>
                  <a:buAutoNum type="arabicPeriod"/>
                </a:pPr>
                <a:r>
                  <a:rPr lang="en-US" sz="900" b="1" i="0" dirty="0">
                    <a:solidFill>
                      <a:schemeClr val="tx1"/>
                    </a:solidFill>
                    <a:effectLst/>
                    <a:latin typeface="Segoe WPC"/>
                  </a:rPr>
                  <a:t>Interpretation:</a:t>
                </a:r>
                <a:r>
                  <a:rPr lang="en-US" sz="900" b="0" i="0" dirty="0">
                    <a:solidFill>
                      <a:schemeClr val="tx1"/>
                    </a:solidFill>
                    <a:effectLst/>
                    <a:latin typeface="Segoe WPC"/>
                  </a:rPr>
                  <a:t> If the interest rate on </a:t>
                </a:r>
                <a:r>
                  <a:rPr lang="en-US" sz="900" b="0" i="0" dirty="0">
                    <a:solidFill>
                      <a:schemeClr val="tx1"/>
                    </a:solidFill>
                    <a:effectLst/>
                    <a:latin typeface="Consolas" panose="020B0609020204030204" pitchFamily="49" charset="0"/>
                  </a:rPr>
                  <a:t>XXX</a:t>
                </a:r>
                <a:r>
                  <a:rPr lang="en-US" sz="900" b="0" i="0" dirty="0">
                    <a:solidFill>
                      <a:schemeClr val="tx1"/>
                    </a:solidFill>
                    <a:effectLst/>
                    <a:latin typeface="Segoe WPC"/>
                  </a:rPr>
                  <a:t> is higher than on </a:t>
                </a:r>
                <a:r>
                  <a:rPr lang="en-US" sz="900" b="0" i="0" dirty="0">
                    <a:solidFill>
                      <a:schemeClr val="tx1"/>
                    </a:solidFill>
                    <a:effectLst/>
                    <a:latin typeface="Consolas" panose="020B0609020204030204" pitchFamily="49" charset="0"/>
                  </a:rPr>
                  <a:t>YYY</a:t>
                </a:r>
                <a:r>
                  <a:rPr lang="en-US" sz="900" b="0" i="0" dirty="0">
                    <a:solidFill>
                      <a:schemeClr val="tx1"/>
                    </a:solidFill>
                    <a:effectLst/>
                    <a:latin typeface="Segoe WPC"/>
                  </a:rPr>
                  <a:t>, </a:t>
                </a:r>
                <a:r>
                  <a:rPr lang="en-US" sz="900" b="0" i="0" dirty="0">
                    <a:solidFill>
                      <a:schemeClr val="tx1"/>
                    </a:solidFill>
                    <a:effectLst/>
                    <a:latin typeface="Consolas" panose="020B0609020204030204" pitchFamily="49" charset="0"/>
                  </a:rPr>
                  <a:t>XXX</a:t>
                </a:r>
                <a:r>
                  <a:rPr lang="en-US" sz="900" b="0" i="0" dirty="0">
                    <a:solidFill>
                      <a:schemeClr val="tx1"/>
                    </a:solidFill>
                    <a:effectLst/>
                    <a:latin typeface="Segoe WPC"/>
                  </a:rPr>
                  <a:t> is weaker in the forward market than in the spot market. If both CIP and UIP held exactly, the forward rate would equal the expected future spot rate.</a:t>
                </a:r>
                <a:br>
                  <a:rPr lang="en-US" sz="900" b="0" i="0" dirty="0">
                    <a:solidFill>
                      <a:schemeClr val="tx1"/>
                    </a:solidFill>
                    <a:effectLst/>
                    <a:latin typeface="Segoe WPC"/>
                  </a:rPr>
                </a:br>
                <a:r>
                  <a:rPr lang="en-US" sz="900" b="1" i="0" dirty="0">
                    <a:solidFill>
                      <a:schemeClr val="tx1"/>
                    </a:solidFill>
                    <a:effectLst/>
                    <a:latin typeface="Segoe WPC"/>
                  </a:rPr>
                  <a:t>Exam Trap:</a:t>
                </a:r>
                <a:r>
                  <a:rPr lang="en-US" sz="900" b="0" i="0" dirty="0">
                    <a:solidFill>
                      <a:schemeClr val="tx1"/>
                    </a:solidFill>
                    <a:effectLst/>
                    <a:latin typeface="Segoe WPC"/>
                  </a:rPr>
                  <a:t> CIP is based on arbitrage and generally holds much better than UIP; do not assume forward rates are always unbiased forecasts of future spot rates.</a:t>
                </a:r>
              </a:p>
            </p:txBody>
          </p:sp>
        </mc:Choice>
        <mc:Fallback xmlns="">
          <p:sp>
            <p:nvSpPr>
              <p:cNvPr id="7" name="CuadroTexto 6">
                <a:extLst>
                  <a:ext uri="{FF2B5EF4-FFF2-40B4-BE49-F238E27FC236}">
                    <a16:creationId xmlns:a16="http://schemas.microsoft.com/office/drawing/2014/main" id="{6C2D93BD-4768-CAF0-9DAE-3942C49A8B67}"/>
                  </a:ext>
                </a:extLst>
              </p:cNvPr>
              <p:cNvSpPr txBox="1">
                <a:spLocks noRot="1" noChangeAspect="1" noMove="1" noResize="1" noEditPoints="1" noAdjustHandles="1" noChangeArrowheads="1" noChangeShapeType="1" noTextEdit="1"/>
              </p:cNvSpPr>
              <p:nvPr/>
            </p:nvSpPr>
            <p:spPr>
              <a:xfrm>
                <a:off x="5653314" y="-59080"/>
                <a:ext cx="6705600" cy="8606074"/>
              </a:xfrm>
              <a:prstGeom prst="rect">
                <a:avLst/>
              </a:prstGeom>
              <a:blipFill>
                <a:blip r:embed="rId2"/>
                <a:stretch>
                  <a:fillRect t="-142"/>
                </a:stretch>
              </a:blipFill>
            </p:spPr>
            <p:txBody>
              <a:bodyPr/>
              <a:lstStyle/>
              <a:p>
                <a:r>
                  <a:rPr lang="es-PE">
                    <a:noFill/>
                  </a:rPr>
                  <a:t> </a:t>
                </a:r>
              </a:p>
            </p:txBody>
          </p:sp>
        </mc:Fallback>
      </mc:AlternateContent>
    </p:spTree>
    <p:extLst>
      <p:ext uri="{BB962C8B-B14F-4D97-AF65-F5344CB8AC3E}">
        <p14:creationId xmlns:p14="http://schemas.microsoft.com/office/powerpoint/2010/main" val="38998365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0EF46E-8BB5-65A8-81DA-C0B5F72F5164}"/>
              </a:ext>
            </a:extLst>
          </p:cNvPr>
          <p:cNvSpPr>
            <a:spLocks noGrp="1"/>
          </p:cNvSpPr>
          <p:nvPr>
            <p:ph type="title"/>
          </p:nvPr>
        </p:nvSpPr>
        <p:spPr>
          <a:xfrm>
            <a:off x="68943" y="-55790"/>
            <a:ext cx="10515600" cy="418647"/>
          </a:xfrm>
        </p:spPr>
        <p:txBody>
          <a:bodyPr>
            <a:normAutofit fontScale="90000"/>
          </a:bodyPr>
          <a:lstStyle/>
          <a:p>
            <a:r>
              <a:rPr lang="en-US" sz="2400" dirty="0"/>
              <a:t>Pricing Financial Forwards and futures</a:t>
            </a:r>
            <a:endParaRPr lang="es-PE" sz="2400" dirty="0"/>
          </a:p>
        </p:txBody>
      </p:sp>
      <p:sp>
        <p:nvSpPr>
          <p:cNvPr id="5" name="CuadroTexto 4">
            <a:extLst>
              <a:ext uri="{FF2B5EF4-FFF2-40B4-BE49-F238E27FC236}">
                <a16:creationId xmlns:a16="http://schemas.microsoft.com/office/drawing/2014/main" id="{D93D3356-810B-354C-0D16-3898D01A2520}"/>
              </a:ext>
            </a:extLst>
          </p:cNvPr>
          <p:cNvSpPr txBox="1"/>
          <p:nvPr/>
        </p:nvSpPr>
        <p:spPr>
          <a:xfrm>
            <a:off x="-19957" y="175043"/>
            <a:ext cx="6401707" cy="6809556"/>
          </a:xfrm>
          <a:prstGeom prst="rect">
            <a:avLst/>
          </a:prstGeom>
          <a:noFill/>
        </p:spPr>
        <p:txBody>
          <a:bodyPr wrap="square">
            <a:spAutoFit/>
          </a:bodyPr>
          <a:lstStyle/>
          <a:p>
            <a:pPr algn="l">
              <a:spcBef>
                <a:spcPts val="300"/>
              </a:spcBef>
              <a:buFont typeface="+mj-lt"/>
              <a:buAutoNum type="arabicPeriod"/>
            </a:pPr>
            <a:r>
              <a:rPr lang="en-US" sz="800" b="1" i="0" dirty="0">
                <a:effectLst/>
                <a:latin typeface="Segoe WPC"/>
              </a:rPr>
              <a:t>Financial Asset and Short Selling</a:t>
            </a:r>
            <a:br>
              <a:rPr lang="en-US" sz="800" b="0" i="0" dirty="0">
                <a:effectLst/>
                <a:latin typeface="Segoe WPC"/>
              </a:rPr>
            </a:br>
            <a:r>
              <a:rPr lang="en-US" sz="800" b="1" i="0" dirty="0">
                <a:effectLst/>
                <a:latin typeface="Segoe WPC"/>
              </a:rPr>
              <a:t>Financial Object:</a:t>
            </a:r>
            <a:r>
              <a:rPr lang="en-US" sz="800" b="0" i="0" dirty="0">
                <a:effectLst/>
                <a:latin typeface="Segoe WPC"/>
              </a:rPr>
              <a:t> Financial assets are claims-based investment assets such as stocks, bonds, and currencies; short selling means selling an asset you do not own and buying it back later.</a:t>
            </a:r>
            <a:br>
              <a:rPr lang="en-US" sz="800" b="0" i="0" dirty="0">
                <a:effectLst/>
                <a:latin typeface="Segoe WPC"/>
              </a:rPr>
            </a:br>
            <a:r>
              <a:rPr lang="en-US" sz="800" b="1" i="0" dirty="0">
                <a:effectLst/>
                <a:latin typeface="Segoe WPC"/>
              </a:rPr>
              <a:t>Plain Intuition:</a:t>
            </a:r>
            <a:r>
              <a:rPr lang="en-US" sz="800" b="0" i="0" dirty="0">
                <a:effectLst/>
                <a:latin typeface="Segoe WPC"/>
              </a:rPr>
              <a:t> A short position profits if the asset price falls and loses if it rises. If the asset pays dividends while shorted, the short seller must pay them.</a:t>
            </a:r>
            <a:br>
              <a:rPr lang="en-US" sz="800" b="0" i="0" dirty="0">
                <a:effectLst/>
                <a:latin typeface="Segoe WPC"/>
              </a:rPr>
            </a:br>
            <a:r>
              <a:rPr lang="en-US" sz="800" b="1" i="0" dirty="0">
                <a:effectLst/>
                <a:latin typeface="Segoe WPC"/>
              </a:rPr>
              <a:t>Visual Intuition:</a:t>
            </a:r>
            <a:r>
              <a:rPr lang="en-US" sz="800" b="0" i="0" dirty="0">
                <a:effectLst/>
                <a:latin typeface="Segoe WPC"/>
              </a:rPr>
              <a:t> Short at 50, pay dividend 2, cover at 30: profit = 50 - 30 - 2 = 18 per share.</a:t>
            </a:r>
            <a:br>
              <a:rPr lang="en-US" sz="800" b="0" i="0" dirty="0">
                <a:effectLst/>
                <a:latin typeface="Segoe WPC"/>
              </a:rPr>
            </a:br>
            <a:r>
              <a:rPr lang="en-US" sz="800" b="1" i="0" dirty="0">
                <a:effectLst/>
                <a:latin typeface="Segoe WPC"/>
              </a:rPr>
              <a:t>Key Formula:</a:t>
            </a:r>
            <a:r>
              <a:rPr lang="en-US" sz="800" b="0" i="0" dirty="0">
                <a:effectLst/>
                <a:latin typeface="Segoe WPC"/>
              </a:rPr>
              <a:t> Short-sale profit = initial sale price - repurchase price - income paid on asset.</a:t>
            </a:r>
            <a:br>
              <a:rPr lang="en-US" sz="800" b="0" i="0" dirty="0">
                <a:effectLst/>
                <a:latin typeface="Segoe WPC"/>
              </a:rPr>
            </a:br>
            <a:r>
              <a:rPr lang="en-US" sz="800" b="1" i="0" dirty="0">
                <a:effectLst/>
                <a:latin typeface="Segoe WPC"/>
              </a:rPr>
              <a:t>Interpretation:</a:t>
            </a:r>
            <a:r>
              <a:rPr lang="en-US" sz="800" b="0" i="0" dirty="0">
                <a:effectLst/>
                <a:latin typeface="Segoe WPC"/>
              </a:rPr>
              <a:t> Long and short cash flows are mirror images.</a:t>
            </a:r>
            <a:br>
              <a:rPr lang="en-US" sz="800" b="0" i="0" dirty="0">
                <a:effectLst/>
                <a:latin typeface="Segoe WPC"/>
              </a:rPr>
            </a:br>
            <a:r>
              <a:rPr lang="en-US" sz="800" b="1" i="0" dirty="0">
                <a:effectLst/>
                <a:latin typeface="Segoe WPC"/>
              </a:rPr>
              <a:t>Exam Trap:</a:t>
            </a:r>
            <a:r>
              <a:rPr lang="en-US" sz="800" b="0" i="0" dirty="0">
                <a:effectLst/>
                <a:latin typeface="Segoe WPC"/>
              </a:rPr>
              <a:t> Do not forget dividends or borrowing fees when computing short-sale profit.</a:t>
            </a:r>
          </a:p>
          <a:p>
            <a:pPr algn="l">
              <a:spcBef>
                <a:spcPts val="300"/>
              </a:spcBef>
              <a:buFont typeface="+mj-lt"/>
              <a:buAutoNum type="arabicPeriod"/>
            </a:pPr>
            <a:r>
              <a:rPr lang="en-US" sz="800" b="1" i="0" dirty="0">
                <a:effectLst/>
                <a:latin typeface="Segoe WPC"/>
              </a:rPr>
              <a:t>Forward Pricing for Assets with No Income</a:t>
            </a:r>
            <a:br>
              <a:rPr lang="en-US" sz="800" b="0" i="0" dirty="0">
                <a:effectLst/>
                <a:latin typeface="Segoe WPC"/>
              </a:rPr>
            </a:br>
            <a:r>
              <a:rPr lang="en-US" sz="800" b="1" i="0" dirty="0">
                <a:effectLst/>
                <a:latin typeface="Segoe WPC"/>
              </a:rPr>
              <a:t>Financial Object:</a:t>
            </a:r>
            <a:r>
              <a:rPr lang="en-US" sz="800" b="0" i="0" dirty="0">
                <a:effectLst/>
                <a:latin typeface="Segoe WPC"/>
              </a:rPr>
              <a:t> Forward price of an asset that pays no income, such as a non-dividend-paying stock or zero-coupon bond.</a:t>
            </a:r>
            <a:br>
              <a:rPr lang="en-US" sz="800" b="0" i="0" dirty="0">
                <a:effectLst/>
                <a:latin typeface="Segoe WPC"/>
              </a:rPr>
            </a:br>
            <a:r>
              <a:rPr lang="en-US" sz="800" b="1" i="0" dirty="0">
                <a:effectLst/>
                <a:latin typeface="Segoe WPC"/>
              </a:rPr>
              <a:t>Plain Intuition:</a:t>
            </a:r>
            <a:r>
              <a:rPr lang="en-US" sz="800" b="0" i="0" dirty="0">
                <a:effectLst/>
                <a:latin typeface="Segoe WPC"/>
              </a:rPr>
              <a:t> If you can buy the asset today and finance it at the risk-free rate, the fair forward price is the spot price carried forward at that rate.</a:t>
            </a:r>
            <a:br>
              <a:rPr lang="en-US" sz="800" b="0" i="0" dirty="0">
                <a:effectLst/>
                <a:latin typeface="Segoe WPC"/>
              </a:rPr>
            </a:br>
            <a:r>
              <a:rPr lang="en-US" sz="800" b="1" i="0" dirty="0">
                <a:effectLst/>
                <a:latin typeface="Segoe WPC"/>
              </a:rPr>
              <a:t>Visual Intuition:</a:t>
            </a:r>
            <a:r>
              <a:rPr lang="en-US" sz="800" b="0" i="0" dirty="0">
                <a:effectLst/>
                <a:latin typeface="Segoe WPC"/>
              </a:rPr>
              <a:t> Buy spot now, hold until maturity, and deliver into the forward; no-arbitrage forces this to match the forward price.</a:t>
            </a:r>
            <a:br>
              <a:rPr lang="en-US" sz="800" b="0" i="0" dirty="0">
                <a:effectLst/>
                <a:latin typeface="Segoe WPC"/>
              </a:rPr>
            </a:br>
            <a:r>
              <a:rPr lang="en-US" sz="800" b="1" i="0" dirty="0">
                <a:effectLst/>
                <a:latin typeface="Segoe WPC"/>
              </a:rPr>
              <a:t>Key Formula:</a:t>
            </a:r>
            <a:r>
              <a:rPr lang="en-US" sz="800" b="0" i="0" dirty="0">
                <a:effectLst/>
                <a:latin typeface="Segoe WPC"/>
              </a:rPr>
              <a:t> F = S(1 + R)^T</a:t>
            </a:r>
            <a:br>
              <a:rPr lang="en-US" sz="800" b="0" i="0" dirty="0">
                <a:effectLst/>
                <a:latin typeface="Segoe WPC"/>
              </a:rPr>
            </a:br>
            <a:r>
              <a:rPr lang="en-US" sz="800" b="1" i="0" dirty="0">
                <a:effectLst/>
                <a:latin typeface="Segoe WPC"/>
              </a:rPr>
              <a:t>Interpretation:</a:t>
            </a:r>
            <a:r>
              <a:rPr lang="en-US" sz="800" b="0" i="0" dirty="0">
                <a:effectLst/>
                <a:latin typeface="Segoe WPC"/>
              </a:rPr>
              <a:t> If forward is too high, buy spot and short forward. If forward is too low, short spot and go long forward.</a:t>
            </a:r>
            <a:br>
              <a:rPr lang="en-US" sz="800" b="0" i="0" dirty="0">
                <a:effectLst/>
                <a:latin typeface="Segoe WPC"/>
              </a:rPr>
            </a:br>
            <a:r>
              <a:rPr lang="en-US" sz="800" b="1" i="0" dirty="0">
                <a:effectLst/>
                <a:latin typeface="Segoe WPC"/>
              </a:rPr>
              <a:t>Exam Trap:</a:t>
            </a:r>
            <a:r>
              <a:rPr lang="en-US" sz="800" b="0" i="0" dirty="0">
                <a:effectLst/>
                <a:latin typeface="Segoe WPC"/>
              </a:rPr>
              <a:t> This is the forward price, not the value of an existing forward contract.</a:t>
            </a:r>
          </a:p>
          <a:p>
            <a:pPr algn="l">
              <a:spcBef>
                <a:spcPts val="300"/>
              </a:spcBef>
              <a:buFont typeface="+mj-lt"/>
              <a:buAutoNum type="arabicPeriod"/>
            </a:pPr>
            <a:r>
              <a:rPr lang="en-US" sz="800" b="1" i="0" dirty="0">
                <a:effectLst/>
                <a:latin typeface="Segoe WPC"/>
              </a:rPr>
              <a:t>Forward Pricing with Known Cash Income</a:t>
            </a:r>
            <a:br>
              <a:rPr lang="en-US" sz="800" b="0" i="0" dirty="0">
                <a:effectLst/>
                <a:latin typeface="Segoe WPC"/>
              </a:rPr>
            </a:br>
            <a:r>
              <a:rPr lang="en-US" sz="800" b="1" i="0" dirty="0">
                <a:effectLst/>
                <a:latin typeface="Segoe WPC"/>
              </a:rPr>
              <a:t>Financial Object:</a:t>
            </a:r>
            <a:r>
              <a:rPr lang="en-US" sz="800" b="0" i="0" dirty="0">
                <a:effectLst/>
                <a:latin typeface="Segoe WPC"/>
              </a:rPr>
              <a:t> Forward price when the asset pays known fixed cash flows during the contract life, such as bond coupons or declared dividends.</a:t>
            </a:r>
            <a:br>
              <a:rPr lang="en-US" sz="800" b="0" i="0" dirty="0">
                <a:effectLst/>
                <a:latin typeface="Segoe WPC"/>
              </a:rPr>
            </a:br>
            <a:r>
              <a:rPr lang="en-US" sz="800" b="1" i="0" dirty="0">
                <a:effectLst/>
                <a:latin typeface="Segoe WPC"/>
              </a:rPr>
              <a:t>Plain Intuition:</a:t>
            </a:r>
            <a:r>
              <a:rPr lang="en-US" sz="800" b="0" i="0" dirty="0">
                <a:effectLst/>
                <a:latin typeface="Segoe WPC"/>
              </a:rPr>
              <a:t> Since the holder of the asset receives those cash flows before maturity, they reduce the net cost of carrying the asset.</a:t>
            </a:r>
            <a:br>
              <a:rPr lang="en-US" sz="800" b="0" i="0" dirty="0">
                <a:effectLst/>
                <a:latin typeface="Segoe WPC"/>
              </a:rPr>
            </a:br>
            <a:r>
              <a:rPr lang="en-US" sz="800" b="1" i="0" dirty="0">
                <a:effectLst/>
                <a:latin typeface="Segoe WPC"/>
              </a:rPr>
              <a:t>Visual Intuition:</a:t>
            </a:r>
            <a:r>
              <a:rPr lang="en-US" sz="800" b="0" i="0" dirty="0">
                <a:effectLst/>
                <a:latin typeface="Segoe WPC"/>
              </a:rPr>
              <a:t> Start from spot price, subtract the present value of income received before maturity, then compound the remainder forward.</a:t>
            </a:r>
            <a:br>
              <a:rPr lang="en-US" sz="800" b="0" i="0" dirty="0">
                <a:effectLst/>
                <a:latin typeface="Segoe WPC"/>
              </a:rPr>
            </a:br>
            <a:r>
              <a:rPr lang="en-US" sz="800" b="1" i="0" dirty="0">
                <a:effectLst/>
                <a:latin typeface="Segoe WPC"/>
              </a:rPr>
              <a:t>Key Formula:</a:t>
            </a:r>
            <a:r>
              <a:rPr lang="en-US" sz="800" b="0" i="0" dirty="0">
                <a:effectLst/>
                <a:latin typeface="Segoe WPC"/>
              </a:rPr>
              <a:t> F = (S - I)(1 + R)^T</a:t>
            </a:r>
            <a:br>
              <a:rPr lang="en-US" sz="800" b="0" i="0" dirty="0">
                <a:effectLst/>
                <a:latin typeface="Segoe WPC"/>
              </a:rPr>
            </a:br>
            <a:r>
              <a:rPr lang="en-US" sz="800" b="0" i="0" dirty="0">
                <a:effectLst/>
                <a:latin typeface="Segoe WPC"/>
              </a:rPr>
              <a:t>Here, I = present value of known income during the contract life.</a:t>
            </a:r>
            <a:br>
              <a:rPr lang="en-US" sz="800" b="0" i="0" dirty="0">
                <a:effectLst/>
                <a:latin typeface="Segoe WPC"/>
              </a:rPr>
            </a:br>
            <a:r>
              <a:rPr lang="en-US" sz="800" b="1" i="0" dirty="0">
                <a:effectLst/>
                <a:latin typeface="Segoe WPC"/>
              </a:rPr>
              <a:t>Interpretation:</a:t>
            </a:r>
            <a:r>
              <a:rPr lang="en-US" sz="800" b="0" i="0" dirty="0">
                <a:effectLst/>
                <a:latin typeface="Segoe WPC"/>
              </a:rPr>
              <a:t> Known income lowers the forward price relative to the no-income case.</a:t>
            </a:r>
            <a:br>
              <a:rPr lang="en-US" sz="800" b="0" i="0" dirty="0">
                <a:effectLst/>
                <a:latin typeface="Segoe WPC"/>
              </a:rPr>
            </a:br>
            <a:r>
              <a:rPr lang="en-US" sz="800" b="1" i="0" dirty="0">
                <a:effectLst/>
                <a:latin typeface="Segoe WPC"/>
              </a:rPr>
              <a:t>Exam Trap:</a:t>
            </a:r>
            <a:r>
              <a:rPr lang="en-US" sz="800" b="0" i="0" dirty="0">
                <a:effectLst/>
                <a:latin typeface="Segoe WPC"/>
              </a:rPr>
              <a:t> Use the present value of the income, not the raw income amount.</a:t>
            </a:r>
          </a:p>
          <a:p>
            <a:pPr algn="l">
              <a:spcBef>
                <a:spcPts val="300"/>
              </a:spcBef>
              <a:buFont typeface="+mj-lt"/>
              <a:buAutoNum type="arabicPeriod"/>
            </a:pPr>
            <a:r>
              <a:rPr lang="en-US" sz="800" b="1" i="0" dirty="0">
                <a:effectLst/>
                <a:latin typeface="Segoe WPC"/>
              </a:rPr>
              <a:t>Forward Pricing with Known Yield</a:t>
            </a:r>
            <a:br>
              <a:rPr lang="en-US" sz="800" b="0" i="0" dirty="0">
                <a:effectLst/>
                <a:latin typeface="Segoe WPC"/>
              </a:rPr>
            </a:br>
            <a:r>
              <a:rPr lang="en-US" sz="800" b="1" i="0" dirty="0">
                <a:effectLst/>
                <a:latin typeface="Segoe WPC"/>
              </a:rPr>
              <a:t>Financial Object:</a:t>
            </a:r>
            <a:r>
              <a:rPr lang="en-US" sz="800" b="0" i="0" dirty="0">
                <a:effectLst/>
                <a:latin typeface="Segoe WPC"/>
              </a:rPr>
              <a:t> Forward price when the asset provides income as a known yield percentage, such as stock indices with dividend yield or currencies with foreign interest yield.</a:t>
            </a:r>
            <a:br>
              <a:rPr lang="en-US" sz="800" b="0" i="0" dirty="0">
                <a:effectLst/>
                <a:latin typeface="Segoe WPC"/>
              </a:rPr>
            </a:br>
            <a:r>
              <a:rPr lang="en-US" sz="800" b="1" i="0" dirty="0">
                <a:effectLst/>
                <a:latin typeface="Segoe WPC"/>
              </a:rPr>
              <a:t>Plain Intuition:</a:t>
            </a:r>
            <a:r>
              <a:rPr lang="en-US" sz="800" b="0" i="0" dirty="0">
                <a:effectLst/>
                <a:latin typeface="Segoe WPC"/>
              </a:rPr>
              <a:t> The yield acts like a benefit of holding the asset, so it reduces the forward price relative to pure financing cost.</a:t>
            </a:r>
            <a:br>
              <a:rPr lang="en-US" sz="800" b="0" i="0" dirty="0">
                <a:effectLst/>
                <a:latin typeface="Segoe WPC"/>
              </a:rPr>
            </a:br>
            <a:r>
              <a:rPr lang="en-US" sz="800" b="1" i="0" dirty="0">
                <a:effectLst/>
                <a:latin typeface="Segoe WPC"/>
              </a:rPr>
              <a:t>Visual Intuition:</a:t>
            </a:r>
            <a:r>
              <a:rPr lang="en-US" sz="800" b="0" i="0" dirty="0">
                <a:effectLst/>
                <a:latin typeface="Segoe WPC"/>
              </a:rPr>
              <a:t> Financing pushes the forward price up; yield pulls it down.</a:t>
            </a:r>
            <a:br>
              <a:rPr lang="en-US" sz="800" b="0" i="0" dirty="0">
                <a:effectLst/>
                <a:latin typeface="Segoe WPC"/>
              </a:rPr>
            </a:br>
            <a:r>
              <a:rPr lang="en-US" sz="800" b="1" i="0" dirty="0">
                <a:effectLst/>
                <a:latin typeface="Segoe WPC"/>
              </a:rPr>
              <a:t>Key Formula:</a:t>
            </a:r>
            <a:r>
              <a:rPr lang="en-US" sz="800" b="0" i="0" dirty="0">
                <a:effectLst/>
                <a:latin typeface="Segoe WPC"/>
              </a:rPr>
              <a:t> F = S[(1 + R)^T / (1 + Q)^T]</a:t>
            </a:r>
            <a:br>
              <a:rPr lang="en-US" sz="800" b="0" i="0" dirty="0">
                <a:effectLst/>
                <a:latin typeface="Segoe WPC"/>
              </a:rPr>
            </a:br>
            <a:r>
              <a:rPr lang="en-US" sz="800" b="1" i="0" dirty="0">
                <a:effectLst/>
                <a:latin typeface="Segoe WPC"/>
              </a:rPr>
              <a:t>Interpretation:</a:t>
            </a:r>
            <a:r>
              <a:rPr lang="en-US" sz="800" b="0" i="0" dirty="0">
                <a:effectLst/>
                <a:latin typeface="Segoe WPC"/>
              </a:rPr>
              <a:t> If R &gt; Q, forward exceeds spot; if Q &gt; R, forward can be below spot.</a:t>
            </a:r>
            <a:br>
              <a:rPr lang="en-US" sz="800" b="0" i="0" dirty="0">
                <a:effectLst/>
                <a:latin typeface="Segoe WPC"/>
              </a:rPr>
            </a:br>
            <a:r>
              <a:rPr lang="en-US" sz="800" b="1" i="0" dirty="0">
                <a:effectLst/>
                <a:latin typeface="Segoe WPC"/>
              </a:rPr>
              <a:t>Exam Trap:</a:t>
            </a:r>
            <a:r>
              <a:rPr lang="en-US" sz="800" b="0" i="0" dirty="0">
                <a:effectLst/>
                <a:latin typeface="Segoe WPC"/>
              </a:rPr>
              <a:t> Known yield is not the same as known cash income; use the right formula.</a:t>
            </a:r>
          </a:p>
          <a:p>
            <a:pPr algn="l">
              <a:spcBef>
                <a:spcPts val="300"/>
              </a:spcBef>
              <a:buFont typeface="+mj-lt"/>
              <a:buAutoNum type="arabicPeriod"/>
            </a:pPr>
            <a:r>
              <a:rPr lang="en-US" sz="800" b="1" i="0" dirty="0">
                <a:effectLst/>
                <a:latin typeface="Segoe WPC"/>
              </a:rPr>
              <a:t>Forward Price vs Forward Contract Value</a:t>
            </a:r>
            <a:br>
              <a:rPr lang="en-US" sz="800" b="0" i="0" dirty="0">
                <a:effectLst/>
                <a:latin typeface="Segoe WPC"/>
              </a:rPr>
            </a:br>
            <a:r>
              <a:rPr lang="en-US" sz="800" b="1" i="0" dirty="0">
                <a:effectLst/>
                <a:latin typeface="Segoe WPC"/>
              </a:rPr>
              <a:t>Financial Object:</a:t>
            </a:r>
            <a:r>
              <a:rPr lang="en-US" sz="800" b="0" i="0" dirty="0">
                <a:effectLst/>
                <a:latin typeface="Segoe WPC"/>
              </a:rPr>
              <a:t> The forward price is the delivery price for a new contract; the value is the gain or loss on an existing contract.</a:t>
            </a:r>
            <a:br>
              <a:rPr lang="en-US" sz="800" b="0" i="0" dirty="0">
                <a:effectLst/>
                <a:latin typeface="Segoe WPC"/>
              </a:rPr>
            </a:br>
            <a:r>
              <a:rPr lang="en-US" sz="800" b="1" i="0" dirty="0">
                <a:effectLst/>
                <a:latin typeface="Segoe WPC"/>
              </a:rPr>
              <a:t>Plain Intuition:</a:t>
            </a:r>
            <a:r>
              <a:rPr lang="en-US" sz="800" b="0" i="0" dirty="0">
                <a:effectLst/>
                <a:latin typeface="Segoe WPC"/>
              </a:rPr>
              <a:t> A newly entered forward has value approximately zero. Later, if market conditions change, the contract can become positive or negative in value.</a:t>
            </a:r>
            <a:br>
              <a:rPr lang="en-US" sz="800" b="0" i="0" dirty="0">
                <a:effectLst/>
                <a:latin typeface="Segoe WPC"/>
              </a:rPr>
            </a:br>
            <a:r>
              <a:rPr lang="en-US" sz="800" b="1" i="0" dirty="0">
                <a:effectLst/>
                <a:latin typeface="Segoe WPC"/>
              </a:rPr>
              <a:t>Visual Intuition:</a:t>
            </a:r>
            <a:r>
              <a:rPr lang="en-US" sz="800" b="0" i="0" dirty="0">
                <a:effectLst/>
                <a:latin typeface="Segoe WPC"/>
              </a:rPr>
              <a:t> The contract keeps the old delivery price K, while the market now implies a new fair forward price F. The difference creates value.</a:t>
            </a:r>
            <a:br>
              <a:rPr lang="en-US" sz="800" b="0" i="0" dirty="0">
                <a:effectLst/>
                <a:latin typeface="Segoe WPC"/>
              </a:rPr>
            </a:br>
            <a:r>
              <a:rPr lang="en-US" sz="800" b="1" i="0" dirty="0">
                <a:effectLst/>
                <a:latin typeface="Segoe WPC"/>
              </a:rPr>
              <a:t>Key Formula:</a:t>
            </a:r>
            <a:br>
              <a:rPr lang="en-US" sz="800" b="0" i="0" dirty="0">
                <a:effectLst/>
                <a:latin typeface="Segoe WPC"/>
              </a:rPr>
            </a:br>
            <a:r>
              <a:rPr lang="en-US" sz="800" b="0" i="0" dirty="0">
                <a:effectLst/>
                <a:latin typeface="Segoe WPC"/>
              </a:rPr>
              <a:t>Value of long forward = (F - K) / (1 + R)^T</a:t>
            </a:r>
            <a:br>
              <a:rPr lang="en-US" sz="800" b="0" i="0" dirty="0">
                <a:effectLst/>
                <a:latin typeface="Segoe WPC"/>
              </a:rPr>
            </a:br>
            <a:r>
              <a:rPr lang="en-US" sz="800" b="0" i="0" dirty="0">
                <a:effectLst/>
                <a:latin typeface="Segoe WPC"/>
              </a:rPr>
              <a:t>Value of short forward = (K - F) / (1 + R)^T</a:t>
            </a:r>
            <a:br>
              <a:rPr lang="en-US" sz="800" b="0" i="0" dirty="0">
                <a:effectLst/>
                <a:latin typeface="Segoe WPC"/>
              </a:rPr>
            </a:br>
            <a:r>
              <a:rPr lang="en-US" sz="800" b="1" i="0" dirty="0">
                <a:effectLst/>
                <a:latin typeface="Segoe WPC"/>
              </a:rPr>
              <a:t>Interpretation:</a:t>
            </a:r>
            <a:r>
              <a:rPr lang="en-US" sz="800" b="0" i="0" dirty="0">
                <a:effectLst/>
                <a:latin typeface="Segoe WPC"/>
              </a:rPr>
              <a:t> A long forward gains when the current forward price rises above the original delivery price.</a:t>
            </a:r>
            <a:br>
              <a:rPr lang="en-US" sz="800" b="0" i="0" dirty="0">
                <a:effectLst/>
                <a:latin typeface="Segoe WPC"/>
              </a:rPr>
            </a:br>
            <a:r>
              <a:rPr lang="en-US" sz="800" b="1" i="0" dirty="0">
                <a:effectLst/>
                <a:latin typeface="Segoe WPC"/>
              </a:rPr>
              <a:t>Exam Trap:</a:t>
            </a:r>
            <a:r>
              <a:rPr lang="en-US" sz="800" b="0" i="0" dirty="0">
                <a:effectLst/>
                <a:latin typeface="Segoe WPC"/>
              </a:rPr>
              <a:t> Do not say the value of a forward equals its forward price; they are different concepts.</a:t>
            </a:r>
          </a:p>
          <a:p>
            <a:pPr algn="l">
              <a:spcBef>
                <a:spcPts val="300"/>
              </a:spcBef>
              <a:buFont typeface="+mj-lt"/>
              <a:buAutoNum type="arabicPeriod"/>
            </a:pPr>
            <a:r>
              <a:rPr lang="en-US" sz="800" b="1" i="0" dirty="0">
                <a:effectLst/>
                <a:latin typeface="Segoe WPC"/>
              </a:rPr>
              <a:t>Value of a Forward on Financial Assets</a:t>
            </a:r>
            <a:br>
              <a:rPr lang="en-US" sz="800" b="0" i="0" dirty="0">
                <a:effectLst/>
                <a:latin typeface="Segoe WPC"/>
              </a:rPr>
            </a:br>
            <a:r>
              <a:rPr lang="en-US" sz="800" b="1" i="0" dirty="0">
                <a:effectLst/>
                <a:latin typeface="Segoe WPC"/>
              </a:rPr>
              <a:t>Financial Object:</a:t>
            </a:r>
            <a:r>
              <a:rPr lang="en-US" sz="800" b="0" i="0" dirty="0">
                <a:effectLst/>
                <a:latin typeface="Segoe WPC"/>
              </a:rPr>
              <a:t> Valuation of existing forward contracts on assets with no income, known income, or known yield.</a:t>
            </a:r>
            <a:br>
              <a:rPr lang="en-US" sz="800" b="0" i="0" dirty="0">
                <a:effectLst/>
                <a:latin typeface="Segoe WPC"/>
              </a:rPr>
            </a:br>
            <a:r>
              <a:rPr lang="en-US" sz="800" b="1" i="0" dirty="0">
                <a:effectLst/>
                <a:latin typeface="Segoe WPC"/>
              </a:rPr>
              <a:t>Plain Intuition:</a:t>
            </a:r>
            <a:r>
              <a:rPr lang="en-US" sz="800" b="0" i="0" dirty="0">
                <a:effectLst/>
                <a:latin typeface="Segoe WPC"/>
              </a:rPr>
              <a:t> Compute the current theoretical forward price first, then compare it with the contract delivery price.</a:t>
            </a:r>
            <a:br>
              <a:rPr lang="en-US" sz="800" b="0" i="0" dirty="0">
                <a:effectLst/>
                <a:latin typeface="Segoe WPC"/>
              </a:rPr>
            </a:br>
            <a:r>
              <a:rPr lang="en-US" sz="800" b="1" i="0" dirty="0">
                <a:effectLst/>
                <a:latin typeface="Segoe WPC"/>
              </a:rPr>
              <a:t>Visual Intuition:</a:t>
            </a:r>
            <a:r>
              <a:rPr lang="en-US" sz="800" b="0" i="0" dirty="0">
                <a:effectLst/>
                <a:latin typeface="Segoe WPC"/>
              </a:rPr>
              <a:t> Existing forward value = current fair delivery value minus locked-in delivery price, discounted to today.</a:t>
            </a:r>
            <a:br>
              <a:rPr lang="en-US" sz="800" b="0" i="0" dirty="0">
                <a:effectLst/>
                <a:latin typeface="Segoe WPC"/>
              </a:rPr>
            </a:br>
            <a:r>
              <a:rPr lang="en-US" sz="800" b="1" i="0" dirty="0">
                <a:effectLst/>
                <a:latin typeface="Segoe WPC"/>
              </a:rPr>
              <a:t>Key Formula:</a:t>
            </a:r>
            <a:br>
              <a:rPr lang="en-US" sz="800" b="0" i="0" dirty="0">
                <a:effectLst/>
                <a:latin typeface="Segoe WPC"/>
              </a:rPr>
            </a:br>
            <a:r>
              <a:rPr lang="en-US" sz="800" b="0" i="0" dirty="0">
                <a:effectLst/>
                <a:latin typeface="Segoe WPC"/>
              </a:rPr>
              <a:t>No income:</a:t>
            </a:r>
            <a:br>
              <a:rPr lang="en-US" sz="800" b="0" i="0" dirty="0">
                <a:effectLst/>
                <a:latin typeface="Segoe WPC"/>
              </a:rPr>
            </a:br>
            <a:r>
              <a:rPr lang="en-US" sz="800" b="0" i="0" dirty="0">
                <a:effectLst/>
                <a:latin typeface="Segoe WPC"/>
              </a:rPr>
              <a:t>Value of long forward = S - K / (1 + R)^T</a:t>
            </a:r>
          </a:p>
        </p:txBody>
      </p:sp>
      <p:sp>
        <p:nvSpPr>
          <p:cNvPr id="7" name="CuadroTexto 6">
            <a:extLst>
              <a:ext uri="{FF2B5EF4-FFF2-40B4-BE49-F238E27FC236}">
                <a16:creationId xmlns:a16="http://schemas.microsoft.com/office/drawing/2014/main" id="{571327AA-7E47-E8A3-CA44-706623B7C689}"/>
              </a:ext>
            </a:extLst>
          </p:cNvPr>
          <p:cNvSpPr txBox="1"/>
          <p:nvPr/>
        </p:nvSpPr>
        <p:spPr>
          <a:xfrm>
            <a:off x="6020707" y="-91195"/>
            <a:ext cx="6102350" cy="7040389"/>
          </a:xfrm>
          <a:prstGeom prst="rect">
            <a:avLst/>
          </a:prstGeom>
          <a:noFill/>
        </p:spPr>
        <p:txBody>
          <a:bodyPr wrap="square">
            <a:spAutoFit/>
          </a:bodyPr>
          <a:lstStyle/>
          <a:p>
            <a:pPr algn="l">
              <a:spcAft>
                <a:spcPts val="1200"/>
              </a:spcAft>
              <a:buNone/>
            </a:pPr>
            <a:r>
              <a:rPr lang="en-US" sz="900" b="0" i="0" dirty="0">
                <a:effectLst/>
                <a:latin typeface="Segoe WPC"/>
              </a:rPr>
              <a:t>Known income:</a:t>
            </a:r>
            <a:br>
              <a:rPr lang="en-US" sz="900" b="0" i="0" dirty="0">
                <a:effectLst/>
                <a:latin typeface="Segoe WPC"/>
              </a:rPr>
            </a:br>
            <a:r>
              <a:rPr lang="en-US" sz="900" b="0" i="0" dirty="0">
                <a:effectLst/>
                <a:latin typeface="Segoe WPC"/>
              </a:rPr>
              <a:t>Value of long forward = S - I - K / (1 + R)^T</a:t>
            </a:r>
          </a:p>
          <a:p>
            <a:pPr algn="l">
              <a:spcAft>
                <a:spcPts val="1200"/>
              </a:spcAft>
              <a:buNone/>
            </a:pPr>
            <a:r>
              <a:rPr lang="en-US" sz="900" b="0" i="0" dirty="0">
                <a:effectLst/>
                <a:latin typeface="Segoe WPC"/>
              </a:rPr>
              <a:t>Known yield:</a:t>
            </a:r>
            <a:br>
              <a:rPr lang="en-US" sz="900" b="0" i="0" dirty="0">
                <a:effectLst/>
                <a:latin typeface="Segoe WPC"/>
              </a:rPr>
            </a:br>
            <a:r>
              <a:rPr lang="en-US" sz="900" b="0" i="0" dirty="0">
                <a:effectLst/>
                <a:latin typeface="Segoe WPC"/>
              </a:rPr>
              <a:t>Value of long forward = S / (1 + Q)^T - K / (1 + R)^T</a:t>
            </a:r>
            <a:br>
              <a:rPr lang="en-US" sz="900" b="0" i="0" dirty="0">
                <a:effectLst/>
                <a:latin typeface="Segoe WPC"/>
              </a:rPr>
            </a:br>
            <a:r>
              <a:rPr lang="en-US" sz="900" b="1" i="0" dirty="0">
                <a:effectLst/>
                <a:latin typeface="Segoe WPC"/>
              </a:rPr>
              <a:t>Interpretation:</a:t>
            </a:r>
            <a:r>
              <a:rPr lang="en-US" sz="900" b="0" i="0" dirty="0">
                <a:effectLst/>
                <a:latin typeface="Segoe WPC"/>
              </a:rPr>
              <a:t> Income received before maturity lowers the net asset cost in valuation.</a:t>
            </a:r>
            <a:br>
              <a:rPr lang="en-US" sz="900" b="0" i="0" dirty="0">
                <a:effectLst/>
                <a:latin typeface="Segoe WPC"/>
              </a:rPr>
            </a:br>
            <a:r>
              <a:rPr lang="en-US" sz="900" b="1" i="0" dirty="0">
                <a:effectLst/>
                <a:latin typeface="Segoe WPC"/>
              </a:rPr>
              <a:t>Exam Trap:</a:t>
            </a:r>
            <a:r>
              <a:rPr lang="en-US" sz="900" b="0" i="0" dirty="0">
                <a:effectLst/>
                <a:latin typeface="Segoe WPC"/>
              </a:rPr>
              <a:t> For valuation, use remaining life of the contract and remaining income only.</a:t>
            </a:r>
          </a:p>
          <a:p>
            <a:pPr algn="l">
              <a:spcBef>
                <a:spcPts val="300"/>
              </a:spcBef>
              <a:spcAft>
                <a:spcPts val="300"/>
              </a:spcAft>
              <a:buFont typeface="+mj-lt"/>
              <a:buAutoNum type="arabicPeriod" startAt="7"/>
            </a:pPr>
            <a:r>
              <a:rPr lang="en-US" sz="900" b="1" i="0" dirty="0">
                <a:effectLst/>
                <a:latin typeface="Segoe WPC"/>
              </a:rPr>
              <a:t>Forward vs Futures Prices</a:t>
            </a:r>
            <a:br>
              <a:rPr lang="en-US" sz="900" b="0" i="0" dirty="0">
                <a:effectLst/>
                <a:latin typeface="Segoe WPC"/>
              </a:rPr>
            </a:br>
            <a:r>
              <a:rPr lang="en-US" sz="900" b="1" i="0" dirty="0">
                <a:effectLst/>
                <a:latin typeface="Segoe WPC"/>
              </a:rPr>
              <a:t>Financial Object:</a:t>
            </a:r>
            <a:r>
              <a:rPr lang="en-US" sz="900" b="0" i="0" dirty="0">
                <a:effectLst/>
                <a:latin typeface="Segoe WPC"/>
              </a:rPr>
              <a:t> Relationship between forward and futures prices for the same underlying and maturity.</a:t>
            </a:r>
            <a:br>
              <a:rPr lang="en-US" sz="900" b="0" i="0" dirty="0">
                <a:effectLst/>
                <a:latin typeface="Segoe WPC"/>
              </a:rPr>
            </a:br>
            <a:r>
              <a:rPr lang="en-US" sz="900" b="1" i="0" dirty="0">
                <a:effectLst/>
                <a:latin typeface="Segoe WPC"/>
              </a:rPr>
              <a:t>Plain Intuition:</a:t>
            </a:r>
            <a:r>
              <a:rPr lang="en-US" sz="900" b="0" i="0" dirty="0">
                <a:effectLst/>
                <a:latin typeface="Segoe WPC"/>
              </a:rPr>
              <a:t> They are usually very close, but not always identical because futures are settled daily while forwards settle only at maturity.</a:t>
            </a:r>
            <a:br>
              <a:rPr lang="en-US" sz="900" b="0" i="0" dirty="0">
                <a:effectLst/>
                <a:latin typeface="Segoe WPC"/>
              </a:rPr>
            </a:br>
            <a:r>
              <a:rPr lang="en-US" sz="900" b="1" i="0" dirty="0">
                <a:effectLst/>
                <a:latin typeface="Segoe WPC"/>
              </a:rPr>
              <a:t>Visual Intuition:</a:t>
            </a:r>
            <a:r>
              <a:rPr lang="en-US" sz="900" b="0" i="0" dirty="0">
                <a:effectLst/>
                <a:latin typeface="Segoe WPC"/>
              </a:rPr>
              <a:t> Daily settlement lets gains and losses be reinvested sooner or financed sooner, so correlation with interest rates matters.</a:t>
            </a:r>
            <a:br>
              <a:rPr lang="en-US" sz="900" b="0" i="0" dirty="0">
                <a:effectLst/>
                <a:latin typeface="Segoe WPC"/>
              </a:rPr>
            </a:br>
            <a:r>
              <a:rPr lang="en-US" sz="900" b="1" i="0" dirty="0">
                <a:effectLst/>
                <a:latin typeface="Segoe WPC"/>
              </a:rPr>
              <a:t>Key Formula:</a:t>
            </a:r>
            <a:r>
              <a:rPr lang="en-US" sz="900" b="0" i="0" dirty="0">
                <a:effectLst/>
                <a:latin typeface="Segoe WPC"/>
              </a:rPr>
              <a:t> No core closed-form adjustment is emphasized; the main rule is directional.</a:t>
            </a:r>
            <a:br>
              <a:rPr lang="en-US" sz="900" b="0" i="0" dirty="0">
                <a:effectLst/>
                <a:latin typeface="Segoe WPC"/>
              </a:rPr>
            </a:br>
            <a:r>
              <a:rPr lang="en-US" sz="900" b="0" i="0" dirty="0">
                <a:effectLst/>
                <a:latin typeface="Segoe WPC"/>
              </a:rPr>
              <a:t>If asset returns are positively correlated with interest rates, futures price tends to be slightly above forward price.</a:t>
            </a:r>
            <a:br>
              <a:rPr lang="en-US" sz="900" b="0" i="0" dirty="0">
                <a:effectLst/>
                <a:latin typeface="Segoe WPC"/>
              </a:rPr>
            </a:br>
            <a:r>
              <a:rPr lang="en-US" sz="900" b="0" i="0" dirty="0">
                <a:effectLst/>
                <a:latin typeface="Segoe WPC"/>
              </a:rPr>
              <a:t>If negatively correlated, futures price tends to be slightly below forward price.</a:t>
            </a:r>
            <a:br>
              <a:rPr lang="en-US" sz="900" b="0" i="0" dirty="0">
                <a:effectLst/>
                <a:latin typeface="Segoe WPC"/>
              </a:rPr>
            </a:br>
            <a:r>
              <a:rPr lang="en-US" sz="900" b="1" i="0" dirty="0">
                <a:effectLst/>
                <a:latin typeface="Segoe WPC"/>
              </a:rPr>
              <a:t>Interpretation:</a:t>
            </a:r>
            <a:r>
              <a:rPr lang="en-US" sz="900" b="0" i="0" dirty="0">
                <a:effectLst/>
                <a:latin typeface="Segoe WPC"/>
              </a:rPr>
              <a:t> In most markets the difference is small enough to ignore.</a:t>
            </a:r>
            <a:br>
              <a:rPr lang="en-US" sz="900" b="0" i="0" dirty="0">
                <a:effectLst/>
                <a:latin typeface="Segoe WPC"/>
              </a:rPr>
            </a:br>
            <a:r>
              <a:rPr lang="en-US" sz="900" b="1" i="0" dirty="0">
                <a:effectLst/>
                <a:latin typeface="Segoe WPC"/>
              </a:rPr>
              <a:t>Exam Trap:</a:t>
            </a:r>
            <a:r>
              <a:rPr lang="en-US" sz="900" b="0" i="0" dirty="0">
                <a:effectLst/>
                <a:latin typeface="Segoe WPC"/>
              </a:rPr>
              <a:t> The price may be similar, but the profit timing is different; futures gains/losses are realized daily.</a:t>
            </a:r>
          </a:p>
          <a:p>
            <a:pPr algn="l">
              <a:spcBef>
                <a:spcPts val="300"/>
              </a:spcBef>
              <a:spcAft>
                <a:spcPts val="300"/>
              </a:spcAft>
              <a:buFont typeface="+mj-lt"/>
              <a:buAutoNum type="arabicPeriod" startAt="7"/>
            </a:pPr>
            <a:r>
              <a:rPr lang="en-US" sz="900" b="1" i="0" dirty="0">
                <a:effectLst/>
                <a:latin typeface="Segoe WPC"/>
              </a:rPr>
              <a:t>Exchange Rates as an Application</a:t>
            </a:r>
            <a:br>
              <a:rPr lang="en-US" sz="900" b="0" i="0" dirty="0">
                <a:effectLst/>
                <a:latin typeface="Segoe WPC"/>
              </a:rPr>
            </a:br>
            <a:r>
              <a:rPr lang="en-US" sz="900" b="1" i="0" dirty="0">
                <a:effectLst/>
                <a:latin typeface="Segoe WPC"/>
              </a:rPr>
              <a:t>Financial Object:</a:t>
            </a:r>
            <a:r>
              <a:rPr lang="en-US" sz="900" b="0" i="0" dirty="0">
                <a:effectLst/>
                <a:latin typeface="Segoe WPC"/>
              </a:rPr>
              <a:t> Foreign exchange forwards fit the known-yield framework.</a:t>
            </a:r>
            <a:br>
              <a:rPr lang="en-US" sz="900" b="0" i="0" dirty="0">
                <a:effectLst/>
                <a:latin typeface="Segoe WPC"/>
              </a:rPr>
            </a:br>
            <a:r>
              <a:rPr lang="en-US" sz="900" b="1" i="0" dirty="0">
                <a:effectLst/>
                <a:latin typeface="Segoe WPC"/>
              </a:rPr>
              <a:t>Plain Intuition:</a:t>
            </a:r>
            <a:r>
              <a:rPr lang="en-US" sz="900" b="0" i="0" dirty="0">
                <a:effectLst/>
                <a:latin typeface="Segoe WPC"/>
              </a:rPr>
              <a:t> From the domestic investor’s perspective, foreign currency is an asset that earns the foreign risk-free rate as a yield.</a:t>
            </a:r>
            <a:br>
              <a:rPr lang="en-US" sz="900" b="0" i="0" dirty="0">
                <a:effectLst/>
                <a:latin typeface="Segoe WPC"/>
              </a:rPr>
            </a:br>
            <a:r>
              <a:rPr lang="en-US" sz="900" b="1" i="0" dirty="0">
                <a:effectLst/>
                <a:latin typeface="Segoe WPC"/>
              </a:rPr>
              <a:t>Visual Intuition:</a:t>
            </a:r>
            <a:r>
              <a:rPr lang="en-US" sz="900" b="0" i="0" dirty="0">
                <a:effectLst/>
                <a:latin typeface="Segoe WPC"/>
              </a:rPr>
              <a:t> Holding foreign currency gives foreign interest income, so FX forward pricing is just a special case of forward pricing with yield.</a:t>
            </a:r>
            <a:br>
              <a:rPr lang="en-US" sz="900" b="0" i="0" dirty="0">
                <a:effectLst/>
                <a:latin typeface="Segoe WPC"/>
              </a:rPr>
            </a:br>
            <a:r>
              <a:rPr lang="en-US" sz="900" b="1" i="0" dirty="0">
                <a:effectLst/>
                <a:latin typeface="Segoe WPC"/>
              </a:rPr>
              <a:t>Key Formula:</a:t>
            </a:r>
            <a:r>
              <a:rPr lang="en-US" sz="900" b="0" i="0" dirty="0">
                <a:effectLst/>
                <a:latin typeface="Segoe WPC"/>
              </a:rPr>
              <a:t> F = S[(1 + </a:t>
            </a:r>
            <a:r>
              <a:rPr lang="en-US" sz="900" b="0" i="0" dirty="0" err="1">
                <a:effectLst/>
                <a:latin typeface="Segoe WPC"/>
              </a:rPr>
              <a:t>R_dom</a:t>
            </a:r>
            <a:r>
              <a:rPr lang="en-US" sz="900" b="0" i="0" dirty="0">
                <a:effectLst/>
                <a:latin typeface="Segoe WPC"/>
              </a:rPr>
              <a:t>)^T / (1 + </a:t>
            </a:r>
            <a:r>
              <a:rPr lang="en-US" sz="900" b="0" i="0" dirty="0" err="1">
                <a:effectLst/>
                <a:latin typeface="Segoe WPC"/>
              </a:rPr>
              <a:t>R_for</a:t>
            </a:r>
            <a:r>
              <a:rPr lang="en-US" sz="900" b="0" i="0" dirty="0">
                <a:effectLst/>
                <a:latin typeface="Segoe WPC"/>
              </a:rPr>
              <a:t>)^T]</a:t>
            </a:r>
            <a:br>
              <a:rPr lang="en-US" sz="900" b="0" i="0" dirty="0">
                <a:effectLst/>
                <a:latin typeface="Segoe WPC"/>
              </a:rPr>
            </a:br>
            <a:r>
              <a:rPr lang="en-US" sz="900" b="1" i="0" dirty="0">
                <a:effectLst/>
                <a:latin typeface="Segoe WPC"/>
              </a:rPr>
              <a:t>Interpretation:</a:t>
            </a:r>
            <a:r>
              <a:rPr lang="en-US" sz="900" b="0" i="0" dirty="0">
                <a:effectLst/>
                <a:latin typeface="Segoe WPC"/>
              </a:rPr>
              <a:t> This is covered interest parity expressed as an asset-pricing result.</a:t>
            </a:r>
            <a:br>
              <a:rPr lang="en-US" sz="900" b="0" i="0" dirty="0">
                <a:effectLst/>
                <a:latin typeface="Segoe WPC"/>
              </a:rPr>
            </a:br>
            <a:r>
              <a:rPr lang="en-US" sz="900" b="1" i="0" dirty="0">
                <a:effectLst/>
                <a:latin typeface="Segoe WPC"/>
              </a:rPr>
              <a:t>Exam Trap:</a:t>
            </a:r>
            <a:r>
              <a:rPr lang="en-US" sz="900" b="0" i="0" dirty="0">
                <a:effectLst/>
                <a:latin typeface="Segoe WPC"/>
              </a:rPr>
              <a:t> Domestic and foreign rates must be assigned consistently with the quote convention.</a:t>
            </a:r>
          </a:p>
          <a:p>
            <a:pPr algn="l">
              <a:spcBef>
                <a:spcPts val="300"/>
              </a:spcBef>
              <a:spcAft>
                <a:spcPts val="300"/>
              </a:spcAft>
              <a:buFont typeface="+mj-lt"/>
              <a:buAutoNum type="arabicPeriod" startAt="7"/>
            </a:pPr>
            <a:r>
              <a:rPr lang="en-US" sz="900" b="1" i="0" dirty="0">
                <a:effectLst/>
                <a:latin typeface="Segoe WPC"/>
              </a:rPr>
              <a:t>Stock Index Futures</a:t>
            </a:r>
            <a:br>
              <a:rPr lang="en-US" sz="900" b="0" i="0" dirty="0">
                <a:effectLst/>
                <a:latin typeface="Segoe WPC"/>
              </a:rPr>
            </a:br>
            <a:r>
              <a:rPr lang="en-US" sz="900" b="1" i="0" dirty="0">
                <a:effectLst/>
                <a:latin typeface="Segoe WPC"/>
              </a:rPr>
              <a:t>Financial Object:</a:t>
            </a:r>
            <a:r>
              <a:rPr lang="en-US" sz="900" b="0" i="0" dirty="0">
                <a:effectLst/>
                <a:latin typeface="Segoe WPC"/>
              </a:rPr>
              <a:t> Stock index futures price an index treated as an asset that pays dividend yield.</a:t>
            </a:r>
            <a:br>
              <a:rPr lang="en-US" sz="900" b="0" i="0" dirty="0">
                <a:effectLst/>
                <a:latin typeface="Segoe WPC"/>
              </a:rPr>
            </a:br>
            <a:r>
              <a:rPr lang="en-US" sz="900" b="1" i="0" dirty="0">
                <a:effectLst/>
                <a:latin typeface="Segoe WPC"/>
              </a:rPr>
              <a:t>Plain Intuition:</a:t>
            </a:r>
            <a:r>
              <a:rPr lang="en-US" sz="900" b="0" i="0" dirty="0">
                <a:effectLst/>
                <a:latin typeface="Segoe WPC"/>
              </a:rPr>
              <a:t> Since the underlying stock portfolio pays dividends, the futures price depends on financing cost minus dividend yield.</a:t>
            </a:r>
            <a:br>
              <a:rPr lang="en-US" sz="900" b="0" i="0" dirty="0">
                <a:effectLst/>
                <a:latin typeface="Segoe WPC"/>
              </a:rPr>
            </a:br>
            <a:r>
              <a:rPr lang="en-US" sz="900" b="1" i="0" dirty="0">
                <a:effectLst/>
                <a:latin typeface="Segoe WPC"/>
              </a:rPr>
              <a:t>Visual Intuition:</a:t>
            </a:r>
            <a:r>
              <a:rPr lang="en-US" sz="900" b="0" i="0" dirty="0">
                <a:effectLst/>
                <a:latin typeface="Segoe WPC"/>
              </a:rPr>
              <a:t> Buy the stock portfolio, receive dividends, finance the purchase, and compare with the index futures price.</a:t>
            </a:r>
            <a:br>
              <a:rPr lang="en-US" sz="900" b="0" i="0" dirty="0">
                <a:effectLst/>
                <a:latin typeface="Segoe WPC"/>
              </a:rPr>
            </a:br>
            <a:r>
              <a:rPr lang="en-US" sz="900" b="1" i="0" dirty="0">
                <a:effectLst/>
                <a:latin typeface="Segoe WPC"/>
              </a:rPr>
              <a:t>Key Formula:</a:t>
            </a:r>
            <a:r>
              <a:rPr lang="en-US" sz="900" b="0" i="0" dirty="0">
                <a:effectLst/>
                <a:latin typeface="Segoe WPC"/>
              </a:rPr>
              <a:t> F = S[(1 + R)^T / (1 + Q)^T]</a:t>
            </a:r>
            <a:br>
              <a:rPr lang="en-US" sz="900" b="0" i="0" dirty="0">
                <a:effectLst/>
                <a:latin typeface="Segoe WPC"/>
              </a:rPr>
            </a:br>
            <a:r>
              <a:rPr lang="en-US" sz="900" b="0" i="0" dirty="0">
                <a:effectLst/>
                <a:latin typeface="Segoe WPC"/>
              </a:rPr>
              <a:t>where Q is the dividend yield of the index.</a:t>
            </a:r>
            <a:br>
              <a:rPr lang="en-US" sz="900" b="0" i="0" dirty="0">
                <a:effectLst/>
                <a:latin typeface="Segoe WPC"/>
              </a:rPr>
            </a:br>
            <a:r>
              <a:rPr lang="en-US" sz="900" b="1" i="0" dirty="0">
                <a:effectLst/>
                <a:latin typeface="Segoe WPC"/>
              </a:rPr>
              <a:t>Interpretation:</a:t>
            </a:r>
            <a:r>
              <a:rPr lang="en-US" sz="900" b="0" i="0" dirty="0">
                <a:effectLst/>
                <a:latin typeface="Segoe WPC"/>
              </a:rPr>
              <a:t> Higher rates raise index futures prices; higher dividend yield lowers them.</a:t>
            </a:r>
            <a:br>
              <a:rPr lang="en-US" sz="900" b="0" i="0" dirty="0">
                <a:effectLst/>
                <a:latin typeface="Segoe WPC"/>
              </a:rPr>
            </a:br>
            <a:r>
              <a:rPr lang="en-US" sz="900" b="1" i="0" dirty="0">
                <a:effectLst/>
                <a:latin typeface="Segoe WPC"/>
              </a:rPr>
              <a:t>Exam Trap:</a:t>
            </a:r>
            <a:r>
              <a:rPr lang="en-US" sz="900" b="0" i="0" dirty="0">
                <a:effectLst/>
                <a:latin typeface="Segoe WPC"/>
              </a:rPr>
              <a:t> Standard price indices usually exclude reinvested dividends, so dividend yield must still be accounted for separately.</a:t>
            </a:r>
          </a:p>
          <a:p>
            <a:pPr algn="l">
              <a:spcBef>
                <a:spcPts val="300"/>
              </a:spcBef>
              <a:spcAft>
                <a:spcPts val="300"/>
              </a:spcAft>
              <a:buFont typeface="+mj-lt"/>
              <a:buAutoNum type="arabicPeriod" startAt="7"/>
            </a:pPr>
            <a:r>
              <a:rPr lang="en-US" sz="900" b="1" i="0" dirty="0">
                <a:effectLst/>
                <a:latin typeface="Segoe WPC"/>
              </a:rPr>
              <a:t>Index Arbitrage and Limits</a:t>
            </a:r>
            <a:br>
              <a:rPr lang="en-US" sz="900" b="0" i="0" dirty="0">
                <a:effectLst/>
                <a:latin typeface="Segoe WPC"/>
              </a:rPr>
            </a:br>
            <a:r>
              <a:rPr lang="en-US" sz="900" b="1" i="0" dirty="0">
                <a:effectLst/>
                <a:latin typeface="Segoe WPC"/>
              </a:rPr>
              <a:t>Financial Object:</a:t>
            </a:r>
            <a:r>
              <a:rPr lang="en-US" sz="900" b="0" i="0" dirty="0">
                <a:effectLst/>
                <a:latin typeface="Segoe WPC"/>
              </a:rPr>
              <a:t> Arbitrage between stock index futures and the underlying stock portfolio.</a:t>
            </a:r>
            <a:br>
              <a:rPr lang="en-US" sz="900" b="0" i="0" dirty="0">
                <a:effectLst/>
                <a:latin typeface="Segoe WPC"/>
              </a:rPr>
            </a:br>
            <a:r>
              <a:rPr lang="en-US" sz="900" b="1" i="0" dirty="0">
                <a:effectLst/>
                <a:latin typeface="Segoe WPC"/>
              </a:rPr>
              <a:t>Plain Intuition:</a:t>
            </a:r>
            <a:r>
              <a:rPr lang="en-US" sz="900" b="0" i="0" dirty="0">
                <a:effectLst/>
                <a:latin typeface="Segoe WPC"/>
              </a:rPr>
              <a:t> If futures are overpriced, buy the stock basket and short futures; if underpriced, short the basket and buy futures.</a:t>
            </a:r>
            <a:br>
              <a:rPr lang="en-US" sz="900" b="0" i="0" dirty="0">
                <a:effectLst/>
                <a:latin typeface="Segoe WPC"/>
              </a:rPr>
            </a:br>
            <a:r>
              <a:rPr lang="en-US" sz="900" b="1" i="0" dirty="0">
                <a:effectLst/>
                <a:latin typeface="Segoe WPC"/>
              </a:rPr>
              <a:t>Visual Intuition:</a:t>
            </a:r>
            <a:r>
              <a:rPr lang="en-US" sz="900" b="0" i="0" dirty="0">
                <a:effectLst/>
                <a:latin typeface="Segoe WPC"/>
              </a:rPr>
              <a:t> Program trading executes many stock trades plus the futures trade at once to lock in mispricing.</a:t>
            </a:r>
            <a:br>
              <a:rPr lang="en-US" sz="900" b="0" i="0" dirty="0">
                <a:effectLst/>
                <a:latin typeface="Segoe WPC"/>
              </a:rPr>
            </a:br>
            <a:r>
              <a:rPr lang="en-US" sz="900" b="1" i="0" dirty="0">
                <a:effectLst/>
                <a:latin typeface="Segoe WPC"/>
              </a:rPr>
              <a:t>Key Formula:</a:t>
            </a:r>
            <a:r>
              <a:rPr lang="en-US" sz="900" b="0" i="0" dirty="0">
                <a:effectLst/>
                <a:latin typeface="Segoe WPC"/>
              </a:rPr>
              <a:t> Compare market futures price with theoretical value from the index pricing formula.</a:t>
            </a:r>
            <a:br>
              <a:rPr lang="en-US" sz="900" b="0" i="0" dirty="0">
                <a:effectLst/>
                <a:latin typeface="Segoe WPC"/>
              </a:rPr>
            </a:br>
            <a:r>
              <a:rPr lang="en-US" sz="900" b="1" i="0" dirty="0">
                <a:effectLst/>
                <a:latin typeface="Segoe WPC"/>
              </a:rPr>
              <a:t>Interpretation:</a:t>
            </a:r>
            <a:r>
              <a:rPr lang="en-US" sz="900" b="0" i="0" dirty="0">
                <a:effectLst/>
                <a:latin typeface="Segoe WPC"/>
              </a:rPr>
              <a:t> Index arbitrage usually keeps futures close to fair value.</a:t>
            </a:r>
            <a:br>
              <a:rPr lang="en-US" sz="900" b="0" i="0" dirty="0">
                <a:effectLst/>
                <a:latin typeface="Segoe WPC"/>
              </a:rPr>
            </a:br>
            <a:r>
              <a:rPr lang="en-US" sz="900" b="1" i="0" dirty="0">
                <a:effectLst/>
                <a:latin typeface="Segoe WPC"/>
              </a:rPr>
              <a:t>Exam Trap:</a:t>
            </a:r>
            <a:r>
              <a:rPr lang="en-US" sz="900" b="0" i="0" dirty="0">
                <a:effectLst/>
                <a:latin typeface="Segoe WPC"/>
              </a:rPr>
              <a:t> The no-arbitrage relation only works if the index corresponds to a tradable portfolio; some indices, especially when converted across currencies, may not be perfectly tradable.</a:t>
            </a:r>
          </a:p>
        </p:txBody>
      </p:sp>
    </p:spTree>
    <p:extLst>
      <p:ext uri="{BB962C8B-B14F-4D97-AF65-F5344CB8AC3E}">
        <p14:creationId xmlns:p14="http://schemas.microsoft.com/office/powerpoint/2010/main" val="12135118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A6B93F-EAE1-D86F-DF93-740260B242AD}"/>
              </a:ext>
            </a:extLst>
          </p:cNvPr>
          <p:cNvSpPr>
            <a:spLocks noGrp="1"/>
          </p:cNvSpPr>
          <p:nvPr>
            <p:ph type="title"/>
          </p:nvPr>
        </p:nvSpPr>
        <p:spPr>
          <a:xfrm>
            <a:off x="0" y="73025"/>
            <a:ext cx="10515600" cy="320675"/>
          </a:xfrm>
        </p:spPr>
        <p:txBody>
          <a:bodyPr>
            <a:noAutofit/>
          </a:bodyPr>
          <a:lstStyle/>
          <a:p>
            <a:r>
              <a:rPr lang="es-PE" sz="2800" dirty="0" err="1"/>
              <a:t>Commodity</a:t>
            </a:r>
            <a:r>
              <a:rPr lang="es-PE" sz="2800" dirty="0"/>
              <a:t> Forwards and Futures</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7BEE2207-C726-3E76-8CCA-23BE9A3F38D6}"/>
                  </a:ext>
                </a:extLst>
              </p:cNvPr>
              <p:cNvSpPr txBox="1"/>
              <p:nvPr/>
            </p:nvSpPr>
            <p:spPr>
              <a:xfrm>
                <a:off x="0" y="471149"/>
                <a:ext cx="6188074" cy="6223435"/>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1. </a:t>
                </a: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Commodities</a:t>
                </a:r>
                <a:r>
                  <a:rPr lang="es-PE" sz="900" b="1" i="0" dirty="0">
                    <a:solidFill>
                      <a:schemeClr val="tx1"/>
                    </a:solidFill>
                    <a:effectLst/>
                    <a:latin typeface="Segoe WPC"/>
                  </a:rPr>
                  <a:t> Are </a:t>
                </a:r>
                <a:r>
                  <a:rPr lang="es-PE" sz="900" b="1" i="0" dirty="0" err="1">
                    <a:solidFill>
                      <a:schemeClr val="tx1"/>
                    </a:solidFill>
                    <a:effectLst/>
                    <a:latin typeface="Segoe WPC"/>
                  </a:rPr>
                  <a:t>Different</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Commodity</a:t>
                </a:r>
                <a:r>
                  <a:rPr lang="es-PE" sz="900" b="0" i="0" dirty="0">
                    <a:solidFill>
                      <a:schemeClr val="tx1"/>
                    </a:solidFill>
                    <a:effectLst/>
                    <a:latin typeface="Segoe WPC"/>
                  </a:rPr>
                  <a:t> forwards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held</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consumption</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pure </a:t>
                </a:r>
                <a:r>
                  <a:rPr lang="es-PE" sz="900" b="0" i="0" dirty="0" err="1">
                    <a:solidFill>
                      <a:schemeClr val="tx1"/>
                    </a:solidFill>
                    <a:effectLst/>
                    <a:latin typeface="Segoe WPC"/>
                  </a:rPr>
                  <a:t>investment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Commodities</a:t>
                </a:r>
                <a:r>
                  <a:rPr lang="es-PE" sz="900" b="0" i="0" dirty="0">
                    <a:solidFill>
                      <a:schemeClr val="tx1"/>
                    </a:solidFill>
                    <a:effectLst/>
                    <a:latin typeface="Segoe WPC"/>
                  </a:rPr>
                  <a:t> </a:t>
                </a:r>
                <a:r>
                  <a:rPr lang="es-PE" sz="900" b="0" i="0" dirty="0" err="1">
                    <a:solidFill>
                      <a:schemeClr val="tx1"/>
                    </a:solidFill>
                    <a:effectLst/>
                    <a:latin typeface="Segoe WPC"/>
                  </a:rPr>
                  <a:t>differ</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financial</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storage</a:t>
                </a:r>
                <a:r>
                  <a:rPr lang="es-PE" sz="900" b="0" i="0" dirty="0">
                    <a:solidFill>
                      <a:schemeClr val="tx1"/>
                    </a:solidFill>
                    <a:effectLst/>
                    <a:latin typeface="Segoe WPC"/>
                  </a:rPr>
                  <a:t>, </a:t>
                </a:r>
                <a:r>
                  <a:rPr lang="es-PE" sz="900" b="0" i="0" dirty="0" err="1">
                    <a:solidFill>
                      <a:schemeClr val="tx1"/>
                    </a:solidFill>
                    <a:effectLst/>
                    <a:latin typeface="Segoe WPC"/>
                  </a:rPr>
                  <a:t>transport</a:t>
                </a:r>
                <a:r>
                  <a:rPr lang="es-PE" sz="900" b="0" i="0" dirty="0">
                    <a:solidFill>
                      <a:schemeClr val="tx1"/>
                    </a:solidFill>
                    <a:effectLst/>
                    <a:latin typeface="Segoe WPC"/>
                  </a:rPr>
                  <a:t>, </a:t>
                </a:r>
                <a:r>
                  <a:rPr lang="es-PE" sz="900" b="0" i="0" dirty="0" err="1">
                    <a:solidFill>
                      <a:schemeClr val="tx1"/>
                    </a:solidFill>
                    <a:effectLst/>
                    <a:latin typeface="Segoe WPC"/>
                  </a:rPr>
                  <a:t>location</a:t>
                </a:r>
                <a:r>
                  <a:rPr lang="es-PE" sz="900" b="0" i="0" dirty="0">
                    <a:solidFill>
                      <a:schemeClr val="tx1"/>
                    </a:solidFill>
                    <a:effectLst/>
                    <a:latin typeface="Segoe WPC"/>
                  </a:rPr>
                  <a:t>, and </a:t>
                </a:r>
                <a:r>
                  <a:rPr lang="es-PE" sz="900" b="0" i="0" dirty="0" err="1">
                    <a:solidFill>
                      <a:schemeClr val="tx1"/>
                    </a:solidFill>
                    <a:effectLst/>
                    <a:latin typeface="Segoe WPC"/>
                  </a:rPr>
                  <a:t>physical</a:t>
                </a:r>
                <a:r>
                  <a:rPr lang="es-PE" sz="900" b="0" i="0" dirty="0">
                    <a:solidFill>
                      <a:schemeClr val="tx1"/>
                    </a:solidFill>
                    <a:effectLst/>
                    <a:latin typeface="Segoe WPC"/>
                  </a:rPr>
                  <a:t> use </a:t>
                </a:r>
                <a:r>
                  <a:rPr lang="es-PE" sz="900" b="0" i="0" dirty="0" err="1">
                    <a:solidFill>
                      <a:schemeClr val="tx1"/>
                    </a:solidFill>
                    <a:effectLst/>
                    <a:latin typeface="Segoe WPC"/>
                  </a:rPr>
                  <a:t>matter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Holding </a:t>
                </a:r>
                <a:r>
                  <a:rPr lang="es-PE" sz="900" b="0" i="0" dirty="0" err="1">
                    <a:solidFill>
                      <a:schemeClr val="tx1"/>
                    </a:solidFill>
                    <a:effectLst/>
                    <a:latin typeface="Segoe WPC"/>
                  </a:rPr>
                  <a:t>oil</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corn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valuable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firms</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need</a:t>
                </a:r>
                <a:r>
                  <a:rPr lang="es-PE" sz="900" b="0" i="0" dirty="0">
                    <a:solidFill>
                      <a:schemeClr val="tx1"/>
                    </a:solidFill>
                    <a:effectLst/>
                    <a:latin typeface="Segoe WPC"/>
                  </a:rPr>
                  <a:t> </a:t>
                </a:r>
                <a:r>
                  <a:rPr lang="es-PE" sz="900" b="0" i="0" dirty="0" err="1">
                    <a:solidFill>
                      <a:schemeClr val="tx1"/>
                    </a:solidFill>
                    <a:effectLst/>
                    <a:latin typeface="Segoe WPC"/>
                  </a:rPr>
                  <a:t>immediate</a:t>
                </a:r>
                <a:r>
                  <a:rPr lang="es-PE" sz="900" b="0" i="0" dirty="0">
                    <a:solidFill>
                      <a:schemeClr val="tx1"/>
                    </a:solidFill>
                    <a:effectLst/>
                    <a:latin typeface="Segoe WPC"/>
                  </a:rPr>
                  <a:t> </a:t>
                </a:r>
                <a:r>
                  <a:rPr lang="es-PE" sz="900" b="0" i="0" dirty="0" err="1">
                    <a:solidFill>
                      <a:schemeClr val="tx1"/>
                    </a:solidFill>
                    <a:effectLst/>
                    <a:latin typeface="Segoe WPC"/>
                  </a:rPr>
                  <a:t>inventory</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endParaRPr lang="es-PE" sz="900" b="0" i="0" dirty="0">
                  <a:solidFill>
                    <a:schemeClr val="tx1"/>
                  </a:solidFill>
                  <a:effectLst/>
                  <a:latin typeface="Segoe WPC"/>
                </a:endParaRPr>
              </a:p>
              <a:p>
                <a:pPr algn="l">
                  <a:buNone/>
                </a:pP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𝐹</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𝑆</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𝑈</m:t>
                          </m:r>
                        </m:e>
                      </m:d>
                      <m:d>
                        <m:dPr>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𝑅</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1">
                                  <a:solidFill>
                                    <a:schemeClr val="tx1"/>
                                  </a:solidFill>
                                  <a:latin typeface="Cambria Math" panose="02040503050406030204" pitchFamily="18" charset="0"/>
                                </a:rPr>
                                <m:t>𝑇</m:t>
                              </m:r>
                            </m:sup>
                          </m:sSup>
                        </m:e>
                      </m:d>
                    </m:oMath>
                  </m:oMathPara>
                </a14:m>
                <a:endParaRPr lang="ar-AE" sz="900" b="0" i="0" dirty="0">
                  <a:solidFill>
                    <a:schemeClr val="tx1"/>
                  </a:solidFill>
                  <a:effectLst/>
                  <a:latin typeface="Segoe WPC"/>
                </a:endParaRPr>
              </a:p>
              <a:p>
                <a:pPr algn="l">
                  <a:spcAft>
                    <a:spcPts val="1200"/>
                  </a:spcAft>
                  <a:buNone/>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consumption</a:t>
                </a:r>
                <a:r>
                  <a:rPr lang="es-PE" sz="900" b="0" i="0" dirty="0">
                    <a:solidFill>
                      <a:schemeClr val="tx1"/>
                    </a:solidFill>
                    <a:effectLst/>
                    <a:latin typeface="Segoe WPC"/>
                  </a:rPr>
                  <a:t> </a:t>
                </a:r>
                <a:r>
                  <a:rPr lang="es-PE" sz="900" b="0" i="0" dirty="0" err="1">
                    <a:solidFill>
                      <a:schemeClr val="tx1"/>
                    </a:solidFill>
                    <a:effectLst/>
                    <a:latin typeface="Segoe WPC"/>
                  </a:rPr>
                  <a:t>commodities</a:t>
                </a:r>
                <a:r>
                  <a:rPr lang="es-PE" sz="900" b="0" i="0" dirty="0">
                    <a:solidFill>
                      <a:schemeClr val="tx1"/>
                    </a:solidFill>
                    <a:effectLst/>
                    <a:latin typeface="Segoe WPC"/>
                  </a:rPr>
                  <a:t>, </a:t>
                </a:r>
                <a:r>
                  <a:rPr lang="es-PE" sz="900" b="0" i="0" dirty="0" err="1">
                    <a:solidFill>
                      <a:schemeClr val="tx1"/>
                    </a:solidFill>
                    <a:effectLst/>
                    <a:latin typeface="Segoe WPC"/>
                  </a:rPr>
                  <a:t>arbitrage</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upper</a:t>
                </a:r>
                <a:r>
                  <a:rPr lang="es-PE" sz="900" b="0" i="0" dirty="0">
                    <a:solidFill>
                      <a:schemeClr val="tx1"/>
                    </a:solidFill>
                    <a:effectLst/>
                    <a:latin typeface="Segoe WPC"/>
                  </a:rPr>
                  <a:t> </a:t>
                </a:r>
                <a:r>
                  <a:rPr lang="es-PE" sz="900" b="0" i="0" dirty="0" err="1">
                    <a:solidFill>
                      <a:schemeClr val="tx1"/>
                    </a:solidFill>
                    <a:effectLst/>
                    <a:latin typeface="Segoe WPC"/>
                  </a:rPr>
                  <a:t>bound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them</a:t>
                </a:r>
                <a:r>
                  <a:rPr lang="es-PE" sz="900" b="0" i="0" dirty="0">
                    <a:solidFill>
                      <a:schemeClr val="tx1"/>
                    </a:solidFill>
                    <a:effectLst/>
                    <a:latin typeface="Segoe WPC"/>
                  </a:rPr>
                  <a:t> </a:t>
                </a:r>
                <a:r>
                  <a:rPr lang="es-PE" sz="900" b="0" i="0" dirty="0" err="1">
                    <a:solidFill>
                      <a:schemeClr val="tx1"/>
                    </a:solidFill>
                    <a:effectLst/>
                    <a:latin typeface="Segoe WPC"/>
                  </a:rPr>
                  <a:t>exactly</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stocks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bonds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2. </a:t>
                </a:r>
                <a:r>
                  <a:rPr lang="es-PE" sz="900" b="1" i="0" dirty="0" err="1">
                    <a:solidFill>
                      <a:schemeClr val="tx1"/>
                    </a:solidFill>
                    <a:effectLst/>
                    <a:latin typeface="Segoe WPC"/>
                  </a:rPr>
                  <a:t>Agricultural</a:t>
                </a:r>
                <a:r>
                  <a:rPr lang="es-PE" sz="900" b="1" i="0" dirty="0">
                    <a:solidFill>
                      <a:schemeClr val="tx1"/>
                    </a:solidFill>
                    <a:effectLst/>
                    <a:latin typeface="Segoe WPC"/>
                  </a:rPr>
                  <a:t> </a:t>
                </a:r>
                <a:r>
                  <a:rPr lang="es-PE" sz="900" b="1" i="0" dirty="0" err="1">
                    <a:solidFill>
                      <a:schemeClr val="tx1"/>
                    </a:solidFill>
                    <a:effectLst/>
                    <a:latin typeface="Segoe WPC"/>
                  </a:rPr>
                  <a:t>Commodities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Agricultural</a:t>
                </a:r>
                <a:r>
                  <a:rPr lang="es-PE" sz="900" b="0" i="0" dirty="0">
                    <a:solidFill>
                      <a:schemeClr val="tx1"/>
                    </a:solidFill>
                    <a:effectLst/>
                    <a:latin typeface="Segoe WPC"/>
                  </a:rPr>
                  <a:t> futures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crops</a:t>
                </a:r>
                <a:r>
                  <a:rPr lang="es-PE" sz="900" b="0" i="0" dirty="0">
                    <a:solidFill>
                      <a:schemeClr val="tx1"/>
                    </a:solidFill>
                    <a:effectLst/>
                    <a:latin typeface="Segoe WPC"/>
                  </a:rPr>
                  <a:t> and </a:t>
                </a:r>
                <a:r>
                  <a:rPr lang="es-PE" sz="900" b="0" i="0" dirty="0" err="1">
                    <a:solidFill>
                      <a:schemeClr val="tx1"/>
                    </a:solidFill>
                    <a:effectLst/>
                    <a:latin typeface="Segoe WPC"/>
                  </a:rPr>
                  <a:t>livestock</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a:t>
                </a:r>
                <a:r>
                  <a:rPr lang="es-PE" sz="900" b="0" i="0" dirty="0" err="1">
                    <a:solidFill>
                      <a:schemeClr val="tx1"/>
                    </a:solidFill>
                    <a:effectLst/>
                    <a:latin typeface="Segoe WPC"/>
                  </a:rPr>
                  <a:t>corn</a:t>
                </a:r>
                <a:r>
                  <a:rPr lang="es-PE" sz="900" b="0" i="0" dirty="0">
                    <a:solidFill>
                      <a:schemeClr val="tx1"/>
                    </a:solidFill>
                    <a:effectLst/>
                    <a:latin typeface="Segoe WPC"/>
                  </a:rPr>
                  <a:t>, </a:t>
                </a:r>
                <a:r>
                  <a:rPr lang="es-PE" sz="900" b="0" i="0" dirty="0" err="1">
                    <a:solidFill>
                      <a:schemeClr val="tx1"/>
                    </a:solidFill>
                    <a:effectLst/>
                    <a:latin typeface="Segoe WPC"/>
                  </a:rPr>
                  <a:t>wheat</a:t>
                </a:r>
                <a:r>
                  <a:rPr lang="es-PE" sz="900" b="0" i="0" dirty="0">
                    <a:solidFill>
                      <a:schemeClr val="tx1"/>
                    </a:solidFill>
                    <a:effectLst/>
                    <a:latin typeface="Segoe WPC"/>
                  </a:rPr>
                  <a:t>, </a:t>
                </a:r>
                <a:r>
                  <a:rPr lang="es-PE" sz="900" b="0" i="0" dirty="0" err="1">
                    <a:solidFill>
                      <a:schemeClr val="tx1"/>
                    </a:solidFill>
                    <a:effectLst/>
                    <a:latin typeface="Segoe WPC"/>
                  </a:rPr>
                  <a:t>soybeans</a:t>
                </a:r>
                <a:r>
                  <a:rPr lang="es-PE" sz="900" b="0" i="0" dirty="0">
                    <a:solidFill>
                      <a:schemeClr val="tx1"/>
                    </a:solidFill>
                    <a:effectLst/>
                    <a:latin typeface="Segoe WPC"/>
                  </a:rPr>
                  <a:t>, </a:t>
                </a:r>
                <a:r>
                  <a:rPr lang="es-PE" sz="900" b="0" i="0" dirty="0" err="1">
                    <a:solidFill>
                      <a:schemeClr val="tx1"/>
                    </a:solidFill>
                    <a:effectLst/>
                    <a:latin typeface="Segoe WPC"/>
                  </a:rPr>
                  <a:t>cattle</a:t>
                </a:r>
                <a:r>
                  <a:rPr lang="es-PE" sz="900" b="0" i="0" dirty="0">
                    <a:solidFill>
                      <a:schemeClr val="tx1"/>
                    </a:solidFill>
                    <a:effectLst/>
                    <a:latin typeface="Segoe WPC"/>
                  </a:rPr>
                  <a:t>, and </a:t>
                </a:r>
                <a:r>
                  <a:rPr lang="es-PE" sz="900" b="0" i="0" dirty="0" err="1">
                    <a:solidFill>
                      <a:schemeClr val="tx1"/>
                    </a:solidFill>
                    <a:effectLst/>
                    <a:latin typeface="Segoe WPC"/>
                  </a:rPr>
                  <a:t>hogs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t>
                </a:r>
                <a:r>
                  <a:rPr lang="es-PE" sz="900" b="0" i="0" dirty="0" err="1">
                    <a:solidFill>
                      <a:schemeClr val="tx1"/>
                    </a:solidFill>
                    <a:effectLst/>
                    <a:latin typeface="Segoe WPC"/>
                  </a:rPr>
                  <a:t>commodities</a:t>
                </a:r>
                <a:r>
                  <a:rPr lang="es-PE" sz="900" b="0" i="0" dirty="0">
                    <a:solidFill>
                      <a:schemeClr val="tx1"/>
                    </a:solidFill>
                    <a:effectLst/>
                    <a:latin typeface="Segoe WPC"/>
                  </a:rPr>
                  <a:t> are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costly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store, and sensitive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weather</a:t>
                </a:r>
                <a:r>
                  <a:rPr lang="es-PE" sz="900" b="0" i="0" dirty="0">
                    <a:solidFill>
                      <a:schemeClr val="tx1"/>
                    </a:solidFill>
                    <a:effectLst/>
                    <a:latin typeface="Segoe WPC"/>
                  </a:rPr>
                  <a:t> and </a:t>
                </a:r>
                <a:r>
                  <a:rPr lang="es-PE" sz="900" b="0" i="0" dirty="0" err="1">
                    <a:solidFill>
                      <a:schemeClr val="tx1"/>
                    </a:solidFill>
                    <a:effectLst/>
                    <a:latin typeface="Segoe WPC"/>
                  </a:rPr>
                  <a:t>harvest</a:t>
                </a:r>
                <a:r>
                  <a:rPr lang="es-PE" sz="900" b="0" i="0" dirty="0">
                    <a:solidFill>
                      <a:schemeClr val="tx1"/>
                    </a:solidFill>
                    <a:effectLst/>
                    <a:latin typeface="Segoe WPC"/>
                  </a:rPr>
                  <a:t> </a:t>
                </a:r>
                <a:r>
                  <a:rPr lang="es-PE" sz="900" b="0" i="0" dirty="0" err="1">
                    <a:solidFill>
                      <a:schemeClr val="tx1"/>
                    </a:solidFill>
                    <a:effectLst/>
                    <a:latin typeface="Segoe WPC"/>
                  </a:rPr>
                  <a:t>conditions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Prices</a:t>
                </a:r>
                <a:r>
                  <a:rPr lang="es-PE" sz="900" b="0" i="0" dirty="0">
                    <a:solidFill>
                      <a:schemeClr val="tx1"/>
                    </a:solidFill>
                    <a:effectLst/>
                    <a:latin typeface="Segoe WPC"/>
                  </a:rPr>
                  <a:t> are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low</a:t>
                </a:r>
                <a:r>
                  <a:rPr lang="es-PE" sz="900" b="0" i="0" dirty="0">
                    <a:solidFill>
                      <a:schemeClr val="tx1"/>
                    </a:solidFill>
                    <a:effectLst/>
                    <a:latin typeface="Segoe WPC"/>
                  </a:rPr>
                  <a:t> at </a:t>
                </a:r>
                <a:r>
                  <a:rPr lang="es-PE" sz="900" b="0" i="0" dirty="0" err="1">
                    <a:solidFill>
                      <a:schemeClr val="tx1"/>
                    </a:solidFill>
                    <a:effectLst/>
                    <a:latin typeface="Segoe WPC"/>
                  </a:rPr>
                  <a:t>harvest</a:t>
                </a:r>
                <a:r>
                  <a:rPr lang="es-PE" sz="900" b="0" i="0" dirty="0">
                    <a:solidFill>
                      <a:schemeClr val="tx1"/>
                    </a:solidFill>
                    <a:effectLst/>
                    <a:latin typeface="Segoe WPC"/>
                  </a:rPr>
                  <a:t> and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later</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storage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needed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endParaRPr lang="es-PE" sz="900" b="0" i="0" dirty="0">
                  <a:solidFill>
                    <a:schemeClr val="tx1"/>
                  </a:solidFill>
                  <a:effectLst/>
                  <a:latin typeface="Segoe WPC"/>
                </a:endParaRPr>
              </a:p>
              <a:p>
                <a:pPr algn="l">
                  <a:buNone/>
                </a:pP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𝐹</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𝑆</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𝑈</m:t>
                          </m:r>
                        </m:e>
                      </m:d>
                      <m:d>
                        <m:dPr>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𝑅</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1">
                                  <a:solidFill>
                                    <a:schemeClr val="tx1"/>
                                  </a:solidFill>
                                  <a:latin typeface="Cambria Math" panose="02040503050406030204" pitchFamily="18" charset="0"/>
                                </a:rPr>
                                <m:t>𝑇</m:t>
                              </m:r>
                            </m:sup>
                          </m:sSup>
                        </m:e>
                      </m:d>
                    </m:oMath>
                  </m:oMathPara>
                </a14:m>
                <a:endParaRPr lang="ar-AE" sz="900" b="0" i="0" dirty="0">
                  <a:solidFill>
                    <a:schemeClr val="tx1"/>
                  </a:solidFill>
                  <a:effectLst/>
                  <a:latin typeface="Segoe WPC"/>
                </a:endParaRPr>
              </a:p>
              <a:p>
                <a:pPr algn="l">
                  <a:spcAft>
                    <a:spcPts val="1200"/>
                  </a:spcAft>
                  <a:buNone/>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Futures </a:t>
                </a:r>
                <a:r>
                  <a:rPr lang="es-PE" sz="900" b="0" i="0" dirty="0" err="1">
                    <a:solidFill>
                      <a:schemeClr val="tx1"/>
                    </a:solidFill>
                    <a:effectLst/>
                    <a:latin typeface="Segoe WPC"/>
                  </a:rPr>
                  <a:t>reflect</a:t>
                </a:r>
                <a:r>
                  <a:rPr lang="es-PE" sz="900" b="0" i="0" dirty="0">
                    <a:solidFill>
                      <a:schemeClr val="tx1"/>
                    </a:solidFill>
                    <a:effectLst/>
                    <a:latin typeface="Segoe WPC"/>
                  </a:rPr>
                  <a:t> </a:t>
                </a:r>
                <a:r>
                  <a:rPr lang="es-PE" sz="900" b="0" i="0" dirty="0" err="1">
                    <a:solidFill>
                      <a:schemeClr val="tx1"/>
                    </a:solidFill>
                    <a:effectLst/>
                    <a:latin typeface="Segoe WPC"/>
                  </a:rPr>
                  <a:t>seasonality</a:t>
                </a:r>
                <a:r>
                  <a:rPr lang="es-PE" sz="900" b="0" i="0" dirty="0">
                    <a:solidFill>
                      <a:schemeClr val="tx1"/>
                    </a:solidFill>
                    <a:effectLst/>
                    <a:latin typeface="Segoe WPC"/>
                  </a:rPr>
                  <a:t>, </a:t>
                </a:r>
                <a:r>
                  <a:rPr lang="es-PE" sz="900" b="0" i="0" dirty="0" err="1">
                    <a:solidFill>
                      <a:schemeClr val="tx1"/>
                    </a:solidFill>
                    <a:effectLst/>
                    <a:latin typeface="Segoe WPC"/>
                  </a:rPr>
                  <a:t>storage</a:t>
                </a:r>
                <a:r>
                  <a:rPr lang="es-PE" sz="900" b="0" i="0" dirty="0">
                    <a:solidFill>
                      <a:schemeClr val="tx1"/>
                    </a:solidFill>
                    <a:effectLst/>
                    <a:latin typeface="Segoe WPC"/>
                  </a:rPr>
                  <a:t> </a:t>
                </a:r>
                <a:r>
                  <a:rPr lang="es-PE" sz="900" b="0" i="0" dirty="0" err="1">
                    <a:solidFill>
                      <a:schemeClr val="tx1"/>
                    </a:solidFill>
                    <a:effectLst/>
                    <a:latin typeface="Segoe WPC"/>
                  </a:rPr>
                  <a:t>cost</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harvest</a:t>
                </a:r>
                <a:r>
                  <a:rPr lang="es-PE" sz="900" b="0" i="0" dirty="0">
                    <a:solidFill>
                      <a:schemeClr val="tx1"/>
                    </a:solidFill>
                    <a:effectLst/>
                    <a:latin typeface="Segoe WPC"/>
                  </a:rPr>
                  <a:t> </a:t>
                </a:r>
                <a:r>
                  <a:rPr lang="es-PE" sz="900" b="0" i="0" dirty="0" err="1">
                    <a:solidFill>
                      <a:schemeClr val="tx1"/>
                    </a:solidFill>
                    <a:effectLst/>
                    <a:latin typeface="Segoe WPC"/>
                  </a:rPr>
                  <a:t>quality</a:t>
                </a:r>
                <a:r>
                  <a:rPr lang="es-PE" sz="900" b="0" i="0" dirty="0">
                    <a:solidFill>
                      <a:schemeClr val="tx1"/>
                    </a:solidFill>
                    <a:effectLst/>
                    <a:latin typeface="Segoe WPC"/>
                  </a:rPr>
                  <a:t>, and </a:t>
                </a:r>
                <a:r>
                  <a:rPr lang="es-PE" sz="900" b="0" i="0" dirty="0" err="1">
                    <a:solidFill>
                      <a:schemeClr val="tx1"/>
                    </a:solidFill>
                    <a:effectLst/>
                    <a:latin typeface="Segoe WPC"/>
                  </a:rPr>
                  <a:t>trade</a:t>
                </a:r>
                <a:r>
                  <a:rPr lang="es-PE" sz="900" b="0" i="0" dirty="0">
                    <a:solidFill>
                      <a:schemeClr val="tx1"/>
                    </a:solidFill>
                    <a:effectLst/>
                    <a:latin typeface="Segoe WPC"/>
                  </a:rPr>
                  <a:t> </a:t>
                </a:r>
                <a:r>
                  <a:rPr lang="es-PE" sz="900" b="0" i="0" dirty="0" err="1">
                    <a:solidFill>
                      <a:schemeClr val="tx1"/>
                    </a:solidFill>
                    <a:effectLst/>
                    <a:latin typeface="Segoe WPC"/>
                  </a:rPr>
                  <a:t>conditions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Agricultural</a:t>
                </a:r>
                <a:r>
                  <a:rPr lang="es-PE" sz="900" b="0" i="0" dirty="0">
                    <a:solidFill>
                      <a:schemeClr val="tx1"/>
                    </a:solidFill>
                    <a:effectLst/>
                    <a:latin typeface="Segoe WPC"/>
                  </a:rPr>
                  <a:t> futures </a:t>
                </a:r>
                <a:r>
                  <a:rPr lang="es-PE" sz="900" b="0" i="0" dirty="0" err="1">
                    <a:solidFill>
                      <a:schemeClr val="tx1"/>
                    </a:solidFill>
                    <a:effectLst/>
                    <a:latin typeface="Segoe WPC"/>
                  </a:rPr>
                  <a:t>may</a:t>
                </a:r>
                <a:r>
                  <a:rPr lang="es-PE" sz="900" b="0" i="0" dirty="0">
                    <a:solidFill>
                      <a:schemeClr val="tx1"/>
                    </a:solidFill>
                    <a:effectLst/>
                    <a:latin typeface="Segoe WPC"/>
                  </a:rPr>
                  <a:t> show </a:t>
                </a:r>
                <a:r>
                  <a:rPr lang="es-PE" sz="900" b="0" i="0" dirty="0" err="1">
                    <a:solidFill>
                      <a:schemeClr val="tx1"/>
                    </a:solidFill>
                    <a:effectLst/>
                    <a:latin typeface="Segoe WPC"/>
                  </a:rPr>
                  <a:t>both</a:t>
                </a:r>
                <a:r>
                  <a:rPr lang="es-PE" sz="900" b="0" i="0" dirty="0">
                    <a:solidFill>
                      <a:schemeClr val="tx1"/>
                    </a:solidFill>
                    <a:effectLst/>
                    <a:latin typeface="Segoe WPC"/>
                  </a:rPr>
                  <a:t> normal and </a:t>
                </a:r>
                <a:r>
                  <a:rPr lang="es-PE" sz="900" b="0" i="0" dirty="0" err="1">
                    <a:solidFill>
                      <a:schemeClr val="tx1"/>
                    </a:solidFill>
                    <a:effectLst/>
                    <a:latin typeface="Segoe WPC"/>
                  </a:rPr>
                  <a:t>inverted</a:t>
                </a:r>
                <a:r>
                  <a:rPr lang="es-PE" sz="900" b="0" i="0" dirty="0">
                    <a:solidFill>
                      <a:schemeClr val="tx1"/>
                    </a:solidFill>
                    <a:effectLst/>
                    <a:latin typeface="Segoe WPC"/>
                  </a:rPr>
                  <a:t> </a:t>
                </a:r>
                <a:r>
                  <a:rPr lang="es-PE" sz="900" b="0" i="0" dirty="0" err="1">
                    <a:solidFill>
                      <a:schemeClr val="tx1"/>
                    </a:solidFill>
                    <a:effectLst/>
                    <a:latin typeface="Segoe WPC"/>
                  </a:rPr>
                  <a:t>seasonal</a:t>
                </a:r>
                <a:r>
                  <a:rPr lang="es-PE" sz="900" b="0" i="0" dirty="0">
                    <a:solidFill>
                      <a:schemeClr val="tx1"/>
                    </a:solidFill>
                    <a:effectLst/>
                    <a:latin typeface="Segoe WPC"/>
                  </a:rPr>
                  <a:t> </a:t>
                </a:r>
                <a:r>
                  <a:rPr lang="es-PE" sz="900" b="0" i="0" dirty="0" err="1">
                    <a:solidFill>
                      <a:schemeClr val="tx1"/>
                    </a:solidFill>
                    <a:effectLst/>
                    <a:latin typeface="Segoe WPC"/>
                  </a:rPr>
                  <a:t>patterns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3. </a:t>
                </a:r>
                <a:r>
                  <a:rPr lang="es-PE" sz="900" b="1" i="0" dirty="0" err="1">
                    <a:solidFill>
                      <a:schemeClr val="tx1"/>
                    </a:solidFill>
                    <a:effectLst/>
                    <a:latin typeface="Segoe WPC"/>
                  </a:rPr>
                  <a:t>Metals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Metal futures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a:t>
                </a:r>
                <a:r>
                  <a:rPr lang="es-PE" sz="900" b="0" i="0" dirty="0" err="1">
                    <a:solidFill>
                      <a:schemeClr val="tx1"/>
                    </a:solidFill>
                    <a:effectLst/>
                    <a:latin typeface="Segoe WPC"/>
                  </a:rPr>
                  <a:t>gold</a:t>
                </a:r>
                <a:r>
                  <a:rPr lang="es-PE" sz="900" b="0" i="0" dirty="0">
                    <a:solidFill>
                      <a:schemeClr val="tx1"/>
                    </a:solidFill>
                    <a:effectLst/>
                    <a:latin typeface="Segoe WPC"/>
                  </a:rPr>
                  <a:t>, </a:t>
                </a:r>
                <a:r>
                  <a:rPr lang="es-PE" sz="900" b="0" i="0" dirty="0" err="1">
                    <a:solidFill>
                      <a:schemeClr val="tx1"/>
                    </a:solidFill>
                    <a:effectLst/>
                    <a:latin typeface="Segoe WPC"/>
                  </a:rPr>
                  <a:t>silver</a:t>
                </a:r>
                <a:r>
                  <a:rPr lang="es-PE" sz="900" b="0" i="0" dirty="0">
                    <a:solidFill>
                      <a:schemeClr val="tx1"/>
                    </a:solidFill>
                    <a:effectLst/>
                    <a:latin typeface="Segoe WPC"/>
                  </a:rPr>
                  <a:t>, </a:t>
                </a:r>
                <a:r>
                  <a:rPr lang="es-PE" sz="900" b="0" i="0" dirty="0" err="1">
                    <a:solidFill>
                      <a:schemeClr val="tx1"/>
                    </a:solidFill>
                    <a:effectLst/>
                    <a:latin typeface="Segoe WPC"/>
                  </a:rPr>
                  <a:t>copper</a:t>
                </a:r>
                <a:r>
                  <a:rPr lang="es-PE" sz="900" b="0" i="0" dirty="0">
                    <a:solidFill>
                      <a:schemeClr val="tx1"/>
                    </a:solidFill>
                    <a:effectLst/>
                    <a:latin typeface="Segoe WPC"/>
                  </a:rPr>
                  <a:t>, and </a:t>
                </a:r>
                <a:r>
                  <a:rPr lang="es-PE" sz="900" b="0" i="0" dirty="0" err="1">
                    <a:solidFill>
                      <a:schemeClr val="tx1"/>
                    </a:solidFill>
                    <a:effectLst/>
                    <a:latin typeface="Segoe WPC"/>
                  </a:rPr>
                  <a:t>aluminum</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Some</a:t>
                </a:r>
                <a:r>
                  <a:rPr lang="es-PE" sz="900" b="0" i="0" dirty="0">
                    <a:solidFill>
                      <a:schemeClr val="tx1"/>
                    </a:solidFill>
                    <a:effectLst/>
                    <a:latin typeface="Segoe WPC"/>
                  </a:rPr>
                  <a:t> </a:t>
                </a:r>
                <a:r>
                  <a:rPr lang="es-PE" sz="900" b="0" i="0" dirty="0" err="1">
                    <a:solidFill>
                      <a:schemeClr val="tx1"/>
                    </a:solidFill>
                    <a:effectLst/>
                    <a:latin typeface="Segoe WPC"/>
                  </a:rPr>
                  <a:t>metals</a:t>
                </a:r>
                <a:r>
                  <a:rPr lang="es-PE" sz="900" b="0" i="0" dirty="0">
                    <a:solidFill>
                      <a:schemeClr val="tx1"/>
                    </a:solidFill>
                    <a:effectLst/>
                    <a:latin typeface="Segoe WPC"/>
                  </a:rPr>
                  <a:t>, </a:t>
                </a:r>
                <a:r>
                  <a:rPr lang="es-PE" sz="900" b="0" i="0" dirty="0" err="1">
                    <a:solidFill>
                      <a:schemeClr val="tx1"/>
                    </a:solidFill>
                    <a:effectLst/>
                    <a:latin typeface="Segoe WPC"/>
                  </a:rPr>
                  <a:t>especially</a:t>
                </a:r>
                <a:r>
                  <a:rPr lang="es-PE" sz="900" b="0" i="0" dirty="0">
                    <a:solidFill>
                      <a:schemeClr val="tx1"/>
                    </a:solidFill>
                    <a:effectLst/>
                    <a:latin typeface="Segoe WPC"/>
                  </a:rPr>
                  <a:t> </a:t>
                </a:r>
                <a:r>
                  <a:rPr lang="es-PE" sz="900" b="0" i="0" dirty="0" err="1">
                    <a:solidFill>
                      <a:schemeClr val="tx1"/>
                    </a:solidFill>
                    <a:effectLst/>
                    <a:latin typeface="Segoe WPC"/>
                  </a:rPr>
                  <a:t>gold</a:t>
                </a:r>
                <a:r>
                  <a:rPr lang="es-PE" sz="900" b="0" i="0" dirty="0">
                    <a:solidFill>
                      <a:schemeClr val="tx1"/>
                    </a:solidFill>
                    <a:effectLst/>
                    <a:latin typeface="Segoe WPC"/>
                  </a:rPr>
                  <a:t> and </a:t>
                </a:r>
                <a:r>
                  <a:rPr lang="es-PE" sz="900" b="0" i="0" dirty="0" err="1">
                    <a:solidFill>
                      <a:schemeClr val="tx1"/>
                    </a:solidFill>
                    <a:effectLst/>
                    <a:latin typeface="Segoe WPC"/>
                  </a:rPr>
                  <a:t>silver</a:t>
                </a:r>
                <a:r>
                  <a:rPr lang="es-PE" sz="900" b="0" i="0" dirty="0">
                    <a:solidFill>
                      <a:schemeClr val="tx1"/>
                    </a:solidFill>
                    <a:effectLst/>
                    <a:latin typeface="Segoe WPC"/>
                  </a:rPr>
                  <a:t>, are </a:t>
                </a:r>
                <a:r>
                  <a:rPr lang="es-PE" sz="900" b="0" i="0" dirty="0" err="1">
                    <a:solidFill>
                      <a:schemeClr val="tx1"/>
                    </a:solidFill>
                    <a:effectLst/>
                    <a:latin typeface="Segoe WPC"/>
                  </a:rPr>
                  <a:t>partly</a:t>
                </a:r>
                <a:r>
                  <a:rPr lang="es-PE" sz="900" b="0" i="0" dirty="0">
                    <a:solidFill>
                      <a:schemeClr val="tx1"/>
                    </a:solidFill>
                    <a:effectLst/>
                    <a:latin typeface="Segoe WPC"/>
                  </a:rPr>
                  <a:t> </a:t>
                </a:r>
                <a:r>
                  <a:rPr lang="es-PE" sz="900" b="0" i="0" dirty="0" err="1">
                    <a:solidFill>
                      <a:schemeClr val="tx1"/>
                    </a:solidFill>
                    <a:effectLst/>
                    <a:latin typeface="Segoe WPC"/>
                  </a:rPr>
                  <a:t>investment</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so </a:t>
                </a:r>
                <a:r>
                  <a:rPr lang="es-PE" sz="900" b="0" i="0" dirty="0" err="1">
                    <a:solidFill>
                      <a:schemeClr val="tx1"/>
                    </a:solidFill>
                    <a:effectLst/>
                    <a:latin typeface="Segoe WPC"/>
                  </a:rPr>
                  <a:t>pricing</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closer</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financial</a:t>
                </a:r>
                <a:r>
                  <a:rPr lang="es-PE" sz="900" b="0" i="0" dirty="0">
                    <a:solidFill>
                      <a:schemeClr val="tx1"/>
                    </a:solidFill>
                    <a:effectLst/>
                    <a:latin typeface="Segoe WPC"/>
                  </a:rPr>
                  <a:t> forwards.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storage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cheap</a:t>
                </a:r>
                <a:r>
                  <a:rPr lang="es-PE" sz="900" b="0" i="0" dirty="0">
                    <a:solidFill>
                      <a:schemeClr val="tx1"/>
                    </a:solidFill>
                    <a:effectLst/>
                    <a:latin typeface="Segoe WPC"/>
                  </a:rPr>
                  <a:t>, holding a futures </a:t>
                </a:r>
                <a:r>
                  <a:rPr lang="es-PE" sz="900" b="0" i="0" dirty="0" err="1">
                    <a:solidFill>
                      <a:schemeClr val="tx1"/>
                    </a:solidFill>
                    <a:effectLst/>
                    <a:latin typeface="Segoe WPC"/>
                  </a:rPr>
                  <a:t>contract</a:t>
                </a:r>
                <a:r>
                  <a:rPr lang="es-PE" sz="900" b="0" i="0" dirty="0">
                    <a:solidFill>
                      <a:schemeClr val="tx1"/>
                    </a:solidFill>
                    <a:effectLst/>
                    <a:latin typeface="Segoe WPC"/>
                  </a:rPr>
                  <a:t> can be </a:t>
                </a:r>
                <a:r>
                  <a:rPr lang="es-PE" sz="900" b="0" i="0" dirty="0" err="1">
                    <a:solidFill>
                      <a:schemeClr val="tx1"/>
                    </a:solidFill>
                    <a:effectLst/>
                    <a:latin typeface="Segoe WPC"/>
                  </a:rPr>
                  <a:t>close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holding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physical</a:t>
                </a:r>
                <a:r>
                  <a:rPr lang="es-PE" sz="900" b="0" i="0" dirty="0">
                    <a:solidFill>
                      <a:schemeClr val="tx1"/>
                    </a:solidFill>
                    <a:effectLst/>
                    <a:latin typeface="Segoe WPC"/>
                  </a:rPr>
                  <a:t> metal.</a:t>
                </a:r>
                <a:br>
                  <a:rPr lang="es-PE" sz="900" b="0" i="0" dirty="0">
                    <a:solidFill>
                      <a:schemeClr val="tx1"/>
                    </a:solidFill>
                    <a:effectLst/>
                    <a:latin typeface="Segoe WPC"/>
                  </a:rPr>
                </a:br>
                <a:r>
                  <a:rPr lang="es-PE" sz="900" b="1" i="0" dirty="0">
                    <a:solidFill>
                      <a:schemeClr val="tx1"/>
                    </a:solidFill>
                    <a:effectLst/>
                    <a:latin typeface="Segoe WPC"/>
                  </a:rPr>
                  <a:t>Key Formula:</a:t>
                </a:r>
                <a:endParaRPr lang="es-PE" sz="900" b="0" i="0" dirty="0">
                  <a:solidFill>
                    <a:schemeClr val="tx1"/>
                  </a:solidFill>
                  <a:effectLst/>
                  <a:latin typeface="Segoe WPC"/>
                </a:endParaRPr>
              </a:p>
              <a:p>
                <a:pPr algn="l">
                  <a:buNone/>
                </a:pP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𝐹</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𝑆</m:t>
                      </m:r>
                      <m:d>
                        <m:dPr>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𝑅</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1">
                                  <a:solidFill>
                                    <a:schemeClr val="tx1"/>
                                  </a:solidFill>
                                  <a:latin typeface="Cambria Math" panose="02040503050406030204" pitchFamily="18" charset="0"/>
                                </a:rPr>
                                <m:t>𝑇</m:t>
                              </m:r>
                            </m:sup>
                          </m:sSup>
                        </m:e>
                      </m:d>
                    </m:oMath>
                  </m:oMathPara>
                </a14:m>
                <a:endParaRPr lang="ar-AE" sz="900" b="0" i="0" dirty="0">
                  <a:solidFill>
                    <a:schemeClr val="tx1"/>
                  </a:solidFill>
                  <a:effectLst/>
                  <a:latin typeface="Segoe WPC"/>
                </a:endParaRPr>
              </a:p>
              <a:p>
                <a:pPr algn="l">
                  <a:spcAft>
                    <a:spcPts val="1200"/>
                  </a:spcAft>
                  <a:buNone/>
                </a:pP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storage</a:t>
                </a:r>
                <a:r>
                  <a:rPr lang="es-PE" sz="900" b="0" i="0" dirty="0">
                    <a:solidFill>
                      <a:schemeClr val="tx1"/>
                    </a:solidFill>
                    <a:effectLst/>
                    <a:latin typeface="Segoe WPC"/>
                  </a:rPr>
                  <a:t> </a:t>
                </a:r>
                <a:r>
                  <a:rPr lang="es-PE" sz="900" b="0" i="0" dirty="0" err="1">
                    <a:solidFill>
                      <a:schemeClr val="tx1"/>
                    </a:solidFill>
                    <a:effectLst/>
                    <a:latin typeface="Segoe WPC"/>
                  </a:rPr>
                  <a:t>costs</a:t>
                </a:r>
                <a:r>
                  <a:rPr lang="es-PE" sz="900" b="0" i="0" dirty="0">
                    <a:solidFill>
                      <a:schemeClr val="tx1"/>
                    </a:solidFill>
                    <a:effectLst/>
                    <a:latin typeface="Segoe WPC"/>
                  </a:rPr>
                  <a:t> and </a:t>
                </a:r>
                <a:r>
                  <a:rPr lang="es-PE" sz="900" b="0" i="0" dirty="0" err="1">
                    <a:solidFill>
                      <a:schemeClr val="tx1"/>
                    </a:solidFill>
                    <a:effectLst/>
                    <a:latin typeface="Segoe WPC"/>
                  </a:rPr>
                  <a:t>lease</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are </a:t>
                </a:r>
                <a:r>
                  <a:rPr lang="es-PE" sz="900" b="0" i="0" dirty="0" err="1">
                    <a:solidFill>
                      <a:schemeClr val="tx1"/>
                    </a:solidFill>
                    <a:effectLst/>
                    <a:latin typeface="Segoe WPC"/>
                  </a:rPr>
                  <a:t>ignored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Investment</a:t>
                </a:r>
                <a:r>
                  <a:rPr lang="es-PE" sz="900" b="0" i="0" dirty="0">
                    <a:solidFill>
                      <a:schemeClr val="tx1"/>
                    </a:solidFill>
                    <a:effectLst/>
                    <a:latin typeface="Segoe WPC"/>
                  </a:rPr>
                  <a:t> </a:t>
                </a:r>
                <a:r>
                  <a:rPr lang="es-PE" sz="900" b="0" i="0" dirty="0" err="1">
                    <a:solidFill>
                      <a:schemeClr val="tx1"/>
                    </a:solidFill>
                    <a:effectLst/>
                    <a:latin typeface="Segoe WPC"/>
                  </a:rPr>
                  <a:t>metals</a:t>
                </a:r>
                <a:r>
                  <a:rPr lang="es-PE" sz="900" b="0" i="0" dirty="0">
                    <a:solidFill>
                      <a:schemeClr val="tx1"/>
                    </a:solidFill>
                    <a:effectLst/>
                    <a:latin typeface="Segoe WPC"/>
                  </a:rPr>
                  <a:t> </a:t>
                </a:r>
                <a:r>
                  <a:rPr lang="es-PE" sz="900" b="0" i="0" dirty="0" err="1">
                    <a:solidFill>
                      <a:schemeClr val="tx1"/>
                    </a:solidFill>
                    <a:effectLst/>
                    <a:latin typeface="Segoe WPC"/>
                  </a:rPr>
                  <a:t>behave</a:t>
                </a:r>
                <a:r>
                  <a:rPr lang="es-PE" sz="900" b="0" i="0" dirty="0">
                    <a:solidFill>
                      <a:schemeClr val="tx1"/>
                    </a:solidFill>
                    <a:effectLst/>
                    <a:latin typeface="Segoe WPC"/>
                  </a:rPr>
                  <a:t> more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financial</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most</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 </a:t>
                </a:r>
                <a:r>
                  <a:rPr lang="es-PE" sz="900" b="0" i="0" dirty="0" err="1">
                    <a:solidFill>
                      <a:schemeClr val="tx1"/>
                    </a:solidFill>
                    <a:effectLst/>
                    <a:latin typeface="Segoe WPC"/>
                  </a:rPr>
                  <a:t>commodities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treat</a:t>
                </a:r>
                <a:r>
                  <a:rPr lang="es-PE" sz="900" b="0" i="0" dirty="0">
                    <a:solidFill>
                      <a:schemeClr val="tx1"/>
                    </a:solidFill>
                    <a:effectLst/>
                    <a:latin typeface="Segoe WPC"/>
                  </a:rPr>
                  <a:t> </a:t>
                </a:r>
                <a:r>
                  <a:rPr lang="es-PE" sz="900" b="0" i="0" dirty="0" err="1">
                    <a:solidFill>
                      <a:schemeClr val="tx1"/>
                    </a:solidFill>
                    <a:effectLst/>
                    <a:latin typeface="Segoe WPC"/>
                  </a:rPr>
                  <a:t>gold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as industrial </a:t>
                </a:r>
                <a:r>
                  <a:rPr lang="es-PE" sz="900" b="0" i="0" dirty="0" err="1">
                    <a:solidFill>
                      <a:schemeClr val="tx1"/>
                    </a:solidFill>
                    <a:effectLst/>
                    <a:latin typeface="Segoe WPC"/>
                  </a:rPr>
                  <a:t>metals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copper</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4. Energy and </a:t>
                </a:r>
                <a:r>
                  <a:rPr lang="es-PE" sz="900" b="1" i="0" dirty="0" err="1">
                    <a:solidFill>
                      <a:schemeClr val="tx1"/>
                    </a:solidFill>
                    <a:effectLst/>
                    <a:latin typeface="Segoe WPC"/>
                  </a:rPr>
                  <a:t>Weather</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Energy futures and </a:t>
                </a:r>
                <a:r>
                  <a:rPr lang="es-PE" sz="900" b="0" i="0" dirty="0" err="1">
                    <a:solidFill>
                      <a:schemeClr val="tx1"/>
                    </a:solidFill>
                    <a:effectLst/>
                    <a:latin typeface="Segoe WPC"/>
                  </a:rPr>
                  <a:t>weather</a:t>
                </a:r>
                <a:r>
                  <a:rPr lang="es-PE" sz="900" b="0" i="0" dirty="0">
                    <a:solidFill>
                      <a:schemeClr val="tx1"/>
                    </a:solidFill>
                    <a:effectLst/>
                    <a:latin typeface="Segoe WPC"/>
                  </a:rPr>
                  <a:t> derivatives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oil</a:t>
                </a:r>
                <a:r>
                  <a:rPr lang="es-PE" sz="900" b="0" i="0" dirty="0">
                    <a:solidFill>
                      <a:schemeClr val="tx1"/>
                    </a:solidFill>
                    <a:effectLst/>
                    <a:latin typeface="Segoe WPC"/>
                  </a:rPr>
                  <a:t>, natural gas, </a:t>
                </a:r>
                <a:r>
                  <a:rPr lang="es-PE" sz="900" b="0" i="0" dirty="0" err="1">
                    <a:solidFill>
                      <a:schemeClr val="tx1"/>
                    </a:solidFill>
                    <a:effectLst/>
                    <a:latin typeface="Segoe WPC"/>
                  </a:rPr>
                  <a:t>electricity</a:t>
                </a:r>
                <a:r>
                  <a:rPr lang="es-PE" sz="900" b="0" i="0" dirty="0">
                    <a:solidFill>
                      <a:schemeClr val="tx1"/>
                    </a:solidFill>
                    <a:effectLst/>
                    <a:latin typeface="Segoe WPC"/>
                  </a:rPr>
                  <a:t>, and </a:t>
                </a:r>
                <a:r>
                  <a:rPr lang="es-PE" sz="900" b="0" i="0" dirty="0" err="1">
                    <a:solidFill>
                      <a:schemeClr val="tx1"/>
                    </a:solidFill>
                    <a:effectLst/>
                    <a:latin typeface="Segoe WPC"/>
                  </a:rPr>
                  <a:t>temperature-linked</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Energy </a:t>
                </a:r>
                <a:r>
                  <a:rPr lang="es-PE" sz="900" b="0" i="0" dirty="0" err="1">
                    <a:solidFill>
                      <a:schemeClr val="tx1"/>
                    </a:solidFill>
                    <a:effectLst/>
                    <a:latin typeface="Segoe WPC"/>
                  </a:rPr>
                  <a:t>prices</a:t>
                </a:r>
                <a:r>
                  <a:rPr lang="es-PE" sz="900" b="0" i="0" dirty="0">
                    <a:solidFill>
                      <a:schemeClr val="tx1"/>
                    </a:solidFill>
                    <a:effectLst/>
                    <a:latin typeface="Segoe WPC"/>
                  </a:rPr>
                  <a:t>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heavily</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seasonality</a:t>
                </a:r>
                <a:r>
                  <a:rPr lang="es-PE" sz="900" b="0" i="0" dirty="0">
                    <a:solidFill>
                      <a:schemeClr val="tx1"/>
                    </a:solidFill>
                    <a:effectLst/>
                    <a:latin typeface="Segoe WPC"/>
                  </a:rPr>
                  <a:t>, </a:t>
                </a:r>
                <a:r>
                  <a:rPr lang="es-PE" sz="900" b="0" i="0" dirty="0" err="1">
                    <a:solidFill>
                      <a:schemeClr val="tx1"/>
                    </a:solidFill>
                    <a:effectLst/>
                    <a:latin typeface="Segoe WPC"/>
                  </a:rPr>
                  <a:t>storage</a:t>
                </a:r>
                <a:r>
                  <a:rPr lang="es-PE" sz="900" b="0" i="0" dirty="0">
                    <a:solidFill>
                      <a:schemeClr val="tx1"/>
                    </a:solidFill>
                    <a:effectLst/>
                    <a:latin typeface="Segoe WPC"/>
                  </a:rPr>
                  <a:t> </a:t>
                </a:r>
                <a:r>
                  <a:rPr lang="es-PE" sz="900" b="0" i="0" dirty="0" err="1">
                    <a:solidFill>
                      <a:schemeClr val="tx1"/>
                    </a:solidFill>
                    <a:effectLst/>
                    <a:latin typeface="Segoe WPC"/>
                  </a:rPr>
                  <a:t>constraints</a:t>
                </a:r>
                <a:r>
                  <a:rPr lang="es-PE" sz="900" b="0" i="0" dirty="0">
                    <a:solidFill>
                      <a:schemeClr val="tx1"/>
                    </a:solidFill>
                    <a:effectLst/>
                    <a:latin typeface="Segoe WPC"/>
                  </a:rPr>
                  <a:t>, and regional </a:t>
                </a:r>
                <a:r>
                  <a:rPr lang="es-PE" sz="900" b="0" i="0" dirty="0" err="1">
                    <a:solidFill>
                      <a:schemeClr val="tx1"/>
                    </a:solidFill>
                    <a:effectLst/>
                    <a:latin typeface="Segoe WPC"/>
                  </a:rPr>
                  <a:t>demand</a:t>
                </a:r>
                <a:r>
                  <a:rPr lang="es-PE" sz="900" b="0" i="0" dirty="0">
                    <a:solidFill>
                      <a:schemeClr val="tx1"/>
                    </a:solidFill>
                    <a:effectLst/>
                    <a:latin typeface="Segoe WPC"/>
                  </a:rPr>
                  <a:t>; </a:t>
                </a:r>
                <a:r>
                  <a:rPr lang="es-PE" sz="900" b="0" i="0" dirty="0" err="1">
                    <a:solidFill>
                      <a:schemeClr val="tx1"/>
                    </a:solidFill>
                    <a:effectLst/>
                    <a:latin typeface="Segoe WPC"/>
                  </a:rPr>
                  <a:t>weather</a:t>
                </a:r>
                <a:r>
                  <a:rPr lang="es-P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temperature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Natural gas </a:t>
                </a:r>
                <a:r>
                  <a:rPr lang="es-PE" sz="900" b="0" i="0" dirty="0" err="1">
                    <a:solidFill>
                      <a:schemeClr val="tx1"/>
                    </a:solidFill>
                    <a:effectLst/>
                    <a:latin typeface="Segoe WPC"/>
                  </a:rPr>
                  <a:t>demand</a:t>
                </a:r>
                <a:r>
                  <a:rPr lang="es-PE" sz="900" b="0" i="0" dirty="0">
                    <a:solidFill>
                      <a:schemeClr val="tx1"/>
                    </a:solidFill>
                    <a:effectLst/>
                    <a:latin typeface="Segoe WPC"/>
                  </a:rPr>
                  <a:t> </a:t>
                </a:r>
                <a:r>
                  <a:rPr lang="es-PE" sz="900" b="0" i="0" dirty="0" err="1">
                    <a:solidFill>
                      <a:schemeClr val="tx1"/>
                    </a:solidFill>
                    <a:effectLst/>
                    <a:latin typeface="Segoe WPC"/>
                  </a:rPr>
                  <a:t>rises</a:t>
                </a:r>
                <a:r>
                  <a:rPr lang="es-PE" sz="900" b="0" i="0" dirty="0">
                    <a:solidFill>
                      <a:schemeClr val="tx1"/>
                    </a:solidFill>
                    <a:effectLst/>
                    <a:latin typeface="Segoe WPC"/>
                  </a:rPr>
                  <a:t> in </a:t>
                </a:r>
                <a:r>
                  <a:rPr lang="es-PE" sz="900" b="0" i="0" dirty="0" err="1">
                    <a:solidFill>
                      <a:schemeClr val="tx1"/>
                    </a:solidFill>
                    <a:effectLst/>
                    <a:latin typeface="Segoe WPC"/>
                  </a:rPr>
                  <a:t>winter</a:t>
                </a:r>
                <a:r>
                  <a:rPr lang="es-PE" sz="900" b="0" i="0" dirty="0">
                    <a:solidFill>
                      <a:schemeClr val="tx1"/>
                    </a:solidFill>
                    <a:effectLst/>
                    <a:latin typeface="Segoe WPC"/>
                  </a:rPr>
                  <a:t> and </a:t>
                </a:r>
                <a:r>
                  <a:rPr lang="es-PE" sz="900" b="0" i="0" dirty="0" err="1">
                    <a:solidFill>
                      <a:schemeClr val="tx1"/>
                    </a:solidFill>
                    <a:effectLst/>
                    <a:latin typeface="Segoe WPC"/>
                  </a:rPr>
                  <a:t>electricity</a:t>
                </a:r>
                <a:r>
                  <a:rPr lang="es-PE" sz="900" b="0" i="0" dirty="0">
                    <a:solidFill>
                      <a:schemeClr val="tx1"/>
                    </a:solidFill>
                    <a:effectLst/>
                    <a:latin typeface="Segoe WPC"/>
                  </a:rPr>
                  <a:t> can </a:t>
                </a:r>
                <a:r>
                  <a:rPr lang="es-PE" sz="900" b="0" i="0" dirty="0" err="1">
                    <a:solidFill>
                      <a:schemeClr val="tx1"/>
                    </a:solidFill>
                    <a:effectLst/>
                    <a:latin typeface="Segoe WPC"/>
                  </a:rPr>
                  <a:t>spike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hard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store.</a:t>
                </a:r>
                <a:br>
                  <a:rPr lang="es-PE" sz="900" b="0" i="0" dirty="0">
                    <a:solidFill>
                      <a:schemeClr val="tx1"/>
                    </a:solidFill>
                    <a:effectLst/>
                    <a:latin typeface="Segoe WPC"/>
                  </a:rPr>
                </a:br>
                <a:r>
                  <a:rPr lang="es-PE" sz="900" b="1" i="0" dirty="0">
                    <a:solidFill>
                      <a:schemeClr val="tx1"/>
                    </a:solidFill>
                    <a:effectLst/>
                    <a:latin typeface="Segoe WPC"/>
                  </a:rPr>
                  <a:t>Key Formula:</a:t>
                </a:r>
                <a:endParaRPr lang="es-PE" sz="900" b="0" i="0" dirty="0">
                  <a:solidFill>
                    <a:schemeClr val="tx1"/>
                  </a:solidFill>
                  <a:effectLst/>
                  <a:latin typeface="Segoe WPC"/>
                </a:endParaRPr>
              </a:p>
              <a:p>
                <a:pPr algn="l">
                  <a:buNone/>
                </a:pPr>
                <a14:m>
                  <m:oMathPara xmlns:m="http://schemas.openxmlformats.org/officeDocument/2006/math">
                    <m:oMathParaPr>
                      <m:jc m:val="centerGroup"/>
                    </m:oMathParaPr>
                    <m:oMath xmlns:m="http://schemas.openxmlformats.org/officeDocument/2006/math">
                      <m:r>
                        <m:rPr>
                          <m:nor/>
                        </m:rPr>
                        <a:rPr lang="es-PE" sz="900" b="0">
                          <a:solidFill>
                            <a:schemeClr val="tx1"/>
                          </a:solidFill>
                        </a:rPr>
                        <m:t>HDD</m:t>
                      </m:r>
                      <m:r>
                        <a:rPr lang="es-PE" sz="900" b="0" i="0">
                          <a:solidFill>
                            <a:schemeClr val="tx1"/>
                          </a:solidFill>
                          <a:latin typeface="Cambria Math" panose="02040503050406030204" pitchFamily="18" charset="0"/>
                        </a:rPr>
                        <m:t>=</m:t>
                      </m:r>
                      <m:r>
                        <m:rPr>
                          <m:sty m:val="p"/>
                        </m:rPr>
                        <a:rPr lang="es-PE" sz="900" b="0" i="0">
                          <a:solidFill>
                            <a:schemeClr val="tx1"/>
                          </a:solidFill>
                          <a:latin typeface="Cambria Math" panose="02040503050406030204" pitchFamily="18" charset="0"/>
                        </a:rPr>
                        <m:t>max</m:t>
                      </m:r>
                      <m:r>
                        <a:rPr lang="es-PE" sz="900" b="0" i="0">
                          <a:solidFill>
                            <a:schemeClr val="tx1"/>
                          </a:solidFill>
                          <a:latin typeface="Cambria Math" panose="02040503050406030204" pitchFamily="18" charset="0"/>
                        </a:rPr>
                        <m:t>⁡</m:t>
                      </m:r>
                      <m:d>
                        <m:dPr>
                          <m:sepChr m:val=","/>
                          <m:ctrlPr>
                            <a:rPr lang="ar-AE" sz="900" b="0" i="1">
                              <a:solidFill>
                                <a:schemeClr val="tx1"/>
                              </a:solidFill>
                              <a:latin typeface="Cambria Math" panose="02040503050406030204" pitchFamily="18" charset="0"/>
                            </a:rPr>
                          </m:ctrlPr>
                        </m:dPr>
                        <m:e>
                          <m:r>
                            <a:rPr lang="ar-AE" sz="900" b="0" i="0">
                              <a:solidFill>
                                <a:schemeClr val="tx1"/>
                              </a:solidFill>
                              <a:latin typeface="Cambria Math" panose="02040503050406030204" pitchFamily="18" charset="0"/>
                            </a:rPr>
                            <m:t>0</m:t>
                          </m:r>
                        </m:e>
                        <m:e>
                          <m:r>
                            <a:rPr lang="ar-AE" sz="900" b="0" i="0">
                              <a:solidFill>
                                <a:schemeClr val="tx1"/>
                              </a:solidFill>
                              <a:latin typeface="Cambria Math" panose="02040503050406030204" pitchFamily="18" charset="0"/>
                            </a:rPr>
                            <m:t>65</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𝐴</m:t>
                          </m:r>
                        </m:e>
                      </m:d>
                      <m:r>
                        <a:rPr lang="ar-AE" sz="900" b="0" i="0">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CDD</m:t>
                      </m:r>
                      <m:r>
                        <a:rPr lang="es-PE" sz="900" b="0" i="0">
                          <a:solidFill>
                            <a:schemeClr val="tx1"/>
                          </a:solidFill>
                          <a:latin typeface="Cambria Math" panose="02040503050406030204" pitchFamily="18" charset="0"/>
                        </a:rPr>
                        <m:t>=</m:t>
                      </m:r>
                      <m:r>
                        <m:rPr>
                          <m:sty m:val="p"/>
                        </m:rPr>
                        <a:rPr lang="es-PE" sz="900" b="0" i="0">
                          <a:solidFill>
                            <a:schemeClr val="tx1"/>
                          </a:solidFill>
                          <a:latin typeface="Cambria Math" panose="02040503050406030204" pitchFamily="18" charset="0"/>
                        </a:rPr>
                        <m:t>max</m:t>
                      </m:r>
                      <m:r>
                        <a:rPr lang="es-PE" sz="900" b="0" i="0">
                          <a:solidFill>
                            <a:schemeClr val="tx1"/>
                          </a:solidFill>
                          <a:latin typeface="Cambria Math" panose="02040503050406030204" pitchFamily="18" charset="0"/>
                        </a:rPr>
                        <m:t>⁡</m:t>
                      </m:r>
                      <m:d>
                        <m:dPr>
                          <m:sepChr m:val=","/>
                          <m:ctrlPr>
                            <a:rPr lang="ar-AE" sz="900" b="0" i="1">
                              <a:solidFill>
                                <a:schemeClr val="tx1"/>
                              </a:solidFill>
                              <a:latin typeface="Cambria Math" panose="02040503050406030204" pitchFamily="18" charset="0"/>
                            </a:rPr>
                          </m:ctrlPr>
                        </m:dPr>
                        <m:e>
                          <m:r>
                            <a:rPr lang="ar-AE" sz="900" b="0" i="0">
                              <a:solidFill>
                                <a:schemeClr val="tx1"/>
                              </a:solidFill>
                              <a:latin typeface="Cambria Math" panose="02040503050406030204" pitchFamily="18" charset="0"/>
                            </a:rPr>
                            <m:t>0</m:t>
                          </m:r>
                        </m:e>
                        <m:e>
                          <m:r>
                            <a:rPr lang="ar-AE" sz="900" b="0" i="1">
                              <a:solidFill>
                                <a:schemeClr val="tx1"/>
                              </a:solidFill>
                              <a:latin typeface="Cambria Math" panose="02040503050406030204" pitchFamily="18" charset="0"/>
                            </a:rPr>
                            <m:t>𝐴</m:t>
                          </m:r>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65</m:t>
                          </m:r>
                        </m:e>
                      </m:d>
                    </m:oMath>
                  </m:oMathPara>
                </a14:m>
                <a:endParaRPr lang="ar-AE" sz="900" b="0" i="0" dirty="0">
                  <a:solidFill>
                    <a:schemeClr val="tx1"/>
                  </a:solidFill>
                  <a:effectLst/>
                  <a:latin typeface="Segoe WPC"/>
                </a:endParaRPr>
              </a:p>
              <a:p>
                <a:pPr algn="l">
                  <a:spcAft>
                    <a:spcPts val="1200"/>
                  </a:spcAft>
                  <a:buNone/>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Weather</a:t>
                </a:r>
                <a:r>
                  <a:rPr lang="es-PE" sz="900" b="0" i="0" dirty="0">
                    <a:solidFill>
                      <a:schemeClr val="tx1"/>
                    </a:solidFill>
                    <a:effectLst/>
                    <a:latin typeface="Segoe WPC"/>
                  </a:rPr>
                  <a:t> derivatives are </a:t>
                </a:r>
                <a:r>
                  <a:rPr lang="es-PE" sz="900" b="0" i="0" dirty="0" err="1">
                    <a:solidFill>
                      <a:schemeClr val="tx1"/>
                    </a:solidFill>
                    <a:effectLst/>
                    <a:latin typeface="Segoe WPC"/>
                  </a:rPr>
                  <a:t>important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firms</a:t>
                </a:r>
                <a:r>
                  <a:rPr lang="es-PE" sz="900" b="0" i="0" dirty="0">
                    <a:solidFill>
                      <a:schemeClr val="tx1"/>
                    </a:solidFill>
                    <a:effectLst/>
                    <a:latin typeface="Segoe WPC"/>
                  </a:rPr>
                  <a:t> </a:t>
                </a:r>
                <a:r>
                  <a:rPr lang="es-PE" sz="900" b="0" i="0" dirty="0" err="1">
                    <a:solidFill>
                      <a:schemeClr val="tx1"/>
                    </a:solidFill>
                    <a:effectLst/>
                    <a:latin typeface="Segoe WPC"/>
                  </a:rPr>
                  <a:t>exposed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heating</a:t>
                </a:r>
                <a:r>
                  <a:rPr lang="es-PE" sz="900" b="0" i="0" dirty="0">
                    <a:solidFill>
                      <a:schemeClr val="tx1"/>
                    </a:solidFill>
                    <a:effectLst/>
                    <a:latin typeface="Segoe WPC"/>
                  </a:rPr>
                  <a:t> and </a:t>
                </a:r>
                <a:r>
                  <a:rPr lang="es-PE" sz="900" b="0" i="0" dirty="0" err="1">
                    <a:solidFill>
                      <a:schemeClr val="tx1"/>
                    </a:solidFill>
                    <a:effectLst/>
                    <a:latin typeface="Segoe WPC"/>
                  </a:rPr>
                  <a:t>cooling</a:t>
                </a:r>
                <a:r>
                  <a:rPr lang="es-PE" sz="900" b="0" i="0" dirty="0">
                    <a:solidFill>
                      <a:schemeClr val="tx1"/>
                    </a:solidFill>
                    <a:effectLst/>
                    <a:latin typeface="Segoe WPC"/>
                  </a:rPr>
                  <a:t> </a:t>
                </a:r>
                <a:r>
                  <a:rPr lang="es-PE" sz="900" b="0" i="0" dirty="0" err="1">
                    <a:solidFill>
                      <a:schemeClr val="tx1"/>
                    </a:solidFill>
                    <a:effectLst/>
                    <a:latin typeface="Segoe WPC"/>
                  </a:rPr>
                  <a:t>demand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Weather</a:t>
                </a:r>
                <a:r>
                  <a:rPr lang="es-PE" sz="900" b="0" i="0" dirty="0">
                    <a:solidFill>
                      <a:schemeClr val="tx1"/>
                    </a:solidFill>
                    <a:effectLst/>
                    <a:latin typeface="Segoe WPC"/>
                  </a:rPr>
                  <a:t> derivatives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delivery</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 </a:t>
                </a:r>
                <a:r>
                  <a:rPr lang="es-PE" sz="900" b="0" i="0" dirty="0" err="1">
                    <a:solidFill>
                      <a:schemeClr val="tx1"/>
                    </a:solidFill>
                    <a:effectLst/>
                    <a:latin typeface="Segoe WPC"/>
                  </a:rPr>
                  <a:t>physical</a:t>
                </a:r>
                <a:r>
                  <a:rPr lang="es-PE" sz="900" b="0" i="0" dirty="0">
                    <a:solidFill>
                      <a:schemeClr val="tx1"/>
                    </a:solidFill>
                    <a:effectLst/>
                    <a:latin typeface="Segoe WPC"/>
                  </a:rPr>
                  <a:t> </a:t>
                </a:r>
                <a:r>
                  <a:rPr lang="es-PE" sz="900" b="0" i="0" dirty="0" err="1">
                    <a:solidFill>
                      <a:schemeClr val="tx1"/>
                    </a:solidFill>
                    <a:effectLst/>
                    <a:latin typeface="Segoe WPC"/>
                  </a:rPr>
                  <a:t>commodity</a:t>
                </a:r>
                <a:r>
                  <a:rPr lang="es-PE" sz="900" b="0" i="0" dirty="0">
                    <a:solidFill>
                      <a:schemeClr val="tx1"/>
                    </a:solidFill>
                    <a:effectLst/>
                    <a:latin typeface="Segoe WPC"/>
                  </a:rPr>
                  <a:t>.</a:t>
                </a:r>
              </a:p>
            </p:txBody>
          </p:sp>
        </mc:Choice>
        <mc:Fallback xmlns="">
          <p:sp>
            <p:nvSpPr>
              <p:cNvPr id="7" name="CuadroTexto 6">
                <a:extLst>
                  <a:ext uri="{FF2B5EF4-FFF2-40B4-BE49-F238E27FC236}">
                    <a16:creationId xmlns:a16="http://schemas.microsoft.com/office/drawing/2014/main" id="{7BEE2207-C726-3E76-8CCA-23BE9A3F38D6}"/>
                  </a:ext>
                </a:extLst>
              </p:cNvPr>
              <p:cNvSpPr txBox="1">
                <a:spLocks noRot="1" noChangeAspect="1" noMove="1" noResize="1" noEditPoints="1" noAdjustHandles="1" noChangeArrowheads="1" noChangeShapeType="1" noTextEdit="1"/>
              </p:cNvSpPr>
              <p:nvPr/>
            </p:nvSpPr>
            <p:spPr>
              <a:xfrm>
                <a:off x="0" y="471149"/>
                <a:ext cx="6188074" cy="6223435"/>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FFA4485C-1FB7-2DCE-F1D3-992245B733ED}"/>
                  </a:ext>
                </a:extLst>
              </p:cNvPr>
              <p:cNvSpPr txBox="1"/>
              <p:nvPr/>
            </p:nvSpPr>
            <p:spPr>
              <a:xfrm>
                <a:off x="6288088" y="-70794"/>
                <a:ext cx="6188074" cy="6765378"/>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5. </a:t>
                </a:r>
                <a:r>
                  <a:rPr lang="es-PE" sz="900" b="1" i="0" dirty="0" err="1">
                    <a:solidFill>
                      <a:schemeClr val="tx1"/>
                    </a:solidFill>
                    <a:effectLst/>
                    <a:latin typeface="Segoe WPC"/>
                  </a:rPr>
                  <a:t>Lease</a:t>
                </a:r>
                <a:r>
                  <a:rPr lang="es-PE" sz="900" b="1" i="0" dirty="0">
                    <a:solidFill>
                      <a:schemeClr val="tx1"/>
                    </a:solidFill>
                    <a:effectLst/>
                    <a:latin typeface="Segoe WPC"/>
                  </a:rPr>
                  <a:t> </a:t>
                </a:r>
                <a:r>
                  <a:rPr lang="es-PE" sz="900" b="1" i="0" dirty="0" err="1">
                    <a:solidFill>
                      <a:schemeClr val="tx1"/>
                    </a:solidFill>
                    <a:effectLst/>
                    <a:latin typeface="Segoe WPC"/>
                  </a:rPr>
                  <a:t>Rate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lease</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cost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borrowing</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investment</a:t>
                </a:r>
                <a:r>
                  <a:rPr lang="es-PE" sz="900" b="0" i="0" dirty="0">
                    <a:solidFill>
                      <a:schemeClr val="tx1"/>
                    </a:solidFill>
                    <a:effectLst/>
                    <a:latin typeface="Segoe WPC"/>
                  </a:rPr>
                  <a:t> </a:t>
                </a:r>
                <a:r>
                  <a:rPr lang="es-PE" sz="900" b="0" i="0" dirty="0" err="1">
                    <a:solidFill>
                      <a:schemeClr val="tx1"/>
                    </a:solidFill>
                    <a:effectLst/>
                    <a:latin typeface="Segoe WPC"/>
                  </a:rPr>
                  <a:t>commodity</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a:t>
                </a:r>
                <a:r>
                  <a:rPr lang="es-PE" sz="900" b="0" i="0" dirty="0" err="1">
                    <a:solidFill>
                      <a:schemeClr val="tx1"/>
                    </a:solidFill>
                    <a:effectLst/>
                    <a:latin typeface="Segoe WPC"/>
                  </a:rPr>
                  <a:t>gold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works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income</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commodity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dealer can </a:t>
                </a:r>
                <a:r>
                  <a:rPr lang="es-PE" sz="900" b="0" i="0" dirty="0" err="1">
                    <a:solidFill>
                      <a:schemeClr val="tx1"/>
                    </a:solidFill>
                    <a:effectLst/>
                    <a:latin typeface="Segoe WPC"/>
                  </a:rPr>
                  <a:t>borrow</a:t>
                </a:r>
                <a:r>
                  <a:rPr lang="es-PE" sz="900" b="0" i="0" dirty="0">
                    <a:solidFill>
                      <a:schemeClr val="tx1"/>
                    </a:solidFill>
                    <a:effectLst/>
                    <a:latin typeface="Segoe WPC"/>
                  </a:rPr>
                  <a:t> </a:t>
                </a:r>
                <a:r>
                  <a:rPr lang="es-PE" sz="900" b="0" i="0" dirty="0" err="1">
                    <a:solidFill>
                      <a:schemeClr val="tx1"/>
                    </a:solidFill>
                    <a:effectLst/>
                    <a:latin typeface="Segoe WPC"/>
                  </a:rPr>
                  <a:t>gold</a:t>
                </a:r>
                <a:r>
                  <a:rPr lang="es-PE" sz="900" b="0" i="0" dirty="0">
                    <a:solidFill>
                      <a:schemeClr val="tx1"/>
                    </a:solidFill>
                    <a:effectLst/>
                    <a:latin typeface="Segoe WPC"/>
                  </a:rPr>
                  <a:t>, </a:t>
                </a:r>
                <a:r>
                  <a:rPr lang="es-PE" sz="900" b="0" i="0" dirty="0" err="1">
                    <a:solidFill>
                      <a:schemeClr val="tx1"/>
                    </a:solidFill>
                    <a:effectLst/>
                    <a:latin typeface="Segoe WPC"/>
                  </a:rPr>
                  <a:t>sell</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spot, and use a forward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replace</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later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endParaRPr lang="es-PE" sz="900" b="0" i="0" dirty="0">
                  <a:solidFill>
                    <a:schemeClr val="tx1"/>
                  </a:solidFill>
                  <a:effectLst/>
                  <a:latin typeface="Segoe WPC"/>
                </a:endParaRPr>
              </a:p>
              <a:p>
                <a:pPr algn="l">
                  <a:buNone/>
                </a:pP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𝐹</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𝑆</m:t>
                      </m:r>
                      <m:sSup>
                        <m:sSupPr>
                          <m:ctrlPr>
                            <a:rPr lang="ar-AE" sz="900" i="1">
                              <a:solidFill>
                                <a:schemeClr val="tx1"/>
                              </a:solidFill>
                              <a:latin typeface="Cambria Math" panose="02040503050406030204" pitchFamily="18" charset="0"/>
                            </a:rPr>
                          </m:ctrlPr>
                        </m:sSupPr>
                        <m:e>
                          <m:d>
                            <m:dPr>
                              <m:ctrlPr>
                                <a:rPr lang="ar-AE" sz="900" i="1">
                                  <a:solidFill>
                                    <a:schemeClr val="tx1"/>
                                  </a:solidFill>
                                  <a:latin typeface="Cambria Math" panose="02040503050406030204" pitchFamily="18" charset="0"/>
                                </a:rPr>
                              </m:ctrlPr>
                            </m:dPr>
                            <m:e>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𝑅</m:t>
                                  </m:r>
                                </m:num>
                                <m:den>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𝑒</m:t>
                                  </m:r>
                                </m:den>
                              </m:f>
                            </m:e>
                          </m:d>
                        </m:e>
                        <m:sup>
                          <m:r>
                            <a:rPr lang="ar-AE" sz="900" i="1">
                              <a:solidFill>
                                <a:schemeClr val="tx1"/>
                              </a:solidFill>
                              <a:latin typeface="Cambria Math" panose="02040503050406030204" pitchFamily="18" charset="0"/>
                            </a:rPr>
                            <m:t>𝑇</m:t>
                          </m:r>
                        </m:sup>
                      </m:sSup>
                    </m:oMath>
                  </m:oMathPara>
                </a14:m>
                <a:endParaRPr lang="ar-AE" sz="900" b="0" i="0" dirty="0">
                  <a:solidFill>
                    <a:schemeClr val="tx1"/>
                  </a:solidFill>
                  <a:effectLst/>
                  <a:latin typeface="Segoe WPC"/>
                </a:endParaRPr>
              </a:p>
              <a:p>
                <a:pPr algn="l">
                  <a:spcAft>
                    <a:spcPts val="1200"/>
                  </a:spcAft>
                  <a:buNone/>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lease</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lowers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forward </a:t>
                </a:r>
                <a:r>
                  <a:rPr lang="es-PE" sz="900" b="0" i="0" dirty="0" err="1">
                    <a:solidFill>
                      <a:schemeClr val="tx1"/>
                    </a:solidFill>
                    <a:effectLst/>
                    <a:latin typeface="Segoe WPC"/>
                  </a:rPr>
                  <a:t>price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Lease</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as </a:t>
                </a:r>
                <a:r>
                  <a:rPr lang="es-PE" sz="900" b="0" i="0" dirty="0" err="1">
                    <a:solidFill>
                      <a:schemeClr val="tx1"/>
                    </a:solidFill>
                    <a:effectLst/>
                    <a:latin typeface="Segoe WPC"/>
                  </a:rPr>
                  <a:t>convenience</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6. </a:t>
                </a:r>
                <a:r>
                  <a:rPr lang="es-PE" sz="900" b="1" i="0" dirty="0" err="1">
                    <a:solidFill>
                      <a:schemeClr val="tx1"/>
                    </a:solidFill>
                    <a:effectLst/>
                    <a:latin typeface="Segoe WPC"/>
                  </a:rPr>
                  <a:t>Convenience</a:t>
                </a:r>
                <a:r>
                  <a:rPr lang="es-PE" sz="900" b="1" i="0" dirty="0">
                    <a:solidFill>
                      <a:schemeClr val="tx1"/>
                    </a:solidFill>
                    <a:effectLst/>
                    <a:latin typeface="Segoe WPC"/>
                  </a:rPr>
                  <a:t> </a:t>
                </a:r>
                <a:r>
                  <a:rPr lang="es-PE" sz="900" b="1" i="0" dirty="0" err="1">
                    <a:solidFill>
                      <a:schemeClr val="tx1"/>
                    </a:solidFill>
                    <a:effectLst/>
                    <a:latin typeface="Segoe WPC"/>
                  </a:rPr>
                  <a:t>Yield</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Convenience</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benefit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physically</a:t>
                </a:r>
                <a:r>
                  <a:rPr lang="es-PE" sz="900" b="0" i="0" dirty="0">
                    <a:solidFill>
                      <a:schemeClr val="tx1"/>
                    </a:solidFill>
                    <a:effectLst/>
                    <a:latin typeface="Segoe WPC"/>
                  </a:rPr>
                  <a:t> holding a </a:t>
                </a:r>
                <a:r>
                  <a:rPr lang="es-PE" sz="900" b="0" i="0" dirty="0" err="1">
                    <a:solidFill>
                      <a:schemeClr val="tx1"/>
                    </a:solidFill>
                    <a:effectLst/>
                    <a:latin typeface="Segoe WPC"/>
                  </a:rPr>
                  <a:t>consumption</a:t>
                </a:r>
                <a:r>
                  <a:rPr lang="es-PE" sz="900" b="0" i="0" dirty="0">
                    <a:solidFill>
                      <a:schemeClr val="tx1"/>
                    </a:solidFill>
                    <a:effectLst/>
                    <a:latin typeface="Segoe WPC"/>
                  </a:rPr>
                  <a:t> </a:t>
                </a:r>
                <a:r>
                  <a:rPr lang="es-PE" sz="900" b="0" i="0" dirty="0" err="1">
                    <a:solidFill>
                      <a:schemeClr val="tx1"/>
                    </a:solidFill>
                    <a:effectLst/>
                    <a:latin typeface="Segoe WPC"/>
                  </a:rPr>
                  <a:t>commodity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Inventory</a:t>
                </a:r>
                <a:r>
                  <a:rPr lang="es-PE" sz="900" b="0" i="0" dirty="0">
                    <a:solidFill>
                      <a:schemeClr val="tx1"/>
                    </a:solidFill>
                    <a:effectLst/>
                    <a:latin typeface="Segoe WPC"/>
                  </a:rPr>
                  <a:t> </a:t>
                </a:r>
                <a:r>
                  <a:rPr lang="es-PE" sz="900" b="0" i="0" dirty="0" err="1">
                    <a:solidFill>
                      <a:schemeClr val="tx1"/>
                    </a:solidFill>
                    <a:effectLst/>
                    <a:latin typeface="Segoe WPC"/>
                  </a:rPr>
                  <a:t>protects</a:t>
                </a:r>
                <a:r>
                  <a:rPr lang="es-PE" sz="900" b="0" i="0" dirty="0">
                    <a:solidFill>
                      <a:schemeClr val="tx1"/>
                    </a:solidFill>
                    <a:effectLst/>
                    <a:latin typeface="Segoe WPC"/>
                  </a:rPr>
                  <a:t> </a:t>
                </a:r>
                <a:r>
                  <a:rPr lang="es-PE" sz="900" b="0" i="0" dirty="0" err="1">
                    <a:solidFill>
                      <a:schemeClr val="tx1"/>
                    </a:solidFill>
                    <a:effectLst/>
                    <a:latin typeface="Segoe WPC"/>
                  </a:rPr>
                  <a:t>against</a:t>
                </a:r>
                <a:r>
                  <a:rPr lang="es-PE" sz="900" b="0" i="0" dirty="0">
                    <a:solidFill>
                      <a:schemeClr val="tx1"/>
                    </a:solidFill>
                    <a:effectLst/>
                    <a:latin typeface="Segoe WPC"/>
                  </a:rPr>
                  <a:t> </a:t>
                </a:r>
                <a:r>
                  <a:rPr lang="es-PE" sz="900" b="0" i="0" dirty="0" err="1">
                    <a:solidFill>
                      <a:schemeClr val="tx1"/>
                    </a:solidFill>
                    <a:effectLst/>
                    <a:latin typeface="Segoe WPC"/>
                  </a:rPr>
                  <a:t>shortages</a:t>
                </a:r>
                <a:r>
                  <a:rPr lang="es-PE" sz="900" b="0" i="0" dirty="0">
                    <a:solidFill>
                      <a:schemeClr val="tx1"/>
                    </a:solidFill>
                    <a:effectLst/>
                    <a:latin typeface="Segoe WPC"/>
                  </a:rPr>
                  <a:t>, </a:t>
                </a:r>
                <a:r>
                  <a:rPr lang="es-PE" sz="900" b="0" i="0" dirty="0" err="1">
                    <a:solidFill>
                      <a:schemeClr val="tx1"/>
                    </a:solidFill>
                    <a:effectLst/>
                    <a:latin typeface="Segoe WPC"/>
                  </a:rPr>
                  <a:t>delays</a:t>
                </a:r>
                <a:r>
                  <a:rPr lang="es-PE" sz="900" b="0" i="0" dirty="0">
                    <a:solidFill>
                      <a:schemeClr val="tx1"/>
                    </a:solidFill>
                    <a:effectLst/>
                    <a:latin typeface="Segoe WPC"/>
                  </a:rPr>
                  <a:t>, and </a:t>
                </a:r>
                <a:r>
                  <a:rPr lang="es-PE" sz="900" b="0" i="0" dirty="0" err="1">
                    <a:solidFill>
                      <a:schemeClr val="tx1"/>
                    </a:solidFill>
                    <a:effectLst/>
                    <a:latin typeface="Segoe WPC"/>
                  </a:rPr>
                  <a:t>production</a:t>
                </a:r>
                <a:r>
                  <a:rPr lang="es-PE" sz="900" b="0" i="0" dirty="0">
                    <a:solidFill>
                      <a:schemeClr val="tx1"/>
                    </a:solidFill>
                    <a:effectLst/>
                    <a:latin typeface="Segoe WPC"/>
                  </a:rPr>
                  <a:t> </a:t>
                </a:r>
                <a:r>
                  <a:rPr lang="es-PE" sz="900" b="0" i="0" dirty="0" err="1">
                    <a:solidFill>
                      <a:schemeClr val="tx1"/>
                    </a:solidFill>
                    <a:effectLst/>
                    <a:latin typeface="Segoe WPC"/>
                  </a:rPr>
                  <a:t>disruptions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refinery</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keep</a:t>
                </a:r>
                <a:r>
                  <a:rPr lang="es-PE" sz="900" b="0" i="0" dirty="0">
                    <a:solidFill>
                      <a:schemeClr val="tx1"/>
                    </a:solidFill>
                    <a:effectLst/>
                    <a:latin typeface="Segoe WPC"/>
                  </a:rPr>
                  <a:t> </a:t>
                </a:r>
                <a:r>
                  <a:rPr lang="es-PE" sz="900" b="0" i="0" dirty="0" err="1">
                    <a:solidFill>
                      <a:schemeClr val="tx1"/>
                    </a:solidFill>
                    <a:effectLst/>
                    <a:latin typeface="Segoe WPC"/>
                  </a:rPr>
                  <a:t>oil</a:t>
                </a:r>
                <a:r>
                  <a:rPr lang="es-PE" sz="900" b="0" i="0" dirty="0">
                    <a:solidFill>
                      <a:schemeClr val="tx1"/>
                    </a:solidFill>
                    <a:effectLst/>
                    <a:latin typeface="Segoe WPC"/>
                  </a:rPr>
                  <a:t> in </a:t>
                </a:r>
                <a:r>
                  <a:rPr lang="es-PE" sz="900" b="0" i="0" dirty="0" err="1">
                    <a:solidFill>
                      <a:schemeClr val="tx1"/>
                    </a:solidFill>
                    <a:effectLst/>
                    <a:latin typeface="Segoe WPC"/>
                  </a:rPr>
                  <a:t>storage</a:t>
                </a:r>
                <a:r>
                  <a:rPr lang="es-PE" sz="900" b="0" i="0" dirty="0">
                    <a:solidFill>
                      <a:schemeClr val="tx1"/>
                    </a:solidFill>
                    <a:effectLst/>
                    <a:latin typeface="Segoe WPC"/>
                  </a:rPr>
                  <a:t> </a:t>
                </a:r>
                <a:r>
                  <a:rPr lang="es-PE" sz="900" b="0" i="0" dirty="0" err="1">
                    <a:solidFill>
                      <a:schemeClr val="tx1"/>
                    </a:solidFill>
                    <a:effectLst/>
                    <a:latin typeface="Segoe WPC"/>
                  </a:rPr>
                  <a:t>even</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selling</a:t>
                </a:r>
                <a:r>
                  <a:rPr lang="es-PE" sz="900" b="0" i="0" dirty="0">
                    <a:solidFill>
                      <a:schemeClr val="tx1"/>
                    </a:solidFill>
                    <a:effectLst/>
                    <a:latin typeface="Segoe WPC"/>
                  </a:rPr>
                  <a:t> spot </a:t>
                </a:r>
                <a:r>
                  <a:rPr lang="es-PE" sz="900" b="0" i="0" dirty="0" err="1">
                    <a:solidFill>
                      <a:schemeClr val="tx1"/>
                    </a:solidFill>
                    <a:effectLst/>
                    <a:latin typeface="Segoe WPC"/>
                  </a:rPr>
                  <a:t>seems</a:t>
                </a:r>
                <a:r>
                  <a:rPr lang="es-PE" sz="900" b="0" i="0" dirty="0">
                    <a:solidFill>
                      <a:schemeClr val="tx1"/>
                    </a:solidFill>
                    <a:effectLst/>
                    <a:latin typeface="Segoe WPC"/>
                  </a:rPr>
                  <a:t> </a:t>
                </a:r>
                <a:r>
                  <a:rPr lang="es-PE" sz="900" b="0" i="0" dirty="0" err="1">
                    <a:solidFill>
                      <a:schemeClr val="tx1"/>
                    </a:solidFill>
                    <a:effectLst/>
                    <a:latin typeface="Segoe WPC"/>
                  </a:rPr>
                  <a:t>attractive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immediate</a:t>
                </a:r>
                <a:r>
                  <a:rPr lang="es-PE" sz="900" b="0" i="0" dirty="0">
                    <a:solidFill>
                      <a:schemeClr val="tx1"/>
                    </a:solidFill>
                    <a:effectLst/>
                    <a:latin typeface="Segoe WPC"/>
                  </a:rPr>
                  <a:t> </a:t>
                </a:r>
                <a:r>
                  <a:rPr lang="es-PE" sz="900" b="0" i="0" dirty="0" err="1">
                    <a:solidFill>
                      <a:schemeClr val="tx1"/>
                    </a:solidFill>
                    <a:effectLst/>
                    <a:latin typeface="Segoe WPC"/>
                  </a:rPr>
                  <a:t>access</a:t>
                </a:r>
                <a:r>
                  <a:rPr lang="es-PE" sz="900" b="0" i="0" dirty="0">
                    <a:solidFill>
                      <a:schemeClr val="tx1"/>
                    </a:solidFill>
                    <a:effectLst/>
                    <a:latin typeface="Segoe WPC"/>
                  </a:rPr>
                  <a:t> has </a:t>
                </a:r>
                <a:r>
                  <a:rPr lang="es-PE" sz="900" b="0" i="0" dirty="0" err="1">
                    <a:solidFill>
                      <a:schemeClr val="tx1"/>
                    </a:solidFill>
                    <a:effectLst/>
                    <a:latin typeface="Segoe WPC"/>
                  </a:rPr>
                  <a:t>value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endParaRPr lang="es-PE" sz="900" b="0" i="0" dirty="0">
                  <a:solidFill>
                    <a:schemeClr val="tx1"/>
                  </a:solidFill>
                  <a:effectLst/>
                  <a:latin typeface="Segoe WPC"/>
                </a:endParaRPr>
              </a:p>
              <a:p>
                <a:pPr algn="l">
                  <a:buNone/>
                </a:pP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𝐹</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𝑆</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𝑈</m:t>
                          </m:r>
                        </m:e>
                      </m:d>
                      <m:sSup>
                        <m:sSupPr>
                          <m:ctrlPr>
                            <a:rPr lang="ar-AE" sz="900" i="1">
                              <a:solidFill>
                                <a:schemeClr val="tx1"/>
                              </a:solidFill>
                              <a:latin typeface="Cambria Math" panose="02040503050406030204" pitchFamily="18" charset="0"/>
                            </a:rPr>
                          </m:ctrlPr>
                        </m:sSupPr>
                        <m:e>
                          <m:d>
                            <m:dPr>
                              <m:ctrlPr>
                                <a:rPr lang="ar-AE" sz="900" i="1">
                                  <a:solidFill>
                                    <a:schemeClr val="tx1"/>
                                  </a:solidFill>
                                  <a:latin typeface="Cambria Math" panose="02040503050406030204" pitchFamily="18" charset="0"/>
                                </a:rPr>
                              </m:ctrlPr>
                            </m:dPr>
                            <m:e>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𝑅</m:t>
                                  </m:r>
                                </m:num>
                                <m:den>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𝑌</m:t>
                                  </m:r>
                                </m:den>
                              </m:f>
                            </m:e>
                          </m:d>
                        </m:e>
                        <m:sup>
                          <m:r>
                            <a:rPr lang="ar-AE" sz="900" i="1">
                              <a:solidFill>
                                <a:schemeClr val="tx1"/>
                              </a:solidFill>
                              <a:latin typeface="Cambria Math" panose="02040503050406030204" pitchFamily="18" charset="0"/>
                            </a:rPr>
                            <m:t>𝑇</m:t>
                          </m:r>
                        </m:sup>
                      </m:sSup>
                    </m:oMath>
                  </m:oMathPara>
                </a14:m>
                <a:endParaRPr lang="ar-AE" sz="900" b="0" i="0" dirty="0">
                  <a:solidFill>
                    <a:schemeClr val="tx1"/>
                  </a:solidFill>
                  <a:effectLst/>
                  <a:latin typeface="Segoe WPC"/>
                </a:endParaRPr>
              </a:p>
              <a:p>
                <a:pPr algn="l">
                  <a:spcAft>
                    <a:spcPts val="1200"/>
                  </a:spcAft>
                  <a:buNone/>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convenience</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 </a:t>
                </a:r>
                <a:r>
                  <a:rPr lang="es-PE" sz="900" b="0" i="0" dirty="0" err="1">
                    <a:solidFill>
                      <a:schemeClr val="tx1"/>
                    </a:solidFill>
                    <a:effectLst/>
                    <a:latin typeface="Segoe WPC"/>
                  </a:rPr>
                  <a:t>lowers</a:t>
                </a:r>
                <a:r>
                  <a:rPr lang="es-PE" sz="900" b="0" i="0" dirty="0">
                    <a:solidFill>
                      <a:schemeClr val="tx1"/>
                    </a:solidFill>
                    <a:effectLst/>
                    <a:latin typeface="Segoe WPC"/>
                  </a:rPr>
                  <a:t> futures </a:t>
                </a:r>
                <a:r>
                  <a:rPr lang="es-PE" sz="900" b="0" i="0" dirty="0" err="1">
                    <a:solidFill>
                      <a:schemeClr val="tx1"/>
                    </a:solidFill>
                    <a:effectLst/>
                    <a:latin typeface="Segoe WPC"/>
                  </a:rPr>
                  <a:t>prices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Convenience</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implied</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directly</a:t>
                </a:r>
                <a:r>
                  <a:rPr lang="es-PE" sz="900" b="0" i="0" dirty="0">
                    <a:solidFill>
                      <a:schemeClr val="tx1"/>
                    </a:solidFill>
                    <a:effectLst/>
                    <a:latin typeface="Segoe WPC"/>
                  </a:rPr>
                  <a:t> </a:t>
                </a:r>
                <a:r>
                  <a:rPr lang="es-PE" sz="900" b="0" i="0" dirty="0" err="1">
                    <a:solidFill>
                      <a:schemeClr val="tx1"/>
                    </a:solidFill>
                    <a:effectLst/>
                    <a:latin typeface="Segoe WPC"/>
                  </a:rPr>
                  <a:t>observed</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7. </a:t>
                </a:r>
                <a:r>
                  <a:rPr lang="es-PE" sz="900" b="1" i="0" dirty="0" err="1">
                    <a:solidFill>
                      <a:schemeClr val="tx1"/>
                    </a:solidFill>
                    <a:effectLst/>
                    <a:latin typeface="Segoe WPC"/>
                  </a:rPr>
                  <a:t>Cost</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a:t>
                </a:r>
                <a:r>
                  <a:rPr lang="es-PE" sz="900" b="1" i="0" dirty="0" err="1">
                    <a:solidFill>
                      <a:schemeClr val="tx1"/>
                    </a:solidFill>
                    <a:effectLst/>
                    <a:latin typeface="Segoe WPC"/>
                  </a:rPr>
                  <a:t>Carry</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Cost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carry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net </a:t>
                </a:r>
                <a:r>
                  <a:rPr lang="es-PE" sz="900" b="0" i="0" dirty="0" err="1">
                    <a:solidFill>
                      <a:schemeClr val="tx1"/>
                    </a:solidFill>
                    <a:effectLst/>
                    <a:latin typeface="Segoe WPC"/>
                  </a:rPr>
                  <a:t>cost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holding a </a:t>
                </a:r>
                <a:r>
                  <a:rPr lang="es-PE" sz="900" b="0" i="0" dirty="0" err="1">
                    <a:solidFill>
                      <a:schemeClr val="tx1"/>
                    </a:solidFill>
                    <a:effectLst/>
                    <a:latin typeface="Segoe WPC"/>
                  </a:rPr>
                  <a:t>commodity</a:t>
                </a:r>
                <a:r>
                  <a:rPr lang="es-PE" sz="900" b="0" i="0" dirty="0">
                    <a:solidFill>
                      <a:schemeClr val="tx1"/>
                    </a:solidFill>
                    <a:effectLst/>
                    <a:latin typeface="Segoe WPC"/>
                  </a:rPr>
                  <a:t> </a:t>
                </a:r>
                <a:r>
                  <a:rPr lang="es-PE" sz="900" b="0" i="0" dirty="0" err="1">
                    <a:solidFill>
                      <a:schemeClr val="tx1"/>
                    </a:solidFill>
                    <a:effectLst/>
                    <a:latin typeface="Segoe WPC"/>
                  </a:rPr>
                  <a:t>until</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mainly</a:t>
                </a:r>
                <a:r>
                  <a:rPr lang="es-PE" sz="900" b="0" i="0" dirty="0">
                    <a:solidFill>
                      <a:schemeClr val="tx1"/>
                    </a:solidFill>
                    <a:effectLst/>
                    <a:latin typeface="Segoe WPC"/>
                  </a:rPr>
                  <a:t> </a:t>
                </a:r>
                <a:r>
                  <a:rPr lang="es-PE" sz="900" b="0" i="0" dirty="0" err="1">
                    <a:solidFill>
                      <a:schemeClr val="tx1"/>
                    </a:solidFill>
                    <a:effectLst/>
                    <a:latin typeface="Segoe WPC"/>
                  </a:rPr>
                  <a:t>includes</a:t>
                </a:r>
                <a:r>
                  <a:rPr lang="es-PE" sz="900" b="0" i="0" dirty="0">
                    <a:solidFill>
                      <a:schemeClr val="tx1"/>
                    </a:solidFill>
                    <a:effectLst/>
                    <a:latin typeface="Segoe WPC"/>
                  </a:rPr>
                  <a:t> </a:t>
                </a:r>
                <a:r>
                  <a:rPr lang="es-PE" sz="900" b="0" i="0" dirty="0" err="1">
                    <a:solidFill>
                      <a:schemeClr val="tx1"/>
                    </a:solidFill>
                    <a:effectLst/>
                    <a:latin typeface="Segoe WPC"/>
                  </a:rPr>
                  <a:t>financing</a:t>
                </a:r>
                <a:r>
                  <a:rPr lang="es-PE" sz="900" b="0" i="0" dirty="0">
                    <a:solidFill>
                      <a:schemeClr val="tx1"/>
                    </a:solidFill>
                    <a:effectLst/>
                    <a:latin typeface="Segoe WPC"/>
                  </a:rPr>
                  <a:t> and </a:t>
                </a:r>
                <a:r>
                  <a:rPr lang="es-PE" sz="900" b="0" i="0" dirty="0" err="1">
                    <a:solidFill>
                      <a:schemeClr val="tx1"/>
                    </a:solidFill>
                    <a:effectLst/>
                    <a:latin typeface="Segoe WPC"/>
                  </a:rPr>
                  <a:t>storage</a:t>
                </a:r>
                <a:r>
                  <a:rPr lang="es-PE" sz="900" b="0" i="0" dirty="0">
                    <a:solidFill>
                      <a:schemeClr val="tx1"/>
                    </a:solidFill>
                    <a:effectLst/>
                    <a:latin typeface="Segoe WPC"/>
                  </a:rPr>
                  <a:t>, offset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convenience</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Buy</a:t>
                </a:r>
                <a:r>
                  <a:rPr lang="es-PE" sz="900" b="0" i="0" dirty="0">
                    <a:solidFill>
                      <a:schemeClr val="tx1"/>
                    </a:solidFill>
                    <a:effectLst/>
                    <a:latin typeface="Segoe WPC"/>
                  </a:rPr>
                  <a:t> </a:t>
                </a:r>
                <a:r>
                  <a:rPr lang="es-PE" sz="900" b="0" i="0" dirty="0" err="1">
                    <a:solidFill>
                      <a:schemeClr val="tx1"/>
                    </a:solidFill>
                    <a:effectLst/>
                    <a:latin typeface="Segoe WPC"/>
                  </a:rPr>
                  <a:t>today</a:t>
                </a:r>
                <a:r>
                  <a:rPr lang="es-PE" sz="900" b="0" i="0" dirty="0">
                    <a:solidFill>
                      <a:schemeClr val="tx1"/>
                    </a:solidFill>
                    <a:effectLst/>
                    <a:latin typeface="Segoe WPC"/>
                  </a:rPr>
                  <a:t>, </a:t>
                </a:r>
                <a:r>
                  <a:rPr lang="es-PE" sz="900" b="0" i="0" dirty="0" err="1">
                    <a:solidFill>
                      <a:schemeClr val="tx1"/>
                    </a:solidFill>
                    <a:effectLst/>
                    <a:latin typeface="Segoe WPC"/>
                  </a:rPr>
                  <a:t>finance</a:t>
                </a:r>
                <a:r>
                  <a:rPr lang="es-PE" sz="900" b="0" i="0" dirty="0">
                    <a:solidFill>
                      <a:schemeClr val="tx1"/>
                    </a:solidFill>
                    <a:effectLst/>
                    <a:latin typeface="Segoe WPC"/>
                  </a:rPr>
                  <a:t> and store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commodity</a:t>
                </a:r>
                <a:r>
                  <a:rPr lang="es-P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compare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futures </a:t>
                </a:r>
                <a:r>
                  <a:rPr lang="es-PE" sz="900" b="0" i="0" dirty="0" err="1">
                    <a:solidFill>
                      <a:schemeClr val="tx1"/>
                    </a:solidFill>
                    <a:effectLst/>
                    <a:latin typeface="Segoe WPC"/>
                  </a:rPr>
                  <a:t>price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endParaRPr lang="es-PE" sz="900" b="0" i="0" dirty="0">
                  <a:solidFill>
                    <a:schemeClr val="tx1"/>
                  </a:solidFill>
                  <a:effectLst/>
                  <a:latin typeface="Segoe WPC"/>
                </a:endParaRPr>
              </a:p>
              <a:p>
                <a:pPr algn="l">
                  <a:buNone/>
                </a:pP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𝐹</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𝑆</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𝐶</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𝑌</m:t>
                              </m:r>
                            </m:e>
                          </m:d>
                          <m:r>
                            <a:rPr lang="ar-AE" sz="900" i="1">
                              <a:solidFill>
                                <a:schemeClr val="tx1"/>
                              </a:solidFill>
                              <a:latin typeface="Cambria Math" panose="02040503050406030204" pitchFamily="18" charset="0"/>
                            </a:rPr>
                            <m:t>𝑇</m:t>
                          </m:r>
                        </m:sup>
                      </m:sSup>
                    </m:oMath>
                  </m:oMathPara>
                </a14:m>
                <a:endParaRPr lang="ar-AE" sz="900" b="0" i="0" dirty="0">
                  <a:solidFill>
                    <a:schemeClr val="tx1"/>
                  </a:solidFill>
                  <a:effectLst/>
                  <a:latin typeface="Segoe WPC"/>
                </a:endParaRPr>
              </a:p>
              <a:p>
                <a:pPr algn="l">
                  <a:spcAft>
                    <a:spcPts val="1200"/>
                  </a:spcAft>
                  <a:buNone/>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carry</a:t>
                </a:r>
                <a:r>
                  <a:rPr lang="es-PE" sz="900" b="0" i="0" dirty="0">
                    <a:solidFill>
                      <a:schemeClr val="tx1"/>
                    </a:solidFill>
                    <a:effectLst/>
                    <a:latin typeface="Segoe WPC"/>
                  </a:rPr>
                  <a:t> raises futures </a:t>
                </a:r>
                <a:r>
                  <a:rPr lang="es-PE" sz="900" b="0" i="0" dirty="0" err="1">
                    <a:solidFill>
                      <a:schemeClr val="tx1"/>
                    </a:solidFill>
                    <a:effectLst/>
                    <a:latin typeface="Segoe WPC"/>
                  </a:rPr>
                  <a:t>prices</a:t>
                </a:r>
                <a:r>
                  <a:rPr lang="es-PE" sz="900" b="0" i="0" dirty="0">
                    <a:solidFill>
                      <a:schemeClr val="tx1"/>
                    </a:solidFill>
                    <a:effectLst/>
                    <a:latin typeface="Segoe WPC"/>
                  </a:rPr>
                  <a:t>;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convenience</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 </a:t>
                </a:r>
                <a:r>
                  <a:rPr lang="es-PE" sz="900" b="0" i="0" dirty="0" err="1">
                    <a:solidFill>
                      <a:schemeClr val="tx1"/>
                    </a:solidFill>
                    <a:effectLst/>
                    <a:latin typeface="Segoe WPC"/>
                  </a:rPr>
                  <a:t>lowers</a:t>
                </a:r>
                <a:r>
                  <a:rPr lang="es-PE" sz="900" b="0" i="0" dirty="0">
                    <a:solidFill>
                      <a:schemeClr val="tx1"/>
                    </a:solidFill>
                    <a:effectLst/>
                    <a:latin typeface="Segoe WPC"/>
                  </a:rPr>
                  <a:t> </a:t>
                </a:r>
                <a:r>
                  <a:rPr lang="es-PE" sz="900" b="0" i="0" dirty="0" err="1">
                    <a:solidFill>
                      <a:schemeClr val="tx1"/>
                    </a:solidFill>
                    <a:effectLst/>
                    <a:latin typeface="Segoe WPC"/>
                  </a:rPr>
                  <a:t>them</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commodities</a:t>
                </a:r>
                <a:r>
                  <a:rPr lang="es-PE" sz="900" b="0" i="0" dirty="0">
                    <a:solidFill>
                      <a:schemeClr val="tx1"/>
                    </a:solidFill>
                    <a:effectLst/>
                    <a:latin typeface="Segoe WPC"/>
                  </a:rPr>
                  <a:t>, </a:t>
                </a:r>
                <a:r>
                  <a:rPr lang="es-PE" sz="900" b="0" i="0" dirty="0" err="1">
                    <a:solidFill>
                      <a:schemeClr val="tx1"/>
                    </a:solidFill>
                    <a:effectLst/>
                    <a:latin typeface="Segoe WPC"/>
                  </a:rPr>
                  <a:t>cost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carry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more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8. </a:t>
                </a:r>
                <a:r>
                  <a:rPr lang="es-PE" sz="900" b="1" i="0" dirty="0" err="1">
                    <a:solidFill>
                      <a:schemeClr val="tx1"/>
                    </a:solidFill>
                    <a:effectLst/>
                    <a:latin typeface="Segoe WPC"/>
                  </a:rPr>
                  <a:t>Expected</a:t>
                </a:r>
                <a:r>
                  <a:rPr lang="es-PE" sz="900" b="1" i="0" dirty="0">
                    <a:solidFill>
                      <a:schemeClr val="tx1"/>
                    </a:solidFill>
                    <a:effectLst/>
                    <a:latin typeface="Segoe WPC"/>
                  </a:rPr>
                  <a:t> Future Spot, </a:t>
                </a:r>
                <a:r>
                  <a:rPr lang="es-PE" sz="900" b="1" i="0" dirty="0" err="1">
                    <a:solidFill>
                      <a:schemeClr val="tx1"/>
                    </a:solidFill>
                    <a:effectLst/>
                    <a:latin typeface="Segoe WPC"/>
                  </a:rPr>
                  <a:t>Backwardation</a:t>
                </a:r>
                <a:r>
                  <a:rPr lang="es-PE" sz="900" b="1" i="0" dirty="0">
                    <a:solidFill>
                      <a:schemeClr val="tx1"/>
                    </a:solidFill>
                    <a:effectLst/>
                    <a:latin typeface="Segoe WPC"/>
                  </a:rPr>
                  <a:t>, and </a:t>
                </a:r>
                <a:r>
                  <a:rPr lang="es-PE" sz="900" b="1" i="0" dirty="0" err="1">
                    <a:solidFill>
                      <a:schemeClr val="tx1"/>
                    </a:solidFill>
                    <a:effectLst/>
                    <a:latin typeface="Segoe WPC"/>
                  </a:rPr>
                  <a:t>Contango</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Futures </a:t>
                </a:r>
                <a:r>
                  <a:rPr lang="es-PE" sz="900" b="0" i="0" dirty="0" err="1">
                    <a:solidFill>
                      <a:schemeClr val="tx1"/>
                    </a:solidFill>
                    <a:effectLst/>
                    <a:latin typeface="Segoe WPC"/>
                  </a:rPr>
                  <a:t>prices</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differ</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future spot </a:t>
                </a:r>
                <a:r>
                  <a:rPr lang="es-PE" sz="900" b="0" i="0" dirty="0" err="1">
                    <a:solidFill>
                      <a:schemeClr val="tx1"/>
                    </a:solidFill>
                    <a:effectLst/>
                    <a:latin typeface="Segoe WPC"/>
                  </a:rPr>
                  <a:t>prices</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systematic</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has positive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 </a:t>
                </a:r>
                <a:r>
                  <a:rPr lang="es-PE" sz="900" b="0" i="0" dirty="0" err="1">
                    <a:solidFill>
                      <a:schemeClr val="tx1"/>
                    </a:solidFill>
                    <a:effectLst/>
                    <a:latin typeface="Segoe WPC"/>
                  </a:rPr>
                  <a:t>require</a:t>
                </a:r>
                <a:r>
                  <a:rPr lang="es-PE" sz="900" b="0" i="0" dirty="0">
                    <a:solidFill>
                      <a:schemeClr val="tx1"/>
                    </a:solidFill>
                    <a:effectLst/>
                    <a:latin typeface="Segoe WPC"/>
                  </a:rPr>
                  <a:t> </a:t>
                </a:r>
                <a:r>
                  <a:rPr lang="es-PE" sz="900" b="0" i="0" dirty="0" err="1">
                    <a:solidFill>
                      <a:schemeClr val="tx1"/>
                    </a:solidFill>
                    <a:effectLst/>
                    <a:latin typeface="Segoe WPC"/>
                  </a:rPr>
                  <a:t>compensation</a:t>
                </a:r>
                <a:r>
                  <a:rPr lang="es-PE" sz="900" b="0" i="0" dirty="0">
                    <a:solidFill>
                      <a:schemeClr val="tx1"/>
                    </a:solidFill>
                    <a:effectLst/>
                    <a:latin typeface="Segoe WPC"/>
                  </a:rPr>
                  <a:t>, so futures can be </a:t>
                </a:r>
                <a:r>
                  <a:rPr lang="es-PE" sz="900" b="0" i="0" dirty="0" err="1">
                    <a:solidFill>
                      <a:schemeClr val="tx1"/>
                    </a:solidFill>
                    <a:effectLst/>
                    <a:latin typeface="Segoe WPC"/>
                  </a:rPr>
                  <a:t>below</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future spot.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futures position plus </a:t>
                </a:r>
                <a:r>
                  <a:rPr lang="es-PE" sz="900" b="0" i="0" dirty="0" err="1">
                    <a:solidFill>
                      <a:schemeClr val="tx1"/>
                    </a:solidFill>
                    <a:effectLst/>
                    <a:latin typeface="Segoe WPC"/>
                  </a:rPr>
                  <a:t>risk</a:t>
                </a:r>
                <a:r>
                  <a:rPr lang="es-PE" sz="900" b="0" i="0" dirty="0">
                    <a:solidFill>
                      <a:schemeClr val="tx1"/>
                    </a:solidFill>
                    <a:effectLst/>
                    <a:latin typeface="Segoe WPC"/>
                  </a:rPr>
                  <a:t>-free </a:t>
                </a:r>
                <a:r>
                  <a:rPr lang="es-PE" sz="900" b="0" i="0" dirty="0" err="1">
                    <a:solidFill>
                      <a:schemeClr val="tx1"/>
                    </a:solidFill>
                    <a:effectLst/>
                    <a:latin typeface="Segoe WPC"/>
                  </a:rPr>
                  <a:t>investment</a:t>
                </a:r>
                <a:r>
                  <a:rPr lang="es-PE" sz="900" b="0" i="0" dirty="0">
                    <a:solidFill>
                      <a:schemeClr val="tx1"/>
                    </a:solidFill>
                    <a:effectLst/>
                    <a:latin typeface="Segoe WPC"/>
                  </a:rPr>
                  <a:t> </a:t>
                </a:r>
                <a:r>
                  <a:rPr lang="es-PE" sz="900" b="0" i="0" dirty="0" err="1">
                    <a:solidFill>
                      <a:schemeClr val="tx1"/>
                    </a:solidFill>
                    <a:effectLst/>
                    <a:latin typeface="Segoe WPC"/>
                  </a:rPr>
                  <a:t>creates</a:t>
                </a:r>
                <a:r>
                  <a:rPr lang="es-PE" sz="900" b="0" i="0" dirty="0">
                    <a:solidFill>
                      <a:schemeClr val="tx1"/>
                    </a:solidFill>
                    <a:effectLst/>
                    <a:latin typeface="Segoe WPC"/>
                  </a:rPr>
                  <a:t> </a:t>
                </a:r>
                <a:r>
                  <a:rPr lang="es-PE" sz="900" b="0" i="0" dirty="0" err="1">
                    <a:solidFill>
                      <a:schemeClr val="tx1"/>
                    </a:solidFill>
                    <a:effectLst/>
                    <a:latin typeface="Segoe WPC"/>
                  </a:rPr>
                  <a:t>synthetic</a:t>
                </a:r>
                <a:r>
                  <a:rPr lang="es-PE" sz="900" b="0" i="0" dirty="0">
                    <a:solidFill>
                      <a:schemeClr val="tx1"/>
                    </a:solidFill>
                    <a:effectLst/>
                    <a:latin typeface="Segoe WPC"/>
                  </a:rPr>
                  <a:t> future </a:t>
                </a:r>
                <a:r>
                  <a:rPr lang="es-PE" sz="900" b="0" i="0" dirty="0" err="1">
                    <a:solidFill>
                      <a:schemeClr val="tx1"/>
                    </a:solidFill>
                    <a:effectLst/>
                    <a:latin typeface="Segoe WPC"/>
                  </a:rPr>
                  <a:t>exposure</a:t>
                </a:r>
                <a:r>
                  <a:rPr lang="es-PE" sz="900" b="0" i="0" dirty="0">
                    <a:solidFill>
                      <a:schemeClr val="tx1"/>
                    </a:solidFill>
                    <a:effectLst/>
                    <a:latin typeface="Segoe WPC"/>
                  </a:rPr>
                  <a:t>, so CAPM </a:t>
                </a:r>
                <a:r>
                  <a:rPr lang="es-PE" sz="900" b="0" i="0" dirty="0" err="1">
                    <a:solidFill>
                      <a:schemeClr val="tx1"/>
                    </a:solidFill>
                    <a:effectLst/>
                    <a:latin typeface="Segoe WPC"/>
                  </a:rPr>
                  <a:t>logic</a:t>
                </a:r>
                <a:r>
                  <a:rPr lang="es-PE" sz="900" b="0" i="0" dirty="0">
                    <a:solidFill>
                      <a:schemeClr val="tx1"/>
                    </a:solidFill>
                    <a:effectLst/>
                    <a:latin typeface="Segoe WPC"/>
                  </a:rPr>
                  <a:t> </a:t>
                </a:r>
                <a:r>
                  <a:rPr lang="es-PE" sz="900" b="0" i="0" dirty="0" err="1">
                    <a:solidFill>
                      <a:schemeClr val="tx1"/>
                    </a:solidFill>
                    <a:effectLst/>
                    <a:latin typeface="Segoe WPC"/>
                  </a:rPr>
                  <a:t>applies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endParaRPr lang="es-PE" sz="900" b="0" i="0" dirty="0">
                  <a:solidFill>
                    <a:schemeClr val="tx1"/>
                  </a:solidFill>
                  <a:effectLst/>
                  <a:latin typeface="Segoe WPC"/>
                </a:endParaRPr>
              </a:p>
              <a:p>
                <a:pPr algn="l">
                  <a:buNone/>
                </a:pPr>
                <a14:m>
                  <m:oMathPara xmlns:m="http://schemas.openxmlformats.org/officeDocument/2006/math">
                    <m:oMathParaPr>
                      <m:jc m:val="centerGroup"/>
                    </m:oMathParaPr>
                    <m:oMath xmlns:m="http://schemas.openxmlformats.org/officeDocument/2006/math">
                      <m:r>
                        <a:rPr lang="es-PE" sz="900" i="1">
                          <a:solidFill>
                            <a:schemeClr val="tx1"/>
                          </a:solidFill>
                          <a:latin typeface="Cambria Math" panose="02040503050406030204" pitchFamily="18" charset="0"/>
                        </a:rPr>
                        <m:t>𝐸</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𝐹</m:t>
                      </m:r>
                      <m:sSup>
                        <m:sSupPr>
                          <m:ctrlPr>
                            <a:rPr lang="ar-AE" sz="900" i="1">
                              <a:solidFill>
                                <a:schemeClr val="tx1"/>
                              </a:solidFill>
                              <a:latin typeface="Cambria Math" panose="02040503050406030204" pitchFamily="18" charset="0"/>
                            </a:rPr>
                          </m:ctrlPr>
                        </m:sSupPr>
                        <m:e>
                          <m:d>
                            <m:dPr>
                              <m:ctrlPr>
                                <a:rPr lang="ar-AE" sz="900" i="1">
                                  <a:solidFill>
                                    <a:schemeClr val="tx1"/>
                                  </a:solidFill>
                                  <a:latin typeface="Cambria Math" panose="02040503050406030204" pitchFamily="18" charset="0"/>
                                </a:rPr>
                              </m:ctrlPr>
                            </m:dPr>
                            <m:e>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𝑋</m:t>
                                  </m:r>
                                </m:num>
                                <m:den>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𝑅</m:t>
                                  </m:r>
                                </m:den>
                              </m:f>
                            </m:e>
                          </m:d>
                        </m:e>
                        <m:sup>
                          <m:r>
                            <a:rPr lang="ar-AE" sz="900" i="1">
                              <a:solidFill>
                                <a:schemeClr val="tx1"/>
                              </a:solidFill>
                              <a:latin typeface="Cambria Math" panose="02040503050406030204" pitchFamily="18" charset="0"/>
                            </a:rPr>
                            <m:t>𝑇</m:t>
                          </m:r>
                        </m:sup>
                      </m:sSup>
                    </m:oMath>
                  </m:oMathPara>
                </a14:m>
                <a:endParaRPr lang="ar-AE" sz="900" b="0" i="0" dirty="0">
                  <a:solidFill>
                    <a:schemeClr val="tx1"/>
                  </a:solidFill>
                  <a:effectLst/>
                  <a:latin typeface="Segoe WPC"/>
                </a:endParaRPr>
              </a:p>
              <a:p>
                <a:pPr algn="l">
                  <a:buNone/>
                </a:pPr>
                <a14:m>
                  <m:oMathPara xmlns:m="http://schemas.openxmlformats.org/officeDocument/2006/math">
                    <m:oMathParaPr>
                      <m:jc m:val="centerGroup"/>
                    </m:oMathParaPr>
                    <m:oMath xmlns:m="http://schemas.openxmlformats.org/officeDocument/2006/math">
                      <m:r>
                        <m:rPr>
                          <m:nor/>
                        </m:rPr>
                        <a:rPr lang="es-PE" sz="900" b="0">
                          <a:solidFill>
                            <a:schemeClr val="tx1"/>
                          </a:solidFill>
                        </a:rPr>
                        <m:t>Normal</m:t>
                      </m:r>
                      <m:r>
                        <m:rPr>
                          <m:nor/>
                        </m:rPr>
                        <a:rPr lang="es-PE" sz="900" b="0">
                          <a:solidFill>
                            <a:schemeClr val="tx1"/>
                          </a:solidFill>
                        </a:rPr>
                        <m:t> </m:t>
                      </m:r>
                      <m:r>
                        <m:rPr>
                          <m:nor/>
                        </m:rPr>
                        <a:rPr lang="es-PE" sz="900" b="0">
                          <a:solidFill>
                            <a:schemeClr val="tx1"/>
                          </a:solidFill>
                        </a:rPr>
                        <m:t>Backwardation</m:t>
                      </m:r>
                      <m:r>
                        <m:rPr>
                          <m:nor/>
                        </m:rPr>
                        <a:rPr lang="es-PE" sz="900" b="0">
                          <a:solidFill>
                            <a:schemeClr val="tx1"/>
                          </a:solidFill>
                        </a:rPr>
                        <m:t>: </m:t>
                      </m:r>
                      <m:r>
                        <a:rPr lang="es-PE" sz="900" b="0" i="1">
                          <a:solidFill>
                            <a:schemeClr val="tx1"/>
                          </a:solidFill>
                          <a:latin typeface="Cambria Math" panose="02040503050406030204" pitchFamily="18" charset="0"/>
                        </a:rPr>
                        <m:t>𝐹</m:t>
                      </m:r>
                      <m:r>
                        <a:rPr lang="es-PE" sz="900" b="0" i="0">
                          <a:solidFill>
                            <a:schemeClr val="tx1"/>
                          </a:solidFill>
                          <a:latin typeface="Cambria Math" panose="02040503050406030204" pitchFamily="18" charset="0"/>
                        </a:rPr>
                        <m:t>&lt;</m:t>
                      </m:r>
                      <m:r>
                        <a:rPr lang="es-PE" sz="900" b="0" i="1">
                          <a:solidFill>
                            <a:schemeClr val="tx1"/>
                          </a:solidFill>
                          <a:latin typeface="Cambria Math" panose="02040503050406030204" pitchFamily="18" charset="0"/>
                        </a:rPr>
                        <m:t>𝐸</m:t>
                      </m:r>
                      <m:d>
                        <m:dPr>
                          <m:ctrlPr>
                            <a:rPr lang="ar-AE" sz="900" b="0" i="1">
                              <a:solidFill>
                                <a:schemeClr val="tx1"/>
                              </a:solidFill>
                              <a:latin typeface="Cambria Math" panose="02040503050406030204" pitchFamily="18" charset="0"/>
                            </a:rPr>
                          </m:ctrlPr>
                        </m:dPr>
                        <m:e>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𝑆</m:t>
                              </m:r>
                            </m:e>
                            <m:sub>
                              <m:r>
                                <a:rPr lang="ar-AE" sz="900" b="0" i="1">
                                  <a:solidFill>
                                    <a:schemeClr val="tx1"/>
                                  </a:solidFill>
                                  <a:latin typeface="Cambria Math" panose="02040503050406030204" pitchFamily="18" charset="0"/>
                                </a:rPr>
                                <m:t>𝑇</m:t>
                              </m:r>
                            </m:sub>
                          </m:sSub>
                        </m:e>
                      </m:d>
                      <m:r>
                        <a:rPr lang="ar-AE" sz="900" b="0" i="0">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Contango</m:t>
                      </m:r>
                      <m:r>
                        <m:rPr>
                          <m:nor/>
                        </m:rPr>
                        <a:rPr lang="es-PE" sz="900" b="0" i="1">
                          <a:solidFill>
                            <a:schemeClr val="tx1"/>
                          </a:solidFill>
                          <a:latin typeface="Cambria Math" panose="02040503050406030204" pitchFamily="18" charset="0"/>
                        </a:rPr>
                        <m:t>: </m:t>
                      </m:r>
                      <m:r>
                        <a:rPr lang="es-PE" sz="900" b="0" i="1">
                          <a:solidFill>
                            <a:schemeClr val="tx1"/>
                          </a:solidFill>
                          <a:latin typeface="Cambria Math" panose="02040503050406030204" pitchFamily="18" charset="0"/>
                        </a:rPr>
                        <m:t>𝐹</m:t>
                      </m:r>
                      <m:r>
                        <a:rPr lang="es-PE" sz="900" b="0" i="0">
                          <a:solidFill>
                            <a:schemeClr val="tx1"/>
                          </a:solidFill>
                          <a:latin typeface="Cambria Math" panose="02040503050406030204" pitchFamily="18" charset="0"/>
                        </a:rPr>
                        <m:t>&gt;</m:t>
                      </m:r>
                      <m:r>
                        <a:rPr lang="es-PE" sz="900" b="0" i="1">
                          <a:solidFill>
                            <a:schemeClr val="tx1"/>
                          </a:solidFill>
                          <a:latin typeface="Cambria Math" panose="02040503050406030204" pitchFamily="18" charset="0"/>
                        </a:rPr>
                        <m:t>𝐸</m:t>
                      </m:r>
                      <m:d>
                        <m:dPr>
                          <m:ctrlPr>
                            <a:rPr lang="ar-AE" sz="900" b="0" i="1">
                              <a:solidFill>
                                <a:schemeClr val="tx1"/>
                              </a:solidFill>
                              <a:latin typeface="Cambria Math" panose="02040503050406030204" pitchFamily="18" charset="0"/>
                            </a:rPr>
                          </m:ctrlPr>
                        </m:dPr>
                        <m:e>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𝑆</m:t>
                              </m:r>
                            </m:e>
                            <m:sub>
                              <m:r>
                                <a:rPr lang="ar-AE" sz="900" b="0" i="1">
                                  <a:solidFill>
                                    <a:schemeClr val="tx1"/>
                                  </a:solidFill>
                                  <a:latin typeface="Cambria Math" panose="02040503050406030204" pitchFamily="18" charset="0"/>
                                </a:rPr>
                                <m:t>𝑇</m:t>
                              </m:r>
                            </m:sub>
                          </m:sSub>
                        </m:e>
                      </m:d>
                    </m:oMath>
                  </m:oMathPara>
                </a14:m>
                <a:endParaRPr lang="ar-AE" sz="900" b="0" i="0" dirty="0">
                  <a:solidFill>
                    <a:schemeClr val="tx1"/>
                  </a:solidFill>
                  <a:effectLst/>
                  <a:latin typeface="Segoe WPC"/>
                </a:endParaRPr>
              </a:p>
              <a:p>
                <a:pPr algn="l">
                  <a:spcAft>
                    <a:spcPts val="1200"/>
                  </a:spcAft>
                  <a:buNone/>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Positive </a:t>
                </a:r>
                <a:r>
                  <a:rPr lang="es-PE" sz="900" b="0" i="0" dirty="0" err="1">
                    <a:solidFill>
                      <a:schemeClr val="tx1"/>
                    </a:solidFill>
                    <a:effectLst/>
                    <a:latin typeface="Segoe WPC"/>
                  </a:rPr>
                  <a:t>systematic</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implies</a:t>
                </a:r>
                <a:r>
                  <a:rPr lang="es-PE" sz="900" b="0" i="0" dirty="0">
                    <a:solidFill>
                      <a:schemeClr val="tx1"/>
                    </a:solidFill>
                    <a:effectLst/>
                    <a:latin typeface="Segoe WPC"/>
                  </a:rPr>
                  <a:t> ( E(S_T) &gt; F ); negative </a:t>
                </a:r>
                <a:r>
                  <a:rPr lang="es-PE" sz="900" b="0" i="0" dirty="0" err="1">
                    <a:solidFill>
                      <a:schemeClr val="tx1"/>
                    </a:solidFill>
                    <a:effectLst/>
                    <a:latin typeface="Segoe WPC"/>
                  </a:rPr>
                  <a:t>systematic</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implies</a:t>
                </a:r>
                <a:r>
                  <a:rPr lang="es-PE" sz="900" b="0" i="0" dirty="0">
                    <a:solidFill>
                      <a:schemeClr val="tx1"/>
                    </a:solidFill>
                    <a:effectLst/>
                    <a:latin typeface="Segoe WPC"/>
                  </a:rPr>
                  <a:t> ( E(S_T) &lt; F ).</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Backwardation</a:t>
                </a:r>
                <a:r>
                  <a:rPr lang="es-PE" sz="900" b="0" i="0" dirty="0">
                    <a:solidFill>
                      <a:schemeClr val="tx1"/>
                    </a:solidFill>
                    <a:effectLst/>
                    <a:latin typeface="Segoe WPC"/>
                  </a:rPr>
                  <a:t> and </a:t>
                </a:r>
                <a:r>
                  <a:rPr lang="es-PE" sz="900" b="0" i="0" dirty="0" err="1">
                    <a:solidFill>
                      <a:schemeClr val="tx1"/>
                    </a:solidFill>
                    <a:effectLst/>
                    <a:latin typeface="Segoe WPC"/>
                  </a:rPr>
                  <a:t>contango</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be </a:t>
                </a:r>
                <a:r>
                  <a:rPr lang="es-PE" sz="900" b="0" i="0" dirty="0" err="1">
                    <a:solidFill>
                      <a:schemeClr val="tx1"/>
                    </a:solidFill>
                    <a:effectLst/>
                    <a:latin typeface="Segoe WPC"/>
                  </a:rPr>
                  <a:t>defined</a:t>
                </a:r>
                <a:r>
                  <a:rPr lang="es-PE" sz="900" b="0" i="0" dirty="0">
                    <a:solidFill>
                      <a:schemeClr val="tx1"/>
                    </a:solidFill>
                    <a:effectLst/>
                    <a:latin typeface="Segoe WPC"/>
                  </a:rPr>
                  <a:t> relative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future spot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current</a:t>
                </a:r>
                <a:r>
                  <a:rPr lang="es-PE" sz="900" b="0" i="0" dirty="0">
                    <a:solidFill>
                      <a:schemeClr val="tx1"/>
                    </a:solidFill>
                    <a:effectLst/>
                    <a:latin typeface="Segoe WPC"/>
                  </a:rPr>
                  <a:t> spot, so </a:t>
                </a:r>
                <a:r>
                  <a:rPr lang="es-PE" sz="900" b="0" i="0" dirty="0" err="1">
                    <a:solidFill>
                      <a:schemeClr val="tx1"/>
                    </a:solidFill>
                    <a:effectLst/>
                    <a:latin typeface="Segoe WPC"/>
                  </a:rPr>
                  <a:t>read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wording</a:t>
                </a:r>
                <a:r>
                  <a:rPr lang="es-PE" sz="900" b="0" i="0" dirty="0">
                    <a:solidFill>
                      <a:schemeClr val="tx1"/>
                    </a:solidFill>
                    <a:effectLst/>
                    <a:latin typeface="Segoe WPC"/>
                  </a:rPr>
                  <a:t> </a:t>
                </a:r>
                <a:r>
                  <a:rPr lang="es-PE" sz="900" b="0" i="0" dirty="0" err="1">
                    <a:solidFill>
                      <a:schemeClr val="tx1"/>
                    </a:solidFill>
                    <a:effectLst/>
                    <a:latin typeface="Segoe WPC"/>
                  </a:rPr>
                  <a:t>carefully</a:t>
                </a:r>
                <a:r>
                  <a:rPr lang="es-PE" sz="900" b="0" i="0" dirty="0">
                    <a:solidFill>
                      <a:schemeClr val="tx1"/>
                    </a:solidFill>
                    <a:effectLst/>
                    <a:latin typeface="Segoe WPC"/>
                  </a:rPr>
                  <a:t>.</a:t>
                </a:r>
              </a:p>
            </p:txBody>
          </p:sp>
        </mc:Choice>
        <mc:Fallback xmlns="">
          <p:sp>
            <p:nvSpPr>
              <p:cNvPr id="9" name="CuadroTexto 8">
                <a:extLst>
                  <a:ext uri="{FF2B5EF4-FFF2-40B4-BE49-F238E27FC236}">
                    <a16:creationId xmlns:a16="http://schemas.microsoft.com/office/drawing/2014/main" id="{FFA4485C-1FB7-2DCE-F1D3-992245B733ED}"/>
                  </a:ext>
                </a:extLst>
              </p:cNvPr>
              <p:cNvSpPr txBox="1">
                <a:spLocks noRot="1" noChangeAspect="1" noMove="1" noResize="1" noEditPoints="1" noAdjustHandles="1" noChangeArrowheads="1" noChangeShapeType="1" noTextEdit="1"/>
              </p:cNvSpPr>
              <p:nvPr/>
            </p:nvSpPr>
            <p:spPr>
              <a:xfrm>
                <a:off x="6288088" y="-70794"/>
                <a:ext cx="6188074" cy="6765378"/>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17203900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220E48-711F-D9A4-700B-F53B62941299}"/>
              </a:ext>
            </a:extLst>
          </p:cNvPr>
          <p:cNvSpPr>
            <a:spLocks noGrp="1"/>
          </p:cNvSpPr>
          <p:nvPr>
            <p:ph type="title"/>
          </p:nvPr>
        </p:nvSpPr>
        <p:spPr>
          <a:xfrm>
            <a:off x="0" y="1"/>
            <a:ext cx="10515600" cy="381000"/>
          </a:xfrm>
        </p:spPr>
        <p:txBody>
          <a:bodyPr>
            <a:normAutofit fontScale="90000"/>
          </a:bodyPr>
          <a:lstStyle/>
          <a:p>
            <a:r>
              <a:rPr lang="en-US" sz="2400" dirty="0"/>
              <a:t>Option Markets</a:t>
            </a:r>
            <a:endParaRPr lang="es-PE" sz="2400"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BBA7AB9-034B-1741-3C69-AFB2DDD20EC4}"/>
                  </a:ext>
                </a:extLst>
              </p:cNvPr>
              <p:cNvSpPr txBox="1"/>
              <p:nvPr/>
            </p:nvSpPr>
            <p:spPr>
              <a:xfrm>
                <a:off x="0" y="303808"/>
                <a:ext cx="6137274" cy="6571030"/>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a:t>
                </a:r>
                <a:r>
                  <a:rPr lang="es-PE" sz="900" b="1" i="0" dirty="0" err="1">
                    <a:solidFill>
                      <a:schemeClr val="tx1"/>
                    </a:solidFill>
                    <a:effectLst/>
                    <a:latin typeface="Segoe WPC"/>
                  </a:rPr>
                  <a:t>Calls</a:t>
                </a:r>
                <a:r>
                  <a:rPr lang="es-PE" sz="900" b="1" i="0" dirty="0">
                    <a:solidFill>
                      <a:schemeClr val="tx1"/>
                    </a:solidFill>
                    <a:effectLst/>
                    <a:latin typeface="Segoe WPC"/>
                  </a:rPr>
                  <a:t>, </a:t>
                </a:r>
                <a:r>
                  <a:rPr lang="es-PE" sz="900" b="1" i="0" dirty="0" err="1">
                    <a:solidFill>
                      <a:schemeClr val="tx1"/>
                    </a:solidFill>
                    <a:effectLst/>
                    <a:latin typeface="Segoe WPC"/>
                  </a:rPr>
                  <a:t>Puts</a:t>
                </a:r>
                <a:r>
                  <a:rPr lang="es-PE" sz="900" b="1" i="0" dirty="0">
                    <a:solidFill>
                      <a:schemeClr val="tx1"/>
                    </a:solidFill>
                    <a:effectLst/>
                    <a:latin typeface="Segoe WPC"/>
                  </a:rPr>
                  <a:t>, and Style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give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holder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right</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obligation</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buy</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sell</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 </a:t>
                </a:r>
                <a:r>
                  <a:rPr lang="es-PE" sz="900" b="0" i="0" dirty="0" err="1">
                    <a:solidFill>
                      <a:schemeClr val="tx1"/>
                    </a:solidFill>
                    <a:effectLst/>
                    <a:latin typeface="Segoe WPC"/>
                  </a:rPr>
                  <a:t>fixed</a:t>
                </a:r>
                <a:r>
                  <a:rPr lang="es-PE" sz="900" b="0" i="0" dirty="0">
                    <a:solidFill>
                      <a:schemeClr val="tx1"/>
                    </a:solidFill>
                    <a:effectLst/>
                    <a:latin typeface="Segoe WPC"/>
                  </a:rPr>
                  <a:t> strike </a:t>
                </a:r>
                <a:r>
                  <a:rPr lang="es-PE" sz="900" b="0" i="0" dirty="0" err="1">
                    <a:solidFill>
                      <a:schemeClr val="tx1"/>
                    </a:solidFill>
                    <a:effectLst/>
                    <a:latin typeface="Segoe WPC"/>
                  </a:rPr>
                  <a:t>price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right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buy</a:t>
                </a:r>
                <a:r>
                  <a:rPr lang="es-PE" sz="900" b="0" i="0" dirty="0">
                    <a:solidFill>
                      <a:schemeClr val="tx1"/>
                    </a:solidFill>
                    <a:effectLst/>
                    <a:latin typeface="Segoe WPC"/>
                  </a:rPr>
                  <a:t> and a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right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sell</a:t>
                </a:r>
                <a:r>
                  <a:rPr lang="es-PE" sz="900" b="0" i="0" dirty="0">
                    <a:solidFill>
                      <a:schemeClr val="tx1"/>
                    </a:solidFill>
                    <a:effectLst/>
                    <a:latin typeface="Segoe WPC"/>
                  </a:rPr>
                  <a:t>;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are </a:t>
                </a:r>
                <a:r>
                  <a:rPr lang="es-PE" sz="900" b="0" i="0" dirty="0" err="1">
                    <a:solidFill>
                      <a:schemeClr val="tx1"/>
                    </a:solidFill>
                    <a:effectLst/>
                    <a:latin typeface="Segoe WPC"/>
                  </a:rPr>
                  <a:t>exercised</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t>
                </a:r>
                <a:r>
                  <a:rPr lang="es-PE" sz="900" b="0" i="0" dirty="0" err="1">
                    <a:solidFill>
                      <a:schemeClr val="tx1"/>
                    </a:solidFill>
                    <a:effectLst/>
                    <a:latin typeface="Segoe WPC"/>
                  </a:rPr>
                  <a:t>expiration</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American </a:t>
                </a:r>
                <a:r>
                  <a:rPr lang="es-PE" sz="900" b="0" i="0" dirty="0" err="1">
                    <a:solidFill>
                      <a:schemeClr val="tx1"/>
                    </a:solidFill>
                    <a:effectLst/>
                    <a:latin typeface="Segoe WPC"/>
                  </a:rPr>
                  <a:t>options</a:t>
                </a:r>
                <a:r>
                  <a:rPr lang="es-PE" sz="900" b="0" i="0" dirty="0">
                    <a:solidFill>
                      <a:schemeClr val="tx1"/>
                    </a:solidFill>
                    <a:effectLst/>
                    <a:latin typeface="Segoe WPC"/>
                  </a:rPr>
                  <a:t> can be </a:t>
                </a:r>
                <a:r>
                  <a:rPr lang="es-PE" sz="900" b="0" i="0" dirty="0" err="1">
                    <a:solidFill>
                      <a:schemeClr val="tx1"/>
                    </a:solidFill>
                    <a:effectLst/>
                    <a:latin typeface="Segoe WPC"/>
                  </a:rPr>
                  <a:t>exercised</a:t>
                </a:r>
                <a:r>
                  <a:rPr lang="es-PE" sz="900" b="0" i="0" dirty="0">
                    <a:solidFill>
                      <a:schemeClr val="tx1"/>
                    </a:solidFill>
                    <a:effectLst/>
                    <a:latin typeface="Segoe WPC"/>
                  </a:rPr>
                  <a:t> </a:t>
                </a:r>
                <a:r>
                  <a:rPr lang="es-PE" sz="900" b="0" i="0" dirty="0" err="1">
                    <a:solidFill>
                      <a:schemeClr val="tx1"/>
                    </a:solidFill>
                    <a:effectLst/>
                    <a:latin typeface="Segoe WPC"/>
                  </a:rPr>
                  <a:t>any</a:t>
                </a:r>
                <a:r>
                  <a:rPr lang="es-PE" sz="900" b="0" i="0" dirty="0">
                    <a:solidFill>
                      <a:schemeClr val="tx1"/>
                    </a:solidFill>
                    <a:effectLst/>
                    <a:latin typeface="Segoe WPC"/>
                  </a:rPr>
                  <a:t> time up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expiration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Unlike</a:t>
                </a:r>
                <a:r>
                  <a:rPr lang="es-PE" sz="900" b="0" i="0" dirty="0">
                    <a:solidFill>
                      <a:schemeClr val="tx1"/>
                    </a:solidFill>
                    <a:effectLst/>
                    <a:latin typeface="Segoe WPC"/>
                  </a:rPr>
                  <a:t> forwards,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require</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upfront</a:t>
                </a:r>
                <a:r>
                  <a:rPr lang="es-PE" sz="900" b="0" i="0" dirty="0">
                    <a:solidFill>
                      <a:schemeClr val="tx1"/>
                    </a:solidFill>
                    <a:effectLst/>
                    <a:latin typeface="Segoe WPC"/>
                  </a:rPr>
                  <a:t> premium and are </a:t>
                </a:r>
                <a:r>
                  <a:rPr lang="es-PE" sz="900" b="0" i="0" dirty="0" err="1">
                    <a:solidFill>
                      <a:schemeClr val="tx1"/>
                    </a:solidFill>
                    <a:effectLst/>
                    <a:latin typeface="Segoe WPC"/>
                  </a:rPr>
                  <a:t>exercised</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favorable.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e>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Buyers</a:t>
                </a:r>
                <a:r>
                  <a:rPr lang="es-PE" sz="900" b="0" i="0" dirty="0">
                    <a:solidFill>
                      <a:schemeClr val="tx1"/>
                    </a:solidFill>
                    <a:effectLst/>
                    <a:latin typeface="Segoe WPC"/>
                  </a:rPr>
                  <a:t> </a:t>
                </a:r>
                <a:r>
                  <a:rPr lang="es-PE" sz="900" b="0" i="0" dirty="0" err="1">
                    <a:solidFill>
                      <a:schemeClr val="tx1"/>
                    </a:solidFill>
                    <a:effectLst/>
                    <a:latin typeface="Segoe WPC"/>
                  </a:rPr>
                  <a:t>get</a:t>
                </a:r>
                <a:r>
                  <a:rPr lang="es-PE" sz="900" b="0" i="0" dirty="0">
                    <a:solidFill>
                      <a:schemeClr val="tx1"/>
                    </a:solidFill>
                    <a:effectLst/>
                    <a:latin typeface="Segoe WPC"/>
                  </a:rPr>
                  <a:t> </a:t>
                </a:r>
                <a:r>
                  <a:rPr lang="es-PE" sz="900" b="0" i="0" dirty="0" err="1">
                    <a:solidFill>
                      <a:schemeClr val="tx1"/>
                    </a:solidFill>
                    <a:effectLst/>
                    <a:latin typeface="Segoe WPC"/>
                  </a:rPr>
                  <a:t>asymmetric</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limited</a:t>
                </a:r>
                <a:r>
                  <a:rPr lang="es-PE" sz="900" b="0" i="0" dirty="0">
                    <a:solidFill>
                      <a:schemeClr val="tx1"/>
                    </a:solidFill>
                    <a:effectLst/>
                    <a:latin typeface="Segoe WPC"/>
                  </a:rPr>
                  <a:t> </a:t>
                </a:r>
                <a:r>
                  <a:rPr lang="es-PE" sz="900" b="0" i="0" dirty="0" err="1">
                    <a:solidFill>
                      <a:schemeClr val="tx1"/>
                    </a:solidFill>
                    <a:effectLst/>
                    <a:latin typeface="Segoe WPC"/>
                  </a:rPr>
                  <a:t>downside</a:t>
                </a:r>
                <a:r>
                  <a:rPr lang="es-PE" sz="900" b="0" i="0" dirty="0">
                    <a:solidFill>
                      <a:schemeClr val="tx1"/>
                    </a:solidFill>
                    <a:effectLst/>
                    <a:latin typeface="Segoe WPC"/>
                  </a:rPr>
                  <a:t> and favorable </a:t>
                </a:r>
                <a:r>
                  <a:rPr lang="es-PE" sz="900" b="0" i="0" dirty="0" err="1">
                    <a:solidFill>
                      <a:schemeClr val="tx1"/>
                    </a:solidFill>
                    <a:effectLst/>
                    <a:latin typeface="Segoe WPC"/>
                  </a:rPr>
                  <a:t>upside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forward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obligation</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right</a:t>
                </a:r>
                <a:r>
                  <a:rPr lang="es-PE" sz="900" b="0" i="0" dirty="0">
                    <a:solidFill>
                      <a:schemeClr val="tx1"/>
                    </a:solidFill>
                    <a:effectLst/>
                    <a:latin typeface="Segoe WPC"/>
                  </a:rPr>
                  <a:t> </a:t>
                </a:r>
                <a:r>
                  <a:rPr lang="es-PE" sz="900" b="0" i="0" dirty="0" err="1">
                    <a:solidFill>
                      <a:schemeClr val="tx1"/>
                    </a:solidFill>
                    <a:effectLst/>
                    <a:latin typeface="Segoe WPC"/>
                  </a:rPr>
                  <a:t>purchased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 premium.</a:t>
                </a:r>
              </a:p>
              <a:p>
                <a:pPr algn="l">
                  <a:spcAft>
                    <a:spcPts val="600"/>
                  </a:spcAft>
                  <a:buNone/>
                </a:pPr>
                <a:r>
                  <a:rPr lang="es-PE" sz="900" b="1" i="0" dirty="0">
                    <a:solidFill>
                      <a:schemeClr val="tx1"/>
                    </a:solidFill>
                    <a:effectLst/>
                    <a:latin typeface="Segoe WPC"/>
                  </a:rPr>
                  <a:t>2. </a:t>
                </a:r>
                <a:r>
                  <a:rPr lang="es-PE" sz="900" b="1" i="0" dirty="0" err="1">
                    <a:solidFill>
                      <a:schemeClr val="tx1"/>
                    </a:solidFill>
                    <a:effectLst/>
                    <a:latin typeface="Segoe WPC"/>
                  </a:rPr>
                  <a:t>Moneyness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Moneyness</a:t>
                </a:r>
                <a:r>
                  <a:rPr lang="es-PE" sz="900" b="0" i="0" dirty="0">
                    <a:solidFill>
                      <a:schemeClr val="tx1"/>
                    </a:solidFill>
                    <a:effectLst/>
                    <a:latin typeface="Segoe WPC"/>
                  </a:rPr>
                  <a:t> </a:t>
                </a:r>
                <a:r>
                  <a:rPr lang="es-PE" sz="900" b="0" i="0" dirty="0" err="1">
                    <a:solidFill>
                      <a:schemeClr val="tx1"/>
                    </a:solidFill>
                    <a:effectLst/>
                    <a:latin typeface="Segoe WPC"/>
                  </a:rPr>
                  <a:t>classifies</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as </a:t>
                </a:r>
                <a:r>
                  <a:rPr lang="es-PE" sz="900" b="0" i="0" dirty="0" err="1">
                    <a:solidFill>
                      <a:schemeClr val="tx1"/>
                    </a:solidFill>
                    <a:effectLst/>
                    <a:latin typeface="Segoe WPC"/>
                  </a:rPr>
                  <a:t>in-the-money</a:t>
                </a:r>
                <a:r>
                  <a:rPr lang="es-PE" sz="900" b="0" i="0" dirty="0">
                    <a:solidFill>
                      <a:schemeClr val="tx1"/>
                    </a:solidFill>
                    <a:effectLst/>
                    <a:latin typeface="Segoe WPC"/>
                  </a:rPr>
                  <a:t>, at-</a:t>
                </a:r>
                <a:r>
                  <a:rPr lang="es-PE" sz="900" b="0" i="0" dirty="0" err="1">
                    <a:solidFill>
                      <a:schemeClr val="tx1"/>
                    </a:solidFill>
                    <a:effectLst/>
                    <a:latin typeface="Segoe WPC"/>
                  </a:rPr>
                  <a:t>the</a:t>
                </a:r>
                <a:r>
                  <a:rPr lang="es-PE" sz="900" b="0" i="0" dirty="0">
                    <a:solidFill>
                      <a:schemeClr val="tx1"/>
                    </a:solidFill>
                    <a:effectLst/>
                    <a:latin typeface="Segoe WPC"/>
                  </a:rPr>
                  <a:t>-</a:t>
                </a:r>
                <a:r>
                  <a:rPr lang="es-PE" sz="900" b="0" i="0" dirty="0" err="1">
                    <a:solidFill>
                      <a:schemeClr val="tx1"/>
                    </a:solidFill>
                    <a:effectLst/>
                    <a:latin typeface="Segoe WPC"/>
                  </a:rPr>
                  <a:t>money</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out-of-the-money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immediate</a:t>
                </a:r>
                <a:r>
                  <a:rPr lang="es-PE" sz="900" b="0" i="0" dirty="0">
                    <a:solidFill>
                      <a:schemeClr val="tx1"/>
                    </a:solidFill>
                    <a:effectLst/>
                    <a:latin typeface="Segoe WPC"/>
                  </a:rPr>
                  <a:t> </a:t>
                </a:r>
                <a:r>
                  <a:rPr lang="es-PE" sz="900" b="0" i="0" dirty="0" err="1">
                    <a:solidFill>
                      <a:schemeClr val="tx1"/>
                    </a:solidFill>
                    <a:effectLst/>
                    <a:latin typeface="Segoe WPC"/>
                  </a:rPr>
                  <a:t>exercise</a:t>
                </a:r>
                <a:r>
                  <a:rPr lang="es-PE" sz="900" b="0" i="0" dirty="0">
                    <a:solidFill>
                      <a:schemeClr val="tx1"/>
                    </a:solidFill>
                    <a:effectLst/>
                    <a:latin typeface="Segoe WPC"/>
                  </a:rPr>
                  <a:t> </a:t>
                </a:r>
                <a:r>
                  <a:rPr lang="es-PE" sz="900" b="0" i="0" dirty="0" err="1">
                    <a:solidFill>
                      <a:schemeClr val="tx1"/>
                    </a:solidFill>
                    <a:effectLst/>
                    <a:latin typeface="Segoe WPC"/>
                  </a:rPr>
                  <a:t>would</a:t>
                </a:r>
                <a:r>
                  <a:rPr lang="es-PE" sz="900" b="0" i="0" dirty="0">
                    <a:solidFill>
                      <a:schemeClr val="tx1"/>
                    </a:solidFill>
                    <a:effectLst/>
                    <a:latin typeface="Segoe WPC"/>
                  </a:rPr>
                  <a:t> </a:t>
                </a:r>
                <a:r>
                  <a:rPr lang="es-PE" sz="900" b="0" i="0" dirty="0" err="1">
                    <a:solidFill>
                      <a:schemeClr val="tx1"/>
                    </a:solidFill>
                    <a:effectLst/>
                    <a:latin typeface="Segoe WPC"/>
                  </a:rPr>
                  <a:t>create</a:t>
                </a:r>
                <a:r>
                  <a:rPr lang="es-PE" sz="900" b="0" i="0" dirty="0">
                    <a:solidFill>
                      <a:schemeClr val="tx1"/>
                    </a:solidFill>
                    <a:effectLst/>
                    <a:latin typeface="Segoe WPC"/>
                  </a:rPr>
                  <a:t> a positive,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negative </a:t>
                </a:r>
                <a:r>
                  <a:rPr lang="es-PE" sz="900" b="0" i="0" dirty="0" err="1">
                    <a:solidFill>
                      <a:schemeClr val="tx1"/>
                    </a:solidFill>
                    <a:effectLst/>
                    <a:latin typeface="Segoe WPC"/>
                  </a:rPr>
                  <a:t>payoff</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valuable</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above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strike; a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valuable</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below</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strike.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intrinsic</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0</m:t>
                            </m:r>
                          </m:sub>
                        </m:sSub>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intrinsic</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e>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Calls</a:t>
                </a:r>
                <a:r>
                  <a:rPr lang="es-PE" sz="900" b="0" i="0" dirty="0">
                    <a:solidFill>
                      <a:schemeClr val="tx1"/>
                    </a:solidFill>
                    <a:effectLst/>
                    <a:latin typeface="Segoe WPC"/>
                  </a:rPr>
                  <a:t> are ITM </a:t>
                </a:r>
                <a:r>
                  <a:rPr lang="es-PE" sz="900" b="0" i="0" dirty="0" err="1">
                    <a:solidFill>
                      <a:schemeClr val="tx1"/>
                    </a:solidFill>
                    <a:effectLst/>
                    <a:latin typeface="Segoe WPC"/>
                  </a:rPr>
                  <a:t>when</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&gt;</m:t>
                    </m:r>
                    <m:r>
                      <a:rPr lang="ar-AE" sz="900" i="1">
                        <a:solidFill>
                          <a:schemeClr val="tx1"/>
                        </a:solidFill>
                        <a:latin typeface="Cambria Math" panose="02040503050406030204" pitchFamily="18" charset="0"/>
                      </a:rPr>
                      <m:t>𝐾</m:t>
                    </m:r>
                  </m:oMath>
                </a14:m>
                <a:r>
                  <a:rPr lang="ar-AE" sz="900" b="0" i="0" dirty="0">
                    <a:solidFill>
                      <a:schemeClr val="tx1"/>
                    </a:solidFill>
                    <a:effectLst/>
                    <a:latin typeface="Segoe WPC"/>
                  </a:rPr>
                  <a:t>; </a:t>
                </a:r>
                <a:r>
                  <a:rPr lang="es-PE" sz="900" b="0" i="0" dirty="0" err="1">
                    <a:solidFill>
                      <a:schemeClr val="tx1"/>
                    </a:solidFill>
                    <a:effectLst/>
                    <a:latin typeface="Segoe WPC"/>
                  </a:rPr>
                  <a:t>puts</a:t>
                </a:r>
                <a:r>
                  <a:rPr lang="es-PE" sz="900" b="0" i="0" dirty="0">
                    <a:solidFill>
                      <a:schemeClr val="tx1"/>
                    </a:solidFill>
                    <a:effectLst/>
                    <a:latin typeface="Segoe WPC"/>
                  </a:rPr>
                  <a:t> are ITM </a:t>
                </a:r>
                <a:r>
                  <a:rPr lang="es-PE" sz="900" b="0" i="0" dirty="0" err="1">
                    <a:solidFill>
                      <a:schemeClr val="tx1"/>
                    </a:solidFill>
                    <a:effectLst/>
                    <a:latin typeface="Segoe WPC"/>
                  </a:rPr>
                  <a:t>when</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&lt;</m:t>
                    </m:r>
                    <m:r>
                      <a:rPr lang="ar-AE" sz="900" i="1">
                        <a:solidFill>
                          <a:schemeClr val="tx1"/>
                        </a:solidFill>
                        <a:latin typeface="Cambria Math" panose="02040503050406030204" pitchFamily="18" charset="0"/>
                      </a:rPr>
                      <m:t>𝐾</m:t>
                    </m:r>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Moneyness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about</a:t>
                </a:r>
                <a:r>
                  <a:rPr lang="es-PE" sz="900" b="0" i="0" dirty="0">
                    <a:solidFill>
                      <a:schemeClr val="tx1"/>
                    </a:solidFill>
                    <a:effectLst/>
                    <a:latin typeface="Segoe WPC"/>
                  </a:rPr>
                  <a:t> </a:t>
                </a:r>
                <a:r>
                  <a:rPr lang="es-PE" sz="900" b="0" i="0" dirty="0" err="1">
                    <a:solidFill>
                      <a:schemeClr val="tx1"/>
                    </a:solidFill>
                    <a:effectLst/>
                    <a:latin typeface="Segoe WPC"/>
                  </a:rPr>
                  <a:t>exercise</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profit</a:t>
                </a:r>
                <a:r>
                  <a:rPr lang="es-PE" sz="900" b="0" i="0" dirty="0">
                    <a:solidFill>
                      <a:schemeClr val="tx1"/>
                    </a:solidFill>
                    <a:effectLst/>
                    <a:latin typeface="Segoe WPC"/>
                  </a:rPr>
                  <a:t> after premium.</a:t>
                </a:r>
              </a:p>
              <a:p>
                <a:pPr algn="l">
                  <a:spcAft>
                    <a:spcPts val="600"/>
                  </a:spcAft>
                  <a:buNone/>
                </a:pPr>
                <a:r>
                  <a:rPr lang="es-PE" sz="900" b="1" i="0" dirty="0">
                    <a:solidFill>
                      <a:schemeClr val="tx1"/>
                    </a:solidFill>
                    <a:effectLst/>
                    <a:latin typeface="Segoe WPC"/>
                  </a:rPr>
                  <a:t>3. </a:t>
                </a:r>
                <a:r>
                  <a:rPr lang="es-PE" sz="900" b="1" i="0" dirty="0" err="1">
                    <a:solidFill>
                      <a:schemeClr val="tx1"/>
                    </a:solidFill>
                    <a:effectLst/>
                    <a:latin typeface="Segoe WPC"/>
                  </a:rPr>
                  <a:t>Profit</a:t>
                </a:r>
                <a:r>
                  <a:rPr lang="es-PE" sz="900" b="1" i="0" dirty="0">
                    <a:solidFill>
                      <a:schemeClr val="tx1"/>
                    </a:solidFill>
                    <a:effectLst/>
                    <a:latin typeface="Segoe WPC"/>
                  </a:rPr>
                  <a:t> and </a:t>
                </a:r>
                <a:r>
                  <a:rPr lang="es-PE" sz="900" b="1" i="0" dirty="0" err="1">
                    <a:solidFill>
                      <a:schemeClr val="tx1"/>
                    </a:solidFill>
                    <a:effectLst/>
                    <a:latin typeface="Segoe WPC"/>
                  </a:rPr>
                  <a:t>Loss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profit</a:t>
                </a:r>
                <a:r>
                  <a:rPr lang="es-PE" sz="900" b="0" i="0" dirty="0">
                    <a:solidFill>
                      <a:schemeClr val="tx1"/>
                    </a:solidFill>
                    <a:effectLst/>
                    <a:latin typeface="Segoe WPC"/>
                  </a:rPr>
                  <a:t> </a:t>
                </a:r>
                <a:r>
                  <a:rPr lang="es-PE" sz="900" b="0" i="0" dirty="0" err="1">
                    <a:solidFill>
                      <a:schemeClr val="tx1"/>
                    </a:solidFill>
                    <a:effectLst/>
                    <a:latin typeface="Segoe WPC"/>
                  </a:rPr>
                  <a:t>equals</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minus</a:t>
                </a:r>
                <a:r>
                  <a:rPr lang="es-PE" sz="900" b="0" i="0" dirty="0">
                    <a:solidFill>
                      <a:schemeClr val="tx1"/>
                    </a:solidFill>
                    <a:effectLst/>
                    <a:latin typeface="Segoe WPC"/>
                  </a:rPr>
                  <a:t> premium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buyers</a:t>
                </a:r>
                <a:r>
                  <a:rPr lang="es-PE" sz="900" b="0" i="0" dirty="0">
                    <a:solidFill>
                      <a:schemeClr val="tx1"/>
                    </a:solidFill>
                    <a:effectLst/>
                    <a:latin typeface="Segoe WPC"/>
                  </a:rPr>
                  <a:t>, and premium </a:t>
                </a:r>
                <a:r>
                  <a:rPr lang="es-PE" sz="900" b="0" i="0" dirty="0" err="1">
                    <a:solidFill>
                      <a:schemeClr val="tx1"/>
                    </a:solidFill>
                    <a:effectLst/>
                    <a:latin typeface="Segoe WPC"/>
                  </a:rPr>
                  <a:t>minus</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sellers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be </a:t>
                </a:r>
                <a:r>
                  <a:rPr lang="es-PE" sz="900" b="0" i="0" dirty="0" err="1">
                    <a:solidFill>
                      <a:schemeClr val="tx1"/>
                    </a:solidFill>
                    <a:effectLst/>
                    <a:latin typeface="Segoe WPC"/>
                  </a:rPr>
                  <a:t>exercised</a:t>
                </a:r>
                <a:r>
                  <a:rPr lang="es-PE" sz="900" b="0" i="0" dirty="0">
                    <a:solidFill>
                      <a:schemeClr val="tx1"/>
                    </a:solidFill>
                    <a:effectLst/>
                    <a:latin typeface="Segoe WPC"/>
                  </a:rPr>
                  <a:t> and </a:t>
                </a:r>
                <a:r>
                  <a:rPr lang="es-PE" sz="900" b="0" i="0" dirty="0" err="1">
                    <a:solidFill>
                      <a:schemeClr val="tx1"/>
                    </a:solidFill>
                    <a:effectLst/>
                    <a:latin typeface="Segoe WPC"/>
                  </a:rPr>
                  <a:t>still</a:t>
                </a:r>
                <a:r>
                  <a:rPr lang="es-PE" sz="900" b="0" i="0" dirty="0">
                    <a:solidFill>
                      <a:schemeClr val="tx1"/>
                    </a:solidFill>
                    <a:effectLst/>
                    <a:latin typeface="Segoe WPC"/>
                  </a:rPr>
                  <a:t> produce a net </a:t>
                </a:r>
                <a:r>
                  <a:rPr lang="es-PE" sz="900" b="0" i="0" dirty="0" err="1">
                    <a:solidFill>
                      <a:schemeClr val="tx1"/>
                    </a:solidFill>
                    <a:effectLst/>
                    <a:latin typeface="Segoe WPC"/>
                  </a:rPr>
                  <a:t>loss</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cover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premium.</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Buyer</a:t>
                </a:r>
                <a:r>
                  <a:rPr lang="es-PE" sz="900" b="0" i="0" dirty="0">
                    <a:solidFill>
                      <a:schemeClr val="tx1"/>
                    </a:solidFill>
                    <a:effectLst/>
                    <a:latin typeface="Segoe WPC"/>
                  </a:rPr>
                  <a:t> </a:t>
                </a:r>
                <a:r>
                  <a:rPr lang="es-PE" sz="900" b="0" i="0" dirty="0" err="1">
                    <a:solidFill>
                      <a:schemeClr val="tx1"/>
                    </a:solidFill>
                    <a:effectLst/>
                    <a:latin typeface="Segoe WPC"/>
                  </a:rPr>
                  <a:t>profit</a:t>
                </a:r>
                <a:r>
                  <a:rPr lang="es-PE" sz="900" b="0" i="0" dirty="0">
                    <a:solidFill>
                      <a:schemeClr val="tx1"/>
                    </a:solidFill>
                    <a:effectLst/>
                    <a:latin typeface="Segoe WPC"/>
                  </a:rPr>
                  <a:t> </a:t>
                </a:r>
                <a:r>
                  <a:rPr lang="es-PE" sz="900" b="0" i="0" dirty="0" err="1">
                    <a:solidFill>
                      <a:schemeClr val="tx1"/>
                    </a:solidFill>
                    <a:effectLst/>
                    <a:latin typeface="Segoe WPC"/>
                  </a:rPr>
                  <a:t>diagrams</a:t>
                </a:r>
                <a:r>
                  <a:rPr lang="es-PE" sz="900" b="0" i="0" dirty="0">
                    <a:solidFill>
                      <a:schemeClr val="tx1"/>
                    </a:solidFill>
                    <a:effectLst/>
                    <a:latin typeface="Segoe WPC"/>
                  </a:rPr>
                  <a:t> are </a:t>
                </a:r>
                <a:r>
                  <a:rPr lang="es-PE" sz="900" b="0" i="0" dirty="0" err="1">
                    <a:solidFill>
                      <a:schemeClr val="tx1"/>
                    </a:solidFill>
                    <a:effectLst/>
                    <a:latin typeface="Segoe WPC"/>
                  </a:rPr>
                  <a:t>convex</a:t>
                </a:r>
                <a:r>
                  <a:rPr lang="es-PE" sz="900" b="0" i="0" dirty="0">
                    <a:solidFill>
                      <a:schemeClr val="tx1"/>
                    </a:solidFill>
                    <a:effectLst/>
                    <a:latin typeface="Segoe WPC"/>
                  </a:rPr>
                  <a:t>; </a:t>
                </a:r>
                <a:r>
                  <a:rPr lang="es-PE" sz="900" b="0" i="0" dirty="0" err="1">
                    <a:solidFill>
                      <a:schemeClr val="tx1"/>
                    </a:solidFill>
                    <a:effectLst/>
                    <a:latin typeface="Segoe WPC"/>
                  </a:rPr>
                  <a:t>seller</a:t>
                </a:r>
                <a:r>
                  <a:rPr lang="es-PE" sz="900" b="0" i="0" dirty="0">
                    <a:solidFill>
                      <a:schemeClr val="tx1"/>
                    </a:solidFill>
                    <a:effectLst/>
                    <a:latin typeface="Segoe WPC"/>
                  </a:rPr>
                  <a:t> </a:t>
                </a:r>
                <a:r>
                  <a:rPr lang="es-PE" sz="900" b="0" i="0" dirty="0" err="1">
                    <a:solidFill>
                      <a:schemeClr val="tx1"/>
                    </a:solidFill>
                    <a:effectLst/>
                    <a:latin typeface="Segoe WPC"/>
                  </a:rPr>
                  <a:t>profit</a:t>
                </a:r>
                <a:r>
                  <a:rPr lang="es-PE" sz="900" b="0" i="0" dirty="0">
                    <a:solidFill>
                      <a:schemeClr val="tx1"/>
                    </a:solidFill>
                    <a:effectLst/>
                    <a:latin typeface="Segoe WPC"/>
                  </a:rPr>
                  <a:t> </a:t>
                </a:r>
                <a:r>
                  <a:rPr lang="es-PE" sz="900" b="0" i="0" dirty="0" err="1">
                    <a:solidFill>
                      <a:schemeClr val="tx1"/>
                    </a:solidFill>
                    <a:effectLst/>
                    <a:latin typeface="Segoe WPC"/>
                  </a:rPr>
                  <a:t>diagrams</a:t>
                </a:r>
                <a:r>
                  <a:rPr lang="es-PE" sz="900" b="0" i="0" dirty="0">
                    <a:solidFill>
                      <a:schemeClr val="tx1"/>
                    </a:solidFill>
                    <a:effectLst/>
                    <a:latin typeface="Segoe WPC"/>
                  </a:rPr>
                  <a:t> are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mirror</a:t>
                </a:r>
                <a:r>
                  <a:rPr lang="es-PE" sz="900" b="0" i="0" dirty="0">
                    <a:solidFill>
                      <a:schemeClr val="tx1"/>
                    </a:solidFill>
                    <a:effectLst/>
                    <a:latin typeface="Segoe WPC"/>
                  </a:rPr>
                  <a:t> </a:t>
                </a:r>
                <a:r>
                  <a:rPr lang="es-PE" sz="900" b="0" i="0" dirty="0" err="1">
                    <a:solidFill>
                      <a:schemeClr val="tx1"/>
                    </a:solidFill>
                    <a:effectLst/>
                    <a:latin typeface="Segoe WPC"/>
                  </a:rPr>
                  <a:t>image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Long </a:t>
                </a:r>
                <a:r>
                  <a:rPr lang="es-PE" sz="900" b="0" i="0" dirty="0" err="1">
                    <a:solidFill>
                      <a:schemeClr val="tx1"/>
                    </a:solidFill>
                    <a:effectLst/>
                    <a:latin typeface="Segoe WPC"/>
                  </a:rPr>
                  <a:t>call</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r>
                          <a:rPr lang="ar-AE" sz="900" i="0">
                            <a:solidFill>
                              <a:schemeClr val="tx1"/>
                            </a:solidFill>
                            <a:latin typeface="Cambria Math" panose="02040503050406030204" pitchFamily="18" charset="0"/>
                          </a:rPr>
                          <m:t>0</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𝑐</m:t>
                    </m:r>
                  </m:oMath>
                </a14:m>
                <a:r>
                  <a:rPr lang="ar-AE" sz="900" b="0" i="0" dirty="0">
                    <a:solidFill>
                      <a:schemeClr val="tx1"/>
                    </a:solidFill>
                    <a:effectLst/>
                    <a:latin typeface="Segoe WPC"/>
                  </a:rPr>
                  <a:t>, </a:t>
                </a:r>
                <a:r>
                  <a:rPr lang="es-PE" sz="900" b="0" i="0" dirty="0">
                    <a:solidFill>
                      <a:schemeClr val="tx1"/>
                    </a:solidFill>
                    <a:effectLst/>
                    <a:latin typeface="Segoe WPC"/>
                  </a:rPr>
                  <a:t>Short </a:t>
                </a:r>
                <a:r>
                  <a:rPr lang="es-PE" sz="900" b="0" i="0" dirty="0" err="1">
                    <a:solidFill>
                      <a:schemeClr val="tx1"/>
                    </a:solidFill>
                    <a:effectLst/>
                    <a:latin typeface="Segoe WPC"/>
                  </a:rPr>
                  <a:t>call</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𝑐</m:t>
                    </m:r>
                    <m:r>
                      <a:rPr lang="es-PE" sz="900" i="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a:solidFill>
                      <a:schemeClr val="tx1"/>
                    </a:solidFill>
                    <a:effectLst/>
                    <a:latin typeface="Segoe WPC"/>
                  </a:rPr>
                  <a:t>Long </a:t>
                </a:r>
                <a:r>
                  <a:rPr lang="es-PE" sz="900" b="0" i="0" dirty="0" err="1">
                    <a:solidFill>
                      <a:schemeClr val="tx1"/>
                    </a:solidFill>
                    <a:effectLst/>
                    <a:latin typeface="Segoe WPC"/>
                  </a:rPr>
                  <a:t>put</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e>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0</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oMath>
                </a14:m>
                <a:r>
                  <a:rPr lang="ar-AE" sz="900" b="0" i="0" dirty="0">
                    <a:solidFill>
                      <a:schemeClr val="tx1"/>
                    </a:solidFill>
                    <a:effectLst/>
                    <a:latin typeface="Segoe WPC"/>
                  </a:rPr>
                  <a:t>, </a:t>
                </a:r>
                <a:r>
                  <a:rPr lang="es-PE" sz="900" b="0" i="0" dirty="0">
                    <a:solidFill>
                      <a:schemeClr val="tx1"/>
                    </a:solidFill>
                    <a:effectLst/>
                    <a:latin typeface="Segoe WPC"/>
                  </a:rPr>
                  <a:t>Short </a:t>
                </a:r>
                <a:r>
                  <a:rPr lang="es-PE" sz="900" b="0" i="0" dirty="0" err="1">
                    <a:solidFill>
                      <a:schemeClr val="tx1"/>
                    </a:solidFill>
                    <a:effectLst/>
                    <a:latin typeface="Segoe WPC"/>
                  </a:rPr>
                  <a:t>put</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𝑝</m:t>
                    </m:r>
                    <m:r>
                      <a:rPr lang="es-PE" sz="900" i="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e>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Buyers</a:t>
                </a:r>
                <a:r>
                  <a:rPr lang="es-PE" sz="900" b="0" i="0" dirty="0">
                    <a:solidFill>
                      <a:schemeClr val="tx1"/>
                    </a:solidFill>
                    <a:effectLst/>
                    <a:latin typeface="Segoe WPC"/>
                  </a:rPr>
                  <a:t> lose at </a:t>
                </a:r>
                <a:r>
                  <a:rPr lang="es-PE" sz="900" b="0" i="0" dirty="0" err="1">
                    <a:solidFill>
                      <a:schemeClr val="tx1"/>
                    </a:solidFill>
                    <a:effectLst/>
                    <a:latin typeface="Segoe WPC"/>
                  </a:rPr>
                  <a:t>most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premium; </a:t>
                </a:r>
                <a:r>
                  <a:rPr lang="es-PE" sz="900" b="0" i="0" dirty="0" err="1">
                    <a:solidFill>
                      <a:schemeClr val="tx1"/>
                    </a:solidFill>
                    <a:effectLst/>
                    <a:latin typeface="Segoe WPC"/>
                  </a:rPr>
                  <a:t>sellers</a:t>
                </a:r>
                <a:r>
                  <a:rPr lang="es-PE" sz="900" b="0" i="0" dirty="0">
                    <a:solidFill>
                      <a:schemeClr val="tx1"/>
                    </a:solidFill>
                    <a:effectLst/>
                    <a:latin typeface="Segoe WPC"/>
                  </a:rPr>
                  <a:t> </a:t>
                </a:r>
                <a:r>
                  <a:rPr lang="es-PE" sz="900" b="0" i="0" dirty="0" err="1">
                    <a:solidFill>
                      <a:schemeClr val="tx1"/>
                    </a:solidFill>
                    <a:effectLst/>
                    <a:latin typeface="Segoe WPC"/>
                  </a:rPr>
                  <a:t>gain</a:t>
                </a:r>
                <a:r>
                  <a:rPr lang="es-PE" sz="900" b="0" i="0" dirty="0">
                    <a:solidFill>
                      <a:schemeClr val="tx1"/>
                    </a:solidFill>
                    <a:effectLst/>
                    <a:latin typeface="Segoe WPC"/>
                  </a:rPr>
                  <a:t> at </a:t>
                </a:r>
                <a:r>
                  <a:rPr lang="es-PE" sz="900" b="0" i="0" dirty="0" err="1">
                    <a:solidFill>
                      <a:schemeClr val="tx1"/>
                    </a:solidFill>
                    <a:effectLst/>
                    <a:latin typeface="Segoe WPC"/>
                  </a:rPr>
                  <a:t>most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premium.</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confuse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profit</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4. </a:t>
                </a:r>
                <a:r>
                  <a:rPr lang="es-PE" sz="900" b="1" i="0" dirty="0" err="1">
                    <a:solidFill>
                      <a:schemeClr val="tx1"/>
                    </a:solidFill>
                    <a:effectLst/>
                    <a:latin typeface="Segoe WPC"/>
                  </a:rPr>
                  <a:t>The</a:t>
                </a:r>
                <a:r>
                  <a:rPr lang="es-PE" sz="900" b="1" i="0" dirty="0">
                    <a:solidFill>
                      <a:schemeClr val="tx1"/>
                    </a:solidFill>
                    <a:effectLst/>
                    <a:latin typeface="Segoe WPC"/>
                  </a:rPr>
                  <a:t> </a:t>
                </a:r>
                <a:r>
                  <a:rPr lang="es-PE" sz="900" b="1" i="0" dirty="0" err="1">
                    <a:solidFill>
                      <a:schemeClr val="tx1"/>
                    </a:solidFill>
                    <a:effectLst/>
                    <a:latin typeface="Segoe WPC"/>
                  </a:rPr>
                  <a:t>Four</a:t>
                </a:r>
                <a:r>
                  <a:rPr lang="es-PE" sz="900" b="1" i="0" dirty="0">
                    <a:solidFill>
                      <a:schemeClr val="tx1"/>
                    </a:solidFill>
                    <a:effectLst/>
                    <a:latin typeface="Segoe WPC"/>
                  </a:rPr>
                  <a:t> Basic Positions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core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positions are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short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and short </a:t>
                </a:r>
                <a:r>
                  <a:rPr lang="es-PE" sz="900" b="0" i="0" dirty="0" err="1">
                    <a:solidFill>
                      <a:schemeClr val="tx1"/>
                    </a:solidFill>
                    <a:effectLst/>
                    <a:latin typeface="Segoe WPC"/>
                  </a:rPr>
                  <a:t>put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t>
                </a:r>
                <a:r>
                  <a:rPr lang="es-PE" sz="900" b="0" i="0" dirty="0" err="1">
                    <a:solidFill>
                      <a:schemeClr val="tx1"/>
                    </a:solidFill>
                    <a:effectLst/>
                    <a:latin typeface="Segoe WPC"/>
                  </a:rPr>
                  <a:t>four</a:t>
                </a:r>
                <a:r>
                  <a:rPr lang="es-PE" sz="900" b="0" i="0" dirty="0">
                    <a:solidFill>
                      <a:schemeClr val="tx1"/>
                    </a:solidFill>
                    <a:effectLst/>
                    <a:latin typeface="Segoe WPC"/>
                  </a:rPr>
                  <a:t> positions are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building</a:t>
                </a:r>
                <a:r>
                  <a:rPr lang="es-PE" sz="900" b="0" i="0" dirty="0">
                    <a:solidFill>
                      <a:schemeClr val="tx1"/>
                    </a:solidFill>
                    <a:effectLst/>
                    <a:latin typeface="Segoe WPC"/>
                  </a:rPr>
                  <a:t> blocks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strategies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Long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benefits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upside</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downside</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short positions </a:t>
                </a:r>
                <a:r>
                  <a:rPr lang="es-PE" sz="900" b="0" i="0" dirty="0" err="1">
                    <a:solidFill>
                      <a:schemeClr val="tx1"/>
                    </a:solidFill>
                    <a:effectLst/>
                    <a:latin typeface="Segoe WPC"/>
                  </a:rPr>
                  <a:t>take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opposite</a:t>
                </a:r>
                <a:r>
                  <a:rPr lang="es-PE" sz="900" b="0" i="0" dirty="0">
                    <a:solidFill>
                      <a:schemeClr val="tx1"/>
                    </a:solidFill>
                    <a:effectLst/>
                    <a:latin typeface="Segoe WPC"/>
                  </a:rPr>
                  <a:t> </a:t>
                </a:r>
                <a:r>
                  <a:rPr lang="es-PE" sz="900" b="0" i="0" dirty="0" err="1">
                    <a:solidFill>
                      <a:schemeClr val="tx1"/>
                    </a:solidFill>
                    <a:effectLst/>
                    <a:latin typeface="Segoe WPC"/>
                  </a:rPr>
                  <a:t>side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Long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a:solidFill>
                      <a:schemeClr val="tx1"/>
                    </a:solidFill>
                    <a:effectLst/>
                    <a:latin typeface="Segoe WPC"/>
                  </a:rPr>
                  <a:t>Short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a:solidFill>
                      <a:schemeClr val="tx1"/>
                    </a:solidFill>
                    <a:effectLst/>
                    <a:latin typeface="Segoe WPC"/>
                  </a:rPr>
                  <a:t>Long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e>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a:solidFill>
                      <a:schemeClr val="tx1"/>
                    </a:solidFill>
                    <a:effectLst/>
                    <a:latin typeface="Segoe WPC"/>
                  </a:rPr>
                  <a:t>Short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e>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are </a:t>
                </a:r>
                <a:r>
                  <a:rPr lang="es-PE" sz="900" b="0" i="0" dirty="0" err="1">
                    <a:solidFill>
                      <a:schemeClr val="tx1"/>
                    </a:solidFill>
                    <a:effectLst/>
                    <a:latin typeface="Segoe WPC"/>
                  </a:rPr>
                  <a:t>zero</a:t>
                </a:r>
                <a:r>
                  <a:rPr lang="es-PE" sz="900" b="0" i="0" dirty="0">
                    <a:solidFill>
                      <a:schemeClr val="tx1"/>
                    </a:solidFill>
                    <a:effectLst/>
                    <a:latin typeface="Segoe WPC"/>
                  </a:rPr>
                  <a:t>-sum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level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Writing</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selling</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a:t>
                </a:r>
              </a:p>
              <a:p>
                <a:pPr>
                  <a:spcAft>
                    <a:spcPts val="600"/>
                  </a:spcAft>
                </a:pPr>
                <a:r>
                  <a:rPr lang="es-PE" sz="900" b="1" dirty="0">
                    <a:latin typeface="Segoe WPC"/>
                  </a:rPr>
                  <a:t>5. Exchange-</a:t>
                </a:r>
                <a:r>
                  <a:rPr lang="es-PE" sz="900" b="1" dirty="0" err="1">
                    <a:latin typeface="Segoe WPC"/>
                  </a:rPr>
                  <a:t>Traded</a:t>
                </a:r>
                <a:r>
                  <a:rPr lang="es-PE" sz="900" b="1" dirty="0">
                    <a:latin typeface="Segoe WPC"/>
                  </a:rPr>
                  <a:t> Stock </a:t>
                </a:r>
                <a:r>
                  <a:rPr lang="es-PE" sz="900" b="1" dirty="0" err="1">
                    <a:latin typeface="Segoe WPC"/>
                  </a:rPr>
                  <a:t>Options</a:t>
                </a:r>
                <a:br>
                  <a:rPr lang="es-PE" sz="900" dirty="0">
                    <a:latin typeface="Segoe WPC"/>
                  </a:rPr>
                </a:br>
                <a:r>
                  <a:rPr lang="es-PE" sz="900" b="1" dirty="0" err="1">
                    <a:latin typeface="Segoe WPC"/>
                  </a:rPr>
                  <a:t>Financial</a:t>
                </a:r>
                <a:r>
                  <a:rPr lang="es-PE" sz="900" b="1" dirty="0">
                    <a:latin typeface="Segoe WPC"/>
                  </a:rPr>
                  <a:t> </a:t>
                </a:r>
                <a:r>
                  <a:rPr lang="es-PE" sz="900" b="1" dirty="0" err="1">
                    <a:latin typeface="Segoe WPC"/>
                  </a:rPr>
                  <a:t>Object</a:t>
                </a:r>
                <a:r>
                  <a:rPr lang="es-PE" sz="900" b="1" dirty="0">
                    <a:latin typeface="Segoe WPC"/>
                  </a:rPr>
                  <a:t>:</a:t>
                </a:r>
                <a:r>
                  <a:rPr lang="es-PE" sz="900" dirty="0">
                    <a:latin typeface="Segoe WPC"/>
                  </a:rPr>
                  <a:t> Exchange-</a:t>
                </a:r>
                <a:r>
                  <a:rPr lang="es-PE" sz="900" dirty="0" err="1">
                    <a:latin typeface="Segoe WPC"/>
                  </a:rPr>
                  <a:t>traded</a:t>
                </a:r>
                <a:r>
                  <a:rPr lang="es-PE" sz="900" dirty="0">
                    <a:latin typeface="Segoe WPC"/>
                  </a:rPr>
                  <a:t> stock </a:t>
                </a:r>
                <a:r>
                  <a:rPr lang="es-PE" sz="900" dirty="0" err="1">
                    <a:latin typeface="Segoe WPC"/>
                  </a:rPr>
                  <a:t>options</a:t>
                </a:r>
                <a:r>
                  <a:rPr lang="es-PE" sz="900" dirty="0">
                    <a:latin typeface="Segoe WPC"/>
                  </a:rPr>
                  <a:t> are </a:t>
                </a:r>
                <a:r>
                  <a:rPr lang="es-PE" sz="900" dirty="0" err="1">
                    <a:latin typeface="Segoe WPC"/>
                  </a:rPr>
                  <a:t>standardized</a:t>
                </a:r>
                <a:r>
                  <a:rPr lang="es-PE" sz="900" dirty="0">
                    <a:latin typeface="Segoe WPC"/>
                  </a:rPr>
                  <a:t> </a:t>
                </a:r>
                <a:r>
                  <a:rPr lang="es-PE" sz="900" dirty="0" err="1">
                    <a:latin typeface="Segoe WPC"/>
                  </a:rPr>
                  <a:t>contracts</a:t>
                </a:r>
                <a:r>
                  <a:rPr lang="es-PE" sz="900" dirty="0">
                    <a:latin typeface="Segoe WPC"/>
                  </a:rPr>
                  <a:t>, </a:t>
                </a:r>
                <a:r>
                  <a:rPr lang="es-PE" sz="900" dirty="0" err="1">
                    <a:latin typeface="Segoe WPC"/>
                  </a:rPr>
                  <a:t>usually</a:t>
                </a:r>
                <a:r>
                  <a:rPr lang="es-PE" sz="900" dirty="0">
                    <a:latin typeface="Segoe WPC"/>
                  </a:rPr>
                  <a:t> American-</a:t>
                </a:r>
                <a:r>
                  <a:rPr lang="es-PE" sz="900" dirty="0" err="1">
                    <a:latin typeface="Segoe WPC"/>
                  </a:rPr>
                  <a:t>style</a:t>
                </a:r>
                <a:r>
                  <a:rPr lang="es-PE" sz="900" dirty="0">
                    <a:latin typeface="Segoe WPC"/>
                  </a:rPr>
                  <a:t>, </a:t>
                </a:r>
                <a:r>
                  <a:rPr lang="es-PE" sz="900" dirty="0" err="1">
                    <a:latin typeface="Segoe WPC"/>
                  </a:rPr>
                  <a:t>typically</a:t>
                </a:r>
                <a:r>
                  <a:rPr lang="es-PE" sz="900" dirty="0">
                    <a:latin typeface="Segoe WPC"/>
                  </a:rPr>
                  <a:t> </a:t>
                </a:r>
                <a:r>
                  <a:rPr lang="es-PE" sz="900" dirty="0" err="1">
                    <a:latin typeface="Segoe WPC"/>
                  </a:rPr>
                  <a:t>written</a:t>
                </a:r>
                <a:r>
                  <a:rPr lang="es-PE" sz="900" dirty="0">
                    <a:latin typeface="Segoe WPC"/>
                  </a:rPr>
                  <a:t> </a:t>
                </a:r>
                <a:r>
                  <a:rPr lang="es-PE" sz="900" dirty="0" err="1">
                    <a:latin typeface="Segoe WPC"/>
                  </a:rPr>
                  <a:t>on</a:t>
                </a:r>
                <a:r>
                  <a:rPr lang="es-PE" sz="900" dirty="0">
                    <a:latin typeface="Segoe WPC"/>
                  </a:rPr>
                  <a:t> 100 shares.</a:t>
                </a:r>
                <a:br>
                  <a:rPr lang="es-PE" sz="900" dirty="0">
                    <a:latin typeface="Segoe WPC"/>
                  </a:rPr>
                </a:br>
                <a:r>
                  <a:rPr lang="es-PE" sz="900" b="1" dirty="0" err="1">
                    <a:latin typeface="Segoe WPC"/>
                  </a:rPr>
                  <a:t>Plain</a:t>
                </a:r>
                <a:r>
                  <a:rPr lang="es-PE" sz="900" b="1" dirty="0">
                    <a:latin typeface="Segoe WPC"/>
                  </a:rPr>
                  <a:t> </a:t>
                </a:r>
                <a:r>
                  <a:rPr lang="es-PE" sz="900" b="1" dirty="0" err="1">
                    <a:latin typeface="Segoe WPC"/>
                  </a:rPr>
                  <a:t>Intuition</a:t>
                </a:r>
                <a:r>
                  <a:rPr lang="es-PE" sz="900" b="1" dirty="0">
                    <a:latin typeface="Segoe WPC"/>
                  </a:rPr>
                  <a:t>:</a:t>
                </a:r>
                <a:r>
                  <a:rPr lang="es-PE" sz="900" dirty="0">
                    <a:latin typeface="Segoe WPC"/>
                  </a:rPr>
                  <a:t> </a:t>
                </a:r>
                <a:r>
                  <a:rPr lang="es-PE" sz="900" dirty="0" err="1">
                    <a:latin typeface="Segoe WPC"/>
                  </a:rPr>
                  <a:t>Standardization</a:t>
                </a:r>
                <a:r>
                  <a:rPr lang="es-PE" sz="900" dirty="0">
                    <a:latin typeface="Segoe WPC"/>
                  </a:rPr>
                  <a:t> </a:t>
                </a:r>
                <a:r>
                  <a:rPr lang="es-PE" sz="900" dirty="0" err="1">
                    <a:latin typeface="Segoe WPC"/>
                  </a:rPr>
                  <a:t>improves</a:t>
                </a:r>
                <a:r>
                  <a:rPr lang="es-PE" sz="900" dirty="0">
                    <a:latin typeface="Segoe WPC"/>
                  </a:rPr>
                  <a:t> </a:t>
                </a:r>
                <a:r>
                  <a:rPr lang="es-PE" sz="900" dirty="0" err="1">
                    <a:latin typeface="Segoe WPC"/>
                  </a:rPr>
                  <a:t>liquidity</a:t>
                </a:r>
                <a:r>
                  <a:rPr lang="es-PE" sz="900" dirty="0">
                    <a:latin typeface="Segoe WPC"/>
                  </a:rPr>
                  <a:t>, trading </a:t>
                </a:r>
                <a:r>
                  <a:rPr lang="es-PE" sz="900" dirty="0" err="1">
                    <a:latin typeface="Segoe WPC"/>
                  </a:rPr>
                  <a:t>efficiency</a:t>
                </a:r>
                <a:r>
                  <a:rPr lang="es-PE" sz="900" dirty="0">
                    <a:latin typeface="Segoe WPC"/>
                  </a:rPr>
                  <a:t>, and </a:t>
                </a:r>
                <a:r>
                  <a:rPr lang="es-PE" sz="900" dirty="0" err="1">
                    <a:latin typeface="Segoe WPC"/>
                  </a:rPr>
                  <a:t>clearing</a:t>
                </a:r>
                <a:r>
                  <a:rPr lang="es-PE" sz="900" dirty="0">
                    <a:latin typeface="Segoe WPC"/>
                  </a:rPr>
                  <a:t>.</a:t>
                </a:r>
                <a:br>
                  <a:rPr lang="es-PE" sz="900" dirty="0">
                    <a:latin typeface="Segoe WPC"/>
                  </a:rPr>
                </a:br>
                <a:r>
                  <a:rPr lang="es-PE" sz="900" b="1" dirty="0">
                    <a:latin typeface="Segoe WPC"/>
                  </a:rPr>
                  <a:t>Visual </a:t>
                </a:r>
                <a:r>
                  <a:rPr lang="es-PE" sz="900" b="1" dirty="0" err="1">
                    <a:latin typeface="Segoe WPC"/>
                  </a:rPr>
                  <a:t>Intuition</a:t>
                </a:r>
                <a:r>
                  <a:rPr lang="es-PE" sz="900" b="1" dirty="0">
                    <a:latin typeface="Segoe WPC"/>
                  </a:rPr>
                  <a:t>:</a:t>
                </a:r>
                <a:r>
                  <a:rPr lang="es-PE" sz="900" dirty="0">
                    <a:latin typeface="Segoe WPC"/>
                  </a:rPr>
                  <a:t> </a:t>
                </a:r>
                <a:r>
                  <a:rPr lang="es-PE" sz="900" dirty="0" err="1">
                    <a:latin typeface="Segoe WPC"/>
                  </a:rPr>
                  <a:t>In-the-money</a:t>
                </a:r>
                <a:r>
                  <a:rPr lang="es-PE" sz="900" dirty="0">
                    <a:latin typeface="Segoe WPC"/>
                  </a:rPr>
                  <a:t> </a:t>
                </a:r>
                <a:r>
                  <a:rPr lang="es-PE" sz="900" dirty="0" err="1">
                    <a:latin typeface="Segoe WPC"/>
                  </a:rPr>
                  <a:t>options</a:t>
                </a:r>
                <a:r>
                  <a:rPr lang="es-PE" sz="900" dirty="0">
                    <a:latin typeface="Segoe WPC"/>
                  </a:rPr>
                  <a:t> are </a:t>
                </a:r>
                <a:r>
                  <a:rPr lang="es-PE" sz="900" dirty="0" err="1">
                    <a:latin typeface="Segoe WPC"/>
                  </a:rPr>
                  <a:t>usually</a:t>
                </a:r>
                <a:r>
                  <a:rPr lang="es-PE" sz="900" dirty="0">
                    <a:latin typeface="Segoe WPC"/>
                  </a:rPr>
                  <a:t> </a:t>
                </a:r>
                <a:r>
                  <a:rPr lang="es-PE" sz="900" dirty="0" err="1">
                    <a:latin typeface="Segoe WPC"/>
                  </a:rPr>
                  <a:t>exercised</a:t>
                </a:r>
                <a:r>
                  <a:rPr lang="es-PE" sz="900" dirty="0">
                    <a:latin typeface="Segoe WPC"/>
                  </a:rPr>
                  <a:t> </a:t>
                </a:r>
                <a:r>
                  <a:rPr lang="es-PE" sz="900" dirty="0" err="1">
                    <a:latin typeface="Segoe WPC"/>
                  </a:rPr>
                  <a:t>automatically</a:t>
                </a:r>
                <a:r>
                  <a:rPr lang="es-PE" sz="900" dirty="0">
                    <a:latin typeface="Segoe WPC"/>
                  </a:rPr>
                  <a:t> at </a:t>
                </a:r>
                <a:r>
                  <a:rPr lang="es-PE" sz="900" dirty="0" err="1">
                    <a:latin typeface="Segoe WPC"/>
                  </a:rPr>
                  <a:t>maturity</a:t>
                </a:r>
                <a:r>
                  <a:rPr lang="es-PE" sz="900" dirty="0">
                    <a:latin typeface="Segoe WPC"/>
                  </a:rPr>
                  <a:t>, and short positions </a:t>
                </a:r>
                <a:r>
                  <a:rPr lang="es-PE" sz="900" dirty="0" err="1">
                    <a:latin typeface="Segoe WPC"/>
                  </a:rPr>
                  <a:t>may</a:t>
                </a:r>
                <a:r>
                  <a:rPr lang="es-PE" sz="900" dirty="0">
                    <a:latin typeface="Segoe WPC"/>
                  </a:rPr>
                  <a:t> be </a:t>
                </a:r>
                <a:r>
                  <a:rPr lang="es-PE" sz="900" dirty="0" err="1">
                    <a:latin typeface="Segoe WPC"/>
                  </a:rPr>
                  <a:t>assigned</a:t>
                </a:r>
                <a:r>
                  <a:rPr lang="es-PE" sz="900" dirty="0">
                    <a:latin typeface="Segoe WPC"/>
                  </a:rPr>
                  <a:t> </a:t>
                </a:r>
                <a:r>
                  <a:rPr lang="es-PE" sz="900" dirty="0" err="1">
                    <a:latin typeface="Segoe WPC"/>
                  </a:rPr>
                  <a:t>randomly</a:t>
                </a:r>
                <a:r>
                  <a:rPr lang="es-PE" sz="900" dirty="0">
                    <a:latin typeface="Segoe WPC"/>
                  </a:rPr>
                  <a:t> </a:t>
                </a:r>
                <a:r>
                  <a:rPr lang="es-PE" sz="900" dirty="0" err="1">
                    <a:latin typeface="Segoe WPC"/>
                  </a:rPr>
                  <a:t>through</a:t>
                </a:r>
                <a:r>
                  <a:rPr lang="es-PE" sz="900" dirty="0">
                    <a:latin typeface="Segoe WPC"/>
                  </a:rPr>
                  <a:t> </a:t>
                </a:r>
                <a:r>
                  <a:rPr lang="es-PE" sz="900" dirty="0" err="1">
                    <a:latin typeface="Segoe WPC"/>
                  </a:rPr>
                  <a:t>the</a:t>
                </a:r>
                <a:r>
                  <a:rPr lang="es-PE" sz="900" dirty="0">
                    <a:latin typeface="Segoe WPC"/>
                  </a:rPr>
                  <a:t> OCC.</a:t>
                </a:r>
                <a:br>
                  <a:rPr lang="es-PE" sz="900" dirty="0">
                    <a:latin typeface="Segoe WPC"/>
                  </a:rPr>
                </a:br>
                <a:r>
                  <a:rPr lang="es-PE" sz="900" b="1" dirty="0">
                    <a:latin typeface="Segoe WPC"/>
                  </a:rPr>
                  <a:t>Key Formula:</a:t>
                </a:r>
                <a:r>
                  <a:rPr lang="es-PE" sz="900" dirty="0">
                    <a:latin typeface="Segoe WPC"/>
                  </a:rPr>
                  <a:t> </a:t>
                </a:r>
                <a:r>
                  <a:rPr lang="es-PE" sz="900" dirty="0" err="1">
                    <a:latin typeface="Segoe WPC"/>
                  </a:rPr>
                  <a:t>One</a:t>
                </a:r>
                <a:r>
                  <a:rPr lang="es-PE" sz="900" dirty="0">
                    <a:latin typeface="Segoe WPC"/>
                  </a:rPr>
                  <a:t> </a:t>
                </a:r>
                <a:r>
                  <a:rPr lang="es-PE" sz="900" dirty="0" err="1">
                    <a:latin typeface="Segoe WPC"/>
                  </a:rPr>
                  <a:t>contract</a:t>
                </a:r>
                <a:r>
                  <a:rPr lang="es-PE" sz="900" dirty="0">
                    <a:latin typeface="Segoe WPC"/>
                  </a:rPr>
                  <a:t> </a:t>
                </a:r>
                <a14:m>
                  <m:oMath xmlns:m="http://schemas.openxmlformats.org/officeDocument/2006/math">
                    <m:r>
                      <a:rPr lang="es-PE" sz="900">
                        <a:latin typeface="Cambria Math" panose="02040503050406030204" pitchFamily="18" charset="0"/>
                      </a:rPr>
                      <m:t>=</m:t>
                    </m:r>
                    <m:r>
                      <a:rPr lang="es-PE" sz="900">
                        <a:latin typeface="Cambria Math" panose="02040503050406030204" pitchFamily="18" charset="0"/>
                      </a:rPr>
                      <m:t>100</m:t>
                    </m:r>
                  </m:oMath>
                </a14:m>
                <a:r>
                  <a:rPr lang="es-PE" sz="900" dirty="0">
                    <a:latin typeface="Segoe WPC"/>
                  </a:rPr>
                  <a:t> shares.</a:t>
                </a:r>
                <a:br>
                  <a:rPr lang="es-PE" sz="900" dirty="0">
                    <a:latin typeface="Segoe WPC"/>
                  </a:rPr>
                </a:br>
                <a:r>
                  <a:rPr lang="es-PE" sz="900" b="1" dirty="0" err="1">
                    <a:latin typeface="Segoe WPC"/>
                  </a:rPr>
                  <a:t>Interpretation</a:t>
                </a:r>
                <a:r>
                  <a:rPr lang="es-PE" sz="900" b="1" dirty="0">
                    <a:latin typeface="Segoe WPC"/>
                  </a:rPr>
                  <a:t>:</a:t>
                </a:r>
                <a:r>
                  <a:rPr lang="es-PE" sz="900" dirty="0">
                    <a:latin typeface="Segoe WPC"/>
                  </a:rPr>
                  <a:t> </a:t>
                </a:r>
                <a:r>
                  <a:rPr lang="es-PE" sz="900" dirty="0" err="1">
                    <a:latin typeface="Segoe WPC"/>
                  </a:rPr>
                  <a:t>Options</a:t>
                </a:r>
                <a:r>
                  <a:rPr lang="es-PE" sz="900" dirty="0">
                    <a:latin typeface="Segoe WPC"/>
                  </a:rPr>
                  <a:t> are </a:t>
                </a:r>
                <a:r>
                  <a:rPr lang="es-PE" sz="900" dirty="0" err="1">
                    <a:latin typeface="Segoe WPC"/>
                  </a:rPr>
                  <a:t>organized</a:t>
                </a:r>
                <a:r>
                  <a:rPr lang="es-PE" sz="900" dirty="0">
                    <a:latin typeface="Segoe WPC"/>
                  </a:rPr>
                  <a:t> </a:t>
                </a:r>
                <a:r>
                  <a:rPr lang="es-PE" sz="900" dirty="0" err="1">
                    <a:latin typeface="Segoe WPC"/>
                  </a:rPr>
                  <a:t>by</a:t>
                </a:r>
                <a:r>
                  <a:rPr lang="es-PE" sz="900" dirty="0">
                    <a:latin typeface="Segoe WPC"/>
                  </a:rPr>
                  <a:t> </a:t>
                </a:r>
                <a:r>
                  <a:rPr lang="es-PE" sz="900" dirty="0" err="1">
                    <a:latin typeface="Segoe WPC"/>
                  </a:rPr>
                  <a:t>class</a:t>
                </a:r>
                <a:r>
                  <a:rPr lang="es-PE" sz="900" dirty="0">
                    <a:latin typeface="Segoe WPC"/>
                  </a:rPr>
                  <a:t> and series </a:t>
                </a:r>
                <a:r>
                  <a:rPr lang="es-PE" sz="900" dirty="0" err="1">
                    <a:latin typeface="Segoe WPC"/>
                  </a:rPr>
                  <a:t>according</a:t>
                </a:r>
                <a:r>
                  <a:rPr lang="es-PE" sz="900" dirty="0">
                    <a:latin typeface="Segoe WPC"/>
                  </a:rPr>
                  <a:t> </a:t>
                </a:r>
                <a:r>
                  <a:rPr lang="es-PE" sz="900" dirty="0" err="1">
                    <a:latin typeface="Segoe WPC"/>
                  </a:rPr>
                  <a:t>to</a:t>
                </a:r>
                <a:r>
                  <a:rPr lang="es-PE" sz="900" dirty="0">
                    <a:latin typeface="Segoe WPC"/>
                  </a:rPr>
                  <a:t> </a:t>
                </a:r>
                <a:r>
                  <a:rPr lang="es-PE" sz="900" dirty="0" err="1">
                    <a:latin typeface="Segoe WPC"/>
                  </a:rPr>
                  <a:t>underlying</a:t>
                </a:r>
                <a:r>
                  <a:rPr lang="es-PE" sz="900" dirty="0">
                    <a:latin typeface="Segoe WPC"/>
                  </a:rPr>
                  <a:t>, strike, and </a:t>
                </a:r>
                <a:r>
                  <a:rPr lang="es-PE" sz="900" dirty="0" err="1">
                    <a:latin typeface="Segoe WPC"/>
                  </a:rPr>
                  <a:t>maturity</a:t>
                </a:r>
                <a:r>
                  <a:rPr lang="es-PE" sz="900" dirty="0">
                    <a:latin typeface="Segoe WPC"/>
                  </a:rPr>
                  <a:t>.</a:t>
                </a:r>
                <a:br>
                  <a:rPr lang="es-PE" sz="900" dirty="0">
                    <a:latin typeface="Segoe WPC"/>
                  </a:rPr>
                </a:br>
                <a:r>
                  <a:rPr lang="es-PE" sz="900" b="1" dirty="0" err="1">
                    <a:latin typeface="Segoe WPC"/>
                  </a:rPr>
                  <a:t>Exam</a:t>
                </a:r>
                <a:r>
                  <a:rPr lang="es-PE" sz="900" b="1" dirty="0">
                    <a:latin typeface="Segoe WPC"/>
                  </a:rPr>
                  <a:t> </a:t>
                </a:r>
                <a:r>
                  <a:rPr lang="es-PE" sz="900" b="1" dirty="0" err="1">
                    <a:latin typeface="Segoe WPC"/>
                  </a:rPr>
                  <a:t>Trap</a:t>
                </a:r>
                <a:r>
                  <a:rPr lang="es-PE" sz="900" b="1" dirty="0">
                    <a:latin typeface="Segoe WPC"/>
                  </a:rPr>
                  <a:t>:</a:t>
                </a:r>
                <a:r>
                  <a:rPr lang="es-PE" sz="900" dirty="0">
                    <a:latin typeface="Segoe WPC"/>
                  </a:rPr>
                  <a:t> Do </a:t>
                </a:r>
                <a:r>
                  <a:rPr lang="es-PE" sz="900" dirty="0" err="1">
                    <a:latin typeface="Segoe WPC"/>
                  </a:rPr>
                  <a:t>not</a:t>
                </a:r>
                <a:r>
                  <a:rPr lang="es-PE" sz="900" dirty="0">
                    <a:latin typeface="Segoe WPC"/>
                  </a:rPr>
                  <a:t> </a:t>
                </a:r>
                <a:r>
                  <a:rPr lang="es-PE" sz="900" dirty="0" err="1">
                    <a:latin typeface="Segoe WPC"/>
                  </a:rPr>
                  <a:t>assume</a:t>
                </a:r>
                <a:r>
                  <a:rPr lang="es-PE" sz="900" dirty="0">
                    <a:latin typeface="Segoe WPC"/>
                  </a:rPr>
                  <a:t> </a:t>
                </a:r>
                <a:r>
                  <a:rPr lang="es-PE" sz="900" dirty="0" err="1">
                    <a:latin typeface="Segoe WPC"/>
                  </a:rPr>
                  <a:t>all</a:t>
                </a:r>
                <a:r>
                  <a:rPr lang="es-PE" sz="900" dirty="0">
                    <a:latin typeface="Segoe WPC"/>
                  </a:rPr>
                  <a:t> </a:t>
                </a:r>
                <a:r>
                  <a:rPr lang="es-PE" sz="900" dirty="0" err="1">
                    <a:latin typeface="Segoe WPC"/>
                  </a:rPr>
                  <a:t>exchange-traded</a:t>
                </a:r>
                <a:r>
                  <a:rPr lang="es-PE" sz="900" dirty="0">
                    <a:latin typeface="Segoe WPC"/>
                  </a:rPr>
                  <a:t> </a:t>
                </a:r>
                <a:r>
                  <a:rPr lang="es-PE" sz="900" dirty="0" err="1">
                    <a:latin typeface="Segoe WPC"/>
                  </a:rPr>
                  <a:t>options</a:t>
                </a:r>
                <a:r>
                  <a:rPr lang="es-PE" sz="900" dirty="0">
                    <a:latin typeface="Segoe WPC"/>
                  </a:rPr>
                  <a:t> are </a:t>
                </a:r>
                <a:r>
                  <a:rPr lang="es-PE" sz="900" dirty="0" err="1">
                    <a:latin typeface="Segoe WPC"/>
                  </a:rPr>
                  <a:t>European</a:t>
                </a:r>
                <a:r>
                  <a:rPr lang="es-PE" sz="900" dirty="0">
                    <a:latin typeface="Segoe WPC"/>
                  </a:rPr>
                  <a:t>; </a:t>
                </a:r>
                <a:r>
                  <a:rPr lang="es-PE" sz="900" dirty="0" err="1">
                    <a:latin typeface="Segoe WPC"/>
                  </a:rPr>
                  <a:t>many</a:t>
                </a:r>
                <a:r>
                  <a:rPr lang="es-PE" sz="900" dirty="0">
                    <a:latin typeface="Segoe WPC"/>
                  </a:rPr>
                  <a:t> stock </a:t>
                </a:r>
                <a:r>
                  <a:rPr lang="es-PE" sz="900" dirty="0" err="1">
                    <a:latin typeface="Segoe WPC"/>
                  </a:rPr>
                  <a:t>options</a:t>
                </a:r>
                <a:r>
                  <a:rPr lang="es-PE" sz="900" dirty="0">
                    <a:latin typeface="Segoe WPC"/>
                  </a:rPr>
                  <a:t> are American.</a:t>
                </a:r>
              </a:p>
              <a:p>
                <a:pPr algn="l">
                  <a:spcAft>
                    <a:spcPts val="600"/>
                  </a:spcAft>
                  <a:buNone/>
                </a:pPr>
                <a:endParaRPr lang="es-PE" sz="900" b="0" i="0" dirty="0">
                  <a:solidFill>
                    <a:schemeClr val="tx1"/>
                  </a:solidFill>
                  <a:effectLst/>
                  <a:latin typeface="Segoe WPC"/>
                </a:endParaRPr>
              </a:p>
            </p:txBody>
          </p:sp>
        </mc:Choice>
        <mc:Fallback xmlns="">
          <p:sp>
            <p:nvSpPr>
              <p:cNvPr id="9" name="CuadroTexto 8">
                <a:extLst>
                  <a:ext uri="{FF2B5EF4-FFF2-40B4-BE49-F238E27FC236}">
                    <a16:creationId xmlns:a16="http://schemas.microsoft.com/office/drawing/2014/main" id="{7BBA7AB9-034B-1741-3C69-AFB2DDD20EC4}"/>
                  </a:ext>
                </a:extLst>
              </p:cNvPr>
              <p:cNvSpPr txBox="1">
                <a:spLocks noRot="1" noChangeAspect="1" noMove="1" noResize="1" noEditPoints="1" noAdjustHandles="1" noChangeArrowheads="1" noChangeShapeType="1" noTextEdit="1"/>
              </p:cNvSpPr>
              <p:nvPr/>
            </p:nvSpPr>
            <p:spPr>
              <a:xfrm>
                <a:off x="0" y="303808"/>
                <a:ext cx="6137274" cy="6571030"/>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E05810B7-C0D1-2045-C817-6E6ABFA401DF}"/>
                  </a:ext>
                </a:extLst>
              </p:cNvPr>
              <p:cNvSpPr txBox="1"/>
              <p:nvPr/>
            </p:nvSpPr>
            <p:spPr>
              <a:xfrm>
                <a:off x="5900738" y="-56932"/>
                <a:ext cx="6399212" cy="7369453"/>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6. </a:t>
                </a:r>
                <a:r>
                  <a:rPr lang="es-PE" sz="900" b="1" i="0" dirty="0" err="1">
                    <a:solidFill>
                      <a:schemeClr val="tx1"/>
                    </a:solidFill>
                    <a:effectLst/>
                    <a:latin typeface="Segoe WPC"/>
                  </a:rPr>
                  <a:t>Maturity</a:t>
                </a:r>
                <a:r>
                  <a:rPr lang="es-PE" sz="900" b="1" i="0" dirty="0">
                    <a:solidFill>
                      <a:schemeClr val="tx1"/>
                    </a:solidFill>
                    <a:effectLst/>
                    <a:latin typeface="Segoe WPC"/>
                  </a:rPr>
                  <a:t>, Strikes, </a:t>
                </a:r>
                <a:r>
                  <a:rPr lang="es-PE" sz="900" b="1" i="0" dirty="0" err="1">
                    <a:solidFill>
                      <a:schemeClr val="tx1"/>
                    </a:solidFill>
                    <a:effectLst/>
                    <a:latin typeface="Segoe WPC"/>
                  </a:rPr>
                  <a:t>Dividends</a:t>
                </a:r>
                <a:r>
                  <a:rPr lang="es-PE" sz="900" b="1" i="0" dirty="0">
                    <a:solidFill>
                      <a:schemeClr val="tx1"/>
                    </a:solidFill>
                    <a:effectLst/>
                    <a:latin typeface="Segoe WPC"/>
                  </a:rPr>
                  <a:t>, and </a:t>
                </a:r>
                <a:r>
                  <a:rPr lang="es-PE" sz="900" b="1" i="0" dirty="0" err="1">
                    <a:solidFill>
                      <a:schemeClr val="tx1"/>
                    </a:solidFill>
                    <a:effectLst/>
                    <a:latin typeface="Segoe WPC"/>
                  </a:rPr>
                  <a:t>Splits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Listed</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follow</a:t>
                </a:r>
                <a:r>
                  <a:rPr lang="es-PE" sz="900" b="0" i="0" dirty="0">
                    <a:solidFill>
                      <a:schemeClr val="tx1"/>
                    </a:solidFill>
                    <a:effectLst/>
                    <a:latin typeface="Segoe WPC"/>
                  </a:rPr>
                  <a:t> standard </a:t>
                </a:r>
                <a:r>
                  <a:rPr lang="es-PE" sz="900" b="0" i="0" dirty="0" err="1">
                    <a:solidFill>
                      <a:schemeClr val="tx1"/>
                    </a:solidFill>
                    <a:effectLst/>
                    <a:latin typeface="Segoe WPC"/>
                  </a:rPr>
                  <a:t>maturity</a:t>
                </a:r>
                <a:r>
                  <a:rPr lang="es-PE" sz="900" b="0" i="0" dirty="0">
                    <a:solidFill>
                      <a:schemeClr val="tx1"/>
                    </a:solidFill>
                    <a:effectLst/>
                    <a:latin typeface="Segoe WPC"/>
                  </a:rPr>
                  <a:t> </a:t>
                </a:r>
                <a:r>
                  <a:rPr lang="es-PE" sz="900" b="0" i="0" dirty="0" err="1">
                    <a:solidFill>
                      <a:schemeClr val="tx1"/>
                    </a:solidFill>
                    <a:effectLst/>
                    <a:latin typeface="Segoe WPC"/>
                  </a:rPr>
                  <a:t>cycles</a:t>
                </a:r>
                <a:r>
                  <a:rPr lang="es-PE" sz="900" b="0" i="0" dirty="0">
                    <a:solidFill>
                      <a:schemeClr val="tx1"/>
                    </a:solidFill>
                    <a:effectLst/>
                    <a:latin typeface="Segoe WPC"/>
                  </a:rPr>
                  <a:t> and strike </a:t>
                </a:r>
                <a:r>
                  <a:rPr lang="es-PE" sz="900" b="0" i="0" dirty="0" err="1">
                    <a:solidFill>
                      <a:schemeClr val="tx1"/>
                    </a:solidFill>
                    <a:effectLst/>
                    <a:latin typeface="Segoe WPC"/>
                  </a:rPr>
                  <a:t>intervals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adjustments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stock </a:t>
                </a:r>
                <a:r>
                  <a:rPr lang="es-PE" sz="900" b="0" i="0" dirty="0" err="1">
                    <a:solidFill>
                      <a:schemeClr val="tx1"/>
                    </a:solidFill>
                    <a:effectLst/>
                    <a:latin typeface="Segoe WPC"/>
                  </a:rPr>
                  <a:t>splits</a:t>
                </a:r>
                <a:r>
                  <a:rPr lang="es-PE" sz="900" b="0" i="0" dirty="0">
                    <a:solidFill>
                      <a:schemeClr val="tx1"/>
                    </a:solidFill>
                    <a:effectLst/>
                    <a:latin typeface="Segoe WPC"/>
                  </a:rPr>
                  <a:t> and stock </a:t>
                </a:r>
                <a:r>
                  <a:rPr lang="es-PE" sz="900" b="0" i="0" dirty="0" err="1">
                    <a:solidFill>
                      <a:schemeClr val="tx1"/>
                    </a:solidFill>
                    <a:effectLst/>
                    <a:latin typeface="Segoe WPC"/>
                  </a:rPr>
                  <a:t>dividends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Exchanges</a:t>
                </a:r>
                <a:r>
                  <a:rPr lang="es-PE" sz="900" b="0" i="0" dirty="0">
                    <a:solidFill>
                      <a:schemeClr val="tx1"/>
                    </a:solidFill>
                    <a:effectLst/>
                    <a:latin typeface="Segoe WPC"/>
                  </a:rPr>
                  <a:t> </a:t>
                </a:r>
                <a:r>
                  <a:rPr lang="es-PE" sz="900" b="0" i="0" dirty="0" err="1">
                    <a:solidFill>
                      <a:schemeClr val="tx1"/>
                    </a:solidFill>
                    <a:effectLst/>
                    <a:latin typeface="Segoe WPC"/>
                  </a:rPr>
                  <a:t>list</a:t>
                </a:r>
                <a:r>
                  <a:rPr lang="es-PE" sz="900" b="0" i="0" dirty="0">
                    <a:solidFill>
                      <a:schemeClr val="tx1"/>
                    </a:solidFill>
                    <a:effectLst/>
                    <a:latin typeface="Segoe WPC"/>
                  </a:rPr>
                  <a:t> strikes </a:t>
                </a:r>
                <a:r>
                  <a:rPr lang="es-PE" sz="900" b="0" i="0" dirty="0" err="1">
                    <a:solidFill>
                      <a:schemeClr val="tx1"/>
                    </a:solidFill>
                    <a:effectLst/>
                    <a:latin typeface="Segoe WPC"/>
                  </a:rPr>
                  <a:t>near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current</a:t>
                </a:r>
                <a:r>
                  <a:rPr lang="es-PE" sz="900" b="0" i="0" dirty="0">
                    <a:solidFill>
                      <a:schemeClr val="tx1"/>
                    </a:solidFill>
                    <a:effectLst/>
                    <a:latin typeface="Segoe WPC"/>
                  </a:rPr>
                  <a:t> stock </a:t>
                </a:r>
                <a:r>
                  <a:rPr lang="es-PE" sz="900" b="0" i="0" dirty="0" err="1">
                    <a:solidFill>
                      <a:schemeClr val="tx1"/>
                    </a:solidFill>
                    <a:effectLst/>
                    <a:latin typeface="Segoe WPC"/>
                  </a:rPr>
                  <a:t>price</a:t>
                </a:r>
                <a:r>
                  <a:rPr lang="es-PE" sz="900" b="0" i="0" dirty="0">
                    <a:solidFill>
                      <a:schemeClr val="tx1"/>
                    </a:solidFill>
                    <a:effectLst/>
                    <a:latin typeface="Segoe WPC"/>
                  </a:rPr>
                  <a:t> and </a:t>
                </a:r>
                <a:r>
                  <a:rPr lang="es-PE" sz="900" b="0" i="0" dirty="0" err="1">
                    <a:solidFill>
                      <a:schemeClr val="tx1"/>
                    </a:solidFill>
                    <a:effectLst/>
                    <a:latin typeface="Segoe WPC"/>
                  </a:rPr>
                  <a:t>add</a:t>
                </a:r>
                <a:r>
                  <a:rPr lang="es-PE" sz="900" b="0" i="0" dirty="0">
                    <a:solidFill>
                      <a:schemeClr val="tx1"/>
                    </a:solidFill>
                    <a:effectLst/>
                    <a:latin typeface="Segoe WPC"/>
                  </a:rPr>
                  <a:t> more strikes as </a:t>
                </a:r>
                <a:r>
                  <a:rPr lang="es-PE" sz="900" b="0" i="0" dirty="0" err="1">
                    <a:solidFill>
                      <a:schemeClr val="tx1"/>
                    </a:solidFill>
                    <a:effectLst/>
                    <a:latin typeface="Segoe WPC"/>
                  </a:rPr>
                  <a:t>the</a:t>
                </a:r>
                <a:r>
                  <a:rPr lang="es-PE" sz="900" b="0" i="0" dirty="0">
                    <a:solidFill>
                      <a:schemeClr val="tx1"/>
                    </a:solidFill>
                    <a:effectLst/>
                    <a:latin typeface="Segoe WPC"/>
                  </a:rPr>
                  <a:t> stock </a:t>
                </a:r>
                <a:r>
                  <a:rPr lang="es-PE" sz="900" b="0" i="0" dirty="0" err="1">
                    <a:solidFill>
                      <a:schemeClr val="tx1"/>
                    </a:solidFill>
                    <a:effectLst/>
                    <a:latin typeface="Segoe WPC"/>
                  </a:rPr>
                  <a:t>moves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After a </a:t>
                </a:r>
                <a:r>
                  <a:rPr lang="es-PE" sz="900" b="0" i="0" dirty="0" err="1">
                    <a:solidFill>
                      <a:schemeClr val="tx1"/>
                    </a:solidFill>
                    <a:effectLst/>
                    <a:latin typeface="Segoe WPC"/>
                  </a:rPr>
                  <a:t>split</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stock </a:t>
                </a:r>
                <a:r>
                  <a:rPr lang="es-PE" sz="900" b="0" i="0" dirty="0" err="1">
                    <a:solidFill>
                      <a:schemeClr val="tx1"/>
                    </a:solidFill>
                    <a:effectLst/>
                    <a:latin typeface="Segoe WPC"/>
                  </a:rPr>
                  <a:t>dividend</a:t>
                </a:r>
                <a:r>
                  <a:rPr lang="es-PE" sz="900" b="0" i="0" dirty="0">
                    <a:solidFill>
                      <a:schemeClr val="tx1"/>
                    </a:solidFill>
                    <a:effectLst/>
                    <a:latin typeface="Segoe WPC"/>
                  </a:rPr>
                  <a:t>, strike and </a:t>
                </a:r>
                <a:r>
                  <a:rPr lang="es-PE" sz="900" b="0" i="0" dirty="0" err="1">
                    <a:solidFill>
                      <a:schemeClr val="tx1"/>
                    </a:solidFill>
                    <a:effectLst/>
                    <a:latin typeface="Segoe WPC"/>
                  </a:rPr>
                  <a:t>contract</a:t>
                </a:r>
                <a:r>
                  <a:rPr lang="es-PE" sz="900" b="0" i="0" dirty="0">
                    <a:solidFill>
                      <a:schemeClr val="tx1"/>
                    </a:solidFill>
                    <a:effectLst/>
                    <a:latin typeface="Segoe WPC"/>
                  </a:rPr>
                  <a:t> </a:t>
                </a:r>
                <a:r>
                  <a:rPr lang="es-PE" sz="900" b="0" i="0" dirty="0" err="1">
                    <a:solidFill>
                      <a:schemeClr val="tx1"/>
                    </a:solidFill>
                    <a:effectLst/>
                    <a:latin typeface="Segoe WPC"/>
                  </a:rPr>
                  <a:t>size</a:t>
                </a:r>
                <a:r>
                  <a:rPr lang="es-PE" sz="900" b="0" i="0" dirty="0">
                    <a:solidFill>
                      <a:schemeClr val="tx1"/>
                    </a:solidFill>
                    <a:effectLst/>
                    <a:latin typeface="Segoe WPC"/>
                  </a:rPr>
                  <a:t> </a:t>
                </a:r>
                <a:r>
                  <a:rPr lang="es-PE" sz="900" b="0" i="0" dirty="0" err="1">
                    <a:solidFill>
                      <a:schemeClr val="tx1"/>
                    </a:solidFill>
                    <a:effectLst/>
                    <a:latin typeface="Segoe WPC"/>
                  </a:rPr>
                  <a:t>adjust</a:t>
                </a:r>
                <a:r>
                  <a:rPr lang="es-PE" sz="900" b="0" i="0" dirty="0">
                    <a:solidFill>
                      <a:schemeClr val="tx1"/>
                    </a:solidFill>
                    <a:effectLst/>
                    <a:latin typeface="Segoe WPC"/>
                  </a:rPr>
                  <a:t> so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economic</a:t>
                </a:r>
                <a:r>
                  <a:rPr lang="es-PE" sz="900" b="0" i="0" dirty="0">
                    <a:solidFill>
                      <a:schemeClr val="tx1"/>
                    </a:solidFill>
                    <a:effectLst/>
                    <a:latin typeface="Segoe WPC"/>
                  </a:rPr>
                  <a:t> position </a:t>
                </a:r>
                <a:r>
                  <a:rPr lang="es-PE" sz="900" b="0" i="0" dirty="0" err="1">
                    <a:solidFill>
                      <a:schemeClr val="tx1"/>
                    </a:solidFill>
                    <a:effectLst/>
                    <a:latin typeface="Segoe WPC"/>
                  </a:rPr>
                  <a:t>stays</a:t>
                </a:r>
                <a:r>
                  <a:rPr lang="es-PE" sz="900" b="0" i="0" dirty="0">
                    <a:solidFill>
                      <a:schemeClr val="tx1"/>
                    </a:solidFill>
                    <a:effectLst/>
                    <a:latin typeface="Segoe WPC"/>
                  </a:rPr>
                  <a:t> </a:t>
                </a:r>
                <a:r>
                  <a:rPr lang="es-PE" sz="900" b="0" i="0" dirty="0" err="1">
                    <a:solidFill>
                      <a:schemeClr val="tx1"/>
                    </a:solidFill>
                    <a:effectLst/>
                    <a:latin typeface="Segoe WPC"/>
                  </a:rPr>
                  <a:t>unchanged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 </a:t>
                </a:r>
                <a14:m>
                  <m:oMath xmlns:m="http://schemas.openxmlformats.org/officeDocument/2006/math">
                    <m:r>
                      <a:rPr lang="es-PE" sz="900">
                        <a:solidFill>
                          <a:schemeClr val="tx1"/>
                        </a:solidFill>
                        <a:latin typeface="Cambria Math" panose="02040503050406030204" pitchFamily="18" charset="0"/>
                      </a:rPr>
                      <m:t>5</m:t>
                    </m:r>
                  </m:oMath>
                </a14:m>
                <a:r>
                  <a:rPr lang="es-PE" sz="900" b="0" i="0" dirty="0">
                    <a:solidFill>
                      <a:schemeClr val="tx1"/>
                    </a:solidFill>
                    <a:effectLst/>
                    <a:latin typeface="Segoe WPC"/>
                  </a:rPr>
                  <a:t>-</a:t>
                </a:r>
                <a:r>
                  <a:rPr lang="es-PE" sz="900" b="0" i="0" dirty="0" err="1">
                    <a:solidFill>
                      <a:schemeClr val="tx1"/>
                    </a:solidFill>
                    <a:effectLst/>
                    <a:latin typeface="Segoe WPC"/>
                  </a:rPr>
                  <a:t>for</a:t>
                </a:r>
                <a:r>
                  <a:rPr lang="es-PE" sz="900" b="0" i="0" dirty="0">
                    <a:solidFill>
                      <a:schemeClr val="tx1"/>
                    </a:solidFill>
                    <a:effectLst/>
                    <a:latin typeface="Segoe WPC"/>
                  </a:rPr>
                  <a:t>-</a:t>
                </a:r>
                <a14:m>
                  <m:oMath xmlns:m="http://schemas.openxmlformats.org/officeDocument/2006/math">
                    <m:r>
                      <a:rPr lang="es-PE" sz="900">
                        <a:solidFill>
                          <a:schemeClr val="tx1"/>
                        </a:solidFill>
                        <a:latin typeface="Cambria Math" panose="02040503050406030204" pitchFamily="18" charset="0"/>
                      </a:rPr>
                      <m:t>1</m:t>
                    </m:r>
                  </m:oMath>
                </a14:m>
                <a:r>
                  <a:rPr lang="es-PE" sz="900" b="0" i="0" dirty="0">
                    <a:solidFill>
                      <a:schemeClr val="tx1"/>
                    </a:solidFill>
                    <a:effectLst/>
                    <a:latin typeface="Segoe WPC"/>
                  </a:rPr>
                  <a:t> </a:t>
                </a:r>
                <a:r>
                  <a:rPr lang="es-PE" sz="900" b="0" i="0" dirty="0" err="1">
                    <a:solidFill>
                      <a:schemeClr val="tx1"/>
                    </a:solidFill>
                    <a:effectLst/>
                    <a:latin typeface="Segoe WPC"/>
                  </a:rPr>
                  <a:t>split</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m:rPr>
                            <m:nor/>
                          </m:rPr>
                          <a:rPr lang="es-PE" sz="900" b="0" i="1">
                            <a:solidFill>
                              <a:schemeClr val="tx1"/>
                            </a:solidFill>
                            <a:latin typeface="Cambria Math" panose="02040503050406030204" pitchFamily="18" charset="0"/>
                          </a:rPr>
                          <m:t>new</m:t>
                        </m:r>
                      </m:sub>
                    </m:sSub>
                    <m:r>
                      <a:rPr lang="ar-A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𝐾</m:t>
                        </m:r>
                      </m:e>
                      <m:sub>
                        <m:r>
                          <m:rPr>
                            <m:nor/>
                          </m:rPr>
                          <a:rPr lang="es-PE" sz="900" b="0" i="1">
                            <a:solidFill>
                              <a:schemeClr val="tx1"/>
                            </a:solidFill>
                            <a:latin typeface="Cambria Math" panose="02040503050406030204" pitchFamily="18" charset="0"/>
                          </a:rPr>
                          <m:t>old</m:t>
                        </m:r>
                      </m:sub>
                    </m:sSub>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5</m:t>
                    </m:r>
                  </m:oMath>
                </a14:m>
                <a:r>
                  <a:rPr lang="ar-A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 </a:t>
                </a:r>
                <a14:m>
                  <m:oMath xmlns:m="http://schemas.openxmlformats.org/officeDocument/2006/math">
                    <m:r>
                      <a:rPr lang="es-PE" sz="900">
                        <a:solidFill>
                          <a:schemeClr val="tx1"/>
                        </a:solidFill>
                        <a:latin typeface="Cambria Math" panose="02040503050406030204" pitchFamily="18" charset="0"/>
                      </a:rPr>
                      <m:t>10</m:t>
                    </m:r>
                    <m:r>
                      <a:rPr lang="es-PE" sz="900" i="0">
                        <a:solidFill>
                          <a:schemeClr val="tx1"/>
                        </a:solidFill>
                        <a:latin typeface="Cambria Math" panose="02040503050406030204" pitchFamily="18" charset="0"/>
                      </a:rPr>
                      <m:t>%</m:t>
                    </m:r>
                  </m:oMath>
                </a14:m>
                <a:r>
                  <a:rPr lang="es-PE" sz="900" b="0" i="0" dirty="0">
                    <a:solidFill>
                      <a:schemeClr val="tx1"/>
                    </a:solidFill>
                    <a:effectLst/>
                    <a:latin typeface="Segoe WPC"/>
                  </a:rPr>
                  <a:t> stock </a:t>
                </a:r>
                <a:r>
                  <a:rPr lang="es-PE" sz="900" b="0" i="0" dirty="0" err="1">
                    <a:solidFill>
                      <a:schemeClr val="tx1"/>
                    </a:solidFill>
                    <a:effectLst/>
                    <a:latin typeface="Segoe WPC"/>
                  </a:rPr>
                  <a:t>dividend</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m:rPr>
                            <m:nor/>
                          </m:rPr>
                          <a:rPr lang="es-PE" sz="900" b="0" i="1">
                            <a:solidFill>
                              <a:schemeClr val="tx1"/>
                            </a:solidFill>
                            <a:latin typeface="Cambria Math" panose="02040503050406030204" pitchFamily="18" charset="0"/>
                          </a:rPr>
                          <m:t>new</m:t>
                        </m:r>
                      </m:sub>
                    </m:sSub>
                    <m:r>
                      <a:rPr lang="ar-AE" sz="900" b="0" i="0">
                        <a:solidFill>
                          <a:schemeClr val="tx1"/>
                        </a:solidFill>
                        <a:latin typeface="Cambria Math" panose="02040503050406030204" pitchFamily="18" charset="0"/>
                      </a:rPr>
                      <m:t>=</m:t>
                    </m:r>
                    <m:d>
                      <m:dPr>
                        <m:ctrlPr>
                          <a:rPr lang="ar-AE" sz="900" b="0" i="1">
                            <a:solidFill>
                              <a:schemeClr val="tx1"/>
                            </a:solidFill>
                            <a:latin typeface="Cambria Math" panose="02040503050406030204" pitchFamily="18" charset="0"/>
                          </a:rPr>
                        </m:ctrlPr>
                      </m:dPr>
                      <m:e>
                        <m:r>
                          <a:rPr lang="ar-AE" sz="900" b="0" i="0">
                            <a:solidFill>
                              <a:schemeClr val="tx1"/>
                            </a:solidFill>
                            <a:latin typeface="Cambria Math" panose="02040503050406030204" pitchFamily="18" charset="0"/>
                          </a:rPr>
                          <m:t>10</m:t>
                        </m:r>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11</m:t>
                        </m:r>
                      </m:e>
                    </m:d>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𝐾</m:t>
                        </m:r>
                      </m:e>
                      <m:sub>
                        <m:r>
                          <m:rPr>
                            <m:nor/>
                          </m:rPr>
                          <a:rPr lang="es-PE" sz="900" b="0" i="1">
                            <a:solidFill>
                              <a:schemeClr val="tx1"/>
                            </a:solidFill>
                            <a:latin typeface="Cambria Math" panose="02040503050406030204" pitchFamily="18" charset="0"/>
                          </a:rPr>
                          <m:t>old</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Stock </a:t>
                </a:r>
                <a:r>
                  <a:rPr lang="es-PE" sz="900" b="0" i="0" dirty="0" err="1">
                    <a:solidFill>
                      <a:schemeClr val="tx1"/>
                    </a:solidFill>
                    <a:effectLst/>
                    <a:latin typeface="Segoe WPC"/>
                  </a:rPr>
                  <a:t>splits</a:t>
                </a:r>
                <a:r>
                  <a:rPr lang="es-PE" sz="900" b="0" i="0" dirty="0">
                    <a:solidFill>
                      <a:schemeClr val="tx1"/>
                    </a:solidFill>
                    <a:effectLst/>
                    <a:latin typeface="Segoe WPC"/>
                  </a:rPr>
                  <a:t> and stock </a:t>
                </a:r>
                <a:r>
                  <a:rPr lang="es-PE" sz="900" b="0" i="0" dirty="0" err="1">
                    <a:solidFill>
                      <a:schemeClr val="tx1"/>
                    </a:solidFill>
                    <a:effectLst/>
                    <a:latin typeface="Segoe WPC"/>
                  </a:rPr>
                  <a:t>dividends</a:t>
                </a:r>
                <a:r>
                  <a:rPr lang="es-PE" sz="900" b="0" i="0" dirty="0">
                    <a:solidFill>
                      <a:schemeClr val="tx1"/>
                    </a:solidFill>
                    <a:effectLst/>
                    <a:latin typeface="Segoe WPC"/>
                  </a:rPr>
                  <a:t> </a:t>
                </a:r>
                <a:r>
                  <a:rPr lang="es-PE" sz="900" b="0" i="0" dirty="0" err="1">
                    <a:solidFill>
                      <a:schemeClr val="tx1"/>
                    </a:solidFill>
                    <a:effectLst/>
                    <a:latin typeface="Segoe WPC"/>
                  </a:rPr>
                  <a:t>change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terms</a:t>
                </a:r>
                <a:r>
                  <a:rPr lang="es-PE" sz="900" b="0" i="0" dirty="0">
                    <a:solidFill>
                      <a:schemeClr val="tx1"/>
                    </a:solidFill>
                    <a:effectLst/>
                    <a:latin typeface="Segoe WPC"/>
                  </a:rPr>
                  <a:t>; </a:t>
                </a:r>
                <a:r>
                  <a:rPr lang="es-PE" sz="900" b="0" i="0" dirty="0" err="1">
                    <a:solidFill>
                      <a:schemeClr val="tx1"/>
                    </a:solidFill>
                    <a:effectLst/>
                    <a:latin typeface="Segoe WPC"/>
                  </a:rPr>
                  <a:t>ordinary</a:t>
                </a:r>
                <a:r>
                  <a:rPr lang="es-PE" sz="900" b="0" i="0" dirty="0">
                    <a:solidFill>
                      <a:schemeClr val="tx1"/>
                    </a:solidFill>
                    <a:effectLst/>
                    <a:latin typeface="Segoe WPC"/>
                  </a:rPr>
                  <a:t> cash </a:t>
                </a:r>
                <a:r>
                  <a:rPr lang="es-PE" sz="900" b="0" i="0" dirty="0" err="1">
                    <a:solidFill>
                      <a:schemeClr val="tx1"/>
                    </a:solidFill>
                    <a:effectLst/>
                    <a:latin typeface="Segoe WPC"/>
                  </a:rPr>
                  <a:t>dividends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Cash </a:t>
                </a:r>
                <a:r>
                  <a:rPr lang="es-PE" sz="900" b="0" i="0" dirty="0" err="1">
                    <a:solidFill>
                      <a:schemeClr val="tx1"/>
                    </a:solidFill>
                    <a:effectLst/>
                    <a:latin typeface="Segoe WPC"/>
                  </a:rPr>
                  <a:t>dividends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trigger</a:t>
                </a:r>
                <a:r>
                  <a:rPr lang="es-PE" sz="900" b="0" i="0" dirty="0">
                    <a:solidFill>
                      <a:schemeClr val="tx1"/>
                    </a:solidFill>
                    <a:effectLst/>
                    <a:latin typeface="Segoe WPC"/>
                  </a:rPr>
                  <a:t> </a:t>
                </a:r>
                <a:r>
                  <a:rPr lang="es-PE" sz="900" b="0" i="0" dirty="0" err="1">
                    <a:solidFill>
                      <a:schemeClr val="tx1"/>
                    </a:solidFill>
                    <a:effectLst/>
                    <a:latin typeface="Segoe WPC"/>
                  </a:rPr>
                  <a:t>adjustments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stock </a:t>
                </a:r>
                <a:r>
                  <a:rPr lang="es-PE" sz="900" b="0" i="0" dirty="0" err="1">
                    <a:solidFill>
                      <a:schemeClr val="tx1"/>
                    </a:solidFill>
                    <a:effectLst/>
                    <a:latin typeface="Segoe WPC"/>
                  </a:rPr>
                  <a:t>splits</a:t>
                </a:r>
                <a:r>
                  <a:rPr lang="es-PE" sz="900" b="0" i="0" dirty="0">
                    <a:solidFill>
                      <a:schemeClr val="tx1"/>
                    </a:solidFill>
                    <a:effectLst/>
                    <a:latin typeface="Segoe WPC"/>
                  </a:rPr>
                  <a:t> and stock </a:t>
                </a:r>
                <a:r>
                  <a:rPr lang="es-PE" sz="900" b="0" i="0" dirty="0" err="1">
                    <a:solidFill>
                      <a:schemeClr val="tx1"/>
                    </a:solidFill>
                    <a:effectLst/>
                    <a:latin typeface="Segoe WPC"/>
                  </a:rPr>
                  <a:t>dividends</a:t>
                </a:r>
                <a:r>
                  <a:rPr lang="es-PE" sz="900" b="0" i="0" dirty="0">
                    <a:solidFill>
                      <a:schemeClr val="tx1"/>
                    </a:solidFill>
                    <a:effectLst/>
                    <a:latin typeface="Segoe WPC"/>
                  </a:rPr>
                  <a:t> do.</a:t>
                </a:r>
              </a:p>
              <a:p>
                <a:pPr algn="l">
                  <a:spcAft>
                    <a:spcPts val="600"/>
                  </a:spcAft>
                  <a:buNone/>
                </a:pPr>
                <a:r>
                  <a:rPr lang="es-PE" sz="900" b="1" i="0" dirty="0">
                    <a:solidFill>
                      <a:schemeClr val="tx1"/>
                    </a:solidFill>
                    <a:effectLst/>
                    <a:latin typeface="Segoe WPC"/>
                  </a:rPr>
                  <a:t>7. </a:t>
                </a:r>
                <a:r>
                  <a:rPr lang="es-PE" sz="900" b="1" i="0" dirty="0" err="1">
                    <a:solidFill>
                      <a:schemeClr val="tx1"/>
                    </a:solidFill>
                    <a:effectLst/>
                    <a:latin typeface="Segoe WPC"/>
                  </a:rPr>
                  <a:t>Index</a:t>
                </a:r>
                <a:r>
                  <a:rPr lang="es-PE" sz="900" b="1" i="0" dirty="0">
                    <a:solidFill>
                      <a:schemeClr val="tx1"/>
                    </a:solidFill>
                    <a:effectLst/>
                    <a:latin typeface="Segoe WPC"/>
                  </a:rPr>
                  <a:t>, ETP, and Non-Standard </a:t>
                </a:r>
                <a:r>
                  <a:rPr lang="es-PE" sz="900" b="1" i="0" dirty="0" err="1">
                    <a:solidFill>
                      <a:schemeClr val="tx1"/>
                    </a:solidFill>
                    <a:effectLst/>
                    <a:latin typeface="Segoe WPC"/>
                  </a:rPr>
                  <a:t>Options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Exchanges</a:t>
                </a:r>
                <a:r>
                  <a:rPr lang="es-PE" sz="900" b="0" i="0" dirty="0">
                    <a:solidFill>
                      <a:schemeClr val="tx1"/>
                    </a:solidFill>
                    <a:effectLst/>
                    <a:latin typeface="Segoe WPC"/>
                  </a:rPr>
                  <a:t> </a:t>
                </a:r>
                <a:r>
                  <a:rPr lang="es-PE" sz="900" b="0" i="0" dirty="0" err="1">
                    <a:solidFill>
                      <a:schemeClr val="tx1"/>
                    </a:solidFill>
                    <a:effectLst/>
                    <a:latin typeface="Segoe WPC"/>
                  </a:rPr>
                  <a:t>also</a:t>
                </a:r>
                <a:r>
                  <a:rPr lang="es-PE" sz="900" b="0" i="0" dirty="0">
                    <a:solidFill>
                      <a:schemeClr val="tx1"/>
                    </a:solidFill>
                    <a:effectLst/>
                    <a:latin typeface="Segoe WPC"/>
                  </a:rPr>
                  <a:t> </a:t>
                </a:r>
                <a:r>
                  <a:rPr lang="es-PE" sz="900" b="0" i="0" dirty="0" err="1">
                    <a:solidFill>
                      <a:schemeClr val="tx1"/>
                    </a:solidFill>
                    <a:effectLst/>
                    <a:latin typeface="Segoe WPC"/>
                  </a:rPr>
                  <a:t>trade</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stock </a:t>
                </a:r>
                <a:r>
                  <a:rPr lang="es-PE" sz="900" b="0" i="0" dirty="0" err="1">
                    <a:solidFill>
                      <a:schemeClr val="tx1"/>
                    </a:solidFill>
                    <a:effectLst/>
                    <a:latin typeface="Segoe WPC"/>
                  </a:rPr>
                  <a:t>indices</a:t>
                </a:r>
                <a:r>
                  <a:rPr lang="es-PE" sz="900" b="0" i="0" dirty="0">
                    <a:solidFill>
                      <a:schemeClr val="tx1"/>
                    </a:solidFill>
                    <a:effectLst/>
                    <a:latin typeface="Segoe WPC"/>
                  </a:rPr>
                  <a:t>, </a:t>
                </a:r>
                <a:r>
                  <a:rPr lang="es-PE" sz="900" b="0" i="0" dirty="0" err="1">
                    <a:solidFill>
                      <a:schemeClr val="tx1"/>
                    </a:solidFill>
                    <a:effectLst/>
                    <a:latin typeface="Segoe WPC"/>
                  </a:rPr>
                  <a:t>ETFs</a:t>
                </a:r>
                <a:r>
                  <a:rPr lang="es-PE" sz="900" b="0" i="0" dirty="0">
                    <a:solidFill>
                      <a:schemeClr val="tx1"/>
                    </a:solidFill>
                    <a:effectLst/>
                    <a:latin typeface="Segoe WPC"/>
                  </a:rPr>
                  <a:t> and </a:t>
                </a:r>
                <a:r>
                  <a:rPr lang="es-PE" sz="900" b="0" i="0" dirty="0" err="1">
                    <a:solidFill>
                      <a:schemeClr val="tx1"/>
                    </a:solidFill>
                    <a:effectLst/>
                    <a:latin typeface="Segoe WPC"/>
                  </a:rPr>
                  <a:t>other</a:t>
                </a:r>
                <a:r>
                  <a:rPr lang="es-PE" sz="900" b="0" i="0" dirty="0">
                    <a:solidFill>
                      <a:schemeClr val="tx1"/>
                    </a:solidFill>
                    <a:effectLst/>
                    <a:latin typeface="Segoe WPC"/>
                  </a:rPr>
                  <a:t> </a:t>
                </a:r>
                <a:r>
                  <a:rPr lang="es-PE" sz="900" b="0" i="0" dirty="0" err="1">
                    <a:solidFill>
                      <a:schemeClr val="tx1"/>
                    </a:solidFill>
                    <a:effectLst/>
                    <a:latin typeface="Segoe WPC"/>
                  </a:rPr>
                  <a:t>ETPs</a:t>
                </a:r>
                <a:r>
                  <a:rPr lang="es-PE" sz="900" b="0" i="0" dirty="0">
                    <a:solidFill>
                      <a:schemeClr val="tx1"/>
                    </a:solidFill>
                    <a:effectLst/>
                    <a:latin typeface="Segoe WPC"/>
                  </a:rPr>
                  <a:t>, plus </a:t>
                </a:r>
                <a:r>
                  <a:rPr lang="es-PE" sz="900" b="0" i="0" dirty="0" err="1">
                    <a:solidFill>
                      <a:schemeClr val="tx1"/>
                    </a:solidFill>
                    <a:effectLst/>
                    <a:latin typeface="Segoe WPC"/>
                  </a:rPr>
                  <a:t>customized</a:t>
                </a:r>
                <a:r>
                  <a:rPr lang="es-PE" sz="900" b="0" i="0" dirty="0">
                    <a:solidFill>
                      <a:schemeClr val="tx1"/>
                    </a:solidFill>
                    <a:effectLst/>
                    <a:latin typeface="Segoe WPC"/>
                  </a:rPr>
                  <a:t> </a:t>
                </a:r>
                <a:r>
                  <a:rPr lang="es-PE" sz="900" b="0" i="0" dirty="0" err="1">
                    <a:solidFill>
                      <a:schemeClr val="tx1"/>
                    </a:solidFill>
                    <a:effectLst/>
                    <a:latin typeface="Segoe WPC"/>
                  </a:rPr>
                  <a:t>products</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FLEX, </a:t>
                </a:r>
                <a:r>
                  <a:rPr lang="es-PE" sz="900" b="0" i="0" dirty="0" err="1">
                    <a:solidFill>
                      <a:schemeClr val="tx1"/>
                    </a:solidFill>
                    <a:effectLst/>
                    <a:latin typeface="Segoe WPC"/>
                  </a:rPr>
                  <a:t>Asian</a:t>
                </a:r>
                <a:r>
                  <a:rPr lang="es-PE" sz="900" b="0" i="0" dirty="0">
                    <a:solidFill>
                      <a:schemeClr val="tx1"/>
                    </a:solidFill>
                    <a:effectLst/>
                    <a:latin typeface="Segoe WPC"/>
                  </a:rPr>
                  <a:t>, and </a:t>
                </a:r>
                <a:r>
                  <a:rPr lang="es-PE" sz="900" b="0" i="0" dirty="0" err="1">
                    <a:solidFill>
                      <a:schemeClr val="tx1"/>
                    </a:solidFill>
                    <a:effectLst/>
                    <a:latin typeface="Segoe WPC"/>
                  </a:rPr>
                  <a:t>cliquet</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are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European</a:t>
                </a:r>
                <a:r>
                  <a:rPr lang="es-PE" sz="900" b="0" i="0" dirty="0">
                    <a:solidFill>
                      <a:schemeClr val="tx1"/>
                    </a:solidFill>
                    <a:effectLst/>
                    <a:latin typeface="Segoe WPC"/>
                  </a:rPr>
                  <a:t> and cash-</a:t>
                </a:r>
                <a:r>
                  <a:rPr lang="es-PE" sz="900" b="0" i="0" dirty="0" err="1">
                    <a:solidFill>
                      <a:schemeClr val="tx1"/>
                    </a:solidFill>
                    <a:effectLst/>
                    <a:latin typeface="Segoe WPC"/>
                  </a:rPr>
                  <a:t>settled</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ETP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behave</a:t>
                </a:r>
                <a:r>
                  <a:rPr lang="es-PE" sz="900" b="0" i="0" dirty="0">
                    <a:solidFill>
                      <a:schemeClr val="tx1"/>
                    </a:solidFill>
                    <a:effectLst/>
                    <a:latin typeface="Segoe WPC"/>
                  </a:rPr>
                  <a:t> more </a:t>
                </a:r>
                <a:r>
                  <a:rPr lang="es-PE" sz="900" b="0" i="0" dirty="0" err="1">
                    <a:solidFill>
                      <a:schemeClr val="tx1"/>
                    </a:solidFill>
                    <a:effectLst/>
                    <a:latin typeface="Segoe WPC"/>
                  </a:rPr>
                  <a:t>like</a:t>
                </a:r>
                <a:r>
                  <a:rPr lang="es-PE" sz="900" b="0" i="0" dirty="0">
                    <a:solidFill>
                      <a:schemeClr val="tx1"/>
                    </a:solidFill>
                    <a:effectLst/>
                    <a:latin typeface="Segoe WPC"/>
                  </a:rPr>
                  <a:t> stock </a:t>
                </a:r>
                <a:r>
                  <a:rPr lang="es-PE" sz="900" b="0" i="0" dirty="0" err="1">
                    <a:solidFill>
                      <a:schemeClr val="tx1"/>
                    </a:solidFill>
                    <a:effectLst/>
                    <a:latin typeface="Segoe WPC"/>
                  </a:rPr>
                  <a:t>options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settles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instead</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delivering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stocks.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Example</a:t>
                </a:r>
                <a:r>
                  <a:rPr lang="es-PE" sz="900" b="0" i="0" dirty="0">
                    <a:solidFill>
                      <a:schemeClr val="tx1"/>
                    </a:solidFill>
                    <a:effectLst/>
                    <a:latin typeface="Segoe WPC"/>
                  </a:rPr>
                  <a:t> </a:t>
                </a:r>
                <a:r>
                  <a:rPr lang="es-PE" sz="900" b="0" i="0" dirty="0" err="1">
                    <a:solidFill>
                      <a:schemeClr val="tx1"/>
                    </a:solidFill>
                    <a:effectLst/>
                    <a:latin typeface="Segoe WPC"/>
                  </a:rPr>
                  <a:t>Asian</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limUpp>
                          <m:limUppPr>
                            <m:ctrlPr>
                              <a:rPr lang="ar-AE" sz="900" i="1">
                                <a:solidFill>
                                  <a:schemeClr val="tx1"/>
                                </a:solidFill>
                                <a:latin typeface="Cambria Math" panose="02040503050406030204" pitchFamily="18" charset="0"/>
                              </a:rPr>
                            </m:ctrlPr>
                          </m:limUppPr>
                          <m:e>
                            <m:r>
                              <a:rPr lang="ar-AE" sz="900" i="1">
                                <a:solidFill>
                                  <a:schemeClr val="tx1"/>
                                </a:solidFill>
                                <a:latin typeface="Cambria Math" panose="02040503050406030204" pitchFamily="18" charset="0"/>
                              </a:rPr>
                              <m:t>𝑆</m:t>
                            </m:r>
                          </m:e>
                          <m:lim>
                            <m:r>
                              <a:rPr lang="ar-AE" sz="900" i="0">
                                <a:solidFill>
                                  <a:schemeClr val="tx1"/>
                                </a:solidFill>
                                <a:latin typeface="Cambria Math" panose="02040503050406030204" pitchFamily="18" charset="0"/>
                              </a:rPr>
                              <m:t>ˉ</m:t>
                            </m:r>
                          </m:lim>
                        </m:limUpp>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Non-standard </a:t>
                </a:r>
                <a:r>
                  <a:rPr lang="es-PE" sz="900" b="0" i="0" dirty="0" err="1">
                    <a:solidFill>
                      <a:schemeClr val="tx1"/>
                    </a:solidFill>
                    <a:effectLst/>
                    <a:latin typeface="Segoe WPC"/>
                  </a:rPr>
                  <a:t>contracts</a:t>
                </a:r>
                <a:r>
                  <a:rPr lang="es-PE" sz="900" b="0" i="0" dirty="0">
                    <a:solidFill>
                      <a:schemeClr val="tx1"/>
                    </a:solidFill>
                    <a:effectLst/>
                    <a:latin typeface="Segoe WPC"/>
                  </a:rPr>
                  <a:t> </a:t>
                </a:r>
                <a:r>
                  <a:rPr lang="es-PE" sz="900" b="0" i="0" dirty="0" err="1">
                    <a:solidFill>
                      <a:schemeClr val="tx1"/>
                    </a:solidFill>
                    <a:effectLst/>
                    <a:latin typeface="Segoe WPC"/>
                  </a:rPr>
                  <a:t>allow</a:t>
                </a:r>
                <a:r>
                  <a:rPr lang="es-PE" sz="900" b="0" i="0" dirty="0">
                    <a:solidFill>
                      <a:schemeClr val="tx1"/>
                    </a:solidFill>
                    <a:effectLst/>
                    <a:latin typeface="Segoe WPC"/>
                  </a:rPr>
                  <a:t> more </a:t>
                </a:r>
                <a:r>
                  <a:rPr lang="es-PE" sz="900" b="0" i="0" dirty="0" err="1">
                    <a:solidFill>
                      <a:schemeClr val="tx1"/>
                    </a:solidFill>
                    <a:effectLst/>
                    <a:latin typeface="Segoe WPC"/>
                  </a:rPr>
                  <a:t>tailored</a:t>
                </a:r>
                <a:r>
                  <a:rPr lang="es-PE" sz="900" b="0" i="0" dirty="0">
                    <a:solidFill>
                      <a:schemeClr val="tx1"/>
                    </a:solidFill>
                    <a:effectLst/>
                    <a:latin typeface="Segoe WPC"/>
                  </a:rPr>
                  <a:t> </a:t>
                </a:r>
                <a:r>
                  <a:rPr lang="es-PE" sz="900" b="0" i="0" dirty="0" err="1">
                    <a:solidFill>
                      <a:schemeClr val="tx1"/>
                    </a:solidFill>
                    <a:effectLst/>
                    <a:latin typeface="Segoe WPC"/>
                  </a:rPr>
                  <a:t>payoffs</a:t>
                </a:r>
                <a:r>
                  <a:rPr lang="es-PE" sz="900" b="0" i="0" dirty="0">
                    <a:solidFill>
                      <a:schemeClr val="tx1"/>
                    </a:solidFill>
                    <a:effectLst/>
                    <a:latin typeface="Segoe WPC"/>
                  </a:rPr>
                  <a:t>, strikes, and </a:t>
                </a:r>
                <a:r>
                  <a:rPr lang="es-PE" sz="900" b="0" i="0" dirty="0" err="1">
                    <a:solidFill>
                      <a:schemeClr val="tx1"/>
                    </a:solidFill>
                    <a:effectLst/>
                    <a:latin typeface="Segoe WPC"/>
                  </a:rPr>
                  <a:t>maturities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assume</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exchange-traded</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are standard </a:t>
                </a:r>
                <a:r>
                  <a:rPr lang="es-PE" sz="900" b="0" i="0" dirty="0" err="1">
                    <a:solidFill>
                      <a:schemeClr val="tx1"/>
                    </a:solidFill>
                    <a:effectLst/>
                    <a:latin typeface="Segoe WPC"/>
                  </a:rPr>
                  <a:t>vanilla</a:t>
                </a:r>
                <a:r>
                  <a:rPr lang="es-P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physical</a:t>
                </a:r>
                <a:r>
                  <a:rPr lang="es-PE" sz="900" b="0" i="0" dirty="0">
                    <a:solidFill>
                      <a:schemeClr val="tx1"/>
                    </a:solidFill>
                    <a:effectLst/>
                    <a:latin typeface="Segoe WPC"/>
                  </a:rPr>
                  <a:t> </a:t>
                </a:r>
                <a:r>
                  <a:rPr lang="es-PE" sz="900" b="0" i="0" dirty="0" err="1">
                    <a:solidFill>
                      <a:schemeClr val="tx1"/>
                    </a:solidFill>
                    <a:effectLst/>
                    <a:latin typeface="Segoe WPC"/>
                  </a:rPr>
                  <a:t>settlement</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8. Trading, </a:t>
                </a:r>
                <a:r>
                  <a:rPr lang="es-PE" sz="900" b="1" i="0" dirty="0" err="1">
                    <a:solidFill>
                      <a:schemeClr val="tx1"/>
                    </a:solidFill>
                    <a:effectLst/>
                    <a:latin typeface="Segoe WPC"/>
                  </a:rPr>
                  <a:t>Clearing</a:t>
                </a:r>
                <a:r>
                  <a:rPr lang="es-PE" sz="900" b="1" i="0" dirty="0">
                    <a:solidFill>
                      <a:schemeClr val="tx1"/>
                    </a:solidFill>
                    <a:effectLst/>
                    <a:latin typeface="Segoe WPC"/>
                  </a:rPr>
                  <a:t>, and </a:t>
                </a:r>
                <a:r>
                  <a:rPr lang="es-PE" sz="900" b="1" i="0" dirty="0" err="1">
                    <a:solidFill>
                      <a:schemeClr val="tx1"/>
                    </a:solidFill>
                    <a:effectLst/>
                    <a:latin typeface="Segoe WPC"/>
                  </a:rPr>
                  <a:t>Limits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trade</a:t>
                </a:r>
                <a:r>
                  <a:rPr lang="es-PE" sz="900" b="0" i="0" dirty="0">
                    <a:solidFill>
                      <a:schemeClr val="tx1"/>
                    </a:solidFill>
                    <a:effectLst/>
                    <a:latin typeface="Segoe WPC"/>
                  </a:rPr>
                  <a:t> </a:t>
                </a:r>
                <a:r>
                  <a:rPr lang="es-PE" sz="900" b="0" i="0" dirty="0" err="1">
                    <a:solidFill>
                      <a:schemeClr val="tx1"/>
                    </a:solidFill>
                    <a:effectLst/>
                    <a:latin typeface="Segoe WPC"/>
                  </a:rPr>
                  <a:t>electronically</a:t>
                </a:r>
                <a:r>
                  <a:rPr lang="es-PE" sz="900" b="0" i="0" dirty="0">
                    <a:solidFill>
                      <a:schemeClr val="tx1"/>
                    </a:solidFill>
                    <a:effectLst/>
                    <a:latin typeface="Segoe WPC"/>
                  </a:rPr>
                  <a:t> </a:t>
                </a:r>
                <a:r>
                  <a:rPr lang="es-PE" sz="900" b="0" i="0" dirty="0" err="1">
                    <a:solidFill>
                      <a:schemeClr val="tx1"/>
                    </a:solidFill>
                    <a:effectLst/>
                    <a:latin typeface="Segoe WPC"/>
                  </a:rPr>
                  <a:t>through</a:t>
                </a:r>
                <a:r>
                  <a:rPr lang="es-PE" sz="900" b="0" i="0" dirty="0">
                    <a:solidFill>
                      <a:schemeClr val="tx1"/>
                    </a:solidFill>
                    <a:effectLst/>
                    <a:latin typeface="Segoe WPC"/>
                  </a:rPr>
                  <a:t> </a:t>
                </a:r>
                <a:r>
                  <a:rPr lang="es-PE" sz="900" b="0" i="0" dirty="0" err="1">
                    <a:solidFill>
                      <a:schemeClr val="tx1"/>
                    </a:solidFill>
                    <a:effectLst/>
                    <a:latin typeface="Segoe WPC"/>
                  </a:rPr>
                  <a:t>brokers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makers</a:t>
                </a:r>
                <a:r>
                  <a:rPr lang="es-PE" sz="900" b="0" i="0" dirty="0">
                    <a:solidFill>
                      <a:schemeClr val="tx1"/>
                    </a:solidFill>
                    <a:effectLst/>
                    <a:latin typeface="Segoe WPC"/>
                  </a:rPr>
                  <a:t> </a:t>
                </a:r>
                <a:r>
                  <a:rPr lang="es-PE" sz="900" b="0" i="0" dirty="0" err="1">
                    <a:solidFill>
                      <a:schemeClr val="tx1"/>
                    </a:solidFill>
                    <a:effectLst/>
                    <a:latin typeface="Segoe WPC"/>
                  </a:rPr>
                  <a:t>supplying</a:t>
                </a:r>
                <a:r>
                  <a:rPr lang="es-PE" sz="900" b="0" i="0" dirty="0">
                    <a:solidFill>
                      <a:schemeClr val="tx1"/>
                    </a:solidFill>
                    <a:effectLst/>
                    <a:latin typeface="Segoe WPC"/>
                  </a:rPr>
                  <a:t> </a:t>
                </a:r>
                <a:r>
                  <a:rPr lang="es-PE" sz="900" b="0" i="0" dirty="0" err="1">
                    <a:solidFill>
                      <a:schemeClr val="tx1"/>
                    </a:solidFill>
                    <a:effectLst/>
                    <a:latin typeface="Segoe WPC"/>
                  </a:rPr>
                  <a:t>liquidity</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OCC </a:t>
                </a:r>
                <a:r>
                  <a:rPr lang="es-PE" sz="900" b="0" i="0" dirty="0" err="1">
                    <a:solidFill>
                      <a:schemeClr val="tx1"/>
                    </a:solidFill>
                    <a:effectLst/>
                    <a:latin typeface="Segoe WPC"/>
                  </a:rPr>
                  <a:t>handling</a:t>
                </a:r>
                <a:r>
                  <a:rPr lang="es-PE" sz="900" b="0" i="0" dirty="0">
                    <a:solidFill>
                      <a:schemeClr val="tx1"/>
                    </a:solidFill>
                    <a:effectLst/>
                    <a:latin typeface="Segoe WPC"/>
                  </a:rPr>
                  <a:t> </a:t>
                </a:r>
                <a:r>
                  <a:rPr lang="es-PE" sz="900" b="0" i="0" dirty="0" err="1">
                    <a:solidFill>
                      <a:schemeClr val="tx1"/>
                    </a:solidFill>
                    <a:effectLst/>
                    <a:latin typeface="Segoe WPC"/>
                  </a:rPr>
                  <a:t>clearing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Positions can be </a:t>
                </a:r>
                <a:r>
                  <a:rPr lang="es-PE" sz="900" b="0" i="0" dirty="0" err="1">
                    <a:solidFill>
                      <a:schemeClr val="tx1"/>
                    </a:solidFill>
                    <a:effectLst/>
                    <a:latin typeface="Segoe WPC"/>
                  </a:rPr>
                  <a:t>closed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taking</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offsetting</a:t>
                </a:r>
                <a:r>
                  <a:rPr lang="es-PE" sz="900" b="0" i="0" dirty="0">
                    <a:solidFill>
                      <a:schemeClr val="tx1"/>
                    </a:solidFill>
                    <a:effectLst/>
                    <a:latin typeface="Segoe WPC"/>
                  </a:rPr>
                  <a:t> </a:t>
                </a:r>
                <a:r>
                  <a:rPr lang="es-PE" sz="900" b="0" i="0" dirty="0" err="1">
                    <a:solidFill>
                      <a:schemeClr val="tx1"/>
                    </a:solidFill>
                    <a:effectLst/>
                    <a:latin typeface="Segoe WPC"/>
                  </a:rPr>
                  <a:t>trade</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futures.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Open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counts</a:t>
                </a:r>
                <a:r>
                  <a:rPr lang="es-PE" sz="900" b="0" i="0" dirty="0">
                    <a:solidFill>
                      <a:schemeClr val="tx1"/>
                    </a:solidFill>
                    <a:effectLst/>
                    <a:latin typeface="Segoe WPC"/>
                  </a:rPr>
                  <a:t> </a:t>
                </a:r>
                <a:r>
                  <a:rPr lang="es-PE" sz="900" b="0" i="0" dirty="0" err="1">
                    <a:solidFill>
                      <a:schemeClr val="tx1"/>
                    </a:solidFill>
                    <a:effectLst/>
                    <a:latin typeface="Segoe WPC"/>
                  </a:rPr>
                  <a:t>outstanding</a:t>
                </a:r>
                <a:r>
                  <a:rPr lang="es-P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position and </a:t>
                </a:r>
                <a:r>
                  <a:rPr lang="es-PE" sz="900" b="0" i="0" dirty="0" err="1">
                    <a:solidFill>
                      <a:schemeClr val="tx1"/>
                    </a:solidFill>
                    <a:effectLst/>
                    <a:latin typeface="Segoe WPC"/>
                  </a:rPr>
                  <a:t>exercise</a:t>
                </a:r>
                <a:r>
                  <a:rPr lang="es-PE" sz="900" b="0" i="0" dirty="0">
                    <a:solidFill>
                      <a:schemeClr val="tx1"/>
                    </a:solidFill>
                    <a:effectLst/>
                    <a:latin typeface="Segoe WPC"/>
                  </a:rPr>
                  <a:t> </a:t>
                </a:r>
                <a:r>
                  <a:rPr lang="es-PE" sz="900" b="0" i="0" dirty="0" err="1">
                    <a:solidFill>
                      <a:schemeClr val="tx1"/>
                    </a:solidFill>
                    <a:effectLst/>
                    <a:latin typeface="Segoe WPC"/>
                  </a:rPr>
                  <a:t>limits</a:t>
                </a:r>
                <a:r>
                  <a:rPr lang="es-PE" sz="900" b="0" i="0" dirty="0">
                    <a:solidFill>
                      <a:schemeClr val="tx1"/>
                    </a:solidFill>
                    <a:effectLst/>
                    <a:latin typeface="Segoe WPC"/>
                  </a:rPr>
                  <a:t> </a:t>
                </a:r>
                <a:r>
                  <a:rPr lang="es-PE" sz="900" b="0" i="0" dirty="0" err="1">
                    <a:solidFill>
                      <a:schemeClr val="tx1"/>
                    </a:solidFill>
                    <a:effectLst/>
                    <a:latin typeface="Segoe WPC"/>
                  </a:rPr>
                  <a:t>prevent</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concentration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Open </a:t>
                </a:r>
                <a:r>
                  <a:rPr lang="es-PE" sz="900" b="0" i="0" dirty="0" err="1">
                    <a:solidFill>
                      <a:schemeClr val="tx1"/>
                    </a:solidFill>
                    <a:effectLst/>
                    <a:latin typeface="Segoe WPC"/>
                  </a:rPr>
                  <a:t>interest</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oMath>
                </a14:m>
                <a:r>
                  <a:rPr lang="es-PE" sz="900" b="0" i="0" dirty="0">
                    <a:solidFill>
                      <a:schemeClr val="tx1"/>
                    </a:solidFill>
                    <a:effectLst/>
                    <a:latin typeface="Segoe WPC"/>
                  </a:rPr>
                  <a:t> </a:t>
                </a:r>
                <a:r>
                  <a:rPr lang="es-PE" sz="900" b="0" i="0" dirty="0" err="1">
                    <a:solidFill>
                      <a:schemeClr val="tx1"/>
                    </a:solidFill>
                    <a:effectLst/>
                    <a:latin typeface="Segoe WPC"/>
                  </a:rPr>
                  <a:t>number</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outstanding</a:t>
                </a:r>
                <a:r>
                  <a:rPr lang="es-P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Long </a:t>
                </a:r>
                <a:r>
                  <a:rPr lang="es-PE" sz="900" b="0" i="0" dirty="0" err="1">
                    <a:solidFill>
                      <a:schemeClr val="tx1"/>
                    </a:solidFill>
                    <a:effectLst/>
                    <a:latin typeface="Segoe WPC"/>
                  </a:rPr>
                  <a:t>calls</a:t>
                </a:r>
                <a:r>
                  <a:rPr lang="es-PE" sz="900" b="0" i="0" dirty="0">
                    <a:solidFill>
                      <a:schemeClr val="tx1"/>
                    </a:solidFill>
                    <a:effectLst/>
                    <a:latin typeface="Segoe WPC"/>
                  </a:rPr>
                  <a:t> and short </a:t>
                </a:r>
                <a:r>
                  <a:rPr lang="es-PE" sz="900" b="0" i="0" dirty="0" err="1">
                    <a:solidFill>
                      <a:schemeClr val="tx1"/>
                    </a:solidFill>
                    <a:effectLst/>
                    <a:latin typeface="Segoe WPC"/>
                  </a:rPr>
                  <a:t>puts</a:t>
                </a:r>
                <a:r>
                  <a:rPr lang="es-PE" sz="900" b="0" i="0" dirty="0">
                    <a:solidFill>
                      <a:schemeClr val="tx1"/>
                    </a:solidFill>
                    <a:effectLst/>
                    <a:latin typeface="Segoe WPC"/>
                  </a:rPr>
                  <a:t> </a:t>
                </a:r>
                <a:r>
                  <a:rPr lang="es-PE" sz="900" b="0" i="0" dirty="0" err="1">
                    <a:solidFill>
                      <a:schemeClr val="tx1"/>
                    </a:solidFill>
                    <a:effectLst/>
                    <a:latin typeface="Segoe WPC"/>
                  </a:rPr>
                  <a:t>count</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side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short </a:t>
                </a:r>
                <a:r>
                  <a:rPr lang="es-PE" sz="900" b="0" i="0" dirty="0" err="1">
                    <a:solidFill>
                      <a:schemeClr val="tx1"/>
                    </a:solidFill>
                    <a:effectLst/>
                    <a:latin typeface="Segoe WPC"/>
                  </a:rPr>
                  <a:t>calls</a:t>
                </a:r>
                <a:r>
                  <a:rPr lang="es-PE" sz="900" b="0" i="0" dirty="0">
                    <a:solidFill>
                      <a:schemeClr val="tx1"/>
                    </a:solidFill>
                    <a:effectLst/>
                    <a:latin typeface="Segoe WPC"/>
                  </a:rPr>
                  <a:t> and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puts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confuse open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trading </a:t>
                </a:r>
                <a:r>
                  <a:rPr lang="es-PE" sz="900" b="0" i="0" dirty="0" err="1">
                    <a:solidFill>
                      <a:schemeClr val="tx1"/>
                    </a:solidFill>
                    <a:effectLst/>
                    <a:latin typeface="Segoe WPC"/>
                  </a:rPr>
                  <a:t>volume</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9. </a:t>
                </a:r>
                <a:r>
                  <a:rPr lang="es-PE" sz="900" b="1" i="0" dirty="0" err="1">
                    <a:solidFill>
                      <a:schemeClr val="tx1"/>
                    </a:solidFill>
                    <a:effectLst/>
                    <a:latin typeface="Segoe WPC"/>
                  </a:rPr>
                  <a:t>Margin</a:t>
                </a:r>
                <a:r>
                  <a:rPr lang="es-PE" sz="900" b="1" i="0" dirty="0">
                    <a:solidFill>
                      <a:schemeClr val="tx1"/>
                    </a:solidFill>
                    <a:effectLst/>
                    <a:latin typeface="Segoe WPC"/>
                  </a:rPr>
                  <a:t> </a:t>
                </a:r>
                <a:r>
                  <a:rPr lang="es-PE" sz="900" b="1" i="0" dirty="0" err="1">
                    <a:solidFill>
                      <a:schemeClr val="tx1"/>
                    </a:solidFill>
                    <a:effectLst/>
                    <a:latin typeface="Segoe WPC"/>
                  </a:rPr>
                  <a:t>Requirements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buyers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pay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premium in full,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sellers</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post </a:t>
                </a:r>
                <a:r>
                  <a:rPr lang="es-PE" sz="900" b="0" i="0" dirty="0" err="1">
                    <a:solidFill>
                      <a:schemeClr val="tx1"/>
                    </a:solidFill>
                    <a:effectLst/>
                    <a:latin typeface="Segoe WPC"/>
                  </a:rPr>
                  <a:t>margin</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face</a:t>
                </a:r>
                <a:r>
                  <a:rPr lang="es-PE" sz="900" b="0" i="0" dirty="0">
                    <a:solidFill>
                      <a:schemeClr val="tx1"/>
                    </a:solidFill>
                    <a:effectLst/>
                    <a:latin typeface="Segoe WPC"/>
                  </a:rPr>
                  <a:t> future </a:t>
                </a:r>
                <a:r>
                  <a:rPr lang="es-PE" sz="900" b="0" i="0" dirty="0" err="1">
                    <a:solidFill>
                      <a:schemeClr val="tx1"/>
                    </a:solidFill>
                    <a:effectLst/>
                    <a:latin typeface="Segoe WPC"/>
                  </a:rPr>
                  <a:t>liabilities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has </a:t>
                </a:r>
                <a:r>
                  <a:rPr lang="es-PE" sz="900" b="0" i="0" dirty="0" err="1">
                    <a:solidFill>
                      <a:schemeClr val="tx1"/>
                    </a:solidFill>
                    <a:effectLst/>
                    <a:latin typeface="Segoe WPC"/>
                  </a:rPr>
                  <a:t>limited</a:t>
                </a:r>
                <a:r>
                  <a:rPr lang="es-PE" sz="900" b="0" i="0" dirty="0">
                    <a:solidFill>
                      <a:schemeClr val="tx1"/>
                    </a:solidFill>
                    <a:effectLst/>
                    <a:latin typeface="Segoe WPC"/>
                  </a:rPr>
                  <a:t> </a:t>
                </a:r>
                <a:r>
                  <a:rPr lang="es-PE" sz="900" b="0" i="0" dirty="0" err="1">
                    <a:solidFill>
                      <a:schemeClr val="tx1"/>
                    </a:solidFill>
                    <a:effectLst/>
                    <a:latin typeface="Segoe WPC"/>
                  </a:rPr>
                  <a:t>downside</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 short </a:t>
                </a:r>
                <a:r>
                  <a:rPr lang="es-PE" sz="900" b="0" i="0" dirty="0" err="1">
                    <a:solidFill>
                      <a:schemeClr val="tx1"/>
                    </a:solidFill>
                    <a:effectLst/>
                    <a:latin typeface="Segoe WPC"/>
                  </a:rPr>
                  <a:t>option</a:t>
                </a:r>
                <a:r>
                  <a:rPr lang="es-PE" sz="900" b="0" i="0" dirty="0">
                    <a:solidFill>
                      <a:schemeClr val="tx1"/>
                    </a:solidFill>
                    <a:effectLst/>
                    <a:latin typeface="Segoe WPC"/>
                  </a:rPr>
                  <a:t> can </a:t>
                </a:r>
                <a:r>
                  <a:rPr lang="es-PE" sz="900" b="0" i="0" dirty="0" err="1">
                    <a:solidFill>
                      <a:schemeClr val="tx1"/>
                    </a:solidFill>
                    <a:effectLst/>
                    <a:latin typeface="Segoe WPC"/>
                  </a:rPr>
                  <a:t>generate</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losses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covered</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requires</a:t>
                </a:r>
                <a:r>
                  <a:rPr lang="es-PE" sz="900" b="0" i="0" dirty="0">
                    <a:solidFill>
                      <a:schemeClr val="tx1"/>
                    </a:solidFill>
                    <a:effectLst/>
                    <a:latin typeface="Segoe WPC"/>
                  </a:rPr>
                  <a:t> no </a:t>
                </a:r>
                <a:r>
                  <a:rPr lang="es-PE" sz="900" b="0" i="0" dirty="0" err="1">
                    <a:solidFill>
                      <a:schemeClr val="tx1"/>
                    </a:solidFill>
                    <a:effectLst/>
                    <a:latin typeface="Segoe WPC"/>
                  </a:rPr>
                  <a:t>margin</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already</a:t>
                </a:r>
                <a:r>
                  <a:rPr lang="es-PE" sz="900" b="0" i="0" dirty="0">
                    <a:solidFill>
                      <a:schemeClr val="tx1"/>
                    </a:solidFill>
                    <a:effectLst/>
                    <a:latin typeface="Segoe WPC"/>
                  </a:rPr>
                  <a:t> </a:t>
                </a:r>
                <a:r>
                  <a:rPr lang="es-PE" sz="900" b="0" i="0" dirty="0" err="1">
                    <a:solidFill>
                      <a:schemeClr val="tx1"/>
                    </a:solidFill>
                    <a:effectLst/>
                    <a:latin typeface="Segoe WPC"/>
                  </a:rPr>
                  <a:t>owned</a:t>
                </a:r>
                <a:r>
                  <a:rPr lang="es-PE" sz="900" b="0" i="0" dirty="0">
                    <a:solidFill>
                      <a:schemeClr val="tx1"/>
                    </a:solidFill>
                    <a:effectLst/>
                    <a:latin typeface="Segoe WPC"/>
                  </a:rPr>
                  <a:t> and </a:t>
                </a:r>
                <a:r>
                  <a:rPr lang="es-PE" sz="900" b="0" i="0" dirty="0" err="1">
                    <a:solidFill>
                      <a:schemeClr val="tx1"/>
                    </a:solidFill>
                    <a:effectLst/>
                    <a:latin typeface="Segoe WPC"/>
                  </a:rPr>
                  <a:t>available</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delivery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Short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margin</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Premium</m:t>
                    </m:r>
                    <m:r>
                      <a:rPr lang="es-PE" sz="900" b="0" i="0">
                        <a:solidFill>
                          <a:schemeClr val="tx1"/>
                        </a:solidFill>
                        <a:latin typeface="Cambria Math" panose="02040503050406030204" pitchFamily="18" charset="0"/>
                      </a:rPr>
                      <m:t>+</m:t>
                    </m:r>
                    <m:r>
                      <m:rPr>
                        <m:sty m:val="p"/>
                      </m:rPr>
                      <a:rPr lang="es-PE" sz="900" b="0" i="0">
                        <a:solidFill>
                          <a:schemeClr val="tx1"/>
                        </a:solidFill>
                        <a:latin typeface="Cambria Math" panose="02040503050406030204" pitchFamily="18" charset="0"/>
                      </a:rPr>
                      <m:t>max</m:t>
                    </m:r>
                    <m:r>
                      <a:rPr lang="es-PE" sz="900" b="0" i="0">
                        <a:solidFill>
                          <a:schemeClr val="tx1"/>
                        </a:solidFill>
                        <a:latin typeface="Cambria Math" panose="02040503050406030204" pitchFamily="18" charset="0"/>
                      </a:rPr>
                      <m:t>⁡</m:t>
                    </m:r>
                    <m:d>
                      <m:dPr>
                        <m:sepChr m:val=","/>
                        <m:ctrlPr>
                          <a:rPr lang="ar-AE" sz="900" b="0" i="1">
                            <a:solidFill>
                              <a:schemeClr val="tx1"/>
                            </a:solidFill>
                            <a:latin typeface="Cambria Math" panose="02040503050406030204" pitchFamily="18" charset="0"/>
                          </a:rPr>
                        </m:ctrlPr>
                      </m:dPr>
                      <m:e>
                        <m:r>
                          <a:rPr lang="ar-AE" sz="900" b="0" i="0">
                            <a:solidFill>
                              <a:schemeClr val="tx1"/>
                            </a:solidFill>
                            <a:latin typeface="Cambria Math" panose="02040503050406030204" pitchFamily="18" charset="0"/>
                          </a:rPr>
                          <m:t>0</m:t>
                        </m:r>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20</m:t>
                        </m:r>
                      </m:e>
                      <m:e>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𝑆</m:t>
                            </m:r>
                          </m:e>
                          <m:sub>
                            <m:r>
                              <a:rPr lang="ar-AE" sz="900" b="0" i="0">
                                <a:solidFill>
                                  <a:schemeClr val="tx1"/>
                                </a:solidFill>
                                <a:latin typeface="Cambria Math" panose="02040503050406030204" pitchFamily="18" charset="0"/>
                              </a:rPr>
                              <m:t>0</m:t>
                            </m:r>
                          </m:sub>
                        </m:sSub>
                        <m:r>
                          <a:rPr lang="ar-A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OTM</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amount</m:t>
                        </m:r>
                        <m:r>
                          <a:rPr lang="es-PE" sz="900" b="0" i="0">
                            <a:solidFill>
                              <a:schemeClr val="tx1"/>
                            </a:solidFill>
                            <a:latin typeface="Cambria Math" panose="02040503050406030204" pitchFamily="18" charset="0"/>
                          </a:rPr>
                          <m:t>0</m:t>
                        </m:r>
                        <m:r>
                          <a:rPr lang="es-PE" sz="900" b="0" i="0">
                            <a:solidFill>
                              <a:schemeClr val="tx1"/>
                            </a:solidFill>
                            <a:latin typeface="Cambria Math" panose="02040503050406030204" pitchFamily="18" charset="0"/>
                          </a:rPr>
                          <m:t>.</m:t>
                        </m:r>
                        <m:r>
                          <a:rPr lang="es-PE" sz="900" b="0" i="0">
                            <a:solidFill>
                              <a:schemeClr val="tx1"/>
                            </a:solidFill>
                            <a:latin typeface="Cambria Math" panose="02040503050406030204" pitchFamily="18" charset="0"/>
                          </a:rPr>
                          <m:t>10</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𝑆</m:t>
                            </m:r>
                          </m:e>
                          <m:sub>
                            <m:r>
                              <a:rPr lang="ar-AE" sz="900" b="0" i="0">
                                <a:solidFill>
                                  <a:schemeClr val="tx1"/>
                                </a:solidFill>
                                <a:latin typeface="Cambria Math" panose="02040503050406030204" pitchFamily="18" charset="0"/>
                              </a:rPr>
                              <m:t>0</m:t>
                            </m:r>
                          </m:sub>
                        </m:sSub>
                      </m:e>
                    </m:d>
                  </m:oMath>
                </a14:m>
                <a:r>
                  <a:rPr lang="ar-AE" sz="900" b="0" i="0" dirty="0">
                    <a:solidFill>
                      <a:schemeClr val="tx1"/>
                    </a:solidFill>
                    <a:effectLst/>
                    <a:latin typeface="Segoe WPC"/>
                  </a:rPr>
                  <a:t>; </a:t>
                </a:r>
                <a:r>
                  <a:rPr lang="es-PE" sz="900" b="0" i="0" dirty="0">
                    <a:solidFill>
                      <a:schemeClr val="tx1"/>
                    </a:solidFill>
                    <a:effectLst/>
                    <a:latin typeface="Segoe WPC"/>
                  </a:rPr>
                  <a:t>Short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margin</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Premium</m:t>
                    </m:r>
                    <m:r>
                      <a:rPr lang="es-PE" sz="900" b="0" i="0">
                        <a:solidFill>
                          <a:schemeClr val="tx1"/>
                        </a:solidFill>
                        <a:latin typeface="Cambria Math" panose="02040503050406030204" pitchFamily="18" charset="0"/>
                      </a:rPr>
                      <m:t>+</m:t>
                    </m:r>
                    <m:r>
                      <m:rPr>
                        <m:sty m:val="p"/>
                      </m:rPr>
                      <a:rPr lang="es-PE" sz="900" b="0" i="0">
                        <a:solidFill>
                          <a:schemeClr val="tx1"/>
                        </a:solidFill>
                        <a:latin typeface="Cambria Math" panose="02040503050406030204" pitchFamily="18" charset="0"/>
                      </a:rPr>
                      <m:t>max</m:t>
                    </m:r>
                    <m:r>
                      <a:rPr lang="es-PE" sz="900" b="0" i="0">
                        <a:solidFill>
                          <a:schemeClr val="tx1"/>
                        </a:solidFill>
                        <a:latin typeface="Cambria Math" panose="02040503050406030204" pitchFamily="18" charset="0"/>
                      </a:rPr>
                      <m:t>⁡</m:t>
                    </m:r>
                    <m:d>
                      <m:dPr>
                        <m:sepChr m:val=","/>
                        <m:ctrlPr>
                          <a:rPr lang="ar-AE" sz="900" b="0" i="1">
                            <a:solidFill>
                              <a:schemeClr val="tx1"/>
                            </a:solidFill>
                            <a:latin typeface="Cambria Math" panose="02040503050406030204" pitchFamily="18" charset="0"/>
                          </a:rPr>
                        </m:ctrlPr>
                      </m:dPr>
                      <m:e>
                        <m:r>
                          <a:rPr lang="ar-AE" sz="900" b="0" i="0">
                            <a:solidFill>
                              <a:schemeClr val="tx1"/>
                            </a:solidFill>
                            <a:latin typeface="Cambria Math" panose="02040503050406030204" pitchFamily="18" charset="0"/>
                          </a:rPr>
                          <m:t>0</m:t>
                        </m:r>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20</m:t>
                        </m:r>
                      </m:e>
                      <m:e>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𝑆</m:t>
                            </m:r>
                          </m:e>
                          <m:sub>
                            <m:r>
                              <a:rPr lang="ar-AE" sz="900" b="0" i="0">
                                <a:solidFill>
                                  <a:schemeClr val="tx1"/>
                                </a:solidFill>
                                <a:latin typeface="Cambria Math" panose="02040503050406030204" pitchFamily="18" charset="0"/>
                              </a:rPr>
                              <m:t>0</m:t>
                            </m:r>
                          </m:sub>
                        </m:sSub>
                        <m:r>
                          <a:rPr lang="ar-A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OTM</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amount</m:t>
                        </m:r>
                        <m:r>
                          <a:rPr lang="es-PE" sz="900" b="0" i="0">
                            <a:solidFill>
                              <a:schemeClr val="tx1"/>
                            </a:solidFill>
                            <a:latin typeface="Cambria Math" panose="02040503050406030204" pitchFamily="18" charset="0"/>
                          </a:rPr>
                          <m:t>0</m:t>
                        </m:r>
                        <m:r>
                          <a:rPr lang="es-PE" sz="900" b="0" i="0">
                            <a:solidFill>
                              <a:schemeClr val="tx1"/>
                            </a:solidFill>
                            <a:latin typeface="Cambria Math" panose="02040503050406030204" pitchFamily="18" charset="0"/>
                          </a:rPr>
                          <m:t>.</m:t>
                        </m:r>
                        <m:r>
                          <a:rPr lang="es-PE" sz="900" b="0" i="0">
                            <a:solidFill>
                              <a:schemeClr val="tx1"/>
                            </a:solidFill>
                            <a:latin typeface="Cambria Math" panose="02040503050406030204" pitchFamily="18" charset="0"/>
                          </a:rPr>
                          <m:t>10</m:t>
                        </m:r>
                        <m:r>
                          <a:rPr lang="es-PE" sz="900" b="0" i="1">
                            <a:solidFill>
                              <a:schemeClr val="tx1"/>
                            </a:solidFill>
                            <a:latin typeface="Cambria Math" panose="02040503050406030204" pitchFamily="18" charset="0"/>
                          </a:rPr>
                          <m:t>𝐾</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Margin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recalculated</a:t>
                </a:r>
                <a:r>
                  <a:rPr lang="es-PE" sz="900" b="0" i="0" dirty="0">
                    <a:solidFill>
                      <a:schemeClr val="tx1"/>
                    </a:solidFill>
                    <a:effectLst/>
                    <a:latin typeface="Segoe WPC"/>
                  </a:rPr>
                  <a:t> </a:t>
                </a:r>
                <a:r>
                  <a:rPr lang="es-PE" sz="900" b="0" i="0" dirty="0" err="1">
                    <a:solidFill>
                      <a:schemeClr val="tx1"/>
                    </a:solidFill>
                    <a:effectLst/>
                    <a:latin typeface="Segoe WPC"/>
                  </a:rPr>
                  <a:t>daily</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t>
                </a:r>
                <a:r>
                  <a:rPr lang="es-PE" sz="900" b="0" i="0" dirty="0" err="1">
                    <a:solidFill>
                      <a:schemeClr val="tx1"/>
                    </a:solidFill>
                    <a:effectLst/>
                    <a:latin typeface="Segoe WPC"/>
                  </a:rPr>
                  <a:t>current</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20</m:t>
                    </m:r>
                    <m:r>
                      <a:rPr lang="es-PE" sz="900" i="0">
                        <a:solidFill>
                          <a:schemeClr val="tx1"/>
                        </a:solidFill>
                        <a:latin typeface="Cambria Math" panose="02040503050406030204" pitchFamily="18" charset="0"/>
                      </a:rPr>
                      <m:t>%</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typically</a:t>
                </a:r>
                <a:r>
                  <a:rPr lang="es-PE" sz="900" b="0" i="0" dirty="0">
                    <a:solidFill>
                      <a:schemeClr val="tx1"/>
                    </a:solidFill>
                    <a:effectLst/>
                    <a:latin typeface="Segoe WPC"/>
                  </a:rPr>
                  <a:t> </a:t>
                </a:r>
                <a:r>
                  <a:rPr lang="es-PE" sz="900" b="0" i="0" dirty="0" err="1">
                    <a:solidFill>
                      <a:schemeClr val="tx1"/>
                    </a:solidFill>
                    <a:effectLst/>
                    <a:latin typeface="Segoe WPC"/>
                  </a:rPr>
                  <a:t>replaced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15</m:t>
                    </m:r>
                    <m:r>
                      <a:rPr lang="es-PE" sz="900" i="0">
                        <a:solidFill>
                          <a:schemeClr val="tx1"/>
                        </a:solidFill>
                        <a:latin typeface="Cambria Math" panose="02040503050406030204" pitchFamily="18" charset="0"/>
                      </a:rPr>
                      <m:t>%</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Fully</a:t>
                </a:r>
                <a:r>
                  <a:rPr lang="es-PE" sz="900" b="0" i="0" dirty="0">
                    <a:solidFill>
                      <a:schemeClr val="tx1"/>
                    </a:solidFill>
                    <a:effectLst/>
                    <a:latin typeface="Segoe WPC"/>
                  </a:rPr>
                  <a:t> </a:t>
                </a:r>
                <a:r>
                  <a:rPr lang="es-PE" sz="900" b="0" i="0" dirty="0" err="1">
                    <a:solidFill>
                      <a:schemeClr val="tx1"/>
                    </a:solidFill>
                    <a:effectLst/>
                    <a:latin typeface="Segoe WPC"/>
                  </a:rPr>
                  <a:t>paid</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generally</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require</a:t>
                </a:r>
                <a:r>
                  <a:rPr lang="es-PE" sz="900" b="0" i="0" dirty="0">
                    <a:solidFill>
                      <a:schemeClr val="tx1"/>
                    </a:solidFill>
                    <a:effectLst/>
                    <a:latin typeface="Segoe WPC"/>
                  </a:rPr>
                  <a:t> </a:t>
                </a:r>
                <a:r>
                  <a:rPr lang="es-PE" sz="900" b="0" i="0" dirty="0" err="1">
                    <a:solidFill>
                      <a:schemeClr val="tx1"/>
                    </a:solidFill>
                    <a:effectLst/>
                    <a:latin typeface="Segoe WPC"/>
                  </a:rPr>
                  <a:t>margin</a:t>
                </a:r>
                <a:r>
                  <a:rPr lang="es-PE" sz="900" b="0" i="0" dirty="0">
                    <a:solidFill>
                      <a:schemeClr val="tx1"/>
                    </a:solidFill>
                    <a:effectLst/>
                    <a:latin typeface="Segoe WPC"/>
                  </a:rPr>
                  <a:t>; short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do.</a:t>
                </a:r>
              </a:p>
              <a:p>
                <a:pPr algn="l">
                  <a:spcAft>
                    <a:spcPts val="600"/>
                  </a:spcAft>
                  <a:buNone/>
                </a:pPr>
                <a:r>
                  <a:rPr lang="es-PE" sz="900" b="1" i="0" dirty="0">
                    <a:solidFill>
                      <a:schemeClr val="tx1"/>
                    </a:solidFill>
                    <a:effectLst/>
                    <a:latin typeface="Segoe WPC"/>
                  </a:rPr>
                  <a:t>10. OTC </a:t>
                </a:r>
                <a:r>
                  <a:rPr lang="es-PE" sz="900" b="1" i="0" dirty="0" err="1">
                    <a:solidFill>
                      <a:schemeClr val="tx1"/>
                    </a:solidFill>
                    <a:effectLst/>
                    <a:latin typeface="Segoe WPC"/>
                  </a:rPr>
                  <a:t>Options</a:t>
                </a:r>
                <a:r>
                  <a:rPr lang="es-PE" sz="900" b="1" i="0" dirty="0">
                    <a:solidFill>
                      <a:schemeClr val="tx1"/>
                    </a:solidFill>
                    <a:effectLst/>
                    <a:latin typeface="Segoe WPC"/>
                  </a:rPr>
                  <a:t>, Warrants, Convertibles, and </a:t>
                </a:r>
                <a:r>
                  <a:rPr lang="es-PE" sz="900" b="1" i="0" dirty="0" err="1">
                    <a:solidFill>
                      <a:schemeClr val="tx1"/>
                    </a:solidFill>
                    <a:effectLst/>
                    <a:latin typeface="Segoe WPC"/>
                  </a:rPr>
                  <a:t>Employee</a:t>
                </a:r>
                <a:r>
                  <a:rPr lang="es-PE" sz="900" b="1" i="0" dirty="0">
                    <a:solidFill>
                      <a:schemeClr val="tx1"/>
                    </a:solidFill>
                    <a:effectLst/>
                    <a:latin typeface="Segoe WPC"/>
                  </a:rPr>
                  <a:t> Stock </a:t>
                </a:r>
                <a:r>
                  <a:rPr lang="es-PE" sz="900" b="1" i="0" dirty="0" err="1">
                    <a:solidFill>
                      <a:schemeClr val="tx1"/>
                    </a:solidFill>
                    <a:effectLst/>
                    <a:latin typeface="Segoe WPC"/>
                  </a:rPr>
                  <a:t>Options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OTC </a:t>
                </a:r>
                <a:r>
                  <a:rPr lang="es-PE" sz="900" b="0" i="0" dirty="0" err="1">
                    <a:solidFill>
                      <a:schemeClr val="tx1"/>
                    </a:solidFill>
                    <a:effectLst/>
                    <a:latin typeface="Segoe WPC"/>
                  </a:rPr>
                  <a:t>options</a:t>
                </a:r>
                <a:r>
                  <a:rPr lang="es-PE" sz="900" b="0" i="0" dirty="0">
                    <a:solidFill>
                      <a:schemeClr val="tx1"/>
                    </a:solidFill>
                    <a:effectLst/>
                    <a:latin typeface="Segoe WPC"/>
                  </a:rPr>
                  <a:t> are </a:t>
                </a:r>
                <a:r>
                  <a:rPr lang="es-PE" sz="900" b="0" i="0" dirty="0" err="1">
                    <a:solidFill>
                      <a:schemeClr val="tx1"/>
                    </a:solidFill>
                    <a:effectLst/>
                    <a:latin typeface="Segoe WPC"/>
                  </a:rPr>
                  <a:t>customized</a:t>
                </a:r>
                <a:r>
                  <a:rPr lang="es-PE" sz="900" b="0" i="0" dirty="0">
                    <a:solidFill>
                      <a:schemeClr val="tx1"/>
                    </a:solidFill>
                    <a:effectLst/>
                    <a:latin typeface="Segoe WPC"/>
                  </a:rPr>
                  <a:t> </a:t>
                </a:r>
                <a:r>
                  <a:rPr lang="es-PE" sz="900" b="0" i="0" dirty="0" err="1">
                    <a:solidFill>
                      <a:schemeClr val="tx1"/>
                    </a:solidFill>
                    <a:effectLst/>
                    <a:latin typeface="Segoe WPC"/>
                  </a:rPr>
                  <a:t>contracts</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warrants, convertibles, and </a:t>
                </a:r>
                <a:r>
                  <a:rPr lang="es-PE" sz="900" b="0" i="0" dirty="0" err="1">
                    <a:solidFill>
                      <a:schemeClr val="tx1"/>
                    </a:solidFill>
                    <a:effectLst/>
                    <a:latin typeface="Segoe WPC"/>
                  </a:rPr>
                  <a:t>employee</a:t>
                </a:r>
                <a:r>
                  <a:rPr lang="es-PE" sz="900" b="0" i="0" dirty="0">
                    <a:solidFill>
                      <a:schemeClr val="tx1"/>
                    </a:solidFill>
                    <a:effectLst/>
                    <a:latin typeface="Segoe WPC"/>
                  </a:rPr>
                  <a:t> stock </a:t>
                </a:r>
                <a:r>
                  <a:rPr lang="es-PE" sz="900" b="0" i="0" dirty="0" err="1">
                    <a:solidFill>
                      <a:schemeClr val="tx1"/>
                    </a:solidFill>
                    <a:effectLst/>
                    <a:latin typeface="Segoe WPC"/>
                  </a:rPr>
                  <a:t>options</a:t>
                </a:r>
                <a:r>
                  <a:rPr lang="es-PE" sz="900" b="0" i="0" dirty="0">
                    <a:solidFill>
                      <a:schemeClr val="tx1"/>
                    </a:solidFill>
                    <a:effectLst/>
                    <a:latin typeface="Segoe WPC"/>
                  </a:rPr>
                  <a:t> are </a:t>
                </a:r>
                <a:r>
                  <a:rPr lang="es-PE" sz="900" b="0" i="0" dirty="0" err="1">
                    <a:solidFill>
                      <a:schemeClr val="tx1"/>
                    </a:solidFill>
                    <a:effectLst/>
                    <a:latin typeface="Segoe WPC"/>
                  </a:rPr>
                  <a:t>issuer-created</a:t>
                </a:r>
                <a:r>
                  <a:rPr lang="es-PE" sz="900" b="0" i="0" dirty="0">
                    <a:solidFill>
                      <a:schemeClr val="tx1"/>
                    </a:solidFill>
                    <a:effectLst/>
                    <a:latin typeface="Segoe WPC"/>
                  </a:rPr>
                  <a:t> </a:t>
                </a:r>
                <a:r>
                  <a:rPr lang="es-PE" sz="900" b="0" i="0" dirty="0" err="1">
                    <a:solidFill>
                      <a:schemeClr val="tx1"/>
                    </a:solidFill>
                    <a:effectLst/>
                    <a:latin typeface="Segoe WPC"/>
                  </a:rPr>
                  <a:t>option-like</a:t>
                </a:r>
                <a:r>
                  <a:rPr lang="es-PE" sz="900" b="0" i="0" dirty="0">
                    <a:solidFill>
                      <a:schemeClr val="tx1"/>
                    </a:solidFill>
                    <a:effectLst/>
                    <a:latin typeface="Segoe WPC"/>
                  </a:rPr>
                  <a:t> </a:t>
                </a:r>
                <a:r>
                  <a:rPr lang="es-PE" sz="900" b="0" i="0" dirty="0" err="1">
                    <a:solidFill>
                      <a:schemeClr val="tx1"/>
                    </a:solidFill>
                    <a:effectLst/>
                    <a:latin typeface="Segoe WPC"/>
                  </a:rPr>
                  <a:t>instruments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OTC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allow</a:t>
                </a:r>
                <a:r>
                  <a:rPr lang="es-PE" sz="900" b="0" i="0" dirty="0">
                    <a:solidFill>
                      <a:schemeClr val="tx1"/>
                    </a:solidFill>
                    <a:effectLst/>
                    <a:latin typeface="Segoe WPC"/>
                  </a:rPr>
                  <a:t> </a:t>
                </a:r>
                <a:r>
                  <a:rPr lang="es-PE" sz="900" b="0" i="0" dirty="0" err="1">
                    <a:solidFill>
                      <a:schemeClr val="tx1"/>
                    </a:solidFill>
                    <a:effectLst/>
                    <a:latin typeface="Segoe WPC"/>
                  </a:rPr>
                  <a:t>tailored</a:t>
                </a:r>
                <a:r>
                  <a:rPr lang="es-PE" sz="900" b="0" i="0" dirty="0">
                    <a:solidFill>
                      <a:schemeClr val="tx1"/>
                    </a:solidFill>
                    <a:effectLst/>
                    <a:latin typeface="Segoe WPC"/>
                  </a:rPr>
                  <a:t> strike, </a:t>
                </a:r>
                <a:r>
                  <a:rPr lang="es-PE" sz="900" b="0" i="0" dirty="0" err="1">
                    <a:solidFill>
                      <a:schemeClr val="tx1"/>
                    </a:solidFill>
                    <a:effectLst/>
                    <a:latin typeface="Segoe WPC"/>
                  </a:rPr>
                  <a:t>maturity</a:t>
                </a:r>
                <a:r>
                  <a:rPr lang="es-PE" sz="900" b="0" i="0" dirty="0">
                    <a:solidFill>
                      <a:schemeClr val="tx1"/>
                    </a:solidFill>
                    <a:effectLst/>
                    <a:latin typeface="Segoe WPC"/>
                  </a:rPr>
                  <a:t>, and </a:t>
                </a:r>
                <a:r>
                  <a:rPr lang="es-PE" sz="900" b="0" i="0" dirty="0" err="1">
                    <a:solidFill>
                      <a:schemeClr val="tx1"/>
                    </a:solidFill>
                    <a:effectLst/>
                    <a:latin typeface="Segoe WPC"/>
                  </a:rPr>
                  <a:t>exercise</a:t>
                </a:r>
                <a:r>
                  <a:rPr lang="es-PE" sz="900" b="0" i="0" dirty="0">
                    <a:solidFill>
                      <a:schemeClr val="tx1"/>
                    </a:solidFill>
                    <a:effectLst/>
                    <a:latin typeface="Segoe WPC"/>
                  </a:rPr>
                  <a:t> rules; warrants and convertibles </a:t>
                </a:r>
                <a:r>
                  <a:rPr lang="es-PE" sz="900" b="0" i="0" dirty="0" err="1">
                    <a:solidFill>
                      <a:schemeClr val="tx1"/>
                    </a:solidFill>
                    <a:effectLst/>
                    <a:latin typeface="Segoe WPC"/>
                  </a:rPr>
                  <a:t>embed</a:t>
                </a:r>
                <a:r>
                  <a:rPr lang="es-PE" sz="900" b="0" i="0" dirty="0">
                    <a:solidFill>
                      <a:schemeClr val="tx1"/>
                    </a:solidFill>
                    <a:effectLst/>
                    <a:latin typeface="Segoe WPC"/>
                  </a:rPr>
                  <a:t> </a:t>
                </a:r>
                <a:r>
                  <a:rPr lang="es-PE" sz="900" b="0" i="0" dirty="0" err="1">
                    <a:solidFill>
                      <a:schemeClr val="tx1"/>
                    </a:solidFill>
                    <a:effectLst/>
                    <a:latin typeface="Segoe WPC"/>
                  </a:rPr>
                  <a:t>equity</a:t>
                </a:r>
                <a:r>
                  <a:rPr lang="es-PE" sz="900" b="0" i="0" dirty="0">
                    <a:solidFill>
                      <a:schemeClr val="tx1"/>
                    </a:solidFill>
                    <a:effectLst/>
                    <a:latin typeface="Segoe WPC"/>
                  </a:rPr>
                  <a:t> </a:t>
                </a:r>
                <a:r>
                  <a:rPr lang="es-PE" sz="900" b="0" i="0" dirty="0" err="1">
                    <a:solidFill>
                      <a:schemeClr val="tx1"/>
                    </a:solidFill>
                    <a:effectLst/>
                    <a:latin typeface="Segoe WPC"/>
                  </a:rPr>
                  <a:t>upside</a:t>
                </a:r>
                <a:r>
                  <a:rPr lang="es-PE" sz="900" b="0" i="0" dirty="0">
                    <a:solidFill>
                      <a:schemeClr val="tx1"/>
                    </a:solidFill>
                    <a:effectLst/>
                    <a:latin typeface="Segoe WPC"/>
                  </a:rPr>
                  <a:t>; </a:t>
                </a:r>
                <a:r>
                  <a:rPr lang="es-PE" sz="900" b="0" i="0" dirty="0" err="1">
                    <a:solidFill>
                      <a:schemeClr val="tx1"/>
                    </a:solidFill>
                    <a:effectLst/>
                    <a:latin typeface="Segoe WPC"/>
                  </a:rPr>
                  <a:t>employee</a:t>
                </a:r>
                <a:r>
                  <a:rPr lang="es-PE" sz="900" b="0" i="0" dirty="0">
                    <a:solidFill>
                      <a:schemeClr val="tx1"/>
                    </a:solidFill>
                    <a:effectLst/>
                    <a:latin typeface="Segoe WPC"/>
                  </a:rPr>
                  <a:t> stock </a:t>
                </a:r>
                <a:r>
                  <a:rPr lang="es-PE" sz="900" b="0" i="0" dirty="0" err="1">
                    <a:solidFill>
                      <a:schemeClr val="tx1"/>
                    </a:solidFill>
                    <a:effectLst/>
                    <a:latin typeface="Segoe WPC"/>
                  </a:rPr>
                  <a:t>options</a:t>
                </a:r>
                <a:r>
                  <a:rPr lang="es-PE" sz="900" b="0" i="0" dirty="0">
                    <a:solidFill>
                      <a:schemeClr val="tx1"/>
                    </a:solidFill>
                    <a:effectLst/>
                    <a:latin typeface="Segoe WPC"/>
                  </a:rPr>
                  <a:t> are </a:t>
                </a:r>
                <a:r>
                  <a:rPr lang="es-PE" sz="900" b="0" i="0" dirty="0" err="1">
                    <a:solidFill>
                      <a:schemeClr val="tx1"/>
                    </a:solidFill>
                    <a:effectLst/>
                    <a:latin typeface="Segoe WPC"/>
                  </a:rPr>
                  <a:t>compensation</a:t>
                </a:r>
                <a:r>
                  <a:rPr lang="es-PE" sz="900" b="0" i="0" dirty="0">
                    <a:solidFill>
                      <a:schemeClr val="tx1"/>
                    </a:solidFill>
                    <a:effectLst/>
                    <a:latin typeface="Segoe WPC"/>
                  </a:rPr>
                  <a:t> </a:t>
                </a:r>
                <a:r>
                  <a:rPr lang="es-PE" sz="900" b="0" i="0" dirty="0" err="1">
                    <a:solidFill>
                      <a:schemeClr val="tx1"/>
                    </a:solidFill>
                    <a:effectLst/>
                    <a:latin typeface="Segoe WPC"/>
                  </a:rPr>
                  <a:t>tools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restrictions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Warrants and convertibles can lead </a:t>
                </a:r>
                <a:r>
                  <a:rPr lang="es-PE" sz="900" b="0" i="0" dirty="0" err="1">
                    <a:solidFill>
                      <a:schemeClr val="tx1"/>
                    </a:solidFill>
                    <a:effectLst/>
                    <a:latin typeface="Segoe WPC"/>
                  </a:rPr>
                  <a:t>to</a:t>
                </a:r>
                <a:r>
                  <a:rPr lang="es-PE" sz="900" b="0" i="0" dirty="0">
                    <a:solidFill>
                      <a:schemeClr val="tx1"/>
                    </a:solidFill>
                    <a:effectLst/>
                    <a:latin typeface="Segoe WPC"/>
                  </a:rPr>
                  <a:t> new share </a:t>
                </a:r>
                <a:r>
                  <a:rPr lang="es-PE" sz="900" b="0" i="0" dirty="0" err="1">
                    <a:solidFill>
                      <a:schemeClr val="tx1"/>
                    </a:solidFill>
                    <a:effectLst/>
                    <a:latin typeface="Segoe WPC"/>
                  </a:rPr>
                  <a:t>issuance</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employee</a:t>
                </a:r>
                <a:r>
                  <a:rPr lang="es-PE" sz="900" b="0" i="0" dirty="0">
                    <a:solidFill>
                      <a:schemeClr val="tx1"/>
                    </a:solidFill>
                    <a:effectLst/>
                    <a:latin typeface="Segoe WPC"/>
                  </a:rPr>
                  <a:t> stock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cannot</a:t>
                </a:r>
                <a:r>
                  <a:rPr lang="es-PE" sz="900" b="0" i="0" dirty="0">
                    <a:solidFill>
                      <a:schemeClr val="tx1"/>
                    </a:solidFill>
                    <a:effectLst/>
                    <a:latin typeface="Segoe WPC"/>
                  </a:rPr>
                  <a:t> be </a:t>
                </a:r>
                <a:r>
                  <a:rPr lang="es-PE" sz="900" b="0" i="0" dirty="0" err="1">
                    <a:solidFill>
                      <a:schemeClr val="tx1"/>
                    </a:solidFill>
                    <a:effectLst/>
                    <a:latin typeface="Segoe WPC"/>
                  </a:rPr>
                  <a:t>sold</a:t>
                </a:r>
                <a:r>
                  <a:rPr lang="es-PE" sz="900" b="0" i="0" dirty="0">
                    <a:solidFill>
                      <a:schemeClr val="tx1"/>
                    </a:solidFill>
                    <a:effectLst/>
                    <a:latin typeface="Segoe WPC"/>
                  </a:rPr>
                  <a:t> and </a:t>
                </a:r>
                <a:r>
                  <a:rPr lang="es-PE" sz="900" b="0" i="0" dirty="0" err="1">
                    <a:solidFill>
                      <a:schemeClr val="tx1"/>
                    </a:solidFill>
                    <a:effectLst/>
                    <a:latin typeface="Segoe WPC"/>
                  </a:rPr>
                  <a:t>may</a:t>
                </a:r>
                <a:r>
                  <a:rPr lang="es-PE" sz="900" b="0" i="0" dirty="0">
                    <a:solidFill>
                      <a:schemeClr val="tx1"/>
                    </a:solidFill>
                    <a:effectLst/>
                    <a:latin typeface="Segoe WPC"/>
                  </a:rPr>
                  <a:t> be </a:t>
                </a:r>
                <a:r>
                  <a:rPr lang="es-PE" sz="900" b="0" i="0" dirty="0" err="1">
                    <a:solidFill>
                      <a:schemeClr val="tx1"/>
                    </a:solidFill>
                    <a:effectLst/>
                    <a:latin typeface="Segoe WPC"/>
                  </a:rPr>
                  <a:t>forfeited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Conversion</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m:rPr>
                            <m:nor/>
                          </m:rPr>
                          <a:rPr lang="es-PE" sz="900" b="0" i="1">
                            <a:solidFill>
                              <a:schemeClr val="tx1"/>
                            </a:solidFill>
                            <a:latin typeface="Cambria Math" panose="02040503050406030204" pitchFamily="18" charset="0"/>
                          </a:rPr>
                          <m:t>Bond</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Par</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Value</m:t>
                        </m:r>
                      </m:num>
                      <m:den>
                        <m:r>
                          <m:rPr>
                            <m:nor/>
                          </m:rPr>
                          <a:rPr lang="es-PE" sz="900" b="0" i="1">
                            <a:solidFill>
                              <a:schemeClr val="tx1"/>
                            </a:solidFill>
                            <a:latin typeface="Cambria Math" panose="02040503050406030204" pitchFamily="18" charset="0"/>
                          </a:rPr>
                          <m:t>Conversion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Ratio</m:t>
                        </m:r>
                      </m:den>
                    </m:f>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Employee</a:t>
                </a:r>
                <a:r>
                  <a:rPr lang="es-PE" sz="900" b="0" i="0" dirty="0">
                    <a:solidFill>
                      <a:schemeClr val="tx1"/>
                    </a:solidFill>
                    <a:effectLst/>
                    <a:latin typeface="Segoe WPC"/>
                  </a:rPr>
                  <a:t> stock </a:t>
                </a:r>
                <a:r>
                  <a:rPr lang="es-PE" sz="900" b="0" i="0" dirty="0" err="1">
                    <a:solidFill>
                      <a:schemeClr val="tx1"/>
                    </a:solidFill>
                    <a:effectLst/>
                    <a:latin typeface="Segoe WPC"/>
                  </a:rPr>
                  <a:t>options</a:t>
                </a:r>
                <a:r>
                  <a:rPr lang="es-PE" sz="900" b="0" i="0" dirty="0">
                    <a:solidFill>
                      <a:schemeClr val="tx1"/>
                    </a:solidFill>
                    <a:effectLst/>
                    <a:latin typeface="Segoe WPC"/>
                  </a:rPr>
                  <a:t> are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exercised</a:t>
                </a:r>
                <a:r>
                  <a:rPr lang="es-PE" sz="900" b="0" i="0" dirty="0">
                    <a:solidFill>
                      <a:schemeClr val="tx1"/>
                    </a:solidFill>
                    <a:effectLst/>
                    <a:latin typeface="Segoe WPC"/>
                  </a:rPr>
                  <a:t> </a:t>
                </a:r>
                <a:r>
                  <a:rPr lang="es-PE" sz="900" b="0" i="0" dirty="0" err="1">
                    <a:solidFill>
                      <a:schemeClr val="tx1"/>
                    </a:solidFill>
                    <a:effectLst/>
                    <a:latin typeface="Segoe WPC"/>
                  </a:rPr>
                  <a:t>earlier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exchange-traded</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are non-</a:t>
                </a:r>
                <a:r>
                  <a:rPr lang="es-PE" sz="900" b="0" i="0" dirty="0" err="1">
                    <a:solidFill>
                      <a:schemeClr val="tx1"/>
                    </a:solidFill>
                    <a:effectLst/>
                    <a:latin typeface="Segoe WPC"/>
                  </a:rPr>
                  <a:t>transferable</a:t>
                </a:r>
                <a:r>
                  <a:rPr lang="es-PE" sz="900" b="0" i="0" dirty="0">
                    <a:solidFill>
                      <a:schemeClr val="tx1"/>
                    </a:solidFill>
                    <a:effectLst/>
                    <a:latin typeface="Segoe WPC"/>
                  </a:rPr>
                  <a:t> and </a:t>
                </a:r>
                <a:r>
                  <a:rPr lang="es-PE" sz="900" b="0" i="0" dirty="0" err="1">
                    <a:solidFill>
                      <a:schemeClr val="tx1"/>
                    </a:solidFill>
                    <a:effectLst/>
                    <a:latin typeface="Segoe WPC"/>
                  </a:rPr>
                  <a:t>subject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vesting</a:t>
                </a:r>
                <a:r>
                  <a:rPr lang="es-PE" sz="900" b="0" i="0" dirty="0">
                    <a:solidFill>
                      <a:schemeClr val="tx1"/>
                    </a:solidFill>
                    <a:effectLst/>
                    <a:latin typeface="Segoe WPC"/>
                  </a:rPr>
                  <a:t> and </a:t>
                </a:r>
                <a:r>
                  <a:rPr lang="es-PE" sz="900" b="0" i="0" dirty="0" err="1">
                    <a:solidFill>
                      <a:schemeClr val="tx1"/>
                    </a:solidFill>
                    <a:effectLst/>
                    <a:latin typeface="Segoe WPC"/>
                  </a:rPr>
                  <a:t>forfeiture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treat</a:t>
                </a:r>
                <a:r>
                  <a:rPr lang="es-PE" sz="900" b="0" i="0" dirty="0">
                    <a:solidFill>
                      <a:schemeClr val="tx1"/>
                    </a:solidFill>
                    <a:effectLst/>
                    <a:latin typeface="Segoe WPC"/>
                  </a:rPr>
                  <a:t> </a:t>
                </a:r>
                <a:r>
                  <a:rPr lang="es-PE" sz="900" b="0" i="0" dirty="0" err="1">
                    <a:solidFill>
                      <a:schemeClr val="tx1"/>
                    </a:solidFill>
                    <a:effectLst/>
                    <a:latin typeface="Segoe WPC"/>
                  </a:rPr>
                  <a:t>employee</a:t>
                </a:r>
                <a:r>
                  <a:rPr lang="es-PE" sz="900" b="0" i="0" dirty="0">
                    <a:solidFill>
                      <a:schemeClr val="tx1"/>
                    </a:solidFill>
                    <a:effectLst/>
                    <a:latin typeface="Segoe WPC"/>
                  </a:rPr>
                  <a:t> stock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exchange-traded</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vesting</a:t>
                </a:r>
                <a:r>
                  <a:rPr lang="es-PE" sz="900" b="0" i="0" dirty="0">
                    <a:solidFill>
                      <a:schemeClr val="tx1"/>
                    </a:solidFill>
                    <a:effectLst/>
                    <a:latin typeface="Segoe WPC"/>
                  </a:rPr>
                  <a:t>, </a:t>
                </a:r>
                <a:r>
                  <a:rPr lang="es-PE" sz="900" b="0" i="0" dirty="0" err="1">
                    <a:solidFill>
                      <a:schemeClr val="tx1"/>
                    </a:solidFill>
                    <a:effectLst/>
                    <a:latin typeface="Segoe WPC"/>
                  </a:rPr>
                  <a:t>forfeiture</a:t>
                </a:r>
                <a:r>
                  <a:rPr lang="es-PE" sz="900" b="0" i="0" dirty="0">
                    <a:solidFill>
                      <a:schemeClr val="tx1"/>
                    </a:solidFill>
                    <a:effectLst/>
                    <a:latin typeface="Segoe WPC"/>
                  </a:rPr>
                  <a:t>, and non-</a:t>
                </a:r>
                <a:r>
                  <a:rPr lang="es-PE" sz="900" b="0" i="0" dirty="0" err="1">
                    <a:solidFill>
                      <a:schemeClr val="tx1"/>
                    </a:solidFill>
                    <a:effectLst/>
                    <a:latin typeface="Segoe WPC"/>
                  </a:rPr>
                  <a:t>transferability</a:t>
                </a:r>
                <a:r>
                  <a:rPr lang="es-PE" sz="900" b="0" i="0" dirty="0">
                    <a:solidFill>
                      <a:schemeClr val="tx1"/>
                    </a:solidFill>
                    <a:effectLst/>
                    <a:latin typeface="Segoe WPC"/>
                  </a:rPr>
                  <a:t> </a:t>
                </a:r>
                <a:r>
                  <a:rPr lang="es-PE" sz="900" b="0" i="0" dirty="0" err="1">
                    <a:solidFill>
                      <a:schemeClr val="tx1"/>
                    </a:solidFill>
                    <a:effectLst/>
                    <a:latin typeface="Segoe WPC"/>
                  </a:rPr>
                  <a:t>matter</a:t>
                </a:r>
                <a:r>
                  <a:rPr lang="es-PE" sz="900" b="0" i="0" dirty="0">
                    <a:solidFill>
                      <a:schemeClr val="tx1"/>
                    </a:solidFill>
                    <a:effectLst/>
                    <a:latin typeface="Segoe WPC"/>
                  </a:rPr>
                  <a:t>.</a:t>
                </a:r>
              </a:p>
            </p:txBody>
          </p:sp>
        </mc:Choice>
        <mc:Fallback xmlns="">
          <p:sp>
            <p:nvSpPr>
              <p:cNvPr id="11" name="CuadroTexto 10">
                <a:extLst>
                  <a:ext uri="{FF2B5EF4-FFF2-40B4-BE49-F238E27FC236}">
                    <a16:creationId xmlns:a16="http://schemas.microsoft.com/office/drawing/2014/main" id="{E05810B7-C0D1-2045-C817-6E6ABFA401DF}"/>
                  </a:ext>
                </a:extLst>
              </p:cNvPr>
              <p:cNvSpPr txBox="1">
                <a:spLocks noRot="1" noChangeAspect="1" noMove="1" noResize="1" noEditPoints="1" noAdjustHandles="1" noChangeArrowheads="1" noChangeShapeType="1" noTextEdit="1"/>
              </p:cNvSpPr>
              <p:nvPr/>
            </p:nvSpPr>
            <p:spPr>
              <a:xfrm>
                <a:off x="5900738" y="-56932"/>
                <a:ext cx="6399212" cy="7369453"/>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18472648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0CDA2F-49AE-7A3B-1EB6-6F6F035A5EDB}"/>
              </a:ext>
            </a:extLst>
          </p:cNvPr>
          <p:cNvSpPr>
            <a:spLocks noGrp="1"/>
          </p:cNvSpPr>
          <p:nvPr>
            <p:ph type="title"/>
          </p:nvPr>
        </p:nvSpPr>
        <p:spPr>
          <a:xfrm>
            <a:off x="0" y="23019"/>
            <a:ext cx="10515600" cy="580232"/>
          </a:xfrm>
        </p:spPr>
        <p:txBody>
          <a:bodyPr>
            <a:noAutofit/>
          </a:bodyPr>
          <a:lstStyle/>
          <a:p>
            <a:r>
              <a:rPr lang="en-US" sz="2400" dirty="0"/>
              <a:t>Properties of options</a:t>
            </a:r>
            <a:endParaRPr lang="es-PE" sz="2400"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CEF92F4F-CA5E-D09F-B6F9-F779F194C4D9}"/>
                  </a:ext>
                </a:extLst>
              </p:cNvPr>
              <p:cNvSpPr txBox="1"/>
              <p:nvPr/>
            </p:nvSpPr>
            <p:spPr>
              <a:xfrm>
                <a:off x="0" y="411946"/>
                <a:ext cx="6143624" cy="6663363"/>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1. Drivers </a:t>
                </a:r>
                <a:r>
                  <a:rPr lang="es-PE" sz="900" b="1" i="0" dirty="0" err="1">
                    <a:solidFill>
                      <a:schemeClr val="tx1"/>
                    </a:solidFill>
                    <a:effectLst/>
                    <a:latin typeface="Segoe WPC"/>
                  </a:rPr>
                  <a:t>of</a:t>
                </a:r>
                <a:r>
                  <a:rPr lang="es-PE" sz="900" b="1" i="0" dirty="0">
                    <a:solidFill>
                      <a:schemeClr val="tx1"/>
                    </a:solidFill>
                    <a:effectLst/>
                    <a:latin typeface="Segoe WPC"/>
                  </a:rPr>
                  <a:t> </a:t>
                </a:r>
                <a:r>
                  <a:rPr lang="es-PE" sz="900" b="1" i="0" dirty="0" err="1">
                    <a:solidFill>
                      <a:schemeClr val="tx1"/>
                    </a:solidFill>
                    <a:effectLst/>
                    <a:latin typeface="Segoe WPC"/>
                  </a:rPr>
                  <a:t>Option</a:t>
                </a:r>
                <a:r>
                  <a:rPr lang="es-PE" sz="900" b="1" i="0" dirty="0">
                    <a:solidFill>
                      <a:schemeClr val="tx1"/>
                    </a:solidFill>
                    <a:effectLst/>
                    <a:latin typeface="Segoe WPC"/>
                  </a:rPr>
                  <a:t> </a:t>
                </a:r>
                <a:r>
                  <a:rPr lang="es-PE" sz="900" b="1" i="0" dirty="0" err="1">
                    <a:solidFill>
                      <a:schemeClr val="tx1"/>
                    </a:solidFill>
                    <a:effectLst/>
                    <a:latin typeface="Segoe WPC"/>
                  </a:rPr>
                  <a:t>Value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stock and </a:t>
                </a:r>
                <a:r>
                  <a:rPr lang="es-PE" sz="900" b="0" i="0" dirty="0" err="1">
                    <a:solidFill>
                      <a:schemeClr val="tx1"/>
                    </a:solidFill>
                    <a:effectLst/>
                    <a:latin typeface="Segoe WPC"/>
                  </a:rPr>
                  <a:t>contract</a:t>
                </a:r>
                <a:r>
                  <a:rPr lang="es-PE" sz="900" b="0" i="0" dirty="0">
                    <a:solidFill>
                      <a:schemeClr val="tx1"/>
                    </a:solidFill>
                    <a:effectLst/>
                    <a:latin typeface="Segoe WPC"/>
                  </a:rPr>
                  <a:t> </a:t>
                </a:r>
                <a:r>
                  <a:rPr lang="es-PE" sz="900" b="0" i="0" dirty="0" err="1">
                    <a:solidFill>
                      <a:schemeClr val="tx1"/>
                    </a:solidFill>
                    <a:effectLst/>
                    <a:latin typeface="Segoe WPC"/>
                  </a:rPr>
                  <a:t>terms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rises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falls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 </a:t>
                </a:r>
                <a:r>
                  <a:rPr lang="es-PE" sz="900" b="0" i="0" dirty="0" err="1">
                    <a:solidFill>
                      <a:schemeClr val="tx1"/>
                    </a:solidFill>
                    <a:effectLst/>
                    <a:latin typeface="Segoe WPC"/>
                  </a:rPr>
                  <a:t>price</a:t>
                </a:r>
                <a:r>
                  <a:rPr lang="es-PE" sz="900" b="0" i="0" dirty="0">
                    <a:solidFill>
                      <a:schemeClr val="tx1"/>
                    </a:solidFill>
                    <a:effectLst/>
                    <a:latin typeface="Segoe WPC"/>
                  </a:rPr>
                  <a:t>, strike,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time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 and </a:t>
                </a:r>
                <a:r>
                  <a:rPr lang="es-PE" sz="900" b="0" i="0" dirty="0" err="1">
                    <a:solidFill>
                      <a:schemeClr val="tx1"/>
                    </a:solidFill>
                    <a:effectLst/>
                    <a:latin typeface="Segoe WPC"/>
                  </a:rPr>
                  <a:t>dividends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becomes</a:t>
                </a:r>
                <a:r>
                  <a:rPr lang="es-PE" sz="900" b="0" i="0" dirty="0">
                    <a:solidFill>
                      <a:schemeClr val="tx1"/>
                    </a:solidFill>
                    <a:effectLst/>
                    <a:latin typeface="Segoe WPC"/>
                  </a:rPr>
                  <a:t> more </a:t>
                </a:r>
                <a:r>
                  <a:rPr lang="es-PE" sz="900" b="0" i="0" dirty="0" err="1">
                    <a:solidFill>
                      <a:schemeClr val="tx1"/>
                    </a:solidFill>
                    <a:effectLst/>
                    <a:latin typeface="Segoe WPC"/>
                  </a:rPr>
                  <a:t>attractive</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upside</a:t>
                </a:r>
                <a:r>
                  <a:rPr lang="es-PE" sz="900" b="0" i="0" dirty="0">
                    <a:solidFill>
                      <a:schemeClr val="tx1"/>
                    </a:solidFill>
                    <a:effectLst/>
                    <a:latin typeface="Segoe WPC"/>
                  </a:rPr>
                  <a:t> </a:t>
                </a:r>
                <a:r>
                  <a:rPr lang="es-PE" sz="900" b="0" i="0" dirty="0" err="1">
                    <a:solidFill>
                      <a:schemeClr val="tx1"/>
                    </a:solidFill>
                    <a:effectLst/>
                    <a:latin typeface="Segoe WPC"/>
                  </a:rPr>
                  <a:t>potential</a:t>
                </a:r>
                <a:r>
                  <a:rPr lang="es-PE" sz="900" b="0" i="0" dirty="0">
                    <a:solidFill>
                      <a:schemeClr val="tx1"/>
                    </a:solidFill>
                    <a:effectLst/>
                    <a:latin typeface="Segoe WPC"/>
                  </a:rPr>
                  <a:t> </a:t>
                </a:r>
                <a:r>
                  <a:rPr lang="es-PE" sz="900" b="0" i="0" dirty="0" err="1">
                    <a:solidFill>
                      <a:schemeClr val="tx1"/>
                    </a:solidFill>
                    <a:effectLst/>
                    <a:latin typeface="Segoe WPC"/>
                  </a:rPr>
                  <a:t>rises</a:t>
                </a:r>
                <a:r>
                  <a:rPr lang="es-PE" sz="900" b="0" i="0" dirty="0">
                    <a:solidFill>
                      <a:schemeClr val="tx1"/>
                    </a:solidFill>
                    <a:effectLst/>
                    <a:latin typeface="Segoe WPC"/>
                  </a:rPr>
                  <a:t>; a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becomes</a:t>
                </a:r>
                <a:r>
                  <a:rPr lang="es-PE" sz="900" b="0" i="0" dirty="0">
                    <a:solidFill>
                      <a:schemeClr val="tx1"/>
                    </a:solidFill>
                    <a:effectLst/>
                    <a:latin typeface="Segoe WPC"/>
                  </a:rPr>
                  <a:t> more </a:t>
                </a:r>
                <a:r>
                  <a:rPr lang="es-PE" sz="900" b="0" i="0" dirty="0" err="1">
                    <a:solidFill>
                      <a:schemeClr val="tx1"/>
                    </a:solidFill>
                    <a:effectLst/>
                    <a:latin typeface="Segoe WPC"/>
                  </a:rPr>
                  <a:t>attractive</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downside</a:t>
                </a:r>
                <a:r>
                  <a:rPr lang="es-PE" sz="900" b="0" i="0" dirty="0">
                    <a:solidFill>
                      <a:schemeClr val="tx1"/>
                    </a:solidFill>
                    <a:effectLst/>
                    <a:latin typeface="Segoe WPC"/>
                  </a:rPr>
                  <a:t> </a:t>
                </a:r>
                <a:r>
                  <a:rPr lang="es-PE" sz="900" b="0" i="0" dirty="0" err="1">
                    <a:solidFill>
                      <a:schemeClr val="tx1"/>
                    </a:solidFill>
                    <a:effectLst/>
                    <a:latin typeface="Segoe WPC"/>
                  </a:rPr>
                  <a:t>protection</a:t>
                </a:r>
                <a:r>
                  <a:rPr lang="es-PE" sz="900" b="0" i="0" dirty="0">
                    <a:solidFill>
                      <a:schemeClr val="tx1"/>
                    </a:solidFill>
                    <a:effectLst/>
                    <a:latin typeface="Segoe WPC"/>
                  </a:rPr>
                  <a:t> </a:t>
                </a:r>
                <a:r>
                  <a:rPr lang="es-PE" sz="900" b="0" i="0" dirty="0" err="1">
                    <a:solidFill>
                      <a:schemeClr val="tx1"/>
                    </a:solidFill>
                    <a:effectLst/>
                    <a:latin typeface="Segoe WPC"/>
                  </a:rPr>
                  <a:t>becomes</a:t>
                </a:r>
                <a:r>
                  <a:rPr lang="es-PE" sz="900" b="0" i="0" dirty="0">
                    <a:solidFill>
                      <a:schemeClr val="tx1"/>
                    </a:solidFill>
                    <a:effectLst/>
                    <a:latin typeface="Segoe WPC"/>
                  </a:rPr>
                  <a:t> more </a:t>
                </a:r>
                <a:r>
                  <a:rPr lang="es-PE" sz="900" b="0" i="0" dirty="0" err="1">
                    <a:solidFill>
                      <a:schemeClr val="tx1"/>
                    </a:solidFill>
                    <a:effectLst/>
                    <a:latin typeface="Segoe WPC"/>
                  </a:rPr>
                  <a:t>valuable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Main</a:t>
                </a:r>
                <a:r>
                  <a:rPr lang="es-PE" sz="900" b="0" i="0" dirty="0">
                    <a:solidFill>
                      <a:schemeClr val="tx1"/>
                    </a:solidFill>
                    <a:effectLst/>
                    <a:latin typeface="Segoe WPC"/>
                  </a:rPr>
                  <a:t> </a:t>
                </a:r>
                <a:r>
                  <a:rPr lang="es-PE" sz="900" b="0" i="0" dirty="0" err="1">
                    <a:solidFill>
                      <a:schemeClr val="tx1"/>
                    </a:solidFill>
                    <a:effectLst/>
                    <a:latin typeface="Segoe WPC"/>
                  </a:rPr>
                  <a:t>factors</a:t>
                </a:r>
                <a:r>
                  <a:rPr lang="es-PE" sz="900" b="0" i="0" dirty="0">
                    <a:solidFill>
                      <a:schemeClr val="tx1"/>
                    </a:solidFill>
                    <a:effectLst/>
                    <a:latin typeface="Segoe WPC"/>
                  </a:rPr>
                  <a:t>: stock </a:t>
                </a:r>
                <a:r>
                  <a:rPr lang="es-PE" sz="900" b="0" i="0" dirty="0" err="1">
                    <a:solidFill>
                      <a:schemeClr val="tx1"/>
                    </a:solidFill>
                    <a:effectLst/>
                    <a:latin typeface="Segoe WPC"/>
                  </a:rPr>
                  <a:t>price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𝑆</m:t>
                    </m:r>
                  </m:oMath>
                </a14:m>
                <a:r>
                  <a:rPr lang="es-PE" sz="900" b="0" i="0" dirty="0">
                    <a:solidFill>
                      <a:schemeClr val="tx1"/>
                    </a:solidFill>
                    <a:effectLst/>
                    <a:latin typeface="Segoe WPC"/>
                  </a:rPr>
                  <a:t>, strike </a:t>
                </a:r>
                <a14:m>
                  <m:oMath xmlns:m="http://schemas.openxmlformats.org/officeDocument/2006/math">
                    <m:r>
                      <a:rPr lang="es-PE" sz="900" i="1">
                        <a:solidFill>
                          <a:schemeClr val="tx1"/>
                        </a:solidFill>
                        <a:latin typeface="Cambria Math" panose="02040503050406030204" pitchFamily="18" charset="0"/>
                      </a:rPr>
                      <m:t>𝐾</m:t>
                    </m:r>
                  </m:oMath>
                </a14:m>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-free </a:t>
                </a:r>
                <a:r>
                  <a:rPr lang="es-PE" sz="900" b="0" i="0" dirty="0" err="1">
                    <a:solidFill>
                      <a:schemeClr val="tx1"/>
                    </a:solidFill>
                    <a:effectLst/>
                    <a:latin typeface="Segoe WPC"/>
                  </a:rPr>
                  <a:t>rate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𝑟</m:t>
                    </m:r>
                  </m:oMath>
                </a14:m>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𝜎</m:t>
                    </m:r>
                  </m:oMath>
                </a14:m>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𝑇</m:t>
                    </m:r>
                  </m:oMath>
                </a14:m>
                <a:r>
                  <a:rPr lang="es-PE" sz="900" b="0" i="0" dirty="0">
                    <a:solidFill>
                      <a:schemeClr val="tx1"/>
                    </a:solidFill>
                    <a:effectLst/>
                    <a:latin typeface="Segoe WPC"/>
                  </a:rPr>
                  <a:t>, and </a:t>
                </a:r>
                <a:r>
                  <a:rPr lang="es-PE" sz="900" b="0" i="0" dirty="0" err="1">
                    <a:solidFill>
                      <a:schemeClr val="tx1"/>
                    </a:solidFill>
                    <a:effectLst/>
                    <a:latin typeface="Segoe WPC"/>
                  </a:rPr>
                  <a:t>dividends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are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six</a:t>
                </a:r>
                <a:r>
                  <a:rPr lang="es-PE" sz="900" b="0" i="0" dirty="0">
                    <a:solidFill>
                      <a:schemeClr val="tx1"/>
                    </a:solidFill>
                    <a:effectLst/>
                    <a:latin typeface="Segoe WPC"/>
                  </a:rPr>
                  <a:t> </a:t>
                </a:r>
                <a:r>
                  <a:rPr lang="es-PE" sz="900" b="0" i="0" dirty="0" err="1">
                    <a:solidFill>
                      <a:schemeClr val="tx1"/>
                    </a:solidFill>
                    <a:effectLst/>
                    <a:latin typeface="Segoe WPC"/>
                  </a:rPr>
                  <a:t>core</a:t>
                </a:r>
                <a:r>
                  <a:rPr lang="es-PE" sz="900" b="0" i="0" dirty="0">
                    <a:solidFill>
                      <a:schemeClr val="tx1"/>
                    </a:solidFill>
                    <a:effectLst/>
                    <a:latin typeface="Segoe WPC"/>
                  </a:rPr>
                  <a:t> inputs </a:t>
                </a:r>
                <a:r>
                  <a:rPr lang="es-PE" sz="900" b="0" i="0" dirty="0" err="1">
                    <a:solidFill>
                      <a:schemeClr val="tx1"/>
                    </a:solidFill>
                    <a:effectLst/>
                    <a:latin typeface="Segoe WPC"/>
                  </a:rPr>
                  <a:t>behind</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pricing</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stock </a:t>
                </a:r>
                <a:r>
                  <a:rPr lang="es-PE" sz="900" b="0" i="0" dirty="0" err="1">
                    <a:solidFill>
                      <a:schemeClr val="tx1"/>
                    </a:solidFill>
                    <a:effectLst/>
                    <a:latin typeface="Segoe WPC"/>
                  </a:rPr>
                  <a:t>return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pricing</a:t>
                </a:r>
                <a:r>
                  <a:rPr lang="es-PE" sz="900" b="0" i="0" dirty="0">
                    <a:solidFill>
                      <a:schemeClr val="tx1"/>
                    </a:solidFill>
                    <a:effectLst/>
                    <a:latin typeface="Segoe WPC"/>
                  </a:rPr>
                  <a:t> inputs.</a:t>
                </a:r>
              </a:p>
              <a:p>
                <a:pPr algn="l">
                  <a:spcAft>
                    <a:spcPts val="1200"/>
                  </a:spcAft>
                  <a:buNone/>
                </a:pPr>
                <a:r>
                  <a:rPr lang="es-PE" sz="900" b="1" i="0" dirty="0">
                    <a:solidFill>
                      <a:schemeClr val="tx1"/>
                    </a:solidFill>
                    <a:effectLst/>
                    <a:latin typeface="Segoe WPC"/>
                  </a:rPr>
                  <a:t>2. </a:t>
                </a:r>
                <a:r>
                  <a:rPr lang="es-PE" sz="900" b="1" i="0" dirty="0" err="1">
                    <a:solidFill>
                      <a:schemeClr val="tx1"/>
                    </a:solidFill>
                    <a:effectLst/>
                    <a:latin typeface="Segoe WPC"/>
                  </a:rPr>
                  <a:t>Call</a:t>
                </a:r>
                <a:r>
                  <a:rPr lang="es-PE" sz="900" b="1" i="0" dirty="0">
                    <a:solidFill>
                      <a:schemeClr val="tx1"/>
                    </a:solidFill>
                    <a:effectLst/>
                    <a:latin typeface="Segoe WPC"/>
                  </a:rPr>
                  <a:t> </a:t>
                </a:r>
                <a:r>
                  <a:rPr lang="es-PE" sz="900" b="1" i="0" dirty="0" err="1">
                    <a:solidFill>
                      <a:schemeClr val="tx1"/>
                    </a:solidFill>
                    <a:effectLst/>
                    <a:latin typeface="Segoe WPC"/>
                  </a:rPr>
                  <a:t>Options</a:t>
                </a:r>
                <a:r>
                  <a:rPr lang="es-PE" sz="900" b="1" i="0" dirty="0">
                    <a:solidFill>
                      <a:schemeClr val="tx1"/>
                    </a:solidFill>
                    <a:effectLst/>
                    <a:latin typeface="Segoe WPC"/>
                  </a:rPr>
                  <a:t> </a:t>
                </a:r>
                <a:r>
                  <a:rPr lang="es-PE" sz="900" b="1" i="0" dirty="0" err="1">
                    <a:solidFill>
                      <a:schemeClr val="tx1"/>
                    </a:solidFill>
                    <a:effectLst/>
                    <a:latin typeface="Segoe WPC"/>
                  </a:rPr>
                  <a:t>on</a:t>
                </a:r>
                <a:r>
                  <a:rPr lang="es-PE" sz="900" b="1" i="0" dirty="0">
                    <a:solidFill>
                      <a:schemeClr val="tx1"/>
                    </a:solidFill>
                    <a:effectLst/>
                    <a:latin typeface="Segoe WPC"/>
                  </a:rPr>
                  <a:t> Non-</a:t>
                </a:r>
                <a:r>
                  <a:rPr lang="es-PE" sz="900" b="1" i="0" dirty="0" err="1">
                    <a:solidFill>
                      <a:schemeClr val="tx1"/>
                    </a:solidFill>
                    <a:effectLst/>
                    <a:latin typeface="Segoe WPC"/>
                  </a:rPr>
                  <a:t>Dividend</a:t>
                </a:r>
                <a:r>
                  <a:rPr lang="es-PE" sz="900" b="1" i="0" dirty="0">
                    <a:solidFill>
                      <a:schemeClr val="tx1"/>
                    </a:solidFill>
                    <a:effectLst/>
                    <a:latin typeface="Segoe WPC"/>
                  </a:rPr>
                  <a:t> Stocks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American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 non-</a:t>
                </a:r>
                <a:r>
                  <a:rPr lang="es-PE" sz="900" b="0" i="0" dirty="0" err="1">
                    <a:solidFill>
                      <a:schemeClr val="tx1"/>
                    </a:solidFill>
                    <a:effectLst/>
                    <a:latin typeface="Segoe WPC"/>
                  </a:rPr>
                  <a:t>dividend</a:t>
                </a:r>
                <a:r>
                  <a:rPr lang="es-PE" sz="900" b="0" i="0" dirty="0">
                    <a:solidFill>
                      <a:schemeClr val="tx1"/>
                    </a:solidFill>
                    <a:effectLst/>
                    <a:latin typeface="Segoe WPC"/>
                  </a:rPr>
                  <a:t>-</a:t>
                </a:r>
                <a:r>
                  <a:rPr lang="es-PE" sz="900" b="0" i="0" dirty="0" err="1">
                    <a:solidFill>
                      <a:schemeClr val="tx1"/>
                    </a:solidFill>
                    <a:effectLst/>
                    <a:latin typeface="Segoe WPC"/>
                  </a:rPr>
                  <a:t>paying</a:t>
                </a:r>
                <a:r>
                  <a:rPr lang="es-PE" sz="900" b="0" i="0" dirty="0">
                    <a:solidFill>
                      <a:schemeClr val="tx1"/>
                    </a:solidFill>
                    <a:effectLst/>
                    <a:latin typeface="Segoe WPC"/>
                  </a:rPr>
                  <a:t> stock </a:t>
                </a:r>
                <a:r>
                  <a:rPr lang="es-PE" sz="900" b="0" i="0" dirty="0" err="1">
                    <a:solidFill>
                      <a:schemeClr val="tx1"/>
                    </a:solidFill>
                    <a:effectLst/>
                    <a:latin typeface="Segoe WPC"/>
                  </a:rPr>
                  <a:t>should</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be </a:t>
                </a:r>
                <a:r>
                  <a:rPr lang="es-PE" sz="900" b="0" i="0" dirty="0" err="1">
                    <a:solidFill>
                      <a:schemeClr val="tx1"/>
                    </a:solidFill>
                    <a:effectLst/>
                    <a:latin typeface="Segoe WPC"/>
                  </a:rPr>
                  <a:t>exercised</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exercise</a:t>
                </a:r>
                <a:r>
                  <a:rPr lang="es-PE" sz="900" b="0" i="0" dirty="0">
                    <a:solidFill>
                      <a:schemeClr val="tx1"/>
                    </a:solidFill>
                    <a:effectLst/>
                    <a:latin typeface="Segoe WPC"/>
                  </a:rPr>
                  <a:t> </a:t>
                </a:r>
                <a:r>
                  <a:rPr lang="es-PE" sz="900" b="0" i="0" dirty="0" err="1">
                    <a:solidFill>
                      <a:schemeClr val="tx1"/>
                    </a:solidFill>
                    <a:effectLst/>
                    <a:latin typeface="Segoe WPC"/>
                  </a:rPr>
                  <a:t>destroys</a:t>
                </a:r>
                <a:r>
                  <a:rPr lang="es-PE" sz="900" b="0" i="0" dirty="0">
                    <a:solidFill>
                      <a:schemeClr val="tx1"/>
                    </a:solidFill>
                    <a:effectLst/>
                    <a:latin typeface="Segoe WPC"/>
                  </a:rPr>
                  <a:t> </a:t>
                </a:r>
                <a:r>
                  <a:rPr lang="es-PE" sz="900" b="0" i="0" dirty="0" err="1">
                    <a:solidFill>
                      <a:schemeClr val="tx1"/>
                    </a:solidFill>
                    <a:effectLst/>
                    <a:latin typeface="Segoe WPC"/>
                  </a:rPr>
                  <a:t>optionality</a:t>
                </a:r>
                <a:r>
                  <a:rPr lang="es-PE" sz="900" b="0" i="0" dirty="0">
                    <a:solidFill>
                      <a:schemeClr val="tx1"/>
                    </a:solidFill>
                    <a:effectLst/>
                    <a:latin typeface="Segoe WPC"/>
                  </a:rPr>
                  <a:t> and </a:t>
                </a:r>
                <a:r>
                  <a:rPr lang="es-PE" sz="900" b="0" i="0" dirty="0" err="1">
                    <a:solidFill>
                      <a:schemeClr val="tx1"/>
                    </a:solidFill>
                    <a:effectLst/>
                    <a:latin typeface="Segoe WPC"/>
                  </a:rPr>
                  <a:t>forces</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payment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strike, </a:t>
                </a:r>
                <a:r>
                  <a:rPr lang="es-PE" sz="900" b="0" i="0" dirty="0" err="1">
                    <a:solidFill>
                      <a:schemeClr val="tx1"/>
                    </a:solidFill>
                    <a:effectLst/>
                    <a:latin typeface="Segoe WPC"/>
                  </a:rPr>
                  <a:t>which</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inefficient</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are positive.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waiting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holder</a:t>
                </a:r>
                <a:r>
                  <a:rPr lang="es-PE" sz="900" b="0" i="0" dirty="0">
                    <a:solidFill>
                      <a:schemeClr val="tx1"/>
                    </a:solidFill>
                    <a:effectLst/>
                    <a:latin typeface="Segoe WPC"/>
                  </a:rPr>
                  <a:t> </a:t>
                </a:r>
                <a:r>
                  <a:rPr lang="es-PE" sz="900" b="0" i="0" dirty="0" err="1">
                    <a:solidFill>
                      <a:schemeClr val="tx1"/>
                    </a:solidFill>
                    <a:effectLst/>
                    <a:latin typeface="Segoe WPC"/>
                  </a:rPr>
                  <a:t>keeps</a:t>
                </a:r>
                <a:r>
                  <a:rPr lang="es-PE" sz="900" b="0" i="0" dirty="0">
                    <a:solidFill>
                      <a:schemeClr val="tx1"/>
                    </a:solidFill>
                    <a:effectLst/>
                    <a:latin typeface="Segoe WPC"/>
                  </a:rPr>
                  <a:t> </a:t>
                </a:r>
                <a:r>
                  <a:rPr lang="es-PE" sz="900" b="0" i="0" dirty="0" err="1">
                    <a:solidFill>
                      <a:schemeClr val="tx1"/>
                    </a:solidFill>
                    <a:effectLst/>
                    <a:latin typeface="Segoe WPC"/>
                  </a:rPr>
                  <a:t>downside</a:t>
                </a:r>
                <a:r>
                  <a:rPr lang="es-PE" sz="900" b="0" i="0" dirty="0">
                    <a:solidFill>
                      <a:schemeClr val="tx1"/>
                    </a:solidFill>
                    <a:effectLst/>
                    <a:latin typeface="Segoe WPC"/>
                  </a:rPr>
                  <a:t> </a:t>
                </a:r>
                <a:r>
                  <a:rPr lang="es-PE" sz="900" b="0" i="0" dirty="0" err="1">
                    <a:solidFill>
                      <a:schemeClr val="tx1"/>
                    </a:solidFill>
                    <a:effectLst/>
                    <a:latin typeface="Segoe WPC"/>
                  </a:rPr>
                  <a:t>protection</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 </a:t>
                </a:r>
                <a:r>
                  <a:rPr lang="es-PE" sz="900" b="0" i="0" dirty="0" err="1">
                    <a:solidFill>
                      <a:schemeClr val="tx1"/>
                    </a:solidFill>
                    <a:effectLst/>
                    <a:latin typeface="Segoe WPC"/>
                  </a:rPr>
                  <a:t>falls</a:t>
                </a:r>
                <a:r>
                  <a:rPr lang="es-PE" sz="900" b="0" i="0" dirty="0">
                    <a:solidFill>
                      <a:schemeClr val="tx1"/>
                    </a:solidFill>
                    <a:effectLst/>
                    <a:latin typeface="Segoe WPC"/>
                  </a:rPr>
                  <a:t> </a:t>
                </a:r>
                <a:r>
                  <a:rPr lang="es-PE" sz="900" b="0" i="0" dirty="0" err="1">
                    <a:solidFill>
                      <a:schemeClr val="tx1"/>
                    </a:solidFill>
                    <a:effectLst/>
                    <a:latin typeface="Segoe WPC"/>
                  </a:rPr>
                  <a:t>below</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strike and </a:t>
                </a:r>
                <a:r>
                  <a:rPr lang="es-PE" sz="900" b="0" i="0" dirty="0" err="1">
                    <a:solidFill>
                      <a:schemeClr val="tx1"/>
                    </a:solidFill>
                    <a:effectLst/>
                    <a:latin typeface="Segoe WPC"/>
                  </a:rPr>
                  <a:t>also</a:t>
                </a:r>
                <a:r>
                  <a:rPr lang="es-PE" sz="900" b="0" i="0" dirty="0">
                    <a:solidFill>
                      <a:schemeClr val="tx1"/>
                    </a:solidFill>
                    <a:effectLst/>
                    <a:latin typeface="Segoe WPC"/>
                  </a:rPr>
                  <a:t> </a:t>
                </a:r>
                <a:r>
                  <a:rPr lang="es-PE" sz="900" b="0" i="0" dirty="0" err="1">
                    <a:solidFill>
                      <a:schemeClr val="tx1"/>
                    </a:solidFill>
                    <a:effectLst/>
                    <a:latin typeface="Segoe WPC"/>
                  </a:rPr>
                  <a:t>delays</a:t>
                </a:r>
                <a:r>
                  <a:rPr lang="es-PE" sz="900" b="0" i="0" dirty="0">
                    <a:solidFill>
                      <a:schemeClr val="tx1"/>
                    </a:solidFill>
                    <a:effectLst/>
                    <a:latin typeface="Segoe WPC"/>
                  </a:rPr>
                  <a:t> </a:t>
                </a:r>
                <a:r>
                  <a:rPr lang="es-PE" sz="900" b="0" i="0" dirty="0" err="1">
                    <a:solidFill>
                      <a:schemeClr val="tx1"/>
                    </a:solidFill>
                    <a:effectLst/>
                    <a:latin typeface="Segoe WPC"/>
                  </a:rPr>
                  <a:t>paying</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𝐾</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bound</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𝑐</m:t>
                    </m:r>
                    <m:r>
                      <a:rPr lang="es-PE" sz="900" i="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𝑆</m:t>
                        </m:r>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d>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be </a:t>
                </a:r>
                <a:r>
                  <a:rPr lang="es-PE" sz="900" b="0" i="0" dirty="0" err="1">
                    <a:solidFill>
                      <a:schemeClr val="tx1"/>
                    </a:solidFill>
                    <a:effectLst/>
                    <a:latin typeface="Segoe WPC"/>
                  </a:rPr>
                  <a:t>worth</a:t>
                </a:r>
                <a:r>
                  <a:rPr lang="es-PE" sz="900" b="0" i="0" dirty="0">
                    <a:solidFill>
                      <a:schemeClr val="tx1"/>
                    </a:solidFill>
                    <a:effectLst/>
                    <a:latin typeface="Segoe WPC"/>
                  </a:rPr>
                  <a:t> at </a:t>
                </a:r>
                <a:r>
                  <a:rPr lang="es-PE" sz="900" b="0" i="0" dirty="0" err="1">
                    <a:solidFill>
                      <a:schemeClr val="tx1"/>
                    </a:solidFill>
                    <a:effectLst/>
                    <a:latin typeface="Segoe WPC"/>
                  </a:rPr>
                  <a:t>least</a:t>
                </a:r>
                <a:r>
                  <a:rPr lang="es-PE" sz="900" b="0" i="0" dirty="0">
                    <a:solidFill>
                      <a:schemeClr val="tx1"/>
                    </a:solidFill>
                    <a:effectLst/>
                    <a:latin typeface="Segoe WPC"/>
                  </a:rPr>
                  <a:t> </a:t>
                </a:r>
                <a:r>
                  <a:rPr lang="es-PE" sz="900" b="0" i="0" dirty="0" err="1">
                    <a:solidFill>
                      <a:schemeClr val="tx1"/>
                    </a:solidFill>
                    <a:effectLst/>
                    <a:latin typeface="Segoe WPC"/>
                  </a:rPr>
                  <a:t>intrinsic-like</a:t>
                </a:r>
                <a:r>
                  <a:rPr lang="es-PE" sz="900" b="0" i="0" dirty="0">
                    <a:solidFill>
                      <a:schemeClr val="tx1"/>
                    </a:solidFill>
                    <a:effectLst/>
                    <a:latin typeface="Segoe WPC"/>
                  </a:rPr>
                  <a:t> </a:t>
                </a:r>
                <a:r>
                  <a:rPr lang="es-PE" sz="900" b="0" i="0" dirty="0" err="1">
                    <a:solidFill>
                      <a:schemeClr val="tx1"/>
                    </a:solidFill>
                    <a:effectLst/>
                    <a:latin typeface="Segoe WPC"/>
                  </a:rPr>
                  <a:t>discounted</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and </a:t>
                </a:r>
                <a:r>
                  <a:rPr lang="es-PE" sz="900" b="0" i="0" dirty="0" err="1">
                    <a:solidFill>
                      <a:schemeClr val="tx1"/>
                    </a:solidFill>
                    <a:effectLst/>
                    <a:latin typeface="Segoe WPC"/>
                  </a:rPr>
                  <a:t>usually</a:t>
                </a:r>
                <a:r>
                  <a:rPr lang="es-PE" sz="900" b="0" i="0" dirty="0">
                    <a:solidFill>
                      <a:schemeClr val="tx1"/>
                    </a:solidFill>
                    <a:effectLst/>
                    <a:latin typeface="Segoe WPC"/>
                  </a:rPr>
                  <a:t> more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time </a:t>
                </a:r>
                <a:r>
                  <a:rPr lang="es-PE" sz="900" b="0" i="0" dirty="0" err="1">
                    <a:solidFill>
                      <a:schemeClr val="tx1"/>
                    </a:solidFill>
                    <a:effectLst/>
                    <a:latin typeface="Segoe WPC"/>
                  </a:rPr>
                  <a:t>value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 non-</a:t>
                </a:r>
                <a:r>
                  <a:rPr lang="es-PE" sz="900" b="0" i="0" dirty="0" err="1">
                    <a:solidFill>
                      <a:schemeClr val="tx1"/>
                    </a:solidFill>
                    <a:effectLst/>
                    <a:latin typeface="Segoe WPC"/>
                  </a:rPr>
                  <a:t>dividend</a:t>
                </a:r>
                <a:r>
                  <a:rPr lang="es-PE" sz="900" b="0" i="0" dirty="0">
                    <a:solidFill>
                      <a:schemeClr val="tx1"/>
                    </a:solidFill>
                    <a:effectLst/>
                    <a:latin typeface="Segoe WPC"/>
                  </a:rPr>
                  <a:t> stock, </a:t>
                </a:r>
                <a:r>
                  <a:rPr lang="es-PE" sz="900" b="0" i="0" dirty="0" err="1">
                    <a:solidFill>
                      <a:schemeClr val="tx1"/>
                    </a:solidFill>
                    <a:effectLst/>
                    <a:latin typeface="Segoe WPC"/>
                  </a:rPr>
                  <a:t>selling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better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exercising</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investor</a:t>
                </a:r>
                <a:r>
                  <a:rPr lang="es-PE" sz="900" b="0" i="0" dirty="0">
                    <a:solidFill>
                      <a:schemeClr val="tx1"/>
                    </a:solidFill>
                    <a:effectLst/>
                    <a:latin typeface="Segoe WPC"/>
                  </a:rPr>
                  <a:t> </a:t>
                </a:r>
                <a:r>
                  <a:rPr lang="es-PE" sz="900" b="0" i="0" dirty="0" err="1">
                    <a:solidFill>
                      <a:schemeClr val="tx1"/>
                    </a:solidFill>
                    <a:effectLst/>
                    <a:latin typeface="Segoe WPC"/>
                  </a:rPr>
                  <a:t>wants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exit</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3. </a:t>
                </a:r>
                <a:r>
                  <a:rPr lang="es-PE" sz="900" b="1" i="0" dirty="0" err="1">
                    <a:solidFill>
                      <a:schemeClr val="tx1"/>
                    </a:solidFill>
                    <a:effectLst/>
                    <a:latin typeface="Segoe WPC"/>
                  </a:rPr>
                  <a:t>Call</a:t>
                </a:r>
                <a:r>
                  <a:rPr lang="es-PE" sz="900" b="1" i="0" dirty="0">
                    <a:solidFill>
                      <a:schemeClr val="tx1"/>
                    </a:solidFill>
                    <a:effectLst/>
                    <a:latin typeface="Segoe WPC"/>
                  </a:rPr>
                  <a:t> </a:t>
                </a:r>
                <a:r>
                  <a:rPr lang="es-PE" sz="900" b="1" i="0" dirty="0" err="1">
                    <a:solidFill>
                      <a:schemeClr val="tx1"/>
                    </a:solidFill>
                    <a:effectLst/>
                    <a:latin typeface="Segoe WPC"/>
                  </a:rPr>
                  <a:t>Option</a:t>
                </a:r>
                <a:r>
                  <a:rPr lang="es-PE" sz="900" b="1" i="0" dirty="0">
                    <a:solidFill>
                      <a:schemeClr val="tx1"/>
                    </a:solidFill>
                    <a:effectLst/>
                    <a:latin typeface="Segoe WPC"/>
                  </a:rPr>
                  <a:t> </a:t>
                </a:r>
                <a:r>
                  <a:rPr lang="es-PE" sz="900" b="1" i="0" dirty="0" err="1">
                    <a:solidFill>
                      <a:schemeClr val="tx1"/>
                    </a:solidFill>
                    <a:effectLst/>
                    <a:latin typeface="Segoe WPC"/>
                  </a:rPr>
                  <a:t>Bounds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prices</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-free </a:t>
                </a:r>
                <a:r>
                  <a:rPr lang="es-PE" sz="900" b="0" i="0" dirty="0" err="1">
                    <a:solidFill>
                      <a:schemeClr val="tx1"/>
                    </a:solidFill>
                    <a:effectLst/>
                    <a:latin typeface="Segoe WPC"/>
                  </a:rPr>
                  <a:t>lower</a:t>
                </a:r>
                <a:r>
                  <a:rPr lang="es-PE" sz="900" b="0" i="0" dirty="0">
                    <a:solidFill>
                      <a:schemeClr val="tx1"/>
                    </a:solidFill>
                    <a:effectLst/>
                    <a:latin typeface="Segoe WPC"/>
                  </a:rPr>
                  <a:t> and </a:t>
                </a:r>
                <a:r>
                  <a:rPr lang="es-PE" sz="900" b="0" i="0" dirty="0" err="1">
                    <a:solidFill>
                      <a:schemeClr val="tx1"/>
                    </a:solidFill>
                    <a:effectLst/>
                    <a:latin typeface="Segoe WPC"/>
                  </a:rPr>
                  <a:t>upper</a:t>
                </a:r>
                <a:r>
                  <a:rPr lang="es-PE" sz="900" b="0" i="0" dirty="0">
                    <a:solidFill>
                      <a:schemeClr val="tx1"/>
                    </a:solidFill>
                    <a:effectLst/>
                    <a:latin typeface="Segoe WPC"/>
                  </a:rPr>
                  <a:t> </a:t>
                </a:r>
                <a:r>
                  <a:rPr lang="es-PE" sz="900" b="0" i="0" dirty="0" err="1">
                    <a:solidFill>
                      <a:schemeClr val="tx1"/>
                    </a:solidFill>
                    <a:effectLst/>
                    <a:latin typeface="Segoe WPC"/>
                  </a:rPr>
                  <a:t>bounds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cannot</a:t>
                </a:r>
                <a:r>
                  <a:rPr lang="es-PE" sz="900" b="0" i="0" dirty="0">
                    <a:solidFill>
                      <a:schemeClr val="tx1"/>
                    </a:solidFill>
                    <a:effectLst/>
                    <a:latin typeface="Segoe WPC"/>
                  </a:rPr>
                  <a:t> be </a:t>
                </a:r>
                <a:r>
                  <a:rPr lang="es-PE" sz="900" b="0" i="0" dirty="0" err="1">
                    <a:solidFill>
                      <a:schemeClr val="tx1"/>
                    </a:solidFill>
                    <a:effectLst/>
                    <a:latin typeface="Segoe WPC"/>
                  </a:rPr>
                  <a:t>worth</a:t>
                </a:r>
                <a:r>
                  <a:rPr lang="es-PE" sz="900" b="0" i="0" dirty="0">
                    <a:solidFill>
                      <a:schemeClr val="tx1"/>
                    </a:solidFill>
                    <a:effectLst/>
                    <a:latin typeface="Segoe WPC"/>
                  </a:rPr>
                  <a:t>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no-</a:t>
                </a:r>
                <a:r>
                  <a:rPr lang="es-PE" sz="900" b="0" i="0" dirty="0" err="1">
                    <a:solidFill>
                      <a:schemeClr val="tx1"/>
                    </a:solidFill>
                    <a:effectLst/>
                    <a:latin typeface="Segoe WPC"/>
                  </a:rPr>
                  <a:t>arbitrage</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bound</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more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 </a:t>
                </a:r>
                <a:r>
                  <a:rPr lang="es-PE" sz="900" b="0" i="0" dirty="0" err="1">
                    <a:solidFill>
                      <a:schemeClr val="tx1"/>
                    </a:solidFill>
                    <a:effectLst/>
                    <a:latin typeface="Segoe WPC"/>
                  </a:rPr>
                  <a:t>itself</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most</a:t>
                </a:r>
                <a:r>
                  <a:rPr lang="es-PE" sz="900" b="0" i="0" dirty="0">
                    <a:solidFill>
                      <a:schemeClr val="tx1"/>
                    </a:solidFill>
                    <a:effectLst/>
                    <a:latin typeface="Segoe WPC"/>
                  </a:rPr>
                  <a:t> a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could</a:t>
                </a:r>
                <a:r>
                  <a:rPr lang="es-PE" sz="900" b="0" i="0" dirty="0">
                    <a:solidFill>
                      <a:schemeClr val="tx1"/>
                    </a:solidFill>
                    <a:effectLst/>
                    <a:latin typeface="Segoe WPC"/>
                  </a:rPr>
                  <a:t> </a:t>
                </a:r>
                <a:r>
                  <a:rPr lang="es-PE" sz="900" b="0" i="0" dirty="0" err="1">
                    <a:solidFill>
                      <a:schemeClr val="tx1"/>
                    </a:solidFill>
                    <a:effectLst/>
                    <a:latin typeface="Segoe WPC"/>
                  </a:rPr>
                  <a:t>ever</a:t>
                </a:r>
                <a:r>
                  <a:rPr lang="es-PE" sz="900" b="0" i="0" dirty="0">
                    <a:solidFill>
                      <a:schemeClr val="tx1"/>
                    </a:solidFill>
                    <a:effectLst/>
                    <a:latin typeface="Segoe WPC"/>
                  </a:rPr>
                  <a:t> </a:t>
                </a:r>
                <a:r>
                  <a:rPr lang="es-PE" sz="900" b="0" i="0" dirty="0" err="1">
                    <a:solidFill>
                      <a:schemeClr val="tx1"/>
                    </a:solidFill>
                    <a:effectLst/>
                    <a:latin typeface="Segoe WPC"/>
                  </a:rPr>
                  <a:t>replicate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upside</a:t>
                </a:r>
                <a:r>
                  <a:rPr lang="es-PE" sz="900" b="0" i="0" dirty="0">
                    <a:solidFill>
                      <a:schemeClr val="tx1"/>
                    </a:solidFill>
                    <a:effectLst/>
                    <a:latin typeface="Segoe WPC"/>
                  </a:rPr>
                  <a:t> </a:t>
                </a:r>
                <a:r>
                  <a:rPr lang="es-PE" sz="900" b="0" i="0" dirty="0" err="1">
                    <a:solidFill>
                      <a:schemeClr val="tx1"/>
                    </a:solidFill>
                    <a:effectLst/>
                    <a:latin typeface="Segoe WPC"/>
                  </a:rPr>
                  <a:t>participation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bound</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𝑐</m:t>
                    </m:r>
                    <m:r>
                      <a:rPr lang="es-PE" sz="900" i="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𝑆</m:t>
                        </m:r>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d>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err="1">
                    <a:solidFill>
                      <a:schemeClr val="tx1"/>
                    </a:solidFill>
                    <a:effectLst/>
                    <a:latin typeface="Segoe WPC"/>
                  </a:rPr>
                  <a:t>Upper</a:t>
                </a:r>
                <a:r>
                  <a:rPr lang="es-PE" sz="900" b="0" i="0" dirty="0">
                    <a:solidFill>
                      <a:schemeClr val="tx1"/>
                    </a:solidFill>
                    <a:effectLst/>
                    <a:latin typeface="Segoe WPC"/>
                  </a:rPr>
                  <a:t> </a:t>
                </a:r>
                <a:r>
                  <a:rPr lang="es-PE" sz="900" b="0" i="0" dirty="0" err="1">
                    <a:solidFill>
                      <a:schemeClr val="tx1"/>
                    </a:solidFill>
                    <a:effectLst/>
                    <a:latin typeface="Segoe WPC"/>
                  </a:rPr>
                  <a:t>bound</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𝑐</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𝑆</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t>
                </a:r>
                <a:r>
                  <a:rPr lang="es-PE" sz="900" b="0" i="0" dirty="0" err="1">
                    <a:solidFill>
                      <a:schemeClr val="tx1"/>
                    </a:solidFill>
                    <a:effectLst/>
                    <a:latin typeface="Segoe WPC"/>
                  </a:rPr>
                  <a:t>bounds</a:t>
                </a:r>
                <a:r>
                  <a:rPr lang="es-PE" sz="900" b="0" i="0" dirty="0">
                    <a:solidFill>
                      <a:schemeClr val="tx1"/>
                    </a:solidFill>
                    <a:effectLst/>
                    <a:latin typeface="Segoe WPC"/>
                  </a:rPr>
                  <a:t> </a:t>
                </a:r>
                <a:r>
                  <a:rPr lang="es-PE" sz="900" b="0" i="0" dirty="0" err="1">
                    <a:solidFill>
                      <a:schemeClr val="tx1"/>
                    </a:solidFill>
                    <a:effectLst/>
                    <a:latin typeface="Segoe WPC"/>
                  </a:rPr>
                  <a:t>apply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calls</a:t>
                </a:r>
                <a:r>
                  <a:rPr lang="es-PE" sz="900" b="0" i="0" dirty="0">
                    <a:solidFill>
                      <a:schemeClr val="tx1"/>
                    </a:solidFill>
                    <a:effectLst/>
                    <a:latin typeface="Segoe WPC"/>
                  </a:rPr>
                  <a:t> and </a:t>
                </a:r>
                <a:r>
                  <a:rPr lang="es-PE" sz="900" b="0" i="0" dirty="0" err="1">
                    <a:solidFill>
                      <a:schemeClr val="tx1"/>
                    </a:solidFill>
                    <a:effectLst/>
                    <a:latin typeface="Segoe WPC"/>
                  </a:rPr>
                  <a:t>also</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American </a:t>
                </a:r>
                <a:r>
                  <a:rPr lang="es-PE" sz="900" b="0" i="0" dirty="0" err="1">
                    <a:solidFill>
                      <a:schemeClr val="tx1"/>
                    </a:solidFill>
                    <a:effectLst/>
                    <a:latin typeface="Segoe WPC"/>
                  </a:rPr>
                  <a:t>calls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non-</a:t>
                </a:r>
                <a:r>
                  <a:rPr lang="es-PE" sz="900" b="0" i="0" dirty="0" err="1">
                    <a:solidFill>
                      <a:schemeClr val="tx1"/>
                    </a:solidFill>
                    <a:effectLst/>
                    <a:latin typeface="Segoe WPC"/>
                  </a:rPr>
                  <a:t>dividend</a:t>
                </a:r>
                <a:r>
                  <a:rPr lang="es-PE" sz="900" b="0" i="0" dirty="0">
                    <a:solidFill>
                      <a:schemeClr val="tx1"/>
                    </a:solidFill>
                    <a:effectLst/>
                    <a:latin typeface="Segoe WPC"/>
                  </a:rPr>
                  <a:t>-</a:t>
                </a:r>
                <a:r>
                  <a:rPr lang="es-PE" sz="900" b="0" i="0" dirty="0" err="1">
                    <a:solidFill>
                      <a:schemeClr val="tx1"/>
                    </a:solidFill>
                    <a:effectLst/>
                    <a:latin typeface="Segoe WPC"/>
                  </a:rPr>
                  <a:t>paying</a:t>
                </a:r>
                <a:r>
                  <a:rPr lang="es-PE" sz="900" b="0" i="0" dirty="0">
                    <a:solidFill>
                      <a:schemeClr val="tx1"/>
                    </a:solidFill>
                    <a:effectLst/>
                    <a:latin typeface="Segoe WPC"/>
                  </a:rPr>
                  <a:t> stocks.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replace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d>
                  </m:oMath>
                </a14:m>
                <a:r>
                  <a:rPr lang="ar-A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𝐾</m:t>
                    </m:r>
                  </m:oMath>
                </a14:m>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bound</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calls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4. </a:t>
                </a:r>
                <a:r>
                  <a:rPr lang="es-PE" sz="900" b="1" i="0" dirty="0" err="1">
                    <a:solidFill>
                      <a:schemeClr val="tx1"/>
                    </a:solidFill>
                    <a:effectLst/>
                    <a:latin typeface="Segoe WPC"/>
                  </a:rPr>
                  <a:t>Impact</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a:t>
                </a:r>
                <a:r>
                  <a:rPr lang="es-PE" sz="900" b="1" i="0" dirty="0" err="1">
                    <a:solidFill>
                      <a:schemeClr val="tx1"/>
                    </a:solidFill>
                    <a:effectLst/>
                    <a:latin typeface="Segoe WPC"/>
                  </a:rPr>
                  <a:t>Dividends</a:t>
                </a:r>
                <a:r>
                  <a:rPr lang="es-PE" sz="900" b="1" i="0" dirty="0">
                    <a:solidFill>
                      <a:schemeClr val="tx1"/>
                    </a:solidFill>
                    <a:effectLst/>
                    <a:latin typeface="Segoe WPC"/>
                  </a:rPr>
                  <a:t> </a:t>
                </a:r>
                <a:r>
                  <a:rPr lang="es-PE" sz="900" b="1" i="0" dirty="0" err="1">
                    <a:solidFill>
                      <a:schemeClr val="tx1"/>
                    </a:solidFill>
                    <a:effectLst/>
                    <a:latin typeface="Segoe WPC"/>
                  </a:rPr>
                  <a:t>on</a:t>
                </a:r>
                <a:r>
                  <a:rPr lang="es-PE" sz="900" b="1" i="0" dirty="0">
                    <a:solidFill>
                      <a:schemeClr val="tx1"/>
                    </a:solidFill>
                    <a:effectLst/>
                    <a:latin typeface="Segoe WPC"/>
                  </a:rPr>
                  <a:t> </a:t>
                </a:r>
                <a:r>
                  <a:rPr lang="es-PE" sz="900" b="1" i="0" dirty="0" err="1">
                    <a:solidFill>
                      <a:schemeClr val="tx1"/>
                    </a:solidFill>
                    <a:effectLst/>
                    <a:latin typeface="Segoe WPC"/>
                  </a:rPr>
                  <a:t>Calls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Dividends</a:t>
                </a:r>
                <a:r>
                  <a:rPr lang="es-PE" sz="900" b="0" i="0" dirty="0">
                    <a:solidFill>
                      <a:schemeClr val="tx1"/>
                    </a:solidFill>
                    <a:effectLst/>
                    <a:latin typeface="Segoe WPC"/>
                  </a:rPr>
                  <a:t> can </a:t>
                </a:r>
                <a:r>
                  <a:rPr lang="es-PE" sz="900" b="0" i="0" dirty="0" err="1">
                    <a:solidFill>
                      <a:schemeClr val="tx1"/>
                    </a:solidFill>
                    <a:effectLst/>
                    <a:latin typeface="Segoe WPC"/>
                  </a:rPr>
                  <a:t>make</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exercise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American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rational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stockholder</a:t>
                </a:r>
                <a:r>
                  <a:rPr lang="es-PE" sz="900" b="0" i="0" dirty="0">
                    <a:solidFill>
                      <a:schemeClr val="tx1"/>
                    </a:solidFill>
                    <a:effectLst/>
                    <a:latin typeface="Segoe WPC"/>
                  </a:rPr>
                  <a:t> </a:t>
                </a:r>
                <a:r>
                  <a:rPr lang="es-PE" sz="900" b="0" i="0" dirty="0" err="1">
                    <a:solidFill>
                      <a:schemeClr val="tx1"/>
                    </a:solidFill>
                    <a:effectLst/>
                    <a:latin typeface="Segoe WPC"/>
                  </a:rPr>
                  <a:t>receives</a:t>
                </a:r>
                <a:r>
                  <a:rPr lang="es-PE" sz="900" b="0" i="0" dirty="0">
                    <a:solidFill>
                      <a:schemeClr val="tx1"/>
                    </a:solidFill>
                    <a:effectLst/>
                    <a:latin typeface="Segoe WPC"/>
                  </a:rPr>
                  <a:t> </a:t>
                </a:r>
                <a:r>
                  <a:rPr lang="es-PE" sz="900" b="0" i="0" dirty="0" err="1">
                    <a:solidFill>
                      <a:schemeClr val="tx1"/>
                    </a:solidFill>
                    <a:effectLst/>
                    <a:latin typeface="Segoe WPC"/>
                  </a:rPr>
                  <a:t>dividends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holder</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so </a:t>
                </a:r>
                <a:r>
                  <a:rPr lang="es-PE" sz="900" b="0" i="0" dirty="0" err="1">
                    <a:solidFill>
                      <a:schemeClr val="tx1"/>
                    </a:solidFill>
                    <a:effectLst/>
                    <a:latin typeface="Segoe WPC"/>
                  </a:rPr>
                  <a:t>exercising</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a:t>
                </a:r>
                <a:r>
                  <a:rPr lang="es-PE" sz="900" b="0" i="0" dirty="0" err="1">
                    <a:solidFill>
                      <a:schemeClr val="tx1"/>
                    </a:solidFill>
                    <a:effectLst/>
                    <a:latin typeface="Segoe WPC"/>
                  </a:rPr>
                  <a:t>before</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ex-dividend</a:t>
                </a:r>
                <a:r>
                  <a:rPr lang="es-PE" sz="900" b="0" i="0" dirty="0">
                    <a:solidFill>
                      <a:schemeClr val="tx1"/>
                    </a:solidFill>
                    <a:effectLst/>
                    <a:latin typeface="Segoe WPC"/>
                  </a:rPr>
                  <a:t> date </a:t>
                </a:r>
                <a:r>
                  <a:rPr lang="es-PE" sz="900" b="0" i="0" dirty="0" err="1">
                    <a:solidFill>
                      <a:schemeClr val="tx1"/>
                    </a:solidFill>
                    <a:effectLst/>
                    <a:latin typeface="Segoe WPC"/>
                  </a:rPr>
                  <a:t>may</a:t>
                </a:r>
                <a:r>
                  <a:rPr lang="es-PE" sz="900" b="0" i="0" dirty="0">
                    <a:solidFill>
                      <a:schemeClr val="tx1"/>
                    </a:solidFill>
                    <a:effectLst/>
                    <a:latin typeface="Segoe WPC"/>
                  </a:rPr>
                  <a:t> be </a:t>
                </a:r>
                <a:r>
                  <a:rPr lang="es-PE" sz="900" b="0" i="0" dirty="0" err="1">
                    <a:solidFill>
                      <a:schemeClr val="tx1"/>
                    </a:solidFill>
                    <a:effectLst/>
                    <a:latin typeface="Segoe WPC"/>
                  </a:rPr>
                  <a:t>optimal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dividend</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enough</a:t>
                </a:r>
                <a:r>
                  <a:rPr lang="es-PE" sz="900" b="0" i="0" dirty="0">
                    <a:solidFill>
                      <a:schemeClr val="tx1"/>
                    </a:solidFill>
                    <a:effectLst/>
                    <a:latin typeface="Segoe WPC"/>
                  </a:rPr>
                  <a:t>, </a:t>
                </a:r>
                <a:r>
                  <a:rPr lang="es-PE" sz="900" b="0" i="0" dirty="0" err="1">
                    <a:solidFill>
                      <a:schemeClr val="tx1"/>
                    </a:solidFill>
                    <a:effectLst/>
                    <a:latin typeface="Segoe WPC"/>
                  </a:rPr>
                  <a:t>owning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 </a:t>
                </a:r>
                <a:r>
                  <a:rPr lang="es-PE" sz="900" b="0" i="0" dirty="0" err="1">
                    <a:solidFill>
                      <a:schemeClr val="tx1"/>
                    </a:solidFill>
                    <a:effectLst/>
                    <a:latin typeface="Segoe WPC"/>
                  </a:rPr>
                  <a:t>becomes</a:t>
                </a:r>
                <a:r>
                  <a:rPr lang="es-PE" sz="900" b="0" i="0" dirty="0">
                    <a:solidFill>
                      <a:schemeClr val="tx1"/>
                    </a:solidFill>
                    <a:effectLst/>
                    <a:latin typeface="Segoe WPC"/>
                  </a:rPr>
                  <a:t> </a:t>
                </a:r>
                <a:r>
                  <a:rPr lang="es-PE" sz="900" b="0" i="0" dirty="0" err="1">
                    <a:solidFill>
                      <a:schemeClr val="tx1"/>
                    </a:solidFill>
                    <a:effectLst/>
                    <a:latin typeface="Segoe WPC"/>
                  </a:rPr>
                  <a:t>better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keeping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alive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bound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dividends</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𝑐</m:t>
                        </m:r>
                      </m:e>
                      <m:sub>
                        <m:r>
                          <a:rPr lang="ar-AE" sz="900" i="1">
                            <a:solidFill>
                              <a:schemeClr val="tx1"/>
                            </a:solidFill>
                            <a:latin typeface="Cambria Math" panose="02040503050406030204" pitchFamily="18" charset="0"/>
                          </a:rPr>
                          <m:t>𝐸</m:t>
                        </m:r>
                      </m:sub>
                    </m:sSub>
                    <m:r>
                      <a:rPr lang="ar-AE" sz="900" i="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𝑆</m:t>
                        </m:r>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m:rPr>
                                <m:nor/>
                              </m:rPr>
                              <a:rPr lang="es-PE" sz="900" b="0" i="1">
                                <a:solidFill>
                                  <a:schemeClr val="tx1"/>
                                </a:solidFill>
                                <a:latin typeface="Cambria Math" panose="02040503050406030204" pitchFamily="18" charset="0"/>
                              </a:rPr>
                              <m:t>Divs</m:t>
                            </m:r>
                          </m:e>
                        </m:d>
                        <m:r>
                          <a:rPr lang="ar-AE" sz="900" b="0" i="0">
                            <a:solidFill>
                              <a:schemeClr val="tx1"/>
                            </a:solidFill>
                            <a:latin typeface="Cambria Math" panose="02040503050406030204" pitchFamily="18" charset="0"/>
                          </a:rPr>
                          <m:t>0</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Dividends</a:t>
                </a:r>
                <a:r>
                  <a:rPr lang="es-PE" sz="900" b="0" i="0" dirty="0">
                    <a:solidFill>
                      <a:schemeClr val="tx1"/>
                    </a:solidFill>
                    <a:effectLst/>
                    <a:latin typeface="Segoe WPC"/>
                  </a:rPr>
                  <a:t> reduce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future stock </a:t>
                </a:r>
                <a:r>
                  <a:rPr lang="es-PE" sz="900" b="0" i="0" dirty="0" err="1">
                    <a:solidFill>
                      <a:schemeClr val="tx1"/>
                    </a:solidFill>
                    <a:effectLst/>
                    <a:latin typeface="Segoe WPC"/>
                  </a:rPr>
                  <a:t>prices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dividends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bound</a:t>
                </a:r>
                <a:r>
                  <a:rPr lang="es-PE" sz="900" b="0" i="0" dirty="0">
                    <a:solidFill>
                      <a:schemeClr val="tx1"/>
                    </a:solidFill>
                    <a:effectLst/>
                    <a:latin typeface="Segoe WPC"/>
                  </a:rPr>
                  <a:t> </a:t>
                </a:r>
                <a:r>
                  <a:rPr lang="es-PE" sz="900" b="0" i="0" dirty="0" err="1">
                    <a:solidFill>
                      <a:schemeClr val="tx1"/>
                    </a:solidFill>
                    <a:effectLst/>
                    <a:latin typeface="Segoe WPC"/>
                  </a:rPr>
                  <a:t>above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calls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American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be </a:t>
                </a:r>
                <a:r>
                  <a:rPr lang="es-PE" sz="900" b="0" i="0" dirty="0" err="1">
                    <a:solidFill>
                      <a:schemeClr val="tx1"/>
                    </a:solidFill>
                    <a:effectLst/>
                    <a:latin typeface="Segoe WPC"/>
                  </a:rPr>
                  <a:t>worth</a:t>
                </a:r>
                <a:r>
                  <a:rPr lang="es-PE" sz="900" b="0" i="0" dirty="0">
                    <a:solidFill>
                      <a:schemeClr val="tx1"/>
                    </a:solidFill>
                    <a:effectLst/>
                    <a:latin typeface="Segoe WPC"/>
                  </a:rPr>
                  <a:t> more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exercise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possible</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5. </a:t>
                </a:r>
                <a:r>
                  <a:rPr lang="es-PE" sz="900" b="1" i="0" dirty="0" err="1">
                    <a:solidFill>
                      <a:schemeClr val="tx1"/>
                    </a:solidFill>
                    <a:effectLst/>
                    <a:latin typeface="Segoe WPC"/>
                  </a:rPr>
                  <a:t>Employee</a:t>
                </a:r>
                <a:r>
                  <a:rPr lang="es-PE" sz="900" b="1" i="0" dirty="0">
                    <a:solidFill>
                      <a:schemeClr val="tx1"/>
                    </a:solidFill>
                    <a:effectLst/>
                    <a:latin typeface="Segoe WPC"/>
                  </a:rPr>
                  <a:t> Stock </a:t>
                </a:r>
                <a:r>
                  <a:rPr lang="es-PE" sz="900" b="1" i="0" dirty="0" err="1">
                    <a:solidFill>
                      <a:schemeClr val="tx1"/>
                    </a:solidFill>
                    <a:effectLst/>
                    <a:latin typeface="Segoe WPC"/>
                  </a:rPr>
                  <a:t>Options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Employee</a:t>
                </a:r>
                <a:r>
                  <a:rPr lang="es-PE" sz="900" b="0" i="0" dirty="0">
                    <a:solidFill>
                      <a:schemeClr val="tx1"/>
                    </a:solidFill>
                    <a:effectLst/>
                    <a:latin typeface="Segoe WPC"/>
                  </a:rPr>
                  <a:t> stock </a:t>
                </a:r>
                <a:r>
                  <a:rPr lang="es-PE" sz="900" b="0" i="0" dirty="0" err="1">
                    <a:solidFill>
                      <a:schemeClr val="tx1"/>
                    </a:solidFill>
                    <a:effectLst/>
                    <a:latin typeface="Segoe WPC"/>
                  </a:rPr>
                  <a:t>options</a:t>
                </a:r>
                <a:r>
                  <a:rPr lang="es-PE" sz="900" b="0" i="0" dirty="0">
                    <a:solidFill>
                      <a:schemeClr val="tx1"/>
                    </a:solidFill>
                    <a:effectLst/>
                    <a:latin typeface="Segoe WPC"/>
                  </a:rPr>
                  <a:t> are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exercised</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even</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non-</a:t>
                </a:r>
                <a:r>
                  <a:rPr lang="es-PE" sz="900" b="0" i="0" dirty="0" err="1">
                    <a:solidFill>
                      <a:schemeClr val="tx1"/>
                    </a:solidFill>
                    <a:effectLst/>
                    <a:latin typeface="Segoe WPC"/>
                  </a:rPr>
                  <a:t>dividend</a:t>
                </a:r>
                <a:r>
                  <a:rPr lang="es-PE" sz="900" b="0" i="0" dirty="0">
                    <a:solidFill>
                      <a:schemeClr val="tx1"/>
                    </a:solidFill>
                    <a:effectLst/>
                    <a:latin typeface="Segoe WPC"/>
                  </a:rPr>
                  <a:t>-</a:t>
                </a:r>
                <a:r>
                  <a:rPr lang="es-PE" sz="900" b="0" i="0" dirty="0" err="1">
                    <a:solidFill>
                      <a:schemeClr val="tx1"/>
                    </a:solidFill>
                    <a:effectLst/>
                    <a:latin typeface="Segoe WPC"/>
                  </a:rPr>
                  <a:t>paying</a:t>
                </a:r>
                <a:r>
                  <a:rPr lang="es-PE" sz="900" b="0" i="0" dirty="0">
                    <a:solidFill>
                      <a:schemeClr val="tx1"/>
                    </a:solidFill>
                    <a:effectLst/>
                    <a:latin typeface="Segoe WPC"/>
                  </a:rPr>
                  <a:t> stocks.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necessarily</a:t>
                </a:r>
                <a:r>
                  <a:rPr lang="es-PE" sz="900" b="0" i="0" dirty="0">
                    <a:solidFill>
                      <a:schemeClr val="tx1"/>
                    </a:solidFill>
                    <a:effectLst/>
                    <a:latin typeface="Segoe WPC"/>
                  </a:rPr>
                  <a:t> </a:t>
                </a:r>
                <a:r>
                  <a:rPr lang="es-PE" sz="900" b="0" i="0" dirty="0" err="1">
                    <a:solidFill>
                      <a:schemeClr val="tx1"/>
                    </a:solidFill>
                    <a:effectLst/>
                    <a:latin typeface="Segoe WPC"/>
                  </a:rPr>
                  <a:t>irrational</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employees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cannot</a:t>
                </a:r>
                <a:r>
                  <a:rPr lang="es-PE" sz="900" b="0" i="0" dirty="0">
                    <a:solidFill>
                      <a:schemeClr val="tx1"/>
                    </a:solidFill>
                    <a:effectLst/>
                    <a:latin typeface="Segoe WPC"/>
                  </a:rPr>
                  <a:t> </a:t>
                </a:r>
                <a:r>
                  <a:rPr lang="es-PE" sz="900" b="0" i="0" dirty="0" err="1">
                    <a:solidFill>
                      <a:schemeClr val="tx1"/>
                    </a:solidFill>
                    <a:effectLst/>
                    <a:latin typeface="Segoe WPC"/>
                  </a:rPr>
                  <a:t>sell</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itself</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employee</a:t>
                </a:r>
                <a:r>
                  <a:rPr lang="es-PE" sz="900" b="0" i="0" dirty="0">
                    <a:solidFill>
                      <a:schemeClr val="tx1"/>
                    </a:solidFill>
                    <a:effectLst/>
                    <a:latin typeface="Segoe WPC"/>
                  </a:rPr>
                  <a:t> </a:t>
                </a:r>
                <a:r>
                  <a:rPr lang="es-PE" sz="900" b="0" i="0" dirty="0" err="1">
                    <a:solidFill>
                      <a:schemeClr val="tx1"/>
                    </a:solidFill>
                    <a:effectLst/>
                    <a:latin typeface="Segoe WPC"/>
                  </a:rPr>
                  <a:t>wants</a:t>
                </a:r>
                <a:r>
                  <a:rPr lang="es-PE" sz="900" b="0" i="0" dirty="0">
                    <a:solidFill>
                      <a:schemeClr val="tx1"/>
                    </a:solidFill>
                    <a:effectLst/>
                    <a:latin typeface="Segoe WPC"/>
                  </a:rPr>
                  <a:t> cash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cannot</a:t>
                </a:r>
                <a:r>
                  <a:rPr lang="es-PE" sz="900" b="0" i="0" dirty="0">
                    <a:solidFill>
                      <a:schemeClr val="tx1"/>
                    </a:solidFill>
                    <a:effectLst/>
                    <a:latin typeface="Segoe WPC"/>
                  </a:rPr>
                  <a:t> </a:t>
                </a:r>
                <a:r>
                  <a:rPr lang="es-PE" sz="900" b="0" i="0" dirty="0" err="1">
                    <a:solidFill>
                      <a:schemeClr val="tx1"/>
                    </a:solidFill>
                    <a:effectLst/>
                    <a:latin typeface="Segoe WPC"/>
                  </a:rPr>
                  <a:t>trade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exercising</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way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realize</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Exchange-</a:t>
                </a:r>
                <a:r>
                  <a:rPr lang="es-PE" sz="900" b="0" i="0" dirty="0" err="1">
                    <a:solidFill>
                      <a:schemeClr val="tx1"/>
                    </a:solidFill>
                    <a:effectLst/>
                    <a:latin typeface="Segoe WPC"/>
                  </a:rPr>
                  <a:t>traded</a:t>
                </a:r>
                <a:r>
                  <a:rPr lang="es-PE" sz="900" b="0" i="0" dirty="0">
                    <a:solidFill>
                      <a:schemeClr val="tx1"/>
                    </a:solidFill>
                    <a:effectLst/>
                    <a:latin typeface="Segoe WPC"/>
                  </a:rPr>
                  <a:t> </a:t>
                </a:r>
                <a:r>
                  <a:rPr lang="es-PE" sz="900" b="0" i="0" dirty="0" err="1">
                    <a:solidFill>
                      <a:schemeClr val="tx1"/>
                    </a:solidFill>
                    <a:effectLst/>
                    <a:latin typeface="Segoe WPC"/>
                  </a:rPr>
                  <a:t>logic</a:t>
                </a:r>
                <a:r>
                  <a:rPr lang="es-PE" sz="900" b="0" i="0" dirty="0">
                    <a:solidFill>
                      <a:schemeClr val="tx1"/>
                    </a:solidFill>
                    <a:effectLst/>
                    <a:latin typeface="Segoe WPC"/>
                  </a:rPr>
                  <a:t> </a:t>
                </a:r>
                <a:r>
                  <a:rPr lang="es-PE" sz="900" b="0" i="0" dirty="0" err="1">
                    <a:solidFill>
                      <a:schemeClr val="tx1"/>
                    </a:solidFill>
                    <a:effectLst/>
                    <a:latin typeface="Segoe WPC"/>
                  </a:rPr>
                  <a:t>says</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exercise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suboptimal</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non-</a:t>
                </a:r>
                <a:r>
                  <a:rPr lang="es-PE" sz="900" b="0" i="0" dirty="0" err="1">
                    <a:solidFill>
                      <a:schemeClr val="tx1"/>
                    </a:solidFill>
                    <a:effectLst/>
                    <a:latin typeface="Segoe WPC"/>
                  </a:rPr>
                  <a:t>transferability</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conclusion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Restrictions</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non-</a:t>
                </a:r>
                <a:r>
                  <a:rPr lang="es-PE" sz="900" b="0" i="0" dirty="0" err="1">
                    <a:solidFill>
                      <a:schemeClr val="tx1"/>
                    </a:solidFill>
                    <a:effectLst/>
                    <a:latin typeface="Segoe WPC"/>
                  </a:rPr>
                  <a:t>transferability</a:t>
                </a:r>
                <a:r>
                  <a:rPr lang="es-PE" sz="900" b="0" i="0" dirty="0">
                    <a:solidFill>
                      <a:schemeClr val="tx1"/>
                    </a:solidFill>
                    <a:effectLst/>
                    <a:latin typeface="Segoe WPC"/>
                  </a:rPr>
                  <a:t> and </a:t>
                </a:r>
                <a:r>
                  <a:rPr lang="es-PE" sz="900" b="0" i="0" dirty="0" err="1">
                    <a:solidFill>
                      <a:schemeClr val="tx1"/>
                    </a:solidFill>
                    <a:effectLst/>
                    <a:latin typeface="Segoe WPC"/>
                  </a:rPr>
                  <a:t>forfeiture</a:t>
                </a:r>
                <a:r>
                  <a:rPr lang="es-PE" sz="900" b="0" i="0" dirty="0">
                    <a:solidFill>
                      <a:schemeClr val="tx1"/>
                    </a:solidFill>
                    <a:effectLst/>
                    <a:latin typeface="Segoe WPC"/>
                  </a:rPr>
                  <a:t> </a:t>
                </a:r>
                <a:r>
                  <a:rPr lang="es-PE" sz="900" b="0" i="0" dirty="0" err="1">
                    <a:solidFill>
                      <a:schemeClr val="tx1"/>
                    </a:solidFill>
                    <a:effectLst/>
                    <a:latin typeface="Segoe WPC"/>
                  </a:rPr>
                  <a:t>explain</a:t>
                </a:r>
                <a:r>
                  <a:rPr lang="es-PE" sz="900" b="0" i="0" dirty="0">
                    <a:solidFill>
                      <a:schemeClr val="tx1"/>
                    </a:solidFill>
                    <a:effectLst/>
                    <a:latin typeface="Segoe WPC"/>
                  </a:rPr>
                  <a:t> </a:t>
                </a:r>
                <a:r>
                  <a:rPr lang="es-PE" sz="900" b="0" i="0" dirty="0" err="1">
                    <a:solidFill>
                      <a:schemeClr val="tx1"/>
                    </a:solidFill>
                    <a:effectLst/>
                    <a:latin typeface="Segoe WPC"/>
                  </a:rPr>
                  <a:t>earlier</a:t>
                </a:r>
                <a:r>
                  <a:rPr lang="es-PE" sz="900" b="0" i="0" dirty="0">
                    <a:solidFill>
                      <a:schemeClr val="tx1"/>
                    </a:solidFill>
                    <a:effectLst/>
                    <a:latin typeface="Segoe WPC"/>
                  </a:rPr>
                  <a:t> </a:t>
                </a:r>
                <a:r>
                  <a:rPr lang="es-PE" sz="900" b="0" i="0" dirty="0" err="1">
                    <a:solidFill>
                      <a:schemeClr val="tx1"/>
                    </a:solidFill>
                    <a:effectLst/>
                    <a:latin typeface="Segoe WPC"/>
                  </a:rPr>
                  <a:t>exercise</a:t>
                </a:r>
                <a:r>
                  <a:rPr lang="es-PE" sz="900" b="0" i="0" dirty="0">
                    <a:solidFill>
                      <a:schemeClr val="tx1"/>
                    </a:solidFill>
                    <a:effectLst/>
                    <a:latin typeface="Segoe WPC"/>
                  </a:rPr>
                  <a:t> </a:t>
                </a:r>
                <a:r>
                  <a:rPr lang="es-PE" sz="900" b="0" i="0" dirty="0" err="1">
                    <a:solidFill>
                      <a:schemeClr val="tx1"/>
                    </a:solidFill>
                    <a:effectLst/>
                    <a:latin typeface="Segoe WPC"/>
                  </a:rPr>
                  <a:t>behavior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apply</a:t>
                </a:r>
                <a:r>
                  <a:rPr lang="es-PE" sz="900" b="0" i="0" dirty="0">
                    <a:solidFill>
                      <a:schemeClr val="tx1"/>
                    </a:solidFill>
                    <a:effectLst/>
                    <a:latin typeface="Segoe WPC"/>
                  </a:rPr>
                  <a:t> </a:t>
                </a:r>
                <a:r>
                  <a:rPr lang="es-PE" sz="900" b="0" i="0" dirty="0" err="1">
                    <a:solidFill>
                      <a:schemeClr val="tx1"/>
                    </a:solidFill>
                    <a:effectLst/>
                    <a:latin typeface="Segoe WPC"/>
                  </a:rPr>
                  <a:t>exchange-traded</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logic</a:t>
                </a:r>
                <a:r>
                  <a:rPr lang="es-PE" sz="900" b="0" i="0" dirty="0">
                    <a:solidFill>
                      <a:schemeClr val="tx1"/>
                    </a:solidFill>
                    <a:effectLst/>
                    <a:latin typeface="Segoe WPC"/>
                  </a:rPr>
                  <a:t> </a:t>
                </a:r>
                <a:r>
                  <a:rPr lang="es-PE" sz="900" b="0" i="0" dirty="0" err="1">
                    <a:solidFill>
                      <a:schemeClr val="tx1"/>
                    </a:solidFill>
                    <a:effectLst/>
                    <a:latin typeface="Segoe WPC"/>
                  </a:rPr>
                  <a:t>mechanically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employee</a:t>
                </a:r>
                <a:r>
                  <a:rPr lang="es-PE" sz="900" b="0" i="0" dirty="0">
                    <a:solidFill>
                      <a:schemeClr val="tx1"/>
                    </a:solidFill>
                    <a:effectLst/>
                    <a:latin typeface="Segoe WPC"/>
                  </a:rPr>
                  <a:t> stock </a:t>
                </a:r>
                <a:r>
                  <a:rPr lang="es-PE" sz="900" b="0" i="0" dirty="0" err="1">
                    <a:solidFill>
                      <a:schemeClr val="tx1"/>
                    </a:solidFill>
                    <a:effectLst/>
                    <a:latin typeface="Segoe WPC"/>
                  </a:rPr>
                  <a:t>options</a:t>
                </a:r>
                <a:r>
                  <a:rPr lang="es-PE" sz="900" b="0" i="0" dirty="0">
                    <a:solidFill>
                      <a:schemeClr val="tx1"/>
                    </a:solidFill>
                    <a:effectLst/>
                    <a:latin typeface="Segoe WPC"/>
                  </a:rPr>
                  <a:t>.</a:t>
                </a:r>
              </a:p>
            </p:txBody>
          </p:sp>
        </mc:Choice>
        <mc:Fallback xmlns="">
          <p:sp>
            <p:nvSpPr>
              <p:cNvPr id="7" name="CuadroTexto 6">
                <a:extLst>
                  <a:ext uri="{FF2B5EF4-FFF2-40B4-BE49-F238E27FC236}">
                    <a16:creationId xmlns:a16="http://schemas.microsoft.com/office/drawing/2014/main" id="{CEF92F4F-CA5E-D09F-B6F9-F779F194C4D9}"/>
                  </a:ext>
                </a:extLst>
              </p:cNvPr>
              <p:cNvSpPr txBox="1">
                <a:spLocks noRot="1" noChangeAspect="1" noMove="1" noResize="1" noEditPoints="1" noAdjustHandles="1" noChangeArrowheads="1" noChangeShapeType="1" noTextEdit="1"/>
              </p:cNvSpPr>
              <p:nvPr/>
            </p:nvSpPr>
            <p:spPr>
              <a:xfrm>
                <a:off x="0" y="411946"/>
                <a:ext cx="6143624" cy="6663363"/>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F6232BC-AE68-0BA9-7CCE-2827CAF3A95C}"/>
                  </a:ext>
                </a:extLst>
              </p:cNvPr>
              <p:cNvSpPr txBox="1"/>
              <p:nvPr/>
            </p:nvSpPr>
            <p:spPr>
              <a:xfrm>
                <a:off x="5967413" y="264934"/>
                <a:ext cx="6143624" cy="5262979"/>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6. </a:t>
                </a:r>
                <a:r>
                  <a:rPr lang="es-PE" sz="900" b="1" i="0" dirty="0" err="1">
                    <a:solidFill>
                      <a:schemeClr val="tx1"/>
                    </a:solidFill>
                    <a:effectLst/>
                    <a:latin typeface="Segoe WPC"/>
                  </a:rPr>
                  <a:t>Put</a:t>
                </a:r>
                <a:r>
                  <a:rPr lang="es-PE" sz="900" b="1" i="0" dirty="0">
                    <a:solidFill>
                      <a:schemeClr val="tx1"/>
                    </a:solidFill>
                    <a:effectLst/>
                    <a:latin typeface="Segoe WPC"/>
                  </a:rPr>
                  <a:t> </a:t>
                </a:r>
                <a:r>
                  <a:rPr lang="es-PE" sz="900" b="1" i="0" dirty="0" err="1">
                    <a:solidFill>
                      <a:schemeClr val="tx1"/>
                    </a:solidFill>
                    <a:effectLst/>
                    <a:latin typeface="Segoe WPC"/>
                  </a:rPr>
                  <a:t>Options</a:t>
                </a:r>
                <a:r>
                  <a:rPr lang="es-PE" sz="900" b="1" i="0" dirty="0">
                    <a:solidFill>
                      <a:schemeClr val="tx1"/>
                    </a:solidFill>
                    <a:effectLst/>
                    <a:latin typeface="Segoe WPC"/>
                  </a:rPr>
                  <a:t> and </a:t>
                </a:r>
                <a:r>
                  <a:rPr lang="es-PE" sz="900" b="1" i="0" dirty="0" err="1">
                    <a:solidFill>
                      <a:schemeClr val="tx1"/>
                    </a:solidFill>
                    <a:effectLst/>
                    <a:latin typeface="Segoe WPC"/>
                  </a:rPr>
                  <a:t>Early</a:t>
                </a:r>
                <a:r>
                  <a:rPr lang="es-PE" sz="900" b="1" i="0" dirty="0">
                    <a:solidFill>
                      <a:schemeClr val="tx1"/>
                    </a:solidFill>
                    <a:effectLst/>
                    <a:latin typeface="Segoe WPC"/>
                  </a:rPr>
                  <a:t> </a:t>
                </a:r>
                <a:r>
                  <a:rPr lang="es-PE" sz="900" b="1" i="0" dirty="0" err="1">
                    <a:solidFill>
                      <a:schemeClr val="tx1"/>
                    </a:solidFill>
                    <a:effectLst/>
                    <a:latin typeface="Segoe WPC"/>
                  </a:rPr>
                  <a:t>Exercise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American </a:t>
                </a:r>
                <a:r>
                  <a:rPr lang="es-PE" sz="900" b="0" i="0" dirty="0" err="1">
                    <a:solidFill>
                      <a:schemeClr val="tx1"/>
                    </a:solidFill>
                    <a:effectLst/>
                    <a:latin typeface="Segoe WPC"/>
                  </a:rPr>
                  <a:t>puts</a:t>
                </a:r>
                <a:r>
                  <a:rPr lang="es-PE" sz="900" b="0" i="0" dirty="0">
                    <a:solidFill>
                      <a:schemeClr val="tx1"/>
                    </a:solidFill>
                    <a:effectLst/>
                    <a:latin typeface="Segoe WPC"/>
                  </a:rPr>
                  <a:t> can be </a:t>
                </a:r>
                <a:r>
                  <a:rPr lang="es-PE" sz="900" b="0" i="0" dirty="0" err="1">
                    <a:solidFill>
                      <a:schemeClr val="tx1"/>
                    </a:solidFill>
                    <a:effectLst/>
                    <a:latin typeface="Segoe WPC"/>
                  </a:rPr>
                  <a:t>exercised</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even</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 </a:t>
                </a:r>
                <a:r>
                  <a:rPr lang="es-PE" sz="900" b="0" i="0" dirty="0" err="1">
                    <a:solidFill>
                      <a:schemeClr val="tx1"/>
                    </a:solidFill>
                    <a:effectLst/>
                    <a:latin typeface="Segoe WPC"/>
                  </a:rPr>
                  <a:t>pays</a:t>
                </a:r>
                <a:r>
                  <a:rPr lang="es-PE" sz="900" b="0" i="0" dirty="0">
                    <a:solidFill>
                      <a:schemeClr val="tx1"/>
                    </a:solidFill>
                    <a:effectLst/>
                    <a:latin typeface="Segoe WPC"/>
                  </a:rPr>
                  <a:t> no </a:t>
                </a:r>
                <a:r>
                  <a:rPr lang="es-PE" sz="900" b="0" i="0" dirty="0" err="1">
                    <a:solidFill>
                      <a:schemeClr val="tx1"/>
                    </a:solidFill>
                    <a:effectLst/>
                    <a:latin typeface="Segoe WPC"/>
                  </a:rPr>
                  <a:t>dividends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holder</a:t>
                </a:r>
                <a:r>
                  <a:rPr lang="es-PE" sz="900" b="0" i="0" dirty="0">
                    <a:solidFill>
                      <a:schemeClr val="tx1"/>
                    </a:solidFill>
                    <a:effectLst/>
                    <a:latin typeface="Segoe WPC"/>
                  </a:rPr>
                  <a:t> </a:t>
                </a:r>
                <a:r>
                  <a:rPr lang="es-PE" sz="900" b="0" i="0" dirty="0" err="1">
                    <a:solidFill>
                      <a:schemeClr val="tx1"/>
                    </a:solidFill>
                    <a:effectLst/>
                    <a:latin typeface="Segoe WPC"/>
                  </a:rPr>
                  <a:t>receives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strike </a:t>
                </a:r>
                <a:r>
                  <a:rPr lang="es-PE" sz="900" b="0" i="0" dirty="0" err="1">
                    <a:solidFill>
                      <a:schemeClr val="tx1"/>
                    </a:solidFill>
                    <a:effectLst/>
                    <a:latin typeface="Segoe WPC"/>
                  </a:rPr>
                  <a:t>upon</a:t>
                </a:r>
                <a:r>
                  <a:rPr lang="es-PE" sz="900" b="0" i="0" dirty="0">
                    <a:solidFill>
                      <a:schemeClr val="tx1"/>
                    </a:solidFill>
                    <a:effectLst/>
                    <a:latin typeface="Segoe WPC"/>
                  </a:rPr>
                  <a:t> </a:t>
                </a:r>
                <a:r>
                  <a:rPr lang="es-PE" sz="900" b="0" i="0" dirty="0" err="1">
                    <a:solidFill>
                      <a:schemeClr val="tx1"/>
                    </a:solidFill>
                    <a:effectLst/>
                    <a:latin typeface="Segoe WPC"/>
                  </a:rPr>
                  <a:t>exercise</a:t>
                </a:r>
                <a:r>
                  <a:rPr lang="es-PE" sz="900" b="0" i="0" dirty="0">
                    <a:solidFill>
                      <a:schemeClr val="tx1"/>
                    </a:solidFill>
                    <a:effectLst/>
                    <a:latin typeface="Segoe WPC"/>
                  </a:rPr>
                  <a:t>, so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exercise</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be </a:t>
                </a:r>
                <a:r>
                  <a:rPr lang="es-PE" sz="900" b="0" i="0" dirty="0" err="1">
                    <a:solidFill>
                      <a:schemeClr val="tx1"/>
                    </a:solidFill>
                    <a:effectLst/>
                    <a:latin typeface="Segoe WPC"/>
                  </a:rPr>
                  <a:t>attractive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cash can be </a:t>
                </a:r>
                <a:r>
                  <a:rPr lang="es-PE" sz="900" b="0" i="0" dirty="0" err="1">
                    <a:solidFill>
                      <a:schemeClr val="tx1"/>
                    </a:solidFill>
                    <a:effectLst/>
                    <a:latin typeface="Segoe WPC"/>
                  </a:rPr>
                  <a:t>invested</a:t>
                </a:r>
                <a:r>
                  <a:rPr lang="es-PE" sz="900" b="0" i="0" dirty="0">
                    <a:solidFill>
                      <a:schemeClr val="tx1"/>
                    </a:solidFill>
                    <a:effectLst/>
                    <a:latin typeface="Segoe WPC"/>
                  </a:rPr>
                  <a:t> </a:t>
                </a:r>
                <a:r>
                  <a:rPr lang="es-PE" sz="900" b="0" i="0" dirty="0" err="1">
                    <a:solidFill>
                      <a:schemeClr val="tx1"/>
                    </a:solidFill>
                    <a:effectLst/>
                    <a:latin typeface="Segoe WPC"/>
                  </a:rPr>
                  <a:t>immediately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Deep </a:t>
                </a:r>
                <a:r>
                  <a:rPr lang="es-PE" sz="900" b="0" i="0" dirty="0" err="1">
                    <a:solidFill>
                      <a:schemeClr val="tx1"/>
                    </a:solidFill>
                    <a:effectLst/>
                    <a:latin typeface="Segoe WPC"/>
                  </a:rPr>
                  <a:t>in-the-money</a:t>
                </a:r>
                <a:r>
                  <a:rPr lang="es-PE" sz="900" b="0" i="0" dirty="0">
                    <a:solidFill>
                      <a:schemeClr val="tx1"/>
                    </a:solidFill>
                    <a:effectLst/>
                    <a:latin typeface="Segoe WPC"/>
                  </a:rPr>
                  <a:t> </a:t>
                </a:r>
                <a:r>
                  <a:rPr lang="es-PE" sz="900" b="0" i="0" dirty="0" err="1">
                    <a:solidFill>
                      <a:schemeClr val="tx1"/>
                    </a:solidFill>
                    <a:effectLst/>
                    <a:latin typeface="Segoe WPC"/>
                  </a:rPr>
                  <a:t>puts</a:t>
                </a:r>
                <a:r>
                  <a:rPr lang="es-PE" sz="900" b="0" i="0" dirty="0">
                    <a:solidFill>
                      <a:schemeClr val="tx1"/>
                    </a:solidFill>
                    <a:effectLst/>
                    <a:latin typeface="Segoe WPC"/>
                  </a:rPr>
                  <a:t> are prime candidates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exercise</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very</a:t>
                </a:r>
                <a:r>
                  <a:rPr lang="es-PE" sz="900" b="0" i="0" dirty="0">
                    <a:solidFill>
                      <a:schemeClr val="tx1"/>
                    </a:solidFill>
                    <a:effectLst/>
                    <a:latin typeface="Segoe WPC"/>
                  </a:rPr>
                  <a:t> </a:t>
                </a:r>
                <a:r>
                  <a:rPr lang="es-PE" sz="900" b="0" i="0" dirty="0" err="1">
                    <a:solidFill>
                      <a:schemeClr val="tx1"/>
                    </a:solidFill>
                    <a:effectLst/>
                    <a:latin typeface="Segoe WPC"/>
                  </a:rPr>
                  <a:t>low</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bound</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1">
                            <a:solidFill>
                              <a:schemeClr val="tx1"/>
                            </a:solidFill>
                            <a:latin typeface="Cambria Math" panose="02040503050406030204" pitchFamily="18" charset="0"/>
                          </a:rPr>
                          <m:t>𝐸</m:t>
                        </m:r>
                      </m:sub>
                    </m:sSub>
                    <m:r>
                      <a:rPr lang="ar-AE" sz="900" i="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𝑃</m:t>
                        </m:r>
                      </m:e>
                      <m:e>
                        <m:r>
                          <a:rPr lang="ar-AE" sz="900" i="1">
                            <a:solidFill>
                              <a:schemeClr val="tx1"/>
                            </a:solidFill>
                            <a:latin typeface="Cambria Math" panose="02040503050406030204" pitchFamily="18" charset="0"/>
                          </a:rPr>
                          <m:t>𝑉</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𝑆</m:t>
                        </m:r>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a:solidFill>
                      <a:schemeClr val="tx1"/>
                    </a:solidFill>
                    <a:effectLst/>
                    <a:latin typeface="Segoe WPC"/>
                  </a:rPr>
                  <a:t>American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bound</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1">
                            <a:solidFill>
                              <a:schemeClr val="tx1"/>
                            </a:solidFill>
                            <a:latin typeface="Cambria Math" panose="02040503050406030204" pitchFamily="18" charset="0"/>
                          </a:rPr>
                          <m:t>𝐴</m:t>
                        </m:r>
                      </m:sub>
                    </m:sSub>
                    <m:r>
                      <a:rPr lang="ar-AE" sz="900" i="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𝑆</m:t>
                        </m:r>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exercise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more </a:t>
                </a:r>
                <a:r>
                  <a:rPr lang="es-PE" sz="900" b="0" i="0" dirty="0" err="1">
                    <a:solidFill>
                      <a:schemeClr val="tx1"/>
                    </a:solidFill>
                    <a:effectLst/>
                    <a:latin typeface="Segoe WPC"/>
                  </a:rPr>
                  <a:t>attractive</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puts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are </a:t>
                </a:r>
                <a:r>
                  <a:rPr lang="es-PE" sz="900" b="0" i="0" dirty="0" err="1">
                    <a:solidFill>
                      <a:schemeClr val="tx1"/>
                    </a:solidFill>
                    <a:effectLst/>
                    <a:latin typeface="Segoe WPC"/>
                  </a:rPr>
                  <a:t>high</a:t>
                </a:r>
                <a:r>
                  <a:rPr lang="es-PE" sz="900" b="0" i="0" dirty="0">
                    <a:solidFill>
                      <a:schemeClr val="tx1"/>
                    </a:solidFill>
                    <a:effectLst/>
                    <a:latin typeface="Segoe WPC"/>
                  </a:rPr>
                  <a:t> and </a:t>
                </a:r>
                <a:r>
                  <a:rPr lang="es-PE" sz="900" b="0" i="0" dirty="0" err="1">
                    <a:solidFill>
                      <a:schemeClr val="tx1"/>
                    </a:solidFill>
                    <a:effectLst/>
                    <a:latin typeface="Segoe WPC"/>
                  </a:rPr>
                  <a:t>the</a:t>
                </a:r>
                <a:r>
                  <a:rPr lang="es-PE" sz="900" b="0" i="0" dirty="0">
                    <a:solidFill>
                      <a:schemeClr val="tx1"/>
                    </a:solidFill>
                    <a:effectLst/>
                    <a:latin typeface="Segoe WPC"/>
                  </a:rPr>
                  <a:t> stock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low</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Unlike</a:t>
                </a:r>
                <a:r>
                  <a:rPr lang="es-PE" sz="900" b="0" i="0" dirty="0">
                    <a:solidFill>
                      <a:schemeClr val="tx1"/>
                    </a:solidFill>
                    <a:effectLst/>
                    <a:latin typeface="Segoe WPC"/>
                  </a:rPr>
                  <a:t> </a:t>
                </a:r>
                <a:r>
                  <a:rPr lang="es-PE" sz="900" b="0" i="0" dirty="0" err="1">
                    <a:solidFill>
                      <a:schemeClr val="tx1"/>
                    </a:solidFill>
                    <a:effectLst/>
                    <a:latin typeface="Segoe WPC"/>
                  </a:rPr>
                  <a:t>calls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non-</a:t>
                </a:r>
                <a:r>
                  <a:rPr lang="es-PE" sz="900" b="0" i="0" dirty="0" err="1">
                    <a:solidFill>
                      <a:schemeClr val="tx1"/>
                    </a:solidFill>
                    <a:effectLst/>
                    <a:latin typeface="Segoe WPC"/>
                  </a:rPr>
                  <a:t>dividend</a:t>
                </a:r>
                <a:r>
                  <a:rPr lang="es-PE" sz="900" b="0" i="0" dirty="0">
                    <a:solidFill>
                      <a:schemeClr val="tx1"/>
                    </a:solidFill>
                    <a:effectLst/>
                    <a:latin typeface="Segoe WPC"/>
                  </a:rPr>
                  <a:t> stocks, American </a:t>
                </a:r>
                <a:r>
                  <a:rPr lang="es-PE" sz="900" b="0" i="0" dirty="0" err="1">
                    <a:solidFill>
                      <a:schemeClr val="tx1"/>
                    </a:solidFill>
                    <a:effectLst/>
                    <a:latin typeface="Segoe WPC"/>
                  </a:rPr>
                  <a:t>puts</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rationally</a:t>
                </a:r>
                <a:r>
                  <a:rPr lang="es-PE" sz="900" b="0" i="0" dirty="0">
                    <a:solidFill>
                      <a:schemeClr val="tx1"/>
                    </a:solidFill>
                    <a:effectLst/>
                    <a:latin typeface="Segoe WPC"/>
                  </a:rPr>
                  <a:t> be </a:t>
                </a:r>
                <a:r>
                  <a:rPr lang="es-PE" sz="900" b="0" i="0" dirty="0" err="1">
                    <a:solidFill>
                      <a:schemeClr val="tx1"/>
                    </a:solidFill>
                    <a:effectLst/>
                    <a:latin typeface="Segoe WPC"/>
                  </a:rPr>
                  <a:t>exercised</a:t>
                </a:r>
                <a:r>
                  <a:rPr lang="es-PE" sz="900" b="0" i="0" dirty="0">
                    <a:solidFill>
                      <a:schemeClr val="tx1"/>
                    </a:solidFill>
                    <a:effectLst/>
                    <a:latin typeface="Segoe WPC"/>
                  </a:rPr>
                  <a:t> </a:t>
                </a:r>
                <a:r>
                  <a:rPr lang="es-PE" sz="900" b="0" i="0" dirty="0" err="1">
                    <a:solidFill>
                      <a:schemeClr val="tx1"/>
                    </a:solidFill>
                    <a:effectLst/>
                    <a:latin typeface="Segoe WPC"/>
                  </a:rPr>
                  <a:t>before</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7. </a:t>
                </a:r>
                <a:r>
                  <a:rPr lang="es-PE" sz="900" b="1" i="0" dirty="0" err="1">
                    <a:solidFill>
                      <a:schemeClr val="tx1"/>
                    </a:solidFill>
                    <a:effectLst/>
                    <a:latin typeface="Segoe WPC"/>
                  </a:rPr>
                  <a:t>Put</a:t>
                </a:r>
                <a:r>
                  <a:rPr lang="es-PE" sz="900" b="1" i="0" dirty="0">
                    <a:solidFill>
                      <a:schemeClr val="tx1"/>
                    </a:solidFill>
                    <a:effectLst/>
                    <a:latin typeface="Segoe WPC"/>
                  </a:rPr>
                  <a:t> </a:t>
                </a:r>
                <a:r>
                  <a:rPr lang="es-PE" sz="900" b="1" i="0" dirty="0" err="1">
                    <a:solidFill>
                      <a:schemeClr val="tx1"/>
                    </a:solidFill>
                    <a:effectLst/>
                    <a:latin typeface="Segoe WPC"/>
                  </a:rPr>
                  <a:t>Option</a:t>
                </a:r>
                <a:r>
                  <a:rPr lang="es-PE" sz="900" b="1" i="0" dirty="0">
                    <a:solidFill>
                      <a:schemeClr val="tx1"/>
                    </a:solidFill>
                    <a:effectLst/>
                    <a:latin typeface="Segoe WPC"/>
                  </a:rPr>
                  <a:t> </a:t>
                </a:r>
                <a:r>
                  <a:rPr lang="es-PE" sz="900" b="1" i="0" dirty="0" err="1">
                    <a:solidFill>
                      <a:schemeClr val="tx1"/>
                    </a:solidFill>
                    <a:effectLst/>
                    <a:latin typeface="Segoe WPC"/>
                  </a:rPr>
                  <a:t>Bounds</a:t>
                </a:r>
                <a:r>
                  <a:rPr lang="es-PE" sz="900" b="1" i="0" dirty="0">
                    <a:solidFill>
                      <a:schemeClr val="tx1"/>
                    </a:solidFill>
                    <a:effectLst/>
                    <a:latin typeface="Segoe WPC"/>
                  </a:rPr>
                  <a:t> and </a:t>
                </a:r>
                <a:r>
                  <a:rPr lang="es-PE" sz="900" b="1" i="0" dirty="0" err="1">
                    <a:solidFill>
                      <a:schemeClr val="tx1"/>
                    </a:solidFill>
                    <a:effectLst/>
                    <a:latin typeface="Segoe WPC"/>
                  </a:rPr>
                  <a:t>Dividend</a:t>
                </a:r>
                <a:r>
                  <a:rPr lang="es-PE" sz="900" b="1" i="0" dirty="0">
                    <a:solidFill>
                      <a:schemeClr val="tx1"/>
                    </a:solidFill>
                    <a:effectLst/>
                    <a:latin typeface="Segoe WPC"/>
                  </a:rPr>
                  <a:t> </a:t>
                </a:r>
                <a:r>
                  <a:rPr lang="es-PE" sz="900" b="1" i="0" dirty="0" err="1">
                    <a:solidFill>
                      <a:schemeClr val="tx1"/>
                    </a:solidFill>
                    <a:effectLst/>
                    <a:latin typeface="Segoe WPC"/>
                  </a:rPr>
                  <a:t>Effects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bounds</a:t>
                </a:r>
                <a:r>
                  <a:rPr lang="es-PE" sz="900" b="0" i="0" dirty="0">
                    <a:solidFill>
                      <a:schemeClr val="tx1"/>
                    </a:solidFill>
                    <a:effectLst/>
                    <a:latin typeface="Segoe WPC"/>
                  </a:rPr>
                  <a:t> </a:t>
                </a:r>
                <a:r>
                  <a:rPr lang="es-PE" sz="900" b="0" i="0" dirty="0" err="1">
                    <a:solidFill>
                      <a:schemeClr val="tx1"/>
                    </a:solidFill>
                    <a:effectLst/>
                    <a:latin typeface="Segoe WPC"/>
                  </a:rPr>
                  <a:t>differ</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bounds</a:t>
                </a:r>
                <a:r>
                  <a:rPr lang="es-PE" sz="900" b="0" i="0" dirty="0">
                    <a:solidFill>
                      <a:schemeClr val="tx1"/>
                    </a:solidFill>
                    <a:effectLst/>
                    <a:latin typeface="Segoe WPC"/>
                  </a:rPr>
                  <a:t> and are </a:t>
                </a:r>
                <a:r>
                  <a:rPr lang="es-PE" sz="900" b="0" i="0" dirty="0" err="1">
                    <a:solidFill>
                      <a:schemeClr val="tx1"/>
                    </a:solidFill>
                    <a:effectLst/>
                    <a:latin typeface="Segoe WPC"/>
                  </a:rPr>
                  <a:t>affected</a:t>
                </a:r>
                <a:r>
                  <a:rPr lang="es-PE" sz="900" b="0" i="0" dirty="0">
                    <a:solidFill>
                      <a:schemeClr val="tx1"/>
                    </a:solidFill>
                    <a:effectLst/>
                    <a:latin typeface="Segoe WPC"/>
                  </a:rPr>
                  <a:t> </a:t>
                </a:r>
                <a:r>
                  <a:rPr lang="es-PE" sz="900" b="0" i="0" dirty="0" err="1">
                    <a:solidFill>
                      <a:schemeClr val="tx1"/>
                    </a:solidFill>
                    <a:effectLst/>
                    <a:latin typeface="Segoe WPC"/>
                  </a:rPr>
                  <a:t>differently</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dividends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Dividends</a:t>
                </a:r>
                <a:r>
                  <a:rPr lang="es-PE" sz="900" b="0" i="0" dirty="0">
                    <a:solidFill>
                      <a:schemeClr val="tx1"/>
                    </a:solidFill>
                    <a:effectLst/>
                    <a:latin typeface="Segoe WPC"/>
                  </a:rPr>
                  <a:t> </a:t>
                </a:r>
                <a:r>
                  <a:rPr lang="es-PE" sz="900" b="0" i="0" dirty="0" err="1">
                    <a:solidFill>
                      <a:schemeClr val="tx1"/>
                    </a:solidFill>
                    <a:effectLst/>
                    <a:latin typeface="Segoe WPC"/>
                  </a:rPr>
                  <a:t>make</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exercise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puts</a:t>
                </a:r>
                <a:r>
                  <a:rPr lang="es-PE" sz="900" b="0" i="0" dirty="0">
                    <a:solidFill>
                      <a:schemeClr val="tx1"/>
                    </a:solidFill>
                    <a:effectLst/>
                    <a:latin typeface="Segoe WPC"/>
                  </a:rPr>
                  <a:t>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attractive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exercising</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giving</a:t>
                </a:r>
                <a:r>
                  <a:rPr lang="es-PE" sz="900" b="0" i="0" dirty="0">
                    <a:solidFill>
                      <a:schemeClr val="tx1"/>
                    </a:solidFill>
                    <a:effectLst/>
                    <a:latin typeface="Segoe WPC"/>
                  </a:rPr>
                  <a:t> up </a:t>
                </a:r>
                <a:r>
                  <a:rPr lang="es-PE" sz="900" b="0" i="0" dirty="0" err="1">
                    <a:solidFill>
                      <a:schemeClr val="tx1"/>
                    </a:solidFill>
                    <a:effectLst/>
                    <a:latin typeface="Segoe WPC"/>
                  </a:rPr>
                  <a:t>ownership</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 and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dividends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more </a:t>
                </a:r>
                <a:r>
                  <a:rPr lang="es-PE" sz="900" b="0" i="0" dirty="0" err="1">
                    <a:solidFill>
                      <a:schemeClr val="tx1"/>
                    </a:solidFill>
                    <a:effectLst/>
                    <a:latin typeface="Segoe WPC"/>
                  </a:rPr>
                  <a:t>dividends</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more </a:t>
                </a:r>
                <a:r>
                  <a:rPr lang="es-PE" sz="900" b="0" i="0" dirty="0" err="1">
                    <a:solidFill>
                      <a:schemeClr val="tx1"/>
                    </a:solidFill>
                    <a:effectLst/>
                    <a:latin typeface="Segoe WPC"/>
                  </a:rPr>
                  <a:t>valuable</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be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keep</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a:t>
                </a:r>
                <a:r>
                  <a:rPr lang="es-PE" sz="900" b="0" i="0" dirty="0" err="1">
                    <a:solidFill>
                      <a:schemeClr val="tx1"/>
                    </a:solidFill>
                    <a:effectLst/>
                    <a:latin typeface="Segoe WPC"/>
                  </a:rPr>
                  <a:t>linked</a:t>
                </a:r>
                <a:r>
                  <a:rPr lang="es-PE" sz="900" b="0" i="0" dirty="0">
                    <a:solidFill>
                      <a:schemeClr val="tx1"/>
                    </a:solidFill>
                    <a:effectLst/>
                    <a:latin typeface="Segoe WPC"/>
                  </a:rPr>
                  <a:t> position </a:t>
                </a:r>
                <a:r>
                  <a:rPr lang="es-PE" sz="900" b="0" i="0" dirty="0" err="1">
                    <a:solidFill>
                      <a:schemeClr val="tx1"/>
                    </a:solidFill>
                    <a:effectLst/>
                    <a:latin typeface="Segoe WPC"/>
                  </a:rPr>
                  <a:t>alive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dividends</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1">
                            <a:solidFill>
                              <a:schemeClr val="tx1"/>
                            </a:solidFill>
                            <a:latin typeface="Cambria Math" panose="02040503050406030204" pitchFamily="18" charset="0"/>
                          </a:rPr>
                          <m:t>𝐸</m:t>
                        </m:r>
                      </m:sub>
                    </m:sSub>
                    <m:r>
                      <a:rPr lang="ar-AE" sz="900" i="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𝑃</m:t>
                        </m:r>
                      </m:e>
                      <m:e>
                        <m:r>
                          <a:rPr lang="ar-AE" sz="900" i="1">
                            <a:solidFill>
                              <a:schemeClr val="tx1"/>
                            </a:solidFill>
                            <a:latin typeface="Cambria Math" panose="02040503050406030204" pitchFamily="18" charset="0"/>
                          </a:rPr>
                          <m:t>𝑉</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m:rPr>
                                <m:nor/>
                              </m:rPr>
                              <a:rPr lang="es-PE" sz="900" b="0" i="1">
                                <a:solidFill>
                                  <a:schemeClr val="tx1"/>
                                </a:solidFill>
                                <a:latin typeface="Cambria Math" panose="02040503050406030204" pitchFamily="18" charset="0"/>
                              </a:rPr>
                              <m:t>Divs</m:t>
                            </m:r>
                          </m:e>
                        </m:d>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𝑆</m:t>
                        </m:r>
                        <m:r>
                          <a:rPr lang="ar-AE" sz="900" b="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upper</a:t>
                </a:r>
                <a:r>
                  <a:rPr lang="es-PE" sz="900" b="0" i="0" dirty="0">
                    <a:solidFill>
                      <a:schemeClr val="tx1"/>
                    </a:solidFill>
                    <a:effectLst/>
                    <a:latin typeface="Segoe WPC"/>
                  </a:rPr>
                  <a:t> </a:t>
                </a:r>
                <a:r>
                  <a:rPr lang="es-PE" sz="900" b="0" i="0" dirty="0" err="1">
                    <a:solidFill>
                      <a:schemeClr val="tx1"/>
                    </a:solidFill>
                    <a:effectLst/>
                    <a:latin typeface="Segoe WPC"/>
                  </a:rPr>
                  <a:t>bound</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1">
                            <a:solidFill>
                              <a:schemeClr val="tx1"/>
                            </a:solidFill>
                            <a:latin typeface="Cambria Math" panose="02040503050406030204" pitchFamily="18" charset="0"/>
                          </a:rPr>
                          <m:t>𝐸</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d>
                  </m:oMath>
                </a14:m>
                <a:r>
                  <a:rPr lang="ar-AE" sz="900" b="0" i="0" dirty="0">
                    <a:solidFill>
                      <a:schemeClr val="tx1"/>
                    </a:solidFill>
                    <a:effectLst/>
                    <a:latin typeface="Segoe WPC"/>
                  </a:rPr>
                  <a:t>. </a:t>
                </a:r>
                <a:r>
                  <a:rPr lang="es-PE" sz="900" b="0" i="0" dirty="0">
                    <a:solidFill>
                      <a:schemeClr val="tx1"/>
                    </a:solidFill>
                    <a:effectLst/>
                    <a:latin typeface="Segoe WPC"/>
                  </a:rPr>
                  <a:t>American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upper</a:t>
                </a:r>
                <a:r>
                  <a:rPr lang="es-PE" sz="900" b="0" i="0" dirty="0">
                    <a:solidFill>
                      <a:schemeClr val="tx1"/>
                    </a:solidFill>
                    <a:effectLst/>
                    <a:latin typeface="Segoe WPC"/>
                  </a:rPr>
                  <a:t> </a:t>
                </a:r>
                <a:r>
                  <a:rPr lang="es-PE" sz="900" b="0" i="0" dirty="0" err="1">
                    <a:solidFill>
                      <a:schemeClr val="tx1"/>
                    </a:solidFill>
                    <a:effectLst/>
                    <a:latin typeface="Segoe WPC"/>
                  </a:rPr>
                  <a:t>bound</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1">
                            <a:solidFill>
                              <a:schemeClr val="tx1"/>
                            </a:solidFill>
                            <a:latin typeface="Cambria Math" panose="02040503050406030204" pitchFamily="18" charset="0"/>
                          </a:rPr>
                          <m:t>𝐴</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exercise</a:t>
                </a:r>
                <a:r>
                  <a:rPr lang="es-PE" sz="900" b="0" i="0" dirty="0">
                    <a:solidFill>
                      <a:schemeClr val="tx1"/>
                    </a:solidFill>
                    <a:effectLst/>
                    <a:latin typeface="Segoe WPC"/>
                  </a:rPr>
                  <a:t> </a:t>
                </a:r>
                <a:r>
                  <a:rPr lang="es-PE" sz="900" b="0" i="0" dirty="0" err="1">
                    <a:solidFill>
                      <a:schemeClr val="tx1"/>
                    </a:solidFill>
                    <a:effectLst/>
                    <a:latin typeface="Segoe WPC"/>
                  </a:rPr>
                  <a:t>becomes</a:t>
                </a:r>
                <a:r>
                  <a:rPr lang="es-PE" sz="900" b="0" i="0" dirty="0">
                    <a:solidFill>
                      <a:schemeClr val="tx1"/>
                    </a:solidFill>
                    <a:effectLst/>
                    <a:latin typeface="Segoe WPC"/>
                  </a:rPr>
                  <a:t>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attractive</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stock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rises</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falls</a:t>
                </a:r>
                <a:r>
                  <a:rPr lang="es-PE" sz="900" b="0" i="0" dirty="0">
                    <a:solidFill>
                      <a:schemeClr val="tx1"/>
                    </a:solidFill>
                    <a:effectLst/>
                    <a:latin typeface="Segoe WPC"/>
                  </a:rPr>
                  <a:t>, time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 </a:t>
                </a:r>
                <a:r>
                  <a:rPr lang="es-PE" sz="900" b="0" i="0" dirty="0" err="1">
                    <a:solidFill>
                      <a:schemeClr val="tx1"/>
                    </a:solidFill>
                    <a:effectLst/>
                    <a:latin typeface="Segoe WPC"/>
                  </a:rPr>
                  <a:t>rises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dividends</a:t>
                </a:r>
                <a:r>
                  <a:rPr lang="es-PE" sz="900" b="0" i="0" dirty="0">
                    <a:solidFill>
                      <a:schemeClr val="tx1"/>
                    </a:solidFill>
                    <a:effectLst/>
                    <a:latin typeface="Segoe WPC"/>
                  </a:rPr>
                  <a:t> </a:t>
                </a:r>
                <a:r>
                  <a:rPr lang="es-PE" sz="900" b="0" i="0" dirty="0" err="1">
                    <a:solidFill>
                      <a:schemeClr val="tx1"/>
                    </a:solidFill>
                    <a:effectLst/>
                    <a:latin typeface="Segoe WPC"/>
                  </a:rPr>
                  <a:t>increase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Dividends</a:t>
                </a:r>
                <a:r>
                  <a:rPr lang="es-PE" sz="900" b="0" i="0" dirty="0">
                    <a:solidFill>
                      <a:schemeClr val="tx1"/>
                    </a:solidFill>
                    <a:effectLst/>
                    <a:latin typeface="Segoe WPC"/>
                  </a:rPr>
                  <a:t> </a:t>
                </a:r>
                <a:r>
                  <a:rPr lang="es-PE" sz="900" b="0" i="0" dirty="0" err="1">
                    <a:solidFill>
                      <a:schemeClr val="tx1"/>
                    </a:solidFill>
                    <a:effectLst/>
                    <a:latin typeface="Segoe WPC"/>
                  </a:rPr>
                  <a:t>increase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bound</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puts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reduce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attractiveness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exercise</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8. </a:t>
                </a:r>
                <a:r>
                  <a:rPr lang="es-PE" sz="900" b="1" i="0" dirty="0" err="1">
                    <a:solidFill>
                      <a:schemeClr val="tx1"/>
                    </a:solidFill>
                    <a:effectLst/>
                    <a:latin typeface="Segoe WPC"/>
                  </a:rPr>
                  <a:t>Put-Call</a:t>
                </a:r>
                <a:r>
                  <a:rPr lang="es-PE" sz="900" b="1" i="0" dirty="0">
                    <a:solidFill>
                      <a:schemeClr val="tx1"/>
                    </a:solidFill>
                    <a:effectLst/>
                    <a:latin typeface="Segoe WPC"/>
                  </a:rPr>
                  <a:t> </a:t>
                </a:r>
                <a:r>
                  <a:rPr lang="es-PE" sz="900" b="1" i="0" dirty="0" err="1">
                    <a:solidFill>
                      <a:schemeClr val="tx1"/>
                    </a:solidFill>
                    <a:effectLst/>
                    <a:latin typeface="Segoe WPC"/>
                  </a:rPr>
                  <a:t>Parity</a:t>
                </a:r>
                <a:r>
                  <a:rPr lang="es-PE" sz="900" b="1" i="0" dirty="0">
                    <a:solidFill>
                      <a:schemeClr val="tx1"/>
                    </a:solidFill>
                    <a:effectLst/>
                    <a:latin typeface="Segoe WPC"/>
                  </a:rPr>
                  <a:t> </a:t>
                </a:r>
                <a:r>
                  <a:rPr lang="es-PE" sz="900" b="1" i="0" dirty="0" err="1">
                    <a:solidFill>
                      <a:schemeClr val="tx1"/>
                    </a:solidFill>
                    <a:effectLst/>
                    <a:latin typeface="Segoe WPC"/>
                  </a:rPr>
                  <a:t>for</a:t>
                </a:r>
                <a:r>
                  <a:rPr lang="es-PE" sz="900" b="1" i="0" dirty="0">
                    <a:solidFill>
                      <a:schemeClr val="tx1"/>
                    </a:solidFill>
                    <a:effectLst/>
                    <a:latin typeface="Segoe WPC"/>
                  </a:rPr>
                  <a:t> </a:t>
                </a:r>
                <a:r>
                  <a:rPr lang="es-PE" sz="900" b="1" i="0" dirty="0" err="1">
                    <a:solidFill>
                      <a:schemeClr val="tx1"/>
                    </a:solidFill>
                    <a:effectLst/>
                    <a:latin typeface="Segoe WPC"/>
                  </a:rPr>
                  <a:t>European</a:t>
                </a:r>
                <a:r>
                  <a:rPr lang="es-PE" sz="900" b="1" i="0" dirty="0">
                    <a:solidFill>
                      <a:schemeClr val="tx1"/>
                    </a:solidFill>
                    <a:effectLst/>
                    <a:latin typeface="Segoe WPC"/>
                  </a:rPr>
                  <a:t> </a:t>
                </a:r>
                <a:r>
                  <a:rPr lang="es-PE" sz="900" b="1" i="0" dirty="0" err="1">
                    <a:solidFill>
                      <a:schemeClr val="tx1"/>
                    </a:solidFill>
                    <a:effectLst/>
                    <a:latin typeface="Segoe WPC"/>
                  </a:rPr>
                  <a:t>Options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Put-call</a:t>
                </a:r>
                <a:r>
                  <a:rPr lang="es-PE" sz="900" b="0" i="0" dirty="0">
                    <a:solidFill>
                      <a:schemeClr val="tx1"/>
                    </a:solidFill>
                    <a:effectLst/>
                    <a:latin typeface="Segoe WPC"/>
                  </a:rPr>
                  <a:t> </a:t>
                </a:r>
                <a:r>
                  <a:rPr lang="es-PE" sz="900" b="0" i="0" dirty="0" err="1">
                    <a:solidFill>
                      <a:schemeClr val="tx1"/>
                    </a:solidFill>
                    <a:effectLst/>
                    <a:latin typeface="Segoe WPC"/>
                  </a:rPr>
                  <a:t>parity</a:t>
                </a:r>
                <a:r>
                  <a:rPr lang="es-PE" sz="900" b="0" i="0" dirty="0">
                    <a:solidFill>
                      <a:schemeClr val="tx1"/>
                    </a:solidFill>
                    <a:effectLst/>
                    <a:latin typeface="Segoe WPC"/>
                  </a:rPr>
                  <a:t> links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calls</a:t>
                </a:r>
                <a:r>
                  <a:rPr lang="es-PE" sz="900" b="0" i="0" dirty="0">
                    <a:solidFill>
                      <a:schemeClr val="tx1"/>
                    </a:solidFill>
                    <a:effectLst/>
                    <a:latin typeface="Segoe WPC"/>
                  </a:rPr>
                  <a:t> and </a:t>
                </a:r>
                <a:r>
                  <a:rPr lang="es-PE" sz="900" b="0" i="0" dirty="0" err="1">
                    <a:solidFill>
                      <a:schemeClr val="tx1"/>
                    </a:solidFill>
                    <a:effectLst/>
                    <a:latin typeface="Segoe WPC"/>
                  </a:rPr>
                  <a:t>puts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strike and </a:t>
                </a:r>
                <a:r>
                  <a:rPr lang="es-PE" sz="900" b="0" i="0" dirty="0" err="1">
                    <a:solidFill>
                      <a:schemeClr val="tx1"/>
                    </a:solidFill>
                    <a:effectLst/>
                    <a:latin typeface="Segoe WPC"/>
                  </a:rPr>
                  <a:t>maturity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portfolios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identical</a:t>
                </a:r>
                <a:r>
                  <a:rPr lang="es-PE" sz="900" b="0" i="0" dirty="0">
                    <a:solidFill>
                      <a:schemeClr val="tx1"/>
                    </a:solidFill>
                    <a:effectLst/>
                    <a:latin typeface="Segoe WPC"/>
                  </a:rPr>
                  <a:t> </a:t>
                </a:r>
                <a:r>
                  <a:rPr lang="es-PE" sz="900" b="0" i="0" dirty="0" err="1">
                    <a:solidFill>
                      <a:schemeClr val="tx1"/>
                    </a:solidFill>
                    <a:effectLst/>
                    <a:latin typeface="Segoe WPC"/>
                  </a:rPr>
                  <a:t>payoffs</a:t>
                </a:r>
                <a:r>
                  <a:rPr lang="es-PE" sz="900" b="0" i="0" dirty="0">
                    <a:solidFill>
                      <a:schemeClr val="tx1"/>
                    </a:solidFill>
                    <a:effectLst/>
                    <a:latin typeface="Segoe WPC"/>
                  </a:rPr>
                  <a:t> at </a:t>
                </a:r>
                <a:r>
                  <a:rPr lang="es-PE" sz="900" b="0" i="0" dirty="0" err="1">
                    <a:solidFill>
                      <a:schemeClr val="tx1"/>
                    </a:solidFill>
                    <a:effectLst/>
                    <a:latin typeface="Segoe WPC"/>
                  </a:rPr>
                  <a:t>maturity</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today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call</a:t>
                </a:r>
                <a:r>
                  <a:rPr lang="es-PE" sz="900" b="0" i="0" dirty="0">
                    <a:solidFill>
                      <a:schemeClr val="tx1"/>
                    </a:solidFill>
                    <a:effectLst/>
                    <a:latin typeface="Segoe WPC"/>
                  </a:rPr>
                  <a:t> plus </a:t>
                </a:r>
                <a:r>
                  <a:rPr lang="es-PE" sz="900" b="0" i="0" dirty="0" err="1">
                    <a:solidFill>
                      <a:schemeClr val="tx1"/>
                    </a:solidFill>
                    <a:effectLst/>
                    <a:latin typeface="Segoe WPC"/>
                  </a:rPr>
                  <a:t>discounted</a:t>
                </a:r>
                <a:r>
                  <a:rPr lang="es-PE" sz="900" b="0" i="0" dirty="0">
                    <a:solidFill>
                      <a:schemeClr val="tx1"/>
                    </a:solidFill>
                    <a:effectLst/>
                    <a:latin typeface="Segoe WPC"/>
                  </a:rPr>
                  <a:t> strike and </a:t>
                </a:r>
                <a:r>
                  <a:rPr lang="es-PE" sz="900" b="0" i="0" dirty="0" err="1">
                    <a:solidFill>
                      <a:schemeClr val="tx1"/>
                    </a:solidFill>
                    <a:effectLst/>
                    <a:latin typeface="Segoe WPC"/>
                  </a:rPr>
                  <a:t>dividends</a:t>
                </a:r>
                <a:r>
                  <a:rPr lang="es-PE" sz="900" b="0" i="0" dirty="0">
                    <a:solidFill>
                      <a:schemeClr val="tx1"/>
                    </a:solidFill>
                    <a:effectLst/>
                    <a:latin typeface="Segoe WPC"/>
                  </a:rPr>
                  <a:t> </a:t>
                </a:r>
                <a:r>
                  <a:rPr lang="es-PE" sz="900" b="0" i="0" dirty="0" err="1">
                    <a:solidFill>
                      <a:schemeClr val="tx1"/>
                    </a:solidFill>
                    <a:effectLst/>
                    <a:latin typeface="Segoe WPC"/>
                  </a:rPr>
                  <a:t>replicates</a:t>
                </a:r>
                <a:r>
                  <a:rPr lang="es-PE" sz="900" b="0" i="0" dirty="0">
                    <a:solidFill>
                      <a:schemeClr val="tx1"/>
                    </a:solidFill>
                    <a:effectLst/>
                    <a:latin typeface="Segoe WPC"/>
                  </a:rPr>
                  <a:t> a </a:t>
                </a:r>
                <a:r>
                  <a:rPr lang="es-PE" sz="900" b="0" i="0" dirty="0" err="1">
                    <a:solidFill>
                      <a:schemeClr val="tx1"/>
                    </a:solidFill>
                    <a:effectLst/>
                    <a:latin typeface="Segoe WPC"/>
                  </a:rPr>
                  <a:t>put</a:t>
                </a:r>
                <a:r>
                  <a:rPr lang="es-PE" sz="900" b="0" i="0" dirty="0">
                    <a:solidFill>
                      <a:schemeClr val="tx1"/>
                    </a:solidFill>
                    <a:effectLst/>
                    <a:latin typeface="Segoe WPC"/>
                  </a:rPr>
                  <a:t> plus stock.</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𝑐</m:t>
                        </m:r>
                      </m:e>
                      <m:sub>
                        <m:r>
                          <a:rPr lang="ar-AE" sz="900" i="1">
                            <a:solidFill>
                              <a:schemeClr val="tx1"/>
                            </a:solidFill>
                            <a:latin typeface="Cambria Math" panose="02040503050406030204" pitchFamily="18" charset="0"/>
                          </a:rPr>
                          <m:t>𝐸</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m:rPr>
                            <m:nor/>
                          </m:rPr>
                          <a:rPr lang="es-PE" sz="900" b="0" i="1">
                            <a:solidFill>
                              <a:schemeClr val="tx1"/>
                            </a:solidFill>
                            <a:latin typeface="Cambria Math" panose="02040503050406030204" pitchFamily="18" charset="0"/>
                          </a:rPr>
                          <m:t>Divs</m:t>
                        </m:r>
                      </m:e>
                    </m:d>
                    <m:r>
                      <a:rPr lang="ar-A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𝑝</m:t>
                        </m:r>
                      </m:e>
                      <m:sub>
                        <m:r>
                          <a:rPr lang="ar-AE" sz="900" b="0" i="1">
                            <a:solidFill>
                              <a:schemeClr val="tx1"/>
                            </a:solidFill>
                            <a:latin typeface="Cambria Math" panose="02040503050406030204" pitchFamily="18" charset="0"/>
                          </a:rPr>
                          <m:t>𝐸</m:t>
                        </m:r>
                      </m:sub>
                    </m:sSub>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𝑆</m:t>
                    </m:r>
                  </m:oMath>
                </a14:m>
                <a:r>
                  <a:rPr lang="ar-AE" sz="900" b="0" i="0" dirty="0">
                    <a:solidFill>
                      <a:schemeClr val="tx1"/>
                    </a:solidFill>
                    <a:effectLst/>
                    <a:latin typeface="Segoe WPC"/>
                  </a:rPr>
                  <a:t>. </a:t>
                </a:r>
                <a:r>
                  <a:rPr lang="es-PE" sz="900" b="0" i="0" dirty="0" err="1">
                    <a:solidFill>
                      <a:schemeClr val="tx1"/>
                    </a:solidFill>
                    <a:effectLst/>
                    <a:latin typeface="Segoe WPC"/>
                  </a:rPr>
                  <a:t>Without</a:t>
                </a:r>
                <a:r>
                  <a:rPr lang="es-PE" sz="900" b="0" i="0" dirty="0">
                    <a:solidFill>
                      <a:schemeClr val="tx1"/>
                    </a:solidFill>
                    <a:effectLst/>
                    <a:latin typeface="Segoe WPC"/>
                  </a:rPr>
                  <a:t> </a:t>
                </a:r>
                <a:r>
                  <a:rPr lang="es-PE" sz="900" b="0" i="0" dirty="0" err="1">
                    <a:solidFill>
                      <a:schemeClr val="tx1"/>
                    </a:solidFill>
                    <a:effectLst/>
                    <a:latin typeface="Segoe WPC"/>
                  </a:rPr>
                  <a:t>dividends</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𝑐</m:t>
                        </m:r>
                      </m:e>
                      <m:sub>
                        <m:r>
                          <a:rPr lang="ar-AE" sz="900" i="1">
                            <a:solidFill>
                              <a:schemeClr val="tx1"/>
                            </a:solidFill>
                            <a:latin typeface="Cambria Math" panose="02040503050406030204" pitchFamily="18" charset="0"/>
                          </a:rPr>
                          <m:t>𝐸</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1">
                            <a:solidFill>
                              <a:schemeClr val="tx1"/>
                            </a:solidFill>
                            <a:latin typeface="Cambria Math" panose="02040503050406030204" pitchFamily="18" charset="0"/>
                          </a:rPr>
                          <m:t>𝐸</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𝑆</m:t>
                    </m:r>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parity</a:t>
                </a:r>
                <a:r>
                  <a:rPr lang="es-PE" sz="900" b="0" i="0" dirty="0">
                    <a:solidFill>
                      <a:schemeClr val="tx1"/>
                    </a:solidFill>
                    <a:effectLst/>
                    <a:latin typeface="Segoe WPC"/>
                  </a:rPr>
                  <a:t> </a:t>
                </a:r>
                <a:r>
                  <a:rPr lang="es-PE" sz="900" b="0" i="0" dirty="0" err="1">
                    <a:solidFill>
                      <a:schemeClr val="tx1"/>
                    </a:solidFill>
                    <a:effectLst/>
                    <a:latin typeface="Segoe WPC"/>
                  </a:rPr>
                  <a:t>fails</a:t>
                </a:r>
                <a:r>
                  <a:rPr lang="es-PE" sz="900" b="0" i="0" dirty="0">
                    <a:solidFill>
                      <a:schemeClr val="tx1"/>
                    </a:solidFill>
                    <a:effectLst/>
                    <a:latin typeface="Segoe WPC"/>
                  </a:rPr>
                  <a:t>, </a:t>
                </a:r>
                <a:r>
                  <a:rPr lang="es-PE" sz="900" b="0" i="0" dirty="0" err="1">
                    <a:solidFill>
                      <a:schemeClr val="tx1"/>
                    </a:solidFill>
                    <a:effectLst/>
                    <a:latin typeface="Segoe WPC"/>
                  </a:rPr>
                  <a:t>arbitrage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possible</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buying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cheap</a:t>
                </a:r>
                <a:r>
                  <a:rPr lang="es-PE" sz="900" b="0" i="0" dirty="0">
                    <a:solidFill>
                      <a:schemeClr val="tx1"/>
                    </a:solidFill>
                    <a:effectLst/>
                    <a:latin typeface="Segoe WPC"/>
                  </a:rPr>
                  <a:t> </a:t>
                </a:r>
                <a:r>
                  <a:rPr lang="es-PE" sz="900" b="0" i="0" dirty="0" err="1">
                    <a:solidFill>
                      <a:schemeClr val="tx1"/>
                    </a:solidFill>
                    <a:effectLst/>
                    <a:latin typeface="Segoe WPC"/>
                  </a:rPr>
                  <a:t>side</a:t>
                </a:r>
                <a:r>
                  <a:rPr lang="es-PE" sz="900" b="0" i="0" dirty="0">
                    <a:solidFill>
                      <a:schemeClr val="tx1"/>
                    </a:solidFill>
                    <a:effectLst/>
                    <a:latin typeface="Segoe WPC"/>
                  </a:rPr>
                  <a:t> and </a:t>
                </a:r>
                <a:r>
                  <a:rPr lang="es-PE" sz="900" b="0" i="0" dirty="0" err="1">
                    <a:solidFill>
                      <a:schemeClr val="tx1"/>
                    </a:solidFill>
                    <a:effectLst/>
                    <a:latin typeface="Segoe WPC"/>
                  </a:rPr>
                  <a:t>selling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expensive</a:t>
                </a:r>
                <a:r>
                  <a:rPr lang="es-PE" sz="900" b="0" i="0" dirty="0">
                    <a:solidFill>
                      <a:schemeClr val="tx1"/>
                    </a:solidFill>
                    <a:effectLst/>
                    <a:latin typeface="Segoe WPC"/>
                  </a:rPr>
                  <a:t> </a:t>
                </a:r>
                <a:r>
                  <a:rPr lang="es-PE" sz="900" b="0" i="0" dirty="0" err="1">
                    <a:solidFill>
                      <a:schemeClr val="tx1"/>
                    </a:solidFill>
                    <a:effectLst/>
                    <a:latin typeface="Segoe WPC"/>
                  </a:rPr>
                  <a:t>side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Put-call</a:t>
                </a:r>
                <a:r>
                  <a:rPr lang="es-PE" sz="900" b="0" i="0" dirty="0">
                    <a:solidFill>
                      <a:schemeClr val="tx1"/>
                    </a:solidFill>
                    <a:effectLst/>
                    <a:latin typeface="Segoe WPC"/>
                  </a:rPr>
                  <a:t> </a:t>
                </a:r>
                <a:r>
                  <a:rPr lang="es-PE" sz="900" b="0" i="0" dirty="0" err="1">
                    <a:solidFill>
                      <a:schemeClr val="tx1"/>
                    </a:solidFill>
                    <a:effectLst/>
                    <a:latin typeface="Segoe WPC"/>
                  </a:rPr>
                  <a:t>parity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exact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American </a:t>
                </a:r>
                <a:r>
                  <a:rPr lang="es-PE" sz="900" b="0" i="0" dirty="0" err="1">
                    <a:solidFill>
                      <a:schemeClr val="tx1"/>
                    </a:solidFill>
                    <a:effectLst/>
                    <a:latin typeface="Segoe WPC"/>
                  </a:rPr>
                  <a:t>options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9. </a:t>
                </a:r>
                <a:r>
                  <a:rPr lang="es-PE" sz="900" b="1" i="0" dirty="0" err="1">
                    <a:solidFill>
                      <a:schemeClr val="tx1"/>
                    </a:solidFill>
                    <a:effectLst/>
                    <a:latin typeface="Segoe WPC"/>
                  </a:rPr>
                  <a:t>Put-Call</a:t>
                </a:r>
                <a:r>
                  <a:rPr lang="es-PE" sz="900" b="1" i="0" dirty="0">
                    <a:solidFill>
                      <a:schemeClr val="tx1"/>
                    </a:solidFill>
                    <a:effectLst/>
                    <a:latin typeface="Segoe WPC"/>
                  </a:rPr>
                  <a:t> </a:t>
                </a:r>
                <a:r>
                  <a:rPr lang="es-PE" sz="900" b="1" i="0" dirty="0" err="1">
                    <a:solidFill>
                      <a:schemeClr val="tx1"/>
                    </a:solidFill>
                    <a:effectLst/>
                    <a:latin typeface="Segoe WPC"/>
                  </a:rPr>
                  <a:t>Parity</a:t>
                </a:r>
                <a:r>
                  <a:rPr lang="es-PE" sz="900" b="1" i="0" dirty="0">
                    <a:solidFill>
                      <a:schemeClr val="tx1"/>
                    </a:solidFill>
                    <a:effectLst/>
                    <a:latin typeface="Segoe WPC"/>
                  </a:rPr>
                  <a:t> </a:t>
                </a:r>
                <a:r>
                  <a:rPr lang="es-PE" sz="900" b="1" i="0" dirty="0" err="1">
                    <a:solidFill>
                      <a:schemeClr val="tx1"/>
                    </a:solidFill>
                    <a:effectLst/>
                    <a:latin typeface="Segoe WPC"/>
                  </a:rPr>
                  <a:t>with</a:t>
                </a:r>
                <a:r>
                  <a:rPr lang="es-PE" sz="900" b="1" i="0" dirty="0">
                    <a:solidFill>
                      <a:schemeClr val="tx1"/>
                    </a:solidFill>
                    <a:effectLst/>
                    <a:latin typeface="Segoe WPC"/>
                  </a:rPr>
                  <a:t> Forward </a:t>
                </a:r>
                <a:r>
                  <a:rPr lang="es-PE" sz="900" b="1" i="0" dirty="0" err="1">
                    <a:solidFill>
                      <a:schemeClr val="tx1"/>
                    </a:solidFill>
                    <a:effectLst/>
                    <a:latin typeface="Segoe WPC"/>
                  </a:rPr>
                  <a:t>Prices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Put-call</a:t>
                </a:r>
                <a:r>
                  <a:rPr lang="es-PE" sz="900" b="0" i="0" dirty="0">
                    <a:solidFill>
                      <a:schemeClr val="tx1"/>
                    </a:solidFill>
                    <a:effectLst/>
                    <a:latin typeface="Segoe WPC"/>
                  </a:rPr>
                  <a:t> </a:t>
                </a:r>
                <a:r>
                  <a:rPr lang="es-PE" sz="900" b="0" i="0" dirty="0" err="1">
                    <a:solidFill>
                      <a:schemeClr val="tx1"/>
                    </a:solidFill>
                    <a:effectLst/>
                    <a:latin typeface="Segoe WPC"/>
                  </a:rPr>
                  <a:t>parity</a:t>
                </a:r>
                <a:r>
                  <a:rPr lang="es-PE" sz="900" b="0" i="0" dirty="0">
                    <a:solidFill>
                      <a:schemeClr val="tx1"/>
                    </a:solidFill>
                    <a:effectLst/>
                    <a:latin typeface="Segoe WPC"/>
                  </a:rPr>
                  <a:t> can be </a:t>
                </a:r>
                <a:r>
                  <a:rPr lang="es-PE" sz="900" b="0" i="0" dirty="0" err="1">
                    <a:solidFill>
                      <a:schemeClr val="tx1"/>
                    </a:solidFill>
                    <a:effectLst/>
                    <a:latin typeface="Segoe WPC"/>
                  </a:rPr>
                  <a:t>generalized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other</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forward </a:t>
                </a:r>
                <a:r>
                  <a:rPr lang="es-PE" sz="900" b="0" i="0" dirty="0" err="1">
                    <a:solidFill>
                      <a:schemeClr val="tx1"/>
                    </a:solidFill>
                    <a:effectLst/>
                    <a:latin typeface="Segoe WPC"/>
                  </a:rPr>
                  <a:t>prices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forwards </a:t>
                </a:r>
                <a:r>
                  <a:rPr lang="es-PE" sz="900" b="0" i="0" dirty="0" err="1">
                    <a:solidFill>
                      <a:schemeClr val="tx1"/>
                    </a:solidFill>
                    <a:effectLst/>
                    <a:latin typeface="Segoe WPC"/>
                  </a:rPr>
                  <a:t>avoids</a:t>
                </a:r>
                <a:r>
                  <a:rPr lang="es-PE" sz="900" b="0" i="0" dirty="0">
                    <a:solidFill>
                      <a:schemeClr val="tx1"/>
                    </a:solidFill>
                    <a:effectLst/>
                    <a:latin typeface="Segoe WPC"/>
                  </a:rPr>
                  <a:t> </a:t>
                </a:r>
                <a:r>
                  <a:rPr lang="es-PE" sz="900" b="0" i="0" dirty="0" err="1">
                    <a:solidFill>
                      <a:schemeClr val="tx1"/>
                    </a:solidFill>
                    <a:effectLst/>
                    <a:latin typeface="Segoe WPC"/>
                  </a:rPr>
                  <a:t>having</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dividends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income</a:t>
                </a:r>
                <a:r>
                  <a:rPr lang="es-PE" sz="900" b="0" i="0" dirty="0">
                    <a:solidFill>
                      <a:schemeClr val="tx1"/>
                    </a:solidFill>
                    <a:effectLst/>
                    <a:latin typeface="Segoe WPC"/>
                  </a:rPr>
                  <a:t> </a:t>
                </a:r>
                <a:r>
                  <a:rPr lang="es-PE" sz="900" b="0" i="0" dirty="0" err="1">
                    <a:solidFill>
                      <a:schemeClr val="tx1"/>
                    </a:solidFill>
                    <a:effectLst/>
                    <a:latin typeface="Segoe WPC"/>
                  </a:rPr>
                  <a:t>directly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put</a:t>
                </a:r>
                <a:r>
                  <a:rPr lang="es-PE" sz="900" b="0" i="0" dirty="0">
                    <a:solidFill>
                      <a:schemeClr val="tx1"/>
                    </a:solidFill>
                    <a:effectLst/>
                    <a:latin typeface="Segoe WPC"/>
                  </a:rPr>
                  <a:t> plus a forward plus </a:t>
                </a:r>
                <a:r>
                  <a:rPr lang="es-PE" sz="900" b="0" i="0" dirty="0" err="1">
                    <a:solidFill>
                      <a:schemeClr val="tx1"/>
                    </a:solidFill>
                    <a:effectLst/>
                    <a:latin typeface="Segoe WPC"/>
                  </a:rPr>
                  <a:t>discounted</a:t>
                </a:r>
                <a:r>
                  <a:rPr lang="es-PE" sz="900" b="0" i="0" dirty="0">
                    <a:solidFill>
                      <a:schemeClr val="tx1"/>
                    </a:solidFill>
                    <a:effectLst/>
                    <a:latin typeface="Segoe WPC"/>
                  </a:rPr>
                  <a:t> forward </a:t>
                </a:r>
                <a:r>
                  <a:rPr lang="es-PE" sz="900" b="0" i="0" dirty="0" err="1">
                    <a:solidFill>
                      <a:schemeClr val="tx1"/>
                    </a:solidFill>
                    <a:effectLst/>
                    <a:latin typeface="Segoe WPC"/>
                  </a:rPr>
                  <a:t>price</a:t>
                </a:r>
                <a:r>
                  <a:rPr lang="es-PE" sz="900" b="0" i="0" dirty="0">
                    <a:solidFill>
                      <a:schemeClr val="tx1"/>
                    </a:solidFill>
                    <a:effectLst/>
                    <a:latin typeface="Segoe WPC"/>
                  </a:rPr>
                  <a:t> can </a:t>
                </a:r>
                <a:r>
                  <a:rPr lang="es-PE" sz="900" b="0" i="0" dirty="0" err="1">
                    <a:solidFill>
                      <a:schemeClr val="tx1"/>
                    </a:solidFill>
                    <a:effectLst/>
                    <a:latin typeface="Segoe WPC"/>
                  </a:rPr>
                  <a:t>replicate</a:t>
                </a:r>
                <a:r>
                  <a:rPr lang="es-PE" sz="900" b="0" i="0" dirty="0">
                    <a:solidFill>
                      <a:schemeClr val="tx1"/>
                    </a:solidFill>
                    <a:effectLst/>
                    <a:latin typeface="Segoe WPC"/>
                  </a:rPr>
                  <a:t> a </a:t>
                </a:r>
                <a:r>
                  <a:rPr lang="es-PE" sz="900" b="0" i="0" dirty="0" err="1">
                    <a:solidFill>
                      <a:schemeClr val="tx1"/>
                    </a:solidFill>
                    <a:effectLst/>
                    <a:latin typeface="Segoe WPC"/>
                  </a:rPr>
                  <a:t>call</a:t>
                </a:r>
                <a:r>
                  <a:rPr lang="es-PE" sz="900" b="0" i="0" dirty="0">
                    <a:solidFill>
                      <a:schemeClr val="tx1"/>
                    </a:solidFill>
                    <a:effectLst/>
                    <a:latin typeface="Segoe WPC"/>
                  </a:rPr>
                  <a:t> plus </a:t>
                </a:r>
                <a:r>
                  <a:rPr lang="es-PE" sz="900" b="0" i="0" dirty="0" err="1">
                    <a:solidFill>
                      <a:schemeClr val="tx1"/>
                    </a:solidFill>
                    <a:effectLst/>
                    <a:latin typeface="Segoe WPC"/>
                  </a:rPr>
                  <a:t>discounted</a:t>
                </a:r>
                <a:r>
                  <a:rPr lang="es-PE" sz="900" b="0" i="0" dirty="0">
                    <a:solidFill>
                      <a:schemeClr val="tx1"/>
                    </a:solidFill>
                    <a:effectLst/>
                    <a:latin typeface="Segoe WPC"/>
                  </a:rPr>
                  <a:t> strike.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𝑐</m:t>
                        </m:r>
                      </m:e>
                      <m:sub>
                        <m:r>
                          <a:rPr lang="ar-AE" sz="900" i="1">
                            <a:solidFill>
                              <a:schemeClr val="tx1"/>
                            </a:solidFill>
                            <a:latin typeface="Cambria Math" panose="02040503050406030204" pitchFamily="18" charset="0"/>
                          </a:rPr>
                          <m:t>𝐸</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1">
                            <a:solidFill>
                              <a:schemeClr val="tx1"/>
                            </a:solidFill>
                            <a:latin typeface="Cambria Math" panose="02040503050406030204" pitchFamily="18" charset="0"/>
                          </a:rPr>
                          <m:t>𝐸</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𝐹</m:t>
                        </m:r>
                      </m:e>
                    </m:d>
                  </m:oMath>
                </a14:m>
                <a:r>
                  <a:rPr lang="ar-AE" sz="900" b="0" i="0" dirty="0">
                    <a:solidFill>
                      <a:schemeClr val="tx1"/>
                    </a:solidFill>
                    <a:effectLst/>
                    <a:latin typeface="Segoe WPC"/>
                  </a:rPr>
                  <a:t>. </a:t>
                </a:r>
                <a:r>
                  <a:rPr lang="es-PE" sz="900" b="0" i="0" dirty="0" err="1">
                    <a:solidFill>
                      <a:schemeClr val="tx1"/>
                    </a:solidFill>
                    <a:effectLst/>
                    <a:latin typeface="Segoe WPC"/>
                  </a:rPr>
                  <a:t>Hence</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𝑐</m:t>
                        </m:r>
                      </m:e>
                      <m:sub>
                        <m:r>
                          <a:rPr lang="ar-AE" sz="900" i="1">
                            <a:solidFill>
                              <a:schemeClr val="tx1"/>
                            </a:solidFill>
                            <a:latin typeface="Cambria Math" panose="02040503050406030204" pitchFamily="18" charset="0"/>
                          </a:rPr>
                          <m:t>𝐸</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𝐹</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d>
                  </m:oMath>
                </a14:m>
                <a:r>
                  <a:rPr lang="ar-AE" sz="900" b="0" i="0" dirty="0">
                    <a:solidFill>
                      <a:schemeClr val="tx1"/>
                    </a:solidFill>
                    <a:effectLst/>
                    <a:latin typeface="Segoe WPC"/>
                  </a:rPr>
                  <a:t> </a:t>
                </a:r>
                <a:r>
                  <a:rPr lang="es-PE" sz="900" b="0" i="0" dirty="0">
                    <a:solidFill>
                      <a:schemeClr val="tx1"/>
                    </a:solidFill>
                    <a:effectLst/>
                    <a:latin typeface="Segoe WPC"/>
                  </a:rPr>
                  <a:t>and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1">
                            <a:solidFill>
                              <a:schemeClr val="tx1"/>
                            </a:solidFill>
                            <a:latin typeface="Cambria Math" panose="02040503050406030204" pitchFamily="18" charset="0"/>
                          </a:rPr>
                          <m:t>𝐸</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𝐹</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a:t>
                </a:r>
                <a:r>
                  <a:rPr lang="es-PE" sz="900" b="0" i="0" dirty="0" err="1">
                    <a:solidFill>
                      <a:schemeClr val="tx1"/>
                    </a:solidFill>
                    <a:effectLst/>
                    <a:latin typeface="Segoe WPC"/>
                  </a:rPr>
                  <a:t>version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currencies</a:t>
                </a:r>
                <a:r>
                  <a:rPr lang="es-PE" sz="900" b="0" i="0" dirty="0">
                    <a:solidFill>
                      <a:schemeClr val="tx1"/>
                    </a:solidFill>
                    <a:effectLst/>
                    <a:latin typeface="Segoe WPC"/>
                  </a:rPr>
                  <a:t>, </a:t>
                </a:r>
                <a:r>
                  <a:rPr lang="es-PE" sz="900" b="0" i="0" dirty="0" err="1">
                    <a:solidFill>
                      <a:schemeClr val="tx1"/>
                    </a:solidFill>
                    <a:effectLst/>
                    <a:latin typeface="Segoe WPC"/>
                  </a:rPr>
                  <a:t>indices</a:t>
                </a:r>
                <a:r>
                  <a:rPr lang="es-PE" sz="900" b="0" i="0" dirty="0">
                    <a:solidFill>
                      <a:schemeClr val="tx1"/>
                    </a:solidFill>
                    <a:effectLst/>
                    <a:latin typeface="Segoe WPC"/>
                  </a:rPr>
                  <a:t>, </a:t>
                </a:r>
                <a:r>
                  <a:rPr lang="es-PE" sz="900" b="0" i="0" dirty="0" err="1">
                    <a:solidFill>
                      <a:schemeClr val="tx1"/>
                    </a:solidFill>
                    <a:effectLst/>
                    <a:latin typeface="Segoe WPC"/>
                  </a:rPr>
                  <a:t>commodities</a:t>
                </a:r>
                <a:r>
                  <a:rPr lang="es-PE" sz="900" b="0" i="0" dirty="0">
                    <a:solidFill>
                      <a:schemeClr val="tx1"/>
                    </a:solidFill>
                    <a:effectLst/>
                    <a:latin typeface="Segoe WPC"/>
                  </a:rPr>
                  <a:t>, and </a:t>
                </a:r>
                <a:r>
                  <a:rPr lang="es-PE" sz="900" b="0" i="0" dirty="0" err="1">
                    <a:solidFill>
                      <a:schemeClr val="tx1"/>
                    </a:solidFill>
                    <a:effectLst/>
                    <a:latin typeface="Segoe WPC"/>
                  </a:rPr>
                  <a:t>other</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forward </a:t>
                </a:r>
                <a:r>
                  <a:rPr lang="es-PE" sz="900" b="0" i="0" dirty="0" err="1">
                    <a:solidFill>
                      <a:schemeClr val="tx1"/>
                    </a:solidFill>
                    <a:effectLst/>
                    <a:latin typeface="Segoe WPC"/>
                  </a:rPr>
                  <a:t>prices</a:t>
                </a:r>
                <a:r>
                  <a:rPr lang="es-PE" sz="900" b="0" i="0" dirty="0">
                    <a:solidFill>
                      <a:schemeClr val="tx1"/>
                    </a:solidFill>
                    <a:effectLst/>
                    <a:latin typeface="Segoe WPC"/>
                  </a:rPr>
                  <a:t> are observable.</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 simple stock, use </a:t>
                </a:r>
                <a:r>
                  <a:rPr lang="es-PE" sz="900" b="0" i="0" dirty="0" err="1">
                    <a:solidFill>
                      <a:schemeClr val="tx1"/>
                    </a:solidFill>
                    <a:effectLst/>
                    <a:latin typeface="Segoe WPC"/>
                  </a:rPr>
                  <a:t>the</a:t>
                </a:r>
                <a:r>
                  <a:rPr lang="es-PE" sz="900" b="0" i="0" dirty="0">
                    <a:solidFill>
                      <a:schemeClr val="tx1"/>
                    </a:solidFill>
                    <a:effectLst/>
                    <a:latin typeface="Segoe WPC"/>
                  </a:rPr>
                  <a:t> forward-</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form</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parity</a:t>
                </a:r>
                <a:r>
                  <a:rPr lang="es-PE" sz="900" b="0" i="0" dirty="0">
                    <a:solidFill>
                      <a:schemeClr val="tx1"/>
                    </a:solidFill>
                    <a:effectLst/>
                    <a:latin typeface="Segoe WPC"/>
                  </a:rPr>
                  <a:t> </a:t>
                </a:r>
                <a:r>
                  <a:rPr lang="es-PE" sz="900" b="0" i="0" dirty="0" err="1">
                    <a:solidFill>
                      <a:schemeClr val="tx1"/>
                    </a:solidFill>
                    <a:effectLst/>
                    <a:latin typeface="Segoe WPC"/>
                  </a:rPr>
                  <a:t>instead</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forcing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a:t>
                </a:r>
                <a:r>
                  <a:rPr lang="es-PE" sz="900" b="0" i="0" dirty="0" err="1">
                    <a:solidFill>
                      <a:schemeClr val="tx1"/>
                    </a:solidFill>
                    <a:effectLst/>
                    <a:latin typeface="Segoe WPC"/>
                  </a:rPr>
                  <a:t>dividend</a:t>
                </a:r>
                <a:r>
                  <a:rPr lang="es-PE" sz="900" b="0" i="0" dirty="0">
                    <a:solidFill>
                      <a:schemeClr val="tx1"/>
                    </a:solidFill>
                    <a:effectLst/>
                    <a:latin typeface="Segoe WPC"/>
                  </a:rPr>
                  <a:t> </a:t>
                </a:r>
                <a:r>
                  <a:rPr lang="es-PE" sz="900" b="0" i="0" dirty="0" err="1">
                    <a:solidFill>
                      <a:schemeClr val="tx1"/>
                    </a:solidFill>
                    <a:effectLst/>
                    <a:latin typeface="Segoe WPC"/>
                  </a:rPr>
                  <a:t>version</a:t>
                </a:r>
                <a:r>
                  <a:rPr lang="es-PE" sz="900" b="0" i="0" dirty="0">
                    <a:solidFill>
                      <a:schemeClr val="tx1"/>
                    </a:solidFill>
                    <a:effectLst/>
                    <a:latin typeface="Segoe WPC"/>
                  </a:rPr>
                  <a:t>.</a:t>
                </a:r>
              </a:p>
            </p:txBody>
          </p:sp>
        </mc:Choice>
        <mc:Fallback xmlns="">
          <p:sp>
            <p:nvSpPr>
              <p:cNvPr id="9" name="CuadroTexto 8">
                <a:extLst>
                  <a:ext uri="{FF2B5EF4-FFF2-40B4-BE49-F238E27FC236}">
                    <a16:creationId xmlns:a16="http://schemas.microsoft.com/office/drawing/2014/main" id="{BF6232BC-AE68-0BA9-7CCE-2827CAF3A95C}"/>
                  </a:ext>
                </a:extLst>
              </p:cNvPr>
              <p:cNvSpPr txBox="1">
                <a:spLocks noRot="1" noChangeAspect="1" noMove="1" noResize="1" noEditPoints="1" noAdjustHandles="1" noChangeArrowheads="1" noChangeShapeType="1" noTextEdit="1"/>
              </p:cNvSpPr>
              <p:nvPr/>
            </p:nvSpPr>
            <p:spPr>
              <a:xfrm>
                <a:off x="5967413" y="264934"/>
                <a:ext cx="6143624" cy="5262979"/>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41451055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1D0944-AE78-BFB1-C54D-8BFE3A7BA00D}"/>
              </a:ext>
            </a:extLst>
          </p:cNvPr>
          <p:cNvSpPr>
            <a:spLocks noGrp="1"/>
          </p:cNvSpPr>
          <p:nvPr>
            <p:ph type="title"/>
          </p:nvPr>
        </p:nvSpPr>
        <p:spPr>
          <a:xfrm>
            <a:off x="82550" y="98425"/>
            <a:ext cx="10515600" cy="409575"/>
          </a:xfrm>
        </p:spPr>
        <p:txBody>
          <a:bodyPr>
            <a:normAutofit fontScale="90000"/>
          </a:bodyPr>
          <a:lstStyle/>
          <a:p>
            <a:r>
              <a:rPr lang="en-US" sz="2400" dirty="0"/>
              <a:t>Trading Strategies</a:t>
            </a:r>
            <a:endParaRPr lang="es-PE" sz="24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9A016873-B95C-37A0-16FC-2943D53D4463}"/>
                  </a:ext>
                </a:extLst>
              </p:cNvPr>
              <p:cNvSpPr txBox="1"/>
              <p:nvPr/>
            </p:nvSpPr>
            <p:spPr>
              <a:xfrm>
                <a:off x="158750" y="374317"/>
                <a:ext cx="6096000" cy="6109365"/>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1. </a:t>
                </a:r>
                <a:r>
                  <a:rPr lang="es-PE" sz="900" b="1" i="0" dirty="0" err="1">
                    <a:solidFill>
                      <a:schemeClr val="tx1"/>
                    </a:solidFill>
                    <a:effectLst/>
                    <a:latin typeface="Segoe WPC"/>
                  </a:rPr>
                  <a:t>Protective</a:t>
                </a:r>
                <a:r>
                  <a:rPr lang="es-PE" sz="900" b="1" i="0" dirty="0">
                    <a:solidFill>
                      <a:schemeClr val="tx1"/>
                    </a:solidFill>
                    <a:effectLst/>
                    <a:latin typeface="Segoe WPC"/>
                  </a:rPr>
                  <a:t> </a:t>
                </a:r>
                <a:r>
                  <a:rPr lang="es-PE" sz="900" b="1" i="0" dirty="0" err="1">
                    <a:solidFill>
                      <a:schemeClr val="tx1"/>
                    </a:solidFill>
                    <a:effectLst/>
                    <a:latin typeface="Segoe WPC"/>
                  </a:rPr>
                  <a:t>Put</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protective</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plus a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investor</a:t>
                </a:r>
                <a:r>
                  <a:rPr lang="es-PE" sz="900" b="0" i="0" dirty="0">
                    <a:solidFill>
                      <a:schemeClr val="tx1"/>
                    </a:solidFill>
                    <a:effectLst/>
                    <a:latin typeface="Segoe WPC"/>
                  </a:rPr>
                  <a:t> </a:t>
                </a:r>
                <a:r>
                  <a:rPr lang="es-PE" sz="900" b="0" i="0" dirty="0" err="1">
                    <a:solidFill>
                      <a:schemeClr val="tx1"/>
                    </a:solidFill>
                    <a:effectLst/>
                    <a:latin typeface="Segoe WPC"/>
                  </a:rPr>
                  <a:t>wants</a:t>
                </a:r>
                <a:r>
                  <a:rPr lang="es-PE" sz="900" b="0" i="0" dirty="0">
                    <a:solidFill>
                      <a:schemeClr val="tx1"/>
                    </a:solidFill>
                    <a:effectLst/>
                    <a:latin typeface="Segoe WPC"/>
                  </a:rPr>
                  <a:t> </a:t>
                </a:r>
                <a:r>
                  <a:rPr lang="es-PE" sz="900" b="0" i="0" dirty="0" err="1">
                    <a:solidFill>
                      <a:schemeClr val="tx1"/>
                    </a:solidFill>
                    <a:effectLst/>
                    <a:latin typeface="Segoe WPC"/>
                  </a:rPr>
                  <a:t>upside</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buys</a:t>
                </a:r>
                <a:r>
                  <a:rPr lang="es-PE" sz="900" b="0" i="0" dirty="0">
                    <a:solidFill>
                      <a:schemeClr val="tx1"/>
                    </a:solidFill>
                    <a:effectLst/>
                    <a:latin typeface="Segoe WPC"/>
                  </a:rPr>
                  <a:t> </a:t>
                </a:r>
                <a:r>
                  <a:rPr lang="es-PE" sz="900" b="0" i="0" dirty="0" err="1">
                    <a:solidFill>
                      <a:schemeClr val="tx1"/>
                    </a:solidFill>
                    <a:effectLst/>
                    <a:latin typeface="Segoe WPC"/>
                  </a:rPr>
                  <a:t>downside</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keep</a:t>
                </a:r>
                <a:r>
                  <a:rPr lang="es-PE" sz="900" b="0" i="0" dirty="0">
                    <a:solidFill>
                      <a:schemeClr val="tx1"/>
                    </a:solidFill>
                    <a:effectLst/>
                    <a:latin typeface="Segoe WPC"/>
                  </a:rPr>
                  <a:t> </a:t>
                </a:r>
                <a:r>
                  <a:rPr lang="es-PE" sz="900" b="0" i="0" dirty="0" err="1">
                    <a:solidFill>
                      <a:schemeClr val="tx1"/>
                    </a:solidFill>
                    <a:effectLst/>
                    <a:latin typeface="Segoe WPC"/>
                  </a:rPr>
                  <a:t>gains</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rises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sets a </a:t>
                </a:r>
                <a:r>
                  <a:rPr lang="es-PE" sz="900" b="0" i="0" dirty="0" err="1">
                    <a:solidFill>
                      <a:schemeClr val="tx1"/>
                    </a:solidFill>
                    <a:effectLst/>
                    <a:latin typeface="Segoe WPC"/>
                  </a:rPr>
                  <a:t>floor</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falls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put-call</a:t>
                </a:r>
                <a:r>
                  <a:rPr lang="es-PE" sz="900" b="0" i="0" dirty="0">
                    <a:solidFill>
                      <a:schemeClr val="tx1"/>
                    </a:solidFill>
                    <a:effectLst/>
                    <a:latin typeface="Segoe WPC"/>
                  </a:rPr>
                  <a:t> </a:t>
                </a:r>
                <a:r>
                  <a:rPr lang="es-PE" sz="900" b="0" i="0" dirty="0" err="1">
                    <a:solidFill>
                      <a:schemeClr val="tx1"/>
                    </a:solidFill>
                    <a:effectLst/>
                    <a:latin typeface="Segoe WPC"/>
                  </a:rPr>
                  <a:t>parity</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𝑝</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𝑆</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𝑐</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d>
                  </m:oMath>
                </a14:m>
                <a:r>
                  <a:rPr lang="ar-A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t>
                </a:r>
                <a:r>
                  <a:rPr lang="es-PE" sz="900" b="0" i="0" dirty="0" err="1">
                    <a:solidFill>
                      <a:schemeClr val="tx1"/>
                    </a:solidFill>
                    <a:effectLst/>
                    <a:latin typeface="Segoe WPC"/>
                  </a:rPr>
                  <a:t>maturity</a:t>
                </a:r>
                <a:r>
                  <a:rPr lang="es-PE" sz="900" b="0" i="0" dirty="0">
                    <a:solidFill>
                      <a:schemeClr val="tx1"/>
                    </a:solidFill>
                    <a:effectLst/>
                    <a:latin typeface="Segoe WPC"/>
                  </a:rPr>
                  <a:t>: </a:t>
                </a:r>
                <a14:m>
                  <m:oMath xmlns:m="http://schemas.openxmlformats.org/officeDocument/2006/math">
                    <m:r>
                      <m:rPr>
                        <m:sty m:val="p"/>
                      </m:rPr>
                      <a:rPr lang="es-PE" sz="90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e>
                        <m:r>
                          <a:rPr lang="ar-AE" sz="900" i="1">
                            <a:solidFill>
                              <a:schemeClr val="tx1"/>
                            </a:solidFill>
                            <a:latin typeface="Cambria Math" panose="02040503050406030204" pitchFamily="18" charset="0"/>
                          </a:rPr>
                          <m:t>𝐾</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Bullish</a:t>
                </a:r>
                <a:r>
                  <a:rPr lang="es-PE" sz="900" b="0" i="0" dirty="0">
                    <a:solidFill>
                      <a:schemeClr val="tx1"/>
                    </a:solidFill>
                    <a:effectLst/>
                    <a:latin typeface="Segoe WPC"/>
                  </a:rPr>
                  <a:t> </a:t>
                </a:r>
                <a:r>
                  <a:rPr lang="es-PE" sz="900" b="0" i="0" dirty="0" err="1">
                    <a:solidFill>
                      <a:schemeClr val="tx1"/>
                    </a:solidFill>
                    <a:effectLst/>
                    <a:latin typeface="Segoe WPC"/>
                  </a:rPr>
                  <a:t>strategy</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limited</a:t>
                </a:r>
                <a:r>
                  <a:rPr lang="es-PE" sz="900" b="0" i="0" dirty="0">
                    <a:solidFill>
                      <a:schemeClr val="tx1"/>
                    </a:solidFill>
                    <a:effectLst/>
                    <a:latin typeface="Segoe WPC"/>
                  </a:rPr>
                  <a:t> </a:t>
                </a:r>
                <a:r>
                  <a:rPr lang="es-PE" sz="900" b="0" i="0" dirty="0" err="1">
                    <a:solidFill>
                      <a:schemeClr val="tx1"/>
                    </a:solidFill>
                    <a:effectLst/>
                    <a:latin typeface="Segoe WPC"/>
                  </a:rPr>
                  <a:t>downside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 free lunch;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premium reduces total </a:t>
                </a:r>
                <a:r>
                  <a:rPr lang="es-PE" sz="900" b="0" i="0" dirty="0" err="1">
                    <a:solidFill>
                      <a:schemeClr val="tx1"/>
                    </a:solidFill>
                    <a:effectLst/>
                    <a:latin typeface="Segoe WPC"/>
                  </a:rPr>
                  <a:t>return</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2. </a:t>
                </a:r>
                <a:r>
                  <a:rPr lang="es-PE" sz="900" b="1" i="0" dirty="0" err="1">
                    <a:solidFill>
                      <a:schemeClr val="tx1"/>
                    </a:solidFill>
                    <a:effectLst/>
                    <a:latin typeface="Segoe WPC"/>
                  </a:rPr>
                  <a:t>Covered</a:t>
                </a:r>
                <a:r>
                  <a:rPr lang="es-PE" sz="900" b="1" i="0" dirty="0">
                    <a:solidFill>
                      <a:schemeClr val="tx1"/>
                    </a:solidFill>
                    <a:effectLst/>
                    <a:latin typeface="Segoe WPC"/>
                  </a:rPr>
                  <a:t> </a:t>
                </a:r>
                <a:r>
                  <a:rPr lang="es-PE" sz="900" b="1" i="0" dirty="0" err="1">
                    <a:solidFill>
                      <a:schemeClr val="tx1"/>
                    </a:solidFill>
                    <a:effectLst/>
                    <a:latin typeface="Segoe WPC"/>
                  </a:rPr>
                  <a:t>Call</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covered</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plus a short </a:t>
                </a:r>
                <a:r>
                  <a:rPr lang="es-PE" sz="900" b="0" i="0" dirty="0" err="1">
                    <a:solidFill>
                      <a:schemeClr val="tx1"/>
                    </a:solidFill>
                    <a:effectLst/>
                    <a:latin typeface="Segoe WPC"/>
                  </a:rPr>
                  <a:t>call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investor</a:t>
                </a:r>
                <a:r>
                  <a:rPr lang="es-PE" sz="900" b="0" i="0" dirty="0">
                    <a:solidFill>
                      <a:schemeClr val="tx1"/>
                    </a:solidFill>
                    <a:effectLst/>
                    <a:latin typeface="Segoe WPC"/>
                  </a:rPr>
                  <a:t> </a:t>
                </a:r>
                <a:r>
                  <a:rPr lang="es-PE" sz="900" b="0" i="0" dirty="0" err="1">
                    <a:solidFill>
                      <a:schemeClr val="tx1"/>
                    </a:solidFill>
                    <a:effectLst/>
                    <a:latin typeface="Segoe WPC"/>
                  </a:rPr>
                  <a:t>earns</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premium in </a:t>
                </a:r>
                <a:r>
                  <a:rPr lang="es-PE" sz="900" b="0" i="0" dirty="0" err="1">
                    <a:solidFill>
                      <a:schemeClr val="tx1"/>
                    </a:solidFill>
                    <a:effectLst/>
                    <a:latin typeface="Segoe WPC"/>
                  </a:rPr>
                  <a:t>exchange</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giving</a:t>
                </a:r>
                <a:r>
                  <a:rPr lang="es-PE" sz="900" b="0" i="0" dirty="0">
                    <a:solidFill>
                      <a:schemeClr val="tx1"/>
                    </a:solidFill>
                    <a:effectLst/>
                    <a:latin typeface="Segoe WPC"/>
                  </a:rPr>
                  <a:t> up </a:t>
                </a:r>
                <a:r>
                  <a:rPr lang="es-PE" sz="900" b="0" i="0" dirty="0" err="1">
                    <a:solidFill>
                      <a:schemeClr val="tx1"/>
                    </a:solidFill>
                    <a:effectLst/>
                    <a:latin typeface="Segoe WPC"/>
                  </a:rPr>
                  <a:t>some</a:t>
                </a:r>
                <a:r>
                  <a:rPr lang="es-PE" sz="900" b="0" i="0" dirty="0">
                    <a:solidFill>
                      <a:schemeClr val="tx1"/>
                    </a:solidFill>
                    <a:effectLst/>
                    <a:latin typeface="Segoe WPC"/>
                  </a:rPr>
                  <a:t> </a:t>
                </a:r>
                <a:r>
                  <a:rPr lang="es-PE" sz="900" b="0" i="0" dirty="0" err="1">
                    <a:solidFill>
                      <a:schemeClr val="tx1"/>
                    </a:solidFill>
                    <a:effectLst/>
                    <a:latin typeface="Segoe WPC"/>
                  </a:rPr>
                  <a:t>upside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keep</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unless</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rises</a:t>
                </a:r>
                <a:r>
                  <a:rPr lang="es-PE" sz="900" b="0" i="0" dirty="0">
                    <a:solidFill>
                      <a:schemeClr val="tx1"/>
                    </a:solidFill>
                    <a:effectLst/>
                    <a:latin typeface="Segoe WPC"/>
                  </a:rPr>
                  <a:t> </a:t>
                </a:r>
                <a:r>
                  <a:rPr lang="es-PE" sz="900" b="0" i="0" dirty="0" err="1">
                    <a:solidFill>
                      <a:schemeClr val="tx1"/>
                    </a:solidFill>
                    <a:effectLst/>
                    <a:latin typeface="Segoe WPC"/>
                  </a:rPr>
                  <a:t>too</a:t>
                </a:r>
                <a:r>
                  <a:rPr lang="es-PE" sz="900" b="0" i="0" dirty="0">
                    <a:solidFill>
                      <a:schemeClr val="tx1"/>
                    </a:solidFill>
                    <a:effectLst/>
                    <a:latin typeface="Segoe WPC"/>
                  </a:rPr>
                  <a:t> </a:t>
                </a:r>
                <a:r>
                  <a:rPr lang="es-PE" sz="900" b="0" i="0" dirty="0" err="1">
                    <a:solidFill>
                      <a:schemeClr val="tx1"/>
                    </a:solidFill>
                    <a:effectLst/>
                    <a:latin typeface="Segoe WPC"/>
                  </a:rPr>
                  <a:t>much</a:t>
                </a:r>
                <a:r>
                  <a:rPr lang="es-PE" sz="900" b="0" i="0" dirty="0">
                    <a:solidFill>
                      <a:schemeClr val="tx1"/>
                    </a:solidFill>
                    <a:effectLst/>
                    <a:latin typeface="Segoe WPC"/>
                  </a:rPr>
                  <a:t>, in </a:t>
                </a:r>
                <a:r>
                  <a:rPr lang="es-PE" sz="900" b="0" i="0" dirty="0" err="1">
                    <a:solidFill>
                      <a:schemeClr val="tx1"/>
                    </a:solidFill>
                    <a:effectLst/>
                    <a:latin typeface="Segoe WPC"/>
                  </a:rPr>
                  <a:t>which</a:t>
                </a:r>
                <a:r>
                  <a:rPr lang="es-PE" sz="900" b="0" i="0" dirty="0">
                    <a:solidFill>
                      <a:schemeClr val="tx1"/>
                    </a:solidFill>
                    <a:effectLst/>
                    <a:latin typeface="Segoe WPC"/>
                  </a:rPr>
                  <a:t> case </a:t>
                </a:r>
                <a:r>
                  <a:rPr lang="es-PE" sz="900" b="0" i="0" dirty="0" err="1">
                    <a:solidFill>
                      <a:schemeClr val="tx1"/>
                    </a:solidFill>
                    <a:effectLst/>
                    <a:latin typeface="Segoe WPC"/>
                  </a:rPr>
                  <a:t>gains</a:t>
                </a:r>
                <a:r>
                  <a:rPr lang="es-PE" sz="900" b="0" i="0" dirty="0">
                    <a:solidFill>
                      <a:schemeClr val="tx1"/>
                    </a:solidFill>
                    <a:effectLst/>
                    <a:latin typeface="Segoe WPC"/>
                  </a:rPr>
                  <a:t> are </a:t>
                </a:r>
                <a:r>
                  <a:rPr lang="es-PE" sz="900" b="0" i="0" dirty="0" err="1">
                    <a:solidFill>
                      <a:schemeClr val="tx1"/>
                    </a:solidFill>
                    <a:effectLst/>
                    <a:latin typeface="Segoe WPC"/>
                  </a:rPr>
                  <a:t>capped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𝑆</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𝑐</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oMath>
                </a14:m>
                <a:r>
                  <a:rPr lang="ar-A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t>
                </a:r>
                <a:r>
                  <a:rPr lang="es-PE" sz="900" b="0" i="0" dirty="0" err="1">
                    <a:solidFill>
                      <a:schemeClr val="tx1"/>
                    </a:solidFill>
                    <a:effectLst/>
                    <a:latin typeface="Segoe WPC"/>
                  </a:rPr>
                  <a:t>maturity</a:t>
                </a:r>
                <a:r>
                  <a:rPr lang="es-PE" sz="900" b="0" i="0" dirty="0">
                    <a:solidFill>
                      <a:schemeClr val="tx1"/>
                    </a:solidFill>
                    <a:effectLst/>
                    <a:latin typeface="Segoe WPC"/>
                  </a:rPr>
                  <a:t>: </a:t>
                </a:r>
                <a14:m>
                  <m:oMath xmlns:m="http://schemas.openxmlformats.org/officeDocument/2006/math">
                    <m:r>
                      <m:rPr>
                        <m:sty m:val="p"/>
                      </m:rPr>
                      <a:rPr lang="es-PE" sz="900">
                        <a:solidFill>
                          <a:schemeClr val="tx1"/>
                        </a:solidFill>
                        <a:latin typeface="Cambria Math" panose="02040503050406030204" pitchFamily="18" charset="0"/>
                      </a:rPr>
                      <m:t>min</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e>
                        <m:r>
                          <a:rPr lang="ar-AE" sz="900" i="1">
                            <a:solidFill>
                              <a:schemeClr val="tx1"/>
                            </a:solidFill>
                            <a:latin typeface="Cambria Math" panose="02040503050406030204" pitchFamily="18" charset="0"/>
                          </a:rPr>
                          <m:t>𝐾</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Mildly</a:t>
                </a:r>
                <a:r>
                  <a:rPr lang="es-PE" sz="900" b="0" i="0" dirty="0">
                    <a:solidFill>
                      <a:schemeClr val="tx1"/>
                    </a:solidFill>
                    <a:effectLst/>
                    <a:latin typeface="Segoe WPC"/>
                  </a:rPr>
                  <a:t> </a:t>
                </a:r>
                <a:r>
                  <a:rPr lang="es-PE" sz="900" b="0" i="0" dirty="0" err="1">
                    <a:solidFill>
                      <a:schemeClr val="tx1"/>
                    </a:solidFill>
                    <a:effectLst/>
                    <a:latin typeface="Segoe WPC"/>
                  </a:rPr>
                  <a:t>bullish</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neutral </a:t>
                </a:r>
                <a:r>
                  <a:rPr lang="es-PE" sz="900" b="0" i="0" dirty="0" err="1">
                    <a:solidFill>
                      <a:schemeClr val="tx1"/>
                    </a:solidFill>
                    <a:effectLst/>
                    <a:latin typeface="Segoe WPC"/>
                  </a:rPr>
                  <a:t>strategy</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monetizes</a:t>
                </a:r>
                <a:r>
                  <a:rPr lang="es-PE" sz="900" b="0" i="0" dirty="0">
                    <a:solidFill>
                      <a:schemeClr val="tx1"/>
                    </a:solidFill>
                    <a:effectLst/>
                    <a:latin typeface="Segoe WPC"/>
                  </a:rPr>
                  <a:t> </a:t>
                </a:r>
                <a:r>
                  <a:rPr lang="es-PE" sz="900" b="0" i="0" dirty="0" err="1">
                    <a:solidFill>
                      <a:schemeClr val="tx1"/>
                    </a:solidFill>
                    <a:effectLst/>
                    <a:latin typeface="Segoe WPC"/>
                  </a:rPr>
                  <a:t>limited</a:t>
                </a:r>
                <a:r>
                  <a:rPr lang="es-PE" sz="900" b="0" i="0" dirty="0">
                    <a:solidFill>
                      <a:schemeClr val="tx1"/>
                    </a:solidFill>
                    <a:effectLst/>
                    <a:latin typeface="Segoe WPC"/>
                  </a:rPr>
                  <a:t> </a:t>
                </a:r>
                <a:r>
                  <a:rPr lang="es-PE" sz="900" b="0" i="0" dirty="0" err="1">
                    <a:solidFill>
                      <a:schemeClr val="tx1"/>
                    </a:solidFill>
                    <a:effectLst/>
                    <a:latin typeface="Segoe WPC"/>
                  </a:rPr>
                  <a:t>upside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Upside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capped</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downside</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holding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remains</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3. Principal </a:t>
                </a:r>
                <a:r>
                  <a:rPr lang="es-PE" sz="900" b="1" i="0" dirty="0" err="1">
                    <a:solidFill>
                      <a:schemeClr val="tx1"/>
                    </a:solidFill>
                    <a:effectLst/>
                    <a:latin typeface="Segoe WPC"/>
                  </a:rPr>
                  <a:t>Protected</a:t>
                </a:r>
                <a:r>
                  <a:rPr lang="es-PE" sz="900" b="1" i="0" dirty="0">
                    <a:solidFill>
                      <a:schemeClr val="tx1"/>
                    </a:solidFill>
                    <a:effectLst/>
                    <a:latin typeface="Segoe WPC"/>
                  </a:rPr>
                  <a:t> Note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PPN combines a </a:t>
                </a:r>
                <a:r>
                  <a:rPr lang="es-PE" sz="900" b="0" i="0" dirty="0" err="1">
                    <a:solidFill>
                      <a:schemeClr val="tx1"/>
                    </a:solidFill>
                    <a:effectLst/>
                    <a:latin typeface="Segoe WPC"/>
                  </a:rPr>
                  <a:t>zero-coupon</a:t>
                </a:r>
                <a:r>
                  <a:rPr lang="es-PE" sz="900" b="0" i="0" dirty="0">
                    <a:solidFill>
                      <a:schemeClr val="tx1"/>
                    </a:solidFill>
                    <a:effectLst/>
                    <a:latin typeface="Segoe WPC"/>
                  </a:rPr>
                  <a:t> bond </a:t>
                </a:r>
                <a:r>
                  <a:rPr lang="es-PE" sz="900" b="0" i="0" dirty="0" err="1">
                    <a:solidFill>
                      <a:schemeClr val="tx1"/>
                    </a:solidFill>
                    <a:effectLst/>
                    <a:latin typeface="Segoe WPC"/>
                  </a:rPr>
                  <a:t>with</a:t>
                </a:r>
                <a:r>
                  <a:rPr lang="es-PE" sz="900" b="0" i="0" dirty="0">
                    <a:solidFill>
                      <a:schemeClr val="tx1"/>
                    </a:solidFill>
                    <a:effectLst/>
                    <a:latin typeface="Segoe WPC"/>
                  </a:rPr>
                  <a:t> a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 </a:t>
                </a:r>
                <a:r>
                  <a:rPr lang="es-PE" sz="900" b="0" i="0" dirty="0" err="1">
                    <a:solidFill>
                      <a:schemeClr val="tx1"/>
                    </a:solidFill>
                    <a:effectLst/>
                    <a:latin typeface="Segoe WPC"/>
                  </a:rPr>
                  <a:t>risky</a:t>
                </a:r>
                <a:r>
                  <a:rPr lang="es-PE" sz="900" b="0" i="0" dirty="0">
                    <a:solidFill>
                      <a:schemeClr val="tx1"/>
                    </a:solidFill>
                    <a:effectLst/>
                    <a:latin typeface="Segoe WPC"/>
                  </a:rPr>
                  <a:t> portfolio.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Most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money</a:t>
                </a:r>
                <a:r>
                  <a:rPr lang="es-PE" sz="900" b="0" i="0" dirty="0">
                    <a:solidFill>
                      <a:schemeClr val="tx1"/>
                    </a:solidFill>
                    <a:effectLst/>
                    <a:latin typeface="Segoe WPC"/>
                  </a:rPr>
                  <a:t> </a:t>
                </a:r>
                <a:r>
                  <a:rPr lang="es-PE" sz="900" b="0" i="0" dirty="0" err="1">
                    <a:solidFill>
                      <a:schemeClr val="tx1"/>
                    </a:solidFill>
                    <a:effectLst/>
                    <a:latin typeface="Segoe WPC"/>
                  </a:rPr>
                  <a:t>buys</a:t>
                </a:r>
                <a:r>
                  <a:rPr lang="es-PE" sz="900" b="0" i="0" dirty="0">
                    <a:solidFill>
                      <a:schemeClr val="tx1"/>
                    </a:solidFill>
                    <a:effectLst/>
                    <a:latin typeface="Segoe WPC"/>
                  </a:rPr>
                  <a:t> principal </a:t>
                </a:r>
                <a:r>
                  <a:rPr lang="es-PE" sz="900" b="0" i="0" dirty="0" err="1">
                    <a:solidFill>
                      <a:schemeClr val="tx1"/>
                    </a:solidFill>
                    <a:effectLst/>
                    <a:latin typeface="Segoe WPC"/>
                  </a:rPr>
                  <a:t>protection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rest</a:t>
                </a:r>
                <a:r>
                  <a:rPr lang="es-PE" sz="900" b="0" i="0" dirty="0">
                    <a:solidFill>
                      <a:schemeClr val="tx1"/>
                    </a:solidFill>
                    <a:effectLst/>
                    <a:latin typeface="Segoe WPC"/>
                  </a:rPr>
                  <a:t> </a:t>
                </a:r>
                <a:r>
                  <a:rPr lang="es-PE" sz="900" b="0" i="0" dirty="0" err="1">
                    <a:solidFill>
                      <a:schemeClr val="tx1"/>
                    </a:solidFill>
                    <a:effectLst/>
                    <a:latin typeface="Segoe WPC"/>
                  </a:rPr>
                  <a:t>buys</a:t>
                </a:r>
                <a:r>
                  <a:rPr lang="es-PE" sz="900" b="0" i="0" dirty="0">
                    <a:solidFill>
                      <a:schemeClr val="tx1"/>
                    </a:solidFill>
                    <a:effectLst/>
                    <a:latin typeface="Segoe WPC"/>
                  </a:rPr>
                  <a:t> </a:t>
                </a:r>
                <a:r>
                  <a:rPr lang="es-PE" sz="900" b="0" i="0" dirty="0" err="1">
                    <a:solidFill>
                      <a:schemeClr val="tx1"/>
                    </a:solidFill>
                    <a:effectLst/>
                    <a:latin typeface="Segoe WPC"/>
                  </a:rPr>
                  <a:t>upside</a:t>
                </a:r>
                <a:r>
                  <a:rPr lang="es-PE" sz="900" b="0" i="0" dirty="0">
                    <a:solidFill>
                      <a:schemeClr val="tx1"/>
                    </a:solidFill>
                    <a:effectLst/>
                    <a:latin typeface="Segoe WPC"/>
                  </a:rPr>
                  <a:t> </a:t>
                </a:r>
                <a:r>
                  <a:rPr lang="es-PE" sz="900" b="0" i="0" dirty="0" err="1">
                    <a:solidFill>
                      <a:schemeClr val="tx1"/>
                    </a:solidFill>
                    <a:effectLst/>
                    <a:latin typeface="Segoe WPC"/>
                  </a:rPr>
                  <a:t>participation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t>
                </a:r>
                <a:r>
                  <a:rPr lang="es-PE" sz="900" b="0" i="0" dirty="0" err="1">
                    <a:solidFill>
                      <a:schemeClr val="tx1"/>
                    </a:solidFill>
                    <a:effectLst/>
                    <a:latin typeface="Segoe WPC"/>
                  </a:rPr>
                  <a:t>maturity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bond </a:t>
                </a:r>
                <a:r>
                  <a:rPr lang="es-PE" sz="900" b="0" i="0" dirty="0" err="1">
                    <a:solidFill>
                      <a:schemeClr val="tx1"/>
                    </a:solidFill>
                    <a:effectLst/>
                    <a:latin typeface="Segoe WPC"/>
                  </a:rPr>
                  <a:t>returns</a:t>
                </a:r>
                <a:r>
                  <a:rPr lang="es-PE" sz="900" b="0" i="0" dirty="0">
                    <a:solidFill>
                      <a:schemeClr val="tx1"/>
                    </a:solidFill>
                    <a:effectLst/>
                    <a:latin typeface="Segoe WPC"/>
                  </a:rPr>
                  <a:t> principal and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adds</a:t>
                </a:r>
                <a:r>
                  <a:rPr lang="es-PE" sz="900" b="0" i="0" dirty="0">
                    <a:solidFill>
                      <a:schemeClr val="tx1"/>
                    </a:solidFill>
                    <a:effectLst/>
                    <a:latin typeface="Segoe WPC"/>
                  </a:rPr>
                  <a:t> </a:t>
                </a:r>
                <a:r>
                  <a:rPr lang="es-PE" sz="900" b="0" i="0" dirty="0" err="1">
                    <a:solidFill>
                      <a:schemeClr val="tx1"/>
                    </a:solidFill>
                    <a:effectLst/>
                    <a:latin typeface="Segoe WPC"/>
                  </a:rPr>
                  <a:t>gains</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performs</a:t>
                </a:r>
                <a:r>
                  <a:rPr lang="es-PE" sz="900" b="0" i="0" dirty="0">
                    <a:solidFill>
                      <a:schemeClr val="tx1"/>
                    </a:solidFill>
                    <a:effectLst/>
                    <a:latin typeface="Segoe WPC"/>
                  </a:rPr>
                  <a:t> </a:t>
                </a:r>
                <a:r>
                  <a:rPr lang="es-PE" sz="900" b="0" i="0" dirty="0" err="1">
                    <a:solidFill>
                      <a:schemeClr val="tx1"/>
                    </a:solidFill>
                    <a:effectLst/>
                    <a:latin typeface="Segoe WPC"/>
                  </a:rPr>
                  <a:t>well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PPN</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Zero</m:t>
                    </m:r>
                    <m:r>
                      <m:rPr>
                        <m:nor/>
                      </m:rPr>
                      <a:rPr lang="es-PE" sz="900" b="0" i="1">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Coupon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Bond</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Call</m:t>
                    </m:r>
                  </m:oMath>
                </a14:m>
                <a:r>
                  <a:rPr lang="es-PE" sz="900" b="0" i="0" dirty="0">
                    <a:solidFill>
                      <a:schemeClr val="tx1"/>
                    </a:solidFill>
                    <a:effectLst/>
                    <a:latin typeface="Segoe WPC"/>
                  </a:rPr>
                  <a:t>. Full </a:t>
                </a:r>
                <a:r>
                  <a:rPr lang="es-PE" sz="900" b="0" i="0" dirty="0" err="1">
                    <a:solidFill>
                      <a:schemeClr val="tx1"/>
                    </a:solidFill>
                    <a:effectLst/>
                    <a:latin typeface="Segoe WPC"/>
                  </a:rPr>
                  <a:t>participation</a:t>
                </a:r>
                <a:r>
                  <a:rPr lang="es-PE" sz="900" b="0" i="0" dirty="0">
                    <a:solidFill>
                      <a:schemeClr val="tx1"/>
                    </a:solidFill>
                    <a:effectLst/>
                    <a:latin typeface="Segoe WPC"/>
                  </a:rPr>
                  <a:t> </a:t>
                </a:r>
                <a:r>
                  <a:rPr lang="es-PE" sz="900" b="0" i="0" dirty="0" err="1">
                    <a:solidFill>
                      <a:schemeClr val="tx1"/>
                    </a:solidFill>
                    <a:effectLst/>
                    <a:latin typeface="Segoe WPC"/>
                  </a:rPr>
                  <a:t>requires</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cost</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oMath>
                </a14:m>
                <a:r>
                  <a:rPr lang="es-PE" sz="900" b="0" i="0" dirty="0">
                    <a:solidFill>
                      <a:schemeClr val="tx1"/>
                    </a:solidFill>
                    <a:effectLst/>
                    <a:latin typeface="Segoe WPC"/>
                  </a:rPr>
                  <a:t> </a:t>
                </a:r>
                <a:r>
                  <a:rPr lang="es-PE" sz="900" b="0" i="0" dirty="0" err="1">
                    <a:solidFill>
                      <a:schemeClr val="tx1"/>
                    </a:solidFill>
                    <a:effectLst/>
                    <a:latin typeface="Segoe WPC"/>
                  </a:rPr>
                  <a:t>funds</a:t>
                </a:r>
                <a:r>
                  <a:rPr lang="es-PE" sz="900" b="0" i="0" dirty="0">
                    <a:solidFill>
                      <a:schemeClr val="tx1"/>
                    </a:solidFill>
                    <a:effectLst/>
                    <a:latin typeface="Segoe WPC"/>
                  </a:rPr>
                  <a:t> </a:t>
                </a:r>
                <a:r>
                  <a:rPr lang="es-PE" sz="900" b="0" i="0" dirty="0" err="1">
                    <a:solidFill>
                      <a:schemeClr val="tx1"/>
                    </a:solidFill>
                    <a:effectLst/>
                    <a:latin typeface="Segoe WPC"/>
                  </a:rPr>
                  <a:t>left</a:t>
                </a:r>
                <a:r>
                  <a:rPr lang="es-PE" sz="900" b="0" i="0" dirty="0">
                    <a:solidFill>
                      <a:schemeClr val="tx1"/>
                    </a:solidFill>
                    <a:effectLst/>
                    <a:latin typeface="Segoe WPC"/>
                  </a:rPr>
                  <a:t> after </a:t>
                </a:r>
                <a:r>
                  <a:rPr lang="es-PE" sz="900" b="0" i="0" dirty="0" err="1">
                    <a:solidFill>
                      <a:schemeClr val="tx1"/>
                    </a:solidFill>
                    <a:effectLst/>
                    <a:latin typeface="Segoe WPC"/>
                  </a:rPr>
                  <a:t>buying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bond.</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 </a:t>
                </a:r>
                <a:r>
                  <a:rPr lang="es-PE" sz="900" b="0" i="0" dirty="0" err="1">
                    <a:solidFill>
                      <a:schemeClr val="tx1"/>
                    </a:solidFill>
                    <a:effectLst/>
                    <a:latin typeface="Segoe WPC"/>
                  </a:rPr>
                  <a:t>trade</a:t>
                </a:r>
                <a:r>
                  <a:rPr lang="es-PE" sz="900" b="0" i="0" dirty="0">
                    <a:solidFill>
                      <a:schemeClr val="tx1"/>
                    </a:solidFill>
                    <a:effectLst/>
                    <a:latin typeface="Segoe WPC"/>
                  </a:rPr>
                  <a:t> </a:t>
                </a:r>
                <a:r>
                  <a:rPr lang="es-PE" sz="900" b="0" i="0" dirty="0" err="1">
                    <a:solidFill>
                      <a:schemeClr val="tx1"/>
                    </a:solidFill>
                    <a:effectLst/>
                    <a:latin typeface="Segoe WPC"/>
                  </a:rPr>
                  <a:t>away</a:t>
                </a:r>
                <a:r>
                  <a:rPr lang="es-PE" sz="900" b="0" i="0" dirty="0">
                    <a:solidFill>
                      <a:schemeClr val="tx1"/>
                    </a:solidFill>
                    <a:effectLst/>
                    <a:latin typeface="Segoe WPC"/>
                  </a:rPr>
                  <a:t> </a:t>
                </a:r>
                <a:r>
                  <a:rPr lang="es-PE" sz="900" b="0" i="0" dirty="0" err="1">
                    <a:solidFill>
                      <a:schemeClr val="tx1"/>
                    </a:solidFill>
                    <a:effectLst/>
                    <a:latin typeface="Segoe WPC"/>
                  </a:rPr>
                  <a:t>current</a:t>
                </a:r>
                <a:r>
                  <a:rPr lang="es-PE" sz="900" b="0" i="0" dirty="0">
                    <a:solidFill>
                      <a:schemeClr val="tx1"/>
                    </a:solidFill>
                    <a:effectLst/>
                    <a:latin typeface="Segoe WPC"/>
                  </a:rPr>
                  <a:t> </a:t>
                </a:r>
                <a:r>
                  <a:rPr lang="es-PE" sz="900" b="0" i="0" dirty="0" err="1">
                    <a:solidFill>
                      <a:schemeClr val="tx1"/>
                    </a:solidFill>
                    <a:effectLst/>
                    <a:latin typeface="Segoe WPC"/>
                  </a:rPr>
                  <a:t>income</a:t>
                </a:r>
                <a:r>
                  <a:rPr lang="es-PE" sz="900" b="0" i="0" dirty="0">
                    <a:solidFill>
                      <a:schemeClr val="tx1"/>
                    </a:solidFill>
                    <a:effectLst/>
                    <a:latin typeface="Segoe WPC"/>
                  </a:rPr>
                  <a:t> and </a:t>
                </a:r>
                <a:r>
                  <a:rPr lang="es-PE" sz="900" b="0" i="0" dirty="0" err="1">
                    <a:solidFill>
                      <a:schemeClr val="tx1"/>
                    </a:solidFill>
                    <a:effectLst/>
                    <a:latin typeface="Segoe WPC"/>
                  </a:rPr>
                  <a:t>some</a:t>
                </a:r>
                <a:r>
                  <a:rPr lang="es-PE" sz="900" b="0" i="0" dirty="0">
                    <a:solidFill>
                      <a:schemeClr val="tx1"/>
                    </a:solidFill>
                    <a:effectLst/>
                    <a:latin typeface="Segoe WPC"/>
                  </a:rPr>
                  <a:t> </a:t>
                </a:r>
                <a:r>
                  <a:rPr lang="es-PE" sz="900" b="0" i="0" dirty="0" err="1">
                    <a:solidFill>
                      <a:schemeClr val="tx1"/>
                    </a:solidFill>
                    <a:effectLst/>
                    <a:latin typeface="Segoe WPC"/>
                  </a:rPr>
                  <a:t>flexibility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obtain</a:t>
                </a:r>
                <a:r>
                  <a:rPr lang="es-PE" sz="900" b="0" i="0" dirty="0">
                    <a:solidFill>
                      <a:schemeClr val="tx1"/>
                    </a:solidFill>
                    <a:effectLst/>
                    <a:latin typeface="Segoe WPC"/>
                  </a:rPr>
                  <a:t> capital </a:t>
                </a:r>
                <a:r>
                  <a:rPr lang="es-PE" sz="900" b="0" i="0" dirty="0" err="1">
                    <a:solidFill>
                      <a:schemeClr val="tx1"/>
                    </a:solidFill>
                    <a:effectLst/>
                    <a:latin typeface="Segoe WPC"/>
                  </a:rPr>
                  <a:t>protection</a:t>
                </a:r>
                <a:r>
                  <a:rPr lang="es-PE" sz="900" b="0" i="0" dirty="0">
                    <a:solidFill>
                      <a:schemeClr val="tx1"/>
                    </a:solidFill>
                    <a:effectLst/>
                    <a:latin typeface="Segoe WPC"/>
                  </a:rPr>
                  <a:t> plus </a:t>
                </a:r>
                <a:r>
                  <a:rPr lang="es-PE" sz="900" b="0" i="0" dirty="0" err="1">
                    <a:solidFill>
                      <a:schemeClr val="tx1"/>
                    </a:solidFill>
                    <a:effectLst/>
                    <a:latin typeface="Segoe WPC"/>
                  </a:rPr>
                  <a:t>upside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Full </a:t>
                </a:r>
                <a:r>
                  <a:rPr lang="es-PE" sz="900" b="0" i="0" dirty="0" err="1">
                    <a:solidFill>
                      <a:schemeClr val="tx1"/>
                    </a:solidFill>
                    <a:effectLst/>
                    <a:latin typeface="Segoe WPC"/>
                  </a:rPr>
                  <a:t>participation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possible</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portfolio </a:t>
                </a:r>
                <a:r>
                  <a:rPr lang="es-PE" sz="900" b="0" i="0" dirty="0" err="1">
                    <a:solidFill>
                      <a:schemeClr val="tx1"/>
                    </a:solidFill>
                    <a:effectLst/>
                    <a:latin typeface="Segoe WPC"/>
                  </a:rPr>
                  <a:t>provides</a:t>
                </a:r>
                <a:r>
                  <a:rPr lang="es-PE" sz="900" b="0" i="0" dirty="0">
                    <a:solidFill>
                      <a:schemeClr val="tx1"/>
                    </a:solidFill>
                    <a:effectLst/>
                    <a:latin typeface="Segoe WPC"/>
                  </a:rPr>
                  <a:t> </a:t>
                </a:r>
                <a:r>
                  <a:rPr lang="es-PE" sz="900" b="0" i="0" dirty="0" err="1">
                    <a:solidFill>
                      <a:schemeClr val="tx1"/>
                    </a:solidFill>
                    <a:effectLst/>
                    <a:latin typeface="Segoe WPC"/>
                  </a:rPr>
                  <a:t>enough</a:t>
                </a:r>
                <a:r>
                  <a:rPr lang="es-PE" sz="900" b="0" i="0" dirty="0">
                    <a:solidFill>
                      <a:schemeClr val="tx1"/>
                    </a:solidFill>
                    <a:effectLst/>
                    <a:latin typeface="Segoe WPC"/>
                  </a:rPr>
                  <a:t> </a:t>
                </a:r>
                <a:r>
                  <a:rPr lang="es-PE" sz="900" b="0" i="0" dirty="0" err="1">
                    <a:solidFill>
                      <a:schemeClr val="tx1"/>
                    </a:solidFill>
                    <a:effectLst/>
                    <a:latin typeface="Segoe WPC"/>
                  </a:rPr>
                  <a:t>income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low</a:t>
                </a:r>
                <a:r>
                  <a:rPr lang="es-PE" sz="900" b="0" i="0" dirty="0">
                    <a:solidFill>
                      <a:schemeClr val="tx1"/>
                    </a:solidFill>
                    <a:effectLst/>
                    <a:latin typeface="Segoe WPC"/>
                  </a:rPr>
                  <a:t> </a:t>
                </a:r>
                <a:r>
                  <a:rPr lang="es-PE" sz="900" b="0" i="0" dirty="0" err="1">
                    <a:solidFill>
                      <a:schemeClr val="tx1"/>
                    </a:solidFill>
                    <a:effectLst/>
                    <a:latin typeface="Segoe WPC"/>
                  </a:rPr>
                  <a:t>enough</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4. Bull Spread</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bull</a:t>
                </a:r>
                <a:r>
                  <a:rPr lang="es-PE" sz="900" b="0" i="0" dirty="0">
                    <a:solidFill>
                      <a:schemeClr val="tx1"/>
                    </a:solidFill>
                    <a:effectLst/>
                    <a:latin typeface="Segoe WPC"/>
                  </a:rPr>
                  <a:t> spread uses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calls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puts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strikes.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trader</a:t>
                </a:r>
                <a:r>
                  <a:rPr lang="es-PE" sz="900" b="0" i="0" dirty="0">
                    <a:solidFill>
                      <a:schemeClr val="tx1"/>
                    </a:solidFill>
                    <a:effectLst/>
                    <a:latin typeface="Segoe WPC"/>
                  </a:rPr>
                  <a:t> </a:t>
                </a:r>
                <a:r>
                  <a:rPr lang="es-PE" sz="900" b="0" i="0" dirty="0" err="1">
                    <a:solidFill>
                      <a:schemeClr val="tx1"/>
                    </a:solidFill>
                    <a:effectLst/>
                    <a:latin typeface="Segoe WPC"/>
                  </a:rPr>
                  <a:t>expects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rise</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too</a:t>
                </a:r>
                <a:r>
                  <a:rPr lang="es-PE" sz="900" b="0" i="0" dirty="0">
                    <a:solidFill>
                      <a:schemeClr val="tx1"/>
                    </a:solidFill>
                    <a:effectLst/>
                    <a:latin typeface="Segoe WPC"/>
                  </a:rPr>
                  <a:t> </a:t>
                </a:r>
                <a:r>
                  <a:rPr lang="es-PE" sz="900" b="0" i="0" dirty="0" err="1">
                    <a:solidFill>
                      <a:schemeClr val="tx1"/>
                    </a:solidFill>
                    <a:effectLst/>
                    <a:latin typeface="Segoe WPC"/>
                  </a:rPr>
                  <a:t>much</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Profit</a:t>
                </a:r>
                <a:r>
                  <a:rPr lang="es-PE" sz="900" b="0" i="0" dirty="0">
                    <a:solidFill>
                      <a:schemeClr val="tx1"/>
                    </a:solidFill>
                    <a:effectLst/>
                    <a:latin typeface="Segoe WPC"/>
                  </a:rPr>
                  <a:t> </a:t>
                </a:r>
                <a:r>
                  <a:rPr lang="es-PE" sz="900" b="0" i="0" dirty="0" err="1">
                    <a:solidFill>
                      <a:schemeClr val="tx1"/>
                    </a:solidFill>
                    <a:effectLst/>
                    <a:latin typeface="Segoe WPC"/>
                  </a:rPr>
                  <a:t>rises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up </a:t>
                </a:r>
                <a:r>
                  <a:rPr lang="es-PE" sz="900" b="0" i="0" dirty="0" err="1">
                    <a:solidFill>
                      <a:schemeClr val="tx1"/>
                    </a:solidFill>
                    <a:effectLst/>
                    <a:latin typeface="Segoe WPC"/>
                  </a:rPr>
                  <a:t>to</a:t>
                </a:r>
                <a:r>
                  <a:rPr lang="es-PE" sz="900" b="0" i="0" dirty="0">
                    <a:solidFill>
                      <a:schemeClr val="tx1"/>
                    </a:solidFill>
                    <a:effectLst/>
                    <a:latin typeface="Segoe WPC"/>
                  </a:rPr>
                  <a:t> a </a:t>
                </a:r>
                <a:r>
                  <a:rPr lang="es-PE" sz="900" b="0" i="0" dirty="0" err="1">
                    <a:solidFill>
                      <a:schemeClr val="tx1"/>
                    </a:solidFill>
                    <a:effectLst/>
                    <a:latin typeface="Segoe WPC"/>
                  </a:rPr>
                  <a:t>cap</a:t>
                </a:r>
                <a:r>
                  <a:rPr lang="es-P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r>
                  <a:rPr lang="es-PE" sz="900" b="0" i="0" dirty="0" err="1">
                    <a:solidFill>
                      <a:schemeClr val="tx1"/>
                    </a:solidFill>
                    <a:effectLst/>
                    <a:latin typeface="Segoe WPC"/>
                  </a:rPr>
                  <a:t>flattens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calls</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a:solidFill>
                      <a:schemeClr val="tx1"/>
                    </a:solidFill>
                    <a:effectLst/>
                    <a:latin typeface="Segoe WPC"/>
                  </a:rPr>
                  <a:t>short </a:t>
                </a:r>
                <a:r>
                  <a:rPr lang="es-PE" sz="900" b="0" i="0" dirty="0" err="1">
                    <a:solidFill>
                      <a:schemeClr val="tx1"/>
                    </a:solidFill>
                    <a:effectLst/>
                    <a:latin typeface="Segoe WPC"/>
                  </a:rPr>
                  <a:t>call</a:t>
                </a:r>
                <a:r>
                  <a:rPr lang="es-PE" sz="900" b="0" i="0" dirty="0">
                    <a:solidFill>
                      <a:schemeClr val="tx1"/>
                    </a:solidFill>
                    <a:effectLst/>
                    <a:latin typeface="Segoe WPC"/>
                  </a:rPr>
                  <a:t>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&gt;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0</m:t>
                    </m:r>
                  </m:oMath>
                </a14:m>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&lt;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a:solidFill>
                      <a:schemeClr val="tx1"/>
                    </a:solidFill>
                    <a:effectLst/>
                    <a:latin typeface="Segoe WPC"/>
                  </a:rPr>
                  <a:t>and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&gt;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Cheaper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 </a:t>
                </a:r>
                <a:r>
                  <a:rPr lang="es-PE" sz="900" b="0" i="0" dirty="0" err="1">
                    <a:solidFill>
                      <a:schemeClr val="tx1"/>
                    </a:solidFill>
                    <a:effectLst/>
                    <a:latin typeface="Segoe WPC"/>
                  </a:rPr>
                  <a:t>naked</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upside</a:t>
                </a:r>
                <a:r>
                  <a:rPr lang="es-PE" sz="900" b="0" i="0" dirty="0">
                    <a:solidFill>
                      <a:schemeClr val="tx1"/>
                    </a:solidFill>
                    <a:effectLst/>
                    <a:latin typeface="Segoe WPC"/>
                  </a:rPr>
                  <a:t> </a:t>
                </a:r>
                <a:r>
                  <a:rPr lang="es-PE" sz="900" b="0" i="0" dirty="0" err="1">
                    <a:solidFill>
                      <a:schemeClr val="tx1"/>
                    </a:solidFill>
                    <a:effectLst/>
                    <a:latin typeface="Segoe WPC"/>
                  </a:rPr>
                  <a:t>above</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surrendered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Bull spread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buy</a:t>
                </a:r>
                <a:r>
                  <a:rPr lang="es-PE" sz="900" b="0" i="0" dirty="0">
                    <a:solidFill>
                      <a:schemeClr val="tx1"/>
                    </a:solidFill>
                    <a:effectLst/>
                    <a:latin typeface="Segoe WPC"/>
                  </a:rPr>
                  <a:t> </a:t>
                </a:r>
                <a:r>
                  <a:rPr lang="es-PE" sz="900" b="0" i="0" dirty="0" err="1">
                    <a:solidFill>
                      <a:schemeClr val="tx1"/>
                    </a:solidFill>
                    <a:effectLst/>
                    <a:latin typeface="Segoe WPC"/>
                  </a:rPr>
                  <a:t>low</a:t>
                </a:r>
                <a:r>
                  <a:rPr lang="es-PE" sz="900" b="0" i="0" dirty="0">
                    <a:solidFill>
                      <a:schemeClr val="tx1"/>
                    </a:solidFill>
                    <a:effectLst/>
                    <a:latin typeface="Segoe WPC"/>
                  </a:rPr>
                  <a:t> strike, </a:t>
                </a:r>
                <a:r>
                  <a:rPr lang="es-PE" sz="900" b="0" i="0" dirty="0" err="1">
                    <a:solidFill>
                      <a:schemeClr val="tx1"/>
                    </a:solidFill>
                    <a:effectLst/>
                    <a:latin typeface="Segoe WPC"/>
                  </a:rPr>
                  <a:t>sell</a:t>
                </a:r>
                <a:r>
                  <a:rPr lang="es-PE" sz="900" b="0" i="0" dirty="0">
                    <a:solidFill>
                      <a:schemeClr val="tx1"/>
                    </a:solidFill>
                    <a:effectLst/>
                    <a:latin typeface="Segoe WPC"/>
                  </a:rPr>
                  <a:t> </a:t>
                </a:r>
                <a:r>
                  <a:rPr lang="es-PE" sz="900" b="0" i="0" dirty="0" err="1">
                    <a:solidFill>
                      <a:schemeClr val="tx1"/>
                    </a:solidFill>
                    <a:effectLst/>
                    <a:latin typeface="Segoe WPC"/>
                  </a:rPr>
                  <a:t>high</a:t>
                </a:r>
                <a:r>
                  <a:rPr lang="es-PE" sz="900" b="0" i="0" dirty="0">
                    <a:solidFill>
                      <a:schemeClr val="tx1"/>
                    </a:solidFill>
                    <a:effectLst/>
                    <a:latin typeface="Segoe WPC"/>
                  </a:rPr>
                  <a:t> strike.</a:t>
                </a:r>
              </a:p>
              <a:p>
                <a:pPr algn="l">
                  <a:spcAft>
                    <a:spcPts val="1200"/>
                  </a:spcAft>
                  <a:buNone/>
                </a:pPr>
                <a:r>
                  <a:rPr lang="es-PE" sz="900" b="1" i="0" dirty="0">
                    <a:solidFill>
                      <a:schemeClr val="tx1"/>
                    </a:solidFill>
                    <a:effectLst/>
                    <a:latin typeface="Segoe WPC"/>
                  </a:rPr>
                  <a:t>5. Bear Spread</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bear</a:t>
                </a:r>
                <a:r>
                  <a:rPr lang="es-PE" sz="900" b="0" i="0" dirty="0">
                    <a:solidFill>
                      <a:schemeClr val="tx1"/>
                    </a:solidFill>
                    <a:effectLst/>
                    <a:latin typeface="Segoe WPC"/>
                  </a:rPr>
                  <a:t> spread uses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puts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calls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strikes.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trader</a:t>
                </a:r>
                <a:r>
                  <a:rPr lang="es-PE" sz="900" b="0" i="0" dirty="0">
                    <a:solidFill>
                      <a:schemeClr val="tx1"/>
                    </a:solidFill>
                    <a:effectLst/>
                    <a:latin typeface="Segoe WPC"/>
                  </a:rPr>
                  <a:t> </a:t>
                </a:r>
                <a:r>
                  <a:rPr lang="es-PE" sz="900" b="0" i="0" dirty="0" err="1">
                    <a:solidFill>
                      <a:schemeClr val="tx1"/>
                    </a:solidFill>
                    <a:effectLst/>
                    <a:latin typeface="Segoe WPC"/>
                  </a:rPr>
                  <a:t>expects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fall</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collapse</a:t>
                </a:r>
                <a:r>
                  <a:rPr lang="es-PE" sz="900" b="0" i="0" dirty="0">
                    <a:solidFill>
                      <a:schemeClr val="tx1"/>
                    </a:solidFill>
                    <a:effectLst/>
                    <a:latin typeface="Segoe WPC"/>
                  </a:rPr>
                  <a:t> </a:t>
                </a:r>
                <a:r>
                  <a:rPr lang="es-PE" sz="900" b="0" i="0" dirty="0" err="1">
                    <a:solidFill>
                      <a:schemeClr val="tx1"/>
                    </a:solidFill>
                    <a:effectLst/>
                    <a:latin typeface="Segoe WPC"/>
                  </a:rPr>
                  <a:t>far</a:t>
                </a:r>
                <a:r>
                  <a:rPr lang="es-PE" sz="900" b="0" i="0" dirty="0">
                    <a:solidFill>
                      <a:schemeClr val="tx1"/>
                    </a:solidFill>
                    <a:effectLst/>
                    <a:latin typeface="Segoe WPC"/>
                  </a:rPr>
                  <a:t> </a:t>
                </a:r>
                <a:r>
                  <a:rPr lang="es-PE" sz="900" b="0" i="0" dirty="0" err="1">
                    <a:solidFill>
                      <a:schemeClr val="tx1"/>
                    </a:solidFill>
                    <a:effectLst/>
                    <a:latin typeface="Segoe WPC"/>
                  </a:rPr>
                  <a:t>beyond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strike.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Profit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highest</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falls</a:t>
                </a:r>
                <a:r>
                  <a:rPr lang="es-PE" sz="900" b="0" i="0" dirty="0">
                    <a:solidFill>
                      <a:schemeClr val="tx1"/>
                    </a:solidFill>
                    <a:effectLst/>
                    <a:latin typeface="Segoe WPC"/>
                  </a:rPr>
                  <a:t> </a:t>
                </a:r>
                <a:r>
                  <a:rPr lang="es-PE" sz="900" b="0" i="0" dirty="0" err="1">
                    <a:solidFill>
                      <a:schemeClr val="tx1"/>
                    </a:solidFill>
                    <a:effectLst/>
                    <a:latin typeface="Segoe WPC"/>
                  </a:rPr>
                  <a:t>below</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region</a:t>
                </a:r>
                <a:r>
                  <a:rPr lang="es-PE" sz="900" b="0" i="0" dirty="0">
                    <a:solidFill>
                      <a:schemeClr val="tx1"/>
                    </a:solidFill>
                    <a:effectLst/>
                    <a:latin typeface="Segoe WPC"/>
                  </a:rPr>
                  <a:t> and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capped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puts</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a:solidFill>
                      <a:schemeClr val="tx1"/>
                    </a:solidFill>
                    <a:effectLst/>
                    <a:latin typeface="Segoe WPC"/>
                  </a:rPr>
                  <a:t>short </a:t>
                </a:r>
                <a:r>
                  <a:rPr lang="es-PE" sz="900" b="0" i="0" dirty="0" err="1">
                    <a:solidFill>
                      <a:schemeClr val="tx1"/>
                    </a:solidFill>
                    <a:effectLst/>
                    <a:latin typeface="Segoe WPC"/>
                  </a:rPr>
                  <a:t>put</a:t>
                </a:r>
                <a:r>
                  <a:rPr lang="es-PE" sz="900" b="0" i="0" dirty="0">
                    <a:solidFill>
                      <a:schemeClr val="tx1"/>
                    </a:solidFill>
                    <a:effectLst/>
                    <a:latin typeface="Segoe WPC"/>
                  </a:rPr>
                  <a:t>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&gt;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&lt;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a:solidFill>
                      <a:schemeClr val="tx1"/>
                    </a:solidFill>
                    <a:effectLst/>
                    <a:latin typeface="Segoe WPC"/>
                  </a:rPr>
                  <a:t>and </a:t>
                </a:r>
                <a14:m>
                  <m:oMath xmlns:m="http://schemas.openxmlformats.org/officeDocument/2006/math">
                    <m:r>
                      <a:rPr lang="es-PE" sz="900">
                        <a:solidFill>
                          <a:schemeClr val="tx1"/>
                        </a:solidFill>
                        <a:latin typeface="Cambria Math" panose="02040503050406030204" pitchFamily="18" charset="0"/>
                      </a:rPr>
                      <m:t>0</m:t>
                    </m:r>
                  </m:oMath>
                </a14:m>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&gt;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Defined-risk</a:t>
                </a:r>
                <a:r>
                  <a:rPr lang="es-PE" sz="900" b="0" i="0" dirty="0">
                    <a:solidFill>
                      <a:schemeClr val="tx1"/>
                    </a:solidFill>
                    <a:effectLst/>
                    <a:latin typeface="Segoe WPC"/>
                  </a:rPr>
                  <a:t> </a:t>
                </a:r>
                <a:r>
                  <a:rPr lang="es-PE" sz="900" b="0" i="0" dirty="0" err="1">
                    <a:solidFill>
                      <a:schemeClr val="tx1"/>
                    </a:solidFill>
                    <a:effectLst/>
                    <a:latin typeface="Segoe WPC"/>
                  </a:rPr>
                  <a:t>bearish</a:t>
                </a:r>
                <a:r>
                  <a:rPr lang="es-PE" sz="900" b="0" i="0" dirty="0">
                    <a:solidFill>
                      <a:schemeClr val="tx1"/>
                    </a:solidFill>
                    <a:effectLst/>
                    <a:latin typeface="Segoe WPC"/>
                  </a:rPr>
                  <a:t> </a:t>
                </a:r>
                <a:r>
                  <a:rPr lang="es-PE" sz="900" b="0" i="0" dirty="0" err="1">
                    <a:solidFill>
                      <a:schemeClr val="tx1"/>
                    </a:solidFill>
                    <a:effectLst/>
                    <a:latin typeface="Segoe WPC"/>
                  </a:rPr>
                  <a:t>strategy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Bear spread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buy</a:t>
                </a:r>
                <a:r>
                  <a:rPr lang="es-PE" sz="900" b="0" i="0" dirty="0">
                    <a:solidFill>
                      <a:schemeClr val="tx1"/>
                    </a:solidFill>
                    <a:effectLst/>
                    <a:latin typeface="Segoe WPC"/>
                  </a:rPr>
                  <a:t> </a:t>
                </a:r>
                <a:r>
                  <a:rPr lang="es-PE" sz="900" b="0" i="0" dirty="0" err="1">
                    <a:solidFill>
                      <a:schemeClr val="tx1"/>
                    </a:solidFill>
                    <a:effectLst/>
                    <a:latin typeface="Segoe WPC"/>
                  </a:rPr>
                  <a:t>high</a:t>
                </a:r>
                <a:r>
                  <a:rPr lang="es-PE" sz="900" b="0" i="0" dirty="0">
                    <a:solidFill>
                      <a:schemeClr val="tx1"/>
                    </a:solidFill>
                    <a:effectLst/>
                    <a:latin typeface="Segoe WPC"/>
                  </a:rPr>
                  <a:t> strike, </a:t>
                </a:r>
                <a:r>
                  <a:rPr lang="es-PE" sz="900" b="0" i="0" dirty="0" err="1">
                    <a:solidFill>
                      <a:schemeClr val="tx1"/>
                    </a:solidFill>
                    <a:effectLst/>
                    <a:latin typeface="Segoe WPC"/>
                  </a:rPr>
                  <a:t>sell</a:t>
                </a:r>
                <a:r>
                  <a:rPr lang="es-PE" sz="900" b="0" i="0" dirty="0">
                    <a:solidFill>
                      <a:schemeClr val="tx1"/>
                    </a:solidFill>
                    <a:effectLst/>
                    <a:latin typeface="Segoe WPC"/>
                  </a:rPr>
                  <a:t> </a:t>
                </a:r>
                <a:r>
                  <a:rPr lang="es-PE" sz="900" b="0" i="0" dirty="0" err="1">
                    <a:solidFill>
                      <a:schemeClr val="tx1"/>
                    </a:solidFill>
                    <a:effectLst/>
                    <a:latin typeface="Segoe WPC"/>
                  </a:rPr>
                  <a:t>low</a:t>
                </a:r>
                <a:r>
                  <a:rPr lang="es-PE" sz="900" b="0" i="0" dirty="0">
                    <a:solidFill>
                      <a:schemeClr val="tx1"/>
                    </a:solidFill>
                    <a:effectLst/>
                    <a:latin typeface="Segoe WPC"/>
                  </a:rPr>
                  <a:t> strike.</a:t>
                </a:r>
              </a:p>
            </p:txBody>
          </p:sp>
        </mc:Choice>
        <mc:Fallback xmlns="">
          <p:sp>
            <p:nvSpPr>
              <p:cNvPr id="5" name="CuadroTexto 4">
                <a:extLst>
                  <a:ext uri="{FF2B5EF4-FFF2-40B4-BE49-F238E27FC236}">
                    <a16:creationId xmlns:a16="http://schemas.microsoft.com/office/drawing/2014/main" id="{9A016873-B95C-37A0-16FC-2943D53D4463}"/>
                  </a:ext>
                </a:extLst>
              </p:cNvPr>
              <p:cNvSpPr txBox="1">
                <a:spLocks noRot="1" noChangeAspect="1" noMove="1" noResize="1" noEditPoints="1" noAdjustHandles="1" noChangeArrowheads="1" noChangeShapeType="1" noTextEdit="1"/>
              </p:cNvSpPr>
              <p:nvPr/>
            </p:nvSpPr>
            <p:spPr>
              <a:xfrm>
                <a:off x="158750" y="374317"/>
                <a:ext cx="6096000" cy="6109365"/>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D72746FB-FC39-EAD2-1B15-482DF915CB4C}"/>
                  </a:ext>
                </a:extLst>
              </p:cNvPr>
              <p:cNvSpPr txBox="1"/>
              <p:nvPr/>
            </p:nvSpPr>
            <p:spPr>
              <a:xfrm>
                <a:off x="6013450" y="98425"/>
                <a:ext cx="6096000" cy="6443815"/>
              </a:xfrm>
              <a:prstGeom prst="rect">
                <a:avLst/>
              </a:prstGeom>
              <a:noFill/>
            </p:spPr>
            <p:txBody>
              <a:bodyPr wrap="square">
                <a:spAutoFit/>
              </a:bodyPr>
              <a:lstStyle/>
              <a:p>
                <a:pPr algn="l">
                  <a:spcAft>
                    <a:spcPts val="1200"/>
                  </a:spcAft>
                  <a:buNone/>
                </a:pPr>
                <a:r>
                  <a:rPr lang="es-PE" sz="900" b="1" i="0" dirty="0">
                    <a:solidFill>
                      <a:schemeClr val="tx1"/>
                    </a:solidFill>
                    <a:effectLst/>
                    <a:latin typeface="Segoe WPC"/>
                  </a:rPr>
                  <a:t>6. Box Spread</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box spread combines a </a:t>
                </a:r>
                <a:r>
                  <a:rPr lang="es-PE" sz="900" b="0" i="0" dirty="0" err="1">
                    <a:solidFill>
                      <a:schemeClr val="tx1"/>
                    </a:solidFill>
                    <a:effectLst/>
                    <a:latin typeface="Segoe WPC"/>
                  </a:rPr>
                  <a:t>bull</a:t>
                </a:r>
                <a:r>
                  <a:rPr lang="es-PE" sz="900" b="0" i="0" dirty="0">
                    <a:solidFill>
                      <a:schemeClr val="tx1"/>
                    </a:solidFill>
                    <a:effectLst/>
                    <a:latin typeface="Segoe WPC"/>
                  </a:rPr>
                  <a:t> spread and a </a:t>
                </a:r>
                <a:r>
                  <a:rPr lang="es-PE" sz="900" b="0" i="0" dirty="0" err="1">
                    <a:solidFill>
                      <a:schemeClr val="tx1"/>
                    </a:solidFill>
                    <a:effectLst/>
                    <a:latin typeface="Segoe WPC"/>
                  </a:rPr>
                  <a:t>bear</a:t>
                </a:r>
                <a:r>
                  <a:rPr lang="es-PE" sz="900" b="0" i="0" dirty="0">
                    <a:solidFill>
                      <a:schemeClr val="tx1"/>
                    </a:solidFill>
                    <a:effectLst/>
                    <a:latin typeface="Segoe WPC"/>
                  </a:rPr>
                  <a:t> spread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strikes and </a:t>
                </a:r>
                <a:r>
                  <a:rPr lang="es-PE" sz="900" b="0" i="0" dirty="0" err="1">
                    <a:solidFill>
                      <a:schemeClr val="tx1"/>
                    </a:solidFill>
                    <a:effectLst/>
                    <a:latin typeface="Segoe WPC"/>
                  </a:rPr>
                  <a:t>maturity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creates</a:t>
                </a:r>
                <a:r>
                  <a:rPr lang="es-PE" sz="900" b="0" i="0" dirty="0">
                    <a:solidFill>
                      <a:schemeClr val="tx1"/>
                    </a:solidFill>
                    <a:effectLst/>
                    <a:latin typeface="Segoe WPC"/>
                  </a:rPr>
                  <a:t> a </a:t>
                </a:r>
                <a:r>
                  <a:rPr lang="es-PE" sz="900" b="0" i="0" dirty="0" err="1">
                    <a:solidFill>
                      <a:schemeClr val="tx1"/>
                    </a:solidFill>
                    <a:effectLst/>
                    <a:latin typeface="Segoe WPC"/>
                  </a:rPr>
                  <a:t>risk</a:t>
                </a:r>
                <a:r>
                  <a:rPr lang="es-PE" sz="900" b="0" i="0" dirty="0">
                    <a:solidFill>
                      <a:schemeClr val="tx1"/>
                    </a:solidFill>
                    <a:effectLst/>
                    <a:latin typeface="Segoe WPC"/>
                  </a:rPr>
                  <a:t>-free </a:t>
                </a:r>
                <a:r>
                  <a:rPr lang="es-PE" sz="900" b="0" i="0" dirty="0" err="1">
                    <a:solidFill>
                      <a:schemeClr val="tx1"/>
                    </a:solidFill>
                    <a:effectLst/>
                    <a:latin typeface="Segoe WPC"/>
                  </a:rPr>
                  <a:t>payoff</a:t>
                </a:r>
                <a:r>
                  <a:rPr lang="es-PE" sz="900" b="0" i="0" dirty="0">
                    <a:solidFill>
                      <a:schemeClr val="tx1"/>
                    </a:solidFill>
                    <a:effectLst/>
                    <a:latin typeface="Segoe WPC"/>
                  </a:rPr>
                  <a:t> at </a:t>
                </a:r>
                <a:r>
                  <a:rPr lang="es-PE" sz="900" b="0" i="0" dirty="0" err="1">
                    <a:solidFill>
                      <a:schemeClr val="tx1"/>
                    </a:solidFill>
                    <a:effectLst/>
                    <a:latin typeface="Segoe WPC"/>
                  </a:rPr>
                  <a:t>maturity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No </a:t>
                </a:r>
                <a:r>
                  <a:rPr lang="es-PE" sz="900" b="0" i="0" dirty="0" err="1">
                    <a:solidFill>
                      <a:schemeClr val="tx1"/>
                    </a:solidFill>
                    <a:effectLst/>
                    <a:latin typeface="Segoe WPC"/>
                  </a:rPr>
                  <a:t>matter</a:t>
                </a:r>
                <a:r>
                  <a:rPr lang="es-P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ends</a:t>
                </a:r>
                <a:r>
                  <a:rPr lang="es-PE" sz="900" b="0" i="0" dirty="0">
                    <a:solidFill>
                      <a:schemeClr val="tx1"/>
                    </a:solidFill>
                    <a:effectLst/>
                    <a:latin typeface="Segoe WPC"/>
                  </a:rPr>
                  <a:t> up, </a:t>
                </a:r>
                <a:r>
                  <a:rPr lang="es-PE" sz="900" b="0" i="0" dirty="0" err="1">
                    <a:solidFill>
                      <a:schemeClr val="tx1"/>
                    </a:solidFill>
                    <a:effectLst/>
                    <a:latin typeface="Segoe WPC"/>
                  </a:rPr>
                  <a:t>the</a:t>
                </a:r>
                <a:r>
                  <a:rPr lang="es-PE" sz="900" b="0" i="0" dirty="0">
                    <a:solidFill>
                      <a:schemeClr val="tx1"/>
                    </a:solidFill>
                    <a:effectLst/>
                    <a:latin typeface="Segoe WPC"/>
                  </a:rPr>
                  <a:t> portfolio </a:t>
                </a:r>
                <a:r>
                  <a:rPr lang="es-PE" sz="900" b="0" i="0" dirty="0" err="1">
                    <a:solidFill>
                      <a:schemeClr val="tx1"/>
                    </a:solidFill>
                    <a:effectLst/>
                    <a:latin typeface="Segoe WPC"/>
                  </a:rPr>
                  <a:t>pays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fixed</a:t>
                </a:r>
                <a:r>
                  <a:rPr lang="es-PE" sz="900" b="0" i="0" dirty="0">
                    <a:solidFill>
                      <a:schemeClr val="tx1"/>
                    </a:solidFill>
                    <a:effectLst/>
                    <a:latin typeface="Segoe WPC"/>
                  </a:rPr>
                  <a:t> </a:t>
                </a:r>
                <a:r>
                  <a:rPr lang="es-PE" sz="900" b="0" i="0" dirty="0" err="1">
                    <a:solidFill>
                      <a:schemeClr val="tx1"/>
                    </a:solidFill>
                    <a:effectLst/>
                    <a:latin typeface="Segoe WPC"/>
                  </a:rPr>
                  <a:t>amount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always</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a:solidFill>
                      <a:schemeClr val="tx1"/>
                    </a:solidFill>
                    <a:effectLst/>
                    <a:latin typeface="Segoe WPC"/>
                  </a:rPr>
                  <a:t>so </a:t>
                </a:r>
                <a:r>
                  <a:rPr lang="es-PE" sz="900" b="0" i="0" dirty="0" err="1">
                    <a:solidFill>
                      <a:schemeClr val="tx1"/>
                    </a:solidFill>
                    <a:effectLst/>
                    <a:latin typeface="Segoe WPC"/>
                  </a:rPr>
                  <a:t>fair</a:t>
                </a:r>
                <a:r>
                  <a:rPr lang="es-PE" sz="900" b="0" i="0" dirty="0">
                    <a:solidFill>
                      <a:schemeClr val="tx1"/>
                    </a:solidFill>
                    <a:effectLst/>
                    <a:latin typeface="Segoe WPC"/>
                  </a:rPr>
                  <a:t> </a:t>
                </a:r>
                <a:r>
                  <a:rPr lang="es-PE" sz="900" b="0" i="0" dirty="0" err="1">
                    <a:solidFill>
                      <a:schemeClr val="tx1"/>
                    </a:solidFill>
                    <a:effectLst/>
                    <a:latin typeface="Segoe WPC"/>
                  </a:rPr>
                  <a:t>cost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𝑃𝑉</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mispriced</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creates</a:t>
                </a:r>
                <a:r>
                  <a:rPr lang="es-PE" sz="900" b="0" i="0" dirty="0">
                    <a:solidFill>
                      <a:schemeClr val="tx1"/>
                    </a:solidFill>
                    <a:effectLst/>
                    <a:latin typeface="Segoe WPC"/>
                  </a:rPr>
                  <a:t> </a:t>
                </a:r>
                <a:r>
                  <a:rPr lang="es-PE" sz="900" b="0" i="0" dirty="0" err="1">
                    <a:solidFill>
                      <a:schemeClr val="tx1"/>
                    </a:solidFill>
                    <a:effectLst/>
                    <a:latin typeface="Segoe WPC"/>
                  </a:rPr>
                  <a:t>arbitrage</a:t>
                </a:r>
                <a:r>
                  <a:rPr lang="es-PE" sz="900" b="0" i="0" dirty="0">
                    <a:solidFill>
                      <a:schemeClr val="tx1"/>
                    </a:solidFill>
                    <a:effectLst/>
                    <a:latin typeface="Segoe WPC"/>
                  </a:rPr>
                  <a:t> versus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-free </a:t>
                </a:r>
                <a:r>
                  <a:rPr lang="es-PE" sz="900" b="0" i="0" dirty="0" err="1">
                    <a:solidFill>
                      <a:schemeClr val="tx1"/>
                    </a:solidFill>
                    <a:effectLst/>
                    <a:latin typeface="Segoe WPC"/>
                  </a:rPr>
                  <a:t>rate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Exact</a:t>
                </a:r>
                <a:r>
                  <a:rPr lang="es-PE" sz="900" b="0" i="0" dirty="0">
                    <a:solidFill>
                      <a:schemeClr val="tx1"/>
                    </a:solidFill>
                    <a:effectLst/>
                    <a:latin typeface="Segoe WPC"/>
                  </a:rPr>
                  <a:t> </a:t>
                </a:r>
                <a:r>
                  <a:rPr lang="es-PE" sz="900" b="0" i="0" dirty="0" err="1">
                    <a:solidFill>
                      <a:schemeClr val="tx1"/>
                    </a:solidFill>
                    <a:effectLst/>
                    <a:latin typeface="Segoe WPC"/>
                  </a:rPr>
                  <a:t>fixed</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requires</a:t>
                </a:r>
                <a:r>
                  <a:rPr lang="es-PE" sz="900" b="0" i="0" dirty="0">
                    <a:solidFill>
                      <a:schemeClr val="tx1"/>
                    </a:solidFill>
                    <a:effectLst/>
                    <a:latin typeface="Segoe WPC"/>
                  </a:rPr>
                  <a:t>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American </a:t>
                </a:r>
                <a:r>
                  <a:rPr lang="es-PE" sz="900" b="0" i="0" dirty="0" err="1">
                    <a:solidFill>
                      <a:schemeClr val="tx1"/>
                    </a:solidFill>
                    <a:effectLst/>
                    <a:latin typeface="Segoe WPC"/>
                  </a:rPr>
                  <a:t>options</a:t>
                </a:r>
                <a:r>
                  <a:rPr lang="es-PE" sz="900" b="0" i="0" dirty="0">
                    <a:solidFill>
                      <a:schemeClr val="tx1"/>
                    </a:solidFill>
                    <a:effectLst/>
                    <a:latin typeface="Segoe WPC"/>
                  </a:rPr>
                  <a:t> can be </a:t>
                </a:r>
                <a:r>
                  <a:rPr lang="es-PE" sz="900" b="0" i="0" dirty="0" err="1">
                    <a:solidFill>
                      <a:schemeClr val="tx1"/>
                    </a:solidFill>
                    <a:effectLst/>
                    <a:latin typeface="Segoe WPC"/>
                  </a:rPr>
                  <a:t>exercised</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7. </a:t>
                </a:r>
                <a:r>
                  <a:rPr lang="es-PE" sz="900" b="1" i="0" dirty="0" err="1">
                    <a:solidFill>
                      <a:schemeClr val="tx1"/>
                    </a:solidFill>
                    <a:effectLst/>
                    <a:latin typeface="Segoe WPC"/>
                  </a:rPr>
                  <a:t>Butterfly</a:t>
                </a:r>
                <a:r>
                  <a:rPr lang="es-PE" sz="900" b="1" i="0" dirty="0">
                    <a:solidFill>
                      <a:schemeClr val="tx1"/>
                    </a:solidFill>
                    <a:effectLst/>
                    <a:latin typeface="Segoe WPC"/>
                  </a:rPr>
                  <a:t> Spread</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butterfly</a:t>
                </a:r>
                <a:r>
                  <a:rPr lang="es-PE" sz="900" b="0" i="0" dirty="0">
                    <a:solidFill>
                      <a:schemeClr val="tx1"/>
                    </a:solidFill>
                    <a:effectLst/>
                    <a:latin typeface="Segoe WPC"/>
                  </a:rPr>
                  <a:t> spread uses </a:t>
                </a:r>
                <a:r>
                  <a:rPr lang="es-PE" sz="900" b="0" i="0" dirty="0" err="1">
                    <a:solidFill>
                      <a:schemeClr val="tx1"/>
                    </a:solidFill>
                    <a:effectLst/>
                    <a:latin typeface="Segoe WPC"/>
                  </a:rPr>
                  <a:t>three</a:t>
                </a:r>
                <a:r>
                  <a:rPr lang="es-PE" sz="900" b="0" i="0" dirty="0">
                    <a:solidFill>
                      <a:schemeClr val="tx1"/>
                    </a:solidFill>
                    <a:effectLst/>
                    <a:latin typeface="Segoe WPC"/>
                  </a:rPr>
                  <a:t> strikes, </a:t>
                </a:r>
                <a:r>
                  <a:rPr lang="es-PE" sz="900" b="0" i="0" dirty="0" err="1">
                    <a:solidFill>
                      <a:schemeClr val="tx1"/>
                    </a:solidFill>
                    <a:effectLst/>
                    <a:latin typeface="Segoe WPC"/>
                  </a:rPr>
                  <a:t>typically</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low</a:t>
                </a:r>
                <a:r>
                  <a:rPr lang="es-PE" sz="900" b="0" i="0" dirty="0">
                    <a:solidFill>
                      <a:schemeClr val="tx1"/>
                    </a:solidFill>
                    <a:effectLst/>
                    <a:latin typeface="Segoe WPC"/>
                  </a:rPr>
                  <a:t>-strike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short </a:t>
                </a:r>
                <a:r>
                  <a:rPr lang="es-PE" sz="900" b="0" i="0" dirty="0" err="1">
                    <a:solidFill>
                      <a:schemeClr val="tx1"/>
                    </a:solidFill>
                    <a:effectLst/>
                    <a:latin typeface="Segoe WPC"/>
                  </a:rPr>
                  <a:t>middle</a:t>
                </a:r>
                <a:r>
                  <a:rPr lang="es-PE" sz="900" b="0" i="0" dirty="0">
                    <a:solidFill>
                      <a:schemeClr val="tx1"/>
                    </a:solidFill>
                    <a:effectLst/>
                    <a:latin typeface="Segoe WPC"/>
                  </a:rPr>
                  <a:t>-strike </a:t>
                </a:r>
                <a:r>
                  <a:rPr lang="es-PE" sz="900" b="0" i="0" dirty="0" err="1">
                    <a:solidFill>
                      <a:schemeClr val="tx1"/>
                    </a:solidFill>
                    <a:effectLst/>
                    <a:latin typeface="Segoe WPC"/>
                  </a:rPr>
                  <a:t>calls</a:t>
                </a:r>
                <a:r>
                  <a:rPr lang="es-PE" sz="900" b="0" i="0" dirty="0">
                    <a:solidFill>
                      <a:schemeClr val="tx1"/>
                    </a:solidFill>
                    <a:effectLst/>
                    <a:latin typeface="Segoe WPC"/>
                  </a:rPr>
                  <a:t>, and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high</a:t>
                </a:r>
                <a:r>
                  <a:rPr lang="es-PE" sz="900" b="0" i="0" dirty="0">
                    <a:solidFill>
                      <a:schemeClr val="tx1"/>
                    </a:solidFill>
                    <a:effectLst/>
                    <a:latin typeface="Segoe WPC"/>
                  </a:rPr>
                  <a:t>-strike </a:t>
                </a:r>
                <a:r>
                  <a:rPr lang="es-PE" sz="900" b="0" i="0" dirty="0" err="1">
                    <a:solidFill>
                      <a:schemeClr val="tx1"/>
                    </a:solidFill>
                    <a:effectLst/>
                    <a:latin typeface="Segoe WPC"/>
                  </a:rPr>
                  <a:t>call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trader</a:t>
                </a:r>
                <a:r>
                  <a:rPr lang="es-PE" sz="900" b="0" i="0" dirty="0">
                    <a:solidFill>
                      <a:schemeClr val="tx1"/>
                    </a:solidFill>
                    <a:effectLst/>
                    <a:latin typeface="Segoe WPC"/>
                  </a:rPr>
                  <a:t> </a:t>
                </a:r>
                <a:r>
                  <a:rPr lang="es-PE" sz="900" b="0" i="0" dirty="0" err="1">
                    <a:solidFill>
                      <a:schemeClr val="tx1"/>
                    </a:solidFill>
                    <a:effectLst/>
                    <a:latin typeface="Segoe WPC"/>
                  </a:rPr>
                  <a:t>expects</a:t>
                </a:r>
                <a:r>
                  <a:rPr lang="es-PE" sz="900" b="0" i="0" dirty="0">
                    <a:solidFill>
                      <a:schemeClr val="tx1"/>
                    </a:solidFill>
                    <a:effectLst/>
                    <a:latin typeface="Segoe WPC"/>
                  </a:rPr>
                  <a:t> </a:t>
                </a:r>
                <a:r>
                  <a:rPr lang="es-PE" sz="900" b="0" i="0" dirty="0" err="1">
                    <a:solidFill>
                      <a:schemeClr val="tx1"/>
                    </a:solidFill>
                    <a:effectLst/>
                    <a:latin typeface="Segoe WPC"/>
                  </a:rPr>
                  <a:t>little</a:t>
                </a:r>
                <a:r>
                  <a:rPr lang="es-PE" sz="900" b="0" i="0" dirty="0">
                    <a:solidFill>
                      <a:schemeClr val="tx1"/>
                    </a:solidFill>
                    <a:effectLst/>
                    <a:latin typeface="Segoe WPC"/>
                  </a:rPr>
                  <a:t> </a:t>
                </a:r>
                <a:r>
                  <a:rPr lang="es-PE" sz="900" b="0" i="0" dirty="0" err="1">
                    <a:solidFill>
                      <a:schemeClr val="tx1"/>
                    </a:solidFill>
                    <a:effectLst/>
                    <a:latin typeface="Segoe WPC"/>
                  </a:rPr>
                  <a:t>movement</a:t>
                </a:r>
                <a:r>
                  <a:rPr lang="es-PE" sz="900" b="0" i="0" dirty="0">
                    <a:solidFill>
                      <a:schemeClr val="tx1"/>
                    </a:solidFill>
                    <a:effectLst/>
                    <a:latin typeface="Segoe WPC"/>
                  </a:rPr>
                  <a:t> and </a:t>
                </a:r>
                <a:r>
                  <a:rPr lang="es-PE" sz="900" b="0" i="0" dirty="0" err="1">
                    <a:solidFill>
                      <a:schemeClr val="tx1"/>
                    </a:solidFill>
                    <a:effectLst/>
                    <a:latin typeface="Segoe WPC"/>
                  </a:rPr>
                  <a:t>wants</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end</a:t>
                </a:r>
                <a:r>
                  <a:rPr lang="es-PE" sz="900" b="0" i="0" dirty="0">
                    <a:solidFill>
                      <a:schemeClr val="tx1"/>
                    </a:solidFill>
                    <a:effectLst/>
                    <a:latin typeface="Segoe WPC"/>
                  </a:rPr>
                  <a:t> </a:t>
                </a:r>
                <a:r>
                  <a:rPr lang="es-PE" sz="900" b="0" i="0" dirty="0" err="1">
                    <a:solidFill>
                      <a:schemeClr val="tx1"/>
                    </a:solidFill>
                    <a:effectLst/>
                    <a:latin typeface="Segoe WPC"/>
                  </a:rPr>
                  <a:t>near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middle</a:t>
                </a:r>
                <a:r>
                  <a:rPr lang="es-PE" sz="900" b="0" i="0" dirty="0">
                    <a:solidFill>
                      <a:schemeClr val="tx1"/>
                    </a:solidFill>
                    <a:effectLst/>
                    <a:latin typeface="Segoe WPC"/>
                  </a:rPr>
                  <a:t> strike.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looks </a:t>
                </a:r>
                <a:r>
                  <a:rPr lang="es-PE" sz="900" b="0" i="0" dirty="0" err="1">
                    <a:solidFill>
                      <a:schemeClr val="tx1"/>
                    </a:solidFill>
                    <a:effectLst/>
                    <a:latin typeface="Segoe WPC"/>
                  </a:rPr>
                  <a:t>like</a:t>
                </a:r>
                <a:r>
                  <a:rPr lang="es-PE" sz="900" b="0" i="0" dirty="0">
                    <a:solidFill>
                      <a:schemeClr val="tx1"/>
                    </a:solidFill>
                    <a:effectLst/>
                    <a:latin typeface="Segoe WPC"/>
                  </a:rPr>
                  <a:t> a </a:t>
                </a:r>
                <a:r>
                  <a:rPr lang="es-PE" sz="900" b="0" i="0" dirty="0" err="1">
                    <a:solidFill>
                      <a:schemeClr val="tx1"/>
                    </a:solidFill>
                    <a:effectLst/>
                    <a:latin typeface="Segoe WPC"/>
                  </a:rPr>
                  <a:t>tent</a:t>
                </a:r>
                <a:r>
                  <a:rPr lang="es-PE" sz="900" b="0" i="0" dirty="0">
                    <a:solidFill>
                      <a:schemeClr val="tx1"/>
                    </a:solidFill>
                    <a:effectLst/>
                    <a:latin typeface="Segoe WPC"/>
                  </a:rPr>
                  <a:t>, </a:t>
                </a:r>
                <a:r>
                  <a:rPr lang="es-PE" sz="900" b="0" i="0" dirty="0" err="1">
                    <a:solidFill>
                      <a:schemeClr val="tx1"/>
                    </a:solidFill>
                    <a:effectLst/>
                    <a:latin typeface="Segoe WPC"/>
                  </a:rPr>
                  <a:t>peaking</a:t>
                </a:r>
                <a:r>
                  <a:rPr lang="es-PE" sz="900" b="0" i="0" dirty="0">
                    <a:solidFill>
                      <a:schemeClr val="tx1"/>
                    </a:solidFill>
                    <a:effectLst/>
                    <a:latin typeface="Segoe WPC"/>
                  </a:rPr>
                  <a:t>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middle</a:t>
                </a:r>
                <a:r>
                  <a:rPr lang="es-PE" sz="900" b="0" i="0" dirty="0">
                    <a:solidFill>
                      <a:schemeClr val="tx1"/>
                    </a:solidFill>
                    <a:effectLst/>
                    <a:latin typeface="Segoe WPC"/>
                  </a:rPr>
                  <a:t> strike and </a:t>
                </a:r>
                <a:r>
                  <a:rPr lang="es-PE" sz="900" b="0" i="0" dirty="0" err="1">
                    <a:solidFill>
                      <a:schemeClr val="tx1"/>
                    </a:solidFill>
                    <a:effectLst/>
                    <a:latin typeface="Segoe WPC"/>
                  </a:rPr>
                  <a:t>falling</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sides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Long </a:t>
                </a:r>
                <a:r>
                  <a:rPr lang="es-PE" sz="900" b="0" i="0" dirty="0" err="1">
                    <a:solidFill>
                      <a:schemeClr val="tx1"/>
                    </a:solidFill>
                    <a:effectLst/>
                    <a:latin typeface="Segoe WPC"/>
                  </a:rPr>
                  <a:t>calls</a:t>
                </a:r>
                <a:r>
                  <a:rPr lang="es-PE" sz="900" b="0" i="0" dirty="0">
                    <a:solidFill>
                      <a:schemeClr val="tx1"/>
                    </a:solidFill>
                    <a:effectLst/>
                    <a:latin typeface="Segoe WPC"/>
                  </a:rPr>
                  <a:t>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a:solidFill>
                      <a:schemeClr val="tx1"/>
                    </a:solidFill>
                    <a:effectLst/>
                    <a:latin typeface="Segoe WPC"/>
                  </a:rPr>
                  <a:t>and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3</m:t>
                        </m:r>
                      </m:sub>
                    </m:sSub>
                  </m:oMath>
                </a14:m>
                <a:r>
                  <a:rPr lang="ar-AE" sz="900" b="0" i="0" dirty="0">
                    <a:solidFill>
                      <a:schemeClr val="tx1"/>
                    </a:solidFill>
                    <a:effectLst/>
                    <a:latin typeface="Segoe WPC"/>
                  </a:rPr>
                  <a:t>, </a:t>
                </a:r>
                <a:r>
                  <a:rPr lang="es-PE" sz="900" b="0" i="0" dirty="0">
                    <a:solidFill>
                      <a:schemeClr val="tx1"/>
                    </a:solidFill>
                    <a:effectLst/>
                    <a:latin typeface="Segoe WPC"/>
                  </a:rPr>
                  <a:t>short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calls</a:t>
                </a:r>
                <a:r>
                  <a:rPr lang="es-PE" sz="900" b="0" i="0" dirty="0">
                    <a:solidFill>
                      <a:schemeClr val="tx1"/>
                    </a:solidFill>
                    <a:effectLst/>
                    <a:latin typeface="Segoe WPC"/>
                  </a:rPr>
                  <a:t>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3</m:t>
                            </m:r>
                          </m:sub>
                        </m:sSub>
                      </m:num>
                      <m:den>
                        <m:r>
                          <a:rPr lang="ar-AE" sz="900" i="0">
                            <a:solidFill>
                              <a:schemeClr val="tx1"/>
                            </a:solidFill>
                            <a:latin typeface="Cambria Math" panose="02040503050406030204" pitchFamily="18" charset="0"/>
                          </a:rPr>
                          <m:t>2</m:t>
                        </m:r>
                      </m:den>
                    </m:f>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Profits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low</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little</a:t>
                </a:r>
                <a:r>
                  <a:rPr lang="es-PE" sz="900" b="0" i="0" dirty="0">
                    <a:solidFill>
                      <a:schemeClr val="tx1"/>
                    </a:solidFill>
                    <a:effectLst/>
                    <a:latin typeface="Segoe WPC"/>
                  </a:rPr>
                  <a:t> </a:t>
                </a:r>
                <a:r>
                  <a:rPr lang="es-PE" sz="900" b="0" i="0" dirty="0" err="1">
                    <a:solidFill>
                      <a:schemeClr val="tx1"/>
                    </a:solidFill>
                    <a:effectLst/>
                    <a:latin typeface="Segoe WPC"/>
                  </a:rPr>
                  <a:t>movement</a:t>
                </a:r>
                <a:r>
                  <a:rPr lang="es-PE" sz="900" b="0" i="0" dirty="0">
                    <a:solidFill>
                      <a:schemeClr val="tx1"/>
                    </a:solidFill>
                    <a:effectLst/>
                    <a:latin typeface="Segoe WPC"/>
                  </a:rPr>
                  <a:t> </a:t>
                </a:r>
                <a:r>
                  <a:rPr lang="es-PE" sz="900" b="0" i="0" dirty="0" err="1">
                    <a:solidFill>
                      <a:schemeClr val="tx1"/>
                    </a:solidFill>
                    <a:effectLst/>
                    <a:latin typeface="Segoe WPC"/>
                  </a:rPr>
                  <a:t>around</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 </a:t>
                </a:r>
                <a:r>
                  <a:rPr lang="es-PE" sz="900" b="0" i="0" dirty="0" err="1">
                    <a:solidFill>
                      <a:schemeClr val="tx1"/>
                    </a:solidFill>
                    <a:effectLst/>
                    <a:latin typeface="Segoe WPC"/>
                  </a:rPr>
                  <a:t>directional</a:t>
                </a:r>
                <a:r>
                  <a:rPr lang="es-PE" sz="900" b="0" i="0" dirty="0">
                    <a:solidFill>
                      <a:schemeClr val="tx1"/>
                    </a:solidFill>
                    <a:effectLst/>
                    <a:latin typeface="Segoe WPC"/>
                  </a:rPr>
                  <a:t> </a:t>
                </a:r>
                <a:r>
                  <a:rPr lang="es-PE" sz="900" b="0" i="0" dirty="0" err="1">
                    <a:solidFill>
                      <a:schemeClr val="tx1"/>
                    </a:solidFill>
                    <a:effectLst/>
                    <a:latin typeface="Segoe WPC"/>
                  </a:rPr>
                  <a:t>strategy</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range</a:t>
                </a:r>
                <a:r>
                  <a:rPr lang="es-PE" sz="900" b="0" i="0" dirty="0">
                    <a:solidFill>
                      <a:schemeClr val="tx1"/>
                    </a:solidFill>
                    <a:effectLst/>
                    <a:latin typeface="Segoe WPC"/>
                  </a:rPr>
                  <a:t>/</a:t>
                </a:r>
                <a:r>
                  <a:rPr lang="es-PE" sz="900" b="0" i="0" dirty="0" err="1">
                    <a:solidFill>
                      <a:schemeClr val="tx1"/>
                    </a:solidFill>
                    <a:effectLst/>
                    <a:latin typeface="Segoe WPC"/>
                  </a:rPr>
                  <a:t>low-volatility</a:t>
                </a:r>
                <a:r>
                  <a:rPr lang="es-PE" sz="900" b="0" i="0" dirty="0">
                    <a:solidFill>
                      <a:schemeClr val="tx1"/>
                    </a:solidFill>
                    <a:effectLst/>
                    <a:latin typeface="Segoe WPC"/>
                  </a:rPr>
                  <a:t> </a:t>
                </a:r>
                <a:r>
                  <a:rPr lang="es-PE" sz="900" b="0" i="0" dirty="0" err="1">
                    <a:solidFill>
                      <a:schemeClr val="tx1"/>
                    </a:solidFill>
                    <a:effectLst/>
                    <a:latin typeface="Segoe WPC"/>
                  </a:rPr>
                  <a:t>strategy</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8. Calendar Spread</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calendar spread uses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strike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maturities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trader</a:t>
                </a:r>
                <a:r>
                  <a:rPr lang="es-PE" sz="900" b="0" i="0" dirty="0">
                    <a:solidFill>
                      <a:schemeClr val="tx1"/>
                    </a:solidFill>
                    <a:effectLst/>
                    <a:latin typeface="Segoe WPC"/>
                  </a:rPr>
                  <a:t> </a:t>
                </a:r>
                <a:r>
                  <a:rPr lang="es-PE" sz="900" b="0" i="0" dirty="0" err="1">
                    <a:solidFill>
                      <a:schemeClr val="tx1"/>
                    </a:solidFill>
                    <a:effectLst/>
                    <a:latin typeface="Segoe WPC"/>
                  </a:rPr>
                  <a:t>buys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longer-dated</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and </a:t>
                </a:r>
                <a:r>
                  <a:rPr lang="es-PE" sz="900" b="0" i="0" dirty="0" err="1">
                    <a:solidFill>
                      <a:schemeClr val="tx1"/>
                    </a:solidFill>
                    <a:effectLst/>
                    <a:latin typeface="Segoe WPC"/>
                  </a:rPr>
                  <a:t>sells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shorter-dated</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strategy</a:t>
                </a:r>
                <a:r>
                  <a:rPr lang="es-PE" sz="900" b="0" i="0" dirty="0">
                    <a:solidFill>
                      <a:schemeClr val="tx1"/>
                    </a:solidFill>
                    <a:effectLst/>
                    <a:latin typeface="Segoe WPC"/>
                  </a:rPr>
                  <a:t> </a:t>
                </a:r>
                <a:r>
                  <a:rPr lang="es-PE" sz="900" b="0" i="0" dirty="0" err="1">
                    <a:solidFill>
                      <a:schemeClr val="tx1"/>
                    </a:solidFill>
                    <a:effectLst/>
                    <a:latin typeface="Segoe WPC"/>
                  </a:rPr>
                  <a:t>benefits</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near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strike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short </a:t>
                </a:r>
                <a:r>
                  <a:rPr lang="es-PE" sz="900" b="0" i="0" dirty="0" err="1">
                    <a:solidFill>
                      <a:schemeClr val="tx1"/>
                    </a:solidFill>
                    <a:effectLst/>
                    <a:latin typeface="Segoe WPC"/>
                  </a:rPr>
                  <a:t>option</a:t>
                </a:r>
                <a:r>
                  <a:rPr lang="es-PE" sz="900" b="0" i="0" dirty="0">
                    <a:solidFill>
                      <a:schemeClr val="tx1"/>
                    </a:solidFill>
                    <a:effectLst/>
                    <a:latin typeface="Segoe WPC"/>
                  </a:rPr>
                  <a:t> expires.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Calendar spread </a:t>
                </a:r>
                <a:r>
                  <a:rPr lang="es-PE" sz="900" b="0" i="0" dirty="0" err="1">
                    <a:solidFill>
                      <a:schemeClr val="tx1"/>
                    </a:solidFill>
                    <a:effectLst/>
                    <a:latin typeface="Segoe WPC"/>
                  </a:rPr>
                  <a:t>cost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calls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𝑐</m:t>
                        </m:r>
                      </m:e>
                      <m:sup>
                        <m:r>
                          <a:rPr lang="ar-AE" sz="900" i="0">
                            <a:solidFill>
                              <a:schemeClr val="tx1"/>
                            </a:solidFill>
                            <a:latin typeface="Cambria Math" panose="02040503050406030204" pitchFamily="18" charset="0"/>
                          </a:rPr>
                          <m:t>∗</m:t>
                        </m:r>
                      </m:sup>
                    </m:s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𝑐</m:t>
                    </m:r>
                  </m:oMath>
                </a14:m>
                <a:r>
                  <a:rPr lang="ar-A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𝑇</m:t>
                        </m:r>
                      </m:e>
                      <m:sup>
                        <m:r>
                          <a:rPr lang="ar-AE" sz="900" i="0">
                            <a:solidFill>
                              <a:schemeClr val="tx1"/>
                            </a:solidFill>
                            <a:latin typeface="Cambria Math" panose="02040503050406030204" pitchFamily="18" charset="0"/>
                          </a:rPr>
                          <m:t>∗</m:t>
                        </m:r>
                      </m:sup>
                    </m:sSup>
                    <m:r>
                      <a:rPr lang="ar-AE" sz="900" i="0">
                        <a:solidFill>
                          <a:schemeClr val="tx1"/>
                        </a:solidFill>
                        <a:latin typeface="Cambria Math" panose="02040503050406030204" pitchFamily="18" charset="0"/>
                      </a:rPr>
                      <m:t>&gt;</m:t>
                    </m:r>
                    <m:r>
                      <a:rPr lang="ar-AE" sz="900" i="1">
                        <a:solidFill>
                          <a:schemeClr val="tx1"/>
                        </a:solidFill>
                        <a:latin typeface="Cambria Math" panose="02040503050406030204" pitchFamily="18" charset="0"/>
                      </a:rPr>
                      <m:t>𝑇</m:t>
                    </m:r>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time-spread </a:t>
                </a:r>
                <a:r>
                  <a:rPr lang="es-PE" sz="900" b="0" i="0" dirty="0" err="1">
                    <a:solidFill>
                      <a:schemeClr val="tx1"/>
                    </a:solidFill>
                    <a:effectLst/>
                    <a:latin typeface="Segoe WPC"/>
                  </a:rPr>
                  <a:t>strategy</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used</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near-term</a:t>
                </a:r>
                <a:r>
                  <a:rPr lang="es-PE" sz="900" b="0" i="0" dirty="0">
                    <a:solidFill>
                      <a:schemeClr val="tx1"/>
                    </a:solidFill>
                    <a:effectLst/>
                    <a:latin typeface="Segoe WPC"/>
                  </a:rPr>
                  <a:t> </a:t>
                </a:r>
                <a:r>
                  <a:rPr lang="es-PE" sz="900" b="0" i="0" dirty="0" err="1">
                    <a:solidFill>
                      <a:schemeClr val="tx1"/>
                    </a:solidFill>
                    <a:effectLst/>
                    <a:latin typeface="Segoe WPC"/>
                  </a:rPr>
                  <a:t>movement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be </a:t>
                </a:r>
                <a:r>
                  <a:rPr lang="es-PE" sz="900" b="0" i="0" dirty="0" err="1">
                    <a:solidFill>
                      <a:schemeClr val="tx1"/>
                    </a:solidFill>
                    <a:effectLst/>
                    <a:latin typeface="Segoe WPC"/>
                  </a:rPr>
                  <a:t>limited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Unlike</a:t>
                </a:r>
                <a:r>
                  <a:rPr lang="es-PE" sz="900" b="0" i="0" dirty="0">
                    <a:solidFill>
                      <a:schemeClr val="tx1"/>
                    </a:solidFill>
                    <a:effectLst/>
                    <a:latin typeface="Segoe WPC"/>
                  </a:rPr>
                  <a:t> vertical spreads, </a:t>
                </a:r>
                <a:r>
                  <a:rPr lang="es-PE" sz="900" b="0" i="0" dirty="0" err="1">
                    <a:solidFill>
                      <a:schemeClr val="tx1"/>
                    </a:solidFill>
                    <a:effectLst/>
                    <a:latin typeface="Segoe WPC"/>
                  </a:rPr>
                  <a:t>the</a:t>
                </a:r>
                <a:r>
                  <a:rPr lang="es-PE" sz="900" b="0" i="0" dirty="0">
                    <a:solidFill>
                      <a:schemeClr val="tx1"/>
                    </a:solidFill>
                    <a:effectLst/>
                    <a:latin typeface="Segoe WPC"/>
                  </a:rPr>
                  <a:t> strike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and </a:t>
                </a:r>
                <a:r>
                  <a:rPr lang="es-PE" sz="900" b="0" i="0" dirty="0" err="1">
                    <a:solidFill>
                      <a:schemeClr val="tx1"/>
                    </a:solidFill>
                    <a:effectLst/>
                    <a:latin typeface="Segoe WPC"/>
                  </a:rPr>
                  <a:t>maturities</a:t>
                </a:r>
                <a:r>
                  <a:rPr lang="es-PE" sz="900" b="0" i="0" dirty="0">
                    <a:solidFill>
                      <a:schemeClr val="tx1"/>
                    </a:solidFill>
                    <a:effectLst/>
                    <a:latin typeface="Segoe WPC"/>
                  </a:rPr>
                  <a:t> </a:t>
                </a:r>
                <a:r>
                  <a:rPr lang="es-PE" sz="900" b="0" i="0" dirty="0" err="1">
                    <a:solidFill>
                      <a:schemeClr val="tx1"/>
                    </a:solidFill>
                    <a:effectLst/>
                    <a:latin typeface="Segoe WPC"/>
                  </a:rPr>
                  <a:t>differ</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9. </a:t>
                </a:r>
                <a:r>
                  <a:rPr lang="es-PE" sz="900" b="1" i="0" dirty="0" err="1">
                    <a:solidFill>
                      <a:schemeClr val="tx1"/>
                    </a:solidFill>
                    <a:effectLst/>
                    <a:latin typeface="Segoe WPC"/>
                  </a:rPr>
                  <a:t>Straddle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straddle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plus a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strike and </a:t>
                </a:r>
                <a:r>
                  <a:rPr lang="es-PE" sz="900" b="0" i="0" dirty="0" err="1">
                    <a:solidFill>
                      <a:schemeClr val="tx1"/>
                    </a:solidFill>
                    <a:effectLst/>
                    <a:latin typeface="Segoe WPC"/>
                  </a:rPr>
                  <a:t>maturity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trader</a:t>
                </a:r>
                <a:r>
                  <a:rPr lang="es-PE" sz="900" b="0" i="0" dirty="0">
                    <a:solidFill>
                      <a:schemeClr val="tx1"/>
                    </a:solidFill>
                    <a:effectLst/>
                    <a:latin typeface="Segoe WPC"/>
                  </a:rPr>
                  <a:t> </a:t>
                </a:r>
                <a:r>
                  <a:rPr lang="es-PE" sz="900" b="0" i="0" dirty="0" err="1">
                    <a:solidFill>
                      <a:schemeClr val="tx1"/>
                    </a:solidFill>
                    <a:effectLst/>
                    <a:latin typeface="Segoe WPC"/>
                  </a:rPr>
                  <a:t>expects</a:t>
                </a:r>
                <a:r>
                  <a:rPr lang="es-PE" sz="900" b="0" i="0" dirty="0">
                    <a:solidFill>
                      <a:schemeClr val="tx1"/>
                    </a:solidFill>
                    <a:effectLst/>
                    <a:latin typeface="Segoe WPC"/>
                  </a:rPr>
                  <a:t> a </a:t>
                </a:r>
                <a:r>
                  <a:rPr lang="es-PE" sz="900" b="0" i="0" dirty="0" err="1">
                    <a:solidFill>
                      <a:schemeClr val="tx1"/>
                    </a:solidFill>
                    <a:effectLst/>
                    <a:latin typeface="Segoe WPC"/>
                  </a:rPr>
                  <a:t>big</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know</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direction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V-</a:t>
                </a:r>
                <a:r>
                  <a:rPr lang="es-PE" sz="900" b="0" i="0" dirty="0" err="1">
                    <a:solidFill>
                      <a:schemeClr val="tx1"/>
                    </a:solidFill>
                    <a:effectLst/>
                    <a:latin typeface="Segoe WPC"/>
                  </a:rPr>
                  <a:t>shaped</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gains</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moves</a:t>
                </a:r>
                <a:r>
                  <a:rPr lang="es-PE" sz="900" b="0" i="0" dirty="0">
                    <a:solidFill>
                      <a:schemeClr val="tx1"/>
                    </a:solidFill>
                    <a:effectLst/>
                    <a:latin typeface="Segoe WPC"/>
                  </a:rPr>
                  <a:t> </a:t>
                </a:r>
                <a:r>
                  <a:rPr lang="es-PE" sz="900" b="0" i="0" dirty="0" err="1">
                    <a:solidFill>
                      <a:schemeClr val="tx1"/>
                    </a:solidFill>
                    <a:effectLst/>
                    <a:latin typeface="Segoe WPC"/>
                  </a:rPr>
                  <a:t>far</a:t>
                </a:r>
                <a:r>
                  <a:rPr lang="es-PE" sz="900" b="0" i="0" dirty="0">
                    <a:solidFill>
                      <a:schemeClr val="tx1"/>
                    </a:solidFill>
                    <a:effectLst/>
                    <a:latin typeface="Segoe WPC"/>
                  </a:rPr>
                  <a:t> up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down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m:rPr>
                        <m:sty m:val="p"/>
                      </m:rPr>
                      <a:rPr lang="es-PE" sz="90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r>
                          <a:rPr lang="ar-AE" sz="900" i="0">
                            <a:solidFill>
                              <a:schemeClr val="tx1"/>
                            </a:solidFill>
                            <a:latin typeface="Cambria Math" panose="02040503050406030204" pitchFamily="18" charset="0"/>
                          </a:rPr>
                          <m:t>0</m:t>
                        </m:r>
                      </m:e>
                    </m:d>
                    <m:r>
                      <a:rPr lang="ar-AE" sz="900" i="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𝐾</m:t>
                        </m:r>
                      </m:e>
                      <m:e>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0</m:t>
                        </m:r>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r>
                      <a:rPr lang="ar-AE" sz="900" i="0">
                        <a:solidFill>
                          <a:schemeClr val="tx1"/>
                        </a:solidFill>
                        <a:latin typeface="Cambria Math" panose="02040503050406030204" pitchFamily="18" charset="0"/>
                      </a:rPr>
                      <m:t>∣</m:t>
                    </m:r>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Long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strategy</a:t>
                </a:r>
                <a:r>
                  <a:rPr lang="es-PE" sz="900" b="0" i="0" dirty="0">
                    <a:solidFill>
                      <a:schemeClr val="tx1"/>
                    </a:solidFill>
                    <a:effectLst/>
                    <a:latin typeface="Segoe WPC"/>
                  </a:rPr>
                  <a:t>; </a:t>
                </a:r>
                <a:r>
                  <a:rPr lang="es-PE" sz="900" b="0" i="0" dirty="0" err="1">
                    <a:solidFill>
                      <a:schemeClr val="tx1"/>
                    </a:solidFill>
                    <a:effectLst/>
                    <a:latin typeface="Segoe WPC"/>
                  </a:rPr>
                  <a:t>expensive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are </a:t>
                </a:r>
                <a:r>
                  <a:rPr lang="es-PE" sz="900" b="0" i="0" dirty="0" err="1">
                    <a:solidFill>
                      <a:schemeClr val="tx1"/>
                    </a:solidFill>
                    <a:effectLst/>
                    <a:latin typeface="Segoe WPC"/>
                  </a:rPr>
                  <a:t>purchased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big</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enough</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profit</a:t>
                </a:r>
                <a:r>
                  <a:rPr lang="es-PE" sz="900" b="0" i="0" dirty="0">
                    <a:solidFill>
                      <a:schemeClr val="tx1"/>
                    </a:solidFill>
                    <a:effectLst/>
                    <a:latin typeface="Segoe WPC"/>
                  </a:rPr>
                  <a:t> </a:t>
                </a:r>
                <a:r>
                  <a:rPr lang="es-PE" sz="900" b="0" i="0" dirty="0" err="1">
                    <a:solidFill>
                      <a:schemeClr val="tx1"/>
                    </a:solidFill>
                    <a:effectLst/>
                    <a:latin typeface="Segoe WPC"/>
                  </a:rPr>
                  <a:t>unless</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exceeds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total premium </a:t>
                </a:r>
                <a:r>
                  <a:rPr lang="es-PE" sz="900" b="0" i="0" dirty="0" err="1">
                    <a:solidFill>
                      <a:schemeClr val="tx1"/>
                    </a:solidFill>
                    <a:effectLst/>
                    <a:latin typeface="Segoe WPC"/>
                  </a:rPr>
                  <a:t>paid</a:t>
                </a:r>
                <a:r>
                  <a:rPr lang="es-PE" sz="900" b="0" i="0" dirty="0">
                    <a:solidFill>
                      <a:schemeClr val="tx1"/>
                    </a:solidFill>
                    <a:effectLst/>
                    <a:latin typeface="Segoe WPC"/>
                  </a:rPr>
                  <a:t>.</a:t>
                </a:r>
              </a:p>
              <a:p>
                <a:pPr algn="l">
                  <a:spcAft>
                    <a:spcPts val="1200"/>
                  </a:spcAft>
                  <a:buNone/>
                </a:pPr>
                <a:r>
                  <a:rPr lang="es-PE" sz="900" b="1" i="0" dirty="0">
                    <a:solidFill>
                      <a:schemeClr val="tx1"/>
                    </a:solidFill>
                    <a:effectLst/>
                    <a:latin typeface="Segoe WPC"/>
                  </a:rPr>
                  <a:t>10. </a:t>
                </a:r>
                <a:r>
                  <a:rPr lang="es-PE" sz="900" b="1" i="0" dirty="0" err="1">
                    <a:solidFill>
                      <a:schemeClr val="tx1"/>
                    </a:solidFill>
                    <a:effectLst/>
                    <a:latin typeface="Segoe WPC"/>
                  </a:rPr>
                  <a:t>Strangle</a:t>
                </a:r>
                <a:r>
                  <a:rPr lang="es-PE" sz="900" b="1" i="0" dirty="0">
                    <a:solidFill>
                      <a:schemeClr val="tx1"/>
                    </a:solidFill>
                    <a:effectLst/>
                    <a:latin typeface="Segoe WPC"/>
                  </a:rPr>
                  <a:t> and </a:t>
                </a:r>
                <a:r>
                  <a:rPr lang="es-PE" sz="900" b="1" i="0" dirty="0" err="1">
                    <a:solidFill>
                      <a:schemeClr val="tx1"/>
                    </a:solidFill>
                    <a:effectLst/>
                    <a:latin typeface="Segoe WPC"/>
                  </a:rPr>
                  <a:t>Manufacturing</a:t>
                </a:r>
                <a:r>
                  <a:rPr lang="es-PE" sz="900" b="1" i="0" dirty="0">
                    <a:solidFill>
                      <a:schemeClr val="tx1"/>
                    </a:solidFill>
                    <a:effectLst/>
                    <a:latin typeface="Segoe WPC"/>
                  </a:rPr>
                  <a:t> </a:t>
                </a:r>
                <a:r>
                  <a:rPr lang="es-PE" sz="900" b="1" i="0" dirty="0" err="1">
                    <a:solidFill>
                      <a:schemeClr val="tx1"/>
                    </a:solidFill>
                    <a:effectLst/>
                    <a:latin typeface="Segoe WPC"/>
                  </a:rPr>
                  <a:t>Payoffs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strangle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 </a:t>
                </a:r>
                <a:r>
                  <a:rPr lang="es-PE" sz="900" b="0" i="0" dirty="0" err="1">
                    <a:solidFill>
                      <a:schemeClr val="tx1"/>
                    </a:solidFill>
                    <a:effectLst/>
                    <a:latin typeface="Segoe WPC"/>
                  </a:rPr>
                  <a:t>straddle</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uses </a:t>
                </a:r>
                <a:r>
                  <a:rPr lang="es-PE" sz="900" b="0" i="0" dirty="0" err="1">
                    <a:solidFill>
                      <a:schemeClr val="tx1"/>
                    </a:solidFill>
                    <a:effectLst/>
                    <a:latin typeface="Segoe WPC"/>
                  </a:rPr>
                  <a:t>different</a:t>
                </a:r>
                <a:r>
                  <a:rPr lang="es-PE" sz="900" b="0" i="0" dirty="0">
                    <a:solidFill>
                      <a:schemeClr val="tx1"/>
                    </a:solidFill>
                    <a:effectLst/>
                    <a:latin typeface="Segoe WPC"/>
                  </a:rPr>
                  <a:t> strikes; more </a:t>
                </a:r>
                <a:r>
                  <a:rPr lang="es-PE" sz="900" b="0" i="0" dirty="0" err="1">
                    <a:solidFill>
                      <a:schemeClr val="tx1"/>
                    </a:solidFill>
                    <a:effectLst/>
                    <a:latin typeface="Segoe WPC"/>
                  </a:rPr>
                  <a:t>generally</a:t>
                </a:r>
                <a:r>
                  <a:rPr lang="es-PE" sz="900" b="0" i="0" dirty="0">
                    <a:solidFill>
                      <a:schemeClr val="tx1"/>
                    </a:solidFill>
                    <a:effectLst/>
                    <a:latin typeface="Segoe WPC"/>
                  </a:rPr>
                  <a:t>, </a:t>
                </a:r>
                <a:r>
                  <a:rPr lang="es-PE" sz="900" b="0" i="0" dirty="0" err="1">
                    <a:solidFill>
                      <a:schemeClr val="tx1"/>
                    </a:solidFill>
                    <a:effectLst/>
                    <a:latin typeface="Segoe WPC"/>
                  </a:rPr>
                  <a:t>combinations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can </a:t>
                </a:r>
                <a:r>
                  <a:rPr lang="es-PE" sz="900" b="0" i="0" dirty="0" err="1">
                    <a:solidFill>
                      <a:schemeClr val="tx1"/>
                    </a:solidFill>
                    <a:effectLst/>
                    <a:latin typeface="Segoe WPC"/>
                  </a:rPr>
                  <a:t>approximate</a:t>
                </a:r>
                <a:r>
                  <a:rPr lang="es-PE" sz="900" b="0" i="0" dirty="0">
                    <a:solidFill>
                      <a:schemeClr val="tx1"/>
                    </a:solidFill>
                    <a:effectLst/>
                    <a:latin typeface="Segoe WPC"/>
                  </a:rPr>
                  <a:t> </a:t>
                </a:r>
                <a:r>
                  <a:rPr lang="es-PE" sz="900" b="0" i="0" dirty="0" err="1">
                    <a:solidFill>
                      <a:schemeClr val="tx1"/>
                    </a:solidFill>
                    <a:effectLst/>
                    <a:latin typeface="Segoe WPC"/>
                  </a:rPr>
                  <a:t>almost</a:t>
                </a:r>
                <a:r>
                  <a:rPr lang="es-PE" sz="900" b="0" i="0" dirty="0">
                    <a:solidFill>
                      <a:schemeClr val="tx1"/>
                    </a:solidFill>
                    <a:effectLst/>
                    <a:latin typeface="Segoe WPC"/>
                  </a:rPr>
                  <a:t> </a:t>
                </a:r>
                <a:r>
                  <a:rPr lang="es-PE" sz="900" b="0" i="0" dirty="0" err="1">
                    <a:solidFill>
                      <a:schemeClr val="tx1"/>
                    </a:solidFill>
                    <a:effectLst/>
                    <a:latin typeface="Segoe WPC"/>
                  </a:rPr>
                  <a:t>any</a:t>
                </a:r>
                <a:r>
                  <a:rPr lang="es-PE" sz="900" b="0" i="0" dirty="0">
                    <a:solidFill>
                      <a:schemeClr val="tx1"/>
                    </a:solidFill>
                    <a:effectLst/>
                    <a:latin typeface="Segoe WPC"/>
                  </a:rPr>
                  <a:t> </a:t>
                </a:r>
                <a:r>
                  <a:rPr lang="es-PE" sz="900" b="0" i="0" dirty="0" err="1">
                    <a:solidFill>
                      <a:schemeClr val="tx1"/>
                    </a:solidFill>
                    <a:effectLst/>
                    <a:latin typeface="Segoe WPC"/>
                  </a:rPr>
                  <a:t>continuous</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strangle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cheaper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 </a:t>
                </a:r>
                <a:r>
                  <a:rPr lang="es-PE" sz="900" b="0" i="0" dirty="0" err="1">
                    <a:solidFill>
                      <a:schemeClr val="tx1"/>
                    </a:solidFill>
                    <a:effectLst/>
                    <a:latin typeface="Segoe WPC"/>
                  </a:rPr>
                  <a:t>straddle</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needs</a:t>
                </a:r>
                <a:r>
                  <a:rPr lang="es-PE" sz="900" b="0" i="0" dirty="0">
                    <a:solidFill>
                      <a:schemeClr val="tx1"/>
                    </a:solidFill>
                    <a:effectLst/>
                    <a:latin typeface="Segoe WPC"/>
                  </a:rPr>
                  <a:t> a </a:t>
                </a:r>
                <a:r>
                  <a:rPr lang="es-PE" sz="900" b="0" i="0" dirty="0" err="1">
                    <a:solidFill>
                      <a:schemeClr val="tx1"/>
                    </a:solidFill>
                    <a:effectLst/>
                    <a:latin typeface="Segoe WPC"/>
                  </a:rPr>
                  <a:t>larger</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make</a:t>
                </a:r>
                <a:r>
                  <a:rPr lang="es-PE" sz="900" b="0" i="0" dirty="0">
                    <a:solidFill>
                      <a:schemeClr val="tx1"/>
                    </a:solidFill>
                    <a:effectLst/>
                    <a:latin typeface="Segoe WPC"/>
                  </a:rPr>
                  <a:t> </a:t>
                </a:r>
                <a:r>
                  <a:rPr lang="es-PE" sz="900" b="0" i="0" dirty="0" err="1">
                    <a:solidFill>
                      <a:schemeClr val="tx1"/>
                    </a:solidFill>
                    <a:effectLst/>
                    <a:latin typeface="Segoe WPC"/>
                  </a:rPr>
                  <a:t>money</a:t>
                </a:r>
                <a:r>
                  <a:rPr lang="es-PE" sz="900" b="0" i="0" dirty="0">
                    <a:solidFill>
                      <a:schemeClr val="tx1"/>
                    </a:solidFill>
                    <a:effectLst/>
                    <a:latin typeface="Segoe WPC"/>
                  </a:rPr>
                  <a:t>. </a:t>
                </a:r>
                <a:r>
                  <a:rPr lang="es-PE" sz="900" b="0" i="0" dirty="0" err="1">
                    <a:solidFill>
                      <a:schemeClr val="tx1"/>
                    </a:solidFill>
                    <a:effectLst/>
                    <a:latin typeface="Segoe WPC"/>
                  </a:rPr>
                  <a:t>Butterfly-type</a:t>
                </a:r>
                <a:r>
                  <a:rPr lang="es-PE" sz="900" b="0" i="0" dirty="0">
                    <a:solidFill>
                      <a:schemeClr val="tx1"/>
                    </a:solidFill>
                    <a:effectLst/>
                    <a:latin typeface="Segoe WPC"/>
                  </a:rPr>
                  <a:t> </a:t>
                </a:r>
                <a:r>
                  <a:rPr lang="es-PE" sz="900" b="0" i="0" dirty="0" err="1">
                    <a:solidFill>
                      <a:schemeClr val="tx1"/>
                    </a:solidFill>
                    <a:effectLst/>
                    <a:latin typeface="Segoe WPC"/>
                  </a:rPr>
                  <a:t>building</a:t>
                </a:r>
                <a:r>
                  <a:rPr lang="es-PE" sz="900" b="0" i="0" dirty="0">
                    <a:solidFill>
                      <a:schemeClr val="tx1"/>
                    </a:solidFill>
                    <a:effectLst/>
                    <a:latin typeface="Segoe WPC"/>
                  </a:rPr>
                  <a:t> blocks can be </a:t>
                </a:r>
                <a:r>
                  <a:rPr lang="es-PE" sz="900" b="0" i="0" dirty="0" err="1">
                    <a:solidFill>
                      <a:schemeClr val="tx1"/>
                    </a:solidFill>
                    <a:effectLst/>
                    <a:latin typeface="Segoe WPC"/>
                  </a:rPr>
                  <a:t>stacked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manufacture </a:t>
                </a:r>
                <a:r>
                  <a:rPr lang="es-PE" sz="900" b="0" i="0" dirty="0" err="1">
                    <a:solidFill>
                      <a:schemeClr val="tx1"/>
                    </a:solidFill>
                    <a:effectLst/>
                    <a:latin typeface="Segoe WPC"/>
                  </a:rPr>
                  <a:t>custom</a:t>
                </a:r>
                <a:r>
                  <a:rPr lang="es-PE" sz="900" b="0" i="0" dirty="0">
                    <a:solidFill>
                      <a:schemeClr val="tx1"/>
                    </a:solidFill>
                    <a:effectLst/>
                    <a:latin typeface="Segoe WPC"/>
                  </a:rPr>
                  <a:t> </a:t>
                </a:r>
                <a:r>
                  <a:rPr lang="es-PE" sz="900" b="0" i="0" dirty="0" err="1">
                    <a:solidFill>
                      <a:schemeClr val="tx1"/>
                    </a:solidFill>
                    <a:effectLst/>
                    <a:latin typeface="Segoe WPC"/>
                  </a:rPr>
                  <a:t>payoffs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strangle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wider</a:t>
                </a:r>
                <a:r>
                  <a:rPr lang="es-PE" sz="900" b="0" i="0" dirty="0">
                    <a:solidFill>
                      <a:schemeClr val="tx1"/>
                    </a:solidFill>
                    <a:effectLst/>
                    <a:latin typeface="Segoe WPC"/>
                  </a:rPr>
                  <a:t> V-</a:t>
                </a:r>
                <a:r>
                  <a:rPr lang="es-PE" sz="900" b="0" i="0" dirty="0" err="1">
                    <a:solidFill>
                      <a:schemeClr val="tx1"/>
                    </a:solidFill>
                    <a:effectLst/>
                    <a:latin typeface="Segoe WPC"/>
                  </a:rPr>
                  <a:t>shape</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engineering</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combining</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t>
                </a:r>
                <a:r>
                  <a:rPr lang="es-PE" sz="900" b="0" i="0" dirty="0" err="1">
                    <a:solidFill>
                      <a:schemeClr val="tx1"/>
                    </a:solidFill>
                    <a:effectLst/>
                    <a:latin typeface="Segoe WPC"/>
                  </a:rPr>
                  <a:t>small</a:t>
                </a:r>
                <a:r>
                  <a:rPr lang="es-PE" sz="900" b="0" i="0" dirty="0">
                    <a:solidFill>
                      <a:schemeClr val="tx1"/>
                    </a:solidFill>
                    <a:effectLst/>
                    <a:latin typeface="Segoe WPC"/>
                  </a:rPr>
                  <a:t> </a:t>
                </a:r>
                <a:r>
                  <a:rPr lang="es-PE" sz="900" b="0" i="0" dirty="0" err="1">
                    <a:solidFill>
                      <a:schemeClr val="tx1"/>
                    </a:solidFill>
                    <a:effectLst/>
                    <a:latin typeface="Segoe WPC"/>
                  </a:rPr>
                  <a:t>spikes</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 </a:t>
                </a:r>
                <a:r>
                  <a:rPr lang="es-PE" sz="900" b="0" i="0" dirty="0" err="1">
                    <a:solidFill>
                      <a:schemeClr val="tx1"/>
                    </a:solidFill>
                    <a:effectLst/>
                    <a:latin typeface="Segoe WPC"/>
                  </a:rPr>
                  <a:t>desired</a:t>
                </a:r>
                <a:r>
                  <a:rPr lang="es-PE" sz="900" b="0" i="0" dirty="0">
                    <a:solidFill>
                      <a:schemeClr val="tx1"/>
                    </a:solidFill>
                    <a:effectLst/>
                    <a:latin typeface="Segoe WPC"/>
                  </a:rPr>
                  <a:t> </a:t>
                </a:r>
                <a:r>
                  <a:rPr lang="es-PE" sz="900" b="0" i="0" dirty="0" err="1">
                    <a:solidFill>
                      <a:schemeClr val="tx1"/>
                    </a:solidFill>
                    <a:effectLst/>
                    <a:latin typeface="Segoe WPC"/>
                  </a:rPr>
                  <a:t>shape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Long </a:t>
                </a:r>
                <a:r>
                  <a:rPr lang="es-PE" sz="900" b="0" i="0" dirty="0" err="1">
                    <a:solidFill>
                      <a:schemeClr val="tx1"/>
                    </a:solidFill>
                    <a:effectLst/>
                    <a:latin typeface="Segoe WPC"/>
                  </a:rPr>
                  <a:t>put</a:t>
                </a:r>
                <a:r>
                  <a:rPr lang="es-PE" sz="900" b="0" i="0" dirty="0">
                    <a:solidFill>
                      <a:schemeClr val="tx1"/>
                    </a:solidFill>
                    <a:effectLst/>
                    <a:latin typeface="Segoe WPC"/>
                  </a:rPr>
                  <a:t>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a:solidFill>
                      <a:schemeClr val="tx1"/>
                    </a:solidFill>
                    <a:effectLst/>
                    <a:latin typeface="Segoe WPC"/>
                  </a:rPr>
                  <a:t>and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&lt;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&lt;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0</m:t>
                    </m:r>
                  </m:oMath>
                </a14:m>
                <a:r>
                  <a:rPr lang="ar-A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a:solidFill>
                      <a:schemeClr val="tx1"/>
                    </a:solidFill>
                    <a:effectLst/>
                    <a:latin typeface="Segoe WPC"/>
                  </a:rPr>
                  <a:t>and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&gt;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Strangle</a:t>
                </a:r>
                <a:r>
                  <a:rPr lang="es-PE" sz="900" b="0" i="0" dirty="0">
                    <a:solidFill>
                      <a:schemeClr val="tx1"/>
                    </a:solidFill>
                    <a:effectLst/>
                    <a:latin typeface="Segoe WPC"/>
                  </a:rPr>
                  <a:t> = </a:t>
                </a:r>
                <a:r>
                  <a:rPr lang="es-PE" sz="900" b="0" i="0" dirty="0" err="1">
                    <a:solidFill>
                      <a:schemeClr val="tx1"/>
                    </a:solidFill>
                    <a:effectLst/>
                    <a:latin typeface="Segoe WPC"/>
                  </a:rPr>
                  <a:t>cheaper</a:t>
                </a:r>
                <a:r>
                  <a:rPr lang="es-PE" sz="900" b="0" i="0" dirty="0">
                    <a:solidFill>
                      <a:schemeClr val="tx1"/>
                    </a:solidFill>
                    <a:effectLst/>
                    <a:latin typeface="Segoe WPC"/>
                  </a:rPr>
                  <a:t> </a:t>
                </a:r>
                <a:r>
                  <a:rPr lang="es-PE" sz="900" b="0" i="0" dirty="0" err="1">
                    <a:solidFill>
                      <a:schemeClr val="tx1"/>
                    </a:solidFill>
                    <a:effectLst/>
                    <a:latin typeface="Segoe WPC"/>
                  </a:rPr>
                  <a:t>long-volatility</a:t>
                </a:r>
                <a:r>
                  <a:rPr lang="es-PE" sz="900" b="0" i="0" dirty="0">
                    <a:solidFill>
                      <a:schemeClr val="tx1"/>
                    </a:solidFill>
                    <a:effectLst/>
                    <a:latin typeface="Segoe WPC"/>
                  </a:rPr>
                  <a:t> </a:t>
                </a:r>
                <a:r>
                  <a:rPr lang="es-PE" sz="900" b="0" i="0" dirty="0" err="1">
                    <a:solidFill>
                      <a:schemeClr val="tx1"/>
                    </a:solidFill>
                    <a:effectLst/>
                    <a:latin typeface="Segoe WPC"/>
                  </a:rPr>
                  <a:t>trade</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manufacturing</a:t>
                </a:r>
                <a:r>
                  <a:rPr lang="es-PE" sz="900" b="0" i="0" dirty="0">
                    <a:solidFill>
                      <a:schemeClr val="tx1"/>
                    </a:solidFill>
                    <a:effectLst/>
                    <a:latin typeface="Segoe WPC"/>
                  </a:rPr>
                  <a:t> = </a:t>
                </a:r>
                <a:r>
                  <a:rPr lang="es-PE" sz="900" b="0" i="0" dirty="0" err="1">
                    <a:solidFill>
                      <a:schemeClr val="tx1"/>
                    </a:solidFill>
                    <a:effectLst/>
                    <a:latin typeface="Segoe WPC"/>
                  </a:rPr>
                  <a:t>options</a:t>
                </a:r>
                <a:r>
                  <a:rPr lang="es-PE" sz="900" b="0" i="0" dirty="0">
                    <a:solidFill>
                      <a:schemeClr val="tx1"/>
                    </a:solidFill>
                    <a:effectLst/>
                    <a:latin typeface="Segoe WPC"/>
                  </a:rPr>
                  <a:t> can </a:t>
                </a:r>
                <a:r>
                  <a:rPr lang="es-PE" sz="900" b="0" i="0" dirty="0" err="1">
                    <a:solidFill>
                      <a:schemeClr val="tx1"/>
                    </a:solidFill>
                    <a:effectLst/>
                    <a:latin typeface="Segoe WPC"/>
                  </a:rPr>
                  <a:t>replicate</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target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shapes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strangle</a:t>
                </a:r>
                <a:r>
                  <a:rPr lang="es-PE" sz="900" b="0" i="0" dirty="0">
                    <a:solidFill>
                      <a:schemeClr val="tx1"/>
                    </a:solidFill>
                    <a:effectLst/>
                    <a:latin typeface="Segoe WPC"/>
                  </a:rPr>
                  <a:t> </a:t>
                </a:r>
                <a:r>
                  <a:rPr lang="es-PE" sz="900" b="0" i="0" dirty="0" err="1">
                    <a:solidFill>
                      <a:schemeClr val="tx1"/>
                    </a:solidFill>
                    <a:effectLst/>
                    <a:latin typeface="Segoe WPC"/>
                  </a:rPr>
                  <a:t>costs</a:t>
                </a:r>
                <a:r>
                  <a:rPr lang="es-PE" sz="900" b="0" i="0" dirty="0">
                    <a:solidFill>
                      <a:schemeClr val="tx1"/>
                    </a:solidFill>
                    <a:effectLst/>
                    <a:latin typeface="Segoe WPC"/>
                  </a:rPr>
                  <a:t>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 </a:t>
                </a:r>
                <a:r>
                  <a:rPr lang="es-PE" sz="900" b="0" i="0" dirty="0" err="1">
                    <a:solidFill>
                      <a:schemeClr val="tx1"/>
                    </a:solidFill>
                    <a:effectLst/>
                    <a:latin typeface="Segoe WPC"/>
                  </a:rPr>
                  <a:t>straddle</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break-</a:t>
                </a:r>
                <a:r>
                  <a:rPr lang="es-PE" sz="900" b="0" i="0" dirty="0" err="1">
                    <a:solidFill>
                      <a:schemeClr val="tx1"/>
                    </a:solidFill>
                    <a:effectLst/>
                    <a:latin typeface="Segoe WPC"/>
                  </a:rPr>
                  <a:t>even</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be </a:t>
                </a:r>
                <a:r>
                  <a:rPr lang="es-PE" sz="900" b="0" i="0" dirty="0" err="1">
                    <a:solidFill>
                      <a:schemeClr val="tx1"/>
                    </a:solidFill>
                    <a:effectLst/>
                    <a:latin typeface="Segoe WPC"/>
                  </a:rPr>
                  <a:t>larger</a:t>
                </a:r>
                <a:r>
                  <a:rPr lang="es-PE" sz="900" b="0" i="0" dirty="0">
                    <a:solidFill>
                      <a:schemeClr val="tx1"/>
                    </a:solidFill>
                    <a:effectLst/>
                    <a:latin typeface="Segoe WPC"/>
                  </a:rPr>
                  <a:t>.</a:t>
                </a:r>
              </a:p>
            </p:txBody>
          </p:sp>
        </mc:Choice>
        <mc:Fallback xmlns="">
          <p:sp>
            <p:nvSpPr>
              <p:cNvPr id="7" name="CuadroTexto 6">
                <a:extLst>
                  <a:ext uri="{FF2B5EF4-FFF2-40B4-BE49-F238E27FC236}">
                    <a16:creationId xmlns:a16="http://schemas.microsoft.com/office/drawing/2014/main" id="{D72746FB-FC39-EAD2-1B15-482DF915CB4C}"/>
                  </a:ext>
                </a:extLst>
              </p:cNvPr>
              <p:cNvSpPr txBox="1">
                <a:spLocks noRot="1" noChangeAspect="1" noMove="1" noResize="1" noEditPoints="1" noAdjustHandles="1" noChangeArrowheads="1" noChangeShapeType="1" noTextEdit="1"/>
              </p:cNvSpPr>
              <p:nvPr/>
            </p:nvSpPr>
            <p:spPr>
              <a:xfrm>
                <a:off x="6013450" y="98425"/>
                <a:ext cx="6096000" cy="6443815"/>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31057935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C1BD3101-8664-9E72-C3D1-10A8A924F46B}"/>
              </a:ext>
            </a:extLst>
          </p:cNvPr>
          <p:cNvPicPr>
            <a:picLocks noChangeAspect="1"/>
          </p:cNvPicPr>
          <p:nvPr/>
        </p:nvPicPr>
        <p:blipFill>
          <a:blip r:embed="rId2"/>
          <a:stretch>
            <a:fillRect/>
          </a:stretch>
        </p:blipFill>
        <p:spPr>
          <a:xfrm>
            <a:off x="3573043" y="0"/>
            <a:ext cx="5045914" cy="6858000"/>
          </a:xfrm>
          <a:prstGeom prst="rect">
            <a:avLst/>
          </a:prstGeom>
        </p:spPr>
      </p:pic>
    </p:spTree>
    <p:extLst>
      <p:ext uri="{BB962C8B-B14F-4D97-AF65-F5344CB8AC3E}">
        <p14:creationId xmlns:p14="http://schemas.microsoft.com/office/powerpoint/2010/main" val="23993338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CB8FCE-0BCE-046B-45F4-53DE6DF27C56}"/>
              </a:ext>
            </a:extLst>
          </p:cNvPr>
          <p:cNvSpPr>
            <a:spLocks noGrp="1"/>
          </p:cNvSpPr>
          <p:nvPr>
            <p:ph type="title"/>
          </p:nvPr>
        </p:nvSpPr>
        <p:spPr>
          <a:xfrm>
            <a:off x="-105228" y="-99371"/>
            <a:ext cx="10515600" cy="464457"/>
          </a:xfrm>
        </p:spPr>
        <p:txBody>
          <a:bodyPr>
            <a:noAutofit/>
          </a:bodyPr>
          <a:lstStyle/>
          <a:p>
            <a:r>
              <a:rPr lang="en-US" sz="2800" dirty="0"/>
              <a:t>Exotic Options</a:t>
            </a:r>
            <a:endParaRPr lang="es-PE" sz="28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EDA465F6-942C-64E6-C473-91554747540E}"/>
                  </a:ext>
                </a:extLst>
              </p:cNvPr>
              <p:cNvSpPr txBox="1"/>
              <p:nvPr/>
            </p:nvSpPr>
            <p:spPr>
              <a:xfrm>
                <a:off x="-83457" y="201507"/>
                <a:ext cx="6509657" cy="7005508"/>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a:t>
                </a: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Vanilla</a:t>
                </a:r>
                <a:r>
                  <a:rPr lang="es-PE" sz="900" b="1" i="0" dirty="0">
                    <a:solidFill>
                      <a:schemeClr val="tx1"/>
                    </a:solidFill>
                    <a:effectLst/>
                    <a:latin typeface="Segoe WPC"/>
                  </a:rPr>
                  <a:t> vs </a:t>
                </a:r>
                <a:r>
                  <a:rPr lang="es-PE" sz="900" b="1" i="0" dirty="0" err="1">
                    <a:solidFill>
                      <a:schemeClr val="tx1"/>
                    </a:solidFill>
                    <a:effectLst/>
                    <a:latin typeface="Segoe WPC"/>
                  </a:rPr>
                  <a:t>Exotic</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Plain</a:t>
                </a:r>
                <a:r>
                  <a:rPr lang="es-PE" sz="900" b="0" i="0" dirty="0">
                    <a:solidFill>
                      <a:schemeClr val="tx1"/>
                    </a:solidFill>
                    <a:effectLst/>
                    <a:latin typeface="Segoe WPC"/>
                  </a:rPr>
                  <a:t> </a:t>
                </a:r>
                <a:r>
                  <a:rPr lang="es-PE" sz="900" b="0" i="0" dirty="0" err="1">
                    <a:solidFill>
                      <a:schemeClr val="tx1"/>
                    </a:solidFill>
                    <a:effectLst/>
                    <a:latin typeface="Segoe WPC"/>
                  </a:rPr>
                  <a:t>vanilla</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are standard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American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exotic</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non-standard </a:t>
                </a:r>
                <a:r>
                  <a:rPr lang="es-PE" sz="900" b="0" i="0" dirty="0" err="1">
                    <a:solidFill>
                      <a:schemeClr val="tx1"/>
                    </a:solidFill>
                    <a:effectLst/>
                    <a:latin typeface="Segoe WPC"/>
                  </a:rPr>
                  <a:t>exercise</a:t>
                </a:r>
                <a:r>
                  <a:rPr lang="es-PE" sz="900" b="0" i="0" dirty="0">
                    <a:solidFill>
                      <a:schemeClr val="tx1"/>
                    </a:solidFill>
                    <a:effectLst/>
                    <a:latin typeface="Segoe WPC"/>
                  </a:rPr>
                  <a:t> rules, </a:t>
                </a:r>
                <a:r>
                  <a:rPr lang="es-PE" sz="900" b="0" i="0" dirty="0" err="1">
                    <a:solidFill>
                      <a:schemeClr val="tx1"/>
                    </a:solidFill>
                    <a:effectLst/>
                    <a:latin typeface="Segoe WPC"/>
                  </a:rPr>
                  <a:t>triggers</a:t>
                </a:r>
                <a:r>
                  <a:rPr lang="es-PE" sz="900" b="0" i="0" dirty="0">
                    <a:solidFill>
                      <a:schemeClr val="tx1"/>
                    </a:solidFill>
                    <a:effectLst/>
                    <a:latin typeface="Segoe WPC"/>
                  </a:rPr>
                  <a:t>, </a:t>
                </a:r>
                <a:r>
                  <a:rPr lang="es-PE" sz="900" b="0" i="0" dirty="0" err="1">
                    <a:solidFill>
                      <a:schemeClr val="tx1"/>
                    </a:solidFill>
                    <a:effectLst/>
                    <a:latin typeface="Segoe WPC"/>
                  </a:rPr>
                  <a:t>underlyings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structures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Exotics</a:t>
                </a:r>
                <a:r>
                  <a:rPr lang="es-PE" sz="900" b="0" i="0" dirty="0">
                    <a:solidFill>
                      <a:schemeClr val="tx1"/>
                    </a:solidFill>
                    <a:effectLst/>
                    <a:latin typeface="Segoe WPC"/>
                  </a:rPr>
                  <a:t> are </a:t>
                </a:r>
                <a:r>
                  <a:rPr lang="es-PE" sz="900" b="0" i="0" dirty="0" err="1">
                    <a:solidFill>
                      <a:schemeClr val="tx1"/>
                    </a:solidFill>
                    <a:effectLst/>
                    <a:latin typeface="Segoe WPC"/>
                  </a:rPr>
                  <a:t>custom-built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match </a:t>
                </a:r>
                <a:r>
                  <a:rPr lang="es-PE" sz="900" b="0" i="0" dirty="0" err="1">
                    <a:solidFill>
                      <a:schemeClr val="tx1"/>
                    </a:solidFill>
                    <a:effectLst/>
                    <a:latin typeface="Segoe WPC"/>
                  </a:rPr>
                  <a:t>specific</a:t>
                </a:r>
                <a:r>
                  <a:rPr lang="es-PE" sz="900" b="0" i="0" dirty="0">
                    <a:solidFill>
                      <a:schemeClr val="tx1"/>
                    </a:solidFill>
                    <a:effectLst/>
                    <a:latin typeface="Segoe WPC"/>
                  </a:rPr>
                  <a:t> </a:t>
                </a:r>
                <a:r>
                  <a:rPr lang="es-PE" sz="900" b="0" i="0" dirty="0" err="1">
                    <a:solidFill>
                      <a:schemeClr val="tx1"/>
                    </a:solidFill>
                    <a:effectLst/>
                    <a:latin typeface="Segoe WPC"/>
                  </a:rPr>
                  <a:t>hedging</a:t>
                </a:r>
                <a:r>
                  <a:rPr lang="es-PE" sz="900" b="0" i="0" dirty="0">
                    <a:solidFill>
                      <a:schemeClr val="tx1"/>
                    </a:solidFill>
                    <a:effectLst/>
                    <a:latin typeface="Segoe WPC"/>
                  </a:rPr>
                  <a:t>, trading, </a:t>
                </a:r>
                <a:r>
                  <a:rPr lang="es-PE" sz="900" b="0" i="0" dirty="0" err="1">
                    <a:solidFill>
                      <a:schemeClr val="tx1"/>
                    </a:solidFill>
                    <a:effectLst/>
                    <a:latin typeface="Segoe WPC"/>
                  </a:rPr>
                  <a:t>tax</a:t>
                </a:r>
                <a:r>
                  <a:rPr lang="es-PE" sz="900" b="0" i="0" dirty="0">
                    <a:solidFill>
                      <a:schemeClr val="tx1"/>
                    </a:solidFill>
                    <a:effectLst/>
                    <a:latin typeface="Segoe WPC"/>
                  </a:rPr>
                  <a:t>, </a:t>
                </a:r>
                <a:r>
                  <a:rPr lang="es-PE" sz="900" b="0" i="0" dirty="0" err="1">
                    <a:solidFill>
                      <a:schemeClr val="tx1"/>
                    </a:solidFill>
                    <a:effectLst/>
                    <a:latin typeface="Segoe WPC"/>
                  </a:rPr>
                  <a:t>regulatory</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leverage</a:t>
                </a:r>
                <a:r>
                  <a:rPr lang="es-PE" sz="900" b="0" i="0" dirty="0">
                    <a:solidFill>
                      <a:schemeClr val="tx1"/>
                    </a:solidFill>
                    <a:effectLst/>
                    <a:latin typeface="Segoe WPC"/>
                  </a:rPr>
                  <a:t> </a:t>
                </a:r>
                <a:r>
                  <a:rPr lang="es-PE" sz="900" b="0" i="0" dirty="0" err="1">
                    <a:solidFill>
                      <a:schemeClr val="tx1"/>
                    </a:solidFill>
                    <a:effectLst/>
                    <a:latin typeface="Segoe WPC"/>
                  </a:rPr>
                  <a:t>needs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vanilla</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mainly</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final </a:t>
                </a:r>
                <a:r>
                  <a:rPr lang="es-PE" sz="900" b="0" i="0" dirty="0" err="1">
                    <a:solidFill>
                      <a:schemeClr val="tx1"/>
                    </a:solidFill>
                    <a:effectLst/>
                    <a:latin typeface="Segoe WPC"/>
                  </a:rPr>
                  <a:t>price</a:t>
                </a:r>
                <a:r>
                  <a:rPr lang="es-PE" sz="900" b="0" i="0" dirty="0">
                    <a:solidFill>
                      <a:schemeClr val="tx1"/>
                    </a:solidFill>
                    <a:effectLst/>
                    <a:latin typeface="Segoe WPC"/>
                  </a:rPr>
                  <a:t> and strike;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exotic</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also</a:t>
                </a:r>
                <a:r>
                  <a:rPr lang="es-PE" sz="900" b="0" i="0" dirty="0">
                    <a:solidFill>
                      <a:schemeClr val="tx1"/>
                    </a:solidFill>
                    <a:effectLst/>
                    <a:latin typeface="Segoe WPC"/>
                  </a:rPr>
                  <a:t>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averages</a:t>
                </a:r>
                <a:r>
                  <a:rPr lang="es-PE" sz="900" b="0" i="0" dirty="0">
                    <a:solidFill>
                      <a:schemeClr val="tx1"/>
                    </a:solidFill>
                    <a:effectLst/>
                    <a:latin typeface="Segoe WPC"/>
                  </a:rPr>
                  <a:t>, </a:t>
                </a:r>
                <a:r>
                  <a:rPr lang="es-PE" sz="900" b="0" i="0" dirty="0" err="1">
                    <a:solidFill>
                      <a:schemeClr val="tx1"/>
                    </a:solidFill>
                    <a:effectLst/>
                    <a:latin typeface="Segoe WPC"/>
                  </a:rPr>
                  <a:t>barriers</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multiple</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another</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Vanilla</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exotic</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oMath>
                </a14:m>
                <a:r>
                  <a:rPr lang="ar-A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m:rPr>
                            <m:sty m:val="p"/>
                          </m:rPr>
                          <a:rPr lang="es-PE" sz="900" i="0">
                            <a:solidFill>
                              <a:schemeClr val="tx1"/>
                            </a:solidFill>
                            <a:latin typeface="Cambria Math" panose="02040503050406030204" pitchFamily="18" charset="0"/>
                          </a:rPr>
                          <m:t>max</m:t>
                        </m:r>
                        <m:func>
                          <m:funcPr>
                            <m:ctrlPr>
                              <a:rPr lang="ar-AE" sz="900" i="1">
                                <a:solidFill>
                                  <a:schemeClr val="tx1"/>
                                </a:solidFill>
                                <a:latin typeface="Cambria Math" panose="02040503050406030204" pitchFamily="18" charset="0"/>
                              </a:rPr>
                            </m:ctrlPr>
                          </m:funcPr>
                          <m:fName/>
                          <m:e/>
                        </m:func>
                      </m:sub>
                    </m:sSub>
                  </m:oMath>
                </a14:m>
                <a:r>
                  <a:rPr lang="ar-A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m:rPr>
                            <m:sty m:val="p"/>
                          </m:rPr>
                          <a:rPr lang="es-PE" sz="900" i="0">
                            <a:solidFill>
                              <a:schemeClr val="tx1"/>
                            </a:solidFill>
                            <a:latin typeface="Cambria Math" panose="02040503050406030204" pitchFamily="18" charset="0"/>
                          </a:rPr>
                          <m:t>min</m:t>
                        </m:r>
                        <m:func>
                          <m:funcPr>
                            <m:ctrlPr>
                              <a:rPr lang="ar-AE" sz="900" i="1">
                                <a:solidFill>
                                  <a:schemeClr val="tx1"/>
                                </a:solidFill>
                                <a:latin typeface="Cambria Math" panose="02040503050406030204" pitchFamily="18" charset="0"/>
                              </a:rPr>
                            </m:ctrlPr>
                          </m:funcPr>
                          <m:fName/>
                          <m:e/>
                        </m:func>
                      </m:sub>
                    </m:sSub>
                  </m:oMath>
                </a14:m>
                <a:r>
                  <a:rPr lang="ar-A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m:rPr>
                            <m:nor/>
                          </m:rPr>
                          <a:rPr lang="es-PE" sz="900" b="0" i="1">
                            <a:solidFill>
                              <a:schemeClr val="tx1"/>
                            </a:solidFill>
                            <a:latin typeface="Cambria Math" panose="02040503050406030204" pitchFamily="18" charset="0"/>
                          </a:rPr>
                          <m:t>avg</m:t>
                        </m:r>
                      </m:sub>
                    </m:sSub>
                  </m:oMath>
                </a14:m>
                <a:r>
                  <a:rPr lang="ar-A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several</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Exotics</a:t>
                </a:r>
                <a:r>
                  <a:rPr lang="es-PE" sz="900" b="0" i="0" dirty="0">
                    <a:solidFill>
                      <a:schemeClr val="tx1"/>
                    </a:solidFill>
                    <a:effectLst/>
                    <a:latin typeface="Segoe WPC"/>
                  </a:rPr>
                  <a:t> are </a:t>
                </a:r>
                <a:r>
                  <a:rPr lang="es-PE" sz="900" b="0" i="0" dirty="0" err="1">
                    <a:solidFill>
                      <a:schemeClr val="tx1"/>
                    </a:solidFill>
                    <a:effectLst/>
                    <a:latin typeface="Segoe WPC"/>
                  </a:rPr>
                  <a:t>usually</a:t>
                </a:r>
                <a:r>
                  <a:rPr lang="es-PE" sz="900" b="0" i="0" dirty="0">
                    <a:solidFill>
                      <a:schemeClr val="tx1"/>
                    </a:solidFill>
                    <a:effectLst/>
                    <a:latin typeface="Segoe WPC"/>
                  </a:rPr>
                  <a:t> OTC and </a:t>
                </a:r>
                <a:r>
                  <a:rPr lang="es-PE" sz="900" b="0" i="0" dirty="0" err="1">
                    <a:solidFill>
                      <a:schemeClr val="tx1"/>
                    </a:solidFill>
                    <a:effectLst/>
                    <a:latin typeface="Segoe WPC"/>
                  </a:rPr>
                  <a:t>carry</a:t>
                </a:r>
                <a:r>
                  <a:rPr lang="es-PE" sz="900" b="0" i="0" dirty="0">
                    <a:solidFill>
                      <a:schemeClr val="tx1"/>
                    </a:solidFill>
                    <a:effectLst/>
                    <a:latin typeface="Segoe WPC"/>
                  </a:rPr>
                  <a:t> </a:t>
                </a:r>
                <a:r>
                  <a:rPr lang="es-PE" sz="900" b="0" i="0" dirty="0" err="1">
                    <a:solidFill>
                      <a:schemeClr val="tx1"/>
                    </a:solidFill>
                    <a:effectLst/>
                    <a:latin typeface="Segoe WPC"/>
                  </a:rPr>
                  <a:t>wider</a:t>
                </a:r>
                <a:r>
                  <a:rPr lang="es-PE" sz="900" b="0" i="0" dirty="0">
                    <a:solidFill>
                      <a:schemeClr val="tx1"/>
                    </a:solidFill>
                    <a:effectLst/>
                    <a:latin typeface="Segoe WPC"/>
                  </a:rPr>
                  <a:t> </a:t>
                </a:r>
                <a:r>
                  <a:rPr lang="es-PE" sz="900" b="0" i="0" dirty="0" err="1">
                    <a:solidFill>
                      <a:schemeClr val="tx1"/>
                    </a:solidFill>
                    <a:effectLst/>
                    <a:latin typeface="Segoe WPC"/>
                  </a:rPr>
                  <a:t>bid-offer</a:t>
                </a:r>
                <a:r>
                  <a:rPr lang="es-PE" sz="900" b="0" i="0" dirty="0">
                    <a:solidFill>
                      <a:schemeClr val="tx1"/>
                    </a:solidFill>
                    <a:effectLst/>
                    <a:latin typeface="Segoe WPC"/>
                  </a:rPr>
                  <a:t> spreads.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Exotic</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mean </a:t>
                </a:r>
                <a:r>
                  <a:rPr lang="es-PE" sz="900" b="0" i="0" dirty="0" err="1">
                    <a:solidFill>
                      <a:schemeClr val="tx1"/>
                    </a:solidFill>
                    <a:effectLst/>
                    <a:latin typeface="Segoe WPC"/>
                  </a:rPr>
                  <a:t>complicated</a:t>
                </a:r>
                <a:r>
                  <a:rPr lang="es-PE" sz="900" b="0" i="0" dirty="0">
                    <a:solidFill>
                      <a:schemeClr val="tx1"/>
                    </a:solidFill>
                    <a:effectLst/>
                    <a:latin typeface="Segoe WPC"/>
                  </a:rPr>
                  <a:t> </a:t>
                </a:r>
                <a:r>
                  <a:rPr lang="es-PE" sz="900" b="0" i="0" dirty="0" err="1">
                    <a:solidFill>
                      <a:schemeClr val="tx1"/>
                    </a:solidFill>
                    <a:effectLst/>
                    <a:latin typeface="Segoe WPC"/>
                  </a:rPr>
                  <a:t>pricing</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non-standard </a:t>
                </a:r>
                <a:r>
                  <a:rPr lang="es-PE" sz="900" b="0" i="0" dirty="0" err="1">
                    <a:solidFill>
                      <a:schemeClr val="tx1"/>
                    </a:solidFill>
                    <a:effectLst/>
                    <a:latin typeface="Segoe WPC"/>
                  </a:rPr>
                  <a:t>contract</a:t>
                </a:r>
                <a:r>
                  <a:rPr lang="es-PE" sz="900" b="0" i="0" dirty="0">
                    <a:solidFill>
                      <a:schemeClr val="tx1"/>
                    </a:solidFill>
                    <a:effectLst/>
                    <a:latin typeface="Segoe WPC"/>
                  </a:rPr>
                  <a:t> </a:t>
                </a:r>
                <a:r>
                  <a:rPr lang="es-PE" sz="900" b="0" i="0" dirty="0" err="1">
                    <a:solidFill>
                      <a:schemeClr val="tx1"/>
                    </a:solidFill>
                    <a:effectLst/>
                    <a:latin typeface="Segoe WPC"/>
                  </a:rPr>
                  <a:t>features</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2. </a:t>
                </a: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Exotics</a:t>
                </a:r>
                <a:r>
                  <a:rPr lang="es-PE" sz="900" b="1" i="0" dirty="0">
                    <a:solidFill>
                      <a:schemeClr val="tx1"/>
                    </a:solidFill>
                    <a:effectLst/>
                    <a:latin typeface="Segoe WPC"/>
                  </a:rPr>
                  <a:t> </a:t>
                </a:r>
                <a:r>
                  <a:rPr lang="es-PE" sz="900" b="1" i="0" dirty="0" err="1">
                    <a:solidFill>
                      <a:schemeClr val="tx1"/>
                    </a:solidFill>
                    <a:effectLst/>
                    <a:latin typeface="Segoe WPC"/>
                  </a:rPr>
                  <a:t>Exist</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Exotics</a:t>
                </a:r>
                <a:r>
                  <a:rPr lang="es-PE" sz="900" b="0" i="0" dirty="0">
                    <a:solidFill>
                      <a:schemeClr val="tx1"/>
                    </a:solidFill>
                    <a:effectLst/>
                    <a:latin typeface="Segoe WPC"/>
                  </a:rPr>
                  <a:t> are </a:t>
                </a:r>
                <a:r>
                  <a:rPr lang="es-PE" sz="900" b="0" i="0" dirty="0" err="1">
                    <a:solidFill>
                      <a:schemeClr val="tx1"/>
                    </a:solidFill>
                    <a:effectLst/>
                    <a:latin typeface="Segoe WPC"/>
                  </a:rPr>
                  <a:t>created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improve</a:t>
                </a:r>
                <a:r>
                  <a:rPr lang="es-PE" sz="900" b="0" i="0" dirty="0">
                    <a:solidFill>
                      <a:schemeClr val="tx1"/>
                    </a:solidFill>
                    <a:effectLst/>
                    <a:latin typeface="Segoe WPC"/>
                  </a:rPr>
                  <a:t> </a:t>
                </a:r>
                <a:r>
                  <a:rPr lang="es-PE" sz="900" b="0" i="0" dirty="0" err="1">
                    <a:solidFill>
                      <a:schemeClr val="tx1"/>
                    </a:solidFill>
                    <a:effectLst/>
                    <a:latin typeface="Segoe WPC"/>
                  </a:rPr>
                  <a:t>hedging</a:t>
                </a:r>
                <a:r>
                  <a:rPr lang="es-PE" sz="900" b="0" i="0" dirty="0">
                    <a:solidFill>
                      <a:schemeClr val="tx1"/>
                    </a:solidFill>
                    <a:effectLst/>
                    <a:latin typeface="Segoe WPC"/>
                  </a:rPr>
                  <a:t> </a:t>
                </a:r>
                <a:r>
                  <a:rPr lang="es-PE" sz="900" b="0" i="0" dirty="0" err="1">
                    <a:solidFill>
                      <a:schemeClr val="tx1"/>
                    </a:solidFill>
                    <a:effectLst/>
                    <a:latin typeface="Segoe WPC"/>
                  </a:rPr>
                  <a:t>efficiency</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express</a:t>
                </a:r>
                <a:r>
                  <a:rPr lang="es-PE" sz="900" b="0" i="0" dirty="0">
                    <a:solidFill>
                      <a:schemeClr val="tx1"/>
                    </a:solidFill>
                    <a:effectLst/>
                    <a:latin typeface="Segoe WPC"/>
                  </a:rPr>
                  <a:t> more precise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views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firm</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want</a:t>
                </a:r>
                <a:r>
                  <a:rPr lang="es-PE" sz="900" b="0" i="0" dirty="0">
                    <a:solidFill>
                      <a:schemeClr val="tx1"/>
                    </a:solidFill>
                    <a:effectLst/>
                    <a:latin typeface="Segoe WPC"/>
                  </a:rPr>
                  <a:t> a </a:t>
                </a:r>
                <a:r>
                  <a:rPr lang="es-PE" sz="900" b="0" i="0" dirty="0" err="1">
                    <a:solidFill>
                      <a:schemeClr val="tx1"/>
                    </a:solidFill>
                    <a:effectLst/>
                    <a:latin typeface="Segoe WPC"/>
                  </a:rPr>
                  <a:t>generic</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wants</a:t>
                </a:r>
                <a:r>
                  <a:rPr lang="es-PE" sz="900" b="0" i="0" dirty="0">
                    <a:solidFill>
                      <a:schemeClr val="tx1"/>
                    </a:solidFill>
                    <a:effectLst/>
                    <a:latin typeface="Segoe WPC"/>
                  </a:rPr>
                  <a:t> a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tied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exact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faces.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a:t>
                </a:r>
                <a:r>
                  <a:rPr lang="es-PE" sz="900" b="0" i="0" dirty="0" err="1">
                    <a:solidFill>
                      <a:schemeClr val="tx1"/>
                    </a:solidFill>
                    <a:effectLst/>
                    <a:latin typeface="Segoe WPC"/>
                  </a:rPr>
                  <a:t>exchange</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 </a:t>
                </a:r>
                <a:r>
                  <a:rPr lang="es-PE" sz="900" b="0" i="0" dirty="0" err="1">
                    <a:solidFill>
                      <a:schemeClr val="tx1"/>
                    </a:solidFill>
                    <a:effectLst/>
                    <a:latin typeface="Segoe WPC"/>
                  </a:rPr>
                  <a:t>barrier</a:t>
                </a:r>
                <a:r>
                  <a:rPr lang="es-PE" sz="900" b="0" i="0" dirty="0">
                    <a:solidFill>
                      <a:schemeClr val="tx1"/>
                    </a:solidFill>
                    <a:effectLst/>
                    <a:latin typeface="Segoe WPC"/>
                  </a:rPr>
                  <a:t> </a:t>
                </a:r>
                <a:r>
                  <a:rPr lang="es-PE" sz="900" b="0" i="0" dirty="0" err="1">
                    <a:solidFill>
                      <a:schemeClr val="tx1"/>
                    </a:solidFill>
                    <a:effectLst/>
                    <a:latin typeface="Segoe WPC"/>
                  </a:rPr>
                  <a:t>event</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itself</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exotic</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much</a:t>
                </a:r>
                <a:r>
                  <a:rPr lang="es-PE" sz="900" b="0" i="0" dirty="0">
                    <a:solidFill>
                      <a:schemeClr val="tx1"/>
                    </a:solidFill>
                    <a:effectLst/>
                    <a:latin typeface="Segoe WPC"/>
                  </a:rPr>
                  <a:t> </a:t>
                </a:r>
                <a:r>
                  <a:rPr lang="es-PE" sz="900" b="0" i="0" dirty="0" err="1">
                    <a:solidFill>
                      <a:schemeClr val="tx1"/>
                    </a:solidFill>
                    <a:effectLst/>
                    <a:latin typeface="Segoe WPC"/>
                  </a:rPr>
                  <a:t>better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vanilla</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single formula;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key</a:t>
                </a:r>
                <a:r>
                  <a:rPr lang="es-PE" sz="900" b="0" i="0" dirty="0">
                    <a:solidFill>
                      <a:schemeClr val="tx1"/>
                    </a:solidFill>
                    <a:effectLst/>
                    <a:latin typeface="Segoe WPC"/>
                  </a:rPr>
                  <a:t> idea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customization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Exotics</a:t>
                </a:r>
                <a:r>
                  <a:rPr lang="es-PE" sz="900" b="0" i="0" dirty="0">
                    <a:solidFill>
                      <a:schemeClr val="tx1"/>
                    </a:solidFill>
                    <a:effectLst/>
                    <a:latin typeface="Segoe WPC"/>
                  </a:rPr>
                  <a:t> can reduce </a:t>
                </a:r>
                <a:r>
                  <a:rPr lang="es-PE" sz="900" b="0" i="0" dirty="0" err="1">
                    <a:solidFill>
                      <a:schemeClr val="tx1"/>
                    </a:solidFill>
                    <a:effectLst/>
                    <a:latin typeface="Segoe WPC"/>
                  </a:rPr>
                  <a:t>cost</a:t>
                </a:r>
                <a:r>
                  <a:rPr lang="es-PE" sz="900" b="0" i="0" dirty="0">
                    <a:solidFill>
                      <a:schemeClr val="tx1"/>
                    </a:solidFill>
                    <a:effectLst/>
                    <a:latin typeface="Segoe WPC"/>
                  </a:rPr>
                  <a:t>, target a precise </a:t>
                </a:r>
                <a:r>
                  <a:rPr lang="es-PE" sz="900" b="0" i="0" dirty="0" err="1">
                    <a:solidFill>
                      <a:schemeClr val="tx1"/>
                    </a:solidFill>
                    <a:effectLst/>
                    <a:latin typeface="Segoe WPC"/>
                  </a:rPr>
                  <a:t>scenario</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embed</a:t>
                </a:r>
                <a:r>
                  <a:rPr lang="es-PE" sz="900" b="0" i="0" dirty="0">
                    <a:solidFill>
                      <a:schemeClr val="tx1"/>
                    </a:solidFill>
                    <a:effectLst/>
                    <a:latin typeface="Segoe WPC"/>
                  </a:rPr>
                  <a:t> </a:t>
                </a:r>
                <a:r>
                  <a:rPr lang="es-PE" sz="900" b="0" i="0" dirty="0" err="1">
                    <a:solidFill>
                      <a:schemeClr val="tx1"/>
                    </a:solidFill>
                    <a:effectLst/>
                    <a:latin typeface="Segoe WPC"/>
                  </a:rPr>
                  <a:t>leverage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Firms</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use </a:t>
                </a:r>
                <a:r>
                  <a:rPr lang="es-PE" sz="900" b="0" i="0" dirty="0" err="1">
                    <a:solidFill>
                      <a:schemeClr val="tx1"/>
                    </a:solidFill>
                    <a:effectLst/>
                    <a:latin typeface="Segoe WPC"/>
                  </a:rPr>
                  <a:t>exotics</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speculation</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are </a:t>
                </a:r>
                <a:r>
                  <a:rPr lang="es-PE" sz="900" b="0" i="0" dirty="0" err="1">
                    <a:solidFill>
                      <a:schemeClr val="tx1"/>
                    </a:solidFill>
                    <a:effectLst/>
                    <a:latin typeface="Segoe WPC"/>
                  </a:rPr>
                  <a:t>designed</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cheaper</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more </a:t>
                </a:r>
                <a:r>
                  <a:rPr lang="es-PE" sz="900" b="0" i="0" dirty="0" err="1">
                    <a:solidFill>
                      <a:schemeClr val="tx1"/>
                    </a:solidFill>
                    <a:effectLst/>
                    <a:latin typeface="Segoe WPC"/>
                  </a:rPr>
                  <a:t>accurate</a:t>
                </a:r>
                <a:r>
                  <a:rPr lang="es-PE" sz="900" b="0" i="0" dirty="0">
                    <a:solidFill>
                      <a:schemeClr val="tx1"/>
                    </a:solidFill>
                    <a:effectLst/>
                    <a:latin typeface="Segoe WPC"/>
                  </a:rPr>
                  <a:t> </a:t>
                </a:r>
                <a:r>
                  <a:rPr lang="es-PE" sz="900" b="0" i="0" dirty="0" err="1">
                    <a:solidFill>
                      <a:schemeClr val="tx1"/>
                    </a:solidFill>
                    <a:effectLst/>
                    <a:latin typeface="Segoe WPC"/>
                  </a:rPr>
                  <a:t>hedging</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3. Zero-</a:t>
                </a:r>
                <a:r>
                  <a:rPr lang="es-PE" sz="900" b="1" i="0" dirty="0" err="1">
                    <a:solidFill>
                      <a:schemeClr val="tx1"/>
                    </a:solidFill>
                    <a:effectLst/>
                    <a:latin typeface="Segoe WPC"/>
                  </a:rPr>
                  <a:t>Cost</a:t>
                </a:r>
                <a:r>
                  <a:rPr lang="es-PE" sz="900" b="1" i="0" dirty="0">
                    <a:solidFill>
                      <a:schemeClr val="tx1"/>
                    </a:solidFill>
                    <a:effectLst/>
                    <a:latin typeface="Segoe WPC"/>
                  </a:rPr>
                  <a:t> </a:t>
                </a:r>
                <a:r>
                  <a:rPr lang="es-PE" sz="900" b="1" i="0" dirty="0" err="1">
                    <a:solidFill>
                      <a:schemeClr val="tx1"/>
                    </a:solidFill>
                    <a:effectLst/>
                    <a:latin typeface="Segoe WPC"/>
                  </a:rPr>
                  <a:t>Products</a:t>
                </a:r>
                <a:r>
                  <a:rPr lang="es-PE" sz="900" b="1" i="0" dirty="0">
                    <a:solidFill>
                      <a:schemeClr val="tx1"/>
                    </a:solidFill>
                    <a:effectLst/>
                    <a:latin typeface="Segoe WPC"/>
                  </a:rPr>
                  <a:t> and Futures-Style </a:t>
                </a:r>
                <a:r>
                  <a:rPr lang="es-PE" sz="900" b="1" i="0" dirty="0" err="1">
                    <a:solidFill>
                      <a:schemeClr val="tx1"/>
                    </a:solidFill>
                    <a:effectLst/>
                    <a:latin typeface="Segoe WPC"/>
                  </a:rPr>
                  <a:t>Options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Any</a:t>
                </a:r>
                <a:r>
                  <a:rPr lang="es-PE" sz="900" b="0" i="0" dirty="0">
                    <a:solidFill>
                      <a:schemeClr val="tx1"/>
                    </a:solidFill>
                    <a:effectLst/>
                    <a:latin typeface="Segoe WPC"/>
                  </a:rPr>
                  <a:t> derivative can be </a:t>
                </a:r>
                <a:r>
                  <a:rPr lang="es-PE" sz="900" b="0" i="0" dirty="0" err="1">
                    <a:solidFill>
                      <a:schemeClr val="tx1"/>
                    </a:solidFill>
                    <a:effectLst/>
                    <a:latin typeface="Segoe WPC"/>
                  </a:rPr>
                  <a:t>converted</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 </a:t>
                </a:r>
                <a:r>
                  <a:rPr lang="es-PE" sz="900" b="0" i="0" dirty="0" err="1">
                    <a:solidFill>
                      <a:schemeClr val="tx1"/>
                    </a:solidFill>
                    <a:effectLst/>
                    <a:latin typeface="Segoe WPC"/>
                  </a:rPr>
                  <a:t>zero-cost</a:t>
                </a:r>
                <a:r>
                  <a:rPr lang="es-PE" sz="900" b="0" i="0" dirty="0">
                    <a:solidFill>
                      <a:schemeClr val="tx1"/>
                    </a:solidFill>
                    <a:effectLst/>
                    <a:latin typeface="Segoe WPC"/>
                  </a:rPr>
                  <a:t> </a:t>
                </a:r>
                <a:r>
                  <a:rPr lang="es-PE" sz="900" b="0" i="0" dirty="0" err="1">
                    <a:solidFill>
                      <a:schemeClr val="tx1"/>
                    </a:solidFill>
                    <a:effectLst/>
                    <a:latin typeface="Segoe WPC"/>
                  </a:rPr>
                  <a:t>product</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deferring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premium </a:t>
                </a:r>
                <a:r>
                  <a:rPr lang="es-PE" sz="900" b="0" i="0" dirty="0" err="1">
                    <a:solidFill>
                      <a:schemeClr val="tx1"/>
                    </a:solidFill>
                    <a:effectLst/>
                    <a:latin typeface="Segoe WPC"/>
                  </a:rPr>
                  <a:t>payment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Instead</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paying</a:t>
                </a:r>
                <a:r>
                  <a:rPr lang="es-PE" sz="900" b="0" i="0" dirty="0">
                    <a:solidFill>
                      <a:schemeClr val="tx1"/>
                    </a:solidFill>
                    <a:effectLst/>
                    <a:latin typeface="Segoe WPC"/>
                  </a:rPr>
                  <a:t> premium </a:t>
                </a:r>
                <a:r>
                  <a:rPr lang="es-PE" sz="900" b="0" i="0" dirty="0" err="1">
                    <a:solidFill>
                      <a:schemeClr val="tx1"/>
                    </a:solidFill>
                    <a:effectLst/>
                    <a:latin typeface="Segoe WPC"/>
                  </a:rPr>
                  <a:t>today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buyer</a:t>
                </a:r>
                <a:r>
                  <a:rPr lang="es-PE" sz="900" b="0" i="0" dirty="0">
                    <a:solidFill>
                      <a:schemeClr val="tx1"/>
                    </a:solidFill>
                    <a:effectLst/>
                    <a:latin typeface="Segoe WPC"/>
                  </a:rPr>
                  <a:t> </a:t>
                </a:r>
                <a:r>
                  <a:rPr lang="es-PE" sz="900" b="0" i="0" dirty="0" err="1">
                    <a:solidFill>
                      <a:schemeClr val="tx1"/>
                    </a:solidFill>
                    <a:effectLst/>
                    <a:latin typeface="Segoe WPC"/>
                  </a:rPr>
                  <a:t>agrees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pay</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accumulated</a:t>
                </a:r>
                <a:r>
                  <a:rPr lang="es-PE" sz="900" b="0" i="0" dirty="0">
                    <a:solidFill>
                      <a:schemeClr val="tx1"/>
                    </a:solidFill>
                    <a:effectLst/>
                    <a:latin typeface="Segoe WPC"/>
                  </a:rPr>
                  <a:t> </a:t>
                </a:r>
                <a:r>
                  <a:rPr lang="es-PE" sz="900" b="0" i="0" dirty="0" err="1">
                    <a:solidFill>
                      <a:schemeClr val="tx1"/>
                    </a:solidFill>
                    <a:effectLst/>
                    <a:latin typeface="Segoe WPC"/>
                  </a:rPr>
                  <a:t>amount</a:t>
                </a:r>
                <a:r>
                  <a:rPr lang="es-PE" sz="900" b="0" i="0" dirty="0">
                    <a:solidFill>
                      <a:schemeClr val="tx1"/>
                    </a:solidFill>
                    <a:effectLst/>
                    <a:latin typeface="Segoe WPC"/>
                  </a:rPr>
                  <a:t> </a:t>
                </a:r>
                <a:r>
                  <a:rPr lang="es-PE" sz="900" b="0" i="0" dirty="0" err="1">
                    <a:solidFill>
                      <a:schemeClr val="tx1"/>
                    </a:solidFill>
                    <a:effectLst/>
                    <a:latin typeface="Segoe WPC"/>
                  </a:rPr>
                  <a:t>later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derivative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bundled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financing</a:t>
                </a:r>
                <a:r>
                  <a:rPr lang="es-PE" sz="900" b="0" i="0" dirty="0">
                    <a:solidFill>
                      <a:schemeClr val="tx1"/>
                    </a:solidFill>
                    <a:effectLst/>
                    <a:latin typeface="Segoe WPC"/>
                  </a:rPr>
                  <a:t> so no cash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paid</a:t>
                </a:r>
                <a:r>
                  <a:rPr lang="es-PE" sz="900" b="0" i="0" dirty="0">
                    <a:solidFill>
                      <a:schemeClr val="tx1"/>
                    </a:solidFill>
                    <a:effectLst/>
                    <a:latin typeface="Segoe WPC"/>
                  </a:rPr>
                  <a:t> </a:t>
                </a:r>
                <a:r>
                  <a:rPr lang="es-PE" sz="900" b="0" i="0" dirty="0" err="1">
                    <a:solidFill>
                      <a:schemeClr val="tx1"/>
                    </a:solidFill>
                    <a:effectLst/>
                    <a:latin typeface="Segoe WPC"/>
                  </a:rPr>
                  <a:t>upfront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premium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𝑓</m:t>
                    </m:r>
                  </m:oMath>
                </a14:m>
                <a:r>
                  <a:rPr lang="es-PE" sz="900" b="0" i="0" dirty="0">
                    <a:solidFill>
                      <a:schemeClr val="tx1"/>
                    </a:solidFill>
                    <a:effectLst/>
                    <a:latin typeface="Segoe WPC"/>
                  </a:rPr>
                  <a:t>, </a:t>
                </a:r>
                <a:r>
                  <a:rPr lang="es-PE" sz="900" b="0" i="0" dirty="0" err="1">
                    <a:solidFill>
                      <a:schemeClr val="tx1"/>
                    </a:solidFill>
                    <a:effectLst/>
                    <a:latin typeface="Segoe WPC"/>
                  </a:rPr>
                  <a:t>deferred</a:t>
                </a:r>
                <a:r>
                  <a:rPr lang="es-PE" sz="900" b="0" i="0" dirty="0">
                    <a:solidFill>
                      <a:schemeClr val="tx1"/>
                    </a:solidFill>
                    <a:effectLst/>
                    <a:latin typeface="Segoe WPC"/>
                  </a:rPr>
                  <a:t> </a:t>
                </a:r>
                <a:r>
                  <a:rPr lang="es-PE" sz="900" b="0" i="0" dirty="0" err="1">
                    <a:solidFill>
                      <a:schemeClr val="tx1"/>
                    </a:solidFill>
                    <a:effectLst/>
                    <a:latin typeface="Segoe WPC"/>
                  </a:rPr>
                  <a:t>payment</a:t>
                </a:r>
                <a:r>
                  <a:rPr lang="es-PE" sz="900" b="0" i="0" dirty="0">
                    <a:solidFill>
                      <a:schemeClr val="tx1"/>
                    </a:solidFill>
                    <a:effectLst/>
                    <a:latin typeface="Segoe WPC"/>
                  </a:rPr>
                  <a:t> at </a:t>
                </a:r>
                <a:r>
                  <a:rPr lang="es-PE" sz="900" b="0" i="0" dirty="0" err="1">
                    <a:solidFill>
                      <a:schemeClr val="tx1"/>
                    </a:solidFill>
                    <a:effectLst/>
                    <a:latin typeface="Segoe WPC"/>
                  </a:rPr>
                  <a:t>maturity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𝑓</m:t>
                    </m:r>
                    <m:d>
                      <m:dPr>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𝑅</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1">
                                <a:solidFill>
                                  <a:schemeClr val="tx1"/>
                                </a:solidFill>
                                <a:latin typeface="Cambria Math" panose="02040503050406030204" pitchFamily="18" charset="0"/>
                              </a:rPr>
                              <m:t>𝑇</m:t>
                            </m:r>
                          </m:sup>
                        </m:sSup>
                      </m:e>
                    </m:d>
                  </m:oMath>
                </a14:m>
                <a:r>
                  <a:rPr lang="ar-AE" sz="900" b="0" i="0" dirty="0">
                    <a:solidFill>
                      <a:schemeClr val="tx1"/>
                    </a:solidFill>
                    <a:effectLst/>
                    <a:latin typeface="Segoe WPC"/>
                  </a:rPr>
                  <a:t>; </a:t>
                </a:r>
                <a:r>
                  <a:rPr lang="es-PE" sz="900" b="0" i="0" dirty="0" err="1">
                    <a:solidFill>
                      <a:schemeClr val="tx1"/>
                    </a:solidFill>
                    <a:effectLst/>
                    <a:latin typeface="Segoe WPC"/>
                  </a:rPr>
                  <a:t>zero-cost</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becomes</a:t>
                </a:r>
                <a:r>
                  <a:rPr lang="es-PE" sz="900" b="0" i="0" dirty="0">
                    <a:solidFill>
                      <a:schemeClr val="tx1"/>
                    </a:solidFill>
                    <a:effectLst/>
                    <a:latin typeface="Segoe WPC"/>
                  </a:rPr>
                  <a:t> </a:t>
                </a:r>
                <a14:m>
                  <m:oMath xmlns:m="http://schemas.openxmlformats.org/officeDocument/2006/math">
                    <m:r>
                      <m:rPr>
                        <m:sty m:val="p"/>
                      </m:rPr>
                      <a:rPr lang="es-PE" sz="90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𝐴</m:t>
                        </m:r>
                      </m:e>
                    </m:d>
                  </m:oMath>
                </a14:m>
                <a:r>
                  <a:rPr lang="ar-A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𝐴</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𝑐</m:t>
                    </m:r>
                    <m:d>
                      <m:dPr>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𝑅</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1">
                                <a:solidFill>
                                  <a:schemeClr val="tx1"/>
                                </a:solidFill>
                                <a:latin typeface="Cambria Math" panose="02040503050406030204" pitchFamily="18" charset="0"/>
                              </a:rPr>
                              <m:t>𝑇</m:t>
                            </m:r>
                          </m:sup>
                        </m:sSup>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Futures-</a:t>
                </a:r>
                <a:r>
                  <a:rPr lang="es-PE" sz="900" b="0" i="0" dirty="0" err="1">
                    <a:solidFill>
                      <a:schemeClr val="tx1"/>
                    </a:solidFill>
                    <a:effectLst/>
                    <a:latin typeface="Segoe WPC"/>
                  </a:rPr>
                  <a:t>style</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are a </a:t>
                </a:r>
                <a:r>
                  <a:rPr lang="es-PE" sz="900" b="0" i="0" dirty="0" err="1">
                    <a:solidFill>
                      <a:schemeClr val="tx1"/>
                    </a:solidFill>
                    <a:effectLst/>
                    <a:latin typeface="Segoe WPC"/>
                  </a:rPr>
                  <a:t>marked-to-market</a:t>
                </a:r>
                <a:r>
                  <a:rPr lang="es-PE" sz="900" b="0" i="0" dirty="0">
                    <a:solidFill>
                      <a:schemeClr val="tx1"/>
                    </a:solidFill>
                    <a:effectLst/>
                    <a:latin typeface="Segoe WPC"/>
                  </a:rPr>
                  <a:t> </a:t>
                </a:r>
                <a:r>
                  <a:rPr lang="es-PE" sz="900" b="0" i="0" dirty="0" err="1">
                    <a:solidFill>
                      <a:schemeClr val="tx1"/>
                    </a:solidFill>
                    <a:effectLst/>
                    <a:latin typeface="Segoe WPC"/>
                  </a:rPr>
                  <a:t>version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idea.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“Zero </a:t>
                </a:r>
                <a:r>
                  <a:rPr lang="es-PE" sz="900" b="0" i="0" dirty="0" err="1">
                    <a:solidFill>
                      <a:schemeClr val="tx1"/>
                    </a:solidFill>
                    <a:effectLst/>
                    <a:latin typeface="Segoe WPC"/>
                  </a:rPr>
                  <a:t>cost</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no </a:t>
                </a:r>
                <a:r>
                  <a:rPr lang="es-PE" sz="900" b="0" i="0" dirty="0" err="1">
                    <a:solidFill>
                      <a:schemeClr val="tx1"/>
                    </a:solidFill>
                    <a:effectLst/>
                    <a:latin typeface="Segoe WPC"/>
                  </a:rPr>
                  <a:t>upfront</a:t>
                </a:r>
                <a:r>
                  <a:rPr lang="es-PE" sz="900" b="0" i="0" dirty="0">
                    <a:solidFill>
                      <a:schemeClr val="tx1"/>
                    </a:solidFill>
                    <a:effectLst/>
                    <a:latin typeface="Segoe WPC"/>
                  </a:rPr>
                  <a:t> premium,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economic</a:t>
                </a:r>
                <a:r>
                  <a:rPr lang="es-PE" sz="900" b="0" i="0" dirty="0">
                    <a:solidFill>
                      <a:schemeClr val="tx1"/>
                    </a:solidFill>
                    <a:effectLst/>
                    <a:latin typeface="Segoe WPC"/>
                  </a:rPr>
                  <a:t> </a:t>
                </a:r>
                <a:r>
                  <a:rPr lang="es-PE" sz="900" b="0" i="0" dirty="0" err="1">
                    <a:solidFill>
                      <a:schemeClr val="tx1"/>
                    </a:solidFill>
                    <a:effectLst/>
                    <a:latin typeface="Segoe WPC"/>
                  </a:rPr>
                  <a:t>cost</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4. Non-Standard American and Forward </a:t>
                </a:r>
                <a:r>
                  <a:rPr lang="es-PE" sz="900" b="1" i="0" dirty="0" err="1">
                    <a:solidFill>
                      <a:schemeClr val="tx1"/>
                    </a:solidFill>
                    <a:effectLst/>
                    <a:latin typeface="Segoe WPC"/>
                  </a:rPr>
                  <a:t>Start</a:t>
                </a:r>
                <a:r>
                  <a:rPr lang="es-PE" sz="900" b="1" i="0" dirty="0">
                    <a:solidFill>
                      <a:schemeClr val="tx1"/>
                    </a:solidFill>
                    <a:effectLst/>
                    <a:latin typeface="Segoe WPC"/>
                  </a:rPr>
                  <a:t> </a:t>
                </a:r>
                <a:r>
                  <a:rPr lang="es-PE" sz="900" b="1" i="0" dirty="0" err="1">
                    <a:solidFill>
                      <a:schemeClr val="tx1"/>
                    </a:solidFill>
                    <a:effectLst/>
                    <a:latin typeface="Segoe WPC"/>
                  </a:rPr>
                  <a:t>Options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Standard American </a:t>
                </a:r>
                <a:r>
                  <a:rPr lang="es-PE" sz="900" b="0" i="0" dirty="0" err="1">
                    <a:solidFill>
                      <a:schemeClr val="tx1"/>
                    </a:solidFill>
                    <a:effectLst/>
                    <a:latin typeface="Segoe WPC"/>
                  </a:rPr>
                  <a:t>options</a:t>
                </a:r>
                <a:r>
                  <a:rPr lang="es-PE" sz="900" b="0" i="0" dirty="0">
                    <a:solidFill>
                      <a:schemeClr val="tx1"/>
                    </a:solidFill>
                    <a:effectLst/>
                    <a:latin typeface="Segoe WPC"/>
                  </a:rPr>
                  <a:t> can be </a:t>
                </a:r>
                <a:r>
                  <a:rPr lang="es-PE" sz="900" b="0" i="0" dirty="0" err="1">
                    <a:solidFill>
                      <a:schemeClr val="tx1"/>
                    </a:solidFill>
                    <a:effectLst/>
                    <a:latin typeface="Segoe WPC"/>
                  </a:rPr>
                  <a:t>modified</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Bermudan</a:t>
                </a:r>
                <a:r>
                  <a:rPr lang="es-PE" sz="900" b="0" i="0" dirty="0">
                    <a:solidFill>
                      <a:schemeClr val="tx1"/>
                    </a:solidFill>
                    <a:effectLst/>
                    <a:latin typeface="Segoe WPC"/>
                  </a:rPr>
                  <a:t>, lockout-</a:t>
                </a:r>
                <a:r>
                  <a:rPr lang="es-PE" sz="900" b="0" i="0" dirty="0" err="1">
                    <a:solidFill>
                      <a:schemeClr val="tx1"/>
                    </a:solidFill>
                    <a:effectLst/>
                    <a:latin typeface="Segoe WPC"/>
                  </a:rPr>
                  <a:t>period</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changing</a:t>
                </a:r>
                <a:r>
                  <a:rPr lang="es-PE" sz="900" b="0" i="0" dirty="0">
                    <a:solidFill>
                      <a:schemeClr val="tx1"/>
                    </a:solidFill>
                    <a:effectLst/>
                    <a:latin typeface="Segoe WPC"/>
                  </a:rPr>
                  <a:t>-strike </a:t>
                </a:r>
                <a:r>
                  <a:rPr lang="es-PE" sz="900" b="0" i="0" dirty="0" err="1">
                    <a:solidFill>
                      <a:schemeClr val="tx1"/>
                    </a:solidFill>
                    <a:effectLst/>
                    <a:latin typeface="Segoe WPC"/>
                  </a:rPr>
                  <a:t>options</a:t>
                </a:r>
                <a:r>
                  <a:rPr lang="es-PE" sz="900" b="0" i="0" dirty="0">
                    <a:solidFill>
                      <a:schemeClr val="tx1"/>
                    </a:solidFill>
                    <a:effectLst/>
                    <a:latin typeface="Segoe WPC"/>
                  </a:rPr>
                  <a:t>; forward </a:t>
                </a:r>
                <a:r>
                  <a:rPr lang="es-PE" sz="900" b="0" i="0" dirty="0" err="1">
                    <a:solidFill>
                      <a:schemeClr val="tx1"/>
                    </a:solidFill>
                    <a:effectLst/>
                    <a:latin typeface="Segoe WPC"/>
                  </a:rPr>
                  <a:t>start</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begin</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future.</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Exercise</a:t>
                </a:r>
                <a:r>
                  <a:rPr lang="es-PE" sz="900" b="0" i="0" dirty="0">
                    <a:solidFill>
                      <a:schemeClr val="tx1"/>
                    </a:solidFill>
                    <a:effectLst/>
                    <a:latin typeface="Segoe WPC"/>
                  </a:rPr>
                  <a:t> </a:t>
                </a:r>
                <a:r>
                  <a:rPr lang="es-PE" sz="900" b="0" i="0" dirty="0" err="1">
                    <a:solidFill>
                      <a:schemeClr val="tx1"/>
                    </a:solidFill>
                    <a:effectLst/>
                    <a:latin typeface="Segoe WPC"/>
                  </a:rPr>
                  <a:t>rights</a:t>
                </a:r>
                <a:r>
                  <a:rPr lang="es-PE" sz="900" b="0" i="0" dirty="0">
                    <a:solidFill>
                      <a:schemeClr val="tx1"/>
                    </a:solidFill>
                    <a:effectLst/>
                    <a:latin typeface="Segoe WPC"/>
                  </a:rPr>
                  <a:t> can be </a:t>
                </a:r>
                <a:r>
                  <a:rPr lang="es-PE" sz="900" b="0" i="0" dirty="0" err="1">
                    <a:solidFill>
                      <a:schemeClr val="tx1"/>
                    </a:solidFill>
                    <a:effectLst/>
                    <a:latin typeface="Segoe WPC"/>
                  </a:rPr>
                  <a:t>restricted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certain</a:t>
                </a:r>
                <a:r>
                  <a:rPr lang="es-PE" sz="900" b="0" i="0" dirty="0">
                    <a:solidFill>
                      <a:schemeClr val="tx1"/>
                    </a:solidFill>
                    <a:effectLst/>
                    <a:latin typeface="Segoe WPC"/>
                  </a:rPr>
                  <a:t> dates, </a:t>
                </a:r>
                <a:r>
                  <a:rPr lang="es-PE" sz="900" b="0" i="0" dirty="0" err="1">
                    <a:solidFill>
                      <a:schemeClr val="tx1"/>
                    </a:solidFill>
                    <a:effectLst/>
                    <a:latin typeface="Segoe WPC"/>
                  </a:rPr>
                  <a:t>delayed</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made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later</a:t>
                </a:r>
                <a:r>
                  <a:rPr lang="es-PE" sz="900" b="0" i="0" dirty="0">
                    <a:solidFill>
                      <a:schemeClr val="tx1"/>
                    </a:solidFill>
                    <a:effectLst/>
                    <a:latin typeface="Segoe WPC"/>
                  </a:rPr>
                  <a:t> </a:t>
                </a:r>
                <a:r>
                  <a:rPr lang="es-PE" sz="900" b="0" i="0" dirty="0" err="1">
                    <a:solidFill>
                      <a:schemeClr val="tx1"/>
                    </a:solidFill>
                    <a:effectLst/>
                    <a:latin typeface="Segoe WPC"/>
                  </a:rPr>
                  <a:t>conditions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Bermudan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European</a:t>
                </a:r>
                <a:r>
                  <a:rPr lang="es-PE" sz="900" b="0" i="0" dirty="0">
                    <a:solidFill>
                      <a:schemeClr val="tx1"/>
                    </a:solidFill>
                    <a:effectLst/>
                    <a:latin typeface="Segoe WPC"/>
                  </a:rPr>
                  <a:t> and American; a forward </a:t>
                </a:r>
                <a:r>
                  <a:rPr lang="es-PE" sz="900" b="0" i="0" dirty="0" err="1">
                    <a:solidFill>
                      <a:schemeClr val="tx1"/>
                    </a:solidFill>
                    <a:effectLst/>
                    <a:latin typeface="Segoe WPC"/>
                  </a:rPr>
                  <a:t>start</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buying</a:t>
                </a:r>
                <a:r>
                  <a:rPr lang="es-PE" sz="900" b="0" i="0" dirty="0">
                    <a:solidFill>
                      <a:schemeClr val="tx1"/>
                    </a:solidFill>
                    <a:effectLst/>
                    <a:latin typeface="Segoe WPC"/>
                  </a:rPr>
                  <a:t> </a:t>
                </a:r>
                <a:r>
                  <a:rPr lang="es-PE" sz="900" b="0" i="0" dirty="0" err="1">
                    <a:solidFill>
                      <a:schemeClr val="tx1"/>
                    </a:solidFill>
                    <a:effectLst/>
                    <a:latin typeface="Segoe WPC"/>
                  </a:rPr>
                  <a:t>tomorrow’s</a:t>
                </a:r>
                <a:r>
                  <a:rPr lang="es-PE" sz="900" b="0" i="0" dirty="0">
                    <a:solidFill>
                      <a:schemeClr val="tx1"/>
                    </a:solidFill>
                    <a:effectLst/>
                    <a:latin typeface="Segoe WPC"/>
                  </a:rPr>
                  <a:t> at-</a:t>
                </a:r>
                <a:r>
                  <a:rPr lang="es-PE" sz="900" b="0" i="0" dirty="0" err="1">
                    <a:solidFill>
                      <a:schemeClr val="tx1"/>
                    </a:solidFill>
                    <a:effectLst/>
                    <a:latin typeface="Segoe WPC"/>
                  </a:rPr>
                  <a:t>the</a:t>
                </a:r>
                <a:r>
                  <a:rPr lang="es-PE" sz="900" b="0" i="0" dirty="0">
                    <a:solidFill>
                      <a:schemeClr val="tx1"/>
                    </a:solidFill>
                    <a:effectLst/>
                    <a:latin typeface="Segoe WPC"/>
                  </a:rPr>
                  <a:t>-</a:t>
                </a:r>
                <a:r>
                  <a:rPr lang="es-PE" sz="900" b="0" i="0" dirty="0" err="1">
                    <a:solidFill>
                      <a:schemeClr val="tx1"/>
                    </a:solidFill>
                    <a:effectLst/>
                    <a:latin typeface="Segoe WPC"/>
                  </a:rPr>
                  <a:t>money</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today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Forward </a:t>
                </a:r>
                <a:r>
                  <a:rPr lang="es-PE" sz="900" b="0" i="0" dirty="0" err="1">
                    <a:solidFill>
                      <a:schemeClr val="tx1"/>
                    </a:solidFill>
                    <a:effectLst/>
                    <a:latin typeface="Segoe WPC"/>
                  </a:rPr>
                  <a:t>start</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are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specified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start</a:t>
                </a:r>
                <a:r>
                  <a:rPr lang="es-PE" sz="900" b="0" i="0" dirty="0">
                    <a:solidFill>
                      <a:schemeClr val="tx1"/>
                    </a:solidFill>
                    <a:effectLst/>
                    <a:latin typeface="Segoe WPC"/>
                  </a:rPr>
                  <a:t> at future time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𝑡</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strike set </a:t>
                </a:r>
                <a:r>
                  <a:rPr lang="es-PE" sz="900" b="0" i="0" dirty="0" err="1">
                    <a:solidFill>
                      <a:schemeClr val="tx1"/>
                    </a:solidFill>
                    <a:effectLst/>
                    <a:latin typeface="Segoe WPC"/>
                  </a:rPr>
                  <a:t>near</a:t>
                </a:r>
                <a:r>
                  <a:rPr lang="es-PE" sz="900" b="0" i="0" dirty="0">
                    <a:solidFill>
                      <a:schemeClr val="tx1"/>
                    </a:solidFill>
                    <a:effectLst/>
                    <a:latin typeface="Segoe WPC"/>
                  </a:rPr>
                  <a:t> spot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𝑡</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t>
                </a:r>
                <a:r>
                  <a:rPr lang="es-PE" sz="900" b="0" i="0" dirty="0" err="1">
                    <a:solidFill>
                      <a:schemeClr val="tx1"/>
                    </a:solidFill>
                    <a:effectLst/>
                    <a:latin typeface="Segoe WPC"/>
                  </a:rPr>
                  <a:t>products</a:t>
                </a:r>
                <a:r>
                  <a:rPr lang="es-PE" sz="900" b="0" i="0" dirty="0">
                    <a:solidFill>
                      <a:schemeClr val="tx1"/>
                    </a:solidFill>
                    <a:effectLst/>
                    <a:latin typeface="Segoe WPC"/>
                  </a:rPr>
                  <a:t> are </a:t>
                </a:r>
                <a:r>
                  <a:rPr lang="es-PE" sz="900" b="0" i="0" dirty="0" err="1">
                    <a:solidFill>
                      <a:schemeClr val="tx1"/>
                    </a:solidFill>
                    <a:effectLst/>
                    <a:latin typeface="Segoe WPC"/>
                  </a:rPr>
                  <a:t>useful</a:t>
                </a:r>
                <a:r>
                  <a:rPr lang="es-PE" sz="900" b="0" i="0" dirty="0">
                    <a:solidFill>
                      <a:schemeClr val="tx1"/>
                    </a:solidFill>
                    <a:effectLst/>
                    <a:latin typeface="Segoe WPC"/>
                  </a:rPr>
                  <a:t> in </a:t>
                </a:r>
                <a:r>
                  <a:rPr lang="es-PE" sz="900" b="0" i="0" dirty="0" err="1">
                    <a:solidFill>
                      <a:schemeClr val="tx1"/>
                    </a:solidFill>
                    <a:effectLst/>
                    <a:latin typeface="Segoe WPC"/>
                  </a:rPr>
                  <a:t>employee</a:t>
                </a:r>
                <a:r>
                  <a:rPr lang="es-PE" sz="900" b="0" i="0" dirty="0">
                    <a:solidFill>
                      <a:schemeClr val="tx1"/>
                    </a:solidFill>
                    <a:effectLst/>
                    <a:latin typeface="Segoe WPC"/>
                  </a:rPr>
                  <a:t> </a:t>
                </a:r>
                <a:r>
                  <a:rPr lang="es-PE" sz="900" b="0" i="0" dirty="0" err="1">
                    <a:solidFill>
                      <a:schemeClr val="tx1"/>
                    </a:solidFill>
                    <a:effectLst/>
                    <a:latin typeface="Segoe WPC"/>
                  </a:rPr>
                  <a:t>compensation</a:t>
                </a:r>
                <a:r>
                  <a:rPr lang="es-PE" sz="900" b="0" i="0" dirty="0">
                    <a:solidFill>
                      <a:schemeClr val="tx1"/>
                    </a:solidFill>
                    <a:effectLst/>
                    <a:latin typeface="Segoe WPC"/>
                  </a:rPr>
                  <a:t>, </a:t>
                </a:r>
                <a:r>
                  <a:rPr lang="es-PE" sz="900" b="0" i="0" dirty="0" err="1">
                    <a:solidFill>
                      <a:schemeClr val="tx1"/>
                    </a:solidFill>
                    <a:effectLst/>
                    <a:latin typeface="Segoe WPC"/>
                  </a:rPr>
                  <a:t>callable</a:t>
                </a:r>
                <a:r>
                  <a:rPr lang="es-PE" sz="900" b="0" i="0" dirty="0">
                    <a:solidFill>
                      <a:schemeClr val="tx1"/>
                    </a:solidFill>
                    <a:effectLst/>
                    <a:latin typeface="Segoe WPC"/>
                  </a:rPr>
                  <a:t> </a:t>
                </a:r>
                <a:r>
                  <a:rPr lang="es-PE" sz="900" b="0" i="0" dirty="0" err="1">
                    <a:solidFill>
                      <a:schemeClr val="tx1"/>
                    </a:solidFill>
                    <a:effectLst/>
                    <a:latin typeface="Segoe WPC"/>
                  </a:rPr>
                  <a:t>bonds</a:t>
                </a:r>
                <a:r>
                  <a:rPr lang="es-PE" sz="900" b="0" i="0" dirty="0">
                    <a:solidFill>
                      <a:schemeClr val="tx1"/>
                    </a:solidFill>
                    <a:effectLst/>
                    <a:latin typeface="Segoe WPC"/>
                  </a:rPr>
                  <a:t>, and </a:t>
                </a:r>
                <a:r>
                  <a:rPr lang="es-PE" sz="900" b="0" i="0" dirty="0" err="1">
                    <a:solidFill>
                      <a:schemeClr val="tx1"/>
                    </a:solidFill>
                    <a:effectLst/>
                    <a:latin typeface="Segoe WPC"/>
                  </a:rPr>
                  <a:t>structured</a:t>
                </a:r>
                <a:r>
                  <a:rPr lang="es-PE" sz="900" b="0" i="0" dirty="0">
                    <a:solidFill>
                      <a:schemeClr val="tx1"/>
                    </a:solidFill>
                    <a:effectLst/>
                    <a:latin typeface="Segoe WPC"/>
                  </a:rPr>
                  <a:t> </a:t>
                </a:r>
                <a:r>
                  <a:rPr lang="es-PE" sz="900" b="0" i="0" dirty="0" err="1">
                    <a:solidFill>
                      <a:schemeClr val="tx1"/>
                    </a:solidFill>
                    <a:effectLst/>
                    <a:latin typeface="Segoe WPC"/>
                  </a:rPr>
                  <a:t>products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forward </a:t>
                </a:r>
                <a:r>
                  <a:rPr lang="es-PE" sz="900" b="0" i="0" dirty="0" err="1">
                    <a:solidFill>
                      <a:schemeClr val="tx1"/>
                    </a:solidFill>
                    <a:effectLst/>
                    <a:latin typeface="Segoe WPC"/>
                  </a:rPr>
                  <a:t>start</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begin</a:t>
                </a:r>
                <a:r>
                  <a:rPr lang="es-PE" sz="900" b="0" i="0" dirty="0">
                    <a:solidFill>
                      <a:schemeClr val="tx1"/>
                    </a:solidFill>
                    <a:effectLst/>
                    <a:latin typeface="Segoe WPC"/>
                  </a:rPr>
                  <a:t> </a:t>
                </a:r>
                <a:r>
                  <a:rPr lang="es-PE" sz="900" b="0" i="0" dirty="0" err="1">
                    <a:solidFill>
                      <a:schemeClr val="tx1"/>
                    </a:solidFill>
                    <a:effectLst/>
                    <a:latin typeface="Segoe WPC"/>
                  </a:rPr>
                  <a:t>now</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strike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typically</a:t>
                </a:r>
                <a:r>
                  <a:rPr lang="es-PE" sz="900" b="0" i="0" dirty="0">
                    <a:solidFill>
                      <a:schemeClr val="tx1"/>
                    </a:solidFill>
                    <a:effectLst/>
                    <a:latin typeface="Segoe WPC"/>
                  </a:rPr>
                  <a:t> </a:t>
                </a:r>
                <a:r>
                  <a:rPr lang="es-PE" sz="900" b="0" i="0" dirty="0" err="1">
                    <a:solidFill>
                      <a:schemeClr val="tx1"/>
                    </a:solidFill>
                    <a:effectLst/>
                    <a:latin typeface="Segoe WPC"/>
                  </a:rPr>
                  <a:t>determined</a:t>
                </a:r>
                <a:r>
                  <a:rPr lang="es-PE" sz="900" b="0" i="0" dirty="0">
                    <a:solidFill>
                      <a:schemeClr val="tx1"/>
                    </a:solidFill>
                    <a:effectLst/>
                    <a:latin typeface="Segoe WPC"/>
                  </a:rPr>
                  <a:t> </a:t>
                </a:r>
                <a:r>
                  <a:rPr lang="es-PE" sz="900" b="0" i="0" dirty="0" err="1">
                    <a:solidFill>
                      <a:schemeClr val="tx1"/>
                    </a:solidFill>
                    <a:effectLst/>
                    <a:latin typeface="Segoe WPC"/>
                  </a:rPr>
                  <a:t>later</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5. Gap, </a:t>
                </a:r>
                <a:r>
                  <a:rPr lang="es-PE" sz="900" b="1" i="0" dirty="0" err="1">
                    <a:solidFill>
                      <a:schemeClr val="tx1"/>
                    </a:solidFill>
                    <a:effectLst/>
                    <a:latin typeface="Segoe WPC"/>
                  </a:rPr>
                  <a:t>Chooser</a:t>
                </a:r>
                <a:r>
                  <a:rPr lang="es-PE" sz="900" b="1" i="0" dirty="0">
                    <a:solidFill>
                      <a:schemeClr val="tx1"/>
                    </a:solidFill>
                    <a:effectLst/>
                    <a:latin typeface="Segoe WPC"/>
                  </a:rPr>
                  <a:t>, </a:t>
                </a:r>
                <a:r>
                  <a:rPr lang="es-PE" sz="900" b="1" i="0" dirty="0" err="1">
                    <a:solidFill>
                      <a:schemeClr val="tx1"/>
                    </a:solidFill>
                    <a:effectLst/>
                    <a:latin typeface="Segoe WPC"/>
                  </a:rPr>
                  <a:t>Cliquet</a:t>
                </a:r>
                <a:r>
                  <a:rPr lang="es-PE" sz="900" b="1" i="0" dirty="0">
                    <a:solidFill>
                      <a:schemeClr val="tx1"/>
                    </a:solidFill>
                    <a:effectLst/>
                    <a:latin typeface="Segoe WPC"/>
                  </a:rPr>
                  <a:t>, and </a:t>
                </a:r>
                <a:r>
                  <a:rPr lang="es-PE" sz="900" b="1" i="0" dirty="0" err="1">
                    <a:solidFill>
                      <a:schemeClr val="tx1"/>
                    </a:solidFill>
                    <a:effectLst/>
                    <a:latin typeface="Segoe WPC"/>
                  </a:rPr>
                  <a:t>Compound</a:t>
                </a:r>
                <a:r>
                  <a:rPr lang="es-PE" sz="900" b="1" i="0" dirty="0">
                    <a:solidFill>
                      <a:schemeClr val="tx1"/>
                    </a:solidFill>
                    <a:effectLst/>
                    <a:latin typeface="Segoe WPC"/>
                  </a:rPr>
                  <a:t> </a:t>
                </a:r>
                <a:r>
                  <a:rPr lang="es-PE" sz="900" b="1" i="0" dirty="0" err="1">
                    <a:solidFill>
                      <a:schemeClr val="tx1"/>
                    </a:solidFill>
                    <a:effectLst/>
                    <a:latin typeface="Segoe WPC"/>
                  </a:rPr>
                  <a:t>Options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t>
                </a:r>
                <a:r>
                  <a:rPr lang="es-PE" sz="900" b="0" i="0" dirty="0" err="1">
                    <a:solidFill>
                      <a:schemeClr val="tx1"/>
                    </a:solidFill>
                    <a:effectLst/>
                    <a:latin typeface="Segoe WPC"/>
                  </a:rPr>
                  <a:t>exotics</a:t>
                </a:r>
                <a:r>
                  <a:rPr lang="es-PE" sz="900" b="0" i="0" dirty="0">
                    <a:solidFill>
                      <a:schemeClr val="tx1"/>
                    </a:solidFill>
                    <a:effectLst/>
                    <a:latin typeface="Segoe WPC"/>
                  </a:rPr>
                  <a:t> </a:t>
                </a:r>
                <a:r>
                  <a:rPr lang="es-PE" sz="900" b="0" i="0" dirty="0" err="1">
                    <a:solidFill>
                      <a:schemeClr val="tx1"/>
                    </a:solidFill>
                    <a:effectLst/>
                    <a:latin typeface="Segoe WPC"/>
                  </a:rPr>
                  <a:t>modify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timing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definition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trigger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gap </a:t>
                </a:r>
                <a:r>
                  <a:rPr lang="es-PE" sz="900" b="0" i="0" dirty="0" err="1">
                    <a:solidFill>
                      <a:schemeClr val="tx1"/>
                    </a:solidFill>
                    <a:effectLst/>
                    <a:latin typeface="Segoe WPC"/>
                  </a:rPr>
                  <a:t>option</a:t>
                </a:r>
                <a:r>
                  <a:rPr lang="es-PE" sz="900" b="0" i="0" dirty="0">
                    <a:solidFill>
                      <a:schemeClr val="tx1"/>
                    </a:solidFill>
                    <a:effectLst/>
                    <a:latin typeface="Segoe WPC"/>
                  </a:rPr>
                  <a:t> uses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trigger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and </a:t>
                </a:r>
                <a:r>
                  <a:rPr lang="es-PE" sz="900" b="0" i="0" dirty="0" err="1">
                    <a:solidFill>
                      <a:schemeClr val="tx1"/>
                    </a:solidFill>
                    <a:effectLst/>
                    <a:latin typeface="Segoe WPC"/>
                  </a:rPr>
                  <a:t>another</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calculate</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 </a:t>
                </a:r>
                <a:r>
                  <a:rPr lang="es-PE" sz="900" b="0" i="0" dirty="0" err="1">
                    <a:solidFill>
                      <a:schemeClr val="tx1"/>
                    </a:solidFill>
                    <a:effectLst/>
                    <a:latin typeface="Segoe WPC"/>
                  </a:rPr>
                  <a:t>chooser</a:t>
                </a:r>
                <a:r>
                  <a:rPr lang="es-PE" sz="900" b="0" i="0" dirty="0">
                    <a:solidFill>
                      <a:schemeClr val="tx1"/>
                    </a:solidFill>
                    <a:effectLst/>
                    <a:latin typeface="Segoe WPC"/>
                  </a:rPr>
                  <a:t> </a:t>
                </a:r>
                <a:r>
                  <a:rPr lang="es-PE" sz="900" b="0" i="0" dirty="0" err="1">
                    <a:solidFill>
                      <a:schemeClr val="tx1"/>
                    </a:solidFill>
                    <a:effectLst/>
                    <a:latin typeface="Segoe WPC"/>
                  </a:rPr>
                  <a:t>lets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holder</a:t>
                </a:r>
                <a:r>
                  <a:rPr lang="es-PE" sz="900" b="0" i="0" dirty="0">
                    <a:solidFill>
                      <a:schemeClr val="tx1"/>
                    </a:solidFill>
                    <a:effectLst/>
                    <a:latin typeface="Segoe WPC"/>
                  </a:rPr>
                  <a:t> decide </a:t>
                </a:r>
                <a:r>
                  <a:rPr lang="es-PE" sz="900" b="0" i="0" dirty="0" err="1">
                    <a:solidFill>
                      <a:schemeClr val="tx1"/>
                    </a:solidFill>
                    <a:effectLst/>
                    <a:latin typeface="Segoe WPC"/>
                  </a:rPr>
                  <a:t>later</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a </a:t>
                </a:r>
                <a:r>
                  <a:rPr lang="es-PE" sz="900" b="0" i="0" dirty="0" err="1">
                    <a:solidFill>
                      <a:schemeClr val="tx1"/>
                    </a:solidFill>
                    <a:effectLst/>
                    <a:latin typeface="Segoe WPC"/>
                  </a:rPr>
                  <a:t>cliquet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series </a:t>
                </a:r>
                <a:r>
                  <a:rPr lang="es-PE" sz="900" b="0" i="0" dirty="0" err="1">
                    <a:solidFill>
                      <a:schemeClr val="tx1"/>
                    </a:solidFill>
                    <a:effectLst/>
                    <a:latin typeface="Segoe WPC"/>
                  </a:rPr>
                  <a:t>of</a:t>
                </a:r>
                <a:r>
                  <a:rPr lang="es-PE" sz="900" b="0" i="0" dirty="0">
                    <a:solidFill>
                      <a:schemeClr val="tx1"/>
                    </a:solidFill>
                    <a:effectLst/>
                    <a:latin typeface="Segoe WPC"/>
                  </a:rPr>
                  <a:t> forward </a:t>
                </a:r>
                <a:r>
                  <a:rPr lang="es-PE" sz="900" b="0" i="0" dirty="0" err="1">
                    <a:solidFill>
                      <a:schemeClr val="tx1"/>
                    </a:solidFill>
                    <a:effectLst/>
                    <a:latin typeface="Segoe WPC"/>
                  </a:rPr>
                  <a:t>starts</a:t>
                </a:r>
                <a:r>
                  <a:rPr lang="es-PE" sz="900" b="0" i="0" dirty="0">
                    <a:solidFill>
                      <a:schemeClr val="tx1"/>
                    </a:solidFill>
                    <a:effectLst/>
                    <a:latin typeface="Segoe WPC"/>
                  </a:rPr>
                  <a:t>; a </a:t>
                </a:r>
                <a:r>
                  <a:rPr lang="es-PE" sz="900" b="0" i="0" dirty="0" err="1">
                    <a:solidFill>
                      <a:schemeClr val="tx1"/>
                    </a:solidFill>
                    <a:effectLst/>
                    <a:latin typeface="Segoe WPC"/>
                  </a:rPr>
                  <a:t>compound</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separate</a:t>
                </a:r>
                <a:r>
                  <a:rPr lang="es-PE" sz="900" b="0" i="0" dirty="0">
                    <a:solidFill>
                      <a:schemeClr val="tx1"/>
                    </a:solidFill>
                    <a:effectLst/>
                    <a:latin typeface="Segoe WPC"/>
                  </a:rPr>
                  <a:t> </a:t>
                </a:r>
                <a:r>
                  <a:rPr lang="es-PE" sz="900" b="0" i="0" dirty="0" err="1">
                    <a:solidFill>
                      <a:schemeClr val="tx1"/>
                    </a:solidFill>
                    <a:effectLst/>
                    <a:latin typeface="Segoe WPC"/>
                  </a:rPr>
                  <a:t>decision</a:t>
                </a:r>
                <a:r>
                  <a:rPr lang="es-PE" sz="900" b="0" i="0" dirty="0">
                    <a:solidFill>
                      <a:schemeClr val="tx1"/>
                    </a:solidFill>
                    <a:effectLst/>
                    <a:latin typeface="Segoe WPC"/>
                  </a:rPr>
                  <a:t> </a:t>
                </a:r>
                <a:r>
                  <a:rPr lang="es-PE" sz="900" b="0" i="0" dirty="0" err="1">
                    <a:solidFill>
                      <a:schemeClr val="tx1"/>
                    </a:solidFill>
                    <a:effectLst/>
                    <a:latin typeface="Segoe WPC"/>
                  </a:rPr>
                  <a:t>points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final </a:t>
                </a:r>
                <a:r>
                  <a:rPr lang="es-PE" sz="900" b="0" i="0" dirty="0" err="1">
                    <a:solidFill>
                      <a:schemeClr val="tx1"/>
                    </a:solidFill>
                    <a:effectLst/>
                    <a:latin typeface="Segoe WPC"/>
                  </a:rPr>
                  <a:t>payoff</a:t>
                </a:r>
                <a:r>
                  <a:rPr lang="es-PE" sz="900" b="0" i="0" dirty="0">
                    <a:solidFill>
                      <a:schemeClr val="tx1"/>
                    </a:solidFill>
                    <a:effectLst/>
                    <a:latin typeface="Segoe WPC"/>
                  </a:rPr>
                  <a:t> in </a:t>
                </a:r>
                <a:r>
                  <a:rPr lang="es-PE" sz="900" b="0" i="0" dirty="0" err="1">
                    <a:solidFill>
                      <a:schemeClr val="tx1"/>
                    </a:solidFill>
                    <a:effectLst/>
                    <a:latin typeface="Segoe WPC"/>
                  </a:rPr>
                  <a:t>ways</a:t>
                </a:r>
                <a:r>
                  <a:rPr lang="es-PE" sz="900" b="0" i="0" dirty="0">
                    <a:solidFill>
                      <a:schemeClr val="tx1"/>
                    </a:solidFill>
                    <a:effectLst/>
                    <a:latin typeface="Segoe WPC"/>
                  </a:rPr>
                  <a:t> </a:t>
                </a:r>
                <a:r>
                  <a:rPr lang="es-PE" sz="900" b="0" i="0" dirty="0" err="1">
                    <a:solidFill>
                      <a:schemeClr val="tx1"/>
                    </a:solidFill>
                    <a:effectLst/>
                    <a:latin typeface="Segoe WPC"/>
                  </a:rPr>
                  <a:t>vanilla</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Gap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&gt;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err="1">
                    <a:solidFill>
                      <a:schemeClr val="tx1"/>
                    </a:solidFill>
                    <a:effectLst/>
                    <a:latin typeface="Segoe WPC"/>
                  </a:rPr>
                  <a:t>else</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0</m:t>
                    </m:r>
                  </m:oMath>
                </a14:m>
                <a:r>
                  <a:rPr lang="es-PE" sz="900" b="0" i="0" dirty="0">
                    <a:solidFill>
                      <a:schemeClr val="tx1"/>
                    </a:solidFill>
                    <a:effectLst/>
                    <a:latin typeface="Segoe WPC"/>
                  </a:rPr>
                  <a:t>; gap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𝐾</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err="1">
                    <a:solidFill>
                      <a:schemeClr val="tx1"/>
                    </a:solidFill>
                    <a:effectLst/>
                    <a:latin typeface="Segoe WPC"/>
                  </a:rPr>
                  <a:t>else</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0</m:t>
                    </m:r>
                  </m:oMath>
                </a14:m>
                <a:r>
                  <a:rPr lang="es-PE" sz="900" b="0" i="0" dirty="0">
                    <a:solidFill>
                      <a:schemeClr val="tx1"/>
                    </a:solidFill>
                    <a:effectLst/>
                    <a:latin typeface="Segoe WPC"/>
                  </a:rPr>
                  <a:t>. </a:t>
                </a:r>
                <a:r>
                  <a:rPr lang="es-PE" sz="900" b="0" i="0" dirty="0" err="1">
                    <a:solidFill>
                      <a:schemeClr val="tx1"/>
                    </a:solidFill>
                    <a:effectLst/>
                    <a:latin typeface="Segoe WPC"/>
                  </a:rPr>
                  <a:t>Chooser</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t>
                </a:r>
                <a:r>
                  <a:rPr lang="es-PE" sz="900" b="0" i="0" dirty="0" err="1">
                    <a:solidFill>
                      <a:schemeClr val="tx1"/>
                    </a:solidFill>
                    <a:effectLst/>
                    <a:latin typeface="Segoe WPC"/>
                  </a:rPr>
                  <a:t>decision</a:t>
                </a:r>
                <a:r>
                  <a:rPr lang="es-PE" sz="900" b="0" i="0" dirty="0">
                    <a:solidFill>
                      <a:schemeClr val="tx1"/>
                    </a:solidFill>
                    <a:effectLst/>
                    <a:latin typeface="Segoe WPC"/>
                  </a:rPr>
                  <a:t> time </a:t>
                </a:r>
                <a14:m>
                  <m:oMath xmlns:m="http://schemas.openxmlformats.org/officeDocument/2006/math">
                    <m:r>
                      <a:rPr lang="es-PE" sz="90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𝑐</m:t>
                        </m:r>
                      </m:e>
                      <m:e>
                        <m:r>
                          <a:rPr lang="ar-AE" sz="900" i="1">
                            <a:solidFill>
                              <a:schemeClr val="tx1"/>
                            </a:solidFill>
                            <a:latin typeface="Cambria Math" panose="02040503050406030204" pitchFamily="18" charset="0"/>
                          </a:rPr>
                          <m:t>𝑝</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Compound</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provide</a:t>
                </a:r>
                <a:r>
                  <a:rPr lang="es-PE" sz="900" b="0" i="0" dirty="0">
                    <a:solidFill>
                      <a:schemeClr val="tx1"/>
                    </a:solidFill>
                    <a:effectLst/>
                    <a:latin typeface="Segoe WPC"/>
                  </a:rPr>
                  <a:t> extra </a:t>
                </a:r>
                <a:r>
                  <a:rPr lang="es-PE" sz="900" b="0" i="0" dirty="0" err="1">
                    <a:solidFill>
                      <a:schemeClr val="tx1"/>
                    </a:solidFill>
                    <a:effectLst/>
                    <a:latin typeface="Segoe WPC"/>
                  </a:rPr>
                  <a:t>leverage</a:t>
                </a:r>
                <a:r>
                  <a:rPr lang="es-PE" sz="900" b="0" i="0" dirty="0">
                    <a:solidFill>
                      <a:schemeClr val="tx1"/>
                    </a:solidFill>
                    <a:effectLst/>
                    <a:latin typeface="Segoe WPC"/>
                  </a:rPr>
                  <a:t>; </a:t>
                </a:r>
                <a:r>
                  <a:rPr lang="es-PE" sz="900" b="0" i="0" dirty="0" err="1">
                    <a:solidFill>
                      <a:schemeClr val="tx1"/>
                    </a:solidFill>
                    <a:effectLst/>
                    <a:latin typeface="Segoe WPC"/>
                  </a:rPr>
                  <a:t>chooser</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are </a:t>
                </a:r>
                <a:r>
                  <a:rPr lang="es-PE" sz="900" b="0" i="0" dirty="0" err="1">
                    <a:solidFill>
                      <a:schemeClr val="tx1"/>
                    </a:solidFill>
                    <a:effectLst/>
                    <a:latin typeface="Segoe WPC"/>
                  </a:rPr>
                  <a:t>valuable</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direction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uncertain</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Gap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payoffs</a:t>
                </a:r>
                <a:r>
                  <a:rPr lang="es-PE" sz="900" b="0" i="0" dirty="0">
                    <a:solidFill>
                      <a:schemeClr val="tx1"/>
                    </a:solidFill>
                    <a:effectLst/>
                    <a:latin typeface="Segoe WPC"/>
                  </a:rPr>
                  <a:t> can be negative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trigger</a:t>
                </a:r>
                <a:r>
                  <a:rPr lang="es-PE" sz="900" b="0" i="0" dirty="0">
                    <a:solidFill>
                      <a:schemeClr val="tx1"/>
                    </a:solidFill>
                    <a:effectLst/>
                    <a:latin typeface="Segoe WPC"/>
                  </a:rPr>
                  <a:t> and </a:t>
                </a:r>
                <a:r>
                  <a:rPr lang="es-PE" sz="900" b="0" i="0" dirty="0" err="1">
                    <a:solidFill>
                      <a:schemeClr val="tx1"/>
                    </a:solidFill>
                    <a:effectLst/>
                    <a:latin typeface="Segoe WPC"/>
                  </a:rPr>
                  <a:t>payoff</a:t>
                </a:r>
                <a:r>
                  <a:rPr lang="es-PE" sz="900" b="0" i="0" dirty="0">
                    <a:solidFill>
                      <a:schemeClr val="tx1"/>
                    </a:solidFill>
                    <a:effectLst/>
                    <a:latin typeface="Segoe WPC"/>
                  </a:rPr>
                  <a:t> strikes </a:t>
                </a:r>
                <a:r>
                  <a:rPr lang="es-PE" sz="900" b="0" i="0" dirty="0" err="1">
                    <a:solidFill>
                      <a:schemeClr val="tx1"/>
                    </a:solidFill>
                    <a:effectLst/>
                    <a:latin typeface="Segoe WPC"/>
                  </a:rPr>
                  <a:t>differ</a:t>
                </a:r>
                <a:r>
                  <a:rPr lang="es-PE" sz="900" b="0" i="0" dirty="0">
                    <a:solidFill>
                      <a:schemeClr val="tx1"/>
                    </a:solidFill>
                    <a:effectLst/>
                    <a:latin typeface="Segoe WPC"/>
                  </a:rPr>
                  <a:t> </a:t>
                </a:r>
                <a:r>
                  <a:rPr lang="es-PE" sz="900" b="0" i="0" dirty="0" err="1">
                    <a:solidFill>
                      <a:schemeClr val="tx1"/>
                    </a:solidFill>
                    <a:effectLst/>
                    <a:latin typeface="Segoe WPC"/>
                  </a:rPr>
                  <a:t>enough</a:t>
                </a:r>
                <a:r>
                  <a:rPr lang="es-PE" sz="900" b="0" i="0" dirty="0">
                    <a:solidFill>
                      <a:schemeClr val="tx1"/>
                    </a:solidFill>
                    <a:effectLst/>
                    <a:latin typeface="Segoe WPC"/>
                  </a:rPr>
                  <a:t>.</a:t>
                </a:r>
              </a:p>
            </p:txBody>
          </p:sp>
        </mc:Choice>
        <mc:Fallback xmlns="">
          <p:sp>
            <p:nvSpPr>
              <p:cNvPr id="5" name="CuadroTexto 4">
                <a:extLst>
                  <a:ext uri="{FF2B5EF4-FFF2-40B4-BE49-F238E27FC236}">
                    <a16:creationId xmlns:a16="http://schemas.microsoft.com/office/drawing/2014/main" id="{EDA465F6-942C-64E6-C473-91554747540E}"/>
                  </a:ext>
                </a:extLst>
              </p:cNvPr>
              <p:cNvSpPr txBox="1">
                <a:spLocks noRot="1" noChangeAspect="1" noMove="1" noResize="1" noEditPoints="1" noAdjustHandles="1" noChangeArrowheads="1" noChangeShapeType="1" noTextEdit="1"/>
              </p:cNvSpPr>
              <p:nvPr/>
            </p:nvSpPr>
            <p:spPr>
              <a:xfrm>
                <a:off x="-83457" y="201507"/>
                <a:ext cx="6509657" cy="7005508"/>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8D9A7184-1B74-3B4C-A9D4-CB09D4B1FC0D}"/>
                  </a:ext>
                </a:extLst>
              </p:cNvPr>
              <p:cNvSpPr txBox="1"/>
              <p:nvPr/>
            </p:nvSpPr>
            <p:spPr>
              <a:xfrm>
                <a:off x="6328227" y="-99371"/>
                <a:ext cx="5921829" cy="1754326"/>
              </a:xfrm>
              <a:prstGeom prst="rect">
                <a:avLst/>
              </a:prstGeom>
              <a:noFill/>
            </p:spPr>
            <p:txBody>
              <a:bodyPr wrap="square">
                <a:spAutoFit/>
              </a:bodyPr>
              <a:lstStyle/>
              <a:p>
                <a:r>
                  <a:rPr lang="es-PE" sz="900" b="1" i="0" dirty="0">
                    <a:solidFill>
                      <a:schemeClr val="tx1"/>
                    </a:solidFill>
                    <a:effectLst/>
                    <a:latin typeface="Segoe WPC"/>
                  </a:rPr>
                  <a:t>6. </a:t>
                </a:r>
                <a:r>
                  <a:rPr lang="es-PE" sz="900" b="1" i="0" dirty="0" err="1">
                    <a:solidFill>
                      <a:schemeClr val="tx1"/>
                    </a:solidFill>
                    <a:effectLst/>
                    <a:latin typeface="Segoe WPC"/>
                  </a:rPr>
                  <a:t>Binary</a:t>
                </a:r>
                <a:r>
                  <a:rPr lang="es-PE" sz="900" b="1" i="0" dirty="0">
                    <a:solidFill>
                      <a:schemeClr val="tx1"/>
                    </a:solidFill>
                    <a:effectLst/>
                    <a:latin typeface="Segoe WPC"/>
                  </a:rPr>
                  <a:t> and </a:t>
                </a:r>
                <a:r>
                  <a:rPr lang="es-PE" sz="900" b="1" i="0" dirty="0" err="1">
                    <a:solidFill>
                      <a:schemeClr val="tx1"/>
                    </a:solidFill>
                    <a:effectLst/>
                    <a:latin typeface="Segoe WPC"/>
                  </a:rPr>
                  <a:t>Barrier</a:t>
                </a:r>
                <a:r>
                  <a:rPr lang="es-PE" sz="900" b="1" i="0" dirty="0">
                    <a:solidFill>
                      <a:schemeClr val="tx1"/>
                    </a:solidFill>
                    <a:effectLst/>
                    <a:latin typeface="Segoe WPC"/>
                  </a:rPr>
                  <a:t> </a:t>
                </a:r>
                <a:r>
                  <a:rPr lang="es-PE" sz="900" b="1" i="0" dirty="0" err="1">
                    <a:solidFill>
                      <a:schemeClr val="tx1"/>
                    </a:solidFill>
                    <a:effectLst/>
                    <a:latin typeface="Segoe WPC"/>
                  </a:rPr>
                  <a:t>Options</a:t>
                </a:r>
                <a:br>
                  <a:rPr lang="es-PE" sz="900" dirty="0">
                    <a:solidFill>
                      <a:schemeClr val="tx1"/>
                    </a:solidFill>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Binary</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pay</a:t>
                </a:r>
                <a:r>
                  <a:rPr lang="es-PE" sz="900" b="0" i="0" dirty="0">
                    <a:solidFill>
                      <a:schemeClr val="tx1"/>
                    </a:solidFill>
                    <a:effectLst/>
                    <a:latin typeface="Segoe WPC"/>
                  </a:rPr>
                  <a:t> a </a:t>
                </a:r>
                <a:r>
                  <a:rPr lang="es-PE" sz="900" b="0" i="0" dirty="0" err="1">
                    <a:solidFill>
                      <a:schemeClr val="tx1"/>
                    </a:solidFill>
                    <a:effectLst/>
                    <a:latin typeface="Segoe WPC"/>
                  </a:rPr>
                  <a:t>discontinuous</a:t>
                </a:r>
                <a:r>
                  <a:rPr lang="es-PE" sz="900" b="0" i="0" dirty="0">
                    <a:solidFill>
                      <a:schemeClr val="tx1"/>
                    </a:solidFill>
                    <a:effectLst/>
                    <a:latin typeface="Segoe WPC"/>
                  </a:rPr>
                  <a:t> </a:t>
                </a:r>
                <a:r>
                  <a:rPr lang="es-PE" sz="900" b="0" i="0" dirty="0" err="1">
                    <a:solidFill>
                      <a:schemeClr val="tx1"/>
                    </a:solidFill>
                    <a:effectLst/>
                    <a:latin typeface="Segoe WPC"/>
                  </a:rPr>
                  <a:t>amount</a:t>
                </a:r>
                <a:r>
                  <a:rPr lang="es-PE" sz="900" b="0" i="0" dirty="0">
                    <a:solidFill>
                      <a:schemeClr val="tx1"/>
                    </a:solidFill>
                    <a:effectLst/>
                    <a:latin typeface="Segoe WPC"/>
                  </a:rPr>
                  <a:t>; </a:t>
                </a:r>
                <a:r>
                  <a:rPr lang="es-PE" sz="900" b="0" i="0" dirty="0" err="1">
                    <a:solidFill>
                      <a:schemeClr val="tx1"/>
                    </a:solidFill>
                    <a:effectLst/>
                    <a:latin typeface="Segoe WPC"/>
                  </a:rPr>
                  <a:t>barrier</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 </a:t>
                </a:r>
                <a:r>
                  <a:rPr lang="es-PE" sz="900" b="0" i="0" dirty="0" err="1">
                    <a:solidFill>
                      <a:schemeClr val="tx1"/>
                    </a:solidFill>
                    <a:effectLst/>
                    <a:latin typeface="Segoe WPC"/>
                  </a:rPr>
                  <a:t>barrier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hit </a:t>
                </a:r>
                <a:r>
                  <a:rPr lang="es-PE" sz="900" b="0" i="0" dirty="0" err="1">
                    <a:solidFill>
                      <a:schemeClr val="tx1"/>
                    </a:solidFill>
                    <a:effectLst/>
                    <a:latin typeface="Segoe WPC"/>
                  </a:rPr>
                  <a:t>during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Binary</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are </a:t>
                </a:r>
                <a:r>
                  <a:rPr lang="es-PE" sz="900" b="0" i="0" dirty="0" err="1">
                    <a:solidFill>
                      <a:schemeClr val="tx1"/>
                    </a:solidFill>
                    <a:effectLst/>
                    <a:latin typeface="Segoe WPC"/>
                  </a:rPr>
                  <a:t>all-or-nothing</a:t>
                </a:r>
                <a:r>
                  <a:rPr lang="es-PE" sz="900" b="0" i="0" dirty="0">
                    <a:solidFill>
                      <a:schemeClr val="tx1"/>
                    </a:solidFill>
                    <a:effectLst/>
                    <a:latin typeface="Segoe WPC"/>
                  </a:rPr>
                  <a:t>; </a:t>
                </a:r>
                <a:r>
                  <a:rPr lang="es-PE" sz="900" b="0" i="0" dirty="0" err="1">
                    <a:solidFill>
                      <a:schemeClr val="tx1"/>
                    </a:solidFill>
                    <a:effectLst/>
                    <a:latin typeface="Segoe WPC"/>
                  </a:rPr>
                  <a:t>barrier</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switch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off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touches</a:t>
                </a:r>
                <a:r>
                  <a:rPr lang="es-PE" sz="900" b="0" i="0" dirty="0">
                    <a:solidFill>
                      <a:schemeClr val="tx1"/>
                    </a:solidFill>
                    <a:effectLst/>
                    <a:latin typeface="Segoe WPC"/>
                  </a:rPr>
                  <a:t> a </a:t>
                </a:r>
                <a:r>
                  <a:rPr lang="es-PE" sz="900" b="0" i="0" dirty="0" err="1">
                    <a:solidFill>
                      <a:schemeClr val="tx1"/>
                    </a:solidFill>
                    <a:effectLst/>
                    <a:latin typeface="Segoe WPC"/>
                  </a:rPr>
                  <a:t>level</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binary</a:t>
                </a:r>
                <a:r>
                  <a:rPr lang="es-PE" sz="900" b="0" i="0" dirty="0">
                    <a:solidFill>
                      <a:schemeClr val="tx1"/>
                    </a:solidFill>
                    <a:effectLst/>
                    <a:latin typeface="Segoe WPC"/>
                  </a:rPr>
                  <a:t> </a:t>
                </a:r>
                <a:r>
                  <a:rPr lang="es-PE" sz="900" b="0" i="0" dirty="0" err="1">
                    <a:solidFill>
                      <a:schemeClr val="tx1"/>
                    </a:solidFill>
                    <a:effectLst/>
                    <a:latin typeface="Segoe WPC"/>
                  </a:rPr>
                  <a:t>jumps</a:t>
                </a:r>
                <a:r>
                  <a:rPr lang="es-PE" sz="900" b="0" i="0" dirty="0">
                    <a:solidFill>
                      <a:schemeClr val="tx1"/>
                    </a:solidFill>
                    <a:effectLst/>
                    <a:latin typeface="Segoe WPC"/>
                  </a:rPr>
                  <a:t> </a:t>
                </a:r>
                <a:r>
                  <a:rPr lang="es-PE" sz="900" b="0" i="0" dirty="0" err="1">
                    <a:solidFill>
                      <a:schemeClr val="tx1"/>
                    </a:solidFill>
                    <a:effectLst/>
                    <a:latin typeface="Segoe WPC"/>
                  </a:rPr>
                  <a:t>abruptly</a:t>
                </a:r>
                <a:r>
                  <a:rPr lang="es-PE" sz="900" b="0" i="0" dirty="0">
                    <a:solidFill>
                      <a:schemeClr val="tx1"/>
                    </a:solidFill>
                    <a:effectLst/>
                    <a:latin typeface="Segoe WPC"/>
                  </a:rPr>
                  <a:t> at </a:t>
                </a:r>
                <a:r>
                  <a:rPr lang="es-PE" sz="900" b="0" i="0" dirty="0" err="1">
                    <a:solidFill>
                      <a:schemeClr val="tx1"/>
                    </a:solidFill>
                    <a:effectLst/>
                    <a:latin typeface="Segoe WPC"/>
                  </a:rPr>
                  <a:t>the</a:t>
                </a:r>
                <a:r>
                  <a:rPr lang="es-PE" sz="900" b="0" i="0" dirty="0">
                    <a:solidFill>
                      <a:schemeClr val="tx1"/>
                    </a:solidFill>
                    <a:effectLst/>
                    <a:latin typeface="Segoe WPC"/>
                  </a:rPr>
                  <a:t> strike; a </a:t>
                </a:r>
                <a:r>
                  <a:rPr lang="es-PE" sz="900" b="0" i="0" dirty="0" err="1">
                    <a:solidFill>
                      <a:schemeClr val="tx1"/>
                    </a:solidFill>
                    <a:effectLst/>
                    <a:latin typeface="Segoe WPC"/>
                  </a:rPr>
                  <a:t>barrier</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can </a:t>
                </a:r>
                <a:r>
                  <a:rPr lang="es-PE" sz="900" b="0" i="0" dirty="0" err="1">
                    <a:solidFill>
                      <a:schemeClr val="tx1"/>
                    </a:solidFill>
                    <a:effectLst/>
                    <a:latin typeface="Segoe WPC"/>
                  </a:rPr>
                  <a:t>suddenly</a:t>
                </a:r>
                <a:r>
                  <a:rPr lang="es-PE" sz="900" b="0" i="0" dirty="0">
                    <a:solidFill>
                      <a:schemeClr val="tx1"/>
                    </a:solidFill>
                    <a:effectLst/>
                    <a:latin typeface="Segoe WPC"/>
                  </a:rPr>
                  <a:t> </a:t>
                </a:r>
                <a:r>
                  <a:rPr lang="es-PE" sz="900" b="0" i="0" dirty="0" err="1">
                    <a:solidFill>
                      <a:schemeClr val="tx1"/>
                    </a:solidFill>
                    <a:effectLst/>
                    <a:latin typeface="Segoe WPC"/>
                  </a:rPr>
                  <a:t>vanish</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come </a:t>
                </a:r>
                <a:r>
                  <a:rPr lang="es-PE" sz="900" b="0" i="0" dirty="0" err="1">
                    <a:solidFill>
                      <a:schemeClr val="tx1"/>
                    </a:solidFill>
                    <a:effectLst/>
                    <a:latin typeface="Segoe WPC"/>
                  </a:rPr>
                  <a:t>alive</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barrier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crossed</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Key Formula:</a:t>
                </a:r>
                <a:r>
                  <a:rPr lang="es-PE" sz="900" b="0" i="0" dirty="0">
                    <a:solidFill>
                      <a:schemeClr val="tx1"/>
                    </a:solidFill>
                    <a:effectLst/>
                    <a:latin typeface="Segoe WPC"/>
                  </a:rPr>
                  <a:t> Cash-</a:t>
                </a:r>
                <a:r>
                  <a:rPr lang="es-PE" sz="900" b="0" i="0" dirty="0" err="1">
                    <a:solidFill>
                      <a:schemeClr val="tx1"/>
                    </a:solidFill>
                    <a:effectLst/>
                    <a:latin typeface="Segoe WPC"/>
                  </a:rPr>
                  <a:t>or</a:t>
                </a:r>
                <a:r>
                  <a:rPr lang="es-PE" sz="900" b="0" i="0" dirty="0">
                    <a:solidFill>
                      <a:schemeClr val="tx1"/>
                    </a:solidFill>
                    <a:effectLst/>
                    <a:latin typeface="Segoe WPC"/>
                  </a:rPr>
                  <a:t>-</a:t>
                </a:r>
                <a:r>
                  <a:rPr lang="es-PE" sz="900" b="0" i="0" dirty="0" err="1">
                    <a:solidFill>
                      <a:schemeClr val="tx1"/>
                    </a:solidFill>
                    <a:effectLst/>
                    <a:latin typeface="Segoe WPC"/>
                  </a:rPr>
                  <a:t>nothing</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𝑄</m:t>
                    </m:r>
                  </m:oMath>
                </a14:m>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&gt;</m:t>
                    </m:r>
                    <m:r>
                      <a:rPr lang="ar-AE" sz="900" i="1">
                        <a:solidFill>
                          <a:schemeClr val="tx1"/>
                        </a:solidFill>
                        <a:latin typeface="Cambria Math" panose="02040503050406030204" pitchFamily="18" charset="0"/>
                      </a:rPr>
                      <m:t>𝐾</m:t>
                    </m:r>
                  </m:oMath>
                </a14:m>
                <a:r>
                  <a:rPr lang="ar-AE" sz="900" b="0" i="0" dirty="0">
                    <a:solidFill>
                      <a:schemeClr val="tx1"/>
                    </a:solidFill>
                    <a:effectLst/>
                    <a:latin typeface="Segoe WPC"/>
                  </a:rPr>
                  <a:t>, </a:t>
                </a:r>
                <a:r>
                  <a:rPr lang="es-PE" sz="900" b="0" i="0" dirty="0" err="1">
                    <a:solidFill>
                      <a:schemeClr val="tx1"/>
                    </a:solidFill>
                    <a:effectLst/>
                    <a:latin typeface="Segoe WPC"/>
                  </a:rPr>
                  <a:t>else</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0</m:t>
                    </m:r>
                  </m:oMath>
                </a14:m>
                <a:r>
                  <a:rPr lang="es-PE" sz="900" b="0" i="0" dirty="0">
                    <a:solidFill>
                      <a:schemeClr val="tx1"/>
                    </a:solidFill>
                    <a:effectLst/>
                    <a:latin typeface="Segoe WPC"/>
                  </a:rPr>
                  <a:t>; </a:t>
                </a:r>
                <a:r>
                  <a:rPr lang="es-PE" sz="900" b="0" i="0" dirty="0" err="1">
                    <a:solidFill>
                      <a:schemeClr val="tx1"/>
                    </a:solidFill>
                    <a:effectLst/>
                    <a:latin typeface="Segoe WPC"/>
                  </a:rPr>
                  <a:t>asset-or-nothing</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&gt;</m:t>
                    </m:r>
                    <m:r>
                      <a:rPr lang="ar-AE" sz="900" i="1">
                        <a:solidFill>
                          <a:schemeClr val="tx1"/>
                        </a:solidFill>
                        <a:latin typeface="Cambria Math" panose="02040503050406030204" pitchFamily="18" charset="0"/>
                      </a:rPr>
                      <m:t>𝐾</m:t>
                    </m:r>
                  </m:oMath>
                </a14:m>
                <a:r>
                  <a:rPr lang="ar-AE" sz="900" b="0" i="0" dirty="0">
                    <a:solidFill>
                      <a:schemeClr val="tx1"/>
                    </a:solidFill>
                    <a:effectLst/>
                    <a:latin typeface="Segoe WPC"/>
                  </a:rPr>
                  <a:t>, </a:t>
                </a:r>
                <a:r>
                  <a:rPr lang="es-PE" sz="900" b="0" i="0" dirty="0" err="1">
                    <a:solidFill>
                      <a:schemeClr val="tx1"/>
                    </a:solidFill>
                    <a:effectLst/>
                    <a:latin typeface="Segoe WPC"/>
                  </a:rPr>
                  <a:t>else</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0</m:t>
                    </m:r>
                  </m:oMath>
                </a14:m>
                <a:r>
                  <a:rPr lang="es-PE" sz="900" b="0" i="0" dirty="0">
                    <a:solidFill>
                      <a:schemeClr val="tx1"/>
                    </a:solidFill>
                    <a:effectLst/>
                    <a:latin typeface="Segoe WPC"/>
                  </a:rPr>
                  <a:t>. </a:t>
                </a:r>
                <a:r>
                  <a:rPr lang="es-PE" sz="900" b="0" i="0" dirty="0" err="1">
                    <a:solidFill>
                      <a:schemeClr val="tx1"/>
                    </a:solidFill>
                    <a:effectLst/>
                    <a:latin typeface="Segoe WPC"/>
                  </a:rPr>
                  <a:t>Barrier</a:t>
                </a:r>
                <a:r>
                  <a:rPr lang="es-PE" sz="900" b="0" i="0" dirty="0">
                    <a:solidFill>
                      <a:schemeClr val="tx1"/>
                    </a:solidFill>
                    <a:effectLst/>
                    <a:latin typeface="Segoe WPC"/>
                  </a:rPr>
                  <a:t> </a:t>
                </a:r>
                <a:r>
                  <a:rPr lang="es-PE" sz="900" b="0" i="0" dirty="0" err="1">
                    <a:solidFill>
                      <a:schemeClr val="tx1"/>
                    </a:solidFill>
                    <a:effectLst/>
                    <a:latin typeface="Segoe WPC"/>
                  </a:rPr>
                  <a:t>types</a:t>
                </a:r>
                <a:r>
                  <a:rPr lang="es-PE" sz="900" b="0" i="0" dirty="0">
                    <a:solidFill>
                      <a:schemeClr val="tx1"/>
                    </a:solidFill>
                    <a:effectLst/>
                    <a:latin typeface="Segoe WPC"/>
                  </a:rPr>
                  <a:t>: </a:t>
                </a:r>
                <a:r>
                  <a:rPr lang="es-PE" sz="900" b="0" i="0" dirty="0" err="1">
                    <a:solidFill>
                      <a:schemeClr val="tx1"/>
                    </a:solidFill>
                    <a:effectLst/>
                    <a:latin typeface="Segoe WPC"/>
                  </a:rPr>
                  <a:t>down</a:t>
                </a:r>
                <a:r>
                  <a:rPr lang="es-PE" sz="900" b="0" i="0" dirty="0">
                    <a:solidFill>
                      <a:schemeClr val="tx1"/>
                    </a:solidFill>
                    <a:effectLst/>
                    <a:latin typeface="Segoe WPC"/>
                  </a:rPr>
                  <a:t>-and-</a:t>
                </a:r>
                <a:r>
                  <a:rPr lang="es-PE" sz="900" b="0" i="0" dirty="0" err="1">
                    <a:solidFill>
                      <a:schemeClr val="tx1"/>
                    </a:solidFill>
                    <a:effectLst/>
                    <a:latin typeface="Segoe WPC"/>
                  </a:rPr>
                  <a:t>out</a:t>
                </a:r>
                <a:r>
                  <a:rPr lang="es-PE" sz="900" b="0" i="0" dirty="0">
                    <a:solidFill>
                      <a:schemeClr val="tx1"/>
                    </a:solidFill>
                    <a:effectLst/>
                    <a:latin typeface="Segoe WPC"/>
                  </a:rPr>
                  <a:t>, </a:t>
                </a:r>
                <a:r>
                  <a:rPr lang="es-PE" sz="900" b="0" i="0" dirty="0" err="1">
                    <a:solidFill>
                      <a:schemeClr val="tx1"/>
                    </a:solidFill>
                    <a:effectLst/>
                    <a:latin typeface="Segoe WPC"/>
                  </a:rPr>
                  <a:t>down</a:t>
                </a:r>
                <a:r>
                  <a:rPr lang="es-PE" sz="900" b="0" i="0" dirty="0">
                    <a:solidFill>
                      <a:schemeClr val="tx1"/>
                    </a:solidFill>
                    <a:effectLst/>
                    <a:latin typeface="Segoe WPC"/>
                  </a:rPr>
                  <a:t>-and-in, up-and-</a:t>
                </a:r>
                <a:r>
                  <a:rPr lang="es-PE" sz="900" b="0" i="0" dirty="0" err="1">
                    <a:solidFill>
                      <a:schemeClr val="tx1"/>
                    </a:solidFill>
                    <a:effectLst/>
                    <a:latin typeface="Segoe WPC"/>
                  </a:rPr>
                  <a:t>out</a:t>
                </a:r>
                <a:r>
                  <a:rPr lang="es-PE" sz="900" b="0" i="0" dirty="0">
                    <a:solidFill>
                      <a:schemeClr val="tx1"/>
                    </a:solidFill>
                    <a:effectLst/>
                    <a:latin typeface="Segoe WPC"/>
                  </a:rPr>
                  <a:t>, up-and-in.</a:t>
                </a:r>
                <a:br>
                  <a:rPr lang="es-PE" sz="900" dirty="0">
                    <a:solidFill>
                      <a:schemeClr val="tx1"/>
                    </a:solidFill>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Barrier</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are </a:t>
                </a:r>
                <a:r>
                  <a:rPr lang="es-PE" sz="900" b="0" i="0" dirty="0" err="1">
                    <a:solidFill>
                      <a:schemeClr val="tx1"/>
                    </a:solidFill>
                    <a:effectLst/>
                    <a:latin typeface="Segoe WPC"/>
                  </a:rPr>
                  <a:t>cheaper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comparable </a:t>
                </a:r>
                <a:r>
                  <a:rPr lang="es-PE" sz="900" b="0" i="0" dirty="0" err="1">
                    <a:solidFill>
                      <a:schemeClr val="tx1"/>
                    </a:solidFill>
                    <a:effectLst/>
                    <a:latin typeface="Segoe WPC"/>
                  </a:rPr>
                  <a:t>vanilla</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barrier</a:t>
                </a:r>
                <a:r>
                  <a:rPr lang="es-PE" sz="900" b="0" i="0" dirty="0">
                    <a:solidFill>
                      <a:schemeClr val="tx1"/>
                    </a:solidFill>
                    <a:effectLst/>
                    <a:latin typeface="Segoe WPC"/>
                  </a:rPr>
                  <a:t> </a:t>
                </a:r>
                <a:r>
                  <a:rPr lang="es-PE" sz="900" b="0" i="0" dirty="0" err="1">
                    <a:solidFill>
                      <a:schemeClr val="tx1"/>
                    </a:solidFill>
                    <a:effectLst/>
                    <a:latin typeface="Segoe WPC"/>
                  </a:rPr>
                  <a:t>condition</a:t>
                </a:r>
                <a:r>
                  <a:rPr lang="es-PE" sz="900" b="0" i="0" dirty="0">
                    <a:solidFill>
                      <a:schemeClr val="tx1"/>
                    </a:solidFill>
                    <a:effectLst/>
                    <a:latin typeface="Segoe WPC"/>
                  </a:rPr>
                  <a:t> reduces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Barrier</a:t>
                </a:r>
                <a:r>
                  <a:rPr lang="es-PE" sz="900" b="0" i="0" dirty="0">
                    <a:solidFill>
                      <a:schemeClr val="tx1"/>
                    </a:solidFill>
                    <a:effectLst/>
                    <a:latin typeface="Segoe WPC"/>
                  </a:rPr>
                  <a:t> and </a:t>
                </a:r>
                <a:r>
                  <a:rPr lang="es-PE" sz="900" b="0" i="0" dirty="0" err="1">
                    <a:solidFill>
                      <a:schemeClr val="tx1"/>
                    </a:solidFill>
                    <a:effectLst/>
                    <a:latin typeface="Segoe WPC"/>
                  </a:rPr>
                  <a:t>binary</a:t>
                </a:r>
                <a:r>
                  <a:rPr lang="es-PE" sz="900" b="0" i="0" dirty="0">
                    <a:solidFill>
                      <a:schemeClr val="tx1"/>
                    </a:solidFill>
                    <a:effectLst/>
                    <a:latin typeface="Segoe WPC"/>
                  </a:rPr>
                  <a:t> </a:t>
                </a:r>
                <a:r>
                  <a:rPr lang="es-PE" sz="900" b="0" i="0" dirty="0" err="1">
                    <a:solidFill>
                      <a:schemeClr val="tx1"/>
                    </a:solidFill>
                    <a:effectLst/>
                    <a:latin typeface="Segoe WPC"/>
                  </a:rPr>
                  <a:t>payoffs</a:t>
                </a:r>
                <a:r>
                  <a:rPr lang="es-PE" sz="900" b="0" i="0" dirty="0">
                    <a:solidFill>
                      <a:schemeClr val="tx1"/>
                    </a:solidFill>
                    <a:effectLst/>
                    <a:latin typeface="Segoe WPC"/>
                  </a:rPr>
                  <a:t> are </a:t>
                </a:r>
                <a:r>
                  <a:rPr lang="es-PE" sz="900" b="0" i="0" dirty="0" err="1">
                    <a:solidFill>
                      <a:schemeClr val="tx1"/>
                    </a:solidFill>
                    <a:effectLst/>
                    <a:latin typeface="Segoe WPC"/>
                  </a:rPr>
                  <a:t>discontinuous</a:t>
                </a:r>
                <a:r>
                  <a:rPr lang="es-PE" sz="900" b="0" i="0" dirty="0">
                    <a:solidFill>
                      <a:schemeClr val="tx1"/>
                    </a:solidFill>
                    <a:effectLst/>
                    <a:latin typeface="Segoe WPC"/>
                  </a:rPr>
                  <a:t>, </a:t>
                </a:r>
                <a:r>
                  <a:rPr lang="es-PE" sz="900" b="0" i="0" dirty="0" err="1">
                    <a:solidFill>
                      <a:schemeClr val="tx1"/>
                    </a:solidFill>
                    <a:effectLst/>
                    <a:latin typeface="Segoe WPC"/>
                  </a:rPr>
                  <a:t>which</a:t>
                </a:r>
                <a:r>
                  <a:rPr lang="es-PE" sz="900" b="0" i="0" dirty="0">
                    <a:solidFill>
                      <a:schemeClr val="tx1"/>
                    </a:solidFill>
                    <a:effectLst/>
                    <a:latin typeface="Segoe WPC"/>
                  </a:rPr>
                  <a:t> </a:t>
                </a:r>
                <a:r>
                  <a:rPr lang="es-PE" sz="900" b="0" i="0" dirty="0" err="1">
                    <a:solidFill>
                      <a:schemeClr val="tx1"/>
                    </a:solidFill>
                    <a:effectLst/>
                    <a:latin typeface="Segoe WPC"/>
                  </a:rPr>
                  <a:t>makes</a:t>
                </a:r>
                <a:r>
                  <a:rPr lang="es-PE" sz="900" b="0" i="0" dirty="0">
                    <a:solidFill>
                      <a:schemeClr val="tx1"/>
                    </a:solidFill>
                    <a:effectLst/>
                    <a:latin typeface="Segoe WPC"/>
                  </a:rPr>
                  <a:t> </a:t>
                </a:r>
                <a:r>
                  <a:rPr lang="es-PE" sz="900" b="0" i="0" dirty="0" err="1">
                    <a:solidFill>
                      <a:schemeClr val="tx1"/>
                    </a:solidFill>
                    <a:effectLst/>
                    <a:latin typeface="Segoe WPC"/>
                  </a:rPr>
                  <a:t>hedging</a:t>
                </a:r>
                <a:r>
                  <a:rPr lang="es-PE" sz="900" b="0" i="0" dirty="0">
                    <a:solidFill>
                      <a:schemeClr val="tx1"/>
                    </a:solidFill>
                    <a:effectLst/>
                    <a:latin typeface="Segoe WPC"/>
                  </a:rPr>
                  <a:t> and </a:t>
                </a:r>
                <a:r>
                  <a:rPr lang="es-PE" sz="900" b="0" i="0" dirty="0" err="1">
                    <a:solidFill>
                      <a:schemeClr val="tx1"/>
                    </a:solidFill>
                    <a:effectLst/>
                    <a:latin typeface="Segoe WPC"/>
                  </a:rPr>
                  <a:t>manipulation</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more </a:t>
                </a:r>
                <a:r>
                  <a:rPr lang="es-PE" sz="900" b="0" i="0" dirty="0" err="1">
                    <a:solidFill>
                      <a:schemeClr val="tx1"/>
                    </a:solidFill>
                    <a:effectLst/>
                    <a:latin typeface="Segoe WPC"/>
                  </a:rPr>
                  <a:t>important</a:t>
                </a:r>
                <a:r>
                  <a:rPr lang="es-PE" sz="900" b="0" i="0" dirty="0">
                    <a:solidFill>
                      <a:schemeClr val="tx1"/>
                    </a:solidFill>
                    <a:effectLst/>
                    <a:latin typeface="Segoe WPC"/>
                  </a:rPr>
                  <a:t>.</a:t>
                </a:r>
                <a:endParaRPr lang="es-PE" sz="900" dirty="0">
                  <a:solidFill>
                    <a:schemeClr val="tx1"/>
                  </a:solidFill>
                </a:endParaRPr>
              </a:p>
            </p:txBody>
          </p:sp>
        </mc:Choice>
        <mc:Fallback xmlns="">
          <p:sp>
            <p:nvSpPr>
              <p:cNvPr id="11" name="CuadroTexto 10">
                <a:extLst>
                  <a:ext uri="{FF2B5EF4-FFF2-40B4-BE49-F238E27FC236}">
                    <a16:creationId xmlns:a16="http://schemas.microsoft.com/office/drawing/2014/main" id="{8D9A7184-1B74-3B4C-A9D4-CB09D4B1FC0D}"/>
                  </a:ext>
                </a:extLst>
              </p:cNvPr>
              <p:cNvSpPr txBox="1">
                <a:spLocks noRot="1" noChangeAspect="1" noMove="1" noResize="1" noEditPoints="1" noAdjustHandles="1" noChangeArrowheads="1" noChangeShapeType="1" noTextEdit="1"/>
              </p:cNvSpPr>
              <p:nvPr/>
            </p:nvSpPr>
            <p:spPr>
              <a:xfrm>
                <a:off x="6328227" y="-99371"/>
                <a:ext cx="5921829" cy="1754326"/>
              </a:xfrm>
              <a:prstGeom prst="rect">
                <a:avLst/>
              </a:prstGeom>
              <a:blipFill>
                <a:blip r:embed="rId3"/>
                <a:stretch>
                  <a:fillRect b="-697"/>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5C96C06-CAD5-E83E-0083-385A39873683}"/>
                  </a:ext>
                </a:extLst>
              </p:cNvPr>
              <p:cNvSpPr txBox="1"/>
              <p:nvPr/>
            </p:nvSpPr>
            <p:spPr>
              <a:xfrm>
                <a:off x="6342742" y="1527019"/>
                <a:ext cx="5696858" cy="1546129"/>
              </a:xfrm>
              <a:prstGeom prst="rect">
                <a:avLst/>
              </a:prstGeom>
              <a:noFill/>
            </p:spPr>
            <p:txBody>
              <a:bodyPr wrap="square">
                <a:spAutoFit/>
              </a:bodyPr>
              <a:lstStyle/>
              <a:p>
                <a:r>
                  <a:rPr lang="es-PE" sz="900" b="1" i="0" dirty="0">
                    <a:solidFill>
                      <a:schemeClr val="tx1"/>
                    </a:solidFill>
                    <a:effectLst/>
                    <a:latin typeface="Segoe WPC"/>
                  </a:rPr>
                  <a:t>7. </a:t>
                </a:r>
                <a:r>
                  <a:rPr lang="es-PE" sz="900" b="1" i="0" dirty="0" err="1">
                    <a:solidFill>
                      <a:schemeClr val="tx1"/>
                    </a:solidFill>
                    <a:effectLst/>
                    <a:latin typeface="Segoe WPC"/>
                  </a:rPr>
                  <a:t>Asian</a:t>
                </a:r>
                <a:r>
                  <a:rPr lang="es-PE" sz="900" b="1" i="0" dirty="0">
                    <a:solidFill>
                      <a:schemeClr val="tx1"/>
                    </a:solidFill>
                    <a:effectLst/>
                    <a:latin typeface="Segoe WPC"/>
                  </a:rPr>
                  <a:t> and </a:t>
                </a:r>
                <a:r>
                  <a:rPr lang="es-PE" sz="900" b="1" i="0" dirty="0" err="1">
                    <a:solidFill>
                      <a:schemeClr val="tx1"/>
                    </a:solidFill>
                    <a:effectLst/>
                    <a:latin typeface="Segoe WPC"/>
                  </a:rPr>
                  <a:t>Lookback</a:t>
                </a:r>
                <a:r>
                  <a:rPr lang="es-PE" sz="900" b="1" i="0" dirty="0">
                    <a:solidFill>
                      <a:schemeClr val="tx1"/>
                    </a:solidFill>
                    <a:effectLst/>
                    <a:latin typeface="Segoe WPC"/>
                  </a:rPr>
                  <a:t> </a:t>
                </a:r>
                <a:r>
                  <a:rPr lang="es-PE" sz="900" b="1" i="0" dirty="0" err="1">
                    <a:solidFill>
                      <a:schemeClr val="tx1"/>
                    </a:solidFill>
                    <a:effectLst/>
                    <a:latin typeface="Segoe WPC"/>
                  </a:rPr>
                  <a:t>Options</a:t>
                </a:r>
                <a:br>
                  <a:rPr lang="es-PE" sz="900" dirty="0">
                    <a:solidFill>
                      <a:schemeClr val="tx1"/>
                    </a:solidFill>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Asian</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lookback</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maximum</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minimum</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life</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Asians</a:t>
                </a:r>
                <a:r>
                  <a:rPr lang="es-PE" sz="900" b="0" i="0" dirty="0">
                    <a:solidFill>
                      <a:schemeClr val="tx1"/>
                    </a:solidFill>
                    <a:effectLst/>
                    <a:latin typeface="Segoe WPC"/>
                  </a:rPr>
                  <a:t> </a:t>
                </a:r>
                <a:r>
                  <a:rPr lang="es-PE" sz="900" b="0" i="0" dirty="0" err="1">
                    <a:solidFill>
                      <a:schemeClr val="tx1"/>
                    </a:solidFill>
                    <a:effectLst/>
                    <a:latin typeface="Segoe WPC"/>
                  </a:rPr>
                  <a:t>smooth</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noise</a:t>
                </a:r>
                <a:r>
                  <a:rPr lang="es-PE" sz="900" b="0" i="0" dirty="0">
                    <a:solidFill>
                      <a:schemeClr val="tx1"/>
                    </a:solidFill>
                    <a:effectLst/>
                    <a:latin typeface="Segoe WPC"/>
                  </a:rPr>
                  <a:t>; </a:t>
                </a:r>
                <a:r>
                  <a:rPr lang="es-PE" sz="900" b="0" i="0" dirty="0" err="1">
                    <a:solidFill>
                      <a:schemeClr val="tx1"/>
                    </a:solidFill>
                    <a:effectLst/>
                    <a:latin typeface="Segoe WPC"/>
                  </a:rPr>
                  <a:t>lookbacks</a:t>
                </a:r>
                <a:r>
                  <a:rPr lang="es-PE" sz="900" b="0" i="0" dirty="0">
                    <a:solidFill>
                      <a:schemeClr val="tx1"/>
                    </a:solidFill>
                    <a:effectLst/>
                    <a:latin typeface="Segoe WPC"/>
                  </a:rPr>
                  <a:t> </a:t>
                </a:r>
                <a:r>
                  <a:rPr lang="es-PE" sz="900" b="0" i="0" dirty="0" err="1">
                    <a:solidFill>
                      <a:schemeClr val="tx1"/>
                    </a:solidFill>
                    <a:effectLst/>
                    <a:latin typeface="Segoe WPC"/>
                  </a:rPr>
                  <a:t>give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holder</a:t>
                </a:r>
                <a:r>
                  <a:rPr lang="es-PE" sz="900" b="0" i="0" dirty="0">
                    <a:solidFill>
                      <a:schemeClr val="tx1"/>
                    </a:solidFill>
                    <a:effectLst/>
                    <a:latin typeface="Segoe WPC"/>
                  </a:rPr>
                  <a:t> a “</a:t>
                </a:r>
                <a:r>
                  <a:rPr lang="es-PE" sz="900" b="0" i="0" dirty="0" err="1">
                    <a:solidFill>
                      <a:schemeClr val="tx1"/>
                    </a:solidFill>
                    <a:effectLst/>
                    <a:latin typeface="Segoe WPC"/>
                  </a:rPr>
                  <a:t>best</a:t>
                </a:r>
                <a:r>
                  <a:rPr lang="es-PE" sz="900" b="0" i="0" dirty="0">
                    <a:solidFill>
                      <a:schemeClr val="tx1"/>
                    </a:solidFill>
                    <a:effectLst/>
                    <a:latin typeface="Segoe WPC"/>
                  </a:rPr>
                  <a:t> </a:t>
                </a:r>
                <a:r>
                  <a:rPr lang="es-PE" sz="900" b="0" i="0" dirty="0" err="1">
                    <a:solidFill>
                      <a:schemeClr val="tx1"/>
                    </a:solidFill>
                    <a:effectLst/>
                    <a:latin typeface="Segoe WPC"/>
                  </a:rPr>
                  <a:t>observed</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feature</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Asian</a:t>
                </a:r>
                <a:r>
                  <a:rPr lang="es-PE" sz="900" b="0" i="0" dirty="0">
                    <a:solidFill>
                      <a:schemeClr val="tx1"/>
                    </a:solidFill>
                    <a:effectLst/>
                    <a:latin typeface="Segoe WPC"/>
                  </a:rPr>
                  <a:t> reduces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impact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extreme </a:t>
                </a:r>
                <a:r>
                  <a:rPr lang="es-PE" sz="900" b="0" i="0" dirty="0" err="1">
                    <a:solidFill>
                      <a:schemeClr val="tx1"/>
                    </a:solidFill>
                    <a:effectLst/>
                    <a:latin typeface="Segoe WPC"/>
                  </a:rPr>
                  <a:t>day</a:t>
                </a:r>
                <a:r>
                  <a:rPr lang="es-PE" sz="900" b="0" i="0" dirty="0">
                    <a:solidFill>
                      <a:schemeClr val="tx1"/>
                    </a:solidFill>
                    <a:effectLst/>
                    <a:latin typeface="Segoe WPC"/>
                  </a:rPr>
                  <a:t>; a </a:t>
                </a:r>
                <a:r>
                  <a:rPr lang="es-PE" sz="900" b="0" i="0" dirty="0" err="1">
                    <a:solidFill>
                      <a:schemeClr val="tx1"/>
                    </a:solidFill>
                    <a:effectLst/>
                    <a:latin typeface="Segoe WPC"/>
                  </a:rPr>
                  <a:t>lookback</a:t>
                </a:r>
                <a:r>
                  <a:rPr lang="es-PE" sz="900" b="0" i="0" dirty="0">
                    <a:solidFill>
                      <a:schemeClr val="tx1"/>
                    </a:solidFill>
                    <a:effectLst/>
                    <a:latin typeface="Segoe WPC"/>
                  </a:rPr>
                  <a:t> </a:t>
                </a:r>
                <a:r>
                  <a:rPr lang="es-PE" sz="900" b="0" i="0" dirty="0" err="1">
                    <a:solidFill>
                      <a:schemeClr val="tx1"/>
                    </a:solidFill>
                    <a:effectLst/>
                    <a:latin typeface="Segoe WPC"/>
                  </a:rPr>
                  <a:t>rewards</a:t>
                </a:r>
                <a:r>
                  <a:rPr lang="es-PE" sz="900" b="0" i="0" dirty="0">
                    <a:solidFill>
                      <a:schemeClr val="tx1"/>
                    </a:solidFill>
                    <a:effectLst/>
                    <a:latin typeface="Segoe WPC"/>
                  </a:rPr>
                  <a:t> </a:t>
                </a:r>
                <a:r>
                  <a:rPr lang="es-PE" sz="900" b="0" i="0" dirty="0" err="1">
                    <a:solidFill>
                      <a:schemeClr val="tx1"/>
                    </a:solidFill>
                    <a:effectLst/>
                    <a:latin typeface="Segoe WPC"/>
                  </a:rPr>
                  <a:t>hindsight</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m:rPr>
                                <m:nor/>
                              </m:rPr>
                              <a:rPr lang="es-PE" sz="900" b="0" i="1">
                                <a:solidFill>
                                  <a:schemeClr val="tx1"/>
                                </a:solidFill>
                                <a:latin typeface="Cambria Math" panose="02040503050406030204" pitchFamily="18" charset="0"/>
                              </a:rPr>
                              <m:t>avg</m:t>
                            </m:r>
                          </m:sub>
                        </m:sSub>
                      </m:e>
                      <m:e>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𝐾</m:t>
                        </m:r>
                        <m:r>
                          <a:rPr lang="ar-AE" sz="900" b="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strike </a:t>
                </a:r>
                <a:r>
                  <a:rPr lang="es-PE" sz="900" b="0" i="0" dirty="0" err="1">
                    <a:solidFill>
                      <a:schemeClr val="tx1"/>
                    </a:solidFill>
                    <a:effectLst/>
                    <a:latin typeface="Segoe WPC"/>
                  </a:rPr>
                  <a:t>call</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e>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m:rPr>
                                <m:nor/>
                              </m:rPr>
                              <a:rPr lang="es-PE" sz="900" b="0" i="1">
                                <a:solidFill>
                                  <a:schemeClr val="tx1"/>
                                </a:solidFill>
                                <a:latin typeface="Cambria Math" panose="02040503050406030204" pitchFamily="18" charset="0"/>
                              </a:rPr>
                              <m:t>avg</m:t>
                            </m:r>
                          </m:sub>
                        </m:sSub>
                        <m:r>
                          <a:rPr lang="ar-AE" sz="900" b="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err="1">
                    <a:solidFill>
                      <a:schemeClr val="tx1"/>
                    </a:solidFill>
                    <a:effectLst/>
                    <a:latin typeface="Segoe WPC"/>
                  </a:rPr>
                  <a:t>fixed</a:t>
                </a:r>
                <a:r>
                  <a:rPr lang="es-PE" sz="900" b="0" i="0" dirty="0">
                    <a:solidFill>
                      <a:schemeClr val="tx1"/>
                    </a:solidFill>
                    <a:effectLst/>
                    <a:latin typeface="Segoe WPC"/>
                  </a:rPr>
                  <a:t> </a:t>
                </a:r>
                <a:r>
                  <a:rPr lang="es-PE" sz="900" b="0" i="0" dirty="0" err="1">
                    <a:solidFill>
                      <a:schemeClr val="tx1"/>
                    </a:solidFill>
                    <a:effectLst/>
                    <a:latin typeface="Segoe WPC"/>
                  </a:rPr>
                  <a:t>lookback</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m:rPr>
                                <m:sty m:val="p"/>
                              </m:rPr>
                              <a:rPr lang="es-PE" sz="900" i="0">
                                <a:solidFill>
                                  <a:schemeClr val="tx1"/>
                                </a:solidFill>
                                <a:latin typeface="Cambria Math" panose="02040503050406030204" pitchFamily="18" charset="0"/>
                              </a:rPr>
                              <m:t>max</m:t>
                            </m:r>
                            <m:func>
                              <m:funcPr>
                                <m:ctrlPr>
                                  <a:rPr lang="ar-AE" sz="900" i="1">
                                    <a:solidFill>
                                      <a:schemeClr val="tx1"/>
                                    </a:solidFill>
                                    <a:latin typeface="Cambria Math" panose="02040503050406030204" pitchFamily="18" charset="0"/>
                                  </a:rPr>
                                </m:ctrlPr>
                              </m:funcPr>
                              <m:fName/>
                              <m:e/>
                            </m:func>
                          </m:sub>
                        </m:sSub>
                      </m:e>
                      <m:e>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err="1">
                    <a:solidFill>
                      <a:schemeClr val="tx1"/>
                    </a:solidFill>
                    <a:effectLst/>
                    <a:latin typeface="Segoe WPC"/>
                  </a:rPr>
                  <a:t>floating</a:t>
                </a:r>
                <a:r>
                  <a:rPr lang="es-PE" sz="900" b="0" i="0" dirty="0">
                    <a:solidFill>
                      <a:schemeClr val="tx1"/>
                    </a:solidFill>
                    <a:effectLst/>
                    <a:latin typeface="Segoe WPC"/>
                  </a:rPr>
                  <a:t> </a:t>
                </a:r>
                <a:r>
                  <a:rPr lang="es-PE" sz="900" b="0" i="0" dirty="0" err="1">
                    <a:solidFill>
                      <a:schemeClr val="tx1"/>
                    </a:solidFill>
                    <a:effectLst/>
                    <a:latin typeface="Segoe WPC"/>
                  </a:rPr>
                  <a:t>lookback</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m:rPr>
                            <m:sty m:val="p"/>
                          </m:rPr>
                          <a:rPr lang="es-PE" sz="900" i="0">
                            <a:solidFill>
                              <a:schemeClr val="tx1"/>
                            </a:solidFill>
                            <a:latin typeface="Cambria Math" panose="02040503050406030204" pitchFamily="18" charset="0"/>
                          </a:rPr>
                          <m:t>min</m:t>
                        </m:r>
                        <m:func>
                          <m:funcPr>
                            <m:ctrlPr>
                              <a:rPr lang="ar-AE" sz="900" i="1">
                                <a:solidFill>
                                  <a:schemeClr val="tx1"/>
                                </a:solidFill>
                                <a:latin typeface="Cambria Math" panose="02040503050406030204" pitchFamily="18" charset="0"/>
                              </a:rPr>
                            </m:ctrlPr>
                          </m:funcPr>
                          <m:fName/>
                          <m:e/>
                        </m:func>
                      </m:sub>
                    </m:sSub>
                  </m:oMath>
                </a14:m>
                <a:r>
                  <a:rPr lang="ar-AE" sz="900" b="0" i="0" dirty="0">
                    <a:solidFill>
                      <a:schemeClr val="tx1"/>
                    </a:solidFill>
                    <a:effectLst/>
                    <a:latin typeface="Segoe WPC"/>
                  </a:rPr>
                  <a:t>.</a:t>
                </a:r>
                <a:br>
                  <a:rPr lang="ar-AE" sz="900" dirty="0">
                    <a:solidFill>
                      <a:schemeClr val="tx1"/>
                    </a:solidFill>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Asian</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are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cheaper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vanilla</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lookbacks</a:t>
                </a:r>
                <a:r>
                  <a:rPr lang="es-PE" sz="900" b="0" i="0" dirty="0">
                    <a:solidFill>
                      <a:schemeClr val="tx1"/>
                    </a:solidFill>
                    <a:effectLst/>
                    <a:latin typeface="Segoe WPC"/>
                  </a:rPr>
                  <a:t> are </a:t>
                </a:r>
                <a:r>
                  <a:rPr lang="es-PE" sz="900" b="0" i="0" dirty="0" err="1">
                    <a:solidFill>
                      <a:schemeClr val="tx1"/>
                    </a:solidFill>
                    <a:effectLst/>
                    <a:latin typeface="Segoe WPC"/>
                  </a:rPr>
                  <a:t>usually</a:t>
                </a:r>
                <a:r>
                  <a:rPr lang="es-PE" sz="900" b="0" i="0" dirty="0">
                    <a:solidFill>
                      <a:schemeClr val="tx1"/>
                    </a:solidFill>
                    <a:effectLst/>
                    <a:latin typeface="Segoe WPC"/>
                  </a:rPr>
                  <a:t> more </a:t>
                </a:r>
                <a:r>
                  <a:rPr lang="es-PE" sz="900" b="0" i="0" dirty="0" err="1">
                    <a:solidFill>
                      <a:schemeClr val="tx1"/>
                    </a:solidFill>
                    <a:effectLst/>
                    <a:latin typeface="Segoe WPC"/>
                  </a:rPr>
                  <a:t>expensive</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Asian</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a:t>
                </a:r>
                <a:r>
                  <a:rPr lang="es-PE" sz="900" b="0" i="0" dirty="0" err="1">
                    <a:solidFill>
                      <a:schemeClr val="tx1"/>
                    </a:solidFill>
                    <a:effectLst/>
                    <a:latin typeface="Segoe WPC"/>
                  </a:rPr>
                  <a:t>lookbacks</a:t>
                </a:r>
                <a:r>
                  <a:rPr lang="es-PE" sz="900" b="0" i="0" dirty="0">
                    <a:solidFill>
                      <a:schemeClr val="tx1"/>
                    </a:solidFill>
                    <a:effectLst/>
                    <a:latin typeface="Segoe WPC"/>
                  </a:rPr>
                  <a:t> are </a:t>
                </a:r>
                <a:r>
                  <a:rPr lang="es-PE" sz="900" b="0" i="0" dirty="0" err="1">
                    <a:solidFill>
                      <a:schemeClr val="tx1"/>
                    </a:solidFill>
                    <a:effectLst/>
                    <a:latin typeface="Segoe WPC"/>
                  </a:rPr>
                  <a:t>path-dependent</a:t>
                </a:r>
                <a:r>
                  <a:rPr lang="es-PE" sz="900" b="0" i="0" dirty="0">
                    <a:solidFill>
                      <a:schemeClr val="tx1"/>
                    </a:solidFill>
                    <a:effectLst/>
                    <a:latin typeface="Segoe WPC"/>
                  </a:rPr>
                  <a:t> and </a:t>
                </a:r>
                <a:r>
                  <a:rPr lang="es-PE" sz="900" b="0" i="0" dirty="0" err="1">
                    <a:solidFill>
                      <a:schemeClr val="tx1"/>
                    </a:solidFill>
                    <a:effectLst/>
                    <a:latin typeface="Segoe WPC"/>
                  </a:rPr>
                  <a:t>become</a:t>
                </a:r>
                <a:r>
                  <a:rPr lang="es-PE" sz="900" b="0" i="0" dirty="0">
                    <a:solidFill>
                      <a:schemeClr val="tx1"/>
                    </a:solidFill>
                    <a:effectLst/>
                    <a:latin typeface="Segoe WPC"/>
                  </a:rPr>
                  <a:t> more </a:t>
                </a:r>
                <a:r>
                  <a:rPr lang="es-PE" sz="900" b="0" i="0" dirty="0" err="1">
                    <a:solidFill>
                      <a:schemeClr val="tx1"/>
                    </a:solidFill>
                    <a:effectLst/>
                    <a:latin typeface="Segoe WPC"/>
                  </a:rPr>
                  <a:t>valuable</a:t>
                </a:r>
                <a:r>
                  <a:rPr lang="es-PE" sz="900" b="0" i="0" dirty="0">
                    <a:solidFill>
                      <a:schemeClr val="tx1"/>
                    </a:solidFill>
                    <a:effectLst/>
                    <a:latin typeface="Segoe WPC"/>
                  </a:rPr>
                  <a:t> as </a:t>
                </a:r>
                <a:r>
                  <a:rPr lang="es-PE" sz="900" b="0" i="0" dirty="0" err="1">
                    <a:solidFill>
                      <a:schemeClr val="tx1"/>
                    </a:solidFill>
                    <a:effectLst/>
                    <a:latin typeface="Segoe WPC"/>
                  </a:rPr>
                  <a:t>observation</a:t>
                </a:r>
                <a:r>
                  <a:rPr lang="es-PE" sz="900" b="0" i="0" dirty="0">
                    <a:solidFill>
                      <a:schemeClr val="tx1"/>
                    </a:solidFill>
                    <a:effectLst/>
                    <a:latin typeface="Segoe WPC"/>
                  </a:rPr>
                  <a:t> </a:t>
                </a:r>
                <a:r>
                  <a:rPr lang="es-PE" sz="900" b="0" i="0" dirty="0" err="1">
                    <a:solidFill>
                      <a:schemeClr val="tx1"/>
                    </a:solidFill>
                    <a:effectLst/>
                    <a:latin typeface="Segoe WPC"/>
                  </a:rPr>
                  <a:t>frequency</a:t>
                </a:r>
                <a:r>
                  <a:rPr lang="es-PE" sz="900" b="0" i="0" dirty="0">
                    <a:solidFill>
                      <a:schemeClr val="tx1"/>
                    </a:solidFill>
                    <a:effectLst/>
                    <a:latin typeface="Segoe WPC"/>
                  </a:rPr>
                  <a:t> </a:t>
                </a:r>
                <a:r>
                  <a:rPr lang="es-PE" sz="900" b="0" i="0" dirty="0" err="1">
                    <a:solidFill>
                      <a:schemeClr val="tx1"/>
                    </a:solidFill>
                    <a:effectLst/>
                    <a:latin typeface="Segoe WPC"/>
                  </a:rPr>
                  <a:t>rises</a:t>
                </a:r>
                <a:r>
                  <a:rPr lang="es-PE" sz="900" b="0" i="0" dirty="0">
                    <a:solidFill>
                      <a:schemeClr val="tx1"/>
                    </a:solidFill>
                    <a:effectLst/>
                    <a:latin typeface="Segoe WPC"/>
                  </a:rPr>
                  <a:t>.</a:t>
                </a:r>
                <a:endParaRPr lang="es-PE" sz="900" dirty="0">
                  <a:solidFill>
                    <a:schemeClr val="tx1"/>
                  </a:solidFill>
                </a:endParaRPr>
              </a:p>
            </p:txBody>
          </p:sp>
        </mc:Choice>
        <mc:Fallback xmlns="">
          <p:sp>
            <p:nvSpPr>
              <p:cNvPr id="13" name="CuadroTexto 12">
                <a:extLst>
                  <a:ext uri="{FF2B5EF4-FFF2-40B4-BE49-F238E27FC236}">
                    <a16:creationId xmlns:a16="http://schemas.microsoft.com/office/drawing/2014/main" id="{E5C96C06-CAD5-E83E-0083-385A39873683}"/>
                  </a:ext>
                </a:extLst>
              </p:cNvPr>
              <p:cNvSpPr txBox="1">
                <a:spLocks noRot="1" noChangeAspect="1" noMove="1" noResize="1" noEditPoints="1" noAdjustHandles="1" noChangeArrowheads="1" noChangeShapeType="1" noTextEdit="1"/>
              </p:cNvSpPr>
              <p:nvPr/>
            </p:nvSpPr>
            <p:spPr>
              <a:xfrm>
                <a:off x="6342742" y="1527019"/>
                <a:ext cx="5696858" cy="1546129"/>
              </a:xfrm>
              <a:prstGeom prst="rect">
                <a:avLst/>
              </a:prstGeom>
              <a:blipFill>
                <a:blip r:embed="rId4"/>
                <a:stretch>
                  <a:fillRect b="-787"/>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C13A73FB-9804-3100-B042-7223D93F8B4D}"/>
                  </a:ext>
                </a:extLst>
              </p:cNvPr>
              <p:cNvSpPr txBox="1"/>
              <p:nvPr/>
            </p:nvSpPr>
            <p:spPr>
              <a:xfrm>
                <a:off x="6313713" y="3007470"/>
                <a:ext cx="5849258" cy="1495153"/>
              </a:xfrm>
              <a:prstGeom prst="rect">
                <a:avLst/>
              </a:prstGeom>
              <a:noFill/>
            </p:spPr>
            <p:txBody>
              <a:bodyPr wrap="square">
                <a:spAutoFit/>
              </a:bodyPr>
              <a:lstStyle/>
              <a:p>
                <a:r>
                  <a:rPr lang="es-PE" sz="900" b="1" i="0" dirty="0">
                    <a:solidFill>
                      <a:schemeClr val="tx1"/>
                    </a:solidFill>
                    <a:effectLst/>
                    <a:latin typeface="Segoe WPC"/>
                  </a:rPr>
                  <a:t>8. Exchange and </a:t>
                </a:r>
                <a:r>
                  <a:rPr lang="es-PE" sz="900" b="1" i="0" dirty="0" err="1">
                    <a:solidFill>
                      <a:schemeClr val="tx1"/>
                    </a:solidFill>
                    <a:effectLst/>
                    <a:latin typeface="Segoe WPC"/>
                  </a:rPr>
                  <a:t>Basket</a:t>
                </a:r>
                <a:r>
                  <a:rPr lang="es-PE" sz="900" b="1" i="0" dirty="0">
                    <a:solidFill>
                      <a:schemeClr val="tx1"/>
                    </a:solidFill>
                    <a:effectLst/>
                    <a:latin typeface="Segoe WPC"/>
                  </a:rPr>
                  <a:t> </a:t>
                </a:r>
                <a:r>
                  <a:rPr lang="es-PE" sz="900" b="1" i="0" dirty="0" err="1">
                    <a:solidFill>
                      <a:schemeClr val="tx1"/>
                    </a:solidFill>
                    <a:effectLst/>
                    <a:latin typeface="Segoe WPC"/>
                  </a:rPr>
                  <a:t>Options</a:t>
                </a:r>
                <a:br>
                  <a:rPr lang="es-PE" sz="900" dirty="0">
                    <a:solidFill>
                      <a:schemeClr val="tx1"/>
                    </a:solidFill>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Exchange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allow</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be </a:t>
                </a:r>
                <a:r>
                  <a:rPr lang="es-PE" sz="900" b="0" i="0" dirty="0" err="1">
                    <a:solidFill>
                      <a:schemeClr val="tx1"/>
                    </a:solidFill>
                    <a:effectLst/>
                    <a:latin typeface="Segoe WPC"/>
                  </a:rPr>
                  <a:t>exchanged</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another</a:t>
                </a:r>
                <a:r>
                  <a:rPr lang="es-PE" sz="900" b="0" i="0" dirty="0">
                    <a:solidFill>
                      <a:schemeClr val="tx1"/>
                    </a:solidFill>
                    <a:effectLst/>
                    <a:latin typeface="Segoe WPC"/>
                  </a:rPr>
                  <a:t>; </a:t>
                </a:r>
                <a:r>
                  <a:rPr lang="es-PE" sz="900" b="0" i="0" dirty="0" err="1">
                    <a:solidFill>
                      <a:schemeClr val="tx1"/>
                    </a:solidFill>
                    <a:effectLst/>
                    <a:latin typeface="Segoe WPC"/>
                  </a:rPr>
                  <a:t>basket</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are </a:t>
                </a:r>
                <a:r>
                  <a:rPr lang="es-PE" sz="900" b="0" i="0" dirty="0" err="1">
                    <a:solidFill>
                      <a:schemeClr val="tx1"/>
                    </a:solidFill>
                    <a:effectLst/>
                    <a:latin typeface="Segoe WPC"/>
                  </a:rPr>
                  <a:t>written</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 portfolio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are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true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relative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aggregate</a:t>
                </a:r>
                <a:r>
                  <a:rPr lang="es-PE" sz="900" b="0" i="0" dirty="0">
                    <a:solidFill>
                      <a:schemeClr val="tx1"/>
                    </a:solidFill>
                    <a:effectLst/>
                    <a:latin typeface="Segoe WPC"/>
                  </a:rPr>
                  <a:t> portfolio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 single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exchange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right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swap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weaker</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stronger</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 </a:t>
                </a:r>
                <a:r>
                  <a:rPr lang="es-PE" sz="900" b="0" i="0" dirty="0" err="1">
                    <a:solidFill>
                      <a:schemeClr val="tx1"/>
                    </a:solidFill>
                    <a:effectLst/>
                    <a:latin typeface="Segoe WPC"/>
                  </a:rPr>
                  <a:t>basket</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whole</a:t>
                </a:r>
                <a:r>
                  <a:rPr lang="es-PE" sz="900" b="0" i="0" dirty="0">
                    <a:solidFill>
                      <a:schemeClr val="tx1"/>
                    </a:solidFill>
                    <a:effectLst/>
                    <a:latin typeface="Segoe WPC"/>
                  </a:rPr>
                  <a:t> </a:t>
                </a:r>
                <a:r>
                  <a:rPr lang="es-PE" sz="900" b="0" i="0" dirty="0" err="1">
                    <a:solidFill>
                      <a:schemeClr val="tx1"/>
                    </a:solidFill>
                    <a:effectLst/>
                    <a:latin typeface="Segoe WPC"/>
                  </a:rPr>
                  <a:t>package</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Stylized</a:t>
                </a:r>
                <a:r>
                  <a:rPr lang="es-PE" sz="900" b="0" i="0" dirty="0">
                    <a:solidFill>
                      <a:schemeClr val="tx1"/>
                    </a:solidFill>
                    <a:effectLst/>
                    <a:latin typeface="Segoe WPC"/>
                  </a:rPr>
                  <a:t> </a:t>
                </a:r>
                <a:r>
                  <a:rPr lang="es-PE" sz="900" b="0" i="0" dirty="0" err="1">
                    <a:solidFill>
                      <a:schemeClr val="tx1"/>
                    </a:solidFill>
                    <a:effectLst/>
                    <a:latin typeface="Segoe WPC"/>
                  </a:rPr>
                  <a:t>exchange</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𝑇</m:t>
                            </m:r>
                          </m:sub>
                        </m:sSub>
                      </m:e>
                      <m:e>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2</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0</m:t>
                        </m:r>
                      </m:e>
                    </m:d>
                  </m:oMath>
                </a14:m>
                <a:r>
                  <a:rPr lang="ar-AE" sz="900" b="0" i="0" dirty="0">
                    <a:solidFill>
                      <a:schemeClr val="tx1"/>
                    </a:solidFill>
                    <a:effectLst/>
                    <a:latin typeface="Segoe WPC"/>
                  </a:rPr>
                  <a:t>; </a:t>
                </a:r>
                <a:r>
                  <a:rPr lang="es-PE" sz="900" b="0" i="0" dirty="0" err="1">
                    <a:solidFill>
                      <a:schemeClr val="tx1"/>
                    </a:solidFill>
                    <a:effectLst/>
                    <a:latin typeface="Segoe WPC"/>
                  </a:rPr>
                  <a:t>basket</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func>
                      <m:funcPr>
                        <m:ctrlPr>
                          <a:rPr lang="ar-AE" sz="900" i="1">
                            <a:solidFill>
                              <a:schemeClr val="tx1"/>
                            </a:solidFill>
                            <a:latin typeface="Cambria Math" panose="02040503050406030204" pitchFamily="18" charset="0"/>
                          </a:rPr>
                        </m:ctrlPr>
                      </m:funcPr>
                      <m:fName>
                        <m:r>
                          <m:rPr>
                            <m:sty m:val="p"/>
                          </m:rPr>
                          <a:rPr lang="es-PE" sz="900" i="0">
                            <a:solidFill>
                              <a:schemeClr val="tx1"/>
                            </a:solidFill>
                            <a:latin typeface="Cambria Math" panose="02040503050406030204" pitchFamily="18" charset="0"/>
                          </a:rPr>
                          <m:t>max</m:t>
                        </m:r>
                      </m:fName>
                      <m:e>
                        <m:r>
                          <m:rPr>
                            <m:nor/>
                          </m:rPr>
                          <a:rPr lang="ar-AE" sz="900" b="0" i="1">
                            <a:solidFill>
                              <a:schemeClr val="tx1"/>
                            </a:solidFill>
                            <a:latin typeface="Cambria Math" panose="02040503050406030204" pitchFamily="18" charset="0"/>
                          </a:rPr>
                          <m:t> </m:t>
                        </m:r>
                        <m:r>
                          <m:rPr>
                            <m:nor/>
                          </m:rPr>
                          <a:rPr lang="ar-AE" sz="900" b="0" i="1">
                            <a:solidFill>
                              <a:schemeClr val="tx1"/>
                            </a:solidFill>
                            <a:latin typeface="Cambria Math" panose="02040503050406030204" pitchFamily="18" charset="0"/>
                          </a:rPr>
                          <m:t>⁣</m:t>
                        </m:r>
                      </m:e>
                    </m:func>
                    <m:d>
                      <m:dPr>
                        <m:sepChr m:val=","/>
                        <m:ctrlPr>
                          <a:rPr lang="ar-AE" sz="900" b="0" i="1">
                            <a:solidFill>
                              <a:schemeClr val="tx1"/>
                            </a:solidFill>
                            <a:latin typeface="Cambria Math" panose="02040503050406030204" pitchFamily="18" charset="0"/>
                          </a:rPr>
                        </m:ctrlPr>
                      </m:dPr>
                      <m:e>
                        <m:nary>
                          <m:naryPr>
                            <m:chr m:val="∑"/>
                            <m:limLoc m:val="subSup"/>
                            <m:grow m:val="on"/>
                            <m:supHide m:val="on"/>
                            <m:ctrlPr>
                              <a:rPr lang="ar-AE" sz="900" b="0" i="1">
                                <a:solidFill>
                                  <a:schemeClr val="tx1"/>
                                </a:solidFill>
                                <a:latin typeface="Cambria Math" panose="02040503050406030204" pitchFamily="18" charset="0"/>
                              </a:rPr>
                            </m:ctrlPr>
                          </m:naryPr>
                          <m:sub>
                            <m:r>
                              <a:rPr lang="ar-AE" sz="900" b="0" i="1">
                                <a:solidFill>
                                  <a:schemeClr val="tx1"/>
                                </a:solidFill>
                                <a:latin typeface="Cambria Math" panose="02040503050406030204" pitchFamily="18" charset="0"/>
                              </a:rPr>
                              <m:t>𝑖</m:t>
                            </m:r>
                          </m:sub>
                          <m:sup/>
                          <m:e>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𝑤</m:t>
                                </m:r>
                              </m:e>
                              <m:sub>
                                <m:r>
                                  <a:rPr lang="ar-AE" sz="900" b="0" i="1">
                                    <a:solidFill>
                                      <a:schemeClr val="tx1"/>
                                    </a:solidFill>
                                    <a:latin typeface="Cambria Math" panose="02040503050406030204" pitchFamily="18" charset="0"/>
                                  </a:rPr>
                                  <m:t>𝑖</m:t>
                                </m:r>
                              </m:sub>
                            </m:sSub>
                          </m:e>
                        </m:nary>
                      </m:e>
                      <m:e>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𝑆</m:t>
                            </m:r>
                          </m:e>
                          <m:sub>
                            <m:r>
                              <a:rPr lang="ar-AE" sz="900" b="0" i="1">
                                <a:solidFill>
                                  <a:schemeClr val="tx1"/>
                                </a:solidFill>
                                <a:latin typeface="Cambria Math" panose="02040503050406030204" pitchFamily="18" charset="0"/>
                              </a:rPr>
                              <m:t>𝑖</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𝑇</m:t>
                            </m:r>
                          </m:sub>
                        </m:sSub>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𝐾</m:t>
                        </m:r>
                        <m:r>
                          <a:rPr lang="ar-AE" sz="900" b="0" i="0">
                            <a:solidFill>
                              <a:schemeClr val="tx1"/>
                            </a:solidFill>
                            <a:latin typeface="Cambria Math" panose="02040503050406030204" pitchFamily="18" charset="0"/>
                          </a:rPr>
                          <m:t>0</m:t>
                        </m:r>
                      </m:e>
                    </m:d>
                  </m:oMath>
                </a14:m>
                <a:r>
                  <a:rPr lang="ar-AE" sz="900" b="0" i="0" dirty="0">
                    <a:solidFill>
                      <a:schemeClr val="tx1"/>
                    </a:solidFill>
                    <a:effectLst/>
                    <a:latin typeface="Segoe WPC"/>
                  </a:rPr>
                  <a:t>.</a:t>
                </a:r>
                <a:br>
                  <a:rPr lang="ar-AE" sz="900" dirty="0">
                    <a:solidFill>
                      <a:schemeClr val="tx1"/>
                    </a:solidFill>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Basket</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heavily</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among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correlation</a:t>
                </a:r>
                <a:r>
                  <a:rPr lang="es-PE" sz="900" b="0" i="0" dirty="0">
                    <a:solidFill>
                      <a:schemeClr val="tx1"/>
                    </a:solidFill>
                    <a:effectLst/>
                    <a:latin typeface="Segoe WPC"/>
                  </a:rPr>
                  <a:t> raises </a:t>
                </a:r>
                <a:r>
                  <a:rPr lang="es-PE" sz="900" b="0" i="0" dirty="0" err="1">
                    <a:solidFill>
                      <a:schemeClr val="tx1"/>
                    </a:solidFill>
                    <a:effectLst/>
                    <a:latin typeface="Segoe WPC"/>
                  </a:rPr>
                  <a:t>basket</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diversification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weaker</a:t>
                </a:r>
                <a:r>
                  <a:rPr lang="es-PE" sz="900" b="0" i="0" dirty="0">
                    <a:solidFill>
                      <a:schemeClr val="tx1"/>
                    </a:solidFill>
                    <a:effectLst/>
                    <a:latin typeface="Segoe WPC"/>
                  </a:rPr>
                  <a:t>.</a:t>
                </a:r>
                <a:endParaRPr lang="es-PE" sz="900" dirty="0">
                  <a:solidFill>
                    <a:schemeClr val="tx1"/>
                  </a:solidFill>
                </a:endParaRPr>
              </a:p>
            </p:txBody>
          </p:sp>
        </mc:Choice>
        <mc:Fallback xmlns="">
          <p:sp>
            <p:nvSpPr>
              <p:cNvPr id="15" name="CuadroTexto 14">
                <a:extLst>
                  <a:ext uri="{FF2B5EF4-FFF2-40B4-BE49-F238E27FC236}">
                    <a16:creationId xmlns:a16="http://schemas.microsoft.com/office/drawing/2014/main" id="{C13A73FB-9804-3100-B042-7223D93F8B4D}"/>
                  </a:ext>
                </a:extLst>
              </p:cNvPr>
              <p:cNvSpPr txBox="1">
                <a:spLocks noRot="1" noChangeAspect="1" noMove="1" noResize="1" noEditPoints="1" noAdjustHandles="1" noChangeArrowheads="1" noChangeShapeType="1" noTextEdit="1"/>
              </p:cNvSpPr>
              <p:nvPr/>
            </p:nvSpPr>
            <p:spPr>
              <a:xfrm>
                <a:off x="6313713" y="3007470"/>
                <a:ext cx="5849258" cy="1495153"/>
              </a:xfrm>
              <a:prstGeom prst="rect">
                <a:avLst/>
              </a:prstGeom>
              <a:blipFill>
                <a:blip r:embed="rId5"/>
                <a:stretch>
                  <a:fillRect b="-813"/>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431A2FE7-AA13-01DE-C0E7-A6CB4FB338E2}"/>
                  </a:ext>
                </a:extLst>
              </p:cNvPr>
              <p:cNvSpPr txBox="1"/>
              <p:nvPr/>
            </p:nvSpPr>
            <p:spPr>
              <a:xfrm>
                <a:off x="6291941" y="4425663"/>
                <a:ext cx="5921829" cy="1348703"/>
              </a:xfrm>
              <a:prstGeom prst="rect">
                <a:avLst/>
              </a:prstGeom>
              <a:noFill/>
            </p:spPr>
            <p:txBody>
              <a:bodyPr wrap="square">
                <a:spAutoFit/>
              </a:bodyPr>
              <a:lstStyle/>
              <a:p>
                <a:r>
                  <a:rPr lang="es-PE" sz="900" b="1" i="0" dirty="0">
                    <a:solidFill>
                      <a:schemeClr val="tx1"/>
                    </a:solidFill>
                    <a:effectLst/>
                    <a:latin typeface="Segoe WPC"/>
                  </a:rPr>
                  <a:t>9. </a:t>
                </a:r>
                <a:r>
                  <a:rPr lang="es-PE" sz="900" b="1" i="0" dirty="0" err="1">
                    <a:solidFill>
                      <a:schemeClr val="tx1"/>
                    </a:solidFill>
                    <a:effectLst/>
                    <a:latin typeface="Segoe WPC"/>
                  </a:rPr>
                  <a:t>Volatility</a:t>
                </a:r>
                <a:r>
                  <a:rPr lang="es-PE" sz="900" b="1" i="0" dirty="0">
                    <a:solidFill>
                      <a:schemeClr val="tx1"/>
                    </a:solidFill>
                    <a:effectLst/>
                    <a:latin typeface="Segoe WPC"/>
                  </a:rPr>
                  <a:t> and </a:t>
                </a:r>
                <a:r>
                  <a:rPr lang="es-PE" sz="900" b="1" i="0" dirty="0" err="1">
                    <a:solidFill>
                      <a:schemeClr val="tx1"/>
                    </a:solidFill>
                    <a:effectLst/>
                    <a:latin typeface="Segoe WPC"/>
                  </a:rPr>
                  <a:t>Variance</a:t>
                </a:r>
                <a:r>
                  <a:rPr lang="es-PE" sz="900" b="1" i="0" dirty="0">
                    <a:solidFill>
                      <a:schemeClr val="tx1"/>
                    </a:solidFill>
                    <a:effectLst/>
                    <a:latin typeface="Segoe WPC"/>
                  </a:rPr>
                  <a:t> Swaps</a:t>
                </a:r>
                <a:br>
                  <a:rPr lang="es-PE" sz="900" dirty="0">
                    <a:solidFill>
                      <a:schemeClr val="tx1"/>
                    </a:solidFill>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swaps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realized</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realized</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directly</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isolate</a:t>
                </a:r>
                <a:r>
                  <a:rPr lang="es-PE" sz="900" b="0" i="0" dirty="0">
                    <a:solidFill>
                      <a:schemeClr val="tx1"/>
                    </a:solidFill>
                    <a:effectLst/>
                    <a:latin typeface="Segoe WPC"/>
                  </a:rPr>
                  <a:t> pure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exposure</a:t>
                </a:r>
                <a:r>
                  <a:rPr lang="es-PE" sz="900" b="0" i="0" dirty="0">
                    <a:solidFill>
                      <a:schemeClr val="tx1"/>
                    </a:solidFill>
                    <a:effectLst/>
                    <a:latin typeface="Segoe WPC"/>
                  </a:rPr>
                  <a:t>, </a:t>
                </a:r>
                <a:r>
                  <a:rPr lang="es-PE" sz="900" b="0" i="0" dirty="0" err="1">
                    <a:solidFill>
                      <a:schemeClr val="tx1"/>
                    </a:solidFill>
                    <a:effectLst/>
                    <a:latin typeface="Segoe WPC"/>
                  </a:rPr>
                  <a:t>unlike</a:t>
                </a:r>
                <a:r>
                  <a:rPr lang="es-PE" sz="900" b="0" i="0" dirty="0">
                    <a:solidFill>
                      <a:schemeClr val="tx1"/>
                    </a:solidFill>
                    <a:effectLst/>
                    <a:latin typeface="Segoe WPC"/>
                  </a:rPr>
                  <a:t> </a:t>
                </a:r>
                <a:r>
                  <a:rPr lang="es-PE" sz="900" b="0" i="0" dirty="0" err="1">
                    <a:solidFill>
                      <a:schemeClr val="tx1"/>
                    </a:solidFill>
                    <a:effectLst/>
                    <a:latin typeface="Segoe WPC"/>
                  </a:rPr>
                  <a:t>vanilla</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which</a:t>
                </a:r>
                <a:r>
                  <a:rPr lang="es-PE" sz="900" b="0" i="0" dirty="0">
                    <a:solidFill>
                      <a:schemeClr val="tx1"/>
                    </a:solidFill>
                    <a:effectLst/>
                    <a:latin typeface="Segoe WPC"/>
                  </a:rPr>
                  <a:t> </a:t>
                </a:r>
                <a:r>
                  <a:rPr lang="es-PE" sz="900" b="0" i="0" dirty="0" err="1">
                    <a:solidFill>
                      <a:schemeClr val="tx1"/>
                    </a:solidFill>
                    <a:effectLst/>
                    <a:latin typeface="Segoe WPC"/>
                  </a:rPr>
                  <a:t>depend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and </a:t>
                </a:r>
                <a:r>
                  <a:rPr lang="es-PE" sz="900" b="0" i="0" dirty="0" err="1">
                    <a:solidFill>
                      <a:schemeClr val="tx1"/>
                    </a:solidFill>
                    <a:effectLst/>
                    <a:latin typeface="Segoe WPC"/>
                  </a:rPr>
                  <a:t>volatility</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trader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betting</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turbulent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will</a:t>
                </a:r>
                <a:r>
                  <a:rPr lang="es-PE" sz="900" b="0" i="0" dirty="0">
                    <a:solidFill>
                      <a:schemeClr val="tx1"/>
                    </a:solidFill>
                    <a:effectLst/>
                    <a:latin typeface="Segoe WPC"/>
                  </a:rPr>
                  <a:t> be,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direction</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Pay-fixed</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swap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𝐿</m:t>
                        </m:r>
                      </m:e>
                      <m:sub>
                        <m:r>
                          <m:rPr>
                            <m:nor/>
                          </m:rPr>
                          <a:rPr lang="es-PE" sz="900" b="0" i="1">
                            <a:solidFill>
                              <a:schemeClr val="tx1"/>
                            </a:solidFill>
                            <a:latin typeface="Cambria Math" panose="02040503050406030204" pitchFamily="18" charset="0"/>
                          </a:rPr>
                          <m:t>vol</m:t>
                        </m:r>
                      </m:sub>
                    </m:sSub>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𝜎</m:t>
                        </m:r>
                        <m:r>
                          <a:rPr lang="ar-A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𝜎</m:t>
                            </m:r>
                          </m:e>
                          <m:sub>
                            <m:r>
                              <a:rPr lang="ar-AE" sz="900" b="0" i="1">
                                <a:solidFill>
                                  <a:schemeClr val="tx1"/>
                                </a:solidFill>
                                <a:latin typeface="Cambria Math" panose="02040503050406030204" pitchFamily="18" charset="0"/>
                              </a:rPr>
                              <m:t>𝐾</m:t>
                            </m:r>
                          </m:sub>
                        </m:sSub>
                      </m:e>
                    </m:d>
                  </m:oMath>
                </a14:m>
                <a:r>
                  <a:rPr lang="ar-AE" sz="900" b="0" i="0" dirty="0">
                    <a:solidFill>
                      <a:schemeClr val="tx1"/>
                    </a:solidFill>
                    <a:effectLst/>
                    <a:latin typeface="Segoe WPC"/>
                  </a:rPr>
                  <a:t>; </a:t>
                </a:r>
                <a:r>
                  <a:rPr lang="es-PE" sz="900" b="0" i="0" dirty="0" err="1">
                    <a:solidFill>
                      <a:schemeClr val="tx1"/>
                    </a:solidFill>
                    <a:effectLst/>
                    <a:latin typeface="Segoe WPC"/>
                  </a:rPr>
                  <a:t>pay-fixed</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swap </a:t>
                </a:r>
                <a:r>
                  <a:rPr lang="es-PE" sz="900" b="0" i="0" dirty="0" err="1">
                    <a:solidFill>
                      <a:schemeClr val="tx1"/>
                    </a:solidFill>
                    <a:effectLst/>
                    <a:latin typeface="Segoe WPC"/>
                  </a:rPr>
                  <a:t>payoff</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𝐿</m:t>
                        </m:r>
                      </m:e>
                      <m:sub>
                        <m:r>
                          <m:rPr>
                            <m:nor/>
                          </m:rPr>
                          <a:rPr lang="es-PE" sz="900" b="0" i="1">
                            <a:solidFill>
                              <a:schemeClr val="tx1"/>
                            </a:solidFill>
                            <a:latin typeface="Cambria Math" panose="02040503050406030204" pitchFamily="18" charset="0"/>
                          </a:rPr>
                          <m:t>var</m:t>
                        </m:r>
                      </m:sub>
                    </m:sSub>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𝑉</m:t>
                        </m:r>
                        <m:r>
                          <a:rPr lang="ar-A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𝑉</m:t>
                            </m:r>
                          </m:e>
                          <m:sub>
                            <m:r>
                              <a:rPr lang="ar-AE" sz="900" b="0" i="1">
                                <a:solidFill>
                                  <a:schemeClr val="tx1"/>
                                </a:solidFill>
                                <a:latin typeface="Cambria Math" panose="02040503050406030204" pitchFamily="18" charset="0"/>
                              </a:rPr>
                              <m:t>𝐾</m:t>
                            </m:r>
                          </m:sub>
                        </m:sSub>
                      </m:e>
                    </m:d>
                  </m:oMath>
                </a14:m>
                <a:r>
                  <a:rPr lang="ar-AE" sz="900" b="0" i="0" dirty="0">
                    <a:solidFill>
                      <a:schemeClr val="tx1"/>
                    </a:solidFill>
                    <a:effectLst/>
                    <a:latin typeface="Segoe WPC"/>
                  </a:rPr>
                  <a:t>.</a:t>
                </a:r>
                <a:br>
                  <a:rPr lang="ar-AE" sz="900" dirty="0">
                    <a:solidFill>
                      <a:schemeClr val="tx1"/>
                    </a:solidFill>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swaps are more sensitive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outcomes</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squares</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volatility</a:t>
                </a:r>
                <a:r>
                  <a:rPr lang="es-PE" sz="900" b="0" i="0" dirty="0">
                    <a:solidFill>
                      <a:schemeClr val="tx1"/>
                    </a:solidFill>
                    <a:effectLst/>
                    <a:latin typeface="Segoe WPC"/>
                  </a:rPr>
                  <a:t> swap </a:t>
                </a:r>
                <a:r>
                  <a:rPr lang="es-PE" sz="900" b="0" i="0" dirty="0" err="1">
                    <a:solidFill>
                      <a:schemeClr val="tx1"/>
                    </a:solidFill>
                    <a:effectLst/>
                    <a:latin typeface="Segoe WPC"/>
                  </a:rPr>
                  <a:t>is</a:t>
                </a:r>
                <a:r>
                  <a:rPr lang="es-PE" sz="900" b="0" i="0" dirty="0">
                    <a:solidFill>
                      <a:schemeClr val="tx1"/>
                    </a:solidFill>
                    <a:effectLst/>
                    <a:latin typeface="Segoe WPC"/>
                  </a:rPr>
                  <a:t> linear in </a:t>
                </a:r>
                <a:r>
                  <a:rPr lang="es-PE" sz="900" b="0" i="0" dirty="0" err="1">
                    <a:solidFill>
                      <a:schemeClr val="tx1"/>
                    </a:solidFill>
                    <a:effectLst/>
                    <a:latin typeface="Segoe WPC"/>
                  </a:rPr>
                  <a:t>volatility</a:t>
                </a:r>
                <a:r>
                  <a:rPr lang="es-PE" sz="900" b="0" i="0" dirty="0">
                    <a:solidFill>
                      <a:schemeClr val="tx1"/>
                    </a:solidFill>
                    <a:effectLst/>
                    <a:latin typeface="Segoe WPC"/>
                  </a:rPr>
                  <a:t>; a </a:t>
                </a:r>
                <a:r>
                  <a:rPr lang="es-PE" sz="900" b="0" i="0" dirty="0" err="1">
                    <a:solidFill>
                      <a:schemeClr val="tx1"/>
                    </a:solidFill>
                    <a:effectLst/>
                    <a:latin typeface="Segoe WPC"/>
                  </a:rPr>
                  <a:t>variance</a:t>
                </a:r>
                <a:r>
                  <a:rPr lang="es-PE" sz="900" b="0" i="0" dirty="0">
                    <a:solidFill>
                      <a:schemeClr val="tx1"/>
                    </a:solidFill>
                    <a:effectLst/>
                    <a:latin typeface="Segoe WPC"/>
                  </a:rPr>
                  <a:t> swap </a:t>
                </a:r>
                <a:r>
                  <a:rPr lang="es-PE" sz="900" b="0" i="0" dirty="0" err="1">
                    <a:solidFill>
                      <a:schemeClr val="tx1"/>
                    </a:solidFill>
                    <a:effectLst/>
                    <a:latin typeface="Segoe WPC"/>
                  </a:rPr>
                  <a:t>is</a:t>
                </a:r>
                <a:r>
                  <a:rPr lang="es-PE" sz="900" b="0" i="0" dirty="0">
                    <a:solidFill>
                      <a:schemeClr val="tx1"/>
                    </a:solidFill>
                    <a:effectLst/>
                    <a:latin typeface="Segoe WPC"/>
                  </a:rPr>
                  <a:t> linear in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a:t>
                </a:r>
                <a:endParaRPr lang="es-PE" sz="900" dirty="0">
                  <a:solidFill>
                    <a:schemeClr val="tx1"/>
                  </a:solidFill>
                </a:endParaRPr>
              </a:p>
            </p:txBody>
          </p:sp>
        </mc:Choice>
        <mc:Fallback xmlns="">
          <p:sp>
            <p:nvSpPr>
              <p:cNvPr id="19" name="CuadroTexto 18">
                <a:extLst>
                  <a:ext uri="{FF2B5EF4-FFF2-40B4-BE49-F238E27FC236}">
                    <a16:creationId xmlns:a16="http://schemas.microsoft.com/office/drawing/2014/main" id="{431A2FE7-AA13-01DE-C0E7-A6CB4FB338E2}"/>
                  </a:ext>
                </a:extLst>
              </p:cNvPr>
              <p:cNvSpPr txBox="1">
                <a:spLocks noRot="1" noChangeAspect="1" noMove="1" noResize="1" noEditPoints="1" noAdjustHandles="1" noChangeArrowheads="1" noChangeShapeType="1" noTextEdit="1"/>
              </p:cNvSpPr>
              <p:nvPr/>
            </p:nvSpPr>
            <p:spPr>
              <a:xfrm>
                <a:off x="6291941" y="4425663"/>
                <a:ext cx="5921829" cy="1348703"/>
              </a:xfrm>
              <a:prstGeom prst="rect">
                <a:avLst/>
              </a:prstGeom>
              <a:blipFill>
                <a:blip r:embed="rId6"/>
                <a:stretch>
                  <a:fillRect b="-905"/>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BA597932-FF09-BA83-623D-12121928CA3C}"/>
                  </a:ext>
                </a:extLst>
              </p:cNvPr>
              <p:cNvSpPr txBox="1"/>
              <p:nvPr/>
            </p:nvSpPr>
            <p:spPr>
              <a:xfrm>
                <a:off x="6277426" y="5678440"/>
                <a:ext cx="5950857" cy="1218923"/>
              </a:xfrm>
              <a:prstGeom prst="rect">
                <a:avLst/>
              </a:prstGeom>
              <a:noFill/>
            </p:spPr>
            <p:txBody>
              <a:bodyPr wrap="square">
                <a:spAutoFit/>
              </a:bodyPr>
              <a:lstStyle/>
              <a:p>
                <a:r>
                  <a:rPr lang="es-PE" sz="900" b="1" dirty="0">
                    <a:latin typeface="Segoe WPC"/>
                  </a:rPr>
                  <a:t>10. </a:t>
                </a: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Static</a:t>
                </a:r>
                <a:r>
                  <a:rPr lang="es-PE" sz="900" b="0" i="0" dirty="0">
                    <a:solidFill>
                      <a:schemeClr val="tx1"/>
                    </a:solidFill>
                    <a:effectLst/>
                    <a:latin typeface="Segoe WPC"/>
                  </a:rPr>
                  <a:t> </a:t>
                </a:r>
                <a:r>
                  <a:rPr lang="es-PE" sz="900" b="0" i="0" dirty="0" err="1">
                    <a:solidFill>
                      <a:schemeClr val="tx1"/>
                    </a:solidFill>
                    <a:effectLst/>
                    <a:latin typeface="Segoe WPC"/>
                  </a:rPr>
                  <a:t>replication</a:t>
                </a:r>
                <a:r>
                  <a:rPr lang="es-PE" sz="900" b="0" i="0" dirty="0">
                    <a:solidFill>
                      <a:schemeClr val="tx1"/>
                    </a:solidFill>
                    <a:effectLst/>
                    <a:latin typeface="Segoe WPC"/>
                  </a:rPr>
                  <a:t> </a:t>
                </a:r>
                <a:r>
                  <a:rPr lang="es-PE" sz="900" b="0" i="0" dirty="0" err="1">
                    <a:solidFill>
                      <a:schemeClr val="tx1"/>
                    </a:solidFill>
                    <a:effectLst/>
                    <a:latin typeface="Segoe WPC"/>
                  </a:rPr>
                  <a:t>hedges</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exotic</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constructing</a:t>
                </a:r>
                <a:r>
                  <a:rPr lang="es-PE" sz="900" b="0" i="0" dirty="0">
                    <a:solidFill>
                      <a:schemeClr val="tx1"/>
                    </a:solidFill>
                    <a:effectLst/>
                    <a:latin typeface="Segoe WPC"/>
                  </a:rPr>
                  <a:t> a portfolio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vanilla</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matches</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 </a:t>
                </a:r>
                <a:r>
                  <a:rPr lang="es-PE" sz="900" b="0" i="0" dirty="0" err="1">
                    <a:solidFill>
                      <a:schemeClr val="tx1"/>
                    </a:solidFill>
                    <a:effectLst/>
                    <a:latin typeface="Segoe WPC"/>
                  </a:rPr>
                  <a:t>boundary</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portfolios match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relevant</a:t>
                </a:r>
                <a:r>
                  <a:rPr lang="es-PE" sz="900" b="0" i="0" dirty="0">
                    <a:solidFill>
                      <a:schemeClr val="tx1"/>
                    </a:solidFill>
                    <a:effectLst/>
                    <a:latin typeface="Segoe WPC"/>
                  </a:rPr>
                  <a:t> </a:t>
                </a:r>
                <a:r>
                  <a:rPr lang="es-PE" sz="900" b="0" i="0" dirty="0" err="1">
                    <a:solidFill>
                      <a:schemeClr val="tx1"/>
                    </a:solidFill>
                    <a:effectLst/>
                    <a:latin typeface="Segoe WPC"/>
                  </a:rPr>
                  <a:t>boundary</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match </a:t>
                </a:r>
                <a:r>
                  <a:rPr lang="es-PE" sz="900" b="0" i="0" dirty="0" err="1">
                    <a:solidFill>
                      <a:schemeClr val="tx1"/>
                    </a:solidFill>
                    <a:effectLst/>
                    <a:latin typeface="Segoe WPC"/>
                  </a:rPr>
                  <a:t>inside</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under</a:t>
                </a:r>
                <a:r>
                  <a:rPr lang="es-PE" sz="900" b="0" i="0" dirty="0">
                    <a:solidFill>
                      <a:schemeClr val="tx1"/>
                    </a:solidFill>
                    <a:effectLst/>
                    <a:latin typeface="Segoe WPC"/>
                  </a:rPr>
                  <a:t> no-</a:t>
                </a:r>
                <a:r>
                  <a:rPr lang="es-PE" sz="900" b="0" i="0" dirty="0" err="1">
                    <a:solidFill>
                      <a:schemeClr val="tx1"/>
                    </a:solidFill>
                    <a:effectLst/>
                    <a:latin typeface="Segoe WPC"/>
                  </a:rPr>
                  <a:t>arbitrage</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Instead</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dynamically</a:t>
                </a:r>
                <a:r>
                  <a:rPr lang="es-PE" sz="900" b="0" i="0" dirty="0">
                    <a:solidFill>
                      <a:schemeClr val="tx1"/>
                    </a:solidFill>
                    <a:effectLst/>
                    <a:latin typeface="Segoe WPC"/>
                  </a:rPr>
                  <a:t> </a:t>
                </a:r>
                <a:r>
                  <a:rPr lang="es-PE" sz="900" b="0" i="0" dirty="0" err="1">
                    <a:solidFill>
                      <a:schemeClr val="tx1"/>
                    </a:solidFill>
                    <a:effectLst/>
                    <a:latin typeface="Segoe WPC"/>
                  </a:rPr>
                  <a:t>re-hedging</a:t>
                </a:r>
                <a:r>
                  <a:rPr lang="es-PE" sz="900" b="0" i="0" dirty="0">
                    <a:solidFill>
                      <a:schemeClr val="tx1"/>
                    </a:solidFill>
                    <a:effectLst/>
                    <a:latin typeface="Segoe WPC"/>
                  </a:rPr>
                  <a:t> </a:t>
                </a:r>
                <a:r>
                  <a:rPr lang="es-PE" sz="900" b="0" i="0" dirty="0" err="1">
                    <a:solidFill>
                      <a:schemeClr val="tx1"/>
                    </a:solidFill>
                    <a:effectLst/>
                    <a:latin typeface="Segoe WPC"/>
                  </a:rPr>
                  <a:t>every</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trader</a:t>
                </a:r>
                <a:r>
                  <a:rPr lang="es-PE" sz="900" b="0" i="0" dirty="0">
                    <a:solidFill>
                      <a:schemeClr val="tx1"/>
                    </a:solidFill>
                    <a:effectLst/>
                    <a:latin typeface="Segoe WPC"/>
                  </a:rPr>
                  <a:t> </a:t>
                </a:r>
                <a:r>
                  <a:rPr lang="es-PE" sz="900" b="0" i="0" dirty="0" err="1">
                    <a:solidFill>
                      <a:schemeClr val="tx1"/>
                    </a:solidFill>
                    <a:effectLst/>
                    <a:latin typeface="Segoe WPC"/>
                  </a:rPr>
                  <a:t>builds</a:t>
                </a:r>
                <a:r>
                  <a:rPr lang="es-PE" sz="900" b="0" i="0" dirty="0">
                    <a:solidFill>
                      <a:schemeClr val="tx1"/>
                    </a:solidFill>
                    <a:effectLst/>
                    <a:latin typeface="Segoe WPC"/>
                  </a:rPr>
                  <a:t> a portfolio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vanilla</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and </a:t>
                </a:r>
                <a:r>
                  <a:rPr lang="es-PE" sz="900" b="0" i="0" dirty="0" err="1">
                    <a:solidFill>
                      <a:schemeClr val="tx1"/>
                    </a:solidFill>
                    <a:effectLst/>
                    <a:latin typeface="Segoe WPC"/>
                  </a:rPr>
                  <a:t>leaves</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unchanged</a:t>
                </a:r>
                <a:r>
                  <a:rPr lang="es-PE" sz="900" b="0" i="0" dirty="0">
                    <a:solidFill>
                      <a:schemeClr val="tx1"/>
                    </a:solidFill>
                    <a:effectLst/>
                    <a:latin typeface="Segoe WPC"/>
                  </a:rPr>
                  <a:t> </a:t>
                </a:r>
                <a:r>
                  <a:rPr lang="es-PE" sz="900" b="0" i="0" dirty="0" err="1">
                    <a:solidFill>
                      <a:schemeClr val="tx1"/>
                    </a:solidFill>
                    <a:effectLst/>
                    <a:latin typeface="Segoe WPC"/>
                  </a:rPr>
                  <a:t>until</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boundary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reached</a:t>
                </a:r>
                <a:r>
                  <a:rPr lang="es-PE" sz="900" b="0" i="0" dirty="0">
                    <a:solidFill>
                      <a:schemeClr val="tx1"/>
                    </a:solidFill>
                    <a:effectLst/>
                    <a:latin typeface="Segoe WPC"/>
                  </a:rPr>
                  <a:t>.</a:t>
                </a:r>
                <a:br>
                  <a:rPr lang="es-PE" sz="900" dirty="0">
                    <a:solidFill>
                      <a:schemeClr val="tx1"/>
                    </a:solidFill>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boundary</a:t>
                </a:r>
                <a:r>
                  <a:rPr lang="es-PE" sz="900" b="0" i="0" dirty="0">
                    <a:solidFill>
                      <a:schemeClr val="tx1"/>
                    </a:solidFill>
                    <a:effectLst/>
                    <a:latin typeface="Segoe WPC"/>
                  </a:rPr>
                  <a:t> </a:t>
                </a:r>
                <a:r>
                  <a:rPr lang="es-PE" sz="900" b="0" i="0" dirty="0" err="1">
                    <a:solidFill>
                      <a:schemeClr val="tx1"/>
                    </a:solidFill>
                    <a:effectLst/>
                    <a:latin typeface="Segoe WPC"/>
                  </a:rPr>
                  <a:t>points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𝑗</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1</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𝑁</m:t>
                    </m:r>
                  </m:oMath>
                </a14:m>
                <a:r>
                  <a:rPr lang="es-PE" sz="900" b="0" i="0" dirty="0">
                    <a:solidFill>
                      <a:schemeClr val="tx1"/>
                    </a:solidFill>
                    <a:effectLst/>
                    <a:latin typeface="Segoe WPC"/>
                  </a:rPr>
                  <a:t>, </a:t>
                </a:r>
                <a:r>
                  <a:rPr lang="es-PE" sz="900" b="0" i="0" dirty="0" err="1">
                    <a:solidFill>
                      <a:schemeClr val="tx1"/>
                    </a:solidFill>
                    <a:effectLst/>
                    <a:latin typeface="Segoe WPC"/>
                  </a:rPr>
                  <a:t>choose</a:t>
                </a:r>
                <a:r>
                  <a:rPr lang="es-PE" sz="900" b="0" i="0" dirty="0">
                    <a:solidFill>
                      <a:schemeClr val="tx1"/>
                    </a:solidFill>
                    <a:effectLst/>
                    <a:latin typeface="Segoe WPC"/>
                  </a:rPr>
                  <a:t> </a:t>
                </a:r>
                <a:r>
                  <a:rPr lang="es-PE" sz="900" b="0" i="0" dirty="0" err="1">
                    <a:solidFill>
                      <a:schemeClr val="tx1"/>
                    </a:solidFill>
                    <a:effectLst/>
                    <a:latin typeface="Segoe WPC"/>
                  </a:rPr>
                  <a:t>weights</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𝑎</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a:solidFill>
                      <a:schemeClr val="tx1"/>
                    </a:solidFill>
                    <a:effectLst/>
                    <a:latin typeface="Segoe WPC"/>
                  </a:rPr>
                  <a:t>so </a:t>
                </a:r>
                <a:r>
                  <a:rPr lang="es-PE" sz="900" b="0" i="0" dirty="0" err="1">
                    <a:solidFill>
                      <a:schemeClr val="tx1"/>
                    </a:solidFill>
                    <a:effectLst/>
                    <a:latin typeface="Segoe WPC"/>
                  </a:rPr>
                  <a:t>that</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𝑐</m:t>
                        </m:r>
                      </m:e>
                      <m:sub>
                        <m:r>
                          <a:rPr lang="ar-AE" sz="900" i="1">
                            <a:solidFill>
                              <a:schemeClr val="tx1"/>
                            </a:solidFill>
                            <a:latin typeface="Cambria Math" panose="02040503050406030204" pitchFamily="18" charset="0"/>
                          </a:rPr>
                          <m:t>𝑗</m:t>
                        </m:r>
                      </m:sub>
                    </m:sSub>
                    <m:r>
                      <a:rPr lang="ar-AE" sz="900" i="0">
                        <a:solidFill>
                          <a:schemeClr val="tx1"/>
                        </a:solidFill>
                        <a:latin typeface="Cambria Math" panose="02040503050406030204" pitchFamily="18" charset="0"/>
                      </a:rPr>
                      <m:t>+</m:t>
                    </m:r>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𝑁</m:t>
                        </m:r>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𝑎</m:t>
                            </m:r>
                          </m:e>
                          <m:sub>
                            <m:r>
                              <a:rPr lang="ar-AE" sz="900" i="1">
                                <a:solidFill>
                                  <a:schemeClr val="tx1"/>
                                </a:solidFill>
                                <a:latin typeface="Cambria Math" panose="02040503050406030204" pitchFamily="18" charset="0"/>
                              </a:rPr>
                              <m:t>𝑖</m:t>
                            </m:r>
                          </m:sub>
                        </m:sSub>
                      </m:e>
                    </m:nary>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1">
                            <a:solidFill>
                              <a:schemeClr val="tx1"/>
                            </a:solidFill>
                            <a:latin typeface="Cambria Math" panose="02040503050406030204" pitchFamily="18" charset="0"/>
                          </a:rPr>
                          <m:t>𝑖𝑗</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a:t>
                </a:r>
                <a:br>
                  <a:rPr lang="ar-AE" sz="900" dirty="0">
                    <a:solidFill>
                      <a:schemeClr val="tx1"/>
                    </a:solidFill>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especially</a:t>
                </a:r>
                <a:r>
                  <a:rPr lang="es-PE" sz="900" b="0" i="0" dirty="0">
                    <a:solidFill>
                      <a:schemeClr val="tx1"/>
                    </a:solidFill>
                    <a:effectLst/>
                    <a:latin typeface="Segoe WPC"/>
                  </a:rPr>
                  <a:t> </a:t>
                </a:r>
                <a:r>
                  <a:rPr lang="es-PE" sz="900" b="0" i="0" dirty="0" err="1">
                    <a:solidFill>
                      <a:schemeClr val="tx1"/>
                    </a:solidFill>
                    <a:effectLst/>
                    <a:latin typeface="Segoe WPC"/>
                  </a:rPr>
                  <a:t>useful</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difficult-to-hedge</a:t>
                </a:r>
                <a:r>
                  <a:rPr lang="es-PE" sz="900" b="0" i="0" dirty="0">
                    <a:solidFill>
                      <a:schemeClr val="tx1"/>
                    </a:solidFill>
                    <a:effectLst/>
                    <a:latin typeface="Segoe WPC"/>
                  </a:rPr>
                  <a:t> </a:t>
                </a:r>
                <a:r>
                  <a:rPr lang="es-PE" sz="900" b="0" i="0" dirty="0" err="1">
                    <a:solidFill>
                      <a:schemeClr val="tx1"/>
                    </a:solidFill>
                    <a:effectLst/>
                    <a:latin typeface="Segoe WPC"/>
                  </a:rPr>
                  <a:t>exotics</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a:t>
                </a:r>
                <a:r>
                  <a:rPr lang="es-PE" sz="900" b="0" i="0" dirty="0" err="1">
                    <a:solidFill>
                      <a:schemeClr val="tx1"/>
                    </a:solidFill>
                    <a:effectLst/>
                    <a:latin typeface="Segoe WPC"/>
                  </a:rPr>
                  <a:t>barrier</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a:t>
                </a:r>
                <a:br>
                  <a:rPr lang="es-PE" sz="900" dirty="0">
                    <a:solidFill>
                      <a:schemeClr val="tx1"/>
                    </a:solidFill>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Static</a:t>
                </a:r>
                <a:r>
                  <a:rPr lang="es-PE" sz="900" b="0" i="0" dirty="0">
                    <a:solidFill>
                      <a:schemeClr val="tx1"/>
                    </a:solidFill>
                    <a:effectLst/>
                    <a:latin typeface="Segoe WPC"/>
                  </a:rPr>
                  <a:t> </a:t>
                </a:r>
                <a:r>
                  <a:rPr lang="es-PE" sz="900" b="0" i="0" dirty="0" err="1">
                    <a:solidFill>
                      <a:schemeClr val="tx1"/>
                    </a:solidFill>
                    <a:effectLst/>
                    <a:latin typeface="Segoe WPC"/>
                  </a:rPr>
                  <a:t>replication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approximate</a:t>
                </a:r>
                <a:r>
                  <a:rPr lang="es-PE" sz="900" b="0" i="0" dirty="0">
                    <a:solidFill>
                      <a:schemeClr val="tx1"/>
                    </a:solidFill>
                    <a:effectLst/>
                    <a:latin typeface="Segoe WPC"/>
                  </a:rPr>
                  <a:t> in </a:t>
                </a:r>
                <a:r>
                  <a:rPr lang="es-PE" sz="900" b="0" i="0" dirty="0" err="1">
                    <a:solidFill>
                      <a:schemeClr val="tx1"/>
                    </a:solidFill>
                    <a:effectLst/>
                    <a:latin typeface="Segoe WPC"/>
                  </a:rPr>
                  <a:t>practice</a:t>
                </a:r>
                <a:r>
                  <a:rPr lang="es-PE" sz="900" b="0" i="0" dirty="0">
                    <a:solidFill>
                      <a:schemeClr val="tx1"/>
                    </a:solidFill>
                    <a:effectLst/>
                    <a:latin typeface="Segoe WPC"/>
                  </a:rPr>
                  <a:t>; </a:t>
                </a:r>
                <a:r>
                  <a:rPr lang="es-PE" sz="900" b="0" i="0" dirty="0" err="1">
                    <a:solidFill>
                      <a:schemeClr val="tx1"/>
                    </a:solidFill>
                    <a:effectLst/>
                    <a:latin typeface="Segoe WPC"/>
                  </a:rPr>
                  <a:t>quality</a:t>
                </a:r>
                <a:r>
                  <a:rPr lang="es-PE" sz="900" b="0" i="0" dirty="0">
                    <a:solidFill>
                      <a:schemeClr val="tx1"/>
                    </a:solidFill>
                    <a:effectLst/>
                    <a:latin typeface="Segoe WPC"/>
                  </a:rPr>
                  <a:t> </a:t>
                </a:r>
                <a:r>
                  <a:rPr lang="es-PE" sz="900" b="0" i="0" dirty="0" err="1">
                    <a:solidFill>
                      <a:schemeClr val="tx1"/>
                    </a:solidFill>
                    <a:effectLst/>
                    <a:latin typeface="Segoe WPC"/>
                  </a:rPr>
                  <a:t>improves</a:t>
                </a:r>
                <a:r>
                  <a:rPr lang="es-PE" sz="900" b="0" i="0" dirty="0">
                    <a:solidFill>
                      <a:schemeClr val="tx1"/>
                    </a:solidFill>
                    <a:effectLst/>
                    <a:latin typeface="Segoe WPC"/>
                  </a:rPr>
                  <a:t> as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boundary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matched</a:t>
                </a:r>
                <a:r>
                  <a:rPr lang="es-PE" sz="900" b="0" i="0" dirty="0">
                    <a:solidFill>
                      <a:schemeClr val="tx1"/>
                    </a:solidFill>
                    <a:effectLst/>
                    <a:latin typeface="Segoe WPC"/>
                  </a:rPr>
                  <a:t> more </a:t>
                </a:r>
                <a:r>
                  <a:rPr lang="es-PE" sz="900" b="0" i="0" dirty="0" err="1">
                    <a:solidFill>
                      <a:schemeClr val="tx1"/>
                    </a:solidFill>
                    <a:effectLst/>
                    <a:latin typeface="Segoe WPC"/>
                  </a:rPr>
                  <a:t>finely</a:t>
                </a:r>
                <a:r>
                  <a:rPr lang="es-PE" sz="900" b="0" i="0" dirty="0">
                    <a:solidFill>
                      <a:schemeClr val="tx1"/>
                    </a:solidFill>
                    <a:effectLst/>
                    <a:latin typeface="Segoe WPC"/>
                  </a:rPr>
                  <a:t>.</a:t>
                </a:r>
                <a:endParaRPr lang="es-PE" sz="900" dirty="0">
                  <a:solidFill>
                    <a:schemeClr val="tx1"/>
                  </a:solidFill>
                </a:endParaRPr>
              </a:p>
            </p:txBody>
          </p:sp>
        </mc:Choice>
        <mc:Fallback xmlns="">
          <p:sp>
            <p:nvSpPr>
              <p:cNvPr id="21" name="CuadroTexto 20">
                <a:extLst>
                  <a:ext uri="{FF2B5EF4-FFF2-40B4-BE49-F238E27FC236}">
                    <a16:creationId xmlns:a16="http://schemas.microsoft.com/office/drawing/2014/main" id="{BA597932-FF09-BA83-623D-12121928CA3C}"/>
                  </a:ext>
                </a:extLst>
              </p:cNvPr>
              <p:cNvSpPr txBox="1">
                <a:spLocks noRot="1" noChangeAspect="1" noMove="1" noResize="1" noEditPoints="1" noAdjustHandles="1" noChangeArrowheads="1" noChangeShapeType="1" noTextEdit="1"/>
              </p:cNvSpPr>
              <p:nvPr/>
            </p:nvSpPr>
            <p:spPr>
              <a:xfrm>
                <a:off x="6277426" y="5678440"/>
                <a:ext cx="5950857" cy="1218923"/>
              </a:xfrm>
              <a:prstGeom prst="rect">
                <a:avLst/>
              </a:prstGeom>
              <a:blipFill>
                <a:blip r:embed="rId7"/>
                <a:stretch>
                  <a:fillRect b="-2010"/>
                </a:stretch>
              </a:blipFill>
            </p:spPr>
            <p:txBody>
              <a:bodyPr/>
              <a:lstStyle/>
              <a:p>
                <a:r>
                  <a:rPr lang="es-PE">
                    <a:noFill/>
                  </a:rPr>
                  <a:t> </a:t>
                </a:r>
              </a:p>
            </p:txBody>
          </p:sp>
        </mc:Fallback>
      </mc:AlternateContent>
    </p:spTree>
    <p:extLst>
      <p:ext uri="{BB962C8B-B14F-4D97-AF65-F5344CB8AC3E}">
        <p14:creationId xmlns:p14="http://schemas.microsoft.com/office/powerpoint/2010/main" val="16742089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BAF5C162-A8C8-4DE4-7819-3B029E3CBD41}"/>
              </a:ext>
            </a:extLst>
          </p:cNvPr>
          <p:cNvPicPr>
            <a:picLocks noChangeAspect="1"/>
          </p:cNvPicPr>
          <p:nvPr/>
        </p:nvPicPr>
        <p:blipFill>
          <a:blip r:embed="rId2"/>
          <a:stretch>
            <a:fillRect/>
          </a:stretch>
        </p:blipFill>
        <p:spPr>
          <a:xfrm>
            <a:off x="2970791" y="0"/>
            <a:ext cx="6250418" cy="6858000"/>
          </a:xfrm>
          <a:prstGeom prst="rect">
            <a:avLst/>
          </a:prstGeom>
        </p:spPr>
      </p:pic>
    </p:spTree>
    <p:extLst>
      <p:ext uri="{BB962C8B-B14F-4D97-AF65-F5344CB8AC3E}">
        <p14:creationId xmlns:p14="http://schemas.microsoft.com/office/powerpoint/2010/main" val="8095550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717791-A555-E1B0-E89A-465B28F19C14}"/>
              </a:ext>
            </a:extLst>
          </p:cNvPr>
          <p:cNvSpPr>
            <a:spLocks noGrp="1"/>
          </p:cNvSpPr>
          <p:nvPr>
            <p:ph type="title"/>
          </p:nvPr>
        </p:nvSpPr>
        <p:spPr>
          <a:xfrm>
            <a:off x="-1" y="-210501"/>
            <a:ext cx="10515600" cy="581932"/>
          </a:xfrm>
        </p:spPr>
        <p:txBody>
          <a:bodyPr>
            <a:noAutofit/>
          </a:bodyPr>
          <a:lstStyle/>
          <a:p>
            <a:r>
              <a:rPr lang="en-US" sz="2800" dirty="0"/>
              <a:t>Properties of Interest Rates</a:t>
            </a:r>
            <a:endParaRPr lang="es-PE" sz="28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7986A5E9-4FE3-65F5-8787-FD6B67380DE3}"/>
                  </a:ext>
                </a:extLst>
              </p:cNvPr>
              <p:cNvSpPr txBox="1"/>
              <p:nvPr/>
            </p:nvSpPr>
            <p:spPr>
              <a:xfrm>
                <a:off x="-1" y="127636"/>
                <a:ext cx="6255657" cy="6944402"/>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a:t>
                </a:r>
                <a:r>
                  <a:rPr lang="es-PE" sz="900" b="1" i="0" dirty="0" err="1">
                    <a:solidFill>
                      <a:schemeClr val="tx1"/>
                    </a:solidFill>
                    <a:effectLst/>
                    <a:latin typeface="Segoe WPC"/>
                  </a:rPr>
                  <a:t>Types</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a:t>
                </a:r>
                <a:r>
                  <a:rPr lang="es-PE" sz="900" b="1" i="0" dirty="0" err="1">
                    <a:solidFill>
                      <a:schemeClr val="tx1"/>
                    </a:solidFill>
                    <a:effectLst/>
                    <a:latin typeface="Segoe WPC"/>
                  </a:rPr>
                  <a:t>Interest</a:t>
                </a:r>
                <a:r>
                  <a:rPr lang="es-PE" sz="900" b="1" i="0" dirty="0">
                    <a:solidFill>
                      <a:schemeClr val="tx1"/>
                    </a:solidFill>
                    <a:effectLst/>
                    <a:latin typeface="Segoe WPC"/>
                  </a:rPr>
                  <a:t> Rates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differ</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credit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liquidity</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 and </a:t>
                </a:r>
                <a:r>
                  <a:rPr lang="es-PE" sz="900" b="0" i="0" dirty="0" err="1">
                    <a:solidFill>
                      <a:schemeClr val="tx1"/>
                    </a:solidFill>
                    <a:effectLst/>
                    <a:latin typeface="Segoe WPC"/>
                  </a:rPr>
                  <a:t>collateral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Safer</a:t>
                </a:r>
                <a:r>
                  <a:rPr lang="es-PE" sz="900" b="0" i="0" dirty="0">
                    <a:solidFill>
                      <a:schemeClr val="tx1"/>
                    </a:solidFill>
                    <a:effectLst/>
                    <a:latin typeface="Segoe WPC"/>
                  </a:rPr>
                  <a:t> and more </a:t>
                </a:r>
                <a:r>
                  <a:rPr lang="es-PE" sz="900" b="0" i="0" dirty="0" err="1">
                    <a:solidFill>
                      <a:schemeClr val="tx1"/>
                    </a:solidFill>
                    <a:effectLst/>
                    <a:latin typeface="Segoe WPC"/>
                  </a:rPr>
                  <a:t>liquid</a:t>
                </a:r>
                <a:r>
                  <a:rPr lang="es-PE" sz="900" b="0" i="0" dirty="0">
                    <a:solidFill>
                      <a:schemeClr val="tx1"/>
                    </a:solidFill>
                    <a:effectLst/>
                    <a:latin typeface="Segoe WPC"/>
                  </a:rPr>
                  <a:t> </a:t>
                </a:r>
                <a:r>
                  <a:rPr lang="es-PE" sz="900" b="0" i="0" dirty="0" err="1">
                    <a:solidFill>
                      <a:schemeClr val="tx1"/>
                    </a:solidFill>
                    <a:effectLst/>
                    <a:latin typeface="Segoe WPC"/>
                  </a:rPr>
                  <a:t>borrowing</a:t>
                </a:r>
                <a:r>
                  <a:rPr lang="es-PE" sz="900" b="0" i="0" dirty="0">
                    <a:solidFill>
                      <a:schemeClr val="tx1"/>
                    </a:solidFill>
                    <a:effectLst/>
                    <a:latin typeface="Segoe WPC"/>
                  </a:rPr>
                  <a:t> </a:t>
                </a:r>
                <a:r>
                  <a:rPr lang="es-PE" sz="900" b="0" i="0" dirty="0" err="1">
                    <a:solidFill>
                      <a:schemeClr val="tx1"/>
                    </a:solidFill>
                    <a:effectLst/>
                    <a:latin typeface="Segoe WPC"/>
                  </a:rPr>
                  <a:t>costs</a:t>
                </a:r>
                <a:r>
                  <a:rPr lang="es-PE" sz="900" b="0" i="0" dirty="0">
                    <a:solidFill>
                      <a:schemeClr val="tx1"/>
                    </a:solidFill>
                    <a:effectLst/>
                    <a:latin typeface="Segoe WPC"/>
                  </a:rPr>
                  <a:t>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riskier</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liquid</a:t>
                </a:r>
                <a:r>
                  <a:rPr lang="es-PE" sz="900" b="0" i="0" dirty="0">
                    <a:solidFill>
                      <a:schemeClr val="tx1"/>
                    </a:solidFill>
                    <a:effectLst/>
                    <a:latin typeface="Segoe WPC"/>
                  </a:rPr>
                  <a:t> </a:t>
                </a:r>
                <a:r>
                  <a:rPr lang="es-PE" sz="900" b="0" i="0" dirty="0" err="1">
                    <a:solidFill>
                      <a:schemeClr val="tx1"/>
                    </a:solidFill>
                    <a:effectLst/>
                    <a:latin typeface="Segoe WPC"/>
                  </a:rPr>
                  <a:t>borrowing</a:t>
                </a:r>
                <a:r>
                  <a:rPr lang="es-PE" sz="900" b="0" i="0" dirty="0">
                    <a:solidFill>
                      <a:schemeClr val="tx1"/>
                    </a:solidFill>
                    <a:effectLst/>
                    <a:latin typeface="Segoe WPC"/>
                  </a:rPr>
                  <a:t> </a:t>
                </a:r>
                <a:r>
                  <a:rPr lang="es-PE" sz="900" b="0" i="0" dirty="0" err="1">
                    <a:solidFill>
                      <a:schemeClr val="tx1"/>
                    </a:solidFill>
                    <a:effectLst/>
                    <a:latin typeface="Segoe WPC"/>
                  </a:rPr>
                  <a:t>costs</a:t>
                </a:r>
                <a:r>
                  <a:rPr lang="es-PE" sz="900" b="0" i="0" dirty="0">
                    <a:solidFill>
                      <a:schemeClr val="tx1"/>
                    </a:solidFill>
                    <a:effectLst/>
                    <a:latin typeface="Segoe WPC"/>
                  </a:rPr>
                  <a:t> more.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Treasury</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are </a:t>
                </a:r>
                <a:r>
                  <a:rPr lang="es-PE" sz="900" b="0" i="0" dirty="0" err="1">
                    <a:solidFill>
                      <a:schemeClr val="tx1"/>
                    </a:solidFill>
                    <a:effectLst/>
                    <a:latin typeface="Segoe WPC"/>
                  </a:rPr>
                  <a:t>near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bottom, </a:t>
                </a:r>
                <a:r>
                  <a:rPr lang="es-PE" sz="900" b="0" i="0" dirty="0" err="1">
                    <a:solidFill>
                      <a:schemeClr val="tx1"/>
                    </a:solidFill>
                    <a:effectLst/>
                    <a:latin typeface="Segoe WPC"/>
                  </a:rPr>
                  <a:t>unsecured</a:t>
                </a:r>
                <a:r>
                  <a:rPr lang="es-PE" sz="900" b="0" i="0" dirty="0">
                    <a:solidFill>
                      <a:schemeClr val="tx1"/>
                    </a:solidFill>
                    <a:effectLst/>
                    <a:latin typeface="Segoe WPC"/>
                  </a:rPr>
                  <a:t> </a:t>
                </a:r>
                <a:r>
                  <a:rPr lang="es-PE" sz="900" b="0" i="0" dirty="0" err="1">
                    <a:solidFill>
                      <a:schemeClr val="tx1"/>
                    </a:solidFill>
                    <a:effectLst/>
                    <a:latin typeface="Segoe WPC"/>
                  </a:rPr>
                  <a:t>bank</a:t>
                </a:r>
                <a:r>
                  <a:rPr lang="es-PE" sz="900" b="0" i="0" dirty="0">
                    <a:solidFill>
                      <a:schemeClr val="tx1"/>
                    </a:solidFill>
                    <a:effectLst/>
                    <a:latin typeface="Segoe WPC"/>
                  </a:rPr>
                  <a:t> </a:t>
                </a:r>
                <a:r>
                  <a:rPr lang="es-PE" sz="900" b="0" i="0" dirty="0" err="1">
                    <a:solidFill>
                      <a:schemeClr val="tx1"/>
                    </a:solidFill>
                    <a:effectLst/>
                    <a:latin typeface="Segoe WPC"/>
                  </a:rPr>
                  <a:t>borrowing</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higher</a:t>
                </a:r>
                <a:r>
                  <a:rPr lang="es-PE" sz="900" b="0" i="0" dirty="0">
                    <a:solidFill>
                      <a:schemeClr val="tx1"/>
                    </a:solidFill>
                    <a:effectLst/>
                    <a:latin typeface="Segoe WPC"/>
                  </a:rPr>
                  <a:t>, and </a:t>
                </a:r>
                <a:r>
                  <a:rPr lang="es-PE" sz="900" b="0" i="0" dirty="0" err="1">
                    <a:solidFill>
                      <a:schemeClr val="tx1"/>
                    </a:solidFill>
                    <a:effectLst/>
                    <a:latin typeface="Segoe WPC"/>
                  </a:rPr>
                  <a:t>stressed</a:t>
                </a:r>
                <a:r>
                  <a:rPr lang="es-PE" sz="900" b="0" i="0" dirty="0">
                    <a:solidFill>
                      <a:schemeClr val="tx1"/>
                    </a:solidFill>
                    <a:effectLst/>
                    <a:latin typeface="Segoe WPC"/>
                  </a:rPr>
                  <a:t> </a:t>
                </a:r>
                <a:r>
                  <a:rPr lang="es-PE" sz="900" b="0" i="0" dirty="0" err="1">
                    <a:solidFill>
                      <a:schemeClr val="tx1"/>
                    </a:solidFill>
                    <a:effectLst/>
                    <a:latin typeface="Segoe WPC"/>
                  </a:rPr>
                  <a:t>credit</a:t>
                </a:r>
                <a:r>
                  <a:rPr lang="es-PE" sz="900" b="0" i="0" dirty="0">
                    <a:solidFill>
                      <a:schemeClr val="tx1"/>
                    </a:solidFill>
                    <a:effectLst/>
                    <a:latin typeface="Segoe WPC"/>
                  </a:rPr>
                  <a:t>-sensitive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rise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most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1</m:t>
                    </m:r>
                  </m:oMath>
                </a14:m>
                <a:r>
                  <a:rPr lang="es-PE" sz="900" b="0" i="0" dirty="0">
                    <a:solidFill>
                      <a:schemeClr val="tx1"/>
                    </a:solidFill>
                    <a:effectLst/>
                    <a:latin typeface="Segoe WPC"/>
                  </a:rPr>
                  <a:t> basis </a:t>
                </a:r>
                <a:r>
                  <a:rPr lang="es-PE" sz="900" b="0" i="0" dirty="0" err="1">
                    <a:solidFill>
                      <a:schemeClr val="tx1"/>
                    </a:solidFill>
                    <a:effectLst/>
                    <a:latin typeface="Segoe WPC"/>
                  </a:rPr>
                  <a:t>point</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0</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01</m:t>
                    </m:r>
                    <m:r>
                      <a:rPr lang="es-PE" sz="900" i="0">
                        <a:solidFill>
                          <a:schemeClr val="tx1"/>
                        </a:solidFill>
                        <a:latin typeface="Cambria Math" panose="02040503050406030204" pitchFamily="18" charset="0"/>
                      </a:rPr>
                      <m:t>%</m:t>
                    </m:r>
                  </m:oMath>
                </a14:m>
                <a:r>
                  <a:rPr lang="es-PE" sz="900" b="0" i="0" dirty="0">
                    <a:solidFill>
                      <a:schemeClr val="tx1"/>
                    </a:solidFill>
                    <a:effectLst/>
                    <a:latin typeface="Segoe WPC"/>
                  </a:rPr>
                  <a:t>, so </a:t>
                </a:r>
                <a14:m>
                  <m:oMath xmlns:m="http://schemas.openxmlformats.org/officeDocument/2006/math">
                    <m:r>
                      <a:rPr lang="es-PE" sz="900">
                        <a:solidFill>
                          <a:schemeClr val="tx1"/>
                        </a:solidFill>
                        <a:latin typeface="Cambria Math" panose="02040503050406030204" pitchFamily="18" charset="0"/>
                      </a:rPr>
                      <m:t>2</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200</m:t>
                    </m:r>
                  </m:oMath>
                </a14:m>
                <a:r>
                  <a:rPr lang="es-PE" sz="900" b="0" i="0" dirty="0">
                    <a:solidFill>
                      <a:schemeClr val="tx1"/>
                    </a:solidFill>
                    <a:effectLst/>
                    <a:latin typeface="Segoe WPC"/>
                  </a:rPr>
                  <a:t> bps.</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Treasury</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are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treated</a:t>
                </a:r>
                <a:r>
                  <a:rPr lang="es-PE" sz="900" b="0" i="0" dirty="0">
                    <a:solidFill>
                      <a:schemeClr val="tx1"/>
                    </a:solidFill>
                    <a:effectLst/>
                    <a:latin typeface="Segoe WPC"/>
                  </a:rPr>
                  <a:t> as </a:t>
                </a:r>
                <a:r>
                  <a:rPr lang="es-PE" sz="900" b="0" i="0" dirty="0" err="1">
                    <a:solidFill>
                      <a:schemeClr val="tx1"/>
                    </a:solidFill>
                    <a:effectLst/>
                    <a:latin typeface="Segoe WPC"/>
                  </a:rPr>
                  <a:t>close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-free; repo-</a:t>
                </a:r>
                <a:r>
                  <a:rPr lang="es-PE" sz="900" b="0" i="0" dirty="0" err="1">
                    <a:solidFill>
                      <a:schemeClr val="tx1"/>
                    </a:solidFill>
                    <a:effectLst/>
                    <a:latin typeface="Segoe WPC"/>
                  </a:rPr>
                  <a:t>based</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are </a:t>
                </a:r>
                <a:r>
                  <a:rPr lang="es-PE" sz="900" b="0" i="0" dirty="0" err="1">
                    <a:solidFill>
                      <a:schemeClr val="tx1"/>
                    </a:solidFill>
                    <a:effectLst/>
                    <a:latin typeface="Segoe WPC"/>
                  </a:rPr>
                  <a:t>also</a:t>
                </a:r>
                <a:r>
                  <a:rPr lang="es-PE" sz="900" b="0" i="0" dirty="0">
                    <a:solidFill>
                      <a:schemeClr val="tx1"/>
                    </a:solidFill>
                    <a:effectLst/>
                    <a:latin typeface="Segoe WPC"/>
                  </a:rPr>
                  <a:t> </a:t>
                </a:r>
                <a:r>
                  <a:rPr lang="es-PE" sz="900" b="0" i="0" dirty="0" err="1">
                    <a:solidFill>
                      <a:schemeClr val="tx1"/>
                    </a:solidFill>
                    <a:effectLst/>
                    <a:latin typeface="Segoe WPC"/>
                  </a:rPr>
                  <a:t>very</a:t>
                </a:r>
                <a:r>
                  <a:rPr lang="es-PE" sz="900" b="0" i="0" dirty="0">
                    <a:solidFill>
                      <a:schemeClr val="tx1"/>
                    </a:solidFill>
                    <a:effectLst/>
                    <a:latin typeface="Segoe WPC"/>
                  </a:rPr>
                  <a:t> </a:t>
                </a:r>
                <a:r>
                  <a:rPr lang="es-PE" sz="900" b="0" i="0" dirty="0" err="1">
                    <a:solidFill>
                      <a:schemeClr val="tx1"/>
                    </a:solidFill>
                    <a:effectLst/>
                    <a:latin typeface="Segoe WPC"/>
                  </a:rPr>
                  <a:t>low</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lending</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secured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collateral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-free”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mean </a:t>
                </a:r>
                <a:r>
                  <a:rPr lang="es-PE" sz="900" b="0" i="0" dirty="0" err="1">
                    <a:solidFill>
                      <a:schemeClr val="tx1"/>
                    </a:solidFill>
                    <a:effectLst/>
                    <a:latin typeface="Segoe WPC"/>
                  </a:rPr>
                  <a:t>literally</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in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situations</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means</a:t>
                </a:r>
                <a:r>
                  <a:rPr lang="es-PE" sz="900" b="0" i="0" dirty="0">
                    <a:solidFill>
                      <a:schemeClr val="tx1"/>
                    </a:solidFill>
                    <a:effectLst/>
                    <a:latin typeface="Segoe WPC"/>
                  </a:rPr>
                  <a:t> negligible default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developed</a:t>
                </a:r>
                <a:r>
                  <a:rPr lang="es-PE" sz="900" b="0" i="0" dirty="0">
                    <a:solidFill>
                      <a:schemeClr val="tx1"/>
                    </a:solidFill>
                    <a:effectLst/>
                    <a:latin typeface="Segoe WPC"/>
                  </a:rPr>
                  <a:t> </a:t>
                </a:r>
                <a:r>
                  <a:rPr lang="es-PE" sz="900" b="0" i="0" dirty="0" err="1">
                    <a:solidFill>
                      <a:schemeClr val="tx1"/>
                    </a:solidFill>
                    <a:effectLst/>
                    <a:latin typeface="Segoe WPC"/>
                  </a:rPr>
                  <a:t>sovereign</a:t>
                </a:r>
                <a:r>
                  <a:rPr lang="es-PE" sz="900" b="0" i="0" dirty="0">
                    <a:solidFill>
                      <a:schemeClr val="tx1"/>
                    </a:solidFill>
                    <a:effectLst/>
                    <a:latin typeface="Segoe WPC"/>
                  </a:rPr>
                  <a:t> </a:t>
                </a:r>
                <a:r>
                  <a:rPr lang="es-PE" sz="900" b="0" i="0" dirty="0" err="1">
                    <a:solidFill>
                      <a:schemeClr val="tx1"/>
                    </a:solidFill>
                    <a:effectLst/>
                    <a:latin typeface="Segoe WPC"/>
                  </a:rPr>
                  <a:t>debt</a:t>
                </a:r>
                <a:r>
                  <a:rPr lang="es-PE" sz="900" b="0" i="0" dirty="0">
                    <a:solidFill>
                      <a:schemeClr val="tx1"/>
                    </a:solidFill>
                    <a:effectLst/>
                    <a:latin typeface="Segoe WPC"/>
                  </a:rPr>
                  <a:t> in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own</a:t>
                </a:r>
                <a:r>
                  <a:rPr lang="es-PE" sz="900" b="0" i="0" dirty="0">
                    <a:solidFill>
                      <a:schemeClr val="tx1"/>
                    </a:solidFill>
                    <a:effectLst/>
                    <a:latin typeface="Segoe WPC"/>
                  </a:rPr>
                  <a:t> </a:t>
                </a:r>
                <a:r>
                  <a:rPr lang="es-PE" sz="900" b="0" i="0" dirty="0" err="1">
                    <a:solidFill>
                      <a:schemeClr val="tx1"/>
                    </a:solidFill>
                    <a:effectLst/>
                    <a:latin typeface="Segoe WPC"/>
                  </a:rPr>
                  <a:t>currency</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2. </a:t>
                </a:r>
                <a:r>
                  <a:rPr lang="es-PE" sz="900" b="1" i="0" dirty="0" err="1">
                    <a:solidFill>
                      <a:schemeClr val="tx1"/>
                    </a:solidFill>
                    <a:effectLst/>
                    <a:latin typeface="Segoe WPC"/>
                  </a:rPr>
                  <a:t>Treasury</a:t>
                </a:r>
                <a:r>
                  <a:rPr lang="es-PE" sz="900" b="1" i="0" dirty="0">
                    <a:solidFill>
                      <a:schemeClr val="tx1"/>
                    </a:solidFill>
                    <a:effectLst/>
                    <a:latin typeface="Segoe WPC"/>
                  </a:rPr>
                  <a:t>, LIBOR, SOFR, and Repo Rates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Treasury</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LIBOR, SOFR, and repo </a:t>
                </a:r>
                <a:r>
                  <a:rPr lang="es-PE" sz="900" b="0" i="0" dirty="0" err="1">
                    <a:solidFill>
                      <a:schemeClr val="tx1"/>
                    </a:solidFill>
                    <a:effectLst/>
                    <a:latin typeface="Segoe WPC"/>
                  </a:rPr>
                  <a:t>rates</a:t>
                </a:r>
                <a:r>
                  <a:rPr lang="es-PE" sz="900" b="0" i="0" dirty="0">
                    <a:solidFill>
                      <a:schemeClr val="tx1"/>
                    </a:solidFill>
                    <a:effectLst/>
                    <a:latin typeface="Segoe WPC"/>
                  </a:rPr>
                  <a:t> are </a:t>
                </a:r>
                <a:r>
                  <a:rPr lang="es-PE" sz="900" b="0" i="0" dirty="0" err="1">
                    <a:solidFill>
                      <a:schemeClr val="tx1"/>
                    </a:solidFill>
                    <a:effectLst/>
                    <a:latin typeface="Segoe WPC"/>
                  </a:rPr>
                  <a:t>key</a:t>
                </a:r>
                <a:r>
                  <a:rPr lang="es-PE" sz="900" b="0" i="0" dirty="0">
                    <a:solidFill>
                      <a:schemeClr val="tx1"/>
                    </a:solidFill>
                    <a:effectLst/>
                    <a:latin typeface="Segoe WPC"/>
                  </a:rPr>
                  <a:t> </a:t>
                </a:r>
                <a:r>
                  <a:rPr lang="es-PE" sz="900" b="0" i="0" dirty="0" err="1">
                    <a:solidFill>
                      <a:schemeClr val="tx1"/>
                    </a:solidFill>
                    <a:effectLst/>
                    <a:latin typeface="Segoe WPC"/>
                  </a:rPr>
                  <a:t>benchmarks</a:t>
                </a:r>
                <a:r>
                  <a:rPr lang="es-PE" sz="900" b="0" i="0" dirty="0">
                    <a:solidFill>
                      <a:schemeClr val="tx1"/>
                    </a:solidFill>
                    <a:effectLst/>
                    <a:latin typeface="Segoe WPC"/>
                  </a:rPr>
                  <a:t> in </a:t>
                </a:r>
                <a:r>
                  <a:rPr lang="es-PE" sz="900" b="0" i="0" dirty="0" err="1">
                    <a:solidFill>
                      <a:schemeClr val="tx1"/>
                    </a:solidFill>
                    <a:effectLst/>
                    <a:latin typeface="Segoe WPC"/>
                  </a:rPr>
                  <a:t>interest-rate</a:t>
                </a:r>
                <a:r>
                  <a:rPr lang="es-PE" sz="900" b="0" i="0" dirty="0">
                    <a:solidFill>
                      <a:schemeClr val="tx1"/>
                    </a:solidFill>
                    <a:effectLst/>
                    <a:latin typeface="Segoe WPC"/>
                  </a:rPr>
                  <a:t> </a:t>
                </a:r>
                <a:r>
                  <a:rPr lang="es-PE" sz="900" b="0" i="0" dirty="0" err="1">
                    <a:solidFill>
                      <a:schemeClr val="tx1"/>
                    </a:solidFill>
                    <a:effectLst/>
                    <a:latin typeface="Segoe WPC"/>
                  </a:rPr>
                  <a:t>markets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LIBOR </a:t>
                </a:r>
                <a:r>
                  <a:rPr lang="es-PE" sz="900" b="0" i="0" dirty="0" err="1">
                    <a:solidFill>
                      <a:schemeClr val="tx1"/>
                    </a:solidFill>
                    <a:effectLst/>
                    <a:latin typeface="Segoe WPC"/>
                  </a:rPr>
                  <a:t>was</a:t>
                </a:r>
                <a:r>
                  <a:rPr lang="es-PE" sz="900" b="0" i="0" dirty="0">
                    <a:solidFill>
                      <a:schemeClr val="tx1"/>
                    </a:solidFill>
                    <a:effectLst/>
                    <a:latin typeface="Segoe WPC"/>
                  </a:rPr>
                  <a:t> a forward-</a:t>
                </a:r>
                <a:r>
                  <a:rPr lang="es-PE" sz="900" b="0" i="0" dirty="0" err="1">
                    <a:solidFill>
                      <a:schemeClr val="tx1"/>
                    </a:solidFill>
                    <a:effectLst/>
                    <a:latin typeface="Segoe WPC"/>
                  </a:rPr>
                  <a:t>looking</a:t>
                </a:r>
                <a:r>
                  <a:rPr lang="es-PE" sz="900" b="0" i="0" dirty="0">
                    <a:solidFill>
                      <a:schemeClr val="tx1"/>
                    </a:solidFill>
                    <a:effectLst/>
                    <a:latin typeface="Segoe WPC"/>
                  </a:rPr>
                  <a:t> </a:t>
                </a:r>
                <a:r>
                  <a:rPr lang="es-PE" sz="900" b="0" i="0" dirty="0" err="1">
                    <a:solidFill>
                      <a:schemeClr val="tx1"/>
                    </a:solidFill>
                    <a:effectLst/>
                    <a:latin typeface="Segoe WPC"/>
                  </a:rPr>
                  <a:t>unsecured</a:t>
                </a:r>
                <a:r>
                  <a:rPr lang="es-PE" sz="900" b="0" i="0" dirty="0">
                    <a:solidFill>
                      <a:schemeClr val="tx1"/>
                    </a:solidFill>
                    <a:effectLst/>
                    <a:latin typeface="Segoe WPC"/>
                  </a:rPr>
                  <a:t> </a:t>
                </a:r>
                <a:r>
                  <a:rPr lang="es-PE" sz="900" b="0" i="0" dirty="0" err="1">
                    <a:solidFill>
                      <a:schemeClr val="tx1"/>
                    </a:solidFill>
                    <a:effectLst/>
                    <a:latin typeface="Segoe WPC"/>
                  </a:rPr>
                  <a:t>bank</a:t>
                </a:r>
                <a:r>
                  <a:rPr lang="es-PE" sz="900" b="0" i="0" dirty="0">
                    <a:solidFill>
                      <a:schemeClr val="tx1"/>
                    </a:solidFill>
                    <a:effectLst/>
                    <a:latin typeface="Segoe WPC"/>
                  </a:rPr>
                  <a:t> </a:t>
                </a:r>
                <a:r>
                  <a:rPr lang="es-PE" sz="900" b="0" i="0" dirty="0" err="1">
                    <a:solidFill>
                      <a:schemeClr val="tx1"/>
                    </a:solidFill>
                    <a:effectLst/>
                    <a:latin typeface="Segoe WPC"/>
                  </a:rPr>
                  <a:t>borrowing</a:t>
                </a:r>
                <a:r>
                  <a:rPr lang="es-PE" sz="900" b="0" i="0" dirty="0">
                    <a:solidFill>
                      <a:schemeClr val="tx1"/>
                    </a:solidFill>
                    <a:effectLst/>
                    <a:latin typeface="Segoe WPC"/>
                  </a:rPr>
                  <a:t> </a:t>
                </a:r>
                <a:r>
                  <a:rPr lang="es-PE" sz="900" b="0" i="0" dirty="0" err="1">
                    <a:solidFill>
                      <a:schemeClr val="tx1"/>
                    </a:solidFill>
                    <a:effectLst/>
                    <a:latin typeface="Segoe WPC"/>
                  </a:rPr>
                  <a:t>benchmark</a:t>
                </a:r>
                <a:r>
                  <a:rPr lang="es-PE" sz="900" b="0" i="0" dirty="0">
                    <a:solidFill>
                      <a:schemeClr val="tx1"/>
                    </a:solidFill>
                    <a:effectLst/>
                    <a:latin typeface="Segoe WPC"/>
                  </a:rPr>
                  <a:t>; SOFR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backward-looking</a:t>
                </a:r>
                <a:r>
                  <a:rPr lang="es-PE" sz="900" b="0" i="0" dirty="0">
                    <a:solidFill>
                      <a:schemeClr val="tx1"/>
                    </a:solidFill>
                    <a:effectLst/>
                    <a:latin typeface="Segoe WPC"/>
                  </a:rPr>
                  <a:t> overnight </a:t>
                </a:r>
                <a:r>
                  <a:rPr lang="es-PE" sz="900" b="0" i="0" dirty="0" err="1">
                    <a:solidFill>
                      <a:schemeClr val="tx1"/>
                    </a:solidFill>
                    <a:effectLst/>
                    <a:latin typeface="Segoe WPC"/>
                  </a:rPr>
                  <a:t>secured</a:t>
                </a:r>
                <a:r>
                  <a:rPr lang="es-PE" sz="900" b="0" i="0" dirty="0">
                    <a:solidFill>
                      <a:schemeClr val="tx1"/>
                    </a:solidFill>
                    <a:effectLst/>
                    <a:latin typeface="Segoe WPC"/>
                  </a:rPr>
                  <a:t> </a:t>
                </a:r>
                <a:r>
                  <a:rPr lang="es-PE" sz="900" b="0" i="0" dirty="0" err="1">
                    <a:solidFill>
                      <a:schemeClr val="tx1"/>
                    </a:solidFill>
                    <a:effectLst/>
                    <a:latin typeface="Segoe WPC"/>
                  </a:rPr>
                  <a:t>benchmark</a:t>
                </a:r>
                <a:r>
                  <a:rPr lang="es-PE" sz="900" b="0" i="0" dirty="0">
                    <a:solidFill>
                      <a:schemeClr val="tx1"/>
                    </a:solidFill>
                    <a:effectLst/>
                    <a:latin typeface="Segoe WPC"/>
                  </a:rPr>
                  <a:t> </a:t>
                </a:r>
                <a:r>
                  <a:rPr lang="es-PE" sz="900" b="0" i="0" dirty="0" err="1">
                    <a:solidFill>
                      <a:schemeClr val="tx1"/>
                    </a:solidFill>
                    <a:effectLst/>
                    <a:latin typeface="Segoe WPC"/>
                  </a:rPr>
                  <a:t>based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repo </a:t>
                </a:r>
                <a:r>
                  <a:rPr lang="es-PE" sz="900" b="0" i="0" dirty="0" err="1">
                    <a:solidFill>
                      <a:schemeClr val="tx1"/>
                    </a:solidFill>
                    <a:effectLst/>
                    <a:latin typeface="Segoe WPC"/>
                  </a:rPr>
                  <a:t>transactions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LIBOR </a:t>
                </a:r>
                <a:r>
                  <a:rPr lang="es-PE" sz="900" b="0" i="0" dirty="0" err="1">
                    <a:solidFill>
                      <a:schemeClr val="tx1"/>
                    </a:solidFill>
                    <a:effectLst/>
                    <a:latin typeface="Segoe WPC"/>
                  </a:rPr>
                  <a:t>asked</a:t>
                </a:r>
                <a:r>
                  <a:rPr lang="es-PE" sz="900" b="0" i="0" dirty="0">
                    <a:solidFill>
                      <a:schemeClr val="tx1"/>
                    </a:solidFill>
                    <a:effectLst/>
                    <a:latin typeface="Segoe WPC"/>
                  </a:rPr>
                  <a:t>, “At </a:t>
                </a:r>
                <a:r>
                  <a:rPr lang="es-PE" sz="900" b="0" i="0" dirty="0" err="1">
                    <a:solidFill>
                      <a:schemeClr val="tx1"/>
                    </a:solidFill>
                    <a:effectLst/>
                    <a:latin typeface="Segoe WPC"/>
                  </a:rPr>
                  <a:t>what</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can </a:t>
                </a:r>
                <a:r>
                  <a:rPr lang="es-PE" sz="900" b="0" i="0" dirty="0" err="1">
                    <a:solidFill>
                      <a:schemeClr val="tx1"/>
                    </a:solidFill>
                    <a:effectLst/>
                    <a:latin typeface="Segoe WPC"/>
                  </a:rPr>
                  <a:t>banks</a:t>
                </a:r>
                <a:r>
                  <a:rPr lang="es-PE" sz="900" b="0" i="0" dirty="0">
                    <a:solidFill>
                      <a:schemeClr val="tx1"/>
                    </a:solidFill>
                    <a:effectLst/>
                    <a:latin typeface="Segoe WPC"/>
                  </a:rPr>
                  <a:t> </a:t>
                </a:r>
                <a:r>
                  <a:rPr lang="es-PE" sz="900" b="0" i="0" dirty="0" err="1">
                    <a:solidFill>
                      <a:schemeClr val="tx1"/>
                    </a:solidFill>
                    <a:effectLst/>
                    <a:latin typeface="Segoe WPC"/>
                  </a:rPr>
                  <a:t>borrow</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SOFR </a:t>
                </a:r>
                <a:r>
                  <a:rPr lang="es-PE" sz="900" b="0" i="0" dirty="0" err="1">
                    <a:solidFill>
                      <a:schemeClr val="tx1"/>
                    </a:solidFill>
                    <a:effectLst/>
                    <a:latin typeface="Segoe WPC"/>
                  </a:rPr>
                  <a:t>asks</a:t>
                </a:r>
                <a:r>
                  <a:rPr lang="es-PE" sz="900" b="0" i="0" dirty="0">
                    <a:solidFill>
                      <a:schemeClr val="tx1"/>
                    </a:solidFill>
                    <a:effectLst/>
                    <a:latin typeface="Segoe WPC"/>
                  </a:rPr>
                  <a:t>, “At </a:t>
                </a:r>
                <a:r>
                  <a:rPr lang="es-PE" sz="900" b="0" i="0" dirty="0" err="1">
                    <a:solidFill>
                      <a:schemeClr val="tx1"/>
                    </a:solidFill>
                    <a:effectLst/>
                    <a:latin typeface="Segoe WPC"/>
                  </a:rPr>
                  <a:t>what</a:t>
                </a:r>
                <a:r>
                  <a:rPr lang="es-PE" sz="900" b="0" i="0" dirty="0">
                    <a:solidFill>
                      <a:schemeClr val="tx1"/>
                    </a:solidFill>
                    <a:effectLst/>
                    <a:latin typeface="Segoe WPC"/>
                  </a:rPr>
                  <a:t> </a:t>
                </a:r>
                <a:r>
                  <a:rPr lang="es-PE" sz="900" b="0" i="0" dirty="0" err="1">
                    <a:solidFill>
                      <a:schemeClr val="tx1"/>
                    </a:solidFill>
                    <a:effectLst/>
                    <a:latin typeface="Segoe WPC"/>
                  </a:rPr>
                  <a:t>secured</a:t>
                </a:r>
                <a:r>
                  <a:rPr lang="es-PE" sz="900" b="0" i="0" dirty="0">
                    <a:solidFill>
                      <a:schemeClr val="tx1"/>
                    </a:solidFill>
                    <a:effectLst/>
                    <a:latin typeface="Segoe WPC"/>
                  </a:rPr>
                  <a:t> overnight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did</a:t>
                </a:r>
                <a:r>
                  <a:rPr lang="es-PE" sz="900" b="0" i="0" dirty="0">
                    <a:solidFill>
                      <a:schemeClr val="tx1"/>
                    </a:solidFill>
                    <a:effectLst/>
                    <a:latin typeface="Segoe WPC"/>
                  </a:rPr>
                  <a:t> actual </a:t>
                </a:r>
                <a:r>
                  <a:rPr lang="es-PE" sz="900" b="0" i="0" dirty="0" err="1">
                    <a:solidFill>
                      <a:schemeClr val="tx1"/>
                    </a:solidFill>
                    <a:effectLst/>
                    <a:latin typeface="Segoe WPC"/>
                  </a:rPr>
                  <a:t>transactions</a:t>
                </a:r>
                <a:r>
                  <a:rPr lang="es-PE" sz="900" b="0" i="0" dirty="0">
                    <a:solidFill>
                      <a:schemeClr val="tx1"/>
                    </a:solidFill>
                    <a:effectLst/>
                    <a:latin typeface="Segoe WPC"/>
                  </a:rPr>
                  <a:t> </a:t>
                </a:r>
                <a:r>
                  <a:rPr lang="es-PE" sz="900" b="0" i="0" dirty="0" err="1">
                    <a:solidFill>
                      <a:schemeClr val="tx1"/>
                    </a:solidFill>
                    <a:effectLst/>
                    <a:latin typeface="Segoe WPC"/>
                  </a:rPr>
                  <a:t>occur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a </a:t>
                </a:r>
                <a:r>
                  <a:rPr lang="es-PE" sz="900" b="0" i="0" dirty="0" err="1">
                    <a:solidFill>
                      <a:schemeClr val="tx1"/>
                    </a:solidFill>
                    <a:effectLst/>
                    <a:latin typeface="Segoe WPC"/>
                  </a:rPr>
                  <a:t>period</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𝐷</m:t>
                    </m:r>
                  </m:oMath>
                </a14:m>
                <a:r>
                  <a:rPr lang="es-PE" sz="900" b="0" i="0" dirty="0">
                    <a:solidFill>
                      <a:schemeClr val="tx1"/>
                    </a:solidFill>
                    <a:effectLst/>
                    <a:latin typeface="Segoe WPC"/>
                  </a:rPr>
                  <a:t> </a:t>
                </a:r>
                <a:r>
                  <a:rPr lang="es-PE" sz="900" b="0" i="0" dirty="0" err="1">
                    <a:solidFill>
                      <a:schemeClr val="tx1"/>
                    </a:solidFill>
                    <a:effectLst/>
                    <a:latin typeface="Segoe WPC"/>
                  </a:rPr>
                  <a:t>days</a:t>
                </a:r>
                <a:r>
                  <a:rPr lang="es-PE" sz="900" b="0" i="0" dirty="0">
                    <a:solidFill>
                      <a:schemeClr val="tx1"/>
                    </a:solidFill>
                    <a:effectLst/>
                    <a:latin typeface="Segoe WPC"/>
                  </a:rPr>
                  <a:t>, </a:t>
                </a:r>
                <a:r>
                  <a:rPr lang="es-PE" sz="900" b="0" i="0" dirty="0" err="1">
                    <a:solidFill>
                      <a:schemeClr val="tx1"/>
                    </a:solidFill>
                    <a:effectLst/>
                    <a:latin typeface="Segoe WPC"/>
                  </a:rPr>
                  <a:t>compounded</a:t>
                </a:r>
                <a:r>
                  <a:rPr lang="es-PE" sz="900" b="0" i="0" dirty="0">
                    <a:solidFill>
                      <a:schemeClr val="tx1"/>
                    </a:solidFill>
                    <a:effectLst/>
                    <a:latin typeface="Segoe WPC"/>
                  </a:rPr>
                  <a:t> overnight RFR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𝑅</m:t>
                    </m:r>
                    <m:r>
                      <a:rPr lang="es-PE" sz="900" i="0">
                        <a:solidFill>
                          <a:schemeClr val="tx1"/>
                        </a:solidFill>
                        <a:latin typeface="Cambria Math" panose="02040503050406030204" pitchFamily="18" charset="0"/>
                      </a:rPr>
                      <m:t>=</m:t>
                    </m:r>
                    <m:d>
                      <m:dPr>
                        <m:begChr m:val="["/>
                        <m:endChr m:val="]"/>
                        <m:ctrlPr>
                          <a:rPr lang="ar-AE" sz="900" i="1">
                            <a:solidFill>
                              <a:schemeClr val="tx1"/>
                            </a:solidFill>
                            <a:latin typeface="Cambria Math" panose="02040503050406030204" pitchFamily="18" charset="0"/>
                          </a:rPr>
                        </m:ctrlPr>
                      </m:dPr>
                      <m:e>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𝑛</m:t>
                            </m:r>
                          </m:sup>
                          <m:e>
                            <m:r>
                              <a:rPr lang="ar-AE" sz="900" i="0">
                                <a:solidFill>
                                  <a:schemeClr val="tx1"/>
                                </a:solidFill>
                                <a:latin typeface="Cambria Math" panose="02040503050406030204" pitchFamily="18" charset="0"/>
                              </a:rPr>
                              <m:t>(</m:t>
                            </m:r>
                          </m:e>
                        </m:nary>
                        <m:d>
                          <m:dPr>
                            <m:beg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𝑖</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360</m:t>
                            </m:r>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360</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𝐷</m:t>
                    </m:r>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SOFR, SONIA, SARON, ESTER, and TONAR </a:t>
                </a:r>
                <a:r>
                  <a:rPr lang="es-PE" sz="900" b="0" i="0" dirty="0" err="1">
                    <a:solidFill>
                      <a:schemeClr val="tx1"/>
                    </a:solidFill>
                    <a:effectLst/>
                    <a:latin typeface="Segoe WPC"/>
                  </a:rPr>
                  <a:t>replaced</a:t>
                </a:r>
                <a:r>
                  <a:rPr lang="es-PE" sz="900" b="0" i="0" dirty="0">
                    <a:solidFill>
                      <a:schemeClr val="tx1"/>
                    </a:solidFill>
                    <a:effectLst/>
                    <a:latin typeface="Segoe WPC"/>
                  </a:rPr>
                  <a:t> LIBOR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are </a:t>
                </a:r>
                <a:r>
                  <a:rPr lang="es-PE" sz="900" b="0" i="0" dirty="0" err="1">
                    <a:solidFill>
                      <a:schemeClr val="tx1"/>
                    </a:solidFill>
                    <a:effectLst/>
                    <a:latin typeface="Segoe WPC"/>
                  </a:rPr>
                  <a:t>transaction-based</a:t>
                </a:r>
                <a:r>
                  <a:rPr lang="es-PE" sz="900" b="0" i="0" dirty="0">
                    <a:solidFill>
                      <a:schemeClr val="tx1"/>
                    </a:solidFill>
                    <a:effectLst/>
                    <a:latin typeface="Segoe WPC"/>
                  </a:rPr>
                  <a:t> and </a:t>
                </a:r>
                <a:r>
                  <a:rPr lang="es-PE" sz="900" b="0" i="0" dirty="0" err="1">
                    <a:solidFill>
                      <a:schemeClr val="tx1"/>
                    </a:solidFill>
                    <a:effectLst/>
                    <a:latin typeface="Segoe WPC"/>
                  </a:rPr>
                  <a:t>harder</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manipulate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LIBOR </a:t>
                </a:r>
                <a:r>
                  <a:rPr lang="es-PE" sz="900" b="0" i="0" dirty="0" err="1">
                    <a:solidFill>
                      <a:schemeClr val="tx1"/>
                    </a:solidFill>
                    <a:effectLst/>
                    <a:latin typeface="Segoe WPC"/>
                  </a:rPr>
                  <a:t>is</a:t>
                </a:r>
                <a:r>
                  <a:rPr lang="es-PE" sz="900" b="0" i="0" dirty="0">
                    <a:solidFill>
                      <a:schemeClr val="tx1"/>
                    </a:solidFill>
                    <a:effectLst/>
                    <a:latin typeface="Segoe WPC"/>
                  </a:rPr>
                  <a:t> forward-</a:t>
                </a:r>
                <a:r>
                  <a:rPr lang="es-PE" sz="900" b="0" i="0" dirty="0" err="1">
                    <a:solidFill>
                      <a:schemeClr val="tx1"/>
                    </a:solidFill>
                    <a:effectLst/>
                    <a:latin typeface="Segoe WPC"/>
                  </a:rPr>
                  <a:t>looking</a:t>
                </a:r>
                <a:r>
                  <a:rPr lang="es-PE" sz="900" b="0" i="0" dirty="0">
                    <a:solidFill>
                      <a:schemeClr val="tx1"/>
                    </a:solidFill>
                    <a:effectLst/>
                    <a:latin typeface="Segoe WPC"/>
                  </a:rPr>
                  <a:t> and </a:t>
                </a:r>
                <a:r>
                  <a:rPr lang="es-PE" sz="900" b="0" i="0" dirty="0" err="1">
                    <a:solidFill>
                      <a:schemeClr val="tx1"/>
                    </a:solidFill>
                    <a:effectLst/>
                    <a:latin typeface="Segoe WPC"/>
                  </a:rPr>
                  <a:t>credit</a:t>
                </a:r>
                <a:r>
                  <a:rPr lang="es-PE" sz="900" b="0" i="0" dirty="0">
                    <a:solidFill>
                      <a:schemeClr val="tx1"/>
                    </a:solidFill>
                    <a:effectLst/>
                    <a:latin typeface="Segoe WPC"/>
                  </a:rPr>
                  <a:t>-sensitive; </a:t>
                </a:r>
                <a:r>
                  <a:rPr lang="es-PE" sz="900" b="0" i="0" dirty="0" err="1">
                    <a:solidFill>
                      <a:schemeClr val="tx1"/>
                    </a:solidFill>
                    <a:effectLst/>
                    <a:latin typeface="Segoe WPC"/>
                  </a:rPr>
                  <a:t>RFRs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SOFR are </a:t>
                </a:r>
                <a:r>
                  <a:rPr lang="es-PE" sz="900" b="0" i="0" dirty="0" err="1">
                    <a:solidFill>
                      <a:schemeClr val="tx1"/>
                    </a:solidFill>
                    <a:effectLst/>
                    <a:latin typeface="Segoe WPC"/>
                  </a:rPr>
                  <a:t>backward-looking</a:t>
                </a:r>
                <a:r>
                  <a:rPr lang="es-PE" sz="900" b="0" i="0" dirty="0">
                    <a:solidFill>
                      <a:schemeClr val="tx1"/>
                    </a:solidFill>
                    <a:effectLst/>
                    <a:latin typeface="Segoe WPC"/>
                  </a:rPr>
                  <a:t> and </a:t>
                </a:r>
                <a:r>
                  <a:rPr lang="es-PE" sz="900" b="0" i="0" dirty="0" err="1">
                    <a:solidFill>
                      <a:schemeClr val="tx1"/>
                    </a:solidFill>
                    <a:effectLst/>
                    <a:latin typeface="Segoe WPC"/>
                  </a:rPr>
                  <a:t>nearly</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-free.</a:t>
                </a:r>
              </a:p>
              <a:p>
                <a:pPr algn="l">
                  <a:spcAft>
                    <a:spcPts val="600"/>
                  </a:spcAft>
                  <a:buNone/>
                </a:pPr>
                <a:r>
                  <a:rPr lang="es-PE" sz="900" b="1" i="0" dirty="0">
                    <a:solidFill>
                      <a:schemeClr val="tx1"/>
                    </a:solidFill>
                    <a:effectLst/>
                    <a:latin typeface="Segoe WPC"/>
                  </a:rPr>
                  <a:t>3. </a:t>
                </a:r>
                <a:r>
                  <a:rPr lang="es-PE" sz="900" b="1" i="0" dirty="0" err="1">
                    <a:solidFill>
                      <a:schemeClr val="tx1"/>
                    </a:solidFill>
                    <a:effectLst/>
                    <a:latin typeface="Segoe WPC"/>
                  </a:rPr>
                  <a:t>Compounding</a:t>
                </a:r>
                <a:r>
                  <a:rPr lang="es-PE" sz="900" b="1" i="0" dirty="0">
                    <a:solidFill>
                      <a:schemeClr val="tx1"/>
                    </a:solidFill>
                    <a:effectLst/>
                    <a:latin typeface="Segoe WPC"/>
                  </a:rPr>
                  <a:t> </a:t>
                </a:r>
                <a:r>
                  <a:rPr lang="es-PE" sz="900" b="1" i="0" dirty="0" err="1">
                    <a:solidFill>
                      <a:schemeClr val="tx1"/>
                    </a:solidFill>
                    <a:effectLst/>
                    <a:latin typeface="Segoe WPC"/>
                  </a:rPr>
                  <a:t>Frequency</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compounding</a:t>
                </a:r>
                <a:r>
                  <a:rPr lang="es-PE" sz="900" b="0" i="0" dirty="0">
                    <a:solidFill>
                      <a:schemeClr val="tx1"/>
                    </a:solidFill>
                    <a:effectLst/>
                    <a:latin typeface="Segoe WPC"/>
                  </a:rPr>
                  <a:t> </a:t>
                </a:r>
                <a:r>
                  <a:rPr lang="es-PE" sz="900" b="0" i="0" dirty="0" err="1">
                    <a:solidFill>
                      <a:schemeClr val="tx1"/>
                    </a:solidFill>
                    <a:effectLst/>
                    <a:latin typeface="Segoe WPC"/>
                  </a:rPr>
                  <a:t>frequency</a:t>
                </a:r>
                <a:r>
                  <a:rPr lang="es-PE" sz="900" b="0" i="0" dirty="0">
                    <a:solidFill>
                      <a:schemeClr val="tx1"/>
                    </a:solidFill>
                    <a:effectLst/>
                    <a:latin typeface="Segoe WPC"/>
                  </a:rPr>
                  <a:t> determines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earns</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more </a:t>
                </a:r>
                <a:r>
                  <a:rPr lang="es-PE" sz="900" b="0" i="0" dirty="0" err="1">
                    <a:solidFill>
                      <a:schemeClr val="tx1"/>
                    </a:solidFill>
                    <a:effectLst/>
                    <a:latin typeface="Segoe WPC"/>
                  </a:rPr>
                  <a:t>frequently</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compounded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future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quoted</a:t>
                </a:r>
                <a:r>
                  <a:rPr lang="es-PE" sz="900" b="0" i="0" dirty="0">
                    <a:solidFill>
                      <a:schemeClr val="tx1"/>
                    </a:solidFill>
                    <a:effectLst/>
                    <a:latin typeface="Segoe WPC"/>
                  </a:rPr>
                  <a:t> </a:t>
                </a:r>
                <a:r>
                  <a:rPr lang="es-PE" sz="900" b="0" i="0" dirty="0" err="1">
                    <a:solidFill>
                      <a:schemeClr val="tx1"/>
                    </a:solidFill>
                    <a:effectLst/>
                    <a:latin typeface="Segoe WPC"/>
                  </a:rPr>
                  <a:t>annual</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Annual</a:t>
                </a:r>
                <a:r>
                  <a:rPr lang="es-PE" sz="900" b="0" i="0" dirty="0">
                    <a:solidFill>
                      <a:schemeClr val="tx1"/>
                    </a:solidFill>
                    <a:effectLst/>
                    <a:latin typeface="Segoe WPC"/>
                  </a:rPr>
                  <a:t>, </a:t>
                </a:r>
                <a:r>
                  <a:rPr lang="es-PE" sz="900" b="0" i="0" dirty="0" err="1">
                    <a:solidFill>
                      <a:schemeClr val="tx1"/>
                    </a:solidFill>
                    <a:effectLst/>
                    <a:latin typeface="Segoe WPC"/>
                  </a:rPr>
                  <a:t>semiannual</a:t>
                </a:r>
                <a:r>
                  <a:rPr lang="es-PE" sz="900" b="0" i="0" dirty="0">
                    <a:solidFill>
                      <a:schemeClr val="tx1"/>
                    </a:solidFill>
                    <a:effectLst/>
                    <a:latin typeface="Segoe WPC"/>
                  </a:rPr>
                  <a:t>, </a:t>
                </a:r>
                <a:r>
                  <a:rPr lang="es-PE" sz="900" b="0" i="0" dirty="0" err="1">
                    <a:solidFill>
                      <a:schemeClr val="tx1"/>
                    </a:solidFill>
                    <a:effectLst/>
                    <a:latin typeface="Segoe WPC"/>
                  </a:rPr>
                  <a:t>quarterly</a:t>
                </a:r>
                <a:r>
                  <a:rPr lang="es-PE" sz="900" b="0" i="0" dirty="0">
                    <a:solidFill>
                      <a:schemeClr val="tx1"/>
                    </a:solidFill>
                    <a:effectLst/>
                    <a:latin typeface="Segoe WPC"/>
                  </a:rPr>
                  <a:t>, and </a:t>
                </a:r>
                <a:r>
                  <a:rPr lang="es-PE" sz="900" b="0" i="0" dirty="0" err="1">
                    <a:solidFill>
                      <a:schemeClr val="tx1"/>
                    </a:solidFill>
                    <a:effectLst/>
                    <a:latin typeface="Segoe WPC"/>
                  </a:rPr>
                  <a:t>daily</a:t>
                </a:r>
                <a:r>
                  <a:rPr lang="es-PE" sz="900" b="0" i="0" dirty="0">
                    <a:solidFill>
                      <a:schemeClr val="tx1"/>
                    </a:solidFill>
                    <a:effectLst/>
                    <a:latin typeface="Segoe WPC"/>
                  </a:rPr>
                  <a:t> </a:t>
                </a:r>
                <a:r>
                  <a:rPr lang="es-PE" sz="900" b="0" i="0" dirty="0" err="1">
                    <a:solidFill>
                      <a:schemeClr val="tx1"/>
                    </a:solidFill>
                    <a:effectLst/>
                    <a:latin typeface="Segoe WPC"/>
                  </a:rPr>
                  <a:t>compounding</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start</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quoted</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end</a:t>
                </a:r>
                <a:r>
                  <a:rPr lang="es-PE" sz="900" b="0" i="0" dirty="0">
                    <a:solidFill>
                      <a:schemeClr val="tx1"/>
                    </a:solidFill>
                    <a:effectLst/>
                    <a:latin typeface="Segoe WPC"/>
                  </a:rPr>
                  <a:t>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values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Future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𝐴</m:t>
                    </m:r>
                    <m:d>
                      <m:dPr>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𝑅</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𝑚</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1">
                                <a:solidFill>
                                  <a:schemeClr val="tx1"/>
                                </a:solidFill>
                                <a:latin typeface="Cambria Math" panose="02040503050406030204" pitchFamily="18" charset="0"/>
                              </a:rPr>
                              <m:t>𝑚𝑇</m:t>
                            </m:r>
                          </m:sup>
                        </m:sSup>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borrower</a:t>
                </a:r>
                <a:r>
                  <a:rPr lang="es-PE" sz="900" b="0" i="0" dirty="0">
                    <a:solidFill>
                      <a:schemeClr val="tx1"/>
                    </a:solidFill>
                    <a:effectLst/>
                    <a:latin typeface="Segoe WPC"/>
                  </a:rPr>
                  <a:t> </a:t>
                </a:r>
                <a:r>
                  <a:rPr lang="es-PE" sz="900" b="0" i="0" dirty="0" err="1">
                    <a:solidFill>
                      <a:schemeClr val="tx1"/>
                    </a:solidFill>
                    <a:effectLst/>
                    <a:latin typeface="Segoe WPC"/>
                  </a:rPr>
                  <a:t>prefers</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compounding</a:t>
                </a:r>
                <a:r>
                  <a:rPr lang="es-PE" sz="900" b="0" i="0" dirty="0">
                    <a:solidFill>
                      <a:schemeClr val="tx1"/>
                    </a:solidFill>
                    <a:effectLst/>
                    <a:latin typeface="Segoe WPC"/>
                  </a:rPr>
                  <a:t> </a:t>
                </a:r>
                <a:r>
                  <a:rPr lang="es-PE" sz="900" b="0" i="0" dirty="0" err="1">
                    <a:solidFill>
                      <a:schemeClr val="tx1"/>
                    </a:solidFill>
                    <a:effectLst/>
                    <a:latin typeface="Segoe WPC"/>
                  </a:rPr>
                  <a:t>frequency</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investor</a:t>
                </a:r>
                <a:r>
                  <a:rPr lang="es-PE" sz="900" b="0" i="0" dirty="0">
                    <a:solidFill>
                      <a:schemeClr val="tx1"/>
                    </a:solidFill>
                    <a:effectLst/>
                    <a:latin typeface="Segoe WPC"/>
                  </a:rPr>
                  <a:t> </a:t>
                </a:r>
                <a:r>
                  <a:rPr lang="es-PE" sz="900" b="0" i="0" dirty="0" err="1">
                    <a:solidFill>
                      <a:schemeClr val="tx1"/>
                    </a:solidFill>
                    <a:effectLst/>
                    <a:latin typeface="Segoe WPC"/>
                  </a:rPr>
                  <a:t>prefers</a:t>
                </a:r>
                <a:r>
                  <a:rPr lang="es-PE" sz="900" b="0" i="0" dirty="0">
                    <a:solidFill>
                      <a:schemeClr val="tx1"/>
                    </a:solidFill>
                    <a:effectLst/>
                    <a:latin typeface="Segoe WPC"/>
                  </a:rPr>
                  <a:t>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compounding</a:t>
                </a:r>
                <a:r>
                  <a:rPr lang="es-PE" sz="900" b="0" i="0" dirty="0">
                    <a:solidFill>
                      <a:schemeClr val="tx1"/>
                    </a:solidFill>
                    <a:effectLst/>
                    <a:latin typeface="Segoe WPC"/>
                  </a:rPr>
                  <a:t> </a:t>
                </a:r>
                <a:r>
                  <a:rPr lang="es-PE" sz="900" b="0" i="0" dirty="0" err="1">
                    <a:solidFill>
                      <a:schemeClr val="tx1"/>
                    </a:solidFill>
                    <a:effectLst/>
                    <a:latin typeface="Segoe WPC"/>
                  </a:rPr>
                  <a:t>frequency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cannot</a:t>
                </a:r>
                <a:r>
                  <a:rPr lang="es-PE" sz="900" b="0" i="0" dirty="0">
                    <a:solidFill>
                      <a:schemeClr val="tx1"/>
                    </a:solidFill>
                    <a:effectLst/>
                    <a:latin typeface="Segoe WPC"/>
                  </a:rPr>
                  <a:t> compare </a:t>
                </a:r>
                <a:r>
                  <a:rPr lang="es-PE" sz="900" b="0" i="0" dirty="0" err="1">
                    <a:solidFill>
                      <a:schemeClr val="tx1"/>
                    </a:solidFill>
                    <a:effectLst/>
                    <a:latin typeface="Segoe WPC"/>
                  </a:rPr>
                  <a:t>quoted</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directly</a:t>
                </a:r>
                <a:r>
                  <a:rPr lang="es-PE" sz="900" b="0" i="0" dirty="0">
                    <a:solidFill>
                      <a:schemeClr val="tx1"/>
                    </a:solidFill>
                    <a:effectLst/>
                    <a:latin typeface="Segoe WPC"/>
                  </a:rPr>
                  <a:t> </a:t>
                </a:r>
                <a:r>
                  <a:rPr lang="es-PE" sz="900" b="0" i="0" dirty="0" err="1">
                    <a:solidFill>
                      <a:schemeClr val="tx1"/>
                    </a:solidFill>
                    <a:effectLst/>
                    <a:latin typeface="Segoe WPC"/>
                  </a:rPr>
                  <a:t>unless</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use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compounding</a:t>
                </a:r>
                <a:r>
                  <a:rPr lang="es-PE" sz="900" b="0" i="0" dirty="0">
                    <a:solidFill>
                      <a:schemeClr val="tx1"/>
                    </a:solidFill>
                    <a:effectLst/>
                    <a:latin typeface="Segoe WPC"/>
                  </a:rPr>
                  <a:t> </a:t>
                </a:r>
                <a:r>
                  <a:rPr lang="es-PE" sz="900" b="0" i="0" dirty="0" err="1">
                    <a:solidFill>
                      <a:schemeClr val="tx1"/>
                    </a:solidFill>
                    <a:effectLst/>
                    <a:latin typeface="Segoe WPC"/>
                  </a:rPr>
                  <a:t>convention</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4. </a:t>
                </a:r>
                <a:r>
                  <a:rPr lang="es-PE" sz="900" b="1" i="0" dirty="0" err="1">
                    <a:solidFill>
                      <a:schemeClr val="tx1"/>
                    </a:solidFill>
                    <a:effectLst/>
                    <a:latin typeface="Segoe WPC"/>
                  </a:rPr>
                  <a:t>Equivalent</a:t>
                </a:r>
                <a:r>
                  <a:rPr lang="es-PE" sz="900" b="1" i="0" dirty="0">
                    <a:solidFill>
                      <a:schemeClr val="tx1"/>
                    </a:solidFill>
                    <a:effectLst/>
                    <a:latin typeface="Segoe WPC"/>
                  </a:rPr>
                  <a:t> Rates and </a:t>
                </a:r>
                <a:r>
                  <a:rPr lang="es-PE" sz="900" b="1" i="0" dirty="0" err="1">
                    <a:solidFill>
                      <a:schemeClr val="tx1"/>
                    </a:solidFill>
                    <a:effectLst/>
                    <a:latin typeface="Segoe WPC"/>
                  </a:rPr>
                  <a:t>Continuous</a:t>
                </a:r>
                <a:r>
                  <a:rPr lang="es-PE" sz="900" b="1" i="0" dirty="0">
                    <a:solidFill>
                      <a:schemeClr val="tx1"/>
                    </a:solidFill>
                    <a:effectLst/>
                    <a:latin typeface="Segoe WPC"/>
                  </a:rPr>
                  <a:t> </a:t>
                </a:r>
                <a:r>
                  <a:rPr lang="es-PE" sz="900" b="1" i="0" dirty="0" err="1">
                    <a:solidFill>
                      <a:schemeClr val="tx1"/>
                    </a:solidFill>
                    <a:effectLst/>
                    <a:latin typeface="Segoe WPC"/>
                  </a:rPr>
                  <a:t>Compounding</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economic</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can be </a:t>
                </a:r>
                <a:r>
                  <a:rPr lang="es-PE" sz="900" b="0" i="0" dirty="0" err="1">
                    <a:solidFill>
                      <a:schemeClr val="tx1"/>
                    </a:solidFill>
                    <a:effectLst/>
                    <a:latin typeface="Segoe WPC"/>
                  </a:rPr>
                  <a:t>expressed</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compounding</a:t>
                </a:r>
                <a:r>
                  <a:rPr lang="es-PE" sz="900" b="0" i="0" dirty="0">
                    <a:solidFill>
                      <a:schemeClr val="tx1"/>
                    </a:solidFill>
                    <a:effectLst/>
                    <a:latin typeface="Segoe WPC"/>
                  </a:rPr>
                  <a:t> </a:t>
                </a:r>
                <a:r>
                  <a:rPr lang="es-PE" sz="900" b="0" i="0" dirty="0" err="1">
                    <a:solidFill>
                      <a:schemeClr val="tx1"/>
                    </a:solidFill>
                    <a:effectLst/>
                    <a:latin typeface="Segoe WPC"/>
                  </a:rPr>
                  <a:t>conventions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Annual</a:t>
                </a:r>
                <a:r>
                  <a:rPr lang="es-PE" sz="900" b="0" i="0" dirty="0">
                    <a:solidFill>
                      <a:schemeClr val="tx1"/>
                    </a:solidFill>
                    <a:effectLst/>
                    <a:latin typeface="Segoe WPC"/>
                  </a:rPr>
                  <a:t>, </a:t>
                </a:r>
                <a:r>
                  <a:rPr lang="es-PE" sz="900" b="0" i="0" dirty="0" err="1">
                    <a:solidFill>
                      <a:schemeClr val="tx1"/>
                    </a:solidFill>
                    <a:effectLst/>
                    <a:latin typeface="Segoe WPC"/>
                  </a:rPr>
                  <a:t>quarterly</a:t>
                </a:r>
                <a:r>
                  <a:rPr lang="es-PE" sz="900" b="0" i="0" dirty="0">
                    <a:solidFill>
                      <a:schemeClr val="tx1"/>
                    </a:solidFill>
                    <a:effectLst/>
                    <a:latin typeface="Segoe WPC"/>
                  </a:rPr>
                  <a:t>, and </a:t>
                </a:r>
                <a:r>
                  <a:rPr lang="es-PE" sz="900" b="0" i="0" dirty="0" err="1">
                    <a:solidFill>
                      <a:schemeClr val="tx1"/>
                    </a:solidFill>
                    <a:effectLst/>
                    <a:latin typeface="Segoe WPC"/>
                  </a:rPr>
                  <a:t>continuous</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are </a:t>
                </a:r>
                <a:r>
                  <a:rPr lang="es-PE" sz="900" b="0" i="0" dirty="0" err="1">
                    <a:solidFill>
                      <a:schemeClr val="tx1"/>
                    </a:solidFill>
                    <a:effectLst/>
                    <a:latin typeface="Segoe WPC"/>
                  </a:rPr>
                  <a:t>just</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ways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measuring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growth</a:t>
                </a:r>
                <a:r>
                  <a:rPr lang="es-PE" sz="900" b="0" i="0" dirty="0">
                    <a:solidFill>
                      <a:schemeClr val="tx1"/>
                    </a:solidFill>
                    <a:effectLst/>
                    <a:latin typeface="Segoe WPC"/>
                  </a:rPr>
                  <a:t> </a:t>
                </a:r>
                <a:r>
                  <a:rPr lang="es-PE" sz="900" b="0" i="0" dirty="0" err="1">
                    <a:solidFill>
                      <a:schemeClr val="tx1"/>
                    </a:solidFill>
                    <a:effectLst/>
                    <a:latin typeface="Segoe WPC"/>
                  </a:rPr>
                  <a:t>process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Converting</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changing</a:t>
                </a:r>
                <a:r>
                  <a:rPr lang="es-PE" sz="900" b="0" i="0" dirty="0">
                    <a:solidFill>
                      <a:schemeClr val="tx1"/>
                    </a:solidFill>
                    <a:effectLst/>
                    <a:latin typeface="Segoe WPC"/>
                  </a:rPr>
                  <a:t> </a:t>
                </a:r>
                <a:r>
                  <a:rPr lang="es-PE" sz="900" b="0" i="0" dirty="0" err="1">
                    <a:solidFill>
                      <a:schemeClr val="tx1"/>
                    </a:solidFill>
                    <a:effectLst/>
                    <a:latin typeface="Segoe WPC"/>
                  </a:rPr>
                  <a:t>units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kilograms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pounds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Equivalent</a:t>
                </a:r>
                <a:r>
                  <a:rPr lang="es-PE" sz="900" b="0" i="0" dirty="0">
                    <a:solidFill>
                      <a:schemeClr val="tx1"/>
                    </a:solidFill>
                    <a:effectLst/>
                    <a:latin typeface="Segoe WPC"/>
                  </a:rPr>
                  <a:t> </a:t>
                </a:r>
                <a:r>
                  <a:rPr lang="es-PE" sz="900" b="0" i="0" dirty="0" err="1">
                    <a:solidFill>
                      <a:schemeClr val="tx1"/>
                    </a:solidFill>
                    <a:effectLst/>
                    <a:latin typeface="Segoe WPC"/>
                  </a:rPr>
                  <a:t>periodic</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satisfy</a:t>
                </a:r>
                <a:r>
                  <a:rPr lang="es-PE" sz="900" b="0" i="0" dirty="0">
                    <a:solidFill>
                      <a:schemeClr val="tx1"/>
                    </a:solidFill>
                    <a:effectLst/>
                    <a:latin typeface="Segoe WPC"/>
                  </a:rPr>
                  <a:t> </a:t>
                </a:r>
                <a14:m>
                  <m:oMath xmlns:m="http://schemas.openxmlformats.org/officeDocument/2006/math">
                    <m:d>
                      <m:dPr>
                        <m:endChr m:val=""/>
                        <m:ctrlPr>
                          <a:rPr lang="ar-AE" sz="900" i="1">
                            <a:solidFill>
                              <a:schemeClr val="tx1"/>
                            </a:solidFill>
                            <a:latin typeface="Cambria Math" panose="02040503050406030204" pitchFamily="18" charset="0"/>
                          </a:rPr>
                        </m:ctrlPr>
                      </m:dPr>
                      <m:e>
                        <m:r>
                          <a:rPr lang="ar-AE" sz="90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𝑚</m:t>
                            </m:r>
                          </m:e>
                          <m:sub>
                            <m:r>
                              <a:rPr lang="ar-AE" sz="900" i="0">
                                <a:solidFill>
                                  <a:schemeClr val="tx1"/>
                                </a:solidFill>
                                <a:latin typeface="Cambria Math" panose="02040503050406030204" pitchFamily="18" charset="0"/>
                              </a:rPr>
                              <m:t>1</m:t>
                            </m:r>
                          </m:sub>
                        </m:sSub>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𝑚</m:t>
                                </m:r>
                              </m:e>
                              <m:sub>
                                <m:r>
                                  <a:rPr lang="ar-AE" sz="900" i="0">
                                    <a:solidFill>
                                      <a:schemeClr val="tx1"/>
                                    </a:solidFill>
                                    <a:latin typeface="Cambria Math" panose="02040503050406030204" pitchFamily="18" charset="0"/>
                                  </a:rPr>
                                  <m:t>1</m:t>
                                </m:r>
                              </m:sub>
                            </m:sSub>
                          </m:sup>
                        </m:sSup>
                        <m:r>
                          <a:rPr lang="ar-AE" sz="900" i="0">
                            <a:solidFill>
                              <a:schemeClr val="tx1"/>
                            </a:solidFill>
                            <a:latin typeface="Cambria Math" panose="02040503050406030204" pitchFamily="18" charset="0"/>
                          </a:rPr>
                          <m:t>=</m:t>
                        </m:r>
                        <m:d>
                          <m:dPr>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𝑚</m:t>
                                </m:r>
                              </m:e>
                              <m:sub>
                                <m:r>
                                  <a:rPr lang="ar-AE" sz="900" i="0">
                                    <a:solidFill>
                                      <a:schemeClr val="tx1"/>
                                    </a:solidFill>
                                    <a:latin typeface="Cambria Math" panose="02040503050406030204" pitchFamily="18" charset="0"/>
                                  </a:rPr>
                                  <m:t>2</m:t>
                                </m:r>
                              </m:sub>
                            </m:sSub>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𝑚</m:t>
                                    </m:r>
                                  </m:e>
                                  <m:sub>
                                    <m:r>
                                      <a:rPr lang="ar-AE" sz="900" i="0">
                                        <a:solidFill>
                                          <a:schemeClr val="tx1"/>
                                        </a:solidFill>
                                        <a:latin typeface="Cambria Math" panose="02040503050406030204" pitchFamily="18" charset="0"/>
                                      </a:rPr>
                                      <m:t>2</m:t>
                                    </m:r>
                                  </m:sub>
                                </m:sSub>
                              </m:sup>
                            </m:sSup>
                          </m:e>
                        </m:d>
                      </m:e>
                    </m:d>
                  </m:oMath>
                </a14:m>
                <a:r>
                  <a:rPr lang="ar-AE" sz="900" b="0" i="0" dirty="0">
                    <a:solidFill>
                      <a:schemeClr val="tx1"/>
                    </a:solidFill>
                    <a:effectLst/>
                    <a:latin typeface="Segoe WPC"/>
                  </a:rPr>
                  <a:t>, </a:t>
                </a:r>
                <a:r>
                  <a:rPr lang="es-PE" sz="900" b="0" i="0" dirty="0">
                    <a:solidFill>
                      <a:schemeClr val="tx1"/>
                    </a:solidFill>
                    <a:effectLst/>
                    <a:latin typeface="Segoe WPC"/>
                  </a:rPr>
                  <a:t>and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continuous</a:t>
                </a:r>
                <a:r>
                  <a:rPr lang="es-PE" sz="900" b="0" i="0" dirty="0">
                    <a:solidFill>
                      <a:schemeClr val="tx1"/>
                    </a:solidFill>
                    <a:effectLst/>
                    <a:latin typeface="Segoe WPC"/>
                  </a:rPr>
                  <a:t> </a:t>
                </a:r>
                <a:r>
                  <a:rPr lang="es-PE" sz="900" b="0" i="0" dirty="0" err="1">
                    <a:solidFill>
                      <a:schemeClr val="tx1"/>
                    </a:solidFill>
                    <a:effectLst/>
                    <a:latin typeface="Segoe WPC"/>
                  </a:rPr>
                  <a:t>compounding</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𝐹𝑉</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𝐴</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1">
                            <a:solidFill>
                              <a:schemeClr val="tx1"/>
                            </a:solidFill>
                            <a:latin typeface="Cambria Math" panose="02040503050406030204" pitchFamily="18" charset="0"/>
                          </a:rPr>
                          <m:t>𝑅𝑇</m:t>
                        </m:r>
                      </m:sup>
                    </m:sSup>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Continuous</a:t>
                </a:r>
                <a:r>
                  <a:rPr lang="es-PE" sz="900" b="0" i="0" dirty="0">
                    <a:solidFill>
                      <a:schemeClr val="tx1"/>
                    </a:solidFill>
                    <a:effectLst/>
                    <a:latin typeface="Segoe WPC"/>
                  </a:rPr>
                  <a:t> </a:t>
                </a:r>
                <a:r>
                  <a:rPr lang="es-PE" sz="900" b="0" i="0" dirty="0" err="1">
                    <a:solidFill>
                      <a:schemeClr val="tx1"/>
                    </a:solidFill>
                    <a:effectLst/>
                    <a:latin typeface="Segoe WPC"/>
                  </a:rPr>
                  <a:t>compounding</a:t>
                </a:r>
                <a:r>
                  <a:rPr lang="es-PE" sz="900" b="0" i="0" dirty="0">
                    <a:solidFill>
                      <a:schemeClr val="tx1"/>
                    </a:solidFill>
                    <a:effectLst/>
                    <a:latin typeface="Segoe WPC"/>
                  </a:rPr>
                  <a:t> </a:t>
                </a:r>
                <a:r>
                  <a:rPr lang="es-PE" sz="900" b="0" i="0" dirty="0" err="1">
                    <a:solidFill>
                      <a:schemeClr val="tx1"/>
                    </a:solidFill>
                    <a:effectLst/>
                    <a:latin typeface="Segoe WPC"/>
                  </a:rPr>
                  <a:t>simplifies</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derivative formulas and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heavily</a:t>
                </a:r>
                <a:r>
                  <a:rPr lang="es-PE" sz="900" b="0" i="0" dirty="0">
                    <a:solidFill>
                      <a:schemeClr val="tx1"/>
                    </a:solidFill>
                    <a:effectLst/>
                    <a:latin typeface="Segoe WPC"/>
                  </a:rPr>
                  <a:t> </a:t>
                </a:r>
                <a:r>
                  <a:rPr lang="es-PE" sz="900" b="0" i="0" dirty="0" err="1">
                    <a:solidFill>
                      <a:schemeClr val="tx1"/>
                    </a:solidFill>
                    <a:effectLst/>
                    <a:latin typeface="Segoe WPC"/>
                  </a:rPr>
                  <a:t>used</a:t>
                </a:r>
                <a:r>
                  <a:rPr lang="es-PE" sz="900" b="0" i="0" dirty="0">
                    <a:solidFill>
                      <a:schemeClr val="tx1"/>
                    </a:solidFill>
                    <a:effectLst/>
                    <a:latin typeface="Segoe WPC"/>
                  </a:rPr>
                  <a:t> in </a:t>
                </a:r>
                <a:r>
                  <a:rPr lang="es-PE" sz="900" b="0" i="0" dirty="0" err="1">
                    <a:solidFill>
                      <a:schemeClr val="tx1"/>
                    </a:solidFill>
                    <a:effectLst/>
                    <a:latin typeface="Segoe WPC"/>
                  </a:rPr>
                  <a:t>pricing</a:t>
                </a:r>
                <a:r>
                  <a:rPr lang="es-PE" sz="900" b="0" i="0" dirty="0">
                    <a:solidFill>
                      <a:schemeClr val="tx1"/>
                    </a:solidFill>
                    <a:effectLst/>
                    <a:latin typeface="Segoe WPC"/>
                  </a:rPr>
                  <a:t> </a:t>
                </a:r>
                <a:r>
                  <a:rPr lang="es-PE" sz="900" b="0" i="0" dirty="0" err="1">
                    <a:solidFill>
                      <a:schemeClr val="tx1"/>
                    </a:solidFill>
                    <a:effectLst/>
                    <a:latin typeface="Segoe WPC"/>
                  </a:rPr>
                  <a:t>models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Continuous</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are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slightly</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equivalent</a:t>
                </a:r>
                <a:r>
                  <a:rPr lang="es-PE" sz="900" b="0" i="0" dirty="0">
                    <a:solidFill>
                      <a:schemeClr val="tx1"/>
                    </a:solidFill>
                    <a:effectLst/>
                    <a:latin typeface="Segoe WPC"/>
                  </a:rPr>
                  <a:t> </a:t>
                </a:r>
                <a:r>
                  <a:rPr lang="es-PE" sz="900" b="0" i="0" dirty="0" err="1">
                    <a:solidFill>
                      <a:schemeClr val="tx1"/>
                    </a:solidFill>
                    <a:effectLst/>
                    <a:latin typeface="Segoe WPC"/>
                  </a:rPr>
                  <a:t>periodically</a:t>
                </a:r>
                <a:r>
                  <a:rPr lang="es-PE" sz="900" b="0" i="0" dirty="0">
                    <a:solidFill>
                      <a:schemeClr val="tx1"/>
                    </a:solidFill>
                    <a:effectLst/>
                    <a:latin typeface="Segoe WPC"/>
                  </a:rPr>
                  <a:t> </a:t>
                </a:r>
                <a:r>
                  <a:rPr lang="es-PE" sz="900" b="0" i="0" dirty="0" err="1">
                    <a:solidFill>
                      <a:schemeClr val="tx1"/>
                    </a:solidFill>
                    <a:effectLst/>
                    <a:latin typeface="Segoe WPC"/>
                  </a:rPr>
                  <a:t>compounded</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5. Zero Rates and </a:t>
                </a:r>
                <a:r>
                  <a:rPr lang="es-PE" sz="900" b="1" i="0" dirty="0" err="1">
                    <a:solidFill>
                      <a:schemeClr val="tx1"/>
                    </a:solidFill>
                    <a:effectLst/>
                    <a:latin typeface="Segoe WPC"/>
                  </a:rPr>
                  <a:t>Discounting</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spot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 single cash </a:t>
                </a:r>
                <a:r>
                  <a:rPr lang="es-PE" sz="900" b="0" i="0" dirty="0" err="1">
                    <a:solidFill>
                      <a:schemeClr val="tx1"/>
                    </a:solidFill>
                    <a:effectLst/>
                    <a:latin typeface="Segoe WPC"/>
                  </a:rPr>
                  <a:t>flow</a:t>
                </a:r>
                <a:r>
                  <a:rPr lang="es-PE" sz="900" b="0" i="0" dirty="0">
                    <a:solidFill>
                      <a:schemeClr val="tx1"/>
                    </a:solidFill>
                    <a:effectLst/>
                    <a:latin typeface="Segoe WPC"/>
                  </a:rPr>
                  <a:t> </a:t>
                </a:r>
                <a:r>
                  <a:rPr lang="es-PE" sz="900" b="0" i="0" dirty="0" err="1">
                    <a:solidFill>
                      <a:schemeClr val="tx1"/>
                    </a:solidFill>
                    <a:effectLst/>
                    <a:latin typeface="Segoe WPC"/>
                  </a:rPr>
                  <a:t>received</a:t>
                </a:r>
                <a:r>
                  <a:rPr lang="es-PE" sz="900" b="0" i="0" dirty="0">
                    <a:solidFill>
                      <a:schemeClr val="tx1"/>
                    </a:solidFill>
                    <a:effectLst/>
                    <a:latin typeface="Segoe WPC"/>
                  </a:rPr>
                  <a:t> at a future </a:t>
                </a:r>
                <a:r>
                  <a:rPr lang="es-PE" sz="900" b="0" i="0" dirty="0" err="1">
                    <a:solidFill>
                      <a:schemeClr val="tx1"/>
                    </a:solidFill>
                    <a:effectLst/>
                    <a:latin typeface="Segoe WPC"/>
                  </a:rPr>
                  <a:t>maturity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any</a:t>
                </a:r>
                <a:r>
                  <a:rPr lang="es-PE" sz="900" b="0" i="0" dirty="0">
                    <a:solidFill>
                      <a:schemeClr val="tx1"/>
                    </a:solidFill>
                    <a:effectLst/>
                    <a:latin typeface="Segoe WPC"/>
                  </a:rPr>
                  <a:t> future cash </a:t>
                </a:r>
                <a:r>
                  <a:rPr lang="es-PE" sz="900" b="0" i="0" dirty="0" err="1">
                    <a:solidFill>
                      <a:schemeClr val="tx1"/>
                    </a:solidFill>
                    <a:effectLst/>
                    <a:latin typeface="Segoe WPC"/>
                  </a:rPr>
                  <a:t>flow</a:t>
                </a:r>
                <a:r>
                  <a:rPr lang="es-PE" sz="900" b="0" i="0" dirty="0">
                    <a:solidFill>
                      <a:schemeClr val="tx1"/>
                    </a:solidFill>
                    <a:effectLst/>
                    <a:latin typeface="Segoe WPC"/>
                  </a:rPr>
                  <a:t>, </a:t>
                </a:r>
                <a:r>
                  <a:rPr lang="es-PE" sz="900" b="0" i="0" dirty="0" err="1">
                    <a:solidFill>
                      <a:schemeClr val="tx1"/>
                    </a:solidFill>
                    <a:effectLst/>
                    <a:latin typeface="Segoe WPC"/>
                  </a:rPr>
                  <a:t>discount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spot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matching</a:t>
                </a:r>
                <a:r>
                  <a:rPr lang="es-PE" sz="900" b="0" i="0" dirty="0">
                    <a:solidFill>
                      <a:schemeClr val="tx1"/>
                    </a:solidFill>
                    <a:effectLst/>
                    <a:latin typeface="Segoe WPC"/>
                  </a:rPr>
                  <a:t>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future </a:t>
                </a:r>
                <a:r>
                  <a:rPr lang="es-PE" sz="900" b="0" i="0" dirty="0" err="1">
                    <a:solidFill>
                      <a:schemeClr val="tx1"/>
                    </a:solidFill>
                    <a:effectLst/>
                    <a:latin typeface="Segoe WPC"/>
                  </a:rPr>
                  <a:t>payment</a:t>
                </a:r>
                <a:r>
                  <a:rPr lang="es-PE" sz="900" b="0" i="0" dirty="0">
                    <a:solidFill>
                      <a:schemeClr val="tx1"/>
                    </a:solidFill>
                    <a:effectLst/>
                    <a:latin typeface="Segoe WPC"/>
                  </a:rPr>
                  <a:t> has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own</a:t>
                </a:r>
                <a:r>
                  <a:rPr lang="es-PE" sz="900" b="0" i="0" dirty="0">
                    <a:solidFill>
                      <a:schemeClr val="tx1"/>
                    </a:solidFill>
                    <a:effectLst/>
                    <a:latin typeface="Segoe WPC"/>
                  </a:rPr>
                  <a:t> </a:t>
                </a:r>
                <a:r>
                  <a:rPr lang="es-PE" sz="900" b="0" i="0" dirty="0" err="1">
                    <a:solidFill>
                      <a:schemeClr val="tx1"/>
                    </a:solidFill>
                    <a:effectLst/>
                    <a:latin typeface="Segoe WPC"/>
                  </a:rPr>
                  <a:t>discount</a:t>
                </a:r>
                <a:r>
                  <a:rPr lang="es-PE" sz="900" b="0" i="0" dirty="0">
                    <a:solidFill>
                      <a:schemeClr val="tx1"/>
                    </a:solidFill>
                    <a:effectLst/>
                    <a:latin typeface="Segoe WPC"/>
                  </a:rPr>
                  <a:t> factor </a:t>
                </a:r>
                <a:r>
                  <a:rPr lang="es-PE" sz="900" b="0" i="0" dirty="0" err="1">
                    <a:solidFill>
                      <a:schemeClr val="tx1"/>
                    </a:solidFill>
                    <a:effectLst/>
                    <a:latin typeface="Segoe WPC"/>
                  </a:rPr>
                  <a:t>depending</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arrives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Present</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𝐴</m:t>
                    </m:r>
                    <m:d>
                      <m:dPr>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𝑅</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𝑚</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𝑚𝑇</m:t>
                            </m:r>
                          </m:sup>
                        </m:sSup>
                      </m:e>
                    </m:d>
                  </m:oMath>
                </a14:m>
                <a:r>
                  <a:rPr lang="ar-A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𝐴</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𝑅𝑇</m:t>
                        </m:r>
                      </m:sup>
                    </m:sSup>
                  </m:oMath>
                </a14:m>
                <a:r>
                  <a:rPr lang="ar-AE" sz="900" b="0" i="0" dirty="0">
                    <a:solidFill>
                      <a:schemeClr val="tx1"/>
                    </a:solidFill>
                    <a:effectLst/>
                    <a:latin typeface="Segoe WPC"/>
                  </a:rPr>
                  <a:t> </a:t>
                </a:r>
                <a:r>
                  <a:rPr lang="es-PE" sz="900" b="0" i="0" dirty="0" err="1">
                    <a:solidFill>
                      <a:schemeClr val="tx1"/>
                    </a:solidFill>
                    <a:effectLst/>
                    <a:latin typeface="Segoe WPC"/>
                  </a:rPr>
                  <a:t>under</a:t>
                </a:r>
                <a:r>
                  <a:rPr lang="es-PE" sz="900" b="0" i="0" dirty="0">
                    <a:solidFill>
                      <a:schemeClr val="tx1"/>
                    </a:solidFill>
                    <a:effectLst/>
                    <a:latin typeface="Segoe WPC"/>
                  </a:rPr>
                  <a:t> </a:t>
                </a:r>
                <a:r>
                  <a:rPr lang="es-PE" sz="900" b="0" i="0" dirty="0" err="1">
                    <a:solidFill>
                      <a:schemeClr val="tx1"/>
                    </a:solidFill>
                    <a:effectLst/>
                    <a:latin typeface="Segoe WPC"/>
                  </a:rPr>
                  <a:t>continuous</a:t>
                </a:r>
                <a:r>
                  <a:rPr lang="es-PE" sz="900" b="0" i="0" dirty="0">
                    <a:solidFill>
                      <a:schemeClr val="tx1"/>
                    </a:solidFill>
                    <a:effectLst/>
                    <a:latin typeface="Segoe WPC"/>
                  </a:rPr>
                  <a:t> </a:t>
                </a:r>
                <a:r>
                  <a:rPr lang="es-PE" sz="900" b="0" i="0" dirty="0" err="1">
                    <a:solidFill>
                      <a:schemeClr val="tx1"/>
                    </a:solidFill>
                    <a:effectLst/>
                    <a:latin typeface="Segoe WPC"/>
                  </a:rPr>
                  <a:t>compounding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Zero </a:t>
                </a:r>
                <a:r>
                  <a:rPr lang="es-PE" sz="900" b="0" i="0" dirty="0" err="1">
                    <a:solidFill>
                      <a:schemeClr val="tx1"/>
                    </a:solidFill>
                    <a:effectLst/>
                    <a:latin typeface="Segoe WPC"/>
                  </a:rPr>
                  <a:t>rates</a:t>
                </a:r>
                <a:r>
                  <a:rPr lang="es-PE" sz="900" b="0" i="0" dirty="0">
                    <a:solidFill>
                      <a:schemeClr val="tx1"/>
                    </a:solidFill>
                    <a:effectLst/>
                    <a:latin typeface="Segoe WPC"/>
                  </a:rPr>
                  <a:t> are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building</a:t>
                </a:r>
                <a:r>
                  <a:rPr lang="es-PE" sz="900" b="0" i="0" dirty="0">
                    <a:solidFill>
                      <a:schemeClr val="tx1"/>
                    </a:solidFill>
                    <a:effectLst/>
                    <a:latin typeface="Segoe WPC"/>
                  </a:rPr>
                  <a:t> blocks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valuing</a:t>
                </a:r>
                <a:r>
                  <a:rPr lang="es-PE" sz="900" b="0" i="0" dirty="0">
                    <a:solidFill>
                      <a:schemeClr val="tx1"/>
                    </a:solidFill>
                    <a:effectLst/>
                    <a:latin typeface="Segoe WPC"/>
                  </a:rPr>
                  <a:t> </a:t>
                </a:r>
                <a:r>
                  <a:rPr lang="es-PE" sz="900" b="0" i="0" dirty="0" err="1">
                    <a:solidFill>
                      <a:schemeClr val="tx1"/>
                    </a:solidFill>
                    <a:effectLst/>
                    <a:latin typeface="Segoe WPC"/>
                  </a:rPr>
                  <a:t>bonds</a:t>
                </a:r>
                <a:r>
                  <a:rPr lang="es-PE" sz="900" b="0" i="0" dirty="0">
                    <a:solidFill>
                      <a:schemeClr val="tx1"/>
                    </a:solidFill>
                    <a:effectLst/>
                    <a:latin typeface="Segoe WPC"/>
                  </a:rPr>
                  <a:t>, </a:t>
                </a:r>
                <a:r>
                  <a:rPr lang="es-PE" sz="900" b="0" i="0" dirty="0" err="1">
                    <a:solidFill>
                      <a:schemeClr val="tx1"/>
                    </a:solidFill>
                    <a:effectLst/>
                    <a:latin typeface="Segoe WPC"/>
                  </a:rPr>
                  <a:t>FRAs</a:t>
                </a:r>
                <a:r>
                  <a:rPr lang="es-PE" sz="900" b="0" i="0" dirty="0">
                    <a:solidFill>
                      <a:schemeClr val="tx1"/>
                    </a:solidFill>
                    <a:effectLst/>
                    <a:latin typeface="Segoe WPC"/>
                  </a:rPr>
                  <a:t>, swaps, and </a:t>
                </a:r>
                <a:r>
                  <a:rPr lang="es-PE" sz="900" b="0" i="0" dirty="0" err="1">
                    <a:solidFill>
                      <a:schemeClr val="tx1"/>
                    </a:solidFill>
                    <a:effectLst/>
                    <a:latin typeface="Segoe WPC"/>
                  </a:rPr>
                  <a:t>many</a:t>
                </a:r>
                <a:r>
                  <a:rPr lang="es-PE" sz="900" b="0" i="0" dirty="0">
                    <a:solidFill>
                      <a:schemeClr val="tx1"/>
                    </a:solidFill>
                    <a:effectLst/>
                    <a:latin typeface="Segoe WPC"/>
                  </a:rPr>
                  <a:t> derivatives.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discount</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bond cash </a:t>
                </a:r>
                <a:r>
                  <a:rPr lang="es-PE" sz="900" b="0" i="0" dirty="0" err="1">
                    <a:solidFill>
                      <a:schemeClr val="tx1"/>
                    </a:solidFill>
                    <a:effectLst/>
                    <a:latin typeface="Segoe WPC"/>
                  </a:rPr>
                  <a:t>flows</a:t>
                </a:r>
                <a:r>
                  <a:rPr lang="es-PE" sz="900" b="0" i="0" dirty="0">
                    <a:solidFill>
                      <a:schemeClr val="tx1"/>
                    </a:solidFill>
                    <a:effectLst/>
                    <a:latin typeface="Segoe WPC"/>
                  </a:rPr>
                  <a:t> at </a:t>
                </a:r>
                <a:r>
                  <a:rPr lang="es-PE" sz="900" b="0" i="0" dirty="0" err="1">
                    <a:solidFill>
                      <a:schemeClr val="tx1"/>
                    </a:solidFill>
                    <a:effectLst/>
                    <a:latin typeface="Segoe WPC"/>
                  </a:rPr>
                  <a:t>one</a:t>
                </a:r>
                <a:r>
                  <a:rPr lang="es-PE" sz="900" b="0" i="0" dirty="0">
                    <a:solidFill>
                      <a:schemeClr val="tx1"/>
                    </a:solidFill>
                    <a:effectLst/>
                    <a:latin typeface="Segoe WPC"/>
                  </a:rPr>
                  <a:t> single spot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cash </a:t>
                </a:r>
                <a:r>
                  <a:rPr lang="es-PE" sz="900" b="0" i="0" dirty="0" err="1">
                    <a:solidFill>
                      <a:schemeClr val="tx1"/>
                    </a:solidFill>
                    <a:effectLst/>
                    <a:latin typeface="Segoe WPC"/>
                  </a:rPr>
                  <a:t>flow</a:t>
                </a:r>
                <a:r>
                  <a:rPr lang="es-PE" sz="900" b="0" i="0" dirty="0">
                    <a:solidFill>
                      <a:schemeClr val="tx1"/>
                    </a:solidFill>
                    <a:effectLst/>
                    <a:latin typeface="Segoe WPC"/>
                  </a:rPr>
                  <a:t> </a:t>
                </a:r>
                <a:r>
                  <a:rPr lang="es-PE" sz="900" b="0" i="0" dirty="0" err="1">
                    <a:solidFill>
                      <a:schemeClr val="tx1"/>
                    </a:solidFill>
                    <a:effectLst/>
                    <a:latin typeface="Segoe WPC"/>
                  </a:rPr>
                  <a:t>should</a:t>
                </a:r>
                <a:r>
                  <a:rPr lang="es-PE" sz="900" b="0" i="0" dirty="0">
                    <a:solidFill>
                      <a:schemeClr val="tx1"/>
                    </a:solidFill>
                    <a:effectLst/>
                    <a:latin typeface="Segoe WPC"/>
                  </a:rPr>
                  <a:t> use </a:t>
                </a:r>
                <a:r>
                  <a:rPr lang="es-PE" sz="900" b="0" i="0" dirty="0" err="1">
                    <a:solidFill>
                      <a:schemeClr val="tx1"/>
                    </a:solidFill>
                    <a:effectLst/>
                    <a:latin typeface="Segoe WPC"/>
                  </a:rPr>
                  <a:t>its</a:t>
                </a:r>
                <a:r>
                  <a:rPr lang="es-PE" sz="900" b="0" i="0" dirty="0">
                    <a:solidFill>
                      <a:schemeClr val="tx1"/>
                    </a:solidFill>
                    <a:effectLst/>
                    <a:latin typeface="Segoe WPC"/>
                  </a:rPr>
                  <a:t> </a:t>
                </a:r>
                <a:r>
                  <a:rPr lang="es-PE" sz="900" b="0" i="0" dirty="0" err="1">
                    <a:solidFill>
                      <a:schemeClr val="tx1"/>
                    </a:solidFill>
                    <a:effectLst/>
                    <a:latin typeface="Segoe WPC"/>
                  </a:rPr>
                  <a:t>own</a:t>
                </a:r>
                <a:r>
                  <a:rPr lang="es-PE" sz="900" b="0" i="0" dirty="0">
                    <a:solidFill>
                      <a:schemeClr val="tx1"/>
                    </a:solidFill>
                    <a:effectLst/>
                    <a:latin typeface="Segoe WPC"/>
                  </a:rPr>
                  <a:t> </a:t>
                </a:r>
                <a:r>
                  <a:rPr lang="es-PE" sz="900" b="0" i="0" dirty="0" err="1">
                    <a:solidFill>
                      <a:schemeClr val="tx1"/>
                    </a:solidFill>
                    <a:effectLst/>
                    <a:latin typeface="Segoe WPC"/>
                  </a:rPr>
                  <a:t>maturity-specific</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a:t>
                </a:r>
              </a:p>
            </p:txBody>
          </p:sp>
        </mc:Choice>
        <mc:Fallback xmlns="">
          <p:sp>
            <p:nvSpPr>
              <p:cNvPr id="5" name="CuadroTexto 4">
                <a:extLst>
                  <a:ext uri="{FF2B5EF4-FFF2-40B4-BE49-F238E27FC236}">
                    <a16:creationId xmlns:a16="http://schemas.microsoft.com/office/drawing/2014/main" id="{7986A5E9-4FE3-65F5-8787-FD6B67380DE3}"/>
                  </a:ext>
                </a:extLst>
              </p:cNvPr>
              <p:cNvSpPr txBox="1">
                <a:spLocks noRot="1" noChangeAspect="1" noMove="1" noResize="1" noEditPoints="1" noAdjustHandles="1" noChangeArrowheads="1" noChangeShapeType="1" noTextEdit="1"/>
              </p:cNvSpPr>
              <p:nvPr/>
            </p:nvSpPr>
            <p:spPr>
              <a:xfrm>
                <a:off x="-1" y="127636"/>
                <a:ext cx="6255657" cy="6944402"/>
              </a:xfrm>
              <a:prstGeom prst="rect">
                <a:avLst/>
              </a:prstGeom>
              <a:blipFill>
                <a:blip r:embed="rId2"/>
                <a:stretch>
                  <a:fillRect b="-2809"/>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CF95D144-88A3-3712-EE87-DA0BDA5157AF}"/>
                  </a:ext>
                </a:extLst>
              </p:cNvPr>
              <p:cNvSpPr txBox="1"/>
              <p:nvPr/>
            </p:nvSpPr>
            <p:spPr>
              <a:xfrm>
                <a:off x="5959929" y="-73486"/>
                <a:ext cx="6406241" cy="7659533"/>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6. Bond Price, </a:t>
                </a:r>
                <a:r>
                  <a:rPr lang="es-PE" sz="900" b="1" i="0" dirty="0" err="1">
                    <a:solidFill>
                      <a:schemeClr val="tx1"/>
                    </a:solidFill>
                    <a:effectLst/>
                    <a:latin typeface="Segoe WPC"/>
                  </a:rPr>
                  <a:t>Yield</a:t>
                </a:r>
                <a:r>
                  <a:rPr lang="es-PE" sz="900" b="1" i="0" dirty="0">
                    <a:solidFill>
                      <a:schemeClr val="tx1"/>
                    </a:solidFill>
                    <a:effectLst/>
                    <a:latin typeface="Segoe WPC"/>
                  </a:rPr>
                  <a:t>, and Par </a:t>
                </a:r>
                <a:r>
                  <a:rPr lang="es-PE" sz="900" b="1" i="0" dirty="0" err="1">
                    <a:solidFill>
                      <a:schemeClr val="tx1"/>
                    </a:solidFill>
                    <a:effectLst/>
                    <a:latin typeface="Segoe WPC"/>
                  </a:rPr>
                  <a:t>Yield</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bond’s</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present</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coupons</a:t>
                </a:r>
                <a:r>
                  <a:rPr lang="es-PE" sz="900" b="0" i="0" dirty="0">
                    <a:solidFill>
                      <a:schemeClr val="tx1"/>
                    </a:solidFill>
                    <a:effectLst/>
                    <a:latin typeface="Segoe WPC"/>
                  </a:rPr>
                  <a:t> plus principal.</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Bond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rises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coupon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high</a:t>
                </a:r>
                <a:r>
                  <a:rPr lang="es-PE" sz="900" b="0" i="0" dirty="0">
                    <a:solidFill>
                      <a:schemeClr val="tx1"/>
                    </a:solidFill>
                    <a:effectLst/>
                    <a:latin typeface="Segoe WPC"/>
                  </a:rPr>
                  <a:t> relative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and </a:t>
                </a:r>
                <a:r>
                  <a:rPr lang="es-PE" sz="900" b="0" i="0" dirty="0" err="1">
                    <a:solidFill>
                      <a:schemeClr val="tx1"/>
                    </a:solidFill>
                    <a:effectLst/>
                    <a:latin typeface="Segoe WPC"/>
                  </a:rPr>
                  <a:t>falls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discount</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rise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bond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just</a:t>
                </a:r>
                <a:r>
                  <a:rPr lang="es-PE" sz="900" b="0" i="0" dirty="0">
                    <a:solidFill>
                      <a:schemeClr val="tx1"/>
                    </a:solidFill>
                    <a:effectLst/>
                    <a:latin typeface="Segoe WPC"/>
                  </a:rPr>
                  <a:t> a </a:t>
                </a:r>
                <a:r>
                  <a:rPr lang="es-PE" sz="900" b="0" i="0" dirty="0" err="1">
                    <a:solidFill>
                      <a:schemeClr val="tx1"/>
                    </a:solidFill>
                    <a:effectLst/>
                    <a:latin typeface="Segoe WPC"/>
                  </a:rPr>
                  <a:t>package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future cash </a:t>
                </a:r>
                <a:r>
                  <a:rPr lang="es-PE" sz="900" b="0" i="0" dirty="0" err="1">
                    <a:solidFill>
                      <a:schemeClr val="tx1"/>
                    </a:solidFill>
                    <a:effectLst/>
                    <a:latin typeface="Segoe WPC"/>
                  </a:rPr>
                  <a:t>flows</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discounted</a:t>
                </a:r>
                <a:r>
                  <a:rPr lang="es-PE" sz="900" b="0" i="0" dirty="0">
                    <a:solidFill>
                      <a:schemeClr val="tx1"/>
                    </a:solidFill>
                    <a:effectLst/>
                    <a:latin typeface="Segoe WPC"/>
                  </a:rPr>
                  <a:t> </a:t>
                </a:r>
                <a:r>
                  <a:rPr lang="es-PE" sz="900" b="0" i="0" dirty="0" err="1">
                    <a:solidFill>
                      <a:schemeClr val="tx1"/>
                    </a:solidFill>
                    <a:effectLst/>
                    <a:latin typeface="Segoe WPC"/>
                  </a:rPr>
                  <a:t>separately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Bond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𝐵</m:t>
                    </m:r>
                    <m:r>
                      <a:rPr lang="es-PE" sz="900" i="0">
                        <a:solidFill>
                          <a:schemeClr val="tx1"/>
                        </a:solidFill>
                        <a:latin typeface="Cambria Math" panose="02040503050406030204" pitchFamily="18" charset="0"/>
                      </a:rPr>
                      <m:t>=</m:t>
                    </m:r>
                    <m:nary>
                      <m:naryPr>
                        <m:chr m:val="∑"/>
                        <m:grow m:val="on"/>
                        <m:subHide m:val="on"/>
                        <m:supHide m:val="on"/>
                        <m:ctrlPr>
                          <a:rPr lang="ar-AE" sz="900" i="1">
                            <a:solidFill>
                              <a:schemeClr val="tx1"/>
                            </a:solidFill>
                            <a:latin typeface="Cambria Math" panose="02040503050406030204" pitchFamily="18" charset="0"/>
                          </a:rPr>
                        </m:ctrlPr>
                      </m:naryPr>
                      <m:sub/>
                      <m:sup/>
                      <m:e>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𝐶</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𝐹</m:t>
                                </m:r>
                              </m:e>
                              <m:sub>
                                <m:r>
                                  <a:rPr lang="ar-AE" sz="900" i="1">
                                    <a:solidFill>
                                      <a:schemeClr val="tx1"/>
                                    </a:solidFill>
                                    <a:latin typeface="Cambria Math" panose="02040503050406030204" pitchFamily="18" charset="0"/>
                                  </a:rPr>
                                  <m:t>𝑡</m:t>
                                </m:r>
                              </m:sub>
                            </m:sSub>
                          </m:num>
                          <m:den>
                            <m:d>
                              <m:dPr>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𝑦</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𝑚</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1">
                                        <a:solidFill>
                                          <a:schemeClr val="tx1"/>
                                        </a:solidFill>
                                        <a:latin typeface="Cambria Math" panose="02040503050406030204" pitchFamily="18" charset="0"/>
                                      </a:rPr>
                                      <m:t>𝑚𝑡</m:t>
                                    </m:r>
                                  </m:sup>
                                </m:sSup>
                              </m:e>
                            </m:d>
                          </m:den>
                        </m:f>
                      </m:e>
                    </m:nary>
                  </m:oMath>
                </a14:m>
                <a:r>
                  <a:rPr lang="ar-A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theoretical</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uses spot </a:t>
                </a:r>
                <a:r>
                  <a:rPr lang="es-PE" sz="900" b="0" i="0" dirty="0" err="1">
                    <a:solidFill>
                      <a:schemeClr val="tx1"/>
                    </a:solidFill>
                    <a:effectLst/>
                    <a:latin typeface="Segoe WPC"/>
                  </a:rPr>
                  <a:t>rates</a:t>
                </a:r>
                <a:r>
                  <a:rPr lang="es-PE" sz="900" b="0" i="0" dirty="0">
                    <a:solidFill>
                      <a:schemeClr val="tx1"/>
                    </a:solidFill>
                    <a:effectLst/>
                    <a:latin typeface="Segoe WPC"/>
                  </a:rPr>
                  <a:t> cash-flow </a:t>
                </a:r>
                <a:r>
                  <a:rPr lang="es-PE" sz="900" b="0" i="0" dirty="0" err="1">
                    <a:solidFill>
                      <a:schemeClr val="tx1"/>
                    </a:solidFill>
                    <a:effectLst/>
                    <a:latin typeface="Segoe WPC"/>
                  </a:rPr>
                  <a:t>by</a:t>
                </a:r>
                <a:r>
                  <a:rPr lang="es-PE" sz="900" b="0" i="0" dirty="0">
                    <a:solidFill>
                      <a:schemeClr val="tx1"/>
                    </a:solidFill>
                    <a:effectLst/>
                    <a:latin typeface="Segoe WPC"/>
                  </a:rPr>
                  <a:t> cash-flow. Par </a:t>
                </a:r>
                <a:r>
                  <a:rPr lang="es-PE" sz="900" b="0" i="0" dirty="0" err="1">
                    <a:solidFill>
                      <a:schemeClr val="tx1"/>
                    </a:solidFill>
                    <a:effectLst/>
                    <a:latin typeface="Segoe WPC"/>
                  </a:rPr>
                  <a:t>yield</a:t>
                </a:r>
                <a:r>
                  <a:rPr lang="es-PE" sz="900" b="0" i="0" dirty="0">
                    <a:solidFill>
                      <a:schemeClr val="tx1"/>
                    </a:solidFill>
                    <a:effectLst/>
                    <a:latin typeface="Segoe WPC"/>
                  </a:rPr>
                  <a:t> </a:t>
                </a:r>
                <a:r>
                  <a:rPr lang="es-PE" sz="900" b="0" i="0" dirty="0" err="1">
                    <a:solidFill>
                      <a:schemeClr val="tx1"/>
                    </a:solidFill>
                    <a:effectLst/>
                    <a:latin typeface="Segoe WPC"/>
                  </a:rPr>
                  <a:t>satisfies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𝑐</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100</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100</m:t>
                            </m:r>
                            <m:r>
                              <a:rPr lang="ar-AE" sz="900" i="1">
                                <a:solidFill>
                                  <a:schemeClr val="tx1"/>
                                </a:solidFill>
                                <a:latin typeface="Cambria Math" panose="02040503050406030204" pitchFamily="18" charset="0"/>
                              </a:rPr>
                              <m:t>𝑑</m:t>
                            </m:r>
                          </m:e>
                        </m:d>
                        <m:r>
                          <a:rPr lang="ar-AE" sz="900" i="1">
                            <a:solidFill>
                              <a:schemeClr val="tx1"/>
                            </a:solidFill>
                            <a:latin typeface="Cambria Math" panose="02040503050406030204" pitchFamily="18" charset="0"/>
                          </a:rPr>
                          <m:t>𝑚</m:t>
                        </m:r>
                      </m:num>
                      <m:den>
                        <m:r>
                          <a:rPr lang="ar-AE" sz="900" i="1">
                            <a:solidFill>
                              <a:schemeClr val="tx1"/>
                            </a:solidFill>
                            <a:latin typeface="Cambria Math" panose="02040503050406030204" pitchFamily="18" charset="0"/>
                          </a:rPr>
                          <m:t>𝐴</m:t>
                        </m:r>
                      </m:den>
                    </m:f>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single </a:t>
                </a:r>
                <a:r>
                  <a:rPr lang="es-PE" sz="900" b="0" i="0" dirty="0" err="1">
                    <a:solidFill>
                      <a:schemeClr val="tx1"/>
                    </a:solidFill>
                    <a:effectLst/>
                    <a:latin typeface="Segoe WPC"/>
                  </a:rPr>
                  <a:t>discount</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matches</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par </a:t>
                </a:r>
                <a:r>
                  <a:rPr lang="es-PE" sz="900" b="0" i="0" dirty="0" err="1">
                    <a:solidFill>
                      <a:schemeClr val="tx1"/>
                    </a:solidFill>
                    <a:effectLst/>
                    <a:latin typeface="Segoe WPC"/>
                  </a:rPr>
                  <a:t>yield</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coupon</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makes</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equal</a:t>
                </a:r>
                <a:r>
                  <a:rPr lang="es-PE" sz="900" b="0" i="0" dirty="0">
                    <a:solidFill>
                      <a:schemeClr val="tx1"/>
                    </a:solidFill>
                    <a:effectLst/>
                    <a:latin typeface="Segoe WPC"/>
                  </a:rPr>
                  <a:t> par.</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Bond </a:t>
                </a:r>
                <a:r>
                  <a:rPr lang="es-PE" sz="900" b="0" i="0" dirty="0" err="1">
                    <a:solidFill>
                      <a:schemeClr val="tx1"/>
                    </a:solidFill>
                    <a:effectLst/>
                    <a:latin typeface="Segoe WPC"/>
                  </a:rPr>
                  <a:t>yield</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thing</a:t>
                </a:r>
                <a:r>
                  <a:rPr lang="es-PE" sz="900" b="0" i="0" dirty="0">
                    <a:solidFill>
                      <a:schemeClr val="tx1"/>
                    </a:solidFill>
                    <a:effectLst/>
                    <a:latin typeface="Segoe WPC"/>
                  </a:rPr>
                  <a:t> as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summary</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are </a:t>
                </a:r>
                <a:r>
                  <a:rPr lang="es-PE" sz="900" b="0" i="0" dirty="0" err="1">
                    <a:solidFill>
                      <a:schemeClr val="tx1"/>
                    </a:solidFill>
                    <a:effectLst/>
                    <a:latin typeface="Segoe WPC"/>
                  </a:rPr>
                  <a:t>maturity-specific</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7. </a:t>
                </a:r>
                <a:r>
                  <a:rPr lang="es-PE" sz="900" b="1" i="0" dirty="0" err="1">
                    <a:solidFill>
                      <a:schemeClr val="tx1"/>
                    </a:solidFill>
                    <a:effectLst/>
                    <a:latin typeface="Segoe WPC"/>
                  </a:rPr>
                  <a:t>Duration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Duration</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bond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sensitivity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in </a:t>
                </a:r>
                <a:r>
                  <a:rPr lang="es-PE" sz="900" b="0" i="0" dirty="0" err="1">
                    <a:solidFill>
                      <a:schemeClr val="tx1"/>
                    </a:solidFill>
                    <a:effectLst/>
                    <a:latin typeface="Segoe WPC"/>
                  </a:rPr>
                  <a:t>yield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longer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weighted</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time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receive</a:t>
                </a:r>
                <a:r>
                  <a:rPr lang="es-PE" sz="900" b="0" i="0" dirty="0">
                    <a:solidFill>
                      <a:schemeClr val="tx1"/>
                    </a:solidFill>
                    <a:effectLst/>
                    <a:latin typeface="Segoe WPC"/>
                  </a:rPr>
                  <a:t> cash </a:t>
                </a:r>
                <a:r>
                  <a:rPr lang="es-PE" sz="900" b="0" i="0" dirty="0" err="1">
                    <a:solidFill>
                      <a:schemeClr val="tx1"/>
                    </a:solidFill>
                    <a:effectLst/>
                    <a:latin typeface="Segoe WPC"/>
                  </a:rPr>
                  <a:t>flows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more sensitive </a:t>
                </a:r>
                <a:r>
                  <a:rPr lang="es-PE" sz="900" b="0" i="0" dirty="0" err="1">
                    <a:solidFill>
                      <a:schemeClr val="tx1"/>
                    </a:solidFill>
                    <a:effectLst/>
                    <a:latin typeface="Segoe WPC"/>
                  </a:rPr>
                  <a:t>the</a:t>
                </a:r>
                <a:r>
                  <a:rPr lang="es-PE" sz="900" b="0" i="0" dirty="0">
                    <a:solidFill>
                      <a:schemeClr val="tx1"/>
                    </a:solidFill>
                    <a:effectLst/>
                    <a:latin typeface="Segoe WPC"/>
                  </a:rPr>
                  <a:t> bond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interest-rate</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Long-</a:t>
                </a:r>
                <a:r>
                  <a:rPr lang="es-PE" sz="900" b="0" i="0" dirty="0" err="1">
                    <a:solidFill>
                      <a:schemeClr val="tx1"/>
                    </a:solidFill>
                    <a:effectLst/>
                    <a:latin typeface="Segoe WPC"/>
                  </a:rPr>
                  <a:t>duration</a:t>
                </a:r>
                <a:r>
                  <a:rPr lang="es-PE" sz="900" b="0" i="0" dirty="0">
                    <a:solidFill>
                      <a:schemeClr val="tx1"/>
                    </a:solidFill>
                    <a:effectLst/>
                    <a:latin typeface="Segoe WPC"/>
                  </a:rPr>
                  <a:t> </a:t>
                </a:r>
                <a:r>
                  <a:rPr lang="es-PE" sz="900" b="0" i="0" dirty="0" err="1">
                    <a:solidFill>
                      <a:schemeClr val="tx1"/>
                    </a:solidFill>
                    <a:effectLst/>
                    <a:latin typeface="Segoe WPC"/>
                  </a:rPr>
                  <a:t>bonds</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more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yields</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Approximate</a:t>
                </a:r>
                <a:r>
                  <a:rPr lang="es-PE" sz="900" b="0" i="0" dirty="0">
                    <a:solidFill>
                      <a:schemeClr val="tx1"/>
                    </a:solidFill>
                    <a:effectLst/>
                    <a:latin typeface="Segoe WPC"/>
                  </a:rPr>
                  <a:t> bond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change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𝛥</m:t>
                    </m:r>
                    <m:r>
                      <a:rPr lang="es-PE" sz="900" i="1">
                        <a:solidFill>
                          <a:schemeClr val="tx1"/>
                        </a:solidFill>
                        <a:latin typeface="Cambria Math" panose="02040503050406030204" pitchFamily="18" charset="0"/>
                      </a:rPr>
                      <m:t>𝐵</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𝐷𝐵</m:t>
                    </m:r>
                    <m:r>
                      <a:rPr lang="es-PE" sz="900" i="1">
                        <a:solidFill>
                          <a:schemeClr val="tx1"/>
                        </a:solidFill>
                        <a:latin typeface="Cambria Math" panose="02040503050406030204" pitchFamily="18" charset="0"/>
                      </a:rPr>
                      <m:t>𝛥</m:t>
                    </m:r>
                    <m:r>
                      <a:rPr lang="es-PE" sz="900" i="1">
                        <a:solidFill>
                          <a:schemeClr val="tx1"/>
                        </a:solidFill>
                        <a:latin typeface="Cambria Math" panose="02040503050406030204" pitchFamily="18" charset="0"/>
                      </a:rPr>
                      <m:t>𝑦</m:t>
                    </m:r>
                  </m:oMath>
                </a14:m>
                <a:r>
                  <a:rPr lang="es-PE" sz="900" b="0" i="0" dirty="0">
                    <a:solidFill>
                      <a:schemeClr val="tx1"/>
                    </a:solidFill>
                    <a:effectLst/>
                    <a:latin typeface="Segoe WPC"/>
                  </a:rPr>
                  <a:t>, and </a:t>
                </a:r>
                <a:r>
                  <a:rPr lang="es-PE" sz="900" b="0" i="0" dirty="0" err="1">
                    <a:solidFill>
                      <a:schemeClr val="tx1"/>
                    </a:solidFill>
                    <a:effectLst/>
                    <a:latin typeface="Segoe WPC"/>
                  </a:rPr>
                  <a:t>modified</a:t>
                </a:r>
                <a:r>
                  <a:rPr lang="es-PE" sz="900" b="0" i="0" dirty="0">
                    <a:solidFill>
                      <a:schemeClr val="tx1"/>
                    </a:solidFill>
                    <a:effectLst/>
                    <a:latin typeface="Segoe WPC"/>
                  </a:rPr>
                  <a:t> </a:t>
                </a:r>
                <a:r>
                  <a:rPr lang="es-PE" sz="900" b="0" i="0" dirty="0" err="1">
                    <a:solidFill>
                      <a:schemeClr val="tx1"/>
                    </a:solidFill>
                    <a:effectLst/>
                    <a:latin typeface="Segoe WPC"/>
                  </a:rPr>
                  <a:t>duration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ModDur</m:t>
                    </m:r>
                    <m:r>
                      <a:rPr lang="es-PE" sz="900" b="0" i="0">
                        <a:solidFill>
                          <a:schemeClr val="tx1"/>
                        </a:solidFill>
                        <a:latin typeface="Cambria Math" panose="02040503050406030204" pitchFamily="18" charset="0"/>
                      </a:rPr>
                      <m:t>=</m:t>
                    </m:r>
                    <m:f>
                      <m:fPr>
                        <m:ctrlPr>
                          <a:rPr lang="ar-AE" sz="900" b="0" i="1">
                            <a:solidFill>
                              <a:schemeClr val="tx1"/>
                            </a:solidFill>
                            <a:latin typeface="Cambria Math" panose="02040503050406030204" pitchFamily="18" charset="0"/>
                          </a:rPr>
                        </m:ctrlPr>
                      </m:fPr>
                      <m:num>
                        <m:r>
                          <m:rPr>
                            <m:nor/>
                          </m:rPr>
                          <a:rPr lang="es-PE" sz="900" b="0" i="1">
                            <a:solidFill>
                              <a:schemeClr val="tx1"/>
                            </a:solidFill>
                            <a:latin typeface="Cambria Math" panose="02040503050406030204" pitchFamily="18" charset="0"/>
                          </a:rPr>
                          <m:t>Macaulay</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Duration</m:t>
                        </m:r>
                      </m:num>
                      <m:den>
                        <m:r>
                          <a:rPr lang="ar-AE" sz="900" b="0" i="0">
                            <a:solidFill>
                              <a:schemeClr val="tx1"/>
                            </a:solidFill>
                            <a:latin typeface="Cambria Math" panose="02040503050406030204" pitchFamily="18" charset="0"/>
                          </a:rPr>
                          <m:t>1</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𝑦</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𝑚</m:t>
                        </m:r>
                      </m:den>
                    </m:f>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Macaulay</a:t>
                </a:r>
                <a:r>
                  <a:rPr lang="es-PE" sz="900" b="0" i="0" dirty="0">
                    <a:solidFill>
                      <a:schemeClr val="tx1"/>
                    </a:solidFill>
                    <a:effectLst/>
                    <a:latin typeface="Segoe WPC"/>
                  </a:rPr>
                  <a:t> </a:t>
                </a:r>
                <a:r>
                  <a:rPr lang="es-PE" sz="900" b="0" i="0" dirty="0" err="1">
                    <a:solidFill>
                      <a:schemeClr val="tx1"/>
                    </a:solidFill>
                    <a:effectLst/>
                    <a:latin typeface="Segoe WPC"/>
                  </a:rPr>
                  <a:t>duration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weighted</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 </a:t>
                </a:r>
                <a:r>
                  <a:rPr lang="es-PE" sz="900" b="0" i="0" dirty="0" err="1">
                    <a:solidFill>
                      <a:schemeClr val="tx1"/>
                    </a:solidFill>
                    <a:effectLst/>
                    <a:latin typeface="Segoe WPC"/>
                  </a:rPr>
                  <a:t>measure</a:t>
                </a:r>
                <a:r>
                  <a:rPr lang="es-PE" sz="900" b="0" i="0" dirty="0">
                    <a:solidFill>
                      <a:schemeClr val="tx1"/>
                    </a:solidFill>
                    <a:effectLst/>
                    <a:latin typeface="Segoe WPC"/>
                  </a:rPr>
                  <a:t>; </a:t>
                </a:r>
                <a:r>
                  <a:rPr lang="es-PE" sz="900" b="0" i="0" dirty="0" err="1">
                    <a:solidFill>
                      <a:schemeClr val="tx1"/>
                    </a:solidFill>
                    <a:effectLst/>
                    <a:latin typeface="Segoe WPC"/>
                  </a:rPr>
                  <a:t>modified</a:t>
                </a:r>
                <a:r>
                  <a:rPr lang="es-PE" sz="900" b="0" i="0" dirty="0">
                    <a:solidFill>
                      <a:schemeClr val="tx1"/>
                    </a:solidFill>
                    <a:effectLst/>
                    <a:latin typeface="Segoe WPC"/>
                  </a:rPr>
                  <a:t> </a:t>
                </a:r>
                <a:r>
                  <a:rPr lang="es-PE" sz="900" b="0" i="0" dirty="0" err="1">
                    <a:solidFill>
                      <a:schemeClr val="tx1"/>
                    </a:solidFill>
                    <a:effectLst/>
                    <a:latin typeface="Segoe WPC"/>
                  </a:rPr>
                  <a:t>duration</a:t>
                </a:r>
                <a:r>
                  <a:rPr lang="es-PE" sz="900" b="0" i="0" dirty="0">
                    <a:solidFill>
                      <a:schemeClr val="tx1"/>
                    </a:solidFill>
                    <a:effectLst/>
                    <a:latin typeface="Segoe WPC"/>
                  </a:rPr>
                  <a:t> </a:t>
                </a:r>
                <a:r>
                  <a:rPr lang="es-PE" sz="900" b="0" i="0" dirty="0" err="1">
                    <a:solidFill>
                      <a:schemeClr val="tx1"/>
                    </a:solidFill>
                    <a:effectLst/>
                    <a:latin typeface="Segoe WPC"/>
                  </a:rPr>
                  <a:t>translates</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sensitivity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Duration</a:t>
                </a:r>
                <a:r>
                  <a:rPr lang="es-PE" sz="900" b="0" i="0" dirty="0">
                    <a:solidFill>
                      <a:schemeClr val="tx1"/>
                    </a:solidFill>
                    <a:effectLst/>
                    <a:latin typeface="Segoe WPC"/>
                  </a:rPr>
                  <a:t> </a:t>
                </a:r>
                <a:r>
                  <a:rPr lang="es-PE" sz="900" b="0" i="0" dirty="0" err="1">
                    <a:solidFill>
                      <a:schemeClr val="tx1"/>
                    </a:solidFill>
                    <a:effectLst/>
                    <a:latin typeface="Segoe WPC"/>
                  </a:rPr>
                  <a:t>works</a:t>
                </a:r>
                <a:r>
                  <a:rPr lang="es-PE" sz="900" b="0" i="0" dirty="0">
                    <a:solidFill>
                      <a:schemeClr val="tx1"/>
                    </a:solidFill>
                    <a:effectLst/>
                    <a:latin typeface="Segoe WPC"/>
                  </a:rPr>
                  <a:t> </a:t>
                </a:r>
                <a:r>
                  <a:rPr lang="es-PE" sz="900" b="0" i="0" dirty="0" err="1">
                    <a:solidFill>
                      <a:schemeClr val="tx1"/>
                    </a:solidFill>
                    <a:effectLst/>
                    <a:latin typeface="Segoe WPC"/>
                  </a:rPr>
                  <a:t>best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small</a:t>
                </a:r>
                <a:r>
                  <a:rPr lang="es-PE" sz="900" b="0" i="0" dirty="0">
                    <a:solidFill>
                      <a:schemeClr val="tx1"/>
                    </a:solidFill>
                    <a:effectLst/>
                    <a:latin typeface="Segoe WPC"/>
                  </a:rPr>
                  <a:t>, </a:t>
                </a:r>
                <a:r>
                  <a:rPr lang="es-PE" sz="900" b="0" i="0" dirty="0" err="1">
                    <a:solidFill>
                      <a:schemeClr val="tx1"/>
                    </a:solidFill>
                    <a:effectLst/>
                    <a:latin typeface="Segoe WPC"/>
                  </a:rPr>
                  <a:t>parallel</a:t>
                </a:r>
                <a:r>
                  <a:rPr lang="es-PE" sz="900" b="0" i="0" dirty="0">
                    <a:solidFill>
                      <a:schemeClr val="tx1"/>
                    </a:solidFill>
                    <a:effectLst/>
                    <a:latin typeface="Segoe WPC"/>
                  </a:rPr>
                  <a:t> </a:t>
                </a:r>
                <a:r>
                  <a:rPr lang="es-PE" sz="900" b="0" i="0" dirty="0" err="1">
                    <a:solidFill>
                      <a:schemeClr val="tx1"/>
                    </a:solidFill>
                    <a:effectLst/>
                    <a:latin typeface="Segoe WPC"/>
                  </a:rPr>
                  <a:t>shifts</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 curve.</a:t>
                </a:r>
              </a:p>
              <a:p>
                <a:pPr algn="l">
                  <a:spcAft>
                    <a:spcPts val="600"/>
                  </a:spcAft>
                  <a:buNone/>
                </a:pPr>
                <a:r>
                  <a:rPr lang="es-PE" sz="900" b="1" i="0" dirty="0">
                    <a:solidFill>
                      <a:schemeClr val="tx1"/>
                    </a:solidFill>
                    <a:effectLst/>
                    <a:latin typeface="Segoe WPC"/>
                  </a:rPr>
                  <a:t>8. </a:t>
                </a:r>
                <a:r>
                  <a:rPr lang="es-PE" sz="900" b="1" i="0" dirty="0" err="1">
                    <a:solidFill>
                      <a:schemeClr val="tx1"/>
                    </a:solidFill>
                    <a:effectLst/>
                    <a:latin typeface="Segoe WPC"/>
                  </a:rPr>
                  <a:t>Convexity</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Convexity</a:t>
                </a:r>
                <a:r>
                  <a:rPr lang="es-PE" sz="900" b="0" i="0" dirty="0">
                    <a:solidFill>
                      <a:schemeClr val="tx1"/>
                    </a:solidFill>
                    <a:effectLst/>
                    <a:latin typeface="Segoe WPC"/>
                  </a:rPr>
                  <a:t> </a:t>
                </a:r>
                <a:r>
                  <a:rPr lang="es-PE" sz="900" b="0" i="0" dirty="0" err="1">
                    <a:solidFill>
                      <a:schemeClr val="tx1"/>
                    </a:solidFill>
                    <a:effectLst/>
                    <a:latin typeface="Segoe WPC"/>
                  </a:rPr>
                  <a:t>improves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duration</a:t>
                </a:r>
                <a:r>
                  <a:rPr lang="es-PE" sz="900" b="0" i="0" dirty="0">
                    <a:solidFill>
                      <a:schemeClr val="tx1"/>
                    </a:solidFill>
                    <a:effectLst/>
                    <a:latin typeface="Segoe WPC"/>
                  </a:rPr>
                  <a:t> </a:t>
                </a:r>
                <a:r>
                  <a:rPr lang="es-PE" sz="900" b="0" i="0" dirty="0" err="1">
                    <a:solidFill>
                      <a:schemeClr val="tx1"/>
                    </a:solidFill>
                    <a:effectLst/>
                    <a:latin typeface="Segoe WPC"/>
                  </a:rPr>
                  <a:t>approximation</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capturing</a:t>
                </a:r>
                <a:r>
                  <a:rPr lang="es-PE" sz="900" b="0" i="0" dirty="0">
                    <a:solidFill>
                      <a:schemeClr val="tx1"/>
                    </a:solidFill>
                    <a:effectLst/>
                    <a:latin typeface="Segoe WPC"/>
                  </a:rPr>
                  <a:t> </a:t>
                </a:r>
                <a:r>
                  <a:rPr lang="es-PE" sz="900" b="0" i="0" dirty="0" err="1">
                    <a:solidFill>
                      <a:schemeClr val="tx1"/>
                    </a:solidFill>
                    <a:effectLst/>
                    <a:latin typeface="Segoe WPC"/>
                  </a:rPr>
                  <a:t>curvature</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price-yield</a:t>
                </a:r>
                <a:r>
                  <a:rPr lang="es-PE" sz="900" b="0" i="0" dirty="0">
                    <a:solidFill>
                      <a:schemeClr val="tx1"/>
                    </a:solidFill>
                    <a:effectLst/>
                    <a:latin typeface="Segoe WPC"/>
                  </a:rPr>
                  <a:t> </a:t>
                </a:r>
                <a:r>
                  <a:rPr lang="es-PE" sz="900" b="0" i="0" dirty="0" err="1">
                    <a:solidFill>
                      <a:schemeClr val="tx1"/>
                    </a:solidFill>
                    <a:effectLst/>
                    <a:latin typeface="Segoe WPC"/>
                  </a:rPr>
                  <a:t>relationship</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Bond </a:t>
                </a:r>
                <a:r>
                  <a:rPr lang="es-PE" sz="900" b="0" i="0" dirty="0" err="1">
                    <a:solidFill>
                      <a:schemeClr val="tx1"/>
                    </a:solidFill>
                    <a:effectLst/>
                    <a:latin typeface="Segoe WPC"/>
                  </a:rPr>
                  <a:t>prices</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in a </a:t>
                </a:r>
                <a:r>
                  <a:rPr lang="es-PE" sz="900" b="0" i="0" dirty="0" err="1">
                    <a:solidFill>
                      <a:schemeClr val="tx1"/>
                    </a:solidFill>
                    <a:effectLst/>
                    <a:latin typeface="Segoe WPC"/>
                  </a:rPr>
                  <a:t>straight</a:t>
                </a:r>
                <a:r>
                  <a:rPr lang="es-PE" sz="900" b="0" i="0" dirty="0">
                    <a:solidFill>
                      <a:schemeClr val="tx1"/>
                    </a:solidFill>
                    <a:effectLst/>
                    <a:latin typeface="Segoe WPC"/>
                  </a:rPr>
                  <a:t> line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yields</a:t>
                </a:r>
                <a:r>
                  <a:rPr lang="es-PE" sz="900" b="0" i="0" dirty="0">
                    <a:solidFill>
                      <a:schemeClr val="tx1"/>
                    </a:solidFill>
                    <a:effectLst/>
                    <a:latin typeface="Segoe WPC"/>
                  </a:rPr>
                  <a:t>; </a:t>
                </a:r>
                <a:r>
                  <a:rPr lang="es-PE" sz="900" b="0" i="0" dirty="0" err="1">
                    <a:solidFill>
                      <a:schemeClr val="tx1"/>
                    </a:solidFill>
                    <a:effectLst/>
                    <a:latin typeface="Segoe WPC"/>
                  </a:rPr>
                  <a:t>convexity</a:t>
                </a:r>
                <a:r>
                  <a:rPr lang="es-PE" sz="900" b="0" i="0" dirty="0">
                    <a:solidFill>
                      <a:schemeClr val="tx1"/>
                    </a:solidFill>
                    <a:effectLst/>
                    <a:latin typeface="Segoe WPC"/>
                  </a:rPr>
                  <a:t> </a:t>
                </a:r>
                <a:r>
                  <a:rPr lang="es-PE" sz="900" b="0" i="0" dirty="0" err="1">
                    <a:solidFill>
                      <a:schemeClr val="tx1"/>
                    </a:solidFill>
                    <a:effectLst/>
                    <a:latin typeface="Segoe WPC"/>
                  </a:rPr>
                  <a:t>corrects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Duration</a:t>
                </a:r>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tangent</a:t>
                </a:r>
                <a:r>
                  <a:rPr lang="es-PE" sz="900" b="0" i="0" dirty="0">
                    <a:solidFill>
                      <a:schemeClr val="tx1"/>
                    </a:solidFill>
                    <a:effectLst/>
                    <a:latin typeface="Segoe WPC"/>
                  </a:rPr>
                  <a:t> line, </a:t>
                </a:r>
                <a:r>
                  <a:rPr lang="es-PE" sz="900" b="0" i="0" dirty="0" err="1">
                    <a:solidFill>
                      <a:schemeClr val="tx1"/>
                    </a:solidFill>
                    <a:effectLst/>
                    <a:latin typeface="Segoe WPC"/>
                  </a:rPr>
                  <a:t>convexity</a:t>
                </a:r>
                <a:r>
                  <a:rPr lang="es-PE" sz="900" b="0" i="0" dirty="0">
                    <a:solidFill>
                      <a:schemeClr val="tx1"/>
                    </a:solidFill>
                    <a:effectLst/>
                    <a:latin typeface="Segoe WPC"/>
                  </a:rPr>
                  <a:t> </a:t>
                </a:r>
                <a:r>
                  <a:rPr lang="es-PE" sz="900" b="0" i="0" dirty="0" err="1">
                    <a:solidFill>
                      <a:schemeClr val="tx1"/>
                    </a:solidFill>
                    <a:effectLst/>
                    <a:latin typeface="Segoe WPC"/>
                  </a:rPr>
                  <a:t>bends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estimate</a:t>
                </a:r>
                <a:r>
                  <a:rPr lang="es-PE" sz="900" b="0" i="0" dirty="0">
                    <a:solidFill>
                      <a:schemeClr val="tx1"/>
                    </a:solidFill>
                    <a:effectLst/>
                    <a:latin typeface="Segoe WPC"/>
                  </a:rPr>
                  <a:t> </a:t>
                </a:r>
                <a:r>
                  <a:rPr lang="es-PE" sz="900" b="0" i="0" dirty="0" err="1">
                    <a:solidFill>
                      <a:schemeClr val="tx1"/>
                    </a:solidFill>
                    <a:effectLst/>
                    <a:latin typeface="Segoe WPC"/>
                  </a:rPr>
                  <a:t>toward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true curve.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𝛥</m:t>
                    </m:r>
                    <m:r>
                      <a:rPr lang="es-PE" sz="900" i="1">
                        <a:solidFill>
                          <a:schemeClr val="tx1"/>
                        </a:solidFill>
                        <a:latin typeface="Cambria Math" panose="02040503050406030204" pitchFamily="18" charset="0"/>
                      </a:rPr>
                      <m:t>𝐵</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𝐷𝐵</m:t>
                    </m:r>
                    <m:r>
                      <a:rPr lang="es-PE" sz="900" i="1">
                        <a:solidFill>
                          <a:schemeClr val="tx1"/>
                        </a:solidFill>
                        <a:latin typeface="Cambria Math" panose="02040503050406030204" pitchFamily="18" charset="0"/>
                      </a:rPr>
                      <m:t>𝛥</m:t>
                    </m:r>
                    <m:r>
                      <a:rPr lang="es-PE" sz="900" i="1">
                        <a:solidFill>
                          <a:schemeClr val="tx1"/>
                        </a:solidFill>
                        <a:latin typeface="Cambria Math" panose="02040503050406030204" pitchFamily="18" charset="0"/>
                      </a:rPr>
                      <m:t>𝑦</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0">
                            <a:solidFill>
                              <a:schemeClr val="tx1"/>
                            </a:solidFill>
                            <a:latin typeface="Cambria Math" panose="02040503050406030204" pitchFamily="18" charset="0"/>
                          </a:rPr>
                          <m:t>2</m:t>
                        </m:r>
                      </m:den>
                    </m:f>
                    <m:r>
                      <a:rPr lang="ar-AE" sz="900" i="1">
                        <a:solidFill>
                          <a:schemeClr val="tx1"/>
                        </a:solidFill>
                        <a:latin typeface="Cambria Math" panose="02040503050406030204" pitchFamily="18" charset="0"/>
                      </a:rPr>
                      <m:t>𝐶𝐵</m:t>
                    </m:r>
                    <m:d>
                      <m:dPr>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𝑦</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Adding</a:t>
                </a:r>
                <a:r>
                  <a:rPr lang="es-PE" sz="900" b="0" i="0" dirty="0">
                    <a:solidFill>
                      <a:schemeClr val="tx1"/>
                    </a:solidFill>
                    <a:effectLst/>
                    <a:latin typeface="Segoe WPC"/>
                  </a:rPr>
                  <a:t> </a:t>
                </a:r>
                <a:r>
                  <a:rPr lang="es-PE" sz="900" b="0" i="0" dirty="0" err="1">
                    <a:solidFill>
                      <a:schemeClr val="tx1"/>
                    </a:solidFill>
                    <a:effectLst/>
                    <a:latin typeface="Segoe WPC"/>
                  </a:rPr>
                  <a:t>convexity</a:t>
                </a:r>
                <a:r>
                  <a:rPr lang="es-PE" sz="900" b="0" i="0" dirty="0">
                    <a:solidFill>
                      <a:schemeClr val="tx1"/>
                    </a:solidFill>
                    <a:effectLst/>
                    <a:latin typeface="Segoe WPC"/>
                  </a:rPr>
                  <a:t> </a:t>
                </a:r>
                <a:r>
                  <a:rPr lang="es-PE" sz="900" b="0" i="0" dirty="0" err="1">
                    <a:solidFill>
                      <a:schemeClr val="tx1"/>
                    </a:solidFill>
                    <a:effectLst/>
                    <a:latin typeface="Segoe WPC"/>
                  </a:rPr>
                  <a:t>improves</a:t>
                </a:r>
                <a:r>
                  <a:rPr lang="es-PE" sz="900" b="0" i="0" dirty="0">
                    <a:solidFill>
                      <a:schemeClr val="tx1"/>
                    </a:solidFill>
                    <a:effectLst/>
                    <a:latin typeface="Segoe WPC"/>
                  </a:rPr>
                  <a:t> </a:t>
                </a:r>
                <a:r>
                  <a:rPr lang="es-PE" sz="900" b="0" i="0" dirty="0" err="1">
                    <a:solidFill>
                      <a:schemeClr val="tx1"/>
                    </a:solidFill>
                    <a:effectLst/>
                    <a:latin typeface="Segoe WPC"/>
                  </a:rPr>
                  <a:t>accuracy</a:t>
                </a:r>
                <a:r>
                  <a:rPr lang="es-PE" sz="900" b="0" i="0" dirty="0">
                    <a:solidFill>
                      <a:schemeClr val="tx1"/>
                    </a:solidFill>
                    <a:effectLst/>
                    <a:latin typeface="Segoe WPC"/>
                  </a:rPr>
                  <a:t>, </a:t>
                </a:r>
                <a:r>
                  <a:rPr lang="es-PE" sz="900" b="0" i="0" dirty="0" err="1">
                    <a:solidFill>
                      <a:schemeClr val="tx1"/>
                    </a:solidFill>
                    <a:effectLst/>
                    <a:latin typeface="Segoe WPC"/>
                  </a:rPr>
                  <a:t>especially</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larger</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Duration</a:t>
                </a:r>
                <a:r>
                  <a:rPr lang="es-PE" sz="900" b="0" i="0" dirty="0">
                    <a:solidFill>
                      <a:schemeClr val="tx1"/>
                    </a:solidFill>
                    <a:effectLst/>
                    <a:latin typeface="Segoe WPC"/>
                  </a:rPr>
                  <a:t> alone </a:t>
                </a:r>
                <a:r>
                  <a:rPr lang="es-PE" sz="900" b="0" i="0" dirty="0" err="1">
                    <a:solidFill>
                      <a:schemeClr val="tx1"/>
                    </a:solidFill>
                    <a:effectLst/>
                    <a:latin typeface="Segoe WPC"/>
                  </a:rPr>
                  <a:t>becomes</a:t>
                </a:r>
                <a:r>
                  <a:rPr lang="es-PE" sz="900" b="0" i="0" dirty="0">
                    <a:solidFill>
                      <a:schemeClr val="tx1"/>
                    </a:solidFill>
                    <a:effectLst/>
                    <a:latin typeface="Segoe WPC"/>
                  </a:rPr>
                  <a:t> </a:t>
                </a:r>
                <a:r>
                  <a:rPr lang="es-PE" sz="900" b="0" i="0" dirty="0" err="1">
                    <a:solidFill>
                      <a:schemeClr val="tx1"/>
                    </a:solidFill>
                    <a:effectLst/>
                    <a:latin typeface="Segoe WPC"/>
                  </a:rPr>
                  <a:t>unreliable</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 </a:t>
                </a:r>
                <a:r>
                  <a:rPr lang="es-PE" sz="900" b="0" i="0" dirty="0" err="1">
                    <a:solidFill>
                      <a:schemeClr val="tx1"/>
                    </a:solidFill>
                    <a:effectLst/>
                    <a:latin typeface="Segoe WPC"/>
                  </a:rPr>
                  <a:t>moves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non-</a:t>
                </a:r>
                <a:r>
                  <a:rPr lang="es-PE" sz="900" b="0" i="0" dirty="0" err="1">
                    <a:solidFill>
                      <a:schemeClr val="tx1"/>
                    </a:solidFill>
                    <a:effectLst/>
                    <a:latin typeface="Segoe WPC"/>
                  </a:rPr>
                  <a:t>parallel</a:t>
                </a:r>
                <a:r>
                  <a:rPr lang="es-PE" sz="900" b="0" i="0" dirty="0">
                    <a:solidFill>
                      <a:schemeClr val="tx1"/>
                    </a:solidFill>
                    <a:effectLst/>
                    <a:latin typeface="Segoe WPC"/>
                  </a:rPr>
                  <a:t> </a:t>
                </a:r>
                <a:r>
                  <a:rPr lang="es-PE" sz="900" b="0" i="0" dirty="0" err="1">
                    <a:solidFill>
                      <a:schemeClr val="tx1"/>
                    </a:solidFill>
                    <a:effectLst/>
                    <a:latin typeface="Segoe WPC"/>
                  </a:rPr>
                  <a:t>shifts</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term</a:t>
                </a:r>
                <a:r>
                  <a:rPr lang="es-PE" sz="900" b="0" i="0" dirty="0">
                    <a:solidFill>
                      <a:schemeClr val="tx1"/>
                    </a:solidFill>
                    <a:effectLst/>
                    <a:latin typeface="Segoe WPC"/>
                  </a:rPr>
                  <a:t> </a:t>
                </a:r>
                <a:r>
                  <a:rPr lang="es-PE" sz="900" b="0" i="0" dirty="0" err="1">
                    <a:solidFill>
                      <a:schemeClr val="tx1"/>
                    </a:solidFill>
                    <a:effectLst/>
                    <a:latin typeface="Segoe WPC"/>
                  </a:rPr>
                  <a:t>structure</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9. Forward Rates and </a:t>
                </a:r>
                <a:r>
                  <a:rPr lang="es-PE" sz="900" b="1" i="0" dirty="0" err="1">
                    <a:solidFill>
                      <a:schemeClr val="tx1"/>
                    </a:solidFill>
                    <a:effectLst/>
                    <a:latin typeface="Segoe WPC"/>
                  </a:rPr>
                  <a:t>FRAs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Forward </a:t>
                </a:r>
                <a:r>
                  <a:rPr lang="es-PE" sz="900" b="0" i="0" dirty="0" err="1">
                    <a:solidFill>
                      <a:schemeClr val="tx1"/>
                    </a:solidFill>
                    <a:effectLst/>
                    <a:latin typeface="Segoe WPC"/>
                  </a:rPr>
                  <a:t>rates</a:t>
                </a:r>
                <a:r>
                  <a:rPr lang="es-PE" sz="900" b="0" i="0" dirty="0">
                    <a:solidFill>
                      <a:schemeClr val="tx1"/>
                    </a:solidFill>
                    <a:effectLst/>
                    <a:latin typeface="Segoe WPC"/>
                  </a:rPr>
                  <a:t> are future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implied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today’s</a:t>
                </a:r>
                <a:r>
                  <a:rPr lang="es-PE" sz="900" b="0" i="0" dirty="0">
                    <a:solidFill>
                      <a:schemeClr val="tx1"/>
                    </a:solidFill>
                    <a:effectLst/>
                    <a:latin typeface="Segoe WPC"/>
                  </a:rPr>
                  <a:t> spot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FRAs</a:t>
                </a:r>
                <a:r>
                  <a:rPr lang="es-PE" sz="900" b="0" i="0" dirty="0">
                    <a:solidFill>
                      <a:schemeClr val="tx1"/>
                    </a:solidFill>
                    <a:effectLst/>
                    <a:latin typeface="Segoe WPC"/>
                  </a:rPr>
                  <a:t> are </a:t>
                </a:r>
                <a:r>
                  <a:rPr lang="es-PE" sz="900" b="0" i="0" dirty="0" err="1">
                    <a:solidFill>
                      <a:schemeClr val="tx1"/>
                    </a:solidFill>
                    <a:effectLst/>
                    <a:latin typeface="Segoe WPC"/>
                  </a:rPr>
                  <a:t>contracts</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lock</a:t>
                </a:r>
                <a:r>
                  <a:rPr lang="es-PE" sz="900" b="0" i="0" dirty="0">
                    <a:solidFill>
                      <a:schemeClr val="tx1"/>
                    </a:solidFill>
                    <a:effectLst/>
                    <a:latin typeface="Segoe WPC"/>
                  </a:rPr>
                  <a:t> in </a:t>
                </a:r>
                <a:r>
                  <a:rPr lang="es-PE" sz="900" b="0" i="0" dirty="0" err="1">
                    <a:solidFill>
                      <a:schemeClr val="tx1"/>
                    </a:solidFill>
                    <a:effectLst/>
                    <a:latin typeface="Segoe WPC"/>
                  </a:rPr>
                  <a:t>those</a:t>
                </a:r>
                <a:r>
                  <a:rPr lang="es-PE" sz="900" b="0" i="0" dirty="0">
                    <a:solidFill>
                      <a:schemeClr val="tx1"/>
                    </a:solidFill>
                    <a:effectLst/>
                    <a:latin typeface="Segoe WPC"/>
                  </a:rPr>
                  <a:t> future </a:t>
                </a:r>
                <a:r>
                  <a:rPr lang="es-PE" sz="900" b="0" i="0" dirty="0" err="1">
                    <a:solidFill>
                      <a:schemeClr val="tx1"/>
                    </a:solidFill>
                    <a:effectLst/>
                    <a:latin typeface="Segoe WPC"/>
                  </a:rPr>
                  <a:t>rates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know</a:t>
                </a:r>
                <a:r>
                  <a:rPr lang="es-PE" sz="900" b="0" i="0" dirty="0">
                    <a:solidFill>
                      <a:schemeClr val="tx1"/>
                    </a:solidFill>
                    <a:effectLst/>
                    <a:latin typeface="Segoe WPC"/>
                  </a:rPr>
                  <a:t> spot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different</a:t>
                </a:r>
                <a:r>
                  <a:rPr lang="es-PE" sz="900" b="0" i="0" dirty="0">
                    <a:solidFill>
                      <a:schemeClr val="tx1"/>
                    </a:solidFill>
                    <a:effectLst/>
                    <a:latin typeface="Segoe WPC"/>
                  </a:rPr>
                  <a:t> </a:t>
                </a:r>
                <a:r>
                  <a:rPr lang="es-PE" sz="900" b="0" i="0" dirty="0" err="1">
                    <a:solidFill>
                      <a:schemeClr val="tx1"/>
                    </a:solidFill>
                    <a:effectLst/>
                    <a:latin typeface="Segoe WPC"/>
                  </a:rPr>
                  <a:t>maturities</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can </a:t>
                </a:r>
                <a:r>
                  <a:rPr lang="es-PE" sz="900" b="0" i="0" dirty="0" err="1">
                    <a:solidFill>
                      <a:schemeClr val="tx1"/>
                    </a:solidFill>
                    <a:effectLst/>
                    <a:latin typeface="Segoe WPC"/>
                  </a:rPr>
                  <a:t>infer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market’s</a:t>
                </a:r>
                <a:r>
                  <a:rPr lang="es-PE" sz="900" b="0" i="0" dirty="0">
                    <a:solidFill>
                      <a:schemeClr val="tx1"/>
                    </a:solidFill>
                    <a:effectLst/>
                    <a:latin typeface="Segoe WPC"/>
                  </a:rPr>
                  <a:t> </a:t>
                </a:r>
                <a:r>
                  <a:rPr lang="es-PE" sz="900" b="0" i="0" dirty="0" err="1">
                    <a:solidFill>
                      <a:schemeClr val="tx1"/>
                    </a:solidFill>
                    <a:effectLst/>
                    <a:latin typeface="Segoe WPC"/>
                  </a:rPr>
                  <a:t>implied</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period</a:t>
                </a:r>
                <a:r>
                  <a:rPr lang="es-PE" sz="900" b="0" i="0" dirty="0">
                    <a:solidFill>
                      <a:schemeClr val="tx1"/>
                    </a:solidFill>
                    <a:effectLst/>
                    <a:latin typeface="Segoe WPC"/>
                  </a:rPr>
                  <a:t> in </a:t>
                </a:r>
                <a:r>
                  <a:rPr lang="es-PE" sz="900" b="0" i="0" dirty="0" err="1">
                    <a:solidFill>
                      <a:schemeClr val="tx1"/>
                    </a:solidFill>
                    <a:effectLst/>
                    <a:latin typeface="Segoe WPC"/>
                  </a:rPr>
                  <a:t>between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Invest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𝑇</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err="1">
                    <a:solidFill>
                      <a:schemeClr val="tx1"/>
                    </a:solidFill>
                    <a:effectLst/>
                    <a:latin typeface="Segoe WPC"/>
                  </a:rPr>
                  <a:t>directly</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invest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𝑇</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a:solidFill>
                      <a:schemeClr val="tx1"/>
                    </a:solidFill>
                    <a:effectLst/>
                    <a:latin typeface="Segoe WPC"/>
                  </a:rPr>
                  <a:t>and </a:t>
                </a:r>
                <a:r>
                  <a:rPr lang="es-PE" sz="900" b="0" i="0" dirty="0" err="1">
                    <a:solidFill>
                      <a:schemeClr val="tx1"/>
                    </a:solidFill>
                    <a:effectLst/>
                    <a:latin typeface="Segoe WPC"/>
                  </a:rPr>
                  <a:t>then</a:t>
                </a:r>
                <a:r>
                  <a:rPr lang="es-PE" sz="900" b="0" i="0" dirty="0">
                    <a:solidFill>
                      <a:schemeClr val="tx1"/>
                    </a:solidFill>
                    <a:effectLst/>
                    <a:latin typeface="Segoe WPC"/>
                  </a:rPr>
                  <a:t> roll </a:t>
                </a:r>
                <a:r>
                  <a:rPr lang="es-PE" sz="900" b="0" i="0" dirty="0" err="1">
                    <a:solidFill>
                      <a:schemeClr val="tx1"/>
                    </a:solidFill>
                    <a:effectLst/>
                    <a:latin typeface="Segoe WPC"/>
                  </a:rPr>
                  <a:t>over</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𝑇</m:t>
                        </m:r>
                      </m:e>
                      <m:sub>
                        <m:r>
                          <a:rPr lang="ar-AE" sz="90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𝑇</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a:solidFill>
                      <a:schemeClr val="tx1"/>
                    </a:solidFill>
                    <a:effectLst/>
                    <a:latin typeface="Segoe WPC"/>
                  </a:rPr>
                  <a:t>no-</a:t>
                </a:r>
                <a:r>
                  <a:rPr lang="es-PE" sz="900" b="0" i="0" dirty="0" err="1">
                    <a:solidFill>
                      <a:schemeClr val="tx1"/>
                    </a:solidFill>
                    <a:effectLst/>
                    <a:latin typeface="Segoe WPC"/>
                  </a:rPr>
                  <a:t>arbitrage</a:t>
                </a:r>
                <a:r>
                  <a:rPr lang="es-PE" sz="900" b="0" i="0" dirty="0">
                    <a:solidFill>
                      <a:schemeClr val="tx1"/>
                    </a:solidFill>
                    <a:effectLst/>
                    <a:latin typeface="Segoe WPC"/>
                  </a:rPr>
                  <a:t> </a:t>
                </a:r>
                <a:r>
                  <a:rPr lang="es-PE" sz="900" b="0" i="0" dirty="0" err="1">
                    <a:solidFill>
                      <a:schemeClr val="tx1"/>
                    </a:solidFill>
                    <a:effectLst/>
                    <a:latin typeface="Segoe WPC"/>
                  </a:rPr>
                  <a:t>makes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a:t>
                </a:r>
                <a:r>
                  <a:rPr lang="es-PE" sz="900" b="0" i="0" dirty="0" err="1">
                    <a:solidFill>
                      <a:schemeClr val="tx1"/>
                    </a:solidFill>
                    <a:effectLst/>
                    <a:latin typeface="Segoe WPC"/>
                  </a:rPr>
                  <a:t>paths</a:t>
                </a:r>
                <a:r>
                  <a:rPr lang="es-PE" sz="900" b="0" i="0" dirty="0">
                    <a:solidFill>
                      <a:schemeClr val="tx1"/>
                    </a:solidFill>
                    <a:effectLst/>
                    <a:latin typeface="Segoe WPC"/>
                  </a:rPr>
                  <a:t> </a:t>
                </a:r>
                <a:r>
                  <a:rPr lang="es-PE" sz="900" b="0" i="0" dirty="0" err="1">
                    <a:solidFill>
                      <a:schemeClr val="tx1"/>
                    </a:solidFill>
                    <a:effectLst/>
                    <a:latin typeface="Segoe WPC"/>
                  </a:rPr>
                  <a:t>consistent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continuous</a:t>
                </a:r>
                <a:r>
                  <a:rPr lang="es-PE" sz="900" b="0" i="0" dirty="0">
                    <a:solidFill>
                      <a:schemeClr val="tx1"/>
                    </a:solidFill>
                    <a:effectLst/>
                    <a:latin typeface="Segoe WPC"/>
                  </a:rPr>
                  <a:t> </a:t>
                </a:r>
                <a:r>
                  <a:rPr lang="es-PE" sz="900" b="0" i="0" dirty="0" err="1">
                    <a:solidFill>
                      <a:schemeClr val="tx1"/>
                    </a:solidFill>
                    <a:effectLst/>
                    <a:latin typeface="Segoe WPC"/>
                  </a:rPr>
                  <a:t>compounding</a:t>
                </a:r>
                <a:r>
                  <a:rPr lang="es-PE" sz="900" b="0" i="0" dirty="0">
                    <a:solidFill>
                      <a:schemeClr val="tx1"/>
                    </a:solidFill>
                    <a:effectLst/>
                    <a:latin typeface="Segoe WPC"/>
                  </a:rPr>
                  <a:t>, forward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𝐹</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0">
                                <a:solidFill>
                                  <a:schemeClr val="tx1"/>
                                </a:solidFill>
                                <a:latin typeface="Cambria Math" panose="02040503050406030204" pitchFamily="18" charset="0"/>
                              </a:rPr>
                              <m:t>2</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𝑇</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0">
                                <a:solidFill>
                                  <a:schemeClr val="tx1"/>
                                </a:solidFill>
                                <a:latin typeface="Cambria Math" panose="02040503050406030204" pitchFamily="18" charset="0"/>
                              </a:rPr>
                              <m:t>1</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𝑇</m:t>
                            </m:r>
                          </m:e>
                          <m:sub>
                            <m:r>
                              <a:rPr lang="ar-AE" sz="900" i="0">
                                <a:solidFill>
                                  <a:schemeClr val="tx1"/>
                                </a:solidFill>
                                <a:latin typeface="Cambria Math" panose="02040503050406030204" pitchFamily="18" charset="0"/>
                              </a:rPr>
                              <m:t>1</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𝑇</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𝑇</m:t>
                            </m:r>
                          </m:e>
                          <m:sub>
                            <m:r>
                              <a:rPr lang="ar-AE" sz="900" i="0">
                                <a:solidFill>
                                  <a:schemeClr val="tx1"/>
                                </a:solidFill>
                                <a:latin typeface="Cambria Math" panose="02040503050406030204" pitchFamily="18" charset="0"/>
                              </a:rPr>
                              <m:t>1</m:t>
                            </m:r>
                          </m:sub>
                        </m:sSub>
                      </m:den>
                    </m:f>
                  </m:oMath>
                </a14:m>
                <a:r>
                  <a:rPr lang="ar-AE" sz="900" b="0" i="0" dirty="0">
                    <a:solidFill>
                      <a:schemeClr val="tx1"/>
                    </a:solidFill>
                    <a:effectLst/>
                    <a:latin typeface="Segoe WPC"/>
                  </a:rPr>
                  <a:t>; </a:t>
                </a:r>
                <a:r>
                  <a:rPr lang="es-PE" sz="900" b="0" i="0" dirty="0">
                    <a:solidFill>
                      <a:schemeClr val="tx1"/>
                    </a:solidFill>
                    <a:effectLst/>
                    <a:latin typeface="Segoe WPC"/>
                  </a:rPr>
                  <a:t>FRA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receiving</a:t>
                </a:r>
                <a:r>
                  <a:rPr lang="es-PE" sz="900" b="0" i="0" dirty="0">
                    <a:solidFill>
                      <a:schemeClr val="tx1"/>
                    </a:solidFill>
                    <a:effectLst/>
                    <a:latin typeface="Segoe WPC"/>
                  </a:rPr>
                  <a:t> </a:t>
                </a:r>
                <a:r>
                  <a:rPr lang="es-PE" sz="900" b="0" i="0" dirty="0" err="1">
                    <a:solidFill>
                      <a:schemeClr val="tx1"/>
                    </a:solidFill>
                    <a:effectLst/>
                    <a:latin typeface="Segoe WPC"/>
                  </a:rPr>
                  <a:t>floating</a:t>
                </a:r>
                <a:r>
                  <a:rPr lang="es-PE" sz="900" b="0" i="0" dirty="0">
                    <a:solidFill>
                      <a:schemeClr val="tx1"/>
                    </a:solidFill>
                    <a:effectLst/>
                    <a:latin typeface="Segoe WPC"/>
                  </a:rPr>
                  <a:t> and </a:t>
                </a:r>
                <a:r>
                  <a:rPr lang="es-PE" sz="900" b="0" i="0" dirty="0" err="1">
                    <a:solidFill>
                      <a:schemeClr val="tx1"/>
                    </a:solidFill>
                    <a:effectLst/>
                    <a:latin typeface="Segoe WPC"/>
                  </a:rPr>
                  <a:t>paying</a:t>
                </a:r>
                <a:r>
                  <a:rPr lang="es-PE" sz="900" b="0" i="0" dirty="0">
                    <a:solidFill>
                      <a:schemeClr val="tx1"/>
                    </a:solidFill>
                    <a:effectLst/>
                    <a:latin typeface="Segoe WPC"/>
                  </a:rPr>
                  <a:t> </a:t>
                </a:r>
                <a:r>
                  <a:rPr lang="es-PE" sz="900" b="0" i="0" dirty="0" err="1">
                    <a:solidFill>
                      <a:schemeClr val="tx1"/>
                    </a:solidFill>
                    <a:effectLst/>
                    <a:latin typeface="Segoe WPC"/>
                  </a:rPr>
                  <a:t>fixed</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f>
                      <m:fPr>
                        <m:ctrlPr>
                          <a:rPr lang="ar-AE" sz="900" i="1">
                            <a:solidFill>
                              <a:schemeClr val="tx1"/>
                            </a:solidFill>
                            <a:latin typeface="Cambria Math" panose="02040503050406030204" pitchFamily="18" charset="0"/>
                          </a:rPr>
                        </m:ctrlPr>
                      </m:fPr>
                      <m:num>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𝑅</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𝐾</m:t>
                                </m:r>
                              </m:sub>
                            </m:sSub>
                          </m:e>
                        </m:d>
                        <m:r>
                          <a:rPr lang="ar-AE" sz="900" i="1">
                            <a:solidFill>
                              <a:schemeClr val="tx1"/>
                            </a:solidFill>
                            <a:latin typeface="Cambria Math" panose="02040503050406030204" pitchFamily="18" charset="0"/>
                          </a:rPr>
                          <m:t>𝑇𝐿</m:t>
                        </m:r>
                      </m:num>
                      <m:den>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𝑅𝑇</m:t>
                        </m:r>
                      </m:den>
                    </m:f>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FRAs</a:t>
                </a:r>
                <a:r>
                  <a:rPr lang="es-PE" sz="900" b="0" i="0" dirty="0">
                    <a:solidFill>
                      <a:schemeClr val="tx1"/>
                    </a:solidFill>
                    <a:effectLst/>
                    <a:latin typeface="Segoe WPC"/>
                  </a:rPr>
                  <a:t> and swaps are </a:t>
                </a:r>
                <a:r>
                  <a:rPr lang="es-PE" sz="900" b="0" i="0" dirty="0" err="1">
                    <a:solidFill>
                      <a:schemeClr val="tx1"/>
                    </a:solidFill>
                    <a:effectLst/>
                    <a:latin typeface="Segoe WPC"/>
                  </a:rPr>
                  <a:t>built</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idea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exchanging</a:t>
                </a:r>
                <a:r>
                  <a:rPr lang="es-PE" sz="900" b="0" i="0" dirty="0">
                    <a:solidFill>
                      <a:schemeClr val="tx1"/>
                    </a:solidFill>
                    <a:effectLst/>
                    <a:latin typeface="Segoe WPC"/>
                  </a:rPr>
                  <a:t> a </a:t>
                </a:r>
                <a:r>
                  <a:rPr lang="es-PE" sz="900" b="0" i="0" dirty="0" err="1">
                    <a:solidFill>
                      <a:schemeClr val="tx1"/>
                    </a:solidFill>
                    <a:effectLst/>
                    <a:latin typeface="Segoe WPC"/>
                  </a:rPr>
                  <a:t>fixed</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 future </a:t>
                </a:r>
                <a:r>
                  <a:rPr lang="es-PE" sz="900" b="0" i="0" dirty="0" err="1">
                    <a:solidFill>
                      <a:schemeClr val="tx1"/>
                    </a:solidFill>
                    <a:effectLst/>
                    <a:latin typeface="Segoe WPC"/>
                  </a:rPr>
                  <a:t>floating</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FRA </a:t>
                </a:r>
                <a:r>
                  <a:rPr lang="es-PE" sz="900" b="0" i="0" dirty="0" err="1">
                    <a:solidFill>
                      <a:schemeClr val="tx1"/>
                    </a:solidFill>
                    <a:effectLst/>
                    <a:latin typeface="Segoe WPC"/>
                  </a:rPr>
                  <a:t>settlement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beginning</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period</a:t>
                </a:r>
                <a:r>
                  <a:rPr lang="es-PE" sz="900" b="0" i="0" dirty="0">
                    <a:solidFill>
                      <a:schemeClr val="tx1"/>
                    </a:solidFill>
                    <a:effectLst/>
                    <a:latin typeface="Segoe WPC"/>
                  </a:rPr>
                  <a:t>, so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discounted</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10. Bootstrap and </a:t>
                </a:r>
                <a:r>
                  <a:rPr lang="es-PE" sz="900" b="1" i="0" dirty="0" err="1">
                    <a:solidFill>
                      <a:schemeClr val="tx1"/>
                    </a:solidFill>
                    <a:effectLst/>
                    <a:latin typeface="Segoe WPC"/>
                  </a:rPr>
                  <a:t>Term</a:t>
                </a:r>
                <a:r>
                  <a:rPr lang="es-PE" sz="900" b="1" i="0" dirty="0">
                    <a:solidFill>
                      <a:schemeClr val="tx1"/>
                    </a:solidFill>
                    <a:effectLst/>
                    <a:latin typeface="Segoe WPC"/>
                  </a:rPr>
                  <a:t> </a:t>
                </a:r>
                <a:r>
                  <a:rPr lang="es-PE" sz="900" b="1" i="0" dirty="0" err="1">
                    <a:solidFill>
                      <a:schemeClr val="tx1"/>
                    </a:solidFill>
                    <a:effectLst/>
                    <a:latin typeface="Segoe WPC"/>
                  </a:rPr>
                  <a:t>Structure</a:t>
                </a:r>
                <a:r>
                  <a:rPr lang="es-PE" sz="900" b="1" i="0" dirty="0">
                    <a:solidFill>
                      <a:schemeClr val="tx1"/>
                    </a:solidFill>
                    <a:effectLst/>
                    <a:latin typeface="Segoe WPC"/>
                  </a:rPr>
                  <a:t> </a:t>
                </a:r>
                <a:r>
                  <a:rPr lang="es-PE" sz="900" b="1" i="0" dirty="0" err="1">
                    <a:solidFill>
                      <a:schemeClr val="tx1"/>
                    </a:solidFill>
                    <a:effectLst/>
                    <a:latin typeface="Segoe WPC"/>
                  </a:rPr>
                  <a:t>Theories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bootstrap</a:t>
                </a:r>
                <a:r>
                  <a:rPr lang="es-PE" sz="900" b="0" i="0" dirty="0">
                    <a:solidFill>
                      <a:schemeClr val="tx1"/>
                    </a:solidFill>
                    <a:effectLst/>
                    <a:latin typeface="Segoe WPC"/>
                  </a:rPr>
                  <a:t> </a:t>
                </a:r>
                <a:r>
                  <a:rPr lang="es-PE" sz="900" b="0" i="0" dirty="0" err="1">
                    <a:solidFill>
                      <a:schemeClr val="tx1"/>
                    </a:solidFill>
                    <a:effectLst/>
                    <a:latin typeface="Segoe WPC"/>
                  </a:rPr>
                  <a:t>method</a:t>
                </a:r>
                <a:r>
                  <a:rPr lang="es-PE" sz="900" b="0" i="0" dirty="0">
                    <a:solidFill>
                      <a:schemeClr val="tx1"/>
                    </a:solidFill>
                    <a:effectLst/>
                    <a:latin typeface="Segoe WPC"/>
                  </a:rPr>
                  <a:t> </a:t>
                </a:r>
                <a:r>
                  <a:rPr lang="es-PE" sz="900" b="0" i="0" dirty="0" err="1">
                    <a:solidFill>
                      <a:schemeClr val="tx1"/>
                    </a:solidFill>
                    <a:effectLst/>
                    <a:latin typeface="Segoe WPC"/>
                  </a:rPr>
                  <a:t>extracts</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prices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coupon</a:t>
                </a:r>
                <a:r>
                  <a:rPr lang="es-PE" sz="900" b="0" i="0" dirty="0">
                    <a:solidFill>
                      <a:schemeClr val="tx1"/>
                    </a:solidFill>
                    <a:effectLst/>
                    <a:latin typeface="Segoe WPC"/>
                  </a:rPr>
                  <a:t> </a:t>
                </a:r>
                <a:r>
                  <a:rPr lang="es-PE" sz="900" b="0" i="0" dirty="0" err="1">
                    <a:solidFill>
                      <a:schemeClr val="tx1"/>
                    </a:solidFill>
                    <a:effectLst/>
                    <a:latin typeface="Segoe WPC"/>
                  </a:rPr>
                  <a:t>bonds</a:t>
                </a:r>
                <a:r>
                  <a:rPr lang="es-PE" sz="900" b="0" i="0" dirty="0">
                    <a:solidFill>
                      <a:schemeClr val="tx1"/>
                    </a:solidFill>
                    <a:effectLst/>
                    <a:latin typeface="Segoe WPC"/>
                  </a:rPr>
                  <a:t>, and </a:t>
                </a:r>
                <a:r>
                  <a:rPr lang="es-PE" sz="900" b="0" i="0" dirty="0" err="1">
                    <a:solidFill>
                      <a:schemeClr val="tx1"/>
                    </a:solidFill>
                    <a:effectLst/>
                    <a:latin typeface="Segoe WPC"/>
                  </a:rPr>
                  <a:t>term</a:t>
                </a:r>
                <a:r>
                  <a:rPr lang="es-PE" sz="900" b="0" i="0" dirty="0">
                    <a:solidFill>
                      <a:schemeClr val="tx1"/>
                    </a:solidFill>
                    <a:effectLst/>
                    <a:latin typeface="Segoe WPC"/>
                  </a:rPr>
                  <a:t> </a:t>
                </a:r>
                <a:r>
                  <a:rPr lang="es-PE" sz="900" b="0" i="0" dirty="0" err="1">
                    <a:solidFill>
                      <a:schemeClr val="tx1"/>
                    </a:solidFill>
                    <a:effectLst/>
                    <a:latin typeface="Segoe WPC"/>
                  </a:rPr>
                  <a:t>structure</a:t>
                </a:r>
                <a:r>
                  <a:rPr lang="es-PE" sz="900" b="0" i="0" dirty="0">
                    <a:solidFill>
                      <a:schemeClr val="tx1"/>
                    </a:solidFill>
                    <a:effectLst/>
                    <a:latin typeface="Segoe WPC"/>
                  </a:rPr>
                  <a:t> </a:t>
                </a:r>
                <a:r>
                  <a:rPr lang="es-PE" sz="900" b="0" i="0" dirty="0" err="1">
                    <a:solidFill>
                      <a:schemeClr val="tx1"/>
                    </a:solidFill>
                    <a:effectLst/>
                    <a:latin typeface="Segoe WPC"/>
                  </a:rPr>
                  <a:t>theories</a:t>
                </a:r>
                <a:r>
                  <a:rPr lang="es-PE" sz="900" b="0" i="0" dirty="0">
                    <a:solidFill>
                      <a:schemeClr val="tx1"/>
                    </a:solidFill>
                    <a:effectLst/>
                    <a:latin typeface="Segoe WPC"/>
                  </a:rPr>
                  <a:t> </a:t>
                </a:r>
                <a:r>
                  <a:rPr lang="es-PE" sz="900" b="0" i="0" dirty="0" err="1">
                    <a:solidFill>
                      <a:schemeClr val="tx1"/>
                    </a:solidFill>
                    <a:effectLst/>
                    <a:latin typeface="Segoe WPC"/>
                  </a:rPr>
                  <a:t>explain</a:t>
                </a:r>
                <a:r>
                  <a:rPr lang="es-PE" sz="900" b="0" i="0" dirty="0">
                    <a:solidFill>
                      <a:schemeClr val="tx1"/>
                    </a:solidFill>
                    <a:effectLst/>
                    <a:latin typeface="Segoe WPC"/>
                  </a:rPr>
                  <a:t> </a:t>
                </a:r>
                <a:r>
                  <a:rPr lang="es-PE" sz="900" b="0" i="0" dirty="0" err="1">
                    <a:solidFill>
                      <a:schemeClr val="tx1"/>
                    </a:solidFill>
                    <a:effectLst/>
                    <a:latin typeface="Segoe WPC"/>
                  </a:rPr>
                  <a:t>why</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vary</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First</a:t>
                </a:r>
                <a:r>
                  <a:rPr lang="es-PE" sz="900" b="0" i="0" dirty="0">
                    <a:solidFill>
                      <a:schemeClr val="tx1"/>
                    </a:solidFill>
                    <a:effectLst/>
                    <a:latin typeface="Segoe WPC"/>
                  </a:rPr>
                  <a:t> </a:t>
                </a:r>
                <a:r>
                  <a:rPr lang="es-PE" sz="900" b="0" i="0" dirty="0" err="1">
                    <a:solidFill>
                      <a:schemeClr val="tx1"/>
                    </a:solidFill>
                    <a:effectLst/>
                    <a:latin typeface="Segoe WPC"/>
                  </a:rPr>
                  <a:t>infer</a:t>
                </a:r>
                <a:r>
                  <a:rPr lang="es-PE" sz="900" b="0" i="0" dirty="0">
                    <a:solidFill>
                      <a:schemeClr val="tx1"/>
                    </a:solidFill>
                    <a:effectLst/>
                    <a:latin typeface="Segoe WPC"/>
                  </a:rPr>
                  <a:t> short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r>
                  <a:rPr lang="es-PE" sz="900" b="0" i="0" dirty="0" err="1">
                    <a:solidFill>
                      <a:schemeClr val="tx1"/>
                    </a:solidFill>
                    <a:effectLst/>
                    <a:latin typeface="Segoe WPC"/>
                  </a:rPr>
                  <a:t>solve</a:t>
                </a:r>
                <a:r>
                  <a:rPr lang="es-PE" sz="900" b="0" i="0" dirty="0">
                    <a:solidFill>
                      <a:schemeClr val="tx1"/>
                    </a:solidFill>
                    <a:effectLst/>
                    <a:latin typeface="Segoe WPC"/>
                  </a:rPr>
                  <a:t> </a:t>
                </a:r>
                <a:r>
                  <a:rPr lang="es-PE" sz="900" b="0" i="0" dirty="0" err="1">
                    <a:solidFill>
                      <a:schemeClr val="tx1"/>
                    </a:solidFill>
                    <a:effectLst/>
                    <a:latin typeface="Segoe WPC"/>
                  </a:rPr>
                  <a:t>progressively</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longer</a:t>
                </a:r>
                <a:r>
                  <a:rPr lang="es-PE" sz="900" b="0" i="0" dirty="0">
                    <a:solidFill>
                      <a:schemeClr val="tx1"/>
                    </a:solidFill>
                    <a:effectLst/>
                    <a:latin typeface="Segoe WPC"/>
                  </a:rPr>
                  <a:t> </a:t>
                </a:r>
                <a:r>
                  <a:rPr lang="es-PE" sz="900" b="0" i="0" dirty="0" err="1">
                    <a:solidFill>
                      <a:schemeClr val="tx1"/>
                    </a:solidFill>
                    <a:effectLst/>
                    <a:latin typeface="Segoe WPC"/>
                  </a:rPr>
                  <a:t>ones</a:t>
                </a:r>
                <a:r>
                  <a:rPr lang="es-PE" sz="900" b="0" i="0" dirty="0">
                    <a:solidFill>
                      <a:schemeClr val="tx1"/>
                    </a:solidFill>
                    <a:effectLst/>
                    <a:latin typeface="Segoe WPC"/>
                  </a:rPr>
                  <a:t>; </a:t>
                </a:r>
                <a:r>
                  <a:rPr lang="es-PE" sz="900" b="0" i="0" dirty="0" err="1">
                    <a:solidFill>
                      <a:schemeClr val="tx1"/>
                    </a:solidFill>
                    <a:effectLst/>
                    <a:latin typeface="Segoe WPC"/>
                  </a:rPr>
                  <a:t>afterward</a:t>
                </a:r>
                <a:r>
                  <a:rPr lang="es-PE" sz="900" b="0" i="0" dirty="0">
                    <a:solidFill>
                      <a:schemeClr val="tx1"/>
                    </a:solidFill>
                    <a:effectLst/>
                    <a:latin typeface="Segoe WPC"/>
                  </a:rPr>
                  <a:t>, </a:t>
                </a:r>
                <a:r>
                  <a:rPr lang="es-PE" sz="900" b="0" i="0" dirty="0" err="1">
                    <a:solidFill>
                      <a:schemeClr val="tx1"/>
                    </a:solidFill>
                    <a:effectLst/>
                    <a:latin typeface="Segoe WPC"/>
                  </a:rPr>
                  <a:t>explain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shape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 curve </a:t>
                </a:r>
                <a:r>
                  <a:rPr lang="es-PE" sz="900" b="0" i="0" dirty="0" err="1">
                    <a:solidFill>
                      <a:schemeClr val="tx1"/>
                    </a:solidFill>
                    <a:effectLst/>
                    <a:latin typeface="Segoe WPC"/>
                  </a:rPr>
                  <a:t>using</a:t>
                </a:r>
                <a:r>
                  <a:rPr lang="es-PE" sz="900" b="0" i="0" dirty="0">
                    <a:solidFill>
                      <a:schemeClr val="tx1"/>
                    </a:solidFill>
                    <a:effectLst/>
                    <a:latin typeface="Segoe WPC"/>
                  </a:rPr>
                  <a:t> </a:t>
                </a:r>
                <a:r>
                  <a:rPr lang="es-PE" sz="900" b="0" i="0" dirty="0" err="1">
                    <a:solidFill>
                      <a:schemeClr val="tx1"/>
                    </a:solidFill>
                    <a:effectLst/>
                    <a:latin typeface="Segoe WPC"/>
                  </a:rPr>
                  <a:t>expectations</a:t>
                </a:r>
                <a:r>
                  <a:rPr lang="es-PE" sz="900" b="0" i="0" dirty="0">
                    <a:solidFill>
                      <a:schemeClr val="tx1"/>
                    </a:solidFill>
                    <a:effectLst/>
                    <a:latin typeface="Segoe WPC"/>
                  </a:rPr>
                  <a:t> and </a:t>
                </a:r>
                <a:r>
                  <a:rPr lang="es-PE" sz="900" b="0" i="0" dirty="0" err="1">
                    <a:solidFill>
                      <a:schemeClr val="tx1"/>
                    </a:solidFill>
                    <a:effectLst/>
                    <a:latin typeface="Segoe WPC"/>
                  </a:rPr>
                  <a:t>liquidity</a:t>
                </a:r>
                <a:r>
                  <a:rPr lang="es-PE" sz="900" b="0" i="0" dirty="0">
                    <a:solidFill>
                      <a:schemeClr val="tx1"/>
                    </a:solidFill>
                    <a:effectLst/>
                    <a:latin typeface="Segoe WPC"/>
                  </a:rPr>
                  <a:t> </a:t>
                </a:r>
                <a:r>
                  <a:rPr lang="es-PE" sz="900" b="0" i="0" dirty="0" err="1">
                    <a:solidFill>
                      <a:schemeClr val="tx1"/>
                    </a:solidFill>
                    <a:effectLst/>
                    <a:latin typeface="Segoe WPC"/>
                  </a:rPr>
                  <a:t>effects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Bootstrapping</a:t>
                </a:r>
                <a:r>
                  <a:rPr lang="es-PE" sz="900" b="0" i="0" dirty="0">
                    <a:solidFill>
                      <a:schemeClr val="tx1"/>
                    </a:solidFill>
                    <a:effectLst/>
                    <a:latin typeface="Segoe WPC"/>
                  </a:rPr>
                  <a:t> </a:t>
                </a:r>
                <a:r>
                  <a:rPr lang="es-PE" sz="900" b="0" i="0" dirty="0" err="1">
                    <a:solidFill>
                      <a:schemeClr val="tx1"/>
                    </a:solidFill>
                    <a:effectLst/>
                    <a:latin typeface="Segoe WPC"/>
                  </a:rPr>
                  <a:t>peels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curve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 at a time,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term</a:t>
                </a:r>
                <a:r>
                  <a:rPr lang="es-PE" sz="900" b="0" i="0" dirty="0">
                    <a:solidFill>
                      <a:schemeClr val="tx1"/>
                    </a:solidFill>
                    <a:effectLst/>
                    <a:latin typeface="Segoe WPC"/>
                  </a:rPr>
                  <a:t> </a:t>
                </a:r>
                <a:r>
                  <a:rPr lang="es-PE" sz="900" b="0" i="0" dirty="0" err="1">
                    <a:solidFill>
                      <a:schemeClr val="tx1"/>
                    </a:solidFill>
                    <a:effectLst/>
                    <a:latin typeface="Segoe WPC"/>
                  </a:rPr>
                  <a:t>structure</a:t>
                </a:r>
                <a:r>
                  <a:rPr lang="es-PE" sz="900" b="0" i="0" dirty="0">
                    <a:solidFill>
                      <a:schemeClr val="tx1"/>
                    </a:solidFill>
                    <a:effectLst/>
                    <a:latin typeface="Segoe WPC"/>
                  </a:rPr>
                  <a:t> </a:t>
                </a:r>
                <a:r>
                  <a:rPr lang="es-PE" sz="900" b="0" i="0" dirty="0" err="1">
                    <a:solidFill>
                      <a:schemeClr val="tx1"/>
                    </a:solidFill>
                    <a:effectLst/>
                    <a:latin typeface="Segoe WPC"/>
                  </a:rPr>
                  <a:t>theories</a:t>
                </a:r>
                <a:r>
                  <a:rPr lang="es-PE" sz="900" b="0" i="0" dirty="0">
                    <a:solidFill>
                      <a:schemeClr val="tx1"/>
                    </a:solidFill>
                    <a:effectLst/>
                    <a:latin typeface="Segoe WPC"/>
                  </a:rPr>
                  <a:t> </a:t>
                </a:r>
                <a:r>
                  <a:rPr lang="es-PE" sz="900" b="0" i="0" dirty="0" err="1">
                    <a:solidFill>
                      <a:schemeClr val="tx1"/>
                    </a:solidFill>
                    <a:effectLst/>
                    <a:latin typeface="Segoe WPC"/>
                  </a:rPr>
                  <a:t>explain</a:t>
                </a:r>
                <a:r>
                  <a:rPr lang="es-PE" sz="900" b="0" i="0" dirty="0">
                    <a:solidFill>
                      <a:schemeClr val="tx1"/>
                    </a:solidFill>
                    <a:effectLst/>
                    <a:latin typeface="Segoe WPC"/>
                  </a:rPr>
                  <a:t> </a:t>
                </a:r>
                <a:r>
                  <a:rPr lang="es-PE" sz="900" b="0" i="0" dirty="0" err="1">
                    <a:solidFill>
                      <a:schemeClr val="tx1"/>
                    </a:solidFill>
                    <a:effectLst/>
                    <a:latin typeface="Segoe WPC"/>
                  </a:rPr>
                  <a:t>whether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curve </a:t>
                </a:r>
                <a:r>
                  <a:rPr lang="es-PE" sz="900" b="0" i="0" dirty="0" err="1">
                    <a:solidFill>
                      <a:schemeClr val="tx1"/>
                    </a:solidFill>
                    <a:effectLst/>
                    <a:latin typeface="Segoe WPC"/>
                  </a:rPr>
                  <a:t>slopes</a:t>
                </a:r>
                <a:r>
                  <a:rPr lang="es-PE" sz="900" b="0" i="0" dirty="0">
                    <a:solidFill>
                      <a:schemeClr val="tx1"/>
                    </a:solidFill>
                    <a:effectLst/>
                    <a:latin typeface="Segoe WPC"/>
                  </a:rPr>
                  <a:t> up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down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Bootstrap uses </a:t>
                </a:r>
                <a:r>
                  <a:rPr lang="es-PE" sz="900" b="0" i="0" dirty="0" err="1">
                    <a:solidFill>
                      <a:schemeClr val="tx1"/>
                    </a:solidFill>
                    <a:effectLst/>
                    <a:latin typeface="Segoe WPC"/>
                  </a:rPr>
                  <a:t>known</a:t>
                </a:r>
                <a:r>
                  <a:rPr lang="es-PE" sz="900" b="0" i="0" dirty="0">
                    <a:solidFill>
                      <a:schemeClr val="tx1"/>
                    </a:solidFill>
                    <a:effectLst/>
                    <a:latin typeface="Segoe WPC"/>
                  </a:rPr>
                  <a:t> </a:t>
                </a:r>
                <a:r>
                  <a:rPr lang="es-PE" sz="900" b="0" i="0" dirty="0" err="1">
                    <a:solidFill>
                      <a:schemeClr val="tx1"/>
                    </a:solidFill>
                    <a:effectLst/>
                    <a:latin typeface="Segoe WPC"/>
                  </a:rPr>
                  <a:t>earlier</a:t>
                </a:r>
                <a:r>
                  <a:rPr lang="es-PE" sz="900" b="0" i="0" dirty="0">
                    <a:solidFill>
                      <a:schemeClr val="tx1"/>
                    </a:solidFill>
                    <a:effectLst/>
                    <a:latin typeface="Segoe WPC"/>
                  </a:rPr>
                  <a:t> spot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solve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unknown</a:t>
                </a:r>
                <a:r>
                  <a:rPr lang="es-PE" sz="900" b="0" i="0" dirty="0">
                    <a:solidFill>
                      <a:schemeClr val="tx1"/>
                    </a:solidFill>
                    <a:effectLst/>
                    <a:latin typeface="Segoe WPC"/>
                  </a:rPr>
                  <a:t> </a:t>
                </a:r>
                <a:r>
                  <a:rPr lang="es-PE" sz="900" b="0" i="0" dirty="0" err="1">
                    <a:solidFill>
                      <a:schemeClr val="tx1"/>
                    </a:solidFill>
                    <a:effectLst/>
                    <a:latin typeface="Segoe WPC"/>
                  </a:rPr>
                  <a:t>later</a:t>
                </a:r>
                <a:r>
                  <a:rPr lang="es-PE" sz="900" b="0" i="0" dirty="0">
                    <a:solidFill>
                      <a:schemeClr val="tx1"/>
                    </a:solidFill>
                    <a:effectLst/>
                    <a:latin typeface="Segoe WPC"/>
                  </a:rPr>
                  <a:t> spot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 bond-</a:t>
                </a:r>
                <a:r>
                  <a:rPr lang="es-PE" sz="900" b="0" i="0" dirty="0" err="1">
                    <a:solidFill>
                      <a:schemeClr val="tx1"/>
                    </a:solidFill>
                    <a:effectLst/>
                    <a:latin typeface="Segoe WPC"/>
                  </a:rPr>
                  <a:t>pricing</a:t>
                </a:r>
                <a:r>
                  <a:rPr lang="es-PE" sz="900" b="0" i="0" dirty="0">
                    <a:solidFill>
                      <a:schemeClr val="tx1"/>
                    </a:solidFill>
                    <a:effectLst/>
                    <a:latin typeface="Segoe WPC"/>
                  </a:rPr>
                  <a:t> </a:t>
                </a:r>
                <a:r>
                  <a:rPr lang="es-PE" sz="900" b="0" i="0" dirty="0" err="1">
                    <a:solidFill>
                      <a:schemeClr val="tx1"/>
                    </a:solidFill>
                    <a:effectLst/>
                    <a:latin typeface="Segoe WPC"/>
                  </a:rPr>
                  <a:t>equation</a:t>
                </a:r>
                <a:r>
                  <a:rPr lang="es-PE" sz="900" b="0" i="0" dirty="0">
                    <a:solidFill>
                      <a:schemeClr val="tx1"/>
                    </a:solidFill>
                    <a:effectLst/>
                    <a:latin typeface="Segoe WPC"/>
                  </a:rPr>
                  <a:t>; </a:t>
                </a:r>
                <a:r>
                  <a:rPr lang="es-PE" sz="900" b="0" i="0" dirty="0" err="1">
                    <a:solidFill>
                      <a:schemeClr val="tx1"/>
                    </a:solidFill>
                    <a:effectLst/>
                    <a:latin typeface="Segoe WPC"/>
                  </a:rPr>
                  <a:t>under</a:t>
                </a:r>
                <a:r>
                  <a:rPr lang="es-PE" sz="900" b="0" i="0" dirty="0">
                    <a:solidFill>
                      <a:schemeClr val="tx1"/>
                    </a:solidFill>
                    <a:effectLst/>
                    <a:latin typeface="Segoe WPC"/>
                  </a:rPr>
                  <a:t> </a:t>
                </a:r>
                <a:r>
                  <a:rPr lang="es-PE" sz="900" b="0" i="0" dirty="0" err="1">
                    <a:solidFill>
                      <a:schemeClr val="tx1"/>
                    </a:solidFill>
                    <a:effectLst/>
                    <a:latin typeface="Segoe WPC"/>
                  </a:rPr>
                  <a:t>expectations</a:t>
                </a:r>
                <a:r>
                  <a:rPr lang="es-PE" sz="900" b="0" i="0" dirty="0">
                    <a:solidFill>
                      <a:schemeClr val="tx1"/>
                    </a:solidFill>
                    <a:effectLst/>
                    <a:latin typeface="Segoe WPC"/>
                  </a:rPr>
                  <a:t> </a:t>
                </a:r>
                <a:r>
                  <a:rPr lang="es-PE" sz="900" b="0" i="0" dirty="0" err="1">
                    <a:solidFill>
                      <a:schemeClr val="tx1"/>
                    </a:solidFill>
                    <a:effectLst/>
                    <a:latin typeface="Segoe WPC"/>
                  </a:rPr>
                  <a:t>theory</a:t>
                </a:r>
                <a:r>
                  <a:rPr lang="es-PE" sz="900" b="0" i="0" dirty="0">
                    <a:solidFill>
                      <a:schemeClr val="tx1"/>
                    </a:solidFill>
                    <a:effectLst/>
                    <a:latin typeface="Segoe WPC"/>
                  </a:rPr>
                  <a:t>, forward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reflect</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future spot </a:t>
                </a:r>
                <a:r>
                  <a:rPr lang="es-PE" sz="900" b="0" i="0" dirty="0" err="1">
                    <a:solidFill>
                      <a:schemeClr val="tx1"/>
                    </a:solidFill>
                    <a:effectLst/>
                    <a:latin typeface="Segoe WPC"/>
                  </a:rPr>
                  <a:t>rates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segmentation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too</a:t>
                </a:r>
                <a:r>
                  <a:rPr lang="es-PE" sz="900" b="0" i="0" dirty="0">
                    <a:solidFill>
                      <a:schemeClr val="tx1"/>
                    </a:solidFill>
                    <a:effectLst/>
                    <a:latin typeface="Segoe WPC"/>
                  </a:rPr>
                  <a:t> </a:t>
                </a:r>
                <a:r>
                  <a:rPr lang="es-PE" sz="900" b="0" i="0" dirty="0" err="1">
                    <a:solidFill>
                      <a:schemeClr val="tx1"/>
                    </a:solidFill>
                    <a:effectLst/>
                    <a:latin typeface="Segoe WPC"/>
                  </a:rPr>
                  <a:t>rigid</a:t>
                </a:r>
                <a:r>
                  <a:rPr lang="es-PE" sz="900" b="0" i="0" dirty="0">
                    <a:solidFill>
                      <a:schemeClr val="tx1"/>
                    </a:solidFill>
                    <a:effectLst/>
                    <a:latin typeface="Segoe WPC"/>
                  </a:rPr>
                  <a:t>, </a:t>
                </a:r>
                <a:r>
                  <a:rPr lang="es-PE" sz="900" b="0" i="0" dirty="0" err="1">
                    <a:solidFill>
                      <a:schemeClr val="tx1"/>
                    </a:solidFill>
                    <a:effectLst/>
                    <a:latin typeface="Segoe WPC"/>
                  </a:rPr>
                  <a:t>expectations</a:t>
                </a:r>
                <a:r>
                  <a:rPr lang="es-PE" sz="900" b="0" i="0" dirty="0">
                    <a:solidFill>
                      <a:schemeClr val="tx1"/>
                    </a:solidFill>
                    <a:effectLst/>
                    <a:latin typeface="Segoe WPC"/>
                  </a:rPr>
                  <a:t> </a:t>
                </a:r>
                <a:r>
                  <a:rPr lang="es-PE" sz="900" b="0" i="0" dirty="0" err="1">
                    <a:solidFill>
                      <a:schemeClr val="tx1"/>
                    </a:solidFill>
                    <a:effectLst/>
                    <a:latin typeface="Segoe WPC"/>
                  </a:rPr>
                  <a:t>theory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incomplete, and </a:t>
                </a:r>
                <a:r>
                  <a:rPr lang="es-PE" sz="900" b="0" i="0" dirty="0" err="1">
                    <a:solidFill>
                      <a:schemeClr val="tx1"/>
                    </a:solidFill>
                    <a:effectLst/>
                    <a:latin typeface="Segoe WPC"/>
                  </a:rPr>
                  <a:t>liquidity</a:t>
                </a:r>
                <a:r>
                  <a:rPr lang="es-PE" sz="900" b="0" i="0" dirty="0">
                    <a:solidFill>
                      <a:schemeClr val="tx1"/>
                    </a:solidFill>
                    <a:effectLst/>
                    <a:latin typeface="Segoe WPC"/>
                  </a:rPr>
                  <a:t> </a:t>
                </a:r>
                <a:r>
                  <a:rPr lang="es-PE" sz="900" b="0" i="0" dirty="0" err="1">
                    <a:solidFill>
                      <a:schemeClr val="tx1"/>
                    </a:solidFill>
                    <a:effectLst/>
                    <a:latin typeface="Segoe WPC"/>
                  </a:rPr>
                  <a:t>preference</a:t>
                </a:r>
                <a:r>
                  <a:rPr lang="es-PE" sz="900" b="0" i="0" dirty="0">
                    <a:solidFill>
                      <a:schemeClr val="tx1"/>
                    </a:solidFill>
                    <a:effectLst/>
                    <a:latin typeface="Segoe WPC"/>
                  </a:rPr>
                  <a:t> </a:t>
                </a:r>
                <a:r>
                  <a:rPr lang="es-PE" sz="900" b="0" i="0" dirty="0" err="1">
                    <a:solidFill>
                      <a:schemeClr val="tx1"/>
                    </a:solidFill>
                    <a:effectLst/>
                    <a:latin typeface="Segoe WPC"/>
                  </a:rPr>
                  <a:t>explains</a:t>
                </a:r>
                <a:r>
                  <a:rPr lang="es-PE" sz="900" b="0" i="0" dirty="0">
                    <a:solidFill>
                      <a:schemeClr val="tx1"/>
                    </a:solidFill>
                    <a:effectLst/>
                    <a:latin typeface="Segoe WPC"/>
                  </a:rPr>
                  <a:t> </a:t>
                </a:r>
                <a:r>
                  <a:rPr lang="es-PE" sz="900" b="0" i="0" dirty="0" err="1">
                    <a:solidFill>
                      <a:schemeClr val="tx1"/>
                    </a:solidFill>
                    <a:effectLst/>
                    <a:latin typeface="Segoe WPC"/>
                  </a:rPr>
                  <a:t>why</a:t>
                </a:r>
                <a:r>
                  <a:rPr lang="es-PE" sz="900" b="0" i="0" dirty="0">
                    <a:solidFill>
                      <a:schemeClr val="tx1"/>
                    </a:solidFill>
                    <a:effectLst/>
                    <a:latin typeface="Segoe WPC"/>
                  </a:rPr>
                  <a:t> </a:t>
                </a:r>
                <a:r>
                  <a:rPr lang="es-PE" sz="900" b="0" i="0" dirty="0" err="1">
                    <a:solidFill>
                      <a:schemeClr val="tx1"/>
                    </a:solidFill>
                    <a:effectLst/>
                    <a:latin typeface="Segoe WPC"/>
                  </a:rPr>
                  <a:t>upward-sloping</a:t>
                </a:r>
                <a:r>
                  <a:rPr lang="es-PE" sz="900" b="0" i="0" dirty="0">
                    <a:solidFill>
                      <a:schemeClr val="tx1"/>
                    </a:solidFill>
                    <a:effectLst/>
                    <a:latin typeface="Segoe WPC"/>
                  </a:rPr>
                  <a:t> curves are more </a:t>
                </a:r>
                <a:r>
                  <a:rPr lang="es-PE" sz="900" b="0" i="0" dirty="0" err="1">
                    <a:solidFill>
                      <a:schemeClr val="tx1"/>
                    </a:solidFill>
                    <a:effectLst/>
                    <a:latin typeface="Segoe WPC"/>
                  </a:rPr>
                  <a:t>common</a:t>
                </a:r>
                <a:r>
                  <a:rPr lang="es-PE" sz="900" b="0" i="0" dirty="0">
                    <a:solidFill>
                      <a:schemeClr val="tx1"/>
                    </a:solidFill>
                    <a:effectLst/>
                    <a:latin typeface="Segoe WPC"/>
                  </a:rPr>
                  <a:t>: forward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tend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exceed</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future spot </a:t>
                </a:r>
                <a:r>
                  <a:rPr lang="es-PE" sz="900" b="0" i="0" dirty="0" err="1">
                    <a:solidFill>
                      <a:schemeClr val="tx1"/>
                    </a:solidFill>
                    <a:effectLst/>
                    <a:latin typeface="Segoe WPC"/>
                  </a:rPr>
                  <a:t>rates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assume</a:t>
                </a:r>
                <a:r>
                  <a:rPr lang="es-PE" sz="900" b="0" i="0" dirty="0">
                    <a:solidFill>
                      <a:schemeClr val="tx1"/>
                    </a:solidFill>
                    <a:effectLst/>
                    <a:latin typeface="Segoe WPC"/>
                  </a:rPr>
                  <a:t> forward </a:t>
                </a:r>
                <a:r>
                  <a:rPr lang="es-PE" sz="900" b="0" i="0" dirty="0" err="1">
                    <a:solidFill>
                      <a:schemeClr val="tx1"/>
                    </a:solidFill>
                    <a:effectLst/>
                    <a:latin typeface="Segoe WPC"/>
                  </a:rPr>
                  <a:t>rates</a:t>
                </a:r>
                <a:r>
                  <a:rPr lang="es-PE" sz="900" b="0" i="0" dirty="0">
                    <a:solidFill>
                      <a:schemeClr val="tx1"/>
                    </a:solidFill>
                    <a:effectLst/>
                    <a:latin typeface="Segoe WPC"/>
                  </a:rPr>
                  <a:t> are </a:t>
                </a:r>
                <a:r>
                  <a:rPr lang="es-PE" sz="900" b="0" i="0" dirty="0" err="1">
                    <a:solidFill>
                      <a:schemeClr val="tx1"/>
                    </a:solidFill>
                    <a:effectLst/>
                    <a:latin typeface="Segoe WPC"/>
                  </a:rPr>
                  <a:t>unbiased</a:t>
                </a:r>
                <a:r>
                  <a:rPr lang="es-PE" sz="900" b="0" i="0" dirty="0">
                    <a:solidFill>
                      <a:schemeClr val="tx1"/>
                    </a:solidFill>
                    <a:effectLst/>
                    <a:latin typeface="Segoe WPC"/>
                  </a:rPr>
                  <a:t> </a:t>
                </a:r>
                <a:r>
                  <a:rPr lang="es-PE" sz="900" b="0" i="0" dirty="0" err="1">
                    <a:solidFill>
                      <a:schemeClr val="tx1"/>
                    </a:solidFill>
                    <a:effectLst/>
                    <a:latin typeface="Segoe WPC"/>
                  </a:rPr>
                  <a:t>forecasts</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future spot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liquidity</a:t>
                </a:r>
                <a:r>
                  <a:rPr lang="es-PE" sz="900" b="0" i="0" dirty="0">
                    <a:solidFill>
                      <a:schemeClr val="tx1"/>
                    </a:solidFill>
                    <a:effectLst/>
                    <a:latin typeface="Segoe WPC"/>
                  </a:rPr>
                  <a:t> </a:t>
                </a:r>
                <a:r>
                  <a:rPr lang="es-PE" sz="900" b="0" i="0" dirty="0" err="1">
                    <a:solidFill>
                      <a:schemeClr val="tx1"/>
                    </a:solidFill>
                    <a:effectLst/>
                    <a:latin typeface="Segoe WPC"/>
                  </a:rPr>
                  <a:t>preference</a:t>
                </a:r>
                <a:r>
                  <a:rPr lang="es-PE" sz="900" b="0" i="0" dirty="0">
                    <a:solidFill>
                      <a:schemeClr val="tx1"/>
                    </a:solidFill>
                    <a:effectLst/>
                    <a:latin typeface="Segoe WPC"/>
                  </a:rPr>
                  <a:t> </a:t>
                </a:r>
                <a:r>
                  <a:rPr lang="es-PE" sz="900" b="0" i="0" dirty="0" err="1">
                    <a:solidFill>
                      <a:schemeClr val="tx1"/>
                    </a:solidFill>
                    <a:effectLst/>
                    <a:latin typeface="Segoe WPC"/>
                  </a:rPr>
                  <a:t>says</a:t>
                </a:r>
                <a:r>
                  <a:rPr lang="es-PE" sz="900" b="0" i="0" dirty="0">
                    <a:solidFill>
                      <a:schemeClr val="tx1"/>
                    </a:solidFill>
                    <a:effectLst/>
                    <a:latin typeface="Segoe WPC"/>
                  </a:rPr>
                  <a:t> </a:t>
                </a:r>
                <a:r>
                  <a:rPr lang="es-PE" sz="900" b="0" i="0" dirty="0" err="1">
                    <a:solidFill>
                      <a:schemeClr val="tx1"/>
                    </a:solidFill>
                    <a:effectLst/>
                    <a:latin typeface="Segoe WPC"/>
                  </a:rPr>
                  <a:t>they</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overstate</a:t>
                </a:r>
                <a:r>
                  <a:rPr lang="es-PE" sz="900" b="0" i="0" dirty="0">
                    <a:solidFill>
                      <a:schemeClr val="tx1"/>
                    </a:solidFill>
                    <a:effectLst/>
                    <a:latin typeface="Segoe WPC"/>
                  </a:rPr>
                  <a:t> </a:t>
                </a:r>
                <a:r>
                  <a:rPr lang="es-PE" sz="900" b="0" i="0" dirty="0" err="1">
                    <a:solidFill>
                      <a:schemeClr val="tx1"/>
                    </a:solidFill>
                    <a:effectLst/>
                    <a:latin typeface="Segoe WPC"/>
                  </a:rPr>
                  <a:t>them</a:t>
                </a:r>
                <a:r>
                  <a:rPr lang="es-PE" sz="900" b="0" i="0" dirty="0">
                    <a:solidFill>
                      <a:schemeClr val="tx1"/>
                    </a:solidFill>
                    <a:effectLst/>
                    <a:latin typeface="Segoe WPC"/>
                  </a:rPr>
                  <a:t>.</a:t>
                </a:r>
              </a:p>
            </p:txBody>
          </p:sp>
        </mc:Choice>
        <mc:Fallback xmlns="">
          <p:sp>
            <p:nvSpPr>
              <p:cNvPr id="7" name="CuadroTexto 6">
                <a:extLst>
                  <a:ext uri="{FF2B5EF4-FFF2-40B4-BE49-F238E27FC236}">
                    <a16:creationId xmlns:a16="http://schemas.microsoft.com/office/drawing/2014/main" id="{CF95D144-88A3-3712-EE87-DA0BDA5157AF}"/>
                  </a:ext>
                </a:extLst>
              </p:cNvPr>
              <p:cNvSpPr txBox="1">
                <a:spLocks noRot="1" noChangeAspect="1" noMove="1" noResize="1" noEditPoints="1" noAdjustHandles="1" noChangeArrowheads="1" noChangeShapeType="1" noTextEdit="1"/>
              </p:cNvSpPr>
              <p:nvPr/>
            </p:nvSpPr>
            <p:spPr>
              <a:xfrm>
                <a:off x="5959929" y="-73486"/>
                <a:ext cx="6406241" cy="7659533"/>
              </a:xfrm>
              <a:prstGeom prst="rect">
                <a:avLst/>
              </a:prstGeom>
              <a:blipFill>
                <a:blip r:embed="rId3"/>
                <a:stretch>
                  <a:fillRect t="-3025"/>
                </a:stretch>
              </a:blipFill>
            </p:spPr>
            <p:txBody>
              <a:bodyPr/>
              <a:lstStyle/>
              <a:p>
                <a:r>
                  <a:rPr lang="es-PE">
                    <a:noFill/>
                  </a:rPr>
                  <a:t> </a:t>
                </a:r>
              </a:p>
            </p:txBody>
          </p:sp>
        </mc:Fallback>
      </mc:AlternateContent>
    </p:spTree>
    <p:extLst>
      <p:ext uri="{BB962C8B-B14F-4D97-AF65-F5344CB8AC3E}">
        <p14:creationId xmlns:p14="http://schemas.microsoft.com/office/powerpoint/2010/main" val="8903756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D488D4-452F-7B0C-5FD2-826F37F650E9}"/>
              </a:ext>
            </a:extLst>
          </p:cNvPr>
          <p:cNvSpPr>
            <a:spLocks noGrp="1"/>
          </p:cNvSpPr>
          <p:nvPr>
            <p:ph type="title"/>
          </p:nvPr>
        </p:nvSpPr>
        <p:spPr>
          <a:xfrm>
            <a:off x="61685" y="1"/>
            <a:ext cx="10515600" cy="573314"/>
          </a:xfrm>
        </p:spPr>
        <p:txBody>
          <a:bodyPr>
            <a:noAutofit/>
          </a:bodyPr>
          <a:lstStyle/>
          <a:p>
            <a:r>
              <a:rPr lang="en-US" sz="2400" dirty="0"/>
              <a:t>Corporate Bonds</a:t>
            </a:r>
            <a:endParaRPr lang="es-PE" sz="2400" dirty="0"/>
          </a:p>
        </p:txBody>
      </p:sp>
      <p:sp>
        <p:nvSpPr>
          <p:cNvPr id="5" name="CuadroTexto 4">
            <a:extLst>
              <a:ext uri="{FF2B5EF4-FFF2-40B4-BE49-F238E27FC236}">
                <a16:creationId xmlns:a16="http://schemas.microsoft.com/office/drawing/2014/main" id="{BEF49A3F-624F-1DB5-8CD8-ADEBAA5F01A0}"/>
              </a:ext>
            </a:extLst>
          </p:cNvPr>
          <p:cNvSpPr txBox="1"/>
          <p:nvPr/>
        </p:nvSpPr>
        <p:spPr>
          <a:xfrm>
            <a:off x="0" y="417682"/>
            <a:ext cx="6096000" cy="6524863"/>
          </a:xfrm>
          <a:prstGeom prst="rect">
            <a:avLst/>
          </a:prstGeom>
          <a:noFill/>
        </p:spPr>
        <p:txBody>
          <a:bodyPr wrap="square">
            <a:spAutoFit/>
          </a:bodyPr>
          <a:lstStyle/>
          <a:p>
            <a:pPr algn="l">
              <a:spcAft>
                <a:spcPts val="1200"/>
              </a:spcAft>
              <a:buNone/>
            </a:pPr>
            <a:r>
              <a:rPr lang="en-US" sz="900" b="1" i="0" dirty="0">
                <a:effectLst/>
                <a:latin typeface="Segoe WPC"/>
              </a:rPr>
              <a:t>1. Bond Basics and Yield Behavior</a:t>
            </a:r>
            <a:br>
              <a:rPr lang="en-US" sz="900" b="0" i="0" dirty="0">
                <a:effectLst/>
                <a:latin typeface="Segoe WPC"/>
              </a:rPr>
            </a:br>
            <a:r>
              <a:rPr lang="en-US" sz="900" b="1" i="0" dirty="0">
                <a:effectLst/>
                <a:latin typeface="Segoe WPC"/>
              </a:rPr>
              <a:t>Financial Object:</a:t>
            </a:r>
            <a:r>
              <a:rPr lang="en-US" sz="900" b="0" i="0" dirty="0">
                <a:effectLst/>
                <a:latin typeface="Segoe WPC"/>
              </a:rPr>
              <a:t> A corporate bond is a debt instrument through which a corporation borrows from investors and promises coupon and principal payments.</a:t>
            </a:r>
            <a:br>
              <a:rPr lang="en-US" sz="900" b="0" i="0" dirty="0">
                <a:effectLst/>
                <a:latin typeface="Segoe WPC"/>
              </a:rPr>
            </a:br>
            <a:r>
              <a:rPr lang="en-US" sz="900" b="1" i="0" dirty="0">
                <a:effectLst/>
                <a:latin typeface="Segoe WPC"/>
              </a:rPr>
              <a:t>Plain Intuition:</a:t>
            </a:r>
            <a:r>
              <a:rPr lang="en-US" sz="900" b="0" i="0" dirty="0">
                <a:effectLst/>
                <a:latin typeface="Segoe WPC"/>
              </a:rPr>
              <a:t> Riskier bonds must offer higher coupons or yields to attract investors.</a:t>
            </a:r>
            <a:br>
              <a:rPr lang="en-US" sz="900" b="0" i="0" dirty="0">
                <a:effectLst/>
                <a:latin typeface="Segoe WPC"/>
              </a:rPr>
            </a:br>
            <a:r>
              <a:rPr lang="en-US" sz="900" b="1" i="0" dirty="0">
                <a:effectLst/>
                <a:latin typeface="Segoe WPC"/>
              </a:rPr>
              <a:t>Visual Intuition:</a:t>
            </a:r>
            <a:r>
              <a:rPr lang="en-US" sz="900" b="0" i="0" dirty="0">
                <a:effectLst/>
                <a:latin typeface="Segoe WPC"/>
              </a:rPr>
              <a:t> A bond’s yield is roughly a risk-free rate plus a credit spread; if price rises, yield falls, and if price falls, yield rises.</a:t>
            </a:r>
            <a:br>
              <a:rPr lang="en-US" sz="900" b="0" i="0" dirty="0">
                <a:effectLst/>
                <a:latin typeface="Segoe WPC"/>
              </a:rPr>
            </a:br>
            <a:r>
              <a:rPr lang="en-US" sz="900" b="1" i="0" dirty="0">
                <a:effectLst/>
                <a:latin typeface="Segoe WPC"/>
              </a:rPr>
              <a:t>Key Formula:</a:t>
            </a:r>
            <a:r>
              <a:rPr lang="en-US" sz="900" b="0" i="0" dirty="0">
                <a:effectLst/>
                <a:latin typeface="Segoe WPC"/>
              </a:rPr>
              <a:t> </a:t>
            </a:r>
            <a:r>
              <a:rPr lang="en-US" sz="900" b="1" i="0" dirty="0">
                <a:effectLst/>
                <a:latin typeface="Segoe WPC"/>
              </a:rPr>
              <a:t>Yield = Risk-free rate + Credit spread</a:t>
            </a:r>
            <a:r>
              <a:rPr lang="en-US" sz="900" b="0" i="0" dirty="0">
                <a:effectLst/>
                <a:latin typeface="Segoe WPC"/>
              </a:rPr>
              <a:t>.</a:t>
            </a:r>
            <a:br>
              <a:rPr lang="en-US" sz="900" b="0" i="0" dirty="0">
                <a:effectLst/>
                <a:latin typeface="Segoe WPC"/>
              </a:rPr>
            </a:br>
            <a:r>
              <a:rPr lang="en-US" sz="900" b="1" i="0" dirty="0">
                <a:effectLst/>
                <a:latin typeface="Segoe WPC"/>
              </a:rPr>
              <a:t>Interpretation:</a:t>
            </a:r>
            <a:r>
              <a:rPr lang="en-US" sz="900" b="0" i="0" dirty="0">
                <a:effectLst/>
                <a:latin typeface="Segoe WPC"/>
              </a:rPr>
              <a:t> Bond prices move with changes in interest rates, credit quality, and liquidity.</a:t>
            </a:r>
            <a:br>
              <a:rPr lang="en-US" sz="900" b="0" i="0" dirty="0">
                <a:effectLst/>
                <a:latin typeface="Segoe WPC"/>
              </a:rPr>
            </a:br>
            <a:r>
              <a:rPr lang="en-US" sz="900" b="1" i="0" dirty="0">
                <a:effectLst/>
                <a:latin typeface="Segoe WPC"/>
              </a:rPr>
              <a:t>Exam Trap:</a:t>
            </a:r>
            <a:r>
              <a:rPr lang="en-US" sz="900" b="0" i="0" dirty="0">
                <a:effectLst/>
                <a:latin typeface="Segoe WPC"/>
              </a:rPr>
              <a:t> Coupon rate is fixed in the contract; yield changes with the market price.</a:t>
            </a:r>
          </a:p>
          <a:p>
            <a:pPr algn="l">
              <a:spcAft>
                <a:spcPts val="1200"/>
              </a:spcAft>
              <a:buNone/>
            </a:pPr>
            <a:r>
              <a:rPr lang="en-US" sz="900" b="1" i="0" dirty="0">
                <a:effectLst/>
                <a:latin typeface="Segoe WPC"/>
              </a:rPr>
              <a:t>2. Bond Issuance</a:t>
            </a:r>
            <a:br>
              <a:rPr lang="en-US" sz="900" b="0" i="0" dirty="0">
                <a:effectLst/>
                <a:latin typeface="Segoe WPC"/>
              </a:rPr>
            </a:br>
            <a:r>
              <a:rPr lang="en-US" sz="900" b="1" i="0" dirty="0">
                <a:effectLst/>
                <a:latin typeface="Segoe WPC"/>
              </a:rPr>
              <a:t>Financial Object:</a:t>
            </a:r>
            <a:r>
              <a:rPr lang="en-US" sz="900" b="0" i="0" dirty="0">
                <a:effectLst/>
                <a:latin typeface="Segoe WPC"/>
              </a:rPr>
              <a:t> Corporate bonds are issued either through private placements or public offerings.</a:t>
            </a:r>
            <a:br>
              <a:rPr lang="en-US" sz="900" b="0" i="0" dirty="0">
                <a:effectLst/>
                <a:latin typeface="Segoe WPC"/>
              </a:rPr>
            </a:br>
            <a:r>
              <a:rPr lang="en-US" sz="900" b="1" i="0" dirty="0">
                <a:effectLst/>
                <a:latin typeface="Segoe WPC"/>
              </a:rPr>
              <a:t>Plain Intuition:</a:t>
            </a:r>
            <a:r>
              <a:rPr lang="en-US" sz="900" b="0" i="0" dirty="0">
                <a:effectLst/>
                <a:latin typeface="Segoe WPC"/>
              </a:rPr>
              <a:t> Private placements are faster and cheaper to arrange, but usually require paying a higher interest rate; public issues are broader, rated, and underwritten by investment banks.</a:t>
            </a:r>
            <a:br>
              <a:rPr lang="en-US" sz="900" b="0" i="0" dirty="0">
                <a:effectLst/>
                <a:latin typeface="Segoe WPC"/>
              </a:rPr>
            </a:br>
            <a:r>
              <a:rPr lang="en-US" sz="900" b="1" i="0" dirty="0">
                <a:effectLst/>
                <a:latin typeface="Segoe WPC"/>
              </a:rPr>
              <a:t>Visual Intuition:</a:t>
            </a:r>
            <a:r>
              <a:rPr lang="en-US" sz="900" b="0" i="0" dirty="0">
                <a:effectLst/>
                <a:latin typeface="Segoe WPC"/>
              </a:rPr>
              <a:t> Private placement means selling to a few big institutions; public issue means the underwriter buys from the firm and resells to the market.</a:t>
            </a:r>
            <a:br>
              <a:rPr lang="en-US" sz="900" b="0" i="0" dirty="0">
                <a:effectLst/>
                <a:latin typeface="Segoe WPC"/>
              </a:rPr>
            </a:br>
            <a:r>
              <a:rPr lang="en-US" sz="900" b="1" i="0" dirty="0">
                <a:effectLst/>
                <a:latin typeface="Segoe WPC"/>
              </a:rPr>
              <a:t>Key Formula:</a:t>
            </a:r>
            <a:r>
              <a:rPr lang="en-US" sz="900" b="0" i="0" dirty="0">
                <a:effectLst/>
                <a:latin typeface="Segoe WPC"/>
              </a:rPr>
              <a:t> No core pricing formula; the tradeoff is </a:t>
            </a:r>
            <a:r>
              <a:rPr lang="en-US" sz="900" b="1" i="0" dirty="0">
                <a:effectLst/>
                <a:latin typeface="Segoe WPC"/>
              </a:rPr>
              <a:t>lower issuance cost vs higher borrowing rate</a:t>
            </a:r>
            <a:r>
              <a:rPr lang="en-US" sz="900" b="0" i="0" dirty="0">
                <a:effectLst/>
                <a:latin typeface="Segoe WPC"/>
              </a:rPr>
              <a:t>.</a:t>
            </a:r>
            <a:br>
              <a:rPr lang="en-US" sz="900" b="0" i="0" dirty="0">
                <a:effectLst/>
                <a:latin typeface="Segoe WPC"/>
              </a:rPr>
            </a:br>
            <a:r>
              <a:rPr lang="en-US" sz="900" b="1" i="0" dirty="0">
                <a:effectLst/>
                <a:latin typeface="Segoe WPC"/>
              </a:rPr>
              <a:t>Interpretation:</a:t>
            </a:r>
            <a:r>
              <a:rPr lang="en-US" sz="900" b="0" i="0" dirty="0">
                <a:effectLst/>
                <a:latin typeface="Segoe WPC"/>
              </a:rPr>
              <a:t> Issuers choose between flexibility and lower ongoing financing cost.</a:t>
            </a:r>
            <a:br>
              <a:rPr lang="en-US" sz="900" b="0" i="0" dirty="0">
                <a:effectLst/>
                <a:latin typeface="Segoe WPC"/>
              </a:rPr>
            </a:br>
            <a:r>
              <a:rPr lang="en-US" sz="900" b="1" i="0" dirty="0">
                <a:effectLst/>
                <a:latin typeface="Segoe WPC"/>
              </a:rPr>
              <a:t>Exam Trap:</a:t>
            </a:r>
            <a:r>
              <a:rPr lang="en-US" sz="900" b="0" i="0" dirty="0">
                <a:effectLst/>
                <a:latin typeface="Segoe WPC"/>
              </a:rPr>
              <a:t> Private placements usually avoid registration and ratings, but they do not usually give the issuer a lower interest rate.</a:t>
            </a:r>
          </a:p>
          <a:p>
            <a:pPr algn="l">
              <a:spcAft>
                <a:spcPts val="1200"/>
              </a:spcAft>
              <a:buNone/>
            </a:pPr>
            <a:r>
              <a:rPr lang="en-US" sz="900" b="1" i="0" dirty="0">
                <a:effectLst/>
                <a:latin typeface="Segoe WPC"/>
              </a:rPr>
              <a:t>3. Bond Trading and Clean vs Dirty Price</a:t>
            </a:r>
            <a:br>
              <a:rPr lang="en-US" sz="900" b="0" i="0" dirty="0">
                <a:effectLst/>
                <a:latin typeface="Segoe WPC"/>
              </a:rPr>
            </a:br>
            <a:r>
              <a:rPr lang="en-US" sz="900" b="1" i="0" dirty="0">
                <a:effectLst/>
                <a:latin typeface="Segoe WPC"/>
              </a:rPr>
              <a:t>Financial Object:</a:t>
            </a:r>
            <a:r>
              <a:rPr lang="en-US" sz="900" b="0" i="0" dirty="0">
                <a:effectLst/>
                <a:latin typeface="Segoe WPC"/>
              </a:rPr>
              <a:t> Public corporate bonds trade mainly over the counter through dealers rather than on exchanges.</a:t>
            </a:r>
            <a:br>
              <a:rPr lang="en-US" sz="900" b="0" i="0" dirty="0">
                <a:effectLst/>
                <a:latin typeface="Segoe WPC"/>
              </a:rPr>
            </a:br>
            <a:r>
              <a:rPr lang="en-US" sz="900" b="1" i="0" dirty="0">
                <a:effectLst/>
                <a:latin typeface="Segoe WPC"/>
              </a:rPr>
              <a:t>Plain Intuition:</a:t>
            </a:r>
            <a:r>
              <a:rPr lang="en-US" sz="900" b="0" i="0" dirty="0">
                <a:effectLst/>
                <a:latin typeface="Segoe WPC"/>
              </a:rPr>
              <a:t> Dealers make markets by quoting bid and ask prices and holding inventory.</a:t>
            </a:r>
            <a:br>
              <a:rPr lang="en-US" sz="900" b="0" i="0" dirty="0">
                <a:effectLst/>
                <a:latin typeface="Segoe WPC"/>
              </a:rPr>
            </a:br>
            <a:r>
              <a:rPr lang="en-US" sz="900" b="1" i="0" dirty="0">
                <a:effectLst/>
                <a:latin typeface="Segoe WPC"/>
              </a:rPr>
              <a:t>Visual Intuition:</a:t>
            </a:r>
            <a:r>
              <a:rPr lang="en-US" sz="900" b="0" i="0" dirty="0">
                <a:effectLst/>
                <a:latin typeface="Segoe WPC"/>
              </a:rPr>
              <a:t> The quoted bond price is the clean price; the actual amount paid is the dirty price, which includes accrued interest.</a:t>
            </a:r>
            <a:br>
              <a:rPr lang="en-US" sz="900" b="0" i="0" dirty="0">
                <a:effectLst/>
                <a:latin typeface="Segoe WPC"/>
              </a:rPr>
            </a:br>
            <a:r>
              <a:rPr lang="en-US" sz="900" b="1" i="0" dirty="0">
                <a:effectLst/>
                <a:latin typeface="Segoe WPC"/>
              </a:rPr>
              <a:t>Key Formula:</a:t>
            </a:r>
            <a:r>
              <a:rPr lang="en-US" sz="900" b="0" i="0" dirty="0">
                <a:effectLst/>
                <a:latin typeface="Segoe WPC"/>
              </a:rPr>
              <a:t> </a:t>
            </a:r>
            <a:r>
              <a:rPr lang="en-US" sz="900" b="1" i="0" dirty="0">
                <a:effectLst/>
                <a:latin typeface="Segoe WPC"/>
              </a:rPr>
              <a:t>Dirty price = Clean price + Accrued interest</a:t>
            </a:r>
            <a:r>
              <a:rPr lang="en-US" sz="900" b="0" i="0" dirty="0">
                <a:effectLst/>
                <a:latin typeface="Segoe WPC"/>
              </a:rPr>
              <a:t>.</a:t>
            </a:r>
            <a:br>
              <a:rPr lang="en-US" sz="900" b="0" i="0" dirty="0">
                <a:effectLst/>
                <a:latin typeface="Segoe WPC"/>
              </a:rPr>
            </a:br>
            <a:r>
              <a:rPr lang="en-US" sz="900" b="1" i="0" dirty="0">
                <a:effectLst/>
                <a:latin typeface="Segoe WPC"/>
              </a:rPr>
              <a:t>Interpretation:</a:t>
            </a:r>
            <a:r>
              <a:rPr lang="en-US" sz="900" b="0" i="0" dirty="0">
                <a:effectLst/>
                <a:latin typeface="Segoe WPC"/>
              </a:rPr>
              <a:t> Liquidity matters: less liquid bonds require higher yields and wider bid-ask spreads.</a:t>
            </a:r>
            <a:br>
              <a:rPr lang="en-US" sz="900" b="0" i="0" dirty="0">
                <a:effectLst/>
                <a:latin typeface="Segoe WPC"/>
              </a:rPr>
            </a:br>
            <a:r>
              <a:rPr lang="en-US" sz="900" b="1" i="0" dirty="0">
                <a:effectLst/>
                <a:latin typeface="Segoe WPC"/>
              </a:rPr>
              <a:t>Exam Trap:</a:t>
            </a:r>
            <a:r>
              <a:rPr lang="en-US" sz="900" b="0" i="0" dirty="0">
                <a:effectLst/>
                <a:latin typeface="Segoe WPC"/>
              </a:rPr>
              <a:t> The price you see quoted is often not the full cash price paid in settlement.</a:t>
            </a:r>
          </a:p>
          <a:p>
            <a:pPr algn="l">
              <a:spcAft>
                <a:spcPts val="1200"/>
              </a:spcAft>
              <a:buNone/>
            </a:pPr>
            <a:r>
              <a:rPr lang="en-US" sz="900" b="1" i="0" dirty="0">
                <a:effectLst/>
                <a:latin typeface="Segoe WPC"/>
              </a:rPr>
              <a:t>4. Bond Indenture and Trustee</a:t>
            </a:r>
            <a:br>
              <a:rPr lang="en-US" sz="900" b="0" i="0" dirty="0">
                <a:effectLst/>
                <a:latin typeface="Segoe WPC"/>
              </a:rPr>
            </a:br>
            <a:r>
              <a:rPr lang="en-US" sz="900" b="1" i="0" dirty="0">
                <a:effectLst/>
                <a:latin typeface="Segoe WPC"/>
              </a:rPr>
              <a:t>Financial Object:</a:t>
            </a:r>
            <a:r>
              <a:rPr lang="en-US" sz="900" b="0" i="0" dirty="0">
                <a:effectLst/>
                <a:latin typeface="Segoe WPC"/>
              </a:rPr>
              <a:t> A bond indenture is the legal contract governing the bond issue.</a:t>
            </a:r>
            <a:br>
              <a:rPr lang="en-US" sz="900" b="0" i="0" dirty="0">
                <a:effectLst/>
                <a:latin typeface="Segoe WPC"/>
              </a:rPr>
            </a:br>
            <a:r>
              <a:rPr lang="en-US" sz="900" b="1" i="0" dirty="0">
                <a:effectLst/>
                <a:latin typeface="Segoe WPC"/>
              </a:rPr>
              <a:t>Plain Intuition:</a:t>
            </a:r>
            <a:r>
              <a:rPr lang="en-US" sz="900" b="0" i="0" dirty="0">
                <a:effectLst/>
                <a:latin typeface="Segoe WPC"/>
              </a:rPr>
              <a:t> It specifies payments, maturity, investor protections, and restrictions on the issuer.</a:t>
            </a:r>
            <a:br>
              <a:rPr lang="en-US" sz="900" b="0" i="0" dirty="0">
                <a:effectLst/>
                <a:latin typeface="Segoe WPC"/>
              </a:rPr>
            </a:br>
            <a:r>
              <a:rPr lang="en-US" sz="900" b="1" i="0" dirty="0">
                <a:effectLst/>
                <a:latin typeface="Segoe WPC"/>
              </a:rPr>
              <a:t>Visual Intuition:</a:t>
            </a:r>
            <a:r>
              <a:rPr lang="en-US" sz="900" b="0" i="0" dirty="0">
                <a:effectLst/>
                <a:latin typeface="Segoe WPC"/>
              </a:rPr>
              <a:t> The indenture is the rulebook; the trustee is the referee acting for bondholders.</a:t>
            </a:r>
            <a:br>
              <a:rPr lang="en-US" sz="900" b="0" i="0" dirty="0">
                <a:effectLst/>
                <a:latin typeface="Segoe WPC"/>
              </a:rPr>
            </a:br>
            <a:r>
              <a:rPr lang="en-US" sz="900" b="1" i="0" dirty="0">
                <a:effectLst/>
                <a:latin typeface="Segoe WPC"/>
              </a:rPr>
              <a:t>Key Formula:</a:t>
            </a:r>
            <a:r>
              <a:rPr lang="en-US" sz="900" b="0" i="0" dirty="0">
                <a:effectLst/>
                <a:latin typeface="Segoe WPC"/>
              </a:rPr>
              <a:t> No formula; key elements are </a:t>
            </a:r>
            <a:r>
              <a:rPr lang="en-US" sz="900" b="1" i="0" dirty="0">
                <a:effectLst/>
                <a:latin typeface="Segoe WPC"/>
              </a:rPr>
              <a:t>negative covenants, positive covenants, and financial covenants</a:t>
            </a:r>
            <a:r>
              <a:rPr lang="en-US" sz="900" b="0" i="0" dirty="0">
                <a:effectLst/>
                <a:latin typeface="Segoe WPC"/>
              </a:rPr>
              <a:t>.</a:t>
            </a:r>
            <a:br>
              <a:rPr lang="en-US" sz="900" b="0" i="0" dirty="0">
                <a:effectLst/>
                <a:latin typeface="Segoe WPC"/>
              </a:rPr>
            </a:br>
            <a:r>
              <a:rPr lang="en-US" sz="900" b="1" i="0" dirty="0">
                <a:effectLst/>
                <a:latin typeface="Segoe WPC"/>
              </a:rPr>
              <a:t>Interpretation:</a:t>
            </a:r>
            <a:r>
              <a:rPr lang="en-US" sz="900" b="0" i="0" dirty="0">
                <a:effectLst/>
                <a:latin typeface="Segoe WPC"/>
              </a:rPr>
              <a:t> Riskier issuers tend to have stricter covenants.</a:t>
            </a:r>
            <a:br>
              <a:rPr lang="en-US" sz="900" b="0" i="0" dirty="0">
                <a:effectLst/>
                <a:latin typeface="Segoe WPC"/>
              </a:rPr>
            </a:br>
            <a:r>
              <a:rPr lang="en-US" sz="900" b="1" i="0" dirty="0">
                <a:effectLst/>
                <a:latin typeface="Segoe WPC"/>
              </a:rPr>
              <a:t>Exam Trap:</a:t>
            </a:r>
            <a:r>
              <a:rPr lang="en-US" sz="900" b="0" i="0" dirty="0">
                <a:effectLst/>
                <a:latin typeface="Segoe WPC"/>
              </a:rPr>
              <a:t> The trustee represents bondholders, but only within the duties explicitly stated in the indenture.</a:t>
            </a:r>
          </a:p>
          <a:p>
            <a:pPr algn="l">
              <a:spcAft>
                <a:spcPts val="1200"/>
              </a:spcAft>
              <a:buNone/>
            </a:pPr>
            <a:r>
              <a:rPr lang="en-US" sz="900" b="1" i="0" dirty="0">
                <a:effectLst/>
                <a:latin typeface="Segoe WPC"/>
              </a:rPr>
              <a:t>5. Credit Ratings and High-Yield Bonds</a:t>
            </a:r>
            <a:br>
              <a:rPr lang="en-US" sz="900" b="0" i="0" dirty="0">
                <a:effectLst/>
                <a:latin typeface="Segoe WPC"/>
              </a:rPr>
            </a:br>
            <a:r>
              <a:rPr lang="en-US" sz="900" b="1" i="0" dirty="0">
                <a:effectLst/>
                <a:latin typeface="Segoe WPC"/>
              </a:rPr>
              <a:t>Financial Object:</a:t>
            </a:r>
            <a:r>
              <a:rPr lang="en-US" sz="900" b="0" i="0" dirty="0">
                <a:effectLst/>
                <a:latin typeface="Segoe WPC"/>
              </a:rPr>
              <a:t> Ratings agencies classify bonds by credit quality, separating investment-grade from high-yield bonds.</a:t>
            </a:r>
            <a:br>
              <a:rPr lang="en-US" sz="900" b="0" i="0" dirty="0">
                <a:effectLst/>
                <a:latin typeface="Segoe WPC"/>
              </a:rPr>
            </a:br>
            <a:r>
              <a:rPr lang="en-US" sz="900" b="1" i="0" dirty="0">
                <a:effectLst/>
                <a:latin typeface="Segoe WPC"/>
              </a:rPr>
              <a:t>Plain Intuition:</a:t>
            </a:r>
            <a:r>
              <a:rPr lang="en-US" sz="900" b="0" i="0" dirty="0">
                <a:effectLst/>
                <a:latin typeface="Segoe WPC"/>
              </a:rPr>
              <a:t> High-yield bonds are below investment grade and compensate investors with higher yields.</a:t>
            </a:r>
            <a:br>
              <a:rPr lang="en-US" sz="900" b="0" i="0" dirty="0">
                <a:effectLst/>
                <a:latin typeface="Segoe WPC"/>
              </a:rPr>
            </a:br>
            <a:r>
              <a:rPr lang="en-US" sz="900" b="1" i="0" dirty="0">
                <a:effectLst/>
                <a:latin typeface="Segoe WPC"/>
              </a:rPr>
              <a:t>Visual Intuition:</a:t>
            </a:r>
            <a:r>
              <a:rPr lang="en-US" sz="900" b="0" i="0" dirty="0">
                <a:effectLst/>
                <a:latin typeface="Segoe WPC"/>
              </a:rPr>
              <a:t> A bond can start risky, become risky later as a fallen angel, or become risky because leverage rises.</a:t>
            </a:r>
            <a:br>
              <a:rPr lang="en-US" sz="900" b="0" i="0" dirty="0">
                <a:effectLst/>
                <a:latin typeface="Segoe WPC"/>
              </a:rPr>
            </a:br>
            <a:r>
              <a:rPr lang="en-US" sz="900" b="1" i="0" dirty="0">
                <a:effectLst/>
                <a:latin typeface="Segoe WPC"/>
              </a:rPr>
              <a:t>Key Formula:</a:t>
            </a:r>
            <a:r>
              <a:rPr lang="en-US" sz="900" b="0" i="0" dirty="0">
                <a:effectLst/>
                <a:latin typeface="Segoe WPC"/>
              </a:rPr>
              <a:t> Investment grade is generally </a:t>
            </a:r>
            <a:r>
              <a:rPr lang="en-US" sz="900" b="1" i="0" dirty="0">
                <a:effectLst/>
                <a:latin typeface="Segoe WPC"/>
              </a:rPr>
              <a:t>Baa3/BBB- or above</a:t>
            </a:r>
            <a:r>
              <a:rPr lang="en-US" sz="900" b="0" i="0" dirty="0">
                <a:effectLst/>
                <a:latin typeface="Segoe WPC"/>
              </a:rPr>
              <a:t>; below that is </a:t>
            </a:r>
            <a:r>
              <a:rPr lang="en-US" sz="900" b="1" i="0" dirty="0">
                <a:effectLst/>
                <a:latin typeface="Segoe WPC"/>
              </a:rPr>
              <a:t>high-yield</a:t>
            </a:r>
            <a:r>
              <a:rPr lang="en-US" sz="900" b="0" i="0" dirty="0">
                <a:effectLst/>
                <a:latin typeface="Segoe WPC"/>
              </a:rPr>
              <a:t>.</a:t>
            </a:r>
            <a:br>
              <a:rPr lang="en-US" sz="900" b="0" i="0" dirty="0">
                <a:effectLst/>
                <a:latin typeface="Segoe WPC"/>
              </a:rPr>
            </a:br>
            <a:r>
              <a:rPr lang="en-US" sz="900" b="1" i="0" dirty="0">
                <a:effectLst/>
                <a:latin typeface="Segoe WPC"/>
              </a:rPr>
              <a:t>Interpretation:</a:t>
            </a:r>
            <a:r>
              <a:rPr lang="en-US" sz="900" b="0" i="0" dirty="0">
                <a:effectLst/>
                <a:latin typeface="Segoe WPC"/>
              </a:rPr>
              <a:t> High-yield issuers include young firms, fallen angels, and highly leveraged companies.</a:t>
            </a:r>
            <a:br>
              <a:rPr lang="en-US" sz="900" b="0" i="0" dirty="0">
                <a:effectLst/>
                <a:latin typeface="Segoe WPC"/>
              </a:rPr>
            </a:br>
            <a:r>
              <a:rPr lang="en-US" sz="900" b="1" i="0" dirty="0">
                <a:effectLst/>
                <a:latin typeface="Segoe WPC"/>
              </a:rPr>
              <a:t>Exam Trap:</a:t>
            </a:r>
            <a:r>
              <a:rPr lang="en-US" sz="900" b="0" i="0" dirty="0">
                <a:effectLst/>
                <a:latin typeface="Segoe WPC"/>
              </a:rPr>
              <a:t> High-yield does not always mean distressed; some are simply young or fast-growing firms.</a:t>
            </a:r>
          </a:p>
        </p:txBody>
      </p:sp>
      <p:sp>
        <p:nvSpPr>
          <p:cNvPr id="7" name="CuadroTexto 6">
            <a:extLst>
              <a:ext uri="{FF2B5EF4-FFF2-40B4-BE49-F238E27FC236}">
                <a16:creationId xmlns:a16="http://schemas.microsoft.com/office/drawing/2014/main" id="{A174C702-D92D-29ED-A525-C467F53A7C65}"/>
              </a:ext>
            </a:extLst>
          </p:cNvPr>
          <p:cNvSpPr txBox="1"/>
          <p:nvPr/>
        </p:nvSpPr>
        <p:spPr>
          <a:xfrm>
            <a:off x="6016171" y="2183"/>
            <a:ext cx="6252028" cy="6801862"/>
          </a:xfrm>
          <a:prstGeom prst="rect">
            <a:avLst/>
          </a:prstGeom>
          <a:noFill/>
        </p:spPr>
        <p:txBody>
          <a:bodyPr wrap="square">
            <a:spAutoFit/>
          </a:bodyPr>
          <a:lstStyle/>
          <a:p>
            <a:pPr algn="l">
              <a:spcAft>
                <a:spcPts val="1200"/>
              </a:spcAft>
              <a:buNone/>
            </a:pPr>
            <a:r>
              <a:rPr lang="en-US" sz="900" b="1" i="0" dirty="0">
                <a:effectLst/>
                <a:latin typeface="Segoe WPC"/>
              </a:rPr>
              <a:t>6. Special Features of High-Yield Bonds</a:t>
            </a:r>
            <a:br>
              <a:rPr lang="en-US" sz="900" b="0" i="0" dirty="0">
                <a:effectLst/>
                <a:latin typeface="Segoe WPC"/>
              </a:rPr>
            </a:br>
            <a:r>
              <a:rPr lang="en-US" sz="900" b="1" i="0" dirty="0">
                <a:effectLst/>
                <a:latin typeface="Segoe WPC"/>
              </a:rPr>
              <a:t>Financial Object:</a:t>
            </a:r>
            <a:r>
              <a:rPr lang="en-US" sz="900" b="0" i="0" dirty="0">
                <a:effectLst/>
                <a:latin typeface="Segoe WPC"/>
              </a:rPr>
              <a:t> High-yield bonds often include unusual payment features.</a:t>
            </a:r>
            <a:br>
              <a:rPr lang="en-US" sz="900" b="0" i="0" dirty="0">
                <a:effectLst/>
                <a:latin typeface="Segoe WPC"/>
              </a:rPr>
            </a:br>
            <a:r>
              <a:rPr lang="en-US" sz="900" b="1" i="0" dirty="0">
                <a:effectLst/>
                <a:latin typeface="Segoe WPC"/>
              </a:rPr>
              <a:t>Plain Intuition:</a:t>
            </a:r>
            <a:r>
              <a:rPr lang="en-US" sz="900" b="0" i="0" dirty="0">
                <a:effectLst/>
                <a:latin typeface="Segoe WPC"/>
              </a:rPr>
              <a:t> These structures give the issuer flexibility when cash is tight.</a:t>
            </a:r>
            <a:br>
              <a:rPr lang="en-US" sz="900" b="0" i="0" dirty="0">
                <a:effectLst/>
                <a:latin typeface="Segoe WPC"/>
              </a:rPr>
            </a:br>
            <a:r>
              <a:rPr lang="en-US" sz="900" b="1" i="0" dirty="0">
                <a:effectLst/>
                <a:latin typeface="Segoe WPC"/>
              </a:rPr>
              <a:t>Visual Intuition:</a:t>
            </a:r>
            <a:r>
              <a:rPr lang="en-US" sz="900" b="0" i="0" dirty="0">
                <a:effectLst/>
                <a:latin typeface="Segoe WPC"/>
              </a:rPr>
              <a:t> Instead of paying standard coupons from day one, the bond may defer coupons, step them up, or even pay with additional bonds.</a:t>
            </a:r>
            <a:br>
              <a:rPr lang="en-US" sz="900" b="0" i="0" dirty="0">
                <a:effectLst/>
                <a:latin typeface="Segoe WPC"/>
              </a:rPr>
            </a:br>
            <a:r>
              <a:rPr lang="en-US" sz="900" b="1" i="0" dirty="0">
                <a:effectLst/>
                <a:latin typeface="Segoe WPC"/>
              </a:rPr>
              <a:t>Key Formula:</a:t>
            </a:r>
            <a:r>
              <a:rPr lang="en-US" sz="900" b="0" i="0" dirty="0">
                <a:effectLst/>
                <a:latin typeface="Segoe WPC"/>
              </a:rPr>
              <a:t> Common forms: </a:t>
            </a:r>
            <a:r>
              <a:rPr lang="en-US" sz="900" b="1" i="0" dirty="0">
                <a:effectLst/>
                <a:latin typeface="Segoe WPC"/>
              </a:rPr>
              <a:t>deferred-coupon</a:t>
            </a:r>
            <a:r>
              <a:rPr lang="en-US" sz="900" b="0" i="0" dirty="0">
                <a:effectLst/>
                <a:latin typeface="Segoe WPC"/>
              </a:rPr>
              <a:t>, </a:t>
            </a:r>
            <a:r>
              <a:rPr lang="en-US" sz="900" b="1" i="0" dirty="0">
                <a:effectLst/>
                <a:latin typeface="Segoe WPC"/>
              </a:rPr>
              <a:t>step-up</a:t>
            </a:r>
            <a:r>
              <a:rPr lang="en-US" sz="900" b="0" i="0" dirty="0">
                <a:effectLst/>
                <a:latin typeface="Segoe WPC"/>
              </a:rPr>
              <a:t>, </a:t>
            </a:r>
            <a:r>
              <a:rPr lang="en-US" sz="900" b="1" i="0" dirty="0">
                <a:effectLst/>
                <a:latin typeface="Segoe WPC"/>
              </a:rPr>
              <a:t>payment-in-kind (PIK)</a:t>
            </a:r>
            <a:r>
              <a:rPr lang="en-US" sz="900" b="0" i="0" dirty="0">
                <a:effectLst/>
                <a:latin typeface="Segoe WPC"/>
              </a:rPr>
              <a:t>, and </a:t>
            </a:r>
            <a:r>
              <a:rPr lang="en-US" sz="900" b="1" i="0" dirty="0">
                <a:effectLst/>
                <a:latin typeface="Segoe WPC"/>
              </a:rPr>
              <a:t>extendable reset</a:t>
            </a:r>
            <a:r>
              <a:rPr lang="en-US" sz="900" b="0" i="0" dirty="0">
                <a:effectLst/>
                <a:latin typeface="Segoe WPC"/>
              </a:rPr>
              <a:t> bonds.</a:t>
            </a:r>
            <a:br>
              <a:rPr lang="en-US" sz="900" b="0" i="0" dirty="0">
                <a:effectLst/>
                <a:latin typeface="Segoe WPC"/>
              </a:rPr>
            </a:br>
            <a:r>
              <a:rPr lang="en-US" sz="900" b="1" i="0" dirty="0">
                <a:effectLst/>
                <a:latin typeface="Segoe WPC"/>
              </a:rPr>
              <a:t>Interpretation:</a:t>
            </a:r>
            <a:r>
              <a:rPr lang="en-US" sz="900" b="0" i="0" dirty="0">
                <a:effectLst/>
                <a:latin typeface="Segoe WPC"/>
              </a:rPr>
              <a:t> These features increase issuer flexibility but usually raise investor risk.</a:t>
            </a:r>
            <a:br>
              <a:rPr lang="en-US" sz="900" b="0" i="0" dirty="0">
                <a:effectLst/>
                <a:latin typeface="Segoe WPC"/>
              </a:rPr>
            </a:br>
            <a:r>
              <a:rPr lang="en-US" sz="900" b="1" i="0" dirty="0">
                <a:effectLst/>
                <a:latin typeface="Segoe WPC"/>
              </a:rPr>
              <a:t>Exam Trap:</a:t>
            </a:r>
            <a:r>
              <a:rPr lang="en-US" sz="900" b="0" i="0" dirty="0">
                <a:effectLst/>
                <a:latin typeface="Segoe WPC"/>
              </a:rPr>
              <a:t> PIK bonds may satisfy interest obligations without cash payment, but that does not make them safer.</a:t>
            </a:r>
          </a:p>
          <a:p>
            <a:pPr algn="l">
              <a:spcAft>
                <a:spcPts val="1200"/>
              </a:spcAft>
              <a:buNone/>
            </a:pPr>
            <a:r>
              <a:rPr lang="en-US" sz="900" b="1" i="0" dirty="0">
                <a:effectLst/>
                <a:latin typeface="Segoe WPC"/>
              </a:rPr>
              <a:t>7. Bond Risk: Default Risk, Credit Spread Risk, and Event Risk</a:t>
            </a:r>
            <a:br>
              <a:rPr lang="en-US" sz="900" b="0" i="0" dirty="0">
                <a:effectLst/>
                <a:latin typeface="Segoe WPC"/>
              </a:rPr>
            </a:br>
            <a:r>
              <a:rPr lang="en-US" sz="900" b="1" i="0" dirty="0">
                <a:effectLst/>
                <a:latin typeface="Segoe WPC"/>
              </a:rPr>
              <a:t>Financial Object:</a:t>
            </a:r>
            <a:r>
              <a:rPr lang="en-US" sz="900" b="0" i="0" dirty="0">
                <a:effectLst/>
                <a:latin typeface="Segoe WPC"/>
              </a:rPr>
              <a:t> Corporate bondholders face both default risk and credit spread risk.</a:t>
            </a:r>
            <a:br>
              <a:rPr lang="en-US" sz="900" b="0" i="0" dirty="0">
                <a:effectLst/>
                <a:latin typeface="Segoe WPC"/>
              </a:rPr>
            </a:br>
            <a:r>
              <a:rPr lang="en-US" sz="900" b="1" i="0" dirty="0">
                <a:effectLst/>
                <a:latin typeface="Segoe WPC"/>
              </a:rPr>
              <a:t>Plain Intuition:</a:t>
            </a:r>
            <a:r>
              <a:rPr lang="en-US" sz="900" b="0" i="0" dirty="0">
                <a:effectLst/>
                <a:latin typeface="Segoe WPC"/>
              </a:rPr>
              <a:t> Default risk is the chance the issuer misses payments; credit spread risk is the chance the market demands a higher spread even if no default occurs.</a:t>
            </a:r>
            <a:br>
              <a:rPr lang="en-US" sz="900" b="0" i="0" dirty="0">
                <a:effectLst/>
                <a:latin typeface="Segoe WPC"/>
              </a:rPr>
            </a:br>
            <a:r>
              <a:rPr lang="en-US" sz="900" b="1" i="0" dirty="0">
                <a:effectLst/>
                <a:latin typeface="Segoe WPC"/>
              </a:rPr>
              <a:t>Visual Intuition:</a:t>
            </a:r>
            <a:r>
              <a:rPr lang="en-US" sz="900" b="0" i="0" dirty="0">
                <a:effectLst/>
                <a:latin typeface="Segoe WPC"/>
              </a:rPr>
              <a:t> A bond can lose value either because the issuer weakens or because the market becomes more risk-averse.</a:t>
            </a:r>
            <a:br>
              <a:rPr lang="en-US" sz="900" b="0" i="0" dirty="0">
                <a:effectLst/>
                <a:latin typeface="Segoe WPC"/>
              </a:rPr>
            </a:br>
            <a:r>
              <a:rPr lang="en-US" sz="900" b="1" i="0" dirty="0">
                <a:effectLst/>
                <a:latin typeface="Segoe WPC"/>
              </a:rPr>
              <a:t>Key Formula:</a:t>
            </a:r>
            <a:r>
              <a:rPr lang="en-US" sz="900" b="0" i="0" dirty="0">
                <a:effectLst/>
                <a:latin typeface="Segoe WPC"/>
              </a:rPr>
              <a:t> </a:t>
            </a:r>
            <a:r>
              <a:rPr lang="en-US" sz="900" b="1" i="0" dirty="0">
                <a:effectLst/>
                <a:latin typeface="Segoe WPC"/>
              </a:rPr>
              <a:t>Spread duration</a:t>
            </a:r>
            <a:r>
              <a:rPr lang="en-US" sz="900" b="0" i="0" dirty="0">
                <a:effectLst/>
                <a:latin typeface="Segoe WPC"/>
              </a:rPr>
              <a:t> is the approximate percentage bond price change for a </a:t>
            </a:r>
            <a:r>
              <a:rPr lang="en-US" sz="900" b="1" i="0" dirty="0">
                <a:effectLst/>
                <a:latin typeface="Segoe WPC"/>
              </a:rPr>
              <a:t>100 bp</a:t>
            </a:r>
            <a:r>
              <a:rPr lang="en-US" sz="900" b="0" i="0" dirty="0">
                <a:effectLst/>
                <a:latin typeface="Segoe WPC"/>
              </a:rPr>
              <a:t> change in credit spread.</a:t>
            </a:r>
            <a:br>
              <a:rPr lang="en-US" sz="900" b="0" i="0" dirty="0">
                <a:effectLst/>
                <a:latin typeface="Segoe WPC"/>
              </a:rPr>
            </a:br>
            <a:r>
              <a:rPr lang="en-US" sz="900" b="1" i="0" dirty="0">
                <a:effectLst/>
                <a:latin typeface="Segoe WPC"/>
              </a:rPr>
              <a:t>Interpretation:</a:t>
            </a:r>
            <a:r>
              <a:rPr lang="en-US" sz="900" b="0" i="0" dirty="0">
                <a:effectLst/>
                <a:latin typeface="Segoe WPC"/>
              </a:rPr>
              <a:t> Event risk often comes from leverage-increasing events such as LBOs, share buybacks, or acquisitions.</a:t>
            </a:r>
            <a:br>
              <a:rPr lang="en-US" sz="900" b="0" i="0" dirty="0">
                <a:effectLst/>
                <a:latin typeface="Segoe WPC"/>
              </a:rPr>
            </a:br>
            <a:r>
              <a:rPr lang="en-US" sz="900" b="1" i="0" dirty="0">
                <a:effectLst/>
                <a:latin typeface="Segoe WPC"/>
              </a:rPr>
              <a:t>Exam Trap:</a:t>
            </a:r>
            <a:r>
              <a:rPr lang="en-US" sz="900" b="0" i="0" dirty="0">
                <a:effectLst/>
                <a:latin typeface="Segoe WPC"/>
              </a:rPr>
              <a:t> A bond can fall sharply in price without default if spreads widen.</a:t>
            </a:r>
          </a:p>
          <a:p>
            <a:pPr algn="l">
              <a:spcAft>
                <a:spcPts val="1200"/>
              </a:spcAft>
              <a:buNone/>
            </a:pPr>
            <a:r>
              <a:rPr lang="en-US" sz="900" b="1" i="0" dirty="0">
                <a:effectLst/>
                <a:latin typeface="Segoe WPC"/>
              </a:rPr>
              <a:t>8. Bond Classification</a:t>
            </a:r>
            <a:br>
              <a:rPr lang="en-US" sz="900" b="0" i="0" dirty="0">
                <a:effectLst/>
                <a:latin typeface="Segoe WPC"/>
              </a:rPr>
            </a:br>
            <a:r>
              <a:rPr lang="en-US" sz="900" b="1" i="0" dirty="0">
                <a:effectLst/>
                <a:latin typeface="Segoe WPC"/>
              </a:rPr>
              <a:t>Financial Object:</a:t>
            </a:r>
            <a:r>
              <a:rPr lang="en-US" sz="900" b="0" i="0" dirty="0">
                <a:effectLst/>
                <a:latin typeface="Segoe WPC"/>
              </a:rPr>
              <a:t> Bonds are classified by issuer, maturity, interest-rate structure, and collateral.</a:t>
            </a:r>
            <a:br>
              <a:rPr lang="en-US" sz="900" b="0" i="0" dirty="0">
                <a:effectLst/>
                <a:latin typeface="Segoe WPC"/>
              </a:rPr>
            </a:br>
            <a:r>
              <a:rPr lang="en-US" sz="900" b="1" i="0" dirty="0">
                <a:effectLst/>
                <a:latin typeface="Segoe WPC"/>
              </a:rPr>
              <a:t>Plain Intuition:</a:t>
            </a:r>
            <a:r>
              <a:rPr lang="en-US" sz="900" b="0" i="0" dirty="0">
                <a:effectLst/>
                <a:latin typeface="Segoe WPC"/>
              </a:rPr>
              <a:t> These features determine both the bond’s promised payments and its position in distress.</a:t>
            </a:r>
            <a:br>
              <a:rPr lang="en-US" sz="900" b="0" i="0" dirty="0">
                <a:effectLst/>
                <a:latin typeface="Segoe WPC"/>
              </a:rPr>
            </a:br>
            <a:r>
              <a:rPr lang="en-US" sz="900" b="1" i="0" dirty="0">
                <a:effectLst/>
                <a:latin typeface="Segoe WPC"/>
              </a:rPr>
              <a:t>Visual Intuition:</a:t>
            </a:r>
            <a:r>
              <a:rPr lang="en-US" sz="900" b="0" i="0" dirty="0">
                <a:effectLst/>
                <a:latin typeface="Segoe WPC"/>
              </a:rPr>
              <a:t> A zero-coupon bond gives all return at maturity, a floating-rate bond resets with market rates, and secured bonds stand ahead of unsecured ones in bankruptcy.</a:t>
            </a:r>
            <a:br>
              <a:rPr lang="en-US" sz="900" b="0" i="0" dirty="0">
                <a:effectLst/>
                <a:latin typeface="Segoe WPC"/>
              </a:rPr>
            </a:br>
            <a:r>
              <a:rPr lang="en-US" sz="900" b="1" i="0" dirty="0">
                <a:effectLst/>
                <a:latin typeface="Segoe WPC"/>
              </a:rPr>
              <a:t>Key Formula:</a:t>
            </a:r>
            <a:r>
              <a:rPr lang="en-US" sz="900" b="0" i="0" dirty="0">
                <a:effectLst/>
                <a:latin typeface="Segoe WPC"/>
              </a:rPr>
              <a:t> Zero-coupon bond return example: if price is </a:t>
            </a:r>
            <a:r>
              <a:rPr lang="en-US" sz="900" b="1" i="0" dirty="0">
                <a:effectLst/>
                <a:latin typeface="Segoe WPC"/>
              </a:rPr>
              <a:t>80</a:t>
            </a:r>
            <a:r>
              <a:rPr lang="en-US" sz="900" b="0" i="0" dirty="0">
                <a:effectLst/>
                <a:latin typeface="Segoe WPC"/>
              </a:rPr>
              <a:t> and par is </a:t>
            </a:r>
            <a:r>
              <a:rPr lang="en-US" sz="900" b="1" i="0" dirty="0">
                <a:effectLst/>
                <a:latin typeface="Segoe WPC"/>
              </a:rPr>
              <a:t>100</a:t>
            </a:r>
            <a:r>
              <a:rPr lang="en-US" sz="900" b="0" i="0" dirty="0">
                <a:effectLst/>
                <a:latin typeface="Segoe WPC"/>
              </a:rPr>
              <a:t>, annualized return is </a:t>
            </a:r>
            <a:r>
              <a:rPr lang="en-US" sz="900" b="1" i="0" dirty="0">
                <a:effectLst/>
                <a:latin typeface="Segoe WPC"/>
              </a:rPr>
              <a:t>(100/80)^(1/5) - 1</a:t>
            </a:r>
            <a:r>
              <a:rPr lang="en-US" sz="900" b="0" i="0" dirty="0">
                <a:effectLst/>
                <a:latin typeface="Segoe WPC"/>
              </a:rPr>
              <a:t>.</a:t>
            </a:r>
            <a:br>
              <a:rPr lang="en-US" sz="900" b="0" i="0" dirty="0">
                <a:effectLst/>
                <a:latin typeface="Segoe WPC"/>
              </a:rPr>
            </a:br>
            <a:r>
              <a:rPr lang="en-US" sz="900" b="1" i="0" dirty="0">
                <a:effectLst/>
                <a:latin typeface="Segoe WPC"/>
              </a:rPr>
              <a:t>Interpretation:</a:t>
            </a:r>
            <a:r>
              <a:rPr lang="en-US" sz="900" b="0" i="0" dirty="0">
                <a:effectLst/>
                <a:latin typeface="Segoe WPC"/>
              </a:rPr>
              <a:t> Secured bonds are generally safer than debentures; subordinated debentures are riskier than senior debentures.</a:t>
            </a:r>
            <a:br>
              <a:rPr lang="en-US" sz="900" b="0" i="0" dirty="0">
                <a:effectLst/>
                <a:latin typeface="Segoe WPC"/>
              </a:rPr>
            </a:br>
            <a:r>
              <a:rPr lang="en-US" sz="900" b="1" i="0" dirty="0">
                <a:effectLst/>
                <a:latin typeface="Segoe WPC"/>
              </a:rPr>
              <a:t>Exam Trap:</a:t>
            </a:r>
            <a:r>
              <a:rPr lang="en-US" sz="900" b="0" i="0" dirty="0">
                <a:effectLst/>
                <a:latin typeface="Segoe WPC"/>
              </a:rPr>
              <a:t> Zero-coupon bonds eliminate reinvestment risk, unlike coupon bonds.</a:t>
            </a:r>
          </a:p>
          <a:p>
            <a:pPr algn="l">
              <a:spcAft>
                <a:spcPts val="1200"/>
              </a:spcAft>
              <a:buNone/>
            </a:pPr>
            <a:r>
              <a:rPr lang="en-US" sz="900" b="1" i="0" dirty="0">
                <a:effectLst/>
                <a:latin typeface="Segoe WPC"/>
              </a:rPr>
              <a:t>9. Debt Retirement Before Maturity</a:t>
            </a:r>
            <a:br>
              <a:rPr lang="en-US" sz="900" b="0" i="0" dirty="0">
                <a:effectLst/>
                <a:latin typeface="Segoe WPC"/>
              </a:rPr>
            </a:br>
            <a:r>
              <a:rPr lang="en-US" sz="900" b="1" i="0" dirty="0">
                <a:effectLst/>
                <a:latin typeface="Segoe WPC"/>
              </a:rPr>
              <a:t>Financial Object:</a:t>
            </a:r>
            <a:r>
              <a:rPr lang="en-US" sz="900" b="0" i="0" dirty="0">
                <a:effectLst/>
                <a:latin typeface="Segoe WPC"/>
              </a:rPr>
              <a:t> Corporate bonds may be retired early through call provisions, sinking funds, tenders, or asset sales.</a:t>
            </a:r>
            <a:br>
              <a:rPr lang="en-US" sz="900" b="0" i="0" dirty="0">
                <a:effectLst/>
                <a:latin typeface="Segoe WPC"/>
              </a:rPr>
            </a:br>
            <a:r>
              <a:rPr lang="en-US" sz="900" b="1" i="0" dirty="0">
                <a:effectLst/>
                <a:latin typeface="Segoe WPC"/>
              </a:rPr>
              <a:t>Plain Intuition:</a:t>
            </a:r>
            <a:r>
              <a:rPr lang="en-US" sz="900" b="0" i="0" dirty="0">
                <a:effectLst/>
                <a:latin typeface="Segoe WPC"/>
              </a:rPr>
              <a:t> Issuers refinance early when rates fall or when old covenants become too restrictive.</a:t>
            </a:r>
            <a:br>
              <a:rPr lang="en-US" sz="900" b="0" i="0" dirty="0">
                <a:effectLst/>
                <a:latin typeface="Segoe WPC"/>
              </a:rPr>
            </a:br>
            <a:r>
              <a:rPr lang="en-US" sz="900" b="1" i="0" dirty="0">
                <a:effectLst/>
                <a:latin typeface="Segoe WPC"/>
              </a:rPr>
              <a:t>Visual Intuition:</a:t>
            </a:r>
            <a:r>
              <a:rPr lang="en-US" sz="900" b="0" i="0" dirty="0">
                <a:effectLst/>
                <a:latin typeface="Segoe WPC"/>
              </a:rPr>
              <a:t> A callable bond lets the issuer take the bond back; a sinking fund retires bonds gradually over time.</a:t>
            </a:r>
            <a:br>
              <a:rPr lang="en-US" sz="900" b="0" i="0" dirty="0">
                <a:effectLst/>
                <a:latin typeface="Segoe WPC"/>
              </a:rPr>
            </a:br>
            <a:r>
              <a:rPr lang="en-US" sz="900" b="1" i="0" dirty="0">
                <a:effectLst/>
                <a:latin typeface="Segoe WPC"/>
              </a:rPr>
              <a:t>Key Formula:</a:t>
            </a:r>
            <a:r>
              <a:rPr lang="en-US" sz="900" b="0" i="0" dirty="0">
                <a:effectLst/>
                <a:latin typeface="Segoe WPC"/>
              </a:rPr>
              <a:t> A </a:t>
            </a:r>
            <a:r>
              <a:rPr lang="en-US" sz="900" b="1" i="0" dirty="0">
                <a:effectLst/>
                <a:latin typeface="Segoe WPC"/>
              </a:rPr>
              <a:t>make-whole call</a:t>
            </a:r>
            <a:r>
              <a:rPr lang="en-US" sz="900" b="0" i="0" dirty="0">
                <a:effectLst/>
                <a:latin typeface="Segoe WPC"/>
              </a:rPr>
              <a:t> usually sets call price as the </a:t>
            </a:r>
            <a:r>
              <a:rPr lang="en-US" sz="900" b="1" i="0" dirty="0">
                <a:effectLst/>
                <a:latin typeface="Segoe WPC"/>
              </a:rPr>
              <a:t>present value of remaining cash flows discounted at Treasury + spread</a:t>
            </a:r>
            <a:r>
              <a:rPr lang="en-US" sz="900" b="0" i="0" dirty="0">
                <a:effectLst/>
                <a:latin typeface="Segoe WPC"/>
              </a:rPr>
              <a:t>.</a:t>
            </a:r>
            <a:br>
              <a:rPr lang="en-US" sz="900" b="0" i="0" dirty="0">
                <a:effectLst/>
                <a:latin typeface="Segoe WPC"/>
              </a:rPr>
            </a:br>
            <a:r>
              <a:rPr lang="en-US" sz="900" b="1" i="0" dirty="0">
                <a:effectLst/>
                <a:latin typeface="Segoe WPC"/>
              </a:rPr>
              <a:t>Interpretation:</a:t>
            </a:r>
            <a:r>
              <a:rPr lang="en-US" sz="900" b="0" i="0" dirty="0">
                <a:effectLst/>
                <a:latin typeface="Segoe WPC"/>
              </a:rPr>
              <a:t> Early retirement helps issuers but can hurt bondholders by forcing reinvestment at lower rates.</a:t>
            </a:r>
            <a:br>
              <a:rPr lang="en-US" sz="900" b="0" i="0" dirty="0">
                <a:effectLst/>
                <a:latin typeface="Segoe WPC"/>
              </a:rPr>
            </a:br>
            <a:r>
              <a:rPr lang="en-US" sz="900" b="1" i="0" dirty="0">
                <a:effectLst/>
                <a:latin typeface="Segoe WPC"/>
              </a:rPr>
              <a:t>Exam Trap:</a:t>
            </a:r>
            <a:r>
              <a:rPr lang="en-US" sz="900" b="0" i="0" dirty="0">
                <a:effectLst/>
                <a:latin typeface="Segoe WPC"/>
              </a:rPr>
              <a:t> Make-whole calls are usually less harmful to bondholders than standard callable bonds.</a:t>
            </a:r>
          </a:p>
          <a:p>
            <a:pPr algn="l">
              <a:spcAft>
                <a:spcPts val="1200"/>
              </a:spcAft>
              <a:buNone/>
            </a:pPr>
            <a:r>
              <a:rPr lang="en-US" sz="900" b="1" i="0" dirty="0">
                <a:effectLst/>
                <a:latin typeface="Segoe WPC"/>
              </a:rPr>
              <a:t>10. Default Rate, Recovery Rate, and Expected Return</a:t>
            </a:r>
            <a:br>
              <a:rPr lang="en-US" sz="900" b="0" i="0" dirty="0">
                <a:effectLst/>
                <a:latin typeface="Segoe WPC"/>
              </a:rPr>
            </a:br>
            <a:r>
              <a:rPr lang="en-US" sz="900" b="1" i="0" dirty="0">
                <a:effectLst/>
                <a:latin typeface="Segoe WPC"/>
              </a:rPr>
              <a:t>Financial Object:</a:t>
            </a:r>
            <a:r>
              <a:rPr lang="en-US" sz="900" b="0" i="0" dirty="0">
                <a:effectLst/>
                <a:latin typeface="Segoe WPC"/>
              </a:rPr>
              <a:t> Bond performance depends on default probability, recovery, and compensation for bearing credit risk.</a:t>
            </a:r>
            <a:br>
              <a:rPr lang="en-US" sz="900" b="0" i="0" dirty="0">
                <a:effectLst/>
                <a:latin typeface="Segoe WPC"/>
              </a:rPr>
            </a:br>
            <a:r>
              <a:rPr lang="en-US" sz="900" b="1" i="0" dirty="0">
                <a:effectLst/>
                <a:latin typeface="Segoe WPC"/>
              </a:rPr>
              <a:t>Plain Intuition:</a:t>
            </a:r>
            <a:r>
              <a:rPr lang="en-US" sz="900" b="0" i="0" dirty="0">
                <a:effectLst/>
                <a:latin typeface="Segoe WPC"/>
              </a:rPr>
              <a:t> Investors do not usually lose everything in default, because some recovery is often made.</a:t>
            </a:r>
            <a:br>
              <a:rPr lang="en-US" sz="900" b="0" i="0" dirty="0">
                <a:effectLst/>
                <a:latin typeface="Segoe WPC"/>
              </a:rPr>
            </a:br>
            <a:r>
              <a:rPr lang="en-US" sz="900" b="1" i="0" dirty="0">
                <a:effectLst/>
                <a:latin typeface="Segoe WPC"/>
              </a:rPr>
              <a:t>Visual Intuition:</a:t>
            </a:r>
            <a:r>
              <a:rPr lang="en-US" sz="900" b="0" i="0" dirty="0">
                <a:effectLst/>
                <a:latin typeface="Segoe WPC"/>
              </a:rPr>
              <a:t> Expected bond return equals safe return plus spread minus expected credit losses.</a:t>
            </a:r>
            <a:br>
              <a:rPr lang="en-US" sz="900" b="0" i="0" dirty="0">
                <a:effectLst/>
                <a:latin typeface="Segoe WPC"/>
              </a:rPr>
            </a:br>
            <a:r>
              <a:rPr lang="en-US" sz="900" b="1" i="0" dirty="0">
                <a:effectLst/>
                <a:latin typeface="Segoe WPC"/>
              </a:rPr>
              <a:t>Key Formula:</a:t>
            </a:r>
            <a:r>
              <a:rPr lang="en-US" sz="900" b="0" i="0" dirty="0">
                <a:effectLst/>
                <a:latin typeface="Segoe WPC"/>
              </a:rPr>
              <a:t> </a:t>
            </a:r>
            <a:r>
              <a:rPr lang="en-US" sz="900" b="1" i="0" dirty="0">
                <a:effectLst/>
                <a:latin typeface="Segoe WPC"/>
              </a:rPr>
              <a:t>Expected loss rate = Probability of default × (1 - Recovery rate)</a:t>
            </a:r>
            <a:r>
              <a:rPr lang="en-US" sz="900" b="0" i="0" dirty="0">
                <a:effectLst/>
                <a:latin typeface="Segoe WPC"/>
              </a:rPr>
              <a:t>; </a:t>
            </a:r>
            <a:r>
              <a:rPr lang="en-US" sz="900" b="1" i="0" dirty="0">
                <a:effectLst/>
                <a:latin typeface="Segoe WPC"/>
              </a:rPr>
              <a:t>Expected return = Risk-free rate + Credit spread - Expected loss rate</a:t>
            </a:r>
            <a:r>
              <a:rPr lang="en-US" sz="900" b="0" i="0" dirty="0">
                <a:effectLst/>
                <a:latin typeface="Segoe WPC"/>
              </a:rPr>
              <a:t>.</a:t>
            </a:r>
            <a:br>
              <a:rPr lang="en-US" sz="900" b="0" i="0" dirty="0">
                <a:effectLst/>
                <a:latin typeface="Segoe WPC"/>
              </a:rPr>
            </a:br>
            <a:r>
              <a:rPr lang="en-US" sz="900" b="1" i="0" dirty="0">
                <a:effectLst/>
                <a:latin typeface="Segoe WPC"/>
              </a:rPr>
              <a:t>Interpretation:</a:t>
            </a:r>
            <a:r>
              <a:rPr lang="en-US" sz="900" b="0" i="0" dirty="0">
                <a:effectLst/>
                <a:latin typeface="Segoe WPC"/>
              </a:rPr>
              <a:t> Credit spreads are usually larger than expected losses because investors also require compensation for systematic credit risk.</a:t>
            </a:r>
            <a:br>
              <a:rPr lang="en-US" sz="900" b="0" i="0" dirty="0">
                <a:effectLst/>
                <a:latin typeface="Segoe WPC"/>
              </a:rPr>
            </a:br>
            <a:r>
              <a:rPr lang="en-US" sz="900" b="1" i="0" dirty="0">
                <a:effectLst/>
                <a:latin typeface="Segoe WPC"/>
              </a:rPr>
              <a:t>Exam Trap:</a:t>
            </a:r>
            <a:r>
              <a:rPr lang="en-US" sz="900" b="0" i="0" dirty="0">
                <a:effectLst/>
                <a:latin typeface="Segoe WPC"/>
              </a:rPr>
              <a:t> Do not confuse </a:t>
            </a:r>
            <a:r>
              <a:rPr lang="en-US" sz="900" b="1" i="0" dirty="0">
                <a:effectLst/>
                <a:latin typeface="Segoe WPC"/>
              </a:rPr>
              <a:t>issuer default rate</a:t>
            </a:r>
            <a:r>
              <a:rPr lang="en-US" sz="900" b="0" i="0" dirty="0">
                <a:effectLst/>
                <a:latin typeface="Segoe WPC"/>
              </a:rPr>
              <a:t> with </a:t>
            </a:r>
            <a:r>
              <a:rPr lang="en-US" sz="900" b="1" i="0" dirty="0">
                <a:effectLst/>
                <a:latin typeface="Segoe WPC"/>
              </a:rPr>
              <a:t>dollar default rate</a:t>
            </a:r>
            <a:r>
              <a:rPr lang="en-US" sz="900" b="0" i="0" dirty="0">
                <a:effectLst/>
                <a:latin typeface="Segoe WPC"/>
              </a:rPr>
              <a:t>, and do not assume credit spread equals expected loss.</a:t>
            </a:r>
          </a:p>
        </p:txBody>
      </p:sp>
    </p:spTree>
    <p:extLst>
      <p:ext uri="{BB962C8B-B14F-4D97-AF65-F5344CB8AC3E}">
        <p14:creationId xmlns:p14="http://schemas.microsoft.com/office/powerpoint/2010/main" val="41040017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E4955E-AF6D-9643-926F-023442DB26D7}"/>
              </a:ext>
            </a:extLst>
          </p:cNvPr>
          <p:cNvSpPr>
            <a:spLocks noGrp="1"/>
          </p:cNvSpPr>
          <p:nvPr>
            <p:ph type="title"/>
          </p:nvPr>
        </p:nvSpPr>
        <p:spPr>
          <a:xfrm>
            <a:off x="1" y="-103868"/>
            <a:ext cx="6219824" cy="542018"/>
          </a:xfrm>
        </p:spPr>
        <p:txBody>
          <a:bodyPr>
            <a:noAutofit/>
          </a:bodyPr>
          <a:lstStyle/>
          <a:p>
            <a:r>
              <a:rPr lang="en-US" sz="2400" dirty="0" err="1"/>
              <a:t>Mort.and</a:t>
            </a:r>
            <a:r>
              <a:rPr lang="en-US" sz="2400" dirty="0"/>
              <a:t> </a:t>
            </a:r>
            <a:r>
              <a:rPr lang="en-US" sz="2400" dirty="0" err="1"/>
              <a:t>Mortagages</a:t>
            </a:r>
            <a:r>
              <a:rPr lang="en-US" sz="2400" dirty="0"/>
              <a:t> Backed Securities</a:t>
            </a:r>
            <a:endParaRPr lang="es-PE" sz="24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A44D9793-190E-2253-DD96-764295831941}"/>
                  </a:ext>
                </a:extLst>
              </p:cNvPr>
              <p:cNvSpPr txBox="1"/>
              <p:nvPr/>
            </p:nvSpPr>
            <p:spPr>
              <a:xfrm>
                <a:off x="-61684" y="362238"/>
                <a:ext cx="6424384" cy="6862713"/>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a:t>
                </a:r>
                <a:r>
                  <a:rPr lang="es-PE" sz="900" b="1" i="0" dirty="0" err="1">
                    <a:solidFill>
                      <a:schemeClr val="tx1"/>
                    </a:solidFill>
                    <a:effectLst/>
                    <a:latin typeface="Segoe WPC"/>
                  </a:rPr>
                  <a:t>Residential</a:t>
                </a:r>
                <a:r>
                  <a:rPr lang="es-PE" sz="900" b="1" i="0" dirty="0">
                    <a:solidFill>
                      <a:schemeClr val="tx1"/>
                    </a:solidFill>
                    <a:effectLst/>
                    <a:latin typeface="Segoe WPC"/>
                  </a:rPr>
                  <a:t> </a:t>
                </a:r>
                <a:r>
                  <a:rPr lang="es-PE" sz="900" b="1" i="0" dirty="0" err="1">
                    <a:solidFill>
                      <a:schemeClr val="tx1"/>
                    </a:solidFill>
                    <a:effectLst/>
                    <a:latin typeface="Segoe WPC"/>
                  </a:rPr>
                  <a:t>Mortgage</a:t>
                </a:r>
                <a:r>
                  <a:rPr lang="es-PE" sz="900" b="1" i="0" dirty="0">
                    <a:solidFill>
                      <a:schemeClr val="tx1"/>
                    </a:solidFill>
                    <a:effectLst/>
                    <a:latin typeface="Segoe WPC"/>
                  </a:rPr>
                  <a:t> </a:t>
                </a:r>
                <a:r>
                  <a:rPr lang="es-PE" sz="900" b="1" i="0" dirty="0" err="1">
                    <a:solidFill>
                      <a:schemeClr val="tx1"/>
                    </a:solidFill>
                    <a:effectLst/>
                    <a:latin typeface="Segoe WPC"/>
                  </a:rPr>
                  <a:t>Types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Residential</a:t>
                </a:r>
                <a:r>
                  <a:rPr lang="es-PE" sz="900" b="0" i="0" dirty="0">
                    <a:solidFill>
                      <a:schemeClr val="tx1"/>
                    </a:solidFill>
                    <a:effectLst/>
                    <a:latin typeface="Segoe WPC"/>
                  </a:rPr>
                  <a:t> </a:t>
                </a:r>
                <a:r>
                  <a:rPr lang="es-PE" sz="900" b="0" i="0" dirty="0" err="1">
                    <a:solidFill>
                      <a:schemeClr val="tx1"/>
                    </a:solidFill>
                    <a:effectLst/>
                    <a:latin typeface="Segoe WPC"/>
                  </a:rPr>
                  <a:t>mortgages</a:t>
                </a:r>
                <a:r>
                  <a:rPr lang="es-PE" sz="900" b="0" i="0" dirty="0">
                    <a:solidFill>
                      <a:schemeClr val="tx1"/>
                    </a:solidFill>
                    <a:effectLst/>
                    <a:latin typeface="Segoe WPC"/>
                  </a:rPr>
                  <a:t> </a:t>
                </a:r>
                <a:r>
                  <a:rPr lang="es-PE" sz="900" b="0" i="0" dirty="0" err="1">
                    <a:solidFill>
                      <a:schemeClr val="tx1"/>
                    </a:solidFill>
                    <a:effectLst/>
                    <a:latin typeface="Segoe WPC"/>
                  </a:rPr>
                  <a:t>finance</a:t>
                </a:r>
                <a:r>
                  <a:rPr lang="es-PE" sz="900" b="0" i="0" dirty="0">
                    <a:solidFill>
                      <a:schemeClr val="tx1"/>
                    </a:solidFill>
                    <a:effectLst/>
                    <a:latin typeface="Segoe WPC"/>
                  </a:rPr>
                  <a:t> </a:t>
                </a:r>
                <a:r>
                  <a:rPr lang="es-PE" sz="900" b="0" i="0" dirty="0" err="1">
                    <a:solidFill>
                      <a:schemeClr val="tx1"/>
                    </a:solidFill>
                    <a:effectLst/>
                    <a:latin typeface="Segoe WPC"/>
                  </a:rPr>
                  <a:t>homes</a:t>
                </a:r>
                <a:r>
                  <a:rPr lang="es-PE" sz="900" b="0" i="0" dirty="0">
                    <a:solidFill>
                      <a:schemeClr val="tx1"/>
                    </a:solidFill>
                    <a:effectLst/>
                    <a:latin typeface="Segoe WPC"/>
                  </a:rPr>
                  <a:t> and are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fixed-rate</a:t>
                </a:r>
                <a:r>
                  <a:rPr lang="es-PE" sz="900" b="0" i="0" dirty="0">
                    <a:solidFill>
                      <a:schemeClr val="tx1"/>
                    </a:solidFill>
                    <a:effectLst/>
                    <a:latin typeface="Segoe WPC"/>
                  </a:rPr>
                  <a:t> </a:t>
                </a:r>
                <a:r>
                  <a:rPr lang="es-PE" sz="900" b="0" i="0" dirty="0" err="1">
                    <a:solidFill>
                      <a:schemeClr val="tx1"/>
                    </a:solidFill>
                    <a:effectLst/>
                    <a:latin typeface="Segoe WPC"/>
                  </a:rPr>
                  <a:t>mortgages</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adjustable-rate</a:t>
                </a:r>
                <a:r>
                  <a:rPr lang="es-PE" sz="900" b="0" i="0" dirty="0">
                    <a:solidFill>
                      <a:schemeClr val="tx1"/>
                    </a:solidFill>
                    <a:effectLst/>
                    <a:latin typeface="Segoe WPC"/>
                  </a:rPr>
                  <a:t> </a:t>
                </a:r>
                <a:r>
                  <a:rPr lang="es-PE" sz="900" b="0" i="0" dirty="0" err="1">
                    <a:solidFill>
                      <a:schemeClr val="tx1"/>
                    </a:solidFill>
                    <a:effectLst/>
                    <a:latin typeface="Segoe WPC"/>
                  </a:rPr>
                  <a:t>mortgages</a:t>
                </a:r>
                <a:r>
                  <a:rPr lang="es-PE" sz="900" b="0" i="0" dirty="0">
                    <a:solidFill>
                      <a:schemeClr val="tx1"/>
                    </a:solidFill>
                    <a:effectLst/>
                    <a:latin typeface="Segoe WPC"/>
                  </a:rPr>
                  <a:t> (</a:t>
                </a:r>
                <a:r>
                  <a:rPr lang="es-PE" sz="900" b="0" i="0" dirty="0" err="1">
                    <a:solidFill>
                      <a:schemeClr val="tx1"/>
                    </a:solidFill>
                    <a:effectLst/>
                    <a:latin typeface="Segoe WPC"/>
                  </a:rPr>
                  <a:t>ARMs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Fixed-rate</a:t>
                </a:r>
                <a:r>
                  <a:rPr lang="es-PE" sz="900" b="0" i="0" dirty="0">
                    <a:solidFill>
                      <a:schemeClr val="tx1"/>
                    </a:solidFill>
                    <a:effectLst/>
                    <a:latin typeface="Segoe WPC"/>
                  </a:rPr>
                  <a:t> </a:t>
                </a:r>
                <a:r>
                  <a:rPr lang="es-PE" sz="900" b="0" i="0" dirty="0" err="1">
                    <a:solidFill>
                      <a:schemeClr val="tx1"/>
                    </a:solidFill>
                    <a:effectLst/>
                    <a:latin typeface="Segoe WPC"/>
                  </a:rPr>
                  <a:t>mortgages</a:t>
                </a:r>
                <a:r>
                  <a:rPr lang="es-PE" sz="900" b="0" i="0" dirty="0">
                    <a:solidFill>
                      <a:schemeClr val="tx1"/>
                    </a:solidFill>
                    <a:effectLst/>
                    <a:latin typeface="Segoe WPC"/>
                  </a:rPr>
                  <a:t> </a:t>
                </a:r>
                <a:r>
                  <a:rPr lang="es-PE" sz="900" b="0" i="0" dirty="0" err="1">
                    <a:solidFill>
                      <a:schemeClr val="tx1"/>
                    </a:solidFill>
                    <a:effectLst/>
                    <a:latin typeface="Segoe WPC"/>
                  </a:rPr>
                  <a:t>keep</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borrower’s</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constant</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ARMs</a:t>
                </a:r>
                <a:r>
                  <a:rPr lang="es-PE" sz="900" b="0" i="0" dirty="0">
                    <a:solidFill>
                      <a:schemeClr val="tx1"/>
                    </a:solidFill>
                    <a:effectLst/>
                    <a:latin typeface="Segoe WPC"/>
                  </a:rPr>
                  <a:t> </a:t>
                </a:r>
                <a:r>
                  <a:rPr lang="es-PE" sz="900" b="0" i="0" dirty="0" err="1">
                    <a:solidFill>
                      <a:schemeClr val="tx1"/>
                    </a:solidFill>
                    <a:effectLst/>
                    <a:latin typeface="Segoe WPC"/>
                  </a:rPr>
                  <a:t>reset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after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initial</a:t>
                </a:r>
                <a:r>
                  <a:rPr lang="es-PE" sz="900" b="0" i="0" dirty="0">
                    <a:solidFill>
                      <a:schemeClr val="tx1"/>
                    </a:solidFill>
                    <a:effectLst/>
                    <a:latin typeface="Segoe WPC"/>
                  </a:rPr>
                  <a:t> </a:t>
                </a:r>
                <a:r>
                  <a:rPr lang="es-PE" sz="900" b="0" i="0" dirty="0" err="1">
                    <a:solidFill>
                      <a:schemeClr val="tx1"/>
                    </a:solidFill>
                    <a:effectLst/>
                    <a:latin typeface="Segoe WPC"/>
                  </a:rPr>
                  <a:t>fixed</a:t>
                </a:r>
                <a:r>
                  <a:rPr lang="es-PE" sz="900" b="0" i="0" dirty="0">
                    <a:solidFill>
                      <a:schemeClr val="tx1"/>
                    </a:solidFill>
                    <a:effectLst/>
                    <a:latin typeface="Segoe WPC"/>
                  </a:rPr>
                  <a:t> </a:t>
                </a:r>
                <a:r>
                  <a:rPr lang="es-PE" sz="900" b="0" i="0" dirty="0" err="1">
                    <a:solidFill>
                      <a:schemeClr val="tx1"/>
                    </a:solidFill>
                    <a:effectLst/>
                    <a:latin typeface="Segoe WPC"/>
                  </a:rPr>
                  <a:t>period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fixed-rate</a:t>
                </a:r>
                <a:r>
                  <a:rPr lang="es-PE" sz="900" b="0" i="0" dirty="0">
                    <a:solidFill>
                      <a:schemeClr val="tx1"/>
                    </a:solidFill>
                    <a:effectLst/>
                    <a:latin typeface="Segoe WPC"/>
                  </a:rPr>
                  <a:t> </a:t>
                </a:r>
                <a:r>
                  <a:rPr lang="es-PE" sz="900" b="0" i="0" dirty="0" err="1">
                    <a:solidFill>
                      <a:schemeClr val="tx1"/>
                    </a:solidFill>
                    <a:effectLst/>
                    <a:latin typeface="Segoe WPC"/>
                  </a:rPr>
                  <a:t>mortgage</a:t>
                </a:r>
                <a:r>
                  <a:rPr lang="es-PE" sz="900" b="0" i="0" dirty="0">
                    <a:solidFill>
                      <a:schemeClr val="tx1"/>
                    </a:solidFill>
                    <a:effectLst/>
                    <a:latin typeface="Segoe WPC"/>
                  </a:rPr>
                  <a:t> </a:t>
                </a:r>
                <a:r>
                  <a:rPr lang="es-PE" sz="900" b="0" i="0" dirty="0" err="1">
                    <a:solidFill>
                      <a:schemeClr val="tx1"/>
                    </a:solidFill>
                    <a:effectLst/>
                    <a:latin typeface="Segoe WPC"/>
                  </a:rPr>
                  <a:t>gives</a:t>
                </a:r>
                <a:r>
                  <a:rPr lang="es-PE" sz="900" b="0" i="0" dirty="0">
                    <a:solidFill>
                      <a:schemeClr val="tx1"/>
                    </a:solidFill>
                    <a:effectLst/>
                    <a:latin typeface="Segoe WPC"/>
                  </a:rPr>
                  <a:t> </a:t>
                </a:r>
                <a:r>
                  <a:rPr lang="es-PE" sz="900" b="0" i="0" dirty="0" err="1">
                    <a:solidFill>
                      <a:schemeClr val="tx1"/>
                    </a:solidFill>
                    <a:effectLst/>
                    <a:latin typeface="Segoe WPC"/>
                  </a:rPr>
                  <a:t>payment</a:t>
                </a:r>
                <a:r>
                  <a:rPr lang="es-PE" sz="900" b="0" i="0" dirty="0">
                    <a:solidFill>
                      <a:schemeClr val="tx1"/>
                    </a:solidFill>
                    <a:effectLst/>
                    <a:latin typeface="Segoe WPC"/>
                  </a:rPr>
                  <a:t> </a:t>
                </a:r>
                <a:r>
                  <a:rPr lang="es-PE" sz="900" b="0" i="0" dirty="0" err="1">
                    <a:solidFill>
                      <a:schemeClr val="tx1"/>
                    </a:solidFill>
                    <a:effectLst/>
                    <a:latin typeface="Segoe WPC"/>
                  </a:rPr>
                  <a:t>stability</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borrower</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ARM </a:t>
                </a:r>
                <a:r>
                  <a:rPr lang="es-PE" sz="900" b="0" i="0" dirty="0" err="1">
                    <a:solidFill>
                      <a:schemeClr val="tx1"/>
                    </a:solidFill>
                    <a:effectLst/>
                    <a:latin typeface="Segoe WPC"/>
                  </a:rPr>
                  <a:t>shifts</a:t>
                </a:r>
                <a:r>
                  <a:rPr lang="es-PE" sz="900" b="0" i="0" dirty="0">
                    <a:solidFill>
                      <a:schemeClr val="tx1"/>
                    </a:solidFill>
                    <a:effectLst/>
                    <a:latin typeface="Segoe WPC"/>
                  </a:rPr>
                  <a:t> more </a:t>
                </a:r>
                <a:r>
                  <a:rPr lang="es-PE" sz="900" b="0" i="0" dirty="0" err="1">
                    <a:solidFill>
                      <a:schemeClr val="tx1"/>
                    </a:solidFill>
                    <a:effectLst/>
                    <a:latin typeface="Segoe WPC"/>
                  </a:rPr>
                  <a:t>interest-rate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borrower</a:t>
                </a:r>
                <a:r>
                  <a:rPr lang="es-PE" sz="900" b="0" i="0" dirty="0">
                    <a:solidFill>
                      <a:schemeClr val="tx1"/>
                    </a:solidFill>
                    <a:effectLst/>
                    <a:latin typeface="Segoe WPC"/>
                  </a:rPr>
                  <a:t> and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lender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ARM </a:t>
                </a:r>
                <a:r>
                  <a:rPr lang="es-PE" sz="900" b="0" i="0" dirty="0" err="1">
                    <a:solidFill>
                      <a:schemeClr val="tx1"/>
                    </a:solidFill>
                    <a:effectLst/>
                    <a:latin typeface="Segoe WPC"/>
                  </a:rPr>
                  <a:t>coupon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typically</a:t>
                </a:r>
                <a:r>
                  <a:rPr lang="es-PE" sz="900" b="0" i="0" dirty="0">
                    <a:solidFill>
                      <a:schemeClr val="tx1"/>
                    </a:solidFill>
                    <a:effectLst/>
                    <a:latin typeface="Segoe WPC"/>
                  </a:rPr>
                  <a:t> </a:t>
                </a:r>
                <a:r>
                  <a:rPr lang="es-PE" sz="900" b="0" i="0" dirty="0" err="1">
                    <a:solidFill>
                      <a:schemeClr val="tx1"/>
                    </a:solidFill>
                    <a:effectLst/>
                    <a:latin typeface="Segoe WPC"/>
                  </a:rPr>
                  <a:t>tied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a:t>
                </a:r>
                <a:r>
                  <a:rPr lang="es-PE" sz="900" b="0" i="0" dirty="0" err="1">
                    <a:solidFill>
                      <a:schemeClr val="tx1"/>
                    </a:solidFill>
                    <a:effectLst/>
                    <a:latin typeface="Segoe WPC"/>
                  </a:rPr>
                  <a:t>such</a:t>
                </a:r>
                <a:r>
                  <a:rPr lang="es-PE" sz="900" b="0" i="0" dirty="0">
                    <a:solidFill>
                      <a:schemeClr val="tx1"/>
                    </a:solidFill>
                    <a:effectLst/>
                    <a:latin typeface="Segoe WPC"/>
                  </a:rPr>
                  <a:t> as a </a:t>
                </a:r>
                <a:r>
                  <a:rPr lang="es-PE" sz="900" b="0" i="0" dirty="0" err="1">
                    <a:solidFill>
                      <a:schemeClr val="tx1"/>
                    </a:solidFill>
                    <a:effectLst/>
                    <a:latin typeface="Segoe WPC"/>
                  </a:rPr>
                  <a:t>Treasury</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cost-of-funds</a:t>
                </a:r>
                <a:r>
                  <a:rPr lang="es-PE" sz="900" b="0" i="0" dirty="0">
                    <a:solidFill>
                      <a:schemeClr val="tx1"/>
                    </a:solidFill>
                    <a:effectLst/>
                    <a:latin typeface="Segoe WPC"/>
                  </a:rPr>
                  <a:t> </a:t>
                </a:r>
                <a:r>
                  <a:rPr lang="es-PE" sz="900" b="0" i="0" dirty="0" err="1">
                    <a:solidFill>
                      <a:schemeClr val="tx1"/>
                    </a:solidFill>
                    <a:effectLst/>
                    <a:latin typeface="Segoe WPC"/>
                  </a:rPr>
                  <a:t>index</a:t>
                </a:r>
                <a:r>
                  <a:rPr lang="es-PE" sz="900" b="0" i="0" dirty="0">
                    <a:solidFill>
                      <a:schemeClr val="tx1"/>
                    </a:solidFill>
                    <a:effectLst/>
                    <a:latin typeface="Segoe WPC"/>
                  </a:rPr>
                  <a:t> plus a spread.</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ARMs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start</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lower</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comparable </a:t>
                </a:r>
                <a:r>
                  <a:rPr lang="es-PE" sz="900" b="0" i="0" dirty="0" err="1">
                    <a:solidFill>
                      <a:schemeClr val="tx1"/>
                    </a:solidFill>
                    <a:effectLst/>
                    <a:latin typeface="Segoe WPC"/>
                  </a:rPr>
                  <a:t>fixed-rate</a:t>
                </a:r>
                <a:r>
                  <a:rPr lang="es-PE" sz="900" b="0" i="0" dirty="0">
                    <a:solidFill>
                      <a:schemeClr val="tx1"/>
                    </a:solidFill>
                    <a:effectLst/>
                    <a:latin typeface="Segoe WPC"/>
                  </a:rPr>
                  <a:t> </a:t>
                </a:r>
                <a:r>
                  <a:rPr lang="es-PE" sz="900" b="0" i="0" dirty="0" err="1">
                    <a:solidFill>
                      <a:schemeClr val="tx1"/>
                    </a:solidFill>
                    <a:effectLst/>
                    <a:latin typeface="Segoe WPC"/>
                  </a:rPr>
                  <a:t>mortgages</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borrowers</a:t>
                </a:r>
                <a:r>
                  <a:rPr lang="es-PE" sz="900" b="0" i="0" dirty="0">
                    <a:solidFill>
                      <a:schemeClr val="tx1"/>
                    </a:solidFill>
                    <a:effectLst/>
                    <a:latin typeface="Segoe WPC"/>
                  </a:rPr>
                  <a:t> </a:t>
                </a:r>
                <a:r>
                  <a:rPr lang="es-PE" sz="900" b="0" i="0" dirty="0" err="1">
                    <a:solidFill>
                      <a:schemeClr val="tx1"/>
                    </a:solidFill>
                    <a:effectLst/>
                    <a:latin typeface="Segoe WPC"/>
                  </a:rPr>
                  <a:t>bear</a:t>
                </a:r>
                <a:r>
                  <a:rPr lang="es-PE" sz="900" b="0" i="0" dirty="0">
                    <a:solidFill>
                      <a:schemeClr val="tx1"/>
                    </a:solidFill>
                    <a:effectLst/>
                    <a:latin typeface="Segoe WPC"/>
                  </a:rPr>
                  <a:t> more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In U.S. </a:t>
                </a:r>
                <a:r>
                  <a:rPr lang="es-PE" sz="900" b="0" i="0" dirty="0" err="1">
                    <a:solidFill>
                      <a:schemeClr val="tx1"/>
                    </a:solidFill>
                    <a:effectLst/>
                    <a:latin typeface="Segoe WPC"/>
                  </a:rPr>
                  <a:t>fixed-rate</a:t>
                </a:r>
                <a:r>
                  <a:rPr lang="es-PE" sz="900" b="0" i="0" dirty="0">
                    <a:solidFill>
                      <a:schemeClr val="tx1"/>
                    </a:solidFill>
                    <a:effectLst/>
                    <a:latin typeface="Segoe WPC"/>
                  </a:rPr>
                  <a:t> </a:t>
                </a:r>
                <a:r>
                  <a:rPr lang="es-PE" sz="900" b="0" i="0" dirty="0" err="1">
                    <a:solidFill>
                      <a:schemeClr val="tx1"/>
                    </a:solidFill>
                    <a:effectLst/>
                    <a:latin typeface="Segoe WPC"/>
                  </a:rPr>
                  <a:t>mortgages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borrower</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has a </a:t>
                </a:r>
                <a:r>
                  <a:rPr lang="es-PE" sz="900" b="0" i="0" dirty="0" err="1">
                    <a:solidFill>
                      <a:schemeClr val="tx1"/>
                    </a:solidFill>
                    <a:effectLst/>
                    <a:latin typeface="Segoe WPC"/>
                  </a:rPr>
                  <a:t>valuable</a:t>
                </a:r>
                <a:r>
                  <a:rPr lang="es-PE" sz="900" b="0" i="0" dirty="0">
                    <a:solidFill>
                      <a:schemeClr val="tx1"/>
                    </a:solidFill>
                    <a:effectLst/>
                    <a:latin typeface="Segoe WPC"/>
                  </a:rPr>
                  <a:t> </a:t>
                </a:r>
                <a:r>
                  <a:rPr lang="es-PE" sz="900" b="0" i="0" dirty="0" err="1">
                    <a:solidFill>
                      <a:schemeClr val="tx1"/>
                    </a:solidFill>
                    <a:effectLst/>
                    <a:latin typeface="Segoe WPC"/>
                  </a:rPr>
                  <a:t>prepayment</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little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no </a:t>
                </a:r>
                <a:r>
                  <a:rPr lang="es-PE" sz="900" b="0" i="0" dirty="0" err="1">
                    <a:solidFill>
                      <a:schemeClr val="tx1"/>
                    </a:solidFill>
                    <a:effectLst/>
                    <a:latin typeface="Segoe WPC"/>
                  </a:rPr>
                  <a:t>penalty</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2. </a:t>
                </a:r>
                <a:r>
                  <a:rPr lang="es-PE" sz="900" b="1" i="0" dirty="0" err="1">
                    <a:solidFill>
                      <a:schemeClr val="tx1"/>
                    </a:solidFill>
                    <a:effectLst/>
                    <a:latin typeface="Segoe WPC"/>
                  </a:rPr>
                  <a:t>Fixed-Rate</a:t>
                </a:r>
                <a:r>
                  <a:rPr lang="es-PE" sz="900" b="1" i="0" dirty="0">
                    <a:solidFill>
                      <a:schemeClr val="tx1"/>
                    </a:solidFill>
                    <a:effectLst/>
                    <a:latin typeface="Segoe WPC"/>
                  </a:rPr>
                  <a:t> </a:t>
                </a:r>
                <a:r>
                  <a:rPr lang="es-PE" sz="900" b="1" i="0" dirty="0" err="1">
                    <a:solidFill>
                      <a:schemeClr val="tx1"/>
                    </a:solidFill>
                    <a:effectLst/>
                    <a:latin typeface="Segoe WPC"/>
                  </a:rPr>
                  <a:t>Mortgage</a:t>
                </a:r>
                <a:r>
                  <a:rPr lang="es-PE" sz="900" b="1" i="0" dirty="0">
                    <a:solidFill>
                      <a:schemeClr val="tx1"/>
                    </a:solidFill>
                    <a:effectLst/>
                    <a:latin typeface="Segoe WPC"/>
                  </a:rPr>
                  <a:t> </a:t>
                </a:r>
                <a:r>
                  <a:rPr lang="es-PE" sz="900" b="1" i="0" dirty="0" err="1">
                    <a:solidFill>
                      <a:schemeClr val="tx1"/>
                    </a:solidFill>
                    <a:effectLst/>
                    <a:latin typeface="Segoe WPC"/>
                  </a:rPr>
                  <a:t>Payments</a:t>
                </a:r>
                <a:r>
                  <a:rPr lang="es-PE" sz="900" b="1" i="0" dirty="0">
                    <a:solidFill>
                      <a:schemeClr val="tx1"/>
                    </a:solidFill>
                    <a:effectLst/>
                    <a:latin typeface="Segoe WPC"/>
                  </a:rPr>
                  <a:t> and </a:t>
                </a:r>
                <a:r>
                  <a:rPr lang="es-PE" sz="900" b="1" i="0" dirty="0" err="1">
                    <a:solidFill>
                      <a:schemeClr val="tx1"/>
                    </a:solidFill>
                    <a:effectLst/>
                    <a:latin typeface="Segoe WPC"/>
                  </a:rPr>
                  <a:t>Amortization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fixed-rate</a:t>
                </a:r>
                <a:r>
                  <a:rPr lang="es-PE" sz="900" b="0" i="0" dirty="0">
                    <a:solidFill>
                      <a:schemeClr val="tx1"/>
                    </a:solidFill>
                    <a:effectLst/>
                    <a:latin typeface="Segoe WPC"/>
                  </a:rPr>
                  <a:t> </a:t>
                </a:r>
                <a:r>
                  <a:rPr lang="es-PE" sz="900" b="0" i="0" dirty="0" err="1">
                    <a:solidFill>
                      <a:schemeClr val="tx1"/>
                    </a:solidFill>
                    <a:effectLst/>
                    <a:latin typeface="Segoe WPC"/>
                  </a:rPr>
                  <a:t>mortgage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amortizing</a:t>
                </a:r>
                <a:r>
                  <a:rPr lang="es-PE" sz="900" b="0" i="0" dirty="0">
                    <a:solidFill>
                      <a:schemeClr val="tx1"/>
                    </a:solidFill>
                    <a:effectLst/>
                    <a:latin typeface="Segoe WPC"/>
                  </a:rPr>
                  <a:t> loan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equal</a:t>
                </a:r>
                <a:r>
                  <a:rPr lang="es-PE" sz="900" b="0" i="0" dirty="0">
                    <a:solidFill>
                      <a:schemeClr val="tx1"/>
                    </a:solidFill>
                    <a:effectLst/>
                    <a:latin typeface="Segoe WPC"/>
                  </a:rPr>
                  <a:t> </a:t>
                </a:r>
                <a:r>
                  <a:rPr lang="es-PE" sz="900" b="0" i="0" dirty="0" err="1">
                    <a:solidFill>
                      <a:schemeClr val="tx1"/>
                    </a:solidFill>
                    <a:effectLst/>
                    <a:latin typeface="Segoe WPC"/>
                  </a:rPr>
                  <a:t>monthly</a:t>
                </a:r>
                <a:r>
                  <a:rPr lang="es-PE" sz="900" b="0" i="0" dirty="0">
                    <a:solidFill>
                      <a:schemeClr val="tx1"/>
                    </a:solidFill>
                    <a:effectLst/>
                    <a:latin typeface="Segoe WPC"/>
                  </a:rPr>
                  <a:t> </a:t>
                </a:r>
                <a:r>
                  <a:rPr lang="es-PE" sz="900" b="0" i="0" dirty="0" err="1">
                    <a:solidFill>
                      <a:schemeClr val="tx1"/>
                    </a:solidFill>
                    <a:effectLst/>
                    <a:latin typeface="Segoe WPC"/>
                  </a:rPr>
                  <a:t>payments</a:t>
                </a:r>
                <a:r>
                  <a:rPr lang="es-PE" sz="900" b="0" i="0" dirty="0">
                    <a:solidFill>
                      <a:schemeClr val="tx1"/>
                    </a:solidFill>
                    <a:effectLst/>
                    <a:latin typeface="Segoe WPC"/>
                  </a:rPr>
                  <a:t> </a:t>
                </a:r>
                <a:r>
                  <a:rPr lang="es-PE" sz="900" b="0" i="0" dirty="0" err="1">
                    <a:solidFill>
                      <a:schemeClr val="tx1"/>
                    </a:solidFill>
                    <a:effectLst/>
                    <a:latin typeface="Segoe WPC"/>
                  </a:rPr>
                  <a:t>containing</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and principal.</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Early</a:t>
                </a:r>
                <a:r>
                  <a:rPr lang="es-PE" sz="900" b="0" i="0" dirty="0">
                    <a:solidFill>
                      <a:schemeClr val="tx1"/>
                    </a:solidFill>
                    <a:effectLst/>
                    <a:latin typeface="Segoe WPC"/>
                  </a:rPr>
                  <a:t> </a:t>
                </a:r>
                <a:r>
                  <a:rPr lang="es-PE" sz="900" b="0" i="0" dirty="0" err="1">
                    <a:solidFill>
                      <a:schemeClr val="tx1"/>
                    </a:solidFill>
                    <a:effectLst/>
                    <a:latin typeface="Segoe WPC"/>
                  </a:rPr>
                  <a:t>payments</a:t>
                </a:r>
                <a:r>
                  <a:rPr lang="es-PE" sz="900" b="0" i="0" dirty="0">
                    <a:solidFill>
                      <a:schemeClr val="tx1"/>
                    </a:solidFill>
                    <a:effectLst/>
                    <a:latin typeface="Segoe WPC"/>
                  </a:rPr>
                  <a:t> are </a:t>
                </a:r>
                <a:r>
                  <a:rPr lang="es-PE" sz="900" b="0" i="0" dirty="0" err="1">
                    <a:solidFill>
                      <a:schemeClr val="tx1"/>
                    </a:solidFill>
                    <a:effectLst/>
                    <a:latin typeface="Segoe WPC"/>
                  </a:rPr>
                  <a:t>mostly</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later</a:t>
                </a:r>
                <a:r>
                  <a:rPr lang="es-PE" sz="900" b="0" i="0" dirty="0">
                    <a:solidFill>
                      <a:schemeClr val="tx1"/>
                    </a:solidFill>
                    <a:effectLst/>
                    <a:latin typeface="Segoe WPC"/>
                  </a:rPr>
                  <a:t> </a:t>
                </a:r>
                <a:r>
                  <a:rPr lang="es-PE" sz="900" b="0" i="0" dirty="0" err="1">
                    <a:solidFill>
                      <a:schemeClr val="tx1"/>
                    </a:solidFill>
                    <a:effectLst/>
                    <a:latin typeface="Segoe WPC"/>
                  </a:rPr>
                  <a:t>payments</a:t>
                </a:r>
                <a:r>
                  <a:rPr lang="es-PE" sz="900" b="0" i="0" dirty="0">
                    <a:solidFill>
                      <a:schemeClr val="tx1"/>
                    </a:solidFill>
                    <a:effectLst/>
                    <a:latin typeface="Segoe WPC"/>
                  </a:rPr>
                  <a:t> are </a:t>
                </a:r>
                <a:r>
                  <a:rPr lang="es-PE" sz="900" b="0" i="0" dirty="0" err="1">
                    <a:solidFill>
                      <a:schemeClr val="tx1"/>
                    </a:solidFill>
                    <a:effectLst/>
                    <a:latin typeface="Segoe WPC"/>
                  </a:rPr>
                  <a:t>mostly</a:t>
                </a:r>
                <a:r>
                  <a:rPr lang="es-PE" sz="900" b="0" i="0" dirty="0">
                    <a:solidFill>
                      <a:schemeClr val="tx1"/>
                    </a:solidFill>
                    <a:effectLst/>
                    <a:latin typeface="Segoe WPC"/>
                  </a:rPr>
                  <a:t> principal.</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outstanding</a:t>
                </a:r>
                <a:r>
                  <a:rPr lang="es-PE" sz="900" b="0" i="0" dirty="0">
                    <a:solidFill>
                      <a:schemeClr val="tx1"/>
                    </a:solidFill>
                    <a:effectLst/>
                    <a:latin typeface="Segoe WPC"/>
                  </a:rPr>
                  <a:t> balance </a:t>
                </a:r>
                <a:r>
                  <a:rPr lang="es-PE" sz="900" b="0" i="0" dirty="0" err="1">
                    <a:solidFill>
                      <a:schemeClr val="tx1"/>
                    </a:solidFill>
                    <a:effectLst/>
                    <a:latin typeface="Segoe WPC"/>
                  </a:rPr>
                  <a:t>falls</a:t>
                </a:r>
                <a:r>
                  <a:rPr lang="es-PE" sz="900" b="0" i="0" dirty="0">
                    <a:solidFill>
                      <a:schemeClr val="tx1"/>
                    </a:solidFill>
                    <a:effectLst/>
                    <a:latin typeface="Segoe WPC"/>
                  </a:rPr>
                  <a:t> </a:t>
                </a:r>
                <a:r>
                  <a:rPr lang="es-PE" sz="900" b="0" i="0" dirty="0" err="1">
                    <a:solidFill>
                      <a:schemeClr val="tx1"/>
                    </a:solidFill>
                    <a:effectLst/>
                    <a:latin typeface="Segoe WPC"/>
                  </a:rPr>
                  <a:t>slowly</a:t>
                </a:r>
                <a:r>
                  <a:rPr lang="es-PE" sz="900" b="0" i="0" dirty="0">
                    <a:solidFill>
                      <a:schemeClr val="tx1"/>
                    </a:solidFill>
                    <a:effectLst/>
                    <a:latin typeface="Segoe WPC"/>
                  </a:rPr>
                  <a:t> at </a:t>
                </a:r>
                <a:r>
                  <a:rPr lang="es-PE" sz="900" b="0" i="0" dirty="0" err="1">
                    <a:solidFill>
                      <a:schemeClr val="tx1"/>
                    </a:solidFill>
                    <a:effectLst/>
                    <a:latin typeface="Segoe WPC"/>
                  </a:rPr>
                  <a:t>first</a:t>
                </a:r>
                <a:r>
                  <a:rPr lang="es-PE" sz="900" b="0" i="0" dirty="0">
                    <a:solidFill>
                      <a:schemeClr val="tx1"/>
                    </a:solidFill>
                    <a:effectLst/>
                    <a:latin typeface="Segoe WPC"/>
                  </a:rPr>
                  <a:t> and </a:t>
                </a:r>
                <a:r>
                  <a:rPr lang="es-PE" sz="900" b="0" i="0" dirty="0" err="1">
                    <a:solidFill>
                      <a:schemeClr val="tx1"/>
                    </a:solidFill>
                    <a:effectLst/>
                    <a:latin typeface="Segoe WPC"/>
                  </a:rPr>
                  <a:t>faster</a:t>
                </a:r>
                <a:r>
                  <a:rPr lang="es-PE" sz="900" b="0" i="0" dirty="0">
                    <a:solidFill>
                      <a:schemeClr val="tx1"/>
                    </a:solidFill>
                    <a:effectLst/>
                    <a:latin typeface="Segoe WPC"/>
                  </a:rPr>
                  <a:t> </a:t>
                </a:r>
                <a:r>
                  <a:rPr lang="es-PE" sz="900" b="0" i="0" dirty="0" err="1">
                    <a:solidFill>
                      <a:schemeClr val="tx1"/>
                    </a:solidFill>
                    <a:effectLst/>
                    <a:latin typeface="Segoe WPC"/>
                  </a:rPr>
                  <a:t>near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end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Monthly</a:t>
                </a:r>
                <a:r>
                  <a:rPr lang="es-PE" sz="900" b="0" i="0" dirty="0">
                    <a:solidFill>
                      <a:schemeClr val="tx1"/>
                    </a:solidFill>
                    <a:effectLst/>
                    <a:latin typeface="Segoe WPC"/>
                  </a:rPr>
                  <a:t> </a:t>
                </a:r>
                <a:r>
                  <a:rPr lang="es-PE" sz="900" b="0" i="0" dirty="0" err="1">
                    <a:solidFill>
                      <a:schemeClr val="tx1"/>
                    </a:solidFill>
                    <a:effectLst/>
                    <a:latin typeface="Segoe WPC"/>
                  </a:rPr>
                  <a:t>payment</a:t>
                </a:r>
                <a:r>
                  <a:rPr lang="es-PE" sz="900" b="0" i="0" dirty="0">
                    <a:solidFill>
                      <a:schemeClr val="tx1"/>
                    </a:solidFill>
                    <a:effectLst/>
                    <a:latin typeface="Segoe WPC"/>
                  </a:rPr>
                  <a:t> </a:t>
                </a:r>
                <a:r>
                  <a:rPr lang="es-PE" sz="900" b="0" i="0" dirty="0" err="1">
                    <a:solidFill>
                      <a:schemeClr val="tx1"/>
                    </a:solidFill>
                    <a:effectLst/>
                    <a:latin typeface="Segoe WPC"/>
                  </a:rPr>
                  <a:t>satisfies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𝐴</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𝑋</m:t>
                        </m:r>
                      </m:num>
                      <m:den>
                        <m:r>
                          <a:rPr lang="ar-AE" sz="900" i="1">
                            <a:solidFill>
                              <a:schemeClr val="tx1"/>
                            </a:solidFill>
                            <a:latin typeface="Cambria Math" panose="02040503050406030204" pitchFamily="18" charset="0"/>
                          </a:rPr>
                          <m:t>𝑅</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12</m:t>
                        </m:r>
                      </m:den>
                    </m:f>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d>
                              <m:dPr>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𝑅</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12</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12</m:t>
                                    </m:r>
                                    <m:r>
                                      <a:rPr lang="ar-AE" sz="900" i="1">
                                        <a:solidFill>
                                          <a:schemeClr val="tx1"/>
                                        </a:solidFill>
                                        <a:latin typeface="Cambria Math" panose="02040503050406030204" pitchFamily="18" charset="0"/>
                                      </a:rPr>
                                      <m:t>𝑇</m:t>
                                    </m:r>
                                  </m:sup>
                                </m:sSup>
                              </m:e>
                            </m:d>
                          </m:den>
                        </m:f>
                      </m:e>
                    </m:d>
                  </m:oMath>
                </a14:m>
                <a:r>
                  <a:rPr lang="ar-A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𝐴</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loan </a:t>
                </a:r>
                <a:r>
                  <a:rPr lang="es-PE" sz="900" b="0" i="0" dirty="0" err="1">
                    <a:solidFill>
                      <a:schemeClr val="tx1"/>
                    </a:solidFill>
                    <a:effectLst/>
                    <a:latin typeface="Segoe WPC"/>
                  </a:rPr>
                  <a:t>amount</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𝑋</m:t>
                    </m:r>
                  </m:oMath>
                </a14:m>
                <a:r>
                  <a:rPr lang="es-PE" sz="900" b="0" i="0" dirty="0">
                    <a:solidFill>
                      <a:schemeClr val="tx1"/>
                    </a:solidFill>
                    <a:effectLst/>
                    <a:latin typeface="Segoe WPC"/>
                  </a:rPr>
                  <a:t> </a:t>
                </a:r>
                <a:r>
                  <a:rPr lang="es-PE" sz="900" b="0" i="0" dirty="0" err="1">
                    <a:solidFill>
                      <a:schemeClr val="tx1"/>
                    </a:solidFill>
                    <a:effectLst/>
                    <a:latin typeface="Segoe WPC"/>
                  </a:rPr>
                  <a:t>monthly</a:t>
                </a:r>
                <a:r>
                  <a:rPr lang="es-PE" sz="900" b="0" i="0" dirty="0">
                    <a:solidFill>
                      <a:schemeClr val="tx1"/>
                    </a:solidFill>
                    <a:effectLst/>
                    <a:latin typeface="Segoe WPC"/>
                  </a:rPr>
                  <a:t> </a:t>
                </a:r>
                <a:r>
                  <a:rPr lang="es-PE" sz="900" b="0" i="0" dirty="0" err="1">
                    <a:solidFill>
                      <a:schemeClr val="tx1"/>
                    </a:solidFill>
                    <a:effectLst/>
                    <a:latin typeface="Segoe WPC"/>
                  </a:rPr>
                  <a:t>payment</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𝑅</m:t>
                    </m:r>
                  </m:oMath>
                </a14:m>
                <a:r>
                  <a:rPr lang="es-PE" sz="900" b="0" i="0" dirty="0">
                    <a:solidFill>
                      <a:schemeClr val="tx1"/>
                    </a:solidFill>
                    <a:effectLst/>
                    <a:latin typeface="Segoe WPC"/>
                  </a:rPr>
                  <a:t> </a:t>
                </a:r>
                <a:r>
                  <a:rPr lang="es-PE" sz="900" b="0" i="0" dirty="0" err="1">
                    <a:solidFill>
                      <a:schemeClr val="tx1"/>
                    </a:solidFill>
                    <a:effectLst/>
                    <a:latin typeface="Segoe WPC"/>
                  </a:rPr>
                  <a:t>annual</a:t>
                </a:r>
                <a:r>
                  <a:rPr lang="es-PE" sz="900" b="0" i="0" dirty="0">
                    <a:solidFill>
                      <a:schemeClr val="tx1"/>
                    </a:solidFill>
                    <a:effectLst/>
                    <a:latin typeface="Segoe WPC"/>
                  </a:rPr>
                  <a:t> </a:t>
                </a:r>
                <a:r>
                  <a:rPr lang="es-PE" sz="900" b="0" i="0" dirty="0" err="1">
                    <a:solidFill>
                      <a:schemeClr val="tx1"/>
                    </a:solidFill>
                    <a:effectLst/>
                    <a:latin typeface="Segoe WPC"/>
                  </a:rPr>
                  <a:t>mortgage</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monthly</a:t>
                </a:r>
                <a:r>
                  <a:rPr lang="es-PE" sz="900" b="0" i="0" dirty="0">
                    <a:solidFill>
                      <a:schemeClr val="tx1"/>
                    </a:solidFill>
                    <a:effectLst/>
                    <a:latin typeface="Segoe WPC"/>
                  </a:rPr>
                  <a:t> </a:t>
                </a:r>
                <a:r>
                  <a:rPr lang="es-PE" sz="900" b="0" i="0" dirty="0" err="1">
                    <a:solidFill>
                      <a:schemeClr val="tx1"/>
                    </a:solidFill>
                    <a:effectLst/>
                    <a:latin typeface="Segoe WPC"/>
                  </a:rPr>
                  <a:t>compounding</a:t>
                </a:r>
                <a:r>
                  <a:rPr lang="es-PE" sz="900" b="0" i="0" dirty="0">
                    <a:solidFill>
                      <a:schemeClr val="tx1"/>
                    </a:solidFill>
                    <a:effectLst/>
                    <a:latin typeface="Segoe WPC"/>
                  </a:rPr>
                  <a:t>, and </a:t>
                </a:r>
                <a14:m>
                  <m:oMath xmlns:m="http://schemas.openxmlformats.org/officeDocument/2006/math">
                    <m:r>
                      <a:rPr lang="es-PE" sz="900" i="1">
                        <a:solidFill>
                          <a:schemeClr val="tx1"/>
                        </a:solidFill>
                        <a:latin typeface="Cambria Math" panose="02040503050406030204" pitchFamily="18" charset="0"/>
                      </a:rPr>
                      <m:t>𝑇</m:t>
                    </m:r>
                  </m:oMath>
                </a14:m>
                <a:r>
                  <a:rPr lang="es-PE" sz="900" b="0" i="0" dirty="0">
                    <a:solidFill>
                      <a:schemeClr val="tx1"/>
                    </a:solidFill>
                    <a:effectLst/>
                    <a:latin typeface="Segoe WPC"/>
                  </a:rPr>
                  <a:t> </a:t>
                </a:r>
                <a:r>
                  <a:rPr lang="es-PE" sz="900" b="0" i="0" dirty="0" err="1">
                    <a:solidFill>
                      <a:schemeClr val="tx1"/>
                    </a:solidFill>
                    <a:effectLst/>
                    <a:latin typeface="Segoe WPC"/>
                  </a:rPr>
                  <a:t>years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payment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chosen</a:t>
                </a:r>
                <a:r>
                  <a:rPr lang="es-PE" sz="900" b="0" i="0" dirty="0">
                    <a:solidFill>
                      <a:schemeClr val="tx1"/>
                    </a:solidFill>
                    <a:effectLst/>
                    <a:latin typeface="Segoe WPC"/>
                  </a:rPr>
                  <a:t> so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mortgage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fully</a:t>
                </a:r>
                <a:r>
                  <a:rPr lang="es-PE" sz="900" b="0" i="0" dirty="0">
                    <a:solidFill>
                      <a:schemeClr val="tx1"/>
                    </a:solidFill>
                    <a:effectLst/>
                    <a:latin typeface="Segoe WPC"/>
                  </a:rPr>
                  <a:t> </a:t>
                </a:r>
                <a:r>
                  <a:rPr lang="es-PE" sz="900" b="0" i="0" dirty="0" err="1">
                    <a:solidFill>
                      <a:schemeClr val="tx1"/>
                    </a:solidFill>
                    <a:effectLst/>
                    <a:latin typeface="Segoe WPC"/>
                  </a:rPr>
                  <a:t>amortized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Mortgage-rate</a:t>
                </a:r>
                <a:r>
                  <a:rPr lang="es-PE" sz="900" b="0" i="0" dirty="0">
                    <a:solidFill>
                      <a:schemeClr val="tx1"/>
                    </a:solidFill>
                    <a:effectLst/>
                    <a:latin typeface="Segoe WPC"/>
                  </a:rPr>
                  <a:t> </a:t>
                </a:r>
                <a:r>
                  <a:rPr lang="es-PE" sz="900" b="0" i="0" dirty="0" err="1">
                    <a:solidFill>
                      <a:schemeClr val="tx1"/>
                    </a:solidFill>
                    <a:effectLst/>
                    <a:latin typeface="Segoe WPC"/>
                  </a:rPr>
                  <a:t>quotes</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a:t>
                </a:r>
                <a:r>
                  <a:rPr lang="es-PE" sz="900" b="0" i="0" dirty="0" err="1">
                    <a:solidFill>
                      <a:schemeClr val="tx1"/>
                    </a:solidFill>
                    <a:effectLst/>
                    <a:latin typeface="Segoe WPC"/>
                  </a:rPr>
                  <a:t>require</a:t>
                </a:r>
                <a:r>
                  <a:rPr lang="es-PE" sz="900" b="0" i="0" dirty="0">
                    <a:solidFill>
                      <a:schemeClr val="tx1"/>
                    </a:solidFill>
                    <a:effectLst/>
                    <a:latin typeface="Segoe WPC"/>
                  </a:rPr>
                  <a:t> </a:t>
                </a:r>
                <a:r>
                  <a:rPr lang="es-PE" sz="900" b="0" i="0" dirty="0" err="1">
                    <a:solidFill>
                      <a:schemeClr val="tx1"/>
                    </a:solidFill>
                    <a:effectLst/>
                    <a:latin typeface="Segoe WPC"/>
                  </a:rPr>
                  <a:t>conversion</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monthly</a:t>
                </a:r>
                <a:r>
                  <a:rPr lang="es-PE" sz="900" b="0" i="0" dirty="0">
                    <a:solidFill>
                      <a:schemeClr val="tx1"/>
                    </a:solidFill>
                    <a:effectLst/>
                    <a:latin typeface="Segoe WPC"/>
                  </a:rPr>
                  <a:t> </a:t>
                </a:r>
                <a:r>
                  <a:rPr lang="es-PE" sz="900" b="0" i="0" dirty="0" err="1">
                    <a:solidFill>
                      <a:schemeClr val="tx1"/>
                    </a:solidFill>
                    <a:effectLst/>
                    <a:latin typeface="Segoe WPC"/>
                  </a:rPr>
                  <a:t>compounding</a:t>
                </a:r>
                <a:r>
                  <a:rPr lang="es-PE" sz="900" b="0" i="0" dirty="0">
                    <a:solidFill>
                      <a:schemeClr val="tx1"/>
                    </a:solidFill>
                    <a:effectLst/>
                    <a:latin typeface="Segoe WPC"/>
                  </a:rPr>
                  <a:t> </a:t>
                </a:r>
                <a:r>
                  <a:rPr lang="es-PE" sz="900" b="0" i="0" dirty="0" err="1">
                    <a:solidFill>
                      <a:schemeClr val="tx1"/>
                    </a:solidFill>
                    <a:effectLst/>
                    <a:latin typeface="Segoe WPC"/>
                  </a:rPr>
                  <a:t>before</a:t>
                </a:r>
                <a:r>
                  <a:rPr lang="es-PE" sz="900" b="0" i="0" dirty="0">
                    <a:solidFill>
                      <a:schemeClr val="tx1"/>
                    </a:solidFill>
                    <a:effectLst/>
                    <a:latin typeface="Segoe WPC"/>
                  </a:rPr>
                  <a:t> </a:t>
                </a:r>
                <a:r>
                  <a:rPr lang="es-PE" sz="900" b="0" i="0" dirty="0" err="1">
                    <a:solidFill>
                      <a:schemeClr val="tx1"/>
                    </a:solidFill>
                    <a:effectLst/>
                    <a:latin typeface="Segoe WPC"/>
                  </a:rPr>
                  <a:t>computing</a:t>
                </a:r>
                <a:r>
                  <a:rPr lang="es-PE" sz="900" b="0" i="0" dirty="0">
                    <a:solidFill>
                      <a:schemeClr val="tx1"/>
                    </a:solidFill>
                    <a:effectLst/>
                    <a:latin typeface="Segoe WPC"/>
                  </a:rPr>
                  <a:t> </a:t>
                </a:r>
                <a:r>
                  <a:rPr lang="es-PE" sz="900" b="0" i="0" dirty="0" err="1">
                    <a:solidFill>
                      <a:schemeClr val="tx1"/>
                    </a:solidFill>
                    <a:effectLst/>
                    <a:latin typeface="Segoe WPC"/>
                  </a:rPr>
                  <a:t>payments</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3. Principal and </a:t>
                </a:r>
                <a:r>
                  <a:rPr lang="es-PE" sz="900" b="1" i="0" dirty="0" err="1">
                    <a:solidFill>
                      <a:schemeClr val="tx1"/>
                    </a:solidFill>
                    <a:effectLst/>
                    <a:latin typeface="Segoe WPC"/>
                  </a:rPr>
                  <a:t>Interest</a:t>
                </a:r>
                <a:r>
                  <a:rPr lang="es-PE" sz="900" b="1" i="0" dirty="0">
                    <a:solidFill>
                      <a:schemeClr val="tx1"/>
                    </a:solidFill>
                    <a:effectLst/>
                    <a:latin typeface="Segoe WPC"/>
                  </a:rPr>
                  <a:t> </a:t>
                </a:r>
                <a:r>
                  <a:rPr lang="es-PE" sz="900" b="1" i="0" dirty="0" err="1">
                    <a:solidFill>
                      <a:schemeClr val="tx1"/>
                    </a:solidFill>
                    <a:effectLst/>
                    <a:latin typeface="Segoe WPC"/>
                  </a:rPr>
                  <a:t>Components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monthly</a:t>
                </a:r>
                <a:r>
                  <a:rPr lang="es-PE" sz="900" b="0" i="0" dirty="0">
                    <a:solidFill>
                      <a:schemeClr val="tx1"/>
                    </a:solidFill>
                    <a:effectLst/>
                    <a:latin typeface="Segoe WPC"/>
                  </a:rPr>
                  <a:t> </a:t>
                </a:r>
                <a:r>
                  <a:rPr lang="es-PE" sz="900" b="0" i="0" dirty="0" err="1">
                    <a:solidFill>
                      <a:schemeClr val="tx1"/>
                    </a:solidFill>
                    <a:effectLst/>
                    <a:latin typeface="Segoe WPC"/>
                  </a:rPr>
                  <a:t>payment</a:t>
                </a:r>
                <a:r>
                  <a:rPr lang="es-PE" sz="900" b="0" i="0" dirty="0">
                    <a:solidFill>
                      <a:schemeClr val="tx1"/>
                    </a:solidFill>
                    <a:effectLst/>
                    <a:latin typeface="Segoe WPC"/>
                  </a:rPr>
                  <a:t> can be </a:t>
                </a:r>
                <a:r>
                  <a:rPr lang="es-PE" sz="900" b="0" i="0" dirty="0" err="1">
                    <a:solidFill>
                      <a:schemeClr val="tx1"/>
                    </a:solidFill>
                    <a:effectLst/>
                    <a:latin typeface="Segoe WPC"/>
                  </a:rPr>
                  <a:t>split</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and </a:t>
                </a:r>
                <a:r>
                  <a:rPr lang="es-PE" sz="900" b="0" i="0" dirty="0" err="1">
                    <a:solidFill>
                      <a:schemeClr val="tx1"/>
                    </a:solidFill>
                    <a:effectLst/>
                    <a:latin typeface="Segoe WPC"/>
                  </a:rPr>
                  <a:t>scheduled</a:t>
                </a:r>
                <a:r>
                  <a:rPr lang="es-PE" sz="900" b="0" i="0" dirty="0">
                    <a:solidFill>
                      <a:schemeClr val="tx1"/>
                    </a:solidFill>
                    <a:effectLst/>
                    <a:latin typeface="Segoe WPC"/>
                  </a:rPr>
                  <a:t> principal </a:t>
                </a:r>
                <a:r>
                  <a:rPr lang="es-PE" sz="900" b="0" i="0" dirty="0" err="1">
                    <a:solidFill>
                      <a:schemeClr val="tx1"/>
                    </a:solidFill>
                    <a:effectLst/>
                    <a:latin typeface="Segoe WPC"/>
                  </a:rPr>
                  <a:t>repayment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each</a:t>
                </a:r>
                <a:r>
                  <a:rPr lang="es-PE" sz="900" b="0" i="0" dirty="0">
                    <a:solidFill>
                      <a:schemeClr val="tx1"/>
                    </a:solidFill>
                    <a:effectLst/>
                    <a:latin typeface="Segoe WPC"/>
                  </a:rPr>
                  <a:t> </a:t>
                </a:r>
                <a:r>
                  <a:rPr lang="es-PE" sz="900" b="0" i="0" dirty="0" err="1">
                    <a:solidFill>
                      <a:schemeClr val="tx1"/>
                    </a:solidFill>
                    <a:effectLst/>
                    <a:latin typeface="Segoe WPC"/>
                  </a:rPr>
                  <a:t>month</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computed</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outstanding</a:t>
                </a:r>
                <a:r>
                  <a:rPr lang="es-PE" sz="900" b="0" i="0" dirty="0">
                    <a:solidFill>
                      <a:schemeClr val="tx1"/>
                    </a:solidFill>
                    <a:effectLst/>
                    <a:latin typeface="Segoe WPC"/>
                  </a:rPr>
                  <a:t> balance;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rest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payment</a:t>
                </a:r>
                <a:r>
                  <a:rPr lang="es-PE" sz="900" b="0" i="0" dirty="0">
                    <a:solidFill>
                      <a:schemeClr val="tx1"/>
                    </a:solidFill>
                    <a:effectLst/>
                    <a:latin typeface="Segoe WPC"/>
                  </a:rPr>
                  <a:t> reduces principal.</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As balance declines,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falls</a:t>
                </a:r>
                <a:r>
                  <a:rPr lang="es-PE" sz="900" b="0" i="0" dirty="0">
                    <a:solidFill>
                      <a:schemeClr val="tx1"/>
                    </a:solidFill>
                    <a:effectLst/>
                    <a:latin typeface="Segoe WPC"/>
                  </a:rPr>
                  <a:t> and principal </a:t>
                </a:r>
                <a:r>
                  <a:rPr lang="es-PE" sz="900" b="0" i="0" dirty="0" err="1">
                    <a:solidFill>
                      <a:schemeClr val="tx1"/>
                    </a:solidFill>
                    <a:effectLst/>
                    <a:latin typeface="Segoe WPC"/>
                  </a:rPr>
                  <a:t>repayment</a:t>
                </a:r>
                <a:r>
                  <a:rPr lang="es-PE" sz="900" b="0" i="0" dirty="0">
                    <a:solidFill>
                      <a:schemeClr val="tx1"/>
                    </a:solidFill>
                    <a:effectLst/>
                    <a:latin typeface="Segoe WPC"/>
                  </a:rPr>
                  <a:t> </a:t>
                </a:r>
                <a:r>
                  <a:rPr lang="es-PE" sz="900" b="0" i="0" dirty="0" err="1">
                    <a:solidFill>
                      <a:schemeClr val="tx1"/>
                    </a:solidFill>
                    <a:effectLst/>
                    <a:latin typeface="Segoe WPC"/>
                  </a:rPr>
                  <a:t>rises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Monthly</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𝑅</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12</m:t>
                        </m:r>
                      </m:e>
                    </m:d>
                    <m:r>
                      <a:rPr lang="ar-AE" sz="90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outstanding</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balance</m:t>
                    </m:r>
                  </m:oMath>
                </a14:m>
                <a:r>
                  <a:rPr lang="es-PE" sz="900" b="0" i="0" dirty="0">
                    <a:solidFill>
                      <a:schemeClr val="tx1"/>
                    </a:solidFill>
                    <a:effectLst/>
                    <a:latin typeface="Segoe WPC"/>
                  </a:rPr>
                  <a:t>, </a:t>
                </a:r>
                <a:r>
                  <a:rPr lang="es-PE" sz="900" b="0" i="0" dirty="0" err="1">
                    <a:solidFill>
                      <a:schemeClr val="tx1"/>
                    </a:solidFill>
                    <a:effectLst/>
                    <a:latin typeface="Segoe WPC"/>
                  </a:rPr>
                  <a:t>monthly</a:t>
                </a:r>
                <a:r>
                  <a:rPr lang="es-PE" sz="900" b="0" i="0" dirty="0">
                    <a:solidFill>
                      <a:schemeClr val="tx1"/>
                    </a:solidFill>
                    <a:effectLst/>
                    <a:latin typeface="Segoe WPC"/>
                  </a:rPr>
                  <a:t> principal </a:t>
                </a:r>
                <a14:m>
                  <m:oMath xmlns:m="http://schemas.openxmlformats.org/officeDocument/2006/math">
                    <m:r>
                      <a:rPr lang="es-PE" sz="90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𝑋</m:t>
                    </m:r>
                    <m:r>
                      <a:rPr lang="es-PE" sz="90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interest</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amortization</a:t>
                </a:r>
                <a:r>
                  <a:rPr lang="es-PE" sz="900" b="0" i="0" dirty="0">
                    <a:solidFill>
                      <a:schemeClr val="tx1"/>
                    </a:solidFill>
                    <a:effectLst/>
                    <a:latin typeface="Segoe WPC"/>
                  </a:rPr>
                  <a:t> table </a:t>
                </a:r>
                <a:r>
                  <a:rPr lang="es-PE" sz="900" b="0" i="0" dirty="0" err="1">
                    <a:solidFill>
                      <a:schemeClr val="tx1"/>
                    </a:solidFill>
                    <a:effectLst/>
                    <a:latin typeface="Segoe WPC"/>
                  </a:rPr>
                  <a:t>tracks</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balance declines </a:t>
                </a:r>
                <a:r>
                  <a:rPr lang="es-PE" sz="900" b="0" i="0" dirty="0" err="1">
                    <a:solidFill>
                      <a:schemeClr val="tx1"/>
                    </a:solidFill>
                    <a:effectLst/>
                    <a:latin typeface="Segoe WPC"/>
                  </a:rPr>
                  <a:t>over</a:t>
                </a:r>
                <a:r>
                  <a:rPr lang="es-PE" sz="900" b="0" i="0" dirty="0">
                    <a:solidFill>
                      <a:schemeClr val="tx1"/>
                    </a:solidFill>
                    <a:effectLst/>
                    <a:latin typeface="Segoe WPC"/>
                  </a:rPr>
                  <a:t> time.</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t>
                </a:r>
                <a:r>
                  <a:rPr lang="es-PE" sz="900" b="0" i="0" dirty="0" err="1">
                    <a:solidFill>
                      <a:schemeClr val="tx1"/>
                    </a:solidFill>
                    <a:effectLst/>
                    <a:latin typeface="Segoe WPC"/>
                  </a:rPr>
                  <a:t>calculations</a:t>
                </a:r>
                <a:r>
                  <a:rPr lang="es-PE" sz="900" b="0" i="0" dirty="0">
                    <a:solidFill>
                      <a:schemeClr val="tx1"/>
                    </a:solidFill>
                    <a:effectLst/>
                    <a:latin typeface="Segoe WPC"/>
                  </a:rPr>
                  <a:t> describe contractual </a:t>
                </a:r>
                <a:r>
                  <a:rPr lang="es-PE" sz="900" b="0" i="0" dirty="0" err="1">
                    <a:solidFill>
                      <a:schemeClr val="tx1"/>
                    </a:solidFill>
                    <a:effectLst/>
                    <a:latin typeface="Segoe WPC"/>
                  </a:rPr>
                  <a:t>amortization</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actual </a:t>
                </a:r>
                <a:r>
                  <a:rPr lang="es-PE" sz="900" b="0" i="0" dirty="0" err="1">
                    <a:solidFill>
                      <a:schemeClr val="tx1"/>
                    </a:solidFill>
                    <a:effectLst/>
                    <a:latin typeface="Segoe WPC"/>
                  </a:rPr>
                  <a:t>mortgage</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also</a:t>
                </a:r>
                <a:r>
                  <a:rPr lang="es-PE" sz="900" b="0" i="0" dirty="0">
                    <a:solidFill>
                      <a:schemeClr val="tx1"/>
                    </a:solidFill>
                    <a:effectLst/>
                    <a:latin typeface="Segoe WPC"/>
                  </a:rPr>
                  <a:t> </a:t>
                </a:r>
                <a:r>
                  <a:rPr lang="es-PE" sz="900" b="0" i="0" dirty="0" err="1">
                    <a:solidFill>
                      <a:schemeClr val="tx1"/>
                    </a:solidFill>
                    <a:effectLst/>
                    <a:latin typeface="Segoe WPC"/>
                  </a:rPr>
                  <a:t>depends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discount</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and </a:t>
                </a:r>
                <a:r>
                  <a:rPr lang="es-PE" sz="900" b="0" i="0" dirty="0" err="1">
                    <a:solidFill>
                      <a:schemeClr val="tx1"/>
                    </a:solidFill>
                    <a:effectLst/>
                    <a:latin typeface="Segoe WPC"/>
                  </a:rPr>
                  <a:t>prepayments</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4. </a:t>
                </a:r>
                <a:r>
                  <a:rPr lang="es-PE" sz="900" b="1" i="0" dirty="0" err="1">
                    <a:solidFill>
                      <a:schemeClr val="tx1"/>
                    </a:solidFill>
                    <a:effectLst/>
                    <a:latin typeface="Segoe WPC"/>
                  </a:rPr>
                  <a:t>Mortgage</a:t>
                </a:r>
                <a:r>
                  <a:rPr lang="es-PE" sz="900" b="1" i="0" dirty="0">
                    <a:solidFill>
                      <a:schemeClr val="tx1"/>
                    </a:solidFill>
                    <a:effectLst/>
                    <a:latin typeface="Segoe WPC"/>
                  </a:rPr>
                  <a:t> Pools and </a:t>
                </a:r>
                <a:r>
                  <a:rPr lang="es-PE" sz="900" b="1" i="0" dirty="0" err="1">
                    <a:solidFill>
                      <a:schemeClr val="tx1"/>
                    </a:solidFill>
                    <a:effectLst/>
                    <a:latin typeface="Segoe WPC"/>
                  </a:rPr>
                  <a:t>Securitization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Mortgage-backed</a:t>
                </a:r>
                <a:r>
                  <a:rPr lang="es-PE" sz="900" b="0" i="0" dirty="0">
                    <a:solidFill>
                      <a:schemeClr val="tx1"/>
                    </a:solidFill>
                    <a:effectLst/>
                    <a:latin typeface="Segoe WPC"/>
                  </a:rPr>
                  <a:t> </a:t>
                </a:r>
                <a:r>
                  <a:rPr lang="es-PE" sz="900" b="0" i="0" dirty="0" err="1">
                    <a:solidFill>
                      <a:schemeClr val="tx1"/>
                    </a:solidFill>
                    <a:effectLst/>
                    <a:latin typeface="Segoe WPC"/>
                  </a:rPr>
                  <a:t>securities</a:t>
                </a:r>
                <a:r>
                  <a:rPr lang="es-PE" sz="900" b="0" i="0" dirty="0">
                    <a:solidFill>
                      <a:schemeClr val="tx1"/>
                    </a:solidFill>
                    <a:effectLst/>
                    <a:latin typeface="Segoe WPC"/>
                  </a:rPr>
                  <a:t> are </a:t>
                </a:r>
                <a:r>
                  <a:rPr lang="es-PE" sz="900" b="0" i="0" dirty="0" err="1">
                    <a:solidFill>
                      <a:schemeClr val="tx1"/>
                    </a:solidFill>
                    <a:effectLst/>
                    <a:latin typeface="Segoe WPC"/>
                  </a:rPr>
                  <a:t>created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pooling</a:t>
                </a:r>
                <a:r>
                  <a:rPr lang="es-PE" sz="900" b="0" i="0" dirty="0">
                    <a:solidFill>
                      <a:schemeClr val="tx1"/>
                    </a:solidFill>
                    <a:effectLst/>
                    <a:latin typeface="Segoe WPC"/>
                  </a:rPr>
                  <a:t> </a:t>
                </a:r>
                <a:r>
                  <a:rPr lang="es-PE" sz="900" b="0" i="0" dirty="0" err="1">
                    <a:solidFill>
                      <a:schemeClr val="tx1"/>
                    </a:solidFill>
                    <a:effectLst/>
                    <a:latin typeface="Segoe WPC"/>
                  </a:rPr>
                  <a:t>mortgages</a:t>
                </a:r>
                <a:r>
                  <a:rPr lang="es-PE" sz="900" b="0" i="0" dirty="0">
                    <a:solidFill>
                      <a:schemeClr val="tx1"/>
                    </a:solidFill>
                    <a:effectLst/>
                    <a:latin typeface="Segoe WPC"/>
                  </a:rPr>
                  <a:t> and passing </a:t>
                </a:r>
                <a:r>
                  <a:rPr lang="es-PE" sz="900" b="0" i="0" dirty="0" err="1">
                    <a:solidFill>
                      <a:schemeClr val="tx1"/>
                    </a:solidFill>
                    <a:effectLst/>
                    <a:latin typeface="Segoe WPC"/>
                  </a:rPr>
                  <a:t>the</a:t>
                </a:r>
                <a:r>
                  <a:rPr lang="es-PE" sz="900" b="0" i="0" dirty="0">
                    <a:solidFill>
                      <a:schemeClr val="tx1"/>
                    </a:solidFill>
                    <a:effectLst/>
                    <a:latin typeface="Segoe WPC"/>
                  </a:rPr>
                  <a:t> cash </a:t>
                </a:r>
                <a:r>
                  <a:rPr lang="es-PE" sz="900" b="0" i="0" dirty="0" err="1">
                    <a:solidFill>
                      <a:schemeClr val="tx1"/>
                    </a:solidFill>
                    <a:effectLst/>
                    <a:latin typeface="Segoe WPC"/>
                  </a:rPr>
                  <a:t>flows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Banks </a:t>
                </a:r>
                <a:r>
                  <a:rPr lang="es-PE" sz="900" b="0" i="0" dirty="0" err="1">
                    <a:solidFill>
                      <a:schemeClr val="tx1"/>
                    </a:solidFill>
                    <a:effectLst/>
                    <a:latin typeface="Segoe WPC"/>
                  </a:rPr>
                  <a:t>originate</a:t>
                </a:r>
                <a:r>
                  <a:rPr lang="es-PE" sz="900" b="0" i="0" dirty="0">
                    <a:solidFill>
                      <a:schemeClr val="tx1"/>
                    </a:solidFill>
                    <a:effectLst/>
                    <a:latin typeface="Segoe WPC"/>
                  </a:rPr>
                  <a:t> </a:t>
                </a:r>
                <a:r>
                  <a:rPr lang="es-PE" sz="900" b="0" i="0" dirty="0" err="1">
                    <a:solidFill>
                      <a:schemeClr val="tx1"/>
                    </a:solidFill>
                    <a:effectLst/>
                    <a:latin typeface="Segoe WPC"/>
                  </a:rPr>
                  <a:t>mortgages</a:t>
                </a:r>
                <a:r>
                  <a:rPr lang="es-PE" sz="900" b="0" i="0" dirty="0">
                    <a:solidFill>
                      <a:schemeClr val="tx1"/>
                    </a:solidFill>
                    <a:effectLst/>
                    <a:latin typeface="Segoe WPC"/>
                  </a:rPr>
                  <a:t>, </a:t>
                </a:r>
                <a:r>
                  <a:rPr lang="es-PE" sz="900" b="0" i="0" dirty="0" err="1">
                    <a:solidFill>
                      <a:schemeClr val="tx1"/>
                    </a:solidFill>
                    <a:effectLst/>
                    <a:latin typeface="Segoe WPC"/>
                  </a:rPr>
                  <a:t>sell</a:t>
                </a:r>
                <a:r>
                  <a:rPr lang="es-PE" sz="900" b="0" i="0" dirty="0">
                    <a:solidFill>
                      <a:schemeClr val="tx1"/>
                    </a:solidFill>
                    <a:effectLst/>
                    <a:latin typeface="Segoe WPC"/>
                  </a:rPr>
                  <a:t> </a:t>
                </a:r>
                <a:r>
                  <a:rPr lang="es-PE" sz="900" b="0" i="0" dirty="0" err="1">
                    <a:solidFill>
                      <a:schemeClr val="tx1"/>
                    </a:solidFill>
                    <a:effectLst/>
                    <a:latin typeface="Segoe WPC"/>
                  </a:rPr>
                  <a:t>them</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pools, and </a:t>
                </a:r>
                <a:r>
                  <a:rPr lang="es-PE" sz="900" b="0" i="0" dirty="0" err="1">
                    <a:solidFill>
                      <a:schemeClr val="tx1"/>
                    </a:solidFill>
                    <a:effectLst/>
                    <a:latin typeface="Segoe WPC"/>
                  </a:rPr>
                  <a:t>securities</a:t>
                </a:r>
                <a:r>
                  <a:rPr lang="es-PE" sz="900" b="0" i="0" dirty="0">
                    <a:solidFill>
                      <a:schemeClr val="tx1"/>
                    </a:solidFill>
                    <a:effectLst/>
                    <a:latin typeface="Segoe WPC"/>
                  </a:rPr>
                  <a:t> are </a:t>
                </a:r>
                <a:r>
                  <a:rPr lang="es-PE" sz="900" b="0" i="0" dirty="0" err="1">
                    <a:solidFill>
                      <a:schemeClr val="tx1"/>
                    </a:solidFill>
                    <a:effectLst/>
                    <a:latin typeface="Segoe WPC"/>
                  </a:rPr>
                  <a:t>created</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those</a:t>
                </a:r>
                <a:r>
                  <a:rPr lang="es-PE" sz="900" b="0" i="0" dirty="0">
                    <a:solidFill>
                      <a:schemeClr val="tx1"/>
                    </a:solidFill>
                    <a:effectLst/>
                    <a:latin typeface="Segoe WPC"/>
                  </a:rPr>
                  <a:t> pools so </a:t>
                </a:r>
                <a:r>
                  <a:rPr lang="es-PE" sz="900" b="0" i="0" dirty="0" err="1">
                    <a:solidFill>
                      <a:schemeClr val="tx1"/>
                    </a:solidFill>
                    <a:effectLst/>
                    <a:latin typeface="Segoe WPC"/>
                  </a:rPr>
                  <a:t>banks</a:t>
                </a:r>
                <a:r>
                  <a:rPr lang="es-PE" sz="900" b="0" i="0" dirty="0">
                    <a:solidFill>
                      <a:schemeClr val="tx1"/>
                    </a:solidFill>
                    <a:effectLst/>
                    <a:latin typeface="Segoe WPC"/>
                  </a:rPr>
                  <a:t> can </a:t>
                </a:r>
                <a:r>
                  <a:rPr lang="es-PE" sz="900" b="0" i="0" dirty="0" err="1">
                    <a:solidFill>
                      <a:schemeClr val="tx1"/>
                    </a:solidFill>
                    <a:effectLst/>
                    <a:latin typeface="Segoe WPC"/>
                  </a:rPr>
                  <a:t>recycle</a:t>
                </a:r>
                <a:r>
                  <a:rPr lang="es-PE" sz="900" b="0" i="0" dirty="0">
                    <a:solidFill>
                      <a:schemeClr val="tx1"/>
                    </a:solidFill>
                    <a:effectLst/>
                    <a:latin typeface="Segoe WPC"/>
                  </a:rPr>
                  <a:t> capital </a:t>
                </a:r>
                <a:r>
                  <a:rPr lang="es-PE" sz="900" b="0" i="0" dirty="0" err="1">
                    <a:solidFill>
                      <a:schemeClr val="tx1"/>
                    </a:solidFill>
                    <a:effectLst/>
                    <a:latin typeface="Segoe WPC"/>
                  </a:rPr>
                  <a:t>into</a:t>
                </a:r>
                <a:r>
                  <a:rPr lang="es-PE" sz="900" b="0" i="0" dirty="0">
                    <a:solidFill>
                      <a:schemeClr val="tx1"/>
                    </a:solidFill>
                    <a:effectLst/>
                    <a:latin typeface="Segoe WPC"/>
                  </a:rPr>
                  <a:t> new </a:t>
                </a:r>
                <a:r>
                  <a:rPr lang="es-PE" sz="900" b="0" i="0" dirty="0" err="1">
                    <a:solidFill>
                      <a:schemeClr val="tx1"/>
                    </a:solidFill>
                    <a:effectLst/>
                    <a:latin typeface="Segoe WPC"/>
                  </a:rPr>
                  <a:t>lending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individual </a:t>
                </a:r>
                <a:r>
                  <a:rPr lang="es-PE" sz="900" b="0" i="0" dirty="0" err="1">
                    <a:solidFill>
                      <a:schemeClr val="tx1"/>
                    </a:solidFill>
                    <a:effectLst/>
                    <a:latin typeface="Segoe WPC"/>
                  </a:rPr>
                  <a:t>mortgages</a:t>
                </a:r>
                <a:r>
                  <a:rPr lang="es-PE" sz="900" b="0" i="0" dirty="0">
                    <a:solidFill>
                      <a:schemeClr val="tx1"/>
                    </a:solidFill>
                    <a:effectLst/>
                    <a:latin typeface="Segoe WPC"/>
                  </a:rPr>
                  <a:t> are </a:t>
                </a:r>
                <a:r>
                  <a:rPr lang="es-PE" sz="900" b="0" i="0" dirty="0" err="1">
                    <a:solidFill>
                      <a:schemeClr val="tx1"/>
                    </a:solidFill>
                    <a:effectLst/>
                    <a:latin typeface="Segoe WPC"/>
                  </a:rPr>
                  <a:t>bundled</a:t>
                </a:r>
                <a:r>
                  <a:rPr lang="es-PE" sz="900" b="0" i="0" dirty="0">
                    <a:solidFill>
                      <a:schemeClr val="tx1"/>
                    </a:solidFill>
                    <a:effectLst/>
                    <a:latin typeface="Segoe WPC"/>
                  </a:rPr>
                  <a:t> </a:t>
                </a:r>
                <a:r>
                  <a:rPr lang="es-PE" sz="900" b="0" i="0" dirty="0" err="1">
                    <a:solidFill>
                      <a:schemeClr val="tx1"/>
                    </a:solidFill>
                    <a:effectLst/>
                    <a:latin typeface="Segoe WPC"/>
                  </a:rPr>
                  <a:t>into</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investment</a:t>
                </a:r>
                <a:r>
                  <a:rPr lang="es-PE" sz="900" b="0" i="0" dirty="0">
                    <a:solidFill>
                      <a:schemeClr val="tx1"/>
                    </a:solidFill>
                    <a:effectLst/>
                    <a:latin typeface="Segoe WPC"/>
                  </a:rPr>
                  <a:t> </a:t>
                </a:r>
                <a:r>
                  <a:rPr lang="es-PE" sz="900" b="0" i="0" dirty="0" err="1">
                    <a:solidFill>
                      <a:schemeClr val="tx1"/>
                    </a:solidFill>
                    <a:effectLst/>
                    <a:latin typeface="Segoe WPC"/>
                  </a:rPr>
                  <a:t>vehicle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Pool </a:t>
                </a:r>
                <a:r>
                  <a:rPr lang="es-PE" sz="900" b="0" i="0" dirty="0" err="1">
                    <a:solidFill>
                      <a:schemeClr val="tx1"/>
                    </a:solidFill>
                    <a:effectLst/>
                    <a:latin typeface="Segoe WPC"/>
                  </a:rPr>
                  <a:t>weights</a:t>
                </a:r>
                <a:r>
                  <a:rPr lang="es-PE" sz="900" b="0" i="0" dirty="0">
                    <a:solidFill>
                      <a:schemeClr val="tx1"/>
                    </a:solidFill>
                    <a:effectLst/>
                    <a:latin typeface="Segoe WPC"/>
                  </a:rPr>
                  <a:t> are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𝑤</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1">
                                <a:solidFill>
                                  <a:schemeClr val="tx1"/>
                                </a:solidFill>
                                <a:latin typeface="Cambria Math" panose="02040503050406030204" pitchFamily="18" charset="0"/>
                              </a:rPr>
                              <m:t>𝑖</m:t>
                            </m:r>
                          </m:sub>
                        </m:sSub>
                      </m:num>
                      <m:den>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𝑗</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𝑛</m:t>
                            </m:r>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1">
                                    <a:solidFill>
                                      <a:schemeClr val="tx1"/>
                                    </a:solidFill>
                                    <a:latin typeface="Cambria Math" panose="02040503050406030204" pitchFamily="18" charset="0"/>
                                  </a:rPr>
                                  <m:t>𝑗</m:t>
                                </m:r>
                              </m:sub>
                            </m:sSub>
                          </m:e>
                        </m:nary>
                      </m:den>
                    </m:f>
                  </m:oMath>
                </a14:m>
                <a:r>
                  <a:rPr lang="ar-AE" sz="900" b="0" i="0" dirty="0">
                    <a:solidFill>
                      <a:schemeClr val="tx1"/>
                    </a:solidFill>
                    <a:effectLst/>
                    <a:latin typeface="Segoe WPC"/>
                  </a:rPr>
                  <a:t>, </a:t>
                </a:r>
                <a:r>
                  <a:rPr lang="es-PE" sz="900" b="0" i="0" dirty="0" err="1">
                    <a:solidFill>
                      <a:schemeClr val="tx1"/>
                    </a:solidFill>
                    <a:effectLst/>
                    <a:latin typeface="Segoe WPC"/>
                  </a:rPr>
                  <a:t>where</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outstanding</a:t>
                </a:r>
                <a:r>
                  <a:rPr lang="es-PE" sz="900" b="0" i="0" dirty="0">
                    <a:solidFill>
                      <a:schemeClr val="tx1"/>
                    </a:solidFill>
                    <a:effectLst/>
                    <a:latin typeface="Segoe WPC"/>
                  </a:rPr>
                  <a:t> principal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mortgage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𝑖</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Securitization</a:t>
                </a:r>
                <a:r>
                  <a:rPr lang="es-PE" sz="900" b="0" i="0" dirty="0">
                    <a:solidFill>
                      <a:schemeClr val="tx1"/>
                    </a:solidFill>
                    <a:effectLst/>
                    <a:latin typeface="Segoe WPC"/>
                  </a:rPr>
                  <a:t> </a:t>
                </a:r>
                <a:r>
                  <a:rPr lang="es-PE" sz="900" b="0" i="0" dirty="0" err="1">
                    <a:solidFill>
                      <a:schemeClr val="tx1"/>
                    </a:solidFill>
                    <a:effectLst/>
                    <a:latin typeface="Segoe WPC"/>
                  </a:rPr>
                  <a:t>transfers</a:t>
                </a:r>
                <a:r>
                  <a:rPr lang="es-PE" sz="900" b="0" i="0" dirty="0">
                    <a:solidFill>
                      <a:schemeClr val="tx1"/>
                    </a:solidFill>
                    <a:effectLst/>
                    <a:latin typeface="Segoe WPC"/>
                  </a:rPr>
                  <a:t> </a:t>
                </a:r>
                <a:r>
                  <a:rPr lang="es-PE" sz="900" b="0" i="0" dirty="0" err="1">
                    <a:solidFill>
                      <a:schemeClr val="tx1"/>
                    </a:solidFill>
                    <a:effectLst/>
                    <a:latin typeface="Segoe WPC"/>
                  </a:rPr>
                  <a:t>mortgage</a:t>
                </a:r>
                <a:r>
                  <a:rPr lang="es-PE" sz="900" b="0" i="0" dirty="0">
                    <a:solidFill>
                      <a:schemeClr val="tx1"/>
                    </a:solidFill>
                    <a:effectLst/>
                    <a:latin typeface="Segoe WPC"/>
                  </a:rPr>
                  <a:t> cash-flow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lenders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capital-</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investors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Agency MBS </a:t>
                </a:r>
                <a:r>
                  <a:rPr lang="es-PE" sz="900" b="0" i="0" dirty="0" err="1">
                    <a:solidFill>
                      <a:schemeClr val="tx1"/>
                    </a:solidFill>
                    <a:effectLst/>
                    <a:latin typeface="Segoe WPC"/>
                  </a:rPr>
                  <a:t>investors</a:t>
                </a:r>
                <a:r>
                  <a:rPr lang="es-PE" sz="900" b="0" i="0" dirty="0">
                    <a:solidFill>
                      <a:schemeClr val="tx1"/>
                    </a:solidFill>
                    <a:effectLst/>
                    <a:latin typeface="Segoe WPC"/>
                  </a:rPr>
                  <a:t> are </a:t>
                </a:r>
                <a:r>
                  <a:rPr lang="es-PE" sz="900" b="0" i="0" dirty="0" err="1">
                    <a:solidFill>
                      <a:schemeClr val="tx1"/>
                    </a:solidFill>
                    <a:effectLst/>
                    <a:latin typeface="Segoe WPC"/>
                  </a:rPr>
                  <a:t>protected</a:t>
                </a:r>
                <a:r>
                  <a:rPr lang="es-PE" sz="900" b="0" i="0" dirty="0">
                    <a:solidFill>
                      <a:schemeClr val="tx1"/>
                    </a:solidFill>
                    <a:effectLst/>
                    <a:latin typeface="Segoe WPC"/>
                  </a:rPr>
                  <a:t> </a:t>
                </a:r>
                <a:r>
                  <a:rPr lang="es-PE" sz="900" b="0" i="0" dirty="0" err="1">
                    <a:solidFill>
                      <a:schemeClr val="tx1"/>
                    </a:solidFill>
                    <a:effectLst/>
                    <a:latin typeface="Segoe WPC"/>
                  </a:rPr>
                  <a:t>against</a:t>
                </a:r>
                <a:r>
                  <a:rPr lang="es-PE" sz="900" b="0" i="0" dirty="0">
                    <a:solidFill>
                      <a:schemeClr val="tx1"/>
                    </a:solidFill>
                    <a:effectLst/>
                    <a:latin typeface="Segoe WPC"/>
                  </a:rPr>
                  <a:t> default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agency</a:t>
                </a:r>
                <a:r>
                  <a:rPr lang="es-PE" sz="900" b="0" i="0" dirty="0">
                    <a:solidFill>
                      <a:schemeClr val="tx1"/>
                    </a:solidFill>
                    <a:effectLst/>
                    <a:latin typeface="Segoe WPC"/>
                  </a:rPr>
                  <a:t> </a:t>
                </a:r>
                <a:r>
                  <a:rPr lang="es-PE" sz="900" b="0" i="0" dirty="0" err="1">
                    <a:solidFill>
                      <a:schemeClr val="tx1"/>
                    </a:solidFill>
                    <a:effectLst/>
                    <a:latin typeface="Segoe WPC"/>
                  </a:rPr>
                  <a:t>guarantee</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against</a:t>
                </a:r>
                <a:r>
                  <a:rPr lang="es-PE" sz="900" b="0" i="0" dirty="0">
                    <a:solidFill>
                      <a:schemeClr val="tx1"/>
                    </a:solidFill>
                    <a:effectLst/>
                    <a:latin typeface="Segoe WPC"/>
                  </a:rPr>
                  <a:t> </a:t>
                </a:r>
                <a:r>
                  <a:rPr lang="es-PE" sz="900" b="0" i="0" dirty="0" err="1">
                    <a:solidFill>
                      <a:schemeClr val="tx1"/>
                    </a:solidFill>
                    <a:effectLst/>
                    <a:latin typeface="Segoe WPC"/>
                  </a:rPr>
                  <a:t>prepayment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5. </a:t>
                </a:r>
                <a:r>
                  <a:rPr lang="es-PE" sz="900" b="1" i="0" dirty="0" err="1">
                    <a:solidFill>
                      <a:schemeClr val="tx1"/>
                    </a:solidFill>
                    <a:effectLst/>
                    <a:latin typeface="Segoe WPC"/>
                  </a:rPr>
                  <a:t>Mortgage</a:t>
                </a:r>
                <a:r>
                  <a:rPr lang="es-PE" sz="900" b="1" i="0" dirty="0">
                    <a:solidFill>
                      <a:schemeClr val="tx1"/>
                    </a:solidFill>
                    <a:effectLst/>
                    <a:latin typeface="Segoe WPC"/>
                  </a:rPr>
                  <a:t> Pool </a:t>
                </a:r>
                <a:r>
                  <a:rPr lang="es-PE" sz="900" b="1" i="0" dirty="0" err="1">
                    <a:solidFill>
                      <a:schemeClr val="tx1"/>
                    </a:solidFill>
                    <a:effectLst/>
                    <a:latin typeface="Segoe WPC"/>
                  </a:rPr>
                  <a:t>Statistics</a:t>
                </a:r>
                <a:r>
                  <a:rPr lang="es-PE" sz="900" b="1" i="0" dirty="0">
                    <a:solidFill>
                      <a:schemeClr val="tx1"/>
                    </a:solidFill>
                    <a:effectLst/>
                    <a:latin typeface="Segoe WPC"/>
                  </a:rPr>
                  <a:t>: WAC, WAM, SMM, and CPR</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Mortgage</a:t>
                </a:r>
                <a:r>
                  <a:rPr lang="es-PE" sz="900" b="0" i="0" dirty="0">
                    <a:solidFill>
                      <a:schemeClr val="tx1"/>
                    </a:solidFill>
                    <a:effectLst/>
                    <a:latin typeface="Segoe WPC"/>
                  </a:rPr>
                  <a:t> pools are </a:t>
                </a:r>
                <a:r>
                  <a:rPr lang="es-PE" sz="900" b="0" i="0" dirty="0" err="1">
                    <a:solidFill>
                      <a:schemeClr val="tx1"/>
                    </a:solidFill>
                    <a:effectLst/>
                    <a:latin typeface="Segoe WPC"/>
                  </a:rPr>
                  <a:t>summarized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weighted</a:t>
                </a:r>
                <a:r>
                  <a:rPr lang="es-PE" sz="900" b="0" i="0" dirty="0">
                    <a:solidFill>
                      <a:schemeClr val="tx1"/>
                    </a:solidFill>
                    <a:effectLst/>
                    <a:latin typeface="Segoe WPC"/>
                  </a:rPr>
                  <a:t> </a:t>
                </a:r>
                <a:r>
                  <a:rPr lang="es-PE" sz="900" b="0" i="0" dirty="0" err="1">
                    <a:solidFill>
                      <a:schemeClr val="tx1"/>
                    </a:solidFill>
                    <a:effectLst/>
                    <a:latin typeface="Segoe WPC"/>
                  </a:rPr>
                  <a:t>averages</a:t>
                </a:r>
                <a:r>
                  <a:rPr lang="es-PE" sz="900" b="0" i="0" dirty="0">
                    <a:solidFill>
                      <a:schemeClr val="tx1"/>
                    </a:solidFill>
                    <a:effectLst/>
                    <a:latin typeface="Segoe WPC"/>
                  </a:rPr>
                  <a:t> and </a:t>
                </a:r>
                <a:r>
                  <a:rPr lang="es-PE" sz="900" b="0" i="0" dirty="0" err="1">
                    <a:solidFill>
                      <a:schemeClr val="tx1"/>
                    </a:solidFill>
                    <a:effectLst/>
                    <a:latin typeface="Segoe WPC"/>
                  </a:rPr>
                  <a:t>prepayment</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WAC </a:t>
                </a:r>
                <a:r>
                  <a:rPr lang="es-PE" sz="900" b="0" i="0" dirty="0" err="1">
                    <a:solidFill>
                      <a:schemeClr val="tx1"/>
                    </a:solidFill>
                    <a:effectLst/>
                    <a:latin typeface="Segoe WPC"/>
                  </a:rPr>
                  <a:t>tells</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a:t>
                </a:r>
                <a:r>
                  <a:rPr lang="es-PE" sz="900" b="0" i="0" dirty="0" err="1">
                    <a:solidFill>
                      <a:schemeClr val="tx1"/>
                    </a:solidFill>
                    <a:effectLst/>
                    <a:latin typeface="Segoe WPC"/>
                  </a:rPr>
                  <a:t>coupon</a:t>
                </a:r>
                <a:r>
                  <a:rPr lang="es-PE" sz="900" b="0" i="0" dirty="0">
                    <a:solidFill>
                      <a:schemeClr val="tx1"/>
                    </a:solidFill>
                    <a:effectLst/>
                    <a:latin typeface="Segoe WPC"/>
                  </a:rPr>
                  <a:t>, WAM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average</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 SMM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monthly</a:t>
                </a:r>
                <a:r>
                  <a:rPr lang="es-PE" sz="900" b="0" i="0" dirty="0">
                    <a:solidFill>
                      <a:schemeClr val="tx1"/>
                    </a:solidFill>
                    <a:effectLst/>
                    <a:latin typeface="Segoe WPC"/>
                  </a:rPr>
                  <a:t> </a:t>
                </a:r>
                <a:r>
                  <a:rPr lang="es-PE" sz="900" b="0" i="0" dirty="0" err="1">
                    <a:solidFill>
                      <a:schemeClr val="tx1"/>
                    </a:solidFill>
                    <a:effectLst/>
                    <a:latin typeface="Segoe WPC"/>
                  </a:rPr>
                  <a:t>prepayment</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and CPR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annualized</a:t>
                </a:r>
                <a:r>
                  <a:rPr lang="es-PE" sz="900" b="0" i="0" dirty="0">
                    <a:solidFill>
                      <a:schemeClr val="tx1"/>
                    </a:solidFill>
                    <a:effectLst/>
                    <a:latin typeface="Segoe WPC"/>
                  </a:rPr>
                  <a:t> </a:t>
                </a:r>
                <a:r>
                  <a:rPr lang="es-PE" sz="900" b="0" i="0" dirty="0" err="1">
                    <a:solidFill>
                      <a:schemeClr val="tx1"/>
                    </a:solidFill>
                    <a:effectLst/>
                    <a:latin typeface="Segoe WPC"/>
                  </a:rPr>
                  <a:t>prepayment</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These</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summarize</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fast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pool </a:t>
                </a:r>
                <a:r>
                  <a:rPr lang="es-PE" sz="900" b="0" i="0" dirty="0" err="1">
                    <a:solidFill>
                      <a:schemeClr val="tx1"/>
                    </a:solidFill>
                    <a:effectLst/>
                    <a:latin typeface="Segoe WPC"/>
                  </a:rPr>
                  <a:t>pays</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amortizes</a:t>
                </a:r>
                <a:r>
                  <a:rPr lang="es-PE" sz="900" b="0" i="0" dirty="0">
                    <a:solidFill>
                      <a:schemeClr val="tx1"/>
                    </a:solidFill>
                    <a:effectLst/>
                    <a:latin typeface="Segoe WPC"/>
                  </a:rPr>
                  <a:t>, and </a:t>
                </a:r>
                <a:r>
                  <a:rPr lang="es-PE" sz="900" b="0" i="0" dirty="0" err="1">
                    <a:solidFill>
                      <a:schemeClr val="tx1"/>
                    </a:solidFill>
                    <a:effectLst/>
                    <a:latin typeface="Segoe WPC"/>
                  </a:rPr>
                  <a:t>prepays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𝑊𝐴𝐶</m:t>
                    </m:r>
                    <m:r>
                      <a:rPr lang="es-PE" sz="900" i="0">
                        <a:solidFill>
                          <a:schemeClr val="tx1"/>
                        </a:solidFill>
                        <a:latin typeface="Cambria Math" panose="02040503050406030204" pitchFamily="18" charset="0"/>
                      </a:rPr>
                      <m:t>=</m:t>
                    </m:r>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𝑛</m:t>
                        </m:r>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𝑤</m:t>
                            </m:r>
                          </m:e>
                          <m:sub>
                            <m:r>
                              <a:rPr lang="ar-AE" sz="900" i="1">
                                <a:solidFill>
                                  <a:schemeClr val="tx1"/>
                                </a:solidFill>
                                <a:latin typeface="Cambria Math" panose="02040503050406030204" pitchFamily="18" charset="0"/>
                              </a:rPr>
                              <m:t>𝑖</m:t>
                            </m:r>
                          </m:sub>
                        </m:sSub>
                      </m:e>
                    </m:nary>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𝑐</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14:m>
                  <m:oMath xmlns:m="http://schemas.openxmlformats.org/officeDocument/2006/math">
                    <m:r>
                      <a:rPr lang="ar-AE" sz="900" i="1">
                        <a:solidFill>
                          <a:schemeClr val="tx1"/>
                        </a:solidFill>
                        <a:latin typeface="Cambria Math" panose="02040503050406030204" pitchFamily="18" charset="0"/>
                      </a:rPr>
                      <m:t>𝑊𝐴𝑀</m:t>
                    </m:r>
                    <m:r>
                      <a:rPr lang="ar-AE" sz="900" i="0">
                        <a:solidFill>
                          <a:schemeClr val="tx1"/>
                        </a:solidFill>
                        <a:latin typeface="Cambria Math" panose="02040503050406030204" pitchFamily="18" charset="0"/>
                      </a:rPr>
                      <m:t>=</m:t>
                    </m:r>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𝑛</m:t>
                        </m:r>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𝑤</m:t>
                            </m:r>
                          </m:e>
                          <m:sub>
                            <m:r>
                              <a:rPr lang="ar-AE" sz="900" i="1">
                                <a:solidFill>
                                  <a:schemeClr val="tx1"/>
                                </a:solidFill>
                                <a:latin typeface="Cambria Math" panose="02040503050406030204" pitchFamily="18" charset="0"/>
                              </a:rPr>
                              <m:t>𝑖</m:t>
                            </m:r>
                          </m:sub>
                        </m:sSub>
                      </m:e>
                    </m:nary>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𝐿</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a:solidFill>
                      <a:schemeClr val="tx1"/>
                    </a:solidFill>
                    <a:effectLst/>
                    <a:latin typeface="Segoe WPC"/>
                  </a:rPr>
                  <a:t>and </a:t>
                </a:r>
                <a14:m>
                  <m:oMath xmlns:m="http://schemas.openxmlformats.org/officeDocument/2006/math">
                    <m:r>
                      <a:rPr lang="es-PE" sz="900" i="1">
                        <a:solidFill>
                          <a:schemeClr val="tx1"/>
                        </a:solidFill>
                        <a:latin typeface="Cambria Math" panose="02040503050406030204" pitchFamily="18" charset="0"/>
                      </a:rPr>
                      <m:t>𝐶𝑃𝑅</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1</m:t>
                    </m:r>
                    <m:r>
                      <a:rPr lang="es-PE" sz="900" i="0">
                        <a:solidFill>
                          <a:schemeClr val="tx1"/>
                        </a:solidFill>
                        <a:latin typeface="Cambria Math" panose="02040503050406030204" pitchFamily="18" charset="0"/>
                      </a:rPr>
                      <m:t>−</m:t>
                    </m:r>
                    <m:d>
                      <m:dPr>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𝑆𝑀𝑀</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12</m:t>
                            </m:r>
                          </m:sup>
                        </m:sSup>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Higher</a:t>
                </a:r>
                <a:r>
                  <a:rPr lang="es-PE" sz="900" b="0" i="0" dirty="0">
                    <a:solidFill>
                      <a:schemeClr val="tx1"/>
                    </a:solidFill>
                    <a:effectLst/>
                    <a:latin typeface="Segoe WPC"/>
                  </a:rPr>
                  <a:t> SMM </a:t>
                </a:r>
                <a:r>
                  <a:rPr lang="es-PE" sz="900" b="0" i="0" dirty="0" err="1">
                    <a:solidFill>
                      <a:schemeClr val="tx1"/>
                    </a:solidFill>
                    <a:effectLst/>
                    <a:latin typeface="Segoe WPC"/>
                  </a:rPr>
                  <a:t>or</a:t>
                </a:r>
                <a:r>
                  <a:rPr lang="es-PE" sz="900" b="0" i="0" dirty="0">
                    <a:solidFill>
                      <a:schemeClr val="tx1"/>
                    </a:solidFill>
                    <a:effectLst/>
                    <a:latin typeface="Segoe WPC"/>
                  </a:rPr>
                  <a:t> CPR </a:t>
                </a:r>
                <a:r>
                  <a:rPr lang="es-PE" sz="900" b="0" i="0" dirty="0" err="1">
                    <a:solidFill>
                      <a:schemeClr val="tx1"/>
                    </a:solidFill>
                    <a:effectLst/>
                    <a:latin typeface="Segoe WPC"/>
                  </a:rPr>
                  <a:t>means</a:t>
                </a:r>
                <a:r>
                  <a:rPr lang="es-PE" sz="900" b="0" i="0" dirty="0">
                    <a:solidFill>
                      <a:schemeClr val="tx1"/>
                    </a:solidFill>
                    <a:effectLst/>
                    <a:latin typeface="Segoe WPC"/>
                  </a:rPr>
                  <a:t> </a:t>
                </a:r>
                <a:r>
                  <a:rPr lang="es-PE" sz="900" b="0" i="0" dirty="0" err="1">
                    <a:solidFill>
                      <a:schemeClr val="tx1"/>
                    </a:solidFill>
                    <a:effectLst/>
                    <a:latin typeface="Segoe WPC"/>
                  </a:rPr>
                  <a:t>faster</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principal and more </a:t>
                </a:r>
                <a:r>
                  <a:rPr lang="es-PE" sz="900" b="0" i="0" dirty="0" err="1">
                    <a:solidFill>
                      <a:schemeClr val="tx1"/>
                    </a:solidFill>
                    <a:effectLst/>
                    <a:latin typeface="Segoe WPC"/>
                  </a:rPr>
                  <a:t>reinvestment</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SMM </a:t>
                </a:r>
                <a:r>
                  <a:rPr lang="es-PE" sz="900" b="0" i="0" dirty="0" err="1">
                    <a:solidFill>
                      <a:schemeClr val="tx1"/>
                    </a:solidFill>
                    <a:effectLst/>
                    <a:latin typeface="Segoe WPC"/>
                  </a:rPr>
                  <a:t>excludes</a:t>
                </a:r>
                <a:r>
                  <a:rPr lang="es-PE" sz="900" b="0" i="0" dirty="0">
                    <a:solidFill>
                      <a:schemeClr val="tx1"/>
                    </a:solidFill>
                    <a:effectLst/>
                    <a:latin typeface="Segoe WPC"/>
                  </a:rPr>
                  <a:t> </a:t>
                </a:r>
                <a:r>
                  <a:rPr lang="es-PE" sz="900" b="0" i="0" dirty="0" err="1">
                    <a:solidFill>
                      <a:schemeClr val="tx1"/>
                    </a:solidFill>
                    <a:effectLst/>
                    <a:latin typeface="Segoe WPC"/>
                  </a:rPr>
                  <a:t>scheduled</a:t>
                </a:r>
                <a:r>
                  <a:rPr lang="es-PE" sz="900" b="0" i="0" dirty="0">
                    <a:solidFill>
                      <a:schemeClr val="tx1"/>
                    </a:solidFill>
                    <a:effectLst/>
                    <a:latin typeface="Segoe WPC"/>
                  </a:rPr>
                  <a:t> principal </a:t>
                </a:r>
                <a:r>
                  <a:rPr lang="es-PE" sz="900" b="0" i="0" dirty="0" err="1">
                    <a:solidFill>
                      <a:schemeClr val="tx1"/>
                    </a:solidFill>
                    <a:effectLst/>
                    <a:latin typeface="Segoe WPC"/>
                  </a:rPr>
                  <a:t>repayments</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unscheduled</a:t>
                </a:r>
                <a:r>
                  <a:rPr lang="es-PE" sz="900" b="0" i="0" dirty="0">
                    <a:solidFill>
                      <a:schemeClr val="tx1"/>
                    </a:solidFill>
                    <a:effectLst/>
                    <a:latin typeface="Segoe WPC"/>
                  </a:rPr>
                  <a:t> </a:t>
                </a:r>
                <a:r>
                  <a:rPr lang="es-PE" sz="900" b="0" i="0" dirty="0" err="1">
                    <a:solidFill>
                      <a:schemeClr val="tx1"/>
                    </a:solidFill>
                    <a:effectLst/>
                    <a:latin typeface="Segoe WPC"/>
                  </a:rPr>
                  <a:t>prepayments</a:t>
                </a:r>
                <a:r>
                  <a:rPr lang="es-PE" sz="900" b="0" i="0" dirty="0">
                    <a:solidFill>
                      <a:schemeClr val="tx1"/>
                    </a:solidFill>
                    <a:effectLst/>
                    <a:latin typeface="Segoe WPC"/>
                  </a:rPr>
                  <a:t>.</a:t>
                </a:r>
              </a:p>
            </p:txBody>
          </p:sp>
        </mc:Choice>
        <mc:Fallback xmlns="">
          <p:sp>
            <p:nvSpPr>
              <p:cNvPr id="5" name="CuadroTexto 4">
                <a:extLst>
                  <a:ext uri="{FF2B5EF4-FFF2-40B4-BE49-F238E27FC236}">
                    <a16:creationId xmlns:a16="http://schemas.microsoft.com/office/drawing/2014/main" id="{A44D9793-190E-2253-DD96-764295831941}"/>
                  </a:ext>
                </a:extLst>
              </p:cNvPr>
              <p:cNvSpPr txBox="1">
                <a:spLocks noRot="1" noChangeAspect="1" noMove="1" noResize="1" noEditPoints="1" noAdjustHandles="1" noChangeArrowheads="1" noChangeShapeType="1" noTextEdit="1"/>
              </p:cNvSpPr>
              <p:nvPr/>
            </p:nvSpPr>
            <p:spPr>
              <a:xfrm>
                <a:off x="-61684" y="362238"/>
                <a:ext cx="6424384" cy="6862713"/>
              </a:xfrm>
              <a:prstGeom prst="rect">
                <a:avLst/>
              </a:prstGeom>
              <a:blipFill>
                <a:blip r:embed="rId2"/>
                <a:stretch>
                  <a:fillRect b="-4796"/>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F9A63165-5836-D376-F75D-21943C863B5F}"/>
                  </a:ext>
                </a:extLst>
              </p:cNvPr>
              <p:cNvSpPr txBox="1"/>
              <p:nvPr/>
            </p:nvSpPr>
            <p:spPr>
              <a:xfrm>
                <a:off x="6098721" y="-103868"/>
                <a:ext cx="6331404" cy="8244693"/>
              </a:xfrm>
              <a:prstGeom prst="rect">
                <a:avLst/>
              </a:prstGeom>
              <a:noFill/>
            </p:spPr>
            <p:txBody>
              <a:bodyPr wrap="square">
                <a:spAutoFit/>
              </a:bodyPr>
              <a:lstStyle/>
              <a:p>
                <a:pPr algn="l">
                  <a:spcAft>
                    <a:spcPts val="600"/>
                  </a:spcAft>
                  <a:buNone/>
                </a:pPr>
                <a:r>
                  <a:rPr lang="en-US" sz="900" b="1" i="0" dirty="0">
                    <a:solidFill>
                      <a:schemeClr val="tx1"/>
                    </a:solidFill>
                    <a:effectLst/>
                    <a:latin typeface="Segoe WPC"/>
                  </a:rPr>
                  <a:t>6. Agency MBS, Pass-Throughs, Specific Pools, and TBAs</a:t>
                </a:r>
                <a:br>
                  <a:rPr lang="en-US" sz="900" b="0" i="0" dirty="0">
                    <a:solidFill>
                      <a:schemeClr val="tx1"/>
                    </a:solidFill>
                    <a:effectLst/>
                    <a:latin typeface="Segoe WPC"/>
                  </a:rPr>
                </a:br>
                <a:r>
                  <a:rPr lang="en-US" sz="900" b="1" i="0" dirty="0">
                    <a:solidFill>
                      <a:schemeClr val="tx1"/>
                    </a:solidFill>
                    <a:effectLst/>
                    <a:latin typeface="Segoe WPC"/>
                  </a:rPr>
                  <a:t>Financial Object:</a:t>
                </a:r>
                <a:r>
                  <a:rPr lang="en-US" sz="900" b="0" i="0" dirty="0">
                    <a:solidFill>
                      <a:schemeClr val="tx1"/>
                    </a:solidFill>
                    <a:effectLst/>
                    <a:latin typeface="Segoe WPC"/>
                  </a:rPr>
                  <a:t> Agency MBS are created mainly by GNMA, FNMA, and FHLMC and often trade as pass-throughs, specified pools, or TBAs.</a:t>
                </a:r>
                <a:br>
                  <a:rPr lang="en-US" sz="900" b="0" i="0" dirty="0">
                    <a:solidFill>
                      <a:schemeClr val="tx1"/>
                    </a:solidFill>
                    <a:effectLst/>
                    <a:latin typeface="Segoe WPC"/>
                  </a:rPr>
                </a:br>
                <a:r>
                  <a:rPr lang="en-US" sz="900" b="1" i="0" dirty="0">
                    <a:solidFill>
                      <a:schemeClr val="tx1"/>
                    </a:solidFill>
                    <a:effectLst/>
                    <a:latin typeface="Segoe WPC"/>
                  </a:rPr>
                  <a:t>Plain Intuition:</a:t>
                </a:r>
                <a:r>
                  <a:rPr lang="en-US" sz="900" b="0" i="0" dirty="0">
                    <a:solidFill>
                      <a:schemeClr val="tx1"/>
                    </a:solidFill>
                    <a:effectLst/>
                    <a:latin typeface="Segoe WPC"/>
                  </a:rPr>
                  <a:t> Pass-throughs give investors their share of mortgage cash flows net of servicing and guarantee fees.</a:t>
                </a:r>
                <a:br>
                  <a:rPr lang="en-US" sz="900" b="0" i="0" dirty="0">
                    <a:solidFill>
                      <a:schemeClr val="tx1"/>
                    </a:solidFill>
                    <a:effectLst/>
                    <a:latin typeface="Segoe WPC"/>
                  </a:rPr>
                </a:br>
                <a:r>
                  <a:rPr lang="en-US" sz="900" b="1" i="0" dirty="0">
                    <a:solidFill>
                      <a:schemeClr val="tx1"/>
                    </a:solidFill>
                    <a:effectLst/>
                    <a:latin typeface="Segoe WPC"/>
                  </a:rPr>
                  <a:t>Visual Intuition:</a:t>
                </a:r>
                <a:r>
                  <a:rPr lang="en-US" sz="900" b="0" i="0" dirty="0">
                    <a:solidFill>
                      <a:schemeClr val="tx1"/>
                    </a:solidFill>
                    <a:effectLst/>
                    <a:latin typeface="Segoe WPC"/>
                  </a:rPr>
                  <a:t> In a specified pool trade, the exact pool is known; in a TBA trade, only issuer, maturity, coupon, par amount, price, and settlement month are agreed initially.</a:t>
                </a:r>
                <a:br>
                  <a:rPr lang="en-US" sz="900" b="0" i="0" dirty="0">
                    <a:solidFill>
                      <a:schemeClr val="tx1"/>
                    </a:solidFill>
                    <a:effectLst/>
                    <a:latin typeface="Segoe WPC"/>
                  </a:rPr>
                </a:br>
                <a:r>
                  <a:rPr lang="en-US" sz="900" b="1" i="0" dirty="0">
                    <a:solidFill>
                      <a:schemeClr val="tx1"/>
                    </a:solidFill>
                    <a:effectLst/>
                    <a:latin typeface="Segoe WPC"/>
                  </a:rPr>
                  <a:t>Key Formula:</a:t>
                </a:r>
                <a:r>
                  <a:rPr lang="en-US" sz="900" b="0" i="0" dirty="0">
                    <a:solidFill>
                      <a:schemeClr val="tx1"/>
                    </a:solidFill>
                    <a:effectLst/>
                    <a:latin typeface="Segoe WPC"/>
                  </a:rPr>
                  <a:t> A TBA contract specifies issuer, original maturity, coupon, price per </a:t>
                </a:r>
                <a14:m>
                  <m:oMath xmlns:m="http://schemas.openxmlformats.org/officeDocument/2006/math">
                    <m:r>
                      <a:rPr lang="en-US" sz="900">
                        <a:solidFill>
                          <a:schemeClr val="tx1"/>
                        </a:solidFill>
                        <a:latin typeface="Cambria Math" panose="02040503050406030204" pitchFamily="18" charset="0"/>
                      </a:rPr>
                      <m:t>100</m:t>
                    </m:r>
                  </m:oMath>
                </a14:m>
                <a:r>
                  <a:rPr lang="en-US" sz="900" b="0" i="0" dirty="0">
                    <a:solidFill>
                      <a:schemeClr val="tx1"/>
                    </a:solidFill>
                    <a:effectLst/>
                    <a:latin typeface="Segoe WPC"/>
                  </a:rPr>
                  <a:t> par, par amount, and settlement month.</a:t>
                </a:r>
                <a:br>
                  <a:rPr lang="en-US" sz="900" b="0" i="0" dirty="0">
                    <a:solidFill>
                      <a:schemeClr val="tx1"/>
                    </a:solidFill>
                    <a:effectLst/>
                    <a:latin typeface="Segoe WPC"/>
                  </a:rPr>
                </a:br>
                <a:r>
                  <a:rPr lang="en-US" sz="900" b="1" i="0" dirty="0">
                    <a:solidFill>
                      <a:schemeClr val="tx1"/>
                    </a:solidFill>
                    <a:effectLst/>
                    <a:latin typeface="Segoe WPC"/>
                  </a:rPr>
                  <a:t>Interpretation:</a:t>
                </a:r>
                <a:r>
                  <a:rPr lang="en-US" sz="900" b="0" i="0" dirty="0">
                    <a:solidFill>
                      <a:schemeClr val="tx1"/>
                    </a:solidFill>
                    <a:effectLst/>
                    <a:latin typeface="Segoe WPC"/>
                  </a:rPr>
                  <a:t> The TBA market is highly liquid and effectively a forward market for agency MBS.</a:t>
                </a:r>
                <a:br>
                  <a:rPr lang="en-US" sz="900" b="0" i="0" dirty="0">
                    <a:solidFill>
                      <a:schemeClr val="tx1"/>
                    </a:solidFill>
                    <a:effectLst/>
                    <a:latin typeface="Segoe WPC"/>
                  </a:rPr>
                </a:br>
                <a:r>
                  <a:rPr lang="en-US" sz="900" b="1" i="0" dirty="0">
                    <a:solidFill>
                      <a:schemeClr val="tx1"/>
                    </a:solidFill>
                    <a:effectLst/>
                    <a:latin typeface="Segoe WPC"/>
                  </a:rPr>
                  <a:t>Exam Trap:</a:t>
                </a:r>
                <a:r>
                  <a:rPr lang="en-US" sz="900" b="0" i="0" dirty="0">
                    <a:solidFill>
                      <a:schemeClr val="tx1"/>
                    </a:solidFill>
                    <a:effectLst/>
                    <a:latin typeface="Segoe WPC"/>
                  </a:rPr>
                  <a:t> In a TBA, the seller usually has a cheapest-to-deliver option within delivery rules.</a:t>
                </a:r>
              </a:p>
              <a:p>
                <a:pPr algn="l">
                  <a:spcAft>
                    <a:spcPts val="600"/>
                  </a:spcAft>
                  <a:buNone/>
                </a:pPr>
                <a:r>
                  <a:rPr lang="en-US" sz="900" b="1" i="0" dirty="0">
                    <a:solidFill>
                      <a:schemeClr val="tx1"/>
                    </a:solidFill>
                    <a:effectLst/>
                    <a:latin typeface="Segoe WPC"/>
                  </a:rPr>
                  <a:t>7. Dollar Rolls and Trading Mechanics</a:t>
                </a:r>
                <a:br>
                  <a:rPr lang="en-US" sz="900" b="0" i="0" dirty="0">
                    <a:solidFill>
                      <a:schemeClr val="tx1"/>
                    </a:solidFill>
                    <a:effectLst/>
                    <a:latin typeface="Segoe WPC"/>
                  </a:rPr>
                </a:br>
                <a:r>
                  <a:rPr lang="en-US" sz="900" b="1" i="0" dirty="0">
                    <a:solidFill>
                      <a:schemeClr val="tx1"/>
                    </a:solidFill>
                    <a:effectLst/>
                    <a:latin typeface="Segoe WPC"/>
                  </a:rPr>
                  <a:t>Financial Object:</a:t>
                </a:r>
                <a:r>
                  <a:rPr lang="en-US" sz="900" b="0" i="0" dirty="0">
                    <a:solidFill>
                      <a:schemeClr val="tx1"/>
                    </a:solidFill>
                    <a:effectLst/>
                    <a:latin typeface="Segoe WPC"/>
                  </a:rPr>
                  <a:t> A dollar roll is the sale of a TBA for one month and the purchase of a similar TBA for a later month.</a:t>
                </a:r>
                <a:br>
                  <a:rPr lang="en-US" sz="900" b="0" i="0" dirty="0">
                    <a:solidFill>
                      <a:schemeClr val="tx1"/>
                    </a:solidFill>
                    <a:effectLst/>
                    <a:latin typeface="Segoe WPC"/>
                  </a:rPr>
                </a:br>
                <a:r>
                  <a:rPr lang="en-US" sz="900" b="1" i="0" dirty="0">
                    <a:solidFill>
                      <a:schemeClr val="tx1"/>
                    </a:solidFill>
                    <a:effectLst/>
                    <a:latin typeface="Segoe WPC"/>
                  </a:rPr>
                  <a:t>Plain Intuition:</a:t>
                </a:r>
                <a:r>
                  <a:rPr lang="en-US" sz="900" b="0" i="0" dirty="0">
                    <a:solidFill>
                      <a:schemeClr val="tx1"/>
                    </a:solidFill>
                    <a:effectLst/>
                    <a:latin typeface="Segoe WPC"/>
                  </a:rPr>
                  <a:t> It resembles a repo, but the collateral delivered later may not be the same pool, and the initiator gives up one month of cash flow.</a:t>
                </a:r>
                <a:br>
                  <a:rPr lang="en-US" sz="900" b="0" i="0" dirty="0">
                    <a:solidFill>
                      <a:schemeClr val="tx1"/>
                    </a:solidFill>
                    <a:effectLst/>
                    <a:latin typeface="Segoe WPC"/>
                  </a:rPr>
                </a:br>
                <a:r>
                  <a:rPr lang="en-US" sz="900" b="1" i="0" dirty="0">
                    <a:solidFill>
                      <a:schemeClr val="tx1"/>
                    </a:solidFill>
                    <a:effectLst/>
                    <a:latin typeface="Segoe WPC"/>
                  </a:rPr>
                  <a:t>Visual Intuition:</a:t>
                </a:r>
                <a:r>
                  <a:rPr lang="en-US" sz="900" b="0" i="0" dirty="0">
                    <a:solidFill>
                      <a:schemeClr val="tx1"/>
                    </a:solidFill>
                    <a:effectLst/>
                    <a:latin typeface="Segoe WPC"/>
                  </a:rPr>
                  <a:t> Sell now, buy similar collateral back next month, and compare sale proceeds with repurchase cost and foregone cash flow.</a:t>
                </a:r>
                <a:br>
                  <a:rPr lang="en-US" sz="900" b="0" i="0" dirty="0">
                    <a:solidFill>
                      <a:schemeClr val="tx1"/>
                    </a:solidFill>
                    <a:effectLst/>
                    <a:latin typeface="Segoe WPC"/>
                  </a:rPr>
                </a:br>
                <a:r>
                  <a:rPr lang="en-US" sz="900" b="1" i="0" dirty="0">
                    <a:solidFill>
                      <a:schemeClr val="tx1"/>
                    </a:solidFill>
                    <a:effectLst/>
                    <a:latin typeface="Segoe WPC"/>
                  </a:rPr>
                  <a:t>Key Formula:</a:t>
                </a:r>
                <a:r>
                  <a:rPr lang="en-US" sz="900" b="0" i="0" dirty="0">
                    <a:solidFill>
                      <a:schemeClr val="tx1"/>
                    </a:solidFill>
                    <a:effectLst/>
                    <a:latin typeface="Segoe WPC"/>
                  </a:rPr>
                  <a:t> Dollar roll value </a:t>
                </a:r>
                <a14:m>
                  <m:oMath xmlns:m="http://schemas.openxmlformats.org/officeDocument/2006/math">
                    <m:r>
                      <a:rPr lang="en-US" sz="900">
                        <a:solidFill>
                          <a:schemeClr val="tx1"/>
                        </a:solidFill>
                        <a:latin typeface="Cambria Math" panose="02040503050406030204" pitchFamily="18" charset="0"/>
                      </a:rPr>
                      <m:t>=</m:t>
                    </m:r>
                    <m:r>
                      <a:rPr lang="en-US" sz="900" i="1">
                        <a:solidFill>
                          <a:schemeClr val="tx1"/>
                        </a:solidFill>
                        <a:latin typeface="Cambria Math" panose="02040503050406030204" pitchFamily="18" charset="0"/>
                      </a:rPr>
                      <m:t>𝐴</m:t>
                    </m:r>
                    <m:r>
                      <a:rPr lang="en-US" sz="900" i="0">
                        <a:solidFill>
                          <a:schemeClr val="tx1"/>
                        </a:solidFill>
                        <a:latin typeface="Cambria Math" panose="02040503050406030204" pitchFamily="18" charset="0"/>
                      </a:rPr>
                      <m:t>−</m:t>
                    </m:r>
                    <m:r>
                      <a:rPr lang="en-US" sz="900" i="1">
                        <a:solidFill>
                          <a:schemeClr val="tx1"/>
                        </a:solidFill>
                        <a:latin typeface="Cambria Math" panose="02040503050406030204" pitchFamily="18" charset="0"/>
                      </a:rPr>
                      <m:t>𝐵</m:t>
                    </m:r>
                    <m:r>
                      <a:rPr lang="en-US" sz="900" i="0">
                        <a:solidFill>
                          <a:schemeClr val="tx1"/>
                        </a:solidFill>
                        <a:latin typeface="Cambria Math" panose="02040503050406030204" pitchFamily="18" charset="0"/>
                      </a:rPr>
                      <m:t>+</m:t>
                    </m:r>
                    <m:r>
                      <a:rPr lang="en-US" sz="900" i="1">
                        <a:solidFill>
                          <a:schemeClr val="tx1"/>
                        </a:solidFill>
                        <a:latin typeface="Cambria Math" panose="02040503050406030204" pitchFamily="18" charset="0"/>
                      </a:rPr>
                      <m:t>𝐶</m:t>
                    </m:r>
                    <m:r>
                      <a:rPr lang="en-US" sz="900" i="0">
                        <a:solidFill>
                          <a:schemeClr val="tx1"/>
                        </a:solidFill>
                        <a:latin typeface="Cambria Math" panose="02040503050406030204" pitchFamily="18" charset="0"/>
                      </a:rPr>
                      <m:t>−</m:t>
                    </m:r>
                    <m:r>
                      <a:rPr lang="en-US" sz="900" i="1">
                        <a:solidFill>
                          <a:schemeClr val="tx1"/>
                        </a:solidFill>
                        <a:latin typeface="Cambria Math" panose="02040503050406030204" pitchFamily="18" charset="0"/>
                      </a:rPr>
                      <m:t>𝐷</m:t>
                    </m:r>
                  </m:oMath>
                </a14:m>
                <a:r>
                  <a:rPr lang="en-US" sz="900" b="0" i="0" dirty="0">
                    <a:solidFill>
                      <a:schemeClr val="tx1"/>
                    </a:solidFill>
                    <a:effectLst/>
                    <a:latin typeface="Segoe WPC"/>
                  </a:rPr>
                  <a:t>, where </a:t>
                </a:r>
                <a14:m>
                  <m:oMath xmlns:m="http://schemas.openxmlformats.org/officeDocument/2006/math">
                    <m:r>
                      <a:rPr lang="en-US" sz="900" i="1">
                        <a:solidFill>
                          <a:schemeClr val="tx1"/>
                        </a:solidFill>
                        <a:latin typeface="Cambria Math" panose="02040503050406030204" pitchFamily="18" charset="0"/>
                      </a:rPr>
                      <m:t>𝐴</m:t>
                    </m:r>
                  </m:oMath>
                </a14:m>
                <a:r>
                  <a:rPr lang="en-US" sz="900" b="0" i="0" dirty="0">
                    <a:solidFill>
                      <a:schemeClr val="tx1"/>
                    </a:solidFill>
                    <a:effectLst/>
                    <a:latin typeface="Segoe WPC"/>
                  </a:rPr>
                  <a:t> is first sale price including accrued interest, </a:t>
                </a:r>
                <a14:m>
                  <m:oMath xmlns:m="http://schemas.openxmlformats.org/officeDocument/2006/math">
                    <m:r>
                      <a:rPr lang="en-US" sz="900" i="1">
                        <a:solidFill>
                          <a:schemeClr val="tx1"/>
                        </a:solidFill>
                        <a:latin typeface="Cambria Math" panose="02040503050406030204" pitchFamily="18" charset="0"/>
                      </a:rPr>
                      <m:t>𝐵</m:t>
                    </m:r>
                  </m:oMath>
                </a14:m>
                <a:r>
                  <a:rPr lang="en-US" sz="900" b="0" i="0" dirty="0">
                    <a:solidFill>
                      <a:schemeClr val="tx1"/>
                    </a:solidFill>
                    <a:effectLst/>
                    <a:latin typeface="Segoe WPC"/>
                  </a:rPr>
                  <a:t> repurchase price including accrued interest, </a:t>
                </a:r>
                <a14:m>
                  <m:oMath xmlns:m="http://schemas.openxmlformats.org/officeDocument/2006/math">
                    <m:r>
                      <a:rPr lang="en-US" sz="900" i="1">
                        <a:solidFill>
                          <a:schemeClr val="tx1"/>
                        </a:solidFill>
                        <a:latin typeface="Cambria Math" panose="02040503050406030204" pitchFamily="18" charset="0"/>
                      </a:rPr>
                      <m:t>𝐶</m:t>
                    </m:r>
                  </m:oMath>
                </a14:m>
                <a:r>
                  <a:rPr lang="en-US" sz="900" b="0" i="0" dirty="0">
                    <a:solidFill>
                      <a:schemeClr val="tx1"/>
                    </a:solidFill>
                    <a:effectLst/>
                    <a:latin typeface="Segoe WPC"/>
                  </a:rPr>
                  <a:t> interest earned on sale proceeds, and </a:t>
                </a:r>
                <a14:m>
                  <m:oMath xmlns:m="http://schemas.openxmlformats.org/officeDocument/2006/math">
                    <m:r>
                      <a:rPr lang="en-US" sz="900" i="1">
                        <a:solidFill>
                          <a:schemeClr val="tx1"/>
                        </a:solidFill>
                        <a:latin typeface="Cambria Math" panose="02040503050406030204" pitchFamily="18" charset="0"/>
                      </a:rPr>
                      <m:t>𝐷</m:t>
                    </m:r>
                  </m:oMath>
                </a14:m>
                <a:r>
                  <a:rPr lang="en-US" sz="900" b="0" i="0" dirty="0">
                    <a:solidFill>
                      <a:schemeClr val="tx1"/>
                    </a:solidFill>
                    <a:effectLst/>
                    <a:latin typeface="Segoe WPC"/>
                  </a:rPr>
                  <a:t> coupon plus principal forgone during the roll month.</a:t>
                </a:r>
                <a:br>
                  <a:rPr lang="en-US" sz="900" b="0" i="0" dirty="0">
                    <a:solidFill>
                      <a:schemeClr val="tx1"/>
                    </a:solidFill>
                    <a:effectLst/>
                    <a:latin typeface="Segoe WPC"/>
                  </a:rPr>
                </a:br>
                <a:r>
                  <a:rPr lang="en-US" sz="900" b="1" i="0" dirty="0">
                    <a:solidFill>
                      <a:schemeClr val="tx1"/>
                    </a:solidFill>
                    <a:effectLst/>
                    <a:latin typeface="Segoe WPC"/>
                  </a:rPr>
                  <a:t>Interpretation:</a:t>
                </a:r>
                <a:r>
                  <a:rPr lang="en-US" sz="900" b="0" i="0" dirty="0">
                    <a:solidFill>
                      <a:schemeClr val="tx1"/>
                    </a:solidFill>
                    <a:effectLst/>
                    <a:latin typeface="Segoe WPC"/>
                  </a:rPr>
                  <a:t> A positive roll value benefits the initiator of the roll.</a:t>
                </a:r>
                <a:br>
                  <a:rPr lang="en-US" sz="900" b="0" i="0" dirty="0">
                    <a:solidFill>
                      <a:schemeClr val="tx1"/>
                    </a:solidFill>
                    <a:effectLst/>
                    <a:latin typeface="Segoe WPC"/>
                  </a:rPr>
                </a:br>
                <a:r>
                  <a:rPr lang="en-US" sz="900" b="1" i="0" dirty="0">
                    <a:solidFill>
                      <a:schemeClr val="tx1"/>
                    </a:solidFill>
                    <a:effectLst/>
                    <a:latin typeface="Segoe WPC"/>
                  </a:rPr>
                  <a:t>Exam Trap:</a:t>
                </a:r>
                <a:r>
                  <a:rPr lang="en-US" sz="900" b="0" i="0" dirty="0">
                    <a:solidFill>
                      <a:schemeClr val="tx1"/>
                    </a:solidFill>
                    <a:effectLst/>
                    <a:latin typeface="Segoe WPC"/>
                  </a:rPr>
                  <a:t> A dollar roll is not identical to a repo because collateral can change and no explicit repo interest is added to the repurchase price.</a:t>
                </a:r>
              </a:p>
              <a:p>
                <a:pPr algn="l">
                  <a:spcAft>
                    <a:spcPts val="600"/>
                  </a:spcAft>
                  <a:buNone/>
                </a:pPr>
                <a:r>
                  <a:rPr lang="en-US" sz="900" b="1" i="0" dirty="0">
                    <a:solidFill>
                      <a:schemeClr val="tx1"/>
                    </a:solidFill>
                    <a:effectLst/>
                    <a:latin typeface="Segoe WPC"/>
                  </a:rPr>
                  <a:t>8. CMOs, IOs, POs, and Non-Agency MBS</a:t>
                </a:r>
                <a:br>
                  <a:rPr lang="en-US" sz="900" b="0" i="0" dirty="0">
                    <a:solidFill>
                      <a:schemeClr val="tx1"/>
                    </a:solidFill>
                    <a:effectLst/>
                    <a:latin typeface="Segoe WPC"/>
                  </a:rPr>
                </a:br>
                <a:r>
                  <a:rPr lang="en-US" sz="900" b="1" i="0" dirty="0">
                    <a:solidFill>
                      <a:schemeClr val="tx1"/>
                    </a:solidFill>
                    <a:effectLst/>
                    <a:latin typeface="Segoe WPC"/>
                  </a:rPr>
                  <a:t>Financial Object:</a:t>
                </a:r>
                <a:r>
                  <a:rPr lang="en-US" sz="900" b="0" i="0" dirty="0">
                    <a:solidFill>
                      <a:schemeClr val="tx1"/>
                    </a:solidFill>
                    <a:effectLst/>
                    <a:latin typeface="Segoe WPC"/>
                  </a:rPr>
                  <a:t> Mortgage cash flows can be reallocated into tranches such as CMOs, IOs, and </a:t>
                </a:r>
                <a:r>
                  <a:rPr lang="en-US" sz="900" b="0" i="0" dirty="0" err="1">
                    <a:solidFill>
                      <a:schemeClr val="tx1"/>
                    </a:solidFill>
                    <a:effectLst/>
                    <a:latin typeface="Segoe WPC"/>
                  </a:rPr>
                  <a:t>POs.</a:t>
                </a:r>
                <a:br>
                  <a:rPr lang="en-US" sz="900" b="0" i="0" dirty="0">
                    <a:solidFill>
                      <a:schemeClr val="tx1"/>
                    </a:solidFill>
                    <a:effectLst/>
                    <a:latin typeface="Segoe WPC"/>
                  </a:rPr>
                </a:br>
                <a:r>
                  <a:rPr lang="en-US" sz="900" b="1" i="0" dirty="0">
                    <a:solidFill>
                      <a:schemeClr val="tx1"/>
                    </a:solidFill>
                    <a:effectLst/>
                    <a:latin typeface="Segoe WPC"/>
                  </a:rPr>
                  <a:t>Plain Intuition:</a:t>
                </a:r>
                <a:r>
                  <a:rPr lang="en-US" sz="900" b="0" i="0" dirty="0">
                    <a:solidFill>
                      <a:schemeClr val="tx1"/>
                    </a:solidFill>
                    <a:effectLst/>
                    <a:latin typeface="Segoe WPC"/>
                  </a:rPr>
                  <a:t> CMOs redistribute prepayment risk across tranches; IOs receive only interest cash flows and POs receive only principal cash flows.</a:t>
                </a:r>
                <a:br>
                  <a:rPr lang="en-US" sz="900" b="0" i="0" dirty="0">
                    <a:solidFill>
                      <a:schemeClr val="tx1"/>
                    </a:solidFill>
                    <a:effectLst/>
                    <a:latin typeface="Segoe WPC"/>
                  </a:rPr>
                </a:br>
                <a:r>
                  <a:rPr lang="en-US" sz="900" b="1" i="0" dirty="0">
                    <a:solidFill>
                      <a:schemeClr val="tx1"/>
                    </a:solidFill>
                    <a:effectLst/>
                    <a:latin typeface="Segoe WPC"/>
                  </a:rPr>
                  <a:t>Visual Intuition:</a:t>
                </a:r>
                <a:r>
                  <a:rPr lang="en-US" sz="900" b="0" i="0" dirty="0">
                    <a:solidFill>
                      <a:schemeClr val="tx1"/>
                    </a:solidFill>
                    <a:effectLst/>
                    <a:latin typeface="Segoe WPC"/>
                  </a:rPr>
                  <a:t> Early tranches absorb prepayments first, while later tranches are protected; IOs like slow prepayment and POs like fast prepayment.</a:t>
                </a:r>
                <a:br>
                  <a:rPr lang="en-US" sz="900" b="0" i="0" dirty="0">
                    <a:solidFill>
                      <a:schemeClr val="tx1"/>
                    </a:solidFill>
                    <a:effectLst/>
                    <a:latin typeface="Segoe WPC"/>
                  </a:rPr>
                </a:br>
                <a:r>
                  <a:rPr lang="en-US" sz="900" b="1" i="0" dirty="0">
                    <a:solidFill>
                      <a:schemeClr val="tx1"/>
                    </a:solidFill>
                    <a:effectLst/>
                    <a:latin typeface="Segoe WPC"/>
                  </a:rPr>
                  <a:t>Key Formula:</a:t>
                </a:r>
                <a:r>
                  <a:rPr lang="en-US" sz="900" b="0" i="0" dirty="0">
                    <a:solidFill>
                      <a:schemeClr val="tx1"/>
                    </a:solidFill>
                    <a:effectLst/>
                    <a:latin typeface="Segoe WPC"/>
                  </a:rPr>
                  <a:t> IO value falls when prepayments rise; PO value rises when prepayments rise.</a:t>
                </a:r>
                <a:br>
                  <a:rPr lang="en-US" sz="900" b="0" i="0" dirty="0">
                    <a:solidFill>
                      <a:schemeClr val="tx1"/>
                    </a:solidFill>
                    <a:effectLst/>
                    <a:latin typeface="Segoe WPC"/>
                  </a:rPr>
                </a:br>
                <a:r>
                  <a:rPr lang="en-US" sz="900" b="1" i="0" dirty="0">
                    <a:solidFill>
                      <a:schemeClr val="tx1"/>
                    </a:solidFill>
                    <a:effectLst/>
                    <a:latin typeface="Segoe WPC"/>
                  </a:rPr>
                  <a:t>Interpretation:</a:t>
                </a:r>
                <a:r>
                  <a:rPr lang="en-US" sz="900" b="0" i="0" dirty="0">
                    <a:solidFill>
                      <a:schemeClr val="tx1"/>
                    </a:solidFill>
                    <a:effectLst/>
                    <a:latin typeface="Segoe WPC"/>
                  </a:rPr>
                  <a:t> CMOs and stripped MBS let investors choose specific prepayment exposure.</a:t>
                </a:r>
                <a:br>
                  <a:rPr lang="en-US" sz="900" b="0" i="0" dirty="0">
                    <a:solidFill>
                      <a:schemeClr val="tx1"/>
                    </a:solidFill>
                    <a:effectLst/>
                    <a:latin typeface="Segoe WPC"/>
                  </a:rPr>
                </a:br>
                <a:r>
                  <a:rPr lang="en-US" sz="900" b="1" i="0" dirty="0">
                    <a:solidFill>
                      <a:schemeClr val="tx1"/>
                    </a:solidFill>
                    <a:effectLst/>
                    <a:latin typeface="Segoe WPC"/>
                  </a:rPr>
                  <a:t>Exam Trap:</a:t>
                </a:r>
                <a:r>
                  <a:rPr lang="en-US" sz="900" b="0" i="0" dirty="0">
                    <a:solidFill>
                      <a:schemeClr val="tx1"/>
                    </a:solidFill>
                    <a:effectLst/>
                    <a:latin typeface="Segoe WPC"/>
                  </a:rPr>
                  <a:t> Non-agency MBS add significant default risk, unlike agency MBS where default risk is largely guaranteed away.</a:t>
                </a:r>
              </a:p>
              <a:p>
                <a:pPr algn="l">
                  <a:spcAft>
                    <a:spcPts val="600"/>
                  </a:spcAft>
                  <a:buNone/>
                </a:pPr>
                <a:r>
                  <a:rPr lang="en-US" sz="900" b="1" i="0" dirty="0">
                    <a:solidFill>
                      <a:schemeClr val="tx1"/>
                    </a:solidFill>
                    <a:effectLst/>
                    <a:latin typeface="Segoe WPC"/>
                  </a:rPr>
                  <a:t>9. Prepayment Option and Prepayment Modeling</a:t>
                </a:r>
                <a:br>
                  <a:rPr lang="en-US" sz="900" b="0" i="0" dirty="0">
                    <a:solidFill>
                      <a:schemeClr val="tx1"/>
                    </a:solidFill>
                    <a:effectLst/>
                    <a:latin typeface="Segoe WPC"/>
                  </a:rPr>
                </a:br>
                <a:r>
                  <a:rPr lang="en-US" sz="900" b="1" i="0" dirty="0">
                    <a:solidFill>
                      <a:schemeClr val="tx1"/>
                    </a:solidFill>
                    <a:effectLst/>
                    <a:latin typeface="Segoe WPC"/>
                  </a:rPr>
                  <a:t>Financial Object:</a:t>
                </a:r>
                <a:r>
                  <a:rPr lang="en-US" sz="900" b="0" i="0" dirty="0">
                    <a:solidFill>
                      <a:schemeClr val="tx1"/>
                    </a:solidFill>
                    <a:effectLst/>
                    <a:latin typeface="Segoe WPC"/>
                  </a:rPr>
                  <a:t> The borrower’s prepayment option is the key embedded option in a mortgage.</a:t>
                </a:r>
                <a:br>
                  <a:rPr lang="en-US" sz="900" b="0" i="0" dirty="0">
                    <a:solidFill>
                      <a:schemeClr val="tx1"/>
                    </a:solidFill>
                    <a:effectLst/>
                    <a:latin typeface="Segoe WPC"/>
                  </a:rPr>
                </a:br>
                <a:r>
                  <a:rPr lang="en-US" sz="900" b="1" i="0" dirty="0">
                    <a:solidFill>
                      <a:schemeClr val="tx1"/>
                    </a:solidFill>
                    <a:effectLst/>
                    <a:latin typeface="Segoe WPC"/>
                  </a:rPr>
                  <a:t>Plain Intuition:</a:t>
                </a:r>
                <a:r>
                  <a:rPr lang="en-US" sz="900" b="0" i="0" dirty="0">
                    <a:solidFill>
                      <a:schemeClr val="tx1"/>
                    </a:solidFill>
                    <a:effectLst/>
                    <a:latin typeface="Segoe WPC"/>
                  </a:rPr>
                  <a:t> Borrowers prepay because of refinancing, turnover, defaults, and curtailments.</a:t>
                </a:r>
                <a:br>
                  <a:rPr lang="en-US" sz="900" b="0" i="0" dirty="0">
                    <a:solidFill>
                      <a:schemeClr val="tx1"/>
                    </a:solidFill>
                    <a:effectLst/>
                    <a:latin typeface="Segoe WPC"/>
                  </a:rPr>
                </a:br>
                <a:r>
                  <a:rPr lang="en-US" sz="900" b="1" i="0" dirty="0">
                    <a:solidFill>
                      <a:schemeClr val="tx1"/>
                    </a:solidFill>
                    <a:effectLst/>
                    <a:latin typeface="Segoe WPC"/>
                  </a:rPr>
                  <a:t>Visual Intuition:</a:t>
                </a:r>
                <a:r>
                  <a:rPr lang="en-US" sz="900" b="0" i="0" dirty="0">
                    <a:solidFill>
                      <a:schemeClr val="tx1"/>
                    </a:solidFill>
                    <a:effectLst/>
                    <a:latin typeface="Segoe WPC"/>
                  </a:rPr>
                  <a:t> When rates fall, borrowers refinance; when homes are sold, mortgages are repaid; when conditions worsen, defaults matter; when balances are small, partial prepayments become more common.</a:t>
                </a:r>
                <a:br>
                  <a:rPr lang="en-US" sz="900" b="0" i="0" dirty="0">
                    <a:solidFill>
                      <a:schemeClr val="tx1"/>
                    </a:solidFill>
                    <a:effectLst/>
                    <a:latin typeface="Segoe WPC"/>
                  </a:rPr>
                </a:br>
                <a:r>
                  <a:rPr lang="en-US" sz="900" b="1" i="0" dirty="0">
                    <a:solidFill>
                      <a:schemeClr val="tx1"/>
                    </a:solidFill>
                    <a:effectLst/>
                    <a:latin typeface="Segoe WPC"/>
                  </a:rPr>
                  <a:t>Key Formula:</a:t>
                </a:r>
                <a:r>
                  <a:rPr lang="en-US" sz="900" b="0" i="0" dirty="0">
                    <a:solidFill>
                      <a:schemeClr val="tx1"/>
                    </a:solidFill>
                    <a:effectLst/>
                    <a:latin typeface="Segoe WPC"/>
                  </a:rPr>
                  <a:t> A simple refinancing incentive is </a:t>
                </a:r>
                <a14:m>
                  <m:oMath xmlns:m="http://schemas.openxmlformats.org/officeDocument/2006/math">
                    <m:r>
                      <a:rPr lang="en-US" sz="900" i="1">
                        <a:solidFill>
                          <a:schemeClr val="tx1"/>
                        </a:solidFill>
                        <a:latin typeface="Cambria Math" panose="02040503050406030204" pitchFamily="18" charset="0"/>
                      </a:rPr>
                      <m:t>𝐼</m:t>
                    </m:r>
                    <m:r>
                      <a:rPr lang="en-US" sz="900" i="0">
                        <a:solidFill>
                          <a:schemeClr val="tx1"/>
                        </a:solidFill>
                        <a:latin typeface="Cambria Math" panose="02040503050406030204" pitchFamily="18" charset="0"/>
                      </a:rPr>
                      <m:t>=</m:t>
                    </m:r>
                    <m:r>
                      <a:rPr lang="en-US" sz="900" i="1">
                        <a:solidFill>
                          <a:schemeClr val="tx1"/>
                        </a:solidFill>
                        <a:latin typeface="Cambria Math" panose="02040503050406030204" pitchFamily="18" charset="0"/>
                      </a:rPr>
                      <m:t>𝑊𝐴𝐶</m:t>
                    </m:r>
                    <m:r>
                      <a:rPr lang="en-US" sz="900" i="0">
                        <a:solidFill>
                          <a:schemeClr val="tx1"/>
                        </a:solidFill>
                        <a:latin typeface="Cambria Math" panose="02040503050406030204" pitchFamily="18" charset="0"/>
                      </a:rPr>
                      <m:t>−</m:t>
                    </m:r>
                    <m:r>
                      <a:rPr lang="en-US" sz="900" i="1">
                        <a:solidFill>
                          <a:schemeClr val="tx1"/>
                        </a:solidFill>
                        <a:latin typeface="Cambria Math" panose="02040503050406030204" pitchFamily="18" charset="0"/>
                      </a:rPr>
                      <m:t>𝑅</m:t>
                    </m:r>
                  </m:oMath>
                </a14:m>
                <a:r>
                  <a:rPr lang="en-US" sz="900" b="0" i="0" dirty="0">
                    <a:solidFill>
                      <a:schemeClr val="tx1"/>
                    </a:solidFill>
                    <a:effectLst/>
                    <a:latin typeface="Segoe WPC"/>
                  </a:rPr>
                  <a:t>, where </a:t>
                </a:r>
                <a14:m>
                  <m:oMath xmlns:m="http://schemas.openxmlformats.org/officeDocument/2006/math">
                    <m:r>
                      <a:rPr lang="en-US" sz="900" i="1">
                        <a:solidFill>
                          <a:schemeClr val="tx1"/>
                        </a:solidFill>
                        <a:latin typeface="Cambria Math" panose="02040503050406030204" pitchFamily="18" charset="0"/>
                      </a:rPr>
                      <m:t>𝑅</m:t>
                    </m:r>
                  </m:oMath>
                </a14:m>
                <a:r>
                  <a:rPr lang="en-US" sz="900" b="0" i="0" dirty="0">
                    <a:solidFill>
                      <a:schemeClr val="tx1"/>
                    </a:solidFill>
                    <a:effectLst/>
                    <a:latin typeface="Segoe WPC"/>
                  </a:rPr>
                  <a:t> is the current mortgage rate available; a stylized annualized prepayment function may be </a:t>
                </a:r>
                <a14:m>
                  <m:oMath xmlns:m="http://schemas.openxmlformats.org/officeDocument/2006/math">
                    <m:f>
                      <m:fPr>
                        <m:ctrlPr>
                          <a:rPr lang="en-US" sz="900" i="1">
                            <a:solidFill>
                              <a:schemeClr val="tx1"/>
                            </a:solidFill>
                            <a:latin typeface="Cambria Math" panose="02040503050406030204" pitchFamily="18" charset="0"/>
                          </a:rPr>
                        </m:ctrlPr>
                      </m:fPr>
                      <m:num>
                        <m:r>
                          <a:rPr lang="en-US" sz="900">
                            <a:solidFill>
                              <a:schemeClr val="tx1"/>
                            </a:solidFill>
                            <a:latin typeface="Cambria Math" panose="02040503050406030204" pitchFamily="18" charset="0"/>
                          </a:rPr>
                          <m:t>1</m:t>
                        </m:r>
                      </m:num>
                      <m:den>
                        <m:r>
                          <a:rPr lang="en-US" sz="900" i="1">
                            <a:solidFill>
                              <a:schemeClr val="tx1"/>
                            </a:solidFill>
                            <a:latin typeface="Cambria Math" panose="02040503050406030204" pitchFamily="18" charset="0"/>
                          </a:rPr>
                          <m:t>𝑎</m:t>
                        </m:r>
                        <m:r>
                          <a:rPr lang="en-US" sz="900" i="0">
                            <a:solidFill>
                              <a:schemeClr val="tx1"/>
                            </a:solidFill>
                            <a:latin typeface="Cambria Math" panose="02040503050406030204" pitchFamily="18" charset="0"/>
                          </a:rPr>
                          <m:t>+</m:t>
                        </m:r>
                        <m:r>
                          <a:rPr lang="en-US" sz="900" i="1">
                            <a:solidFill>
                              <a:schemeClr val="tx1"/>
                            </a:solidFill>
                            <a:latin typeface="Cambria Math" panose="02040503050406030204" pitchFamily="18" charset="0"/>
                          </a:rPr>
                          <m:t>𝑏</m:t>
                        </m:r>
                        <m:sSup>
                          <m:sSupPr>
                            <m:ctrlPr>
                              <a:rPr lang="en-US" sz="900" i="1">
                                <a:solidFill>
                                  <a:schemeClr val="tx1"/>
                                </a:solidFill>
                                <a:latin typeface="Cambria Math" panose="02040503050406030204" pitchFamily="18" charset="0"/>
                              </a:rPr>
                            </m:ctrlPr>
                          </m:sSupPr>
                          <m:e>
                            <m:r>
                              <a:rPr lang="en-US" sz="900" i="1">
                                <a:solidFill>
                                  <a:schemeClr val="tx1"/>
                                </a:solidFill>
                                <a:latin typeface="Cambria Math" panose="02040503050406030204" pitchFamily="18" charset="0"/>
                              </a:rPr>
                              <m:t>𝑒</m:t>
                            </m:r>
                          </m:e>
                          <m:sup>
                            <m:r>
                              <a:rPr lang="en-US" sz="900" i="0">
                                <a:solidFill>
                                  <a:schemeClr val="tx1"/>
                                </a:solidFill>
                                <a:latin typeface="Cambria Math" panose="02040503050406030204" pitchFamily="18" charset="0"/>
                              </a:rPr>
                              <m:t>−</m:t>
                            </m:r>
                            <m:r>
                              <a:rPr lang="en-US" sz="900" i="1">
                                <a:solidFill>
                                  <a:schemeClr val="tx1"/>
                                </a:solidFill>
                                <a:latin typeface="Cambria Math" panose="02040503050406030204" pitchFamily="18" charset="0"/>
                              </a:rPr>
                              <m:t>𝑐𝐼</m:t>
                            </m:r>
                          </m:sup>
                        </m:sSup>
                      </m:den>
                    </m:f>
                  </m:oMath>
                </a14:m>
                <a:r>
                  <a:rPr lang="en-US" sz="900" b="0" i="0" dirty="0">
                    <a:solidFill>
                      <a:schemeClr val="tx1"/>
                    </a:solidFill>
                    <a:effectLst/>
                    <a:latin typeface="Segoe WPC"/>
                  </a:rPr>
                  <a:t>.</a:t>
                </a:r>
                <a:br>
                  <a:rPr lang="en-US" sz="900" b="0" i="0" dirty="0">
                    <a:solidFill>
                      <a:schemeClr val="tx1"/>
                    </a:solidFill>
                    <a:effectLst/>
                    <a:latin typeface="Segoe WPC"/>
                  </a:rPr>
                </a:br>
                <a:r>
                  <a:rPr lang="en-US" sz="900" b="1" i="0" dirty="0">
                    <a:solidFill>
                      <a:schemeClr val="tx1"/>
                    </a:solidFill>
                    <a:effectLst/>
                    <a:latin typeface="Segoe WPC"/>
                  </a:rPr>
                  <a:t>Interpretation:</a:t>
                </a:r>
                <a:r>
                  <a:rPr lang="en-US" sz="900" b="0" i="0" dirty="0">
                    <a:solidFill>
                      <a:schemeClr val="tx1"/>
                    </a:solidFill>
                    <a:effectLst/>
                    <a:latin typeface="Segoe WPC"/>
                  </a:rPr>
                  <a:t> Prepayment depends not only on current rates but also on loan size, housing prices, borrower characteristics, seasoning, and burnout.</a:t>
                </a:r>
                <a:br>
                  <a:rPr lang="en-US" sz="900" b="0" i="0" dirty="0">
                    <a:solidFill>
                      <a:schemeClr val="tx1"/>
                    </a:solidFill>
                    <a:effectLst/>
                    <a:latin typeface="Segoe WPC"/>
                  </a:rPr>
                </a:br>
                <a:r>
                  <a:rPr lang="en-US" sz="900" b="1" i="0" dirty="0">
                    <a:solidFill>
                      <a:schemeClr val="tx1"/>
                    </a:solidFill>
                    <a:effectLst/>
                    <a:latin typeface="Segoe WPC"/>
                  </a:rPr>
                  <a:t>Exam Trap:</a:t>
                </a:r>
                <a:r>
                  <a:rPr lang="en-US" sz="900" b="0" i="0" dirty="0">
                    <a:solidFill>
                      <a:schemeClr val="tx1"/>
                    </a:solidFill>
                    <a:effectLst/>
                    <a:latin typeface="Segoe WPC"/>
                  </a:rPr>
                  <a:t> Prepayment is path-dependent; old pools may refinance less than expected because the most refinance-prone borrowers have already exited.</a:t>
                </a:r>
              </a:p>
              <a:p>
                <a:pPr algn="l">
                  <a:spcAft>
                    <a:spcPts val="600"/>
                  </a:spcAft>
                  <a:buNone/>
                </a:pPr>
                <a:r>
                  <a:rPr lang="en-US" sz="900" b="1" i="0" dirty="0">
                    <a:solidFill>
                      <a:schemeClr val="tx1"/>
                    </a:solidFill>
                    <a:effectLst/>
                    <a:latin typeface="Segoe WPC"/>
                  </a:rPr>
                  <a:t>10. Valuing MBS with Monte Carlo and OAS</a:t>
                </a:r>
                <a:br>
                  <a:rPr lang="en-US" sz="900" b="0" i="0" dirty="0">
                    <a:solidFill>
                      <a:schemeClr val="tx1"/>
                    </a:solidFill>
                    <a:effectLst/>
                    <a:latin typeface="Segoe WPC"/>
                  </a:rPr>
                </a:br>
                <a:r>
                  <a:rPr lang="en-US" sz="900" b="1" i="0" dirty="0">
                    <a:solidFill>
                      <a:schemeClr val="tx1"/>
                    </a:solidFill>
                    <a:effectLst/>
                    <a:latin typeface="Segoe WPC"/>
                  </a:rPr>
                  <a:t>Financial Object:</a:t>
                </a:r>
                <a:r>
                  <a:rPr lang="en-US" sz="900" b="0" i="0" dirty="0">
                    <a:solidFill>
                      <a:schemeClr val="tx1"/>
                    </a:solidFill>
                    <a:effectLst/>
                    <a:latin typeface="Segoe WPC"/>
                  </a:rPr>
                  <a:t> MBS valuation requires simulating interest rates, prepayments, and resulting cash flows.</a:t>
                </a:r>
                <a:br>
                  <a:rPr lang="en-US" sz="900" b="0" i="0" dirty="0">
                    <a:solidFill>
                      <a:schemeClr val="tx1"/>
                    </a:solidFill>
                    <a:effectLst/>
                    <a:latin typeface="Segoe WPC"/>
                  </a:rPr>
                </a:br>
                <a:r>
                  <a:rPr lang="en-US" sz="900" b="1" i="0" dirty="0">
                    <a:solidFill>
                      <a:schemeClr val="tx1"/>
                    </a:solidFill>
                    <a:effectLst/>
                    <a:latin typeface="Segoe WPC"/>
                  </a:rPr>
                  <a:t>Plain Intuition:</a:t>
                </a:r>
                <a:r>
                  <a:rPr lang="en-US" sz="900" b="0" i="0" dirty="0">
                    <a:solidFill>
                      <a:schemeClr val="tx1"/>
                    </a:solidFill>
                    <a:effectLst/>
                    <a:latin typeface="Segoe WPC"/>
                  </a:rPr>
                  <a:t> Because prepayments depend on uncertain future interest-rate paths and borrower behavior, valuation is path-dependent and usually done with Monte Carlo simulation.</a:t>
                </a:r>
                <a:br>
                  <a:rPr lang="en-US" sz="900" b="0" i="0" dirty="0">
                    <a:solidFill>
                      <a:schemeClr val="tx1"/>
                    </a:solidFill>
                    <a:effectLst/>
                    <a:latin typeface="Segoe WPC"/>
                  </a:rPr>
                </a:br>
                <a:r>
                  <a:rPr lang="en-US" sz="900" b="1" i="0" dirty="0">
                    <a:solidFill>
                      <a:schemeClr val="tx1"/>
                    </a:solidFill>
                    <a:effectLst/>
                    <a:latin typeface="Segoe WPC"/>
                  </a:rPr>
                  <a:t>Visual Intuition:</a:t>
                </a:r>
                <a:r>
                  <a:rPr lang="en-US" sz="900" b="0" i="0" dirty="0">
                    <a:solidFill>
                      <a:schemeClr val="tx1"/>
                    </a:solidFill>
                    <a:effectLst/>
                    <a:latin typeface="Segoe WPC"/>
                  </a:rPr>
                  <a:t> Simulate many rate paths, generate mortgage cash flows under each path, discount them, and average the results.</a:t>
                </a:r>
                <a:br>
                  <a:rPr lang="en-US" sz="900" b="0" i="0" dirty="0">
                    <a:solidFill>
                      <a:schemeClr val="tx1"/>
                    </a:solidFill>
                    <a:effectLst/>
                    <a:latin typeface="Segoe WPC"/>
                  </a:rPr>
                </a:br>
                <a:r>
                  <a:rPr lang="en-US" sz="900" b="1" i="0" dirty="0">
                    <a:solidFill>
                      <a:schemeClr val="tx1"/>
                    </a:solidFill>
                    <a:effectLst/>
                    <a:latin typeface="Segoe WPC"/>
                  </a:rPr>
                  <a:t>Key Formula:</a:t>
                </a:r>
                <a:r>
                  <a:rPr lang="en-US" sz="900" b="0" i="0" dirty="0">
                    <a:solidFill>
                      <a:schemeClr val="tx1"/>
                    </a:solidFill>
                    <a:effectLst/>
                    <a:latin typeface="Segoe WPC"/>
                  </a:rPr>
                  <a:t> </a:t>
                </a:r>
                <a14:m>
                  <m:oMath xmlns:m="http://schemas.openxmlformats.org/officeDocument/2006/math">
                    <m:r>
                      <a:rPr lang="en-US" sz="900" i="1">
                        <a:solidFill>
                          <a:schemeClr val="tx1"/>
                        </a:solidFill>
                        <a:latin typeface="Cambria Math" panose="02040503050406030204" pitchFamily="18" charset="0"/>
                      </a:rPr>
                      <m:t>𝑂𝐴𝑆</m:t>
                    </m:r>
                    <m:r>
                      <a:rPr lang="en-US" sz="900" i="0">
                        <a:solidFill>
                          <a:schemeClr val="tx1"/>
                        </a:solidFill>
                        <a:latin typeface="Cambria Math" panose="02040503050406030204" pitchFamily="18" charset="0"/>
                      </a:rPr>
                      <m:t>=</m:t>
                    </m:r>
                    <m:r>
                      <m:rPr>
                        <m:nor/>
                      </m:rPr>
                      <a:rPr lang="en-US" sz="900" b="0" i="1">
                        <a:solidFill>
                          <a:schemeClr val="tx1"/>
                        </a:solidFill>
                        <a:latin typeface="Cambria Math" panose="02040503050406030204" pitchFamily="18" charset="0"/>
                      </a:rPr>
                      <m:t>Expected</m:t>
                    </m:r>
                    <m:r>
                      <m:rPr>
                        <m:nor/>
                      </m:rPr>
                      <a:rPr lang="en-US" sz="900" b="0" i="1">
                        <a:solidFill>
                          <a:schemeClr val="tx1"/>
                        </a:solidFill>
                        <a:latin typeface="Cambria Math" panose="02040503050406030204" pitchFamily="18" charset="0"/>
                      </a:rPr>
                      <m:t> </m:t>
                    </m:r>
                    <m:r>
                      <m:rPr>
                        <m:nor/>
                      </m:rPr>
                      <a:rPr lang="en-US" sz="900" b="0" i="1">
                        <a:solidFill>
                          <a:schemeClr val="tx1"/>
                        </a:solidFill>
                        <a:latin typeface="Cambria Math" panose="02040503050406030204" pitchFamily="18" charset="0"/>
                      </a:rPr>
                      <m:t>MBS</m:t>
                    </m:r>
                    <m:r>
                      <m:rPr>
                        <m:nor/>
                      </m:rPr>
                      <a:rPr lang="en-US" sz="900" b="0" i="1">
                        <a:solidFill>
                          <a:schemeClr val="tx1"/>
                        </a:solidFill>
                        <a:latin typeface="Cambria Math" panose="02040503050406030204" pitchFamily="18" charset="0"/>
                      </a:rPr>
                      <m:t> </m:t>
                    </m:r>
                    <m:r>
                      <m:rPr>
                        <m:nor/>
                      </m:rPr>
                      <a:rPr lang="en-US" sz="900" b="0" i="1">
                        <a:solidFill>
                          <a:schemeClr val="tx1"/>
                        </a:solidFill>
                        <a:latin typeface="Cambria Math" panose="02040503050406030204" pitchFamily="18" charset="0"/>
                      </a:rPr>
                      <m:t>return</m:t>
                    </m:r>
                    <m:r>
                      <a:rPr lang="en-US" sz="900" b="0" i="0">
                        <a:solidFill>
                          <a:schemeClr val="tx1"/>
                        </a:solidFill>
                        <a:latin typeface="Cambria Math" panose="02040503050406030204" pitchFamily="18" charset="0"/>
                      </a:rPr>
                      <m:t>−</m:t>
                    </m:r>
                    <m:r>
                      <m:rPr>
                        <m:nor/>
                      </m:rPr>
                      <a:rPr lang="en-US" sz="900" b="0" i="1">
                        <a:solidFill>
                          <a:schemeClr val="tx1"/>
                        </a:solidFill>
                        <a:latin typeface="Cambria Math" panose="02040503050406030204" pitchFamily="18" charset="0"/>
                      </a:rPr>
                      <m:t>Treasury</m:t>
                    </m:r>
                    <m:r>
                      <m:rPr>
                        <m:nor/>
                      </m:rPr>
                      <a:rPr lang="en-US" sz="900" b="0" i="1">
                        <a:solidFill>
                          <a:schemeClr val="tx1"/>
                        </a:solidFill>
                        <a:latin typeface="Cambria Math" panose="02040503050406030204" pitchFamily="18" charset="0"/>
                      </a:rPr>
                      <m:t> </m:t>
                    </m:r>
                    <m:r>
                      <m:rPr>
                        <m:nor/>
                      </m:rPr>
                      <a:rPr lang="en-US" sz="900" b="0" i="1">
                        <a:solidFill>
                          <a:schemeClr val="tx1"/>
                        </a:solidFill>
                        <a:latin typeface="Cambria Math" panose="02040503050406030204" pitchFamily="18" charset="0"/>
                      </a:rPr>
                      <m:t>return</m:t>
                    </m:r>
                  </m:oMath>
                </a14:m>
                <a:r>
                  <a:rPr lang="en-US" sz="900" b="0" i="0" dirty="0">
                    <a:solidFill>
                      <a:schemeClr val="tx1"/>
                    </a:solidFill>
                    <a:effectLst/>
                    <a:latin typeface="Segoe WPC"/>
                  </a:rPr>
                  <a:t>, with OAS found by adjusting discount rates until simulated price matches market price.</a:t>
                </a:r>
                <a:br>
                  <a:rPr lang="en-US" sz="900" b="0" i="0" dirty="0">
                    <a:solidFill>
                      <a:schemeClr val="tx1"/>
                    </a:solidFill>
                    <a:effectLst/>
                    <a:latin typeface="Segoe WPC"/>
                  </a:rPr>
                </a:br>
                <a:r>
                  <a:rPr lang="en-US" sz="900" b="1" i="0" dirty="0">
                    <a:solidFill>
                      <a:schemeClr val="tx1"/>
                    </a:solidFill>
                    <a:effectLst/>
                    <a:latin typeface="Segoe WPC"/>
                  </a:rPr>
                  <a:t>Interpretation:</a:t>
                </a:r>
                <a:r>
                  <a:rPr lang="en-US" sz="900" b="0" i="0" dirty="0">
                    <a:solidFill>
                      <a:schemeClr val="tx1"/>
                    </a:solidFill>
                    <a:effectLst/>
                    <a:latin typeface="Segoe WPC"/>
                  </a:rPr>
                  <a:t> OAS is used to compare relative value across MBS after adjusting for embedded prepayment options.</a:t>
                </a:r>
                <a:br>
                  <a:rPr lang="en-US" sz="900" b="0" i="0" dirty="0">
                    <a:solidFill>
                      <a:schemeClr val="tx1"/>
                    </a:solidFill>
                    <a:effectLst/>
                    <a:latin typeface="Segoe WPC"/>
                  </a:rPr>
                </a:br>
                <a:r>
                  <a:rPr lang="en-US" sz="900" b="1" i="0" dirty="0">
                    <a:solidFill>
                      <a:schemeClr val="tx1"/>
                    </a:solidFill>
                    <a:effectLst/>
                    <a:latin typeface="Segoe WPC"/>
                  </a:rPr>
                  <a:t>Exam Trap:</a:t>
                </a:r>
                <a:r>
                  <a:rPr lang="en-US" sz="900" b="0" i="0" dirty="0">
                    <a:solidFill>
                      <a:schemeClr val="tx1"/>
                    </a:solidFill>
                    <a:effectLst/>
                    <a:latin typeface="Segoe WPC"/>
                  </a:rPr>
                  <a:t> A high OAS is only meaningful if the prepayment model is credible; bad assumptions can make an MBS look artificially cheap.</a:t>
                </a:r>
              </a:p>
            </p:txBody>
          </p:sp>
        </mc:Choice>
        <mc:Fallback xmlns="">
          <p:sp>
            <p:nvSpPr>
              <p:cNvPr id="7" name="CuadroTexto 6">
                <a:extLst>
                  <a:ext uri="{FF2B5EF4-FFF2-40B4-BE49-F238E27FC236}">
                    <a16:creationId xmlns:a16="http://schemas.microsoft.com/office/drawing/2014/main" id="{F9A63165-5836-D376-F75D-21943C863B5F}"/>
                  </a:ext>
                </a:extLst>
              </p:cNvPr>
              <p:cNvSpPr txBox="1">
                <a:spLocks noRot="1" noChangeAspect="1" noMove="1" noResize="1" noEditPoints="1" noAdjustHandles="1" noChangeArrowheads="1" noChangeShapeType="1" noTextEdit="1"/>
              </p:cNvSpPr>
              <p:nvPr/>
            </p:nvSpPr>
            <p:spPr>
              <a:xfrm>
                <a:off x="6098721" y="-103868"/>
                <a:ext cx="6331404" cy="8244693"/>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6249725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B1CCE3-FED9-E383-2FE7-763D6E3D77CA}"/>
              </a:ext>
            </a:extLst>
          </p:cNvPr>
          <p:cNvSpPr>
            <a:spLocks noGrp="1"/>
          </p:cNvSpPr>
          <p:nvPr>
            <p:ph type="title"/>
          </p:nvPr>
        </p:nvSpPr>
        <p:spPr>
          <a:xfrm>
            <a:off x="68943" y="23019"/>
            <a:ext cx="10515600" cy="303552"/>
          </a:xfrm>
        </p:spPr>
        <p:txBody>
          <a:bodyPr>
            <a:normAutofit fontScale="90000"/>
          </a:bodyPr>
          <a:lstStyle/>
          <a:p>
            <a:r>
              <a:rPr lang="en-US" dirty="0"/>
              <a:t>Interest Rate Futures</a:t>
            </a:r>
            <a:endParaRPr lang="es-PE"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45C2F939-8DF7-D45F-FFEE-60ADF280D06C}"/>
                  </a:ext>
                </a:extLst>
              </p:cNvPr>
              <p:cNvSpPr txBox="1"/>
              <p:nvPr/>
            </p:nvSpPr>
            <p:spPr>
              <a:xfrm>
                <a:off x="-58056" y="326571"/>
                <a:ext cx="5856514" cy="6785447"/>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Day </a:t>
                </a:r>
                <a:r>
                  <a:rPr lang="es-PE" sz="900" b="1" i="0" dirty="0" err="1">
                    <a:solidFill>
                      <a:schemeClr val="tx1"/>
                    </a:solidFill>
                    <a:effectLst/>
                    <a:latin typeface="Segoe WPC"/>
                  </a:rPr>
                  <a:t>Count</a:t>
                </a:r>
                <a:r>
                  <a:rPr lang="es-PE" sz="900" b="1" i="0" dirty="0">
                    <a:solidFill>
                      <a:schemeClr val="tx1"/>
                    </a:solidFill>
                    <a:effectLst/>
                    <a:latin typeface="Segoe WPC"/>
                  </a:rPr>
                  <a:t> </a:t>
                </a:r>
                <a:r>
                  <a:rPr lang="es-PE" sz="900" b="1" i="0" dirty="0" err="1">
                    <a:solidFill>
                      <a:schemeClr val="tx1"/>
                    </a:solidFill>
                    <a:effectLst/>
                    <a:latin typeface="Segoe WPC"/>
                  </a:rPr>
                  <a:t>Conventions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Reglas para calcular intereses devengados según el tipo de instrumento.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No todos los mercados cuentan los días igual; eso cambia el interés acumulado y el precio.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Es la fracción del cupón ya “ganada” entre el último pago y la fecha actual.</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Accrued</m:t>
                    </m:r>
                    <m:r>
                      <m:rPr>
                        <m:nor/>
                      </m:rPr>
                      <a:rPr lang="es-PE" sz="900" b="0">
                        <a:solidFill>
                          <a:schemeClr val="tx1"/>
                        </a:solidFill>
                      </a:rPr>
                      <m:t> </m:t>
                    </m:r>
                    <m:r>
                      <m:rPr>
                        <m:nor/>
                      </m:rPr>
                      <a:rPr lang="es-PE" sz="900" b="0">
                        <a:solidFill>
                          <a:schemeClr val="tx1"/>
                        </a:solidFill>
                      </a:rPr>
                      <m:t>Interest</m:t>
                    </m:r>
                    <m:r>
                      <a:rPr lang="es-PE" sz="900" b="0" i="0">
                        <a:solidFill>
                          <a:schemeClr val="tx1"/>
                        </a:solidFill>
                        <a:latin typeface="Cambria Math" panose="02040503050406030204" pitchFamily="18" charset="0"/>
                      </a:rPr>
                      <m:t>=</m:t>
                    </m:r>
                    <m:f>
                      <m:fPr>
                        <m:ctrlPr>
                          <a:rPr lang="ar-AE" sz="900" b="0" i="1">
                            <a:solidFill>
                              <a:schemeClr val="tx1"/>
                            </a:solidFill>
                            <a:latin typeface="Cambria Math" panose="02040503050406030204" pitchFamily="18" charset="0"/>
                          </a:rPr>
                        </m:ctrlPr>
                      </m:fPr>
                      <m:num>
                        <m:r>
                          <m:rPr>
                            <m:nor/>
                          </m:rPr>
                          <a:rPr lang="es-PE" sz="900" b="0" i="1">
                            <a:solidFill>
                              <a:schemeClr val="tx1"/>
                            </a:solidFill>
                            <a:latin typeface="Cambria Math" panose="02040503050406030204" pitchFamily="18" charset="0"/>
                          </a:rPr>
                          <m:t>days</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in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accrual</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period</m:t>
                        </m:r>
                      </m:num>
                      <m:den>
                        <m:r>
                          <m:rPr>
                            <m:nor/>
                          </m:rPr>
                          <a:rPr lang="es-PE" sz="900" b="0" i="1">
                            <a:solidFill>
                              <a:schemeClr val="tx1"/>
                            </a:solidFill>
                            <a:latin typeface="Cambria Math" panose="02040503050406030204" pitchFamily="18" charset="0"/>
                          </a:rPr>
                          <m:t>days</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in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reference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period</m:t>
                        </m:r>
                      </m:den>
                    </m:f>
                    <m:r>
                      <a:rPr lang="ar-A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coupon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payment</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En bonos del Tesoro USA se usa </a:t>
                </a:r>
                <a:r>
                  <a:rPr lang="es-PE" sz="900" b="1" i="0" dirty="0">
                    <a:solidFill>
                      <a:schemeClr val="tx1"/>
                    </a:solidFill>
                    <a:effectLst/>
                    <a:latin typeface="Segoe WPC"/>
                  </a:rPr>
                  <a:t>actual/actual</a:t>
                </a:r>
                <a:r>
                  <a:rPr lang="es-PE" sz="900" b="0" i="0" dirty="0">
                    <a:solidFill>
                      <a:schemeClr val="tx1"/>
                    </a:solidFill>
                    <a:effectLst/>
                    <a:latin typeface="Segoe WPC"/>
                  </a:rPr>
                  <a:t>; en bonos corporativos USA, </a:t>
                </a:r>
                <a:r>
                  <a:rPr lang="es-PE" sz="900" b="1" i="0" dirty="0">
                    <a:solidFill>
                      <a:schemeClr val="tx1"/>
                    </a:solidFill>
                    <a:effectLst/>
                    <a:latin typeface="Segoe WPC"/>
                  </a:rPr>
                  <a:t>30/360</a:t>
                </a:r>
                <a:r>
                  <a:rPr lang="es-PE" sz="900" b="0" i="0" dirty="0">
                    <a:solidFill>
                      <a:schemeClr val="tx1"/>
                    </a:solidFill>
                    <a:effectLst/>
                    <a:latin typeface="Segoe WPC"/>
                  </a:rPr>
                  <a:t>; en T-</a:t>
                </a:r>
                <a:r>
                  <a:rPr lang="es-PE" sz="900" b="0" i="0" dirty="0" err="1">
                    <a:solidFill>
                      <a:schemeClr val="tx1"/>
                    </a:solidFill>
                    <a:effectLst/>
                    <a:latin typeface="Segoe WPC"/>
                  </a:rPr>
                  <a:t>bills</a:t>
                </a:r>
                <a:r>
                  <a:rPr lang="es-PE" sz="900" b="0" i="0" dirty="0">
                    <a:solidFill>
                      <a:schemeClr val="tx1"/>
                    </a:solidFill>
                    <a:effectLst/>
                    <a:latin typeface="Segoe WPC"/>
                  </a:rPr>
                  <a:t> USA, </a:t>
                </a:r>
                <a:r>
                  <a:rPr lang="es-PE" sz="900" b="1" i="0" dirty="0">
                    <a:solidFill>
                      <a:schemeClr val="tx1"/>
                    </a:solidFill>
                    <a:effectLst/>
                    <a:latin typeface="Segoe WPC"/>
                  </a:rPr>
                  <a:t>actual/360</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confundas el numerador y denominador de </a:t>
                </a:r>
                <a14:m>
                  <m:oMath xmlns:m="http://schemas.openxmlformats.org/officeDocument/2006/math">
                    <m:r>
                      <a:rPr lang="es-PE" sz="900" i="1">
                        <a:solidFill>
                          <a:schemeClr val="tx1"/>
                        </a:solidFill>
                        <a:latin typeface="Cambria Math" panose="02040503050406030204" pitchFamily="18" charset="0"/>
                      </a:rPr>
                      <m:t>𝑋</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𝑌</m:t>
                    </m:r>
                  </m:oMath>
                </a14:m>
                <a:r>
                  <a:rPr lang="es-PE" sz="900" b="0" i="0" dirty="0">
                    <a:solidFill>
                      <a:schemeClr val="tx1"/>
                    </a:solidFill>
                    <a:effectLst/>
                    <a:latin typeface="Segoe WPC"/>
                  </a:rPr>
                  <a:t>: en bonos el denominador es el período entre cupones; en </a:t>
                </a:r>
                <a:r>
                  <a:rPr lang="es-PE" sz="900" b="0" i="0" dirty="0" err="1">
                    <a:solidFill>
                      <a:schemeClr val="tx1"/>
                    </a:solidFill>
                    <a:effectLst/>
                    <a:latin typeface="Segoe WPC"/>
                  </a:rPr>
                  <a:t>money</a:t>
                </a:r>
                <a:r>
                  <a:rPr lang="es-PE" sz="900" b="0" i="0" dirty="0">
                    <a:solidFill>
                      <a:schemeClr val="tx1"/>
                    </a:solidFill>
                    <a:effectLst/>
                    <a:latin typeface="Segoe WPC"/>
                  </a:rPr>
                  <a:t> </a:t>
                </a:r>
                <a:r>
                  <a:rPr lang="es-PE" sz="900" b="0" i="0" dirty="0" err="1">
                    <a:solidFill>
                      <a:schemeClr val="tx1"/>
                    </a:solidFill>
                    <a:effectLst/>
                    <a:latin typeface="Segoe WPC"/>
                  </a:rPr>
                  <a:t>markets</a:t>
                </a:r>
                <a:r>
                  <a:rPr lang="es-PE" sz="900" b="0" i="0" dirty="0">
                    <a:solidFill>
                      <a:schemeClr val="tx1"/>
                    </a:solidFill>
                    <a:effectLst/>
                    <a:latin typeface="Segoe WPC"/>
                  </a:rPr>
                  <a:t> suele ser el año.</a:t>
                </a:r>
              </a:p>
              <a:p>
                <a:pPr algn="l">
                  <a:spcAft>
                    <a:spcPts val="600"/>
                  </a:spcAft>
                  <a:buNone/>
                </a:pPr>
                <a:r>
                  <a:rPr lang="es-PE" sz="900" b="1" i="0" dirty="0">
                    <a:solidFill>
                      <a:schemeClr val="tx1"/>
                    </a:solidFill>
                    <a:effectLst/>
                    <a:latin typeface="Segoe WPC"/>
                  </a:rPr>
                  <a:t>2. Actual/Actual vs 30/360</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Convenciones más comunes en bonos.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1" i="0" dirty="0">
                    <a:solidFill>
                      <a:schemeClr val="tx1"/>
                    </a:solidFill>
                    <a:effectLst/>
                    <a:latin typeface="Segoe WPC"/>
                  </a:rPr>
                  <a:t>Actual/actual</a:t>
                </a:r>
                <a:r>
                  <a:rPr lang="es-PE" sz="900" b="0" i="0" dirty="0">
                    <a:solidFill>
                      <a:schemeClr val="tx1"/>
                    </a:solidFill>
                    <a:effectLst/>
                    <a:latin typeface="Segoe WPC"/>
                  </a:rPr>
                  <a:t> usa días calendario reales; </a:t>
                </a:r>
                <a:r>
                  <a:rPr lang="es-PE" sz="900" b="1" i="0" dirty="0">
                    <a:solidFill>
                      <a:schemeClr val="tx1"/>
                    </a:solidFill>
                    <a:effectLst/>
                    <a:latin typeface="Segoe WPC"/>
                  </a:rPr>
                  <a:t>30/360</a:t>
                </a:r>
                <a:r>
                  <a:rPr lang="es-PE" sz="900" b="0" i="0" dirty="0">
                    <a:solidFill>
                      <a:schemeClr val="tx1"/>
                    </a:solidFill>
                    <a:effectLst/>
                    <a:latin typeface="Segoe WPC"/>
                  </a:rPr>
                  <a:t> finge que todos los meses tienen 30 días.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Dos bonos idénticos pueden acumular intereses ligeramente distintos solo por la convención usada.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b="0" i="1">
                            <a:solidFill>
                              <a:schemeClr val="tx1"/>
                            </a:solidFill>
                            <a:latin typeface="Cambria Math" panose="02040503050406030204" pitchFamily="18" charset="0"/>
                          </a:rPr>
                        </m:ctrlPr>
                      </m:sSubPr>
                      <m:e>
                        <m:r>
                          <m:rPr>
                            <m:nor/>
                          </m:rPr>
                          <a:rPr lang="es-PE" sz="900" b="0">
                            <a:solidFill>
                              <a:schemeClr val="tx1"/>
                            </a:solidFill>
                          </a:rPr>
                          <m:t>AI</m:t>
                        </m:r>
                      </m:e>
                      <m:sub>
                        <m:r>
                          <a:rPr lang="ar-AE" sz="900" b="0" i="1">
                            <a:solidFill>
                              <a:schemeClr val="tx1"/>
                            </a:solidFill>
                            <a:latin typeface="Cambria Math" panose="02040503050406030204" pitchFamily="18" charset="0"/>
                          </a:rPr>
                          <m:t>𝐴</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𝐴</m:t>
                        </m:r>
                      </m:sub>
                    </m:sSub>
                    <m:r>
                      <a:rPr lang="ar-AE" sz="900" b="0" i="0">
                        <a:solidFill>
                          <a:schemeClr val="tx1"/>
                        </a:solidFill>
                        <a:latin typeface="Cambria Math" panose="02040503050406030204" pitchFamily="18" charset="0"/>
                      </a:rPr>
                      <m:t>=</m:t>
                    </m:r>
                    <m:f>
                      <m:fPr>
                        <m:ctrlPr>
                          <a:rPr lang="ar-AE" sz="900" b="0" i="1">
                            <a:solidFill>
                              <a:schemeClr val="tx1"/>
                            </a:solidFill>
                            <a:latin typeface="Cambria Math" panose="02040503050406030204" pitchFamily="18" charset="0"/>
                          </a:rPr>
                        </m:ctrlPr>
                      </m:fPr>
                      <m:num>
                        <m:r>
                          <m:rPr>
                            <m:nor/>
                          </m:rPr>
                          <a:rPr lang="es-PE" sz="900" b="0" i="1">
                            <a:solidFill>
                              <a:schemeClr val="tx1"/>
                            </a:solidFill>
                            <a:latin typeface="Cambria Math" panose="02040503050406030204" pitchFamily="18" charset="0"/>
                          </a:rPr>
                          <m:t>actual</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days</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since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last</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coupon</m:t>
                        </m:r>
                      </m:num>
                      <m:den>
                        <m:r>
                          <m:rPr>
                            <m:nor/>
                          </m:rPr>
                          <a:rPr lang="es-PE" sz="900" b="0" i="1">
                            <a:solidFill>
                              <a:schemeClr val="tx1"/>
                            </a:solidFill>
                            <a:latin typeface="Cambria Math" panose="02040503050406030204" pitchFamily="18" charset="0"/>
                          </a:rPr>
                          <m:t>actual</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days</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between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coupons</m:t>
                        </m:r>
                      </m:den>
                    </m:f>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𝐶</m:t>
                    </m:r>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 </m:t>
                    </m:r>
                    <m:sSub>
                      <m:sSubPr>
                        <m:ctrlPr>
                          <a:rPr lang="ar-AE" sz="900" i="1">
                            <a:solidFill>
                              <a:schemeClr val="tx1"/>
                            </a:solidFill>
                            <a:latin typeface="Cambria Math" panose="02040503050406030204" pitchFamily="18" charset="0"/>
                          </a:rPr>
                        </m:ctrlPr>
                      </m:sSubPr>
                      <m:e>
                        <m:r>
                          <m:rPr>
                            <m:nor/>
                          </m:rPr>
                          <a:rPr lang="es-PE" sz="900" b="0" i="1">
                            <a:solidFill>
                              <a:schemeClr val="tx1"/>
                            </a:solidFill>
                            <a:latin typeface="Cambria Math" panose="02040503050406030204" pitchFamily="18" charset="0"/>
                          </a:rPr>
                          <m:t>AI</m:t>
                        </m:r>
                      </m:e>
                      <m:sub>
                        <m:r>
                          <a:rPr lang="ar-AE" sz="900" b="0" i="0">
                            <a:solidFill>
                              <a:schemeClr val="tx1"/>
                            </a:solidFill>
                            <a:latin typeface="Cambria Math" panose="02040503050406030204" pitchFamily="18" charset="0"/>
                          </a:rPr>
                          <m:t>30</m:t>
                        </m:r>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360</m:t>
                        </m:r>
                      </m:sub>
                    </m:sSub>
                    <m:r>
                      <a:rPr lang="ar-AE" sz="900" b="0" i="0">
                        <a:solidFill>
                          <a:schemeClr val="tx1"/>
                        </a:solidFill>
                        <a:latin typeface="Cambria Math" panose="02040503050406030204" pitchFamily="18" charset="0"/>
                      </a:rPr>
                      <m:t>=</m:t>
                    </m:r>
                    <m:f>
                      <m:fPr>
                        <m:ctrlPr>
                          <a:rPr lang="ar-AE" sz="900" b="0" i="1">
                            <a:solidFill>
                              <a:schemeClr val="tx1"/>
                            </a:solidFill>
                            <a:latin typeface="Cambria Math" panose="02040503050406030204" pitchFamily="18" charset="0"/>
                          </a:rPr>
                        </m:ctrlPr>
                      </m:fPr>
                      <m:num>
                        <m:r>
                          <m:rPr>
                            <m:nor/>
                          </m:rPr>
                          <a:rPr lang="ar-AE" sz="900" b="0" i="1">
                            <a:solidFill>
                              <a:schemeClr val="tx1"/>
                            </a:solidFill>
                            <a:latin typeface="Cambria Math" panose="02040503050406030204" pitchFamily="18" charset="0"/>
                          </a:rPr>
                          <m:t>30</m:t>
                        </m:r>
                        <m:r>
                          <m:rPr>
                            <m:nor/>
                          </m:rPr>
                          <a:rPr lang="ar-AE" sz="900" b="0" i="1">
                            <a:solidFill>
                              <a:schemeClr val="tx1"/>
                            </a:solidFill>
                            <a:latin typeface="Cambria Math" panose="02040503050406030204" pitchFamily="18" charset="0"/>
                          </a:rPr>
                          <m:t>/</m:t>
                        </m:r>
                        <m:r>
                          <m:rPr>
                            <m:nor/>
                          </m:rPr>
                          <a:rPr lang="ar-AE" sz="900" b="0" i="1">
                            <a:solidFill>
                              <a:schemeClr val="tx1"/>
                            </a:solidFill>
                            <a:latin typeface="Cambria Math" panose="02040503050406030204" pitchFamily="18" charset="0"/>
                          </a:rPr>
                          <m:t>360 </m:t>
                        </m:r>
                        <m:r>
                          <m:rPr>
                            <m:nor/>
                          </m:rPr>
                          <a:rPr lang="es-PE" sz="900" b="0" i="1">
                            <a:solidFill>
                              <a:schemeClr val="tx1"/>
                            </a:solidFill>
                            <a:latin typeface="Cambria Math" panose="02040503050406030204" pitchFamily="18" charset="0"/>
                          </a:rPr>
                          <m:t>days</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since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last</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coupon</m:t>
                        </m:r>
                      </m:num>
                      <m:den>
                        <m:r>
                          <a:rPr lang="ar-AE" sz="900" b="0" i="0">
                            <a:solidFill>
                              <a:schemeClr val="tx1"/>
                            </a:solidFill>
                            <a:latin typeface="Cambria Math" panose="02040503050406030204" pitchFamily="18" charset="0"/>
                          </a:rPr>
                          <m:t>180</m:t>
                        </m:r>
                      </m:den>
                    </m:f>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𝐶</m:t>
                    </m:r>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El 30/360 simplifica cálculos, pero genera rarezas como “3 días” entre 28 de febrero y 1 de marzo.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En FRM suelen preguntarte qué convención corresponde a cada mercado, no solo calcular.</a:t>
                </a:r>
              </a:p>
              <a:p>
                <a:pPr algn="l">
                  <a:spcAft>
                    <a:spcPts val="600"/>
                  </a:spcAft>
                  <a:buNone/>
                </a:pPr>
                <a:r>
                  <a:rPr lang="es-PE" sz="900" b="1" i="0" dirty="0">
                    <a:solidFill>
                      <a:schemeClr val="tx1"/>
                    </a:solidFill>
                    <a:effectLst/>
                    <a:latin typeface="Segoe WPC"/>
                  </a:rPr>
                  <a:t>3. </a:t>
                </a:r>
                <a:r>
                  <a:rPr lang="es-PE" sz="900" b="1" i="0" dirty="0" err="1">
                    <a:solidFill>
                      <a:schemeClr val="tx1"/>
                    </a:solidFill>
                    <a:effectLst/>
                    <a:latin typeface="Segoe WPC"/>
                  </a:rPr>
                  <a:t>Treasury</a:t>
                </a:r>
                <a:r>
                  <a:rPr lang="es-PE" sz="900" b="1" i="0" dirty="0">
                    <a:solidFill>
                      <a:schemeClr val="tx1"/>
                    </a:solidFill>
                    <a:effectLst/>
                    <a:latin typeface="Segoe WPC"/>
                  </a:rPr>
                  <a:t> Bill </a:t>
                </a:r>
                <a:r>
                  <a:rPr lang="es-PE" sz="900" b="1" i="0" dirty="0" err="1">
                    <a:solidFill>
                      <a:schemeClr val="tx1"/>
                    </a:solidFill>
                    <a:effectLst/>
                    <a:latin typeface="Segoe WPC"/>
                  </a:rPr>
                  <a:t>Discount</a:t>
                </a:r>
                <a:r>
                  <a:rPr lang="es-PE" sz="900" b="1" i="0" dirty="0">
                    <a:solidFill>
                      <a:schemeClr val="tx1"/>
                    </a:solidFill>
                    <a:effectLst/>
                    <a:latin typeface="Segoe WPC"/>
                  </a:rPr>
                  <a:t> </a:t>
                </a:r>
                <a:r>
                  <a:rPr lang="es-PE" sz="900" b="1" i="0" dirty="0" err="1">
                    <a:solidFill>
                      <a:schemeClr val="tx1"/>
                    </a:solidFill>
                    <a:effectLst/>
                    <a:latin typeface="Segoe WPC"/>
                  </a:rPr>
                  <a:t>Quotes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Cotización de T-</a:t>
                </a:r>
                <a:r>
                  <a:rPr lang="es-PE" sz="900" b="0" i="0" dirty="0" err="1">
                    <a:solidFill>
                      <a:schemeClr val="tx1"/>
                    </a:solidFill>
                    <a:effectLst/>
                    <a:latin typeface="Segoe WPC"/>
                  </a:rPr>
                  <a:t>bills</a:t>
                </a:r>
                <a:r>
                  <a:rPr lang="es-PE" sz="900" b="0" i="0" dirty="0">
                    <a:solidFill>
                      <a:schemeClr val="tx1"/>
                    </a:solidFill>
                    <a:effectLst/>
                    <a:latin typeface="Segoe WPC"/>
                  </a:rPr>
                  <a:t> en tasa de descuento, no en precio directo.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mercado </a:t>
                </a:r>
                <a:r>
                  <a:rPr lang="es-PE" sz="900" b="0" i="0" dirty="0" err="1">
                    <a:solidFill>
                      <a:schemeClr val="tx1"/>
                    </a:solidFill>
                    <a:effectLst/>
                    <a:latin typeface="Segoe WPC"/>
                  </a:rPr>
                  <a:t>quotea</a:t>
                </a:r>
                <a:r>
                  <a:rPr lang="es-PE" sz="900" b="0" i="0" dirty="0">
                    <a:solidFill>
                      <a:schemeClr val="tx1"/>
                    </a:solidFill>
                    <a:effectLst/>
                    <a:latin typeface="Segoe WPC"/>
                  </a:rPr>
                  <a:t> cuánto descuento se aplica al valor final, no cuánto rinde sobre el monto invertido.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Compras hoy por debajo de 100 y recibes 100 al vencimiento.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𝐶</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100</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𝑛</m:t>
                        </m:r>
                      </m:num>
                      <m:den>
                        <m:r>
                          <a:rPr lang="ar-AE" sz="900" i="0">
                            <a:solidFill>
                              <a:schemeClr val="tx1"/>
                            </a:solidFill>
                            <a:latin typeface="Cambria Math" panose="02040503050406030204" pitchFamily="18" charset="0"/>
                          </a:rPr>
                          <m:t>360</m:t>
                        </m:r>
                      </m:den>
                    </m:f>
                    <m:r>
                      <a:rPr lang="ar-AE" sz="900" i="1">
                        <a:solidFill>
                          <a:schemeClr val="tx1"/>
                        </a:solidFill>
                        <a:latin typeface="Cambria Math" panose="02040503050406030204" pitchFamily="18" charset="0"/>
                      </a:rPr>
                      <m:t>𝑄</m:t>
                    </m:r>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 </m:t>
                    </m:r>
                    <m:r>
                      <a:rPr lang="ar-AE" sz="900" i="1">
                        <a:solidFill>
                          <a:schemeClr val="tx1"/>
                        </a:solidFill>
                        <a:latin typeface="Cambria Math" panose="02040503050406030204" pitchFamily="18" charset="0"/>
                      </a:rPr>
                      <m:t>𝑄</m:t>
                    </m:r>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360</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100</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𝐶</m:t>
                            </m:r>
                          </m:e>
                        </m:d>
                      </m:num>
                      <m:den>
                        <m:r>
                          <a:rPr lang="ar-AE" sz="900" i="1">
                            <a:solidFill>
                              <a:schemeClr val="tx1"/>
                            </a:solidFill>
                            <a:latin typeface="Cambria Math" panose="02040503050406030204" pitchFamily="18" charset="0"/>
                          </a:rPr>
                          <m:t>𝑛</m:t>
                        </m:r>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Si sube el </a:t>
                </a:r>
                <a:r>
                  <a:rPr lang="es-PE" sz="900" b="0" i="0" dirty="0" err="1">
                    <a:solidFill>
                      <a:schemeClr val="tx1"/>
                    </a:solidFill>
                    <a:effectLst/>
                    <a:latin typeface="Segoe WPC"/>
                  </a:rPr>
                  <a:t>quote</a:t>
                </a:r>
                <a:r>
                  <a:rPr lang="es-PE" sz="900" b="0" i="0" dirty="0">
                    <a:solidFill>
                      <a:schemeClr val="tx1"/>
                    </a:solidFill>
                    <a:effectLst/>
                    <a:latin typeface="Segoe WPC"/>
                  </a:rPr>
                  <a:t> de descuento, baja el precio; por eso el </a:t>
                </a:r>
                <a:r>
                  <a:rPr lang="es-PE" sz="900" b="0" i="0" dirty="0" err="1">
                    <a:solidFill>
                      <a:schemeClr val="tx1"/>
                    </a:solidFill>
                    <a:effectLst/>
                    <a:latin typeface="Segoe WPC"/>
                  </a:rPr>
                  <a:t>bid</a:t>
                </a:r>
                <a:r>
                  <a:rPr lang="es-PE" sz="900" b="0" i="0" dirty="0">
                    <a:solidFill>
                      <a:schemeClr val="tx1"/>
                    </a:solidFill>
                    <a:effectLst/>
                    <a:latin typeface="Segoe WPC"/>
                  </a:rPr>
                  <a:t> </a:t>
                </a:r>
                <a:r>
                  <a:rPr lang="es-PE" sz="900" b="0" i="0" dirty="0" err="1">
                    <a:solidFill>
                      <a:schemeClr val="tx1"/>
                    </a:solidFill>
                    <a:effectLst/>
                    <a:latin typeface="Segoe WPC"/>
                  </a:rPr>
                  <a:t>quote</a:t>
                </a:r>
                <a:r>
                  <a:rPr lang="es-PE" sz="900" b="0" i="0" dirty="0">
                    <a:solidFill>
                      <a:schemeClr val="tx1"/>
                    </a:solidFill>
                    <a:effectLst/>
                    <a:latin typeface="Segoe WPC"/>
                  </a:rPr>
                  <a:t> puede ser mayor que el </a:t>
                </a:r>
                <a:r>
                  <a:rPr lang="es-PE" sz="900" b="0" i="0" dirty="0" err="1">
                    <a:solidFill>
                      <a:schemeClr val="tx1"/>
                    </a:solidFill>
                    <a:effectLst/>
                    <a:latin typeface="Segoe WPC"/>
                  </a:rPr>
                  <a:t>ask</a:t>
                </a:r>
                <a:r>
                  <a:rPr lang="es-PE" sz="900" b="0" i="0" dirty="0">
                    <a:solidFill>
                      <a:schemeClr val="tx1"/>
                    </a:solidFill>
                    <a:effectLst/>
                    <a:latin typeface="Segoe WPC"/>
                  </a:rPr>
                  <a:t> </a:t>
                </a:r>
                <a:r>
                  <a:rPr lang="es-PE" sz="900" b="0" i="0" dirty="0" err="1">
                    <a:solidFill>
                      <a:schemeClr val="tx1"/>
                    </a:solidFill>
                    <a:effectLst/>
                    <a:latin typeface="Segoe WPC"/>
                  </a:rPr>
                  <a:t>quote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interpretes </a:t>
                </a:r>
                <a14:m>
                  <m:oMath xmlns:m="http://schemas.openxmlformats.org/officeDocument/2006/math">
                    <m:r>
                      <a:rPr lang="es-PE" sz="900" i="1">
                        <a:solidFill>
                          <a:schemeClr val="tx1"/>
                        </a:solidFill>
                        <a:latin typeface="Cambria Math" panose="02040503050406030204" pitchFamily="18" charset="0"/>
                      </a:rPr>
                      <m:t>𝑄</m:t>
                    </m:r>
                  </m:oMath>
                </a14:m>
                <a:r>
                  <a:rPr lang="es-PE" sz="900" b="0" i="0" dirty="0">
                    <a:solidFill>
                      <a:schemeClr val="tx1"/>
                    </a:solidFill>
                    <a:effectLst/>
                    <a:latin typeface="Segoe WPC"/>
                  </a:rPr>
                  <a:t> como </a:t>
                </a:r>
                <a:r>
                  <a:rPr lang="es-PE" sz="900" b="0" i="0" dirty="0" err="1">
                    <a:solidFill>
                      <a:schemeClr val="tx1"/>
                    </a:solidFill>
                    <a:effectLst/>
                    <a:latin typeface="Segoe WPC"/>
                  </a:rPr>
                  <a:t>yield</a:t>
                </a:r>
                <a:r>
                  <a:rPr lang="es-PE" sz="900" b="0" i="0" dirty="0">
                    <a:solidFill>
                      <a:schemeClr val="tx1"/>
                    </a:solidFill>
                    <a:effectLst/>
                    <a:latin typeface="Segoe WPC"/>
                  </a:rPr>
                  <a:t> tradicional; es una tasa sobre el valor final del </a:t>
                </a:r>
                <a:r>
                  <a:rPr lang="es-PE" sz="900" b="0" i="0" dirty="0" err="1">
                    <a:solidFill>
                      <a:schemeClr val="tx1"/>
                    </a:solidFill>
                    <a:effectLst/>
                    <a:latin typeface="Segoe WPC"/>
                  </a:rPr>
                  <a:t>bill</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4. </a:t>
                </a:r>
                <a:r>
                  <a:rPr lang="es-PE" sz="900" b="1" i="0" dirty="0" err="1">
                    <a:solidFill>
                      <a:schemeClr val="tx1"/>
                    </a:solidFill>
                    <a:effectLst/>
                    <a:latin typeface="Segoe WPC"/>
                  </a:rPr>
                  <a:t>Clean</a:t>
                </a:r>
                <a:r>
                  <a:rPr lang="es-PE" sz="900" b="1" i="0" dirty="0">
                    <a:solidFill>
                      <a:schemeClr val="tx1"/>
                    </a:solidFill>
                    <a:effectLst/>
                    <a:latin typeface="Segoe WPC"/>
                  </a:rPr>
                  <a:t> Price vs </a:t>
                </a:r>
                <a:r>
                  <a:rPr lang="es-PE" sz="900" b="1" i="0" dirty="0" err="1">
                    <a:solidFill>
                      <a:schemeClr val="tx1"/>
                    </a:solidFill>
                    <a:effectLst/>
                    <a:latin typeface="Segoe WPC"/>
                  </a:rPr>
                  <a:t>Dirty</a:t>
                </a:r>
                <a:r>
                  <a:rPr lang="es-PE" sz="900" b="1" i="0" dirty="0">
                    <a:solidFill>
                      <a:schemeClr val="tx1"/>
                    </a:solidFill>
                    <a:effectLst/>
                    <a:latin typeface="Segoe WPC"/>
                  </a:rPr>
                  <a:t> Price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Dos maneras de expresar el precio de un </a:t>
                </a:r>
                <a:r>
                  <a:rPr lang="es-PE" sz="900" b="0" i="0" dirty="0" err="1">
                    <a:solidFill>
                      <a:schemeClr val="tx1"/>
                    </a:solidFill>
                    <a:effectLst/>
                    <a:latin typeface="Segoe WPC"/>
                  </a:rPr>
                  <a:t>Treasury</a:t>
                </a:r>
                <a:r>
                  <a:rPr lang="es-PE" sz="900" b="0" i="0" dirty="0">
                    <a:solidFill>
                      <a:schemeClr val="tx1"/>
                    </a:solidFill>
                    <a:effectLst/>
                    <a:latin typeface="Segoe WPC"/>
                  </a:rPr>
                  <a:t> bond.</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a:t>
                </a:r>
                <a:r>
                  <a:rPr lang="es-PE" sz="900" b="1" i="0" dirty="0" err="1">
                    <a:solidFill>
                      <a:schemeClr val="tx1"/>
                    </a:solidFill>
                    <a:effectLst/>
                    <a:latin typeface="Segoe WPC"/>
                  </a:rPr>
                  <a:t>clean</a:t>
                </a:r>
                <a:r>
                  <a:rPr lang="es-PE" sz="900" b="1" i="0" dirty="0">
                    <a:solidFill>
                      <a:schemeClr val="tx1"/>
                    </a:solidFill>
                    <a:effectLst/>
                    <a:latin typeface="Segoe WPC"/>
                  </a:rPr>
                  <a:t> </a:t>
                </a:r>
                <a:r>
                  <a:rPr lang="es-PE" sz="900" b="1" i="0" dirty="0" err="1">
                    <a:solidFill>
                      <a:schemeClr val="tx1"/>
                    </a:solidFill>
                    <a:effectLst/>
                    <a:latin typeface="Segoe WPC"/>
                  </a:rPr>
                  <a:t>price</a:t>
                </a:r>
                <a:r>
                  <a:rPr lang="es-PE" sz="900" b="0" i="0" dirty="0">
                    <a:solidFill>
                      <a:schemeClr val="tx1"/>
                    </a:solidFill>
                    <a:effectLst/>
                    <a:latin typeface="Segoe WPC"/>
                  </a:rPr>
                  <a:t> es el </a:t>
                </a:r>
                <a:r>
                  <a:rPr lang="es-PE" sz="900" b="0" i="0" dirty="0" err="1">
                    <a:solidFill>
                      <a:schemeClr val="tx1"/>
                    </a:solidFill>
                    <a:effectLst/>
                    <a:latin typeface="Segoe WPC"/>
                  </a:rPr>
                  <a:t>quote</a:t>
                </a:r>
                <a:r>
                  <a:rPr lang="es-PE" sz="900" b="0" i="0" dirty="0">
                    <a:solidFill>
                      <a:schemeClr val="tx1"/>
                    </a:solidFill>
                    <a:effectLst/>
                    <a:latin typeface="Segoe WPC"/>
                  </a:rPr>
                  <a:t> de mercado; el </a:t>
                </a:r>
                <a:r>
                  <a:rPr lang="es-PE" sz="900" b="1" i="0" dirty="0" err="1">
                    <a:solidFill>
                      <a:schemeClr val="tx1"/>
                    </a:solidFill>
                    <a:effectLst/>
                    <a:latin typeface="Segoe WPC"/>
                  </a:rPr>
                  <a:t>dirty</a:t>
                </a:r>
                <a:r>
                  <a:rPr lang="es-PE" sz="900" b="1" i="0" dirty="0">
                    <a:solidFill>
                      <a:schemeClr val="tx1"/>
                    </a:solidFill>
                    <a:effectLst/>
                    <a:latin typeface="Segoe WPC"/>
                  </a:rPr>
                  <a:t> </a:t>
                </a:r>
                <a:r>
                  <a:rPr lang="es-PE" sz="900" b="1" i="0" dirty="0" err="1">
                    <a:solidFill>
                      <a:schemeClr val="tx1"/>
                    </a:solidFill>
                    <a:effectLst/>
                    <a:latin typeface="Segoe WPC"/>
                  </a:rPr>
                  <a:t>price</a:t>
                </a:r>
                <a:r>
                  <a:rPr lang="es-PE" sz="900" b="0" i="0" dirty="0">
                    <a:solidFill>
                      <a:schemeClr val="tx1"/>
                    </a:solidFill>
                    <a:effectLst/>
                    <a:latin typeface="Segoe WPC"/>
                  </a:rPr>
                  <a:t> es lo que realmente se paga.</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comprador paga el precio cotizado más el interés acumulado desde el último cupón.</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Dirty</m:t>
                    </m:r>
                    <m:r>
                      <m:rPr>
                        <m:nor/>
                      </m:rPr>
                      <a:rPr lang="es-PE" sz="900" b="0">
                        <a:solidFill>
                          <a:schemeClr val="tx1"/>
                        </a:solidFill>
                      </a:rPr>
                      <m:t> </m:t>
                    </m:r>
                    <m:r>
                      <m:rPr>
                        <m:nor/>
                      </m:rPr>
                      <a:rPr lang="es-PE" sz="900" b="0">
                        <a:solidFill>
                          <a:schemeClr val="tx1"/>
                        </a:solidFill>
                      </a:rPr>
                      <m:t>Price</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Clean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Price</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Accrued</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Interest</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En bonos del Tesoro USA el </a:t>
                </a:r>
                <a:r>
                  <a:rPr lang="es-PE" sz="900" b="0" i="0" dirty="0" err="1">
                    <a:solidFill>
                      <a:schemeClr val="tx1"/>
                    </a:solidFill>
                    <a:effectLst/>
                    <a:latin typeface="Segoe WPC"/>
                  </a:rPr>
                  <a:t>accrued</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se calcula con </a:t>
                </a:r>
                <a:r>
                  <a:rPr lang="es-PE" sz="900" b="1" i="0" dirty="0">
                    <a:solidFill>
                      <a:schemeClr val="tx1"/>
                    </a:solidFill>
                    <a:effectLst/>
                    <a:latin typeface="Segoe WPC"/>
                  </a:rPr>
                  <a:t>actual/actual</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El examen suele darte </a:t>
                </a:r>
                <a:r>
                  <a:rPr lang="es-PE" sz="900" b="0" i="0" dirty="0" err="1">
                    <a:solidFill>
                      <a:schemeClr val="tx1"/>
                    </a:solidFill>
                    <a:effectLst/>
                    <a:latin typeface="Segoe WPC"/>
                  </a:rPr>
                  <a:t>clean</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y pedir cash </a:t>
                </a:r>
                <a:r>
                  <a:rPr lang="es-PE" sz="900" b="0" i="0" dirty="0" err="1">
                    <a:solidFill>
                      <a:schemeClr val="tx1"/>
                    </a:solidFill>
                    <a:effectLst/>
                    <a:latin typeface="Segoe WPC"/>
                  </a:rPr>
                  <a:t>price</a:t>
                </a:r>
                <a:r>
                  <a:rPr lang="es-PE" sz="900" b="0" i="0" dirty="0">
                    <a:solidFill>
                      <a:schemeClr val="tx1"/>
                    </a:solidFill>
                    <a:effectLst/>
                    <a:latin typeface="Segoe WPC"/>
                  </a:rPr>
                  <a:t>; no olvides sumar </a:t>
                </a:r>
                <a:r>
                  <a:rPr lang="es-PE" sz="900" b="0" i="0" dirty="0" err="1">
                    <a:solidFill>
                      <a:schemeClr val="tx1"/>
                    </a:solidFill>
                    <a:effectLst/>
                    <a:latin typeface="Segoe WPC"/>
                  </a:rPr>
                  <a:t>accrued</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5. </a:t>
                </a:r>
                <a:r>
                  <a:rPr lang="es-PE" sz="900" b="1" i="0" dirty="0" err="1">
                    <a:solidFill>
                      <a:schemeClr val="tx1"/>
                    </a:solidFill>
                    <a:effectLst/>
                    <a:latin typeface="Segoe WPC"/>
                  </a:rPr>
                  <a:t>Treasury</a:t>
                </a:r>
                <a:r>
                  <a:rPr lang="es-PE" sz="900" b="1" i="0" dirty="0">
                    <a:solidFill>
                      <a:schemeClr val="tx1"/>
                    </a:solidFill>
                    <a:effectLst/>
                    <a:latin typeface="Segoe WPC"/>
                  </a:rPr>
                  <a:t> Bond Futures and </a:t>
                </a:r>
                <a:r>
                  <a:rPr lang="es-PE" sz="900" b="1" i="0" dirty="0" err="1">
                    <a:solidFill>
                      <a:schemeClr val="tx1"/>
                    </a:solidFill>
                    <a:effectLst/>
                    <a:latin typeface="Segoe WPC"/>
                  </a:rPr>
                  <a:t>Deliverables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Futuros sobre </a:t>
                </a:r>
                <a:r>
                  <a:rPr lang="es-PE" sz="900" b="0" i="0" dirty="0" err="1">
                    <a:solidFill>
                      <a:schemeClr val="tx1"/>
                    </a:solidFill>
                    <a:effectLst/>
                    <a:latin typeface="Segoe WPC"/>
                  </a:rPr>
                  <a:t>Treasury</a:t>
                </a:r>
                <a:r>
                  <a:rPr lang="es-PE" sz="900" b="0" i="0" dirty="0">
                    <a:solidFill>
                      <a:schemeClr val="tx1"/>
                    </a:solidFill>
                    <a:effectLst/>
                    <a:latin typeface="Segoe WPC"/>
                  </a:rPr>
                  <a:t> notes/</a:t>
                </a:r>
                <a:r>
                  <a:rPr lang="es-PE" sz="900" b="0" i="0" dirty="0" err="1">
                    <a:solidFill>
                      <a:schemeClr val="tx1"/>
                    </a:solidFill>
                    <a:effectLst/>
                    <a:latin typeface="Segoe WPC"/>
                  </a:rPr>
                  <a:t>bonds</a:t>
                </a:r>
                <a:r>
                  <a:rPr lang="es-PE" sz="900" b="0" i="0" dirty="0">
                    <a:solidFill>
                      <a:schemeClr val="tx1"/>
                    </a:solidFill>
                    <a:effectLst/>
                    <a:latin typeface="Segoe WPC"/>
                  </a:rPr>
                  <a:t> con canasta entregable.</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short no entrega un bono único fijo; puede elegir cuál bono entregar y cuándo durante el mes.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contrato es como una “opción de entrega” a favor del short dentro de un conjunto elegible.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Invoice</m:t>
                    </m:r>
                    <m:r>
                      <m:rPr>
                        <m:nor/>
                      </m:rPr>
                      <a:rPr lang="es-PE" sz="900" b="0">
                        <a:solidFill>
                          <a:schemeClr val="tx1"/>
                        </a:solidFill>
                      </a:rPr>
                      <m:t> </m:t>
                    </m:r>
                    <m:r>
                      <m:rPr>
                        <m:nor/>
                      </m:rPr>
                      <a:rPr lang="es-PE" sz="900" b="0">
                        <a:solidFill>
                          <a:schemeClr val="tx1"/>
                        </a:solidFill>
                      </a:rPr>
                      <m:t>Price</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𝑆𝑓</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𝐴</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𝑆</m:t>
                    </m:r>
                  </m:oMath>
                </a14:m>
                <a:r>
                  <a:rPr lang="es-PE" sz="900" b="0" i="0" dirty="0">
                    <a:solidFill>
                      <a:schemeClr val="tx1"/>
                    </a:solidFill>
                    <a:effectLst/>
                    <a:latin typeface="Segoe WPC"/>
                  </a:rPr>
                  <a:t> es el </a:t>
                </a:r>
                <a:r>
                  <a:rPr lang="es-PE" sz="900" b="0" i="0" dirty="0" err="1">
                    <a:solidFill>
                      <a:schemeClr val="tx1"/>
                    </a:solidFill>
                    <a:effectLst/>
                    <a:latin typeface="Segoe WPC"/>
                  </a:rPr>
                  <a:t>settlement</a:t>
                </a:r>
                <a:r>
                  <a:rPr lang="es-PE" sz="900" b="0" i="0" dirty="0">
                    <a:solidFill>
                      <a:schemeClr val="tx1"/>
                    </a:solidFill>
                    <a:effectLst/>
                    <a:latin typeface="Segoe WPC"/>
                  </a:rPr>
                  <a:t> futures </a:t>
                </a:r>
                <a:r>
                  <a:rPr lang="es-PE" sz="900" b="0" i="0" dirty="0" err="1">
                    <a:solidFill>
                      <a:schemeClr val="tx1"/>
                    </a:solidFill>
                    <a:effectLst/>
                    <a:latin typeface="Segoe WPC"/>
                  </a:rPr>
                  <a:t>price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𝑓</m:t>
                    </m:r>
                  </m:oMath>
                </a14:m>
                <a:r>
                  <a:rPr lang="es-PE" sz="900" b="0" i="0" dirty="0">
                    <a:solidFill>
                      <a:schemeClr val="tx1"/>
                    </a:solidFill>
                    <a:effectLst/>
                    <a:latin typeface="Segoe WPC"/>
                  </a:rPr>
                  <a:t> el </a:t>
                </a:r>
                <a:r>
                  <a:rPr lang="es-PE" sz="900" b="0" i="0" dirty="0" err="1">
                    <a:solidFill>
                      <a:schemeClr val="tx1"/>
                    </a:solidFill>
                    <a:effectLst/>
                    <a:latin typeface="Segoe WPC"/>
                  </a:rPr>
                  <a:t>conversion</a:t>
                </a:r>
                <a:r>
                  <a:rPr lang="es-PE" sz="900" b="0" i="0" dirty="0">
                    <a:solidFill>
                      <a:schemeClr val="tx1"/>
                    </a:solidFill>
                    <a:effectLst/>
                    <a:latin typeface="Segoe WPC"/>
                  </a:rPr>
                  <a:t> factor y </a:t>
                </a:r>
                <a14:m>
                  <m:oMath xmlns:m="http://schemas.openxmlformats.org/officeDocument/2006/math">
                    <m:r>
                      <a:rPr lang="es-PE" sz="900" i="1">
                        <a:solidFill>
                          <a:schemeClr val="tx1"/>
                        </a:solidFill>
                        <a:latin typeface="Cambria Math" panose="02040503050406030204" pitchFamily="18" charset="0"/>
                      </a:rPr>
                      <m:t>𝐴</m:t>
                    </m:r>
                  </m:oMath>
                </a14:m>
                <a:r>
                  <a:rPr lang="es-PE" sz="900" b="0" i="0" dirty="0">
                    <a:solidFill>
                      <a:schemeClr val="tx1"/>
                    </a:solidFill>
                    <a:effectLst/>
                    <a:latin typeface="Segoe WPC"/>
                  </a:rPr>
                  <a:t> el </a:t>
                </a:r>
                <a:r>
                  <a:rPr lang="es-PE" sz="900" b="0" i="0" dirty="0" err="1">
                    <a:solidFill>
                      <a:schemeClr val="tx1"/>
                    </a:solidFill>
                    <a:effectLst/>
                    <a:latin typeface="Segoe WPC"/>
                  </a:rPr>
                  <a:t>accrued</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del bono entregado.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Esa flexibilidad beneficia al short, así que tiende a reducir el precio del futuro respecto a un caso sin opciones de entrega.</a:t>
                </a:r>
              </a:p>
            </p:txBody>
          </p:sp>
        </mc:Choice>
        <mc:Fallback xmlns="">
          <p:sp>
            <p:nvSpPr>
              <p:cNvPr id="5" name="CuadroTexto 4">
                <a:extLst>
                  <a:ext uri="{FF2B5EF4-FFF2-40B4-BE49-F238E27FC236}">
                    <a16:creationId xmlns:a16="http://schemas.microsoft.com/office/drawing/2014/main" id="{45C2F939-8DF7-D45F-FFEE-60ADF280D06C}"/>
                  </a:ext>
                </a:extLst>
              </p:cNvPr>
              <p:cNvSpPr txBox="1">
                <a:spLocks noRot="1" noChangeAspect="1" noMove="1" noResize="1" noEditPoints="1" noAdjustHandles="1" noChangeArrowheads="1" noChangeShapeType="1" noTextEdit="1"/>
              </p:cNvSpPr>
              <p:nvPr/>
            </p:nvSpPr>
            <p:spPr>
              <a:xfrm>
                <a:off x="-58056" y="326571"/>
                <a:ext cx="5856514" cy="6785447"/>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0CBF3CB4-F420-641C-657A-2F969C3CD2E7}"/>
                  </a:ext>
                </a:extLst>
              </p:cNvPr>
              <p:cNvSpPr txBox="1"/>
              <p:nvPr/>
            </p:nvSpPr>
            <p:spPr>
              <a:xfrm>
                <a:off x="5624286" y="-73299"/>
                <a:ext cx="6749143" cy="7347717"/>
              </a:xfrm>
              <a:prstGeom prst="rect">
                <a:avLst/>
              </a:prstGeom>
              <a:noFill/>
            </p:spPr>
            <p:txBody>
              <a:bodyPr wrap="square">
                <a:spAutoFit/>
              </a:bodyPr>
              <a:lstStyle/>
              <a:p>
                <a:pPr>
                  <a:spcAft>
                    <a:spcPts val="600"/>
                  </a:spcAft>
                  <a:buNone/>
                </a:pPr>
                <a:r>
                  <a:rPr lang="es-PE" sz="900" b="1" dirty="0">
                    <a:solidFill>
                      <a:schemeClr val="tx1"/>
                    </a:solidFill>
                    <a:effectLst/>
                    <a:latin typeface="Segoe WPC"/>
                  </a:rPr>
                  <a:t>6. </a:t>
                </a:r>
                <a:r>
                  <a:rPr lang="es-PE" sz="900" b="1" dirty="0" err="1">
                    <a:solidFill>
                      <a:schemeClr val="tx1"/>
                    </a:solidFill>
                    <a:effectLst/>
                    <a:latin typeface="Segoe WPC"/>
                  </a:rPr>
                  <a:t>Conversion</a:t>
                </a:r>
                <a:r>
                  <a:rPr lang="es-PE" sz="900" b="1" dirty="0">
                    <a:solidFill>
                      <a:schemeClr val="tx1"/>
                    </a:solidFill>
                    <a:effectLst/>
                    <a:latin typeface="Segoe WPC"/>
                  </a:rPr>
                  <a:t> Factor</a:t>
                </a:r>
                <a:br>
                  <a:rPr lang="es-PE" sz="900" dirty="0">
                    <a:solidFill>
                      <a:schemeClr val="tx1"/>
                    </a:solidFill>
                    <a:effectLst/>
                    <a:latin typeface="Segoe WPC"/>
                  </a:rPr>
                </a:br>
                <a:r>
                  <a:rPr lang="es-PE" sz="900" b="1" dirty="0" err="1">
                    <a:solidFill>
                      <a:schemeClr val="tx1"/>
                    </a:solidFill>
                    <a:effectLst/>
                    <a:latin typeface="Segoe WPC"/>
                  </a:rPr>
                  <a:t>Financial</a:t>
                </a:r>
                <a:r>
                  <a:rPr lang="es-PE" sz="900" b="1" dirty="0">
                    <a:solidFill>
                      <a:schemeClr val="tx1"/>
                    </a:solidFill>
                    <a:effectLst/>
                    <a:latin typeface="Segoe WPC"/>
                  </a:rPr>
                  <a:t> </a:t>
                </a:r>
                <a:r>
                  <a:rPr lang="es-PE" sz="900" b="1" dirty="0" err="1">
                    <a:solidFill>
                      <a:schemeClr val="tx1"/>
                    </a:solidFill>
                    <a:effectLst/>
                    <a:latin typeface="Segoe WPC"/>
                  </a:rPr>
                  <a:t>Object</a:t>
                </a:r>
                <a:r>
                  <a:rPr lang="es-PE" sz="900" b="1" dirty="0">
                    <a:solidFill>
                      <a:schemeClr val="tx1"/>
                    </a:solidFill>
                    <a:effectLst/>
                    <a:latin typeface="Segoe WPC"/>
                  </a:rPr>
                  <a:t>:</a:t>
                </a:r>
                <a:r>
                  <a:rPr lang="es-PE" sz="900" dirty="0">
                    <a:solidFill>
                      <a:schemeClr val="tx1"/>
                    </a:solidFill>
                    <a:effectLst/>
                    <a:latin typeface="Segoe WPC"/>
                  </a:rPr>
                  <a:t> Factor que ajusta bonos distintos para hacerlos comparables en la entrega.</a:t>
                </a:r>
                <a:br>
                  <a:rPr lang="es-PE" sz="900" dirty="0">
                    <a:solidFill>
                      <a:schemeClr val="tx1"/>
                    </a:solidFill>
                    <a:effectLst/>
                    <a:latin typeface="Segoe WPC"/>
                  </a:rPr>
                </a:br>
                <a:r>
                  <a:rPr lang="es-PE" sz="900" b="1" dirty="0" err="1">
                    <a:solidFill>
                      <a:schemeClr val="tx1"/>
                    </a:solidFill>
                    <a:effectLst/>
                    <a:latin typeface="Segoe WPC"/>
                  </a:rPr>
                  <a:t>Plain</a:t>
                </a:r>
                <a:r>
                  <a:rPr lang="es-PE" sz="900" b="1" dirty="0">
                    <a:solidFill>
                      <a:schemeClr val="tx1"/>
                    </a:solidFill>
                    <a:effectLst/>
                    <a:latin typeface="Segoe WPC"/>
                  </a:rPr>
                  <a:t> </a:t>
                </a:r>
                <a:r>
                  <a:rPr lang="es-PE" sz="900" b="1" dirty="0" err="1">
                    <a:solidFill>
                      <a:schemeClr val="tx1"/>
                    </a:solidFill>
                    <a:effectLst/>
                    <a:latin typeface="Segoe WPC"/>
                  </a:rPr>
                  <a:t>Intuition</a:t>
                </a:r>
                <a:r>
                  <a:rPr lang="es-PE" sz="900" b="1" dirty="0">
                    <a:solidFill>
                      <a:schemeClr val="tx1"/>
                    </a:solidFill>
                    <a:effectLst/>
                    <a:latin typeface="Segoe WPC"/>
                  </a:rPr>
                  <a:t>:</a:t>
                </a:r>
                <a:r>
                  <a:rPr lang="es-PE" sz="900" dirty="0">
                    <a:solidFill>
                      <a:schemeClr val="tx1"/>
                    </a:solidFill>
                    <a:effectLst/>
                    <a:latin typeface="Segoe WPC"/>
                  </a:rPr>
                  <a:t> Convierte cada bono entregable en el equivalente a un bono “estándar” con </a:t>
                </a:r>
                <a:r>
                  <a:rPr lang="es-PE" sz="900" dirty="0" err="1">
                    <a:solidFill>
                      <a:schemeClr val="tx1"/>
                    </a:solidFill>
                    <a:effectLst/>
                    <a:latin typeface="Segoe WPC"/>
                  </a:rPr>
                  <a:t>yield</a:t>
                </a:r>
                <a:r>
                  <a:rPr lang="es-PE" sz="900" dirty="0">
                    <a:solidFill>
                      <a:schemeClr val="tx1"/>
                    </a:solidFill>
                    <a:effectLst/>
                    <a:latin typeface="Segoe WPC"/>
                  </a:rPr>
                  <a:t> del 6% y capitalización semestral.</a:t>
                </a:r>
                <a:br>
                  <a:rPr lang="es-PE" sz="900" dirty="0">
                    <a:solidFill>
                      <a:schemeClr val="tx1"/>
                    </a:solidFill>
                    <a:effectLst/>
                    <a:latin typeface="Segoe WPC"/>
                  </a:rPr>
                </a:br>
                <a:r>
                  <a:rPr lang="es-PE" sz="900" b="1" dirty="0">
                    <a:solidFill>
                      <a:schemeClr val="tx1"/>
                    </a:solidFill>
                    <a:effectLst/>
                    <a:latin typeface="Segoe WPC"/>
                  </a:rPr>
                  <a:t>Visual </a:t>
                </a:r>
                <a:r>
                  <a:rPr lang="es-PE" sz="900" b="1" dirty="0" err="1">
                    <a:solidFill>
                      <a:schemeClr val="tx1"/>
                    </a:solidFill>
                    <a:effectLst/>
                    <a:latin typeface="Segoe WPC"/>
                  </a:rPr>
                  <a:t>Intuition</a:t>
                </a:r>
                <a:r>
                  <a:rPr lang="es-PE" sz="900" b="1" dirty="0">
                    <a:solidFill>
                      <a:schemeClr val="tx1"/>
                    </a:solidFill>
                    <a:effectLst/>
                    <a:latin typeface="Segoe WPC"/>
                  </a:rPr>
                  <a:t>:</a:t>
                </a:r>
                <a:r>
                  <a:rPr lang="es-PE" sz="900" dirty="0">
                    <a:solidFill>
                      <a:schemeClr val="tx1"/>
                    </a:solidFill>
                    <a:effectLst/>
                    <a:latin typeface="Segoe WPC"/>
                  </a:rPr>
                  <a:t> Si un bono tiene </a:t>
                </a:r>
                <a14:m>
                  <m:oMath xmlns:m="http://schemas.openxmlformats.org/officeDocument/2006/math">
                    <m:r>
                      <a:rPr lang="es-PE" sz="900" i="1">
                        <a:solidFill>
                          <a:schemeClr val="tx1"/>
                        </a:solidFill>
                        <a:latin typeface="Cambria Math" panose="02040503050406030204" pitchFamily="18" charset="0"/>
                      </a:rPr>
                      <m:t>𝑓</m:t>
                    </m:r>
                    <m:r>
                      <a:rPr lang="es-PE" sz="900" i="0">
                        <a:solidFill>
                          <a:schemeClr val="tx1"/>
                        </a:solidFill>
                        <a:latin typeface="Cambria Math" panose="02040503050406030204" pitchFamily="18" charset="0"/>
                      </a:rPr>
                      <m:t>&gt;</m:t>
                    </m:r>
                    <m:r>
                      <a:rPr lang="es-PE" sz="900" i="0">
                        <a:solidFill>
                          <a:schemeClr val="tx1"/>
                        </a:solidFill>
                        <a:latin typeface="Cambria Math" panose="02040503050406030204" pitchFamily="18" charset="0"/>
                      </a:rPr>
                      <m:t>1</m:t>
                    </m:r>
                  </m:oMath>
                </a14:m>
                <a:r>
                  <a:rPr lang="es-PE" sz="900" dirty="0">
                    <a:solidFill>
                      <a:schemeClr val="tx1"/>
                    </a:solidFill>
                    <a:effectLst/>
                    <a:latin typeface="Segoe WPC"/>
                  </a:rPr>
                  <a:t>, el short recibe más por entregarlo; si </a:t>
                </a:r>
                <a14:m>
                  <m:oMath xmlns:m="http://schemas.openxmlformats.org/officeDocument/2006/math">
                    <m:r>
                      <a:rPr lang="es-PE" sz="900" i="1">
                        <a:solidFill>
                          <a:schemeClr val="tx1"/>
                        </a:solidFill>
                        <a:latin typeface="Cambria Math" panose="02040503050406030204" pitchFamily="18" charset="0"/>
                      </a:rPr>
                      <m:t>𝑓</m:t>
                    </m:r>
                    <m:r>
                      <a:rPr lang="es-PE" sz="900" i="0">
                        <a:solidFill>
                          <a:schemeClr val="tx1"/>
                        </a:solidFill>
                        <a:latin typeface="Cambria Math" panose="02040503050406030204" pitchFamily="18" charset="0"/>
                      </a:rPr>
                      <m:t>&lt;</m:t>
                    </m:r>
                    <m:r>
                      <a:rPr lang="es-PE" sz="900" i="0">
                        <a:solidFill>
                          <a:schemeClr val="tx1"/>
                        </a:solidFill>
                        <a:latin typeface="Cambria Math" panose="02040503050406030204" pitchFamily="18" charset="0"/>
                      </a:rPr>
                      <m:t>1</m:t>
                    </m:r>
                  </m:oMath>
                </a14:m>
                <a:r>
                  <a:rPr lang="es-PE" sz="900" dirty="0">
                    <a:solidFill>
                      <a:schemeClr val="tx1"/>
                    </a:solidFill>
                    <a:effectLst/>
                    <a:latin typeface="Segoe WPC"/>
                  </a:rPr>
                  <a:t>, recibe menos.</a:t>
                </a:r>
                <a:br>
                  <a:rPr lang="es-PE" sz="900" dirty="0">
                    <a:solidFill>
                      <a:schemeClr val="tx1"/>
                    </a:solidFill>
                    <a:effectLst/>
                    <a:latin typeface="Segoe WPC"/>
                  </a:rPr>
                </a:br>
                <a:r>
                  <a:rPr lang="es-PE" sz="900" b="1" dirty="0">
                    <a:solidFill>
                      <a:schemeClr val="tx1"/>
                    </a:solidFill>
                    <a:effectLst/>
                    <a:latin typeface="Segoe WPC"/>
                  </a:rPr>
                  <a:t>Key Formula:</a:t>
                </a:r>
                <a:r>
                  <a:rPr lang="es-PE" sz="90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𝑓</m:t>
                    </m:r>
                    <m:r>
                      <a:rPr lang="es-PE" sz="90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clean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price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per</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1 </m:t>
                    </m:r>
                    <m:r>
                      <m:rPr>
                        <m:nor/>
                      </m:rPr>
                      <a:rPr lang="es-PE" sz="900" b="0" i="1">
                        <a:solidFill>
                          <a:schemeClr val="tx1"/>
                        </a:solidFill>
                        <a:latin typeface="Cambria Math" panose="02040503050406030204" pitchFamily="18" charset="0"/>
                      </a:rPr>
                      <m:t>principal</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assuming</m:t>
                    </m:r>
                    <m:r>
                      <m:rPr>
                        <m:nor/>
                      </m:rPr>
                      <a:rPr lang="es-PE" sz="900" b="0" i="1">
                        <a:solidFill>
                          <a:schemeClr val="tx1"/>
                        </a:solidFill>
                        <a:latin typeface="Cambria Math" panose="02040503050406030204" pitchFamily="18" charset="0"/>
                      </a:rPr>
                      <m:t> </m:t>
                    </m:r>
                    <m:r>
                      <a:rPr lang="es-PE" sz="900" b="0" i="1">
                        <a:solidFill>
                          <a:schemeClr val="tx1"/>
                        </a:solidFill>
                        <a:latin typeface="Cambria Math" panose="02040503050406030204" pitchFamily="18" charset="0"/>
                      </a:rPr>
                      <m:t>𝑦</m:t>
                    </m:r>
                    <m:r>
                      <a:rPr lang="es-PE" sz="900" b="0" i="0">
                        <a:solidFill>
                          <a:schemeClr val="tx1"/>
                        </a:solidFill>
                        <a:latin typeface="Cambria Math" panose="02040503050406030204" pitchFamily="18" charset="0"/>
                      </a:rPr>
                      <m:t>=</m:t>
                    </m:r>
                    <m:r>
                      <a:rPr lang="es-PE" sz="900" b="0" i="0">
                        <a:solidFill>
                          <a:schemeClr val="tx1"/>
                        </a:solidFill>
                        <a:latin typeface="Cambria Math" panose="02040503050406030204" pitchFamily="18" charset="0"/>
                      </a:rPr>
                      <m:t>6</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with</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semiannual</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compounding</m:t>
                    </m:r>
                  </m:oMath>
                </a14:m>
                <a:br>
                  <a:rPr lang="es-PE" sz="900" dirty="0">
                    <a:solidFill>
                      <a:schemeClr val="tx1"/>
                    </a:solidFill>
                    <a:effectLst/>
                    <a:latin typeface="Segoe WPC"/>
                  </a:rPr>
                </a:br>
                <a:r>
                  <a:rPr lang="es-PE" sz="900" b="1" dirty="0" err="1">
                    <a:solidFill>
                      <a:schemeClr val="tx1"/>
                    </a:solidFill>
                    <a:effectLst/>
                    <a:latin typeface="Segoe WPC"/>
                  </a:rPr>
                  <a:t>Interpretation</a:t>
                </a:r>
                <a:r>
                  <a:rPr lang="es-PE" sz="900" b="1" dirty="0">
                    <a:solidFill>
                      <a:schemeClr val="tx1"/>
                    </a:solidFill>
                    <a:effectLst/>
                    <a:latin typeface="Segoe WPC"/>
                  </a:rPr>
                  <a:t>:</a:t>
                </a:r>
                <a:r>
                  <a:rPr lang="es-PE" sz="900" dirty="0">
                    <a:solidFill>
                      <a:schemeClr val="tx1"/>
                    </a:solidFill>
                    <a:effectLst/>
                    <a:latin typeface="Segoe WPC"/>
                  </a:rPr>
                  <a:t> Para </a:t>
                </a:r>
                <a:r>
                  <a:rPr lang="es-PE" sz="900" dirty="0" err="1">
                    <a:solidFill>
                      <a:schemeClr val="tx1"/>
                    </a:solidFill>
                    <a:effectLst/>
                    <a:latin typeface="Segoe WPC"/>
                  </a:rPr>
                  <a:t>Treasury</a:t>
                </a:r>
                <a:r>
                  <a:rPr lang="es-PE" sz="900" dirty="0">
                    <a:solidFill>
                      <a:schemeClr val="tx1"/>
                    </a:solidFill>
                    <a:effectLst/>
                    <a:latin typeface="Segoe WPC"/>
                  </a:rPr>
                  <a:t> bond/note futures largos, primero se calcula el tiempo a vencimiento desde el primer día del mes de entrega, se redondea hacia abajo y luego se valora al 6%.</a:t>
                </a:r>
                <a:br>
                  <a:rPr lang="es-PE" sz="900" dirty="0">
                    <a:solidFill>
                      <a:schemeClr val="tx1"/>
                    </a:solidFill>
                    <a:effectLst/>
                    <a:latin typeface="Segoe WPC"/>
                  </a:rPr>
                </a:br>
                <a:r>
                  <a:rPr lang="es-PE" sz="900" b="1" dirty="0" err="1">
                    <a:solidFill>
                      <a:schemeClr val="tx1"/>
                    </a:solidFill>
                    <a:effectLst/>
                    <a:latin typeface="Segoe WPC"/>
                  </a:rPr>
                  <a:t>Exam</a:t>
                </a:r>
                <a:r>
                  <a:rPr lang="es-PE" sz="900" b="1" dirty="0">
                    <a:solidFill>
                      <a:schemeClr val="tx1"/>
                    </a:solidFill>
                    <a:effectLst/>
                    <a:latin typeface="Segoe WPC"/>
                  </a:rPr>
                  <a:t> </a:t>
                </a:r>
                <a:r>
                  <a:rPr lang="es-PE" sz="900" b="1" dirty="0" err="1">
                    <a:solidFill>
                      <a:schemeClr val="tx1"/>
                    </a:solidFill>
                    <a:effectLst/>
                    <a:latin typeface="Segoe WPC"/>
                  </a:rPr>
                  <a:t>Trap</a:t>
                </a:r>
                <a:r>
                  <a:rPr lang="es-PE" sz="900" b="1" dirty="0">
                    <a:solidFill>
                      <a:schemeClr val="tx1"/>
                    </a:solidFill>
                    <a:effectLst/>
                    <a:latin typeface="Segoe WPC"/>
                  </a:rPr>
                  <a:t>:</a:t>
                </a:r>
                <a:r>
                  <a:rPr lang="es-PE" sz="900" dirty="0">
                    <a:solidFill>
                      <a:schemeClr val="tx1"/>
                    </a:solidFill>
                    <a:effectLst/>
                    <a:latin typeface="Segoe WPC"/>
                  </a:rPr>
                  <a:t> El redondeo depende del contrato: en algunos se redondea al mes, en otros al trimestre.</a:t>
                </a:r>
              </a:p>
              <a:p>
                <a:pPr>
                  <a:spcAft>
                    <a:spcPts val="600"/>
                  </a:spcAft>
                  <a:buNone/>
                </a:pPr>
                <a:r>
                  <a:rPr lang="es-PE" sz="900" b="1" dirty="0">
                    <a:solidFill>
                      <a:schemeClr val="tx1"/>
                    </a:solidFill>
                    <a:effectLst/>
                    <a:latin typeface="Segoe WPC"/>
                  </a:rPr>
                  <a:t>7. </a:t>
                </a:r>
                <a:r>
                  <a:rPr lang="es-PE" sz="900" b="1" dirty="0" err="1">
                    <a:solidFill>
                      <a:schemeClr val="tx1"/>
                    </a:solidFill>
                    <a:effectLst/>
                    <a:latin typeface="Segoe WPC"/>
                  </a:rPr>
                  <a:t>Cheapest-to-Deliver</a:t>
                </a:r>
                <a:r>
                  <a:rPr lang="es-PE" sz="900" b="1" dirty="0">
                    <a:solidFill>
                      <a:schemeClr val="tx1"/>
                    </a:solidFill>
                    <a:effectLst/>
                    <a:latin typeface="Segoe WPC"/>
                  </a:rPr>
                  <a:t> (CTD)</a:t>
                </a:r>
                <a:br>
                  <a:rPr lang="es-PE" sz="900" dirty="0">
                    <a:solidFill>
                      <a:schemeClr val="tx1"/>
                    </a:solidFill>
                    <a:effectLst/>
                    <a:latin typeface="Segoe WPC"/>
                  </a:rPr>
                </a:br>
                <a:r>
                  <a:rPr lang="es-PE" sz="900" b="1" dirty="0" err="1">
                    <a:solidFill>
                      <a:schemeClr val="tx1"/>
                    </a:solidFill>
                    <a:effectLst/>
                    <a:latin typeface="Segoe WPC"/>
                  </a:rPr>
                  <a:t>Financial</a:t>
                </a:r>
                <a:r>
                  <a:rPr lang="es-PE" sz="900" b="1" dirty="0">
                    <a:solidFill>
                      <a:schemeClr val="tx1"/>
                    </a:solidFill>
                    <a:effectLst/>
                    <a:latin typeface="Segoe WPC"/>
                  </a:rPr>
                  <a:t> </a:t>
                </a:r>
                <a:r>
                  <a:rPr lang="es-PE" sz="900" b="1" dirty="0" err="1">
                    <a:solidFill>
                      <a:schemeClr val="tx1"/>
                    </a:solidFill>
                    <a:effectLst/>
                    <a:latin typeface="Segoe WPC"/>
                  </a:rPr>
                  <a:t>Object</a:t>
                </a:r>
                <a:r>
                  <a:rPr lang="es-PE" sz="900" b="1" dirty="0">
                    <a:solidFill>
                      <a:schemeClr val="tx1"/>
                    </a:solidFill>
                    <a:effectLst/>
                    <a:latin typeface="Segoe WPC"/>
                  </a:rPr>
                  <a:t>:</a:t>
                </a:r>
                <a:r>
                  <a:rPr lang="es-PE" sz="900" dirty="0">
                    <a:solidFill>
                      <a:schemeClr val="tx1"/>
                    </a:solidFill>
                    <a:effectLst/>
                    <a:latin typeface="Segoe WPC"/>
                  </a:rPr>
                  <a:t> Bono cuya entrega minimiza el costo para el short.</a:t>
                </a:r>
                <a:br>
                  <a:rPr lang="es-PE" sz="900" dirty="0">
                    <a:solidFill>
                      <a:schemeClr val="tx1"/>
                    </a:solidFill>
                    <a:effectLst/>
                    <a:latin typeface="Segoe WPC"/>
                  </a:rPr>
                </a:br>
                <a:r>
                  <a:rPr lang="es-PE" sz="900" b="1" dirty="0" err="1">
                    <a:solidFill>
                      <a:schemeClr val="tx1"/>
                    </a:solidFill>
                    <a:effectLst/>
                    <a:latin typeface="Segoe WPC"/>
                  </a:rPr>
                  <a:t>Plain</a:t>
                </a:r>
                <a:r>
                  <a:rPr lang="es-PE" sz="900" b="1" dirty="0">
                    <a:solidFill>
                      <a:schemeClr val="tx1"/>
                    </a:solidFill>
                    <a:effectLst/>
                    <a:latin typeface="Segoe WPC"/>
                  </a:rPr>
                  <a:t> </a:t>
                </a:r>
                <a:r>
                  <a:rPr lang="es-PE" sz="900" b="1" dirty="0" err="1">
                    <a:solidFill>
                      <a:schemeClr val="tx1"/>
                    </a:solidFill>
                    <a:effectLst/>
                    <a:latin typeface="Segoe WPC"/>
                  </a:rPr>
                  <a:t>Intuition</a:t>
                </a:r>
                <a:r>
                  <a:rPr lang="es-PE" sz="900" b="1" dirty="0">
                    <a:solidFill>
                      <a:schemeClr val="tx1"/>
                    </a:solidFill>
                    <a:effectLst/>
                    <a:latin typeface="Segoe WPC"/>
                  </a:rPr>
                  <a:t>:</a:t>
                </a:r>
                <a:r>
                  <a:rPr lang="es-PE" sz="900" dirty="0">
                    <a:solidFill>
                      <a:schemeClr val="tx1"/>
                    </a:solidFill>
                    <a:effectLst/>
                    <a:latin typeface="Segoe WPC"/>
                  </a:rPr>
                  <a:t> El short elige el bono que le sale más barato comprar en cash y entregar contra el futuro.</a:t>
                </a:r>
                <a:br>
                  <a:rPr lang="es-PE" sz="900" dirty="0">
                    <a:solidFill>
                      <a:schemeClr val="tx1"/>
                    </a:solidFill>
                    <a:effectLst/>
                    <a:latin typeface="Segoe WPC"/>
                  </a:rPr>
                </a:br>
                <a:r>
                  <a:rPr lang="es-PE" sz="900" b="1" dirty="0">
                    <a:solidFill>
                      <a:schemeClr val="tx1"/>
                    </a:solidFill>
                    <a:effectLst/>
                    <a:latin typeface="Segoe WPC"/>
                  </a:rPr>
                  <a:t>Visual </a:t>
                </a:r>
                <a:r>
                  <a:rPr lang="es-PE" sz="900" b="1" dirty="0" err="1">
                    <a:solidFill>
                      <a:schemeClr val="tx1"/>
                    </a:solidFill>
                    <a:effectLst/>
                    <a:latin typeface="Segoe WPC"/>
                  </a:rPr>
                  <a:t>Intuition</a:t>
                </a:r>
                <a:r>
                  <a:rPr lang="es-PE" sz="900" b="1" dirty="0">
                    <a:solidFill>
                      <a:schemeClr val="tx1"/>
                    </a:solidFill>
                    <a:effectLst/>
                    <a:latin typeface="Segoe WPC"/>
                  </a:rPr>
                  <a:t>:</a:t>
                </a:r>
                <a:r>
                  <a:rPr lang="es-PE" sz="900" dirty="0">
                    <a:solidFill>
                      <a:schemeClr val="tx1"/>
                    </a:solidFill>
                    <a:effectLst/>
                    <a:latin typeface="Segoe WPC"/>
                  </a:rPr>
                  <a:t> Comparas lo que cuesta el bono en el mercado con lo que el futuro “te reconoce” por él.</a:t>
                </a:r>
                <a:br>
                  <a:rPr lang="es-PE" sz="900" dirty="0">
                    <a:solidFill>
                      <a:schemeClr val="tx1"/>
                    </a:solidFill>
                    <a:effectLst/>
                    <a:latin typeface="Segoe WPC"/>
                  </a:rPr>
                </a:br>
                <a:r>
                  <a:rPr lang="es-PE" sz="900" b="1" dirty="0">
                    <a:solidFill>
                      <a:schemeClr val="tx1"/>
                    </a:solidFill>
                    <a:effectLst/>
                    <a:latin typeface="Segoe WPC"/>
                  </a:rPr>
                  <a:t>Key Formula:</a:t>
                </a:r>
                <a:r>
                  <a:rPr lang="es-PE" sz="900" dirty="0">
                    <a:solidFill>
                      <a:schemeClr val="tx1"/>
                    </a:solidFill>
                    <a:effectLst/>
                    <a:latin typeface="Segoe WPC"/>
                  </a:rPr>
                  <a:t> </a:t>
                </a:r>
                <a14:m>
                  <m:oMath xmlns:m="http://schemas.openxmlformats.org/officeDocument/2006/math">
                    <m:r>
                      <m:rPr>
                        <m:nor/>
                      </m:rPr>
                      <a:rPr lang="es-PE" sz="900" b="0">
                        <a:solidFill>
                          <a:schemeClr val="tx1"/>
                        </a:solidFill>
                      </a:rPr>
                      <m:t>Cost</m:t>
                    </m:r>
                    <m:r>
                      <m:rPr>
                        <m:nor/>
                      </m:rPr>
                      <a:rPr lang="es-PE" sz="900" b="0">
                        <a:solidFill>
                          <a:schemeClr val="tx1"/>
                        </a:solidFill>
                      </a:rPr>
                      <m:t> </m:t>
                    </m:r>
                    <m:r>
                      <m:rPr>
                        <m:nor/>
                      </m:rPr>
                      <a:rPr lang="es-PE" sz="900" b="0">
                        <a:solidFill>
                          <a:schemeClr val="tx1"/>
                        </a:solidFill>
                      </a:rPr>
                      <m:t>of</m:t>
                    </m:r>
                    <m:r>
                      <m:rPr>
                        <m:nor/>
                      </m:rPr>
                      <a:rPr lang="es-PE" sz="900" b="0">
                        <a:solidFill>
                          <a:schemeClr val="tx1"/>
                        </a:solidFill>
                      </a:rPr>
                      <m:t> </m:t>
                    </m:r>
                    <m:r>
                      <m:rPr>
                        <m:nor/>
                      </m:rPr>
                      <a:rPr lang="es-PE" sz="900" b="0">
                        <a:solidFill>
                          <a:schemeClr val="tx1"/>
                        </a:solidFill>
                      </a:rPr>
                      <m:t>Delivery</m:t>
                    </m:r>
                    <m:r>
                      <a:rPr lang="es-PE" sz="900" b="0" i="0">
                        <a:solidFill>
                          <a:schemeClr val="tx1"/>
                        </a:solidFill>
                        <a:latin typeface="Cambria Math" panose="02040503050406030204" pitchFamily="18" charset="0"/>
                      </a:rPr>
                      <m:t>=</m:t>
                    </m:r>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𝑄</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𝐴</m:t>
                        </m:r>
                      </m:e>
                    </m:d>
                    <m:r>
                      <a:rPr lang="ar-AE" sz="900" b="0" i="0">
                        <a:solidFill>
                          <a:schemeClr val="tx1"/>
                        </a:solidFill>
                        <a:latin typeface="Cambria Math" panose="02040503050406030204" pitchFamily="18" charset="0"/>
                      </a:rPr>
                      <m:t>−</m:t>
                    </m:r>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𝑆𝑓</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𝐴</m:t>
                        </m:r>
                      </m:e>
                    </m:d>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𝑄</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𝑆𝑓</m:t>
                    </m:r>
                  </m:oMath>
                </a14:m>
                <a:br>
                  <a:rPr lang="ar-AE" sz="900" dirty="0">
                    <a:solidFill>
                      <a:schemeClr val="tx1"/>
                    </a:solidFill>
                    <a:effectLst/>
                    <a:latin typeface="Segoe WPC"/>
                  </a:rPr>
                </a:br>
                <a:r>
                  <a:rPr lang="es-PE" sz="900" b="1" dirty="0" err="1">
                    <a:solidFill>
                      <a:schemeClr val="tx1"/>
                    </a:solidFill>
                    <a:effectLst/>
                    <a:latin typeface="Segoe WPC"/>
                  </a:rPr>
                  <a:t>Interpretation</a:t>
                </a:r>
                <a:r>
                  <a:rPr lang="es-PE" sz="900" b="1" dirty="0">
                    <a:solidFill>
                      <a:schemeClr val="tx1"/>
                    </a:solidFill>
                    <a:effectLst/>
                    <a:latin typeface="Segoe WPC"/>
                  </a:rPr>
                  <a:t>:</a:t>
                </a:r>
                <a:r>
                  <a:rPr lang="es-PE" sz="900" dirty="0">
                    <a:solidFill>
                      <a:schemeClr val="tx1"/>
                    </a:solidFill>
                    <a:effectLst/>
                    <a:latin typeface="Segoe WPC"/>
                  </a:rPr>
                  <a:t> El CTD es el bono con menor </a:t>
                </a:r>
                <a14:m>
                  <m:oMath xmlns:m="http://schemas.openxmlformats.org/officeDocument/2006/math">
                    <m:r>
                      <a:rPr lang="es-PE" sz="900" i="1">
                        <a:solidFill>
                          <a:schemeClr val="tx1"/>
                        </a:solidFill>
                        <a:latin typeface="Cambria Math" panose="02040503050406030204" pitchFamily="18" charset="0"/>
                      </a:rPr>
                      <m:t>𝑄</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𝑆𝑓</m:t>
                    </m:r>
                  </m:oMath>
                </a14:m>
                <a:r>
                  <a:rPr lang="es-PE" sz="900" dirty="0">
                    <a:solidFill>
                      <a:schemeClr val="tx1"/>
                    </a:solidFill>
                    <a:effectLst/>
                    <a:latin typeface="Segoe WPC"/>
                  </a:rPr>
                  <a:t>. Si los </a:t>
                </a:r>
                <a:r>
                  <a:rPr lang="es-PE" sz="900" dirty="0" err="1">
                    <a:solidFill>
                      <a:schemeClr val="tx1"/>
                    </a:solidFill>
                    <a:effectLst/>
                    <a:latin typeface="Segoe WPC"/>
                  </a:rPr>
                  <a:t>yields</a:t>
                </a:r>
                <a:r>
                  <a:rPr lang="es-PE" sz="900" dirty="0">
                    <a:solidFill>
                      <a:schemeClr val="tx1"/>
                    </a:solidFill>
                    <a:effectLst/>
                    <a:latin typeface="Segoe WPC"/>
                  </a:rPr>
                  <a:t> son mayores a 6%, suelen favorecerse bonos de bajo cupón y largo plazo; si son menores a 6%, bonos de alto cupón y corto plazo.</a:t>
                </a:r>
                <a:br>
                  <a:rPr lang="es-PE" sz="900" dirty="0">
                    <a:solidFill>
                      <a:schemeClr val="tx1"/>
                    </a:solidFill>
                    <a:effectLst/>
                    <a:latin typeface="Segoe WPC"/>
                  </a:rPr>
                </a:br>
                <a:r>
                  <a:rPr lang="es-PE" sz="900" b="1" dirty="0" err="1">
                    <a:solidFill>
                      <a:schemeClr val="tx1"/>
                    </a:solidFill>
                    <a:effectLst/>
                    <a:latin typeface="Segoe WPC"/>
                  </a:rPr>
                  <a:t>Exam</a:t>
                </a:r>
                <a:r>
                  <a:rPr lang="es-PE" sz="900" b="1" dirty="0">
                    <a:solidFill>
                      <a:schemeClr val="tx1"/>
                    </a:solidFill>
                    <a:effectLst/>
                    <a:latin typeface="Segoe WPC"/>
                  </a:rPr>
                  <a:t> </a:t>
                </a:r>
                <a:r>
                  <a:rPr lang="es-PE" sz="900" b="1" dirty="0" err="1">
                    <a:solidFill>
                      <a:schemeClr val="tx1"/>
                    </a:solidFill>
                    <a:effectLst/>
                    <a:latin typeface="Segoe WPC"/>
                  </a:rPr>
                  <a:t>Trap</a:t>
                </a:r>
                <a:r>
                  <a:rPr lang="es-PE" sz="900" b="1" dirty="0">
                    <a:solidFill>
                      <a:schemeClr val="tx1"/>
                    </a:solidFill>
                    <a:effectLst/>
                    <a:latin typeface="Segoe WPC"/>
                  </a:rPr>
                  <a:t>:</a:t>
                </a:r>
                <a:r>
                  <a:rPr lang="es-PE" sz="900" dirty="0">
                    <a:solidFill>
                      <a:schemeClr val="tx1"/>
                    </a:solidFill>
                    <a:effectLst/>
                    <a:latin typeface="Segoe WPC"/>
                  </a:rPr>
                  <a:t> El </a:t>
                </a:r>
                <a:r>
                  <a:rPr lang="es-PE" sz="900" dirty="0" err="1">
                    <a:solidFill>
                      <a:schemeClr val="tx1"/>
                    </a:solidFill>
                    <a:effectLst/>
                    <a:latin typeface="Segoe WPC"/>
                  </a:rPr>
                  <a:t>accrued</a:t>
                </a:r>
                <a:r>
                  <a:rPr lang="es-PE" sz="900" dirty="0">
                    <a:solidFill>
                      <a:schemeClr val="tx1"/>
                    </a:solidFill>
                    <a:effectLst/>
                    <a:latin typeface="Segoe WPC"/>
                  </a:rPr>
                  <a:t> </a:t>
                </a:r>
                <a:r>
                  <a:rPr lang="es-PE" sz="900" dirty="0" err="1">
                    <a:solidFill>
                      <a:schemeClr val="tx1"/>
                    </a:solidFill>
                    <a:effectLst/>
                    <a:latin typeface="Segoe WPC"/>
                  </a:rPr>
                  <a:t>interest</a:t>
                </a:r>
                <a:r>
                  <a:rPr lang="es-PE" sz="900" dirty="0">
                    <a:solidFill>
                      <a:schemeClr val="tx1"/>
                    </a:solidFill>
                    <a:effectLst/>
                    <a:latin typeface="Segoe WPC"/>
                  </a:rPr>
                  <a:t> se cancela al comparar costo de entrega, por eso basta con mirar </a:t>
                </a:r>
                <a14:m>
                  <m:oMath xmlns:m="http://schemas.openxmlformats.org/officeDocument/2006/math">
                    <m:r>
                      <a:rPr lang="es-PE" sz="900" i="1">
                        <a:solidFill>
                          <a:schemeClr val="tx1"/>
                        </a:solidFill>
                        <a:latin typeface="Cambria Math" panose="02040503050406030204" pitchFamily="18" charset="0"/>
                      </a:rPr>
                      <m:t>𝑄</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𝑆𝑓</m:t>
                    </m:r>
                  </m:oMath>
                </a14:m>
                <a:r>
                  <a:rPr lang="es-PE" sz="900" dirty="0">
                    <a:solidFill>
                      <a:schemeClr val="tx1"/>
                    </a:solidFill>
                    <a:effectLst/>
                    <a:latin typeface="Segoe WPC"/>
                  </a:rPr>
                  <a:t>.</a:t>
                </a:r>
              </a:p>
              <a:p>
                <a:pPr>
                  <a:spcAft>
                    <a:spcPts val="600"/>
                  </a:spcAft>
                  <a:buNone/>
                </a:pPr>
                <a:r>
                  <a:rPr lang="es-PE" sz="900" b="1" dirty="0">
                    <a:solidFill>
                      <a:schemeClr val="tx1"/>
                    </a:solidFill>
                    <a:effectLst/>
                    <a:latin typeface="Segoe WPC"/>
                  </a:rPr>
                  <a:t>8. </a:t>
                </a:r>
                <a:r>
                  <a:rPr lang="es-PE" sz="900" b="1" dirty="0" err="1">
                    <a:solidFill>
                      <a:schemeClr val="tx1"/>
                    </a:solidFill>
                    <a:effectLst/>
                    <a:latin typeface="Segoe WPC"/>
                  </a:rPr>
                  <a:t>Yield</a:t>
                </a:r>
                <a:r>
                  <a:rPr lang="es-PE" sz="900" b="1" dirty="0">
                    <a:solidFill>
                      <a:schemeClr val="tx1"/>
                    </a:solidFill>
                    <a:effectLst/>
                    <a:latin typeface="Segoe WPC"/>
                  </a:rPr>
                  <a:t> Curve </a:t>
                </a:r>
                <a:r>
                  <a:rPr lang="es-PE" sz="900" b="1" dirty="0" err="1">
                    <a:solidFill>
                      <a:schemeClr val="tx1"/>
                    </a:solidFill>
                    <a:effectLst/>
                    <a:latin typeface="Segoe WPC"/>
                  </a:rPr>
                  <a:t>Effects</a:t>
                </a:r>
                <a:r>
                  <a:rPr lang="es-PE" sz="900" b="1" dirty="0">
                    <a:solidFill>
                      <a:schemeClr val="tx1"/>
                    </a:solidFill>
                    <a:effectLst/>
                    <a:latin typeface="Segoe WPC"/>
                  </a:rPr>
                  <a:t> and Wild </a:t>
                </a:r>
                <a:r>
                  <a:rPr lang="es-PE" sz="900" b="1" dirty="0" err="1">
                    <a:solidFill>
                      <a:schemeClr val="tx1"/>
                    </a:solidFill>
                    <a:effectLst/>
                    <a:latin typeface="Segoe WPC"/>
                  </a:rPr>
                  <a:t>Card</a:t>
                </a:r>
                <a:r>
                  <a:rPr lang="es-PE" sz="900" b="1" dirty="0">
                    <a:solidFill>
                      <a:schemeClr val="tx1"/>
                    </a:solidFill>
                    <a:effectLst/>
                    <a:latin typeface="Segoe WPC"/>
                  </a:rPr>
                  <a:t> Play</a:t>
                </a:r>
                <a:br>
                  <a:rPr lang="es-PE" sz="900" dirty="0">
                    <a:solidFill>
                      <a:schemeClr val="tx1"/>
                    </a:solidFill>
                    <a:effectLst/>
                    <a:latin typeface="Segoe WPC"/>
                  </a:rPr>
                </a:br>
                <a:r>
                  <a:rPr lang="es-PE" sz="900" b="1" dirty="0" err="1">
                    <a:solidFill>
                      <a:schemeClr val="tx1"/>
                    </a:solidFill>
                    <a:effectLst/>
                    <a:latin typeface="Segoe WPC"/>
                  </a:rPr>
                  <a:t>Financial</a:t>
                </a:r>
                <a:r>
                  <a:rPr lang="es-PE" sz="900" b="1" dirty="0">
                    <a:solidFill>
                      <a:schemeClr val="tx1"/>
                    </a:solidFill>
                    <a:effectLst/>
                    <a:latin typeface="Segoe WPC"/>
                  </a:rPr>
                  <a:t> </a:t>
                </a:r>
                <a:r>
                  <a:rPr lang="es-PE" sz="900" b="1" dirty="0" err="1">
                    <a:solidFill>
                      <a:schemeClr val="tx1"/>
                    </a:solidFill>
                    <a:effectLst/>
                    <a:latin typeface="Segoe WPC"/>
                  </a:rPr>
                  <a:t>Object</a:t>
                </a:r>
                <a:r>
                  <a:rPr lang="es-PE" sz="900" b="1" dirty="0">
                    <a:solidFill>
                      <a:schemeClr val="tx1"/>
                    </a:solidFill>
                    <a:effectLst/>
                    <a:latin typeface="Segoe WPC"/>
                  </a:rPr>
                  <a:t>:</a:t>
                </a:r>
                <a:r>
                  <a:rPr lang="es-PE" sz="900" dirty="0">
                    <a:solidFill>
                      <a:schemeClr val="tx1"/>
                    </a:solidFill>
                    <a:effectLst/>
                    <a:latin typeface="Segoe WPC"/>
                  </a:rPr>
                  <a:t> Efecto de la forma de la curva sobre la decisión de entrega.</a:t>
                </a:r>
                <a:br>
                  <a:rPr lang="es-PE" sz="900" dirty="0">
                    <a:solidFill>
                      <a:schemeClr val="tx1"/>
                    </a:solidFill>
                    <a:effectLst/>
                    <a:latin typeface="Segoe WPC"/>
                  </a:rPr>
                </a:br>
                <a:r>
                  <a:rPr lang="es-PE" sz="900" b="1" dirty="0" err="1">
                    <a:solidFill>
                      <a:schemeClr val="tx1"/>
                    </a:solidFill>
                    <a:effectLst/>
                    <a:latin typeface="Segoe WPC"/>
                  </a:rPr>
                  <a:t>Plain</a:t>
                </a:r>
                <a:r>
                  <a:rPr lang="es-PE" sz="900" b="1" dirty="0">
                    <a:solidFill>
                      <a:schemeClr val="tx1"/>
                    </a:solidFill>
                    <a:effectLst/>
                    <a:latin typeface="Segoe WPC"/>
                  </a:rPr>
                  <a:t> </a:t>
                </a:r>
                <a:r>
                  <a:rPr lang="es-PE" sz="900" b="1" dirty="0" err="1">
                    <a:solidFill>
                      <a:schemeClr val="tx1"/>
                    </a:solidFill>
                    <a:effectLst/>
                    <a:latin typeface="Segoe WPC"/>
                  </a:rPr>
                  <a:t>Intuition</a:t>
                </a:r>
                <a:r>
                  <a:rPr lang="es-PE" sz="900" b="1" dirty="0">
                    <a:solidFill>
                      <a:schemeClr val="tx1"/>
                    </a:solidFill>
                    <a:effectLst/>
                    <a:latin typeface="Segoe WPC"/>
                  </a:rPr>
                  <a:t>:</a:t>
                </a:r>
                <a:r>
                  <a:rPr lang="es-PE" sz="900" dirty="0">
                    <a:solidFill>
                      <a:schemeClr val="tx1"/>
                    </a:solidFill>
                    <a:effectLst/>
                    <a:latin typeface="Segoe WPC"/>
                  </a:rPr>
                  <a:t> La pendiente de la curva altera qué bono es relativamente más atractivo para entregar.</a:t>
                </a:r>
                <a:br>
                  <a:rPr lang="es-PE" sz="900" dirty="0">
                    <a:solidFill>
                      <a:schemeClr val="tx1"/>
                    </a:solidFill>
                    <a:effectLst/>
                    <a:latin typeface="Segoe WPC"/>
                  </a:rPr>
                </a:br>
                <a:r>
                  <a:rPr lang="es-PE" sz="900" b="1" dirty="0">
                    <a:solidFill>
                      <a:schemeClr val="tx1"/>
                    </a:solidFill>
                    <a:effectLst/>
                    <a:latin typeface="Segoe WPC"/>
                  </a:rPr>
                  <a:t>Visual </a:t>
                </a:r>
                <a:r>
                  <a:rPr lang="es-PE" sz="900" b="1" dirty="0" err="1">
                    <a:solidFill>
                      <a:schemeClr val="tx1"/>
                    </a:solidFill>
                    <a:effectLst/>
                    <a:latin typeface="Segoe WPC"/>
                  </a:rPr>
                  <a:t>Intuition</a:t>
                </a:r>
                <a:r>
                  <a:rPr lang="es-PE" sz="900" b="1" dirty="0">
                    <a:solidFill>
                      <a:schemeClr val="tx1"/>
                    </a:solidFill>
                    <a:effectLst/>
                    <a:latin typeface="Segoe WPC"/>
                  </a:rPr>
                  <a:t>:</a:t>
                </a:r>
                <a:r>
                  <a:rPr lang="es-PE" sz="900" dirty="0">
                    <a:solidFill>
                      <a:schemeClr val="tx1"/>
                    </a:solidFill>
                    <a:effectLst/>
                    <a:latin typeface="Segoe WPC"/>
                  </a:rPr>
                  <a:t> Curva ascendente favorece bonos largos; curva invertida favorece bonos cortos.</a:t>
                </a:r>
                <a:br>
                  <a:rPr lang="es-PE" sz="900" dirty="0">
                    <a:solidFill>
                      <a:schemeClr val="tx1"/>
                    </a:solidFill>
                    <a:effectLst/>
                    <a:latin typeface="Segoe WPC"/>
                  </a:rPr>
                </a:br>
                <a:r>
                  <a:rPr lang="es-PE" sz="900" b="1" dirty="0">
                    <a:solidFill>
                      <a:schemeClr val="tx1"/>
                    </a:solidFill>
                    <a:effectLst/>
                    <a:latin typeface="Segoe WPC"/>
                  </a:rPr>
                  <a:t>Key Formula:</a:t>
                </a:r>
                <a:r>
                  <a:rPr lang="es-PE" sz="900" dirty="0">
                    <a:solidFill>
                      <a:schemeClr val="tx1"/>
                    </a:solidFill>
                    <a:effectLst/>
                    <a:latin typeface="Segoe WPC"/>
                  </a:rPr>
                  <a:t> No hay una sola fórmula; la lógica central es cómo cambia </a:t>
                </a:r>
                <a14:m>
                  <m:oMath xmlns:m="http://schemas.openxmlformats.org/officeDocument/2006/math">
                    <m:r>
                      <a:rPr lang="es-PE" sz="900" i="1">
                        <a:solidFill>
                          <a:schemeClr val="tx1"/>
                        </a:solidFill>
                        <a:latin typeface="Cambria Math" panose="02040503050406030204" pitchFamily="18" charset="0"/>
                      </a:rPr>
                      <m:t>𝑄</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𝑆𝑓</m:t>
                    </m:r>
                  </m:oMath>
                </a14:m>
                <a:r>
                  <a:rPr lang="es-PE" sz="900" dirty="0">
                    <a:solidFill>
                      <a:schemeClr val="tx1"/>
                    </a:solidFill>
                    <a:effectLst/>
                    <a:latin typeface="Segoe WPC"/>
                  </a:rPr>
                  <a:t> con cupón, madurez y </a:t>
                </a:r>
                <a:r>
                  <a:rPr lang="es-PE" sz="900" dirty="0" err="1">
                    <a:solidFill>
                      <a:schemeClr val="tx1"/>
                    </a:solidFill>
                    <a:effectLst/>
                    <a:latin typeface="Segoe WPC"/>
                  </a:rPr>
                  <a:t>yields</a:t>
                </a:r>
                <a:r>
                  <a:rPr lang="es-PE" sz="900" dirty="0">
                    <a:solidFill>
                      <a:schemeClr val="tx1"/>
                    </a:solidFill>
                    <a:effectLst/>
                    <a:latin typeface="Segoe WPC"/>
                  </a:rPr>
                  <a:t> relativos al 6%.</a:t>
                </a:r>
                <a:br>
                  <a:rPr lang="es-PE" sz="900" dirty="0">
                    <a:solidFill>
                      <a:schemeClr val="tx1"/>
                    </a:solidFill>
                    <a:effectLst/>
                    <a:latin typeface="Segoe WPC"/>
                  </a:rPr>
                </a:br>
                <a:r>
                  <a:rPr lang="es-PE" sz="900" b="1" dirty="0" err="1">
                    <a:solidFill>
                      <a:schemeClr val="tx1"/>
                    </a:solidFill>
                    <a:effectLst/>
                    <a:latin typeface="Segoe WPC"/>
                  </a:rPr>
                  <a:t>Interpretation</a:t>
                </a:r>
                <a:r>
                  <a:rPr lang="es-PE" sz="900" b="1" dirty="0">
                    <a:solidFill>
                      <a:schemeClr val="tx1"/>
                    </a:solidFill>
                    <a:effectLst/>
                    <a:latin typeface="Segoe WPC"/>
                  </a:rPr>
                  <a:t>:</a:t>
                </a:r>
                <a:r>
                  <a:rPr lang="es-PE" sz="900" dirty="0">
                    <a:solidFill>
                      <a:schemeClr val="tx1"/>
                    </a:solidFill>
                    <a:effectLst/>
                    <a:latin typeface="Segoe WPC"/>
                  </a:rPr>
                  <a:t> El short también tiene la opción de decidir el día exacto de entrega dentro del mes y puede beneficiarse con movimientos de precio después del cierre del futures </a:t>
                </a:r>
                <a:r>
                  <a:rPr lang="es-PE" sz="900" dirty="0" err="1">
                    <a:solidFill>
                      <a:schemeClr val="tx1"/>
                    </a:solidFill>
                    <a:effectLst/>
                    <a:latin typeface="Segoe WPC"/>
                  </a:rPr>
                  <a:t>settlement</a:t>
                </a:r>
                <a:r>
                  <a:rPr lang="es-PE" sz="900" dirty="0">
                    <a:solidFill>
                      <a:schemeClr val="tx1"/>
                    </a:solidFill>
                    <a:effectLst/>
                    <a:latin typeface="Segoe WPC"/>
                  </a:rPr>
                  <a:t>.</a:t>
                </a:r>
                <a:br>
                  <a:rPr lang="es-PE" sz="900" dirty="0">
                    <a:solidFill>
                      <a:schemeClr val="tx1"/>
                    </a:solidFill>
                    <a:effectLst/>
                    <a:latin typeface="Segoe WPC"/>
                  </a:rPr>
                </a:br>
                <a:r>
                  <a:rPr lang="es-PE" sz="900" b="1" dirty="0" err="1">
                    <a:solidFill>
                      <a:schemeClr val="tx1"/>
                    </a:solidFill>
                    <a:effectLst/>
                    <a:latin typeface="Segoe WPC"/>
                  </a:rPr>
                  <a:t>Exam</a:t>
                </a:r>
                <a:r>
                  <a:rPr lang="es-PE" sz="900" b="1" dirty="0">
                    <a:solidFill>
                      <a:schemeClr val="tx1"/>
                    </a:solidFill>
                    <a:effectLst/>
                    <a:latin typeface="Segoe WPC"/>
                  </a:rPr>
                  <a:t> </a:t>
                </a:r>
                <a:r>
                  <a:rPr lang="es-PE" sz="900" b="1" dirty="0" err="1">
                    <a:solidFill>
                      <a:schemeClr val="tx1"/>
                    </a:solidFill>
                    <a:effectLst/>
                    <a:latin typeface="Segoe WPC"/>
                  </a:rPr>
                  <a:t>Trap</a:t>
                </a:r>
                <a:r>
                  <a:rPr lang="es-PE" sz="900" b="1" dirty="0">
                    <a:solidFill>
                      <a:schemeClr val="tx1"/>
                    </a:solidFill>
                    <a:effectLst/>
                    <a:latin typeface="Segoe WPC"/>
                  </a:rPr>
                  <a:t>:</a:t>
                </a:r>
                <a:r>
                  <a:rPr lang="es-PE" sz="900" dirty="0">
                    <a:solidFill>
                      <a:schemeClr val="tx1"/>
                    </a:solidFill>
                    <a:effectLst/>
                    <a:latin typeface="Segoe WPC"/>
                  </a:rPr>
                  <a:t> La “wild </a:t>
                </a:r>
                <a:r>
                  <a:rPr lang="es-PE" sz="900" dirty="0" err="1">
                    <a:solidFill>
                      <a:schemeClr val="tx1"/>
                    </a:solidFill>
                    <a:effectLst/>
                    <a:latin typeface="Segoe WPC"/>
                  </a:rPr>
                  <a:t>card</a:t>
                </a:r>
                <a:r>
                  <a:rPr lang="es-PE" sz="900" dirty="0">
                    <a:solidFill>
                      <a:schemeClr val="tx1"/>
                    </a:solidFill>
                    <a:effectLst/>
                    <a:latin typeface="Segoe WPC"/>
                  </a:rPr>
                  <a:t> </a:t>
                </a:r>
                <a:r>
                  <a:rPr lang="es-PE" sz="900" dirty="0" err="1">
                    <a:solidFill>
                      <a:schemeClr val="tx1"/>
                    </a:solidFill>
                    <a:effectLst/>
                    <a:latin typeface="Segoe WPC"/>
                  </a:rPr>
                  <a:t>play</a:t>
                </a:r>
                <a:r>
                  <a:rPr lang="es-PE" sz="900" dirty="0">
                    <a:solidFill>
                      <a:schemeClr val="tx1"/>
                    </a:solidFill>
                    <a:effectLst/>
                    <a:latin typeface="Segoe WPC"/>
                  </a:rPr>
                  <a:t>” es una ventaja del short, no del </a:t>
                </a:r>
                <a:r>
                  <a:rPr lang="es-PE" sz="900" dirty="0" err="1">
                    <a:solidFill>
                      <a:schemeClr val="tx1"/>
                    </a:solidFill>
                    <a:effectLst/>
                    <a:latin typeface="Segoe WPC"/>
                  </a:rPr>
                  <a:t>long</a:t>
                </a:r>
                <a:r>
                  <a:rPr lang="es-PE" sz="900" dirty="0">
                    <a:solidFill>
                      <a:schemeClr val="tx1"/>
                    </a:solidFill>
                    <a:effectLst/>
                    <a:latin typeface="Segoe WPC"/>
                  </a:rPr>
                  <a:t>.</a:t>
                </a:r>
              </a:p>
              <a:p>
                <a:pPr>
                  <a:spcAft>
                    <a:spcPts val="600"/>
                  </a:spcAft>
                  <a:buNone/>
                </a:pPr>
                <a:r>
                  <a:rPr lang="es-PE" sz="900" b="1" dirty="0">
                    <a:solidFill>
                      <a:schemeClr val="tx1"/>
                    </a:solidFill>
                    <a:effectLst/>
                    <a:latin typeface="Segoe WPC"/>
                  </a:rPr>
                  <a:t>9. </a:t>
                </a:r>
                <a:r>
                  <a:rPr lang="es-PE" sz="900" b="1" dirty="0" err="1">
                    <a:solidFill>
                      <a:schemeClr val="tx1"/>
                    </a:solidFill>
                    <a:effectLst/>
                    <a:latin typeface="Segoe WPC"/>
                  </a:rPr>
                  <a:t>Theoretical</a:t>
                </a:r>
                <a:r>
                  <a:rPr lang="es-PE" sz="900" b="1" dirty="0">
                    <a:solidFill>
                      <a:schemeClr val="tx1"/>
                    </a:solidFill>
                    <a:effectLst/>
                    <a:latin typeface="Segoe WPC"/>
                  </a:rPr>
                  <a:t> Futures Price</a:t>
                </a:r>
                <a:br>
                  <a:rPr lang="es-PE" sz="900" dirty="0">
                    <a:solidFill>
                      <a:schemeClr val="tx1"/>
                    </a:solidFill>
                    <a:effectLst/>
                    <a:latin typeface="Segoe WPC"/>
                  </a:rPr>
                </a:br>
                <a:r>
                  <a:rPr lang="es-PE" sz="900" b="1" dirty="0" err="1">
                    <a:solidFill>
                      <a:schemeClr val="tx1"/>
                    </a:solidFill>
                    <a:effectLst/>
                    <a:latin typeface="Segoe WPC"/>
                  </a:rPr>
                  <a:t>Financial</a:t>
                </a:r>
                <a:r>
                  <a:rPr lang="es-PE" sz="900" b="1" dirty="0">
                    <a:solidFill>
                      <a:schemeClr val="tx1"/>
                    </a:solidFill>
                    <a:effectLst/>
                    <a:latin typeface="Segoe WPC"/>
                  </a:rPr>
                  <a:t> </a:t>
                </a:r>
                <a:r>
                  <a:rPr lang="es-PE" sz="900" b="1" dirty="0" err="1">
                    <a:solidFill>
                      <a:schemeClr val="tx1"/>
                    </a:solidFill>
                    <a:effectLst/>
                    <a:latin typeface="Segoe WPC"/>
                  </a:rPr>
                  <a:t>Object</a:t>
                </a:r>
                <a:r>
                  <a:rPr lang="es-PE" sz="900" b="1" dirty="0">
                    <a:solidFill>
                      <a:schemeClr val="tx1"/>
                    </a:solidFill>
                    <a:effectLst/>
                    <a:latin typeface="Segoe WPC"/>
                  </a:rPr>
                  <a:t>:</a:t>
                </a:r>
                <a:r>
                  <a:rPr lang="es-PE" sz="900" dirty="0">
                    <a:solidFill>
                      <a:schemeClr val="tx1"/>
                    </a:solidFill>
                    <a:effectLst/>
                    <a:latin typeface="Segoe WPC"/>
                  </a:rPr>
                  <a:t> Precio justo de un </a:t>
                </a:r>
                <a:r>
                  <a:rPr lang="es-PE" sz="900" dirty="0" err="1">
                    <a:solidFill>
                      <a:schemeClr val="tx1"/>
                    </a:solidFill>
                    <a:effectLst/>
                    <a:latin typeface="Segoe WPC"/>
                  </a:rPr>
                  <a:t>Treasury</a:t>
                </a:r>
                <a:r>
                  <a:rPr lang="es-PE" sz="900" dirty="0">
                    <a:solidFill>
                      <a:schemeClr val="tx1"/>
                    </a:solidFill>
                    <a:effectLst/>
                    <a:latin typeface="Segoe WPC"/>
                  </a:rPr>
                  <a:t> bond futures si se conoce el bono a entregar y el momento de entrega.</a:t>
                </a:r>
                <a:br>
                  <a:rPr lang="es-PE" sz="900" dirty="0">
                    <a:solidFill>
                      <a:schemeClr val="tx1"/>
                    </a:solidFill>
                    <a:effectLst/>
                    <a:latin typeface="Segoe WPC"/>
                  </a:rPr>
                </a:br>
                <a:r>
                  <a:rPr lang="es-PE" sz="900" b="1" dirty="0" err="1">
                    <a:solidFill>
                      <a:schemeClr val="tx1"/>
                    </a:solidFill>
                    <a:effectLst/>
                    <a:latin typeface="Segoe WPC"/>
                  </a:rPr>
                  <a:t>Plain</a:t>
                </a:r>
                <a:r>
                  <a:rPr lang="es-PE" sz="900" b="1" dirty="0">
                    <a:solidFill>
                      <a:schemeClr val="tx1"/>
                    </a:solidFill>
                    <a:effectLst/>
                    <a:latin typeface="Segoe WPC"/>
                  </a:rPr>
                  <a:t> </a:t>
                </a:r>
                <a:r>
                  <a:rPr lang="es-PE" sz="900" b="1" dirty="0" err="1">
                    <a:solidFill>
                      <a:schemeClr val="tx1"/>
                    </a:solidFill>
                    <a:effectLst/>
                    <a:latin typeface="Segoe WPC"/>
                  </a:rPr>
                  <a:t>Intuition</a:t>
                </a:r>
                <a:r>
                  <a:rPr lang="es-PE" sz="900" b="1" dirty="0">
                    <a:solidFill>
                      <a:schemeClr val="tx1"/>
                    </a:solidFill>
                    <a:effectLst/>
                    <a:latin typeface="Segoe WPC"/>
                  </a:rPr>
                  <a:t>:</a:t>
                </a:r>
                <a:r>
                  <a:rPr lang="es-PE" sz="900" dirty="0">
                    <a:solidFill>
                      <a:schemeClr val="tx1"/>
                    </a:solidFill>
                    <a:effectLst/>
                    <a:latin typeface="Segoe WPC"/>
                  </a:rPr>
                  <a:t> Es un caso de </a:t>
                </a:r>
                <a:r>
                  <a:rPr lang="es-PE" sz="900" dirty="0" err="1">
                    <a:solidFill>
                      <a:schemeClr val="tx1"/>
                    </a:solidFill>
                    <a:effectLst/>
                    <a:latin typeface="Segoe WPC"/>
                  </a:rPr>
                  <a:t>carry</a:t>
                </a:r>
                <a:r>
                  <a:rPr lang="es-PE" sz="900" dirty="0">
                    <a:solidFill>
                      <a:schemeClr val="tx1"/>
                    </a:solidFill>
                    <a:effectLst/>
                    <a:latin typeface="Segoe WPC"/>
                  </a:rPr>
                  <a:t> </a:t>
                </a:r>
                <a:r>
                  <a:rPr lang="es-PE" sz="900" dirty="0" err="1">
                    <a:solidFill>
                      <a:schemeClr val="tx1"/>
                    </a:solidFill>
                    <a:effectLst/>
                    <a:latin typeface="Segoe WPC"/>
                  </a:rPr>
                  <a:t>pricing</a:t>
                </a:r>
                <a:r>
                  <a:rPr lang="es-PE" sz="900" dirty="0">
                    <a:solidFill>
                      <a:schemeClr val="tx1"/>
                    </a:solidFill>
                    <a:effectLst/>
                    <a:latin typeface="Segoe WPC"/>
                  </a:rPr>
                  <a:t> para un activo con ingresos conocidos (los cupones).</a:t>
                </a:r>
                <a:br>
                  <a:rPr lang="es-PE" sz="900" dirty="0">
                    <a:solidFill>
                      <a:schemeClr val="tx1"/>
                    </a:solidFill>
                    <a:effectLst/>
                    <a:latin typeface="Segoe WPC"/>
                  </a:rPr>
                </a:br>
                <a:r>
                  <a:rPr lang="es-PE" sz="900" b="1" dirty="0">
                    <a:solidFill>
                      <a:schemeClr val="tx1"/>
                    </a:solidFill>
                    <a:effectLst/>
                    <a:latin typeface="Segoe WPC"/>
                  </a:rPr>
                  <a:t>Visual </a:t>
                </a:r>
                <a:r>
                  <a:rPr lang="es-PE" sz="900" b="1" dirty="0" err="1">
                    <a:solidFill>
                      <a:schemeClr val="tx1"/>
                    </a:solidFill>
                    <a:effectLst/>
                    <a:latin typeface="Segoe WPC"/>
                  </a:rPr>
                  <a:t>Intuition</a:t>
                </a:r>
                <a:r>
                  <a:rPr lang="es-PE" sz="900" b="1" dirty="0">
                    <a:solidFill>
                      <a:schemeClr val="tx1"/>
                    </a:solidFill>
                    <a:effectLst/>
                    <a:latin typeface="Segoe WPC"/>
                  </a:rPr>
                  <a:t>:</a:t>
                </a:r>
                <a:r>
                  <a:rPr lang="es-PE" sz="900" dirty="0">
                    <a:solidFill>
                      <a:schemeClr val="tx1"/>
                    </a:solidFill>
                    <a:effectLst/>
                    <a:latin typeface="Segoe WPC"/>
                  </a:rPr>
                  <a:t> Tomas el </a:t>
                </a:r>
                <a:r>
                  <a:rPr lang="es-PE" sz="900" dirty="0" err="1">
                    <a:solidFill>
                      <a:schemeClr val="tx1"/>
                    </a:solidFill>
                    <a:effectLst/>
                    <a:latin typeface="Segoe WPC"/>
                  </a:rPr>
                  <a:t>dirty</a:t>
                </a:r>
                <a:r>
                  <a:rPr lang="es-PE" sz="900" dirty="0">
                    <a:solidFill>
                      <a:schemeClr val="tx1"/>
                    </a:solidFill>
                    <a:effectLst/>
                    <a:latin typeface="Segoe WPC"/>
                  </a:rPr>
                  <a:t> spot </a:t>
                </a:r>
                <a:r>
                  <a:rPr lang="es-PE" sz="900" dirty="0" err="1">
                    <a:solidFill>
                      <a:schemeClr val="tx1"/>
                    </a:solidFill>
                    <a:effectLst/>
                    <a:latin typeface="Segoe WPC"/>
                  </a:rPr>
                  <a:t>price</a:t>
                </a:r>
                <a:r>
                  <a:rPr lang="es-PE" sz="900" dirty="0">
                    <a:solidFill>
                      <a:schemeClr val="tx1"/>
                    </a:solidFill>
                    <a:effectLst/>
                    <a:latin typeface="Segoe WPC"/>
                  </a:rPr>
                  <a:t>, restas el valor presente de cupones recibidos antes de </a:t>
                </a:r>
                <a:r>
                  <a:rPr lang="es-PE" sz="900" dirty="0" err="1">
                    <a:solidFill>
                      <a:schemeClr val="tx1"/>
                    </a:solidFill>
                    <a:effectLst/>
                    <a:latin typeface="Segoe WPC"/>
                  </a:rPr>
                  <a:t>delivery</a:t>
                </a:r>
                <a:r>
                  <a:rPr lang="es-PE" sz="900" dirty="0">
                    <a:solidFill>
                      <a:schemeClr val="tx1"/>
                    </a:solidFill>
                    <a:effectLst/>
                    <a:latin typeface="Segoe WPC"/>
                  </a:rPr>
                  <a:t> y capitalizas hasta entrega.</a:t>
                </a:r>
                <a:br>
                  <a:rPr lang="es-PE" sz="900" dirty="0">
                    <a:solidFill>
                      <a:schemeClr val="tx1"/>
                    </a:solidFill>
                    <a:effectLst/>
                    <a:latin typeface="Segoe WPC"/>
                  </a:rPr>
                </a:br>
                <a:r>
                  <a:rPr lang="es-PE" sz="900" b="1" dirty="0">
                    <a:solidFill>
                      <a:schemeClr val="tx1"/>
                    </a:solidFill>
                    <a:effectLst/>
                    <a:latin typeface="Segoe WPC"/>
                  </a:rPr>
                  <a:t>Key Formula:</a:t>
                </a:r>
                <a:r>
                  <a:rPr lang="es-PE" sz="90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𝐹</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𝑆</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𝐼</m:t>
                        </m:r>
                      </m:e>
                    </m:d>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1">
                            <a:solidFill>
                              <a:schemeClr val="tx1"/>
                            </a:solidFill>
                            <a:latin typeface="Cambria Math" panose="02040503050406030204" pitchFamily="18" charset="0"/>
                          </a:rPr>
                          <m:t>𝑅𝑇</m:t>
                        </m:r>
                      </m:sup>
                    </m:sSup>
                  </m:oMath>
                </a14:m>
                <a:r>
                  <a:rPr lang="ar-AE" sz="900" dirty="0">
                    <a:solidFill>
                      <a:schemeClr val="tx1"/>
                    </a:solidFill>
                    <a:effectLst/>
                    <a:latin typeface="Segoe WPC"/>
                  </a:rPr>
                  <a:t> </a:t>
                </a:r>
                <a:r>
                  <a:rPr lang="es-PE" sz="900" dirty="0">
                    <a:solidFill>
                      <a:schemeClr val="tx1"/>
                    </a:solidFill>
                    <a:effectLst/>
                    <a:latin typeface="Segoe WPC"/>
                  </a:rPr>
                  <a:t>o </a:t>
                </a:r>
                <a14:m>
                  <m:oMath xmlns:m="http://schemas.openxmlformats.org/officeDocument/2006/math">
                    <m:r>
                      <a:rPr lang="es-PE" sz="900" i="1">
                        <a:solidFill>
                          <a:schemeClr val="tx1"/>
                        </a:solidFill>
                        <a:latin typeface="Cambria Math" panose="02040503050406030204" pitchFamily="18" charset="0"/>
                      </a:rPr>
                      <m:t>𝐹</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𝑆</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𝐼</m:t>
                        </m:r>
                      </m:e>
                    </m:d>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1">
                            <a:solidFill>
                              <a:schemeClr val="tx1"/>
                            </a:solidFill>
                            <a:latin typeface="Cambria Math" panose="02040503050406030204" pitchFamily="18" charset="0"/>
                          </a:rPr>
                          <m:t>𝑟𝑇</m:t>
                        </m:r>
                      </m:sup>
                    </m:sSup>
                  </m:oMath>
                </a14:m>
                <a:r>
                  <a:rPr lang="ar-AE" sz="900" dirty="0">
                    <a:solidFill>
                      <a:schemeClr val="tx1"/>
                    </a:solidFill>
                    <a:effectLst/>
                    <a:latin typeface="Segoe WPC"/>
                  </a:rPr>
                  <a:t>, </a:t>
                </a:r>
                <a:r>
                  <a:rPr lang="es-PE" sz="900" dirty="0">
                    <a:solidFill>
                      <a:schemeClr val="tx1"/>
                    </a:solidFill>
                    <a:effectLst/>
                    <a:latin typeface="Segoe WPC"/>
                  </a:rPr>
                  <a:t>según convención de capitalización</a:t>
                </a:r>
                <a:br>
                  <a:rPr lang="es-PE" sz="900" dirty="0">
                    <a:solidFill>
                      <a:schemeClr val="tx1"/>
                    </a:solidFill>
                    <a:effectLst/>
                    <a:latin typeface="Segoe WPC"/>
                  </a:rPr>
                </a:br>
                <a:r>
                  <a:rPr lang="es-PE" sz="900" b="1" dirty="0" err="1">
                    <a:solidFill>
                      <a:schemeClr val="tx1"/>
                    </a:solidFill>
                    <a:effectLst/>
                    <a:latin typeface="Segoe WPC"/>
                  </a:rPr>
                  <a:t>Interpretation</a:t>
                </a:r>
                <a:r>
                  <a:rPr lang="es-PE" sz="900" b="1" dirty="0">
                    <a:solidFill>
                      <a:schemeClr val="tx1"/>
                    </a:solidFill>
                    <a:effectLst/>
                    <a:latin typeface="Segoe WPC"/>
                  </a:rPr>
                  <a:t>:</a:t>
                </a:r>
                <a:r>
                  <a:rPr lang="es-PE" sz="900" dirty="0">
                    <a:solidFill>
                      <a:schemeClr val="tx1"/>
                    </a:solidFill>
                    <a:effectLst/>
                    <a:latin typeface="Segoe WPC"/>
                  </a:rPr>
                  <a:t> Aquí </a:t>
                </a:r>
                <a14:m>
                  <m:oMath xmlns:m="http://schemas.openxmlformats.org/officeDocument/2006/math">
                    <m:r>
                      <a:rPr lang="es-PE" sz="900" i="1">
                        <a:solidFill>
                          <a:schemeClr val="tx1"/>
                        </a:solidFill>
                        <a:latin typeface="Cambria Math" panose="02040503050406030204" pitchFamily="18" charset="0"/>
                      </a:rPr>
                      <m:t>𝑆</m:t>
                    </m:r>
                  </m:oMath>
                </a14:m>
                <a:r>
                  <a:rPr lang="es-PE" sz="900" dirty="0">
                    <a:solidFill>
                      <a:schemeClr val="tx1"/>
                    </a:solidFill>
                    <a:effectLst/>
                    <a:latin typeface="Segoe WPC"/>
                  </a:rPr>
                  <a:t> debe ser el </a:t>
                </a:r>
                <a:r>
                  <a:rPr lang="es-PE" sz="900" b="1" dirty="0" err="1">
                    <a:solidFill>
                      <a:schemeClr val="tx1"/>
                    </a:solidFill>
                    <a:effectLst/>
                    <a:latin typeface="Segoe WPC"/>
                  </a:rPr>
                  <a:t>dirty</a:t>
                </a:r>
                <a:r>
                  <a:rPr lang="es-PE" sz="900" b="1" dirty="0">
                    <a:solidFill>
                      <a:schemeClr val="tx1"/>
                    </a:solidFill>
                    <a:effectLst/>
                    <a:latin typeface="Segoe WPC"/>
                  </a:rPr>
                  <a:t> cash </a:t>
                </a:r>
                <a:r>
                  <a:rPr lang="es-PE" sz="900" b="1" dirty="0" err="1">
                    <a:solidFill>
                      <a:schemeClr val="tx1"/>
                    </a:solidFill>
                    <a:effectLst/>
                    <a:latin typeface="Segoe WPC"/>
                  </a:rPr>
                  <a:t>price</a:t>
                </a:r>
                <a:r>
                  <a:rPr lang="es-PE" sz="900" dirty="0">
                    <a:solidFill>
                      <a:schemeClr val="tx1"/>
                    </a:solidFill>
                    <a:effectLst/>
                    <a:latin typeface="Segoe WPC"/>
                  </a:rPr>
                  <a:t> y el resultado inicial es un </a:t>
                </a:r>
                <a:r>
                  <a:rPr lang="es-PE" sz="900" b="1" dirty="0" err="1">
                    <a:solidFill>
                      <a:schemeClr val="tx1"/>
                    </a:solidFill>
                    <a:effectLst/>
                    <a:latin typeface="Segoe WPC"/>
                  </a:rPr>
                  <a:t>dirty</a:t>
                </a:r>
                <a:r>
                  <a:rPr lang="es-PE" sz="900" b="1" dirty="0">
                    <a:solidFill>
                      <a:schemeClr val="tx1"/>
                    </a:solidFill>
                    <a:effectLst/>
                    <a:latin typeface="Segoe WPC"/>
                  </a:rPr>
                  <a:t> futures </a:t>
                </a:r>
                <a:r>
                  <a:rPr lang="es-PE" sz="900" b="1" dirty="0" err="1">
                    <a:solidFill>
                      <a:schemeClr val="tx1"/>
                    </a:solidFill>
                    <a:effectLst/>
                    <a:latin typeface="Segoe WPC"/>
                  </a:rPr>
                  <a:t>price</a:t>
                </a:r>
                <a:r>
                  <a:rPr lang="es-PE" sz="900" dirty="0">
                    <a:solidFill>
                      <a:schemeClr val="tx1"/>
                    </a:solidFill>
                    <a:effectLst/>
                    <a:latin typeface="Segoe WPC"/>
                  </a:rPr>
                  <a:t>; luego se resta </a:t>
                </a:r>
                <a:r>
                  <a:rPr lang="es-PE" sz="900" dirty="0" err="1">
                    <a:solidFill>
                      <a:schemeClr val="tx1"/>
                    </a:solidFill>
                    <a:effectLst/>
                    <a:latin typeface="Segoe WPC"/>
                  </a:rPr>
                  <a:t>accrued</a:t>
                </a:r>
                <a:r>
                  <a:rPr lang="es-PE" sz="900" dirty="0">
                    <a:solidFill>
                      <a:schemeClr val="tx1"/>
                    </a:solidFill>
                    <a:effectLst/>
                    <a:latin typeface="Segoe WPC"/>
                  </a:rPr>
                  <a:t> </a:t>
                </a:r>
                <a:r>
                  <a:rPr lang="es-PE" sz="900" dirty="0" err="1">
                    <a:solidFill>
                      <a:schemeClr val="tx1"/>
                    </a:solidFill>
                    <a:effectLst/>
                    <a:latin typeface="Segoe WPC"/>
                  </a:rPr>
                  <a:t>interest</a:t>
                </a:r>
                <a:r>
                  <a:rPr lang="es-PE" sz="900" dirty="0">
                    <a:solidFill>
                      <a:schemeClr val="tx1"/>
                    </a:solidFill>
                    <a:effectLst/>
                    <a:latin typeface="Segoe WPC"/>
                  </a:rPr>
                  <a:t> al </a:t>
                </a:r>
                <a:r>
                  <a:rPr lang="es-PE" sz="900" dirty="0" err="1">
                    <a:solidFill>
                      <a:schemeClr val="tx1"/>
                    </a:solidFill>
                    <a:effectLst/>
                    <a:latin typeface="Segoe WPC"/>
                  </a:rPr>
                  <a:t>delivery</a:t>
                </a:r>
                <a:r>
                  <a:rPr lang="es-PE" sz="900" dirty="0">
                    <a:solidFill>
                      <a:schemeClr val="tx1"/>
                    </a:solidFill>
                    <a:effectLst/>
                    <a:latin typeface="Segoe WPC"/>
                  </a:rPr>
                  <a:t> para llegar al </a:t>
                </a:r>
                <a:r>
                  <a:rPr lang="es-PE" sz="900" dirty="0" err="1">
                    <a:solidFill>
                      <a:schemeClr val="tx1"/>
                    </a:solidFill>
                    <a:effectLst/>
                    <a:latin typeface="Segoe WPC"/>
                  </a:rPr>
                  <a:t>clean</a:t>
                </a:r>
                <a:r>
                  <a:rPr lang="es-PE" sz="900" dirty="0">
                    <a:solidFill>
                      <a:schemeClr val="tx1"/>
                    </a:solidFill>
                    <a:effectLst/>
                    <a:latin typeface="Segoe WPC"/>
                  </a:rPr>
                  <a:t> futures </a:t>
                </a:r>
                <a:r>
                  <a:rPr lang="es-PE" sz="900" dirty="0" err="1">
                    <a:solidFill>
                      <a:schemeClr val="tx1"/>
                    </a:solidFill>
                    <a:effectLst/>
                    <a:latin typeface="Segoe WPC"/>
                  </a:rPr>
                  <a:t>price</a:t>
                </a:r>
                <a:r>
                  <a:rPr lang="es-PE" sz="900" dirty="0">
                    <a:solidFill>
                      <a:schemeClr val="tx1"/>
                    </a:solidFill>
                    <a:effectLst/>
                    <a:latin typeface="Segoe WPC"/>
                  </a:rPr>
                  <a:t>, y finalmente se divide entre </a:t>
                </a:r>
                <a14:m>
                  <m:oMath xmlns:m="http://schemas.openxmlformats.org/officeDocument/2006/math">
                    <m:r>
                      <a:rPr lang="es-PE" sz="900" i="1">
                        <a:solidFill>
                          <a:schemeClr val="tx1"/>
                        </a:solidFill>
                        <a:latin typeface="Cambria Math" panose="02040503050406030204" pitchFamily="18" charset="0"/>
                      </a:rPr>
                      <m:t>𝑓</m:t>
                    </m:r>
                  </m:oMath>
                </a14:m>
                <a:r>
                  <a:rPr lang="es-PE" sz="900" dirty="0">
                    <a:solidFill>
                      <a:schemeClr val="tx1"/>
                    </a:solidFill>
                    <a:effectLst/>
                    <a:latin typeface="Segoe WPC"/>
                  </a:rPr>
                  <a:t>.</a:t>
                </a:r>
                <a:br>
                  <a:rPr lang="es-PE" sz="900" dirty="0">
                    <a:solidFill>
                      <a:schemeClr val="tx1"/>
                    </a:solidFill>
                    <a:effectLst/>
                    <a:latin typeface="Segoe WPC"/>
                  </a:rPr>
                </a:br>
                <a:r>
                  <a:rPr lang="es-PE" sz="900" b="1" dirty="0" err="1">
                    <a:solidFill>
                      <a:schemeClr val="tx1"/>
                    </a:solidFill>
                    <a:effectLst/>
                    <a:latin typeface="Segoe WPC"/>
                  </a:rPr>
                  <a:t>Exam</a:t>
                </a:r>
                <a:r>
                  <a:rPr lang="es-PE" sz="900" b="1" dirty="0">
                    <a:solidFill>
                      <a:schemeClr val="tx1"/>
                    </a:solidFill>
                    <a:effectLst/>
                    <a:latin typeface="Segoe WPC"/>
                  </a:rPr>
                  <a:t> </a:t>
                </a:r>
                <a:r>
                  <a:rPr lang="es-PE" sz="900" b="1" dirty="0" err="1">
                    <a:solidFill>
                      <a:schemeClr val="tx1"/>
                    </a:solidFill>
                    <a:effectLst/>
                    <a:latin typeface="Segoe WPC"/>
                  </a:rPr>
                  <a:t>Trap</a:t>
                </a:r>
                <a:r>
                  <a:rPr lang="es-PE" sz="900" b="1" dirty="0">
                    <a:solidFill>
                      <a:schemeClr val="tx1"/>
                    </a:solidFill>
                    <a:effectLst/>
                    <a:latin typeface="Segoe WPC"/>
                  </a:rPr>
                  <a:t>:</a:t>
                </a:r>
                <a:r>
                  <a:rPr lang="es-PE" sz="900" dirty="0">
                    <a:solidFill>
                      <a:schemeClr val="tx1"/>
                    </a:solidFill>
                    <a:effectLst/>
                    <a:latin typeface="Segoe WPC"/>
                  </a:rPr>
                  <a:t> El </a:t>
                </a:r>
                <a:r>
                  <a:rPr lang="es-PE" sz="900" dirty="0" err="1">
                    <a:solidFill>
                      <a:schemeClr val="tx1"/>
                    </a:solidFill>
                    <a:effectLst/>
                    <a:latin typeface="Segoe WPC"/>
                  </a:rPr>
                  <a:t>quoted</a:t>
                </a:r>
                <a:r>
                  <a:rPr lang="es-PE" sz="900" dirty="0">
                    <a:solidFill>
                      <a:schemeClr val="tx1"/>
                    </a:solidFill>
                    <a:effectLst/>
                    <a:latin typeface="Segoe WPC"/>
                  </a:rPr>
                  <a:t> futures </a:t>
                </a:r>
                <a:r>
                  <a:rPr lang="es-PE" sz="900" dirty="0" err="1">
                    <a:solidFill>
                      <a:schemeClr val="tx1"/>
                    </a:solidFill>
                    <a:effectLst/>
                    <a:latin typeface="Segoe WPC"/>
                  </a:rPr>
                  <a:t>price</a:t>
                </a:r>
                <a:r>
                  <a:rPr lang="es-PE" sz="900" dirty="0">
                    <a:solidFill>
                      <a:schemeClr val="tx1"/>
                    </a:solidFill>
                    <a:effectLst/>
                    <a:latin typeface="Segoe WPC"/>
                  </a:rPr>
                  <a:t> no sale directo de la fórmula; antes debes pasar por </a:t>
                </a:r>
                <a:r>
                  <a:rPr lang="es-PE" sz="900" dirty="0" err="1">
                    <a:solidFill>
                      <a:schemeClr val="tx1"/>
                    </a:solidFill>
                    <a:effectLst/>
                    <a:latin typeface="Segoe WPC"/>
                  </a:rPr>
                  <a:t>dirty</a:t>
                </a:r>
                <a:r>
                  <a:rPr lang="es-PE" sz="900" dirty="0">
                    <a:solidFill>
                      <a:schemeClr val="tx1"/>
                    </a:solidFill>
                    <a:effectLst/>
                    <a:latin typeface="Segoe WPC"/>
                  </a:rPr>
                  <a:t> </a:t>
                </a:r>
                <a:r>
                  <a:rPr lang="es-PE" sz="900" dirty="0" err="1">
                    <a:solidFill>
                      <a:schemeClr val="tx1"/>
                    </a:solidFill>
                    <a:effectLst/>
                    <a:latin typeface="Segoe WPC"/>
                  </a:rPr>
                  <a:t>price</a:t>
                </a:r>
                <a:r>
                  <a:rPr lang="es-PE" sz="900" dirty="0">
                    <a:solidFill>
                      <a:schemeClr val="tx1"/>
                    </a:solidFill>
                    <a:effectLst/>
                    <a:latin typeface="Segoe WPC"/>
                  </a:rPr>
                  <a:t>, </a:t>
                </a:r>
                <a:r>
                  <a:rPr lang="es-PE" sz="900" dirty="0" err="1">
                    <a:solidFill>
                      <a:schemeClr val="tx1"/>
                    </a:solidFill>
                    <a:effectLst/>
                    <a:latin typeface="Segoe WPC"/>
                  </a:rPr>
                  <a:t>accrued</a:t>
                </a:r>
                <a:r>
                  <a:rPr lang="es-PE" sz="900" dirty="0">
                    <a:solidFill>
                      <a:schemeClr val="tx1"/>
                    </a:solidFill>
                    <a:effectLst/>
                    <a:latin typeface="Segoe WPC"/>
                  </a:rPr>
                  <a:t> </a:t>
                </a:r>
                <a:r>
                  <a:rPr lang="es-PE" sz="900" dirty="0" err="1">
                    <a:solidFill>
                      <a:schemeClr val="tx1"/>
                    </a:solidFill>
                    <a:effectLst/>
                    <a:latin typeface="Segoe WPC"/>
                  </a:rPr>
                  <a:t>interest</a:t>
                </a:r>
                <a:r>
                  <a:rPr lang="es-PE" sz="900" dirty="0">
                    <a:solidFill>
                      <a:schemeClr val="tx1"/>
                    </a:solidFill>
                    <a:effectLst/>
                    <a:latin typeface="Segoe WPC"/>
                  </a:rPr>
                  <a:t> y </a:t>
                </a:r>
                <a:r>
                  <a:rPr lang="es-PE" sz="900" dirty="0" err="1">
                    <a:solidFill>
                      <a:schemeClr val="tx1"/>
                    </a:solidFill>
                    <a:effectLst/>
                    <a:latin typeface="Segoe WPC"/>
                  </a:rPr>
                  <a:t>conversion</a:t>
                </a:r>
                <a:r>
                  <a:rPr lang="es-PE" sz="900" dirty="0">
                    <a:solidFill>
                      <a:schemeClr val="tx1"/>
                    </a:solidFill>
                    <a:effectLst/>
                    <a:latin typeface="Segoe WPC"/>
                  </a:rPr>
                  <a:t> factor.</a:t>
                </a:r>
              </a:p>
              <a:p>
                <a:pPr>
                  <a:spcAft>
                    <a:spcPts val="600"/>
                  </a:spcAft>
                  <a:buNone/>
                </a:pPr>
                <a:r>
                  <a:rPr lang="es-PE" sz="900" b="1" dirty="0">
                    <a:solidFill>
                      <a:schemeClr val="tx1"/>
                    </a:solidFill>
                    <a:effectLst/>
                    <a:latin typeface="Segoe WPC"/>
                  </a:rPr>
                  <a:t>10. SOFR Futures, Zero Curves, and </a:t>
                </a:r>
                <a:r>
                  <a:rPr lang="es-PE" sz="900" b="1" dirty="0" err="1">
                    <a:solidFill>
                      <a:schemeClr val="tx1"/>
                    </a:solidFill>
                    <a:effectLst/>
                    <a:latin typeface="Segoe WPC"/>
                  </a:rPr>
                  <a:t>Duration</a:t>
                </a:r>
                <a:r>
                  <a:rPr lang="es-PE" sz="900" b="1" dirty="0">
                    <a:solidFill>
                      <a:schemeClr val="tx1"/>
                    </a:solidFill>
                    <a:effectLst/>
                    <a:latin typeface="Segoe WPC"/>
                  </a:rPr>
                  <a:t> </a:t>
                </a:r>
                <a:r>
                  <a:rPr lang="es-PE" sz="900" b="1" dirty="0" err="1">
                    <a:solidFill>
                      <a:schemeClr val="tx1"/>
                    </a:solidFill>
                    <a:effectLst/>
                    <a:latin typeface="Segoe WPC"/>
                  </a:rPr>
                  <a:t>Hedging</a:t>
                </a:r>
                <a:br>
                  <a:rPr lang="es-PE" sz="900" dirty="0">
                    <a:solidFill>
                      <a:schemeClr val="tx1"/>
                    </a:solidFill>
                    <a:effectLst/>
                    <a:latin typeface="Segoe WPC"/>
                  </a:rPr>
                </a:br>
                <a:r>
                  <a:rPr lang="es-PE" sz="900" b="1" dirty="0" err="1">
                    <a:solidFill>
                      <a:schemeClr val="tx1"/>
                    </a:solidFill>
                    <a:effectLst/>
                    <a:latin typeface="Segoe WPC"/>
                  </a:rPr>
                  <a:t>Financial</a:t>
                </a:r>
                <a:r>
                  <a:rPr lang="es-PE" sz="900" b="1" dirty="0">
                    <a:solidFill>
                      <a:schemeClr val="tx1"/>
                    </a:solidFill>
                    <a:effectLst/>
                    <a:latin typeface="Segoe WPC"/>
                  </a:rPr>
                  <a:t> </a:t>
                </a:r>
                <a:r>
                  <a:rPr lang="es-PE" sz="900" b="1" dirty="0" err="1">
                    <a:solidFill>
                      <a:schemeClr val="tx1"/>
                    </a:solidFill>
                    <a:effectLst/>
                    <a:latin typeface="Segoe WPC"/>
                  </a:rPr>
                  <a:t>Object</a:t>
                </a:r>
                <a:r>
                  <a:rPr lang="es-PE" sz="900" b="1" dirty="0">
                    <a:solidFill>
                      <a:schemeClr val="tx1"/>
                    </a:solidFill>
                    <a:effectLst/>
                    <a:latin typeface="Segoe WPC"/>
                  </a:rPr>
                  <a:t>:</a:t>
                </a:r>
                <a:r>
                  <a:rPr lang="es-PE" sz="900" dirty="0">
                    <a:solidFill>
                      <a:schemeClr val="tx1"/>
                    </a:solidFill>
                    <a:effectLst/>
                    <a:latin typeface="Segoe WPC"/>
                  </a:rPr>
                  <a:t> Futuros de corto plazo para cubrir tasas y construir curvas; </a:t>
                </a:r>
                <a:r>
                  <a:rPr lang="es-PE" sz="900" dirty="0" err="1">
                    <a:solidFill>
                      <a:schemeClr val="tx1"/>
                    </a:solidFill>
                    <a:effectLst/>
                    <a:latin typeface="Segoe WPC"/>
                  </a:rPr>
                  <a:t>hedge</a:t>
                </a:r>
                <a:r>
                  <a:rPr lang="es-PE" sz="900" dirty="0">
                    <a:solidFill>
                      <a:schemeClr val="tx1"/>
                    </a:solidFill>
                    <a:effectLst/>
                    <a:latin typeface="Segoe WPC"/>
                  </a:rPr>
                  <a:t> ratio basado en </a:t>
                </a:r>
                <a:r>
                  <a:rPr lang="es-PE" sz="900" dirty="0" err="1">
                    <a:solidFill>
                      <a:schemeClr val="tx1"/>
                    </a:solidFill>
                    <a:effectLst/>
                    <a:latin typeface="Segoe WPC"/>
                  </a:rPr>
                  <a:t>duration</a:t>
                </a:r>
                <a:r>
                  <a:rPr lang="es-PE" sz="900" dirty="0">
                    <a:solidFill>
                      <a:schemeClr val="tx1"/>
                    </a:solidFill>
                    <a:effectLst/>
                    <a:latin typeface="Segoe WPC"/>
                  </a:rPr>
                  <a:t> para cubrir riesgo de tasa.</a:t>
                </a:r>
                <a:br>
                  <a:rPr lang="es-PE" sz="900" dirty="0">
                    <a:solidFill>
                      <a:schemeClr val="tx1"/>
                    </a:solidFill>
                    <a:effectLst/>
                    <a:latin typeface="Segoe WPC"/>
                  </a:rPr>
                </a:br>
                <a:r>
                  <a:rPr lang="es-PE" sz="900" b="1" dirty="0" err="1">
                    <a:solidFill>
                      <a:schemeClr val="tx1"/>
                    </a:solidFill>
                    <a:effectLst/>
                    <a:latin typeface="Segoe WPC"/>
                  </a:rPr>
                  <a:t>Plain</a:t>
                </a:r>
                <a:r>
                  <a:rPr lang="es-PE" sz="900" b="1" dirty="0">
                    <a:solidFill>
                      <a:schemeClr val="tx1"/>
                    </a:solidFill>
                    <a:effectLst/>
                    <a:latin typeface="Segoe WPC"/>
                  </a:rPr>
                  <a:t> </a:t>
                </a:r>
                <a:r>
                  <a:rPr lang="es-PE" sz="900" b="1" dirty="0" err="1">
                    <a:solidFill>
                      <a:schemeClr val="tx1"/>
                    </a:solidFill>
                    <a:effectLst/>
                    <a:latin typeface="Segoe WPC"/>
                  </a:rPr>
                  <a:t>Intuition</a:t>
                </a:r>
                <a:r>
                  <a:rPr lang="es-PE" sz="900" b="1" dirty="0">
                    <a:solidFill>
                      <a:schemeClr val="tx1"/>
                    </a:solidFill>
                    <a:effectLst/>
                    <a:latin typeface="Segoe WPC"/>
                  </a:rPr>
                  <a:t>:</a:t>
                </a:r>
                <a:r>
                  <a:rPr lang="es-PE" sz="900" dirty="0">
                    <a:solidFill>
                      <a:schemeClr val="tx1"/>
                    </a:solidFill>
                    <a:effectLst/>
                    <a:latin typeface="Segoe WPC"/>
                  </a:rPr>
                  <a:t> Los SOFR futures fijan aproximadamente una tasa futura de fondeo; los bond futures permiten cubrir sensibilidad a movimientos de la curva.</a:t>
                </a:r>
                <a:br>
                  <a:rPr lang="es-PE" sz="900" dirty="0">
                    <a:solidFill>
                      <a:schemeClr val="tx1"/>
                    </a:solidFill>
                    <a:effectLst/>
                    <a:latin typeface="Segoe WPC"/>
                  </a:rPr>
                </a:br>
                <a:r>
                  <a:rPr lang="es-PE" sz="900" b="1" dirty="0">
                    <a:solidFill>
                      <a:schemeClr val="tx1"/>
                    </a:solidFill>
                    <a:effectLst/>
                    <a:latin typeface="Segoe WPC"/>
                  </a:rPr>
                  <a:t>Visual </a:t>
                </a:r>
                <a:r>
                  <a:rPr lang="es-PE" sz="900" b="1" dirty="0" err="1">
                    <a:solidFill>
                      <a:schemeClr val="tx1"/>
                    </a:solidFill>
                    <a:effectLst/>
                    <a:latin typeface="Segoe WPC"/>
                  </a:rPr>
                  <a:t>Intuition</a:t>
                </a:r>
                <a:r>
                  <a:rPr lang="es-PE" sz="900" b="1" dirty="0">
                    <a:solidFill>
                      <a:schemeClr val="tx1"/>
                    </a:solidFill>
                    <a:effectLst/>
                    <a:latin typeface="Segoe WPC"/>
                  </a:rPr>
                  <a:t>:</a:t>
                </a:r>
                <a:r>
                  <a:rPr lang="es-PE" sz="900" dirty="0">
                    <a:solidFill>
                      <a:schemeClr val="tx1"/>
                    </a:solidFill>
                    <a:effectLst/>
                    <a:latin typeface="Segoe WPC"/>
                  </a:rPr>
                  <a:t> Si temes subidas de tasas sobre un préstamo futuro, haces </a:t>
                </a:r>
                <a:r>
                  <a:rPr lang="es-PE" sz="900" b="1" dirty="0">
                    <a:solidFill>
                      <a:schemeClr val="tx1"/>
                    </a:solidFill>
                    <a:effectLst/>
                    <a:latin typeface="Segoe WPC"/>
                  </a:rPr>
                  <a:t>short futures</a:t>
                </a:r>
                <a:r>
                  <a:rPr lang="es-PE" sz="900" dirty="0">
                    <a:solidFill>
                      <a:schemeClr val="tx1"/>
                    </a:solidFill>
                    <a:effectLst/>
                    <a:latin typeface="Segoe WPC"/>
                  </a:rPr>
                  <a:t>; si tu portafolio pierde con alzas de tasas, también necesitas una cobertura corta en muchos casos.</a:t>
                </a:r>
                <a:br>
                  <a:rPr lang="es-PE" sz="900" dirty="0">
                    <a:solidFill>
                      <a:schemeClr val="tx1"/>
                    </a:solidFill>
                    <a:effectLst/>
                    <a:latin typeface="Segoe WPC"/>
                  </a:rPr>
                </a:br>
                <a:r>
                  <a:rPr lang="es-PE" sz="900" b="1" dirty="0">
                    <a:solidFill>
                      <a:schemeClr val="tx1"/>
                    </a:solidFill>
                    <a:effectLst/>
                    <a:latin typeface="Segoe WPC"/>
                  </a:rPr>
                  <a:t>Key Formula:</a:t>
                </a:r>
                <a:r>
                  <a:rPr lang="es-PE" sz="900" dirty="0">
                    <a:solidFill>
                      <a:schemeClr val="tx1"/>
                    </a:solidFill>
                    <a:effectLst/>
                    <a:latin typeface="Segoe WPC"/>
                  </a:rPr>
                  <a:t> </a:t>
                </a:r>
                <a14:m>
                  <m:oMath xmlns:m="http://schemas.openxmlformats.org/officeDocument/2006/math">
                    <m:r>
                      <m:rPr>
                        <m:nor/>
                      </m:rPr>
                      <a:rPr lang="es-PE" sz="900" b="0">
                        <a:solidFill>
                          <a:schemeClr val="tx1"/>
                        </a:solidFill>
                      </a:rPr>
                      <m:t>SOFR</m:t>
                    </m:r>
                    <m:r>
                      <m:rPr>
                        <m:nor/>
                      </m:rPr>
                      <a:rPr lang="es-PE" sz="900" b="0">
                        <a:solidFill>
                          <a:schemeClr val="tx1"/>
                        </a:solidFill>
                      </a:rPr>
                      <m:t> </m:t>
                    </m:r>
                    <m:r>
                      <m:rPr>
                        <m:nor/>
                      </m:rPr>
                      <a:rPr lang="es-PE" sz="900" b="0">
                        <a:solidFill>
                          <a:schemeClr val="tx1"/>
                        </a:solidFill>
                      </a:rPr>
                      <m:t>rate</m:t>
                    </m:r>
                    <m:r>
                      <a:rPr lang="es-PE" sz="900" b="0" i="0">
                        <a:solidFill>
                          <a:schemeClr val="tx1"/>
                        </a:solidFill>
                        <a:latin typeface="Cambria Math" panose="02040503050406030204" pitchFamily="18" charset="0"/>
                      </a:rPr>
                      <m:t>=</m:t>
                    </m:r>
                    <m:r>
                      <a:rPr lang="es-PE" sz="900" b="0" i="0">
                        <a:solidFill>
                          <a:schemeClr val="tx1"/>
                        </a:solidFill>
                        <a:latin typeface="Cambria Math" panose="02040503050406030204" pitchFamily="18" charset="0"/>
                      </a:rPr>
                      <m:t>100</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futures</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price</m:t>
                    </m:r>
                  </m:oMath>
                </a14:m>
                <a:r>
                  <a:rPr lang="es-PE" sz="90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 </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𝐹</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𝑇</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𝑇</m:t>
                                </m:r>
                              </m:e>
                              <m:sub>
                                <m:r>
                                  <a:rPr lang="ar-AE" sz="900" i="0">
                                    <a:solidFill>
                                      <a:schemeClr val="tx1"/>
                                    </a:solidFill>
                                    <a:latin typeface="Cambria Math" panose="02040503050406030204" pitchFamily="18" charset="0"/>
                                  </a:rPr>
                                  <m:t>1</m:t>
                                </m:r>
                              </m:sub>
                            </m:sSub>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0">
                                <a:solidFill>
                                  <a:schemeClr val="tx1"/>
                                </a:solidFill>
                                <a:latin typeface="Cambria Math" panose="02040503050406030204" pitchFamily="18" charset="0"/>
                              </a:rPr>
                              <m:t>1</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𝑇</m:t>
                            </m:r>
                          </m:e>
                          <m:sub>
                            <m:r>
                              <a:rPr lang="ar-AE" sz="900" i="0">
                                <a:solidFill>
                                  <a:schemeClr val="tx1"/>
                                </a:solidFill>
                                <a:latin typeface="Cambria Math" panose="02040503050406030204" pitchFamily="18" charset="0"/>
                              </a:rPr>
                              <m:t>1</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𝑇</m:t>
                            </m:r>
                          </m:e>
                          <m:sub>
                            <m:r>
                              <a:rPr lang="ar-AE" sz="900" i="0">
                                <a:solidFill>
                                  <a:schemeClr val="tx1"/>
                                </a:solidFill>
                                <a:latin typeface="Cambria Math" panose="02040503050406030204" pitchFamily="18" charset="0"/>
                              </a:rPr>
                              <m:t>2</m:t>
                            </m:r>
                          </m:sub>
                        </m:sSub>
                      </m:den>
                    </m:f>
                  </m:oMath>
                </a14:m>
                <a:r>
                  <a:rPr lang="ar-AE" sz="90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 </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𝑁</m:t>
                        </m:r>
                      </m:e>
                      <m:sup>
                        <m:r>
                          <a:rPr lang="ar-AE" sz="900" i="0">
                            <a:solidFill>
                              <a:schemeClr val="tx1"/>
                            </a:solidFill>
                            <a:latin typeface="Cambria Math" panose="02040503050406030204" pitchFamily="18" charset="0"/>
                          </a:rPr>
                          <m:t>∗</m:t>
                        </m:r>
                      </m:sup>
                    </m:sSup>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𝐸𝑉</m:t>
                        </m:r>
                      </m:num>
                      <m:den>
                        <m:r>
                          <a:rPr lang="ar-AE" sz="900" i="1">
                            <a:solidFill>
                              <a:schemeClr val="tx1"/>
                            </a:solidFill>
                            <a:latin typeface="Cambria Math" panose="02040503050406030204" pitchFamily="18" charset="0"/>
                          </a:rPr>
                          <m:t>𝐸𝐹</m:t>
                        </m:r>
                      </m:den>
                    </m:f>
                  </m:oMath>
                </a14:m>
                <a:r>
                  <a:rPr lang="ar-AE" sz="90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 </m:t>
                    </m:r>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𝑃</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𝐵𝐷</m:t>
                    </m:r>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𝑦</m:t>
                    </m:r>
                  </m:oMath>
                </a14:m>
                <a:br>
                  <a:rPr lang="ar-AE" sz="900" dirty="0">
                    <a:solidFill>
                      <a:schemeClr val="tx1"/>
                    </a:solidFill>
                    <a:effectLst/>
                    <a:latin typeface="Segoe WPC"/>
                  </a:rPr>
                </a:br>
                <a:r>
                  <a:rPr lang="es-PE" sz="900" b="1" dirty="0" err="1">
                    <a:solidFill>
                      <a:schemeClr val="tx1"/>
                    </a:solidFill>
                    <a:effectLst/>
                    <a:latin typeface="Segoe WPC"/>
                  </a:rPr>
                  <a:t>Interpretation</a:t>
                </a:r>
                <a:r>
                  <a:rPr lang="es-PE" sz="900" b="1" dirty="0">
                    <a:solidFill>
                      <a:schemeClr val="tx1"/>
                    </a:solidFill>
                    <a:effectLst/>
                    <a:latin typeface="Segoe WPC"/>
                  </a:rPr>
                  <a:t>:</a:t>
                </a:r>
                <a:r>
                  <a:rPr lang="es-PE" sz="900" dirty="0">
                    <a:solidFill>
                      <a:schemeClr val="tx1"/>
                    </a:solidFill>
                    <a:effectLst/>
                    <a:latin typeface="Segoe WPC"/>
                  </a:rPr>
                  <a:t> Los SOFR futures sirven para </a:t>
                </a:r>
                <a:r>
                  <a:rPr lang="es-PE" sz="900" dirty="0" err="1">
                    <a:solidFill>
                      <a:schemeClr val="tx1"/>
                    </a:solidFill>
                    <a:effectLst/>
                    <a:latin typeface="Segoe WPC"/>
                  </a:rPr>
                  <a:t>hedging</a:t>
                </a:r>
                <a:r>
                  <a:rPr lang="es-PE" sz="900" dirty="0">
                    <a:solidFill>
                      <a:schemeClr val="tx1"/>
                    </a:solidFill>
                    <a:effectLst/>
                    <a:latin typeface="Segoe WPC"/>
                  </a:rPr>
                  <a:t> de tasas cortas y para extraer forwards/</a:t>
                </a:r>
                <a:r>
                  <a:rPr lang="es-PE" sz="900" dirty="0" err="1">
                    <a:solidFill>
                      <a:schemeClr val="tx1"/>
                    </a:solidFill>
                    <a:effectLst/>
                    <a:latin typeface="Segoe WPC"/>
                  </a:rPr>
                  <a:t>zeros</a:t>
                </a:r>
                <a:r>
                  <a:rPr lang="es-PE" sz="900" dirty="0">
                    <a:solidFill>
                      <a:schemeClr val="tx1"/>
                    </a:solidFill>
                    <a:effectLst/>
                    <a:latin typeface="Segoe WPC"/>
                  </a:rPr>
                  <a:t>; en </a:t>
                </a:r>
                <a:r>
                  <a:rPr lang="es-PE" sz="900" dirty="0" err="1">
                    <a:solidFill>
                      <a:schemeClr val="tx1"/>
                    </a:solidFill>
                    <a:effectLst/>
                    <a:latin typeface="Segoe WPC"/>
                  </a:rPr>
                  <a:t>duration</a:t>
                </a:r>
                <a:r>
                  <a:rPr lang="es-PE" sz="900" dirty="0">
                    <a:solidFill>
                      <a:schemeClr val="tx1"/>
                    </a:solidFill>
                    <a:effectLst/>
                    <a:latin typeface="Segoe WPC"/>
                  </a:rPr>
                  <a:t> </a:t>
                </a:r>
                <a:r>
                  <a:rPr lang="es-PE" sz="900" dirty="0" err="1">
                    <a:solidFill>
                      <a:schemeClr val="tx1"/>
                    </a:solidFill>
                    <a:effectLst/>
                    <a:latin typeface="Segoe WPC"/>
                  </a:rPr>
                  <a:t>hedging</a:t>
                </a:r>
                <a:r>
                  <a:rPr lang="es-PE" sz="90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𝐸𝑉</m:t>
                    </m:r>
                  </m:oMath>
                </a14:m>
                <a:r>
                  <a:rPr lang="es-PE" sz="900" dirty="0">
                    <a:solidFill>
                      <a:schemeClr val="tx1"/>
                    </a:solidFill>
                    <a:effectLst/>
                    <a:latin typeface="Segoe WPC"/>
                  </a:rPr>
                  <a:t> es el cambio en el valor de la posición por 1 </a:t>
                </a:r>
                <a:r>
                  <a:rPr lang="es-PE" sz="900" dirty="0" err="1">
                    <a:solidFill>
                      <a:schemeClr val="tx1"/>
                    </a:solidFill>
                    <a:effectLst/>
                    <a:latin typeface="Segoe WPC"/>
                  </a:rPr>
                  <a:t>bp</a:t>
                </a:r>
                <a:r>
                  <a:rPr lang="es-PE" sz="900" dirty="0">
                    <a:solidFill>
                      <a:schemeClr val="tx1"/>
                    </a:solidFill>
                    <a:effectLst/>
                    <a:latin typeface="Segoe WPC"/>
                  </a:rPr>
                  <a:t> y </a:t>
                </a:r>
                <a14:m>
                  <m:oMath xmlns:m="http://schemas.openxmlformats.org/officeDocument/2006/math">
                    <m:r>
                      <a:rPr lang="es-PE" sz="900" i="1">
                        <a:solidFill>
                          <a:schemeClr val="tx1"/>
                        </a:solidFill>
                        <a:latin typeface="Cambria Math" panose="02040503050406030204" pitchFamily="18" charset="0"/>
                      </a:rPr>
                      <m:t>𝐸𝐹</m:t>
                    </m:r>
                  </m:oMath>
                </a14:m>
                <a:r>
                  <a:rPr lang="es-PE" sz="900" dirty="0">
                    <a:solidFill>
                      <a:schemeClr val="tx1"/>
                    </a:solidFill>
                    <a:effectLst/>
                    <a:latin typeface="Segoe WPC"/>
                  </a:rPr>
                  <a:t> el de un futures </a:t>
                </a:r>
                <a:r>
                  <a:rPr lang="es-PE" sz="900" dirty="0" err="1">
                    <a:solidFill>
                      <a:schemeClr val="tx1"/>
                    </a:solidFill>
                    <a:effectLst/>
                    <a:latin typeface="Segoe WPC"/>
                  </a:rPr>
                  <a:t>contract</a:t>
                </a:r>
                <a:r>
                  <a:rPr lang="es-PE" sz="900" dirty="0">
                    <a:solidFill>
                      <a:schemeClr val="tx1"/>
                    </a:solidFill>
                    <a:effectLst/>
                    <a:latin typeface="Segoe WPC"/>
                  </a:rPr>
                  <a:t> por 1 </a:t>
                </a:r>
                <a:r>
                  <a:rPr lang="es-PE" sz="900" dirty="0" err="1">
                    <a:solidFill>
                      <a:schemeClr val="tx1"/>
                    </a:solidFill>
                    <a:effectLst/>
                    <a:latin typeface="Segoe WPC"/>
                  </a:rPr>
                  <a:t>bp</a:t>
                </a:r>
                <a:r>
                  <a:rPr lang="es-PE" sz="900" dirty="0">
                    <a:solidFill>
                      <a:schemeClr val="tx1"/>
                    </a:solidFill>
                    <a:effectLst/>
                    <a:latin typeface="Segoe WPC"/>
                  </a:rPr>
                  <a:t>.</a:t>
                </a:r>
                <a:br>
                  <a:rPr lang="es-PE" sz="900" dirty="0">
                    <a:solidFill>
                      <a:schemeClr val="tx1"/>
                    </a:solidFill>
                    <a:effectLst/>
                    <a:latin typeface="Segoe WPC"/>
                  </a:rPr>
                </a:br>
                <a:r>
                  <a:rPr lang="es-PE" sz="900" b="1" dirty="0" err="1">
                    <a:solidFill>
                      <a:schemeClr val="tx1"/>
                    </a:solidFill>
                    <a:effectLst/>
                    <a:latin typeface="Segoe WPC"/>
                  </a:rPr>
                  <a:t>Exam</a:t>
                </a:r>
                <a:r>
                  <a:rPr lang="es-PE" sz="900" b="1" dirty="0">
                    <a:solidFill>
                      <a:schemeClr val="tx1"/>
                    </a:solidFill>
                    <a:effectLst/>
                    <a:latin typeface="Segoe WPC"/>
                  </a:rPr>
                  <a:t> </a:t>
                </a:r>
                <a:r>
                  <a:rPr lang="es-PE" sz="900" b="1" dirty="0" err="1">
                    <a:solidFill>
                      <a:schemeClr val="tx1"/>
                    </a:solidFill>
                    <a:effectLst/>
                    <a:latin typeface="Segoe WPC"/>
                  </a:rPr>
                  <a:t>Trap</a:t>
                </a:r>
                <a:r>
                  <a:rPr lang="es-PE" sz="900" b="1" dirty="0">
                    <a:solidFill>
                      <a:schemeClr val="tx1"/>
                    </a:solidFill>
                    <a:effectLst/>
                    <a:latin typeface="Segoe WPC"/>
                  </a:rPr>
                  <a:t>:</a:t>
                </a:r>
                <a:r>
                  <a:rPr lang="es-PE" sz="900" dirty="0">
                    <a:solidFill>
                      <a:schemeClr val="tx1"/>
                    </a:solidFill>
                    <a:effectLst/>
                    <a:latin typeface="Segoe WPC"/>
                  </a:rPr>
                  <a:t> El </a:t>
                </a:r>
                <a:r>
                  <a:rPr lang="es-PE" sz="900" dirty="0" err="1">
                    <a:solidFill>
                      <a:schemeClr val="tx1"/>
                    </a:solidFill>
                    <a:effectLst/>
                    <a:latin typeface="Segoe WPC"/>
                  </a:rPr>
                  <a:t>hedge</a:t>
                </a:r>
                <a:r>
                  <a:rPr lang="es-PE" sz="900" dirty="0">
                    <a:solidFill>
                      <a:schemeClr val="tx1"/>
                    </a:solidFill>
                    <a:effectLst/>
                    <a:latin typeface="Segoe WPC"/>
                  </a:rPr>
                  <a:t> por </a:t>
                </a:r>
                <a:r>
                  <a:rPr lang="es-PE" sz="900" dirty="0" err="1">
                    <a:solidFill>
                      <a:schemeClr val="tx1"/>
                    </a:solidFill>
                    <a:effectLst/>
                    <a:latin typeface="Segoe WPC"/>
                  </a:rPr>
                  <a:t>duration</a:t>
                </a:r>
                <a:r>
                  <a:rPr lang="es-PE" sz="900" dirty="0">
                    <a:solidFill>
                      <a:schemeClr val="tx1"/>
                    </a:solidFill>
                    <a:effectLst/>
                    <a:latin typeface="Segoe WPC"/>
                  </a:rPr>
                  <a:t> solo funciona bien para </a:t>
                </a:r>
                <a:r>
                  <a:rPr lang="es-PE" sz="900" b="1" dirty="0">
                    <a:solidFill>
                      <a:schemeClr val="tx1"/>
                    </a:solidFill>
                    <a:effectLst/>
                    <a:latin typeface="Segoe WPC"/>
                  </a:rPr>
                  <a:t>pequeños </a:t>
                </a:r>
                <a:r>
                  <a:rPr lang="es-PE" sz="900" b="1" dirty="0" err="1">
                    <a:solidFill>
                      <a:schemeClr val="tx1"/>
                    </a:solidFill>
                    <a:effectLst/>
                    <a:latin typeface="Segoe WPC"/>
                  </a:rPr>
                  <a:t>shifts</a:t>
                </a:r>
                <a:r>
                  <a:rPr lang="es-PE" sz="900" b="1" dirty="0">
                    <a:solidFill>
                      <a:schemeClr val="tx1"/>
                    </a:solidFill>
                    <a:effectLst/>
                    <a:latin typeface="Segoe WPC"/>
                  </a:rPr>
                  <a:t> paralelos</a:t>
                </a:r>
                <a:r>
                  <a:rPr lang="es-PE" sz="900" dirty="0">
                    <a:solidFill>
                      <a:schemeClr val="tx1"/>
                    </a:solidFill>
                    <a:effectLst/>
                    <a:latin typeface="Segoe WPC"/>
                  </a:rPr>
                  <a:t>, asume alta correlación entre exposición y contrato, y en bond futures además supone conocer el </a:t>
                </a:r>
                <a:r>
                  <a:rPr lang="es-PE" sz="900" b="1" dirty="0">
                    <a:solidFill>
                      <a:schemeClr val="tx1"/>
                    </a:solidFill>
                    <a:effectLst/>
                    <a:latin typeface="Segoe WPC"/>
                  </a:rPr>
                  <a:t>CTD</a:t>
                </a:r>
                <a:r>
                  <a:rPr lang="es-PE" sz="900" dirty="0">
                    <a:solidFill>
                      <a:schemeClr val="tx1"/>
                    </a:solidFill>
                    <a:effectLst/>
                    <a:latin typeface="Segoe WPC"/>
                  </a:rPr>
                  <a:t> correctamente.</a:t>
                </a:r>
              </a:p>
              <a:p>
                <a:pPr>
                  <a:spcAft>
                    <a:spcPts val="600"/>
                  </a:spcAft>
                  <a:buNone/>
                </a:pPr>
                <a:br>
                  <a:rPr lang="es-PE" sz="900" dirty="0">
                    <a:solidFill>
                      <a:schemeClr val="tx1"/>
                    </a:solidFill>
                    <a:effectLst/>
                  </a:rPr>
                </a:br>
                <a:endParaRPr lang="es-PE" sz="900" dirty="0">
                  <a:solidFill>
                    <a:schemeClr val="tx1"/>
                  </a:solidFill>
                </a:endParaRPr>
              </a:p>
            </p:txBody>
          </p:sp>
        </mc:Choice>
        <mc:Fallback xmlns="">
          <p:sp>
            <p:nvSpPr>
              <p:cNvPr id="7" name="CuadroTexto 6">
                <a:extLst>
                  <a:ext uri="{FF2B5EF4-FFF2-40B4-BE49-F238E27FC236}">
                    <a16:creationId xmlns:a16="http://schemas.microsoft.com/office/drawing/2014/main" id="{0CBF3CB4-F420-641C-657A-2F969C3CD2E7}"/>
                  </a:ext>
                </a:extLst>
              </p:cNvPr>
              <p:cNvSpPr txBox="1">
                <a:spLocks noRot="1" noChangeAspect="1" noMove="1" noResize="1" noEditPoints="1" noAdjustHandles="1" noChangeArrowheads="1" noChangeShapeType="1" noTextEdit="1"/>
              </p:cNvSpPr>
              <p:nvPr/>
            </p:nvSpPr>
            <p:spPr>
              <a:xfrm>
                <a:off x="5624286" y="-73299"/>
                <a:ext cx="6749143" cy="7347717"/>
              </a:xfrm>
              <a:prstGeom prst="rect">
                <a:avLst/>
              </a:prstGeom>
              <a:blipFill>
                <a:blip r:embed="rId3"/>
                <a:stretch>
                  <a:fillRect r="-181"/>
                </a:stretch>
              </a:blipFill>
            </p:spPr>
            <p:txBody>
              <a:bodyPr/>
              <a:lstStyle/>
              <a:p>
                <a:r>
                  <a:rPr lang="es-PE">
                    <a:noFill/>
                  </a:rPr>
                  <a:t> </a:t>
                </a:r>
              </a:p>
            </p:txBody>
          </p:sp>
        </mc:Fallback>
      </mc:AlternateContent>
    </p:spTree>
    <p:extLst>
      <p:ext uri="{BB962C8B-B14F-4D97-AF65-F5344CB8AC3E}">
        <p14:creationId xmlns:p14="http://schemas.microsoft.com/office/powerpoint/2010/main" val="11588134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1F4D8E-0CA5-FA55-DC97-03E4AE8BE210}"/>
              </a:ext>
            </a:extLst>
          </p:cNvPr>
          <p:cNvSpPr>
            <a:spLocks noGrp="1"/>
          </p:cNvSpPr>
          <p:nvPr>
            <p:ph type="title"/>
          </p:nvPr>
        </p:nvSpPr>
        <p:spPr>
          <a:xfrm>
            <a:off x="0" y="1"/>
            <a:ext cx="10515600" cy="261256"/>
          </a:xfrm>
        </p:spPr>
        <p:txBody>
          <a:bodyPr>
            <a:noAutofit/>
          </a:bodyPr>
          <a:lstStyle/>
          <a:p>
            <a:r>
              <a:rPr lang="en-US" sz="3200" dirty="0"/>
              <a:t>SWAPS</a:t>
            </a:r>
            <a:endParaRPr lang="es-PE" sz="32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6DBB58C0-1403-9EE9-0764-E67DF7C4BA4A}"/>
                  </a:ext>
                </a:extLst>
              </p:cNvPr>
              <p:cNvSpPr txBox="1"/>
              <p:nvPr/>
            </p:nvSpPr>
            <p:spPr>
              <a:xfrm>
                <a:off x="-3626" y="130629"/>
                <a:ext cx="6027055" cy="6991979"/>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Swap </a:t>
                </a:r>
                <a:r>
                  <a:rPr lang="es-PE" sz="900" b="1" i="0" dirty="0" err="1">
                    <a:solidFill>
                      <a:schemeClr val="tx1"/>
                    </a:solidFill>
                    <a:effectLst/>
                    <a:latin typeface="Segoe WPC"/>
                  </a:rPr>
                  <a:t>Structure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Contrato OTC para intercambiar flujos futuros según una regla predefinida.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 swap es como una serie de forwards: en vez de un solo intercambio futuro, hay varios.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cada fecha una parte paga una “pierna” y recibe otra; normalmente solo se netea la diferencia.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b="0" i="1">
                            <a:solidFill>
                              <a:schemeClr val="tx1"/>
                            </a:solidFill>
                            <a:latin typeface="Cambria Math" panose="02040503050406030204" pitchFamily="18" charset="0"/>
                          </a:rPr>
                        </m:ctrlPr>
                      </m:sSubPr>
                      <m:e>
                        <m:r>
                          <m:rPr>
                            <m:nor/>
                          </m:rPr>
                          <a:rPr lang="es-PE" sz="900" b="0">
                            <a:solidFill>
                              <a:schemeClr val="tx1"/>
                            </a:solidFill>
                          </a:rPr>
                          <m:t>Net</m:t>
                        </m:r>
                        <m:r>
                          <m:rPr>
                            <m:nor/>
                          </m:rPr>
                          <a:rPr lang="es-PE" sz="900" b="0">
                            <a:solidFill>
                              <a:schemeClr val="tx1"/>
                            </a:solidFill>
                          </a:rPr>
                          <m:t> </m:t>
                        </m:r>
                        <m:r>
                          <m:rPr>
                            <m:nor/>
                          </m:rPr>
                          <a:rPr lang="es-PE" sz="900" b="0">
                            <a:solidFill>
                              <a:schemeClr val="tx1"/>
                            </a:solidFill>
                          </a:rPr>
                          <m:t>Cash</m:t>
                        </m:r>
                        <m:r>
                          <m:rPr>
                            <m:nor/>
                          </m:rPr>
                          <a:rPr lang="es-PE" sz="900" b="0">
                            <a:solidFill>
                              <a:schemeClr val="tx1"/>
                            </a:solidFill>
                          </a:rPr>
                          <m:t> </m:t>
                        </m:r>
                        <m:r>
                          <m:rPr>
                            <m:nor/>
                          </m:rPr>
                          <a:rPr lang="es-PE" sz="900" b="0">
                            <a:solidFill>
                              <a:schemeClr val="tx1"/>
                            </a:solidFill>
                          </a:rPr>
                          <m:t>Flow</m:t>
                        </m:r>
                      </m:e>
                      <m:sub>
                        <m:r>
                          <a:rPr lang="ar-AE" sz="900" b="0" i="1">
                            <a:solidFill>
                              <a:schemeClr val="tx1"/>
                            </a:solidFill>
                            <a:latin typeface="Cambria Math" panose="02040503050406030204" pitchFamily="18" charset="0"/>
                          </a:rPr>
                          <m:t>𝑡</m:t>
                        </m:r>
                      </m:sub>
                    </m:sSub>
                    <m:r>
                      <a:rPr lang="ar-A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m:rPr>
                            <m:nor/>
                          </m:rPr>
                          <a:rPr lang="es-PE" sz="900" b="0" i="1">
                            <a:solidFill>
                              <a:schemeClr val="tx1"/>
                            </a:solidFill>
                            <a:latin typeface="Cambria Math" panose="02040503050406030204" pitchFamily="18" charset="0"/>
                          </a:rPr>
                          <m:t>Cash</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Flow</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Received</m:t>
                        </m:r>
                      </m:e>
                      <m:sub>
                        <m:r>
                          <a:rPr lang="ar-AE" sz="900" b="0" i="1">
                            <a:solidFill>
                              <a:schemeClr val="tx1"/>
                            </a:solidFill>
                            <a:latin typeface="Cambria Math" panose="02040503050406030204" pitchFamily="18" charset="0"/>
                          </a:rPr>
                          <m:t>𝑡</m:t>
                        </m:r>
                      </m:sub>
                    </m:sSub>
                    <m:r>
                      <a:rPr lang="ar-A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m:rPr>
                            <m:nor/>
                          </m:rPr>
                          <a:rPr lang="es-PE" sz="900" b="0" i="1">
                            <a:solidFill>
                              <a:schemeClr val="tx1"/>
                            </a:solidFill>
                            <a:latin typeface="Cambria Math" panose="02040503050406030204" pitchFamily="18" charset="0"/>
                          </a:rPr>
                          <m:t>Cash</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Flow</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Paid</m:t>
                        </m:r>
                      </m:e>
                      <m:sub>
                        <m:r>
                          <a:rPr lang="ar-AE" sz="900" b="0" i="1">
                            <a:solidFill>
                              <a:schemeClr val="tx1"/>
                            </a:solidFill>
                            <a:latin typeface="Cambria Math" panose="02040503050406030204" pitchFamily="18" charset="0"/>
                          </a:rPr>
                          <m:t>𝑡</m:t>
                        </m:r>
                      </m:sub>
                    </m:sSub>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El swap suele iniciarse con valor cercano a cero, aunque cada flujo individual futuro puede tener valor positivo o negativo.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confundas “valor inicial cercano a cero” con “cada pago futuro vale cero”; eso es falso.</a:t>
                </a:r>
              </a:p>
              <a:p>
                <a:pPr algn="l">
                  <a:spcAft>
                    <a:spcPts val="600"/>
                  </a:spcAft>
                  <a:buNone/>
                </a:pPr>
                <a:r>
                  <a:rPr lang="es-PE" sz="900" b="1" i="0" dirty="0">
                    <a:solidFill>
                      <a:schemeClr val="tx1"/>
                    </a:solidFill>
                    <a:effectLst/>
                    <a:latin typeface="Segoe WPC"/>
                  </a:rPr>
                  <a:t>2. </a:t>
                </a: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Vanilla</a:t>
                </a:r>
                <a:r>
                  <a:rPr lang="es-PE" sz="900" b="1" i="0" dirty="0">
                    <a:solidFill>
                      <a:schemeClr val="tx1"/>
                    </a:solidFill>
                    <a:effectLst/>
                    <a:latin typeface="Segoe WPC"/>
                  </a:rPr>
                  <a:t> </a:t>
                </a:r>
                <a:r>
                  <a:rPr lang="es-PE" sz="900" b="1" i="0" dirty="0" err="1">
                    <a:solidFill>
                      <a:schemeClr val="tx1"/>
                    </a:solidFill>
                    <a:effectLst/>
                    <a:latin typeface="Segoe WPC"/>
                  </a:rPr>
                  <a:t>Interest</a:t>
                </a:r>
                <a:r>
                  <a:rPr lang="es-PE" sz="900" b="1" i="0" dirty="0">
                    <a:solidFill>
                      <a:schemeClr val="tx1"/>
                    </a:solidFill>
                    <a:effectLst/>
                    <a:latin typeface="Segoe WPC"/>
                  </a:rPr>
                  <a:t> </a:t>
                </a:r>
                <a:r>
                  <a:rPr lang="es-PE" sz="900" b="1" i="0" dirty="0" err="1">
                    <a:solidFill>
                      <a:schemeClr val="tx1"/>
                    </a:solidFill>
                    <a:effectLst/>
                    <a:latin typeface="Segoe WPC"/>
                  </a:rPr>
                  <a:t>Rate</a:t>
                </a:r>
                <a:r>
                  <a:rPr lang="es-PE" sz="900" b="1" i="0" dirty="0">
                    <a:solidFill>
                      <a:schemeClr val="tx1"/>
                    </a:solidFill>
                    <a:effectLst/>
                    <a:latin typeface="Segoe WPC"/>
                  </a:rPr>
                  <a:t> Swap</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Intercambio de tasa fija por tasa flotante sobre un principal nocional.</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Una parte paga fijo y recibe flotante; la otra hace lo opuesto. El principal no se intercambia.</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Sobre un nocional de USD 100 millones, una parte paga por ejemplo 3% fijo y recibe SOFR trimestral.</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Fixed</m:t>
                    </m:r>
                    <m:r>
                      <m:rPr>
                        <m:nor/>
                      </m:rPr>
                      <a:rPr lang="es-PE" sz="900" b="0">
                        <a:solidFill>
                          <a:schemeClr val="tx1"/>
                        </a:solidFill>
                      </a:rPr>
                      <m:t> </m:t>
                    </m:r>
                    <m:r>
                      <m:rPr>
                        <m:nor/>
                      </m:rPr>
                      <a:rPr lang="es-PE" sz="900" b="0">
                        <a:solidFill>
                          <a:schemeClr val="tx1"/>
                        </a:solidFill>
                      </a:rPr>
                      <m:t>Leg</m:t>
                    </m:r>
                    <m:r>
                      <m:rPr>
                        <m:nor/>
                      </m:rPr>
                      <a:rPr lang="es-PE" sz="900" b="0">
                        <a:solidFill>
                          <a:schemeClr val="tx1"/>
                        </a:solidFill>
                      </a:rPr>
                      <m:t> </m:t>
                    </m:r>
                    <m:r>
                      <m:rPr>
                        <m:nor/>
                      </m:rPr>
                      <a:rPr lang="es-PE" sz="900" b="0">
                        <a:solidFill>
                          <a:schemeClr val="tx1"/>
                        </a:solidFill>
                      </a:rPr>
                      <m:t>Payment</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𝑁</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𝐾</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𝛥</m:t>
                    </m:r>
                    <m:r>
                      <a:rPr lang="es-PE" sz="900" b="0" i="0">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Floating</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Leg</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Payment</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𝑁</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𝐿</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𝛥</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𝑁</m:t>
                    </m:r>
                  </m:oMath>
                </a14:m>
                <a:r>
                  <a:rPr lang="es-PE" sz="900" b="0" i="0" dirty="0">
                    <a:solidFill>
                      <a:schemeClr val="tx1"/>
                    </a:solidFill>
                    <a:effectLst/>
                    <a:latin typeface="Segoe WPC"/>
                  </a:rPr>
                  <a:t> es el </a:t>
                </a:r>
                <a:r>
                  <a:rPr lang="es-PE" sz="900" b="0" i="0" dirty="0" err="1">
                    <a:solidFill>
                      <a:schemeClr val="tx1"/>
                    </a:solidFill>
                    <a:effectLst/>
                    <a:latin typeface="Segoe WPC"/>
                  </a:rPr>
                  <a:t>notional</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𝐾</m:t>
                    </m:r>
                  </m:oMath>
                </a14:m>
                <a:r>
                  <a:rPr lang="es-PE" sz="900" b="0" i="0" dirty="0">
                    <a:solidFill>
                      <a:schemeClr val="tx1"/>
                    </a:solidFill>
                    <a:effectLst/>
                    <a:latin typeface="Segoe WPC"/>
                  </a:rPr>
                  <a:t> la tasa fija, </a:t>
                </a:r>
                <a14:m>
                  <m:oMath xmlns:m="http://schemas.openxmlformats.org/officeDocument/2006/math">
                    <m:r>
                      <a:rPr lang="es-PE" sz="900" i="1">
                        <a:solidFill>
                          <a:schemeClr val="tx1"/>
                        </a:solidFill>
                        <a:latin typeface="Cambria Math" panose="02040503050406030204" pitchFamily="18" charset="0"/>
                      </a:rPr>
                      <m:t>𝐿</m:t>
                    </m:r>
                  </m:oMath>
                </a14:m>
                <a:r>
                  <a:rPr lang="es-PE" sz="900" b="0" i="0" dirty="0">
                    <a:solidFill>
                      <a:schemeClr val="tx1"/>
                    </a:solidFill>
                    <a:effectLst/>
                    <a:latin typeface="Segoe WPC"/>
                  </a:rPr>
                  <a:t> la tasa flotante observada para el período y </a:t>
                </a:r>
                <a14:m>
                  <m:oMath xmlns:m="http://schemas.openxmlformats.org/officeDocument/2006/math">
                    <m:r>
                      <a:rPr lang="es-PE" sz="900" i="1">
                        <a:solidFill>
                          <a:schemeClr val="tx1"/>
                        </a:solidFill>
                        <a:latin typeface="Cambria Math" panose="02040503050406030204" pitchFamily="18" charset="0"/>
                      </a:rPr>
                      <m:t>𝛥</m:t>
                    </m:r>
                  </m:oMath>
                </a14:m>
                <a:r>
                  <a:rPr lang="es-PE" sz="900" b="0" i="0" dirty="0">
                    <a:solidFill>
                      <a:schemeClr val="tx1"/>
                    </a:solidFill>
                    <a:effectLst/>
                    <a:latin typeface="Segoe WPC"/>
                  </a:rPr>
                  <a:t> la fracción de año.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En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swaps el </a:t>
                </a:r>
                <a:r>
                  <a:rPr lang="es-PE" sz="900" b="0" i="0" dirty="0" err="1">
                    <a:solidFill>
                      <a:schemeClr val="tx1"/>
                    </a:solidFill>
                    <a:effectLst/>
                    <a:latin typeface="Segoe WPC"/>
                  </a:rPr>
                  <a:t>notional</a:t>
                </a:r>
                <a:r>
                  <a:rPr lang="es-PE" sz="900" b="0" i="0" dirty="0">
                    <a:solidFill>
                      <a:schemeClr val="tx1"/>
                    </a:solidFill>
                    <a:effectLst/>
                    <a:latin typeface="Segoe WPC"/>
                  </a:rPr>
                  <a:t> normalmente </a:t>
                </a:r>
                <a:r>
                  <a:rPr lang="es-PE" sz="900" b="1" i="0" dirty="0">
                    <a:solidFill>
                      <a:schemeClr val="tx1"/>
                    </a:solidFill>
                    <a:effectLst/>
                    <a:latin typeface="Segoe WPC"/>
                  </a:rPr>
                  <a:t>no</a:t>
                </a:r>
                <a:r>
                  <a:rPr lang="es-PE" sz="900" b="0" i="0" dirty="0">
                    <a:solidFill>
                      <a:schemeClr val="tx1"/>
                    </a:solidFill>
                    <a:effectLst/>
                    <a:latin typeface="Segoe WPC"/>
                  </a:rPr>
                  <a:t> se entrega; solo sirve para calcular intereses.</a:t>
                </a:r>
              </a:p>
              <a:p>
                <a:pPr algn="l">
                  <a:spcAft>
                    <a:spcPts val="600"/>
                  </a:spcAft>
                  <a:buNone/>
                </a:pPr>
                <a:r>
                  <a:rPr lang="es-PE" sz="900" b="1" i="0" dirty="0">
                    <a:solidFill>
                      <a:schemeClr val="tx1"/>
                    </a:solidFill>
                    <a:effectLst/>
                    <a:latin typeface="Segoe WPC"/>
                  </a:rPr>
                  <a:t>3. OIS and </a:t>
                </a:r>
                <a:r>
                  <a:rPr lang="es-PE" sz="900" b="1" i="0" dirty="0" err="1">
                    <a:solidFill>
                      <a:schemeClr val="tx1"/>
                    </a:solidFill>
                    <a:effectLst/>
                    <a:latin typeface="Segoe WPC"/>
                  </a:rPr>
                  <a:t>Floating</a:t>
                </a:r>
                <a:r>
                  <a:rPr lang="es-PE" sz="900" b="1" i="0" dirty="0">
                    <a:solidFill>
                      <a:schemeClr val="tx1"/>
                    </a:solidFill>
                    <a:effectLst/>
                    <a:latin typeface="Segoe WPC"/>
                  </a:rPr>
                  <a:t> </a:t>
                </a:r>
                <a:r>
                  <a:rPr lang="es-PE" sz="900" b="1" i="0" dirty="0" err="1">
                    <a:solidFill>
                      <a:schemeClr val="tx1"/>
                    </a:solidFill>
                    <a:effectLst/>
                    <a:latin typeface="Segoe WPC"/>
                  </a:rPr>
                  <a:t>Leg</a:t>
                </a:r>
                <a:r>
                  <a:rPr lang="es-PE" sz="900" b="1" i="0" dirty="0">
                    <a:solidFill>
                      <a:schemeClr val="tx1"/>
                    </a:solidFill>
                    <a:effectLst/>
                    <a:latin typeface="Segoe WPC"/>
                  </a:rPr>
                  <a:t> Timing</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Overnight </a:t>
                </a:r>
                <a:r>
                  <a:rPr lang="es-PE" sz="900" b="0" i="0" dirty="0" err="1">
                    <a:solidFill>
                      <a:schemeClr val="tx1"/>
                    </a:solidFill>
                    <a:effectLst/>
                    <a:latin typeface="Segoe WPC"/>
                  </a:rPr>
                  <a:t>Indexed</a:t>
                </a:r>
                <a:r>
                  <a:rPr lang="es-PE" sz="900" b="0" i="0" dirty="0">
                    <a:solidFill>
                      <a:schemeClr val="tx1"/>
                    </a:solidFill>
                    <a:effectLst/>
                    <a:latin typeface="Segoe WPC"/>
                  </a:rPr>
                  <a:t> Swap, donde la pierna flotante se basa en tasas overnight realizadas.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diferencia de Libor, la tasa OIS del período no se conoce al inicio sino al final, porque se construye con overnight </a:t>
                </a:r>
                <a:r>
                  <a:rPr lang="es-PE" sz="900" b="0" i="0" dirty="0" err="1">
                    <a:solidFill>
                      <a:schemeClr val="tx1"/>
                    </a:solidFill>
                    <a:effectLst/>
                    <a:latin typeface="Segoe WPC"/>
                  </a:rPr>
                  <a:t>rates</a:t>
                </a:r>
                <a:r>
                  <a:rPr lang="es-PE" sz="900" b="0" i="0" dirty="0">
                    <a:solidFill>
                      <a:schemeClr val="tx1"/>
                    </a:solidFill>
                    <a:effectLst/>
                    <a:latin typeface="Segoe WPC"/>
                  </a:rPr>
                  <a:t> realizados.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un OIS de 3 meses, cada día se compone SOFR; al final se obtiene una tasa efectiva del período y recién ahí se liquida.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Floating</m:t>
                    </m:r>
                    <m:r>
                      <m:rPr>
                        <m:nor/>
                      </m:rPr>
                      <a:rPr lang="es-PE" sz="900" b="0">
                        <a:solidFill>
                          <a:schemeClr val="tx1"/>
                        </a:solidFill>
                      </a:rPr>
                      <m:t> </m:t>
                    </m:r>
                    <m:r>
                      <m:rPr>
                        <m:nor/>
                      </m:rPr>
                      <a:rPr lang="es-PE" sz="900" b="0">
                        <a:solidFill>
                          <a:schemeClr val="tx1"/>
                        </a:solidFill>
                      </a:rPr>
                      <m:t>Payment</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𝑁</m:t>
                    </m:r>
                    <m:r>
                      <a:rPr lang="es-P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𝑅</m:t>
                        </m:r>
                      </m:e>
                      <m:sub>
                        <m:r>
                          <m:rPr>
                            <m:nor/>
                          </m:rPr>
                          <a:rPr lang="es-PE" sz="900" b="0" i="1">
                            <a:solidFill>
                              <a:schemeClr val="tx1"/>
                            </a:solidFill>
                            <a:latin typeface="Cambria Math" panose="02040503050406030204" pitchFamily="18" charset="0"/>
                          </a:rPr>
                          <m:t>OIS</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realized</m:t>
                        </m:r>
                      </m:sub>
                    </m:sSub>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𝛥</m:t>
                    </m:r>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Los OIS cortos suelen tener un solo pago al vencimiento; los de más de un año suelen pagarse trimestralmente.</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trates la tasa OIS como una tasa fijada al inicio del período; eso era la lógica Libor.</a:t>
                </a:r>
              </a:p>
              <a:p>
                <a:pPr algn="l">
                  <a:spcAft>
                    <a:spcPts val="600"/>
                  </a:spcAft>
                  <a:buNone/>
                </a:pPr>
                <a:r>
                  <a:rPr lang="es-PE" sz="900" b="1" i="0" dirty="0">
                    <a:solidFill>
                      <a:schemeClr val="tx1"/>
                    </a:solidFill>
                    <a:effectLst/>
                    <a:latin typeface="Segoe WPC"/>
                  </a:rPr>
                  <a:t>4. Day </a:t>
                </a:r>
                <a:r>
                  <a:rPr lang="es-PE" sz="900" b="1" i="0" dirty="0" err="1">
                    <a:solidFill>
                      <a:schemeClr val="tx1"/>
                    </a:solidFill>
                    <a:effectLst/>
                    <a:latin typeface="Segoe WPC"/>
                  </a:rPr>
                  <a:t>Counts</a:t>
                </a:r>
                <a:r>
                  <a:rPr lang="es-PE" sz="900" b="1" i="0" dirty="0">
                    <a:solidFill>
                      <a:schemeClr val="tx1"/>
                    </a:solidFill>
                    <a:effectLst/>
                    <a:latin typeface="Segoe WPC"/>
                  </a:rPr>
                  <a:t>, </a:t>
                </a:r>
                <a:r>
                  <a:rPr lang="es-PE" sz="900" b="1" i="0" dirty="0" err="1">
                    <a:solidFill>
                      <a:schemeClr val="tx1"/>
                    </a:solidFill>
                    <a:effectLst/>
                    <a:latin typeface="Segoe WPC"/>
                  </a:rPr>
                  <a:t>Holidays</a:t>
                </a:r>
                <a:r>
                  <a:rPr lang="es-PE" sz="900" b="1" i="0" dirty="0">
                    <a:solidFill>
                      <a:schemeClr val="tx1"/>
                    </a:solidFill>
                    <a:effectLst/>
                    <a:latin typeface="Segoe WPC"/>
                  </a:rPr>
                  <a:t>, and </a:t>
                </a:r>
                <a:r>
                  <a:rPr lang="es-PE" sz="900" b="1" i="0" dirty="0" err="1">
                    <a:solidFill>
                      <a:schemeClr val="tx1"/>
                    </a:solidFill>
                    <a:effectLst/>
                    <a:latin typeface="Segoe WPC"/>
                  </a:rPr>
                  <a:t>Confirmations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Reglas operativas que determinan cuánto se paga y en qué fecha exacta.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flujo real depende no solo de la tasa, sino también de la convención de días y del calendario hábil.</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 mismo 3% fijo puede generar flujos distintos si usas actual/365 o 30/360; además, si la fecha cae feriado, se mueve.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Cash</m:t>
                    </m:r>
                    <m:r>
                      <m:rPr>
                        <m:nor/>
                      </m:rPr>
                      <a:rPr lang="es-PE" sz="900" b="0">
                        <a:solidFill>
                          <a:schemeClr val="tx1"/>
                        </a:solidFill>
                      </a:rPr>
                      <m:t> </m:t>
                    </m:r>
                    <m:r>
                      <m:rPr>
                        <m:nor/>
                      </m:rPr>
                      <a:rPr lang="es-PE" sz="900" b="0">
                        <a:solidFill>
                          <a:schemeClr val="tx1"/>
                        </a:solidFill>
                      </a:rPr>
                      <m:t>Flow</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𝑁</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𝑟</m:t>
                    </m:r>
                    <m:r>
                      <a:rPr lang="es-PE" sz="900" b="0" i="0">
                        <a:solidFill>
                          <a:schemeClr val="tx1"/>
                        </a:solidFill>
                        <a:latin typeface="Cambria Math" panose="02040503050406030204" pitchFamily="18" charset="0"/>
                      </a:rPr>
                      <m:t>×</m:t>
                    </m:r>
                    <m:f>
                      <m:fPr>
                        <m:ctrlPr>
                          <a:rPr lang="ar-AE" sz="900" b="0" i="1">
                            <a:solidFill>
                              <a:schemeClr val="tx1"/>
                            </a:solidFill>
                            <a:latin typeface="Cambria Math" panose="02040503050406030204" pitchFamily="18" charset="0"/>
                          </a:rPr>
                        </m:ctrlPr>
                      </m:fPr>
                      <m:num>
                        <m:r>
                          <m:rPr>
                            <m:nor/>
                          </m:rPr>
                          <a:rPr lang="es-PE" sz="900" b="0" i="1">
                            <a:solidFill>
                              <a:schemeClr val="tx1"/>
                            </a:solidFill>
                            <a:latin typeface="Cambria Math" panose="02040503050406030204" pitchFamily="18" charset="0"/>
                          </a:rPr>
                          <m:t>days</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in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period</m:t>
                        </m:r>
                      </m:num>
                      <m:den>
                        <m:r>
                          <m:rPr>
                            <m:nor/>
                          </m:rPr>
                          <a:rPr lang="es-PE" sz="900" b="0" i="1">
                            <a:solidFill>
                              <a:schemeClr val="tx1"/>
                            </a:solidFill>
                            <a:latin typeface="Cambria Math" panose="02040503050406030204" pitchFamily="18" charset="0"/>
                          </a:rPr>
                          <m:t>day</m:t>
                        </m:r>
                        <m:r>
                          <m:rPr>
                            <m:nor/>
                          </m:rPr>
                          <a:rPr lang="es-PE" sz="900" b="0" i="1">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count</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base</m:t>
                        </m:r>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 confirmación especifica fechas, </a:t>
                </a:r>
                <a:r>
                  <a:rPr lang="es-PE" sz="900" b="0" i="0" dirty="0" err="1">
                    <a:solidFill>
                      <a:schemeClr val="tx1"/>
                    </a:solidFill>
                    <a:effectLst/>
                    <a:latin typeface="Segoe WPC"/>
                  </a:rPr>
                  <a:t>day</a:t>
                </a:r>
                <a:r>
                  <a:rPr lang="es-PE" sz="900" b="0" i="0" dirty="0">
                    <a:solidFill>
                      <a:schemeClr val="tx1"/>
                    </a:solidFill>
                    <a:effectLst/>
                    <a:latin typeface="Segoe WPC"/>
                  </a:rPr>
                  <a:t> </a:t>
                </a:r>
                <a:r>
                  <a:rPr lang="es-PE" sz="900" b="0" i="0" dirty="0" err="1">
                    <a:solidFill>
                      <a:schemeClr val="tx1"/>
                    </a:solidFill>
                    <a:effectLst/>
                    <a:latin typeface="Segoe WPC"/>
                  </a:rPr>
                  <a:t>count</a:t>
                </a:r>
                <a:r>
                  <a:rPr lang="es-PE" sz="900" b="0" i="0" dirty="0">
                    <a:solidFill>
                      <a:schemeClr val="tx1"/>
                    </a:solidFill>
                    <a:effectLst/>
                    <a:latin typeface="Segoe WPC"/>
                  </a:rPr>
                  <a:t>, </a:t>
                </a:r>
                <a:r>
                  <a:rPr lang="es-PE" sz="900" b="0" i="0" dirty="0" err="1">
                    <a:solidFill>
                      <a:schemeClr val="tx1"/>
                    </a:solidFill>
                    <a:effectLst/>
                    <a:latin typeface="Segoe WPC"/>
                  </a:rPr>
                  <a:t>holiday</a:t>
                </a:r>
                <a:r>
                  <a:rPr lang="es-PE" sz="900" b="0" i="0" dirty="0">
                    <a:solidFill>
                      <a:schemeClr val="tx1"/>
                    </a:solidFill>
                    <a:effectLst/>
                    <a:latin typeface="Segoe WPC"/>
                  </a:rPr>
                  <a:t> calendar y </a:t>
                </a:r>
                <a:r>
                  <a:rPr lang="es-PE" sz="900" b="0" i="0" dirty="0" err="1">
                    <a:solidFill>
                      <a:schemeClr val="tx1"/>
                    </a:solidFill>
                    <a:effectLst/>
                    <a:latin typeface="Segoe WPC"/>
                  </a:rPr>
                  <a:t>business</a:t>
                </a:r>
                <a:r>
                  <a:rPr lang="es-PE" sz="900" b="0" i="0" dirty="0">
                    <a:solidFill>
                      <a:schemeClr val="tx1"/>
                    </a:solidFill>
                    <a:effectLst/>
                    <a:latin typeface="Segoe WPC"/>
                  </a:rPr>
                  <a:t> </a:t>
                </a:r>
                <a:r>
                  <a:rPr lang="es-PE" sz="900" b="0" i="0" dirty="0" err="1">
                    <a:solidFill>
                      <a:schemeClr val="tx1"/>
                    </a:solidFill>
                    <a:effectLst/>
                    <a:latin typeface="Segoe WPC"/>
                  </a:rPr>
                  <a:t>day</a:t>
                </a:r>
                <a:r>
                  <a:rPr lang="es-PE" sz="900" b="0" i="0" dirty="0">
                    <a:solidFill>
                      <a:schemeClr val="tx1"/>
                    </a:solidFill>
                    <a:effectLst/>
                    <a:latin typeface="Segoe WPC"/>
                  </a:rPr>
                  <a:t> </a:t>
                </a:r>
                <a:r>
                  <a:rPr lang="es-PE" sz="900" b="0" i="0" dirty="0" err="1">
                    <a:solidFill>
                      <a:schemeClr val="tx1"/>
                    </a:solidFill>
                    <a:effectLst/>
                    <a:latin typeface="Segoe WPC"/>
                  </a:rPr>
                  <a:t>convention</a:t>
                </a:r>
                <a:r>
                  <a:rPr lang="es-PE" sz="900" b="0" i="0" dirty="0">
                    <a:solidFill>
                      <a:schemeClr val="tx1"/>
                    </a:solidFill>
                    <a:effectLst/>
                    <a:latin typeface="Segoe WPC"/>
                  </a:rPr>
                  <a:t>, y evita ambigüedades operativas.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En swaps, </a:t>
                </a:r>
                <a:r>
                  <a:rPr lang="es-PE" sz="900" b="0" i="0" dirty="0" err="1">
                    <a:solidFill>
                      <a:schemeClr val="tx1"/>
                    </a:solidFill>
                    <a:effectLst/>
                    <a:latin typeface="Segoe WPC"/>
                  </a:rPr>
                  <a:t>fixed</a:t>
                </a:r>
                <a:r>
                  <a:rPr lang="es-PE" sz="900" b="0" i="0" dirty="0">
                    <a:solidFill>
                      <a:schemeClr val="tx1"/>
                    </a:solidFill>
                    <a:effectLst/>
                    <a:latin typeface="Segoe WPC"/>
                  </a:rPr>
                  <a:t> y </a:t>
                </a:r>
                <a:r>
                  <a:rPr lang="es-PE" sz="900" b="0" i="0" dirty="0" err="1">
                    <a:solidFill>
                      <a:schemeClr val="tx1"/>
                    </a:solidFill>
                    <a:effectLst/>
                    <a:latin typeface="Segoe WPC"/>
                  </a:rPr>
                  <a:t>floating</a:t>
                </a:r>
                <a:r>
                  <a:rPr lang="es-PE" sz="900" b="0" i="0" dirty="0">
                    <a:solidFill>
                      <a:schemeClr val="tx1"/>
                    </a:solidFill>
                    <a:effectLst/>
                    <a:latin typeface="Segoe WPC"/>
                  </a:rPr>
                  <a:t> pueden usar bases distintas, así que no siempre son directamente comparables.</a:t>
                </a:r>
              </a:p>
              <a:p>
                <a:pPr algn="l">
                  <a:spcAft>
                    <a:spcPts val="600"/>
                  </a:spcAft>
                  <a:buNone/>
                </a:pPr>
                <a:r>
                  <a:rPr lang="es-PE" sz="900" b="1" i="0" dirty="0">
                    <a:solidFill>
                      <a:schemeClr val="tx1"/>
                    </a:solidFill>
                    <a:effectLst/>
                    <a:latin typeface="Segoe WPC"/>
                  </a:rPr>
                  <a:t>5. Dealers, </a:t>
                </a:r>
                <a:r>
                  <a:rPr lang="es-PE" sz="900" b="1" i="0" dirty="0" err="1">
                    <a:solidFill>
                      <a:schemeClr val="tx1"/>
                    </a:solidFill>
                    <a:effectLst/>
                    <a:latin typeface="Segoe WPC"/>
                  </a:rPr>
                  <a:t>Quotes</a:t>
                </a:r>
                <a:r>
                  <a:rPr lang="es-PE" sz="900" b="1" i="0" dirty="0">
                    <a:solidFill>
                      <a:schemeClr val="tx1"/>
                    </a:solidFill>
                    <a:effectLst/>
                    <a:latin typeface="Segoe WPC"/>
                  </a:rPr>
                  <a:t>, and Swap </a:t>
                </a:r>
                <a:r>
                  <a:rPr lang="es-PE" sz="900" b="1" i="0" dirty="0" err="1">
                    <a:solidFill>
                      <a:schemeClr val="tx1"/>
                    </a:solidFill>
                    <a:effectLst/>
                    <a:latin typeface="Segoe WPC"/>
                  </a:rPr>
                  <a:t>Rate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Mercado intermediado donde bancos cotizan </a:t>
                </a:r>
                <a:r>
                  <a:rPr lang="es-PE" sz="900" b="0" i="0" dirty="0" err="1">
                    <a:solidFill>
                      <a:schemeClr val="tx1"/>
                    </a:solidFill>
                    <a:effectLst/>
                    <a:latin typeface="Segoe WPC"/>
                  </a:rPr>
                  <a:t>bid</a:t>
                </a:r>
                <a:r>
                  <a:rPr lang="es-PE" sz="900" b="0" i="0" dirty="0">
                    <a:solidFill>
                      <a:schemeClr val="tx1"/>
                    </a:solidFill>
                    <a:effectLst/>
                    <a:latin typeface="Segoe WPC"/>
                  </a:rPr>
                  <a:t>/</a:t>
                </a:r>
                <a:r>
                  <a:rPr lang="es-PE" sz="900" b="0" i="0" dirty="0" err="1">
                    <a:solidFill>
                      <a:schemeClr val="tx1"/>
                    </a:solidFill>
                    <a:effectLst/>
                    <a:latin typeface="Segoe WPC"/>
                  </a:rPr>
                  <a:t>ask</a:t>
                </a:r>
                <a:r>
                  <a:rPr lang="es-PE" sz="900" b="0" i="0" dirty="0">
                    <a:solidFill>
                      <a:schemeClr val="tx1"/>
                    </a:solidFill>
                    <a:effectLst/>
                    <a:latin typeface="Segoe WPC"/>
                  </a:rPr>
                  <a:t> para entrar al swap.</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dealer compra un tipo de exposición a una tasa y vende la contraria, capturando el spread.</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el banco cotiza 2.95%-2.97% para 2 años, paga fijo a 2.95% si toma el lado </a:t>
                </a:r>
                <a:r>
                  <a:rPr lang="es-PE" sz="900" b="0" i="0" dirty="0" err="1">
                    <a:solidFill>
                      <a:schemeClr val="tx1"/>
                    </a:solidFill>
                    <a:effectLst/>
                    <a:latin typeface="Segoe WPC"/>
                  </a:rPr>
                  <a:t>bid</a:t>
                </a:r>
                <a:r>
                  <a:rPr lang="es-PE" sz="900" b="0" i="0" dirty="0">
                    <a:solidFill>
                      <a:schemeClr val="tx1"/>
                    </a:solidFill>
                    <a:effectLst/>
                    <a:latin typeface="Segoe WPC"/>
                  </a:rPr>
                  <a:t> y recibe fijo a 2.97% si toma el lado </a:t>
                </a:r>
                <a:r>
                  <a:rPr lang="es-PE" sz="900" b="0" i="0" dirty="0" err="1">
                    <a:solidFill>
                      <a:schemeClr val="tx1"/>
                    </a:solidFill>
                    <a:effectLst/>
                    <a:latin typeface="Segoe WPC"/>
                  </a:rPr>
                  <a:t>ask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Swap</m:t>
                    </m:r>
                    <m:r>
                      <m:rPr>
                        <m:nor/>
                      </m:rPr>
                      <a:rPr lang="es-PE" sz="900" b="0">
                        <a:solidFill>
                          <a:schemeClr val="tx1"/>
                        </a:solidFill>
                      </a:rPr>
                      <m:t> </m:t>
                    </m:r>
                    <m:r>
                      <m:rPr>
                        <m:nor/>
                      </m:rPr>
                      <a:rPr lang="es-PE" sz="900" b="0">
                        <a:solidFill>
                          <a:schemeClr val="tx1"/>
                        </a:solidFill>
                      </a:rPr>
                      <m:t>Rate</m:t>
                    </m:r>
                    <m:r>
                      <a:rPr lang="es-PE" sz="900" b="0" i="0">
                        <a:solidFill>
                          <a:schemeClr val="tx1"/>
                        </a:solidFill>
                        <a:latin typeface="Cambria Math" panose="02040503050406030204" pitchFamily="18" charset="0"/>
                      </a:rPr>
                      <m:t>=</m:t>
                    </m:r>
                    <m:f>
                      <m:fPr>
                        <m:ctrlPr>
                          <a:rPr lang="ar-AE" sz="900" b="0" i="1">
                            <a:solidFill>
                              <a:schemeClr val="tx1"/>
                            </a:solidFill>
                            <a:latin typeface="Cambria Math" panose="02040503050406030204" pitchFamily="18" charset="0"/>
                          </a:rPr>
                        </m:ctrlPr>
                      </m:fPr>
                      <m:num>
                        <m:r>
                          <m:rPr>
                            <m:nor/>
                          </m:rPr>
                          <a:rPr lang="es-PE" sz="900" b="0" i="1">
                            <a:solidFill>
                              <a:schemeClr val="tx1"/>
                            </a:solidFill>
                            <a:latin typeface="Cambria Math" panose="02040503050406030204" pitchFamily="18" charset="0"/>
                          </a:rPr>
                          <m:t>Bid</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Ask</m:t>
                        </m:r>
                      </m:num>
                      <m:den>
                        <m:r>
                          <a:rPr lang="ar-AE" sz="900" b="0" i="0">
                            <a:solidFill>
                              <a:schemeClr val="tx1"/>
                            </a:solidFill>
                            <a:latin typeface="Cambria Math" panose="02040503050406030204" pitchFamily="18" charset="0"/>
                          </a:rPr>
                          <m:t>2</m:t>
                        </m:r>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El swap </a:t>
                </a:r>
                <a:r>
                  <a:rPr lang="es-PE" sz="900" b="0" i="0" dirty="0" err="1">
                    <a:solidFill>
                      <a:schemeClr val="tx1"/>
                    </a:solidFill>
                    <a:effectLst/>
                    <a:latin typeface="Segoe WPC"/>
                  </a:rPr>
                  <a:t>rate</a:t>
                </a:r>
                <a:r>
                  <a:rPr lang="es-PE" sz="900" b="0" i="0" dirty="0">
                    <a:solidFill>
                      <a:schemeClr val="tx1"/>
                    </a:solidFill>
                    <a:effectLst/>
                    <a:latin typeface="Segoe WPC"/>
                  </a:rPr>
                  <a:t> es la tasa fija </a:t>
                </a:r>
                <a:r>
                  <a:rPr lang="es-PE" sz="900" b="0" i="0" dirty="0" err="1">
                    <a:solidFill>
                      <a:schemeClr val="tx1"/>
                    </a:solidFill>
                    <a:effectLst/>
                    <a:latin typeface="Segoe WPC"/>
                  </a:rPr>
                  <a:t>mid-market</a:t>
                </a:r>
                <a:r>
                  <a:rPr lang="es-PE" sz="900" b="0" i="0" dirty="0">
                    <a:solidFill>
                      <a:schemeClr val="tx1"/>
                    </a:solidFill>
                    <a:effectLst/>
                    <a:latin typeface="Segoe WPC"/>
                  </a:rPr>
                  <a:t> que hace que un swap nuevo tenga valor aproximadamente cero.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Si una empresa quiere </a:t>
                </a:r>
                <a:r>
                  <a:rPr lang="es-PE" sz="900" b="1" i="0" dirty="0">
                    <a:solidFill>
                      <a:schemeClr val="tx1"/>
                    </a:solidFill>
                    <a:effectLst/>
                    <a:latin typeface="Segoe WPC"/>
                  </a:rPr>
                  <a:t>recibir fijo</a:t>
                </a:r>
                <a:r>
                  <a:rPr lang="es-PE" sz="900" b="0" i="0" dirty="0">
                    <a:solidFill>
                      <a:schemeClr val="tx1"/>
                    </a:solidFill>
                    <a:effectLst/>
                    <a:latin typeface="Segoe WPC"/>
                  </a:rPr>
                  <a:t>, normalmente toma el </a:t>
                </a:r>
                <a:r>
                  <a:rPr lang="es-PE" sz="900" b="1" i="0" dirty="0" err="1">
                    <a:solidFill>
                      <a:schemeClr val="tx1"/>
                    </a:solidFill>
                    <a:effectLst/>
                    <a:latin typeface="Segoe WPC"/>
                  </a:rPr>
                  <a:t>bid</a:t>
                </a:r>
                <a:r>
                  <a:rPr lang="es-PE" sz="900" b="0" i="0" dirty="0">
                    <a:solidFill>
                      <a:schemeClr val="tx1"/>
                    </a:solidFill>
                    <a:effectLst/>
                    <a:latin typeface="Segoe WPC"/>
                  </a:rPr>
                  <a:t>; si quiere </a:t>
                </a:r>
                <a:r>
                  <a:rPr lang="es-PE" sz="900" b="1" i="0" dirty="0">
                    <a:solidFill>
                      <a:schemeClr val="tx1"/>
                    </a:solidFill>
                    <a:effectLst/>
                    <a:latin typeface="Segoe WPC"/>
                  </a:rPr>
                  <a:t>pagar fijo</a:t>
                </a:r>
                <a:r>
                  <a:rPr lang="es-PE" sz="900" b="0" i="0" dirty="0">
                    <a:solidFill>
                      <a:schemeClr val="tx1"/>
                    </a:solidFill>
                    <a:effectLst/>
                    <a:latin typeface="Segoe WPC"/>
                  </a:rPr>
                  <a:t>, toma el </a:t>
                </a:r>
                <a:r>
                  <a:rPr lang="es-PE" sz="900" b="1" i="0" dirty="0" err="1">
                    <a:solidFill>
                      <a:schemeClr val="tx1"/>
                    </a:solidFill>
                    <a:effectLst/>
                    <a:latin typeface="Segoe WPC"/>
                  </a:rPr>
                  <a:t>ask</a:t>
                </a:r>
                <a:r>
                  <a:rPr lang="es-PE" sz="900" b="0" i="0" dirty="0">
                    <a:solidFill>
                      <a:schemeClr val="tx1"/>
                    </a:solidFill>
                    <a:effectLst/>
                    <a:latin typeface="Segoe WPC"/>
                  </a:rPr>
                  <a:t>.</a:t>
                </a:r>
              </a:p>
            </p:txBody>
          </p:sp>
        </mc:Choice>
        <mc:Fallback xmlns="">
          <p:sp>
            <p:nvSpPr>
              <p:cNvPr id="5" name="CuadroTexto 4">
                <a:extLst>
                  <a:ext uri="{FF2B5EF4-FFF2-40B4-BE49-F238E27FC236}">
                    <a16:creationId xmlns:a16="http://schemas.microsoft.com/office/drawing/2014/main" id="{6DBB58C0-1403-9EE9-0764-E67DF7C4BA4A}"/>
                  </a:ext>
                </a:extLst>
              </p:cNvPr>
              <p:cNvSpPr txBox="1">
                <a:spLocks noRot="1" noChangeAspect="1" noMove="1" noResize="1" noEditPoints="1" noAdjustHandles="1" noChangeArrowheads="1" noChangeShapeType="1" noTextEdit="1"/>
              </p:cNvSpPr>
              <p:nvPr/>
            </p:nvSpPr>
            <p:spPr>
              <a:xfrm>
                <a:off x="-3626" y="130629"/>
                <a:ext cx="6027055" cy="6991979"/>
              </a:xfrm>
              <a:prstGeom prst="rect">
                <a:avLst/>
              </a:prstGeom>
              <a:blipFill>
                <a:blip r:embed="rId2"/>
                <a:stretch>
                  <a:fillRect r="-101"/>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74F80825-C366-45D0-C5E2-05C301308603}"/>
                  </a:ext>
                </a:extLst>
              </p:cNvPr>
              <p:cNvSpPr txBox="1"/>
              <p:nvPr/>
            </p:nvSpPr>
            <p:spPr>
              <a:xfrm>
                <a:off x="5827486" y="-67888"/>
                <a:ext cx="6346369" cy="8481489"/>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6. </a:t>
                </a:r>
                <a:r>
                  <a:rPr lang="es-PE" sz="900" b="1" i="0" dirty="0" err="1">
                    <a:solidFill>
                      <a:schemeClr val="tx1"/>
                    </a:solidFill>
                    <a:effectLst/>
                    <a:latin typeface="Segoe WPC"/>
                  </a:rPr>
                  <a:t>Transforming</a:t>
                </a:r>
                <a:r>
                  <a:rPr lang="es-PE" sz="900" b="1" i="0" dirty="0">
                    <a:solidFill>
                      <a:schemeClr val="tx1"/>
                    </a:solidFill>
                    <a:effectLst/>
                    <a:latin typeface="Segoe WPC"/>
                  </a:rPr>
                  <a:t> </a:t>
                </a:r>
                <a:r>
                  <a:rPr lang="es-PE" sz="900" b="1" i="0" dirty="0" err="1">
                    <a:solidFill>
                      <a:schemeClr val="tx1"/>
                    </a:solidFill>
                    <a:effectLst/>
                    <a:latin typeface="Segoe WPC"/>
                  </a:rPr>
                  <a:t>Liabilities</a:t>
                </a:r>
                <a:r>
                  <a:rPr lang="es-PE" sz="900" b="1" i="0" dirty="0">
                    <a:solidFill>
                      <a:schemeClr val="tx1"/>
                    </a:solidFill>
                    <a:effectLst/>
                    <a:latin typeface="Segoe WPC"/>
                  </a:rPr>
                  <a:t> and </a:t>
                </a:r>
                <a:r>
                  <a:rPr lang="es-PE" sz="900" b="1" i="0" dirty="0" err="1">
                    <a:solidFill>
                      <a:schemeClr val="tx1"/>
                    </a:solidFill>
                    <a:effectLst/>
                    <a:latin typeface="Segoe WPC"/>
                  </a:rPr>
                  <a:t>Assets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Uso del swap para convertir deuda o inversión de fija a flotante, o viceversa.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swap no crea financiamiento nuevo; reconfigura los cash </a:t>
                </a:r>
                <a:r>
                  <a:rPr lang="es-PE" sz="900" b="0" i="0" dirty="0" err="1">
                    <a:solidFill>
                      <a:schemeClr val="tx1"/>
                    </a:solidFill>
                    <a:effectLst/>
                    <a:latin typeface="Segoe WPC"/>
                  </a:rPr>
                  <a:t>flows</a:t>
                </a:r>
                <a:r>
                  <a:rPr lang="es-PE" sz="900" b="0" i="0" dirty="0">
                    <a:solidFill>
                      <a:schemeClr val="tx1"/>
                    </a:solidFill>
                    <a:effectLst/>
                    <a:latin typeface="Segoe WPC"/>
                  </a:rPr>
                  <a:t> del financiamiento o inversión ya existente.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Deuda fija + swap </a:t>
                </a:r>
                <a:r>
                  <a:rPr lang="es-PE" sz="900" b="0" i="0" dirty="0" err="1">
                    <a:solidFill>
                      <a:schemeClr val="tx1"/>
                    </a:solidFill>
                    <a:effectLst/>
                    <a:latin typeface="Segoe WPC"/>
                  </a:rPr>
                  <a:t>pay</a:t>
                </a:r>
                <a:r>
                  <a:rPr lang="es-PE" sz="900" b="0" i="0" dirty="0">
                    <a:solidFill>
                      <a:schemeClr val="tx1"/>
                    </a:solidFill>
                    <a:effectLst/>
                    <a:latin typeface="Segoe WPC"/>
                  </a:rPr>
                  <a:t> </a:t>
                </a:r>
                <a:r>
                  <a:rPr lang="es-PE" sz="900" b="0" i="0" dirty="0" err="1">
                    <a:solidFill>
                      <a:schemeClr val="tx1"/>
                    </a:solidFill>
                    <a:effectLst/>
                    <a:latin typeface="Segoe WPC"/>
                  </a:rPr>
                  <a:t>floating</a:t>
                </a:r>
                <a:r>
                  <a:rPr lang="es-PE" sz="900" b="0" i="0" dirty="0">
                    <a:solidFill>
                      <a:schemeClr val="tx1"/>
                    </a:solidFill>
                    <a:effectLst/>
                    <a:latin typeface="Segoe WPC"/>
                  </a:rPr>
                  <a:t>/</a:t>
                </a:r>
                <a:r>
                  <a:rPr lang="es-PE" sz="900" b="0" i="0" dirty="0" err="1">
                    <a:solidFill>
                      <a:schemeClr val="tx1"/>
                    </a:solidFill>
                    <a:effectLst/>
                    <a:latin typeface="Segoe WPC"/>
                  </a:rPr>
                  <a:t>receive</a:t>
                </a:r>
                <a:r>
                  <a:rPr lang="es-PE" sz="900" b="0" i="0" dirty="0">
                    <a:solidFill>
                      <a:schemeClr val="tx1"/>
                    </a:solidFill>
                    <a:effectLst/>
                    <a:latin typeface="Segoe WPC"/>
                  </a:rPr>
                  <a:t> </a:t>
                </a:r>
                <a:r>
                  <a:rPr lang="es-PE" sz="900" b="0" i="0" dirty="0" err="1">
                    <a:solidFill>
                      <a:schemeClr val="tx1"/>
                    </a:solidFill>
                    <a:effectLst/>
                    <a:latin typeface="Segoe WPC"/>
                  </a:rPr>
                  <a:t>fixed</a:t>
                </a:r>
                <a:r>
                  <a:rPr lang="es-PE" sz="900" b="0" i="0" dirty="0">
                    <a:solidFill>
                      <a:schemeClr val="tx1"/>
                    </a:solidFill>
                    <a:effectLst/>
                    <a:latin typeface="Segoe WPC"/>
                  </a:rPr>
                  <a:t> = deuda flotante; inversión fija + swap </a:t>
                </a:r>
                <a:r>
                  <a:rPr lang="es-PE" sz="900" b="0" i="0" dirty="0" err="1">
                    <a:solidFill>
                      <a:schemeClr val="tx1"/>
                    </a:solidFill>
                    <a:effectLst/>
                    <a:latin typeface="Segoe WPC"/>
                  </a:rPr>
                  <a:t>receive</a:t>
                </a:r>
                <a:r>
                  <a:rPr lang="es-PE" sz="900" b="0" i="0" dirty="0">
                    <a:solidFill>
                      <a:schemeClr val="tx1"/>
                    </a:solidFill>
                    <a:effectLst/>
                    <a:latin typeface="Segoe WPC"/>
                  </a:rPr>
                  <a:t> </a:t>
                </a:r>
                <a:r>
                  <a:rPr lang="es-PE" sz="900" b="0" i="0" dirty="0" err="1">
                    <a:solidFill>
                      <a:schemeClr val="tx1"/>
                    </a:solidFill>
                    <a:effectLst/>
                    <a:latin typeface="Segoe WPC"/>
                  </a:rPr>
                  <a:t>floating</a:t>
                </a:r>
                <a:r>
                  <a:rPr lang="es-PE" sz="900" b="0" i="0" dirty="0">
                    <a:solidFill>
                      <a:schemeClr val="tx1"/>
                    </a:solidFill>
                    <a:effectLst/>
                    <a:latin typeface="Segoe WPC"/>
                  </a:rPr>
                  <a:t>/</a:t>
                </a:r>
                <a:r>
                  <a:rPr lang="es-PE" sz="900" b="0" i="0" dirty="0" err="1">
                    <a:solidFill>
                      <a:schemeClr val="tx1"/>
                    </a:solidFill>
                    <a:effectLst/>
                    <a:latin typeface="Segoe WPC"/>
                  </a:rPr>
                  <a:t>pay</a:t>
                </a:r>
                <a:r>
                  <a:rPr lang="es-PE" sz="900" b="0" i="0" dirty="0">
                    <a:solidFill>
                      <a:schemeClr val="tx1"/>
                    </a:solidFill>
                    <a:effectLst/>
                    <a:latin typeface="Segoe WPC"/>
                  </a:rPr>
                  <a:t> </a:t>
                </a:r>
                <a:r>
                  <a:rPr lang="es-PE" sz="900" b="0" i="0" dirty="0" err="1">
                    <a:solidFill>
                      <a:schemeClr val="tx1"/>
                    </a:solidFill>
                    <a:effectLst/>
                    <a:latin typeface="Segoe WPC"/>
                  </a:rPr>
                  <a:t>fixed</a:t>
                </a:r>
                <a:r>
                  <a:rPr lang="es-PE" sz="900" b="0" i="0" dirty="0">
                    <a:solidFill>
                      <a:schemeClr val="tx1"/>
                    </a:solidFill>
                    <a:effectLst/>
                    <a:latin typeface="Segoe WPC"/>
                  </a:rPr>
                  <a:t> = inversión flotante.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Net</m:t>
                    </m:r>
                    <m:r>
                      <m:rPr>
                        <m:nor/>
                      </m:rPr>
                      <a:rPr lang="es-PE" sz="900" b="0">
                        <a:solidFill>
                          <a:schemeClr val="tx1"/>
                        </a:solidFill>
                      </a:rPr>
                      <m:t> </m:t>
                    </m:r>
                    <m:r>
                      <m:rPr>
                        <m:nor/>
                      </m:rPr>
                      <a:rPr lang="es-PE" sz="900" b="0">
                        <a:solidFill>
                          <a:schemeClr val="tx1"/>
                        </a:solidFill>
                      </a:rPr>
                      <m:t>Cost</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Original</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Financing</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Cost</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Swap</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Outflow</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Swap</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Inflow</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El swap “transforma” la naturaleza económica del activo o pasivo sin tocar el contrato original de préstamo o inversión.</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olvides sumar los tres bloques de flujos: instrumento original, pierna recibida del swap y pierna pagada del swap.</a:t>
                </a:r>
              </a:p>
              <a:p>
                <a:pPr algn="l">
                  <a:spcAft>
                    <a:spcPts val="600"/>
                  </a:spcAft>
                  <a:buNone/>
                </a:pPr>
                <a:r>
                  <a:rPr lang="es-PE" sz="900" b="1" i="0" dirty="0">
                    <a:solidFill>
                      <a:schemeClr val="tx1"/>
                    </a:solidFill>
                    <a:effectLst/>
                    <a:latin typeface="Segoe WPC"/>
                  </a:rPr>
                  <a:t>7. Comparative </a:t>
                </a:r>
                <a:r>
                  <a:rPr lang="es-PE" sz="900" b="1" i="0" dirty="0" err="1">
                    <a:solidFill>
                      <a:schemeClr val="tx1"/>
                    </a:solidFill>
                    <a:effectLst/>
                    <a:latin typeface="Segoe WPC"/>
                  </a:rPr>
                  <a:t>Advantage</a:t>
                </a:r>
                <a:r>
                  <a:rPr lang="es-PE" sz="900" b="1" i="0" dirty="0">
                    <a:solidFill>
                      <a:schemeClr val="tx1"/>
                    </a:solidFill>
                    <a:effectLst/>
                    <a:latin typeface="Segoe WPC"/>
                  </a:rPr>
                  <a:t> </a:t>
                </a:r>
                <a:r>
                  <a:rPr lang="es-PE" sz="900" b="1" i="0" dirty="0" err="1">
                    <a:solidFill>
                      <a:schemeClr val="tx1"/>
                    </a:solidFill>
                    <a:effectLst/>
                    <a:latin typeface="Segoe WPC"/>
                  </a:rPr>
                  <a:t>Argument</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Explicación clásica de por qué dos firmas con distinta calidad crediticia harían swaps.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Cada empresa se financia donde tiene ventaja relativa y luego usa un swap para obtener la exposición deseada.</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A tiene más ventaja en fijo y B menos desventaja en flotante, pueden repartirse un beneficio total aparente.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Total</m:t>
                    </m:r>
                    <m:r>
                      <m:rPr>
                        <m:nor/>
                      </m:rPr>
                      <a:rPr lang="es-PE" sz="900" b="0">
                        <a:solidFill>
                          <a:schemeClr val="tx1"/>
                        </a:solidFill>
                      </a:rPr>
                      <m:t> </m:t>
                    </m:r>
                    <m:r>
                      <m:rPr>
                        <m:nor/>
                      </m:rPr>
                      <a:rPr lang="es-PE" sz="900" b="0">
                        <a:solidFill>
                          <a:schemeClr val="tx1"/>
                        </a:solidFill>
                      </a:rPr>
                      <m:t>Gain</m:t>
                    </m:r>
                    <m:r>
                      <a:rPr lang="es-PE" sz="900" b="0" i="0">
                        <a:solidFill>
                          <a:schemeClr val="tx1"/>
                        </a:solidFill>
                        <a:latin typeface="Cambria Math" panose="02040503050406030204" pitchFamily="18" charset="0"/>
                      </a:rPr>
                      <m:t>=</m:t>
                    </m:r>
                    <m:d>
                      <m:dPr>
                        <m:ctrlPr>
                          <a:rPr lang="ar-AE" sz="900" b="0" i="1">
                            <a:solidFill>
                              <a:schemeClr val="tx1"/>
                            </a:solidFill>
                            <a:latin typeface="Cambria Math" panose="02040503050406030204" pitchFamily="18" charset="0"/>
                          </a:rPr>
                        </m:ctrlPr>
                      </m:dPr>
                      <m:e>
                        <m:r>
                          <m:rPr>
                            <m:nor/>
                          </m:rPr>
                          <a:rPr lang="es-PE" sz="900" b="0" i="1">
                            <a:solidFill>
                              <a:schemeClr val="tx1"/>
                            </a:solidFill>
                            <a:latin typeface="Cambria Math" panose="02040503050406030204" pitchFamily="18" charset="0"/>
                          </a:rPr>
                          <m:t>fixed</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spread</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difference</m:t>
                        </m:r>
                      </m:e>
                    </m:d>
                    <m:r>
                      <a:rPr lang="ar-AE" sz="900" b="0" i="0">
                        <a:solidFill>
                          <a:schemeClr val="tx1"/>
                        </a:solidFill>
                        <a:latin typeface="Cambria Math" panose="02040503050406030204" pitchFamily="18" charset="0"/>
                      </a:rPr>
                      <m:t>−</m:t>
                    </m:r>
                    <m:d>
                      <m:dPr>
                        <m:ctrlPr>
                          <a:rPr lang="ar-AE" sz="900" b="0" i="1">
                            <a:solidFill>
                              <a:schemeClr val="tx1"/>
                            </a:solidFill>
                            <a:latin typeface="Cambria Math" panose="02040503050406030204" pitchFamily="18" charset="0"/>
                          </a:rPr>
                        </m:ctrlPr>
                      </m:dPr>
                      <m:e>
                        <m:r>
                          <m:rPr>
                            <m:nor/>
                          </m:rPr>
                          <a:rPr lang="es-PE" sz="900" b="0" i="1">
                            <a:solidFill>
                              <a:schemeClr val="tx1"/>
                            </a:solidFill>
                            <a:latin typeface="Cambria Math" panose="02040503050406030204" pitchFamily="18" charset="0"/>
                          </a:rPr>
                          <m:t>floating</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spread</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difference</m:t>
                        </m:r>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El beneficio conjunto aparece por la diferencia entre spreads relativos en ambos mercados.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La crítica central es que esto puede ser parcialmente ilusorio: el spread sobre tasa flotante puede cambiar si cambia la calidad crediticia, así que el “ahorro” no siempre está asegurado.</a:t>
                </a:r>
              </a:p>
              <a:p>
                <a:pPr algn="l">
                  <a:spcAft>
                    <a:spcPts val="600"/>
                  </a:spcAft>
                  <a:buNone/>
                </a:pPr>
                <a:r>
                  <a:rPr lang="es-PE" sz="900" b="1" i="0" dirty="0">
                    <a:solidFill>
                      <a:schemeClr val="tx1"/>
                    </a:solidFill>
                    <a:effectLst/>
                    <a:latin typeface="Segoe WPC"/>
                  </a:rPr>
                  <a:t>8. </a:t>
                </a:r>
                <a:r>
                  <a:rPr lang="es-PE" sz="900" b="1" i="0" dirty="0" err="1">
                    <a:solidFill>
                      <a:schemeClr val="tx1"/>
                    </a:solidFill>
                    <a:effectLst/>
                    <a:latin typeface="Segoe WPC"/>
                  </a:rPr>
                  <a:t>Discounting</a:t>
                </a:r>
                <a:r>
                  <a:rPr lang="es-PE" sz="900" b="1" i="0" dirty="0">
                    <a:solidFill>
                      <a:schemeClr val="tx1"/>
                    </a:solidFill>
                    <a:effectLst/>
                    <a:latin typeface="Segoe WPC"/>
                  </a:rPr>
                  <a:t> and </a:t>
                </a:r>
                <a:r>
                  <a:rPr lang="es-PE" sz="900" b="1" i="0" dirty="0" err="1">
                    <a:solidFill>
                      <a:schemeClr val="tx1"/>
                    </a:solidFill>
                    <a:effectLst/>
                    <a:latin typeface="Segoe WPC"/>
                  </a:rPr>
                  <a:t>Risk</a:t>
                </a:r>
                <a:r>
                  <a:rPr lang="es-PE" sz="900" b="1" i="0" dirty="0">
                    <a:solidFill>
                      <a:schemeClr val="tx1"/>
                    </a:solidFill>
                    <a:effectLst/>
                    <a:latin typeface="Segoe WPC"/>
                  </a:rPr>
                  <a:t>-Free Curve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Curva usada para valorar swaps </a:t>
                </a:r>
                <a:r>
                  <a:rPr lang="es-PE" sz="900" b="0" i="0" dirty="0" err="1">
                    <a:solidFill>
                      <a:schemeClr val="tx1"/>
                    </a:solidFill>
                    <a:effectLst/>
                    <a:latin typeface="Segoe WPC"/>
                  </a:rPr>
                  <a:t>plain</a:t>
                </a:r>
                <a:r>
                  <a:rPr lang="es-PE" sz="900" b="0" i="0" dirty="0">
                    <a:solidFill>
                      <a:schemeClr val="tx1"/>
                    </a:solidFill>
                    <a:effectLst/>
                    <a:latin typeface="Segoe WPC"/>
                  </a:rPr>
                  <a:t> </a:t>
                </a:r>
                <a:r>
                  <a:rPr lang="es-PE" sz="900" b="0" i="0" dirty="0" err="1">
                    <a:solidFill>
                      <a:schemeClr val="tx1"/>
                    </a:solidFill>
                    <a:effectLst/>
                    <a:latin typeface="Segoe WPC"/>
                  </a:rPr>
                  <a:t>vanilla</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Hoy se descuenta con tasas OIS porque son la mejor aproximación práctica a la tasa libre de riesgo para derivados </a:t>
                </a:r>
                <a:r>
                  <a:rPr lang="es-PE" sz="900" b="0" i="0" dirty="0" err="1">
                    <a:solidFill>
                      <a:schemeClr val="tx1"/>
                    </a:solidFill>
                    <a:effectLst/>
                    <a:latin typeface="Segoe WPC"/>
                  </a:rPr>
                  <a:t>colateralizados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Los OIS cortos dan directamente cero </a:t>
                </a:r>
                <a:r>
                  <a:rPr lang="es-PE" sz="900" b="0" i="0" dirty="0" err="1">
                    <a:solidFill>
                      <a:schemeClr val="tx1"/>
                    </a:solidFill>
                    <a:effectLst/>
                    <a:latin typeface="Segoe WPC"/>
                  </a:rPr>
                  <a:t>rates</a:t>
                </a:r>
                <a:r>
                  <a:rPr lang="es-PE" sz="900" b="0" i="0" dirty="0">
                    <a:solidFill>
                      <a:schemeClr val="tx1"/>
                    </a:solidFill>
                    <a:effectLst/>
                    <a:latin typeface="Segoe WPC"/>
                  </a:rPr>
                  <a:t> cortas; los OIS largos entregan par </a:t>
                </a:r>
                <a:r>
                  <a:rPr lang="es-PE" sz="900" b="0" i="0" dirty="0" err="1">
                    <a:solidFill>
                      <a:schemeClr val="tx1"/>
                    </a:solidFill>
                    <a:effectLst/>
                    <a:latin typeface="Segoe WPC"/>
                  </a:rPr>
                  <a:t>yields</a:t>
                </a:r>
                <a:r>
                  <a:rPr lang="es-PE" sz="900" b="0" i="0" dirty="0">
                    <a:solidFill>
                      <a:schemeClr val="tx1"/>
                    </a:solidFill>
                    <a:effectLst/>
                    <a:latin typeface="Segoe WPC"/>
                  </a:rPr>
                  <a:t> que se </a:t>
                </a:r>
                <a:r>
                  <a:rPr lang="es-PE" sz="900" b="0" i="0" dirty="0" err="1">
                    <a:solidFill>
                      <a:schemeClr val="tx1"/>
                    </a:solidFill>
                    <a:effectLst/>
                    <a:latin typeface="Segoe WPC"/>
                  </a:rPr>
                  <a:t>bootstrapean</a:t>
                </a:r>
                <a:r>
                  <a:rPr lang="es-PE" sz="900" b="0" i="0" dirty="0">
                    <a:solidFill>
                      <a:schemeClr val="tx1"/>
                    </a:solidFill>
                    <a:effectLst/>
                    <a:latin typeface="Segoe WPC"/>
                  </a:rPr>
                  <a:t> para obtener </a:t>
                </a:r>
                <a:r>
                  <a:rPr lang="es-PE" sz="900" b="0" i="0" dirty="0" err="1">
                    <a:solidFill>
                      <a:schemeClr val="tx1"/>
                    </a:solidFill>
                    <a:effectLst/>
                    <a:latin typeface="Segoe WPC"/>
                  </a:rPr>
                  <a:t>zeros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𝑃𝑉</m:t>
                    </m:r>
                    <m:r>
                      <a:rPr lang="es-PE" sz="900" i="0">
                        <a:solidFill>
                          <a:schemeClr val="tx1"/>
                        </a:solidFill>
                        <a:latin typeface="Cambria Math" panose="02040503050406030204" pitchFamily="18" charset="0"/>
                      </a:rPr>
                      <m:t>=</m:t>
                    </m:r>
                    <m:nary>
                      <m:naryPr>
                        <m:chr m:val="∑"/>
                        <m:limLoc m:val="subSup"/>
                        <m:grow m:val="on"/>
                        <m:supHide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sub>
                      <m:sup/>
                      <m:e>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𝐶</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𝐹</m:t>
                                </m:r>
                              </m:e>
                              <m:sub>
                                <m:r>
                                  <a:rPr lang="ar-AE" sz="900" i="1">
                                    <a:solidFill>
                                      <a:schemeClr val="tx1"/>
                                    </a:solidFill>
                                    <a:latin typeface="Cambria Math" panose="02040503050406030204" pitchFamily="18" charset="0"/>
                                  </a:rPr>
                                  <m:t>𝑖</m:t>
                                </m:r>
                              </m:sub>
                            </m:sSub>
                          </m:num>
                          <m:den>
                            <m:d>
                              <m:dPr>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𝑖</m:t>
                                    </m:r>
                                  </m:sub>
                                </m:sSub>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𝑡</m:t>
                                        </m:r>
                                      </m:e>
                                      <m:sub>
                                        <m:r>
                                          <a:rPr lang="ar-AE" sz="900" i="1">
                                            <a:solidFill>
                                              <a:schemeClr val="tx1"/>
                                            </a:solidFill>
                                            <a:latin typeface="Cambria Math" panose="02040503050406030204" pitchFamily="18" charset="0"/>
                                          </a:rPr>
                                          <m:t>𝑖</m:t>
                                        </m:r>
                                      </m:sub>
                                    </m:sSub>
                                  </m:sup>
                                </m:sSup>
                              </m:e>
                            </m:d>
                          </m:den>
                        </m:f>
                      </m:e>
                    </m:nary>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 valuación del swap depende críticamente de la curva de descuento; no se usan </a:t>
                </a:r>
                <a:r>
                  <a:rPr lang="es-PE" sz="900" b="0" i="0" dirty="0" err="1">
                    <a:solidFill>
                      <a:schemeClr val="tx1"/>
                    </a:solidFill>
                    <a:effectLst/>
                    <a:latin typeface="Segoe WPC"/>
                  </a:rPr>
                  <a:t>Treasury</a:t>
                </a:r>
                <a:r>
                  <a:rPr lang="es-PE" sz="900" b="0" i="0" dirty="0">
                    <a:solidFill>
                      <a:schemeClr val="tx1"/>
                    </a:solidFill>
                    <a:effectLst/>
                    <a:latin typeface="Segoe WPC"/>
                  </a:rPr>
                  <a:t> </a:t>
                </a:r>
                <a:r>
                  <a:rPr lang="es-PE" sz="900" b="0" i="0" dirty="0" err="1">
                    <a:solidFill>
                      <a:schemeClr val="tx1"/>
                    </a:solidFill>
                    <a:effectLst/>
                    <a:latin typeface="Segoe WPC"/>
                  </a:rPr>
                  <a:t>yields</a:t>
                </a:r>
                <a:r>
                  <a:rPr lang="es-PE" sz="900" b="0" i="0" dirty="0">
                    <a:solidFill>
                      <a:schemeClr val="tx1"/>
                    </a:solidFill>
                    <a:effectLst/>
                    <a:latin typeface="Segoe WPC"/>
                  </a:rPr>
                  <a:t> como proxy directo cuando resultan demasiado bajos.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En FRM suelen pedir la lógica: OIS </a:t>
                </a:r>
                <a:r>
                  <a:rPr lang="es-PE" sz="900" b="0" i="0" dirty="0" err="1">
                    <a:solidFill>
                      <a:schemeClr val="tx1"/>
                    </a:solidFill>
                    <a:effectLst/>
                    <a:latin typeface="Segoe WPC"/>
                  </a:rPr>
                  <a:t>rates</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oMath>
                </a14:m>
                <a:r>
                  <a:rPr lang="es-PE" sz="900" b="0" i="0" dirty="0">
                    <a:solidFill>
                      <a:schemeClr val="tx1"/>
                    </a:solidFill>
                    <a:effectLst/>
                    <a:latin typeface="Segoe WPC"/>
                  </a:rPr>
                  <a:t> par </a:t>
                </a:r>
                <a:r>
                  <a:rPr lang="es-PE" sz="900" b="0" i="0" dirty="0" err="1">
                    <a:solidFill>
                      <a:schemeClr val="tx1"/>
                    </a:solidFill>
                    <a:effectLst/>
                    <a:latin typeface="Segoe WPC"/>
                  </a:rPr>
                  <a:t>yields</a:t>
                </a:r>
                <a:r>
                  <a:rPr lang="es-PE" sz="900" b="0" i="0" dirty="0">
                    <a:solidFill>
                      <a:schemeClr val="tx1"/>
                    </a:solidFill>
                    <a:effectLst/>
                    <a:latin typeface="Segoe WPC"/>
                  </a:rPr>
                  <a:t>/</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oMath>
                </a14:m>
                <a:r>
                  <a:rPr lang="es-PE" sz="900" b="0" i="0" dirty="0">
                    <a:solidFill>
                      <a:schemeClr val="tx1"/>
                    </a:solidFill>
                    <a:effectLst/>
                    <a:latin typeface="Segoe WPC"/>
                  </a:rPr>
                  <a:t> </a:t>
                </a:r>
                <a:r>
                  <a:rPr lang="es-PE" sz="900" b="0" i="0" dirty="0" err="1">
                    <a:solidFill>
                      <a:schemeClr val="tx1"/>
                    </a:solidFill>
                    <a:effectLst/>
                    <a:latin typeface="Segoe WPC"/>
                  </a:rPr>
                  <a:t>discount</a:t>
                </a:r>
                <a:r>
                  <a:rPr lang="es-PE" sz="900" b="0" i="0" dirty="0">
                    <a:solidFill>
                      <a:schemeClr val="tx1"/>
                    </a:solidFill>
                    <a:effectLst/>
                    <a:latin typeface="Segoe WPC"/>
                  </a:rPr>
                  <a:t> </a:t>
                </a:r>
                <a:r>
                  <a:rPr lang="es-PE" sz="900" b="0" i="0" dirty="0" err="1">
                    <a:solidFill>
                      <a:schemeClr val="tx1"/>
                    </a:solidFill>
                    <a:effectLst/>
                    <a:latin typeface="Segoe WPC"/>
                  </a:rPr>
                  <a:t>factors</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9. </a:t>
                </a:r>
                <a:r>
                  <a:rPr lang="es-PE" sz="900" b="1" i="0" dirty="0" err="1">
                    <a:solidFill>
                      <a:schemeClr val="tx1"/>
                    </a:solidFill>
                    <a:effectLst/>
                    <a:latin typeface="Segoe WPC"/>
                  </a:rPr>
                  <a:t>Valuation</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a:t>
                </a:r>
                <a:r>
                  <a:rPr lang="es-PE" sz="900" b="1" i="0" dirty="0" err="1">
                    <a:solidFill>
                      <a:schemeClr val="tx1"/>
                    </a:solidFill>
                    <a:effectLst/>
                    <a:latin typeface="Segoe WPC"/>
                  </a:rPr>
                  <a:t>an</a:t>
                </a:r>
                <a:r>
                  <a:rPr lang="es-PE" sz="900" b="1" i="0" dirty="0">
                    <a:solidFill>
                      <a:schemeClr val="tx1"/>
                    </a:solidFill>
                    <a:effectLst/>
                    <a:latin typeface="Segoe WPC"/>
                  </a:rPr>
                  <a:t> </a:t>
                </a:r>
                <a:r>
                  <a:rPr lang="es-PE" sz="900" b="1" i="0" dirty="0" err="1">
                    <a:solidFill>
                      <a:schemeClr val="tx1"/>
                    </a:solidFill>
                    <a:effectLst/>
                    <a:latin typeface="Segoe WPC"/>
                  </a:rPr>
                  <a:t>Interest</a:t>
                </a:r>
                <a:r>
                  <a:rPr lang="es-PE" sz="900" b="1" i="0" dirty="0">
                    <a:solidFill>
                      <a:schemeClr val="tx1"/>
                    </a:solidFill>
                    <a:effectLst/>
                    <a:latin typeface="Segoe WPC"/>
                  </a:rPr>
                  <a:t> </a:t>
                </a:r>
                <a:r>
                  <a:rPr lang="es-PE" sz="900" b="1" i="0" dirty="0" err="1">
                    <a:solidFill>
                      <a:schemeClr val="tx1"/>
                    </a:solidFill>
                    <a:effectLst/>
                    <a:latin typeface="Segoe WPC"/>
                  </a:rPr>
                  <a:t>Rate</a:t>
                </a:r>
                <a:r>
                  <a:rPr lang="es-PE" sz="900" b="1" i="0" dirty="0">
                    <a:solidFill>
                      <a:schemeClr val="tx1"/>
                    </a:solidFill>
                    <a:effectLst/>
                    <a:latin typeface="Segoe WPC"/>
                  </a:rPr>
                  <a:t> Swap</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Valor del swap como diferencia entre una pierna fija y una pierna flotante, o como combinación de dos bonos / una serie de </a:t>
                </a:r>
                <a:r>
                  <a:rPr lang="es-PE" sz="900" b="0" i="0" dirty="0" err="1">
                    <a:solidFill>
                      <a:schemeClr val="tx1"/>
                    </a:solidFill>
                    <a:effectLst/>
                    <a:latin typeface="Segoe WPC"/>
                  </a:rPr>
                  <a:t>FRAs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 swap viejo vale distinto de cero si su tasa fija contractual difiere del swap </a:t>
                </a:r>
                <a:r>
                  <a:rPr lang="es-PE" sz="900" b="0" i="0" dirty="0" err="1">
                    <a:solidFill>
                      <a:schemeClr val="tx1"/>
                    </a:solidFill>
                    <a:effectLst/>
                    <a:latin typeface="Segoe WPC"/>
                  </a:rPr>
                  <a:t>rate</a:t>
                </a:r>
                <a:r>
                  <a:rPr lang="es-PE" sz="900" b="0" i="0" dirty="0">
                    <a:solidFill>
                      <a:schemeClr val="tx1"/>
                    </a:solidFill>
                    <a:effectLst/>
                    <a:latin typeface="Segoe WPC"/>
                  </a:rPr>
                  <a:t> actual de mercado.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Recibir fijo al 4% cuando el mercado nuevo paga solo 2.96% tiene valor positivo.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𝑉</m:t>
                        </m:r>
                      </m:e>
                      <m:sub>
                        <m:r>
                          <m:rPr>
                            <m:nor/>
                          </m:rPr>
                          <a:rPr lang="es-PE" sz="900" b="0" i="1">
                            <a:solidFill>
                              <a:schemeClr val="tx1"/>
                            </a:solidFill>
                            <a:latin typeface="Cambria Math" panose="02040503050406030204" pitchFamily="18" charset="0"/>
                          </a:rPr>
                          <m:t>swap</m:t>
                        </m:r>
                      </m:sub>
                    </m:sSub>
                    <m:r>
                      <a:rPr lang="ar-A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𝑉</m:t>
                        </m:r>
                      </m:e>
                      <m:sub>
                        <m:r>
                          <m:rPr>
                            <m:nor/>
                          </m:rPr>
                          <a:rPr lang="es-PE" sz="900" b="0" i="1">
                            <a:solidFill>
                              <a:schemeClr val="tx1"/>
                            </a:solidFill>
                            <a:latin typeface="Cambria Math" panose="02040503050406030204" pitchFamily="18" charset="0"/>
                          </a:rPr>
                          <m:t>fixed</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leg</m:t>
                        </m:r>
                      </m:sub>
                    </m:sSub>
                    <m:r>
                      <a:rPr lang="ar-A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𝑉</m:t>
                        </m:r>
                      </m:e>
                      <m:sub>
                        <m:r>
                          <m:rPr>
                            <m:nor/>
                          </m:rPr>
                          <a:rPr lang="es-PE" sz="900" b="0" i="1">
                            <a:solidFill>
                              <a:schemeClr val="tx1"/>
                            </a:solidFill>
                            <a:latin typeface="Cambria Math" panose="02040503050406030204" pitchFamily="18" charset="0"/>
                          </a:rPr>
                          <m:t>floating</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leg</m:t>
                        </m:r>
                      </m:sub>
                    </m:sSub>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También puede verse como: swap antiguo + swap nuevo opuesto a tasa de mercado = flujo fijo neto conocido; o como suma de </a:t>
                </a:r>
                <a:r>
                  <a:rPr lang="es-PE" sz="900" b="0" i="0" dirty="0" err="1">
                    <a:solidFill>
                      <a:schemeClr val="tx1"/>
                    </a:solidFill>
                    <a:effectLst/>
                    <a:latin typeface="Segoe WPC"/>
                  </a:rPr>
                  <a:t>FRAs</a:t>
                </a:r>
                <a:r>
                  <a:rPr lang="es-PE" sz="900" b="0" i="0" dirty="0">
                    <a:solidFill>
                      <a:schemeClr val="tx1"/>
                    </a:solidFill>
                    <a:effectLst/>
                    <a:latin typeface="Segoe WPC"/>
                  </a:rPr>
                  <a:t> valuadas con forwards implícitos.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Si te piden valoración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bond positions”, piensa en pierna fija como bono fijo y pierna flotante como bono flotante; si te piden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FRAs</a:t>
                </a:r>
                <a:r>
                  <a:rPr lang="es-PE" sz="900" b="0" i="0" dirty="0">
                    <a:solidFill>
                      <a:schemeClr val="tx1"/>
                    </a:solidFill>
                    <a:effectLst/>
                    <a:latin typeface="Segoe WPC"/>
                  </a:rPr>
                  <a:t>”, descompón período por período.</a:t>
                </a:r>
              </a:p>
              <a:p>
                <a:pPr algn="l">
                  <a:spcAft>
                    <a:spcPts val="600"/>
                  </a:spcAft>
                  <a:buNone/>
                </a:pPr>
                <a:r>
                  <a:rPr lang="es-PE" sz="900" b="1" i="0" dirty="0">
                    <a:solidFill>
                      <a:schemeClr val="tx1"/>
                    </a:solidFill>
                    <a:effectLst/>
                    <a:latin typeface="Segoe WPC"/>
                  </a:rPr>
                  <a:t>10. </a:t>
                </a:r>
                <a:r>
                  <a:rPr lang="es-PE" sz="900" b="1" i="0" dirty="0" err="1">
                    <a:solidFill>
                      <a:schemeClr val="tx1"/>
                    </a:solidFill>
                    <a:effectLst/>
                    <a:latin typeface="Segoe WPC"/>
                  </a:rPr>
                  <a:t>Currency</a:t>
                </a:r>
                <a:r>
                  <a:rPr lang="es-PE" sz="900" b="1" i="0" dirty="0">
                    <a:solidFill>
                      <a:schemeClr val="tx1"/>
                    </a:solidFill>
                    <a:effectLst/>
                    <a:latin typeface="Segoe WPC"/>
                  </a:rPr>
                  <a:t> Swaps, </a:t>
                </a:r>
                <a:r>
                  <a:rPr lang="es-PE" sz="900" b="1" i="0" dirty="0" err="1">
                    <a:solidFill>
                      <a:schemeClr val="tx1"/>
                    </a:solidFill>
                    <a:effectLst/>
                    <a:latin typeface="Segoe WPC"/>
                  </a:rPr>
                  <a:t>Other</a:t>
                </a:r>
                <a:r>
                  <a:rPr lang="es-PE" sz="900" b="1" i="0" dirty="0">
                    <a:solidFill>
                      <a:schemeClr val="tx1"/>
                    </a:solidFill>
                    <a:effectLst/>
                    <a:latin typeface="Segoe WPC"/>
                  </a:rPr>
                  <a:t> Swaps, and </a:t>
                </a:r>
                <a:r>
                  <a:rPr lang="es-PE" sz="900" b="1" i="0" dirty="0" err="1">
                    <a:solidFill>
                      <a:schemeClr val="tx1"/>
                    </a:solidFill>
                    <a:effectLst/>
                    <a:latin typeface="Segoe WPC"/>
                  </a:rPr>
                  <a:t>Credit</a:t>
                </a:r>
                <a:r>
                  <a:rPr lang="es-PE" sz="900" b="1" i="0" dirty="0">
                    <a:solidFill>
                      <a:schemeClr val="tx1"/>
                    </a:solidFill>
                    <a:effectLst/>
                    <a:latin typeface="Segoe WPC"/>
                  </a:rPr>
                  <a:t> </a:t>
                </a:r>
                <a:r>
                  <a:rPr lang="es-PE" sz="900" b="1" i="0" dirty="0" err="1">
                    <a:solidFill>
                      <a:schemeClr val="tx1"/>
                    </a:solidFill>
                    <a:effectLst/>
                    <a:latin typeface="Segoe WPC"/>
                  </a:rPr>
                  <a:t>Risk</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Swaps donde se intercambian flujos en distintas monedas, </a:t>
                </a:r>
                <a:r>
                  <a:rPr lang="es-PE" sz="900" b="0" i="0" dirty="0" err="1">
                    <a:solidFill>
                      <a:schemeClr val="tx1"/>
                    </a:solidFill>
                    <a:effectLst/>
                    <a:latin typeface="Segoe WPC"/>
                  </a:rPr>
                  <a:t>commodities</a:t>
                </a:r>
                <a:r>
                  <a:rPr lang="es-PE" sz="900" b="0" i="0" dirty="0">
                    <a:solidFill>
                      <a:schemeClr val="tx1"/>
                    </a:solidFill>
                    <a:effectLst/>
                    <a:latin typeface="Segoe WPC"/>
                  </a:rPr>
                  <a:t>, </a:t>
                </a:r>
                <a:r>
                  <a:rPr lang="es-PE" sz="900" b="0" i="0" dirty="0" err="1">
                    <a:solidFill>
                      <a:schemeClr val="tx1"/>
                    </a:solidFill>
                    <a:effectLst/>
                    <a:latin typeface="Segoe WPC"/>
                  </a:rPr>
                  <a:t>equity</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CDS u otras estructuras exóticas.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a:t>
                </a:r>
                <a:r>
                  <a:rPr lang="es-PE" sz="900" b="0" i="0" dirty="0" err="1">
                    <a:solidFill>
                      <a:schemeClr val="tx1"/>
                    </a:solidFill>
                    <a:effectLst/>
                    <a:latin typeface="Segoe WPC"/>
                  </a:rPr>
                  <a:t>currency</a:t>
                </a:r>
                <a:r>
                  <a:rPr lang="es-PE" sz="900" b="0" i="0" dirty="0">
                    <a:solidFill>
                      <a:schemeClr val="tx1"/>
                    </a:solidFill>
                    <a:effectLst/>
                    <a:latin typeface="Segoe WPC"/>
                  </a:rPr>
                  <a:t> swaps sí suele intercambiarse principal al inicio y al final; en otros swaps, la lógica sigue siendo intercambiar una exposición por otra.</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Una firma puede convertir deuda en USD a deuda en EUR intercambiando principal e intereses; un CDS intercambia primas por protección contra default.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𝑉</m:t>
                        </m:r>
                      </m:e>
                      <m:sub>
                        <m:r>
                          <m:rPr>
                            <m:nor/>
                          </m:rPr>
                          <a:rPr lang="es-PE" sz="900" b="0" i="1">
                            <a:solidFill>
                              <a:schemeClr val="tx1"/>
                            </a:solidFill>
                            <a:latin typeface="Cambria Math" panose="02040503050406030204" pitchFamily="18" charset="0"/>
                          </a:rPr>
                          <m:t>currency</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swap</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in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X</m:t>
                        </m:r>
                      </m:sub>
                    </m:sSub>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𝑃𝑉</m:t>
                    </m:r>
                    <m:d>
                      <m:dPr>
                        <m:ctrlPr>
                          <a:rPr lang="ar-AE" sz="900" b="0" i="1">
                            <a:solidFill>
                              <a:schemeClr val="tx1"/>
                            </a:solidFill>
                            <a:latin typeface="Cambria Math" panose="02040503050406030204" pitchFamily="18" charset="0"/>
                          </a:rPr>
                        </m:ctrlPr>
                      </m:dPr>
                      <m:e>
                        <m:r>
                          <m:rPr>
                            <m:nor/>
                          </m:rPr>
                          <a:rPr lang="es-PE" sz="900" b="0" i="1">
                            <a:solidFill>
                              <a:schemeClr val="tx1"/>
                            </a:solidFill>
                            <a:latin typeface="Cambria Math" panose="02040503050406030204" pitchFamily="18" charset="0"/>
                          </a:rPr>
                          <m:t>leg</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in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X</m:t>
                        </m:r>
                      </m:e>
                    </m:d>
                    <m:r>
                      <a:rPr lang="ar-A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𝑆</m:t>
                        </m:r>
                      </m:e>
                      <m:sub>
                        <m:r>
                          <a:rPr lang="ar-AE" sz="900" b="0" i="0">
                            <a:solidFill>
                              <a:schemeClr val="tx1"/>
                            </a:solidFill>
                            <a:latin typeface="Cambria Math" panose="02040503050406030204" pitchFamily="18" charset="0"/>
                          </a:rPr>
                          <m:t>0</m:t>
                        </m:r>
                      </m:sub>
                    </m:sSub>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𝑃𝑉</m:t>
                    </m:r>
                    <m:d>
                      <m:dPr>
                        <m:ctrlPr>
                          <a:rPr lang="ar-AE" sz="900" b="0" i="1">
                            <a:solidFill>
                              <a:schemeClr val="tx1"/>
                            </a:solidFill>
                            <a:latin typeface="Cambria Math" panose="02040503050406030204" pitchFamily="18" charset="0"/>
                          </a:rPr>
                        </m:ctrlPr>
                      </m:dPr>
                      <m:e>
                        <m:r>
                          <m:rPr>
                            <m:nor/>
                          </m:rPr>
                          <a:rPr lang="es-PE" sz="900" b="0" i="1">
                            <a:solidFill>
                              <a:schemeClr val="tx1"/>
                            </a:solidFill>
                            <a:latin typeface="Cambria Math" panose="02040503050406030204" pitchFamily="18" charset="0"/>
                          </a:rPr>
                          <m:t>leg</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in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Y</m:t>
                        </m:r>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Un </a:t>
                </a:r>
                <a:r>
                  <a:rPr lang="es-PE" sz="900" b="0" i="0" dirty="0" err="1">
                    <a:solidFill>
                      <a:schemeClr val="tx1"/>
                    </a:solidFill>
                    <a:effectLst/>
                    <a:latin typeface="Segoe WPC"/>
                  </a:rPr>
                  <a:t>currency</a:t>
                </a:r>
                <a:r>
                  <a:rPr lang="es-PE" sz="900" b="0" i="0" dirty="0">
                    <a:solidFill>
                      <a:schemeClr val="tx1"/>
                    </a:solidFill>
                    <a:effectLst/>
                    <a:latin typeface="Segoe WPC"/>
                  </a:rPr>
                  <a:t> swap puede valorarse como dos bonos en monedas distintas o como una serie de flujos convertidos con forwards FX; ambos métodos deben dar el mismo resultado. El riesgo de crédito surge cuando la contraparte </a:t>
                </a:r>
                <a:r>
                  <a:rPr lang="es-PE" sz="900" b="0" i="0" dirty="0" err="1">
                    <a:solidFill>
                      <a:schemeClr val="tx1"/>
                    </a:solidFill>
                    <a:effectLst/>
                    <a:latin typeface="Segoe WPC"/>
                  </a:rPr>
                  <a:t>defaulta</a:t>
                </a:r>
                <a:r>
                  <a:rPr lang="es-PE" sz="900" b="0" i="0" dirty="0">
                    <a:solidFill>
                      <a:schemeClr val="tx1"/>
                    </a:solidFill>
                    <a:effectLst/>
                    <a:latin typeface="Segoe WPC"/>
                  </a:rPr>
                  <a:t> mientras el swap tiene valor positivo para ti.</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olvides que en </a:t>
                </a:r>
                <a:r>
                  <a:rPr lang="es-PE" sz="900" b="0" i="0" dirty="0" err="1">
                    <a:solidFill>
                      <a:schemeClr val="tx1"/>
                    </a:solidFill>
                    <a:effectLst/>
                    <a:latin typeface="Segoe WPC"/>
                  </a:rPr>
                  <a:t>currency</a:t>
                </a:r>
                <a:r>
                  <a:rPr lang="es-PE" sz="900" b="0" i="0" dirty="0">
                    <a:solidFill>
                      <a:schemeClr val="tx1"/>
                    </a:solidFill>
                    <a:effectLst/>
                    <a:latin typeface="Segoe WPC"/>
                  </a:rPr>
                  <a:t> swaps el principal normalmente </a:t>
                </a:r>
                <a:r>
                  <a:rPr lang="es-PE" sz="900" b="1" i="0" dirty="0">
                    <a:solidFill>
                      <a:schemeClr val="tx1"/>
                    </a:solidFill>
                    <a:effectLst/>
                    <a:latin typeface="Segoe WPC"/>
                  </a:rPr>
                  <a:t>sí</a:t>
                </a:r>
                <a:r>
                  <a:rPr lang="es-PE" sz="900" b="0" i="0" dirty="0">
                    <a:solidFill>
                      <a:schemeClr val="tx1"/>
                    </a:solidFill>
                    <a:effectLst/>
                    <a:latin typeface="Segoe WPC"/>
                  </a:rPr>
                  <a:t> se intercambia, y que el crédito relevante es el valor neto del portafolio de swaps, no de cada transacción aislada.</a:t>
                </a:r>
              </a:p>
            </p:txBody>
          </p:sp>
        </mc:Choice>
        <mc:Fallback xmlns="">
          <p:sp>
            <p:nvSpPr>
              <p:cNvPr id="7" name="CuadroTexto 6">
                <a:extLst>
                  <a:ext uri="{FF2B5EF4-FFF2-40B4-BE49-F238E27FC236}">
                    <a16:creationId xmlns:a16="http://schemas.microsoft.com/office/drawing/2014/main" id="{74F80825-C366-45D0-C5E2-05C301308603}"/>
                  </a:ext>
                </a:extLst>
              </p:cNvPr>
              <p:cNvSpPr txBox="1">
                <a:spLocks noRot="1" noChangeAspect="1" noMove="1" noResize="1" noEditPoints="1" noAdjustHandles="1" noChangeArrowheads="1" noChangeShapeType="1" noTextEdit="1"/>
              </p:cNvSpPr>
              <p:nvPr/>
            </p:nvSpPr>
            <p:spPr>
              <a:xfrm>
                <a:off x="5827486" y="-67888"/>
                <a:ext cx="6346369" cy="8481489"/>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17665812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F857E-739C-0E1D-998B-F897D53840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A125CC0-5C75-4060-5F36-FA057B8BE129}"/>
              </a:ext>
            </a:extLst>
          </p:cNvPr>
          <p:cNvSpPr>
            <a:spLocks noGrp="1"/>
          </p:cNvSpPr>
          <p:nvPr>
            <p:ph type="title"/>
          </p:nvPr>
        </p:nvSpPr>
        <p:spPr/>
        <p:txBody>
          <a:bodyPr/>
          <a:lstStyle/>
          <a:p>
            <a:r>
              <a:rPr lang="en-US" dirty="0"/>
              <a:t>Valuation and Risk Models</a:t>
            </a:r>
            <a:endParaRPr lang="es-PE" dirty="0"/>
          </a:p>
        </p:txBody>
      </p:sp>
    </p:spTree>
    <p:extLst>
      <p:ext uri="{BB962C8B-B14F-4D97-AF65-F5344CB8AC3E}">
        <p14:creationId xmlns:p14="http://schemas.microsoft.com/office/powerpoint/2010/main" val="31836049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F06B5-6747-FA67-0990-10823B38FD7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38AEE18-C236-04FE-77E7-B9251A1CCD8C}"/>
              </a:ext>
            </a:extLst>
          </p:cNvPr>
          <p:cNvSpPr>
            <a:spLocks noGrp="1"/>
          </p:cNvSpPr>
          <p:nvPr>
            <p:ph type="title"/>
          </p:nvPr>
        </p:nvSpPr>
        <p:spPr>
          <a:xfrm>
            <a:off x="58057" y="79830"/>
            <a:ext cx="10515600" cy="217714"/>
          </a:xfrm>
        </p:spPr>
        <p:txBody>
          <a:bodyPr>
            <a:noAutofit/>
          </a:bodyPr>
          <a:lstStyle/>
          <a:p>
            <a:r>
              <a:rPr lang="en-US" sz="3200" dirty="0"/>
              <a:t>Measures of Financial Risks</a:t>
            </a:r>
            <a:endParaRPr lang="es-PE" sz="3200" dirty="0"/>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ABF16D55-5F12-1CF7-58E3-4EE87A8C8916}"/>
                  </a:ext>
                </a:extLst>
              </p:cNvPr>
              <p:cNvSpPr txBox="1"/>
              <p:nvPr/>
            </p:nvSpPr>
            <p:spPr>
              <a:xfrm>
                <a:off x="0" y="297544"/>
                <a:ext cx="5842001" cy="7038145"/>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Mean-</a:t>
                </a:r>
                <a:r>
                  <a:rPr lang="es-PE" sz="900" b="1" i="0" dirty="0" err="1">
                    <a:solidFill>
                      <a:schemeClr val="tx1"/>
                    </a:solidFill>
                    <a:effectLst/>
                    <a:latin typeface="Segoe WPC"/>
                  </a:rPr>
                  <a:t>Variance</a:t>
                </a:r>
                <a:r>
                  <a:rPr lang="es-PE" sz="900" b="1" i="0" dirty="0">
                    <a:solidFill>
                      <a:schemeClr val="tx1"/>
                    </a:solidFill>
                    <a:effectLst/>
                    <a:latin typeface="Segoe WPC"/>
                  </a:rPr>
                  <a:t> Framework</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Relación básica entre retorno esperado y riesgo medido por volatilidad.</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Invertir implica intercambiar más retorno esperado por más riesgo.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Cada activo o portafolio se ubica como un punto en el plano “media-retorno vs desviación estándar”.</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𝜇</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𝐸</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𝑅</m:t>
                        </m:r>
                      </m:e>
                    </m:d>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 </m:t>
                    </m:r>
                    <m:r>
                      <a:rPr lang="ar-AE" sz="900" i="1">
                        <a:solidFill>
                          <a:schemeClr val="tx1"/>
                        </a:solidFill>
                        <a:latin typeface="Cambria Math" panose="02040503050406030204" pitchFamily="18" charset="0"/>
                      </a:rPr>
                      <m:t>𝜎</m:t>
                    </m:r>
                    <m:r>
                      <a:rPr lang="ar-AE" sz="900" i="0">
                        <a:solidFill>
                          <a:schemeClr val="tx1"/>
                        </a:solidFill>
                        <a:latin typeface="Cambria Math" panose="02040503050406030204" pitchFamily="18" charset="0"/>
                      </a:rPr>
                      <m:t>=</m:t>
                    </m:r>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𝐸</m:t>
                        </m:r>
                        <m:d>
                          <m:dPr>
                            <m:ctrlPr>
                              <a:rPr lang="ar-AE" sz="900" i="1">
                                <a:solidFill>
                                  <a:schemeClr val="tx1"/>
                                </a:solidFill>
                                <a:latin typeface="Cambria Math" panose="02040503050406030204" pitchFamily="18" charset="0"/>
                              </a:rPr>
                            </m:ctrlPr>
                          </m:dPr>
                          <m:e>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𝑅</m:t>
                                </m:r>
                              </m:e>
                              <m:sup>
                                <m:r>
                                  <a:rPr lang="ar-AE" sz="900" i="0">
                                    <a:solidFill>
                                      <a:schemeClr val="tx1"/>
                                    </a:solidFill>
                                    <a:latin typeface="Cambria Math" panose="02040503050406030204" pitchFamily="18" charset="0"/>
                                  </a:rPr>
                                  <m:t>2</m:t>
                                </m:r>
                              </m:sup>
                            </m:sSup>
                          </m:e>
                        </m:d>
                        <m:r>
                          <a:rPr lang="ar-AE" sz="900" i="0">
                            <a:solidFill>
                              <a:schemeClr val="tx1"/>
                            </a:solidFill>
                            <a:latin typeface="Cambria Math" panose="02040503050406030204" pitchFamily="18" charset="0"/>
                          </a:rPr>
                          <m:t>−</m:t>
                        </m:r>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𝐸</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𝑅</m:t>
                                </m:r>
                              </m:e>
                            </m:d>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e>
                        </m:d>
                      </m:e>
                    </m:ra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 media es el retorno promedio; la desviación estándar mide qué tanto fluctúa alrededor de ese promedio.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no significa el retorno que ocurrirá, sino el promedio estadístico.</a:t>
                </a:r>
              </a:p>
              <a:p>
                <a:pPr algn="l">
                  <a:spcAft>
                    <a:spcPts val="600"/>
                  </a:spcAft>
                  <a:buNone/>
                </a:pPr>
                <a:r>
                  <a:rPr lang="es-PE" sz="900" b="1" i="0" dirty="0">
                    <a:solidFill>
                      <a:schemeClr val="tx1"/>
                    </a:solidFill>
                    <a:effectLst/>
                    <a:latin typeface="Segoe WPC"/>
                  </a:rPr>
                  <a:t>2. </a:t>
                </a:r>
                <a:r>
                  <a:rPr lang="es-PE" sz="900" b="1" i="0" dirty="0" err="1">
                    <a:solidFill>
                      <a:schemeClr val="tx1"/>
                    </a:solidFill>
                    <a:effectLst/>
                    <a:latin typeface="Segoe WPC"/>
                  </a:rPr>
                  <a:t>Combining</a:t>
                </a:r>
                <a:r>
                  <a:rPr lang="es-PE" sz="900" b="1" i="0" dirty="0">
                    <a:solidFill>
                      <a:schemeClr val="tx1"/>
                    </a:solidFill>
                    <a:effectLst/>
                    <a:latin typeface="Segoe WPC"/>
                  </a:rPr>
                  <a:t> </a:t>
                </a:r>
                <a:r>
                  <a:rPr lang="es-PE" sz="900" b="1" i="0" dirty="0" err="1">
                    <a:solidFill>
                      <a:schemeClr val="tx1"/>
                    </a:solidFill>
                    <a:effectLst/>
                    <a:latin typeface="Segoe WPC"/>
                  </a:rPr>
                  <a:t>Investments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Cálculo del retorno y riesgo de un portafolio con varios activos.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retorno del portafolio es un promedio ponderado, pero el riesgo depende además de las correlaciones.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Dos activos riesgosos pueden combinarse para producir un portafolio con menos riesgo que cada activo por separado.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1">
                            <a:solidFill>
                              <a:schemeClr val="tx1"/>
                            </a:solidFill>
                            <a:latin typeface="Cambria Math" panose="02040503050406030204" pitchFamily="18" charset="0"/>
                          </a:rPr>
                          <m:t>𝑝</m:t>
                        </m:r>
                      </m:sub>
                    </m:sSub>
                    <m:r>
                      <a:rPr lang="ar-AE" sz="900" i="0">
                        <a:solidFill>
                          <a:schemeClr val="tx1"/>
                        </a:solidFill>
                        <a:latin typeface="Cambria Math" panose="02040503050406030204" pitchFamily="18" charset="0"/>
                      </a:rPr>
                      <m:t>=</m:t>
                    </m:r>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𝑛</m:t>
                        </m:r>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𝑤</m:t>
                            </m:r>
                          </m:e>
                          <m:sub>
                            <m:r>
                              <a:rPr lang="ar-AE" sz="900" i="1">
                                <a:solidFill>
                                  <a:schemeClr val="tx1"/>
                                </a:solidFill>
                                <a:latin typeface="Cambria Math" panose="02040503050406030204" pitchFamily="18" charset="0"/>
                              </a:rPr>
                              <m:t>𝑖</m:t>
                            </m:r>
                          </m:sub>
                        </m:sSub>
                      </m:e>
                    </m:nary>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 diversificación funciona porque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𝜌</m:t>
                        </m:r>
                      </m:e>
                      <m:sub>
                        <m:r>
                          <a:rPr lang="ar-AE" sz="900" i="1">
                            <a:solidFill>
                              <a:schemeClr val="tx1"/>
                            </a:solidFill>
                            <a:latin typeface="Cambria Math" panose="02040503050406030204" pitchFamily="18" charset="0"/>
                          </a:rPr>
                          <m:t>𝑖𝑗</m:t>
                        </m:r>
                      </m:sub>
                    </m:sSub>
                    <m:r>
                      <a:rPr lang="ar-AE" sz="900" i="0">
                        <a:solidFill>
                          <a:schemeClr val="tx1"/>
                        </a:solidFill>
                        <a:latin typeface="Cambria Math" panose="02040503050406030204" pitchFamily="18" charset="0"/>
                      </a:rPr>
                      <m:t>&lt;</m:t>
                    </m:r>
                    <m:r>
                      <a:rPr lang="ar-AE" sz="900" i="0">
                        <a:solidFill>
                          <a:schemeClr val="tx1"/>
                        </a:solidFill>
                        <a:latin typeface="Cambria Math" panose="02040503050406030204" pitchFamily="18" charset="0"/>
                      </a:rPr>
                      <m:t>1</m:t>
                    </m:r>
                  </m:oMath>
                </a14:m>
                <a:r>
                  <a:rPr lang="ar-AE" sz="900" b="0" i="0" dirty="0">
                    <a:solidFill>
                      <a:schemeClr val="tx1"/>
                    </a:solidFill>
                    <a:effectLst/>
                    <a:latin typeface="Segoe WPC"/>
                  </a:rPr>
                  <a:t> </a:t>
                </a:r>
                <a:r>
                  <a:rPr lang="es-PE" sz="900" b="0" i="0" dirty="0">
                    <a:solidFill>
                      <a:schemeClr val="tx1"/>
                    </a:solidFill>
                    <a:effectLst/>
                    <a:latin typeface="Segoe WPC"/>
                  </a:rPr>
                  <a:t>reduce la volatilidad conjunta.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La desviación estándar del portafolio no es el promedio ponderado de las volatilidades.</a:t>
                </a:r>
              </a:p>
              <a:p>
                <a:pPr algn="l">
                  <a:spcAft>
                    <a:spcPts val="600"/>
                  </a:spcAft>
                  <a:buNone/>
                </a:pPr>
                <a:r>
                  <a:rPr lang="es-PE" sz="900" b="1" i="0" dirty="0">
                    <a:solidFill>
                      <a:schemeClr val="tx1"/>
                    </a:solidFill>
                    <a:effectLst/>
                    <a:latin typeface="Segoe WPC"/>
                  </a:rPr>
                  <a:t>3. </a:t>
                </a:r>
                <a:r>
                  <a:rPr lang="es-PE" sz="900" b="1" i="0" dirty="0" err="1">
                    <a:solidFill>
                      <a:schemeClr val="tx1"/>
                    </a:solidFill>
                    <a:effectLst/>
                    <a:latin typeface="Segoe WPC"/>
                  </a:rPr>
                  <a:t>Efficient</a:t>
                </a:r>
                <a:r>
                  <a:rPr lang="es-PE" sz="900" b="1" i="0" dirty="0">
                    <a:solidFill>
                      <a:schemeClr val="tx1"/>
                    </a:solidFill>
                    <a:effectLst/>
                    <a:latin typeface="Segoe WPC"/>
                  </a:rPr>
                  <a:t> </a:t>
                </a:r>
                <a:r>
                  <a:rPr lang="es-PE" sz="900" b="1" i="0" dirty="0" err="1">
                    <a:solidFill>
                      <a:schemeClr val="tx1"/>
                    </a:solidFill>
                    <a:effectLst/>
                    <a:latin typeface="Segoe WPC"/>
                  </a:rPr>
                  <a:t>Frontier</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Conjunto de portafolios que ofrecen el mayor retorno para cada nivel de riesgo.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 portafolio es eficiente si no existe otro con mayor retorno y menor volatilidad al mismo tiempo.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Es la frontera superior-izquierda del conjunto de combinaciones posibles.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hay una sola fórmula; surge de optimizar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1">
                            <a:solidFill>
                              <a:schemeClr val="tx1"/>
                            </a:solidFill>
                            <a:latin typeface="Cambria Math" panose="02040503050406030204" pitchFamily="18" charset="0"/>
                          </a:rPr>
                          <m:t>𝑝</m:t>
                        </m:r>
                      </m:sub>
                    </m:sSub>
                  </m:oMath>
                </a14:m>
                <a:r>
                  <a:rPr lang="ar-AE" sz="900" b="0" i="0" dirty="0">
                    <a:solidFill>
                      <a:schemeClr val="tx1"/>
                    </a:solidFill>
                    <a:effectLst/>
                    <a:latin typeface="Segoe WPC"/>
                  </a:rPr>
                  <a:t> </a:t>
                </a:r>
                <a:r>
                  <a:rPr lang="es-PE" sz="900" b="0" i="0" dirty="0">
                    <a:solidFill>
                      <a:schemeClr val="tx1"/>
                    </a:solidFill>
                    <a:effectLst/>
                    <a:latin typeface="Segoe WPC"/>
                  </a:rPr>
                  <a:t>para cada nivel de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𝑝</m:t>
                        </m:r>
                      </m:sub>
                    </m:sSub>
                  </m:oMath>
                </a14:m>
                <a:r>
                  <a:rPr lang="ar-AE" sz="900" b="0" i="0" dirty="0">
                    <a:solidFill>
                      <a:schemeClr val="tx1"/>
                    </a:solidFill>
                    <a:effectLst/>
                    <a:latin typeface="Segoe WPC"/>
                  </a:rPr>
                  <a:t> </a:t>
                </a:r>
                <a:r>
                  <a:rPr lang="es-PE" sz="900" b="0" i="0" dirty="0">
                    <a:solidFill>
                      <a:schemeClr val="tx1"/>
                    </a:solidFill>
                    <a:effectLst/>
                    <a:latin typeface="Segoe WPC"/>
                  </a:rPr>
                  <a:t>o minimizar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𝑝</m:t>
                        </m:r>
                      </m:sub>
                    </m:sSub>
                  </m:oMath>
                </a14:m>
                <a:r>
                  <a:rPr lang="ar-AE" sz="900" b="0" i="0" dirty="0">
                    <a:solidFill>
                      <a:schemeClr val="tx1"/>
                    </a:solidFill>
                    <a:effectLst/>
                    <a:latin typeface="Segoe WPC"/>
                  </a:rPr>
                  <a:t> </a:t>
                </a:r>
                <a:r>
                  <a:rPr lang="es-PE" sz="900" b="0" i="0" dirty="0">
                    <a:solidFill>
                      <a:schemeClr val="tx1"/>
                    </a:solidFill>
                    <a:effectLst/>
                    <a:latin typeface="Segoe WPC"/>
                  </a:rPr>
                  <a:t>para cada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1">
                            <a:solidFill>
                              <a:schemeClr val="tx1"/>
                            </a:solidFill>
                            <a:latin typeface="Cambria Math" panose="02040503050406030204" pitchFamily="18" charset="0"/>
                          </a:rPr>
                          <m:t>𝑝</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Los portafolios por debajo o a la derecha de la frontera están dominados.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La frontera eficiente no contiene todos los portafolios posibles, solo los no dominados.</a:t>
                </a:r>
              </a:p>
              <a:p>
                <a:pPr algn="l">
                  <a:spcAft>
                    <a:spcPts val="600"/>
                  </a:spcAft>
                  <a:buNone/>
                </a:pPr>
                <a:r>
                  <a:rPr lang="es-PE" sz="900" b="1" i="0" dirty="0">
                    <a:solidFill>
                      <a:schemeClr val="tx1"/>
                    </a:solidFill>
                    <a:effectLst/>
                    <a:latin typeface="Segoe WPC"/>
                  </a:rPr>
                  <a:t>4. </a:t>
                </a:r>
                <a:r>
                  <a:rPr lang="es-PE" sz="900" b="1" i="0" dirty="0" err="1">
                    <a:solidFill>
                      <a:schemeClr val="tx1"/>
                    </a:solidFill>
                    <a:effectLst/>
                    <a:latin typeface="Segoe WPC"/>
                  </a:rPr>
                  <a:t>Risk</a:t>
                </a:r>
                <a:r>
                  <a:rPr lang="es-PE" sz="900" b="1" i="0" dirty="0">
                    <a:solidFill>
                      <a:schemeClr val="tx1"/>
                    </a:solidFill>
                    <a:effectLst/>
                    <a:latin typeface="Segoe WPC"/>
                  </a:rPr>
                  <a:t>-Free </a:t>
                </a:r>
                <a:r>
                  <a:rPr lang="es-PE" sz="900" b="1" i="0" dirty="0" err="1">
                    <a:solidFill>
                      <a:schemeClr val="tx1"/>
                    </a:solidFill>
                    <a:effectLst/>
                    <a:latin typeface="Segoe WPC"/>
                  </a:rPr>
                  <a:t>Asset</a:t>
                </a:r>
                <a:r>
                  <a:rPr lang="es-PE" sz="900" b="1" i="0" dirty="0">
                    <a:solidFill>
                      <a:schemeClr val="tx1"/>
                    </a:solidFill>
                    <a:effectLst/>
                    <a:latin typeface="Segoe WPC"/>
                  </a:rPr>
                  <a:t> and Capital </a:t>
                </a:r>
                <a:r>
                  <a:rPr lang="es-PE" sz="900" b="1" i="0" dirty="0" err="1">
                    <a:solidFill>
                      <a:schemeClr val="tx1"/>
                    </a:solidFill>
                    <a:effectLst/>
                    <a:latin typeface="Segoe WPC"/>
                  </a:rPr>
                  <a:t>Allocation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Efecto de combinar activos riesgosos con un activo libre de riesgo.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puedes mezclar el portafolio eficiente con un activo libre de riesgo, mejoras la relación riesgo-retorno.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Una línea recta desde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𝐹</m:t>
                        </m:r>
                      </m:sub>
                    </m:sSub>
                  </m:oMath>
                </a14:m>
                <a:r>
                  <a:rPr lang="ar-AE" sz="900" b="0" i="0" dirty="0">
                    <a:solidFill>
                      <a:schemeClr val="tx1"/>
                    </a:solidFill>
                    <a:effectLst/>
                    <a:latin typeface="Segoe WPC"/>
                  </a:rPr>
                  <a:t> </a:t>
                </a:r>
                <a:r>
                  <a:rPr lang="es-PE" sz="900" b="0" i="0" dirty="0">
                    <a:solidFill>
                      <a:schemeClr val="tx1"/>
                    </a:solidFill>
                    <a:effectLst/>
                    <a:latin typeface="Segoe WPC"/>
                  </a:rPr>
                  <a:t>tangente a la frontera eficiente domina a muchas otras combinaciones.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1">
                            <a:solidFill>
                              <a:schemeClr val="tx1"/>
                            </a:solidFill>
                            <a:latin typeface="Cambria Math" panose="02040503050406030204" pitchFamily="18" charset="0"/>
                          </a:rPr>
                          <m:t>𝑝</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𝑤</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1">
                            <a:solidFill>
                              <a:schemeClr val="tx1"/>
                            </a:solidFill>
                            <a:latin typeface="Cambria Math" panose="02040503050406030204" pitchFamily="18" charset="0"/>
                          </a:rPr>
                          <m:t>𝑀</m:t>
                        </m:r>
                      </m:sub>
                    </m:sSub>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𝑤</m:t>
                        </m:r>
                      </m:e>
                    </m:d>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𝐹</m:t>
                        </m:r>
                      </m:sub>
                    </m:sSub>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 </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𝑝</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𝑤</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𝑀</m:t>
                        </m:r>
                      </m:sub>
                    </m:sSub>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El portafolio tangente se vuelve el mejor portafolio riesgoso para combinar con el activo libre de riesgo.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Esto depende de supuestos fuertes: misma información para todos, solo importa media-varianza, y todos pueden prestar o endeudarse a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𝐹</m:t>
                        </m:r>
                      </m:sub>
                    </m:sSub>
                  </m:oMath>
                </a14:m>
                <a:r>
                  <a:rPr lang="ar-AE" sz="900" b="0" i="0" dirty="0">
                    <a:solidFill>
                      <a:schemeClr val="tx1"/>
                    </a:solidFill>
                    <a:effectLst/>
                    <a:latin typeface="Segoe WPC"/>
                  </a:rPr>
                  <a:t>.</a:t>
                </a:r>
              </a:p>
              <a:p>
                <a:pPr algn="l">
                  <a:spcAft>
                    <a:spcPts val="600"/>
                  </a:spcAft>
                  <a:buNone/>
                </a:pPr>
                <a:r>
                  <a:rPr lang="ar-AE" sz="900" b="1" i="0" dirty="0">
                    <a:solidFill>
                      <a:schemeClr val="tx1"/>
                    </a:solidFill>
                    <a:effectLst/>
                    <a:latin typeface="Segoe WPC"/>
                  </a:rPr>
                  <a:t>5. </a:t>
                </a:r>
                <a:r>
                  <a:rPr lang="es-PE" sz="900" b="1" i="0" dirty="0">
                    <a:solidFill>
                      <a:schemeClr val="tx1"/>
                    </a:solidFill>
                    <a:effectLst/>
                    <a:latin typeface="Segoe WPC"/>
                  </a:rPr>
                  <a:t>Normal </a:t>
                </a:r>
                <a:r>
                  <a:rPr lang="es-PE" sz="900" b="1" i="0" dirty="0" err="1">
                    <a:solidFill>
                      <a:schemeClr val="tx1"/>
                    </a:solidFill>
                    <a:effectLst/>
                    <a:latin typeface="Segoe WPC"/>
                  </a:rPr>
                  <a:t>Distribution</a:t>
                </a:r>
                <a:r>
                  <a:rPr lang="es-PE" sz="900" b="1" i="0" dirty="0">
                    <a:solidFill>
                      <a:schemeClr val="tx1"/>
                    </a:solidFill>
                    <a:effectLst/>
                    <a:latin typeface="Segoe WPC"/>
                  </a:rPr>
                  <a:t> vs Actual </a:t>
                </a:r>
                <a:r>
                  <a:rPr lang="es-PE" sz="900" b="1" i="0" dirty="0" err="1">
                    <a:solidFill>
                      <a:schemeClr val="tx1"/>
                    </a:solidFill>
                    <a:effectLst/>
                    <a:latin typeface="Segoe WPC"/>
                  </a:rPr>
                  <a:t>Returns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Comparación entre el modelo normal y la distribución real de retornos financieros.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normal subestima eventos extremos; los retornos reales suelen tener colas gordas.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distribución real es más picuda en el centro y más pesada en las colas que la normal.</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𝑓</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𝑥</m:t>
                        </m:r>
                      </m:e>
                    </m:d>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1">
                            <a:solidFill>
                              <a:schemeClr val="tx1"/>
                            </a:solidFill>
                            <a:latin typeface="Cambria Math" panose="02040503050406030204" pitchFamily="18" charset="0"/>
                          </a:rPr>
                          <m:t>𝜎</m:t>
                        </m:r>
                        <m:rad>
                          <m:radPr>
                            <m:degHide m:val="on"/>
                            <m:ctrlPr>
                              <a:rPr lang="ar-AE" sz="900" i="1">
                                <a:solidFill>
                                  <a:schemeClr val="tx1"/>
                                </a:solidFill>
                                <a:latin typeface="Cambria Math" panose="02040503050406030204" pitchFamily="18" charset="0"/>
                              </a:rPr>
                            </m:ctrlPr>
                          </m:radPr>
                          <m:deg/>
                          <m:e>
                            <m:r>
                              <a:rPr lang="ar-AE" sz="900" i="0">
                                <a:solidFill>
                                  <a:schemeClr val="tx1"/>
                                </a:solidFill>
                                <a:latin typeface="Cambria Math" panose="02040503050406030204" pitchFamily="18" charset="0"/>
                              </a:rPr>
                              <m:t>2</m:t>
                            </m:r>
                            <m:r>
                              <a:rPr lang="ar-AE" sz="900" i="1">
                                <a:solidFill>
                                  <a:schemeClr val="tx1"/>
                                </a:solidFill>
                                <a:latin typeface="Cambria Math" panose="02040503050406030204" pitchFamily="18" charset="0"/>
                              </a:rPr>
                              <m:t>𝜋</m:t>
                            </m:r>
                          </m:e>
                        </m:rad>
                      </m:den>
                    </m:f>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d>
                          <m:dPr>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𝑥</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𝜇</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2</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e>
                            </m:d>
                          </m:e>
                        </m:d>
                      </m:sup>
                    </m:sSup>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 </m:t>
                    </m:r>
                    <m:r>
                      <a:rPr lang="ar-AE" sz="900" i="1">
                        <a:solidFill>
                          <a:schemeClr val="tx1"/>
                        </a:solidFill>
                        <a:latin typeface="Cambria Math" panose="02040503050406030204" pitchFamily="18" charset="0"/>
                      </a:rPr>
                      <m:t>𝑧</m:t>
                    </m:r>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𝑥</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𝜇</m:t>
                        </m:r>
                      </m:num>
                      <m:den>
                        <m:r>
                          <a:rPr lang="ar-AE" sz="900" i="1">
                            <a:solidFill>
                              <a:schemeClr val="tx1"/>
                            </a:solidFill>
                            <a:latin typeface="Cambria Math" panose="02040503050406030204" pitchFamily="18" charset="0"/>
                          </a:rPr>
                          <m:t>𝜎</m:t>
                        </m:r>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Movimientos de 3, 4, 5 o 6 desviaciones estándar ocurren mucho más seguido de lo que predice una normal.</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Usar media y desviación estándar no implica que la distribución sea realmente normal</a:t>
                </a:r>
              </a:p>
            </p:txBody>
          </p:sp>
        </mc:Choice>
        <mc:Fallback xmlns="">
          <p:sp>
            <p:nvSpPr>
              <p:cNvPr id="4" name="CuadroTexto 3">
                <a:extLst>
                  <a:ext uri="{FF2B5EF4-FFF2-40B4-BE49-F238E27FC236}">
                    <a16:creationId xmlns:a16="http://schemas.microsoft.com/office/drawing/2014/main" id="{ABF16D55-5F12-1CF7-58E3-4EE87A8C8916}"/>
                  </a:ext>
                </a:extLst>
              </p:cNvPr>
              <p:cNvSpPr txBox="1">
                <a:spLocks noRot="1" noChangeAspect="1" noMove="1" noResize="1" noEditPoints="1" noAdjustHandles="1" noChangeArrowheads="1" noChangeShapeType="1" noTextEdit="1"/>
              </p:cNvSpPr>
              <p:nvPr/>
            </p:nvSpPr>
            <p:spPr>
              <a:xfrm>
                <a:off x="0" y="297544"/>
                <a:ext cx="5842001" cy="7038145"/>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C96E297F-72FA-98EE-FE2E-EFDE04BA365F}"/>
                  </a:ext>
                </a:extLst>
              </p:cNvPr>
              <p:cNvSpPr txBox="1"/>
              <p:nvPr/>
            </p:nvSpPr>
            <p:spPr>
              <a:xfrm>
                <a:off x="5509984" y="-7257"/>
                <a:ext cx="6754587" cy="7459799"/>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6. VaR</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Pérdida máxima no esperada de superar durante un horizonte dado con cierto nivel de confianza.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VaR responde: “¿cuánto puedo perder como máximo en condiciones normales con </a:t>
                </a:r>
                <a14:m>
                  <m:oMath xmlns:m="http://schemas.openxmlformats.org/officeDocument/2006/math">
                    <m:r>
                      <a:rPr lang="es-PE" sz="900" i="1">
                        <a:solidFill>
                          <a:schemeClr val="tx1"/>
                        </a:solidFill>
                        <a:latin typeface="Cambria Math" panose="02040503050406030204" pitchFamily="18" charset="0"/>
                      </a:rPr>
                      <m:t>𝑋</m:t>
                    </m:r>
                    <m:r>
                      <a:rPr lang="es-PE" sz="900" i="0">
                        <a:solidFill>
                          <a:schemeClr val="tx1"/>
                        </a:solidFill>
                        <a:latin typeface="Cambria Math" panose="02040503050406030204" pitchFamily="18" charset="0"/>
                      </a:rPr>
                      <m:t>%</m:t>
                    </m:r>
                  </m:oMath>
                </a14:m>
                <a:r>
                  <a:rPr lang="es-PE" sz="900" b="0" i="0" dirty="0">
                    <a:solidFill>
                      <a:schemeClr val="tx1"/>
                    </a:solidFill>
                    <a:effectLst/>
                    <a:latin typeface="Segoe WPC"/>
                  </a:rPr>
                  <a:t> de confianza?”</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Es el percentil de la distribución de pérdidas que deja una cola de probabilidad </a:t>
                </a:r>
                <a14:m>
                  <m:oMath xmlns:m="http://schemas.openxmlformats.org/officeDocument/2006/math">
                    <m:d>
                      <m:dPr>
                        <m:ctrlPr>
                          <a:rPr lang="ar-AE" sz="900" i="1">
                            <a:solidFill>
                              <a:schemeClr val="tx1"/>
                            </a:solidFill>
                            <a:latin typeface="Cambria Math" panose="02040503050406030204" pitchFamily="18" charset="0"/>
                          </a:rPr>
                        </m:ctrlPr>
                      </m:dPr>
                      <m:e>
                        <m:r>
                          <a:rPr lang="ar-AE" sz="90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𝑋</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b="0" i="1">
                            <a:solidFill>
                              <a:schemeClr val="tx1"/>
                            </a:solidFill>
                            <a:latin typeface="Cambria Math" panose="02040503050406030204" pitchFamily="18" charset="0"/>
                          </a:rPr>
                        </m:ctrlPr>
                      </m:sSubPr>
                      <m:e>
                        <m:r>
                          <m:rPr>
                            <m:nor/>
                          </m:rPr>
                          <a:rPr lang="es-PE" sz="900" b="0">
                            <a:solidFill>
                              <a:schemeClr val="tx1"/>
                            </a:solidFill>
                          </a:rPr>
                          <m:t>VaR</m:t>
                        </m:r>
                      </m:e>
                      <m:sub>
                        <m:r>
                          <a:rPr lang="ar-AE" sz="900" b="0" i="1">
                            <a:solidFill>
                              <a:schemeClr val="tx1"/>
                            </a:solidFill>
                            <a:latin typeface="Cambria Math" panose="02040503050406030204" pitchFamily="18" charset="0"/>
                          </a:rPr>
                          <m:t>𝑋</m:t>
                        </m:r>
                        <m:r>
                          <a:rPr lang="ar-AE" sz="900" b="0" i="0">
                            <a:solidFill>
                              <a:schemeClr val="tx1"/>
                            </a:solidFill>
                            <a:latin typeface="Cambria Math" panose="02040503050406030204" pitchFamily="18" charset="0"/>
                          </a:rPr>
                          <m:t>%</m:t>
                        </m:r>
                      </m:sub>
                    </m:sSub>
                    <m:r>
                      <a:rPr lang="ar-A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percentil</m:t>
                    </m:r>
                    <m:r>
                      <m:rPr>
                        <m:nor/>
                      </m:rPr>
                      <a:rPr lang="es-PE" sz="900" b="0" i="1">
                        <a:solidFill>
                          <a:schemeClr val="tx1"/>
                        </a:solidFill>
                        <a:latin typeface="Cambria Math" panose="02040503050406030204" pitchFamily="18" charset="0"/>
                      </a:rPr>
                      <m:t> </m:t>
                    </m:r>
                    <m:r>
                      <a:rPr lang="es-PE" sz="900" b="0" i="1">
                        <a:solidFill>
                          <a:schemeClr val="tx1"/>
                        </a:solidFill>
                        <a:latin typeface="Cambria Math" panose="02040503050406030204" pitchFamily="18" charset="0"/>
                      </a:rPr>
                      <m:t>𝑋</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de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la</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distribuci</m:t>
                    </m:r>
                    <m:limUpp>
                      <m:limUppPr>
                        <m:ctrlPr>
                          <a:rPr lang="ar-AE" sz="900" b="0" i="1">
                            <a:solidFill>
                              <a:schemeClr val="tx1"/>
                            </a:solidFill>
                            <a:latin typeface="Cambria Math" panose="02040503050406030204" pitchFamily="18" charset="0"/>
                          </a:rPr>
                        </m:ctrlPr>
                      </m:limUppPr>
                      <m:e>
                        <m:r>
                          <m:rPr>
                            <m:nor/>
                          </m:rPr>
                          <a:rPr lang="es-PE" sz="900" b="0" i="1">
                            <a:solidFill>
                              <a:schemeClr val="tx1"/>
                            </a:solidFill>
                            <a:latin typeface="Cambria Math" panose="02040503050406030204" pitchFamily="18" charset="0"/>
                          </a:rPr>
                          <m:t>o</m:t>
                        </m:r>
                      </m:e>
                      <m:lim>
                        <m:r>
                          <a:rPr lang="ar-AE" sz="900" b="0" i="0">
                            <a:solidFill>
                              <a:schemeClr val="tx1"/>
                            </a:solidFill>
                            <a:latin typeface="Cambria Math" panose="02040503050406030204" pitchFamily="18" charset="0"/>
                          </a:rPr>
                          <m:t>ˊ</m:t>
                        </m:r>
                      </m:lim>
                    </m:limUpp>
                    <m:r>
                      <m:rPr>
                        <m:nor/>
                      </m:rPr>
                      <a:rPr lang="es-PE" sz="900" b="0" i="1">
                        <a:solidFill>
                          <a:schemeClr val="tx1"/>
                        </a:solidFill>
                        <a:latin typeface="Cambria Math" panose="02040503050406030204" pitchFamily="18" charset="0"/>
                      </a:rPr>
                      <m:t>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de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p</m:t>
                    </m:r>
                    <m:limUpp>
                      <m:limUppPr>
                        <m:ctrlPr>
                          <a:rPr lang="ar-AE" sz="900" b="0" i="1">
                            <a:solidFill>
                              <a:schemeClr val="tx1"/>
                            </a:solidFill>
                            <a:latin typeface="Cambria Math" panose="02040503050406030204" pitchFamily="18" charset="0"/>
                          </a:rPr>
                        </m:ctrlPr>
                      </m:limUppPr>
                      <m:e>
                        <m:r>
                          <m:rPr>
                            <m:nor/>
                          </m:rPr>
                          <a:rPr lang="es-PE" sz="900" b="0" i="1">
                            <a:solidFill>
                              <a:schemeClr val="tx1"/>
                            </a:solidFill>
                            <a:latin typeface="Cambria Math" panose="02040503050406030204" pitchFamily="18" charset="0"/>
                          </a:rPr>
                          <m:t>e</m:t>
                        </m:r>
                      </m:e>
                      <m:lim>
                        <m:r>
                          <a:rPr lang="ar-AE" sz="900" b="0" i="0">
                            <a:solidFill>
                              <a:schemeClr val="tx1"/>
                            </a:solidFill>
                            <a:latin typeface="Cambria Math" panose="02040503050406030204" pitchFamily="18" charset="0"/>
                          </a:rPr>
                          <m:t>ˊ</m:t>
                        </m:r>
                      </m:lim>
                    </m:limUpp>
                    <m:r>
                      <m:rPr>
                        <m:nor/>
                      </m:rPr>
                      <a:rPr lang="es-PE" sz="900" b="0" i="1">
                        <a:solidFill>
                          <a:schemeClr val="tx1"/>
                        </a:solidFill>
                        <a:latin typeface="Cambria Math" panose="02040503050406030204" pitchFamily="18" charset="0"/>
                      </a:rPr>
                      <m:t>rdidas</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Un VaR de USD 10 millones a 10 días y 99% significa que hay 1% de probabilidad de perder más de USD 10 millones en 10 días.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VaR depende del horizonte y del nivel de confianza; no tiene sentido citarlo sin ambos.</a:t>
                </a:r>
              </a:p>
              <a:p>
                <a:pPr algn="l">
                  <a:spcAft>
                    <a:spcPts val="600"/>
                  </a:spcAft>
                  <a:buNone/>
                </a:pPr>
                <a:r>
                  <a:rPr lang="es-PE" sz="900" b="1" i="0" dirty="0">
                    <a:solidFill>
                      <a:schemeClr val="tx1"/>
                    </a:solidFill>
                    <a:effectLst/>
                    <a:latin typeface="Segoe WPC"/>
                  </a:rPr>
                  <a:t>7. VaR </a:t>
                </a:r>
                <a:r>
                  <a:rPr lang="es-PE" sz="900" b="1" i="0" dirty="0" err="1">
                    <a:solidFill>
                      <a:schemeClr val="tx1"/>
                    </a:solidFill>
                    <a:effectLst/>
                    <a:latin typeface="Segoe WPC"/>
                  </a:rPr>
                  <a:t>Limitations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Debilidades conceptuales de VaR como medida de riesgo extremo.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VaR dice dónde empieza la cola, pero no qué tan mala puede ser una pérdida dentro de esa cola.</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Dos inversiones pueden tener el mismo VaR y riesgos extremos muy distintos.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resume la severidad más allá del percentil: </a:t>
                </a:r>
                <a14:m>
                  <m:oMath xmlns:m="http://schemas.openxmlformats.org/officeDocument/2006/math">
                    <m:r>
                      <m:rPr>
                        <m:nor/>
                      </m:rPr>
                      <a:rPr lang="es-PE" sz="900" b="0">
                        <a:solidFill>
                          <a:schemeClr val="tx1"/>
                        </a:solidFill>
                      </a:rPr>
                      <m:t>VaR</m:t>
                    </m:r>
                  </m:oMath>
                </a14:m>
                <a:r>
                  <a:rPr lang="es-PE" sz="900" b="0" i="0" dirty="0">
                    <a:solidFill>
                      <a:schemeClr val="tx1"/>
                    </a:solidFill>
                    <a:effectLst/>
                    <a:latin typeface="Segoe WPC"/>
                  </a:rPr>
                  <a:t> no incorpora directamente pérdidas mayores que el umbral.</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Es útil por simplicidad, pero puede ocultar riesgo catastrófico.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VaR no distingue entre “la pérdida apenas supera el umbral” y “la pérdida puede explotar muchísimo”.</a:t>
                </a:r>
              </a:p>
              <a:p>
                <a:pPr algn="l">
                  <a:spcAft>
                    <a:spcPts val="600"/>
                  </a:spcAft>
                  <a:buNone/>
                </a:pPr>
                <a:r>
                  <a:rPr lang="es-PE" sz="900" b="1" i="0" dirty="0">
                    <a:solidFill>
                      <a:schemeClr val="tx1"/>
                    </a:solidFill>
                    <a:effectLst/>
                    <a:latin typeface="Segoe WPC"/>
                  </a:rPr>
                  <a:t>8. </a:t>
                </a:r>
                <a:r>
                  <a:rPr lang="es-PE" sz="900" b="1" i="0" dirty="0" err="1">
                    <a:solidFill>
                      <a:schemeClr val="tx1"/>
                    </a:solidFill>
                    <a:effectLst/>
                    <a:latin typeface="Segoe WPC"/>
                  </a:rPr>
                  <a:t>Expected</a:t>
                </a:r>
                <a:r>
                  <a:rPr lang="es-PE" sz="900" b="1" i="0" dirty="0">
                    <a:solidFill>
                      <a:schemeClr val="tx1"/>
                    </a:solidFill>
                    <a:effectLst/>
                    <a:latin typeface="Segoe WPC"/>
                  </a:rPr>
                  <a:t> </a:t>
                </a:r>
                <a:r>
                  <a:rPr lang="es-PE" sz="900" b="1" i="0" dirty="0" err="1">
                    <a:solidFill>
                      <a:schemeClr val="tx1"/>
                    </a:solidFill>
                    <a:effectLst/>
                    <a:latin typeface="Segoe WPC"/>
                  </a:rPr>
                  <a:t>Shortfall</a:t>
                </a:r>
                <a:r>
                  <a:rPr lang="es-PE" sz="900" b="1" i="0" dirty="0">
                    <a:solidFill>
                      <a:schemeClr val="tx1"/>
                    </a:solidFill>
                    <a:effectLst/>
                    <a:latin typeface="Segoe WPC"/>
                  </a:rPr>
                  <a:t> (ES)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Pérdida esperada condicionada a estar en la cola peor que el VaR.</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ES responde: “si ya caí en el peor 1% o 2.5%, ¿cuánto espero perder en promedio?”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Mientras VaR mira un punto de corte, ES mira el promedio de toda la cola.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ES</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𝐸</m:t>
                    </m:r>
                    <m:d>
                      <m:dPr>
                        <m:begChr m:val="["/>
                        <m:endChr m:val="]"/>
                        <m:ctrlPr>
                          <a:rPr lang="ar-AE" sz="900" b="0" i="1">
                            <a:solidFill>
                              <a:schemeClr val="tx1"/>
                            </a:solidFill>
                            <a:latin typeface="Cambria Math" panose="02040503050406030204" pitchFamily="18" charset="0"/>
                          </a:rPr>
                        </m:ctrlPr>
                      </m:dPr>
                      <m:e>
                        <m:r>
                          <m:rPr>
                            <m:nor/>
                          </m:rPr>
                          <a:rPr lang="es-PE" sz="900" b="0" i="1">
                            <a:solidFill>
                              <a:schemeClr val="tx1"/>
                            </a:solidFill>
                            <a:latin typeface="Cambria Math" panose="02040503050406030204" pitchFamily="18" charset="0"/>
                          </a:rPr>
                          <m:t>Loss</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Loss</m:t>
                        </m:r>
                        <m:r>
                          <a:rPr lang="es-PE" sz="900" b="0" i="0">
                            <a:solidFill>
                              <a:schemeClr val="tx1"/>
                            </a:solidFill>
                            <a:latin typeface="Cambria Math" panose="02040503050406030204" pitchFamily="18" charset="0"/>
                          </a:rPr>
                          <m:t>&gt;</m:t>
                        </m:r>
                        <m:r>
                          <m:rPr>
                            <m:nor/>
                          </m:rPr>
                          <a:rPr lang="es-PE" sz="900" b="0" i="1">
                            <a:solidFill>
                              <a:schemeClr val="tx1"/>
                            </a:solidFill>
                            <a:latin typeface="Cambria Math" panose="02040503050406030204" pitchFamily="18" charset="0"/>
                          </a:rPr>
                          <m:t>VaR</m:t>
                        </m:r>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ES siempre es mayor que VaR y captura mejor el riesgo extremo.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confundas ES con otro percentil; es un promedio condicional, no un punto de la distribución.</a:t>
                </a:r>
              </a:p>
              <a:p>
                <a:pPr algn="l">
                  <a:spcAft>
                    <a:spcPts val="600"/>
                  </a:spcAft>
                  <a:buNone/>
                </a:pPr>
                <a:r>
                  <a:rPr lang="es-PE" sz="900" b="1" i="0" dirty="0">
                    <a:solidFill>
                      <a:schemeClr val="tx1"/>
                    </a:solidFill>
                    <a:effectLst/>
                    <a:latin typeface="Segoe WPC"/>
                  </a:rPr>
                  <a:t>9. </a:t>
                </a:r>
                <a:r>
                  <a:rPr lang="es-PE" sz="900" b="1" i="0" dirty="0" err="1">
                    <a:solidFill>
                      <a:schemeClr val="tx1"/>
                    </a:solidFill>
                    <a:effectLst/>
                    <a:latin typeface="Segoe WPC"/>
                  </a:rPr>
                  <a:t>Coherent</a:t>
                </a:r>
                <a:r>
                  <a:rPr lang="es-PE" sz="900" b="1" i="0" dirty="0">
                    <a:solidFill>
                      <a:schemeClr val="tx1"/>
                    </a:solidFill>
                    <a:effectLst/>
                    <a:latin typeface="Segoe WPC"/>
                  </a:rPr>
                  <a:t> </a:t>
                </a:r>
                <a:r>
                  <a:rPr lang="es-PE" sz="900" b="1" i="0" dirty="0" err="1">
                    <a:solidFill>
                      <a:schemeClr val="tx1"/>
                    </a:solidFill>
                    <a:effectLst/>
                    <a:latin typeface="Segoe WPC"/>
                  </a:rPr>
                  <a:t>Risk</a:t>
                </a:r>
                <a:r>
                  <a:rPr lang="es-PE" sz="900" b="1" i="0" dirty="0">
                    <a:solidFill>
                      <a:schemeClr val="tx1"/>
                    </a:solidFill>
                    <a:effectLst/>
                    <a:latin typeface="Segoe WPC"/>
                  </a:rPr>
                  <a:t> </a:t>
                </a:r>
                <a:r>
                  <a:rPr lang="es-PE" sz="900" b="1" i="0" dirty="0" err="1">
                    <a:solidFill>
                      <a:schemeClr val="tx1"/>
                    </a:solidFill>
                    <a:effectLst/>
                    <a:latin typeface="Segoe WPC"/>
                  </a:rPr>
                  <a:t>Measures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Criterios teóricos que una buena medida de riesgo debería satisfacer.</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Una medida de riesgo debe respetar dominancia, efecto del cash, escala y beneficios de diversificación.</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agregas efectivo, el riesgo baja; si duplicas la posición, el riesgo se duplica; si diversificas, el riesgo no debería subir.</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Propiedades: </a:t>
                </a:r>
                <a:r>
                  <a:rPr lang="es-PE" sz="900" b="0" i="0" dirty="0" err="1">
                    <a:solidFill>
                      <a:schemeClr val="tx1"/>
                    </a:solidFill>
                    <a:effectLst/>
                    <a:latin typeface="Segoe WPC"/>
                  </a:rPr>
                  <a:t>monotonicity</a:t>
                </a:r>
                <a:r>
                  <a:rPr lang="es-PE" sz="900" b="0" i="0" dirty="0">
                    <a:solidFill>
                      <a:schemeClr val="tx1"/>
                    </a:solidFill>
                    <a:effectLst/>
                    <a:latin typeface="Segoe WPC"/>
                  </a:rPr>
                  <a:t>, </a:t>
                </a:r>
                <a:r>
                  <a:rPr lang="es-PE" sz="900" b="0" i="0" dirty="0" err="1">
                    <a:solidFill>
                      <a:schemeClr val="tx1"/>
                    </a:solidFill>
                    <a:effectLst/>
                    <a:latin typeface="Segoe WPC"/>
                  </a:rPr>
                  <a:t>translation</a:t>
                </a:r>
                <a:r>
                  <a:rPr lang="es-PE" sz="900" b="0" i="0" dirty="0">
                    <a:solidFill>
                      <a:schemeClr val="tx1"/>
                    </a:solidFill>
                    <a:effectLst/>
                    <a:latin typeface="Segoe WPC"/>
                  </a:rPr>
                  <a:t> </a:t>
                </a:r>
                <a:r>
                  <a:rPr lang="es-PE" sz="900" b="0" i="0" dirty="0" err="1">
                    <a:solidFill>
                      <a:schemeClr val="tx1"/>
                    </a:solidFill>
                    <a:effectLst/>
                    <a:latin typeface="Segoe WPC"/>
                  </a:rPr>
                  <a:t>invariance</a:t>
                </a:r>
                <a:r>
                  <a:rPr lang="es-PE" sz="900" b="0" i="0" dirty="0">
                    <a:solidFill>
                      <a:schemeClr val="tx1"/>
                    </a:solidFill>
                    <a:effectLst/>
                    <a:latin typeface="Segoe WPC"/>
                  </a:rPr>
                  <a:t>, </a:t>
                </a:r>
                <a:r>
                  <a:rPr lang="es-PE" sz="900" b="0" i="0" dirty="0" err="1">
                    <a:solidFill>
                      <a:schemeClr val="tx1"/>
                    </a:solidFill>
                    <a:effectLst/>
                    <a:latin typeface="Segoe WPC"/>
                  </a:rPr>
                  <a:t>homogeneity</a:t>
                </a:r>
                <a:r>
                  <a:rPr lang="es-PE" sz="900" b="0" i="0" dirty="0">
                    <a:solidFill>
                      <a:schemeClr val="tx1"/>
                    </a:solidFill>
                    <a:effectLst/>
                    <a:latin typeface="Segoe WPC"/>
                  </a:rPr>
                  <a:t>, </a:t>
                </a:r>
                <a:r>
                  <a:rPr lang="es-PE" sz="900" b="0" i="0" dirty="0" err="1">
                    <a:solidFill>
                      <a:schemeClr val="tx1"/>
                    </a:solidFill>
                    <a:effectLst/>
                    <a:latin typeface="Segoe WPC"/>
                  </a:rPr>
                  <a:t>subadditivity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Una medida coherente se comporta de forma consistente con intuición económica y manejo prudente del riesgo.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Subadditivity</a:t>
                </a:r>
                <a:r>
                  <a:rPr lang="es-PE" sz="900" b="0" i="0" dirty="0">
                    <a:solidFill>
                      <a:schemeClr val="tx1"/>
                    </a:solidFill>
                    <a:effectLst/>
                    <a:latin typeface="Segoe WPC"/>
                  </a:rPr>
                  <a:t> es la propiedad clave que conecta coherencia con diversificación.</a:t>
                </a:r>
              </a:p>
              <a:p>
                <a:pPr algn="l">
                  <a:spcAft>
                    <a:spcPts val="600"/>
                  </a:spcAft>
                  <a:buNone/>
                </a:pPr>
                <a:r>
                  <a:rPr lang="es-PE" sz="900" b="1" i="0" dirty="0">
                    <a:solidFill>
                      <a:schemeClr val="tx1"/>
                    </a:solidFill>
                    <a:effectLst/>
                    <a:latin typeface="Segoe WPC"/>
                  </a:rPr>
                  <a:t>10. </a:t>
                </a:r>
                <a:r>
                  <a:rPr lang="es-PE" sz="900" b="1" i="0" dirty="0" err="1">
                    <a:solidFill>
                      <a:schemeClr val="tx1"/>
                    </a:solidFill>
                    <a:effectLst/>
                    <a:latin typeface="Segoe WPC"/>
                  </a:rPr>
                  <a:t>Why</a:t>
                </a:r>
                <a:r>
                  <a:rPr lang="es-PE" sz="900" b="1" i="0" dirty="0">
                    <a:solidFill>
                      <a:schemeClr val="tx1"/>
                    </a:solidFill>
                    <a:effectLst/>
                    <a:latin typeface="Segoe WPC"/>
                  </a:rPr>
                  <a:t> VaR </a:t>
                </a:r>
                <a:r>
                  <a:rPr lang="es-PE" sz="900" b="1" i="0" dirty="0" err="1">
                    <a:solidFill>
                      <a:schemeClr val="tx1"/>
                    </a:solidFill>
                    <a:effectLst/>
                    <a:latin typeface="Segoe WPC"/>
                  </a:rPr>
                  <a:t>Is</a:t>
                </a:r>
                <a:r>
                  <a:rPr lang="es-PE" sz="900" b="1" i="0" dirty="0">
                    <a:solidFill>
                      <a:schemeClr val="tx1"/>
                    </a:solidFill>
                    <a:effectLst/>
                    <a:latin typeface="Segoe WPC"/>
                  </a:rPr>
                  <a:t> </a:t>
                </a:r>
                <a:r>
                  <a:rPr lang="es-PE" sz="900" b="1" i="0" dirty="0" err="1">
                    <a:solidFill>
                      <a:schemeClr val="tx1"/>
                    </a:solidFill>
                    <a:effectLst/>
                    <a:latin typeface="Segoe WPC"/>
                  </a:rPr>
                  <a:t>Not</a:t>
                </a:r>
                <a:r>
                  <a:rPr lang="es-PE" sz="900" b="1" i="0" dirty="0">
                    <a:solidFill>
                      <a:schemeClr val="tx1"/>
                    </a:solidFill>
                    <a:effectLst/>
                    <a:latin typeface="Segoe WPC"/>
                  </a:rPr>
                  <a:t> </a:t>
                </a:r>
                <a:r>
                  <a:rPr lang="es-PE" sz="900" b="1" i="0" dirty="0" err="1">
                    <a:solidFill>
                      <a:schemeClr val="tx1"/>
                    </a:solidFill>
                    <a:effectLst/>
                    <a:latin typeface="Segoe WPC"/>
                  </a:rPr>
                  <a:t>Coherent</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Falla principal de VaR frente a las medidas coherentes.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VaR puede castigar la diversificación en vez de premiarla.</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Dos posiciones separadas pueden tener VaR bajo, pero al combinarlas el VaR puede saltar mucho más que la suma intuitiva esperada.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Puede violar </a:t>
                </a:r>
                <a14:m>
                  <m:oMath xmlns:m="http://schemas.openxmlformats.org/officeDocument/2006/math">
                    <m:r>
                      <a:rPr lang="es-PE" sz="900" i="1">
                        <a:solidFill>
                          <a:schemeClr val="tx1"/>
                        </a:solidFill>
                        <a:latin typeface="Cambria Math" panose="02040503050406030204" pitchFamily="18" charset="0"/>
                      </a:rPr>
                      <m:t>𝜌</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𝐵</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𝜌</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𝐴</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𝜌</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𝐵</m:t>
                        </m:r>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VaR cumple </a:t>
                </a:r>
                <a:r>
                  <a:rPr lang="es-PE" sz="900" b="0" i="0" dirty="0" err="1">
                    <a:solidFill>
                      <a:schemeClr val="tx1"/>
                    </a:solidFill>
                    <a:effectLst/>
                    <a:latin typeface="Segoe WPC"/>
                  </a:rPr>
                  <a:t>monotonicity</a:t>
                </a:r>
                <a:r>
                  <a:rPr lang="es-PE" sz="900" b="0" i="0" dirty="0">
                    <a:solidFill>
                      <a:schemeClr val="tx1"/>
                    </a:solidFill>
                    <a:effectLst/>
                    <a:latin typeface="Segoe WPC"/>
                  </a:rPr>
                  <a:t>, </a:t>
                </a:r>
                <a:r>
                  <a:rPr lang="es-PE" sz="900" b="0" i="0" dirty="0" err="1">
                    <a:solidFill>
                      <a:schemeClr val="tx1"/>
                    </a:solidFill>
                    <a:effectLst/>
                    <a:latin typeface="Segoe WPC"/>
                  </a:rPr>
                  <a:t>translation</a:t>
                </a:r>
                <a:r>
                  <a:rPr lang="es-PE" sz="900" b="0" i="0" dirty="0">
                    <a:solidFill>
                      <a:schemeClr val="tx1"/>
                    </a:solidFill>
                    <a:effectLst/>
                    <a:latin typeface="Segoe WPC"/>
                  </a:rPr>
                  <a:t> </a:t>
                </a:r>
                <a:r>
                  <a:rPr lang="es-PE" sz="900" b="0" i="0" dirty="0" err="1">
                    <a:solidFill>
                      <a:schemeClr val="tx1"/>
                    </a:solidFill>
                    <a:effectLst/>
                    <a:latin typeface="Segoe WPC"/>
                  </a:rPr>
                  <a:t>invariance</a:t>
                </a:r>
                <a:r>
                  <a:rPr lang="es-PE" sz="900" b="0" i="0" dirty="0">
                    <a:solidFill>
                      <a:schemeClr val="tx1"/>
                    </a:solidFill>
                    <a:effectLst/>
                    <a:latin typeface="Segoe WPC"/>
                  </a:rPr>
                  <a:t> y </a:t>
                </a:r>
                <a:r>
                  <a:rPr lang="es-PE" sz="900" b="0" i="0" dirty="0" err="1">
                    <a:solidFill>
                      <a:schemeClr val="tx1"/>
                    </a:solidFill>
                    <a:effectLst/>
                    <a:latin typeface="Segoe WPC"/>
                  </a:rPr>
                  <a:t>homogeneity</a:t>
                </a:r>
                <a:r>
                  <a:rPr lang="es-PE" sz="900" b="0" i="0" dirty="0">
                    <a:solidFill>
                      <a:schemeClr val="tx1"/>
                    </a:solidFill>
                    <a:effectLst/>
                    <a:latin typeface="Segoe WPC"/>
                  </a:rPr>
                  <a:t>, pero no siempre </a:t>
                </a:r>
                <a:r>
                  <a:rPr lang="es-PE" sz="900" b="0" i="0" dirty="0" err="1">
                    <a:solidFill>
                      <a:schemeClr val="tx1"/>
                    </a:solidFill>
                    <a:effectLst/>
                    <a:latin typeface="Segoe WPC"/>
                  </a:rPr>
                  <a:t>subadditivity</a:t>
                </a:r>
                <a:r>
                  <a:rPr lang="es-PE" sz="900" b="0" i="0" dirty="0">
                    <a:solidFill>
                      <a:schemeClr val="tx1"/>
                    </a:solidFill>
                    <a:effectLst/>
                    <a:latin typeface="Segoe WPC"/>
                  </a:rPr>
                  <a:t>; ES sí cumple las cuatro.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digas que VaR “nunca” es </a:t>
                </a:r>
                <a:r>
                  <a:rPr lang="es-PE" sz="900" b="0" i="0" dirty="0" err="1">
                    <a:solidFill>
                      <a:schemeClr val="tx1"/>
                    </a:solidFill>
                    <a:effectLst/>
                    <a:latin typeface="Segoe WPC"/>
                  </a:rPr>
                  <a:t>subaditivo</a:t>
                </a:r>
                <a:r>
                  <a:rPr lang="es-PE" sz="900" b="0" i="0" dirty="0">
                    <a:solidFill>
                      <a:schemeClr val="tx1"/>
                    </a:solidFill>
                    <a:effectLst/>
                    <a:latin typeface="Segoe WPC"/>
                  </a:rPr>
                  <a:t>; falla solo en ciertos casos, típicamente con distribuciones discretas o no normales.</a:t>
                </a:r>
              </a:p>
              <a:p>
                <a:pPr algn="l">
                  <a:spcAft>
                    <a:spcPts val="600"/>
                  </a:spcAft>
                  <a:buNone/>
                </a:pPr>
                <a:r>
                  <a:rPr lang="es-PE" sz="900" b="1" i="0" dirty="0">
                    <a:solidFill>
                      <a:schemeClr val="tx1"/>
                    </a:solidFill>
                    <a:effectLst/>
                    <a:latin typeface="Segoe WPC"/>
                  </a:rPr>
                  <a:t>11. </a:t>
                </a:r>
                <a:r>
                  <a:rPr lang="es-PE" sz="900" b="1" i="0" dirty="0" err="1">
                    <a:solidFill>
                      <a:schemeClr val="tx1"/>
                    </a:solidFill>
                    <a:effectLst/>
                    <a:latin typeface="Segoe WPC"/>
                  </a:rPr>
                  <a:t>Weighting</a:t>
                </a:r>
                <a:r>
                  <a:rPr lang="es-PE" sz="900" b="1" i="0" dirty="0">
                    <a:solidFill>
                      <a:schemeClr val="tx1"/>
                    </a:solidFill>
                    <a:effectLst/>
                    <a:latin typeface="Segoe WPC"/>
                  </a:rPr>
                  <a:t> and </a:t>
                </a:r>
                <a:r>
                  <a:rPr lang="es-PE" sz="900" b="1" i="0" dirty="0" err="1">
                    <a:solidFill>
                      <a:schemeClr val="tx1"/>
                    </a:solidFill>
                    <a:effectLst/>
                    <a:latin typeface="Segoe WPC"/>
                  </a:rPr>
                  <a:t>Spectral</a:t>
                </a:r>
                <a:r>
                  <a:rPr lang="es-PE" sz="900" b="1" i="0" dirty="0">
                    <a:solidFill>
                      <a:schemeClr val="tx1"/>
                    </a:solidFill>
                    <a:effectLst/>
                    <a:latin typeface="Segoe WPC"/>
                  </a:rPr>
                  <a:t> </a:t>
                </a:r>
                <a:r>
                  <a:rPr lang="es-PE" sz="900" b="1" i="0" dirty="0" err="1">
                    <a:solidFill>
                      <a:schemeClr val="tx1"/>
                    </a:solidFill>
                    <a:effectLst/>
                    <a:latin typeface="Segoe WPC"/>
                  </a:rPr>
                  <a:t>Measures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Visión general de medidas de riesgo como ponderaciones sobre percentiles de pérdidas.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Toda medida de riesgo puede verse como cuánto peso le asigna a distintas partes de la cola.</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VaR pone todo el peso en un solo percentil; ES da peso uniforme a toda la cola; </a:t>
                </a:r>
                <a:r>
                  <a:rPr lang="es-PE" sz="900" b="0" i="0" dirty="0" err="1">
                    <a:solidFill>
                      <a:schemeClr val="tx1"/>
                    </a:solidFill>
                    <a:effectLst/>
                    <a:latin typeface="Segoe WPC"/>
                  </a:rPr>
                  <a:t>spectral</a:t>
                </a:r>
                <a:r>
                  <a:rPr lang="es-PE" sz="900" b="0" i="0" dirty="0">
                    <a:solidFill>
                      <a:schemeClr val="tx1"/>
                    </a:solidFill>
                    <a:effectLst/>
                    <a:latin typeface="Segoe WPC"/>
                  </a:rPr>
                  <a:t> </a:t>
                </a:r>
                <a:r>
                  <a:rPr lang="es-PE" sz="900" b="0" i="0" dirty="0" err="1">
                    <a:solidFill>
                      <a:schemeClr val="tx1"/>
                    </a:solidFill>
                    <a:effectLst/>
                    <a:latin typeface="Segoe WPC"/>
                  </a:rPr>
                  <a:t>measures</a:t>
                </a:r>
                <a:r>
                  <a:rPr lang="es-PE" sz="900" b="0" i="0" dirty="0">
                    <a:solidFill>
                      <a:schemeClr val="tx1"/>
                    </a:solidFill>
                    <a:effectLst/>
                    <a:latin typeface="Segoe WPC"/>
                  </a:rPr>
                  <a:t> dan más peso a pérdidas cada vez peores.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Para medidas coherentes, </a:t>
                </a:r>
                <a14:m>
                  <m:oMath xmlns:m="http://schemas.openxmlformats.org/officeDocument/2006/math">
                    <m:r>
                      <a:rPr lang="es-PE" sz="900" i="1">
                        <a:solidFill>
                          <a:schemeClr val="tx1"/>
                        </a:solidFill>
                        <a:latin typeface="Cambria Math" panose="02040503050406030204" pitchFamily="18" charset="0"/>
                      </a:rPr>
                      <m:t>𝑤</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0">
                                <a:solidFill>
                                  <a:schemeClr val="tx1"/>
                                </a:solidFill>
                                <a:latin typeface="Cambria Math" panose="02040503050406030204" pitchFamily="18" charset="0"/>
                              </a:rPr>
                              <m:t>1</m:t>
                            </m:r>
                          </m:sub>
                        </m:sSub>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𝑤</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0">
                                <a:solidFill>
                                  <a:schemeClr val="tx1"/>
                                </a:solidFill>
                                <a:latin typeface="Cambria Math" panose="02040503050406030204" pitchFamily="18" charset="0"/>
                              </a:rPr>
                              <m:t>2</m:t>
                            </m:r>
                          </m:sub>
                        </m:sSub>
                      </m:e>
                    </m:d>
                  </m:oMath>
                </a14:m>
                <a:r>
                  <a:rPr lang="ar-AE" sz="900" b="0" i="0" dirty="0">
                    <a:solidFill>
                      <a:schemeClr val="tx1"/>
                    </a:solidFill>
                    <a:effectLst/>
                    <a:latin typeface="Segoe WPC"/>
                  </a:rPr>
                  <a:t> </a:t>
                </a:r>
                <a:r>
                  <a:rPr lang="es-PE" sz="900" b="0" i="0" dirty="0">
                    <a:solidFill>
                      <a:schemeClr val="tx1"/>
                    </a:solidFill>
                    <a:effectLst/>
                    <a:latin typeface="Segoe WPC"/>
                  </a:rPr>
                  <a:t>cuando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&gt;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0">
                            <a:solidFill>
                              <a:schemeClr val="tx1"/>
                            </a:solidFill>
                            <a:latin typeface="Cambria Math" panose="02040503050406030204" pitchFamily="18" charset="0"/>
                          </a:rPr>
                          <m:t>2</m:t>
                        </m:r>
                      </m:sub>
                    </m:sSub>
                  </m:oMath>
                </a14:m>
                <a:r>
                  <a:rPr lang="ar-AE" sz="900" b="0" i="0" dirty="0">
                    <a:solidFill>
                      <a:schemeClr val="tx1"/>
                    </a:solidFill>
                    <a:effectLst/>
                    <a:latin typeface="Segoe WPC"/>
                  </a:rPr>
                  <a:t>; </a:t>
                </a:r>
                <a:r>
                  <a:rPr lang="es-PE" sz="900" b="0" i="0" dirty="0">
                    <a:solidFill>
                      <a:schemeClr val="tx1"/>
                    </a:solidFill>
                    <a:effectLst/>
                    <a:latin typeface="Segoe WPC"/>
                  </a:rPr>
                  <a:t>ejemplo espectral: </a:t>
                </a:r>
                <a14:m>
                  <m:oMath xmlns:m="http://schemas.openxmlformats.org/officeDocument/2006/math">
                    <m:r>
                      <a:rPr lang="es-PE" sz="900" i="1">
                        <a:solidFill>
                          <a:schemeClr val="tx1"/>
                        </a:solidFill>
                        <a:latin typeface="Cambria Math" panose="02040503050406030204" pitchFamily="18" charset="0"/>
                      </a:rPr>
                      <m:t>𝑤</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𝑝</m:t>
                        </m:r>
                      </m:e>
                    </m:d>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𝛾</m:t>
                        </m:r>
                      </m:sup>
                    </m:sSup>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Cuanto menor es </a:t>
                </a:r>
                <a14:m>
                  <m:oMath xmlns:m="http://schemas.openxmlformats.org/officeDocument/2006/math">
                    <m:r>
                      <a:rPr lang="es-PE" sz="900" i="1">
                        <a:solidFill>
                          <a:schemeClr val="tx1"/>
                        </a:solidFill>
                        <a:latin typeface="Cambria Math" panose="02040503050406030204" pitchFamily="18" charset="0"/>
                      </a:rPr>
                      <m:t>𝛾</m:t>
                    </m:r>
                  </m:oMath>
                </a14:m>
                <a:r>
                  <a:rPr lang="es-PE" sz="900" b="0" i="0" dirty="0">
                    <a:solidFill>
                      <a:schemeClr val="tx1"/>
                    </a:solidFill>
                    <a:effectLst/>
                    <a:latin typeface="Segoe WPC"/>
                  </a:rPr>
                  <a:t>, mayor es la aversión al riesgo y más peso reciben los peores percentiles.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La intuición importante no es memorizar la forma exacta, sino que una medida coherente debe asignar pesos no decrecientes a percentiles más extremos.</a:t>
                </a:r>
              </a:p>
            </p:txBody>
          </p:sp>
        </mc:Choice>
        <mc:Fallback xmlns="">
          <p:sp>
            <p:nvSpPr>
              <p:cNvPr id="8" name="CuadroTexto 7">
                <a:extLst>
                  <a:ext uri="{FF2B5EF4-FFF2-40B4-BE49-F238E27FC236}">
                    <a16:creationId xmlns:a16="http://schemas.microsoft.com/office/drawing/2014/main" id="{C96E297F-72FA-98EE-FE2E-EFDE04BA365F}"/>
                  </a:ext>
                </a:extLst>
              </p:cNvPr>
              <p:cNvSpPr txBox="1">
                <a:spLocks noRot="1" noChangeAspect="1" noMove="1" noResize="1" noEditPoints="1" noAdjustHandles="1" noChangeArrowheads="1" noChangeShapeType="1" noTextEdit="1"/>
              </p:cNvSpPr>
              <p:nvPr/>
            </p:nvSpPr>
            <p:spPr>
              <a:xfrm>
                <a:off x="5509984" y="-7257"/>
                <a:ext cx="6754587" cy="7459799"/>
              </a:xfrm>
              <a:prstGeom prst="rect">
                <a:avLst/>
              </a:prstGeom>
              <a:blipFill>
                <a:blip r:embed="rId3"/>
                <a:stretch>
                  <a:fillRect r="-181"/>
                </a:stretch>
              </a:blipFill>
            </p:spPr>
            <p:txBody>
              <a:bodyPr/>
              <a:lstStyle/>
              <a:p>
                <a:r>
                  <a:rPr lang="es-PE">
                    <a:noFill/>
                  </a:rPr>
                  <a:t> </a:t>
                </a:r>
              </a:p>
            </p:txBody>
          </p:sp>
        </mc:Fallback>
      </mc:AlternateContent>
    </p:spTree>
    <p:extLst>
      <p:ext uri="{BB962C8B-B14F-4D97-AF65-F5344CB8AC3E}">
        <p14:creationId xmlns:p14="http://schemas.microsoft.com/office/powerpoint/2010/main" val="22513523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83BA6B-2537-91F9-79E1-178D75FB3775}"/>
              </a:ext>
            </a:extLst>
          </p:cNvPr>
          <p:cNvSpPr>
            <a:spLocks noGrp="1"/>
          </p:cNvSpPr>
          <p:nvPr>
            <p:ph type="title"/>
          </p:nvPr>
        </p:nvSpPr>
        <p:spPr>
          <a:xfrm>
            <a:off x="0" y="0"/>
            <a:ext cx="10515600" cy="320675"/>
          </a:xfrm>
        </p:spPr>
        <p:txBody>
          <a:bodyPr>
            <a:normAutofit fontScale="90000"/>
          </a:bodyPr>
          <a:lstStyle/>
          <a:p>
            <a:r>
              <a:rPr lang="en-US" dirty="0"/>
              <a:t>Calc. and applying </a:t>
            </a:r>
            <a:r>
              <a:rPr lang="en-US" dirty="0" err="1"/>
              <a:t>VaR</a:t>
            </a:r>
            <a:endParaRPr lang="es-PE"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DD93FCE2-B4C7-5417-5A8D-B8149413E04C}"/>
                  </a:ext>
                </a:extLst>
              </p:cNvPr>
              <p:cNvSpPr txBox="1"/>
              <p:nvPr/>
            </p:nvSpPr>
            <p:spPr>
              <a:xfrm>
                <a:off x="-29029" y="320675"/>
                <a:ext cx="6233885" cy="6553332"/>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Linear vs Non-Linear Portfolios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Diferencia entre portafolios cuyo valor cambia linealmente con los factores de riesgo y los que no.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Acciones y forwards son casi lineales; opciones y estrategias con opciones suelen ser no lineales.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un portafolio lineal, si el factor sube el doble, el valor cambia el doble; en uno no lineal, la relación se curva.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𝛥</m:t>
                    </m:r>
                    <m:r>
                      <a:rPr lang="es-PE" sz="900" i="1">
                        <a:solidFill>
                          <a:schemeClr val="tx1"/>
                        </a:solidFill>
                        <a:latin typeface="Cambria Math" panose="02040503050406030204" pitchFamily="18" charset="0"/>
                      </a:rPr>
                      <m:t>𝑃</m:t>
                    </m:r>
                    <m:r>
                      <a:rPr lang="es-PE" sz="900" i="0">
                        <a:solidFill>
                          <a:schemeClr val="tx1"/>
                        </a:solidFill>
                        <a:latin typeface="Cambria Math" panose="02040503050406030204" pitchFamily="18" charset="0"/>
                      </a:rPr>
                      <m:t>=</m:t>
                    </m:r>
                    <m:nary>
                      <m:naryPr>
                        <m:chr m:val="∑"/>
                        <m:limLoc m:val="subSup"/>
                        <m:grow m:val="on"/>
                        <m:supHide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sub>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𝛿</m:t>
                            </m:r>
                          </m:e>
                          <m:sub>
                            <m:r>
                              <a:rPr lang="ar-AE" sz="900" i="1">
                                <a:solidFill>
                                  <a:schemeClr val="tx1"/>
                                </a:solidFill>
                                <a:latin typeface="Cambria Math" panose="02040503050406030204" pitchFamily="18" charset="0"/>
                              </a:rPr>
                              <m:t>𝑖</m:t>
                            </m:r>
                          </m:sub>
                        </m:sSub>
                      </m:e>
                    </m:nary>
                    <m:r>
                      <a:rPr lang="ar-AE" sz="900" i="1">
                        <a:solidFill>
                          <a:schemeClr val="tx1"/>
                        </a:solidFill>
                        <a:latin typeface="Cambria Math" panose="02040503050406030204" pitchFamily="18" charset="0"/>
                      </a:rPr>
                      <m:t>𝛥</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 </m:t>
                    </m:r>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𝑃</m:t>
                    </m:r>
                    <m:r>
                      <a:rPr lang="ar-AE" sz="900" i="0">
                        <a:solidFill>
                          <a:schemeClr val="tx1"/>
                        </a:solidFill>
                        <a:latin typeface="Cambria Math" panose="02040503050406030204" pitchFamily="18" charset="0"/>
                      </a:rPr>
                      <m:t>=</m:t>
                    </m:r>
                    <m:nary>
                      <m:naryPr>
                        <m:chr m:val="∑"/>
                        <m:limLoc m:val="subSup"/>
                        <m:grow m:val="on"/>
                        <m:supHide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sub>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𝑞</m:t>
                            </m:r>
                          </m:e>
                          <m:sub>
                            <m:r>
                              <a:rPr lang="ar-AE" sz="900" i="1">
                                <a:solidFill>
                                  <a:schemeClr val="tx1"/>
                                </a:solidFill>
                                <a:latin typeface="Cambria Math" panose="02040503050406030204" pitchFamily="18" charset="0"/>
                              </a:rPr>
                              <m:t>𝑖</m:t>
                            </m:r>
                          </m:sub>
                        </m:sSub>
                      </m:e>
                    </m:nary>
                    <m:r>
                      <a:rPr lang="ar-AE" sz="900" i="1">
                        <a:solidFill>
                          <a:schemeClr val="tx1"/>
                        </a:solidFill>
                        <a:latin typeface="Cambria Math" panose="02040503050406030204" pitchFamily="18" charset="0"/>
                      </a:rPr>
                      <m:t>𝛥</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𝑖</m:t>
                        </m:r>
                      </m:sub>
                    </m:sSub>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Para acciones, bonos simples o forwards, delta describe bien el cambio; para opciones, solo sirve localmente.</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todo derivado es no lineal: un forward sí es lineal; una </a:t>
                </a:r>
                <a:r>
                  <a:rPr lang="es-PE" sz="900" b="0" i="0" dirty="0" err="1">
                    <a:solidFill>
                      <a:schemeClr val="tx1"/>
                    </a:solidFill>
                    <a:effectLst/>
                    <a:latin typeface="Segoe WPC"/>
                  </a:rPr>
                  <a:t>call</a:t>
                </a:r>
                <a:r>
                  <a:rPr lang="es-PE" sz="900" b="0" i="0" dirty="0">
                    <a:solidFill>
                      <a:schemeClr val="tx1"/>
                    </a:solidFill>
                    <a:effectLst/>
                    <a:latin typeface="Segoe WPC"/>
                  </a:rPr>
                  <a:t> no.</a:t>
                </a:r>
              </a:p>
              <a:p>
                <a:pPr algn="l">
                  <a:spcAft>
                    <a:spcPts val="600"/>
                  </a:spcAft>
                  <a:buNone/>
                </a:pPr>
                <a:r>
                  <a:rPr lang="es-PE" sz="900" b="1" i="0" dirty="0">
                    <a:solidFill>
                      <a:schemeClr val="tx1"/>
                    </a:solidFill>
                    <a:effectLst/>
                    <a:latin typeface="Segoe WPC"/>
                  </a:rPr>
                  <a:t>2. </a:t>
                </a:r>
                <a:r>
                  <a:rPr lang="es-PE" sz="900" b="1" i="0" dirty="0" err="1">
                    <a:solidFill>
                      <a:schemeClr val="tx1"/>
                    </a:solidFill>
                    <a:effectLst/>
                    <a:latin typeface="Segoe WPC"/>
                  </a:rPr>
                  <a:t>Historical</a:t>
                </a:r>
                <a:r>
                  <a:rPr lang="es-PE" sz="900" b="1" i="0" dirty="0">
                    <a:solidFill>
                      <a:schemeClr val="tx1"/>
                    </a:solidFill>
                    <a:effectLst/>
                    <a:latin typeface="Segoe WPC"/>
                  </a:rPr>
                  <a:t> </a:t>
                </a:r>
                <a:r>
                  <a:rPr lang="es-PE" sz="900" b="1" i="0" dirty="0" err="1">
                    <a:solidFill>
                      <a:schemeClr val="tx1"/>
                    </a:solidFill>
                    <a:effectLst/>
                    <a:latin typeface="Segoe WPC"/>
                  </a:rPr>
                  <a:t>Simulation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Método no paramétrico para calcular VaR y ES usando cambios históricos reales en los factores de riesgo.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Se asume que mañana podría parecerse a cualquiera de los días observados en el pasado.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Tomas cada día histórico como un escenario posible, revalúas el portafolio y generas una distribución de pérdidas.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VaR</m:t>
                    </m:r>
                    <m:d>
                      <m:dPr>
                        <m:sepChr m:val=","/>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𝑇</m:t>
                        </m:r>
                      </m:e>
                      <m:e>
                        <m:r>
                          <a:rPr lang="ar-AE" sz="900" b="0" i="1">
                            <a:solidFill>
                              <a:schemeClr val="tx1"/>
                            </a:solidFill>
                            <a:latin typeface="Cambria Math" panose="02040503050406030204" pitchFamily="18" charset="0"/>
                          </a:rPr>
                          <m:t>𝑋</m:t>
                        </m:r>
                      </m:e>
                    </m:d>
                    <m:r>
                      <a:rPr lang="ar-AE" sz="900" b="0" i="0">
                        <a:solidFill>
                          <a:schemeClr val="tx1"/>
                        </a:solidFill>
                        <a:latin typeface="Cambria Math" panose="02040503050406030204" pitchFamily="18" charset="0"/>
                      </a:rPr>
                      <m:t>=</m:t>
                    </m:r>
                    <m:rad>
                      <m:radPr>
                        <m:degHide m:val="on"/>
                        <m:ctrlPr>
                          <a:rPr lang="ar-AE" sz="900" b="0" i="1">
                            <a:solidFill>
                              <a:schemeClr val="tx1"/>
                            </a:solidFill>
                            <a:latin typeface="Cambria Math" panose="02040503050406030204" pitchFamily="18" charset="0"/>
                          </a:rPr>
                        </m:ctrlPr>
                      </m:radPr>
                      <m:deg/>
                      <m:e>
                        <m:r>
                          <a:rPr lang="ar-AE" sz="900" b="0" i="1">
                            <a:solidFill>
                              <a:schemeClr val="tx1"/>
                            </a:solidFill>
                            <a:latin typeface="Cambria Math" panose="02040503050406030204" pitchFamily="18" charset="0"/>
                          </a:rPr>
                          <m:t>𝑇</m:t>
                        </m:r>
                      </m:e>
                    </m:rad>
                    <m:r>
                      <m:rPr>
                        <m:nor/>
                      </m:rPr>
                      <a:rPr lang="ar-A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VaR</m:t>
                    </m:r>
                    <m:d>
                      <m:dPr>
                        <m:sepChr m:val=","/>
                        <m:ctrlPr>
                          <a:rPr lang="ar-AE" sz="900" b="0" i="1">
                            <a:solidFill>
                              <a:schemeClr val="tx1"/>
                            </a:solidFill>
                            <a:latin typeface="Cambria Math" panose="02040503050406030204" pitchFamily="18" charset="0"/>
                          </a:rPr>
                        </m:ctrlPr>
                      </m:dPr>
                      <m:e>
                        <m:r>
                          <a:rPr lang="ar-AE" sz="900" b="0" i="0">
                            <a:solidFill>
                              <a:schemeClr val="tx1"/>
                            </a:solidFill>
                            <a:latin typeface="Cambria Math" panose="02040503050406030204" pitchFamily="18" charset="0"/>
                          </a:rPr>
                          <m:t>1</m:t>
                        </m:r>
                      </m:e>
                      <m:e>
                        <m:r>
                          <a:rPr lang="ar-AE" sz="900" b="0" i="1">
                            <a:solidFill>
                              <a:schemeClr val="tx1"/>
                            </a:solidFill>
                            <a:latin typeface="Cambria Math" panose="02040503050406030204" pitchFamily="18" charset="0"/>
                          </a:rPr>
                          <m:t>𝑋</m:t>
                        </m:r>
                      </m:e>
                    </m:d>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ES</m:t>
                    </m:r>
                    <m:d>
                      <m:dPr>
                        <m:sepChr m:val=","/>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𝑇</m:t>
                        </m:r>
                      </m:e>
                      <m:e>
                        <m:r>
                          <a:rPr lang="ar-AE" sz="900" b="0" i="1">
                            <a:solidFill>
                              <a:schemeClr val="tx1"/>
                            </a:solidFill>
                            <a:latin typeface="Cambria Math" panose="02040503050406030204" pitchFamily="18" charset="0"/>
                          </a:rPr>
                          <m:t>𝑋</m:t>
                        </m:r>
                      </m:e>
                    </m:d>
                    <m:r>
                      <a:rPr lang="ar-AE" sz="900" b="0" i="0">
                        <a:solidFill>
                          <a:schemeClr val="tx1"/>
                        </a:solidFill>
                        <a:latin typeface="Cambria Math" panose="02040503050406030204" pitchFamily="18" charset="0"/>
                      </a:rPr>
                      <m:t>=</m:t>
                    </m:r>
                    <m:rad>
                      <m:radPr>
                        <m:degHide m:val="on"/>
                        <m:ctrlPr>
                          <a:rPr lang="ar-AE" sz="900" b="0" i="1">
                            <a:solidFill>
                              <a:schemeClr val="tx1"/>
                            </a:solidFill>
                            <a:latin typeface="Cambria Math" panose="02040503050406030204" pitchFamily="18" charset="0"/>
                          </a:rPr>
                        </m:ctrlPr>
                      </m:radPr>
                      <m:deg/>
                      <m:e>
                        <m:r>
                          <a:rPr lang="ar-AE" sz="900" b="0" i="1">
                            <a:solidFill>
                              <a:schemeClr val="tx1"/>
                            </a:solidFill>
                            <a:latin typeface="Cambria Math" panose="02040503050406030204" pitchFamily="18" charset="0"/>
                          </a:rPr>
                          <m:t>𝑇</m:t>
                        </m:r>
                      </m:e>
                    </m:rad>
                    <m:r>
                      <m:rPr>
                        <m:nor/>
                      </m:rPr>
                      <a:rPr lang="ar-A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ES</m:t>
                    </m:r>
                    <m:d>
                      <m:dPr>
                        <m:sepChr m:val=","/>
                        <m:ctrlPr>
                          <a:rPr lang="ar-AE" sz="900" b="0" i="1">
                            <a:solidFill>
                              <a:schemeClr val="tx1"/>
                            </a:solidFill>
                            <a:latin typeface="Cambria Math" panose="02040503050406030204" pitchFamily="18" charset="0"/>
                          </a:rPr>
                        </m:ctrlPr>
                      </m:dPr>
                      <m:e>
                        <m:r>
                          <a:rPr lang="ar-AE" sz="900" b="0" i="0">
                            <a:solidFill>
                              <a:schemeClr val="tx1"/>
                            </a:solidFill>
                            <a:latin typeface="Cambria Math" panose="02040503050406030204" pitchFamily="18" charset="0"/>
                          </a:rPr>
                          <m:t>1</m:t>
                        </m:r>
                      </m:e>
                      <m:e>
                        <m:r>
                          <a:rPr lang="ar-AE" sz="900" b="0" i="1">
                            <a:solidFill>
                              <a:schemeClr val="tx1"/>
                            </a:solidFill>
                            <a:latin typeface="Cambria Math" panose="02040503050406030204" pitchFamily="18" charset="0"/>
                          </a:rPr>
                          <m:t>𝑋</m:t>
                        </m:r>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Normalmente se calcula a 1 día y luego se escala a </a:t>
                </a:r>
                <a14:m>
                  <m:oMath xmlns:m="http://schemas.openxmlformats.org/officeDocument/2006/math">
                    <m:r>
                      <a:rPr lang="es-PE" sz="900" i="1">
                        <a:solidFill>
                          <a:schemeClr val="tx1"/>
                        </a:solidFill>
                        <a:latin typeface="Cambria Math" panose="02040503050406030204" pitchFamily="18" charset="0"/>
                      </a:rPr>
                      <m:t>𝑇</m:t>
                    </m:r>
                  </m:oMath>
                </a14:m>
                <a:r>
                  <a:rPr lang="es-PE" sz="900" b="0" i="0" dirty="0">
                    <a:solidFill>
                      <a:schemeClr val="tx1"/>
                    </a:solidFill>
                    <a:effectLst/>
                    <a:latin typeface="Segoe WPC"/>
                  </a:rPr>
                  <a:t> días con la regla de raíz de tiempo.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Esa regla supone cambios diarios independientes y aproximadamente normales con media cero.</a:t>
                </a:r>
              </a:p>
              <a:p>
                <a:pPr algn="l">
                  <a:spcAft>
                    <a:spcPts val="600"/>
                  </a:spcAft>
                  <a:buNone/>
                </a:pPr>
                <a:r>
                  <a:rPr lang="es-PE" sz="900" b="1" i="0" dirty="0">
                    <a:solidFill>
                      <a:schemeClr val="tx1"/>
                    </a:solidFill>
                    <a:effectLst/>
                    <a:latin typeface="Segoe WPC"/>
                  </a:rPr>
                  <a:t>3. </a:t>
                </a:r>
                <a:r>
                  <a:rPr lang="es-PE" sz="900" b="1" i="0" dirty="0" err="1">
                    <a:solidFill>
                      <a:schemeClr val="tx1"/>
                    </a:solidFill>
                    <a:effectLst/>
                    <a:latin typeface="Segoe WPC"/>
                  </a:rPr>
                  <a:t>Building</a:t>
                </a:r>
                <a:r>
                  <a:rPr lang="es-PE" sz="900" b="1" i="0" dirty="0">
                    <a:solidFill>
                      <a:schemeClr val="tx1"/>
                    </a:solidFill>
                    <a:effectLst/>
                    <a:latin typeface="Segoe WPC"/>
                  </a:rPr>
                  <a:t> </a:t>
                </a:r>
                <a:r>
                  <a:rPr lang="es-PE" sz="900" b="1" i="0" dirty="0" err="1">
                    <a:solidFill>
                      <a:schemeClr val="tx1"/>
                    </a:solidFill>
                    <a:effectLst/>
                    <a:latin typeface="Segoe WPC"/>
                  </a:rPr>
                  <a:t>Historical</a:t>
                </a:r>
                <a:r>
                  <a:rPr lang="es-PE" sz="900" b="1" i="0" dirty="0">
                    <a:solidFill>
                      <a:schemeClr val="tx1"/>
                    </a:solidFill>
                    <a:effectLst/>
                    <a:latin typeface="Segoe WPC"/>
                  </a:rPr>
                  <a:t> </a:t>
                </a:r>
                <a:r>
                  <a:rPr lang="es-PE" sz="900" b="1" i="0" dirty="0" err="1">
                    <a:solidFill>
                      <a:schemeClr val="tx1"/>
                    </a:solidFill>
                    <a:effectLst/>
                    <a:latin typeface="Segoe WPC"/>
                  </a:rPr>
                  <a:t>Scenarios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Construcción práctica de escenarios a partir de datos pasados de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factors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Para cada día histórico copias el patrón de cambio de todos los factores al día de hoy.</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una acción subió 4% en cierto día histórico, en un escenario asumes que mañana sube 4%; si una tasa subió 2 bps, mañana sube 2 bps.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Para factores proporcionales: </a:t>
                </a:r>
                <a14:m>
                  <m:oMath xmlns:m="http://schemas.openxmlformats.org/officeDocument/2006/math">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𝑘</m:t>
                            </m:r>
                          </m:e>
                        </m:d>
                      </m:sup>
                    </m:sSubSup>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𝑡</m:t>
                        </m:r>
                      </m:sub>
                    </m:sSub>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𝛥</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𝑘</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𝑘</m:t>
                                </m:r>
                              </m:sub>
                            </m:sSub>
                          </m:den>
                        </m:f>
                      </m:e>
                    </m:d>
                  </m:oMath>
                </a14:m>
                <a:r>
                  <a:rPr lang="ar-AE" sz="900" b="0" i="0" dirty="0">
                    <a:solidFill>
                      <a:schemeClr val="tx1"/>
                    </a:solidFill>
                    <a:effectLst/>
                    <a:latin typeface="Segoe WPC"/>
                  </a:rPr>
                  <a:t>; </a:t>
                </a:r>
                <a:r>
                  <a:rPr lang="es-PE" sz="900" b="0" i="0" dirty="0">
                    <a:solidFill>
                      <a:schemeClr val="tx1"/>
                    </a:solidFill>
                    <a:effectLst/>
                    <a:latin typeface="Segoe WPC"/>
                  </a:rPr>
                  <a:t>para factores absolutos: </a:t>
                </a:r>
                <a14:m>
                  <m:oMath xmlns:m="http://schemas.openxmlformats.org/officeDocument/2006/math">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𝑘</m:t>
                            </m:r>
                          </m:e>
                        </m:d>
                      </m:sup>
                    </m:sSubSup>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𝛥</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𝑘</m:t>
                        </m:r>
                      </m:sub>
                    </m:sSub>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Acciones y FX suelen moverse por cambios porcentuales; tasas y spreads, por cambios absolutos.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mezcles cambios proporcionales con cambios absolutos; esa distinción es central.</a:t>
                </a:r>
              </a:p>
              <a:p>
                <a:pPr algn="l">
                  <a:spcAft>
                    <a:spcPts val="600"/>
                  </a:spcAft>
                  <a:buNone/>
                </a:pPr>
                <a:r>
                  <a:rPr lang="es-PE" sz="900" b="1" i="0" dirty="0">
                    <a:solidFill>
                      <a:schemeClr val="tx1"/>
                    </a:solidFill>
                    <a:effectLst/>
                    <a:latin typeface="Segoe WPC"/>
                  </a:rPr>
                  <a:t>4. </a:t>
                </a:r>
                <a:r>
                  <a:rPr lang="es-PE" sz="900" b="1" i="0" dirty="0" err="1">
                    <a:solidFill>
                      <a:schemeClr val="tx1"/>
                    </a:solidFill>
                    <a:effectLst/>
                    <a:latin typeface="Segoe WPC"/>
                  </a:rPr>
                  <a:t>From</a:t>
                </a:r>
                <a:r>
                  <a:rPr lang="es-PE" sz="900" b="1" i="0" dirty="0">
                    <a:solidFill>
                      <a:schemeClr val="tx1"/>
                    </a:solidFill>
                    <a:effectLst/>
                    <a:latin typeface="Segoe WPC"/>
                  </a:rPr>
                  <a:t> </a:t>
                </a:r>
                <a:r>
                  <a:rPr lang="es-PE" sz="900" b="1" i="0" dirty="0" err="1">
                    <a:solidFill>
                      <a:schemeClr val="tx1"/>
                    </a:solidFill>
                    <a:effectLst/>
                    <a:latin typeface="Segoe WPC"/>
                  </a:rPr>
                  <a:t>Scenarios</a:t>
                </a:r>
                <a:r>
                  <a:rPr lang="es-PE" sz="900" b="1" i="0" dirty="0">
                    <a:solidFill>
                      <a:schemeClr val="tx1"/>
                    </a:solidFill>
                    <a:effectLst/>
                    <a:latin typeface="Segoe WPC"/>
                  </a:rPr>
                  <a:t> </a:t>
                </a:r>
                <a:r>
                  <a:rPr lang="es-PE" sz="900" b="1" i="0" dirty="0" err="1">
                    <a:solidFill>
                      <a:schemeClr val="tx1"/>
                    </a:solidFill>
                    <a:effectLst/>
                    <a:latin typeface="Segoe WPC"/>
                  </a:rPr>
                  <a:t>to</a:t>
                </a:r>
                <a:r>
                  <a:rPr lang="es-PE" sz="900" b="1" i="0" dirty="0">
                    <a:solidFill>
                      <a:schemeClr val="tx1"/>
                    </a:solidFill>
                    <a:effectLst/>
                    <a:latin typeface="Segoe WPC"/>
                  </a:rPr>
                  <a:t> VaR and 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Obtención de la distribución de pérdidas revaluando el portafolio en cada escenario.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Revalúas, calculas pérdidas, ordenas de peor a mejor y lees VaR y ES en la cola.</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peor pérdida queda arriba de la lista; el VaR al 99% es la pérdida que marca el 1% peor de escenarios.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Loss</m:t>
                    </m:r>
                    <m:r>
                      <a:rPr lang="es-P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𝑉</m:t>
                        </m:r>
                      </m:e>
                      <m:sub>
                        <m:r>
                          <a:rPr lang="ar-AE" sz="900" b="0" i="0">
                            <a:solidFill>
                              <a:schemeClr val="tx1"/>
                            </a:solidFill>
                            <a:latin typeface="Cambria Math" panose="02040503050406030204" pitchFamily="18" charset="0"/>
                          </a:rPr>
                          <m:t>0</m:t>
                        </m:r>
                      </m:sub>
                    </m:sSub>
                    <m:r>
                      <a:rPr lang="ar-AE" sz="900" b="0" i="0">
                        <a:solidFill>
                          <a:schemeClr val="tx1"/>
                        </a:solidFill>
                        <a:latin typeface="Cambria Math" panose="02040503050406030204" pitchFamily="18" charset="0"/>
                      </a:rPr>
                      <m:t>−</m:t>
                    </m:r>
                    <m:sSup>
                      <m:sSupPr>
                        <m:ctrlPr>
                          <a:rPr lang="ar-AE" sz="900" b="0" i="1">
                            <a:solidFill>
                              <a:schemeClr val="tx1"/>
                            </a:solidFill>
                            <a:latin typeface="Cambria Math" panose="02040503050406030204" pitchFamily="18" charset="0"/>
                          </a:rPr>
                        </m:ctrlPr>
                      </m:sSupPr>
                      <m:e>
                        <m:r>
                          <a:rPr lang="ar-AE" sz="900" b="0" i="1">
                            <a:solidFill>
                              <a:schemeClr val="tx1"/>
                            </a:solidFill>
                            <a:latin typeface="Cambria Math" panose="02040503050406030204" pitchFamily="18" charset="0"/>
                          </a:rPr>
                          <m:t>𝑉</m:t>
                        </m:r>
                      </m:e>
                      <m:sup>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𝑘</m:t>
                            </m:r>
                          </m:e>
                        </m:d>
                      </m:sup>
                    </m:sSup>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ES</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average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of</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losses</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worse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than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VaR</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Con 500 escenarios, el VaR al 99% suele ser la quinta peor pérdida porque </a:t>
                </a:r>
                <a14:m>
                  <m:oMath xmlns:m="http://schemas.openxmlformats.org/officeDocument/2006/math">
                    <m:r>
                      <a:rPr lang="es-PE" sz="900">
                        <a:solidFill>
                          <a:schemeClr val="tx1"/>
                        </a:solidFill>
                        <a:latin typeface="Cambria Math" panose="02040503050406030204" pitchFamily="18" charset="0"/>
                      </a:rPr>
                      <m:t>5</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500</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1</m:t>
                    </m:r>
                    <m:r>
                      <a:rPr lang="es-PE" sz="900" i="0">
                        <a:solidFill>
                          <a:schemeClr val="tx1"/>
                        </a:solidFill>
                        <a:latin typeface="Cambria Math" panose="02040503050406030204" pitchFamily="18" charset="0"/>
                      </a:rPr>
                      <m:t>%</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Las ganancias se registran como pérdidas negativas para construir la </a:t>
                </a:r>
                <a:r>
                  <a:rPr lang="es-PE" sz="900" b="0" i="0" dirty="0" err="1">
                    <a:solidFill>
                      <a:schemeClr val="tx1"/>
                    </a:solidFill>
                    <a:effectLst/>
                    <a:latin typeface="Segoe WPC"/>
                  </a:rPr>
                  <a:t>loss</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5. Full </a:t>
                </a:r>
                <a:r>
                  <a:rPr lang="es-PE" sz="900" b="1" i="0" dirty="0" err="1">
                    <a:solidFill>
                      <a:schemeClr val="tx1"/>
                    </a:solidFill>
                    <a:effectLst/>
                    <a:latin typeface="Segoe WPC"/>
                  </a:rPr>
                  <a:t>Revaluation</a:t>
                </a:r>
                <a:r>
                  <a:rPr lang="es-PE" sz="900" b="1" i="0" dirty="0">
                    <a:solidFill>
                      <a:schemeClr val="tx1"/>
                    </a:solidFill>
                    <a:effectLst/>
                    <a:latin typeface="Segoe WPC"/>
                  </a:rPr>
                  <a:t> vs Delta-Gamma </a:t>
                </a:r>
                <a:r>
                  <a:rPr lang="es-PE" sz="900" b="1" i="0" dirty="0" err="1">
                    <a:solidFill>
                      <a:schemeClr val="tx1"/>
                    </a:solidFill>
                    <a:effectLst/>
                    <a:latin typeface="Segoe WPC"/>
                  </a:rPr>
                  <a:t>Approximation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Formas de acelerar la valoración del portafolio bajo cada escenario.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Revalorar todo exacto es lento; usar sensibilidades es más rápido.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Delta da la pendiente local; gamma corrige la curvatura.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𝛥</m:t>
                    </m:r>
                    <m:r>
                      <a:rPr lang="es-PE" sz="900" i="1">
                        <a:solidFill>
                          <a:schemeClr val="tx1"/>
                        </a:solidFill>
                        <a:latin typeface="Cambria Math" panose="02040503050406030204" pitchFamily="18" charset="0"/>
                      </a:rPr>
                      <m:t>𝑃</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𝛿𝛥</m:t>
                    </m:r>
                    <m:r>
                      <a:rPr lang="es-PE" sz="900" i="1">
                        <a:solidFill>
                          <a:schemeClr val="tx1"/>
                        </a:solidFill>
                        <a:latin typeface="Cambria Math" panose="02040503050406030204" pitchFamily="18" charset="0"/>
                      </a:rPr>
                      <m:t>𝑆</m:t>
                    </m:r>
                  </m:oMath>
                </a14:m>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 </m:t>
                    </m:r>
                    <m:r>
                      <a:rPr lang="es-PE" sz="900" i="1">
                        <a:solidFill>
                          <a:schemeClr val="tx1"/>
                        </a:solidFill>
                        <a:latin typeface="Cambria Math" panose="02040503050406030204" pitchFamily="18" charset="0"/>
                      </a:rPr>
                      <m:t>𝛥</m:t>
                    </m:r>
                    <m:r>
                      <a:rPr lang="es-PE" sz="900" i="1">
                        <a:solidFill>
                          <a:schemeClr val="tx1"/>
                        </a:solidFill>
                        <a:latin typeface="Cambria Math" panose="02040503050406030204" pitchFamily="18" charset="0"/>
                      </a:rPr>
                      <m:t>𝑃</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𝛿𝛥</m:t>
                    </m:r>
                    <m:r>
                      <a:rPr lang="es-PE" sz="900" i="1">
                        <a:solidFill>
                          <a:schemeClr val="tx1"/>
                        </a:solidFill>
                        <a:latin typeface="Cambria Math" panose="02040503050406030204" pitchFamily="18" charset="0"/>
                      </a:rPr>
                      <m:t>𝑆</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0">
                            <a:solidFill>
                              <a:schemeClr val="tx1"/>
                            </a:solidFill>
                            <a:latin typeface="Cambria Math" panose="02040503050406030204" pitchFamily="18" charset="0"/>
                          </a:rPr>
                          <m:t>2</m:t>
                        </m:r>
                      </m:den>
                    </m:f>
                    <m:r>
                      <a:rPr lang="ar-AE" sz="900" i="1">
                        <a:solidFill>
                          <a:schemeClr val="tx1"/>
                        </a:solidFill>
                        <a:latin typeface="Cambria Math" panose="02040503050406030204" pitchFamily="18" charset="0"/>
                      </a:rPr>
                      <m:t>𝛾</m:t>
                    </m:r>
                    <m:d>
                      <m:dPr>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𝑆</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Delta es exacto para portafolios lineales; para no lineales, agregar gamma mejora mucho la aproximación.</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Si el portafolio depende de varios factores, puede haber </a:t>
                </a:r>
                <a:r>
                  <a:rPr lang="es-PE" sz="900" b="0" i="0" dirty="0" err="1">
                    <a:solidFill>
                      <a:schemeClr val="tx1"/>
                    </a:solidFill>
                    <a:effectLst/>
                    <a:latin typeface="Segoe WPC"/>
                  </a:rPr>
                  <a:t>cross</a:t>
                </a:r>
                <a:r>
                  <a:rPr lang="es-PE" sz="900" b="0" i="0" dirty="0">
                    <a:solidFill>
                      <a:schemeClr val="tx1"/>
                    </a:solidFill>
                    <a:effectLst/>
                    <a:latin typeface="Segoe WPC"/>
                  </a:rPr>
                  <a:t>-gammas; no siempre basta con sumar gammas simples.</a:t>
                </a:r>
              </a:p>
            </p:txBody>
          </p:sp>
        </mc:Choice>
        <mc:Fallback xmlns="">
          <p:sp>
            <p:nvSpPr>
              <p:cNvPr id="7" name="CuadroTexto 6">
                <a:extLst>
                  <a:ext uri="{FF2B5EF4-FFF2-40B4-BE49-F238E27FC236}">
                    <a16:creationId xmlns:a16="http://schemas.microsoft.com/office/drawing/2014/main" id="{DD93FCE2-B4C7-5417-5A8D-B8149413E04C}"/>
                  </a:ext>
                </a:extLst>
              </p:cNvPr>
              <p:cNvSpPr txBox="1">
                <a:spLocks noRot="1" noChangeAspect="1" noMove="1" noResize="1" noEditPoints="1" noAdjustHandles="1" noChangeArrowheads="1" noChangeShapeType="1" noTextEdit="1"/>
              </p:cNvSpPr>
              <p:nvPr/>
            </p:nvSpPr>
            <p:spPr>
              <a:xfrm>
                <a:off x="-29029" y="320675"/>
                <a:ext cx="6233885" cy="6553332"/>
              </a:xfrm>
              <a:prstGeom prst="rect">
                <a:avLst/>
              </a:prstGeom>
              <a:blipFill>
                <a:blip r:embed="rId2"/>
                <a:stretch>
                  <a:fillRect b="-930"/>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F9561481-39CF-F9D5-EBED-14B66FE91FFF}"/>
                  </a:ext>
                </a:extLst>
              </p:cNvPr>
              <p:cNvSpPr txBox="1"/>
              <p:nvPr/>
            </p:nvSpPr>
            <p:spPr>
              <a:xfrm>
                <a:off x="5965371" y="-78339"/>
                <a:ext cx="6320971" cy="8301953"/>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6. </a:t>
                </a:r>
                <a:r>
                  <a:rPr lang="es-PE" sz="900" b="1" i="0" dirty="0" err="1">
                    <a:solidFill>
                      <a:schemeClr val="tx1"/>
                    </a:solidFill>
                    <a:effectLst/>
                    <a:latin typeface="Segoe WPC"/>
                  </a:rPr>
                  <a:t>Term</a:t>
                </a:r>
                <a:r>
                  <a:rPr lang="es-PE" sz="900" b="1" i="0" dirty="0">
                    <a:solidFill>
                      <a:schemeClr val="tx1"/>
                    </a:solidFill>
                    <a:effectLst/>
                    <a:latin typeface="Segoe WPC"/>
                  </a:rPr>
                  <a:t> </a:t>
                </a:r>
                <a:r>
                  <a:rPr lang="es-PE" sz="900" b="1" i="0" dirty="0" err="1">
                    <a:solidFill>
                      <a:schemeClr val="tx1"/>
                    </a:solidFill>
                    <a:effectLst/>
                    <a:latin typeface="Segoe WPC"/>
                  </a:rPr>
                  <a:t>Structures</a:t>
                </a:r>
                <a:r>
                  <a:rPr lang="es-PE" sz="900" b="1" i="0" dirty="0">
                    <a:solidFill>
                      <a:schemeClr val="tx1"/>
                    </a:solidFill>
                    <a:effectLst/>
                    <a:latin typeface="Segoe WPC"/>
                  </a:rPr>
                  <a:t> as </a:t>
                </a:r>
                <a:r>
                  <a:rPr lang="es-PE" sz="900" b="1" i="0" dirty="0" err="1">
                    <a:solidFill>
                      <a:schemeClr val="tx1"/>
                    </a:solidFill>
                    <a:effectLst/>
                    <a:latin typeface="Segoe WPC"/>
                  </a:rPr>
                  <a:t>Risk</a:t>
                </a:r>
                <a:r>
                  <a:rPr lang="es-PE" sz="900" b="1" i="0" dirty="0">
                    <a:solidFill>
                      <a:schemeClr val="tx1"/>
                    </a:solidFill>
                    <a:effectLst/>
                    <a:latin typeface="Segoe WPC"/>
                  </a:rPr>
                  <a:t> </a:t>
                </a:r>
                <a:r>
                  <a:rPr lang="es-PE" sz="900" b="1" i="0" dirty="0" err="1">
                    <a:solidFill>
                      <a:schemeClr val="tx1"/>
                    </a:solidFill>
                    <a:effectLst/>
                    <a:latin typeface="Segoe WPC"/>
                  </a:rPr>
                  <a:t>Factors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Factores de riesgo definidos por toda una curva, como tasas, spreads o volatilidades implícitas.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No basta un solo número; necesitas varios nodos de la curva y luego interpolar.</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conoces la tasa a 6 meses y 1 año, estimas la de 9 meses por interpolación lineal.</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intermediate</m:t>
                    </m:r>
                    <m:r>
                      <m:rPr>
                        <m:nor/>
                      </m:rPr>
                      <a:rPr lang="es-PE" sz="900" b="0">
                        <a:solidFill>
                          <a:schemeClr val="tx1"/>
                        </a:solidFill>
                      </a:rPr>
                      <m:t> </m:t>
                    </m:r>
                    <m:r>
                      <m:rPr>
                        <m:nor/>
                      </m:rPr>
                      <a:rPr lang="es-PE" sz="900" b="0">
                        <a:solidFill>
                          <a:schemeClr val="tx1"/>
                        </a:solidFill>
                      </a:rPr>
                      <m:t>point</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linear</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interpolation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between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nodes</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En simulación histórica, si dos nodos cambian, los puntos intermedios cambian en proporción.</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Las curvas suelen asumirse horizontales fuera del rango de nodos extremos.</a:t>
                </a:r>
              </a:p>
              <a:p>
                <a:pPr algn="l">
                  <a:spcAft>
                    <a:spcPts val="600"/>
                  </a:spcAft>
                  <a:buNone/>
                </a:pPr>
                <a:r>
                  <a:rPr lang="es-PE" sz="900" b="1" i="0" dirty="0">
                    <a:solidFill>
                      <a:schemeClr val="tx1"/>
                    </a:solidFill>
                    <a:effectLst/>
                    <a:latin typeface="Segoe WPC"/>
                  </a:rPr>
                  <a:t>7. </a:t>
                </a:r>
                <a:r>
                  <a:rPr lang="es-PE" sz="900" b="1" i="0" dirty="0" err="1">
                    <a:solidFill>
                      <a:schemeClr val="tx1"/>
                    </a:solidFill>
                    <a:effectLst/>
                    <a:latin typeface="Segoe WPC"/>
                  </a:rPr>
                  <a:t>Stressed</a:t>
                </a:r>
                <a:r>
                  <a:rPr lang="es-PE" sz="900" b="1" i="0" dirty="0">
                    <a:solidFill>
                      <a:schemeClr val="tx1"/>
                    </a:solidFill>
                    <a:effectLst/>
                    <a:latin typeface="Segoe WPC"/>
                  </a:rPr>
                  <a:t> VaR and </a:t>
                </a:r>
                <a:r>
                  <a:rPr lang="es-PE" sz="900" b="1" i="0" dirty="0" err="1">
                    <a:solidFill>
                      <a:schemeClr val="tx1"/>
                    </a:solidFill>
                    <a:effectLst/>
                    <a:latin typeface="Segoe WPC"/>
                  </a:rPr>
                  <a:t>Stressed</a:t>
                </a:r>
                <a:r>
                  <a:rPr lang="es-PE" sz="900" b="1" i="0" dirty="0">
                    <a:solidFill>
                      <a:schemeClr val="tx1"/>
                    </a:solidFill>
                    <a:effectLst/>
                    <a:latin typeface="Segoe WPC"/>
                  </a:rPr>
                  <a:t> 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Versiones de VaR y ES calculadas con datos de un período históricamente estresado.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vez de usar una ventana reciente “normal”, usas un año pasado parecido a una crisis relevante para el portafolio actual.</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tu portafolio sufriría en una crisis tipo 2008, generas escenarios usando cambios observados en ese período.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Mismo procedimiento que </a:t>
                </a:r>
                <a:r>
                  <a:rPr lang="es-PE" sz="900" b="0" i="0" dirty="0" err="1">
                    <a:solidFill>
                      <a:schemeClr val="tx1"/>
                    </a:solidFill>
                    <a:effectLst/>
                    <a:latin typeface="Segoe WPC"/>
                  </a:rPr>
                  <a:t>historical</a:t>
                </a:r>
                <a:r>
                  <a:rPr lang="es-PE" sz="900" b="0" i="0" dirty="0">
                    <a:solidFill>
                      <a:schemeClr val="tx1"/>
                    </a:solidFill>
                    <a:effectLst/>
                    <a:latin typeface="Segoe WPC"/>
                  </a:rPr>
                  <a:t> </a:t>
                </a:r>
                <a:r>
                  <a:rPr lang="es-PE" sz="900" b="0" i="0" dirty="0" err="1">
                    <a:solidFill>
                      <a:schemeClr val="tx1"/>
                    </a:solidFill>
                    <a:effectLst/>
                    <a:latin typeface="Segoe WPC"/>
                  </a:rPr>
                  <a:t>simulation</a:t>
                </a:r>
                <a:r>
                  <a:rPr lang="es-PE" sz="900" b="0" i="0" dirty="0">
                    <a:solidFill>
                      <a:schemeClr val="tx1"/>
                    </a:solidFill>
                    <a:effectLst/>
                    <a:latin typeface="Segoe WPC"/>
                  </a:rPr>
                  <a:t>, pero con datos de una ventana estresada.</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 lógica es estimar pérdidas bajo condiciones severas y no solo bajo mercados normales.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cambia el método, cambia la muestra histórica usada para crear escenarios.</a:t>
                </a:r>
              </a:p>
              <a:p>
                <a:pPr algn="l">
                  <a:spcAft>
                    <a:spcPts val="600"/>
                  </a:spcAft>
                  <a:buNone/>
                </a:pPr>
                <a:r>
                  <a:rPr lang="es-PE" sz="900" b="1" i="0" dirty="0">
                    <a:solidFill>
                      <a:schemeClr val="tx1"/>
                    </a:solidFill>
                    <a:effectLst/>
                    <a:latin typeface="Segoe WPC"/>
                  </a:rPr>
                  <a:t>8. Delta-Normal </a:t>
                </a:r>
                <a:r>
                  <a:rPr lang="es-PE" sz="900" b="1" i="0" dirty="0" err="1">
                    <a:solidFill>
                      <a:schemeClr val="tx1"/>
                    </a:solidFill>
                    <a:effectLst/>
                    <a:latin typeface="Segoe WPC"/>
                  </a:rPr>
                  <a:t>Model</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Método paramétrico que aproxima el cambio del portafolio linealmente y asume normalidad.</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el portafolio es lineal y los factores son normales, entonces el cambio del portafolio también es normal.</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Con deltas, medias, volatilidades y correlaciones de factores, construyes la volatilidad del portafolio y de ahí el VaR.</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𝛥</m:t>
                    </m:r>
                    <m:r>
                      <a:rPr lang="es-PE" sz="900" i="1">
                        <a:solidFill>
                          <a:schemeClr val="tx1"/>
                        </a:solidFill>
                        <a:latin typeface="Cambria Math" panose="02040503050406030204" pitchFamily="18" charset="0"/>
                      </a:rPr>
                      <m:t>𝑃</m:t>
                    </m:r>
                    <m:r>
                      <a:rPr lang="es-PE" sz="900" i="0">
                        <a:solidFill>
                          <a:schemeClr val="tx1"/>
                        </a:solidFill>
                        <a:latin typeface="Cambria Math" panose="02040503050406030204" pitchFamily="18" charset="0"/>
                      </a:rPr>
                      <m:t>=</m:t>
                    </m:r>
                    <m:nary>
                      <m:naryPr>
                        <m:chr m:val="∑"/>
                        <m:limLoc m:val="subSup"/>
                        <m:grow m:val="on"/>
                        <m:supHide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sub>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𝑎</m:t>
                            </m:r>
                          </m:e>
                          <m:sub>
                            <m:r>
                              <a:rPr lang="ar-AE" sz="900" i="1">
                                <a:solidFill>
                                  <a:schemeClr val="tx1"/>
                                </a:solidFill>
                                <a:latin typeface="Cambria Math" panose="02040503050406030204" pitchFamily="18" charset="0"/>
                              </a:rPr>
                              <m:t>𝑖</m:t>
                            </m:r>
                          </m:sub>
                        </m:sSub>
                      </m:e>
                    </m:nary>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 </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1">
                            <a:solidFill>
                              <a:schemeClr val="tx1"/>
                            </a:solidFill>
                            <a:latin typeface="Cambria Math" panose="02040503050406030204" pitchFamily="18" charset="0"/>
                          </a:rPr>
                          <m:t>𝑃</m:t>
                        </m:r>
                      </m:sub>
                    </m:sSub>
                    <m:r>
                      <a:rPr lang="ar-AE" sz="900" i="0">
                        <a:solidFill>
                          <a:schemeClr val="tx1"/>
                        </a:solidFill>
                        <a:latin typeface="Cambria Math" panose="02040503050406030204" pitchFamily="18" charset="0"/>
                      </a:rPr>
                      <m:t>=</m:t>
                    </m:r>
                    <m:nary>
                      <m:naryPr>
                        <m:chr m:val="∑"/>
                        <m:limLoc m:val="subSup"/>
                        <m:grow m:val="on"/>
                        <m:supHide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sub>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𝑎</m:t>
                            </m:r>
                          </m:e>
                          <m:sub>
                            <m:r>
                              <a:rPr lang="ar-AE" sz="900" i="1">
                                <a:solidFill>
                                  <a:schemeClr val="tx1"/>
                                </a:solidFill>
                                <a:latin typeface="Cambria Math" panose="02040503050406030204" pitchFamily="18" charset="0"/>
                              </a:rPr>
                              <m:t>𝑖</m:t>
                            </m:r>
                          </m:sub>
                        </m:sSub>
                      </m:e>
                    </m:nary>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𝜇</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Luego, si </a:t>
                </a:r>
                <a14:m>
                  <m:oMath xmlns:m="http://schemas.openxmlformats.org/officeDocument/2006/math">
                    <m:r>
                      <a:rPr lang="es-PE" sz="900" i="1">
                        <a:solidFill>
                          <a:schemeClr val="tx1"/>
                        </a:solidFill>
                        <a:latin typeface="Cambria Math" panose="02040503050406030204" pitchFamily="18" charset="0"/>
                      </a:rPr>
                      <m:t>𝛥</m:t>
                    </m:r>
                    <m:r>
                      <a:rPr lang="es-PE" sz="900" i="1">
                        <a:solidFill>
                          <a:schemeClr val="tx1"/>
                        </a:solidFill>
                        <a:latin typeface="Cambria Math" panose="02040503050406030204" pitchFamily="18" charset="0"/>
                      </a:rPr>
                      <m:t>𝑃</m:t>
                    </m:r>
                  </m:oMath>
                </a14:m>
                <a:r>
                  <a:rPr lang="es-PE" sz="900" b="0" i="0" dirty="0">
                    <a:solidFill>
                      <a:schemeClr val="tx1"/>
                    </a:solidFill>
                    <a:effectLst/>
                    <a:latin typeface="Segoe WPC"/>
                  </a:rPr>
                  <a:t> es normal, </a:t>
                </a:r>
                <a14:m>
                  <m:oMath xmlns:m="http://schemas.openxmlformats.org/officeDocument/2006/math">
                    <m:r>
                      <m:rPr>
                        <m:nor/>
                      </m:rPr>
                      <a:rPr lang="es-PE" sz="900" b="0">
                        <a:solidFill>
                          <a:schemeClr val="tx1"/>
                        </a:solidFill>
                      </a:rPr>
                      <m:t>VaR</m:t>
                    </m:r>
                    <m:r>
                      <a:rPr lang="es-P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𝜇</m:t>
                        </m:r>
                      </m:e>
                      <m:sub>
                        <m:r>
                          <a:rPr lang="ar-AE" sz="900" b="0" i="1">
                            <a:solidFill>
                              <a:schemeClr val="tx1"/>
                            </a:solidFill>
                            <a:latin typeface="Cambria Math" panose="02040503050406030204" pitchFamily="18" charset="0"/>
                          </a:rPr>
                          <m:t>𝑃</m:t>
                        </m:r>
                      </m:sub>
                    </m:sSub>
                    <m:r>
                      <a:rPr lang="ar-A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𝜎</m:t>
                        </m:r>
                      </m:e>
                      <m:sub>
                        <m:r>
                          <a:rPr lang="ar-AE" sz="900" b="0" i="1">
                            <a:solidFill>
                              <a:schemeClr val="tx1"/>
                            </a:solidFill>
                            <a:latin typeface="Cambria Math" panose="02040503050406030204" pitchFamily="18" charset="0"/>
                          </a:rPr>
                          <m:t>𝑃</m:t>
                        </m:r>
                      </m:sub>
                    </m:sSub>
                    <m:r>
                      <a:rPr lang="ar-AE" sz="900" b="0" i="1">
                        <a:solidFill>
                          <a:schemeClr val="tx1"/>
                        </a:solidFill>
                        <a:latin typeface="Cambria Math" panose="02040503050406030204" pitchFamily="18" charset="0"/>
                      </a:rPr>
                      <m:t>𝑈</m:t>
                    </m:r>
                  </m:oMath>
                </a14:m>
                <a:r>
                  <a:rPr lang="ar-AE" sz="900" b="0" i="0" dirty="0">
                    <a:solidFill>
                      <a:schemeClr val="tx1"/>
                    </a:solidFill>
                    <a:effectLst/>
                    <a:latin typeface="Segoe WPC"/>
                  </a:rPr>
                  <a:t> </a:t>
                </a:r>
                <a:r>
                  <a:rPr lang="es-PE" sz="900" b="0" i="0" dirty="0">
                    <a:solidFill>
                      <a:schemeClr val="tx1"/>
                    </a:solidFill>
                    <a:effectLst/>
                    <a:latin typeface="Segoe WPC"/>
                  </a:rPr>
                  <a:t>y ES sale de la fórmula normal cerrada.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Si se asume media cero, el VaR se simplifica, pero no olvides que eso es una aproximación de corto plazo.</a:t>
                </a:r>
              </a:p>
              <a:p>
                <a:pPr algn="l">
                  <a:spcAft>
                    <a:spcPts val="600"/>
                  </a:spcAft>
                  <a:buNone/>
                </a:pPr>
                <a:r>
                  <a:rPr lang="es-PE" sz="900" b="1" i="0" dirty="0">
                    <a:solidFill>
                      <a:schemeClr val="tx1"/>
                    </a:solidFill>
                    <a:effectLst/>
                    <a:latin typeface="Segoe WPC"/>
                  </a:rPr>
                  <a:t>9. Delta-Normal </a:t>
                </a:r>
                <a:r>
                  <a:rPr lang="es-PE" sz="900" b="1" i="0" dirty="0" err="1">
                    <a:solidFill>
                      <a:schemeClr val="tx1"/>
                    </a:solidFill>
                    <a:effectLst/>
                    <a:latin typeface="Segoe WPC"/>
                  </a:rPr>
                  <a:t>for</a:t>
                </a:r>
                <a:r>
                  <a:rPr lang="es-PE" sz="900" b="1" i="0" dirty="0">
                    <a:solidFill>
                      <a:schemeClr val="tx1"/>
                    </a:solidFill>
                    <a:effectLst/>
                    <a:latin typeface="Segoe WPC"/>
                  </a:rPr>
                  <a:t> Derivatives and </a:t>
                </a:r>
                <a:r>
                  <a:rPr lang="es-PE" sz="900" b="1" i="0" dirty="0" err="1">
                    <a:solidFill>
                      <a:schemeClr val="tx1"/>
                    </a:solidFill>
                    <a:effectLst/>
                    <a:latin typeface="Segoe WPC"/>
                  </a:rPr>
                  <a:t>Its</a:t>
                </a:r>
                <a:r>
                  <a:rPr lang="es-PE" sz="900" b="1" i="0" dirty="0">
                    <a:solidFill>
                      <a:schemeClr val="tx1"/>
                    </a:solidFill>
                    <a:effectLst/>
                    <a:latin typeface="Segoe WPC"/>
                  </a:rPr>
                  <a:t> </a:t>
                </a:r>
                <a:r>
                  <a:rPr lang="es-PE" sz="900" b="1" i="0" dirty="0" err="1">
                    <a:solidFill>
                      <a:schemeClr val="tx1"/>
                    </a:solidFill>
                    <a:effectLst/>
                    <a:latin typeface="Segoe WPC"/>
                  </a:rPr>
                  <a:t>Limits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Uso del delta-normal en portafolios con opciones y otros productos no lineales.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Puede usarse, pero pierde precisión cuando la curvatura importa mucho.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opciones at-</a:t>
                </a:r>
                <a:r>
                  <a:rPr lang="es-PE" sz="900" b="0" i="0" dirty="0" err="1">
                    <a:solidFill>
                      <a:schemeClr val="tx1"/>
                    </a:solidFill>
                    <a:effectLst/>
                    <a:latin typeface="Segoe WPC"/>
                  </a:rPr>
                  <a:t>the</a:t>
                </a:r>
                <a:r>
                  <a:rPr lang="es-PE" sz="900" b="0" i="0" dirty="0">
                    <a:solidFill>
                      <a:schemeClr val="tx1"/>
                    </a:solidFill>
                    <a:effectLst/>
                    <a:latin typeface="Segoe WPC"/>
                  </a:rPr>
                  <a:t>-</a:t>
                </a:r>
                <a:r>
                  <a:rPr lang="es-PE" sz="900" b="0" i="0" dirty="0" err="1">
                    <a:solidFill>
                      <a:schemeClr val="tx1"/>
                    </a:solidFill>
                    <a:effectLst/>
                    <a:latin typeface="Segoe WPC"/>
                  </a:rPr>
                  <a:t>money</a:t>
                </a:r>
                <a:r>
                  <a:rPr lang="es-PE" sz="900" b="0" i="0" dirty="0">
                    <a:solidFill>
                      <a:schemeClr val="tx1"/>
                    </a:solidFill>
                    <a:effectLst/>
                    <a:latin typeface="Segoe WPC"/>
                  </a:rPr>
                  <a:t> la gamma es alta, así que una recta local describe mal el cambio real del precio.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Error de linealización aumenta con </a:t>
                </a:r>
                <a14:m>
                  <m:oMath xmlns:m="http://schemas.openxmlformats.org/officeDocument/2006/math">
                    <m:r>
                      <a:rPr lang="es-PE" sz="900" i="1">
                        <a:solidFill>
                          <a:schemeClr val="tx1"/>
                        </a:solidFill>
                        <a:latin typeface="Cambria Math" panose="02040503050406030204" pitchFamily="18" charset="0"/>
                      </a:rPr>
                      <m:t>𝛾</m:t>
                    </m:r>
                  </m:oMath>
                </a14:m>
                <a:r>
                  <a:rPr lang="es-PE" sz="900" b="0" i="0" dirty="0">
                    <a:solidFill>
                      <a:schemeClr val="tx1"/>
                    </a:solidFill>
                    <a:effectLst/>
                    <a:latin typeface="Segoe WPC"/>
                  </a:rPr>
                  <a:t> porque </a:t>
                </a:r>
                <a14:m>
                  <m:oMath xmlns:m="http://schemas.openxmlformats.org/officeDocument/2006/math">
                    <m:r>
                      <a:rPr lang="es-PE" sz="900" i="1">
                        <a:solidFill>
                          <a:schemeClr val="tx1"/>
                        </a:solidFill>
                        <a:latin typeface="Cambria Math" panose="02040503050406030204" pitchFamily="18" charset="0"/>
                      </a:rPr>
                      <m:t>𝛥</m:t>
                    </m:r>
                    <m:r>
                      <a:rPr lang="es-PE" sz="900" i="1">
                        <a:solidFill>
                          <a:schemeClr val="tx1"/>
                        </a:solidFill>
                        <a:latin typeface="Cambria Math" panose="02040503050406030204" pitchFamily="18" charset="0"/>
                      </a:rPr>
                      <m:t>𝑃</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𝛿𝛥</m:t>
                    </m:r>
                    <m:r>
                      <a:rPr lang="es-PE" sz="900" i="1">
                        <a:solidFill>
                          <a:schemeClr val="tx1"/>
                        </a:solidFill>
                        <a:latin typeface="Cambria Math" panose="02040503050406030204" pitchFamily="18" charset="0"/>
                      </a:rPr>
                      <m:t>𝑆</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0">
                            <a:solidFill>
                              <a:schemeClr val="tx1"/>
                            </a:solidFill>
                            <a:latin typeface="Cambria Math" panose="02040503050406030204" pitchFamily="18" charset="0"/>
                          </a:rPr>
                          <m:t>2</m:t>
                        </m:r>
                      </m:den>
                    </m:f>
                    <m:r>
                      <a:rPr lang="ar-AE" sz="900" i="1">
                        <a:solidFill>
                          <a:schemeClr val="tx1"/>
                        </a:solidFill>
                        <a:latin typeface="Cambria Math" panose="02040503050406030204" pitchFamily="18" charset="0"/>
                      </a:rPr>
                      <m:t>𝛾</m:t>
                    </m:r>
                    <m:d>
                      <m:dPr>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𝑆</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El modelo funciona mejor para opciones </a:t>
                </a:r>
                <a:r>
                  <a:rPr lang="es-PE" sz="900" b="0" i="0" dirty="0" err="1">
                    <a:solidFill>
                      <a:schemeClr val="tx1"/>
                    </a:solidFill>
                    <a:effectLst/>
                    <a:latin typeface="Segoe WPC"/>
                  </a:rPr>
                  <a:t>deep</a:t>
                </a:r>
                <a:r>
                  <a:rPr lang="es-PE" sz="900" b="0" i="0" dirty="0">
                    <a:solidFill>
                      <a:schemeClr val="tx1"/>
                    </a:solidFill>
                    <a:effectLst/>
                    <a:latin typeface="Segoe WPC"/>
                  </a:rPr>
                  <a:t> </a:t>
                </a:r>
                <a:r>
                  <a:rPr lang="es-PE" sz="900" b="0" i="0" dirty="0" err="1">
                    <a:solidFill>
                      <a:schemeClr val="tx1"/>
                    </a:solidFill>
                    <a:effectLst/>
                    <a:latin typeface="Segoe WPC"/>
                  </a:rPr>
                  <a:t>in-the-money</a:t>
                </a:r>
                <a:r>
                  <a:rPr lang="es-PE" sz="900" b="0" i="0" dirty="0">
                    <a:solidFill>
                      <a:schemeClr val="tx1"/>
                    </a:solidFill>
                    <a:effectLst/>
                    <a:latin typeface="Segoe WPC"/>
                  </a:rPr>
                  <a:t> o posiciones casi lineales; peor para posiciones con fuerte convexidad como </a:t>
                </a:r>
                <a:r>
                  <a:rPr lang="es-PE" sz="900" b="0" i="0" dirty="0" err="1">
                    <a:solidFill>
                      <a:schemeClr val="tx1"/>
                    </a:solidFill>
                    <a:effectLst/>
                    <a:latin typeface="Segoe WPC"/>
                  </a:rPr>
                  <a:t>butterflies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Para una </a:t>
                </a:r>
                <a:r>
                  <a:rPr lang="es-PE" sz="900" b="0" i="0" dirty="0" err="1">
                    <a:solidFill>
                      <a:schemeClr val="tx1"/>
                    </a:solidFill>
                    <a:effectLst/>
                    <a:latin typeface="Segoe WPC"/>
                  </a:rPr>
                  <a:t>call</a:t>
                </a:r>
                <a:r>
                  <a:rPr lang="es-PE" sz="900" b="0" i="0" dirty="0">
                    <a:solidFill>
                      <a:schemeClr val="tx1"/>
                    </a:solidFill>
                    <a:effectLst/>
                    <a:latin typeface="Segoe WPC"/>
                  </a:rPr>
                  <a:t> larga, el delta-normal tiende a sobrestimar VaR y ES; para una </a:t>
                </a:r>
                <a:r>
                  <a:rPr lang="es-PE" sz="900" b="0" i="0" dirty="0" err="1">
                    <a:solidFill>
                      <a:schemeClr val="tx1"/>
                    </a:solidFill>
                    <a:effectLst/>
                    <a:latin typeface="Segoe WPC"/>
                  </a:rPr>
                  <a:t>call</a:t>
                </a:r>
                <a:r>
                  <a:rPr lang="es-PE" sz="900" b="0" i="0" dirty="0">
                    <a:solidFill>
                      <a:schemeClr val="tx1"/>
                    </a:solidFill>
                    <a:effectLst/>
                    <a:latin typeface="Segoe WPC"/>
                  </a:rPr>
                  <a:t> corta, tiende a subestimarlos.</a:t>
                </a:r>
              </a:p>
              <a:p>
                <a:pPr algn="l">
                  <a:spcAft>
                    <a:spcPts val="600"/>
                  </a:spcAft>
                  <a:buNone/>
                </a:pPr>
                <a:r>
                  <a:rPr lang="es-PE" sz="900" b="1" i="0" dirty="0">
                    <a:solidFill>
                      <a:schemeClr val="tx1"/>
                    </a:solidFill>
                    <a:effectLst/>
                    <a:latin typeface="Segoe WPC"/>
                  </a:rPr>
                  <a:t>10. Monte Carlo </a:t>
                </a:r>
                <a:r>
                  <a:rPr lang="es-PE" sz="900" b="1" i="0" dirty="0" err="1">
                    <a:solidFill>
                      <a:schemeClr val="tx1"/>
                    </a:solidFill>
                    <a:effectLst/>
                    <a:latin typeface="Segoe WPC"/>
                  </a:rPr>
                  <a:t>Simulation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Método que genera escenarios aleatorios a partir de distribuciones asumidas para los factores de riesgo.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vez de copiar la historia, inventas muchos futuros posibles muestreando de un modelo estadístico.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Simulas cambios conjuntos de factores, revalúas el portafolio miles de veces y obtienes la distribución de pérdidas.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Repetir: </a:t>
                </a:r>
                <a:r>
                  <a:rPr lang="es-PE" sz="900" b="0" i="0" dirty="0" err="1">
                    <a:solidFill>
                      <a:schemeClr val="tx1"/>
                    </a:solidFill>
                    <a:effectLst/>
                    <a:latin typeface="Segoe WPC"/>
                  </a:rPr>
                  <a:t>samplear</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𝛥</m:t>
                    </m:r>
                    <m:r>
                      <a:rPr lang="es-PE" sz="900" i="1">
                        <a:solidFill>
                          <a:schemeClr val="tx1"/>
                        </a:solidFill>
                        <a:latin typeface="Cambria Math" panose="02040503050406030204" pitchFamily="18" charset="0"/>
                      </a:rPr>
                      <m:t>𝑥</m:t>
                    </m:r>
                  </m:oMath>
                </a14:m>
                <a:r>
                  <a:rPr lang="es-PE" sz="900" b="0" i="0" dirty="0">
                    <a:solidFill>
                      <a:schemeClr val="tx1"/>
                    </a:solidFill>
                    <a:effectLst/>
                    <a:latin typeface="Segoe WPC"/>
                  </a:rPr>
                  <a:t>, construir factores futuros, revaluar, calcular </a:t>
                </a:r>
                <a14:m>
                  <m:oMath xmlns:m="http://schemas.openxmlformats.org/officeDocument/2006/math">
                    <m:r>
                      <m:rPr>
                        <m:nor/>
                      </m:rPr>
                      <a:rPr lang="es-PE" sz="900" b="0">
                        <a:solidFill>
                          <a:schemeClr val="tx1"/>
                        </a:solidFill>
                      </a:rPr>
                      <m:t>Loss</m:t>
                    </m:r>
                    <m:r>
                      <a:rPr lang="es-P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𝑉</m:t>
                        </m:r>
                      </m:e>
                      <m:sub>
                        <m:r>
                          <a:rPr lang="ar-AE" sz="900" b="0" i="0">
                            <a:solidFill>
                              <a:schemeClr val="tx1"/>
                            </a:solidFill>
                            <a:latin typeface="Cambria Math" panose="02040503050406030204" pitchFamily="18" charset="0"/>
                          </a:rPr>
                          <m:t>0</m:t>
                        </m:r>
                      </m:sub>
                    </m:sSub>
                    <m:r>
                      <a:rPr lang="ar-A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𝑉</m:t>
                        </m:r>
                      </m:e>
                      <m:sub>
                        <m:r>
                          <a:rPr lang="ar-AE" sz="900" b="0" i="1">
                            <a:solidFill>
                              <a:schemeClr val="tx1"/>
                            </a:solidFill>
                            <a:latin typeface="Cambria Math" panose="02040503050406030204" pitchFamily="18" charset="0"/>
                          </a:rPr>
                          <m:t>𝑇</m:t>
                        </m:r>
                      </m:sub>
                    </m:sSub>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Es flexible, sirve para portafolios lineales y no lineales, y permite usar distribuciones no normales.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Su gran debilidad es el costo computacional, especialmente con full </a:t>
                </a:r>
                <a:r>
                  <a:rPr lang="es-PE" sz="900" b="0" i="0" dirty="0" err="1">
                    <a:solidFill>
                      <a:schemeClr val="tx1"/>
                    </a:solidFill>
                    <a:effectLst/>
                    <a:latin typeface="Segoe WPC"/>
                  </a:rPr>
                  <a:t>revaluation</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11. </a:t>
                </a:r>
                <a:r>
                  <a:rPr lang="es-PE" sz="900" b="1" i="0" dirty="0" err="1">
                    <a:solidFill>
                      <a:schemeClr val="tx1"/>
                    </a:solidFill>
                    <a:effectLst/>
                    <a:latin typeface="Segoe WPC"/>
                  </a:rPr>
                  <a:t>Correlation</a:t>
                </a:r>
                <a:r>
                  <a:rPr lang="es-PE" sz="900" b="1" i="0" dirty="0">
                    <a:solidFill>
                      <a:schemeClr val="tx1"/>
                    </a:solidFill>
                    <a:effectLst/>
                    <a:latin typeface="Segoe WPC"/>
                  </a:rPr>
                  <a:t> </a:t>
                </a:r>
                <a:r>
                  <a:rPr lang="es-PE" sz="900" b="1" i="0" dirty="0" err="1">
                    <a:solidFill>
                      <a:schemeClr val="tx1"/>
                    </a:solidFill>
                    <a:effectLst/>
                    <a:latin typeface="Segoe WPC"/>
                  </a:rPr>
                  <a:t>Breakdown</a:t>
                </a:r>
                <a:r>
                  <a:rPr lang="es-PE" sz="900" b="1" i="0" dirty="0">
                    <a:solidFill>
                      <a:schemeClr val="tx1"/>
                    </a:solidFill>
                    <a:effectLst/>
                    <a:latin typeface="Segoe WPC"/>
                  </a:rPr>
                  <a:t> and </a:t>
                </a:r>
                <a:r>
                  <a:rPr lang="es-PE" sz="900" b="1" i="0" dirty="0" err="1">
                    <a:solidFill>
                      <a:schemeClr val="tx1"/>
                    </a:solidFill>
                    <a:effectLst/>
                    <a:latin typeface="Segoe WPC"/>
                  </a:rPr>
                  <a:t>Worst</a:t>
                </a:r>
                <a:r>
                  <a:rPr lang="es-PE" sz="900" b="1" i="0" dirty="0">
                    <a:solidFill>
                      <a:schemeClr val="tx1"/>
                    </a:solidFill>
                    <a:effectLst/>
                    <a:latin typeface="Segoe WPC"/>
                  </a:rPr>
                  <a:t>-Case </a:t>
                </a:r>
                <a:r>
                  <a:rPr lang="es-PE" sz="900" b="1" i="0" dirty="0" err="1">
                    <a:solidFill>
                      <a:schemeClr val="tx1"/>
                    </a:solidFill>
                    <a:effectLst/>
                    <a:latin typeface="Segoe WPC"/>
                  </a:rPr>
                  <a:t>Analysis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Riesgo de que las correlaciones cambien en estrés y análisis de resultados extremos repetidos.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crisis, los activos tienden a moverse más juntos, por lo que la diversificación se reduce justo cuando más la necesitas.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 que parecía una cartera diversificada en tiempos normales puede comportarse casi como una sola posición en estrés.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hay una fórmula única; la idea clave es que </a:t>
                </a:r>
                <a14:m>
                  <m:oMath xmlns:m="http://schemas.openxmlformats.org/officeDocument/2006/math">
                    <m:r>
                      <a:rPr lang="es-PE" sz="900" i="1">
                        <a:solidFill>
                          <a:schemeClr val="tx1"/>
                        </a:solidFill>
                        <a:latin typeface="Cambria Math" panose="02040503050406030204" pitchFamily="18" charset="0"/>
                      </a:rPr>
                      <m:t>𝜌</m:t>
                    </m:r>
                  </m:oMath>
                </a14:m>
                <a:r>
                  <a:rPr lang="es-PE" sz="900" b="0" i="0" dirty="0">
                    <a:solidFill>
                      <a:schemeClr val="tx1"/>
                    </a:solidFill>
                    <a:effectLst/>
                    <a:latin typeface="Segoe WPC"/>
                  </a:rPr>
                  <a:t> en estrés puede ser mucho mayor que </a:t>
                </a:r>
                <a14:m>
                  <m:oMath xmlns:m="http://schemas.openxmlformats.org/officeDocument/2006/math">
                    <m:r>
                      <a:rPr lang="es-PE" sz="900" i="1">
                        <a:solidFill>
                          <a:schemeClr val="tx1"/>
                        </a:solidFill>
                        <a:latin typeface="Cambria Math" panose="02040503050406030204" pitchFamily="18" charset="0"/>
                      </a:rPr>
                      <m:t>𝜌</m:t>
                    </m:r>
                  </m:oMath>
                </a14:m>
                <a:r>
                  <a:rPr lang="es-PE" sz="900" b="0" i="0" dirty="0">
                    <a:solidFill>
                      <a:schemeClr val="tx1"/>
                    </a:solidFill>
                    <a:effectLst/>
                    <a:latin typeface="Segoe WPC"/>
                  </a:rPr>
                  <a:t> en tiempos normales.</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VaR y ES deben usar correlaciones coherentes con escenarios extremos; </a:t>
                </a:r>
                <a:r>
                  <a:rPr lang="es-PE" sz="900" b="0" i="0" dirty="0" err="1">
                    <a:solidFill>
                      <a:schemeClr val="tx1"/>
                    </a:solidFill>
                    <a:effectLst/>
                    <a:latin typeface="Segoe WPC"/>
                  </a:rPr>
                  <a:t>worst</a:t>
                </a:r>
                <a:r>
                  <a:rPr lang="es-PE" sz="900" b="0" i="0" dirty="0">
                    <a:solidFill>
                      <a:schemeClr val="tx1"/>
                    </a:solidFill>
                    <a:effectLst/>
                    <a:latin typeface="Segoe WPC"/>
                  </a:rPr>
                  <a:t>-case </a:t>
                </a:r>
                <a:r>
                  <a:rPr lang="es-PE" sz="900" b="0" i="0" dirty="0" err="1">
                    <a:solidFill>
                      <a:schemeClr val="tx1"/>
                    </a:solidFill>
                    <a:effectLst/>
                    <a:latin typeface="Segoe WPC"/>
                  </a:rPr>
                  <a:t>analysis</a:t>
                </a:r>
                <a:r>
                  <a:rPr lang="es-PE" sz="900" b="0" i="0" dirty="0">
                    <a:solidFill>
                      <a:schemeClr val="tx1"/>
                    </a:solidFill>
                    <a:effectLst/>
                    <a:latin typeface="Segoe WPC"/>
                  </a:rPr>
                  <a:t> estudia el peor resultado dentro de muchas repeticiones, pero suele ser demasiado pesimista para reemplazar VaR o ES.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“Todas las correlaciones van a uno” es una exageración, pero captura la intuición de </a:t>
                </a:r>
                <a:r>
                  <a:rPr lang="es-PE" sz="900" b="0" i="0" dirty="0" err="1">
                    <a:solidFill>
                      <a:schemeClr val="tx1"/>
                    </a:solidFill>
                    <a:effectLst/>
                    <a:latin typeface="Segoe WPC"/>
                  </a:rPr>
                  <a:t>correlation</a:t>
                </a:r>
                <a:r>
                  <a:rPr lang="es-PE" sz="900" b="0" i="0" dirty="0">
                    <a:solidFill>
                      <a:schemeClr val="tx1"/>
                    </a:solidFill>
                    <a:effectLst/>
                    <a:latin typeface="Segoe WPC"/>
                  </a:rPr>
                  <a:t> </a:t>
                </a:r>
                <a:r>
                  <a:rPr lang="es-PE" sz="900" b="0" i="0" dirty="0" err="1">
                    <a:solidFill>
                      <a:schemeClr val="tx1"/>
                    </a:solidFill>
                    <a:effectLst/>
                    <a:latin typeface="Segoe WPC"/>
                  </a:rPr>
                  <a:t>breakdown</a:t>
                </a:r>
                <a:r>
                  <a:rPr lang="es-PE" sz="900" b="0" i="0" dirty="0">
                    <a:solidFill>
                      <a:schemeClr val="tx1"/>
                    </a:solidFill>
                    <a:effectLst/>
                    <a:latin typeface="Segoe WPC"/>
                  </a:rPr>
                  <a:t>.</a:t>
                </a:r>
              </a:p>
            </p:txBody>
          </p:sp>
        </mc:Choice>
        <mc:Fallback xmlns="">
          <p:sp>
            <p:nvSpPr>
              <p:cNvPr id="9" name="CuadroTexto 8">
                <a:extLst>
                  <a:ext uri="{FF2B5EF4-FFF2-40B4-BE49-F238E27FC236}">
                    <a16:creationId xmlns:a16="http://schemas.microsoft.com/office/drawing/2014/main" id="{F9561481-39CF-F9D5-EBED-14B66FE91FFF}"/>
                  </a:ext>
                </a:extLst>
              </p:cNvPr>
              <p:cNvSpPr txBox="1">
                <a:spLocks noRot="1" noChangeAspect="1" noMove="1" noResize="1" noEditPoints="1" noAdjustHandles="1" noChangeArrowheads="1" noChangeShapeType="1" noTextEdit="1"/>
              </p:cNvSpPr>
              <p:nvPr/>
            </p:nvSpPr>
            <p:spPr>
              <a:xfrm>
                <a:off x="5965371" y="-78339"/>
                <a:ext cx="6320971" cy="8301953"/>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39843673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DD250C-9278-69E7-DF55-5BB17CEB188E}"/>
              </a:ext>
            </a:extLst>
          </p:cNvPr>
          <p:cNvSpPr>
            <a:spLocks noGrp="1"/>
          </p:cNvSpPr>
          <p:nvPr>
            <p:ph type="title"/>
          </p:nvPr>
        </p:nvSpPr>
        <p:spPr>
          <a:xfrm>
            <a:off x="0" y="-82210"/>
            <a:ext cx="10515600" cy="481354"/>
          </a:xfrm>
        </p:spPr>
        <p:txBody>
          <a:bodyPr>
            <a:noAutofit/>
          </a:bodyPr>
          <a:lstStyle/>
          <a:p>
            <a:r>
              <a:rPr lang="es-PE" sz="2400" dirty="0" err="1"/>
              <a:t>Measuring</a:t>
            </a:r>
            <a:r>
              <a:rPr lang="es-PE" sz="2400" dirty="0"/>
              <a:t> and </a:t>
            </a:r>
            <a:r>
              <a:rPr lang="es-PE" sz="2400" dirty="0" err="1"/>
              <a:t>Monitoring</a:t>
            </a:r>
            <a:r>
              <a:rPr lang="es-PE" sz="2400" dirty="0"/>
              <a:t> </a:t>
            </a:r>
            <a:r>
              <a:rPr lang="es-PE" sz="2400" dirty="0" err="1"/>
              <a:t>Volatility</a:t>
            </a:r>
            <a:endParaRPr lang="es-PE" sz="14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DE4C2B9A-80E8-ABF9-97E8-76C37C323D74}"/>
                  </a:ext>
                </a:extLst>
              </p:cNvPr>
              <p:cNvSpPr txBox="1"/>
              <p:nvPr/>
            </p:nvSpPr>
            <p:spPr>
              <a:xfrm>
                <a:off x="-65314" y="268514"/>
                <a:ext cx="5929085" cy="7722499"/>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a:t>
                </a:r>
                <a:r>
                  <a:rPr lang="es-PE" sz="900" b="1" i="0" dirty="0" err="1">
                    <a:solidFill>
                      <a:schemeClr val="tx1"/>
                    </a:solidFill>
                    <a:effectLst/>
                    <a:latin typeface="Segoe WPC"/>
                  </a:rPr>
                  <a:t>Why</a:t>
                </a:r>
                <a:r>
                  <a:rPr lang="es-PE" sz="900" b="1" i="0" dirty="0">
                    <a:solidFill>
                      <a:schemeClr val="tx1"/>
                    </a:solidFill>
                    <a:effectLst/>
                    <a:latin typeface="Segoe WPC"/>
                  </a:rPr>
                  <a:t> </a:t>
                </a:r>
                <a:r>
                  <a:rPr lang="es-PE" sz="900" b="1" i="0" dirty="0" err="1">
                    <a:solidFill>
                      <a:schemeClr val="tx1"/>
                    </a:solidFill>
                    <a:effectLst/>
                    <a:latin typeface="Segoe WPC"/>
                  </a:rPr>
                  <a:t>Volatility</a:t>
                </a:r>
                <a:r>
                  <a:rPr lang="es-PE" sz="900" b="1" i="0" dirty="0">
                    <a:solidFill>
                      <a:schemeClr val="tx1"/>
                    </a:solidFill>
                    <a:effectLst/>
                    <a:latin typeface="Segoe WPC"/>
                  </a:rPr>
                  <a:t> </a:t>
                </a:r>
                <a:r>
                  <a:rPr lang="es-PE" sz="900" b="1" i="0" dirty="0" err="1">
                    <a:solidFill>
                      <a:schemeClr val="tx1"/>
                    </a:solidFill>
                    <a:effectLst/>
                    <a:latin typeface="Segoe WPC"/>
                  </a:rPr>
                  <a:t>Matters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La volatilidad como variable clave para medir riesgo de mercado.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la volatilidad cambia con el tiempo, asumirla constante subestima o sobreestima el riesgo real.</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períodos tranquilos los retornos diarios son pequeños; en estrés aparecen movimientos mucho más grandes.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𝜎</m:t>
                    </m:r>
                    <m:r>
                      <a:rPr lang="es-PE" sz="90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desviaci</m:t>
                    </m:r>
                    <m:limUpp>
                      <m:limUppPr>
                        <m:ctrlPr>
                          <a:rPr lang="ar-AE" sz="900" b="0" i="1">
                            <a:solidFill>
                              <a:schemeClr val="tx1"/>
                            </a:solidFill>
                            <a:latin typeface="Cambria Math" panose="02040503050406030204" pitchFamily="18" charset="0"/>
                          </a:rPr>
                        </m:ctrlPr>
                      </m:limUppPr>
                      <m:e>
                        <m:r>
                          <m:rPr>
                            <m:nor/>
                          </m:rPr>
                          <a:rPr lang="es-PE" sz="900" b="0" i="1">
                            <a:solidFill>
                              <a:schemeClr val="tx1"/>
                            </a:solidFill>
                            <a:latin typeface="Cambria Math" panose="02040503050406030204" pitchFamily="18" charset="0"/>
                          </a:rPr>
                          <m:t>o</m:t>
                        </m:r>
                      </m:e>
                      <m:lim>
                        <m:r>
                          <a:rPr lang="ar-AE" sz="900" b="0" i="0">
                            <a:solidFill>
                              <a:schemeClr val="tx1"/>
                            </a:solidFill>
                            <a:latin typeface="Cambria Math" panose="02040503050406030204" pitchFamily="18" charset="0"/>
                          </a:rPr>
                          <m:t>ˊ</m:t>
                        </m:r>
                      </m:lim>
                    </m:limUpp>
                    <m:r>
                      <m:rPr>
                        <m:nor/>
                      </m:rPr>
                      <a:rPr lang="es-PE" sz="900" b="0" i="1">
                        <a:solidFill>
                          <a:schemeClr val="tx1"/>
                        </a:solidFill>
                        <a:latin typeface="Cambria Math" panose="02040503050406030204" pitchFamily="18" charset="0"/>
                      </a:rPr>
                      <m:t>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est</m:t>
                    </m:r>
                    <m:limUpp>
                      <m:limUppPr>
                        <m:ctrlPr>
                          <a:rPr lang="ar-AE" sz="900" b="0" i="1">
                            <a:solidFill>
                              <a:schemeClr val="tx1"/>
                            </a:solidFill>
                            <a:latin typeface="Cambria Math" panose="02040503050406030204" pitchFamily="18" charset="0"/>
                          </a:rPr>
                        </m:ctrlPr>
                      </m:limUppPr>
                      <m:e>
                        <m:r>
                          <m:rPr>
                            <m:nor/>
                          </m:rPr>
                          <a:rPr lang="es-PE" sz="900" b="0" i="1">
                            <a:solidFill>
                              <a:schemeClr val="tx1"/>
                            </a:solidFill>
                            <a:latin typeface="Cambria Math" panose="02040503050406030204" pitchFamily="18" charset="0"/>
                          </a:rPr>
                          <m:t>a</m:t>
                        </m:r>
                      </m:e>
                      <m:lim>
                        <m:r>
                          <a:rPr lang="ar-AE" sz="900" b="0" i="0">
                            <a:solidFill>
                              <a:schemeClr val="tx1"/>
                            </a:solidFill>
                            <a:latin typeface="Cambria Math" panose="02040503050406030204" pitchFamily="18" charset="0"/>
                          </a:rPr>
                          <m:t>ˊ</m:t>
                        </m:r>
                      </m:lim>
                    </m:limUpp>
                    <m:r>
                      <m:rPr>
                        <m:nor/>
                      </m:rPr>
                      <a:rPr lang="es-PE" sz="900" b="0" i="1">
                        <a:solidFill>
                          <a:schemeClr val="tx1"/>
                        </a:solidFill>
                        <a:latin typeface="Cambria Math" panose="02040503050406030204" pitchFamily="18" charset="0"/>
                      </a:rPr>
                      <m:t>ndar</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diaria</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de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los</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retornos</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VaR y ES dependen mucho de las colas de la distribución, por eso modelar bien la volatilidad es central.</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El problema no es solo que los retornos no sean normales; muchas veces la “no normalidad” viene de volatilidad cambiante.</a:t>
                </a:r>
              </a:p>
              <a:p>
                <a:pPr algn="l">
                  <a:spcAft>
                    <a:spcPts val="600"/>
                  </a:spcAft>
                  <a:buNone/>
                </a:pPr>
                <a:r>
                  <a:rPr lang="es-PE" sz="900" b="1" i="0" dirty="0">
                    <a:solidFill>
                      <a:schemeClr val="tx1"/>
                    </a:solidFill>
                    <a:effectLst/>
                    <a:latin typeface="Segoe WPC"/>
                  </a:rPr>
                  <a:t>2. </a:t>
                </a:r>
                <a:r>
                  <a:rPr lang="es-PE" sz="900" b="1" i="0" dirty="0" err="1">
                    <a:solidFill>
                      <a:schemeClr val="tx1"/>
                    </a:solidFill>
                    <a:effectLst/>
                    <a:latin typeface="Segoe WPC"/>
                  </a:rPr>
                  <a:t>Sources</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Non-</a:t>
                </a:r>
                <a:r>
                  <a:rPr lang="es-PE" sz="900" b="1" i="0" dirty="0" err="1">
                    <a:solidFill>
                      <a:schemeClr val="tx1"/>
                    </a:solidFill>
                    <a:effectLst/>
                    <a:latin typeface="Segoe WPC"/>
                  </a:rPr>
                  <a:t>Normality</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Formas en que los retornos se desvían de la normalidad.</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Una distribución puede diferir de la normal por colas gordas, asimetría o parámetros que cambian en el tiempo.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a veces el mercado está calmado y a veces agitado, juntar ambos regímenes produce una distribución más extrema que una normal simple.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Mezcla: </a:t>
                </a:r>
                <a14:m>
                  <m:oMath xmlns:m="http://schemas.openxmlformats.org/officeDocument/2006/math">
                    <m:r>
                      <a:rPr lang="es-PE" sz="900" i="1">
                        <a:solidFill>
                          <a:schemeClr val="tx1"/>
                        </a:solidFill>
                        <a:latin typeface="Cambria Math" panose="02040503050406030204" pitchFamily="18" charset="0"/>
                      </a:rPr>
                      <m:t>𝑓</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𝑥</m:t>
                        </m:r>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5</m:t>
                    </m:r>
                    <m:r>
                      <m:rPr>
                        <m:nor/>
                      </m:rPr>
                      <a:rPr lang="ar-AE" sz="900" b="0" i="1">
                        <a:solidFill>
                          <a:schemeClr val="tx1"/>
                        </a:solidFill>
                        <a:latin typeface="Cambria Math" panose="02040503050406030204" pitchFamily="18" charset="0"/>
                      </a:rPr>
                      <m:t> </m:t>
                    </m:r>
                    <m:r>
                      <a:rPr lang="ar-AE" sz="900" b="0" i="1">
                        <a:solidFill>
                          <a:schemeClr val="tx1"/>
                        </a:solidFill>
                        <a:latin typeface="Cambria Math" panose="02040503050406030204" pitchFamily="18" charset="0"/>
                      </a:rPr>
                      <m:t>𝜙</m:t>
                    </m:r>
                    <m:d>
                      <m:dPr>
                        <m:sepChr m:val=";"/>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𝑥</m:t>
                        </m:r>
                      </m:e>
                      <m:e>
                        <m:r>
                          <a:rPr lang="ar-AE" sz="900" b="0" i="0">
                            <a:solidFill>
                              <a:schemeClr val="tx1"/>
                            </a:solidFill>
                            <a:latin typeface="Cambria Math" panose="02040503050406030204" pitchFamily="18" charset="0"/>
                          </a:rPr>
                          <m:t>0</m:t>
                        </m:r>
                      </m:e>
                      <m:e>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𝜎</m:t>
                            </m:r>
                          </m:e>
                          <m:sub>
                            <m:r>
                              <a:rPr lang="ar-AE" sz="900" b="0" i="0">
                                <a:solidFill>
                                  <a:schemeClr val="tx1"/>
                                </a:solidFill>
                                <a:latin typeface="Cambria Math" panose="02040503050406030204" pitchFamily="18" charset="0"/>
                              </a:rPr>
                              <m:t>1</m:t>
                            </m:r>
                          </m:sub>
                        </m:sSub>
                      </m:e>
                    </m:d>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0</m:t>
                    </m:r>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5</m:t>
                    </m:r>
                    <m:r>
                      <m:rPr>
                        <m:nor/>
                      </m:rPr>
                      <a:rPr lang="ar-AE" sz="900" b="0" i="1">
                        <a:solidFill>
                          <a:schemeClr val="tx1"/>
                        </a:solidFill>
                        <a:latin typeface="Cambria Math" panose="02040503050406030204" pitchFamily="18" charset="0"/>
                      </a:rPr>
                      <m:t> </m:t>
                    </m:r>
                    <m:r>
                      <a:rPr lang="ar-AE" sz="900" b="0" i="1">
                        <a:solidFill>
                          <a:schemeClr val="tx1"/>
                        </a:solidFill>
                        <a:latin typeface="Cambria Math" panose="02040503050406030204" pitchFamily="18" charset="0"/>
                      </a:rPr>
                      <m:t>𝜙</m:t>
                    </m:r>
                    <m:d>
                      <m:dPr>
                        <m:sepChr m:val=";"/>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𝑥</m:t>
                        </m:r>
                      </m:e>
                      <m:e>
                        <m:r>
                          <a:rPr lang="ar-AE" sz="900" b="0" i="0">
                            <a:solidFill>
                              <a:schemeClr val="tx1"/>
                            </a:solidFill>
                            <a:latin typeface="Cambria Math" panose="02040503050406030204" pitchFamily="18" charset="0"/>
                          </a:rPr>
                          <m:t>0</m:t>
                        </m:r>
                      </m:e>
                      <m:e>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𝜎</m:t>
                            </m:r>
                          </m:e>
                          <m:sub>
                            <m:r>
                              <a:rPr lang="ar-AE" sz="900" b="0" i="0">
                                <a:solidFill>
                                  <a:schemeClr val="tx1"/>
                                </a:solidFill>
                                <a:latin typeface="Cambria Math" panose="02040503050406030204" pitchFamily="18" charset="0"/>
                              </a:rPr>
                              <m:t>2</m:t>
                            </m:r>
                          </m:sub>
                        </m:sSub>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Volatilidad estocástica genera colas gordas; media y volatilidad estocásticas juntas pueden generar </a:t>
                </a:r>
                <a:r>
                  <a:rPr lang="es-PE" sz="900" b="0" i="0" dirty="0" err="1">
                    <a:solidFill>
                      <a:schemeClr val="tx1"/>
                    </a:solidFill>
                    <a:effectLst/>
                    <a:latin typeface="Segoe WPC"/>
                  </a:rPr>
                  <a:t>skewness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toda </a:t>
                </a:r>
                <a:r>
                  <a:rPr lang="es-PE" sz="900" b="0" i="0" dirty="0" err="1">
                    <a:solidFill>
                      <a:schemeClr val="tx1"/>
                    </a:solidFill>
                    <a:effectLst/>
                    <a:latin typeface="Segoe WPC"/>
                  </a:rPr>
                  <a:t>fat</a:t>
                </a:r>
                <a:r>
                  <a:rPr lang="es-PE" sz="900" b="0" i="0" dirty="0">
                    <a:solidFill>
                      <a:schemeClr val="tx1"/>
                    </a:solidFill>
                    <a:effectLst/>
                    <a:latin typeface="Segoe WPC"/>
                  </a:rPr>
                  <a:t> </a:t>
                </a:r>
                <a:r>
                  <a:rPr lang="es-PE" sz="900" b="0" i="0" dirty="0" err="1">
                    <a:solidFill>
                      <a:schemeClr val="tx1"/>
                    </a:solidFill>
                    <a:effectLst/>
                    <a:latin typeface="Segoe WPC"/>
                  </a:rPr>
                  <a:t>tail</a:t>
                </a:r>
                <a:r>
                  <a:rPr lang="es-PE" sz="900" b="0" i="0" dirty="0">
                    <a:solidFill>
                      <a:schemeClr val="tx1"/>
                    </a:solidFill>
                    <a:effectLst/>
                    <a:latin typeface="Segoe WPC"/>
                  </a:rPr>
                  <a:t> implica una distribución exótica; puede surgir solo por mezclar normales con distinta volatilidad.</a:t>
                </a:r>
              </a:p>
              <a:p>
                <a:pPr algn="l">
                  <a:spcAft>
                    <a:spcPts val="600"/>
                  </a:spcAft>
                  <a:buNone/>
                </a:pPr>
                <a:r>
                  <a:rPr lang="es-PE" sz="900" b="1" i="0" dirty="0">
                    <a:solidFill>
                      <a:schemeClr val="tx1"/>
                    </a:solidFill>
                    <a:effectLst/>
                    <a:latin typeface="Segoe WPC"/>
                  </a:rPr>
                  <a:t>3. </a:t>
                </a:r>
                <a:r>
                  <a:rPr lang="es-PE" sz="900" b="1" i="0" dirty="0" err="1">
                    <a:solidFill>
                      <a:schemeClr val="tx1"/>
                    </a:solidFill>
                    <a:effectLst/>
                    <a:latin typeface="Segoe WPC"/>
                  </a:rPr>
                  <a:t>Unconditional</a:t>
                </a:r>
                <a:r>
                  <a:rPr lang="es-PE" sz="900" b="1" i="0" dirty="0">
                    <a:solidFill>
                      <a:schemeClr val="tx1"/>
                    </a:solidFill>
                    <a:effectLst/>
                    <a:latin typeface="Segoe WPC"/>
                  </a:rPr>
                  <a:t> vs </a:t>
                </a:r>
                <a:r>
                  <a:rPr lang="es-PE" sz="900" b="1" i="0" dirty="0" err="1">
                    <a:solidFill>
                      <a:schemeClr val="tx1"/>
                    </a:solidFill>
                    <a:effectLst/>
                    <a:latin typeface="Segoe WPC"/>
                  </a:rPr>
                  <a:t>Conditional</a:t>
                </a:r>
                <a:r>
                  <a:rPr lang="es-PE" sz="900" b="1" i="0" dirty="0">
                    <a:solidFill>
                      <a:schemeClr val="tx1"/>
                    </a:solidFill>
                    <a:effectLst/>
                    <a:latin typeface="Segoe WPC"/>
                  </a:rPr>
                  <a:t> </a:t>
                </a:r>
                <a:r>
                  <a:rPr lang="es-PE" sz="900" b="1" i="0" dirty="0" err="1">
                    <a:solidFill>
                      <a:schemeClr val="tx1"/>
                    </a:solidFill>
                    <a:effectLst/>
                    <a:latin typeface="Segoe WPC"/>
                  </a:rPr>
                  <a:t>Normality</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Diferencia entre normalidad incondicional y normalidad condicional.</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Los retornos pueden ser normales dado el nivel actual de volatilidad, aunque al juntar todos los días no parezcan normales.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Cada día tiene su propia campana normal, pero unas son angostas y otras anchas; al mezclarlas aparece una distribución </a:t>
                </a:r>
                <a:r>
                  <a:rPr lang="es-PE" sz="900" b="0" i="0" dirty="0" err="1">
                    <a:solidFill>
                      <a:schemeClr val="tx1"/>
                    </a:solidFill>
                    <a:effectLst/>
                    <a:latin typeface="Segoe WPC"/>
                  </a:rPr>
                  <a:t>fat-tailed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𝑡</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𝑁</m:t>
                    </m:r>
                    <m:d>
                      <m:dPr>
                        <m:sep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0</m:t>
                        </m:r>
                      </m:e>
                      <m:e>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𝑡</m:t>
                            </m:r>
                          </m:sub>
                          <m:sup>
                            <m:r>
                              <a:rPr lang="ar-AE" sz="900" i="0">
                                <a:solidFill>
                                  <a:schemeClr val="tx1"/>
                                </a:solidFill>
                                <a:latin typeface="Cambria Math" panose="02040503050406030204" pitchFamily="18" charset="0"/>
                              </a:rPr>
                              <m:t>2</m:t>
                            </m:r>
                          </m:sup>
                        </m:sSubSup>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Lo que observamos en los datos históricos es la distribución incondicional, que puede tener colas gordas aunque cada día individual sea normal condicionalmente.</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“Condicionalmente normal” no significa “normal con desviación estándar constante”.</a:t>
                </a:r>
              </a:p>
              <a:p>
                <a:pPr algn="l">
                  <a:spcAft>
                    <a:spcPts val="600"/>
                  </a:spcAft>
                  <a:buNone/>
                </a:pPr>
                <a:r>
                  <a:rPr lang="es-PE" sz="900" b="1" i="0" dirty="0">
                    <a:solidFill>
                      <a:schemeClr val="tx1"/>
                    </a:solidFill>
                    <a:effectLst/>
                    <a:latin typeface="Segoe WPC"/>
                  </a:rPr>
                  <a:t>4. </a:t>
                </a:r>
                <a:r>
                  <a:rPr lang="es-PE" sz="900" b="1" i="0" dirty="0" err="1">
                    <a:solidFill>
                      <a:schemeClr val="tx1"/>
                    </a:solidFill>
                    <a:effectLst/>
                    <a:latin typeface="Segoe WPC"/>
                  </a:rPr>
                  <a:t>Slow</a:t>
                </a:r>
                <a:r>
                  <a:rPr lang="es-PE" sz="900" b="1" i="0" dirty="0">
                    <a:solidFill>
                      <a:schemeClr val="tx1"/>
                    </a:solidFill>
                    <a:effectLst/>
                    <a:latin typeface="Segoe WPC"/>
                  </a:rPr>
                  <a:t> </a:t>
                </a:r>
                <a:r>
                  <a:rPr lang="es-PE" sz="900" b="1" i="0" dirty="0" err="1">
                    <a:solidFill>
                      <a:schemeClr val="tx1"/>
                    </a:solidFill>
                    <a:effectLst/>
                    <a:latin typeface="Segoe WPC"/>
                  </a:rPr>
                  <a:t>Changes</a:t>
                </a:r>
                <a:r>
                  <a:rPr lang="es-PE" sz="900" b="1" i="0" dirty="0">
                    <a:solidFill>
                      <a:schemeClr val="tx1"/>
                    </a:solidFill>
                    <a:effectLst/>
                    <a:latin typeface="Segoe WPC"/>
                  </a:rPr>
                  <a:t> vs </a:t>
                </a:r>
                <a:r>
                  <a:rPr lang="es-PE" sz="900" b="1" i="0" dirty="0" err="1">
                    <a:solidFill>
                      <a:schemeClr val="tx1"/>
                    </a:solidFill>
                    <a:effectLst/>
                    <a:latin typeface="Segoe WPC"/>
                  </a:rPr>
                  <a:t>Regime</a:t>
                </a:r>
                <a:r>
                  <a:rPr lang="es-PE" sz="900" b="1" i="0" dirty="0">
                    <a:solidFill>
                      <a:schemeClr val="tx1"/>
                    </a:solidFill>
                    <a:effectLst/>
                    <a:latin typeface="Segoe WPC"/>
                  </a:rPr>
                  <a:t> </a:t>
                </a:r>
                <a:r>
                  <a:rPr lang="es-PE" sz="900" b="1" i="0" dirty="0" err="1">
                    <a:solidFill>
                      <a:schemeClr val="tx1"/>
                    </a:solidFill>
                    <a:effectLst/>
                    <a:latin typeface="Segoe WPC"/>
                  </a:rPr>
                  <a:t>Switching</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Formas en que la volatilidad evoluciona a través del tiempo.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veces la volatilidad cambia gradualmente; otras veces salta bruscamente de un régimen a otro.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Mercados nerviosos suelen seguir nerviosos un tiempo; pero una intervención o shock puede llevar de 1% diario a 3% diario casi de golpe.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hay una fórmula única; la idea clave es persistencia o cambio de régimen.</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EWMA y GARCH funcionan mejor cuando la volatilidad cambia lentamente; los saltos de régimen son más difíciles de anticipar.</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Regime</a:t>
                </a:r>
                <a:r>
                  <a:rPr lang="es-PE" sz="900" b="0" i="0" dirty="0">
                    <a:solidFill>
                      <a:schemeClr val="tx1"/>
                    </a:solidFill>
                    <a:effectLst/>
                    <a:latin typeface="Segoe WPC"/>
                  </a:rPr>
                  <a:t> </a:t>
                </a:r>
                <a:r>
                  <a:rPr lang="es-PE" sz="900" b="0" i="0" dirty="0" err="1">
                    <a:solidFill>
                      <a:schemeClr val="tx1"/>
                    </a:solidFill>
                    <a:effectLst/>
                    <a:latin typeface="Segoe WPC"/>
                  </a:rPr>
                  <a:t>switching</a:t>
                </a:r>
                <a:r>
                  <a:rPr lang="es-PE" sz="900" b="0" i="0" dirty="0">
                    <a:solidFill>
                      <a:schemeClr val="tx1"/>
                    </a:solidFill>
                    <a:effectLst/>
                    <a:latin typeface="Segoe WPC"/>
                  </a:rPr>
                  <a:t> rompe la intuición de que “grandes cambios siguen a grandes cambios” de forma suave.</a:t>
                </a:r>
              </a:p>
              <a:p>
                <a:pPr algn="l">
                  <a:spcAft>
                    <a:spcPts val="600"/>
                  </a:spcAft>
                  <a:buNone/>
                </a:pPr>
                <a:r>
                  <a:rPr lang="es-PE" sz="900" b="1" i="0" dirty="0">
                    <a:solidFill>
                      <a:schemeClr val="tx1"/>
                    </a:solidFill>
                    <a:effectLst/>
                    <a:latin typeface="Segoe WPC"/>
                  </a:rPr>
                  <a:t>5. </a:t>
                </a:r>
                <a:r>
                  <a:rPr lang="es-PE" sz="900" b="1" i="0" dirty="0" err="1">
                    <a:solidFill>
                      <a:schemeClr val="tx1"/>
                    </a:solidFill>
                    <a:effectLst/>
                    <a:latin typeface="Segoe WPC"/>
                  </a:rPr>
                  <a:t>Measuring</a:t>
                </a:r>
                <a:r>
                  <a:rPr lang="es-PE" sz="900" b="1" i="0" dirty="0">
                    <a:solidFill>
                      <a:schemeClr val="tx1"/>
                    </a:solidFill>
                    <a:effectLst/>
                    <a:latin typeface="Segoe WPC"/>
                  </a:rPr>
                  <a:t> </a:t>
                </a:r>
                <a:r>
                  <a:rPr lang="es-PE" sz="900" b="1" i="0" dirty="0" err="1">
                    <a:solidFill>
                      <a:schemeClr val="tx1"/>
                    </a:solidFill>
                    <a:effectLst/>
                    <a:latin typeface="Segoe WPC"/>
                  </a:rPr>
                  <a:t>Historical</a:t>
                </a:r>
                <a:r>
                  <a:rPr lang="es-PE" sz="900" b="1" i="0" dirty="0">
                    <a:solidFill>
                      <a:schemeClr val="tx1"/>
                    </a:solidFill>
                    <a:effectLst/>
                    <a:latin typeface="Segoe WPC"/>
                  </a:rPr>
                  <a:t> </a:t>
                </a:r>
                <a:r>
                  <a:rPr lang="es-PE" sz="900" b="1" i="0" dirty="0" err="1">
                    <a:solidFill>
                      <a:schemeClr val="tx1"/>
                    </a:solidFill>
                    <a:effectLst/>
                    <a:latin typeface="Segoe WPC"/>
                  </a:rPr>
                  <a:t>Volatility</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Estimación de volatilidad diaria a partir de retornos pasados.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management</a:t>
                </a:r>
                <a:r>
                  <a:rPr lang="es-PE" sz="900" b="0" i="0" dirty="0">
                    <a:solidFill>
                      <a:schemeClr val="tx1"/>
                    </a:solidFill>
                    <a:effectLst/>
                    <a:latin typeface="Segoe WPC"/>
                  </a:rPr>
                  <a:t>, volatilidad es la desviación estándar del retorno diario.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Tomas varios retornos diarios, los elevas al cuadrado, los promedias y sacas raíz cuadrada.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den>
                    </m:f>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 </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𝑛</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1">
                            <a:solidFill>
                              <a:schemeClr val="tx1"/>
                            </a:solidFill>
                            <a:latin typeface="Cambria Math" panose="02040503050406030204" pitchFamily="18" charset="0"/>
                          </a:rPr>
                          <m:t>𝑚</m:t>
                        </m:r>
                      </m:den>
                    </m:f>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𝑚</m:t>
                        </m:r>
                      </m:sup>
                      <m:e>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𝑖</m:t>
                            </m:r>
                          </m:sub>
                          <m:sup>
                            <m:r>
                              <a:rPr lang="ar-AE" sz="900" i="0">
                                <a:solidFill>
                                  <a:schemeClr val="tx1"/>
                                </a:solidFill>
                                <a:latin typeface="Cambria Math" panose="02040503050406030204" pitchFamily="18" charset="0"/>
                              </a:rPr>
                              <m:t>2</m:t>
                            </m:r>
                          </m:sup>
                        </m:sSubSup>
                      </m:e>
                    </m:nary>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 varianza diaria es el promedio de los retornos diarios al cuadrado, asumiendo media cercana a cero.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En gestión de riesgos de corto plazo suele asumirse </a:t>
                </a:r>
                <a14:m>
                  <m:oMath xmlns:m="http://schemas.openxmlformats.org/officeDocument/2006/math">
                    <m:limUpp>
                      <m:limUppPr>
                        <m:ctrlPr>
                          <a:rPr lang="ar-AE" sz="900" i="1">
                            <a:solidFill>
                              <a:schemeClr val="tx1"/>
                            </a:solidFill>
                            <a:latin typeface="Cambria Math" panose="02040503050406030204" pitchFamily="18" charset="0"/>
                          </a:rPr>
                        </m:ctrlPr>
                      </m:limUppPr>
                      <m:e>
                        <m:r>
                          <a:rPr lang="ar-AE" sz="900" i="1">
                            <a:solidFill>
                              <a:schemeClr val="tx1"/>
                            </a:solidFill>
                            <a:latin typeface="Cambria Math" panose="02040503050406030204" pitchFamily="18" charset="0"/>
                          </a:rPr>
                          <m:t>𝑟</m:t>
                        </m:r>
                      </m:e>
                      <m:lim>
                        <m:r>
                          <a:rPr lang="ar-AE" sz="900" i="0">
                            <a:solidFill>
                              <a:schemeClr val="tx1"/>
                            </a:solidFill>
                            <a:latin typeface="Cambria Math" panose="02040503050406030204" pitchFamily="18" charset="0"/>
                          </a:rPr>
                          <m:t>ˉ</m:t>
                        </m:r>
                      </m:lim>
                    </m:limUpp>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 </a:t>
                </a:r>
                <a:r>
                  <a:rPr lang="es-PE" sz="900" b="0" i="0" dirty="0">
                    <a:solidFill>
                      <a:schemeClr val="tx1"/>
                    </a:solidFill>
                    <a:effectLst/>
                    <a:latin typeface="Segoe WPC"/>
                  </a:rPr>
                  <a:t>no es una identidad exacta, sino una aproximación práctica.</a:t>
                </a:r>
              </a:p>
              <a:p>
                <a:pPr algn="l">
                  <a:spcAft>
                    <a:spcPts val="600"/>
                  </a:spcAft>
                  <a:buNone/>
                </a:pPr>
                <a:endParaRPr lang="es-PE" sz="900" b="0" i="0" dirty="0">
                  <a:solidFill>
                    <a:schemeClr val="tx1"/>
                  </a:solidFill>
                  <a:effectLst/>
                  <a:latin typeface="Segoe WPC"/>
                </a:endParaRPr>
              </a:p>
            </p:txBody>
          </p:sp>
        </mc:Choice>
        <mc:Fallback xmlns="">
          <p:sp>
            <p:nvSpPr>
              <p:cNvPr id="5" name="CuadroTexto 4">
                <a:extLst>
                  <a:ext uri="{FF2B5EF4-FFF2-40B4-BE49-F238E27FC236}">
                    <a16:creationId xmlns:a16="http://schemas.microsoft.com/office/drawing/2014/main" id="{DE4C2B9A-80E8-ABF9-97E8-76C37C323D74}"/>
                  </a:ext>
                </a:extLst>
              </p:cNvPr>
              <p:cNvSpPr txBox="1">
                <a:spLocks noRot="1" noChangeAspect="1" noMove="1" noResize="1" noEditPoints="1" noAdjustHandles="1" noChangeArrowheads="1" noChangeShapeType="1" noTextEdit="1"/>
              </p:cNvSpPr>
              <p:nvPr/>
            </p:nvSpPr>
            <p:spPr>
              <a:xfrm>
                <a:off x="-65314" y="268514"/>
                <a:ext cx="5929085" cy="7722499"/>
              </a:xfrm>
              <a:prstGeom prst="rect">
                <a:avLst/>
              </a:prstGeom>
              <a:blipFill>
                <a:blip r:embed="rId2"/>
                <a:stretch>
                  <a:fillRect r="-103"/>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924A4C5F-BEB7-A4CD-0368-84BF64D01D6B}"/>
                  </a:ext>
                </a:extLst>
              </p:cNvPr>
              <p:cNvSpPr txBox="1"/>
              <p:nvPr/>
            </p:nvSpPr>
            <p:spPr>
              <a:xfrm>
                <a:off x="5742214" y="-82210"/>
                <a:ext cx="6769100" cy="9528506"/>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6. </a:t>
                </a:r>
                <a:r>
                  <a:rPr lang="es-PE" sz="900" b="1" i="0" dirty="0" err="1">
                    <a:solidFill>
                      <a:schemeClr val="tx1"/>
                    </a:solidFill>
                    <a:effectLst/>
                    <a:latin typeface="Segoe WPC"/>
                  </a:rPr>
                  <a:t>Limits</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a:t>
                </a:r>
                <a:r>
                  <a:rPr lang="es-PE" sz="900" b="1" i="0" dirty="0" err="1">
                    <a:solidFill>
                      <a:schemeClr val="tx1"/>
                    </a:solidFill>
                    <a:effectLst/>
                    <a:latin typeface="Segoe WPC"/>
                  </a:rPr>
                  <a:t>the</a:t>
                </a:r>
                <a:r>
                  <a:rPr lang="es-PE" sz="900" b="1" i="0" dirty="0">
                    <a:solidFill>
                      <a:schemeClr val="tx1"/>
                    </a:solidFill>
                    <a:effectLst/>
                    <a:latin typeface="Segoe WPC"/>
                  </a:rPr>
                  <a:t> Simple </a:t>
                </a:r>
                <a:r>
                  <a:rPr lang="es-PE" sz="900" b="1" i="0" dirty="0" err="1">
                    <a:solidFill>
                      <a:schemeClr val="tx1"/>
                    </a:solidFill>
                    <a:effectLst/>
                    <a:latin typeface="Segoe WPC"/>
                  </a:rPr>
                  <a:t>Historical</a:t>
                </a:r>
                <a:r>
                  <a:rPr lang="es-PE" sz="900" b="1" i="0" dirty="0">
                    <a:solidFill>
                      <a:schemeClr val="tx1"/>
                    </a:solidFill>
                    <a:effectLst/>
                    <a:latin typeface="Segoe WPC"/>
                  </a:rPr>
                  <a:t> </a:t>
                </a:r>
                <a:r>
                  <a:rPr lang="es-PE" sz="900" b="1" i="0" dirty="0" err="1">
                    <a:solidFill>
                      <a:schemeClr val="tx1"/>
                    </a:solidFill>
                    <a:effectLst/>
                    <a:latin typeface="Segoe WPC"/>
                  </a:rPr>
                  <a:t>Estimate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Problemas de usar una ventana fija simple para estimar volatilidad actual.</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usas demasiados días, mezclas información vieja; si usas muy pocos, el estimador se vuelve ruidoso.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 gran retorno ocurrido hace 25 días afecta fuerte la estimación hasta que sale de la ventana, produciendo saltos artificiales.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SE</m:t>
                    </m:r>
                    <m:d>
                      <m:dPr>
                        <m:ctrlPr>
                          <a:rPr lang="ar-AE" sz="900" b="0" i="1">
                            <a:solidFill>
                              <a:schemeClr val="tx1"/>
                            </a:solidFill>
                            <a:latin typeface="Cambria Math" panose="02040503050406030204" pitchFamily="18" charset="0"/>
                          </a:rPr>
                        </m:ctrlPr>
                      </m:dPr>
                      <m:e>
                        <m:acc>
                          <m:accPr>
                            <m:chr m:val="̂"/>
                            <m:ctrlPr>
                              <a:rPr lang="ar-AE" sz="900" b="0" i="1">
                                <a:solidFill>
                                  <a:schemeClr val="tx1"/>
                                </a:solidFill>
                                <a:latin typeface="Cambria Math" panose="02040503050406030204" pitchFamily="18" charset="0"/>
                              </a:rPr>
                            </m:ctrlPr>
                          </m:accPr>
                          <m:e>
                            <m:r>
                              <a:rPr lang="ar-AE" sz="900" b="0" i="1">
                                <a:solidFill>
                                  <a:schemeClr val="tx1"/>
                                </a:solidFill>
                                <a:latin typeface="Cambria Math" panose="02040503050406030204" pitchFamily="18" charset="0"/>
                              </a:rPr>
                              <m:t>𝜎</m:t>
                            </m:r>
                          </m:e>
                        </m:acc>
                      </m:e>
                    </m:d>
                    <m:r>
                      <a:rPr lang="ar-AE" sz="900" b="0" i="0">
                        <a:solidFill>
                          <a:schemeClr val="tx1"/>
                        </a:solidFill>
                        <a:latin typeface="Cambria Math" panose="02040503050406030204" pitchFamily="18" charset="0"/>
                      </a:rPr>
                      <m:t>≈</m:t>
                    </m:r>
                    <m:f>
                      <m:fPr>
                        <m:ctrlPr>
                          <a:rPr lang="ar-AE" sz="900" b="0" i="1">
                            <a:solidFill>
                              <a:schemeClr val="tx1"/>
                            </a:solidFill>
                            <a:latin typeface="Cambria Math" panose="02040503050406030204" pitchFamily="18" charset="0"/>
                          </a:rPr>
                        </m:ctrlPr>
                      </m:fPr>
                      <m:num>
                        <m:acc>
                          <m:accPr>
                            <m:chr m:val="̂"/>
                            <m:ctrlPr>
                              <a:rPr lang="ar-AE" sz="900" b="0" i="1">
                                <a:solidFill>
                                  <a:schemeClr val="tx1"/>
                                </a:solidFill>
                                <a:latin typeface="Cambria Math" panose="02040503050406030204" pitchFamily="18" charset="0"/>
                              </a:rPr>
                            </m:ctrlPr>
                          </m:accPr>
                          <m:e>
                            <m:r>
                              <a:rPr lang="ar-AE" sz="900" b="0" i="1">
                                <a:solidFill>
                                  <a:schemeClr val="tx1"/>
                                </a:solidFill>
                                <a:latin typeface="Cambria Math" panose="02040503050406030204" pitchFamily="18" charset="0"/>
                              </a:rPr>
                              <m:t>𝜎</m:t>
                            </m:r>
                          </m:e>
                        </m:acc>
                      </m:num>
                      <m:den>
                        <m:rad>
                          <m:radPr>
                            <m:degHide m:val="on"/>
                            <m:ctrlPr>
                              <a:rPr lang="ar-AE" sz="900" b="0" i="1">
                                <a:solidFill>
                                  <a:schemeClr val="tx1"/>
                                </a:solidFill>
                                <a:latin typeface="Cambria Math" panose="02040503050406030204" pitchFamily="18" charset="0"/>
                              </a:rPr>
                            </m:ctrlPr>
                          </m:radPr>
                          <m:deg/>
                          <m:e>
                            <m:r>
                              <a:rPr lang="ar-AE" sz="900" b="0" i="0">
                                <a:solidFill>
                                  <a:schemeClr val="tx1"/>
                                </a:solidFill>
                                <a:latin typeface="Cambria Math" panose="02040503050406030204" pitchFamily="18" charset="0"/>
                              </a:rPr>
                              <m:t>2</m:t>
                            </m:r>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𝑚</m:t>
                                </m:r>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1</m:t>
                                </m:r>
                              </m:e>
                            </m:d>
                          </m:e>
                        </m:rad>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Existe un </a:t>
                </a:r>
                <a:r>
                  <a:rPr lang="es-PE" sz="900" b="0" i="0" dirty="0" err="1">
                    <a:solidFill>
                      <a:schemeClr val="tx1"/>
                    </a:solidFill>
                    <a:effectLst/>
                    <a:latin typeface="Segoe WPC"/>
                  </a:rPr>
                  <a:t>trade</a:t>
                </a:r>
                <a:r>
                  <a:rPr lang="es-PE" sz="900" b="0" i="0" dirty="0">
                    <a:solidFill>
                      <a:schemeClr val="tx1"/>
                    </a:solidFill>
                    <a:effectLst/>
                    <a:latin typeface="Segoe WPC"/>
                  </a:rPr>
                  <a:t>-off entre relevancia temporal y precisión estadística.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El problema no es solo el tamaño de muestra; también importa que la volatilidad no sea estable en el tiempo.</a:t>
                </a:r>
              </a:p>
              <a:p>
                <a:pPr algn="l">
                  <a:spcAft>
                    <a:spcPts val="600"/>
                  </a:spcAft>
                  <a:buNone/>
                </a:pPr>
                <a:r>
                  <a:rPr lang="es-PE" sz="900" b="1" i="0" dirty="0">
                    <a:solidFill>
                      <a:schemeClr val="tx1"/>
                    </a:solidFill>
                    <a:effectLst/>
                    <a:latin typeface="Segoe WPC"/>
                  </a:rPr>
                  <a:t>7. EWMA / </a:t>
                </a:r>
                <a:r>
                  <a:rPr lang="es-PE" sz="900" b="1" i="0" dirty="0" err="1">
                    <a:solidFill>
                      <a:schemeClr val="tx1"/>
                    </a:solidFill>
                    <a:effectLst/>
                    <a:latin typeface="Segoe WPC"/>
                  </a:rPr>
                  <a:t>Exponential</a:t>
                </a:r>
                <a:r>
                  <a:rPr lang="es-PE" sz="900" b="1" i="0" dirty="0">
                    <a:solidFill>
                      <a:schemeClr val="tx1"/>
                    </a:solidFill>
                    <a:effectLst/>
                    <a:latin typeface="Segoe WPC"/>
                  </a:rPr>
                  <a:t> </a:t>
                </a:r>
                <a:r>
                  <a:rPr lang="es-PE" sz="900" b="1" i="0" dirty="0" err="1">
                    <a:solidFill>
                      <a:schemeClr val="tx1"/>
                    </a:solidFill>
                    <a:effectLst/>
                    <a:latin typeface="Segoe WPC"/>
                  </a:rPr>
                  <a:t>Smoothing</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Método para monitorear volatilidad dando más peso a retornos recientes.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volatilidad de ayer importa mucho, pero el último shock también actualiza la estimación.</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Los retornos más recientes pesan más; los de hace mucho pesan cada vez menos de forma exponencial.</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𝑛</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𝜆</m:t>
                        </m:r>
                      </m:e>
                    </m:d>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𝜆</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0">
                            <a:solidFill>
                              <a:schemeClr val="tx1"/>
                            </a:solidFill>
                            <a:latin typeface="Cambria Math" panose="02040503050406030204" pitchFamily="18" charset="0"/>
                          </a:rPr>
                          <m:t>2</m:t>
                        </m:r>
                      </m:sup>
                    </m:sSubSup>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Si </a:t>
                </a:r>
                <a14:m>
                  <m:oMath xmlns:m="http://schemas.openxmlformats.org/officeDocument/2006/math">
                    <m:r>
                      <a:rPr lang="es-PE" sz="900" i="1">
                        <a:solidFill>
                          <a:schemeClr val="tx1"/>
                        </a:solidFill>
                        <a:latin typeface="Cambria Math" panose="02040503050406030204" pitchFamily="18" charset="0"/>
                      </a:rPr>
                      <m:t>𝜆</m:t>
                    </m:r>
                  </m:oMath>
                </a14:m>
                <a:r>
                  <a:rPr lang="es-PE" sz="900" b="0" i="0" dirty="0">
                    <a:solidFill>
                      <a:schemeClr val="tx1"/>
                    </a:solidFill>
                    <a:effectLst/>
                    <a:latin typeface="Segoe WPC"/>
                  </a:rPr>
                  <a:t> es alto, el modelo responde lento; si es bajo, reacciona demasiado a datos nuevos. </a:t>
                </a:r>
                <a:r>
                  <a:rPr lang="es-PE" sz="900" b="0" i="0" dirty="0" err="1">
                    <a:solidFill>
                      <a:schemeClr val="tx1"/>
                    </a:solidFill>
                    <a:effectLst/>
                    <a:latin typeface="Segoe WPC"/>
                  </a:rPr>
                  <a:t>RiskMetrics</a:t>
                </a:r>
                <a:r>
                  <a:rPr lang="es-PE" sz="900" b="0" i="0" dirty="0">
                    <a:solidFill>
                      <a:schemeClr val="tx1"/>
                    </a:solidFill>
                    <a:effectLst/>
                    <a:latin typeface="Segoe WPC"/>
                  </a:rPr>
                  <a:t> popularizó </a:t>
                </a:r>
                <a14:m>
                  <m:oMath xmlns:m="http://schemas.openxmlformats.org/officeDocument/2006/math">
                    <m:r>
                      <a:rPr lang="es-PE" sz="900" i="1">
                        <a:solidFill>
                          <a:schemeClr val="tx1"/>
                        </a:solidFill>
                        <a:latin typeface="Cambria Math" panose="02040503050406030204" pitchFamily="18" charset="0"/>
                      </a:rPr>
                      <m:t>𝜆</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0</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94</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En EWMA se actualiza la </a:t>
                </a:r>
                <a:r>
                  <a:rPr lang="es-PE" sz="900" b="1" i="0" dirty="0">
                    <a:solidFill>
                      <a:schemeClr val="tx1"/>
                    </a:solidFill>
                    <a:effectLst/>
                    <a:latin typeface="Segoe WPC"/>
                  </a:rPr>
                  <a:t>varianza</a:t>
                </a:r>
                <a:r>
                  <a:rPr lang="es-PE" sz="900" b="0" i="0" dirty="0">
                    <a:solidFill>
                      <a:schemeClr val="tx1"/>
                    </a:solidFill>
                    <a:effectLst/>
                    <a:latin typeface="Segoe WPC"/>
                  </a:rPr>
                  <a:t>, no directamente la volatilidad.</a:t>
                </a:r>
              </a:p>
              <a:p>
                <a:pPr algn="l">
                  <a:spcAft>
                    <a:spcPts val="600"/>
                  </a:spcAft>
                  <a:buNone/>
                </a:pPr>
                <a:r>
                  <a:rPr lang="es-PE" sz="900" b="1" i="0" dirty="0">
                    <a:solidFill>
                      <a:schemeClr val="tx1"/>
                    </a:solidFill>
                    <a:effectLst/>
                    <a:latin typeface="Segoe WPC"/>
                  </a:rPr>
                  <a:t>8. </a:t>
                </a:r>
                <a:r>
                  <a:rPr lang="es-PE" sz="900" b="1" i="0" dirty="0" err="1">
                    <a:solidFill>
                      <a:schemeClr val="tx1"/>
                    </a:solidFill>
                    <a:effectLst/>
                    <a:latin typeface="Segoe WPC"/>
                  </a:rPr>
                  <a:t>Choosing</a:t>
                </a:r>
                <a:r>
                  <a:rPr lang="es-PE" sz="900" b="1"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𝜆</m:t>
                    </m:r>
                  </m:oMath>
                </a14:m>
                <a:r>
                  <a:rPr lang="es-PE" sz="900" b="1" i="0" dirty="0">
                    <a:solidFill>
                      <a:schemeClr val="tx1"/>
                    </a:solidFill>
                    <a:effectLst/>
                    <a:latin typeface="Segoe WPC"/>
                  </a:rPr>
                  <a:t> and </a:t>
                </a:r>
                <a:r>
                  <a:rPr lang="es-PE" sz="900" b="1" i="0" dirty="0" err="1">
                    <a:solidFill>
                      <a:schemeClr val="tx1"/>
                    </a:solidFill>
                    <a:effectLst/>
                    <a:latin typeface="Segoe WPC"/>
                  </a:rPr>
                  <a:t>Weighted</a:t>
                </a:r>
                <a:r>
                  <a:rPr lang="es-PE" sz="900" b="1" i="0" dirty="0">
                    <a:solidFill>
                      <a:schemeClr val="tx1"/>
                    </a:solidFill>
                    <a:effectLst/>
                    <a:latin typeface="Segoe WPC"/>
                  </a:rPr>
                  <a:t> </a:t>
                </a:r>
                <a:r>
                  <a:rPr lang="es-PE" sz="900" b="1" i="0" dirty="0" err="1">
                    <a:solidFill>
                      <a:schemeClr val="tx1"/>
                    </a:solidFill>
                    <a:effectLst/>
                    <a:latin typeface="Segoe WPC"/>
                  </a:rPr>
                  <a:t>Historical</a:t>
                </a:r>
                <a:r>
                  <a:rPr lang="es-PE" sz="900" b="1" i="0" dirty="0">
                    <a:solidFill>
                      <a:schemeClr val="tx1"/>
                    </a:solidFill>
                    <a:effectLst/>
                    <a:latin typeface="Segoe WPC"/>
                  </a:rPr>
                  <a:t> </a:t>
                </a:r>
                <a:r>
                  <a:rPr lang="es-PE" sz="900" b="1" i="0" dirty="0" err="1">
                    <a:solidFill>
                      <a:schemeClr val="tx1"/>
                    </a:solidFill>
                    <a:effectLst/>
                    <a:latin typeface="Segoe WPC"/>
                  </a:rPr>
                  <a:t>Simulation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Determinación del parámetro de persistencia y uso de pesos también en simulación histórica.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mejor </a:t>
                </a:r>
                <a14:m>
                  <m:oMath xmlns:m="http://schemas.openxmlformats.org/officeDocument/2006/math">
                    <m:r>
                      <a:rPr lang="es-PE" sz="900" i="1">
                        <a:solidFill>
                          <a:schemeClr val="tx1"/>
                        </a:solidFill>
                        <a:latin typeface="Cambria Math" panose="02040503050406030204" pitchFamily="18" charset="0"/>
                      </a:rPr>
                      <m:t>𝜆</m:t>
                    </m:r>
                  </m:oMath>
                </a14:m>
                <a:r>
                  <a:rPr lang="es-PE" sz="900" b="0" i="0" dirty="0">
                    <a:solidFill>
                      <a:schemeClr val="tx1"/>
                    </a:solidFill>
                    <a:effectLst/>
                    <a:latin typeface="Segoe WPC"/>
                  </a:rPr>
                  <a:t> balancea estabilidad con capacidad de reacción a nueva información.</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a:t>
                </a:r>
                <a:r>
                  <a:rPr lang="es-PE" sz="900" b="0" i="0" dirty="0" err="1">
                    <a:solidFill>
                      <a:schemeClr val="tx1"/>
                    </a:solidFill>
                    <a:effectLst/>
                    <a:latin typeface="Segoe WPC"/>
                  </a:rPr>
                  <a:t>historical</a:t>
                </a:r>
                <a:r>
                  <a:rPr lang="es-PE" sz="900" b="0" i="0" dirty="0">
                    <a:solidFill>
                      <a:schemeClr val="tx1"/>
                    </a:solidFill>
                    <a:effectLst/>
                    <a:latin typeface="Segoe WPC"/>
                  </a:rPr>
                  <a:t> </a:t>
                </a:r>
                <a:r>
                  <a:rPr lang="es-PE" sz="900" b="0" i="0" dirty="0" err="1">
                    <a:solidFill>
                      <a:schemeClr val="tx1"/>
                    </a:solidFill>
                    <a:effectLst/>
                    <a:latin typeface="Segoe WPC"/>
                  </a:rPr>
                  <a:t>simulation</a:t>
                </a:r>
                <a:r>
                  <a:rPr lang="es-PE" sz="900" b="0" i="0" dirty="0">
                    <a:solidFill>
                      <a:schemeClr val="tx1"/>
                    </a:solidFill>
                    <a:effectLst/>
                    <a:latin typeface="Segoe WPC"/>
                  </a:rPr>
                  <a:t> ponderada, los escenarios recientes reciben más peso y pueden empujar VaR y ES más arriba si el mercado se ha tensionado.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b="0" i="1">
                            <a:solidFill>
                              <a:schemeClr val="tx1"/>
                            </a:solidFill>
                            <a:latin typeface="Cambria Math" panose="02040503050406030204" pitchFamily="18" charset="0"/>
                          </a:rPr>
                        </m:ctrlPr>
                      </m:sSubPr>
                      <m:e>
                        <m:r>
                          <m:rPr>
                            <m:nor/>
                          </m:rPr>
                          <a:rPr lang="es-PE" sz="900" b="0">
                            <a:solidFill>
                              <a:schemeClr val="tx1"/>
                            </a:solidFill>
                          </a:rPr>
                          <m:t>weight</m:t>
                        </m:r>
                      </m:e>
                      <m:sub>
                        <m:r>
                          <a:rPr lang="ar-AE" sz="900" b="0" i="1">
                            <a:solidFill>
                              <a:schemeClr val="tx1"/>
                            </a:solidFill>
                            <a:latin typeface="Cambria Math" panose="02040503050406030204" pitchFamily="18" charset="0"/>
                          </a:rPr>
                          <m:t>𝑘</m:t>
                        </m:r>
                      </m:sub>
                    </m:sSub>
                    <m:r>
                      <a:rPr lang="ar-AE" sz="900" b="0" i="0">
                        <a:solidFill>
                          <a:schemeClr val="tx1"/>
                        </a:solidFill>
                        <a:latin typeface="Cambria Math" panose="02040503050406030204" pitchFamily="18" charset="0"/>
                      </a:rPr>
                      <m:t>∝</m:t>
                    </m:r>
                    <m:sSup>
                      <m:sSupPr>
                        <m:ctrlPr>
                          <a:rPr lang="ar-AE" sz="900" b="0" i="1">
                            <a:solidFill>
                              <a:schemeClr val="tx1"/>
                            </a:solidFill>
                            <a:latin typeface="Cambria Math" panose="02040503050406030204" pitchFamily="18" charset="0"/>
                          </a:rPr>
                        </m:ctrlPr>
                      </m:sSupPr>
                      <m:e>
                        <m:r>
                          <a:rPr lang="ar-AE" sz="900" b="0" i="1">
                            <a:solidFill>
                              <a:schemeClr val="tx1"/>
                            </a:solidFill>
                            <a:latin typeface="Cambria Math" panose="02040503050406030204" pitchFamily="18" charset="0"/>
                          </a:rPr>
                          <m:t>𝜆</m:t>
                        </m:r>
                      </m:e>
                      <m:sup>
                        <m:r>
                          <a:rPr lang="ar-AE" sz="900" b="0" i="1">
                            <a:solidFill>
                              <a:schemeClr val="tx1"/>
                            </a:solidFill>
                            <a:latin typeface="Cambria Math" panose="02040503050406030204" pitchFamily="18" charset="0"/>
                          </a:rPr>
                          <m:t>𝑘</m:t>
                        </m:r>
                      </m:sup>
                    </m:sSup>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Para volatilidad, suelen funcionar valores como 0.94; para ponderar escenarios históricos, suelen usarse </a:t>
                </a:r>
                <a14:m>
                  <m:oMath xmlns:m="http://schemas.openxmlformats.org/officeDocument/2006/math">
                    <m:r>
                      <a:rPr lang="es-PE" sz="900" i="1">
                        <a:solidFill>
                          <a:schemeClr val="tx1"/>
                        </a:solidFill>
                        <a:latin typeface="Cambria Math" panose="02040503050406030204" pitchFamily="18" charset="0"/>
                      </a:rPr>
                      <m:t>𝜆</m:t>
                    </m:r>
                  </m:oMath>
                </a14:m>
                <a:r>
                  <a:rPr lang="es-PE" sz="900" b="0" i="0" dirty="0">
                    <a:solidFill>
                      <a:schemeClr val="tx1"/>
                    </a:solidFill>
                    <a:effectLst/>
                    <a:latin typeface="Segoe WPC"/>
                  </a:rPr>
                  <a:t> más altos, cercanos a 0.99.</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uses ponderación exponencial en </a:t>
                </a:r>
                <a:r>
                  <a:rPr lang="es-PE" sz="900" b="0" i="0" dirty="0" err="1">
                    <a:solidFill>
                      <a:schemeClr val="tx1"/>
                    </a:solidFill>
                    <a:effectLst/>
                    <a:latin typeface="Segoe WPC"/>
                  </a:rPr>
                  <a:t>stressed</a:t>
                </a:r>
                <a:r>
                  <a:rPr lang="es-PE" sz="900" b="0" i="0" dirty="0">
                    <a:solidFill>
                      <a:schemeClr val="tx1"/>
                    </a:solidFill>
                    <a:effectLst/>
                    <a:latin typeface="Segoe WPC"/>
                  </a:rPr>
                  <a:t> </a:t>
                </a:r>
                <a:r>
                  <a:rPr lang="es-PE" sz="900" b="0" i="0" dirty="0" err="1">
                    <a:solidFill>
                      <a:schemeClr val="tx1"/>
                    </a:solidFill>
                    <a:effectLst/>
                    <a:latin typeface="Segoe WPC"/>
                  </a:rPr>
                  <a:t>historical</a:t>
                </a:r>
                <a:r>
                  <a:rPr lang="es-PE" sz="900" b="0" i="0" dirty="0">
                    <a:solidFill>
                      <a:schemeClr val="tx1"/>
                    </a:solidFill>
                    <a:effectLst/>
                    <a:latin typeface="Segoe WPC"/>
                  </a:rPr>
                  <a:t> </a:t>
                </a:r>
                <a:r>
                  <a:rPr lang="es-PE" sz="900" b="0" i="0" dirty="0" err="1">
                    <a:solidFill>
                      <a:schemeClr val="tx1"/>
                    </a:solidFill>
                    <a:effectLst/>
                    <a:latin typeface="Segoe WPC"/>
                  </a:rPr>
                  <a:t>simulation</a:t>
                </a:r>
                <a:r>
                  <a:rPr lang="es-PE" sz="900" b="0" i="0" dirty="0">
                    <a:solidFill>
                      <a:schemeClr val="tx1"/>
                    </a:solidFill>
                    <a:effectLst/>
                    <a:latin typeface="Segoe WPC"/>
                  </a:rPr>
                  <a:t> regulatoria; ahí no hay motivo para privilegiar días más recientes dentro del período de estrés.</a:t>
                </a:r>
              </a:p>
              <a:p>
                <a:pPr algn="l">
                  <a:spcAft>
                    <a:spcPts val="600"/>
                  </a:spcAft>
                  <a:buNone/>
                </a:pPr>
                <a:r>
                  <a:rPr lang="es-PE" sz="900" b="1" i="0" dirty="0">
                    <a:solidFill>
                      <a:schemeClr val="tx1"/>
                    </a:solidFill>
                    <a:effectLst/>
                    <a:latin typeface="Segoe WPC"/>
                  </a:rPr>
                  <a:t>9. GARCH(1,1) and Mean </a:t>
                </a:r>
                <a:r>
                  <a:rPr lang="es-PE" sz="900" b="1" i="0" dirty="0" err="1">
                    <a:solidFill>
                      <a:schemeClr val="tx1"/>
                    </a:solidFill>
                    <a:effectLst/>
                    <a:latin typeface="Segoe WPC"/>
                  </a:rPr>
                  <a:t>Reversion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Modelo más general que EWMA para monitorear varianza con reversión a la media.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volatilidad de hoy depende del último shock, de la volatilidad previa y de un nivel de largo plazo al que tiende a volver.</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la volatilidad está muy alta, GARCH la “jala” hacia abajo; si está muy baja, la “jala” hacia arriba.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𝑛</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𝜔</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𝛼</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𝛽</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0">
                            <a:solidFill>
                              <a:schemeClr val="tx1"/>
                            </a:solidFill>
                            <a:latin typeface="Cambria Math" panose="02040503050406030204" pitchFamily="18" charset="0"/>
                          </a:rPr>
                          <m:t>2</m:t>
                        </m:r>
                      </m:sup>
                    </m:sSubSup>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 </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𝑉</m:t>
                        </m:r>
                      </m:e>
                      <m:sub>
                        <m:r>
                          <a:rPr lang="ar-AE" sz="900" i="1">
                            <a:solidFill>
                              <a:schemeClr val="tx1"/>
                            </a:solidFill>
                            <a:latin typeface="Cambria Math" panose="02040503050406030204" pitchFamily="18" charset="0"/>
                          </a:rPr>
                          <m:t>𝐿</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𝜔</m:t>
                        </m:r>
                      </m:num>
                      <m:den>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𝛼</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𝛽</m:t>
                        </m:r>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EWMA es un caso especial de GARCH(1,1) sin reversión a la media. GARCH incorpora persistencia y mean </a:t>
                </a:r>
                <a:r>
                  <a:rPr lang="es-PE" sz="900" b="0" i="0" dirty="0" err="1">
                    <a:solidFill>
                      <a:schemeClr val="tx1"/>
                    </a:solidFill>
                    <a:effectLst/>
                    <a:latin typeface="Segoe WPC"/>
                  </a:rPr>
                  <a:t>reversion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Mean </a:t>
                </a:r>
                <a:r>
                  <a:rPr lang="es-PE" sz="900" b="0" i="0" dirty="0" err="1">
                    <a:solidFill>
                      <a:schemeClr val="tx1"/>
                    </a:solidFill>
                    <a:effectLst/>
                    <a:latin typeface="Segoe WPC"/>
                  </a:rPr>
                  <a:t>reversion</a:t>
                </a:r>
                <a:r>
                  <a:rPr lang="es-PE" sz="900" b="0" i="0" dirty="0">
                    <a:solidFill>
                      <a:schemeClr val="tx1"/>
                    </a:solidFill>
                    <a:effectLst/>
                    <a:latin typeface="Segoe WPC"/>
                  </a:rPr>
                  <a:t> puede tener sentido para volatilidad o tasas, pero no para precios de activos transables, porque eso implicaría oportunidades de arbitraje previsibles.</a:t>
                </a:r>
              </a:p>
              <a:p>
                <a:pPr algn="l">
                  <a:spcAft>
                    <a:spcPts val="600"/>
                  </a:spcAft>
                  <a:buNone/>
                </a:pPr>
                <a:r>
                  <a:rPr lang="es-PE" sz="900" b="1" i="0" dirty="0">
                    <a:solidFill>
                      <a:schemeClr val="tx1"/>
                    </a:solidFill>
                    <a:effectLst/>
                    <a:latin typeface="Segoe WPC"/>
                  </a:rPr>
                  <a:t>10. Long-</a:t>
                </a:r>
                <a:r>
                  <a:rPr lang="es-PE" sz="900" b="1" i="0" dirty="0" err="1">
                    <a:solidFill>
                      <a:schemeClr val="tx1"/>
                    </a:solidFill>
                    <a:effectLst/>
                    <a:latin typeface="Segoe WPC"/>
                  </a:rPr>
                  <a:t>Horizon</a:t>
                </a:r>
                <a:r>
                  <a:rPr lang="es-PE" sz="900" b="1" i="0" dirty="0">
                    <a:solidFill>
                      <a:schemeClr val="tx1"/>
                    </a:solidFill>
                    <a:effectLst/>
                    <a:latin typeface="Segoe WPC"/>
                  </a:rPr>
                  <a:t> </a:t>
                </a:r>
                <a:r>
                  <a:rPr lang="es-PE" sz="900" b="1" i="0" dirty="0" err="1">
                    <a:solidFill>
                      <a:schemeClr val="tx1"/>
                    </a:solidFill>
                    <a:effectLst/>
                    <a:latin typeface="Segoe WPC"/>
                  </a:rPr>
                  <a:t>Volatility</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Estimación de volatilidad para horizontes mayores a un día.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regla de raíz de tiempo sirve con volatilidad constante, pero puede fallar si hay mean </a:t>
                </a:r>
                <a:r>
                  <a:rPr lang="es-PE" sz="900" b="0" i="0" dirty="0" err="1">
                    <a:solidFill>
                      <a:schemeClr val="tx1"/>
                    </a:solidFill>
                    <a:effectLst/>
                    <a:latin typeface="Segoe WPC"/>
                  </a:rPr>
                  <a:t>reversion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hoy la volatilidad está muy alta, no necesariamente seguirá así por 25 días; por eso </a:t>
                </a:r>
                <a14:m>
                  <m:oMath xmlns:m="http://schemas.openxmlformats.org/officeDocument/2006/math">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𝑇</m:t>
                        </m:r>
                      </m:e>
                    </m:rad>
                  </m:oMath>
                </a14:m>
                <a:r>
                  <a:rPr lang="ar-AE" sz="900" b="0" i="0" dirty="0">
                    <a:solidFill>
                      <a:schemeClr val="tx1"/>
                    </a:solidFill>
                    <a:effectLst/>
                    <a:latin typeface="Segoe WPC"/>
                  </a:rPr>
                  <a:t> </a:t>
                </a:r>
                <a:r>
                  <a:rPr lang="es-PE" sz="900" b="0" i="0" dirty="0">
                    <a:solidFill>
                      <a:schemeClr val="tx1"/>
                    </a:solidFill>
                    <a:effectLst/>
                    <a:latin typeface="Segoe WPC"/>
                  </a:rPr>
                  <a:t>puede exagerar el riesgo.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Si es constante: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m:t>
                    </m:r>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𝑇</m:t>
                        </m:r>
                      </m:e>
                    </m:rad>
                    <m:r>
                      <m:rPr>
                        <m:nor/>
                      </m:rPr>
                      <a:rPr lang="ar-AE" sz="900" b="0" i="1">
                        <a:solidFill>
                          <a:schemeClr val="tx1"/>
                        </a:solidFill>
                        <a:latin typeface="Cambria Math" panose="02040503050406030204" pitchFamily="18" charset="0"/>
                      </a:rPr>
                      <m:t> </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𝜎</m:t>
                        </m:r>
                      </m:e>
                      <m:sub>
                        <m:r>
                          <a:rPr lang="ar-AE" sz="900" b="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r>
                  <a:rPr lang="es-PE" sz="900" b="0" i="0" dirty="0">
                    <a:solidFill>
                      <a:schemeClr val="tx1"/>
                    </a:solidFill>
                    <a:effectLst/>
                    <a:latin typeface="Segoe WPC"/>
                  </a:rPr>
                  <a:t>en GARCH: </a:t>
                </a:r>
                <a14:m>
                  <m:oMath xmlns:m="http://schemas.openxmlformats.org/officeDocument/2006/math">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𝑡</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𝑘</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𝑉</m:t>
                        </m:r>
                      </m:e>
                      <m:sub>
                        <m:r>
                          <a:rPr lang="ar-AE" sz="900" i="1">
                            <a:solidFill>
                              <a:schemeClr val="tx1"/>
                            </a:solidFill>
                            <a:latin typeface="Cambria Math" panose="02040503050406030204" pitchFamily="18" charset="0"/>
                          </a:rPr>
                          <m:t>𝐿</m:t>
                        </m:r>
                      </m:sub>
                    </m:sSub>
                    <m:r>
                      <a:rPr lang="ar-AE" sz="900" i="0">
                        <a:solidFill>
                          <a:schemeClr val="tx1"/>
                        </a:solidFill>
                        <a:latin typeface="Cambria Math" panose="02040503050406030204" pitchFamily="18" charset="0"/>
                      </a:rPr>
                      <m:t>+</m:t>
                    </m:r>
                    <m:d>
                      <m:dPr>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𝛼</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𝛽</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1">
                                <a:solidFill>
                                  <a:schemeClr val="tx1"/>
                                </a:solidFill>
                                <a:latin typeface="Cambria Math" panose="02040503050406030204" pitchFamily="18" charset="0"/>
                              </a:rPr>
                              <m:t>𝑘</m:t>
                            </m:r>
                          </m:sup>
                        </m:sSup>
                        <m:d>
                          <m:dPr>
                            <m:ctrlPr>
                              <a:rPr lang="ar-AE" sz="900" i="1">
                                <a:solidFill>
                                  <a:schemeClr val="tx1"/>
                                </a:solidFill>
                                <a:latin typeface="Cambria Math" panose="02040503050406030204" pitchFamily="18" charset="0"/>
                              </a:rPr>
                            </m:ctrlPr>
                          </m:dPr>
                          <m:e>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𝑡</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𝑉</m:t>
                                </m:r>
                              </m:e>
                              <m:sub>
                                <m:r>
                                  <a:rPr lang="ar-AE" sz="900" i="1">
                                    <a:solidFill>
                                      <a:schemeClr val="tx1"/>
                                    </a:solidFill>
                                    <a:latin typeface="Cambria Math" panose="02040503050406030204" pitchFamily="18" charset="0"/>
                                  </a:rPr>
                                  <m:t>𝐿</m:t>
                                </m:r>
                              </m:sub>
                            </m:sSub>
                          </m:e>
                        </m:d>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Con GARCH se puede estimar la varianza promedio futura y usarla para un VaR o ES a varios días más realista.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La regla </a:t>
                </a:r>
                <a14:m>
                  <m:oMath xmlns:m="http://schemas.openxmlformats.org/officeDocument/2006/math">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𝑇</m:t>
                        </m:r>
                      </m:e>
                    </m:rad>
                  </m:oMath>
                </a14:m>
                <a:r>
                  <a:rPr lang="ar-AE" sz="900" b="0" i="0" dirty="0">
                    <a:solidFill>
                      <a:schemeClr val="tx1"/>
                    </a:solidFill>
                    <a:effectLst/>
                    <a:latin typeface="Segoe WPC"/>
                  </a:rPr>
                  <a:t> </a:t>
                </a:r>
                <a:r>
                  <a:rPr lang="es-PE" sz="900" b="0" i="0" dirty="0">
                    <a:solidFill>
                      <a:schemeClr val="tx1"/>
                    </a:solidFill>
                    <a:effectLst/>
                    <a:latin typeface="Segoe WPC"/>
                  </a:rPr>
                  <a:t>es exacta solo bajo supuestos restrictivos; en presencia de mean </a:t>
                </a:r>
                <a:r>
                  <a:rPr lang="es-PE" sz="900" b="0" i="0" dirty="0" err="1">
                    <a:solidFill>
                      <a:schemeClr val="tx1"/>
                    </a:solidFill>
                    <a:effectLst/>
                    <a:latin typeface="Segoe WPC"/>
                  </a:rPr>
                  <a:t>reversion</a:t>
                </a:r>
                <a:r>
                  <a:rPr lang="es-PE" sz="900" b="0" i="0" dirty="0">
                    <a:solidFill>
                      <a:schemeClr val="tx1"/>
                    </a:solidFill>
                    <a:effectLst/>
                    <a:latin typeface="Segoe WPC"/>
                  </a:rPr>
                  <a:t> es una aproximación.</a:t>
                </a:r>
              </a:p>
              <a:p>
                <a:pPr algn="l">
                  <a:spcAft>
                    <a:spcPts val="600"/>
                  </a:spcAft>
                  <a:buNone/>
                </a:pPr>
                <a:r>
                  <a:rPr lang="es-PE" sz="900" b="1" i="0" dirty="0">
                    <a:solidFill>
                      <a:schemeClr val="tx1"/>
                    </a:solidFill>
                    <a:effectLst/>
                    <a:latin typeface="Segoe WPC"/>
                  </a:rPr>
                  <a:t>11. </a:t>
                </a:r>
                <a:r>
                  <a:rPr lang="es-PE" sz="900" b="1" i="0" dirty="0" err="1">
                    <a:solidFill>
                      <a:schemeClr val="tx1"/>
                    </a:solidFill>
                    <a:effectLst/>
                    <a:latin typeface="Segoe WPC"/>
                  </a:rPr>
                  <a:t>Implied</a:t>
                </a:r>
                <a:r>
                  <a:rPr lang="es-PE" sz="900" b="1" i="0" dirty="0">
                    <a:solidFill>
                      <a:schemeClr val="tx1"/>
                    </a:solidFill>
                    <a:effectLst/>
                    <a:latin typeface="Segoe WPC"/>
                  </a:rPr>
                  <a:t> </a:t>
                </a:r>
                <a:r>
                  <a:rPr lang="es-PE" sz="900" b="1" i="0" dirty="0" err="1">
                    <a:solidFill>
                      <a:schemeClr val="tx1"/>
                    </a:solidFill>
                    <a:effectLst/>
                    <a:latin typeface="Segoe WPC"/>
                  </a:rPr>
                  <a:t>Volatility</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Volatilidad implícita en precios de opciones.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diferencia de EWMA o GARCH, la volatilidad implícita mira hacia adelante, no hacia atrás.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mercado de opciones “revela” qué volatilidad espera el mercado para el futuro.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m:rPr>
                            <m:nor/>
                          </m:rPr>
                          <a:rPr lang="es-PE" sz="900" b="0" i="1">
                            <a:solidFill>
                              <a:schemeClr val="tx1"/>
                            </a:solidFill>
                            <a:latin typeface="Cambria Math" panose="02040503050406030204" pitchFamily="18" charset="0"/>
                          </a:rPr>
                          <m:t>daily</m:t>
                        </m:r>
                      </m:sub>
                    </m:sSub>
                    <m:r>
                      <a:rPr lang="ar-AE" sz="900" b="0" i="0">
                        <a:solidFill>
                          <a:schemeClr val="tx1"/>
                        </a:solidFill>
                        <a:latin typeface="Cambria Math" panose="02040503050406030204" pitchFamily="18" charset="0"/>
                      </a:rPr>
                      <m:t>=</m:t>
                    </m:r>
                    <m:f>
                      <m:fPr>
                        <m:ctrlPr>
                          <a:rPr lang="ar-AE" sz="900" b="0" i="1">
                            <a:solidFill>
                              <a:schemeClr val="tx1"/>
                            </a:solidFill>
                            <a:latin typeface="Cambria Math" panose="02040503050406030204" pitchFamily="18" charset="0"/>
                          </a:rPr>
                        </m:ctrlPr>
                      </m:fPr>
                      <m:num>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𝜎</m:t>
                            </m:r>
                          </m:e>
                          <m:sub>
                            <m:r>
                              <m:rPr>
                                <m:nor/>
                              </m:rPr>
                              <a:rPr lang="es-PE" sz="900" b="0" i="1">
                                <a:solidFill>
                                  <a:schemeClr val="tx1"/>
                                </a:solidFill>
                                <a:latin typeface="Cambria Math" panose="02040503050406030204" pitchFamily="18" charset="0"/>
                              </a:rPr>
                              <m:t>annual</m:t>
                            </m:r>
                          </m:sub>
                        </m:sSub>
                      </m:num>
                      <m:den>
                        <m:rad>
                          <m:radPr>
                            <m:degHide m:val="on"/>
                            <m:ctrlPr>
                              <a:rPr lang="ar-AE" sz="900" b="0" i="1">
                                <a:solidFill>
                                  <a:schemeClr val="tx1"/>
                                </a:solidFill>
                                <a:latin typeface="Cambria Math" panose="02040503050406030204" pitchFamily="18" charset="0"/>
                              </a:rPr>
                            </m:ctrlPr>
                          </m:radPr>
                          <m:deg/>
                          <m:e>
                            <m:r>
                              <a:rPr lang="ar-AE" sz="900" b="0" i="0">
                                <a:solidFill>
                                  <a:schemeClr val="tx1"/>
                                </a:solidFill>
                                <a:latin typeface="Cambria Math" panose="02040503050406030204" pitchFamily="18" charset="0"/>
                              </a:rPr>
                              <m:t>252</m:t>
                            </m:r>
                          </m:e>
                        </m:rad>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 </a:t>
                </a:r>
                <a:r>
                  <a:rPr lang="es-PE" sz="900" b="0" i="0" dirty="0" err="1">
                    <a:solidFill>
                      <a:schemeClr val="tx1"/>
                    </a:solidFill>
                    <a:effectLst/>
                    <a:latin typeface="Segoe WPC"/>
                  </a:rPr>
                  <a:t>implied</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suele predecir mejor la volatilidad realizada que las medidas puramente históricas. El VIX es el ejemplo clásico.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La </a:t>
                </a:r>
                <a:r>
                  <a:rPr lang="es-PE" sz="900" b="0" i="0" dirty="0" err="1">
                    <a:solidFill>
                      <a:schemeClr val="tx1"/>
                    </a:solidFill>
                    <a:effectLst/>
                    <a:latin typeface="Segoe WPC"/>
                  </a:rPr>
                  <a:t>implied</a:t>
                </a:r>
                <a:r>
                  <a:rPr lang="es-PE" sz="900" b="0" i="0" dirty="0">
                    <a:solidFill>
                      <a:schemeClr val="tx1"/>
                    </a:solidFill>
                    <a:effectLst/>
                    <a:latin typeface="Segoe WPC"/>
                  </a:rPr>
                  <a:t> </a:t>
                </a:r>
                <a:r>
                  <a:rPr lang="es-PE" sz="900" b="0" i="0" dirty="0" err="1">
                    <a:solidFill>
                      <a:schemeClr val="tx1"/>
                    </a:solidFill>
                    <a:effectLst/>
                    <a:latin typeface="Segoe WPC"/>
                  </a:rPr>
                  <a:t>vol</a:t>
                </a:r>
                <a:r>
                  <a:rPr lang="es-PE" sz="900" b="0" i="0" dirty="0">
                    <a:solidFill>
                      <a:schemeClr val="tx1"/>
                    </a:solidFill>
                    <a:effectLst/>
                    <a:latin typeface="Segoe WPC"/>
                  </a:rPr>
                  <a:t> de una opción a un mes refleja volatilidad esperada promedio para ese horizonte, no la volatilidad spot exacta de mañana.</a:t>
                </a:r>
              </a:p>
              <a:p>
                <a:pPr algn="l">
                  <a:spcAft>
                    <a:spcPts val="600"/>
                  </a:spcAft>
                  <a:buNone/>
                </a:pPr>
                <a:r>
                  <a:rPr lang="es-PE" sz="900" b="1" i="0" dirty="0">
                    <a:solidFill>
                      <a:schemeClr val="tx1"/>
                    </a:solidFill>
                    <a:effectLst/>
                    <a:latin typeface="Segoe WPC"/>
                  </a:rPr>
                  <a:t>12. </a:t>
                </a:r>
                <a:r>
                  <a:rPr lang="es-PE" sz="900" b="1" i="0" dirty="0" err="1">
                    <a:solidFill>
                      <a:schemeClr val="tx1"/>
                    </a:solidFill>
                    <a:effectLst/>
                    <a:latin typeface="Segoe WPC"/>
                  </a:rPr>
                  <a:t>Monitoring</a:t>
                </a:r>
                <a:r>
                  <a:rPr lang="es-PE" sz="900" b="1" i="0" dirty="0">
                    <a:solidFill>
                      <a:schemeClr val="tx1"/>
                    </a:solidFill>
                    <a:effectLst/>
                    <a:latin typeface="Segoe WPC"/>
                  </a:rPr>
                  <a:t> </a:t>
                </a:r>
                <a:r>
                  <a:rPr lang="es-PE" sz="900" b="1" i="0" dirty="0" err="1">
                    <a:solidFill>
                      <a:schemeClr val="tx1"/>
                    </a:solidFill>
                    <a:effectLst/>
                    <a:latin typeface="Segoe WPC"/>
                  </a:rPr>
                  <a:t>Correlation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Seguimiento dinámico de covarianzas y correlaciones junto con volatilidades.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Para VaR delta-normal no basta con saber volatilidades; también necesitas cómo se mueven juntas las variables.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Igual que con volatilidad, actualizas la covarianza usando más peso en observaciones recientes.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b="0" i="1">
                            <a:solidFill>
                              <a:schemeClr val="tx1"/>
                            </a:solidFill>
                            <a:latin typeface="Cambria Math" panose="02040503050406030204" pitchFamily="18" charset="0"/>
                          </a:rPr>
                        </m:ctrlPr>
                      </m:sSubPr>
                      <m:e>
                        <m:r>
                          <m:rPr>
                            <m:nor/>
                          </m:rPr>
                          <a:rPr lang="es-PE" sz="900" b="0">
                            <a:solidFill>
                              <a:schemeClr val="tx1"/>
                            </a:solidFill>
                          </a:rPr>
                          <m:t>cov</m:t>
                        </m:r>
                      </m:e>
                      <m:sub>
                        <m:r>
                          <a:rPr lang="ar-AE" sz="900" b="0" i="1">
                            <a:solidFill>
                              <a:schemeClr val="tx1"/>
                            </a:solidFill>
                            <a:latin typeface="Cambria Math" panose="02040503050406030204" pitchFamily="18" charset="0"/>
                          </a:rPr>
                          <m:t>𝑛</m:t>
                        </m:r>
                      </m:sub>
                    </m:sSub>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𝜆</m:t>
                    </m:r>
                    <m:r>
                      <m:rPr>
                        <m:nor/>
                      </m:rPr>
                      <a:rPr lang="ar-AE" sz="900" b="0" i="1">
                        <a:solidFill>
                          <a:schemeClr val="tx1"/>
                        </a:solidFill>
                        <a:latin typeface="Cambria Math" panose="02040503050406030204" pitchFamily="18" charset="0"/>
                      </a:rPr>
                      <m:t> </m:t>
                    </m:r>
                    <m:sSub>
                      <m:sSubPr>
                        <m:ctrlPr>
                          <a:rPr lang="ar-AE" sz="900" b="0" i="1">
                            <a:solidFill>
                              <a:schemeClr val="tx1"/>
                            </a:solidFill>
                            <a:latin typeface="Cambria Math" panose="02040503050406030204" pitchFamily="18" charset="0"/>
                          </a:rPr>
                        </m:ctrlPr>
                      </m:sSubPr>
                      <m:e>
                        <m:r>
                          <m:rPr>
                            <m:nor/>
                          </m:rPr>
                          <a:rPr lang="es-PE" sz="900" b="0" i="1">
                            <a:solidFill>
                              <a:schemeClr val="tx1"/>
                            </a:solidFill>
                            <a:latin typeface="Cambria Math" panose="02040503050406030204" pitchFamily="18" charset="0"/>
                          </a:rPr>
                          <m:t>cov</m:t>
                        </m:r>
                      </m:e>
                      <m:sub>
                        <m:r>
                          <a:rPr lang="ar-AE" sz="900" b="0" i="1">
                            <a:solidFill>
                              <a:schemeClr val="tx1"/>
                            </a:solidFill>
                            <a:latin typeface="Cambria Math" panose="02040503050406030204" pitchFamily="18" charset="0"/>
                          </a:rPr>
                          <m:t>𝑛</m:t>
                        </m:r>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1</m:t>
                        </m:r>
                      </m:sub>
                    </m:sSub>
                    <m:r>
                      <a:rPr lang="ar-AE" sz="900" b="0" i="0">
                        <a:solidFill>
                          <a:schemeClr val="tx1"/>
                        </a:solidFill>
                        <a:latin typeface="Cambria Math" panose="02040503050406030204" pitchFamily="18" charset="0"/>
                      </a:rPr>
                      <m:t>+</m:t>
                    </m:r>
                    <m:d>
                      <m:dPr>
                        <m:ctrlPr>
                          <a:rPr lang="ar-AE" sz="900" b="0" i="1">
                            <a:solidFill>
                              <a:schemeClr val="tx1"/>
                            </a:solidFill>
                            <a:latin typeface="Cambria Math" panose="02040503050406030204" pitchFamily="18" charset="0"/>
                          </a:rPr>
                        </m:ctrlPr>
                      </m:dPr>
                      <m:e>
                        <m:r>
                          <a:rPr lang="ar-AE" sz="900" b="0" i="0">
                            <a:solidFill>
                              <a:schemeClr val="tx1"/>
                            </a:solidFill>
                            <a:latin typeface="Cambria Math" panose="02040503050406030204" pitchFamily="18" charset="0"/>
                          </a:rPr>
                          <m:t>1</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𝜆</m:t>
                        </m:r>
                      </m:e>
                    </m:d>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𝑥</m:t>
                        </m:r>
                      </m:e>
                      <m:sub>
                        <m:r>
                          <a:rPr lang="ar-AE" sz="900" b="0" i="1">
                            <a:solidFill>
                              <a:schemeClr val="tx1"/>
                            </a:solidFill>
                            <a:latin typeface="Cambria Math" panose="02040503050406030204" pitchFamily="18" charset="0"/>
                          </a:rPr>
                          <m:t>𝑛</m:t>
                        </m:r>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1</m:t>
                        </m:r>
                      </m:sub>
                    </m:sSub>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𝑦</m:t>
                        </m:r>
                      </m:e>
                      <m:sub>
                        <m:r>
                          <a:rPr lang="ar-AE" sz="900" b="0" i="1">
                            <a:solidFill>
                              <a:schemeClr val="tx1"/>
                            </a:solidFill>
                            <a:latin typeface="Cambria Math" panose="02040503050406030204" pitchFamily="18" charset="0"/>
                          </a:rPr>
                          <m:t>𝑛</m:t>
                        </m:r>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1</m:t>
                        </m:r>
                      </m:sub>
                    </m:sSub>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 </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𝜌</m:t>
                        </m:r>
                      </m:e>
                      <m:sub>
                        <m:r>
                          <a:rPr lang="ar-AE" sz="900" i="1">
                            <a:solidFill>
                              <a:schemeClr val="tx1"/>
                            </a:solidFill>
                            <a:latin typeface="Cambria Math" panose="02040503050406030204" pitchFamily="18" charset="0"/>
                          </a:rPr>
                          <m:t>𝑛</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m:rPr>
                                <m:nor/>
                              </m:rPr>
                              <a:rPr lang="es-PE" sz="900" b="0" i="1">
                                <a:solidFill>
                                  <a:schemeClr val="tx1"/>
                                </a:solidFill>
                                <a:latin typeface="Cambria Math" panose="02040503050406030204" pitchFamily="18" charset="0"/>
                              </a:rPr>
                              <m:t>cov</m:t>
                            </m:r>
                          </m:e>
                          <m:sub>
                            <m:r>
                              <a:rPr lang="ar-AE" sz="900" b="0" i="1">
                                <a:solidFill>
                                  <a:schemeClr val="tx1"/>
                                </a:solidFill>
                                <a:latin typeface="Cambria Math" panose="02040503050406030204" pitchFamily="18" charset="0"/>
                              </a:rPr>
                              <m:t>𝑛</m:t>
                            </m:r>
                          </m:sub>
                        </m:sSub>
                      </m:num>
                      <m:den>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𝜎</m:t>
                            </m:r>
                          </m:e>
                          <m:sub>
                            <m:r>
                              <a:rPr lang="ar-AE" sz="900" b="0" i="1">
                                <a:solidFill>
                                  <a:schemeClr val="tx1"/>
                                </a:solidFill>
                                <a:latin typeface="Cambria Math" panose="02040503050406030204" pitchFamily="18" charset="0"/>
                              </a:rPr>
                              <m:t>𝑥</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𝑛</m:t>
                            </m:r>
                          </m:sub>
                        </m:sSub>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𝜎</m:t>
                            </m:r>
                          </m:e>
                          <m:sub>
                            <m:r>
                              <a:rPr lang="ar-AE" sz="900" b="0" i="1">
                                <a:solidFill>
                                  <a:schemeClr val="tx1"/>
                                </a:solidFill>
                                <a:latin typeface="Cambria Math" panose="02040503050406030204" pitchFamily="18" charset="0"/>
                              </a:rPr>
                              <m:t>𝑦</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𝑛</m:t>
                            </m:r>
                          </m:sub>
                        </m:sSub>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Para consistencia, si usas EWMA en varianzas, debes usar el mismo </a:t>
                </a:r>
                <a14:m>
                  <m:oMath xmlns:m="http://schemas.openxmlformats.org/officeDocument/2006/math">
                    <m:r>
                      <a:rPr lang="es-PE" sz="900" i="1">
                        <a:solidFill>
                          <a:schemeClr val="tx1"/>
                        </a:solidFill>
                        <a:latin typeface="Cambria Math" panose="02040503050406030204" pitchFamily="18" charset="0"/>
                      </a:rPr>
                      <m:t>𝜆</m:t>
                    </m:r>
                  </m:oMath>
                </a14:m>
                <a:r>
                  <a:rPr lang="es-PE" sz="900" b="0" i="0" dirty="0">
                    <a:solidFill>
                      <a:schemeClr val="tx1"/>
                    </a:solidFill>
                    <a:effectLst/>
                    <a:latin typeface="Segoe WPC"/>
                  </a:rPr>
                  <a:t> en covarianzas.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Extender GARCH a muchas covarianzas es bastante más complejo que actualizar una sola volatilidad.</a:t>
                </a:r>
              </a:p>
            </p:txBody>
          </p:sp>
        </mc:Choice>
        <mc:Fallback xmlns="">
          <p:sp>
            <p:nvSpPr>
              <p:cNvPr id="7" name="CuadroTexto 6">
                <a:extLst>
                  <a:ext uri="{FF2B5EF4-FFF2-40B4-BE49-F238E27FC236}">
                    <a16:creationId xmlns:a16="http://schemas.microsoft.com/office/drawing/2014/main" id="{924A4C5F-BEB7-A4CD-0368-84BF64D01D6B}"/>
                  </a:ext>
                </a:extLst>
              </p:cNvPr>
              <p:cNvSpPr txBox="1">
                <a:spLocks noRot="1" noChangeAspect="1" noMove="1" noResize="1" noEditPoints="1" noAdjustHandles="1" noChangeArrowheads="1" noChangeShapeType="1" noTextEdit="1"/>
              </p:cNvSpPr>
              <p:nvPr/>
            </p:nvSpPr>
            <p:spPr>
              <a:xfrm>
                <a:off x="5742214" y="-82210"/>
                <a:ext cx="6769100" cy="9528506"/>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7483219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DCCE9C-86D2-8B36-F3B5-292A947A88A6}"/>
              </a:ext>
            </a:extLst>
          </p:cNvPr>
          <p:cNvSpPr>
            <a:spLocks noGrp="1"/>
          </p:cNvSpPr>
          <p:nvPr>
            <p:ph type="title"/>
          </p:nvPr>
        </p:nvSpPr>
        <p:spPr>
          <a:xfrm>
            <a:off x="0" y="0"/>
            <a:ext cx="10515600" cy="244475"/>
          </a:xfrm>
        </p:spPr>
        <p:txBody>
          <a:bodyPr>
            <a:noAutofit/>
          </a:bodyPr>
          <a:lstStyle/>
          <a:p>
            <a:r>
              <a:rPr lang="en-US" sz="3200" dirty="0"/>
              <a:t>External and Credit Ratings</a:t>
            </a:r>
            <a:endParaRPr lang="es-PE" sz="32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5221804D-8A7B-24B4-A971-B54765B7CC4E}"/>
                  </a:ext>
                </a:extLst>
              </p:cNvPr>
              <p:cNvSpPr txBox="1"/>
              <p:nvPr/>
            </p:nvSpPr>
            <p:spPr>
              <a:xfrm>
                <a:off x="0" y="244475"/>
                <a:ext cx="6019800" cy="7030643"/>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a:t>
                </a:r>
                <a:r>
                  <a:rPr lang="es-PE" sz="900" b="1" i="0" dirty="0" err="1">
                    <a:solidFill>
                      <a:schemeClr val="tx1"/>
                    </a:solidFill>
                    <a:effectLst/>
                    <a:latin typeface="Segoe WPC"/>
                  </a:rPr>
                  <a:t>Credit</a:t>
                </a:r>
                <a:r>
                  <a:rPr lang="es-PE" sz="900" b="1" i="0" dirty="0">
                    <a:solidFill>
                      <a:schemeClr val="tx1"/>
                    </a:solidFill>
                    <a:effectLst/>
                    <a:latin typeface="Segoe WPC"/>
                  </a:rPr>
                  <a:t> Ratings and </a:t>
                </a:r>
                <a:r>
                  <a:rPr lang="es-PE" sz="900" b="1" i="0" dirty="0" err="1">
                    <a:solidFill>
                      <a:schemeClr val="tx1"/>
                    </a:solidFill>
                    <a:effectLst/>
                    <a:latin typeface="Segoe WPC"/>
                  </a:rPr>
                  <a:t>Their</a:t>
                </a:r>
                <a:r>
                  <a:rPr lang="es-PE" sz="900" b="1" i="0" dirty="0">
                    <a:solidFill>
                      <a:schemeClr val="tx1"/>
                    </a:solidFill>
                    <a:effectLst/>
                    <a:latin typeface="Segoe WPC"/>
                  </a:rPr>
                  <a:t> </a:t>
                </a:r>
                <a:r>
                  <a:rPr lang="es-PE" sz="900" b="1" i="0" dirty="0" err="1">
                    <a:solidFill>
                      <a:schemeClr val="tx1"/>
                    </a:solidFill>
                    <a:effectLst/>
                    <a:latin typeface="Segoe WPC"/>
                  </a:rPr>
                  <a:t>Purpose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Calificaciones crediticias externas para estimar el riesgo de default de un emisor o instrumento.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 rating responde a: “¿qué tan probable es que esta entidad no cumpla sus obligaciones?”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Cuanto mejor el rating, menor la probabilidad esperada de default y menor el spread exigido por el mercado.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hay una fórmula única; el rating resume una opinión sobre </a:t>
                </a:r>
                <a14:m>
                  <m:oMath xmlns:m="http://schemas.openxmlformats.org/officeDocument/2006/math">
                    <m:r>
                      <a:rPr lang="es-PE" sz="900" i="1">
                        <a:solidFill>
                          <a:schemeClr val="tx1"/>
                        </a:solidFill>
                        <a:latin typeface="Cambria Math" panose="02040503050406030204" pitchFamily="18" charset="0"/>
                      </a:rPr>
                      <m:t>𝑃𝐷</m:t>
                    </m:r>
                  </m:oMath>
                </a14:m>
                <a:r>
                  <a:rPr lang="es-PE" sz="900" b="0" i="0" dirty="0">
                    <a:solidFill>
                      <a:schemeClr val="tx1"/>
                    </a:solidFill>
                    <a:effectLst/>
                    <a:latin typeface="Segoe WPC"/>
                  </a:rPr>
                  <a:t> o sobre pérdida esperada.</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Moody’s, S&amp;P y Fitch son la fuente externa más usada para medir riesgo crediticio, especialmente en bonos y </a:t>
                </a:r>
                <a:r>
                  <a:rPr lang="es-PE" sz="900" b="0" i="0" dirty="0" err="1">
                    <a:solidFill>
                      <a:schemeClr val="tx1"/>
                    </a:solidFill>
                    <a:effectLst/>
                    <a:latin typeface="Segoe WPC"/>
                  </a:rPr>
                  <a:t>money</a:t>
                </a:r>
                <a:r>
                  <a:rPr lang="es-PE" sz="900" b="0" i="0" dirty="0">
                    <a:solidFill>
                      <a:schemeClr val="tx1"/>
                    </a:solidFill>
                    <a:effectLst/>
                    <a:latin typeface="Segoe WPC"/>
                  </a:rPr>
                  <a:t> </a:t>
                </a:r>
                <a:r>
                  <a:rPr lang="es-PE" sz="900" b="0" i="0" dirty="0" err="1">
                    <a:solidFill>
                      <a:schemeClr val="tx1"/>
                    </a:solidFill>
                    <a:effectLst/>
                    <a:latin typeface="Segoe WPC"/>
                  </a:rPr>
                  <a:t>markets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El rating suele asignarse al instrumento, no necesariamente a la empresa en abstracto, aunque en práctica muchas veces se trate como si fuera del emisor.</a:t>
                </a:r>
              </a:p>
              <a:p>
                <a:pPr algn="l">
                  <a:spcAft>
                    <a:spcPts val="600"/>
                  </a:spcAft>
                  <a:buNone/>
                </a:pPr>
                <a:r>
                  <a:rPr lang="es-PE" sz="900" b="1" i="0" dirty="0">
                    <a:solidFill>
                      <a:schemeClr val="tx1"/>
                    </a:solidFill>
                    <a:effectLst/>
                    <a:latin typeface="Segoe WPC"/>
                  </a:rPr>
                  <a:t>2. Long-</a:t>
                </a:r>
                <a:r>
                  <a:rPr lang="es-PE" sz="900" b="1" i="0" dirty="0" err="1">
                    <a:solidFill>
                      <a:schemeClr val="tx1"/>
                    </a:solidFill>
                    <a:effectLst/>
                    <a:latin typeface="Segoe WPC"/>
                  </a:rPr>
                  <a:t>Term</a:t>
                </a:r>
                <a:r>
                  <a:rPr lang="es-PE" sz="900" b="1" i="0" dirty="0">
                    <a:solidFill>
                      <a:schemeClr val="tx1"/>
                    </a:solidFill>
                    <a:effectLst/>
                    <a:latin typeface="Segoe WPC"/>
                  </a:rPr>
                  <a:t> and Short-</a:t>
                </a:r>
                <a:r>
                  <a:rPr lang="es-PE" sz="900" b="1" i="0" dirty="0" err="1">
                    <a:solidFill>
                      <a:schemeClr val="tx1"/>
                    </a:solidFill>
                    <a:effectLst/>
                    <a:latin typeface="Segoe WPC"/>
                  </a:rPr>
                  <a:t>Term</a:t>
                </a:r>
                <a:r>
                  <a:rPr lang="es-PE" sz="900" b="1" i="0" dirty="0">
                    <a:solidFill>
                      <a:schemeClr val="tx1"/>
                    </a:solidFill>
                    <a:effectLst/>
                    <a:latin typeface="Segoe WPC"/>
                  </a:rPr>
                  <a:t> Rating </a:t>
                </a:r>
                <a:r>
                  <a:rPr lang="es-PE" sz="900" b="1" i="0" dirty="0" err="1">
                    <a:solidFill>
                      <a:schemeClr val="tx1"/>
                    </a:solidFill>
                    <a:effectLst/>
                    <a:latin typeface="Segoe WPC"/>
                  </a:rPr>
                  <a:t>Scales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Escalas de rating para deuda de largo plazo y de corto plazo.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Los bonos usan escalas tipo </a:t>
                </a:r>
                <a14:m>
                  <m:oMath xmlns:m="http://schemas.openxmlformats.org/officeDocument/2006/math">
                    <m:r>
                      <a:rPr lang="es-PE" sz="900" i="1">
                        <a:solidFill>
                          <a:schemeClr val="tx1"/>
                        </a:solidFill>
                        <a:latin typeface="Cambria Math" panose="02040503050406030204" pitchFamily="18" charset="0"/>
                      </a:rPr>
                      <m:t>𝐴𝐴𝐴</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𝐴𝐴</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𝐴</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𝐵𝐵𝐵</m:t>
                    </m:r>
                    <m:r>
                      <a:rPr lang="es-PE" sz="900" i="0">
                        <a:solidFill>
                          <a:schemeClr val="tx1"/>
                        </a:solidFill>
                        <a:latin typeface="Cambria Math" panose="02040503050406030204" pitchFamily="18" charset="0"/>
                      </a:rPr>
                      <m:t>,…</m:t>
                    </m:r>
                  </m:oMath>
                </a14:m>
                <a:r>
                  <a:rPr lang="es-PE" sz="900" b="0" i="0" dirty="0">
                    <a:solidFill>
                      <a:schemeClr val="tx1"/>
                    </a:solidFill>
                    <a:effectLst/>
                    <a:latin typeface="Segoe WPC"/>
                  </a:rPr>
                  <a:t>; los instrumentos de corto plazo usan escalas separadas como </a:t>
                </a:r>
                <a14:m>
                  <m:oMath xmlns:m="http://schemas.openxmlformats.org/officeDocument/2006/math">
                    <m:r>
                      <a:rPr lang="es-PE" sz="900" i="1">
                        <a:solidFill>
                          <a:schemeClr val="tx1"/>
                        </a:solidFill>
                        <a:latin typeface="Cambria Math" panose="02040503050406030204" pitchFamily="18" charset="0"/>
                      </a:rPr>
                      <m:t>𝐴</m:t>
                    </m:r>
                    <m:r>
                      <m:rPr>
                        <m:nor/>
                      </m:rPr>
                      <a:rPr lang="es-PE" sz="900" b="0" i="1">
                        <a:solidFill>
                          <a:schemeClr val="tx1"/>
                        </a:solidFill>
                        <a:latin typeface="Cambria Math" panose="02040503050406030204" pitchFamily="18" charset="0"/>
                      </a:rPr>
                      <m:t>−</m:t>
                    </m:r>
                    <m:r>
                      <a:rPr lang="es-PE" sz="900" b="0" i="0">
                        <a:solidFill>
                          <a:schemeClr val="tx1"/>
                        </a:solidFill>
                        <a:latin typeface="Cambria Math" panose="02040503050406030204" pitchFamily="18" charset="0"/>
                      </a:rPr>
                      <m:t>1</m:t>
                    </m:r>
                  </m:oMath>
                </a14:m>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𝑃</m:t>
                    </m:r>
                    <m:r>
                      <m:rPr>
                        <m:nor/>
                      </m:rPr>
                      <a:rPr lang="es-PE" sz="900" b="0" i="1">
                        <a:solidFill>
                          <a:schemeClr val="tx1"/>
                        </a:solidFill>
                        <a:latin typeface="Cambria Math" panose="02040503050406030204" pitchFamily="18" charset="0"/>
                      </a:rPr>
                      <m:t>−</m:t>
                    </m:r>
                    <m:r>
                      <a:rPr lang="es-PE" sz="900" b="0" i="0">
                        <a:solidFill>
                          <a:schemeClr val="tx1"/>
                        </a:solidFill>
                        <a:latin typeface="Cambria Math" panose="02040503050406030204" pitchFamily="18" charset="0"/>
                      </a:rPr>
                      <m:t>1</m:t>
                    </m:r>
                  </m:oMath>
                </a14:m>
                <a:r>
                  <a:rPr lang="es-PE" sz="900" b="0" i="0" dirty="0">
                    <a:solidFill>
                      <a:schemeClr val="tx1"/>
                    </a:solidFill>
                    <a:effectLst/>
                    <a:latin typeface="Segoe WPC"/>
                  </a:rPr>
                  <a:t>, etc.</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Investment</a:t>
                </a:r>
                <a:r>
                  <a:rPr lang="es-PE" sz="900" b="0" i="0" dirty="0">
                    <a:solidFill>
                      <a:schemeClr val="tx1"/>
                    </a:solidFill>
                    <a:effectLst/>
                    <a:latin typeface="Segoe WPC"/>
                  </a:rPr>
                  <a:t> grade llega hasta </a:t>
                </a:r>
                <a14:m>
                  <m:oMath xmlns:m="http://schemas.openxmlformats.org/officeDocument/2006/math">
                    <m:r>
                      <a:rPr lang="es-PE" sz="900" i="1">
                        <a:solidFill>
                          <a:schemeClr val="tx1"/>
                        </a:solidFill>
                        <a:latin typeface="Cambria Math" panose="02040503050406030204" pitchFamily="18" charset="0"/>
                      </a:rPr>
                      <m:t>𝐵𝐵𝐵</m:t>
                    </m:r>
                    <m:r>
                      <a:rPr lang="es-PE" sz="900" i="0">
                        <a:solidFill>
                          <a:schemeClr val="tx1"/>
                        </a:solidFill>
                        <a:latin typeface="Cambria Math" panose="02040503050406030204" pitchFamily="18" charset="0"/>
                      </a:rPr>
                      <m:t>−</m:t>
                    </m:r>
                  </m:oMath>
                </a14:m>
                <a:r>
                  <a:rPr lang="es-PE" sz="900" b="0" i="0" dirty="0">
                    <a:solidFill>
                      <a:schemeClr val="tx1"/>
                    </a:solidFill>
                    <a:effectLst/>
                    <a:latin typeface="Segoe WPC"/>
                  </a:rPr>
                  <a:t> o </a:t>
                </a:r>
                <a14:m>
                  <m:oMath xmlns:m="http://schemas.openxmlformats.org/officeDocument/2006/math">
                    <m:r>
                      <a:rPr lang="es-PE" sz="900" i="1">
                        <a:solidFill>
                          <a:schemeClr val="tx1"/>
                        </a:solidFill>
                        <a:latin typeface="Cambria Math" panose="02040503050406030204" pitchFamily="18" charset="0"/>
                      </a:rPr>
                      <m:t>𝐵𝑎𝑎</m:t>
                    </m:r>
                    <m:r>
                      <a:rPr lang="es-PE" sz="900" i="0">
                        <a:solidFill>
                          <a:schemeClr val="tx1"/>
                        </a:solidFill>
                        <a:latin typeface="Cambria Math" panose="02040503050406030204" pitchFamily="18" charset="0"/>
                      </a:rPr>
                      <m:t>3</m:t>
                    </m:r>
                  </m:oMath>
                </a14:m>
                <a:r>
                  <a:rPr lang="es-PE" sz="900" b="0" i="0" dirty="0">
                    <a:solidFill>
                      <a:schemeClr val="tx1"/>
                    </a:solidFill>
                    <a:effectLst/>
                    <a:latin typeface="Segoe WPC"/>
                  </a:rPr>
                  <a:t>; por debajo empieza </a:t>
                </a:r>
                <a:r>
                  <a:rPr lang="es-PE" sz="900" b="0" i="0" dirty="0" err="1">
                    <a:solidFill>
                      <a:schemeClr val="tx1"/>
                    </a:solidFill>
                    <a:effectLst/>
                    <a:latin typeface="Segoe WPC"/>
                  </a:rPr>
                  <a:t>speculative</a:t>
                </a:r>
                <a:r>
                  <a:rPr lang="es-PE" sz="900" b="0" i="0" dirty="0">
                    <a:solidFill>
                      <a:schemeClr val="tx1"/>
                    </a:solidFill>
                    <a:effectLst/>
                    <a:latin typeface="Segoe WPC"/>
                  </a:rPr>
                  <a:t> grade o </a:t>
                </a:r>
                <a:r>
                  <a:rPr lang="es-PE" sz="900" b="0" i="0" dirty="0" err="1">
                    <a:solidFill>
                      <a:schemeClr val="tx1"/>
                    </a:solidFill>
                    <a:effectLst/>
                    <a:latin typeface="Segoe WPC"/>
                  </a:rPr>
                  <a:t>junk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Investment</m:t>
                    </m:r>
                    <m:r>
                      <m:rPr>
                        <m:nor/>
                      </m:rPr>
                      <a:rPr lang="es-PE" sz="900" b="0">
                        <a:solidFill>
                          <a:schemeClr val="tx1"/>
                        </a:solidFill>
                      </a:rPr>
                      <m:t> </m:t>
                    </m:r>
                    <m:r>
                      <m:rPr>
                        <m:nor/>
                      </m:rPr>
                      <a:rPr lang="es-PE" sz="900" b="0">
                        <a:solidFill>
                          <a:schemeClr val="tx1"/>
                        </a:solidFill>
                      </a:rPr>
                      <m:t>Grade</m:t>
                    </m:r>
                    <m:r>
                      <m:rPr>
                        <m:nor/>
                      </m:rPr>
                      <a:rPr lang="es-PE" sz="900" b="0" i="1">
                        <a:solidFill>
                          <a:schemeClr val="tx1"/>
                        </a:solidFill>
                      </a:rPr>
                      <m:t>  </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rating</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𝐵𝐵𝐵</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 </m:t>
                    </m:r>
                    <m:d>
                      <m:dPr>
                        <m:ctrlPr>
                          <a:rPr lang="ar-AE" sz="900" b="0" i="1">
                            <a:solidFill>
                              <a:schemeClr val="tx1"/>
                            </a:solidFill>
                            <a:latin typeface="Cambria Math" panose="02040503050406030204" pitchFamily="18" charset="0"/>
                          </a:rPr>
                        </m:ctrlPr>
                      </m:dPr>
                      <m:e>
                        <m:r>
                          <m:rPr>
                            <m:nor/>
                          </m:rPr>
                          <a:rPr lang="es-PE" sz="900" b="0" i="1">
                            <a:solidFill>
                              <a:schemeClr val="tx1"/>
                            </a:solidFill>
                            <a:latin typeface="Cambria Math" panose="02040503050406030204" pitchFamily="18" charset="0"/>
                          </a:rPr>
                          <m:t>o</m:t>
                        </m:r>
                        <m:r>
                          <m:rPr>
                            <m:nor/>
                          </m:rPr>
                          <a:rPr lang="es-PE" sz="900" b="0" i="1">
                            <a:solidFill>
                              <a:schemeClr val="tx1"/>
                            </a:solidFill>
                            <a:latin typeface="Cambria Math" panose="02040503050406030204" pitchFamily="18" charset="0"/>
                          </a:rPr>
                          <m:t> </m:t>
                        </m:r>
                        <m:r>
                          <a:rPr lang="es-PE" sz="900" b="0" i="1">
                            <a:solidFill>
                              <a:schemeClr val="tx1"/>
                            </a:solidFill>
                            <a:latin typeface="Cambria Math" panose="02040503050406030204" pitchFamily="18" charset="0"/>
                          </a:rPr>
                          <m:t>𝐵𝑎𝑎</m:t>
                        </m:r>
                        <m:r>
                          <a:rPr lang="es-PE" sz="900" b="0" i="0">
                            <a:solidFill>
                              <a:schemeClr val="tx1"/>
                            </a:solidFill>
                            <a:latin typeface="Cambria Math" panose="02040503050406030204" pitchFamily="18" charset="0"/>
                          </a:rPr>
                          <m:t>3</m:t>
                        </m:r>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Moody’s usa </a:t>
                </a:r>
                <a14:m>
                  <m:oMath xmlns:m="http://schemas.openxmlformats.org/officeDocument/2006/math">
                    <m:r>
                      <a:rPr lang="es-PE" sz="900" i="1">
                        <a:solidFill>
                          <a:schemeClr val="tx1"/>
                        </a:solidFill>
                        <a:latin typeface="Cambria Math" panose="02040503050406030204" pitchFamily="18" charset="0"/>
                      </a:rPr>
                      <m:t>𝐴𝑎𝑎</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𝐴𝑎</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𝐴</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𝐵𝑎𝑎</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𝐵𝑎</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𝐵</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𝐶𝑎𝑎</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𝐶𝑎</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𝐶</m:t>
                    </m:r>
                  </m:oMath>
                </a14:m>
                <a:r>
                  <a:rPr lang="es-PE" sz="900" b="0" i="0" dirty="0">
                    <a:solidFill>
                      <a:schemeClr val="tx1"/>
                    </a:solidFill>
                    <a:effectLst/>
                    <a:latin typeface="Segoe WPC"/>
                  </a:rPr>
                  <a:t>; S&amp;P/Fitch usan </a:t>
                </a:r>
                <a14:m>
                  <m:oMath xmlns:m="http://schemas.openxmlformats.org/officeDocument/2006/math">
                    <m:r>
                      <a:rPr lang="es-PE" sz="900" i="1">
                        <a:solidFill>
                          <a:schemeClr val="tx1"/>
                        </a:solidFill>
                        <a:latin typeface="Cambria Math" panose="02040503050406030204" pitchFamily="18" charset="0"/>
                      </a:rPr>
                      <m:t>𝐴𝐴𝐴</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𝐴𝐴</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𝐴</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𝐵𝐵𝐵</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𝐵𝐵</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𝐵</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𝐶𝐶𝐶</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𝐶𝐶</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𝐶</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𝐷</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confundas escalas de corto y largo plazo; un rating corto alto no se expresa con la misma nomenclatura que uno largo.</a:t>
                </a:r>
              </a:p>
              <a:p>
                <a:pPr algn="l">
                  <a:spcAft>
                    <a:spcPts val="600"/>
                  </a:spcAft>
                  <a:buNone/>
                </a:pPr>
                <a:r>
                  <a:rPr lang="es-PE" sz="900" b="1" i="0" dirty="0">
                    <a:solidFill>
                      <a:schemeClr val="tx1"/>
                    </a:solidFill>
                    <a:effectLst/>
                    <a:latin typeface="Segoe WPC"/>
                  </a:rPr>
                  <a:t>3. Ratings and Default </a:t>
                </a:r>
                <a:r>
                  <a:rPr lang="es-PE" sz="900" b="1" i="0" dirty="0" err="1">
                    <a:solidFill>
                      <a:schemeClr val="tx1"/>
                    </a:solidFill>
                    <a:effectLst/>
                    <a:latin typeface="Segoe WPC"/>
                  </a:rPr>
                  <a:t>Experience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Relación entre rating inicial y default observado históricamente.</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el sistema funciona, empresas con mejor rating deben </a:t>
                </a:r>
                <a:r>
                  <a:rPr lang="es-PE" sz="900" b="0" i="0" dirty="0" err="1">
                    <a:solidFill>
                      <a:schemeClr val="tx1"/>
                    </a:solidFill>
                    <a:effectLst/>
                    <a:latin typeface="Segoe WPC"/>
                  </a:rPr>
                  <a:t>defaultar</a:t>
                </a:r>
                <a:r>
                  <a:rPr lang="es-PE" sz="900" b="0" i="0" dirty="0">
                    <a:solidFill>
                      <a:schemeClr val="tx1"/>
                    </a:solidFill>
                    <a:effectLst/>
                    <a:latin typeface="Segoe WPC"/>
                  </a:rPr>
                  <a:t> menos que las de peor rating.</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tabla de defaults acumulados debería empeorar al bajar desde </a:t>
                </a:r>
                <a14:m>
                  <m:oMath xmlns:m="http://schemas.openxmlformats.org/officeDocument/2006/math">
                    <m:r>
                      <a:rPr lang="es-PE" sz="900" i="1">
                        <a:solidFill>
                          <a:schemeClr val="tx1"/>
                        </a:solidFill>
                        <a:latin typeface="Cambria Math" panose="02040503050406030204" pitchFamily="18" charset="0"/>
                      </a:rPr>
                      <m:t>𝐴𝐴𝐴</m:t>
                    </m:r>
                  </m:oMath>
                </a14:m>
                <a:r>
                  <a:rPr lang="es-PE" sz="900" b="0" i="0" dirty="0">
                    <a:solidFill>
                      <a:schemeClr val="tx1"/>
                    </a:solidFill>
                    <a:effectLst/>
                    <a:latin typeface="Segoe WPC"/>
                  </a:rPr>
                  <a:t> hacia </a:t>
                </a:r>
                <a14:m>
                  <m:oMath xmlns:m="http://schemas.openxmlformats.org/officeDocument/2006/math">
                    <m:r>
                      <a:rPr lang="es-PE" sz="900" i="1">
                        <a:solidFill>
                          <a:schemeClr val="tx1"/>
                        </a:solidFill>
                        <a:latin typeface="Cambria Math" panose="02040503050406030204" pitchFamily="18" charset="0"/>
                      </a:rPr>
                      <m:t>𝐶𝐶𝐶</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𝐶</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Unconditional</m:t>
                    </m:r>
                    <m:r>
                      <m:rPr>
                        <m:nor/>
                      </m:rPr>
                      <a:rPr lang="es-PE" sz="900" b="0">
                        <a:solidFill>
                          <a:schemeClr val="tx1"/>
                        </a:solidFill>
                      </a:rPr>
                      <m:t> </m:t>
                    </m:r>
                    <m:r>
                      <m:rPr>
                        <m:nor/>
                      </m:rPr>
                      <a:rPr lang="es-PE" sz="900" b="0">
                        <a:solidFill>
                          <a:schemeClr val="tx1"/>
                        </a:solidFill>
                      </a:rPr>
                      <m:t>default</m:t>
                    </m:r>
                    <m:r>
                      <m:rPr>
                        <m:nor/>
                      </m:rPr>
                      <a:rPr lang="es-PE" sz="900" b="0">
                        <a:solidFill>
                          <a:schemeClr val="tx1"/>
                        </a:solidFill>
                      </a:rPr>
                      <m:t> </m:t>
                    </m:r>
                    <m:r>
                      <m:rPr>
                        <m:nor/>
                      </m:rPr>
                      <a:rPr lang="es-PE" sz="900" b="0">
                        <a:solidFill>
                          <a:schemeClr val="tx1"/>
                        </a:solidFill>
                      </a:rPr>
                      <m:t>prob</m:t>
                    </m:r>
                    <m:r>
                      <m:rPr>
                        <m:nor/>
                      </m:rPr>
                      <a:rPr lang="es-PE" sz="900" b="0">
                        <a:solidFill>
                          <a:schemeClr val="tx1"/>
                        </a:solidFill>
                      </a:rPr>
                      <m:t> </m:t>
                    </m:r>
                    <m:r>
                      <m:rPr>
                        <m:nor/>
                      </m:rPr>
                      <a:rPr lang="es-PE" sz="900" b="0">
                        <a:solidFill>
                          <a:schemeClr val="tx1"/>
                        </a:solidFill>
                      </a:rPr>
                      <m:t>in</m:t>
                    </m:r>
                    <m:r>
                      <m:rPr>
                        <m:nor/>
                      </m:rPr>
                      <a:rPr lang="es-PE" sz="900" b="0">
                        <a:solidFill>
                          <a:schemeClr val="tx1"/>
                        </a:solidFill>
                      </a:rPr>
                      <m:t> </m:t>
                    </m:r>
                    <m:r>
                      <m:rPr>
                        <m:nor/>
                      </m:rPr>
                      <a:rPr lang="es-PE" sz="900" b="0">
                        <a:solidFill>
                          <a:schemeClr val="tx1"/>
                        </a:solidFill>
                      </a:rPr>
                      <m:t>year</m:t>
                    </m:r>
                    <m:r>
                      <m:rPr>
                        <m:nor/>
                      </m:rPr>
                      <a:rPr lang="es-PE" sz="900" b="0">
                        <a:solidFill>
                          <a:schemeClr val="tx1"/>
                        </a:solidFill>
                      </a:rPr>
                      <m:t> </m:t>
                    </m:r>
                    <m:r>
                      <a:rPr lang="es-PE" sz="900" b="0" i="1">
                        <a:solidFill>
                          <a:schemeClr val="tx1"/>
                        </a:solidFill>
                        <a:latin typeface="Cambria Math" panose="02040503050406030204" pitchFamily="18" charset="0"/>
                      </a:rPr>
                      <m:t>𝑛</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cum</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default</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by</m:t>
                    </m:r>
                    <m:r>
                      <m:rPr>
                        <m:nor/>
                      </m:rPr>
                      <a:rPr lang="es-PE" sz="900" b="0" i="1">
                        <a:solidFill>
                          <a:schemeClr val="tx1"/>
                        </a:solidFill>
                        <a:latin typeface="Cambria Math" panose="02040503050406030204" pitchFamily="18" charset="0"/>
                      </a:rPr>
                      <m:t> </m:t>
                    </m:r>
                    <m:r>
                      <a:rPr lang="es-PE" sz="900" b="0" i="1">
                        <a:solidFill>
                          <a:schemeClr val="tx1"/>
                        </a:solidFill>
                        <a:latin typeface="Cambria Math" panose="02040503050406030204" pitchFamily="18" charset="0"/>
                      </a:rPr>
                      <m:t>𝑛</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cum</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default</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by</m:t>
                    </m:r>
                    <m:r>
                      <m:rPr>
                        <m:nor/>
                      </m:rPr>
                      <a:rPr lang="es-PE" sz="900" b="0" i="1">
                        <a:solidFill>
                          <a:schemeClr val="tx1"/>
                        </a:solidFill>
                        <a:latin typeface="Cambria Math" panose="02040503050406030204" pitchFamily="18" charset="0"/>
                      </a:rPr>
                      <m:t> </m:t>
                    </m:r>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𝑛</m:t>
                        </m:r>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1</m:t>
                        </m:r>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Las tablas históricas de S&amp;P, Moody’s y Fitch muestran que, en general, el ordenamiento por rating sí discrimina bien el riesgo.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Las tablas acumuladas no son probabilidades “por año”; para eso debes restar probabilidades acumuladas sucesivas.</a:t>
                </a:r>
              </a:p>
              <a:p>
                <a:pPr algn="l">
                  <a:spcAft>
                    <a:spcPts val="600"/>
                  </a:spcAft>
                  <a:buNone/>
                </a:pPr>
                <a:r>
                  <a:rPr lang="es-PE" sz="900" b="1" i="0" dirty="0">
                    <a:solidFill>
                      <a:schemeClr val="tx1"/>
                    </a:solidFill>
                    <a:effectLst/>
                    <a:latin typeface="Segoe WPC"/>
                  </a:rPr>
                  <a:t>4. </a:t>
                </a:r>
                <a:r>
                  <a:rPr lang="es-PE" sz="900" b="1" i="0" dirty="0" err="1">
                    <a:solidFill>
                      <a:schemeClr val="tx1"/>
                    </a:solidFill>
                    <a:effectLst/>
                    <a:latin typeface="Segoe WPC"/>
                  </a:rPr>
                  <a:t>Conditional</a:t>
                </a:r>
                <a:r>
                  <a:rPr lang="es-PE" sz="900" b="1" i="0" dirty="0">
                    <a:solidFill>
                      <a:schemeClr val="tx1"/>
                    </a:solidFill>
                    <a:effectLst/>
                    <a:latin typeface="Segoe WPC"/>
                  </a:rPr>
                  <a:t> vs </a:t>
                </a:r>
                <a:r>
                  <a:rPr lang="es-PE" sz="900" b="1" i="0" dirty="0" err="1">
                    <a:solidFill>
                      <a:schemeClr val="tx1"/>
                    </a:solidFill>
                    <a:effectLst/>
                    <a:latin typeface="Segoe WPC"/>
                  </a:rPr>
                  <a:t>Unconditional</a:t>
                </a:r>
                <a:r>
                  <a:rPr lang="es-PE" sz="900" b="1" i="0" dirty="0">
                    <a:solidFill>
                      <a:schemeClr val="tx1"/>
                    </a:solidFill>
                    <a:effectLst/>
                    <a:latin typeface="Segoe WPC"/>
                  </a:rPr>
                  <a:t> Default </a:t>
                </a:r>
                <a:r>
                  <a:rPr lang="es-PE" sz="900" b="1" i="0" dirty="0" err="1">
                    <a:solidFill>
                      <a:schemeClr val="tx1"/>
                    </a:solidFill>
                    <a:effectLst/>
                    <a:latin typeface="Segoe WPC"/>
                  </a:rPr>
                  <a:t>Probabilities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Dos formas de expresar la misma información de default.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probabilidad incondicional mira desde hoy; la condicional mira dado que la firma sobrevivió hasta cierto punto.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Sobrevivir varios años cambia la lectura del riesgo restante.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𝑃</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𝐷</m:t>
                        </m:r>
                      </m:e>
                      <m:sub>
                        <m:r>
                          <m:rPr>
                            <m:nor/>
                          </m:rPr>
                          <a:rPr lang="es-PE" sz="900" b="0" i="1">
                            <a:solidFill>
                              <a:schemeClr val="tx1"/>
                            </a:solidFill>
                            <a:latin typeface="Cambria Math" panose="02040503050406030204" pitchFamily="18" charset="0"/>
                          </a:rPr>
                          <m:t>cond</m:t>
                        </m:r>
                      </m:sub>
                    </m:sSub>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𝑛</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𝑛</m:t>
                        </m:r>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1</m:t>
                        </m:r>
                      </m:e>
                    </m:d>
                    <m:r>
                      <a:rPr lang="ar-AE" sz="900" b="0" i="0">
                        <a:solidFill>
                          <a:schemeClr val="tx1"/>
                        </a:solidFill>
                        <a:latin typeface="Cambria Math" panose="02040503050406030204" pitchFamily="18" charset="0"/>
                      </a:rPr>
                      <m:t>=</m:t>
                    </m:r>
                    <m:f>
                      <m:fPr>
                        <m:ctrlPr>
                          <a:rPr lang="ar-AE" sz="900" b="0" i="1">
                            <a:solidFill>
                              <a:schemeClr val="tx1"/>
                            </a:solidFill>
                            <a:latin typeface="Cambria Math" panose="02040503050406030204" pitchFamily="18" charset="0"/>
                          </a:rPr>
                        </m:ctrlPr>
                      </m:fPr>
                      <m:num>
                        <m:r>
                          <a:rPr lang="ar-AE" sz="900" b="0" i="1">
                            <a:solidFill>
                              <a:schemeClr val="tx1"/>
                            </a:solidFill>
                            <a:latin typeface="Cambria Math" panose="02040503050406030204" pitchFamily="18" charset="0"/>
                          </a:rPr>
                          <m:t>𝑃</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𝐷</m:t>
                            </m:r>
                          </m:e>
                          <m:sub>
                            <m:r>
                              <m:rPr>
                                <m:nor/>
                              </m:rPr>
                              <a:rPr lang="es-PE" sz="900" b="0" i="1">
                                <a:solidFill>
                                  <a:schemeClr val="tx1"/>
                                </a:solidFill>
                                <a:latin typeface="Cambria Math" panose="02040503050406030204" pitchFamily="18" charset="0"/>
                              </a:rPr>
                              <m:t>uncond</m:t>
                            </m:r>
                          </m:sub>
                        </m:sSub>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𝑛</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𝑛</m:t>
                            </m:r>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1</m:t>
                            </m:r>
                          </m:e>
                        </m:d>
                      </m:num>
                      <m:den>
                        <m:r>
                          <a:rPr lang="ar-AE" sz="900" b="0" i="0">
                            <a:solidFill>
                              <a:schemeClr val="tx1"/>
                            </a:solidFill>
                            <a:latin typeface="Cambria Math" panose="02040503050406030204" pitchFamily="18" charset="0"/>
                          </a:rPr>
                          <m:t>1</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𝑃</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𝐷</m:t>
                            </m:r>
                          </m:e>
                          <m:sub>
                            <m:r>
                              <m:rPr>
                                <m:nor/>
                              </m:rPr>
                              <a:rPr lang="es-PE" sz="900" b="0" i="1">
                                <a:solidFill>
                                  <a:schemeClr val="tx1"/>
                                </a:solidFill>
                                <a:latin typeface="Cambria Math" panose="02040503050406030204" pitchFamily="18" charset="0"/>
                              </a:rPr>
                              <m:t>cum</m:t>
                            </m:r>
                          </m:sub>
                        </m:sSub>
                        <m:d>
                          <m:dPr>
                            <m:ctrlPr>
                              <a:rPr lang="ar-AE" sz="900" b="0" i="1">
                                <a:solidFill>
                                  <a:schemeClr val="tx1"/>
                                </a:solidFill>
                                <a:latin typeface="Cambria Math" panose="02040503050406030204" pitchFamily="18" charset="0"/>
                              </a:rPr>
                            </m:ctrlPr>
                          </m:dPr>
                          <m:e>
                            <m:r>
                              <a:rPr lang="ar-AE" sz="900" b="0" i="0">
                                <a:solidFill>
                                  <a:schemeClr val="tx1"/>
                                </a:solidFill>
                                <a:latin typeface="Cambria Math" panose="02040503050406030204" pitchFamily="18" charset="0"/>
                              </a:rPr>
                              <m:t>0</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𝑛</m:t>
                            </m:r>
                          </m:e>
                        </m:d>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 probabilidad condicional de default en el año 5 puede ser mucho mayor que la incondicional del mismo año, porque ya condicionaste en haber sobrevivido antes.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digas que una es “mejor” que la otra; son representaciones distintas de la misma estructura de default.</a:t>
                </a:r>
              </a:p>
              <a:p>
                <a:pPr algn="l">
                  <a:spcAft>
                    <a:spcPts val="600"/>
                  </a:spcAft>
                  <a:buNone/>
                </a:pPr>
                <a:r>
                  <a:rPr lang="es-PE" sz="900" b="1" i="0" dirty="0">
                    <a:solidFill>
                      <a:schemeClr val="tx1"/>
                    </a:solidFill>
                    <a:effectLst/>
                    <a:latin typeface="Segoe WPC"/>
                  </a:rPr>
                  <a:t>5. Hazard </a:t>
                </a:r>
                <a:r>
                  <a:rPr lang="es-PE" sz="900" b="1" i="0" dirty="0" err="1">
                    <a:solidFill>
                      <a:schemeClr val="tx1"/>
                    </a:solidFill>
                    <a:effectLst/>
                    <a:latin typeface="Segoe WPC"/>
                  </a:rPr>
                  <a:t>Rate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Intensidad instantánea de default usada para modelar riesgo de crédito.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Es la velocidad a la que ocurren defaults, condicional a que la empresa siga viva.</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el </a:t>
                </a:r>
                <a:r>
                  <a:rPr lang="es-PE" sz="900" b="0" i="0" dirty="0" err="1">
                    <a:solidFill>
                      <a:schemeClr val="tx1"/>
                    </a:solidFill>
                    <a:effectLst/>
                    <a:latin typeface="Segoe WPC"/>
                  </a:rPr>
                  <a:t>hazard</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es 1% anual, la supervivencia cae de forma exponencial, no lineal.</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𝑃𝐷</m:t>
                    </m:r>
                    <m:d>
                      <m:dPr>
                        <m:sep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0</m:t>
                        </m:r>
                      </m:e>
                      <m:e>
                        <m:r>
                          <a:rPr lang="ar-AE" sz="900" i="1">
                            <a:solidFill>
                              <a:schemeClr val="tx1"/>
                            </a:solidFill>
                            <a:latin typeface="Cambria Math" panose="02040503050406030204" pitchFamily="18" charset="0"/>
                          </a:rPr>
                          <m:t>𝑡</m:t>
                        </m:r>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h</m:t>
                        </m:r>
                        <m:r>
                          <a:rPr lang="ar-AE" sz="900" i="1">
                            <a:solidFill>
                              <a:schemeClr val="tx1"/>
                            </a:solidFill>
                            <a:latin typeface="Cambria Math" panose="02040503050406030204" pitchFamily="18" charset="0"/>
                          </a:rPr>
                          <m:t>𝑡</m:t>
                        </m:r>
                      </m:sup>
                    </m:sSup>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Survival</m:t>
                    </m:r>
                    <m:d>
                      <m:dPr>
                        <m:sepChr m:val=","/>
                        <m:ctrlPr>
                          <a:rPr lang="ar-AE" sz="900" b="0" i="1">
                            <a:solidFill>
                              <a:schemeClr val="tx1"/>
                            </a:solidFill>
                            <a:latin typeface="Cambria Math" panose="02040503050406030204" pitchFamily="18" charset="0"/>
                          </a:rPr>
                        </m:ctrlPr>
                      </m:dPr>
                      <m:e>
                        <m:r>
                          <a:rPr lang="ar-AE" sz="900" b="0" i="0">
                            <a:solidFill>
                              <a:schemeClr val="tx1"/>
                            </a:solidFill>
                            <a:latin typeface="Cambria Math" panose="02040503050406030204" pitchFamily="18" charset="0"/>
                          </a:rPr>
                          <m:t>0</m:t>
                        </m:r>
                      </m:e>
                      <m:e>
                        <m:r>
                          <a:rPr lang="ar-AE" sz="900" b="0" i="1">
                            <a:solidFill>
                              <a:schemeClr val="tx1"/>
                            </a:solidFill>
                            <a:latin typeface="Cambria Math" panose="02040503050406030204" pitchFamily="18" charset="0"/>
                          </a:rPr>
                          <m:t>𝑡</m:t>
                        </m:r>
                      </m:e>
                    </m:d>
                    <m:r>
                      <a:rPr lang="ar-AE" sz="900" b="0" i="0">
                        <a:solidFill>
                          <a:schemeClr val="tx1"/>
                        </a:solidFill>
                        <a:latin typeface="Cambria Math" panose="02040503050406030204" pitchFamily="18" charset="0"/>
                      </a:rPr>
                      <m:t>=</m:t>
                    </m:r>
                    <m:sSup>
                      <m:sSupPr>
                        <m:ctrlPr>
                          <a:rPr lang="ar-AE" sz="900" b="0" i="1">
                            <a:solidFill>
                              <a:schemeClr val="tx1"/>
                            </a:solidFill>
                            <a:latin typeface="Cambria Math" panose="02040503050406030204" pitchFamily="18" charset="0"/>
                          </a:rPr>
                        </m:ctrlPr>
                      </m:sSupPr>
                      <m:e>
                        <m:r>
                          <a:rPr lang="ar-AE" sz="900" b="0" i="1">
                            <a:solidFill>
                              <a:schemeClr val="tx1"/>
                            </a:solidFill>
                            <a:latin typeface="Cambria Math" panose="02040503050406030204" pitchFamily="18" charset="0"/>
                          </a:rPr>
                          <m:t>𝑒</m:t>
                        </m:r>
                      </m:e>
                      <m:sup>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h</m:t>
                        </m:r>
                        <m:r>
                          <a:rPr lang="ar-AE" sz="900" b="0" i="1">
                            <a:solidFill>
                              <a:schemeClr val="tx1"/>
                            </a:solidFill>
                            <a:latin typeface="Cambria Math" panose="02040503050406030204" pitchFamily="18" charset="0"/>
                          </a:rPr>
                          <m:t>𝑡</m:t>
                        </m:r>
                      </m:sup>
                    </m:sSup>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Con una tasa </a:t>
                </a:r>
                <a:r>
                  <a:rPr lang="es-PE" sz="900" b="0" i="0" dirty="0" err="1">
                    <a:solidFill>
                      <a:schemeClr val="tx1"/>
                    </a:solidFill>
                    <a:effectLst/>
                    <a:latin typeface="Segoe WPC"/>
                  </a:rPr>
                  <a:t>hazard</a:t>
                </a:r>
                <a:r>
                  <a:rPr lang="es-PE" sz="900" b="0" i="0" dirty="0">
                    <a:solidFill>
                      <a:schemeClr val="tx1"/>
                    </a:solidFill>
                    <a:effectLst/>
                    <a:latin typeface="Segoe WPC"/>
                  </a:rPr>
                  <a:t> promedio </a:t>
                </a:r>
                <a14:m>
                  <m:oMath xmlns:m="http://schemas.openxmlformats.org/officeDocument/2006/math">
                    <m:r>
                      <a:rPr lang="es-PE" sz="900" i="1">
                        <a:solidFill>
                          <a:schemeClr val="tx1"/>
                        </a:solidFill>
                        <a:latin typeface="Cambria Math" panose="02040503050406030204" pitchFamily="18" charset="0"/>
                      </a:rPr>
                      <m:t>h</m:t>
                    </m:r>
                  </m:oMath>
                </a14:m>
                <a:r>
                  <a:rPr lang="es-PE" sz="900" b="0" i="0" dirty="0">
                    <a:solidFill>
                      <a:schemeClr val="tx1"/>
                    </a:solidFill>
                    <a:effectLst/>
                    <a:latin typeface="Segoe WPC"/>
                  </a:rPr>
                  <a:t>, puedes convertir fácilmente entre </a:t>
                </a:r>
                <a:r>
                  <a:rPr lang="es-PE" sz="900" b="0" i="0" dirty="0" err="1">
                    <a:solidFill>
                      <a:schemeClr val="tx1"/>
                    </a:solidFill>
                    <a:effectLst/>
                    <a:latin typeface="Segoe WPC"/>
                  </a:rPr>
                  <a:t>survival</a:t>
                </a:r>
                <a:r>
                  <a:rPr lang="es-PE" sz="900" b="0" i="0" dirty="0">
                    <a:solidFill>
                      <a:schemeClr val="tx1"/>
                    </a:solidFill>
                    <a:effectLst/>
                    <a:latin typeface="Segoe WPC"/>
                  </a:rPr>
                  <a:t> </a:t>
                </a:r>
                <a:r>
                  <a:rPr lang="es-PE" sz="900" b="0" i="0" dirty="0" err="1">
                    <a:solidFill>
                      <a:schemeClr val="tx1"/>
                    </a:solidFill>
                    <a:effectLst/>
                    <a:latin typeface="Segoe WPC"/>
                  </a:rPr>
                  <a:t>probabilities</a:t>
                </a:r>
                <a:r>
                  <a:rPr lang="es-PE" sz="900" b="0" i="0" dirty="0">
                    <a:solidFill>
                      <a:schemeClr val="tx1"/>
                    </a:solidFill>
                    <a:effectLst/>
                    <a:latin typeface="Segoe WPC"/>
                  </a:rPr>
                  <a:t> y cumulative default </a:t>
                </a:r>
                <a:r>
                  <a:rPr lang="es-PE" sz="900" b="0" i="0" dirty="0" err="1">
                    <a:solidFill>
                      <a:schemeClr val="tx1"/>
                    </a:solidFill>
                    <a:effectLst/>
                    <a:latin typeface="Segoe WPC"/>
                  </a:rPr>
                  <a:t>probabilities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El </a:t>
                </a:r>
                <a:r>
                  <a:rPr lang="es-PE" sz="900" b="0" i="0" dirty="0" err="1">
                    <a:solidFill>
                      <a:schemeClr val="tx1"/>
                    </a:solidFill>
                    <a:effectLst/>
                    <a:latin typeface="Segoe WPC"/>
                  </a:rPr>
                  <a:t>hazard</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no es exactamente igual a la probabilidad anual de default, aunque para valores pequeños sean parecidos.</a:t>
                </a:r>
              </a:p>
            </p:txBody>
          </p:sp>
        </mc:Choice>
        <mc:Fallback xmlns="">
          <p:sp>
            <p:nvSpPr>
              <p:cNvPr id="5" name="CuadroTexto 4">
                <a:extLst>
                  <a:ext uri="{FF2B5EF4-FFF2-40B4-BE49-F238E27FC236}">
                    <a16:creationId xmlns:a16="http://schemas.microsoft.com/office/drawing/2014/main" id="{5221804D-8A7B-24B4-A971-B54765B7CC4E}"/>
                  </a:ext>
                </a:extLst>
              </p:cNvPr>
              <p:cNvSpPr txBox="1">
                <a:spLocks noRot="1" noChangeAspect="1" noMove="1" noResize="1" noEditPoints="1" noAdjustHandles="1" noChangeArrowheads="1" noChangeShapeType="1" noTextEdit="1"/>
              </p:cNvSpPr>
              <p:nvPr/>
            </p:nvSpPr>
            <p:spPr>
              <a:xfrm>
                <a:off x="0" y="244475"/>
                <a:ext cx="6019800" cy="7030643"/>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14ED7178-A207-69ED-7326-7DB026F19D13}"/>
                  </a:ext>
                </a:extLst>
              </p:cNvPr>
              <p:cNvSpPr txBox="1"/>
              <p:nvPr/>
            </p:nvSpPr>
            <p:spPr>
              <a:xfrm>
                <a:off x="5907314" y="0"/>
                <a:ext cx="6335486" cy="12001106"/>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6. </a:t>
                </a:r>
                <a:r>
                  <a:rPr lang="es-PE" sz="900" b="1" i="0" dirty="0" err="1">
                    <a:solidFill>
                      <a:schemeClr val="tx1"/>
                    </a:solidFill>
                    <a:effectLst/>
                    <a:latin typeface="Segoe WPC"/>
                  </a:rPr>
                  <a:t>Recovery</a:t>
                </a:r>
                <a:r>
                  <a:rPr lang="es-PE" sz="900" b="1" i="0" dirty="0">
                    <a:solidFill>
                      <a:schemeClr val="tx1"/>
                    </a:solidFill>
                    <a:effectLst/>
                    <a:latin typeface="Segoe WPC"/>
                  </a:rPr>
                  <a:t> </a:t>
                </a:r>
                <a:r>
                  <a:rPr lang="es-PE" sz="900" b="1" i="0" dirty="0" err="1">
                    <a:solidFill>
                      <a:schemeClr val="tx1"/>
                    </a:solidFill>
                    <a:effectLst/>
                    <a:latin typeface="Segoe WPC"/>
                  </a:rPr>
                  <a:t>Rate</a:t>
                </a:r>
                <a:r>
                  <a:rPr lang="es-PE" sz="900" b="1" i="0" dirty="0">
                    <a:solidFill>
                      <a:schemeClr val="tx1"/>
                    </a:solidFill>
                    <a:effectLst/>
                    <a:latin typeface="Segoe WPC"/>
                  </a:rPr>
                  <a:t> and </a:t>
                </a:r>
                <a:r>
                  <a:rPr lang="es-PE" sz="900" b="1" i="0" dirty="0" err="1">
                    <a:solidFill>
                      <a:schemeClr val="tx1"/>
                    </a:solidFill>
                    <a:effectLst/>
                    <a:latin typeface="Segoe WPC"/>
                  </a:rPr>
                  <a:t>Expected</a:t>
                </a:r>
                <a:r>
                  <a:rPr lang="es-PE" sz="900" b="1" i="0" dirty="0">
                    <a:solidFill>
                      <a:schemeClr val="tx1"/>
                    </a:solidFill>
                    <a:effectLst/>
                    <a:latin typeface="Segoe WPC"/>
                  </a:rPr>
                  <a:t> </a:t>
                </a:r>
                <a:r>
                  <a:rPr lang="es-PE" sz="900" b="1" i="0" dirty="0" err="1">
                    <a:solidFill>
                      <a:schemeClr val="tx1"/>
                    </a:solidFill>
                    <a:effectLst/>
                    <a:latin typeface="Segoe WPC"/>
                  </a:rPr>
                  <a:t>Loss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Pérdida esperada de un préstamo o bono una vez considerado default y recuperación.</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No basta con saber si </a:t>
                </a:r>
                <a:r>
                  <a:rPr lang="es-PE" sz="900" b="0" i="0" dirty="0" err="1">
                    <a:solidFill>
                      <a:schemeClr val="tx1"/>
                    </a:solidFill>
                    <a:effectLst/>
                    <a:latin typeface="Segoe WPC"/>
                  </a:rPr>
                  <a:t>defaulta</a:t>
                </a:r>
                <a:r>
                  <a:rPr lang="es-PE" sz="900" b="0" i="0" dirty="0">
                    <a:solidFill>
                      <a:schemeClr val="tx1"/>
                    </a:solidFill>
                    <a:effectLst/>
                    <a:latin typeface="Segoe WPC"/>
                  </a:rPr>
                  <a:t>; también importa cuánto se recupera después.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Dos bonos con igual probabilidad de default pueden tener pérdidas esperadas muy distintas si uno es senior </a:t>
                </a:r>
                <a:r>
                  <a:rPr lang="es-PE" sz="900" b="0" i="0" dirty="0" err="1">
                    <a:solidFill>
                      <a:schemeClr val="tx1"/>
                    </a:solidFill>
                    <a:effectLst/>
                    <a:latin typeface="Segoe WPC"/>
                  </a:rPr>
                  <a:t>secured</a:t>
                </a:r>
                <a:r>
                  <a:rPr lang="es-PE" sz="900" b="0" i="0" dirty="0">
                    <a:solidFill>
                      <a:schemeClr val="tx1"/>
                    </a:solidFill>
                    <a:effectLst/>
                    <a:latin typeface="Segoe WPC"/>
                  </a:rPr>
                  <a:t> y otro subordinado.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Expected</m:t>
                    </m:r>
                    <m:r>
                      <m:rPr>
                        <m:nor/>
                      </m:rPr>
                      <a:rPr lang="es-PE" sz="900" b="0">
                        <a:solidFill>
                          <a:schemeClr val="tx1"/>
                        </a:solidFill>
                      </a:rPr>
                      <m:t> </m:t>
                    </m:r>
                    <m:r>
                      <m:rPr>
                        <m:nor/>
                      </m:rPr>
                      <a:rPr lang="es-PE" sz="900" b="0">
                        <a:solidFill>
                          <a:schemeClr val="tx1"/>
                        </a:solidFill>
                      </a:rPr>
                      <m:t>Loss</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𝑃𝐷</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𝐿𝐺𝐷</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𝑃𝐷</m:t>
                    </m:r>
                    <m:r>
                      <a:rPr lang="es-PE" sz="900" b="0" i="0">
                        <a:solidFill>
                          <a:schemeClr val="tx1"/>
                        </a:solidFill>
                        <a:latin typeface="Cambria Math" panose="02040503050406030204" pitchFamily="18" charset="0"/>
                      </a:rPr>
                      <m:t>×</m:t>
                    </m:r>
                    <m:d>
                      <m:dPr>
                        <m:ctrlPr>
                          <a:rPr lang="ar-AE" sz="900" b="0" i="1">
                            <a:solidFill>
                              <a:schemeClr val="tx1"/>
                            </a:solidFill>
                            <a:latin typeface="Cambria Math" panose="02040503050406030204" pitchFamily="18" charset="0"/>
                          </a:rPr>
                        </m:ctrlPr>
                      </m:dPr>
                      <m:e>
                        <m:r>
                          <a:rPr lang="ar-AE" sz="900" b="0" i="0">
                            <a:solidFill>
                              <a:schemeClr val="tx1"/>
                            </a:solidFill>
                            <a:latin typeface="Cambria Math" panose="02040503050406030204" pitchFamily="18" charset="0"/>
                          </a:rPr>
                          <m:t>1</m:t>
                        </m:r>
                        <m:r>
                          <a:rPr lang="ar-A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Recovery</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Rate</m:t>
                        </m:r>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Recovery</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suele variar con </a:t>
                </a:r>
                <a:r>
                  <a:rPr lang="es-PE" sz="900" b="0" i="0" dirty="0" err="1">
                    <a:solidFill>
                      <a:schemeClr val="tx1"/>
                    </a:solidFill>
                    <a:effectLst/>
                    <a:latin typeface="Segoe WPC"/>
                  </a:rPr>
                  <a:t>seniority</a:t>
                </a:r>
                <a:r>
                  <a:rPr lang="es-PE" sz="900" b="0" i="0" dirty="0">
                    <a:solidFill>
                      <a:schemeClr val="tx1"/>
                    </a:solidFill>
                    <a:effectLst/>
                    <a:latin typeface="Segoe WPC"/>
                  </a:rPr>
                  <a:t> y colateral; </a:t>
                </a:r>
                <a:r>
                  <a:rPr lang="es-PE" sz="900" b="0" i="0" dirty="0" err="1">
                    <a:solidFill>
                      <a:schemeClr val="tx1"/>
                    </a:solidFill>
                    <a:effectLst/>
                    <a:latin typeface="Segoe WPC"/>
                  </a:rPr>
                  <a:t>loss</a:t>
                </a:r>
                <a:r>
                  <a:rPr lang="es-PE" sz="900" b="0" i="0" dirty="0">
                    <a:solidFill>
                      <a:schemeClr val="tx1"/>
                    </a:solidFill>
                    <a:effectLst/>
                    <a:latin typeface="Segoe WPC"/>
                  </a:rPr>
                  <a:t> </a:t>
                </a:r>
                <a:r>
                  <a:rPr lang="es-PE" sz="900" b="0" i="0" dirty="0" err="1">
                    <a:solidFill>
                      <a:schemeClr val="tx1"/>
                    </a:solidFill>
                    <a:effectLst/>
                    <a:latin typeface="Segoe WPC"/>
                  </a:rPr>
                  <a:t>given</a:t>
                </a:r>
                <a:r>
                  <a:rPr lang="es-PE" sz="900" b="0" i="0" dirty="0">
                    <a:solidFill>
                      <a:schemeClr val="tx1"/>
                    </a:solidFill>
                    <a:effectLst/>
                    <a:latin typeface="Segoe WPC"/>
                  </a:rPr>
                  <a:t> default es simplemente el complemento de la recuperación.</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Recovery</a:t>
                </a:r>
                <a:r>
                  <a:rPr lang="es-PE" sz="900" b="0" i="0" dirty="0">
                    <a:solidFill>
                      <a:schemeClr val="tx1"/>
                    </a:solidFill>
                    <a:effectLst/>
                    <a:latin typeface="Segoe WPC"/>
                  </a:rPr>
                  <a:t> y default no son independientes; en recesión suben los defaults y caen los </a:t>
                </a:r>
                <a:r>
                  <a:rPr lang="es-PE" sz="900" b="0" i="0" dirty="0" err="1">
                    <a:solidFill>
                      <a:schemeClr val="tx1"/>
                    </a:solidFill>
                    <a:effectLst/>
                    <a:latin typeface="Segoe WPC"/>
                  </a:rPr>
                  <a:t>recovery</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7. </a:t>
                </a:r>
                <a:r>
                  <a:rPr lang="es-PE" sz="900" b="1" i="0" dirty="0" err="1">
                    <a:solidFill>
                      <a:schemeClr val="tx1"/>
                    </a:solidFill>
                    <a:effectLst/>
                    <a:latin typeface="Segoe WPC"/>
                  </a:rPr>
                  <a:t>Credit</a:t>
                </a:r>
                <a:r>
                  <a:rPr lang="es-PE" sz="900" b="1" i="0" dirty="0">
                    <a:solidFill>
                      <a:schemeClr val="tx1"/>
                    </a:solidFill>
                    <a:effectLst/>
                    <a:latin typeface="Segoe WPC"/>
                  </a:rPr>
                  <a:t> Spreads and </a:t>
                </a:r>
                <a:r>
                  <a:rPr lang="es-PE" sz="900" b="1" i="0" dirty="0" err="1">
                    <a:solidFill>
                      <a:schemeClr val="tx1"/>
                    </a:solidFill>
                    <a:effectLst/>
                    <a:latin typeface="Segoe WPC"/>
                  </a:rPr>
                  <a:t>Risk</a:t>
                </a:r>
                <a:r>
                  <a:rPr lang="es-PE" sz="900" b="1" i="0" dirty="0">
                    <a:solidFill>
                      <a:schemeClr val="tx1"/>
                    </a:solidFill>
                    <a:effectLst/>
                    <a:latin typeface="Segoe WPC"/>
                  </a:rPr>
                  <a:t> </a:t>
                </a:r>
                <a:r>
                  <a:rPr lang="es-PE" sz="900" b="1" i="0" dirty="0" err="1">
                    <a:solidFill>
                      <a:schemeClr val="tx1"/>
                    </a:solidFill>
                    <a:effectLst/>
                    <a:latin typeface="Segoe WPC"/>
                  </a:rPr>
                  <a:t>Premiums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Spread sobre la tasa libre de riesgo exigido por invertir en deuda con riesgo crediticio.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spread compensa no solo la pérdida actuarial esperada, sino también riesgo sistemático y liquidez.</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 bono </a:t>
                </a:r>
                <a14:m>
                  <m:oMath xmlns:m="http://schemas.openxmlformats.org/officeDocument/2006/math">
                    <m:r>
                      <a:rPr lang="es-PE" sz="900" i="1">
                        <a:solidFill>
                          <a:schemeClr val="tx1"/>
                        </a:solidFill>
                        <a:latin typeface="Cambria Math" panose="02040503050406030204" pitchFamily="18" charset="0"/>
                      </a:rPr>
                      <m:t>𝐵𝐵𝐵</m:t>
                    </m:r>
                  </m:oMath>
                </a14:m>
                <a:r>
                  <a:rPr lang="es-PE" sz="900" b="0" i="0" dirty="0">
                    <a:solidFill>
                      <a:schemeClr val="tx1"/>
                    </a:solidFill>
                    <a:effectLst/>
                    <a:latin typeface="Segoe WPC"/>
                  </a:rPr>
                  <a:t> no paga solo “default </a:t>
                </a:r>
                <a:r>
                  <a:rPr lang="es-PE" sz="900" b="0" i="0" dirty="0" err="1">
                    <a:solidFill>
                      <a:schemeClr val="tx1"/>
                    </a:solidFill>
                    <a:effectLst/>
                    <a:latin typeface="Segoe WPC"/>
                  </a:rPr>
                  <a:t>compensation</a:t>
                </a:r>
                <a:r>
                  <a:rPr lang="es-PE" sz="900" b="0" i="0" dirty="0">
                    <a:solidFill>
                      <a:schemeClr val="tx1"/>
                    </a:solidFill>
                    <a:effectLst/>
                    <a:latin typeface="Segoe WPC"/>
                  </a:rPr>
                  <a:t>”; paga además un premio por incertidumbre macro y por dificultad de venta.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Actuarial</m:t>
                    </m:r>
                    <m:r>
                      <m:rPr>
                        <m:nor/>
                      </m:rPr>
                      <a:rPr lang="es-PE" sz="900" b="0">
                        <a:solidFill>
                          <a:schemeClr val="tx1"/>
                        </a:solidFill>
                      </a:rPr>
                      <m:t> </m:t>
                    </m:r>
                    <m:r>
                      <m:rPr>
                        <m:nor/>
                      </m:rPr>
                      <a:rPr lang="es-PE" sz="900" b="0">
                        <a:solidFill>
                          <a:schemeClr val="tx1"/>
                        </a:solidFill>
                      </a:rPr>
                      <m:t>spread</m:t>
                    </m:r>
                    <m:r>
                      <a:rPr lang="es-PE" sz="900" b="0" i="0">
                        <a:solidFill>
                          <a:schemeClr val="tx1"/>
                        </a:solidFill>
                        <a:latin typeface="Cambria Math" panose="02040503050406030204" pitchFamily="18" charset="0"/>
                      </a:rPr>
                      <m:t>≈</m:t>
                    </m:r>
                    <m:f>
                      <m:fPr>
                        <m:ctrlPr>
                          <a:rPr lang="ar-AE" sz="900" b="0" i="1">
                            <a:solidFill>
                              <a:schemeClr val="tx1"/>
                            </a:solidFill>
                            <a:latin typeface="Cambria Math" panose="02040503050406030204" pitchFamily="18" charset="0"/>
                          </a:rPr>
                        </m:ctrlPr>
                      </m:fPr>
                      <m:num>
                        <m:r>
                          <a:rPr lang="ar-AE" sz="900" b="0" i="1">
                            <a:solidFill>
                              <a:schemeClr val="tx1"/>
                            </a:solidFill>
                            <a:latin typeface="Cambria Math" panose="02040503050406030204" pitchFamily="18" charset="0"/>
                          </a:rPr>
                          <m:t>𝑃𝐷</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𝐿𝐺𝐷</m:t>
                        </m:r>
                      </m:num>
                      <m:den>
                        <m:r>
                          <m:rPr>
                            <m:nor/>
                          </m:rPr>
                          <a:rPr lang="es-PE" sz="900" b="0" i="1">
                            <a:solidFill>
                              <a:schemeClr val="tx1"/>
                            </a:solidFill>
                            <a:latin typeface="Cambria Math" panose="02040503050406030204" pitchFamily="18" charset="0"/>
                          </a:rPr>
                          <m:t>maturity</m:t>
                        </m:r>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En práctica, el spread observado suele ser mucho mayor que la pérdida esperada pura.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confundas </a:t>
                </a:r>
                <a:r>
                  <a:rPr lang="es-PE" sz="900" b="0" i="0" dirty="0" err="1">
                    <a:solidFill>
                      <a:schemeClr val="tx1"/>
                    </a:solidFill>
                    <a:effectLst/>
                    <a:latin typeface="Segoe WPC"/>
                  </a:rPr>
                  <a:t>credit</a:t>
                </a:r>
                <a:r>
                  <a:rPr lang="es-PE" sz="900" b="0" i="0" dirty="0">
                    <a:solidFill>
                      <a:schemeClr val="tx1"/>
                    </a:solidFill>
                    <a:effectLst/>
                    <a:latin typeface="Segoe WPC"/>
                  </a:rPr>
                  <a:t> spread con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loss</a:t>
                </a:r>
                <a:r>
                  <a:rPr lang="es-PE" sz="900" b="0" i="0" dirty="0">
                    <a:solidFill>
                      <a:schemeClr val="tx1"/>
                    </a:solidFill>
                    <a:effectLst/>
                    <a:latin typeface="Segoe WPC"/>
                  </a:rPr>
                  <a:t> anualizada; el spread también incorpora </a:t>
                </a:r>
                <a:r>
                  <a:rPr lang="es-PE" sz="900" b="0" i="0" dirty="0" err="1">
                    <a:solidFill>
                      <a:schemeClr val="tx1"/>
                    </a:solidFill>
                    <a:effectLst/>
                    <a:latin typeface="Segoe WPC"/>
                  </a:rPr>
                  <a:t>risk</a:t>
                </a:r>
                <a:r>
                  <a:rPr lang="es-PE" sz="900" b="0" i="0" dirty="0">
                    <a:solidFill>
                      <a:schemeClr val="tx1"/>
                    </a:solidFill>
                    <a:effectLst/>
                    <a:latin typeface="Segoe WPC"/>
                  </a:rPr>
                  <a:t> premium y liquidez.</a:t>
                </a:r>
              </a:p>
              <a:p>
                <a:pPr algn="l">
                  <a:spcAft>
                    <a:spcPts val="600"/>
                  </a:spcAft>
                  <a:buNone/>
                </a:pPr>
                <a:r>
                  <a:rPr lang="es-PE" sz="900" b="1" i="0" dirty="0">
                    <a:solidFill>
                      <a:schemeClr val="tx1"/>
                    </a:solidFill>
                    <a:effectLst/>
                    <a:latin typeface="Segoe WPC"/>
                  </a:rPr>
                  <a:t>8. Rating </a:t>
                </a:r>
                <a:r>
                  <a:rPr lang="es-PE" sz="900" b="1" i="0" dirty="0" err="1">
                    <a:solidFill>
                      <a:schemeClr val="tx1"/>
                    </a:solidFill>
                    <a:effectLst/>
                    <a:latin typeface="Segoe WPC"/>
                  </a:rPr>
                  <a:t>Process</a:t>
                </a:r>
                <a:r>
                  <a:rPr lang="es-PE" sz="900" b="1" i="0" dirty="0">
                    <a:solidFill>
                      <a:schemeClr val="tx1"/>
                    </a:solidFill>
                    <a:effectLst/>
                    <a:latin typeface="Segoe WPC"/>
                  </a:rPr>
                  <a:t>, </a:t>
                </a:r>
                <a:r>
                  <a:rPr lang="es-PE" sz="900" b="1" i="0" dirty="0" err="1">
                    <a:solidFill>
                      <a:schemeClr val="tx1"/>
                    </a:solidFill>
                    <a:effectLst/>
                    <a:latin typeface="Segoe WPC"/>
                  </a:rPr>
                  <a:t>Outlooks</a:t>
                </a:r>
                <a:r>
                  <a:rPr lang="es-PE" sz="900" b="1" i="0" dirty="0">
                    <a:solidFill>
                      <a:schemeClr val="tx1"/>
                    </a:solidFill>
                    <a:effectLst/>
                    <a:latin typeface="Segoe WPC"/>
                  </a:rPr>
                  <a:t>, and </a:t>
                </a:r>
                <a:r>
                  <a:rPr lang="es-PE" sz="900" b="1" i="0" dirty="0" err="1">
                    <a:solidFill>
                      <a:schemeClr val="tx1"/>
                    </a:solidFill>
                    <a:effectLst/>
                    <a:latin typeface="Segoe WPC"/>
                  </a:rPr>
                  <a:t>Watchlists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Proceso de asignación y monitoreo de ratings por parte de agencias.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rating surge de análisis cuantitativo, juicio cualitativo y reuniones con </a:t>
                </a:r>
                <a:r>
                  <a:rPr lang="es-PE" sz="900" b="0" i="0" dirty="0" err="1">
                    <a:solidFill>
                      <a:schemeClr val="tx1"/>
                    </a:solidFill>
                    <a:effectLst/>
                    <a:latin typeface="Segoe WPC"/>
                  </a:rPr>
                  <a:t>management</a:t>
                </a:r>
                <a:r>
                  <a:rPr lang="es-PE" sz="900" b="0" i="0" dirty="0">
                    <a:solidFill>
                      <a:schemeClr val="tx1"/>
                    </a:solidFill>
                    <a:effectLst/>
                    <a:latin typeface="Segoe WPC"/>
                  </a:rPr>
                  <a:t>, y luego se revisa periódicamente.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rating es la nota actual; el </a:t>
                </a:r>
                <a:r>
                  <a:rPr lang="es-PE" sz="900" b="0" i="0" dirty="0" err="1">
                    <a:solidFill>
                      <a:schemeClr val="tx1"/>
                    </a:solidFill>
                    <a:effectLst/>
                    <a:latin typeface="Segoe WPC"/>
                  </a:rPr>
                  <a:t>outlook</a:t>
                </a:r>
                <a:r>
                  <a:rPr lang="es-PE" sz="900" b="0" i="0" dirty="0">
                    <a:solidFill>
                      <a:schemeClr val="tx1"/>
                    </a:solidFill>
                    <a:effectLst/>
                    <a:latin typeface="Segoe WPC"/>
                  </a:rPr>
                  <a:t> es la dirección probable a mediano plazo; la </a:t>
                </a:r>
                <a:r>
                  <a:rPr lang="es-PE" sz="900" b="0" i="0" dirty="0" err="1">
                    <a:solidFill>
                      <a:schemeClr val="tx1"/>
                    </a:solidFill>
                    <a:effectLst/>
                    <a:latin typeface="Segoe WPC"/>
                  </a:rPr>
                  <a:t>watchlist</a:t>
                </a:r>
                <a:r>
                  <a:rPr lang="es-PE" sz="900" b="0" i="0" dirty="0">
                    <a:solidFill>
                      <a:schemeClr val="tx1"/>
                    </a:solidFill>
                    <a:effectLst/>
                    <a:latin typeface="Segoe WPC"/>
                  </a:rPr>
                  <a:t> señala cambio probable a corto plazo.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hay una fórmula cerrada; el proceso combina ratios, proyecciones, industria, gobernanza y juicio.</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Positive/negative </a:t>
                </a:r>
                <a:r>
                  <a:rPr lang="es-PE" sz="900" b="0" i="0" dirty="0" err="1">
                    <a:solidFill>
                      <a:schemeClr val="tx1"/>
                    </a:solidFill>
                    <a:effectLst/>
                    <a:latin typeface="Segoe WPC"/>
                  </a:rPr>
                  <a:t>outlook</a:t>
                </a:r>
                <a:r>
                  <a:rPr lang="es-PE" sz="900" b="0" i="0" dirty="0">
                    <a:solidFill>
                      <a:schemeClr val="tx1"/>
                    </a:solidFill>
                    <a:effectLst/>
                    <a:latin typeface="Segoe WPC"/>
                  </a:rPr>
                  <a:t> sugieren cambio futuro; positive/negative </a:t>
                </a:r>
                <a:r>
                  <a:rPr lang="es-PE" sz="900" b="0" i="0" dirty="0" err="1">
                    <a:solidFill>
                      <a:schemeClr val="tx1"/>
                    </a:solidFill>
                    <a:effectLst/>
                    <a:latin typeface="Segoe WPC"/>
                  </a:rPr>
                  <a:t>watchlist</a:t>
                </a:r>
                <a:r>
                  <a:rPr lang="es-PE" sz="900" b="0" i="0" dirty="0">
                    <a:solidFill>
                      <a:schemeClr val="tx1"/>
                    </a:solidFill>
                    <a:effectLst/>
                    <a:latin typeface="Segoe WPC"/>
                  </a:rPr>
                  <a:t> sugieren revisión inminente, usualmente en pocos meses.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Outlook y </a:t>
                </a:r>
                <a:r>
                  <a:rPr lang="es-PE" sz="900" b="0" i="0" dirty="0" err="1">
                    <a:solidFill>
                      <a:schemeClr val="tx1"/>
                    </a:solidFill>
                    <a:effectLst/>
                    <a:latin typeface="Segoe WPC"/>
                  </a:rPr>
                  <a:t>watchlist</a:t>
                </a:r>
                <a:r>
                  <a:rPr lang="es-PE" sz="900" b="0" i="0" dirty="0">
                    <a:solidFill>
                      <a:schemeClr val="tx1"/>
                    </a:solidFill>
                    <a:effectLst/>
                    <a:latin typeface="Segoe WPC"/>
                  </a:rPr>
                  <a:t> no son lo mismo: el </a:t>
                </a:r>
                <a:r>
                  <a:rPr lang="es-PE" sz="900" b="0" i="0" dirty="0" err="1">
                    <a:solidFill>
                      <a:schemeClr val="tx1"/>
                    </a:solidFill>
                    <a:effectLst/>
                    <a:latin typeface="Segoe WPC"/>
                  </a:rPr>
                  <a:t>watchlist</a:t>
                </a:r>
                <a:r>
                  <a:rPr lang="es-PE" sz="900" b="0" i="0" dirty="0">
                    <a:solidFill>
                      <a:schemeClr val="tx1"/>
                    </a:solidFill>
                    <a:effectLst/>
                    <a:latin typeface="Segoe WPC"/>
                  </a:rPr>
                  <a:t> suele ser más inmediato y con mayor contenido informativo.</a:t>
                </a:r>
              </a:p>
              <a:p>
                <a:pPr algn="l">
                  <a:spcAft>
                    <a:spcPts val="600"/>
                  </a:spcAft>
                  <a:buNone/>
                </a:pPr>
                <a:r>
                  <a:rPr lang="es-PE" sz="900" b="1" i="0" dirty="0">
                    <a:solidFill>
                      <a:schemeClr val="tx1"/>
                    </a:solidFill>
                    <a:effectLst/>
                    <a:latin typeface="Segoe WPC"/>
                  </a:rPr>
                  <a:t>9. </a:t>
                </a:r>
                <a:r>
                  <a:rPr lang="es-PE" sz="900" b="1" i="0" dirty="0" err="1">
                    <a:solidFill>
                      <a:schemeClr val="tx1"/>
                    </a:solidFill>
                    <a:effectLst/>
                    <a:latin typeface="Segoe WPC"/>
                  </a:rPr>
                  <a:t>Through-the-Cycle</a:t>
                </a:r>
                <a:r>
                  <a:rPr lang="es-PE" sz="900" b="1" i="0" dirty="0">
                    <a:solidFill>
                      <a:schemeClr val="tx1"/>
                    </a:solidFill>
                    <a:effectLst/>
                    <a:latin typeface="Segoe WPC"/>
                  </a:rPr>
                  <a:t> vs Point-in-Time Ratings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Dos filosofías para construir ratings.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Through-the-cycle</a:t>
                </a:r>
                <a:r>
                  <a:rPr lang="es-PE" sz="900" b="0" i="0" dirty="0">
                    <a:solidFill>
                      <a:schemeClr val="tx1"/>
                    </a:solidFill>
                    <a:effectLst/>
                    <a:latin typeface="Segoe WPC"/>
                  </a:rPr>
                  <a:t> suaviza el ciclo económico; </a:t>
                </a:r>
                <a:r>
                  <a:rPr lang="es-PE" sz="900" b="0" i="0" dirty="0" err="1">
                    <a:solidFill>
                      <a:schemeClr val="tx1"/>
                    </a:solidFill>
                    <a:effectLst/>
                    <a:latin typeface="Segoe WPC"/>
                  </a:rPr>
                  <a:t>point</a:t>
                </a:r>
                <a:r>
                  <a:rPr lang="es-PE" sz="900" b="0" i="0" dirty="0">
                    <a:solidFill>
                      <a:schemeClr val="tx1"/>
                    </a:solidFill>
                    <a:effectLst/>
                    <a:latin typeface="Segoe WPC"/>
                  </a:rPr>
                  <a:t>-</a:t>
                </a:r>
                <a:r>
                  <a:rPr lang="es-PE" sz="900" b="0" i="0" dirty="0" err="1">
                    <a:solidFill>
                      <a:schemeClr val="tx1"/>
                    </a:solidFill>
                    <a:effectLst/>
                    <a:latin typeface="Segoe WPC"/>
                  </a:rPr>
                  <a:t>in-time</a:t>
                </a:r>
                <a:r>
                  <a:rPr lang="es-PE" sz="900" b="0" i="0" dirty="0">
                    <a:solidFill>
                      <a:schemeClr val="tx1"/>
                    </a:solidFill>
                    <a:effectLst/>
                    <a:latin typeface="Segoe WPC"/>
                  </a:rPr>
                  <a:t> intenta reflejar el riesgo actual exacto.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TTC cambia poco con la recesión o expansión; PIT se deteriora en malos tiempos y mejora en buenos tiempos.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hay una ecuación única; la diferencia es conceptual: promedio de ciclo vs estimación actual.</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Las agencias tienden a usar ratings </a:t>
                </a:r>
                <a:r>
                  <a:rPr lang="es-PE" sz="900" b="0" i="0" dirty="0" err="1">
                    <a:solidFill>
                      <a:schemeClr val="tx1"/>
                    </a:solidFill>
                    <a:effectLst/>
                    <a:latin typeface="Segoe WPC"/>
                  </a:rPr>
                  <a:t>through-the-cycle</a:t>
                </a:r>
                <a:r>
                  <a:rPr lang="es-PE" sz="900" b="0" i="0" dirty="0">
                    <a:solidFill>
                      <a:schemeClr val="tx1"/>
                    </a:solidFill>
                    <a:effectLst/>
                    <a:latin typeface="Segoe WPC"/>
                  </a:rPr>
                  <a:t> por estabilidad; modelos tipo KMV/Kamakura tienden a ser </a:t>
                </a:r>
                <a:r>
                  <a:rPr lang="es-PE" sz="900" b="0" i="0" dirty="0" err="1">
                    <a:solidFill>
                      <a:schemeClr val="tx1"/>
                    </a:solidFill>
                    <a:effectLst/>
                    <a:latin typeface="Segoe WPC"/>
                  </a:rPr>
                  <a:t>point</a:t>
                </a:r>
                <a:r>
                  <a:rPr lang="es-PE" sz="900" b="0" i="0" dirty="0">
                    <a:solidFill>
                      <a:schemeClr val="tx1"/>
                    </a:solidFill>
                    <a:effectLst/>
                    <a:latin typeface="Segoe WPC"/>
                  </a:rPr>
                  <a:t>-</a:t>
                </a:r>
                <a:r>
                  <a:rPr lang="es-PE" sz="900" b="0" i="0" dirty="0" err="1">
                    <a:solidFill>
                      <a:schemeClr val="tx1"/>
                    </a:solidFill>
                    <a:effectLst/>
                    <a:latin typeface="Segoe WPC"/>
                  </a:rPr>
                  <a:t>in-time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TTC no significa “mejor”; durante una recesión puede subestimar el default actual, y en un boom puede sobreestimarlo.</a:t>
                </a:r>
              </a:p>
              <a:p>
                <a:pPr algn="l">
                  <a:spcAft>
                    <a:spcPts val="600"/>
                  </a:spcAft>
                  <a:buNone/>
                </a:pPr>
                <a:r>
                  <a:rPr lang="es-PE" sz="900" b="1" i="0" dirty="0">
                    <a:solidFill>
                      <a:schemeClr val="tx1"/>
                    </a:solidFill>
                    <a:effectLst/>
                    <a:latin typeface="Segoe WPC"/>
                  </a:rPr>
                  <a:t>10. </a:t>
                </a:r>
                <a:r>
                  <a:rPr lang="es-PE" sz="900" b="1" i="0" dirty="0" err="1">
                    <a:solidFill>
                      <a:schemeClr val="tx1"/>
                    </a:solidFill>
                    <a:effectLst/>
                    <a:latin typeface="Segoe WPC"/>
                  </a:rPr>
                  <a:t>External</a:t>
                </a:r>
                <a:r>
                  <a:rPr lang="es-PE" sz="900" b="1" i="0" dirty="0">
                    <a:solidFill>
                      <a:schemeClr val="tx1"/>
                    </a:solidFill>
                    <a:effectLst/>
                    <a:latin typeface="Segoe WPC"/>
                  </a:rPr>
                  <a:t> vs </a:t>
                </a:r>
                <a:r>
                  <a:rPr lang="es-PE" sz="900" b="1" i="0" dirty="0" err="1">
                    <a:solidFill>
                      <a:schemeClr val="tx1"/>
                    </a:solidFill>
                    <a:effectLst/>
                    <a:latin typeface="Segoe WPC"/>
                  </a:rPr>
                  <a:t>Internal</a:t>
                </a:r>
                <a:r>
                  <a:rPr lang="es-PE" sz="900" b="1" i="0" dirty="0">
                    <a:solidFill>
                      <a:schemeClr val="tx1"/>
                    </a:solidFill>
                    <a:effectLst/>
                    <a:latin typeface="Segoe WPC"/>
                  </a:rPr>
                  <a:t> Ratings and Alternative </a:t>
                </a:r>
                <a:r>
                  <a:rPr lang="es-PE" sz="900" b="1" i="0" dirty="0" err="1">
                    <a:solidFill>
                      <a:schemeClr val="tx1"/>
                    </a:solidFill>
                    <a:effectLst/>
                    <a:latin typeface="Segoe WPC"/>
                  </a:rPr>
                  <a:t>Models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Diferencias entre ratings de agencias, ratings internos de bancos y modelos alternativos como KMV.</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Las agencias cubren sobre todo emisores públicos; los bancos necesitan ratings propios porque muchos prestatarios no tienen rating externo.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 banco puntúa ratios, cash </a:t>
                </a:r>
                <a:r>
                  <a:rPr lang="es-PE" sz="900" b="0" i="0" dirty="0" err="1">
                    <a:solidFill>
                      <a:schemeClr val="tx1"/>
                    </a:solidFill>
                    <a:effectLst/>
                    <a:latin typeface="Segoe WPC"/>
                  </a:rPr>
                  <a:t>flows</a:t>
                </a:r>
                <a:r>
                  <a:rPr lang="es-PE" sz="900" b="0" i="0" dirty="0">
                    <a:solidFill>
                      <a:schemeClr val="tx1"/>
                    </a:solidFill>
                    <a:effectLst/>
                    <a:latin typeface="Segoe WPC"/>
                  </a:rPr>
                  <a:t> y </a:t>
                </a:r>
                <a:r>
                  <a:rPr lang="es-PE" sz="900" b="0" i="0" dirty="0" err="1">
                    <a:solidFill>
                      <a:schemeClr val="tx1"/>
                    </a:solidFill>
                    <a:effectLst/>
                    <a:latin typeface="Segoe WPC"/>
                  </a:rPr>
                  <a:t>management</a:t>
                </a:r>
                <a:r>
                  <a:rPr lang="es-PE" sz="900" b="0" i="0" dirty="0">
                    <a:solidFill>
                      <a:schemeClr val="tx1"/>
                    </a:solidFill>
                    <a:effectLst/>
                    <a:latin typeface="Segoe WPC"/>
                  </a:rPr>
                  <a:t>; un modelo estructural usa valor y volatilidad del </a:t>
                </a:r>
                <a:r>
                  <a:rPr lang="es-PE" sz="900" b="0" i="0" dirty="0" err="1">
                    <a:solidFill>
                      <a:schemeClr val="tx1"/>
                    </a:solidFill>
                    <a:effectLst/>
                    <a:latin typeface="Segoe WPC"/>
                  </a:rPr>
                  <a:t>equity</a:t>
                </a:r>
                <a:r>
                  <a:rPr lang="es-PE" sz="900" b="0" i="0" dirty="0">
                    <a:solidFill>
                      <a:schemeClr val="tx1"/>
                    </a:solidFill>
                    <a:effectLst/>
                    <a:latin typeface="Segoe WPC"/>
                  </a:rPr>
                  <a:t> para inferir default </a:t>
                </a:r>
                <a:r>
                  <a:rPr lang="es-PE" sz="900" b="0" i="0" dirty="0" err="1">
                    <a:solidFill>
                      <a:schemeClr val="tx1"/>
                    </a:solidFill>
                    <a:effectLst/>
                    <a:latin typeface="Segoe WPC"/>
                  </a:rPr>
                  <a:t>risk</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En el modelo estructural, </a:t>
                </a:r>
                <a14:m>
                  <m:oMath xmlns:m="http://schemas.openxmlformats.org/officeDocument/2006/math">
                    <m:r>
                      <m:rPr>
                        <m:nor/>
                      </m:rPr>
                      <a:rPr lang="es-PE" sz="900" b="0">
                        <a:solidFill>
                          <a:schemeClr val="tx1"/>
                        </a:solidFill>
                      </a:rPr>
                      <m:t>Equity</m:t>
                    </m:r>
                    <m:r>
                      <m:rPr>
                        <m:nor/>
                      </m:rPr>
                      <a:rPr lang="es-PE" sz="900" b="0">
                        <a:solidFill>
                          <a:schemeClr val="tx1"/>
                        </a:solidFill>
                      </a:rPr>
                      <m:t> </m:t>
                    </m:r>
                    <m:r>
                      <m:rPr>
                        <m:nor/>
                      </m:rPr>
                      <a:rPr lang="es-PE" sz="900" b="0">
                        <a:solidFill>
                          <a:schemeClr val="tx1"/>
                        </a:solidFill>
                      </a:rPr>
                      <m:t>at</m:t>
                    </m:r>
                    <m:r>
                      <m:rPr>
                        <m:nor/>
                      </m:rPr>
                      <a:rPr lang="es-PE" sz="900" b="0">
                        <a:solidFill>
                          <a:schemeClr val="tx1"/>
                        </a:solidFill>
                      </a:rPr>
                      <m:t> </m:t>
                    </m:r>
                    <m:r>
                      <m:rPr>
                        <m:nor/>
                      </m:rPr>
                      <a:rPr lang="es-PE" sz="900" b="0">
                        <a:solidFill>
                          <a:schemeClr val="tx1"/>
                        </a:solidFill>
                      </a:rPr>
                      <m:t>maturity</m:t>
                    </m:r>
                    <m:r>
                      <a:rPr lang="es-PE" sz="900" b="0" i="0">
                        <a:solidFill>
                          <a:schemeClr val="tx1"/>
                        </a:solidFill>
                        <a:latin typeface="Cambria Math" panose="02040503050406030204" pitchFamily="18" charset="0"/>
                      </a:rPr>
                      <m:t>=</m:t>
                    </m:r>
                    <m:r>
                      <m:rPr>
                        <m:sty m:val="p"/>
                      </m:rPr>
                      <a:rPr lang="es-PE" sz="900" b="0" i="0">
                        <a:solidFill>
                          <a:schemeClr val="tx1"/>
                        </a:solidFill>
                        <a:latin typeface="Cambria Math" panose="02040503050406030204" pitchFamily="18" charset="0"/>
                      </a:rPr>
                      <m:t>max</m:t>
                    </m:r>
                    <m:r>
                      <a:rPr lang="es-PE" sz="900" b="0" i="0">
                        <a:solidFill>
                          <a:schemeClr val="tx1"/>
                        </a:solidFill>
                        <a:latin typeface="Cambria Math" panose="02040503050406030204" pitchFamily="18" charset="0"/>
                      </a:rPr>
                      <m:t>⁡</m:t>
                    </m:r>
                    <m:d>
                      <m:dPr>
                        <m:sepChr m:val=","/>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𝑉</m:t>
                        </m:r>
                      </m:e>
                      <m:e>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𝐷</m:t>
                        </m:r>
                        <m:r>
                          <a:rPr lang="ar-AE" sz="900" b="0" i="0">
                            <a:solidFill>
                              <a:schemeClr val="tx1"/>
                            </a:solidFill>
                            <a:latin typeface="Cambria Math" panose="02040503050406030204" pitchFamily="18" charset="0"/>
                          </a:rPr>
                          <m:t>0</m:t>
                        </m:r>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El </a:t>
                </a:r>
                <a:r>
                  <a:rPr lang="es-PE" sz="900" b="0" i="0" dirty="0" err="1">
                    <a:solidFill>
                      <a:schemeClr val="tx1"/>
                    </a:solidFill>
                    <a:effectLst/>
                    <a:latin typeface="Segoe WPC"/>
                  </a:rPr>
                  <a:t>equity</a:t>
                </a:r>
                <a:r>
                  <a:rPr lang="es-PE" sz="900" b="0" i="0" dirty="0">
                    <a:solidFill>
                      <a:schemeClr val="tx1"/>
                    </a:solidFill>
                    <a:effectLst/>
                    <a:latin typeface="Segoe WPC"/>
                  </a:rPr>
                  <a:t> se modela como una </a:t>
                </a:r>
                <a:r>
                  <a:rPr lang="es-PE" sz="900" b="0" i="0" dirty="0" err="1">
                    <a:solidFill>
                      <a:schemeClr val="tx1"/>
                    </a:solidFill>
                    <a:effectLst/>
                    <a:latin typeface="Segoe WPC"/>
                  </a:rPr>
                  <a:t>call</a:t>
                </a:r>
                <a:r>
                  <a:rPr lang="es-PE" sz="900" b="0" i="0" dirty="0">
                    <a:solidFill>
                      <a:schemeClr val="tx1"/>
                    </a:solidFill>
                    <a:effectLst/>
                    <a:latin typeface="Segoe WPC"/>
                  </a:rPr>
                  <a:t> sobre los activos con strike igual a la deuda; default ocurre cuando </a:t>
                </a:r>
                <a14:m>
                  <m:oMath xmlns:m="http://schemas.openxmlformats.org/officeDocument/2006/math">
                    <m:r>
                      <a:rPr lang="es-PE" sz="900" i="1">
                        <a:solidFill>
                          <a:schemeClr val="tx1"/>
                        </a:solidFill>
                        <a:latin typeface="Cambria Math" panose="02040503050406030204" pitchFamily="18" charset="0"/>
                      </a:rPr>
                      <m:t>𝑉</m:t>
                    </m:r>
                    <m:r>
                      <a:rPr lang="es-PE" sz="900" i="0">
                        <a:solidFill>
                          <a:schemeClr val="tx1"/>
                        </a:solidFill>
                        <a:latin typeface="Cambria Math" panose="02040503050406030204" pitchFamily="18" charset="0"/>
                      </a:rPr>
                      <m:t>&lt;</m:t>
                    </m:r>
                    <m:r>
                      <a:rPr lang="es-PE" sz="900" i="1">
                        <a:solidFill>
                          <a:schemeClr val="tx1"/>
                        </a:solidFill>
                        <a:latin typeface="Cambria Math" panose="02040503050406030204" pitchFamily="18" charset="0"/>
                      </a:rPr>
                      <m:t>𝐷</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Los modelos tipo KMV reaccionan rápido porque usan precios de mercado; las agencias son más estables, pero también más lentas.</a:t>
                </a:r>
              </a:p>
              <a:p>
                <a:pPr algn="l">
                  <a:spcAft>
                    <a:spcPts val="600"/>
                  </a:spcAft>
                  <a:buNone/>
                </a:pPr>
                <a:r>
                  <a:rPr lang="es-PE" sz="900" b="1" i="0" dirty="0">
                    <a:solidFill>
                      <a:schemeClr val="tx1"/>
                    </a:solidFill>
                    <a:effectLst/>
                    <a:latin typeface="Segoe WPC"/>
                  </a:rPr>
                  <a:t>11. </a:t>
                </a:r>
                <a:r>
                  <a:rPr lang="es-PE" sz="900" b="1" i="0" dirty="0" err="1">
                    <a:solidFill>
                      <a:schemeClr val="tx1"/>
                    </a:solidFill>
                    <a:effectLst/>
                    <a:latin typeface="Segoe WPC"/>
                  </a:rPr>
                  <a:t>Internal</a:t>
                </a:r>
                <a:r>
                  <a:rPr lang="es-PE" sz="900" b="1" i="0" dirty="0">
                    <a:solidFill>
                      <a:schemeClr val="tx1"/>
                    </a:solidFill>
                    <a:effectLst/>
                    <a:latin typeface="Segoe WPC"/>
                  </a:rPr>
                  <a:t> Ratings and </a:t>
                </a:r>
                <a:r>
                  <a:rPr lang="es-PE" sz="900" b="1" i="0" dirty="0" err="1">
                    <a:solidFill>
                      <a:schemeClr val="tx1"/>
                    </a:solidFill>
                    <a:effectLst/>
                    <a:latin typeface="Segoe WPC"/>
                  </a:rPr>
                  <a:t>Procyclicality</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Sistemas internos de rating usados por bancos para decidir préstamos, capital y valuación contable.</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Los bancos crean escalas parecidas a las de las agencias, pero adaptadas a su cartera y a sus prestatarios.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Cada factor recibe un score; luego se agrega en un rating interno que debe validarse con datos históricos.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hay una fórmula única; típicamente se usa un score agregado de múltiples factores.</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Internal</a:t>
                </a:r>
                <a:r>
                  <a:rPr lang="es-PE" sz="900" b="0" i="0" dirty="0">
                    <a:solidFill>
                      <a:schemeClr val="tx1"/>
                    </a:solidFill>
                    <a:effectLst/>
                    <a:latin typeface="Segoe WPC"/>
                  </a:rPr>
                  <a:t> ratings son cruciales porque muchos clientes no tienen rating externo y porque regulación e IFRS 9 requieren estimar </a:t>
                </a:r>
                <a14:m>
                  <m:oMath xmlns:m="http://schemas.openxmlformats.org/officeDocument/2006/math">
                    <m:r>
                      <a:rPr lang="es-PE" sz="900" i="1">
                        <a:solidFill>
                          <a:schemeClr val="tx1"/>
                        </a:solidFill>
                        <a:latin typeface="Cambria Math" panose="02040503050406030204" pitchFamily="18" charset="0"/>
                      </a:rPr>
                      <m:t>𝑃𝐷</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Los ratings </a:t>
                </a:r>
                <a:r>
                  <a:rPr lang="es-PE" sz="900" b="0" i="0" dirty="0" err="1">
                    <a:solidFill>
                      <a:schemeClr val="tx1"/>
                    </a:solidFill>
                    <a:effectLst/>
                    <a:latin typeface="Segoe WPC"/>
                  </a:rPr>
                  <a:t>point</a:t>
                </a:r>
                <a:r>
                  <a:rPr lang="es-PE" sz="900" b="0" i="0" dirty="0">
                    <a:solidFill>
                      <a:schemeClr val="tx1"/>
                    </a:solidFill>
                    <a:effectLst/>
                    <a:latin typeface="Segoe WPC"/>
                  </a:rPr>
                  <a:t>-</a:t>
                </a:r>
                <a:r>
                  <a:rPr lang="es-PE" sz="900" b="0" i="0" dirty="0" err="1">
                    <a:solidFill>
                      <a:schemeClr val="tx1"/>
                    </a:solidFill>
                    <a:effectLst/>
                    <a:latin typeface="Segoe WPC"/>
                  </a:rPr>
                  <a:t>in-time</a:t>
                </a:r>
                <a:r>
                  <a:rPr lang="es-PE" sz="900" b="0" i="0" dirty="0">
                    <a:solidFill>
                      <a:schemeClr val="tx1"/>
                    </a:solidFill>
                    <a:effectLst/>
                    <a:latin typeface="Segoe WPC"/>
                  </a:rPr>
                  <a:t> son procíclicos: empeoran en recesión, endurecen el crédito y pueden amplificar la caída económica.</a:t>
                </a:r>
              </a:p>
              <a:p>
                <a:pPr algn="l">
                  <a:spcAft>
                    <a:spcPts val="600"/>
                  </a:spcAft>
                  <a:buNone/>
                </a:pPr>
                <a:r>
                  <a:rPr lang="es-PE" sz="900" b="1" i="0" dirty="0">
                    <a:solidFill>
                      <a:schemeClr val="tx1"/>
                    </a:solidFill>
                    <a:effectLst/>
                    <a:latin typeface="Segoe WPC"/>
                  </a:rPr>
                  <a:t>12. Rating </a:t>
                </a:r>
                <a:r>
                  <a:rPr lang="es-PE" sz="900" b="1" i="0" dirty="0" err="1">
                    <a:solidFill>
                      <a:schemeClr val="tx1"/>
                    </a:solidFill>
                    <a:effectLst/>
                    <a:latin typeface="Segoe WPC"/>
                  </a:rPr>
                  <a:t>Transition</a:t>
                </a:r>
                <a:r>
                  <a:rPr lang="es-PE" sz="900" b="1" i="0" dirty="0">
                    <a:solidFill>
                      <a:schemeClr val="tx1"/>
                    </a:solidFill>
                    <a:effectLst/>
                    <a:latin typeface="Segoe WPC"/>
                  </a:rPr>
                  <a:t> Matrices and </a:t>
                </a:r>
                <a:r>
                  <a:rPr lang="es-PE" sz="900" b="1" i="0" dirty="0" err="1">
                    <a:solidFill>
                      <a:schemeClr val="tx1"/>
                    </a:solidFill>
                    <a:effectLst/>
                    <a:latin typeface="Segoe WPC"/>
                  </a:rPr>
                  <a:t>Market</a:t>
                </a:r>
                <a:r>
                  <a:rPr lang="es-PE" sz="900" b="1" i="0" dirty="0">
                    <a:solidFill>
                      <a:schemeClr val="tx1"/>
                    </a:solidFill>
                    <a:effectLst/>
                    <a:latin typeface="Segoe WPC"/>
                  </a:rPr>
                  <a:t> </a:t>
                </a:r>
                <a:r>
                  <a:rPr lang="es-PE" sz="900" b="1" i="0" dirty="0" err="1">
                    <a:solidFill>
                      <a:schemeClr val="tx1"/>
                    </a:solidFill>
                    <a:effectLst/>
                    <a:latin typeface="Segoe WPC"/>
                  </a:rPr>
                  <a:t>Reactions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Matrices que muestran la probabilidad de migrar entre categorías de rating en un año.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No solo importa </a:t>
                </a:r>
                <a:r>
                  <a:rPr lang="es-PE" sz="900" b="0" i="0" dirty="0" err="1">
                    <a:solidFill>
                      <a:schemeClr val="tx1"/>
                    </a:solidFill>
                    <a:effectLst/>
                    <a:latin typeface="Segoe WPC"/>
                  </a:rPr>
                  <a:t>defaultar</a:t>
                </a:r>
                <a:r>
                  <a:rPr lang="es-PE" sz="900" b="0" i="0" dirty="0">
                    <a:solidFill>
                      <a:schemeClr val="tx1"/>
                    </a:solidFill>
                    <a:effectLst/>
                    <a:latin typeface="Segoe WPC"/>
                  </a:rPr>
                  <a:t> o no; también importa migrar de </a:t>
                </a:r>
                <a14:m>
                  <m:oMath xmlns:m="http://schemas.openxmlformats.org/officeDocument/2006/math">
                    <m:r>
                      <a:rPr lang="es-PE" sz="900" i="1">
                        <a:solidFill>
                          <a:schemeClr val="tx1"/>
                        </a:solidFill>
                        <a:latin typeface="Cambria Math" panose="02040503050406030204" pitchFamily="18" charset="0"/>
                      </a:rPr>
                      <m:t>𝐴</m:t>
                    </m:r>
                  </m:oMath>
                </a14:m>
                <a:r>
                  <a:rPr lang="es-PE" sz="900" b="0" i="0" dirty="0">
                    <a:solidFill>
                      <a:schemeClr val="tx1"/>
                    </a:solidFill>
                    <a:effectLst/>
                    <a:latin typeface="Segoe WPC"/>
                  </a:rPr>
                  <a:t> a </a:t>
                </a:r>
                <a14:m>
                  <m:oMath xmlns:m="http://schemas.openxmlformats.org/officeDocument/2006/math">
                    <m:r>
                      <a:rPr lang="es-PE" sz="900" i="1">
                        <a:solidFill>
                          <a:schemeClr val="tx1"/>
                        </a:solidFill>
                        <a:latin typeface="Cambria Math" panose="02040503050406030204" pitchFamily="18" charset="0"/>
                      </a:rPr>
                      <m:t>𝐵𝐵𝐵</m:t>
                    </m:r>
                  </m:oMath>
                </a14:m>
                <a:r>
                  <a:rPr lang="es-PE" sz="900" b="0" i="0" dirty="0">
                    <a:solidFill>
                      <a:schemeClr val="tx1"/>
                    </a:solidFill>
                    <a:effectLst/>
                    <a:latin typeface="Segoe WPC"/>
                  </a:rPr>
                  <a:t>, de </a:t>
                </a:r>
                <a14:m>
                  <m:oMath xmlns:m="http://schemas.openxmlformats.org/officeDocument/2006/math">
                    <m:r>
                      <a:rPr lang="es-PE" sz="900" i="1">
                        <a:solidFill>
                          <a:schemeClr val="tx1"/>
                        </a:solidFill>
                        <a:latin typeface="Cambria Math" panose="02040503050406030204" pitchFamily="18" charset="0"/>
                      </a:rPr>
                      <m:t>𝐵𝐵𝐵</m:t>
                    </m:r>
                  </m:oMath>
                </a14:m>
                <a:r>
                  <a:rPr lang="es-PE" sz="900" b="0" i="0" dirty="0">
                    <a:solidFill>
                      <a:schemeClr val="tx1"/>
                    </a:solidFill>
                    <a:effectLst/>
                    <a:latin typeface="Segoe WPC"/>
                  </a:rPr>
                  <a:t> a </a:t>
                </a:r>
                <a14:m>
                  <m:oMath xmlns:m="http://schemas.openxmlformats.org/officeDocument/2006/math">
                    <m:r>
                      <a:rPr lang="es-PE" sz="900" i="1">
                        <a:solidFill>
                          <a:schemeClr val="tx1"/>
                        </a:solidFill>
                        <a:latin typeface="Cambria Math" panose="02040503050406030204" pitchFamily="18" charset="0"/>
                      </a:rPr>
                      <m:t>𝐵𝐵</m:t>
                    </m:r>
                  </m:oMath>
                </a14:m>
                <a:r>
                  <a:rPr lang="es-PE" sz="900" b="0" i="0" dirty="0">
                    <a:solidFill>
                      <a:schemeClr val="tx1"/>
                    </a:solidFill>
                    <a:effectLst/>
                    <a:latin typeface="Segoe WPC"/>
                  </a:rPr>
                  <a:t>, etc.</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matriz resume estabilidad, </a:t>
                </a:r>
                <a:r>
                  <a:rPr lang="es-PE" sz="900" b="0" i="0" dirty="0" err="1">
                    <a:solidFill>
                      <a:schemeClr val="tx1"/>
                    </a:solidFill>
                    <a:effectLst/>
                    <a:latin typeface="Segoe WPC"/>
                  </a:rPr>
                  <a:t>upgrades</a:t>
                </a:r>
                <a:r>
                  <a:rPr lang="es-PE" sz="900" b="0" i="0" dirty="0">
                    <a:solidFill>
                      <a:schemeClr val="tx1"/>
                    </a:solidFill>
                    <a:effectLst/>
                    <a:latin typeface="Segoe WPC"/>
                  </a:rPr>
                  <a:t>, </a:t>
                </a:r>
                <a:r>
                  <a:rPr lang="es-PE" sz="900" b="0" i="0" dirty="0" err="1">
                    <a:solidFill>
                      <a:schemeClr val="tx1"/>
                    </a:solidFill>
                    <a:effectLst/>
                    <a:latin typeface="Segoe WPC"/>
                  </a:rPr>
                  <a:t>downgrades</a:t>
                </a:r>
                <a:r>
                  <a:rPr lang="es-PE" sz="900" b="0" i="0" dirty="0">
                    <a:solidFill>
                      <a:schemeClr val="tx1"/>
                    </a:solidFill>
                    <a:effectLst/>
                    <a:latin typeface="Segoe WPC"/>
                  </a:rPr>
                  <a:t>, defaults y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rated</a:t>
                </a:r>
                <a:r>
                  <a:rPr lang="es-PE" sz="900" b="0" i="0" dirty="0">
                    <a:solidFill>
                      <a:schemeClr val="tx1"/>
                    </a:solidFill>
                    <a:effectLst/>
                    <a:latin typeface="Segoe WPC"/>
                  </a:rPr>
                  <a:t>” en un solo mapa de transición.</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Si hubiera independencia anual,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𝑃</m:t>
                        </m:r>
                      </m:e>
                      <m:sup>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𝑛</m:t>
                            </m:r>
                          </m:e>
                        </m:d>
                      </m:sup>
                    </m:sSup>
                    <m:r>
                      <a:rPr lang="ar-AE" sz="900" i="0">
                        <a:solidFill>
                          <a:schemeClr val="tx1"/>
                        </a:solidFill>
                        <a:latin typeface="Cambria Math" panose="02040503050406030204" pitchFamily="18" charset="0"/>
                      </a:rPr>
                      <m:t>=</m:t>
                    </m:r>
                    <m:d>
                      <m:dPr>
                        <m:endChr m:val=""/>
                        <m:ctrlPr>
                          <a:rPr lang="ar-AE" sz="900" i="1">
                            <a:solidFill>
                              <a:schemeClr val="tx1"/>
                            </a:solidFill>
                            <a:latin typeface="Cambria Math" panose="02040503050406030204" pitchFamily="18" charset="0"/>
                          </a:rPr>
                        </m:ctrlPr>
                      </m:dPr>
                      <m:e>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𝑃</m:t>
                            </m:r>
                          </m:e>
                          <m:sup>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e>
                            </m:d>
                          </m:sup>
                        </m:sSup>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1">
                                <a:solidFill>
                                  <a:schemeClr val="tx1"/>
                                </a:solidFill>
                                <a:latin typeface="Cambria Math" panose="02040503050406030204" pitchFamily="18" charset="0"/>
                              </a:rPr>
                              <m:t>𝑛</m:t>
                            </m:r>
                          </m:sup>
                        </m:sSup>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Las matrices sirven para modelar migraciones, </a:t>
                </a:r>
                <a:r>
                  <a:rPr lang="es-PE" sz="900" b="0" i="0" dirty="0" err="1">
                    <a:solidFill>
                      <a:schemeClr val="tx1"/>
                    </a:solidFill>
                    <a:effectLst/>
                    <a:latin typeface="Segoe WPC"/>
                  </a:rPr>
                  <a:t>pricing</a:t>
                </a:r>
                <a:r>
                  <a:rPr lang="es-PE" sz="900" b="0" i="0" dirty="0">
                    <a:solidFill>
                      <a:schemeClr val="tx1"/>
                    </a:solidFill>
                    <a:effectLst/>
                    <a:latin typeface="Segoe WPC"/>
                  </a:rPr>
                  <a:t>, capital y stress </a:t>
                </a:r>
                <a:r>
                  <a:rPr lang="es-PE" sz="900" b="0" i="0" dirty="0" err="1">
                    <a:solidFill>
                      <a:schemeClr val="tx1"/>
                    </a:solidFill>
                    <a:effectLst/>
                    <a:latin typeface="Segoe WPC"/>
                  </a:rPr>
                  <a:t>testing</a:t>
                </a:r>
                <a:r>
                  <a:rPr lang="es-PE" sz="900" b="0" i="0" dirty="0">
                    <a:solidFill>
                      <a:schemeClr val="tx1"/>
                    </a:solidFill>
                    <a:effectLst/>
                    <a:latin typeface="Segoe WPC"/>
                  </a:rPr>
                  <a:t>, aunque en práctica existe rating </a:t>
                </a:r>
                <a:r>
                  <a:rPr lang="es-PE" sz="900" b="0" i="0" dirty="0" err="1">
                    <a:solidFill>
                      <a:schemeClr val="tx1"/>
                    </a:solidFill>
                    <a:effectLst/>
                    <a:latin typeface="Segoe WPC"/>
                  </a:rPr>
                  <a:t>momentum</a:t>
                </a:r>
                <a:r>
                  <a:rPr lang="es-PE" sz="900" b="0" i="0" dirty="0">
                    <a:solidFill>
                      <a:schemeClr val="tx1"/>
                    </a:solidFill>
                    <a:effectLst/>
                    <a:latin typeface="Segoe WPC"/>
                  </a:rPr>
                  <a:t>: </a:t>
                </a:r>
                <a:r>
                  <a:rPr lang="es-PE" sz="900" b="0" i="0" dirty="0" err="1">
                    <a:solidFill>
                      <a:schemeClr val="tx1"/>
                    </a:solidFill>
                    <a:effectLst/>
                    <a:latin typeface="Segoe WPC"/>
                  </a:rPr>
                  <a:t>downgrade</a:t>
                </a:r>
                <a:r>
                  <a:rPr lang="es-PE" sz="900" b="0" i="0" dirty="0">
                    <a:solidFill>
                      <a:schemeClr val="tx1"/>
                    </a:solidFill>
                    <a:effectLst/>
                    <a:latin typeface="Segoe WPC"/>
                  </a:rPr>
                  <a:t> hoy aumenta chance de </a:t>
                </a:r>
                <a:r>
                  <a:rPr lang="es-PE" sz="900" b="0" i="0" dirty="0" err="1">
                    <a:solidFill>
                      <a:schemeClr val="tx1"/>
                    </a:solidFill>
                    <a:effectLst/>
                    <a:latin typeface="Segoe WPC"/>
                  </a:rPr>
                  <a:t>downgrade</a:t>
                </a:r>
                <a:r>
                  <a:rPr lang="es-PE" sz="900" b="0" i="0" dirty="0">
                    <a:solidFill>
                      <a:schemeClr val="tx1"/>
                    </a:solidFill>
                    <a:effectLst/>
                    <a:latin typeface="Segoe WPC"/>
                  </a:rPr>
                  <a:t> mañana.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Los cambios de rating suelen afectar más a bonos, acciones y CDS cuando son </a:t>
                </a:r>
                <a:r>
                  <a:rPr lang="es-PE" sz="900" b="0" i="0" dirty="0" err="1">
                    <a:solidFill>
                      <a:schemeClr val="tx1"/>
                    </a:solidFill>
                    <a:effectLst/>
                    <a:latin typeface="Segoe WPC"/>
                  </a:rPr>
                  <a:t>downgrades</a:t>
                </a:r>
                <a:r>
                  <a:rPr lang="es-PE" sz="900" b="0" i="0" dirty="0">
                    <a:solidFill>
                      <a:schemeClr val="tx1"/>
                    </a:solidFill>
                    <a:effectLst/>
                    <a:latin typeface="Segoe WPC"/>
                  </a:rPr>
                  <a:t>, especialmente si cruzan de </a:t>
                </a:r>
                <a:r>
                  <a:rPr lang="es-PE" sz="900" b="0" i="0" dirty="0" err="1">
                    <a:solidFill>
                      <a:schemeClr val="tx1"/>
                    </a:solidFill>
                    <a:effectLst/>
                    <a:latin typeface="Segoe WPC"/>
                  </a:rPr>
                  <a:t>investment</a:t>
                </a:r>
                <a:r>
                  <a:rPr lang="es-PE" sz="900" b="0" i="0" dirty="0">
                    <a:solidFill>
                      <a:schemeClr val="tx1"/>
                    </a:solidFill>
                    <a:effectLst/>
                    <a:latin typeface="Segoe WPC"/>
                  </a:rPr>
                  <a:t> grade a </a:t>
                </a:r>
                <a:r>
                  <a:rPr lang="es-PE" sz="900" b="0" i="0" dirty="0" err="1">
                    <a:solidFill>
                      <a:schemeClr val="tx1"/>
                    </a:solidFill>
                    <a:effectLst/>
                    <a:latin typeface="Segoe WPC"/>
                  </a:rPr>
                  <a:t>junk</a:t>
                </a:r>
                <a:r>
                  <a:rPr lang="es-PE" sz="900" b="0" i="0" dirty="0">
                    <a:solidFill>
                      <a:schemeClr val="tx1"/>
                    </a:solidFill>
                    <a:effectLst/>
                    <a:latin typeface="Segoe WPC"/>
                  </a:rPr>
                  <a:t>; los </a:t>
                </a:r>
                <a:r>
                  <a:rPr lang="es-PE" sz="900" b="0" i="0" dirty="0" err="1">
                    <a:solidFill>
                      <a:schemeClr val="tx1"/>
                    </a:solidFill>
                    <a:effectLst/>
                    <a:latin typeface="Segoe WPC"/>
                  </a:rPr>
                  <a:t>upgrades</a:t>
                </a:r>
                <a:r>
                  <a:rPr lang="es-PE" sz="900" b="0" i="0" dirty="0">
                    <a:solidFill>
                      <a:schemeClr val="tx1"/>
                    </a:solidFill>
                    <a:effectLst/>
                    <a:latin typeface="Segoe WPC"/>
                  </a:rPr>
                  <a:t> suelen tener menor impacto.</a:t>
                </a:r>
              </a:p>
              <a:p>
                <a:pPr algn="l">
                  <a:spcAft>
                    <a:spcPts val="600"/>
                  </a:spcAft>
                  <a:buNone/>
                </a:pPr>
                <a:r>
                  <a:rPr lang="es-PE" sz="900" b="1" i="0" dirty="0">
                    <a:solidFill>
                      <a:schemeClr val="tx1"/>
                    </a:solidFill>
                    <a:effectLst/>
                    <a:latin typeface="Segoe WPC"/>
                  </a:rPr>
                  <a:t>13. </a:t>
                </a:r>
                <a:r>
                  <a:rPr lang="es-PE" sz="900" b="1" i="0" dirty="0" err="1">
                    <a:solidFill>
                      <a:schemeClr val="tx1"/>
                    </a:solidFill>
                    <a:effectLst/>
                    <a:latin typeface="Segoe WPC"/>
                  </a:rPr>
                  <a:t>Failures</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Ratings and </a:t>
                </a:r>
                <a:r>
                  <a:rPr lang="es-PE" sz="900" b="1" i="0" dirty="0" err="1">
                    <a:solidFill>
                      <a:schemeClr val="tx1"/>
                    </a:solidFill>
                    <a:effectLst/>
                    <a:latin typeface="Segoe WPC"/>
                  </a:rPr>
                  <a:t>Structured</a:t>
                </a:r>
                <a:r>
                  <a:rPr lang="es-PE" sz="900" b="1" i="0" dirty="0">
                    <a:solidFill>
                      <a:schemeClr val="tx1"/>
                    </a:solidFill>
                    <a:effectLst/>
                    <a:latin typeface="Segoe WPC"/>
                  </a:rPr>
                  <a:t> </a:t>
                </a:r>
                <a:r>
                  <a:rPr lang="es-PE" sz="900" b="1" i="0" dirty="0" err="1">
                    <a:solidFill>
                      <a:schemeClr val="tx1"/>
                    </a:solidFill>
                    <a:effectLst/>
                    <a:latin typeface="Segoe WPC"/>
                  </a:rPr>
                  <a:t>Products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Limitaciones históricas y desafíos del uso de ratings en decisiones de inversión.</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Los ratings tradicionales funcionaron razonablemente bien en bonos corporativos, pero fallaron gravemente en muchos </a:t>
                </a:r>
                <a:r>
                  <a:rPr lang="es-PE" sz="900" b="0" i="0" dirty="0" err="1">
                    <a:solidFill>
                      <a:schemeClr val="tx1"/>
                    </a:solidFill>
                    <a:effectLst/>
                    <a:latin typeface="Segoe WPC"/>
                  </a:rPr>
                  <a:t>structured</a:t>
                </a:r>
                <a:r>
                  <a:rPr lang="es-PE" sz="900" b="0" i="0" dirty="0">
                    <a:solidFill>
                      <a:schemeClr val="tx1"/>
                    </a:solidFill>
                    <a:effectLst/>
                    <a:latin typeface="Segoe WPC"/>
                  </a:rPr>
                  <a:t> </a:t>
                </a:r>
                <a:r>
                  <a:rPr lang="es-PE" sz="900" b="0" i="0" dirty="0" err="1">
                    <a:solidFill>
                      <a:schemeClr val="tx1"/>
                    </a:solidFill>
                    <a:effectLst/>
                    <a:latin typeface="Segoe WPC"/>
                  </a:rPr>
                  <a:t>products</a:t>
                </a:r>
                <a:r>
                  <a:rPr lang="es-PE" sz="900" b="0" i="0" dirty="0">
                    <a:solidFill>
                      <a:schemeClr val="tx1"/>
                    </a:solidFill>
                    <a:effectLst/>
                    <a:latin typeface="Segoe WPC"/>
                  </a:rPr>
                  <a:t> pre-2008.</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productos estructurados, los modelos de rating fueron usados por originadores para “diseñar hacia la nota deseada”.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hay fórmula única; el problema fue principalmente de inputs y correlaciones mal estimadas.</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 crisis mostró que confiar ciegamente en ratings puede ser peligroso, especialmente cuando la calificación depende casi por completo de un modelo.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concluyas que “todos los ratings no sirven”; la gran falla fue especialmente fuerte en </a:t>
                </a:r>
                <a:r>
                  <a:rPr lang="es-PE" sz="900" b="0" i="0" dirty="0" err="1">
                    <a:solidFill>
                      <a:schemeClr val="tx1"/>
                    </a:solidFill>
                    <a:effectLst/>
                    <a:latin typeface="Segoe WPC"/>
                  </a:rPr>
                  <a:t>structured</a:t>
                </a:r>
                <a:r>
                  <a:rPr lang="es-PE" sz="900" b="0" i="0" dirty="0">
                    <a:solidFill>
                      <a:schemeClr val="tx1"/>
                    </a:solidFill>
                    <a:effectLst/>
                    <a:latin typeface="Segoe WPC"/>
                  </a:rPr>
                  <a:t> </a:t>
                </a:r>
                <a:r>
                  <a:rPr lang="es-PE" sz="900" b="0" i="0" dirty="0" err="1">
                    <a:solidFill>
                      <a:schemeClr val="tx1"/>
                    </a:solidFill>
                    <a:effectLst/>
                    <a:latin typeface="Segoe WPC"/>
                  </a:rPr>
                  <a:t>credit</a:t>
                </a:r>
                <a:r>
                  <a:rPr lang="es-PE" sz="900" b="0" i="0" dirty="0">
                    <a:solidFill>
                      <a:schemeClr val="tx1"/>
                    </a:solidFill>
                    <a:effectLst/>
                    <a:latin typeface="Segoe WPC"/>
                  </a:rPr>
                  <a:t>, no necesariamente en bonos corporativos tradicionales.</a:t>
                </a:r>
              </a:p>
            </p:txBody>
          </p:sp>
        </mc:Choice>
        <mc:Fallback xmlns="">
          <p:sp>
            <p:nvSpPr>
              <p:cNvPr id="7" name="CuadroTexto 6">
                <a:extLst>
                  <a:ext uri="{FF2B5EF4-FFF2-40B4-BE49-F238E27FC236}">
                    <a16:creationId xmlns:a16="http://schemas.microsoft.com/office/drawing/2014/main" id="{14ED7178-A207-69ED-7326-7DB026F19D13}"/>
                  </a:ext>
                </a:extLst>
              </p:cNvPr>
              <p:cNvSpPr txBox="1">
                <a:spLocks noRot="1" noChangeAspect="1" noMove="1" noResize="1" noEditPoints="1" noAdjustHandles="1" noChangeArrowheads="1" noChangeShapeType="1" noTextEdit="1"/>
              </p:cNvSpPr>
              <p:nvPr/>
            </p:nvSpPr>
            <p:spPr>
              <a:xfrm>
                <a:off x="5907314" y="0"/>
                <a:ext cx="6335486" cy="12001106"/>
              </a:xfrm>
              <a:prstGeom prst="rect">
                <a:avLst/>
              </a:prstGeom>
              <a:blipFill>
                <a:blip r:embed="rId3"/>
                <a:stretch>
                  <a:fillRect r="-192"/>
                </a:stretch>
              </a:blipFill>
            </p:spPr>
            <p:txBody>
              <a:bodyPr/>
              <a:lstStyle/>
              <a:p>
                <a:r>
                  <a:rPr lang="es-PE">
                    <a:noFill/>
                  </a:rPr>
                  <a:t> </a:t>
                </a:r>
              </a:p>
            </p:txBody>
          </p:sp>
        </mc:Fallback>
      </mc:AlternateContent>
    </p:spTree>
    <p:extLst>
      <p:ext uri="{BB962C8B-B14F-4D97-AF65-F5344CB8AC3E}">
        <p14:creationId xmlns:p14="http://schemas.microsoft.com/office/powerpoint/2010/main" val="15111060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9E5F8A-669A-8407-660A-5F6EF3ADC2DF}"/>
              </a:ext>
            </a:extLst>
          </p:cNvPr>
          <p:cNvSpPr>
            <a:spLocks noGrp="1"/>
          </p:cNvSpPr>
          <p:nvPr>
            <p:ph type="title"/>
          </p:nvPr>
        </p:nvSpPr>
        <p:spPr>
          <a:xfrm>
            <a:off x="-130629" y="-57606"/>
            <a:ext cx="7598229" cy="195492"/>
          </a:xfrm>
        </p:spPr>
        <p:txBody>
          <a:bodyPr>
            <a:noAutofit/>
          </a:bodyPr>
          <a:lstStyle/>
          <a:p>
            <a:br>
              <a:rPr lang="en-US" sz="2000" b="1" dirty="0"/>
            </a:br>
            <a:r>
              <a:rPr lang="en-US" sz="2000" b="1" dirty="0"/>
              <a:t>Country R., Det., Measures and Implications</a:t>
            </a:r>
            <a:endParaRPr lang="es-PE" sz="20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5268FBE0-FB3E-4EED-6E86-52475C3782A0}"/>
                  </a:ext>
                </a:extLst>
              </p:cNvPr>
              <p:cNvSpPr txBox="1"/>
              <p:nvPr/>
            </p:nvSpPr>
            <p:spPr>
              <a:xfrm>
                <a:off x="-65313" y="307520"/>
                <a:ext cx="6335484" cy="6771084"/>
              </a:xfrm>
              <a:prstGeom prst="rect">
                <a:avLst/>
              </a:prstGeom>
              <a:noFill/>
            </p:spPr>
            <p:txBody>
              <a:bodyPr wrap="square">
                <a:spAutoFit/>
              </a:bodyPr>
              <a:lstStyle/>
              <a:p>
                <a:pPr algn="l">
                  <a:spcAft>
                    <a:spcPts val="600"/>
                  </a:spcAft>
                  <a:buNone/>
                </a:pPr>
                <a:r>
                  <a:rPr lang="es-ES" sz="900" b="1" i="0" dirty="0">
                    <a:solidFill>
                      <a:schemeClr val="tx1"/>
                    </a:solidFill>
                    <a:effectLst/>
                    <a:latin typeface="Segoe WPC"/>
                  </a:rPr>
                  <a:t>1. Country </a:t>
                </a:r>
                <a:r>
                  <a:rPr lang="es-ES" sz="900" b="1" i="0" dirty="0" err="1">
                    <a:solidFill>
                      <a:schemeClr val="tx1"/>
                    </a:solidFill>
                    <a:effectLst/>
                    <a:latin typeface="Segoe WPC"/>
                  </a:rPr>
                  <a:t>Risk</a:t>
                </a:r>
                <a:br>
                  <a:rPr lang="es-ES" sz="900" b="0" i="0" dirty="0">
                    <a:solidFill>
                      <a:schemeClr val="tx1"/>
                    </a:solidFill>
                    <a:effectLst/>
                    <a:latin typeface="Segoe WPC"/>
                  </a:rPr>
                </a:br>
                <a:r>
                  <a:rPr lang="es-ES" sz="900" b="1" i="0" dirty="0" err="1">
                    <a:solidFill>
                      <a:schemeClr val="tx1"/>
                    </a:solidFill>
                    <a:effectLst/>
                    <a:latin typeface="Segoe WPC"/>
                  </a:rPr>
                  <a:t>Financial</a:t>
                </a:r>
                <a:r>
                  <a:rPr lang="es-ES" sz="900" b="1" i="0" dirty="0">
                    <a:solidFill>
                      <a:schemeClr val="tx1"/>
                    </a:solidFill>
                    <a:effectLst/>
                    <a:latin typeface="Segoe WPC"/>
                  </a:rPr>
                  <a:t> </a:t>
                </a:r>
                <a:r>
                  <a:rPr lang="es-ES" sz="900" b="1" i="0" dirty="0" err="1">
                    <a:solidFill>
                      <a:schemeClr val="tx1"/>
                    </a:solidFill>
                    <a:effectLst/>
                    <a:latin typeface="Segoe WPC"/>
                  </a:rPr>
                  <a:t>Object</a:t>
                </a:r>
                <a:r>
                  <a:rPr lang="es-ES" sz="900" b="1" i="0" dirty="0">
                    <a:solidFill>
                      <a:schemeClr val="tx1"/>
                    </a:solidFill>
                    <a:effectLst/>
                    <a:latin typeface="Segoe WPC"/>
                  </a:rPr>
                  <a:t>:</a:t>
                </a:r>
                <a:r>
                  <a:rPr lang="es-ES" sz="900" b="0" i="0" dirty="0">
                    <a:solidFill>
                      <a:schemeClr val="tx1"/>
                    </a:solidFill>
                    <a:effectLst/>
                    <a:latin typeface="Segoe WPC"/>
                  </a:rPr>
                  <a:t> Riesgo total asociado a invertir, operar o prestar en un país extranjero.</a:t>
                </a:r>
                <a:br>
                  <a:rPr lang="es-ES" sz="900" b="0" i="0" dirty="0">
                    <a:solidFill>
                      <a:schemeClr val="tx1"/>
                    </a:solidFill>
                    <a:effectLst/>
                    <a:latin typeface="Segoe WPC"/>
                  </a:rPr>
                </a:br>
                <a:r>
                  <a:rPr lang="es-ES" sz="900" b="1" i="0" dirty="0" err="1">
                    <a:solidFill>
                      <a:schemeClr val="tx1"/>
                    </a:solidFill>
                    <a:effectLst/>
                    <a:latin typeface="Segoe WPC"/>
                  </a:rPr>
                  <a:t>Plain</a:t>
                </a:r>
                <a:r>
                  <a:rPr lang="es-ES" sz="900" b="1" i="0" dirty="0">
                    <a:solidFill>
                      <a:schemeClr val="tx1"/>
                    </a:solidFill>
                    <a:effectLst/>
                    <a:latin typeface="Segoe WPC"/>
                  </a:rPr>
                  <a:t>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No basta con analizar una empresa; el país donde opera puede afectar fuertemente sus resultados y su capacidad de pago.</a:t>
                </a:r>
                <a:br>
                  <a:rPr lang="es-ES" sz="900" b="0" i="0" dirty="0">
                    <a:solidFill>
                      <a:schemeClr val="tx1"/>
                    </a:solidFill>
                    <a:effectLst/>
                    <a:latin typeface="Segoe WPC"/>
                  </a:rPr>
                </a:br>
                <a:r>
                  <a:rPr lang="es-ES" sz="900" b="1" i="0" dirty="0">
                    <a:solidFill>
                      <a:schemeClr val="tx1"/>
                    </a:solidFill>
                    <a:effectLst/>
                    <a:latin typeface="Segoe WPC"/>
                  </a:rPr>
                  <a:t>Visual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Una buena empresa en un país con crisis política, corrupción o default soberano puede sufrir igual.</a:t>
                </a:r>
                <a:br>
                  <a:rPr lang="es-ES" sz="900" b="0" i="0" dirty="0">
                    <a:solidFill>
                      <a:schemeClr val="tx1"/>
                    </a:solidFill>
                    <a:effectLst/>
                    <a:latin typeface="Segoe WPC"/>
                  </a:rPr>
                </a:br>
                <a:r>
                  <a:rPr lang="es-ES" sz="900" b="1" i="0" dirty="0">
                    <a:solidFill>
                      <a:schemeClr val="tx1"/>
                    </a:solidFill>
                    <a:effectLst/>
                    <a:latin typeface="Segoe WPC"/>
                  </a:rPr>
                  <a:t>Key Formula:</a:t>
                </a:r>
                <a:r>
                  <a:rPr lang="es-ES" sz="900" b="0" i="0" dirty="0">
                    <a:solidFill>
                      <a:schemeClr val="tx1"/>
                    </a:solidFill>
                    <a:effectLst/>
                    <a:latin typeface="Segoe WPC"/>
                  </a:rPr>
                  <a:t> No hay una fórmula única; country </a:t>
                </a:r>
                <a:r>
                  <a:rPr lang="es-ES" sz="900" b="0" i="0" dirty="0" err="1">
                    <a:solidFill>
                      <a:schemeClr val="tx1"/>
                    </a:solidFill>
                    <a:effectLst/>
                    <a:latin typeface="Segoe WPC"/>
                  </a:rPr>
                  <a:t>risk</a:t>
                </a:r>
                <a:r>
                  <a:rPr lang="es-ES" sz="900" b="0" i="0" dirty="0">
                    <a:solidFill>
                      <a:schemeClr val="tx1"/>
                    </a:solidFill>
                    <a:effectLst/>
                    <a:latin typeface="Segoe WPC"/>
                  </a:rPr>
                  <a:t> combina riesgo político, legal, económico y soberano.</a:t>
                </a:r>
                <a:br>
                  <a:rPr lang="es-ES" sz="900" b="0" i="0" dirty="0">
                    <a:solidFill>
                      <a:schemeClr val="tx1"/>
                    </a:solidFill>
                    <a:effectLst/>
                    <a:latin typeface="Segoe WPC"/>
                  </a:rPr>
                </a:br>
                <a:r>
                  <a:rPr lang="es-ES" sz="900" b="1" i="0" dirty="0" err="1">
                    <a:solidFill>
                      <a:schemeClr val="tx1"/>
                    </a:solidFill>
                    <a:effectLst/>
                    <a:latin typeface="Segoe WPC"/>
                  </a:rPr>
                  <a:t>Interpretation</a:t>
                </a:r>
                <a:r>
                  <a:rPr lang="es-ES" sz="900" b="1" i="0" dirty="0">
                    <a:solidFill>
                      <a:schemeClr val="tx1"/>
                    </a:solidFill>
                    <a:effectLst/>
                    <a:latin typeface="Segoe WPC"/>
                  </a:rPr>
                  <a:t>:</a:t>
                </a:r>
                <a:r>
                  <a:rPr lang="es-ES" sz="900" b="0" i="0" dirty="0">
                    <a:solidFill>
                      <a:schemeClr val="tx1"/>
                    </a:solidFill>
                    <a:effectLst/>
                    <a:latin typeface="Segoe WPC"/>
                  </a:rPr>
                  <a:t> Es relevante para multinacionales, fondos internacionales, bancos y tenedores de deuda soberana.</a:t>
                </a:r>
                <a:br>
                  <a:rPr lang="es-ES" sz="900" b="0" i="0" dirty="0">
                    <a:solidFill>
                      <a:schemeClr val="tx1"/>
                    </a:solidFill>
                    <a:effectLst/>
                    <a:latin typeface="Segoe WPC"/>
                  </a:rPr>
                </a:br>
                <a:r>
                  <a:rPr lang="es-ES" sz="900" b="1" i="0" dirty="0" err="1">
                    <a:solidFill>
                      <a:schemeClr val="tx1"/>
                    </a:solidFill>
                    <a:effectLst/>
                    <a:latin typeface="Segoe WPC"/>
                  </a:rPr>
                  <a:t>Exam</a:t>
                </a:r>
                <a:r>
                  <a:rPr lang="es-ES" sz="900" b="1" i="0" dirty="0">
                    <a:solidFill>
                      <a:schemeClr val="tx1"/>
                    </a:solidFill>
                    <a:effectLst/>
                    <a:latin typeface="Segoe WPC"/>
                  </a:rPr>
                  <a:t> </a:t>
                </a:r>
                <a:r>
                  <a:rPr lang="es-ES" sz="900" b="1" i="0" dirty="0" err="1">
                    <a:solidFill>
                      <a:schemeClr val="tx1"/>
                    </a:solidFill>
                    <a:effectLst/>
                    <a:latin typeface="Segoe WPC"/>
                  </a:rPr>
                  <a:t>Trap</a:t>
                </a:r>
                <a:r>
                  <a:rPr lang="es-ES" sz="900" b="1" i="0" dirty="0">
                    <a:solidFill>
                      <a:schemeClr val="tx1"/>
                    </a:solidFill>
                    <a:effectLst/>
                    <a:latin typeface="Segoe WPC"/>
                  </a:rPr>
                  <a:t>:</a:t>
                </a:r>
                <a:r>
                  <a:rPr lang="es-ES" sz="900" b="0" i="0" dirty="0">
                    <a:solidFill>
                      <a:schemeClr val="tx1"/>
                    </a:solidFill>
                    <a:effectLst/>
                    <a:latin typeface="Segoe WPC"/>
                  </a:rPr>
                  <a:t> No confundas country </a:t>
                </a:r>
                <a:r>
                  <a:rPr lang="es-ES" sz="900" b="0" i="0" dirty="0" err="1">
                    <a:solidFill>
                      <a:schemeClr val="tx1"/>
                    </a:solidFill>
                    <a:effectLst/>
                    <a:latin typeface="Segoe WPC"/>
                  </a:rPr>
                  <a:t>risk</a:t>
                </a:r>
                <a:r>
                  <a:rPr lang="es-ES" sz="900" b="0" i="0" dirty="0">
                    <a:solidFill>
                      <a:schemeClr val="tx1"/>
                    </a:solidFill>
                    <a:effectLst/>
                    <a:latin typeface="Segoe WPC"/>
                  </a:rPr>
                  <a:t> con solo </a:t>
                </a:r>
                <a:r>
                  <a:rPr lang="es-ES" sz="900" b="0" i="0" dirty="0" err="1">
                    <a:solidFill>
                      <a:schemeClr val="tx1"/>
                    </a:solidFill>
                    <a:effectLst/>
                    <a:latin typeface="Segoe WPC"/>
                  </a:rPr>
                  <a:t>sovereign</a:t>
                </a:r>
                <a:r>
                  <a:rPr lang="es-ES" sz="900" b="0" i="0" dirty="0">
                    <a:solidFill>
                      <a:schemeClr val="tx1"/>
                    </a:solidFill>
                    <a:effectLst/>
                    <a:latin typeface="Segoe WPC"/>
                  </a:rPr>
                  <a:t> default </a:t>
                </a:r>
                <a:r>
                  <a:rPr lang="es-ES" sz="900" b="0" i="0" dirty="0" err="1">
                    <a:solidFill>
                      <a:schemeClr val="tx1"/>
                    </a:solidFill>
                    <a:effectLst/>
                    <a:latin typeface="Segoe WPC"/>
                  </a:rPr>
                  <a:t>risk</a:t>
                </a:r>
                <a:r>
                  <a:rPr lang="es-ES" sz="900" b="0" i="0" dirty="0">
                    <a:solidFill>
                      <a:schemeClr val="tx1"/>
                    </a:solidFill>
                    <a:effectLst/>
                    <a:latin typeface="Segoe WPC"/>
                  </a:rPr>
                  <a:t>; este último es solo una parte.</a:t>
                </a:r>
              </a:p>
              <a:p>
                <a:pPr algn="l">
                  <a:spcAft>
                    <a:spcPts val="600"/>
                  </a:spcAft>
                  <a:buNone/>
                </a:pPr>
                <a:r>
                  <a:rPr lang="es-ES" sz="900" b="1" i="0" dirty="0">
                    <a:solidFill>
                      <a:schemeClr val="tx1"/>
                    </a:solidFill>
                    <a:effectLst/>
                    <a:latin typeface="Segoe WPC"/>
                  </a:rPr>
                  <a:t>2. GDP </a:t>
                </a:r>
                <a:r>
                  <a:rPr lang="es-ES" sz="900" b="1" i="0" dirty="0" err="1">
                    <a:solidFill>
                      <a:schemeClr val="tx1"/>
                    </a:solidFill>
                    <a:effectLst/>
                    <a:latin typeface="Segoe WPC"/>
                  </a:rPr>
                  <a:t>Growth</a:t>
                </a:r>
                <a:r>
                  <a:rPr lang="es-ES" sz="900" b="1" i="0" dirty="0">
                    <a:solidFill>
                      <a:schemeClr val="tx1"/>
                    </a:solidFill>
                    <a:effectLst/>
                    <a:latin typeface="Segoe WPC"/>
                  </a:rPr>
                  <a:t> and </a:t>
                </a:r>
                <a:r>
                  <a:rPr lang="es-ES" sz="900" b="1" i="0" dirty="0" err="1">
                    <a:solidFill>
                      <a:schemeClr val="tx1"/>
                    </a:solidFill>
                    <a:effectLst/>
                    <a:latin typeface="Segoe WPC"/>
                  </a:rPr>
                  <a:t>Economic</a:t>
                </a:r>
                <a:r>
                  <a:rPr lang="es-ES" sz="900" b="1" i="0" dirty="0">
                    <a:solidFill>
                      <a:schemeClr val="tx1"/>
                    </a:solidFill>
                    <a:effectLst/>
                    <a:latin typeface="Segoe WPC"/>
                  </a:rPr>
                  <a:t> </a:t>
                </a:r>
                <a:r>
                  <a:rPr lang="es-ES" sz="900" b="1" i="0" dirty="0" err="1">
                    <a:solidFill>
                      <a:schemeClr val="tx1"/>
                    </a:solidFill>
                    <a:effectLst/>
                    <a:latin typeface="Segoe WPC"/>
                  </a:rPr>
                  <a:t>Exposure</a:t>
                </a:r>
                <a:br>
                  <a:rPr lang="es-ES" sz="900" b="0" i="0" dirty="0">
                    <a:solidFill>
                      <a:schemeClr val="tx1"/>
                    </a:solidFill>
                    <a:effectLst/>
                    <a:latin typeface="Segoe WPC"/>
                  </a:rPr>
                </a:br>
                <a:r>
                  <a:rPr lang="es-ES" sz="900" b="1" i="0" dirty="0" err="1">
                    <a:solidFill>
                      <a:schemeClr val="tx1"/>
                    </a:solidFill>
                    <a:effectLst/>
                    <a:latin typeface="Segoe WPC"/>
                  </a:rPr>
                  <a:t>Financial</a:t>
                </a:r>
                <a:r>
                  <a:rPr lang="es-ES" sz="900" b="1" i="0" dirty="0">
                    <a:solidFill>
                      <a:schemeClr val="tx1"/>
                    </a:solidFill>
                    <a:effectLst/>
                    <a:latin typeface="Segoe WPC"/>
                  </a:rPr>
                  <a:t> </a:t>
                </a:r>
                <a:r>
                  <a:rPr lang="es-ES" sz="900" b="1" i="0" dirty="0" err="1">
                    <a:solidFill>
                      <a:schemeClr val="tx1"/>
                    </a:solidFill>
                    <a:effectLst/>
                    <a:latin typeface="Segoe WPC"/>
                  </a:rPr>
                  <a:t>Object</a:t>
                </a:r>
                <a:r>
                  <a:rPr lang="es-ES" sz="900" b="1" i="0" dirty="0">
                    <a:solidFill>
                      <a:schemeClr val="tx1"/>
                    </a:solidFill>
                    <a:effectLst/>
                    <a:latin typeface="Segoe WPC"/>
                  </a:rPr>
                  <a:t>:</a:t>
                </a:r>
                <a:r>
                  <a:rPr lang="es-ES" sz="900" b="0" i="0" dirty="0">
                    <a:solidFill>
                      <a:schemeClr val="tx1"/>
                    </a:solidFill>
                    <a:effectLst/>
                    <a:latin typeface="Segoe WPC"/>
                  </a:rPr>
                  <a:t> Relación entre crecimiento económico y exposición al riesgo del país.</a:t>
                </a:r>
                <a:br>
                  <a:rPr lang="es-ES" sz="900" b="0" i="0" dirty="0">
                    <a:solidFill>
                      <a:schemeClr val="tx1"/>
                    </a:solidFill>
                    <a:effectLst/>
                    <a:latin typeface="Segoe WPC"/>
                  </a:rPr>
                </a:br>
                <a:r>
                  <a:rPr lang="es-ES" sz="900" b="1" i="0" dirty="0" err="1">
                    <a:solidFill>
                      <a:schemeClr val="tx1"/>
                    </a:solidFill>
                    <a:effectLst/>
                    <a:latin typeface="Segoe WPC"/>
                  </a:rPr>
                  <a:t>Plain</a:t>
                </a:r>
                <a:r>
                  <a:rPr lang="es-ES" sz="900" b="1" i="0" dirty="0">
                    <a:solidFill>
                      <a:schemeClr val="tx1"/>
                    </a:solidFill>
                    <a:effectLst/>
                    <a:latin typeface="Segoe WPC"/>
                  </a:rPr>
                  <a:t>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Países con mayor crecimiento pueden ofrecer más retorno, pero muchas veces también más volatilidad y vulnerabilidad.</a:t>
                </a:r>
                <a:br>
                  <a:rPr lang="es-ES" sz="900" b="0" i="0" dirty="0">
                    <a:solidFill>
                      <a:schemeClr val="tx1"/>
                    </a:solidFill>
                    <a:effectLst/>
                    <a:latin typeface="Segoe WPC"/>
                  </a:rPr>
                </a:br>
                <a:r>
                  <a:rPr lang="es-ES" sz="900" b="1" i="0" dirty="0">
                    <a:solidFill>
                      <a:schemeClr val="tx1"/>
                    </a:solidFill>
                    <a:effectLst/>
                    <a:latin typeface="Segoe WPC"/>
                  </a:rPr>
                  <a:t>Visual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Un país emergente puede crecer muy rápido en expansión global y sufrir mucho más en recesión.</a:t>
                </a:r>
                <a:br>
                  <a:rPr lang="es-ES" sz="900" b="0" i="0" dirty="0">
                    <a:solidFill>
                      <a:schemeClr val="tx1"/>
                    </a:solidFill>
                    <a:effectLst/>
                    <a:latin typeface="Segoe WPC"/>
                  </a:rPr>
                </a:br>
                <a:r>
                  <a:rPr lang="es-ES" sz="900" b="1" i="0" dirty="0">
                    <a:solidFill>
                      <a:schemeClr val="tx1"/>
                    </a:solidFill>
                    <a:effectLst/>
                    <a:latin typeface="Segoe WPC"/>
                  </a:rPr>
                  <a:t>Key Formula:</a:t>
                </a:r>
                <a:r>
                  <a:rPr lang="es-ES" sz="900" b="0" i="0" dirty="0">
                    <a:solidFill>
                      <a:schemeClr val="tx1"/>
                    </a:solidFill>
                    <a:effectLst/>
                    <a:latin typeface="Segoe WPC"/>
                  </a:rPr>
                  <a:t> </a:t>
                </a:r>
                <a14:m>
                  <m:oMath xmlns:m="http://schemas.openxmlformats.org/officeDocument/2006/math">
                    <m:r>
                      <m:rPr>
                        <m:nor/>
                      </m:rPr>
                      <a:rPr lang="es-ES" sz="900" b="0">
                        <a:solidFill>
                          <a:schemeClr val="tx1"/>
                        </a:solidFill>
                      </a:rPr>
                      <m:t>Real</m:t>
                    </m:r>
                    <m:r>
                      <m:rPr>
                        <m:nor/>
                      </m:rPr>
                      <a:rPr lang="es-ES" sz="900" b="0">
                        <a:solidFill>
                          <a:schemeClr val="tx1"/>
                        </a:solidFill>
                      </a:rPr>
                      <m:t> </m:t>
                    </m:r>
                    <m:r>
                      <m:rPr>
                        <m:nor/>
                      </m:rPr>
                      <a:rPr lang="es-ES" sz="900" b="0">
                        <a:solidFill>
                          <a:schemeClr val="tx1"/>
                        </a:solidFill>
                      </a:rPr>
                      <m:t>GDP</m:t>
                    </m:r>
                    <m:r>
                      <m:rPr>
                        <m:nor/>
                      </m:rPr>
                      <a:rPr lang="es-ES" sz="900" b="0">
                        <a:solidFill>
                          <a:schemeClr val="tx1"/>
                        </a:solidFill>
                      </a:rPr>
                      <m:t> </m:t>
                    </m:r>
                    <m:r>
                      <m:rPr>
                        <m:nor/>
                      </m:rPr>
                      <a:rPr lang="es-ES" sz="900" b="0">
                        <a:solidFill>
                          <a:schemeClr val="tx1"/>
                        </a:solidFill>
                      </a:rPr>
                      <m:t>Growth</m:t>
                    </m:r>
                    <m:r>
                      <a:rPr lang="es-ES" sz="900" b="0" i="0">
                        <a:solidFill>
                          <a:schemeClr val="tx1"/>
                        </a:solidFill>
                        <a:latin typeface="Cambria Math" panose="02040503050406030204" pitchFamily="18" charset="0"/>
                      </a:rPr>
                      <m:t>≈</m:t>
                    </m:r>
                    <m:r>
                      <m:rPr>
                        <m:nor/>
                      </m:rPr>
                      <a:rPr lang="es-ES" sz="900" b="0" i="1">
                        <a:solidFill>
                          <a:schemeClr val="tx1"/>
                        </a:solidFill>
                        <a:latin typeface="Cambria Math" panose="02040503050406030204" pitchFamily="18" charset="0"/>
                      </a:rPr>
                      <m:t>Nominal</m:t>
                    </m:r>
                    <m:r>
                      <m:rPr>
                        <m:nor/>
                      </m:rPr>
                      <a:rPr lang="es-ES" sz="900" b="0" i="1">
                        <a:solidFill>
                          <a:schemeClr val="tx1"/>
                        </a:solidFill>
                        <a:latin typeface="Cambria Math" panose="02040503050406030204" pitchFamily="18" charset="0"/>
                      </a:rPr>
                      <m:t> </m:t>
                    </m:r>
                    <m:r>
                      <m:rPr>
                        <m:nor/>
                      </m:rPr>
                      <a:rPr lang="es-ES" sz="900" b="0" i="1">
                        <a:solidFill>
                          <a:schemeClr val="tx1"/>
                        </a:solidFill>
                        <a:latin typeface="Cambria Math" panose="02040503050406030204" pitchFamily="18" charset="0"/>
                      </a:rPr>
                      <m:t>GDP</m:t>
                    </m:r>
                    <m:r>
                      <m:rPr>
                        <m:nor/>
                      </m:rPr>
                      <a:rPr lang="es-ES" sz="900" b="0" i="1">
                        <a:solidFill>
                          <a:schemeClr val="tx1"/>
                        </a:solidFill>
                        <a:latin typeface="Cambria Math" panose="02040503050406030204" pitchFamily="18" charset="0"/>
                      </a:rPr>
                      <m:t> </m:t>
                    </m:r>
                    <m:r>
                      <m:rPr>
                        <m:nor/>
                      </m:rPr>
                      <a:rPr lang="es-ES" sz="900" b="0" i="1">
                        <a:solidFill>
                          <a:schemeClr val="tx1"/>
                        </a:solidFill>
                        <a:latin typeface="Cambria Math" panose="02040503050406030204" pitchFamily="18" charset="0"/>
                      </a:rPr>
                      <m:t>Growth</m:t>
                    </m:r>
                    <m:r>
                      <a:rPr lang="es-ES" sz="900" b="0" i="0">
                        <a:solidFill>
                          <a:schemeClr val="tx1"/>
                        </a:solidFill>
                        <a:latin typeface="Cambria Math" panose="02040503050406030204" pitchFamily="18" charset="0"/>
                      </a:rPr>
                      <m:t>−</m:t>
                    </m:r>
                    <m:r>
                      <m:rPr>
                        <m:nor/>
                      </m:rPr>
                      <a:rPr lang="es-ES" sz="900" b="0" i="1">
                        <a:solidFill>
                          <a:schemeClr val="tx1"/>
                        </a:solidFill>
                        <a:latin typeface="Cambria Math" panose="02040503050406030204" pitchFamily="18" charset="0"/>
                      </a:rPr>
                      <m:t>Inflation</m:t>
                    </m:r>
                  </m:oMath>
                </a14:m>
                <a:br>
                  <a:rPr lang="es-ES" sz="900" b="0" i="0" dirty="0">
                    <a:solidFill>
                      <a:schemeClr val="tx1"/>
                    </a:solidFill>
                    <a:effectLst/>
                    <a:latin typeface="Segoe WPC"/>
                  </a:rPr>
                </a:br>
                <a:r>
                  <a:rPr lang="es-ES" sz="900" b="1" i="0" dirty="0" err="1">
                    <a:solidFill>
                      <a:schemeClr val="tx1"/>
                    </a:solidFill>
                    <a:effectLst/>
                    <a:latin typeface="Segoe WPC"/>
                  </a:rPr>
                  <a:t>Interpretation</a:t>
                </a:r>
                <a:r>
                  <a:rPr lang="es-ES" sz="900" b="1" i="0" dirty="0">
                    <a:solidFill>
                      <a:schemeClr val="tx1"/>
                    </a:solidFill>
                    <a:effectLst/>
                    <a:latin typeface="Segoe WPC"/>
                  </a:rPr>
                  <a:t>:</a:t>
                </a:r>
                <a:r>
                  <a:rPr lang="es-ES" sz="900" b="0" i="0" dirty="0">
                    <a:solidFill>
                      <a:schemeClr val="tx1"/>
                    </a:solidFill>
                    <a:effectLst/>
                    <a:latin typeface="Segoe WPC"/>
                  </a:rPr>
                  <a:t> El crecimiento real del PIB es una señal clave de fortaleza económica y resiliencia cíclica.</a:t>
                </a:r>
                <a:br>
                  <a:rPr lang="es-ES" sz="900" b="0" i="0" dirty="0">
                    <a:solidFill>
                      <a:schemeClr val="tx1"/>
                    </a:solidFill>
                    <a:effectLst/>
                    <a:latin typeface="Segoe WPC"/>
                  </a:rPr>
                </a:br>
                <a:r>
                  <a:rPr lang="es-ES" sz="900" b="1" i="0" dirty="0" err="1">
                    <a:solidFill>
                      <a:schemeClr val="tx1"/>
                    </a:solidFill>
                    <a:effectLst/>
                    <a:latin typeface="Segoe WPC"/>
                  </a:rPr>
                  <a:t>Exam</a:t>
                </a:r>
                <a:r>
                  <a:rPr lang="es-ES" sz="900" b="1" i="0" dirty="0">
                    <a:solidFill>
                      <a:schemeClr val="tx1"/>
                    </a:solidFill>
                    <a:effectLst/>
                    <a:latin typeface="Segoe WPC"/>
                  </a:rPr>
                  <a:t> </a:t>
                </a:r>
                <a:r>
                  <a:rPr lang="es-ES" sz="900" b="1" i="0" dirty="0" err="1">
                    <a:solidFill>
                      <a:schemeClr val="tx1"/>
                    </a:solidFill>
                    <a:effectLst/>
                    <a:latin typeface="Segoe WPC"/>
                  </a:rPr>
                  <a:t>Trap</a:t>
                </a:r>
                <a:r>
                  <a:rPr lang="es-ES" sz="900" b="1" i="0" dirty="0">
                    <a:solidFill>
                      <a:schemeClr val="tx1"/>
                    </a:solidFill>
                    <a:effectLst/>
                    <a:latin typeface="Segoe WPC"/>
                  </a:rPr>
                  <a:t>:</a:t>
                </a:r>
                <a:r>
                  <a:rPr lang="es-ES" sz="900" b="0" i="0" dirty="0">
                    <a:solidFill>
                      <a:schemeClr val="tx1"/>
                    </a:solidFill>
                    <a:effectLst/>
                    <a:latin typeface="Segoe WPC"/>
                  </a:rPr>
                  <a:t> Alto crecimiento no implica bajo riesgo; algunos países crecen rápido pero con alta fragilidad macro y política.</a:t>
                </a:r>
              </a:p>
              <a:p>
                <a:pPr algn="l">
                  <a:spcAft>
                    <a:spcPts val="600"/>
                  </a:spcAft>
                  <a:buNone/>
                </a:pPr>
                <a:r>
                  <a:rPr lang="es-ES" sz="900" b="1" i="0" dirty="0">
                    <a:solidFill>
                      <a:schemeClr val="tx1"/>
                    </a:solidFill>
                    <a:effectLst/>
                    <a:latin typeface="Segoe WPC"/>
                  </a:rPr>
                  <a:t>3. </a:t>
                </a:r>
                <a:r>
                  <a:rPr lang="es-ES" sz="900" b="1" i="0" dirty="0" err="1">
                    <a:solidFill>
                      <a:schemeClr val="tx1"/>
                    </a:solidFill>
                    <a:effectLst/>
                    <a:latin typeface="Segoe WPC"/>
                  </a:rPr>
                  <a:t>Political</a:t>
                </a:r>
                <a:r>
                  <a:rPr lang="es-ES" sz="900" b="1" i="0" dirty="0">
                    <a:solidFill>
                      <a:schemeClr val="tx1"/>
                    </a:solidFill>
                    <a:effectLst/>
                    <a:latin typeface="Segoe WPC"/>
                  </a:rPr>
                  <a:t> </a:t>
                </a:r>
                <a:r>
                  <a:rPr lang="es-ES" sz="900" b="1" i="0" dirty="0" err="1">
                    <a:solidFill>
                      <a:schemeClr val="tx1"/>
                    </a:solidFill>
                    <a:effectLst/>
                    <a:latin typeface="Segoe WPC"/>
                  </a:rPr>
                  <a:t>Risk</a:t>
                </a:r>
                <a:br>
                  <a:rPr lang="es-ES" sz="900" b="0" i="0" dirty="0">
                    <a:solidFill>
                      <a:schemeClr val="tx1"/>
                    </a:solidFill>
                    <a:effectLst/>
                    <a:latin typeface="Segoe WPC"/>
                  </a:rPr>
                </a:br>
                <a:r>
                  <a:rPr lang="es-ES" sz="900" b="1" i="0" dirty="0" err="1">
                    <a:solidFill>
                      <a:schemeClr val="tx1"/>
                    </a:solidFill>
                    <a:effectLst/>
                    <a:latin typeface="Segoe WPC"/>
                  </a:rPr>
                  <a:t>Financial</a:t>
                </a:r>
                <a:r>
                  <a:rPr lang="es-ES" sz="900" b="1" i="0" dirty="0">
                    <a:solidFill>
                      <a:schemeClr val="tx1"/>
                    </a:solidFill>
                    <a:effectLst/>
                    <a:latin typeface="Segoe WPC"/>
                  </a:rPr>
                  <a:t> </a:t>
                </a:r>
                <a:r>
                  <a:rPr lang="es-ES" sz="900" b="1" i="0" dirty="0" err="1">
                    <a:solidFill>
                      <a:schemeClr val="tx1"/>
                    </a:solidFill>
                    <a:effectLst/>
                    <a:latin typeface="Segoe WPC"/>
                  </a:rPr>
                  <a:t>Object</a:t>
                </a:r>
                <a:r>
                  <a:rPr lang="es-ES" sz="900" b="1" i="0" dirty="0">
                    <a:solidFill>
                      <a:schemeClr val="tx1"/>
                    </a:solidFill>
                    <a:effectLst/>
                    <a:latin typeface="Segoe WPC"/>
                  </a:rPr>
                  <a:t>:</a:t>
                </a:r>
                <a:r>
                  <a:rPr lang="es-ES" sz="900" b="0" i="0" dirty="0">
                    <a:solidFill>
                      <a:schemeClr val="tx1"/>
                    </a:solidFill>
                    <a:effectLst/>
                    <a:latin typeface="Segoe WPC"/>
                  </a:rPr>
                  <a:t> Riesgo derivado de cambios de gobierno, decisiones estatales o inestabilidad política.</a:t>
                </a:r>
                <a:br>
                  <a:rPr lang="es-ES" sz="900" b="0" i="0" dirty="0">
                    <a:solidFill>
                      <a:schemeClr val="tx1"/>
                    </a:solidFill>
                    <a:effectLst/>
                    <a:latin typeface="Segoe WPC"/>
                  </a:rPr>
                </a:br>
                <a:r>
                  <a:rPr lang="es-ES" sz="900" b="1" i="0" dirty="0" err="1">
                    <a:solidFill>
                      <a:schemeClr val="tx1"/>
                    </a:solidFill>
                    <a:effectLst/>
                    <a:latin typeface="Segoe WPC"/>
                  </a:rPr>
                  <a:t>Plain</a:t>
                </a:r>
                <a:r>
                  <a:rPr lang="es-ES" sz="900" b="1" i="0" dirty="0">
                    <a:solidFill>
                      <a:schemeClr val="tx1"/>
                    </a:solidFill>
                    <a:effectLst/>
                    <a:latin typeface="Segoe WPC"/>
                  </a:rPr>
                  <a:t>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Un cambio político puede alterar regulación, impuestos, trato a extranjeros o incluso propiedad de activos.</a:t>
                </a:r>
                <a:br>
                  <a:rPr lang="es-ES" sz="900" b="0" i="0" dirty="0">
                    <a:solidFill>
                      <a:schemeClr val="tx1"/>
                    </a:solidFill>
                    <a:effectLst/>
                    <a:latin typeface="Segoe WPC"/>
                  </a:rPr>
                </a:br>
                <a:r>
                  <a:rPr lang="es-ES" sz="900" b="1" i="0" dirty="0">
                    <a:solidFill>
                      <a:schemeClr val="tx1"/>
                    </a:solidFill>
                    <a:effectLst/>
                    <a:latin typeface="Segoe WPC"/>
                  </a:rPr>
                  <a:t>Visual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Una empresa puede pasar de operar normalmente a enfrentar controles, hostilidad regulatoria o confiscación.</a:t>
                </a:r>
                <a:br>
                  <a:rPr lang="es-ES" sz="900" b="0" i="0" dirty="0">
                    <a:solidFill>
                      <a:schemeClr val="tx1"/>
                    </a:solidFill>
                    <a:effectLst/>
                    <a:latin typeface="Segoe WPC"/>
                  </a:rPr>
                </a:br>
                <a:r>
                  <a:rPr lang="es-ES" sz="900" b="1" i="0" dirty="0">
                    <a:solidFill>
                      <a:schemeClr val="tx1"/>
                    </a:solidFill>
                    <a:effectLst/>
                    <a:latin typeface="Segoe WPC"/>
                  </a:rPr>
                  <a:t>Key Formula:</a:t>
                </a:r>
                <a:r>
                  <a:rPr lang="es-ES" sz="900" b="0" i="0" dirty="0">
                    <a:solidFill>
                      <a:schemeClr val="tx1"/>
                    </a:solidFill>
                    <a:effectLst/>
                    <a:latin typeface="Segoe WPC"/>
                  </a:rPr>
                  <a:t> No hay fórmula estándar; suele medirse con índices compuestos de estabilidad, corrupción y violencia.</a:t>
                </a:r>
                <a:br>
                  <a:rPr lang="es-ES" sz="900" b="0" i="0" dirty="0">
                    <a:solidFill>
                      <a:schemeClr val="tx1"/>
                    </a:solidFill>
                    <a:effectLst/>
                    <a:latin typeface="Segoe WPC"/>
                  </a:rPr>
                </a:br>
                <a:r>
                  <a:rPr lang="es-ES" sz="900" b="1" i="0" dirty="0" err="1">
                    <a:solidFill>
                      <a:schemeClr val="tx1"/>
                    </a:solidFill>
                    <a:effectLst/>
                    <a:latin typeface="Segoe WPC"/>
                  </a:rPr>
                  <a:t>Interpretation</a:t>
                </a:r>
                <a:r>
                  <a:rPr lang="es-ES" sz="900" b="1" i="0" dirty="0">
                    <a:solidFill>
                      <a:schemeClr val="tx1"/>
                    </a:solidFill>
                    <a:effectLst/>
                    <a:latin typeface="Segoe WPC"/>
                  </a:rPr>
                  <a:t>:</a:t>
                </a:r>
                <a:r>
                  <a:rPr lang="es-ES" sz="900" b="0" i="0" dirty="0">
                    <a:solidFill>
                      <a:schemeClr val="tx1"/>
                    </a:solidFill>
                    <a:effectLst/>
                    <a:latin typeface="Segoe WPC"/>
                  </a:rPr>
                  <a:t> La estabilidad gubernamental tiende a reducir incertidumbre para inversión y financiamiento.</a:t>
                </a:r>
                <a:br>
                  <a:rPr lang="es-ES" sz="900" b="0" i="0" dirty="0">
                    <a:solidFill>
                      <a:schemeClr val="tx1"/>
                    </a:solidFill>
                    <a:effectLst/>
                    <a:latin typeface="Segoe WPC"/>
                  </a:rPr>
                </a:br>
                <a:r>
                  <a:rPr lang="es-ES" sz="900" b="1" i="0" dirty="0" err="1">
                    <a:solidFill>
                      <a:schemeClr val="tx1"/>
                    </a:solidFill>
                    <a:effectLst/>
                    <a:latin typeface="Segoe WPC"/>
                  </a:rPr>
                  <a:t>Exam</a:t>
                </a:r>
                <a:r>
                  <a:rPr lang="es-ES" sz="900" b="1" i="0" dirty="0">
                    <a:solidFill>
                      <a:schemeClr val="tx1"/>
                    </a:solidFill>
                    <a:effectLst/>
                    <a:latin typeface="Segoe WPC"/>
                  </a:rPr>
                  <a:t> </a:t>
                </a:r>
                <a:r>
                  <a:rPr lang="es-ES" sz="900" b="1" i="0" dirty="0" err="1">
                    <a:solidFill>
                      <a:schemeClr val="tx1"/>
                    </a:solidFill>
                    <a:effectLst/>
                    <a:latin typeface="Segoe WPC"/>
                  </a:rPr>
                  <a:t>Trap</a:t>
                </a:r>
                <a:r>
                  <a:rPr lang="es-ES" sz="900" b="1" i="0" dirty="0">
                    <a:solidFill>
                      <a:schemeClr val="tx1"/>
                    </a:solidFill>
                    <a:effectLst/>
                    <a:latin typeface="Segoe WPC"/>
                  </a:rPr>
                  <a:t>:</a:t>
                </a:r>
                <a:r>
                  <a:rPr lang="es-ES" sz="900" b="0" i="0" dirty="0">
                    <a:solidFill>
                      <a:schemeClr val="tx1"/>
                    </a:solidFill>
                    <a:effectLst/>
                    <a:latin typeface="Segoe WPC"/>
                  </a:rPr>
                  <a:t> Democracia no siempre implica menos riesgo que autoritarismo; el punto clave es estabilidad y previsibilidad institucional.</a:t>
                </a:r>
              </a:p>
              <a:p>
                <a:pPr algn="l">
                  <a:spcAft>
                    <a:spcPts val="600"/>
                  </a:spcAft>
                  <a:buNone/>
                </a:pPr>
                <a:r>
                  <a:rPr lang="es-ES" sz="900" b="1" i="0" dirty="0">
                    <a:solidFill>
                      <a:schemeClr val="tx1"/>
                    </a:solidFill>
                    <a:effectLst/>
                    <a:latin typeface="Segoe WPC"/>
                  </a:rPr>
                  <a:t>4. </a:t>
                </a:r>
                <a:r>
                  <a:rPr lang="es-ES" sz="900" b="1" i="0" dirty="0" err="1">
                    <a:solidFill>
                      <a:schemeClr val="tx1"/>
                    </a:solidFill>
                    <a:effectLst/>
                    <a:latin typeface="Segoe WPC"/>
                  </a:rPr>
                  <a:t>Corruption</a:t>
                </a:r>
                <a:r>
                  <a:rPr lang="es-ES" sz="900" b="1" i="0" dirty="0">
                    <a:solidFill>
                      <a:schemeClr val="tx1"/>
                    </a:solidFill>
                    <a:effectLst/>
                    <a:latin typeface="Segoe WPC"/>
                  </a:rPr>
                  <a:t>, </a:t>
                </a:r>
                <a:r>
                  <a:rPr lang="es-ES" sz="900" b="1" i="0" dirty="0" err="1">
                    <a:solidFill>
                      <a:schemeClr val="tx1"/>
                    </a:solidFill>
                    <a:effectLst/>
                    <a:latin typeface="Segoe WPC"/>
                  </a:rPr>
                  <a:t>Violence</a:t>
                </a:r>
                <a:r>
                  <a:rPr lang="es-ES" sz="900" b="1" i="0" dirty="0">
                    <a:solidFill>
                      <a:schemeClr val="tx1"/>
                    </a:solidFill>
                    <a:effectLst/>
                    <a:latin typeface="Segoe WPC"/>
                  </a:rPr>
                  <a:t>, and Legal </a:t>
                </a:r>
                <a:r>
                  <a:rPr lang="es-ES" sz="900" b="1" i="0" dirty="0" err="1">
                    <a:solidFill>
                      <a:schemeClr val="tx1"/>
                    </a:solidFill>
                    <a:effectLst/>
                    <a:latin typeface="Segoe WPC"/>
                  </a:rPr>
                  <a:t>Risk</a:t>
                </a:r>
                <a:br>
                  <a:rPr lang="es-ES" sz="900" b="0" i="0" dirty="0">
                    <a:solidFill>
                      <a:schemeClr val="tx1"/>
                    </a:solidFill>
                    <a:effectLst/>
                    <a:latin typeface="Segoe WPC"/>
                  </a:rPr>
                </a:br>
                <a:r>
                  <a:rPr lang="es-ES" sz="900" b="1" i="0" dirty="0" err="1">
                    <a:solidFill>
                      <a:schemeClr val="tx1"/>
                    </a:solidFill>
                    <a:effectLst/>
                    <a:latin typeface="Segoe WPC"/>
                  </a:rPr>
                  <a:t>Financial</a:t>
                </a:r>
                <a:r>
                  <a:rPr lang="es-ES" sz="900" b="1" i="0" dirty="0">
                    <a:solidFill>
                      <a:schemeClr val="tx1"/>
                    </a:solidFill>
                    <a:effectLst/>
                    <a:latin typeface="Segoe WPC"/>
                  </a:rPr>
                  <a:t> </a:t>
                </a:r>
                <a:r>
                  <a:rPr lang="es-ES" sz="900" b="1" i="0" dirty="0" err="1">
                    <a:solidFill>
                      <a:schemeClr val="tx1"/>
                    </a:solidFill>
                    <a:effectLst/>
                    <a:latin typeface="Segoe WPC"/>
                  </a:rPr>
                  <a:t>Object</a:t>
                </a:r>
                <a:r>
                  <a:rPr lang="es-ES" sz="900" b="1" i="0" dirty="0">
                    <a:solidFill>
                      <a:schemeClr val="tx1"/>
                    </a:solidFill>
                    <a:effectLst/>
                    <a:latin typeface="Segoe WPC"/>
                  </a:rPr>
                  <a:t>:</a:t>
                </a:r>
                <a:r>
                  <a:rPr lang="es-ES" sz="900" b="0" i="0" dirty="0">
                    <a:solidFill>
                      <a:schemeClr val="tx1"/>
                    </a:solidFill>
                    <a:effectLst/>
                    <a:latin typeface="Segoe WPC"/>
                  </a:rPr>
                  <a:t> Componentes institucionales del country </a:t>
                </a:r>
                <a:r>
                  <a:rPr lang="es-ES" sz="900" b="0" i="0" dirty="0" err="1">
                    <a:solidFill>
                      <a:schemeClr val="tx1"/>
                    </a:solidFill>
                    <a:effectLst/>
                    <a:latin typeface="Segoe WPC"/>
                  </a:rPr>
                  <a:t>risk</a:t>
                </a:r>
                <a:r>
                  <a:rPr lang="es-ES" sz="900" b="0" i="0" dirty="0">
                    <a:solidFill>
                      <a:schemeClr val="tx1"/>
                    </a:solidFill>
                    <a:effectLst/>
                    <a:latin typeface="Segoe WPC"/>
                  </a:rPr>
                  <a:t>.</a:t>
                </a:r>
                <a:br>
                  <a:rPr lang="es-ES" sz="900" b="0" i="0" dirty="0">
                    <a:solidFill>
                      <a:schemeClr val="tx1"/>
                    </a:solidFill>
                    <a:effectLst/>
                    <a:latin typeface="Segoe WPC"/>
                  </a:rPr>
                </a:br>
                <a:r>
                  <a:rPr lang="es-ES" sz="900" b="1" i="0" dirty="0" err="1">
                    <a:solidFill>
                      <a:schemeClr val="tx1"/>
                    </a:solidFill>
                    <a:effectLst/>
                    <a:latin typeface="Segoe WPC"/>
                  </a:rPr>
                  <a:t>Plain</a:t>
                </a:r>
                <a:r>
                  <a:rPr lang="es-ES" sz="900" b="1" i="0" dirty="0">
                    <a:solidFill>
                      <a:schemeClr val="tx1"/>
                    </a:solidFill>
                    <a:effectLst/>
                    <a:latin typeface="Segoe WPC"/>
                  </a:rPr>
                  <a:t>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Corrupción, violencia y sistemas legales débiles reducen rentabilidad y elevan incertidumbre operativa.</a:t>
                </a:r>
                <a:br>
                  <a:rPr lang="es-ES" sz="900" b="0" i="0" dirty="0">
                    <a:solidFill>
                      <a:schemeClr val="tx1"/>
                    </a:solidFill>
                    <a:effectLst/>
                    <a:latin typeface="Segoe WPC"/>
                  </a:rPr>
                </a:br>
                <a:r>
                  <a:rPr lang="es-ES" sz="900" b="1" i="0" dirty="0">
                    <a:solidFill>
                      <a:schemeClr val="tx1"/>
                    </a:solidFill>
                    <a:effectLst/>
                    <a:latin typeface="Segoe WPC"/>
                  </a:rPr>
                  <a:t>Visual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Sobornos actúan como un impuesto oculto; violencia encarece seguros y operaciones; justicia débil dificulta defender derechos.</a:t>
                </a:r>
                <a:br>
                  <a:rPr lang="es-ES" sz="900" b="0" i="0" dirty="0">
                    <a:solidFill>
                      <a:schemeClr val="tx1"/>
                    </a:solidFill>
                    <a:effectLst/>
                    <a:latin typeface="Segoe WPC"/>
                  </a:rPr>
                </a:br>
                <a:r>
                  <a:rPr lang="es-ES" sz="900" b="1" i="0" dirty="0">
                    <a:solidFill>
                      <a:schemeClr val="tx1"/>
                    </a:solidFill>
                    <a:effectLst/>
                    <a:latin typeface="Segoe WPC"/>
                  </a:rPr>
                  <a:t>Key Formula:</a:t>
                </a:r>
                <a:r>
                  <a:rPr lang="es-ES" sz="900" b="0" i="0" dirty="0">
                    <a:solidFill>
                      <a:schemeClr val="tx1"/>
                    </a:solidFill>
                    <a:effectLst/>
                    <a:latin typeface="Segoe WPC"/>
                  </a:rPr>
                  <a:t> No hay fórmula única; se usan índices como corrupción, paz, rule </a:t>
                </a:r>
                <a:r>
                  <a:rPr lang="es-ES" sz="900" b="0" i="0" dirty="0" err="1">
                    <a:solidFill>
                      <a:schemeClr val="tx1"/>
                    </a:solidFill>
                    <a:effectLst/>
                    <a:latin typeface="Segoe WPC"/>
                  </a:rPr>
                  <a:t>of</a:t>
                </a:r>
                <a:r>
                  <a:rPr lang="es-ES" sz="900" b="0" i="0" dirty="0">
                    <a:solidFill>
                      <a:schemeClr val="tx1"/>
                    </a:solidFill>
                    <a:effectLst/>
                    <a:latin typeface="Segoe WPC"/>
                  </a:rPr>
                  <a:t> </a:t>
                </a:r>
                <a:r>
                  <a:rPr lang="es-ES" sz="900" b="0" i="0" dirty="0" err="1">
                    <a:solidFill>
                      <a:schemeClr val="tx1"/>
                    </a:solidFill>
                    <a:effectLst/>
                    <a:latin typeface="Segoe WPC"/>
                  </a:rPr>
                  <a:t>law</a:t>
                </a:r>
                <a:r>
                  <a:rPr lang="es-ES" sz="900" b="0" i="0" dirty="0">
                    <a:solidFill>
                      <a:schemeClr val="tx1"/>
                    </a:solidFill>
                    <a:effectLst/>
                    <a:latin typeface="Segoe WPC"/>
                  </a:rPr>
                  <a:t> y </a:t>
                </a:r>
                <a:r>
                  <a:rPr lang="es-ES" sz="900" b="0" i="0" dirty="0" err="1">
                    <a:solidFill>
                      <a:schemeClr val="tx1"/>
                    </a:solidFill>
                    <a:effectLst/>
                    <a:latin typeface="Segoe WPC"/>
                  </a:rPr>
                  <a:t>property</a:t>
                </a:r>
                <a:r>
                  <a:rPr lang="es-ES" sz="900" b="0" i="0" dirty="0">
                    <a:solidFill>
                      <a:schemeClr val="tx1"/>
                    </a:solidFill>
                    <a:effectLst/>
                    <a:latin typeface="Segoe WPC"/>
                  </a:rPr>
                  <a:t> </a:t>
                </a:r>
                <a:r>
                  <a:rPr lang="es-ES" sz="900" b="0" i="0" dirty="0" err="1">
                    <a:solidFill>
                      <a:schemeClr val="tx1"/>
                    </a:solidFill>
                    <a:effectLst/>
                    <a:latin typeface="Segoe WPC"/>
                  </a:rPr>
                  <a:t>rights</a:t>
                </a:r>
                <a:r>
                  <a:rPr lang="es-ES" sz="900" b="0" i="0" dirty="0">
                    <a:solidFill>
                      <a:schemeClr val="tx1"/>
                    </a:solidFill>
                    <a:effectLst/>
                    <a:latin typeface="Segoe WPC"/>
                  </a:rPr>
                  <a:t>.</a:t>
                </a:r>
                <a:br>
                  <a:rPr lang="es-ES" sz="900" b="0" i="0" dirty="0">
                    <a:solidFill>
                      <a:schemeClr val="tx1"/>
                    </a:solidFill>
                    <a:effectLst/>
                    <a:latin typeface="Segoe WPC"/>
                  </a:rPr>
                </a:br>
                <a:r>
                  <a:rPr lang="es-ES" sz="900" b="1" i="0" dirty="0" err="1">
                    <a:solidFill>
                      <a:schemeClr val="tx1"/>
                    </a:solidFill>
                    <a:effectLst/>
                    <a:latin typeface="Segoe WPC"/>
                  </a:rPr>
                  <a:t>Interpretation</a:t>
                </a:r>
                <a:r>
                  <a:rPr lang="es-ES" sz="900" b="1" i="0" dirty="0">
                    <a:solidFill>
                      <a:schemeClr val="tx1"/>
                    </a:solidFill>
                    <a:effectLst/>
                    <a:latin typeface="Segoe WPC"/>
                  </a:rPr>
                  <a:t>:</a:t>
                </a:r>
                <a:r>
                  <a:rPr lang="es-ES" sz="900" b="0" i="0" dirty="0">
                    <a:solidFill>
                      <a:schemeClr val="tx1"/>
                    </a:solidFill>
                    <a:effectLst/>
                    <a:latin typeface="Segoe WPC"/>
                  </a:rPr>
                  <a:t> Un sistema legal fuerte y derechos de propiedad claros atraen inversión extranjera y reducen riesgo.</a:t>
                </a:r>
                <a:br>
                  <a:rPr lang="es-ES" sz="900" b="0" i="0" dirty="0">
                    <a:solidFill>
                      <a:schemeClr val="tx1"/>
                    </a:solidFill>
                    <a:effectLst/>
                    <a:latin typeface="Segoe WPC"/>
                  </a:rPr>
                </a:br>
                <a:r>
                  <a:rPr lang="es-ES" sz="900" b="1" i="0" dirty="0" err="1">
                    <a:solidFill>
                      <a:schemeClr val="tx1"/>
                    </a:solidFill>
                    <a:effectLst/>
                    <a:latin typeface="Segoe WPC"/>
                  </a:rPr>
                  <a:t>Exam</a:t>
                </a:r>
                <a:r>
                  <a:rPr lang="es-ES" sz="900" b="1" i="0" dirty="0">
                    <a:solidFill>
                      <a:schemeClr val="tx1"/>
                    </a:solidFill>
                    <a:effectLst/>
                    <a:latin typeface="Segoe WPC"/>
                  </a:rPr>
                  <a:t> </a:t>
                </a:r>
                <a:r>
                  <a:rPr lang="es-ES" sz="900" b="1" i="0" dirty="0" err="1">
                    <a:solidFill>
                      <a:schemeClr val="tx1"/>
                    </a:solidFill>
                    <a:effectLst/>
                    <a:latin typeface="Segoe WPC"/>
                  </a:rPr>
                  <a:t>Trap</a:t>
                </a:r>
                <a:r>
                  <a:rPr lang="es-ES" sz="900" b="1" i="0" dirty="0">
                    <a:solidFill>
                      <a:schemeClr val="tx1"/>
                    </a:solidFill>
                    <a:effectLst/>
                    <a:latin typeface="Segoe WPC"/>
                  </a:rPr>
                  <a:t>:</a:t>
                </a:r>
                <a:r>
                  <a:rPr lang="es-ES" sz="900" b="0" i="0" dirty="0">
                    <a:solidFill>
                      <a:schemeClr val="tx1"/>
                    </a:solidFill>
                    <a:effectLst/>
                    <a:latin typeface="Segoe WPC"/>
                  </a:rPr>
                  <a:t> No trates riesgo legal como algo separado del retorno; termina afectando flujos, recuperaciones y valuación.</a:t>
                </a:r>
              </a:p>
              <a:p>
                <a:pPr algn="l">
                  <a:spcAft>
                    <a:spcPts val="600"/>
                  </a:spcAft>
                  <a:buNone/>
                </a:pPr>
                <a:r>
                  <a:rPr lang="es-ES" sz="900" b="1" i="0" dirty="0">
                    <a:solidFill>
                      <a:schemeClr val="tx1"/>
                    </a:solidFill>
                    <a:effectLst/>
                    <a:latin typeface="Segoe WPC"/>
                  </a:rPr>
                  <a:t>5. </a:t>
                </a:r>
                <a:r>
                  <a:rPr lang="es-ES" sz="900" b="1" i="0" dirty="0" err="1">
                    <a:solidFill>
                      <a:schemeClr val="tx1"/>
                    </a:solidFill>
                    <a:effectLst/>
                    <a:latin typeface="Segoe WPC"/>
                  </a:rPr>
                  <a:t>Economic</a:t>
                </a:r>
                <a:r>
                  <a:rPr lang="es-ES" sz="900" b="1" i="0" dirty="0">
                    <a:solidFill>
                      <a:schemeClr val="tx1"/>
                    </a:solidFill>
                    <a:effectLst/>
                    <a:latin typeface="Segoe WPC"/>
                  </a:rPr>
                  <a:t> </a:t>
                </a:r>
                <a:r>
                  <a:rPr lang="es-ES" sz="900" b="1" i="0" dirty="0" err="1">
                    <a:solidFill>
                      <a:schemeClr val="tx1"/>
                    </a:solidFill>
                    <a:effectLst/>
                    <a:latin typeface="Segoe WPC"/>
                  </a:rPr>
                  <a:t>Structure</a:t>
                </a:r>
                <a:r>
                  <a:rPr lang="es-ES" sz="900" b="1" i="0" dirty="0">
                    <a:solidFill>
                      <a:schemeClr val="tx1"/>
                    </a:solidFill>
                    <a:effectLst/>
                    <a:latin typeface="Segoe WPC"/>
                  </a:rPr>
                  <a:t> and Competitive </a:t>
                </a:r>
                <a:r>
                  <a:rPr lang="es-ES" sz="900" b="1" i="0" dirty="0" err="1">
                    <a:solidFill>
                      <a:schemeClr val="tx1"/>
                    </a:solidFill>
                    <a:effectLst/>
                    <a:latin typeface="Segoe WPC"/>
                  </a:rPr>
                  <a:t>Advantage</a:t>
                </a:r>
                <a:br>
                  <a:rPr lang="es-ES" sz="900" b="0" i="0" dirty="0">
                    <a:solidFill>
                      <a:schemeClr val="tx1"/>
                    </a:solidFill>
                    <a:effectLst/>
                    <a:latin typeface="Segoe WPC"/>
                  </a:rPr>
                </a:br>
                <a:r>
                  <a:rPr lang="es-ES" sz="900" b="1" i="0" dirty="0" err="1">
                    <a:solidFill>
                      <a:schemeClr val="tx1"/>
                    </a:solidFill>
                    <a:effectLst/>
                    <a:latin typeface="Segoe WPC"/>
                  </a:rPr>
                  <a:t>Financial</a:t>
                </a:r>
                <a:r>
                  <a:rPr lang="es-ES" sz="900" b="1" i="0" dirty="0">
                    <a:solidFill>
                      <a:schemeClr val="tx1"/>
                    </a:solidFill>
                    <a:effectLst/>
                    <a:latin typeface="Segoe WPC"/>
                  </a:rPr>
                  <a:t> </a:t>
                </a:r>
                <a:r>
                  <a:rPr lang="es-ES" sz="900" b="1" i="0" dirty="0" err="1">
                    <a:solidFill>
                      <a:schemeClr val="tx1"/>
                    </a:solidFill>
                    <a:effectLst/>
                    <a:latin typeface="Segoe WPC"/>
                  </a:rPr>
                  <a:t>Object</a:t>
                </a:r>
                <a:r>
                  <a:rPr lang="es-ES" sz="900" b="1" i="0" dirty="0">
                    <a:solidFill>
                      <a:schemeClr val="tx1"/>
                    </a:solidFill>
                    <a:effectLst/>
                    <a:latin typeface="Segoe WPC"/>
                  </a:rPr>
                  <a:t>:</a:t>
                </a:r>
                <a:r>
                  <a:rPr lang="es-ES" sz="900" b="0" i="0" dirty="0">
                    <a:solidFill>
                      <a:schemeClr val="tx1"/>
                    </a:solidFill>
                    <a:effectLst/>
                    <a:latin typeface="Segoe WPC"/>
                  </a:rPr>
                  <a:t> Cómo la composición de la economía afecta el riesgo país.</a:t>
                </a:r>
                <a:br>
                  <a:rPr lang="es-ES" sz="900" b="0" i="0" dirty="0">
                    <a:solidFill>
                      <a:schemeClr val="tx1"/>
                    </a:solidFill>
                    <a:effectLst/>
                    <a:latin typeface="Segoe WPC"/>
                  </a:rPr>
                </a:br>
                <a:r>
                  <a:rPr lang="es-ES" sz="900" b="1" i="0" dirty="0" err="1">
                    <a:solidFill>
                      <a:schemeClr val="tx1"/>
                    </a:solidFill>
                    <a:effectLst/>
                    <a:latin typeface="Segoe WPC"/>
                  </a:rPr>
                  <a:t>Plain</a:t>
                </a:r>
                <a:r>
                  <a:rPr lang="es-ES" sz="900" b="1" i="0" dirty="0">
                    <a:solidFill>
                      <a:schemeClr val="tx1"/>
                    </a:solidFill>
                    <a:effectLst/>
                    <a:latin typeface="Segoe WPC"/>
                  </a:rPr>
                  <a:t>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Economías diversificadas y competitivas suelen ser más estables que economías concentradas en uno o pocos sectores.</a:t>
                </a:r>
                <a:br>
                  <a:rPr lang="es-ES" sz="900" b="0" i="0" dirty="0">
                    <a:solidFill>
                      <a:schemeClr val="tx1"/>
                    </a:solidFill>
                    <a:effectLst/>
                    <a:latin typeface="Segoe WPC"/>
                  </a:rPr>
                </a:br>
                <a:r>
                  <a:rPr lang="es-ES" sz="900" b="1" i="0" dirty="0">
                    <a:solidFill>
                      <a:schemeClr val="tx1"/>
                    </a:solidFill>
                    <a:effectLst/>
                    <a:latin typeface="Segoe WPC"/>
                  </a:rPr>
                  <a:t>Visual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Si un país depende casi solo de petróleo o cobre, una caída del precio del </a:t>
                </a:r>
                <a:r>
                  <a:rPr lang="es-ES" sz="900" b="0" i="0" dirty="0" err="1">
                    <a:solidFill>
                      <a:schemeClr val="tx1"/>
                    </a:solidFill>
                    <a:effectLst/>
                    <a:latin typeface="Segoe WPC"/>
                  </a:rPr>
                  <a:t>commodity</a:t>
                </a:r>
                <a:r>
                  <a:rPr lang="es-ES" sz="900" b="0" i="0" dirty="0">
                    <a:solidFill>
                      <a:schemeClr val="tx1"/>
                    </a:solidFill>
                    <a:effectLst/>
                    <a:latin typeface="Segoe WPC"/>
                  </a:rPr>
                  <a:t> golpea toda la economía.</a:t>
                </a:r>
                <a:br>
                  <a:rPr lang="es-ES" sz="900" b="0" i="0" dirty="0">
                    <a:solidFill>
                      <a:schemeClr val="tx1"/>
                    </a:solidFill>
                    <a:effectLst/>
                    <a:latin typeface="Segoe WPC"/>
                  </a:rPr>
                </a:br>
                <a:r>
                  <a:rPr lang="es-ES" sz="900" b="1" i="0" dirty="0">
                    <a:solidFill>
                      <a:schemeClr val="tx1"/>
                    </a:solidFill>
                    <a:effectLst/>
                    <a:latin typeface="Segoe WPC"/>
                  </a:rPr>
                  <a:t>Key Formula:</a:t>
                </a:r>
                <a:r>
                  <a:rPr lang="es-ES" sz="900" b="0" i="0" dirty="0">
                    <a:solidFill>
                      <a:schemeClr val="tx1"/>
                    </a:solidFill>
                    <a:effectLst/>
                    <a:latin typeface="Segoe WPC"/>
                  </a:rPr>
                  <a:t> No hay una fórmula única; se analiza diversificación, dependencia de </a:t>
                </a:r>
                <a:r>
                  <a:rPr lang="es-ES" sz="900" b="0" i="0" dirty="0" err="1">
                    <a:solidFill>
                      <a:schemeClr val="tx1"/>
                    </a:solidFill>
                    <a:effectLst/>
                    <a:latin typeface="Segoe WPC"/>
                  </a:rPr>
                  <a:t>commodities</a:t>
                </a:r>
                <a:r>
                  <a:rPr lang="es-ES" sz="900" b="0" i="0" dirty="0">
                    <a:solidFill>
                      <a:schemeClr val="tx1"/>
                    </a:solidFill>
                    <a:effectLst/>
                    <a:latin typeface="Segoe WPC"/>
                  </a:rPr>
                  <a:t> y ventajas competitivas estructurales.</a:t>
                </a:r>
                <a:br>
                  <a:rPr lang="es-ES" sz="900" b="0" i="0" dirty="0">
                    <a:solidFill>
                      <a:schemeClr val="tx1"/>
                    </a:solidFill>
                    <a:effectLst/>
                    <a:latin typeface="Segoe WPC"/>
                  </a:rPr>
                </a:br>
                <a:r>
                  <a:rPr lang="es-ES" sz="900" b="1" i="0" dirty="0" err="1">
                    <a:solidFill>
                      <a:schemeClr val="tx1"/>
                    </a:solidFill>
                    <a:effectLst/>
                    <a:latin typeface="Segoe WPC"/>
                  </a:rPr>
                  <a:t>Interpretation</a:t>
                </a:r>
                <a:r>
                  <a:rPr lang="es-ES" sz="900" b="1" i="0" dirty="0">
                    <a:solidFill>
                      <a:schemeClr val="tx1"/>
                    </a:solidFill>
                    <a:effectLst/>
                    <a:latin typeface="Segoe WPC"/>
                  </a:rPr>
                  <a:t>:</a:t>
                </a:r>
                <a:r>
                  <a:rPr lang="es-ES" sz="900" b="0" i="0" dirty="0">
                    <a:solidFill>
                      <a:schemeClr val="tx1"/>
                    </a:solidFill>
                    <a:effectLst/>
                    <a:latin typeface="Segoe WPC"/>
                  </a:rPr>
                  <a:t> La falta de diversificación aumenta vulnerabilidad a shocks externos y deteriora la base fiscal.</a:t>
                </a:r>
                <a:br>
                  <a:rPr lang="es-ES" sz="900" b="0" i="0" dirty="0">
                    <a:solidFill>
                      <a:schemeClr val="tx1"/>
                    </a:solidFill>
                    <a:effectLst/>
                    <a:latin typeface="Segoe WPC"/>
                  </a:rPr>
                </a:br>
                <a:r>
                  <a:rPr lang="es-ES" sz="900" b="1" i="0" dirty="0" err="1">
                    <a:solidFill>
                      <a:schemeClr val="tx1"/>
                    </a:solidFill>
                    <a:effectLst/>
                    <a:latin typeface="Segoe WPC"/>
                  </a:rPr>
                  <a:t>Exam</a:t>
                </a:r>
                <a:r>
                  <a:rPr lang="es-ES" sz="900" b="1" i="0" dirty="0">
                    <a:solidFill>
                      <a:schemeClr val="tx1"/>
                    </a:solidFill>
                    <a:effectLst/>
                    <a:latin typeface="Segoe WPC"/>
                  </a:rPr>
                  <a:t> </a:t>
                </a:r>
                <a:r>
                  <a:rPr lang="es-ES" sz="900" b="1" i="0" dirty="0" err="1">
                    <a:solidFill>
                      <a:schemeClr val="tx1"/>
                    </a:solidFill>
                    <a:effectLst/>
                    <a:latin typeface="Segoe WPC"/>
                  </a:rPr>
                  <a:t>Trap</a:t>
                </a:r>
                <a:r>
                  <a:rPr lang="es-ES" sz="900" b="1" i="0" dirty="0">
                    <a:solidFill>
                      <a:schemeClr val="tx1"/>
                    </a:solidFill>
                    <a:effectLst/>
                    <a:latin typeface="Segoe WPC"/>
                  </a:rPr>
                  <a:t>:</a:t>
                </a:r>
                <a:r>
                  <a:rPr lang="es-ES" sz="900" b="0" i="0" dirty="0">
                    <a:solidFill>
                      <a:schemeClr val="tx1"/>
                    </a:solidFill>
                    <a:effectLst/>
                    <a:latin typeface="Segoe WPC"/>
                  </a:rPr>
                  <a:t> No confundas ventaja competitiva actual con sostenibilidad de largo plazo; algunos países maximizan crecimiento corto a costa de fragilidad futura”.</a:t>
                </a:r>
              </a:p>
            </p:txBody>
          </p:sp>
        </mc:Choice>
        <mc:Fallback xmlns="">
          <p:sp>
            <p:nvSpPr>
              <p:cNvPr id="5" name="CuadroTexto 4">
                <a:extLst>
                  <a:ext uri="{FF2B5EF4-FFF2-40B4-BE49-F238E27FC236}">
                    <a16:creationId xmlns:a16="http://schemas.microsoft.com/office/drawing/2014/main" id="{5268FBE0-FB3E-4EED-6E86-52475C3782A0}"/>
                  </a:ext>
                </a:extLst>
              </p:cNvPr>
              <p:cNvSpPr txBox="1">
                <a:spLocks noRot="1" noChangeAspect="1" noMove="1" noResize="1" noEditPoints="1" noAdjustHandles="1" noChangeArrowheads="1" noChangeShapeType="1" noTextEdit="1"/>
              </p:cNvSpPr>
              <p:nvPr/>
            </p:nvSpPr>
            <p:spPr>
              <a:xfrm>
                <a:off x="-65313" y="307520"/>
                <a:ext cx="6335484" cy="6771084"/>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F569A5EB-08A0-6586-B845-CF43A8105F51}"/>
                  </a:ext>
                </a:extLst>
              </p:cNvPr>
              <p:cNvSpPr txBox="1"/>
              <p:nvPr/>
            </p:nvSpPr>
            <p:spPr>
              <a:xfrm>
                <a:off x="6001658" y="0"/>
                <a:ext cx="6393542" cy="10265054"/>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6. Composite Country </a:t>
                </a:r>
                <a:r>
                  <a:rPr lang="es-PE" sz="900" b="1" i="0" dirty="0" err="1">
                    <a:solidFill>
                      <a:schemeClr val="tx1"/>
                    </a:solidFill>
                    <a:effectLst/>
                    <a:latin typeface="Segoe WPC"/>
                  </a:rPr>
                  <a:t>Risk</a:t>
                </a:r>
                <a:r>
                  <a:rPr lang="es-PE" sz="900" b="1" i="0" dirty="0">
                    <a:solidFill>
                      <a:schemeClr val="tx1"/>
                    </a:solidFill>
                    <a:effectLst/>
                    <a:latin typeface="Segoe WPC"/>
                  </a:rPr>
                  <a:t> </a:t>
                </a:r>
                <a:r>
                  <a:rPr lang="es-PE" sz="900" b="1" i="0" dirty="0" err="1">
                    <a:solidFill>
                      <a:schemeClr val="tx1"/>
                    </a:solidFill>
                    <a:effectLst/>
                    <a:latin typeface="Segoe WPC"/>
                  </a:rPr>
                  <a:t>Measures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Índices agregados que resumen múltiples dimensiones del riesgo país.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Como el riesgo país tiene muchas piezas, algunos proveedores crean un score único para compararlos.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Servicios como PRS, </a:t>
                </a:r>
                <a:r>
                  <a:rPr lang="es-PE" sz="900" b="0" i="0" dirty="0" err="1">
                    <a:solidFill>
                      <a:schemeClr val="tx1"/>
                    </a:solidFill>
                    <a:effectLst/>
                    <a:latin typeface="Segoe WPC"/>
                  </a:rPr>
                  <a:t>Euromoney</a:t>
                </a:r>
                <a:r>
                  <a:rPr lang="es-PE" sz="900" b="0" i="0" dirty="0">
                    <a:solidFill>
                      <a:schemeClr val="tx1"/>
                    </a:solidFill>
                    <a:effectLst/>
                    <a:latin typeface="Segoe WPC"/>
                  </a:rPr>
                  <a:t>, Economist o </a:t>
                </a:r>
                <a:r>
                  <a:rPr lang="es-PE" sz="900" b="0" i="0" dirty="0" err="1">
                    <a:solidFill>
                      <a:schemeClr val="tx1"/>
                    </a:solidFill>
                    <a:effectLst/>
                    <a:latin typeface="Segoe WPC"/>
                  </a:rPr>
                  <a:t>World</a:t>
                </a:r>
                <a:r>
                  <a:rPr lang="es-PE" sz="900" b="0" i="0" dirty="0">
                    <a:solidFill>
                      <a:schemeClr val="tx1"/>
                    </a:solidFill>
                    <a:effectLst/>
                    <a:latin typeface="Segoe WPC"/>
                  </a:rPr>
                  <a:t> Bank condensan corrupción, política, economía y sistema legal en una sola medida.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Composite</m:t>
                    </m:r>
                    <m:r>
                      <m:rPr>
                        <m:nor/>
                      </m:rPr>
                      <a:rPr lang="es-PE" sz="900" b="0">
                        <a:solidFill>
                          <a:schemeClr val="tx1"/>
                        </a:solidFill>
                      </a:rPr>
                      <m:t> </m:t>
                    </m:r>
                    <m:r>
                      <m:rPr>
                        <m:nor/>
                      </m:rPr>
                      <a:rPr lang="es-PE" sz="900" b="0">
                        <a:solidFill>
                          <a:schemeClr val="tx1"/>
                        </a:solidFill>
                      </a:rPr>
                      <m:t>Score</m:t>
                    </m:r>
                    <m:r>
                      <a:rPr lang="es-PE" sz="900" b="0" i="0">
                        <a:solidFill>
                          <a:schemeClr val="tx1"/>
                        </a:solidFill>
                        <a:latin typeface="Cambria Math" panose="02040503050406030204" pitchFamily="18" charset="0"/>
                      </a:rPr>
                      <m:t>=</m:t>
                    </m:r>
                    <m:nary>
                      <m:naryPr>
                        <m:chr m:val="∑"/>
                        <m:limLoc m:val="subSup"/>
                        <m:grow m:val="on"/>
                        <m:supHide m:val="on"/>
                        <m:ctrlPr>
                          <a:rPr lang="ar-AE" sz="900" b="0" i="1">
                            <a:solidFill>
                              <a:schemeClr val="tx1"/>
                            </a:solidFill>
                            <a:latin typeface="Cambria Math" panose="02040503050406030204" pitchFamily="18" charset="0"/>
                          </a:rPr>
                        </m:ctrlPr>
                      </m:naryPr>
                      <m:sub>
                        <m:r>
                          <a:rPr lang="ar-AE" sz="900" b="0" i="1">
                            <a:solidFill>
                              <a:schemeClr val="tx1"/>
                            </a:solidFill>
                            <a:latin typeface="Cambria Math" panose="02040503050406030204" pitchFamily="18" charset="0"/>
                          </a:rPr>
                          <m:t>𝑖</m:t>
                        </m:r>
                      </m:sub>
                      <m:sup/>
                      <m:e>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𝑤</m:t>
                            </m:r>
                          </m:e>
                          <m:sub>
                            <m:r>
                              <a:rPr lang="ar-AE" sz="900" b="0" i="1">
                                <a:solidFill>
                                  <a:schemeClr val="tx1"/>
                                </a:solidFill>
                                <a:latin typeface="Cambria Math" panose="02040503050406030204" pitchFamily="18" charset="0"/>
                              </a:rPr>
                              <m:t>𝑖</m:t>
                            </m:r>
                          </m:sub>
                        </m:sSub>
                      </m:e>
                    </m:nary>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𝑋</m:t>
                        </m:r>
                      </m:e>
                      <m:sub>
                        <m:r>
                          <a:rPr lang="ar-AE" sz="900" b="0" i="1">
                            <a:solidFill>
                              <a:schemeClr val="tx1"/>
                            </a:solidFill>
                            <a:latin typeface="Cambria Math" panose="02040503050406030204" pitchFamily="18" charset="0"/>
                          </a:rPr>
                          <m:t>𝑖</m:t>
                        </m:r>
                      </m:sub>
                    </m:sSub>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Son útiles para ranking y narrativa comparativa, pero el número exacto no siempre tiene interpretación cardinal fuerte.</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Si un país tiene score doble que otro, no significa necesariamente que sea “dos veces más riesgoso”.</a:t>
                </a:r>
              </a:p>
              <a:p>
                <a:pPr algn="l">
                  <a:spcAft>
                    <a:spcPts val="600"/>
                  </a:spcAft>
                  <a:buNone/>
                </a:pPr>
                <a:r>
                  <a:rPr lang="es-PE" sz="900" b="1" i="0" dirty="0">
                    <a:solidFill>
                      <a:schemeClr val="tx1"/>
                    </a:solidFill>
                    <a:effectLst/>
                    <a:latin typeface="Segoe WPC"/>
                  </a:rPr>
                  <a:t>7. </a:t>
                </a:r>
                <a:r>
                  <a:rPr lang="es-PE" sz="900" b="1" i="0" dirty="0" err="1">
                    <a:solidFill>
                      <a:schemeClr val="tx1"/>
                    </a:solidFill>
                    <a:effectLst/>
                    <a:latin typeface="Segoe WPC"/>
                  </a:rPr>
                  <a:t>Sovereign</a:t>
                </a:r>
                <a:r>
                  <a:rPr lang="es-PE" sz="900" b="1" i="0" dirty="0">
                    <a:solidFill>
                      <a:schemeClr val="tx1"/>
                    </a:solidFill>
                    <a:effectLst/>
                    <a:latin typeface="Segoe WPC"/>
                  </a:rPr>
                  <a:t> Default: </a:t>
                </a:r>
                <a:r>
                  <a:rPr lang="es-PE" sz="900" b="1" i="0" dirty="0" err="1">
                    <a:solidFill>
                      <a:schemeClr val="tx1"/>
                    </a:solidFill>
                    <a:effectLst/>
                    <a:latin typeface="Segoe WPC"/>
                  </a:rPr>
                  <a:t>Foreign</a:t>
                </a:r>
                <a:r>
                  <a:rPr lang="es-PE" sz="900" b="1" i="0" dirty="0">
                    <a:solidFill>
                      <a:schemeClr val="tx1"/>
                    </a:solidFill>
                    <a:effectLst/>
                    <a:latin typeface="Segoe WPC"/>
                  </a:rPr>
                  <a:t> vs Local </a:t>
                </a:r>
                <a:r>
                  <a:rPr lang="es-PE" sz="900" b="1" i="0" dirty="0" err="1">
                    <a:solidFill>
                      <a:schemeClr val="tx1"/>
                    </a:solidFill>
                    <a:effectLst/>
                    <a:latin typeface="Segoe WPC"/>
                  </a:rPr>
                  <a:t>Currency</a:t>
                </a:r>
                <a:r>
                  <a:rPr lang="es-PE" sz="900" b="1" i="0" dirty="0">
                    <a:solidFill>
                      <a:schemeClr val="tx1"/>
                    </a:solidFill>
                    <a:effectLst/>
                    <a:latin typeface="Segoe WPC"/>
                  </a:rPr>
                  <a:t> </a:t>
                </a:r>
                <a:r>
                  <a:rPr lang="es-PE" sz="900" b="1" i="0" dirty="0" err="1">
                    <a:solidFill>
                      <a:schemeClr val="tx1"/>
                    </a:solidFill>
                    <a:effectLst/>
                    <a:latin typeface="Segoe WPC"/>
                  </a:rPr>
                  <a:t>Debt</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Riesgo de default soberano en deuda emitida en moneda extranjera o en moneda local.</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Defaultar</a:t>
                </a:r>
                <a:r>
                  <a:rPr lang="es-PE" sz="900" b="0" i="0" dirty="0">
                    <a:solidFill>
                      <a:schemeClr val="tx1"/>
                    </a:solidFill>
                    <a:effectLst/>
                    <a:latin typeface="Segoe WPC"/>
                  </a:rPr>
                  <a:t> deuda en moneda extranjera es más fácil de entender porque el país no puede imprimir esa moneda; en moneda local también puede ocurrir, aunque parezca menos intuitivo.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Argentina no puede imprimir USD; Grecia no puede imprimir euros; incluso deuda local puede </a:t>
                </a:r>
                <a:r>
                  <a:rPr lang="es-PE" sz="900" b="0" i="0" dirty="0" err="1">
                    <a:solidFill>
                      <a:schemeClr val="tx1"/>
                    </a:solidFill>
                    <a:effectLst/>
                    <a:latin typeface="Segoe WPC"/>
                  </a:rPr>
                  <a:t>defaultar</a:t>
                </a:r>
                <a:r>
                  <a:rPr lang="es-PE" sz="900" b="0" i="0" dirty="0">
                    <a:solidFill>
                      <a:schemeClr val="tx1"/>
                    </a:solidFill>
                    <a:effectLst/>
                    <a:latin typeface="Segoe WPC"/>
                  </a:rPr>
                  <a:t> si imprimir genera costos económicos o políticos enormes.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hay una fórmula única; la diferencia central está en la capacidad de financiar pagos con emisión monetaria.</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 deuda en moneda local suele tener menos riesgo que la deuda en moneda extranjera, por eso normalmente recibe mejor rating.</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digas que un país “nunca” </a:t>
                </a:r>
                <a:r>
                  <a:rPr lang="es-PE" sz="900" b="0" i="0" dirty="0" err="1">
                    <a:solidFill>
                      <a:schemeClr val="tx1"/>
                    </a:solidFill>
                    <a:effectLst/>
                    <a:latin typeface="Segoe WPC"/>
                  </a:rPr>
                  <a:t>defaulta</a:t>
                </a:r>
                <a:r>
                  <a:rPr lang="es-PE" sz="900" b="0" i="0" dirty="0">
                    <a:solidFill>
                      <a:schemeClr val="tx1"/>
                    </a:solidFill>
                    <a:effectLst/>
                    <a:latin typeface="Segoe WPC"/>
                  </a:rPr>
                  <a:t> en moneda local porque puede imprimir; históricamente sí ha ocurrido.</a:t>
                </a:r>
              </a:p>
              <a:p>
                <a:pPr algn="l">
                  <a:spcAft>
                    <a:spcPts val="600"/>
                  </a:spcAft>
                  <a:buNone/>
                </a:pPr>
                <a:r>
                  <a:rPr lang="es-PE" sz="900" b="1" i="0" dirty="0">
                    <a:solidFill>
                      <a:schemeClr val="tx1"/>
                    </a:solidFill>
                    <a:effectLst/>
                    <a:latin typeface="Segoe WPC"/>
                  </a:rPr>
                  <a:t>8. Causes and </a:t>
                </a:r>
                <a:r>
                  <a:rPr lang="es-PE" sz="900" b="1" i="0" dirty="0" err="1">
                    <a:solidFill>
                      <a:schemeClr val="tx1"/>
                    </a:solidFill>
                    <a:effectLst/>
                    <a:latin typeface="Segoe WPC"/>
                  </a:rPr>
                  <a:t>Consequences</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a:t>
                </a:r>
                <a:r>
                  <a:rPr lang="es-PE" sz="900" b="1" i="0" dirty="0" err="1">
                    <a:solidFill>
                      <a:schemeClr val="tx1"/>
                    </a:solidFill>
                    <a:effectLst/>
                    <a:latin typeface="Segoe WPC"/>
                  </a:rPr>
                  <a:t>Sovereign</a:t>
                </a:r>
                <a:r>
                  <a:rPr lang="es-PE" sz="900" b="1" i="0" dirty="0">
                    <a:solidFill>
                      <a:schemeClr val="tx1"/>
                    </a:solidFill>
                    <a:effectLst/>
                    <a:latin typeface="Segoe WPC"/>
                  </a:rPr>
                  <a:t> Default</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Factores que llevan a default y sus efectos posteriores.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Los defaults soberanos suelen venir tras recesiones severas, crisis fiscales, shocks externos o colapsos políticos.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 default no liquida al país como a una empresa; normalmente lleva a reestructuración, pérdida de reputación y años de financiamiento difícil.</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hay fórmula cerrada; suele analizarse sostenibilidad de deuda y capacidad fiscal.</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Las consecuencias incluyen caída del PIB, pérdida de acceso a mercados, menor inversión extranjera, fragilidad bancaria y a menudo austeridad impuesta.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El costo no es solo financiero inmediato; el daño reputacional y macroeconómico puede durar muchos años.</a:t>
                </a:r>
              </a:p>
              <a:p>
                <a:pPr algn="l">
                  <a:spcAft>
                    <a:spcPts val="600"/>
                  </a:spcAft>
                  <a:buNone/>
                </a:pPr>
                <a:r>
                  <a:rPr lang="es-PE" sz="900" b="1" i="0" dirty="0">
                    <a:solidFill>
                      <a:schemeClr val="tx1"/>
                    </a:solidFill>
                    <a:effectLst/>
                    <a:latin typeface="Segoe WPC"/>
                  </a:rPr>
                  <a:t>9. </a:t>
                </a:r>
                <a:r>
                  <a:rPr lang="es-PE" sz="900" b="1" i="0" dirty="0" err="1">
                    <a:solidFill>
                      <a:schemeClr val="tx1"/>
                    </a:solidFill>
                    <a:effectLst/>
                    <a:latin typeface="Segoe WPC"/>
                  </a:rPr>
                  <a:t>Sovereign</a:t>
                </a:r>
                <a:r>
                  <a:rPr lang="es-PE" sz="900" b="1" i="0" dirty="0">
                    <a:solidFill>
                      <a:schemeClr val="tx1"/>
                    </a:solidFill>
                    <a:effectLst/>
                    <a:latin typeface="Segoe WPC"/>
                  </a:rPr>
                  <a:t> Ratings and </a:t>
                </a:r>
                <a:r>
                  <a:rPr lang="es-PE" sz="900" b="1" i="0" dirty="0" err="1">
                    <a:solidFill>
                      <a:schemeClr val="tx1"/>
                    </a:solidFill>
                    <a:effectLst/>
                    <a:latin typeface="Segoe WPC"/>
                  </a:rPr>
                  <a:t>Their</a:t>
                </a:r>
                <a:r>
                  <a:rPr lang="es-PE" sz="900" b="1" i="0" dirty="0">
                    <a:solidFill>
                      <a:schemeClr val="tx1"/>
                    </a:solidFill>
                    <a:effectLst/>
                    <a:latin typeface="Segoe WPC"/>
                  </a:rPr>
                  <a:t> </a:t>
                </a:r>
                <a:r>
                  <a:rPr lang="es-PE" sz="900" b="1" i="0" dirty="0" err="1">
                    <a:solidFill>
                      <a:schemeClr val="tx1"/>
                    </a:solidFill>
                    <a:effectLst/>
                    <a:latin typeface="Segoe WPC"/>
                  </a:rPr>
                  <a:t>Determinants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Evaluación del riesgo soberano por parte de agencias de rating.</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Las agencias analizan si el gobierno podrá recaudar suficiente y mantener estabilidad para servir su deuda.</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Mucha deuda, bajo crecimiento, base tributaria débil y alto riesgo político suelen implicar peor rating.</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Un indicador clave es </a:t>
                </a:r>
                <a14:m>
                  <m:oMath xmlns:m="http://schemas.openxmlformats.org/officeDocument/2006/math">
                    <m:r>
                      <m:rPr>
                        <m:nor/>
                      </m:rPr>
                      <a:rPr lang="es-PE" sz="900" b="0">
                        <a:solidFill>
                          <a:schemeClr val="tx1"/>
                        </a:solidFill>
                      </a:rPr>
                      <m:t>Debt</m:t>
                    </m:r>
                    <m:r>
                      <m:rPr>
                        <m:nor/>
                      </m:rPr>
                      <a:rPr lang="es-PE" sz="900" b="0">
                        <a:solidFill>
                          <a:schemeClr val="tx1"/>
                        </a:solidFill>
                      </a:rPr>
                      <m:t>−</m:t>
                    </m:r>
                    <m:r>
                      <m:rPr>
                        <m:nor/>
                      </m:rPr>
                      <a:rPr lang="es-PE" sz="900" b="0">
                        <a:solidFill>
                          <a:schemeClr val="tx1"/>
                        </a:solidFill>
                      </a:rPr>
                      <m:t>to</m:t>
                    </m:r>
                    <m:r>
                      <m:rPr>
                        <m:nor/>
                      </m:rPr>
                      <a:rPr lang="es-PE" sz="900" b="0">
                        <a:solidFill>
                          <a:schemeClr val="tx1"/>
                        </a:solidFill>
                      </a:rPr>
                      <m:t>−</m:t>
                    </m:r>
                    <m:r>
                      <m:rPr>
                        <m:nor/>
                      </m:rPr>
                      <a:rPr lang="es-PE" sz="900" b="0">
                        <a:solidFill>
                          <a:schemeClr val="tx1"/>
                        </a:solidFill>
                      </a:rPr>
                      <m:t>GDP</m:t>
                    </m:r>
                    <m:r>
                      <a:rPr lang="es-PE" sz="900" b="0" i="0">
                        <a:solidFill>
                          <a:schemeClr val="tx1"/>
                        </a:solidFill>
                        <a:latin typeface="Cambria Math" panose="02040503050406030204" pitchFamily="18" charset="0"/>
                      </a:rPr>
                      <m:t>=</m:t>
                    </m:r>
                    <m:f>
                      <m:fPr>
                        <m:ctrlPr>
                          <a:rPr lang="ar-AE" sz="900" b="0" i="1">
                            <a:solidFill>
                              <a:schemeClr val="tx1"/>
                            </a:solidFill>
                            <a:latin typeface="Cambria Math" panose="02040503050406030204" pitchFamily="18" charset="0"/>
                          </a:rPr>
                        </m:ctrlPr>
                      </m:fPr>
                      <m:num>
                        <m:r>
                          <m:rPr>
                            <m:nor/>
                          </m:rPr>
                          <a:rPr lang="es-PE" sz="900" b="0" i="1">
                            <a:solidFill>
                              <a:schemeClr val="tx1"/>
                            </a:solidFill>
                            <a:latin typeface="Cambria Math" panose="02040503050406030204" pitchFamily="18" charset="0"/>
                          </a:rPr>
                          <m:t>Government</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Debt</m:t>
                        </m:r>
                      </m:num>
                      <m:den>
                        <m:r>
                          <m:rPr>
                            <m:nor/>
                          </m:rPr>
                          <a:rPr lang="es-PE" sz="900" b="0" i="1">
                            <a:solidFill>
                              <a:schemeClr val="tx1"/>
                            </a:solidFill>
                            <a:latin typeface="Cambria Math" panose="02040503050406030204" pitchFamily="18" charset="0"/>
                          </a:rPr>
                          <m:t>GDP</m:t>
                        </m:r>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Además del ratio deuda/PIB, importan compromisos sociales, calidad institucional, base tributaria, estructura económica e independencia del banco central.</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Un </a:t>
                </a:r>
                <a:r>
                  <a:rPr lang="es-PE" sz="900" b="0" i="0" dirty="0" err="1">
                    <a:solidFill>
                      <a:schemeClr val="tx1"/>
                    </a:solidFill>
                    <a:effectLst/>
                    <a:latin typeface="Segoe WPC"/>
                  </a:rPr>
                  <a:t>debt</a:t>
                </a:r>
                <a:r>
                  <a:rPr lang="es-PE" sz="900" b="0" i="0" dirty="0">
                    <a:solidFill>
                      <a:schemeClr val="tx1"/>
                    </a:solidFill>
                    <a:effectLst/>
                    <a:latin typeface="Segoe WPC"/>
                  </a:rPr>
                  <a:t>-</a:t>
                </a:r>
                <a:r>
                  <a:rPr lang="es-PE" sz="900" b="0" i="0" dirty="0" err="1">
                    <a:solidFill>
                      <a:schemeClr val="tx1"/>
                    </a:solidFill>
                    <a:effectLst/>
                    <a:latin typeface="Segoe WPC"/>
                  </a:rPr>
                  <a:t>to</a:t>
                </a:r>
                <a:r>
                  <a:rPr lang="es-PE" sz="900" b="0" i="0" dirty="0">
                    <a:solidFill>
                      <a:schemeClr val="tx1"/>
                    </a:solidFill>
                    <a:effectLst/>
                    <a:latin typeface="Segoe WPC"/>
                  </a:rPr>
                  <a:t>-GDP alto no implica automáticamente default; depende también de activos públicos, moneda de emisión, credibilidad y capacidad fiscal.</a:t>
                </a:r>
              </a:p>
              <a:p>
                <a:pPr algn="l">
                  <a:spcAft>
                    <a:spcPts val="600"/>
                  </a:spcAft>
                  <a:buNone/>
                </a:pPr>
                <a:r>
                  <a:rPr lang="es-PE" sz="900" b="1" i="0" dirty="0">
                    <a:solidFill>
                      <a:schemeClr val="tx1"/>
                    </a:solidFill>
                    <a:effectLst/>
                    <a:latin typeface="Segoe WPC"/>
                  </a:rPr>
                  <a:t>10. </a:t>
                </a:r>
                <a:r>
                  <a:rPr lang="es-PE" sz="900" b="1" i="0" dirty="0" err="1">
                    <a:solidFill>
                      <a:schemeClr val="tx1"/>
                    </a:solidFill>
                    <a:effectLst/>
                    <a:latin typeface="Segoe WPC"/>
                  </a:rPr>
                  <a:t>Sovereign</a:t>
                </a:r>
                <a:r>
                  <a:rPr lang="es-PE" sz="900" b="1" i="0" dirty="0">
                    <a:solidFill>
                      <a:schemeClr val="tx1"/>
                    </a:solidFill>
                    <a:effectLst/>
                    <a:latin typeface="Segoe WPC"/>
                  </a:rPr>
                  <a:t> Ratings, Performance, and </a:t>
                </a:r>
                <a:r>
                  <a:rPr lang="es-PE" sz="900" b="1" i="0" dirty="0" err="1">
                    <a:solidFill>
                      <a:schemeClr val="tx1"/>
                    </a:solidFill>
                    <a:effectLst/>
                    <a:latin typeface="Segoe WPC"/>
                  </a:rPr>
                  <a:t>Transition</a:t>
                </a:r>
                <a:r>
                  <a:rPr lang="es-PE" sz="900" b="1" i="0" dirty="0">
                    <a:solidFill>
                      <a:schemeClr val="tx1"/>
                    </a:solidFill>
                    <a:effectLst/>
                    <a:latin typeface="Segoe WPC"/>
                  </a:rPr>
                  <a:t> Matrices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Comportamiento histórico de ratings soberanos y sus migraciones entre categorías.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Los ratings soberanos suelen ser más estables que los corporativos, excepto en las categorías más bajas.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 país con buen rating suele mantenerlo por más tiempo; los </a:t>
                </a:r>
                <a:r>
                  <a:rPr lang="es-PE" sz="900" b="0" i="0" dirty="0" err="1">
                    <a:solidFill>
                      <a:schemeClr val="tx1"/>
                    </a:solidFill>
                    <a:effectLst/>
                    <a:latin typeface="Segoe WPC"/>
                  </a:rPr>
                  <a:t>downgrade</a:t>
                </a:r>
                <a:r>
                  <a:rPr lang="es-PE" sz="900" b="0" i="0" dirty="0">
                    <a:solidFill>
                      <a:schemeClr val="tx1"/>
                    </a:solidFill>
                    <a:effectLst/>
                    <a:latin typeface="Segoe WPC"/>
                  </a:rPr>
                  <a:t> </a:t>
                </a:r>
                <a:r>
                  <a:rPr lang="es-PE" sz="900" b="0" i="0" dirty="0" err="1">
                    <a:solidFill>
                      <a:schemeClr val="tx1"/>
                    </a:solidFill>
                    <a:effectLst/>
                    <a:latin typeface="Segoe WPC"/>
                  </a:rPr>
                  <a:t>chains</a:t>
                </a:r>
                <a:r>
                  <a:rPr lang="es-PE" sz="900" b="0" i="0" dirty="0">
                    <a:solidFill>
                      <a:schemeClr val="tx1"/>
                    </a:solidFill>
                    <a:effectLst/>
                    <a:latin typeface="Segoe WPC"/>
                  </a:rPr>
                  <a:t> aparecen más en situaciones de estrés severo.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Si hubiera independencia anual, la matriz de </a:t>
                </a:r>
                <a14:m>
                  <m:oMath xmlns:m="http://schemas.openxmlformats.org/officeDocument/2006/math">
                    <m:r>
                      <a:rPr lang="es-PE" sz="900" i="1">
                        <a:solidFill>
                          <a:schemeClr val="tx1"/>
                        </a:solidFill>
                        <a:latin typeface="Cambria Math" panose="02040503050406030204" pitchFamily="18" charset="0"/>
                      </a:rPr>
                      <m:t>𝑛</m:t>
                    </m:r>
                  </m:oMath>
                </a14:m>
                <a:r>
                  <a:rPr lang="es-PE" sz="900" b="0" i="0" dirty="0">
                    <a:solidFill>
                      <a:schemeClr val="tx1"/>
                    </a:solidFill>
                    <a:effectLst/>
                    <a:latin typeface="Segoe WPC"/>
                  </a:rPr>
                  <a:t> años sería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𝑃</m:t>
                        </m:r>
                      </m:e>
                      <m:sup>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𝑛</m:t>
                            </m:r>
                          </m:e>
                        </m:d>
                      </m:sup>
                    </m:sSup>
                    <m:r>
                      <a:rPr lang="ar-AE" sz="900" i="0">
                        <a:solidFill>
                          <a:schemeClr val="tx1"/>
                        </a:solidFill>
                        <a:latin typeface="Cambria Math" panose="02040503050406030204" pitchFamily="18" charset="0"/>
                      </a:rPr>
                      <m:t>=</m:t>
                    </m:r>
                    <m:d>
                      <m:dPr>
                        <m:endChr m:val=""/>
                        <m:ctrlPr>
                          <a:rPr lang="ar-AE" sz="900" i="1">
                            <a:solidFill>
                              <a:schemeClr val="tx1"/>
                            </a:solidFill>
                            <a:latin typeface="Cambria Math" panose="02040503050406030204" pitchFamily="18" charset="0"/>
                          </a:rPr>
                        </m:ctrlPr>
                      </m:dPr>
                      <m:e>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𝑃</m:t>
                            </m:r>
                          </m:e>
                          <m:sup>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e>
                            </m:d>
                          </m:sup>
                        </m:sSup>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1">
                                <a:solidFill>
                                  <a:schemeClr val="tx1"/>
                                </a:solidFill>
                                <a:latin typeface="Cambria Math" panose="02040503050406030204" pitchFamily="18" charset="0"/>
                              </a:rPr>
                              <m:t>𝑛</m:t>
                            </m:r>
                          </m:sup>
                        </m:sSup>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Las matrices de transición sirven para modelar cambios de rating, defaults esperados y estabilidad relativa entre deuda local y externa.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La independencia interanual es una simplificación; también en soberanos puede haber </a:t>
                </a:r>
                <a:r>
                  <a:rPr lang="es-PE" sz="900" b="0" i="0" dirty="0" err="1">
                    <a:solidFill>
                      <a:schemeClr val="tx1"/>
                    </a:solidFill>
                    <a:effectLst/>
                    <a:latin typeface="Segoe WPC"/>
                  </a:rPr>
                  <a:t>momentum</a:t>
                </a:r>
                <a:r>
                  <a:rPr lang="es-PE" sz="900" b="0" i="0" dirty="0">
                    <a:solidFill>
                      <a:schemeClr val="tx1"/>
                    </a:solidFill>
                    <a:effectLst/>
                    <a:latin typeface="Segoe WPC"/>
                  </a:rPr>
                  <a:t> de rating.</a:t>
                </a:r>
              </a:p>
              <a:p>
                <a:pPr algn="l">
                  <a:spcAft>
                    <a:spcPts val="600"/>
                  </a:spcAft>
                  <a:buNone/>
                </a:pPr>
                <a:r>
                  <a:rPr lang="es-PE" sz="900" b="1" i="0" dirty="0">
                    <a:solidFill>
                      <a:schemeClr val="tx1"/>
                    </a:solidFill>
                    <a:effectLst/>
                    <a:latin typeface="Segoe WPC"/>
                  </a:rPr>
                  <a:t>11. </a:t>
                </a:r>
                <a:r>
                  <a:rPr lang="es-PE" sz="900" b="1" i="0" dirty="0" err="1">
                    <a:solidFill>
                      <a:schemeClr val="tx1"/>
                    </a:solidFill>
                    <a:effectLst/>
                    <a:latin typeface="Segoe WPC"/>
                  </a:rPr>
                  <a:t>Sovereign</a:t>
                </a:r>
                <a:r>
                  <a:rPr lang="es-PE" sz="900" b="1" i="0" dirty="0">
                    <a:solidFill>
                      <a:schemeClr val="tx1"/>
                    </a:solidFill>
                    <a:effectLst/>
                    <a:latin typeface="Segoe WPC"/>
                  </a:rPr>
                  <a:t> </a:t>
                </a:r>
                <a:r>
                  <a:rPr lang="es-PE" sz="900" b="1" i="0" dirty="0" err="1">
                    <a:solidFill>
                      <a:schemeClr val="tx1"/>
                    </a:solidFill>
                    <a:effectLst/>
                    <a:latin typeface="Segoe WPC"/>
                  </a:rPr>
                  <a:t>Credit</a:t>
                </a:r>
                <a:r>
                  <a:rPr lang="es-PE" sz="900" b="1" i="0" dirty="0">
                    <a:solidFill>
                      <a:schemeClr val="tx1"/>
                    </a:solidFill>
                    <a:effectLst/>
                    <a:latin typeface="Segoe WPC"/>
                  </a:rPr>
                  <a:t> Spreads and CDS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Medidas de riesgo soberano basadas en precios de mercado.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Los spreads soberanos y los CDS muestran cuánto extra exige el mercado para prestar a un país frente a una referencia libre de riesgo.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aumenta el spread o el CDS, el mercado percibe más probabilidad de default o mayor pérdida esperada.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Sovereign</m:t>
                    </m:r>
                    <m:r>
                      <m:rPr>
                        <m:nor/>
                      </m:rPr>
                      <a:rPr lang="es-PE" sz="900" b="0">
                        <a:solidFill>
                          <a:schemeClr val="tx1"/>
                        </a:solidFill>
                      </a:rPr>
                      <m:t> </m:t>
                    </m:r>
                    <m:r>
                      <m:rPr>
                        <m:nor/>
                      </m:rPr>
                      <a:rPr lang="es-PE" sz="900" b="0">
                        <a:solidFill>
                          <a:schemeClr val="tx1"/>
                        </a:solidFill>
                      </a:rPr>
                      <m:t>Spread</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Yield</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on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sovereign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debt</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Risk</m:t>
                    </m:r>
                    <m:r>
                      <m:rPr>
                        <m:nor/>
                      </m:rPr>
                      <a:rPr lang="es-PE" sz="900" b="0" i="1">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free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yield</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in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same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currency</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Los spreads son más granulares y reaccionan más rápido que los ratings, pero también son más volátiles y sensibles a liquidez y contagio.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asumas que CDS y ratings siempre cuentan exactamente la misma historia; CDS puede moverse mucho antes que el rating.</a:t>
                </a:r>
              </a:p>
              <a:p>
                <a:pPr algn="l">
                  <a:spcAft>
                    <a:spcPts val="600"/>
                  </a:spcAft>
                  <a:buNone/>
                </a:pPr>
                <a:r>
                  <a:rPr lang="es-PE" sz="900" b="1" i="0" dirty="0">
                    <a:solidFill>
                      <a:schemeClr val="tx1"/>
                    </a:solidFill>
                    <a:effectLst/>
                    <a:latin typeface="Segoe WPC"/>
                  </a:rPr>
                  <a:t>12. </a:t>
                </a:r>
                <a:r>
                  <a:rPr lang="es-PE" sz="900" b="1" i="0" dirty="0" err="1">
                    <a:solidFill>
                      <a:schemeClr val="tx1"/>
                    </a:solidFill>
                    <a:effectLst/>
                    <a:latin typeface="Segoe WPC"/>
                  </a:rPr>
                  <a:t>Sovereign</a:t>
                </a:r>
                <a:r>
                  <a:rPr lang="es-PE" sz="900" b="1" i="0" dirty="0">
                    <a:solidFill>
                      <a:schemeClr val="tx1"/>
                    </a:solidFill>
                    <a:effectLst/>
                    <a:latin typeface="Segoe WPC"/>
                  </a:rPr>
                  <a:t> Spreads vs Ratings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Comparación entre señales de mercado y evaluaciones de agencias.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Los ratings son más estables y lentos; los spreads y CDS son más rápidos, pero más ruidosos.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rating cambia cuando la agencia cree que la salud crediticia de largo plazo cambió; el spread se mueve con cada noticia o shock de mercado.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hay fórmula única; la diferencia clave es “opinión estable” frente a “precio de mercado en tiempo real”.</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En práctica, ambos son complementarios: rating para clasificación estructural y spread/CDS para señal táctica actualizada.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digas que spreads siempre son mejores; también incorporan liquidez, </a:t>
                </a:r>
                <a:r>
                  <a:rPr lang="es-PE" sz="900" b="0" i="0" dirty="0" err="1">
                    <a:solidFill>
                      <a:schemeClr val="tx1"/>
                    </a:solidFill>
                    <a:effectLst/>
                    <a:latin typeface="Segoe WPC"/>
                  </a:rPr>
                  <a:t>clustering</a:t>
                </a:r>
                <a:r>
                  <a:rPr lang="es-PE" sz="900" b="0" i="0" dirty="0">
                    <a:solidFill>
                      <a:schemeClr val="tx1"/>
                    </a:solidFill>
                    <a:effectLst/>
                    <a:latin typeface="Segoe WPC"/>
                  </a:rPr>
                  <a:t> y factores especulativos, no solo riesgo puro de default.</a:t>
                </a:r>
              </a:p>
            </p:txBody>
          </p:sp>
        </mc:Choice>
        <mc:Fallback xmlns="">
          <p:sp>
            <p:nvSpPr>
              <p:cNvPr id="7" name="CuadroTexto 6">
                <a:extLst>
                  <a:ext uri="{FF2B5EF4-FFF2-40B4-BE49-F238E27FC236}">
                    <a16:creationId xmlns:a16="http://schemas.microsoft.com/office/drawing/2014/main" id="{F569A5EB-08A0-6586-B845-CF43A8105F51}"/>
                  </a:ext>
                </a:extLst>
              </p:cNvPr>
              <p:cNvSpPr txBox="1">
                <a:spLocks noRot="1" noChangeAspect="1" noMove="1" noResize="1" noEditPoints="1" noAdjustHandles="1" noChangeArrowheads="1" noChangeShapeType="1" noTextEdit="1"/>
              </p:cNvSpPr>
              <p:nvPr/>
            </p:nvSpPr>
            <p:spPr>
              <a:xfrm>
                <a:off x="6001658" y="0"/>
                <a:ext cx="6393542" cy="10265054"/>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23782316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21E2CC-98C8-3538-C82F-EBB09DA71EF6}"/>
              </a:ext>
            </a:extLst>
          </p:cNvPr>
          <p:cNvSpPr>
            <a:spLocks noGrp="1"/>
          </p:cNvSpPr>
          <p:nvPr>
            <p:ph type="title"/>
          </p:nvPr>
        </p:nvSpPr>
        <p:spPr>
          <a:xfrm>
            <a:off x="0" y="-64084"/>
            <a:ext cx="10515600" cy="478971"/>
          </a:xfrm>
        </p:spPr>
        <p:txBody>
          <a:bodyPr>
            <a:normAutofit fontScale="90000"/>
          </a:bodyPr>
          <a:lstStyle/>
          <a:p>
            <a:r>
              <a:rPr lang="en-US" dirty="0"/>
              <a:t>Measuring Credit Risks</a:t>
            </a:r>
            <a:endParaRPr lang="es-PE"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45A01644-AE4D-B89A-19A4-1DCC1E386CDE}"/>
                  </a:ext>
                </a:extLst>
              </p:cNvPr>
              <p:cNvSpPr txBox="1"/>
              <p:nvPr/>
            </p:nvSpPr>
            <p:spPr>
              <a:xfrm>
                <a:off x="0" y="350802"/>
                <a:ext cx="6096000" cy="6384953"/>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1. </a:t>
                </a:r>
                <a:r>
                  <a:rPr lang="es-PE" sz="900" b="1" i="0" dirty="0" err="1">
                    <a:solidFill>
                      <a:schemeClr val="tx1"/>
                    </a:solidFill>
                    <a:effectLst/>
                    <a:latin typeface="Segoe WPC"/>
                  </a:rPr>
                  <a:t>Economic</a:t>
                </a:r>
                <a:r>
                  <a:rPr lang="es-PE" sz="900" b="1" i="0" dirty="0">
                    <a:solidFill>
                      <a:schemeClr val="tx1"/>
                    </a:solidFill>
                    <a:effectLst/>
                    <a:latin typeface="Segoe WPC"/>
                  </a:rPr>
                  <a:t> Capital vs </a:t>
                </a:r>
                <a:r>
                  <a:rPr lang="es-PE" sz="900" b="1" i="0" dirty="0" err="1">
                    <a:solidFill>
                      <a:schemeClr val="tx1"/>
                    </a:solidFill>
                    <a:effectLst/>
                    <a:latin typeface="Segoe WPC"/>
                  </a:rPr>
                  <a:t>Regulatory</a:t>
                </a:r>
                <a:r>
                  <a:rPr lang="es-PE" sz="900" b="1" i="0" dirty="0">
                    <a:solidFill>
                      <a:schemeClr val="tx1"/>
                    </a:solidFill>
                    <a:effectLst/>
                    <a:latin typeface="Segoe WPC"/>
                  </a:rPr>
                  <a:t> Capital</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Capital que un banco necesita para absorber pérdidas crediticias.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banco calcula su propio capital económico; el regulador impone capital regulatorio mínimo.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pérdida esperada se cubre con </a:t>
                </a:r>
                <a:r>
                  <a:rPr lang="es-PE" sz="900" b="0" i="0" dirty="0" err="1">
                    <a:solidFill>
                      <a:schemeClr val="tx1"/>
                    </a:solidFill>
                    <a:effectLst/>
                    <a:latin typeface="Segoe WPC"/>
                  </a:rPr>
                  <a:t>pricing</a:t>
                </a:r>
                <a:r>
                  <a:rPr lang="es-PE" sz="900" b="0" i="0" dirty="0">
                    <a:solidFill>
                      <a:schemeClr val="tx1"/>
                    </a:solidFill>
                    <a:effectLst/>
                    <a:latin typeface="Segoe WPC"/>
                  </a:rPr>
                  <a:t> y provisiones; el capital cubre pérdidas inesperadas en escenarios extremos.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Capital</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High</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Percentile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Loss</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Expected</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Loss</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Basilea usa típicamente un percentil muy alto, como 99.9%, mientras que un banco puede usar uno aún mayor para sostener su rating.</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confundas capital con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loss</a:t>
                </a:r>
                <a:r>
                  <a:rPr lang="es-PE" sz="900" b="0" i="0" dirty="0">
                    <a:solidFill>
                      <a:schemeClr val="tx1"/>
                    </a:solidFill>
                    <a:effectLst/>
                    <a:latin typeface="Segoe WPC"/>
                  </a:rPr>
                  <a:t>; la pérdida esperada no debería cubrirse con </a:t>
                </a:r>
                <a:r>
                  <a:rPr lang="es-PE" sz="900" b="0" i="0" dirty="0" err="1">
                    <a:solidFill>
                      <a:schemeClr val="tx1"/>
                    </a:solidFill>
                    <a:effectLst/>
                    <a:latin typeface="Segoe WPC"/>
                  </a:rPr>
                  <a:t>equity</a:t>
                </a:r>
                <a:r>
                  <a:rPr lang="es-PE" sz="900" b="0" i="0" dirty="0">
                    <a:solidFill>
                      <a:schemeClr val="tx1"/>
                    </a:solidFill>
                    <a:effectLst/>
                    <a:latin typeface="Segoe WPC"/>
                  </a:rPr>
                  <a:t>, sino con margen, provisiones y </a:t>
                </a:r>
                <a:r>
                  <a:rPr lang="es-PE" sz="900" b="0" i="0" dirty="0" err="1">
                    <a:solidFill>
                      <a:schemeClr val="tx1"/>
                    </a:solidFill>
                    <a:effectLst/>
                    <a:latin typeface="Segoe WPC"/>
                  </a:rPr>
                  <a:t>pricing</a:t>
                </a:r>
                <a:r>
                  <a:rPr lang="es-PE" sz="900" b="0" i="0" dirty="0">
                    <a:solidFill>
                      <a:schemeClr val="tx1"/>
                    </a:solidFill>
                    <a:effectLst/>
                    <a:latin typeface="Segoe WPC"/>
                  </a:rPr>
                  <a:t>.</a:t>
                </a:r>
              </a:p>
              <a:p>
                <a:pPr algn="l">
                  <a:spcAft>
                    <a:spcPts val="600"/>
                  </a:spcAft>
                  <a:buNone/>
                </a:pPr>
                <a:r>
                  <a:rPr lang="es-PE" sz="900" b="1" i="0" dirty="0">
                    <a:solidFill>
                      <a:schemeClr val="tx1"/>
                    </a:solidFill>
                    <a:effectLst/>
                    <a:latin typeface="Segoe WPC"/>
                  </a:rPr>
                  <a:t>2. </a:t>
                </a:r>
                <a:r>
                  <a:rPr lang="es-PE" sz="900" b="1" i="0" dirty="0" err="1">
                    <a:solidFill>
                      <a:schemeClr val="tx1"/>
                    </a:solidFill>
                    <a:effectLst/>
                    <a:latin typeface="Segoe WPC"/>
                  </a:rPr>
                  <a:t>Expected</a:t>
                </a:r>
                <a:r>
                  <a:rPr lang="es-PE" sz="900" b="1" i="0" dirty="0">
                    <a:solidFill>
                      <a:schemeClr val="tx1"/>
                    </a:solidFill>
                    <a:effectLst/>
                    <a:latin typeface="Segoe WPC"/>
                  </a:rPr>
                  <a:t> </a:t>
                </a:r>
                <a:r>
                  <a:rPr lang="es-PE" sz="900" b="1" i="0" dirty="0" err="1">
                    <a:solidFill>
                      <a:schemeClr val="tx1"/>
                    </a:solidFill>
                    <a:effectLst/>
                    <a:latin typeface="Segoe WPC"/>
                  </a:rPr>
                  <a:t>Loss</a:t>
                </a:r>
                <a:r>
                  <a:rPr lang="es-PE" sz="900" b="1" i="0" dirty="0">
                    <a:solidFill>
                      <a:schemeClr val="tx1"/>
                    </a:solidFill>
                    <a:effectLst/>
                    <a:latin typeface="Segoe WPC"/>
                  </a:rPr>
                  <a:t> and </a:t>
                </a:r>
                <a:r>
                  <a:rPr lang="es-PE" sz="900" b="1" i="0" dirty="0" err="1">
                    <a:solidFill>
                      <a:schemeClr val="tx1"/>
                    </a:solidFill>
                    <a:effectLst/>
                    <a:latin typeface="Segoe WPC"/>
                  </a:rPr>
                  <a:t>Unexpected</a:t>
                </a:r>
                <a:r>
                  <a:rPr lang="es-PE" sz="900" b="1" i="0" dirty="0">
                    <a:solidFill>
                      <a:schemeClr val="tx1"/>
                    </a:solidFill>
                    <a:effectLst/>
                    <a:latin typeface="Segoe WPC"/>
                  </a:rPr>
                  <a:t> </a:t>
                </a:r>
                <a:r>
                  <a:rPr lang="es-PE" sz="900" b="1" i="0" dirty="0" err="1">
                    <a:solidFill>
                      <a:schemeClr val="tx1"/>
                    </a:solidFill>
                    <a:effectLst/>
                    <a:latin typeface="Segoe WPC"/>
                  </a:rPr>
                  <a:t>Loss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Dos componentes centrales de la pérdida crediticia.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pérdida esperada es el promedio; la inesperada es la desviación por encima de ese promedio.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es el centro de la distribución de pérdidas; UL es la cola que amenaza la solvencia del banco.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EL</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𝑃𝐷</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𝐿𝐺𝐷</m:t>
                    </m:r>
                    <m:r>
                      <a:rPr lang="es-PE" sz="900" b="0" i="0">
                        <a:solidFill>
                          <a:schemeClr val="tx1"/>
                        </a:solidFill>
                        <a:latin typeface="Cambria Math" panose="02040503050406030204" pitchFamily="18" charset="0"/>
                      </a:rPr>
                      <m:t>×</m:t>
                    </m:r>
                    <m:r>
                      <a:rPr lang="es-PE" sz="900" b="0" i="1">
                        <a:solidFill>
                          <a:schemeClr val="tx1"/>
                        </a:solidFill>
                        <a:latin typeface="Cambria Math" panose="02040503050406030204" pitchFamily="18" charset="0"/>
                      </a:rPr>
                      <m:t>𝐸𝐴𝐷</m:t>
                    </m:r>
                  </m:oMath>
                </a14:m>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UL</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Percentile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Loss</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EL</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EL entra en el precio del préstamo; UL determina cuánto capital debe mantener el banco.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UL no es simplemente la desviación estándar; en crédito suele medirse como cola extrema menos EL.</a:t>
                </a:r>
              </a:p>
              <a:p>
                <a:pPr algn="l">
                  <a:spcAft>
                    <a:spcPts val="600"/>
                  </a:spcAft>
                  <a:buNone/>
                </a:pPr>
                <a:r>
                  <a:rPr lang="es-PE" sz="900" b="1" i="0" dirty="0">
                    <a:solidFill>
                      <a:schemeClr val="tx1"/>
                    </a:solidFill>
                    <a:effectLst/>
                    <a:latin typeface="Segoe WPC"/>
                  </a:rPr>
                  <a:t>3. </a:t>
                </a:r>
                <a:r>
                  <a:rPr lang="es-PE" sz="900" b="1" i="0" dirty="0" err="1">
                    <a:solidFill>
                      <a:schemeClr val="tx1"/>
                    </a:solidFill>
                    <a:effectLst/>
                    <a:latin typeface="Segoe WPC"/>
                  </a:rPr>
                  <a:t>Dependence</a:t>
                </a:r>
                <a:r>
                  <a:rPr lang="es-PE" sz="900" b="1" i="0" dirty="0">
                    <a:solidFill>
                      <a:schemeClr val="tx1"/>
                    </a:solidFill>
                    <a:effectLst/>
                    <a:latin typeface="Segoe WPC"/>
                  </a:rPr>
                  <a:t> </a:t>
                </a:r>
                <a:r>
                  <a:rPr lang="es-PE" sz="900" b="1" i="0" dirty="0" err="1">
                    <a:solidFill>
                      <a:schemeClr val="tx1"/>
                    </a:solidFill>
                    <a:effectLst/>
                    <a:latin typeface="Segoe WPC"/>
                  </a:rPr>
                  <a:t>Among</a:t>
                </a:r>
                <a:r>
                  <a:rPr lang="es-PE" sz="900" b="1" i="0" dirty="0">
                    <a:solidFill>
                      <a:schemeClr val="tx1"/>
                    </a:solidFill>
                    <a:effectLst/>
                    <a:latin typeface="Segoe WPC"/>
                  </a:rPr>
                  <a:t> Defaults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Relación entre defaults de distintos préstamos dentro de un portafolio.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Los defaults no son independientes; en recesión tienden a subir todos juntos.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años buenos </a:t>
                </a:r>
                <a:r>
                  <a:rPr lang="es-PE" sz="900" b="0" i="0" dirty="0" err="1">
                    <a:solidFill>
                      <a:schemeClr val="tx1"/>
                    </a:solidFill>
                    <a:effectLst/>
                    <a:latin typeface="Segoe WPC"/>
                  </a:rPr>
                  <a:t>defaultan</a:t>
                </a:r>
                <a:r>
                  <a:rPr lang="es-PE" sz="900" b="0" i="0" dirty="0">
                    <a:solidFill>
                      <a:schemeClr val="tx1"/>
                    </a:solidFill>
                    <a:effectLst/>
                    <a:latin typeface="Segoe WPC"/>
                  </a:rPr>
                  <a:t> pocos prestatarios; en años malos muchas empresas fallan al mismo tiempo.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Si fueran independientes, </a:t>
                </a:r>
                <a14:m>
                  <m:oMath xmlns:m="http://schemas.openxmlformats.org/officeDocument/2006/math">
                    <m:r>
                      <m:rPr>
                        <m:nor/>
                      </m:rPr>
                      <a:rPr lang="es-PE" sz="900" b="0">
                        <a:solidFill>
                          <a:schemeClr val="tx1"/>
                        </a:solidFill>
                      </a:rPr>
                      <m:t>Var</m:t>
                    </m:r>
                    <m:d>
                      <m:dPr>
                        <m:ctrlPr>
                          <a:rPr lang="ar-AE" sz="900" b="0" i="1">
                            <a:solidFill>
                              <a:schemeClr val="tx1"/>
                            </a:solidFill>
                            <a:latin typeface="Cambria Math" panose="02040503050406030204" pitchFamily="18" charset="0"/>
                          </a:rPr>
                        </m:ctrlPr>
                      </m:dPr>
                      <m:e>
                        <m:r>
                          <m:rPr>
                            <m:nor/>
                          </m:rPr>
                          <a:rPr lang="es-PE" sz="900" b="0" i="1">
                            <a:solidFill>
                              <a:schemeClr val="tx1"/>
                            </a:solidFill>
                          </a:rPr>
                          <m:t>default</m:t>
                        </m:r>
                        <m:r>
                          <m:rPr>
                            <m:nor/>
                          </m:rPr>
                          <a:rPr lang="es-PE" sz="900" b="0" i="1">
                            <a:solidFill>
                              <a:schemeClr val="tx1"/>
                            </a:solidFill>
                          </a:rPr>
                          <m:t> </m:t>
                        </m:r>
                        <m:r>
                          <m:rPr>
                            <m:nor/>
                          </m:rPr>
                          <a:rPr lang="es-PE" sz="900" b="0" i="1">
                            <a:solidFill>
                              <a:schemeClr val="tx1"/>
                            </a:solidFill>
                          </a:rPr>
                          <m:t>rate</m:t>
                        </m:r>
                      </m:e>
                    </m:d>
                  </m:oMath>
                </a14:m>
                <a:r>
                  <a:rPr lang="ar-AE" sz="900" b="0" i="0" dirty="0">
                    <a:solidFill>
                      <a:schemeClr val="tx1"/>
                    </a:solidFill>
                    <a:effectLst/>
                    <a:latin typeface="Segoe WPC"/>
                  </a:rPr>
                  <a:t> </a:t>
                </a:r>
                <a:r>
                  <a:rPr lang="es-PE" sz="900" b="0" i="0" dirty="0">
                    <a:solidFill>
                      <a:schemeClr val="tx1"/>
                    </a:solidFill>
                    <a:effectLst/>
                    <a:latin typeface="Segoe WPC"/>
                  </a:rPr>
                  <a:t>sería muy baja; con dependencia aumenta mucho.</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 economía genera riesgo sistemático que no se diversifica completamente, por eso la tasa de default anual varía mucho de un año a otro.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Diversificar muchos préstamos reduce riesgo idiosincrático, pero no elimina el riesgo sistemático del ciclo económico.</a:t>
                </a:r>
              </a:p>
              <a:p>
                <a:pPr algn="l">
                  <a:spcAft>
                    <a:spcPts val="600"/>
                  </a:spcAft>
                  <a:buNone/>
                </a:pPr>
                <a:r>
                  <a:rPr lang="es-PE" sz="900" b="1" i="0" dirty="0">
                    <a:solidFill>
                      <a:schemeClr val="tx1"/>
                    </a:solidFill>
                    <a:effectLst/>
                    <a:latin typeface="Segoe WPC"/>
                  </a:rPr>
                  <a:t>4. Binomial </a:t>
                </a:r>
                <a:r>
                  <a:rPr lang="es-PE" sz="900" b="1" i="0" dirty="0" err="1">
                    <a:solidFill>
                      <a:schemeClr val="tx1"/>
                    </a:solidFill>
                    <a:effectLst/>
                    <a:latin typeface="Segoe WPC"/>
                  </a:rPr>
                  <a:t>Model</a:t>
                </a:r>
                <a:r>
                  <a:rPr lang="es-PE" sz="900" b="1" i="0" dirty="0">
                    <a:solidFill>
                      <a:schemeClr val="tx1"/>
                    </a:solidFill>
                    <a:effectLst/>
                    <a:latin typeface="Segoe WPC"/>
                  </a:rPr>
                  <a:t> </a:t>
                </a:r>
                <a:r>
                  <a:rPr lang="es-PE" sz="900" b="1" i="0" dirty="0" err="1">
                    <a:solidFill>
                      <a:schemeClr val="tx1"/>
                    </a:solidFill>
                    <a:effectLst/>
                    <a:latin typeface="Segoe WPC"/>
                  </a:rPr>
                  <a:t>for</a:t>
                </a:r>
                <a:r>
                  <a:rPr lang="es-PE" sz="900" b="1" i="0" dirty="0">
                    <a:solidFill>
                      <a:schemeClr val="tx1"/>
                    </a:solidFill>
                    <a:effectLst/>
                    <a:latin typeface="Segoe WPC"/>
                  </a:rPr>
                  <a:t> a Single Loan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Distribución de pérdida de un préstamo individual.</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 préstamo o no </a:t>
                </a:r>
                <a:r>
                  <a:rPr lang="es-PE" sz="900" b="0" i="0" dirty="0" err="1">
                    <a:solidFill>
                      <a:schemeClr val="tx1"/>
                    </a:solidFill>
                    <a:effectLst/>
                    <a:latin typeface="Segoe WPC"/>
                  </a:rPr>
                  <a:t>defaulta</a:t>
                </a:r>
                <a:r>
                  <a:rPr lang="es-PE" sz="900" b="0" i="0" dirty="0">
                    <a:solidFill>
                      <a:schemeClr val="tx1"/>
                    </a:solidFill>
                    <a:effectLst/>
                    <a:latin typeface="Segoe WPC"/>
                  </a:rPr>
                  <a:t> o no </a:t>
                </a:r>
                <a:r>
                  <a:rPr lang="es-PE" sz="900" b="0" i="0" dirty="0" err="1">
                    <a:solidFill>
                      <a:schemeClr val="tx1"/>
                    </a:solidFill>
                    <a:effectLst/>
                    <a:latin typeface="Segoe WPC"/>
                  </a:rPr>
                  <a:t>defaulta</a:t>
                </a:r>
                <a:r>
                  <a:rPr lang="es-PE" sz="900" b="0" i="0" dirty="0">
                    <a:solidFill>
                      <a:schemeClr val="tx1"/>
                    </a:solidFill>
                    <a:effectLst/>
                    <a:latin typeface="Segoe WPC"/>
                  </a:rPr>
                  <a:t>; por eso su pérdida sigue una distribución binomial simple.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Hay dos resultados: pérdida cero o pérdida igual a exposición por pérdida dado default.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𝐿</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𝐿</m:t>
                        </m:r>
                      </m:e>
                      <m:sub>
                        <m:r>
                          <a:rPr lang="ar-AE" sz="900" i="1">
                            <a:solidFill>
                              <a:schemeClr val="tx1"/>
                            </a:solidFill>
                            <a:latin typeface="Cambria Math" panose="02040503050406030204" pitchFamily="18" charset="0"/>
                          </a:rPr>
                          <m:t>𝑖</m:t>
                        </m:r>
                      </m:sub>
                    </m:sSub>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𝑖</m:t>
                            </m:r>
                          </m:sub>
                        </m:sSub>
                      </m:e>
                    </m:d>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 </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𝐿</m:t>
                        </m:r>
                      </m:e>
                      <m:sub>
                        <m:r>
                          <a:rPr lang="ar-AE" sz="900" i="1">
                            <a:solidFill>
                              <a:schemeClr val="tx1"/>
                            </a:solidFill>
                            <a:latin typeface="Cambria Math" panose="02040503050406030204" pitchFamily="18" charset="0"/>
                          </a:rPr>
                          <m:t>𝑖</m:t>
                        </m:r>
                      </m:sub>
                    </m:sSub>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𝑖</m:t>
                            </m:r>
                          </m:sub>
                        </m:sSub>
                      </m:e>
                    </m:d>
                    <m:rad>
                      <m:radPr>
                        <m:degHide m:val="on"/>
                        <m:ctrlPr>
                          <a:rPr lang="ar-AE" sz="900" i="1">
                            <a:solidFill>
                              <a:schemeClr val="tx1"/>
                            </a:solidFill>
                            <a:latin typeface="Cambria Math" panose="02040503050406030204" pitchFamily="18" charset="0"/>
                          </a:rPr>
                        </m:ctrlPr>
                      </m:radPr>
                      <m:deg/>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1">
                                <a:solidFill>
                                  <a:schemeClr val="tx1"/>
                                </a:solidFill>
                                <a:latin typeface="Cambria Math" panose="02040503050406030204" pitchFamily="18" charset="0"/>
                              </a:rPr>
                              <m:t>𝑖</m:t>
                            </m:r>
                          </m:sub>
                        </m:sSub>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1">
                                    <a:solidFill>
                                      <a:schemeClr val="tx1"/>
                                    </a:solidFill>
                                    <a:latin typeface="Cambria Math" panose="02040503050406030204" pitchFamily="18" charset="0"/>
                                  </a:rPr>
                                  <m:t>𝑖</m:t>
                                </m:r>
                              </m:sub>
                            </m:sSub>
                          </m:e>
                        </m:d>
                      </m:e>
                    </m:ra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𝐿</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a:solidFill>
                      <a:schemeClr val="tx1"/>
                    </a:solidFill>
                    <a:effectLst/>
                    <a:latin typeface="Segoe WPC"/>
                  </a:rPr>
                  <a:t>es la exposición,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a:solidFill>
                      <a:schemeClr val="tx1"/>
                    </a:solidFill>
                    <a:effectLst/>
                    <a:latin typeface="Segoe WPC"/>
                  </a:rPr>
                  <a:t>la </a:t>
                </a:r>
                <a:r>
                  <a:rPr lang="es-PE" sz="900" b="0" i="0" dirty="0" err="1">
                    <a:solidFill>
                      <a:schemeClr val="tx1"/>
                    </a:solidFill>
                    <a:effectLst/>
                    <a:latin typeface="Segoe WPC"/>
                  </a:rPr>
                  <a:t>recovery</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y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𝑝</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a:solidFill>
                      <a:schemeClr val="tx1"/>
                    </a:solidFill>
                    <a:effectLst/>
                    <a:latin typeface="Segoe WPC"/>
                  </a:rPr>
                  <a:t>la probabilidad de default.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La pérdida no es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𝐿</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a:solidFill>
                      <a:schemeClr val="tx1"/>
                    </a:solidFill>
                    <a:effectLst/>
                    <a:latin typeface="Segoe WPC"/>
                  </a:rPr>
                  <a:t>si hay recuperación; es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𝐿</m:t>
                        </m:r>
                      </m:e>
                      <m:sub>
                        <m:r>
                          <a:rPr lang="ar-AE" sz="900" i="1">
                            <a:solidFill>
                              <a:schemeClr val="tx1"/>
                            </a:solidFill>
                            <a:latin typeface="Cambria Math" panose="02040503050406030204" pitchFamily="18" charset="0"/>
                          </a:rPr>
                          <m:t>𝑖</m:t>
                        </m:r>
                      </m:sub>
                    </m:sSub>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𝑖</m:t>
                            </m:r>
                          </m:sub>
                        </m:sSub>
                      </m:e>
                    </m:d>
                  </m:oMath>
                </a14:m>
                <a:r>
                  <a:rPr lang="ar-AE" sz="900" b="0" i="0" dirty="0">
                    <a:solidFill>
                      <a:schemeClr val="tx1"/>
                    </a:solidFill>
                    <a:effectLst/>
                    <a:latin typeface="Segoe WPC"/>
                  </a:rPr>
                  <a:t>.</a:t>
                </a:r>
              </a:p>
              <a:p>
                <a:pPr algn="l">
                  <a:spcAft>
                    <a:spcPts val="600"/>
                  </a:spcAft>
                  <a:buNone/>
                </a:pPr>
                <a:r>
                  <a:rPr lang="ar-AE" sz="900" b="1" i="0" dirty="0">
                    <a:solidFill>
                      <a:schemeClr val="tx1"/>
                    </a:solidFill>
                    <a:effectLst/>
                    <a:latin typeface="Segoe WPC"/>
                  </a:rPr>
                  <a:t>5. </a:t>
                </a:r>
                <a:r>
                  <a:rPr lang="es-PE" sz="900" b="1" i="0" dirty="0">
                    <a:solidFill>
                      <a:schemeClr val="tx1"/>
                    </a:solidFill>
                    <a:effectLst/>
                    <a:latin typeface="Segoe WPC"/>
                  </a:rPr>
                  <a:t>Mean and Standard </a:t>
                </a:r>
                <a:r>
                  <a:rPr lang="es-PE" sz="900" b="1" i="0" dirty="0" err="1">
                    <a:solidFill>
                      <a:schemeClr val="tx1"/>
                    </a:solidFill>
                    <a:effectLst/>
                    <a:latin typeface="Segoe WPC"/>
                  </a:rPr>
                  <a:t>Deviation</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Portfolio </a:t>
                </a:r>
                <a:r>
                  <a:rPr lang="es-PE" sz="900" b="1" i="0" dirty="0" err="1">
                    <a:solidFill>
                      <a:schemeClr val="tx1"/>
                    </a:solidFill>
                    <a:effectLst/>
                    <a:latin typeface="Segoe WPC"/>
                  </a:rPr>
                  <a:t>Credit</a:t>
                </a:r>
                <a:r>
                  <a:rPr lang="es-PE" sz="900" b="1" i="0" dirty="0">
                    <a:solidFill>
                      <a:schemeClr val="tx1"/>
                    </a:solidFill>
                    <a:effectLst/>
                    <a:latin typeface="Segoe WPC"/>
                  </a:rPr>
                  <a:t> </a:t>
                </a:r>
                <a:r>
                  <a:rPr lang="es-PE" sz="900" b="1" i="0" dirty="0" err="1">
                    <a:solidFill>
                      <a:schemeClr val="tx1"/>
                    </a:solidFill>
                    <a:effectLst/>
                    <a:latin typeface="Segoe WPC"/>
                  </a:rPr>
                  <a:t>Losses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Agregación del riesgo de muchos préstamos.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pérdida esperada del portafolio suma las EL individuales; la volatilidad depende además de correlaciones.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Portafolios grandes son más estables solo si los préstamos no se mueven demasiado juntos.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𝐿</m:t>
                        </m:r>
                      </m:e>
                      <m:sub>
                        <m:r>
                          <a:rPr lang="ar-AE" sz="900" i="1">
                            <a:solidFill>
                              <a:schemeClr val="tx1"/>
                            </a:solidFill>
                            <a:latin typeface="Cambria Math" panose="02040503050406030204" pitchFamily="18" charset="0"/>
                          </a:rPr>
                          <m:t>𝑃</m:t>
                        </m:r>
                      </m:sub>
                    </m:sSub>
                    <m:r>
                      <a:rPr lang="ar-AE" sz="900" i="0">
                        <a:solidFill>
                          <a:schemeClr val="tx1"/>
                        </a:solidFill>
                        <a:latin typeface="Cambria Math" panose="02040503050406030204" pitchFamily="18" charset="0"/>
                      </a:rPr>
                      <m:t>=</m:t>
                    </m:r>
                    <m:nary>
                      <m:naryPr>
                        <m:chr m:val="∑"/>
                        <m:limLoc m:val="subSup"/>
                        <m:grow m:val="on"/>
                        <m:supHide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sub>
                      <m:sup/>
                      <m:e>
                        <m:r>
                          <a:rPr lang="ar-AE" sz="900" i="1">
                            <a:solidFill>
                              <a:schemeClr val="tx1"/>
                            </a:solidFill>
                            <a:latin typeface="Cambria Math" panose="02040503050406030204" pitchFamily="18" charset="0"/>
                          </a:rPr>
                          <m:t>𝐸</m:t>
                        </m:r>
                      </m:e>
                    </m:nary>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𝐿</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Si los defaults fueran independientes, las covarianzas caerían; con dependencia, la volatilidad de pérdidas sigue siendo material.</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sumes desviaciones estándar directamente; debes usar covarianzas o correlaciones.</a:t>
                </a:r>
              </a:p>
            </p:txBody>
          </p:sp>
        </mc:Choice>
        <mc:Fallback xmlns="">
          <p:sp>
            <p:nvSpPr>
              <p:cNvPr id="5" name="CuadroTexto 4">
                <a:extLst>
                  <a:ext uri="{FF2B5EF4-FFF2-40B4-BE49-F238E27FC236}">
                    <a16:creationId xmlns:a16="http://schemas.microsoft.com/office/drawing/2014/main" id="{45A01644-AE4D-B89A-19A4-1DCC1E386CDE}"/>
                  </a:ext>
                </a:extLst>
              </p:cNvPr>
              <p:cNvSpPr txBox="1">
                <a:spLocks noRot="1" noChangeAspect="1" noMove="1" noResize="1" noEditPoints="1" noAdjustHandles="1" noChangeArrowheads="1" noChangeShapeType="1" noTextEdit="1"/>
              </p:cNvSpPr>
              <p:nvPr/>
            </p:nvSpPr>
            <p:spPr>
              <a:xfrm>
                <a:off x="0" y="350802"/>
                <a:ext cx="6096000" cy="6384953"/>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C404595B-5460-17E7-F0C1-127A8DC51194}"/>
                  </a:ext>
                </a:extLst>
              </p:cNvPr>
              <p:cNvSpPr txBox="1"/>
              <p:nvPr/>
            </p:nvSpPr>
            <p:spPr>
              <a:xfrm>
                <a:off x="5856514" y="0"/>
                <a:ext cx="6335485" cy="7412927"/>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6. Gaussian Copula </a:t>
                </a:r>
                <a:r>
                  <a:rPr lang="es-PE" sz="900" b="1" i="0" dirty="0" err="1">
                    <a:solidFill>
                      <a:schemeClr val="tx1"/>
                    </a:solidFill>
                    <a:effectLst/>
                    <a:latin typeface="Segoe WPC"/>
                  </a:rPr>
                  <a:t>Model</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Modelo para introducir dependencia entre defaults usando variables latentes normales correlacionadas.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Cada prestatario </a:t>
                </a:r>
                <a:r>
                  <a:rPr lang="es-PE" sz="900" b="0" i="0" dirty="0" err="1">
                    <a:solidFill>
                      <a:schemeClr val="tx1"/>
                    </a:solidFill>
                    <a:effectLst/>
                    <a:latin typeface="Segoe WPC"/>
                  </a:rPr>
                  <a:t>defaulta</a:t>
                </a:r>
                <a:r>
                  <a:rPr lang="es-PE" sz="900" b="0" i="0" dirty="0">
                    <a:solidFill>
                      <a:schemeClr val="tx1"/>
                    </a:solidFill>
                    <a:effectLst/>
                    <a:latin typeface="Segoe WPC"/>
                  </a:rPr>
                  <a:t> cuando su “salud crediticia” cae por debajo de un umbral, y esas “saludes” están correlacionadas.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 factor común de economía empuja simultáneamente a muchas empresas hacia arriba o hacia abajo.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Default</m:t>
                    </m:r>
                    <m:r>
                      <m:rPr>
                        <m:nor/>
                      </m:rPr>
                      <a:rPr lang="es-PE" sz="900" b="0">
                        <a:solidFill>
                          <a:schemeClr val="tx1"/>
                        </a:solidFill>
                      </a:rPr>
                      <m:t> </m:t>
                    </m:r>
                    <m:r>
                      <m:rPr>
                        <m:nor/>
                      </m:rPr>
                      <a:rPr lang="es-PE" sz="900" b="0">
                        <a:solidFill>
                          <a:schemeClr val="tx1"/>
                        </a:solidFill>
                      </a:rPr>
                      <m:t>if</m:t>
                    </m:r>
                    <m:r>
                      <m:rPr>
                        <m:nor/>
                      </m:rPr>
                      <a:rPr lang="es-PE" sz="900" b="0">
                        <a:solidFill>
                          <a:schemeClr val="tx1"/>
                        </a:solidFill>
                      </a:rPr>
                      <m:t> </m:t>
                    </m:r>
                    <m:rad>
                      <m:radPr>
                        <m:degHide m:val="on"/>
                        <m:ctrlPr>
                          <a:rPr lang="ar-AE" sz="900" b="0" i="1">
                            <a:solidFill>
                              <a:schemeClr val="tx1"/>
                            </a:solidFill>
                            <a:latin typeface="Cambria Math" panose="02040503050406030204" pitchFamily="18" charset="0"/>
                          </a:rPr>
                        </m:ctrlPr>
                      </m:radPr>
                      <m:deg/>
                      <m:e>
                        <m:r>
                          <a:rPr lang="ar-AE" sz="900" b="0" i="1">
                            <a:solidFill>
                              <a:schemeClr val="tx1"/>
                            </a:solidFill>
                            <a:latin typeface="Cambria Math" panose="02040503050406030204" pitchFamily="18" charset="0"/>
                          </a:rPr>
                          <m:t>𝜌</m:t>
                        </m:r>
                      </m:e>
                    </m:rad>
                    <m:r>
                      <m:rPr>
                        <m:nor/>
                      </m:rPr>
                      <a:rPr lang="ar-AE" sz="900" b="0" i="1">
                        <a:solidFill>
                          <a:schemeClr val="tx1"/>
                        </a:solidFill>
                        <a:latin typeface="Cambria Math" panose="02040503050406030204" pitchFamily="18" charset="0"/>
                      </a:rPr>
                      <m:t> </m:t>
                    </m:r>
                    <m:r>
                      <a:rPr lang="ar-AE" sz="900" b="0" i="1">
                        <a:solidFill>
                          <a:schemeClr val="tx1"/>
                        </a:solidFill>
                        <a:latin typeface="Cambria Math" panose="02040503050406030204" pitchFamily="18" charset="0"/>
                      </a:rPr>
                      <m:t>𝑀</m:t>
                    </m:r>
                    <m:r>
                      <a:rPr lang="ar-AE" sz="900" b="0" i="0">
                        <a:solidFill>
                          <a:schemeClr val="tx1"/>
                        </a:solidFill>
                        <a:latin typeface="Cambria Math" panose="02040503050406030204" pitchFamily="18" charset="0"/>
                      </a:rPr>
                      <m:t>+</m:t>
                    </m:r>
                    <m:rad>
                      <m:radPr>
                        <m:degHide m:val="on"/>
                        <m:ctrlPr>
                          <a:rPr lang="ar-AE" sz="900" b="0" i="1">
                            <a:solidFill>
                              <a:schemeClr val="tx1"/>
                            </a:solidFill>
                            <a:latin typeface="Cambria Math" panose="02040503050406030204" pitchFamily="18" charset="0"/>
                          </a:rPr>
                        </m:ctrlPr>
                      </m:radPr>
                      <m:deg/>
                      <m:e>
                        <m:r>
                          <a:rPr lang="ar-AE" sz="900" b="0" i="0">
                            <a:solidFill>
                              <a:schemeClr val="tx1"/>
                            </a:solidFill>
                            <a:latin typeface="Cambria Math" panose="02040503050406030204" pitchFamily="18" charset="0"/>
                          </a:rPr>
                          <m:t>1</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𝜌</m:t>
                        </m:r>
                      </m:e>
                    </m:rad>
                    <m:r>
                      <m:rPr>
                        <m:nor/>
                      </m:rPr>
                      <a:rPr lang="ar-AE" sz="900" b="0" i="1">
                        <a:solidFill>
                          <a:schemeClr val="tx1"/>
                        </a:solidFill>
                        <a:latin typeface="Cambria Math" panose="02040503050406030204" pitchFamily="18" charset="0"/>
                      </a:rPr>
                      <m:t> </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𝑍</m:t>
                        </m:r>
                      </m:e>
                      <m:sub>
                        <m:r>
                          <a:rPr lang="ar-AE" sz="900" b="0" i="1">
                            <a:solidFill>
                              <a:schemeClr val="tx1"/>
                            </a:solidFill>
                            <a:latin typeface="Cambria Math" panose="02040503050406030204" pitchFamily="18" charset="0"/>
                          </a:rPr>
                          <m:t>𝑖</m:t>
                        </m:r>
                      </m:sub>
                    </m:sSub>
                    <m:r>
                      <a:rPr lang="ar-AE" sz="900" b="0" i="0">
                        <a:solidFill>
                          <a:schemeClr val="tx1"/>
                        </a:solidFill>
                        <a:latin typeface="Cambria Math" panose="02040503050406030204" pitchFamily="18" charset="0"/>
                      </a:rPr>
                      <m:t>&lt;</m:t>
                    </m:r>
                    <m:sSup>
                      <m:sSupPr>
                        <m:ctrlPr>
                          <a:rPr lang="ar-AE" sz="900" b="0" i="1">
                            <a:solidFill>
                              <a:schemeClr val="tx1"/>
                            </a:solidFill>
                            <a:latin typeface="Cambria Math" panose="02040503050406030204" pitchFamily="18" charset="0"/>
                          </a:rPr>
                        </m:ctrlPr>
                      </m:sSupPr>
                      <m:e>
                        <m:r>
                          <a:rPr lang="ar-AE" sz="900" b="0" i="1">
                            <a:solidFill>
                              <a:schemeClr val="tx1"/>
                            </a:solidFill>
                            <a:latin typeface="Cambria Math" panose="02040503050406030204" pitchFamily="18" charset="0"/>
                          </a:rPr>
                          <m:t>𝑁</m:t>
                        </m:r>
                      </m:e>
                      <m:sup>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1</m:t>
                        </m:r>
                      </m:sup>
                    </m:sSup>
                    <m:d>
                      <m:dPr>
                        <m:ctrlPr>
                          <a:rPr lang="ar-AE" sz="900" b="0" i="1">
                            <a:solidFill>
                              <a:schemeClr val="tx1"/>
                            </a:solidFill>
                            <a:latin typeface="Cambria Math" panose="02040503050406030204" pitchFamily="18" charset="0"/>
                          </a:rPr>
                        </m:ctrlPr>
                      </m:dPr>
                      <m:e>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𝑝</m:t>
                            </m:r>
                          </m:e>
                          <m:sub>
                            <m:r>
                              <a:rPr lang="ar-AE" sz="900" b="0" i="1">
                                <a:solidFill>
                                  <a:schemeClr val="tx1"/>
                                </a:solidFill>
                                <a:latin typeface="Cambria Math" panose="02040503050406030204" pitchFamily="18" charset="0"/>
                              </a:rPr>
                              <m:t>𝑖</m:t>
                            </m:r>
                          </m:sub>
                        </m:sSub>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𝑀</m:t>
                    </m:r>
                  </m:oMath>
                </a14:m>
                <a:r>
                  <a:rPr lang="es-PE" sz="900" b="0" i="0" dirty="0">
                    <a:solidFill>
                      <a:schemeClr val="tx1"/>
                    </a:solidFill>
                    <a:effectLst/>
                    <a:latin typeface="Segoe WPC"/>
                  </a:rPr>
                  <a:t> es el factor sistémico,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𝑍</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a:solidFill>
                      <a:schemeClr val="tx1"/>
                    </a:solidFill>
                    <a:effectLst/>
                    <a:latin typeface="Segoe WPC"/>
                  </a:rPr>
                  <a:t>el factor idiosincrático y </a:t>
                </a:r>
                <a14:m>
                  <m:oMath xmlns:m="http://schemas.openxmlformats.org/officeDocument/2006/math">
                    <m:r>
                      <a:rPr lang="es-PE" sz="900" i="1">
                        <a:solidFill>
                          <a:schemeClr val="tx1"/>
                        </a:solidFill>
                        <a:latin typeface="Cambria Math" panose="02040503050406030204" pitchFamily="18" charset="0"/>
                      </a:rPr>
                      <m:t>𝜌</m:t>
                    </m:r>
                  </m:oMath>
                </a14:m>
                <a:r>
                  <a:rPr lang="es-PE" sz="900" b="0" i="0" dirty="0">
                    <a:solidFill>
                      <a:schemeClr val="tx1"/>
                    </a:solidFill>
                    <a:effectLst/>
                    <a:latin typeface="Segoe WPC"/>
                  </a:rPr>
                  <a:t> controla cuánto dependen los defaults del ciclo común.</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La cópula no te da directamente EL; su valor está en modelar dependencia conjunta entre defaults.</a:t>
                </a:r>
              </a:p>
              <a:p>
                <a:pPr algn="l">
                  <a:spcAft>
                    <a:spcPts val="600"/>
                  </a:spcAft>
                  <a:buNone/>
                </a:pPr>
                <a:r>
                  <a:rPr lang="es-PE" sz="900" b="1" i="0" dirty="0">
                    <a:solidFill>
                      <a:schemeClr val="tx1"/>
                    </a:solidFill>
                    <a:effectLst/>
                    <a:latin typeface="Segoe WPC"/>
                  </a:rPr>
                  <a:t>7. </a:t>
                </a:r>
                <a:r>
                  <a:rPr lang="es-PE" sz="900" b="1" i="0" dirty="0" err="1">
                    <a:solidFill>
                      <a:schemeClr val="tx1"/>
                    </a:solidFill>
                    <a:effectLst/>
                    <a:latin typeface="Segoe WPC"/>
                  </a:rPr>
                  <a:t>Vasicek</a:t>
                </a:r>
                <a:r>
                  <a:rPr lang="es-PE" sz="900" b="1" i="0" dirty="0">
                    <a:solidFill>
                      <a:schemeClr val="tx1"/>
                    </a:solidFill>
                    <a:effectLst/>
                    <a:latin typeface="Segoe WPC"/>
                  </a:rPr>
                  <a:t> </a:t>
                </a:r>
                <a:r>
                  <a:rPr lang="es-PE" sz="900" b="1" i="0" dirty="0" err="1">
                    <a:solidFill>
                      <a:schemeClr val="tx1"/>
                    </a:solidFill>
                    <a:effectLst/>
                    <a:latin typeface="Segoe WPC"/>
                  </a:rPr>
                  <a:t>Model</a:t>
                </a:r>
                <a:r>
                  <a:rPr lang="es-PE" sz="900" b="1" i="0" dirty="0">
                    <a:solidFill>
                      <a:schemeClr val="tx1"/>
                    </a:solidFill>
                    <a:effectLst/>
                    <a:latin typeface="Segoe WPC"/>
                  </a:rPr>
                  <a:t> and </a:t>
                </a:r>
                <a:r>
                  <a:rPr lang="es-PE" sz="900" b="1" i="0" dirty="0" err="1">
                    <a:solidFill>
                      <a:schemeClr val="tx1"/>
                    </a:solidFill>
                    <a:effectLst/>
                    <a:latin typeface="Segoe WPC"/>
                  </a:rPr>
                  <a:t>Regulatory</a:t>
                </a:r>
                <a:r>
                  <a:rPr lang="es-PE" sz="900" b="1" i="0" dirty="0">
                    <a:solidFill>
                      <a:schemeClr val="tx1"/>
                    </a:solidFill>
                    <a:effectLst/>
                    <a:latin typeface="Segoe WPC"/>
                  </a:rPr>
                  <a:t> Capital</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Modelo de un factor usado por Basilea para estimar pérdidas extremas de un portafolio granular.</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conoces el </a:t>
                </a:r>
                <a14:m>
                  <m:oMath xmlns:m="http://schemas.openxmlformats.org/officeDocument/2006/math">
                    <m:r>
                      <a:rPr lang="es-PE" sz="900" i="1">
                        <a:solidFill>
                          <a:schemeClr val="tx1"/>
                        </a:solidFill>
                        <a:latin typeface="Cambria Math" panose="02040503050406030204" pitchFamily="18" charset="0"/>
                      </a:rPr>
                      <m:t>𝑃𝐷</m:t>
                    </m:r>
                  </m:oMath>
                </a14:m>
                <a:r>
                  <a:rPr lang="es-PE" sz="900" b="0" i="0" dirty="0">
                    <a:solidFill>
                      <a:schemeClr val="tx1"/>
                    </a:solidFill>
                    <a:effectLst/>
                    <a:latin typeface="Segoe WPC"/>
                  </a:rPr>
                  <a:t> y la correlación con el factor sistémico, puedes estimar una tasa de default extrema para un percentil alto.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un mal estado de la economía, el default </a:t>
                </a:r>
                <a:r>
                  <a:rPr lang="es-PE" sz="900" b="0" i="0" dirty="0" err="1">
                    <a:solidFill>
                      <a:schemeClr val="tx1"/>
                    </a:solidFill>
                    <a:effectLst/>
                    <a:latin typeface="Segoe WPC"/>
                  </a:rPr>
                  <a:t>rate</a:t>
                </a:r>
                <a:r>
                  <a:rPr lang="es-PE" sz="900" b="0" i="0" dirty="0">
                    <a:solidFill>
                      <a:schemeClr val="tx1"/>
                    </a:solidFill>
                    <a:effectLst/>
                    <a:latin typeface="Segoe WPC"/>
                  </a:rPr>
                  <a:t> del portafolio se dispara por encima del promedio.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𝑃𝐷</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𝑦</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𝑁</m:t>
                    </m:r>
                    <m:r>
                      <m:rPr>
                        <m:nor/>
                      </m:rPr>
                      <a:rPr lang="ar-AE" sz="900" b="0" i="1">
                        <a:solidFill>
                          <a:schemeClr val="tx1"/>
                        </a:solidFill>
                        <a:latin typeface="Cambria Math" panose="02040503050406030204" pitchFamily="18" charset="0"/>
                      </a:rPr>
                      <m:t> </m:t>
                    </m:r>
                    <m:r>
                      <m:rPr>
                        <m:nor/>
                      </m:rPr>
                      <a:rPr lang="ar-AE" sz="900" b="0" i="1">
                        <a:solidFill>
                          <a:schemeClr val="tx1"/>
                        </a:solidFill>
                        <a:latin typeface="Cambria Math" panose="02040503050406030204" pitchFamily="18" charset="0"/>
                      </a:rPr>
                      <m:t>⁣</m:t>
                    </m:r>
                    <m:d>
                      <m:dPr>
                        <m:ctrlPr>
                          <a:rPr lang="ar-AE" sz="900" b="0" i="1">
                            <a:solidFill>
                              <a:schemeClr val="tx1"/>
                            </a:solidFill>
                            <a:latin typeface="Cambria Math" panose="02040503050406030204" pitchFamily="18" charset="0"/>
                          </a:rPr>
                        </m:ctrlPr>
                      </m:dPr>
                      <m:e>
                        <m:f>
                          <m:fPr>
                            <m:ctrlPr>
                              <a:rPr lang="ar-AE" sz="900" b="0" i="1">
                                <a:solidFill>
                                  <a:schemeClr val="tx1"/>
                                </a:solidFill>
                                <a:latin typeface="Cambria Math" panose="02040503050406030204" pitchFamily="18" charset="0"/>
                              </a:rPr>
                            </m:ctrlPr>
                          </m:fPr>
                          <m:num>
                            <m:sSup>
                              <m:sSupPr>
                                <m:ctrlPr>
                                  <a:rPr lang="ar-AE" sz="900" b="0" i="1">
                                    <a:solidFill>
                                      <a:schemeClr val="tx1"/>
                                    </a:solidFill>
                                    <a:latin typeface="Cambria Math" panose="02040503050406030204" pitchFamily="18" charset="0"/>
                                  </a:rPr>
                                </m:ctrlPr>
                              </m:sSupPr>
                              <m:e>
                                <m:r>
                                  <a:rPr lang="ar-AE" sz="900" b="0" i="1">
                                    <a:solidFill>
                                      <a:schemeClr val="tx1"/>
                                    </a:solidFill>
                                    <a:latin typeface="Cambria Math" panose="02040503050406030204" pitchFamily="18" charset="0"/>
                                  </a:rPr>
                                  <m:t>𝑁</m:t>
                                </m:r>
                              </m:e>
                              <m:sup>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1</m:t>
                                </m:r>
                              </m:sup>
                            </m:sSup>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𝑝</m:t>
                                </m:r>
                              </m:e>
                            </m:d>
                            <m:r>
                              <a:rPr lang="ar-AE" sz="900" b="0" i="0">
                                <a:solidFill>
                                  <a:schemeClr val="tx1"/>
                                </a:solidFill>
                                <a:latin typeface="Cambria Math" panose="02040503050406030204" pitchFamily="18" charset="0"/>
                              </a:rPr>
                              <m:t>−</m:t>
                            </m:r>
                            <m:rad>
                              <m:radPr>
                                <m:degHide m:val="on"/>
                                <m:ctrlPr>
                                  <a:rPr lang="ar-AE" sz="900" b="0" i="1">
                                    <a:solidFill>
                                      <a:schemeClr val="tx1"/>
                                    </a:solidFill>
                                    <a:latin typeface="Cambria Math" panose="02040503050406030204" pitchFamily="18" charset="0"/>
                                  </a:rPr>
                                </m:ctrlPr>
                              </m:radPr>
                              <m:deg/>
                              <m:e>
                                <m:r>
                                  <a:rPr lang="ar-AE" sz="900" b="0" i="1">
                                    <a:solidFill>
                                      <a:schemeClr val="tx1"/>
                                    </a:solidFill>
                                    <a:latin typeface="Cambria Math" panose="02040503050406030204" pitchFamily="18" charset="0"/>
                                  </a:rPr>
                                  <m:t>𝜌</m:t>
                                </m:r>
                              </m:e>
                            </m:rad>
                            <m:r>
                              <m:rPr>
                                <m:nor/>
                              </m:rPr>
                              <a:rPr lang="ar-AE" sz="900" b="0" i="1">
                                <a:solidFill>
                                  <a:schemeClr val="tx1"/>
                                </a:solidFill>
                                <a:latin typeface="Cambria Math" panose="02040503050406030204" pitchFamily="18" charset="0"/>
                              </a:rPr>
                              <m:t> </m:t>
                            </m:r>
                            <m:r>
                              <a:rPr lang="ar-AE" sz="900" b="0" i="1">
                                <a:solidFill>
                                  <a:schemeClr val="tx1"/>
                                </a:solidFill>
                                <a:latin typeface="Cambria Math" panose="02040503050406030204" pitchFamily="18" charset="0"/>
                              </a:rPr>
                              <m:t>𝑦</m:t>
                            </m:r>
                          </m:num>
                          <m:den>
                            <m:rad>
                              <m:radPr>
                                <m:degHide m:val="on"/>
                                <m:ctrlPr>
                                  <a:rPr lang="ar-AE" sz="900" b="0" i="1">
                                    <a:solidFill>
                                      <a:schemeClr val="tx1"/>
                                    </a:solidFill>
                                    <a:latin typeface="Cambria Math" panose="02040503050406030204" pitchFamily="18" charset="0"/>
                                  </a:rPr>
                                </m:ctrlPr>
                              </m:radPr>
                              <m:deg/>
                              <m:e>
                                <m:r>
                                  <a:rPr lang="ar-AE" sz="900" b="0" i="0">
                                    <a:solidFill>
                                      <a:schemeClr val="tx1"/>
                                    </a:solidFill>
                                    <a:latin typeface="Cambria Math" panose="02040503050406030204" pitchFamily="18" charset="0"/>
                                  </a:rPr>
                                  <m:t>1</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𝜌</m:t>
                                </m:r>
                              </m:e>
                            </m:rad>
                          </m:den>
                        </m:f>
                      </m:e>
                    </m:d>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 </m:t>
                    </m:r>
                    <m:r>
                      <a:rPr lang="ar-AE" sz="900" i="1">
                        <a:solidFill>
                          <a:schemeClr val="tx1"/>
                        </a:solidFill>
                        <a:latin typeface="Cambria Math" panose="02040503050406030204" pitchFamily="18" charset="0"/>
                      </a:rPr>
                      <m:t>𝐷</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𝑋</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𝑁</m:t>
                    </m:r>
                    <m:r>
                      <m:rPr>
                        <m:nor/>
                      </m:rPr>
                      <a:rPr lang="ar-AE" sz="900" b="0" i="1">
                        <a:solidFill>
                          <a:schemeClr val="tx1"/>
                        </a:solidFill>
                        <a:latin typeface="Cambria Math" panose="02040503050406030204" pitchFamily="18" charset="0"/>
                      </a:rPr>
                      <m:t> </m:t>
                    </m:r>
                    <m:r>
                      <m:rPr>
                        <m:nor/>
                      </m:rPr>
                      <a:rPr lang="ar-AE" sz="900" b="0" i="1">
                        <a:solidFill>
                          <a:schemeClr val="tx1"/>
                        </a:solidFill>
                        <a:latin typeface="Cambria Math" panose="02040503050406030204" pitchFamily="18" charset="0"/>
                      </a:rPr>
                      <m:t>⁣</m:t>
                    </m:r>
                    <m:d>
                      <m:dPr>
                        <m:ctrlPr>
                          <a:rPr lang="ar-AE" sz="900" b="0" i="1">
                            <a:solidFill>
                              <a:schemeClr val="tx1"/>
                            </a:solidFill>
                            <a:latin typeface="Cambria Math" panose="02040503050406030204" pitchFamily="18" charset="0"/>
                          </a:rPr>
                        </m:ctrlPr>
                      </m:dPr>
                      <m:e>
                        <m:f>
                          <m:fPr>
                            <m:ctrlPr>
                              <a:rPr lang="ar-AE" sz="900" b="0" i="1">
                                <a:solidFill>
                                  <a:schemeClr val="tx1"/>
                                </a:solidFill>
                                <a:latin typeface="Cambria Math" panose="02040503050406030204" pitchFamily="18" charset="0"/>
                              </a:rPr>
                            </m:ctrlPr>
                          </m:fPr>
                          <m:num>
                            <m:sSup>
                              <m:sSupPr>
                                <m:ctrlPr>
                                  <a:rPr lang="ar-AE" sz="900" b="0" i="1">
                                    <a:solidFill>
                                      <a:schemeClr val="tx1"/>
                                    </a:solidFill>
                                    <a:latin typeface="Cambria Math" panose="02040503050406030204" pitchFamily="18" charset="0"/>
                                  </a:rPr>
                                </m:ctrlPr>
                              </m:sSupPr>
                              <m:e>
                                <m:r>
                                  <a:rPr lang="ar-AE" sz="900" b="0" i="1">
                                    <a:solidFill>
                                      <a:schemeClr val="tx1"/>
                                    </a:solidFill>
                                    <a:latin typeface="Cambria Math" panose="02040503050406030204" pitchFamily="18" charset="0"/>
                                  </a:rPr>
                                  <m:t>𝑁</m:t>
                                </m:r>
                              </m:e>
                              <m:sup>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1</m:t>
                                </m:r>
                              </m:sup>
                            </m:sSup>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𝑝</m:t>
                                </m:r>
                              </m:e>
                            </m:d>
                            <m:r>
                              <a:rPr lang="ar-AE" sz="900" b="0" i="0">
                                <a:solidFill>
                                  <a:schemeClr val="tx1"/>
                                </a:solidFill>
                                <a:latin typeface="Cambria Math" panose="02040503050406030204" pitchFamily="18" charset="0"/>
                              </a:rPr>
                              <m:t>+</m:t>
                            </m:r>
                            <m:rad>
                              <m:radPr>
                                <m:degHide m:val="on"/>
                                <m:ctrlPr>
                                  <a:rPr lang="ar-AE" sz="900" b="0" i="1">
                                    <a:solidFill>
                                      <a:schemeClr val="tx1"/>
                                    </a:solidFill>
                                    <a:latin typeface="Cambria Math" panose="02040503050406030204" pitchFamily="18" charset="0"/>
                                  </a:rPr>
                                </m:ctrlPr>
                              </m:radPr>
                              <m:deg/>
                              <m:e>
                                <m:r>
                                  <a:rPr lang="ar-AE" sz="900" b="0" i="1">
                                    <a:solidFill>
                                      <a:schemeClr val="tx1"/>
                                    </a:solidFill>
                                    <a:latin typeface="Cambria Math" panose="02040503050406030204" pitchFamily="18" charset="0"/>
                                  </a:rPr>
                                  <m:t>𝜌</m:t>
                                </m:r>
                              </m:e>
                            </m:rad>
                            <m:r>
                              <m:rPr>
                                <m:nor/>
                              </m:rPr>
                              <a:rPr lang="ar-AE" sz="900" b="0" i="1">
                                <a:solidFill>
                                  <a:schemeClr val="tx1"/>
                                </a:solidFill>
                                <a:latin typeface="Cambria Math" panose="02040503050406030204" pitchFamily="18" charset="0"/>
                              </a:rPr>
                              <m:t> </m:t>
                            </m:r>
                            <m:sSup>
                              <m:sSupPr>
                                <m:ctrlPr>
                                  <a:rPr lang="ar-AE" sz="900" b="0" i="1">
                                    <a:solidFill>
                                      <a:schemeClr val="tx1"/>
                                    </a:solidFill>
                                    <a:latin typeface="Cambria Math" panose="02040503050406030204" pitchFamily="18" charset="0"/>
                                  </a:rPr>
                                </m:ctrlPr>
                              </m:sSupPr>
                              <m:e>
                                <m:r>
                                  <a:rPr lang="ar-AE" sz="900" b="0" i="1">
                                    <a:solidFill>
                                      <a:schemeClr val="tx1"/>
                                    </a:solidFill>
                                    <a:latin typeface="Cambria Math" panose="02040503050406030204" pitchFamily="18" charset="0"/>
                                  </a:rPr>
                                  <m:t>𝑁</m:t>
                                </m:r>
                              </m:e>
                              <m:sup>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1</m:t>
                                </m:r>
                              </m:sup>
                            </m:sSup>
                            <m:d>
                              <m:dPr>
                                <m:ctrlPr>
                                  <a:rPr lang="ar-AE" sz="900" b="0" i="1">
                                    <a:solidFill>
                                      <a:schemeClr val="tx1"/>
                                    </a:solidFill>
                                    <a:latin typeface="Cambria Math" panose="02040503050406030204" pitchFamily="18" charset="0"/>
                                  </a:rPr>
                                </m:ctrlPr>
                              </m:dPr>
                              <m:e>
                                <m:r>
                                  <a:rPr lang="ar-AE" sz="900" b="0" i="1">
                                    <a:solidFill>
                                      <a:schemeClr val="tx1"/>
                                    </a:solidFill>
                                    <a:latin typeface="Cambria Math" panose="02040503050406030204" pitchFamily="18" charset="0"/>
                                  </a:rPr>
                                  <m:t>𝑋</m:t>
                                </m:r>
                              </m:e>
                            </m:d>
                          </m:num>
                          <m:den>
                            <m:rad>
                              <m:radPr>
                                <m:degHide m:val="on"/>
                                <m:ctrlPr>
                                  <a:rPr lang="ar-AE" sz="900" b="0" i="1">
                                    <a:solidFill>
                                      <a:schemeClr val="tx1"/>
                                    </a:solidFill>
                                    <a:latin typeface="Cambria Math" panose="02040503050406030204" pitchFamily="18" charset="0"/>
                                  </a:rPr>
                                </m:ctrlPr>
                              </m:radPr>
                              <m:deg/>
                              <m:e>
                                <m:r>
                                  <a:rPr lang="ar-AE" sz="900" b="0" i="0">
                                    <a:solidFill>
                                      <a:schemeClr val="tx1"/>
                                    </a:solidFill>
                                    <a:latin typeface="Cambria Math" panose="02040503050406030204" pitchFamily="18" charset="0"/>
                                  </a:rPr>
                                  <m:t>1</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𝜌</m:t>
                                </m:r>
                              </m:e>
                            </m:rad>
                          </m:den>
                        </m:f>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El modelo transforma </a:t>
                </a:r>
                <a14:m>
                  <m:oMath xmlns:m="http://schemas.openxmlformats.org/officeDocument/2006/math">
                    <m:r>
                      <a:rPr lang="es-PE" sz="900" i="1">
                        <a:solidFill>
                          <a:schemeClr val="tx1"/>
                        </a:solidFill>
                        <a:latin typeface="Cambria Math" panose="02040503050406030204" pitchFamily="18" charset="0"/>
                      </a:rPr>
                      <m:t>𝑃𝐷</m:t>
                    </m:r>
                  </m:oMath>
                </a14:m>
                <a:r>
                  <a:rPr lang="es-PE" sz="900" b="0" i="0" dirty="0">
                    <a:solidFill>
                      <a:schemeClr val="tx1"/>
                    </a:solidFill>
                    <a:effectLst/>
                    <a:latin typeface="Segoe WPC"/>
                  </a:rPr>
                  <a:t> promedio en una tasa de default de cola, que luego se convierte en pérdida extrema y capital regulatorio.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El modelo </a:t>
                </a:r>
                <a:r>
                  <a:rPr lang="es-PE" sz="900" b="0" i="0" dirty="0" err="1">
                    <a:solidFill>
                      <a:schemeClr val="tx1"/>
                    </a:solidFill>
                    <a:effectLst/>
                    <a:latin typeface="Segoe WPC"/>
                  </a:rPr>
                  <a:t>Vasicek</a:t>
                </a:r>
                <a:r>
                  <a:rPr lang="es-PE" sz="900" b="0" i="0" dirty="0">
                    <a:solidFill>
                      <a:schemeClr val="tx1"/>
                    </a:solidFill>
                    <a:effectLst/>
                    <a:latin typeface="Segoe WPC"/>
                  </a:rPr>
                  <a:t> funciona mejor para portafolios muy grandes y </a:t>
                </a:r>
                <a:r>
                  <a:rPr lang="es-PE" sz="900" b="0" i="0" dirty="0" err="1">
                    <a:solidFill>
                      <a:schemeClr val="tx1"/>
                    </a:solidFill>
                    <a:effectLst/>
                    <a:latin typeface="Segoe WPC"/>
                  </a:rPr>
                  <a:t>granularizados</a:t>
                </a:r>
                <a:r>
                  <a:rPr lang="es-PE" sz="900" b="0" i="0" dirty="0">
                    <a:solidFill>
                      <a:schemeClr val="tx1"/>
                    </a:solidFill>
                    <a:effectLst/>
                    <a:latin typeface="Segoe WPC"/>
                  </a:rPr>
                  <a:t>; no captura bien concentración por sí solo.</a:t>
                </a:r>
              </a:p>
              <a:p>
                <a:pPr algn="l">
                  <a:spcAft>
                    <a:spcPts val="600"/>
                  </a:spcAft>
                  <a:buNone/>
                </a:pPr>
                <a:r>
                  <a:rPr lang="es-PE" sz="900" b="1" i="0" dirty="0">
                    <a:solidFill>
                      <a:schemeClr val="tx1"/>
                    </a:solidFill>
                    <a:effectLst/>
                    <a:latin typeface="Segoe WPC"/>
                  </a:rPr>
                  <a:t>8. </a:t>
                </a:r>
                <a:r>
                  <a:rPr lang="es-PE" sz="900" b="1" i="0" dirty="0" err="1">
                    <a:solidFill>
                      <a:schemeClr val="tx1"/>
                    </a:solidFill>
                    <a:effectLst/>
                    <a:latin typeface="Segoe WPC"/>
                  </a:rPr>
                  <a:t>CreditMetrics</a:t>
                </a:r>
                <a:r>
                  <a:rPr lang="es-PE" sz="900" b="1" i="0" dirty="0">
                    <a:solidFill>
                      <a:schemeClr val="tx1"/>
                    </a:solidFill>
                    <a:effectLst/>
                    <a:latin typeface="Segoe WPC"/>
                  </a:rPr>
                  <a:t> and </a:t>
                </a:r>
                <a:r>
                  <a:rPr lang="es-PE" sz="900" b="1" i="0" dirty="0" err="1">
                    <a:solidFill>
                      <a:schemeClr val="tx1"/>
                    </a:solidFill>
                    <a:effectLst/>
                    <a:latin typeface="Segoe WPC"/>
                  </a:rPr>
                  <a:t>Economic</a:t>
                </a:r>
                <a:r>
                  <a:rPr lang="es-PE" sz="900" b="1" i="0" dirty="0">
                    <a:solidFill>
                      <a:schemeClr val="tx1"/>
                    </a:solidFill>
                    <a:effectLst/>
                    <a:latin typeface="Segoe WPC"/>
                  </a:rPr>
                  <a:t> Capital</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Modelo usado por bancos para estimar capital económico considerando migraciones de rating y default.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 préstamo puede perder valor no solo por default, sino también por </a:t>
                </a:r>
                <a:r>
                  <a:rPr lang="es-PE" sz="900" b="0" i="0" dirty="0" err="1">
                    <a:solidFill>
                      <a:schemeClr val="tx1"/>
                    </a:solidFill>
                    <a:effectLst/>
                    <a:latin typeface="Segoe WPC"/>
                  </a:rPr>
                  <a:t>downgrade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CreditMetrics</a:t>
                </a:r>
                <a:r>
                  <a:rPr lang="es-PE" sz="900" b="0" i="0" dirty="0">
                    <a:solidFill>
                      <a:schemeClr val="tx1"/>
                    </a:solidFill>
                    <a:effectLst/>
                    <a:latin typeface="Segoe WPC"/>
                  </a:rPr>
                  <a:t> genera una distribución del valor futuro del portafolio según posibles transiciones de rating.</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Economic</m:t>
                    </m:r>
                    <m:r>
                      <m:rPr>
                        <m:nor/>
                      </m:rPr>
                      <a:rPr lang="es-PE" sz="900" b="0">
                        <a:solidFill>
                          <a:schemeClr val="tx1"/>
                        </a:solidFill>
                      </a:rPr>
                      <m:t> </m:t>
                    </m:r>
                    <m:r>
                      <m:rPr>
                        <m:nor/>
                      </m:rPr>
                      <a:rPr lang="es-PE" sz="900" b="0">
                        <a:solidFill>
                          <a:schemeClr val="tx1"/>
                        </a:solidFill>
                      </a:rPr>
                      <m:t>Capital</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Portfolio</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VaR</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or</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tail</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measure</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Expected</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Loss</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 diferencia del enfoque regulatorio puro, </a:t>
                </a:r>
                <a:r>
                  <a:rPr lang="es-PE" sz="900" b="0" i="0" dirty="0" err="1">
                    <a:solidFill>
                      <a:schemeClr val="tx1"/>
                    </a:solidFill>
                    <a:effectLst/>
                    <a:latin typeface="Segoe WPC"/>
                  </a:rPr>
                  <a:t>CreditMetrics</a:t>
                </a:r>
                <a:r>
                  <a:rPr lang="es-PE" sz="900" b="0" i="0" dirty="0">
                    <a:solidFill>
                      <a:schemeClr val="tx1"/>
                    </a:solidFill>
                    <a:effectLst/>
                    <a:latin typeface="Segoe WPC"/>
                  </a:rPr>
                  <a:t> incorpora </a:t>
                </a:r>
                <a:r>
                  <a:rPr lang="es-PE" sz="900" b="0" i="0" dirty="0" err="1">
                    <a:solidFill>
                      <a:schemeClr val="tx1"/>
                    </a:solidFill>
                    <a:effectLst/>
                    <a:latin typeface="Segoe WPC"/>
                  </a:rPr>
                  <a:t>mark-to-market</a:t>
                </a:r>
                <a:r>
                  <a:rPr lang="es-PE" sz="900" b="0" i="0" dirty="0">
                    <a:solidFill>
                      <a:schemeClr val="tx1"/>
                    </a:solidFill>
                    <a:effectLst/>
                    <a:latin typeface="Segoe WPC"/>
                  </a:rPr>
                  <a:t> </a:t>
                </a:r>
                <a:r>
                  <a:rPr lang="es-PE" sz="900" b="0" i="0" dirty="0" err="1">
                    <a:solidFill>
                      <a:schemeClr val="tx1"/>
                    </a:solidFill>
                    <a:effectLst/>
                    <a:latin typeface="Segoe WPC"/>
                  </a:rPr>
                  <a:t>credit</a:t>
                </a:r>
                <a:r>
                  <a:rPr lang="es-PE" sz="900" b="0" i="0" dirty="0">
                    <a:solidFill>
                      <a:schemeClr val="tx1"/>
                    </a:solidFill>
                    <a:effectLst/>
                    <a:latin typeface="Segoe WPC"/>
                  </a:rPr>
                  <a:t> </a:t>
                </a:r>
                <a:r>
                  <a:rPr lang="es-PE" sz="900" b="0" i="0" dirty="0" err="1">
                    <a:solidFill>
                      <a:schemeClr val="tx1"/>
                    </a:solidFill>
                    <a:effectLst/>
                    <a:latin typeface="Segoe WPC"/>
                  </a:rPr>
                  <a:t>migration</a:t>
                </a:r>
                <a:r>
                  <a:rPr lang="es-PE" sz="900" b="0" i="0" dirty="0">
                    <a:solidFill>
                      <a:schemeClr val="tx1"/>
                    </a:solidFill>
                    <a:effectLst/>
                    <a:latin typeface="Segoe WPC"/>
                  </a:rPr>
                  <a:t>, no solo default/no-default.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CreditMetrics</a:t>
                </a:r>
                <a:r>
                  <a:rPr lang="es-PE" sz="900" b="0" i="0" dirty="0">
                    <a:solidFill>
                      <a:schemeClr val="tx1"/>
                    </a:solidFill>
                    <a:effectLst/>
                    <a:latin typeface="Segoe WPC"/>
                  </a:rPr>
                  <a:t> no se limita a pérdidas por default final; también considera deterioros de calidad crediticia antes del default.</a:t>
                </a:r>
              </a:p>
              <a:p>
                <a:pPr algn="l">
                  <a:spcAft>
                    <a:spcPts val="600"/>
                  </a:spcAft>
                  <a:buNone/>
                </a:pPr>
                <a:r>
                  <a:rPr lang="es-PE" sz="900" b="1" i="0" dirty="0">
                    <a:solidFill>
                      <a:schemeClr val="tx1"/>
                    </a:solidFill>
                    <a:effectLst/>
                    <a:latin typeface="Segoe WPC"/>
                  </a:rPr>
                  <a:t>9. </a:t>
                </a:r>
                <a:r>
                  <a:rPr lang="es-PE" sz="900" b="1" i="0" dirty="0" err="1">
                    <a:solidFill>
                      <a:schemeClr val="tx1"/>
                    </a:solidFill>
                    <a:effectLst/>
                    <a:latin typeface="Segoe WPC"/>
                  </a:rPr>
                  <a:t>Euler’s</a:t>
                </a:r>
                <a:r>
                  <a:rPr lang="es-PE" sz="900" b="1" i="0" dirty="0">
                    <a:solidFill>
                      <a:schemeClr val="tx1"/>
                    </a:solidFill>
                    <a:effectLst/>
                    <a:latin typeface="Segoe WPC"/>
                  </a:rPr>
                  <a:t> </a:t>
                </a:r>
                <a:r>
                  <a:rPr lang="es-PE" sz="900" b="1" i="0" dirty="0" err="1">
                    <a:solidFill>
                      <a:schemeClr val="tx1"/>
                    </a:solidFill>
                    <a:effectLst/>
                    <a:latin typeface="Segoe WPC"/>
                  </a:rPr>
                  <a:t>Theorem</a:t>
                </a:r>
                <a:r>
                  <a:rPr lang="es-PE" sz="900" b="1" i="0" dirty="0">
                    <a:solidFill>
                      <a:schemeClr val="tx1"/>
                    </a:solidFill>
                    <a:effectLst/>
                    <a:latin typeface="Segoe WPC"/>
                  </a:rPr>
                  <a:t> and </a:t>
                </a:r>
                <a:r>
                  <a:rPr lang="es-PE" sz="900" b="1" i="0" dirty="0" err="1">
                    <a:solidFill>
                      <a:schemeClr val="tx1"/>
                    </a:solidFill>
                    <a:effectLst/>
                    <a:latin typeface="Segoe WPC"/>
                  </a:rPr>
                  <a:t>Risk</a:t>
                </a:r>
                <a:r>
                  <a:rPr lang="es-PE" sz="900" b="1" i="0" dirty="0">
                    <a:solidFill>
                      <a:schemeClr val="tx1"/>
                    </a:solidFill>
                    <a:effectLst/>
                    <a:latin typeface="Segoe WPC"/>
                  </a:rPr>
                  <a:t> </a:t>
                </a:r>
                <a:r>
                  <a:rPr lang="es-PE" sz="900" b="1" i="0" dirty="0" err="1">
                    <a:solidFill>
                      <a:schemeClr val="tx1"/>
                    </a:solidFill>
                    <a:effectLst/>
                    <a:latin typeface="Segoe WPC"/>
                  </a:rPr>
                  <a:t>Contribution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Descomposición del riesgo total del portafolio en contribuciones marginales por préstamo.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Permite responder cuánto del capital total se debe a un préstamo específico.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Cada préstamo “consume” parte del capital total según cómo cambia el riesgo del portafolio cuando aumenta marginalmente su exposición.</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Si </a:t>
                </a:r>
                <a14:m>
                  <m:oMath xmlns:m="http://schemas.openxmlformats.org/officeDocument/2006/math">
                    <m:r>
                      <a:rPr lang="es-PE" sz="900" i="1">
                        <a:solidFill>
                          <a:schemeClr val="tx1"/>
                        </a:solidFill>
                        <a:latin typeface="Cambria Math" panose="02040503050406030204" pitchFamily="18" charset="0"/>
                      </a:rPr>
                      <m:t>𝜌</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𝐿</m:t>
                        </m:r>
                      </m:e>
                    </m:d>
                  </m:oMath>
                </a14:m>
                <a:r>
                  <a:rPr lang="ar-AE" sz="900" b="0" i="0" dirty="0">
                    <a:solidFill>
                      <a:schemeClr val="tx1"/>
                    </a:solidFill>
                    <a:effectLst/>
                    <a:latin typeface="Segoe WPC"/>
                  </a:rPr>
                  <a:t> </a:t>
                </a:r>
                <a:r>
                  <a:rPr lang="es-PE" sz="900" b="0" i="0" dirty="0">
                    <a:solidFill>
                      <a:schemeClr val="tx1"/>
                    </a:solidFill>
                    <a:effectLst/>
                    <a:latin typeface="Segoe WPC"/>
                  </a:rPr>
                  <a:t>es homogénea de grado 1, entonces </a:t>
                </a:r>
                <a14:m>
                  <m:oMath xmlns:m="http://schemas.openxmlformats.org/officeDocument/2006/math">
                    <m:r>
                      <a:rPr lang="es-PE" sz="900" i="1">
                        <a:solidFill>
                          <a:schemeClr val="tx1"/>
                        </a:solidFill>
                        <a:latin typeface="Cambria Math" panose="02040503050406030204" pitchFamily="18" charset="0"/>
                      </a:rPr>
                      <m:t>𝜌</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𝐿</m:t>
                        </m:r>
                      </m:e>
                    </m:d>
                    <m:r>
                      <a:rPr lang="ar-AE" sz="900" i="0">
                        <a:solidFill>
                          <a:schemeClr val="tx1"/>
                        </a:solidFill>
                        <a:latin typeface="Cambria Math" panose="02040503050406030204" pitchFamily="18" charset="0"/>
                      </a:rPr>
                      <m:t>=</m:t>
                    </m:r>
                    <m:nary>
                      <m:naryPr>
                        <m:chr m:val="∑"/>
                        <m:limLoc m:val="subSup"/>
                        <m:grow m:val="on"/>
                        <m:supHide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sub>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𝐿</m:t>
                            </m:r>
                          </m:e>
                          <m:sub>
                            <m:r>
                              <a:rPr lang="ar-AE" sz="900" i="1">
                                <a:solidFill>
                                  <a:schemeClr val="tx1"/>
                                </a:solidFill>
                                <a:latin typeface="Cambria Math" panose="02040503050406030204" pitchFamily="18" charset="0"/>
                              </a:rPr>
                              <m:t>𝑖</m:t>
                            </m:r>
                          </m:sub>
                        </m:sSub>
                      </m:e>
                    </m:nary>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𝜕𝜌</m:t>
                        </m:r>
                      </m:num>
                      <m:den>
                        <m:r>
                          <a:rPr lang="ar-AE" sz="900" i="1">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𝐿</m:t>
                            </m:r>
                          </m:e>
                          <m:sub>
                            <m:r>
                              <a:rPr lang="ar-AE" sz="900" i="1">
                                <a:solidFill>
                                  <a:schemeClr val="tx1"/>
                                </a:solidFill>
                                <a:latin typeface="Cambria Math" panose="02040503050406030204" pitchFamily="18" charset="0"/>
                              </a:rPr>
                              <m:t>𝑖</m:t>
                            </m:r>
                          </m:sub>
                        </m:sSub>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 contribución de un préstamo al riesgo total es su exposición multiplicada por su riesgo marginal.</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La contribución al riesgo no es lo mismo que la pérdida esperada individual; depende del efecto marginal sobre el portafolio completo.</a:t>
                </a:r>
              </a:p>
              <a:p>
                <a:pPr algn="l">
                  <a:spcAft>
                    <a:spcPts val="600"/>
                  </a:spcAft>
                  <a:buNone/>
                </a:pPr>
                <a:r>
                  <a:rPr lang="es-PE" sz="900" b="1" i="0" dirty="0">
                    <a:solidFill>
                      <a:schemeClr val="tx1"/>
                    </a:solidFill>
                    <a:effectLst/>
                    <a:latin typeface="Segoe WPC"/>
                  </a:rPr>
                  <a:t>10. Derivatives and </a:t>
                </a:r>
                <a:r>
                  <a:rPr lang="es-PE" sz="900" b="1" i="0" dirty="0" err="1">
                    <a:solidFill>
                      <a:schemeClr val="tx1"/>
                    </a:solidFill>
                    <a:effectLst/>
                    <a:latin typeface="Segoe WPC"/>
                  </a:rPr>
                  <a:t>Challenges</a:t>
                </a:r>
                <a:r>
                  <a:rPr lang="es-PE" sz="900" b="1" i="0" dirty="0">
                    <a:solidFill>
                      <a:schemeClr val="tx1"/>
                    </a:solidFill>
                    <a:effectLst/>
                    <a:latin typeface="Segoe WPC"/>
                  </a:rPr>
                  <a:t> in </a:t>
                </a:r>
                <a:r>
                  <a:rPr lang="es-PE" sz="900" b="1" i="0" dirty="0" err="1">
                    <a:solidFill>
                      <a:schemeClr val="tx1"/>
                    </a:solidFill>
                    <a:effectLst/>
                    <a:latin typeface="Segoe WPC"/>
                  </a:rPr>
                  <a:t>Quantifying</a:t>
                </a:r>
                <a:r>
                  <a:rPr lang="es-PE" sz="900" b="1" i="0" dirty="0">
                    <a:solidFill>
                      <a:schemeClr val="tx1"/>
                    </a:solidFill>
                    <a:effectLst/>
                    <a:latin typeface="Segoe WPC"/>
                  </a:rPr>
                  <a:t> </a:t>
                </a:r>
                <a:r>
                  <a:rPr lang="es-PE" sz="900" b="1" i="0" dirty="0" err="1">
                    <a:solidFill>
                      <a:schemeClr val="tx1"/>
                    </a:solidFill>
                    <a:effectLst/>
                    <a:latin typeface="Segoe WPC"/>
                  </a:rPr>
                  <a:t>Credit</a:t>
                </a:r>
                <a:r>
                  <a:rPr lang="es-PE" sz="900" b="1" i="0" dirty="0">
                    <a:solidFill>
                      <a:schemeClr val="tx1"/>
                    </a:solidFill>
                    <a:effectLst/>
                    <a:latin typeface="Segoe WPC"/>
                  </a:rPr>
                  <a:t> </a:t>
                </a:r>
                <a:r>
                  <a:rPr lang="es-PE" sz="900" b="1" i="0" dirty="0" err="1">
                    <a:solidFill>
                      <a:schemeClr val="tx1"/>
                    </a:solidFill>
                    <a:effectLst/>
                    <a:latin typeface="Segoe WPC"/>
                  </a:rPr>
                  <a:t>Risk</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Dificultades especiales al medir riesgo de crédito en derivados y en portafolios reales.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préstamos la exposición suele ser clara; en derivados la exposición futura depende del mercado y cambia con el tiempo.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 swap puede no tener exposición hoy, pero sí mucha mañana si las tasas o el FX se mueven.</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En derivados, </a:t>
                </a:r>
                <a14:m>
                  <m:oMath xmlns:m="http://schemas.openxmlformats.org/officeDocument/2006/math">
                    <m:r>
                      <a:rPr lang="es-PE" sz="900" i="1">
                        <a:solidFill>
                          <a:schemeClr val="tx1"/>
                        </a:solidFill>
                        <a:latin typeface="Cambria Math" panose="02040503050406030204" pitchFamily="18" charset="0"/>
                      </a:rPr>
                      <m:t>𝐸𝐴𝐷</m:t>
                    </m:r>
                  </m:oMath>
                </a14:m>
                <a:r>
                  <a:rPr lang="es-PE" sz="900" b="0" i="0" dirty="0">
                    <a:solidFill>
                      <a:schemeClr val="tx1"/>
                    </a:solidFill>
                    <a:effectLst/>
                    <a:latin typeface="Segoe WPC"/>
                  </a:rPr>
                  <a:t> es estocástica y depende de escenarios futuros de mercado, colateral y </a:t>
                </a:r>
                <a:r>
                  <a:rPr lang="es-PE" sz="900" b="0" i="0" dirty="0" err="1">
                    <a:solidFill>
                      <a:schemeClr val="tx1"/>
                    </a:solidFill>
                    <a:effectLst/>
                    <a:latin typeface="Segoe WPC"/>
                  </a:rPr>
                  <a:t>netting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Por eso el capital de crédito para derivados es más difícil de calcular que para préstamos; además hay problemas de dependencia, contagio, </a:t>
                </a:r>
                <a:r>
                  <a:rPr lang="es-PE" sz="900" b="0" i="0" dirty="0" err="1">
                    <a:solidFill>
                      <a:schemeClr val="tx1"/>
                    </a:solidFill>
                    <a:effectLst/>
                    <a:latin typeface="Segoe WPC"/>
                  </a:rPr>
                  <a:t>recovery</a:t>
                </a:r>
                <a:r>
                  <a:rPr lang="es-PE" sz="900" b="0" i="0" dirty="0">
                    <a:solidFill>
                      <a:schemeClr val="tx1"/>
                    </a:solidFill>
                    <a:effectLst/>
                    <a:latin typeface="Segoe WPC"/>
                  </a:rPr>
                  <a:t> incierto, concentración y falta de datos.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trates un derivado como un préstamo con exposición fija; la exposición al default de la contraparte es dinámica y </a:t>
                </a:r>
                <a:r>
                  <a:rPr lang="es-PE" sz="900" b="0" i="0" dirty="0" err="1">
                    <a:solidFill>
                      <a:schemeClr val="tx1"/>
                    </a:solidFill>
                    <a:effectLst/>
                    <a:latin typeface="Segoe WPC"/>
                  </a:rPr>
                  <a:t>model-dependent</a:t>
                </a:r>
                <a:r>
                  <a:rPr lang="es-PE" sz="900" b="0" i="0" dirty="0">
                    <a:solidFill>
                      <a:schemeClr val="tx1"/>
                    </a:solidFill>
                    <a:effectLst/>
                    <a:latin typeface="Segoe WPC"/>
                  </a:rPr>
                  <a:t>.</a:t>
                </a:r>
              </a:p>
            </p:txBody>
          </p:sp>
        </mc:Choice>
        <mc:Fallback xmlns="">
          <p:sp>
            <p:nvSpPr>
              <p:cNvPr id="7" name="CuadroTexto 6">
                <a:extLst>
                  <a:ext uri="{FF2B5EF4-FFF2-40B4-BE49-F238E27FC236}">
                    <a16:creationId xmlns:a16="http://schemas.microsoft.com/office/drawing/2014/main" id="{C404595B-5460-17E7-F0C1-127A8DC51194}"/>
                  </a:ext>
                </a:extLst>
              </p:cNvPr>
              <p:cNvSpPr txBox="1">
                <a:spLocks noRot="1" noChangeAspect="1" noMove="1" noResize="1" noEditPoints="1" noAdjustHandles="1" noChangeArrowheads="1" noChangeShapeType="1" noTextEdit="1"/>
              </p:cNvSpPr>
              <p:nvPr/>
            </p:nvSpPr>
            <p:spPr>
              <a:xfrm>
                <a:off x="5856514" y="0"/>
                <a:ext cx="6335485" cy="7412927"/>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15738785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BEAD07-1CCF-E488-65EF-AA2ED6FF831B}"/>
              </a:ext>
            </a:extLst>
          </p:cNvPr>
          <p:cNvSpPr>
            <a:spLocks noGrp="1"/>
          </p:cNvSpPr>
          <p:nvPr>
            <p:ph type="title"/>
          </p:nvPr>
        </p:nvSpPr>
        <p:spPr>
          <a:xfrm>
            <a:off x="112485" y="82096"/>
            <a:ext cx="10515600" cy="128361"/>
          </a:xfrm>
        </p:spPr>
        <p:txBody>
          <a:bodyPr>
            <a:noAutofit/>
          </a:bodyPr>
          <a:lstStyle/>
          <a:p>
            <a:r>
              <a:rPr lang="es-PE" sz="3200" dirty="0" err="1"/>
              <a:t>Operational</a:t>
            </a:r>
            <a:r>
              <a:rPr lang="es-PE" sz="3200" dirty="0"/>
              <a:t> </a:t>
            </a:r>
            <a:r>
              <a:rPr lang="es-PE" sz="3200" dirty="0" err="1"/>
              <a:t>Risks</a:t>
            </a:r>
            <a:endParaRPr lang="es-PE" sz="3200"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9DFD3204-BA08-1829-21B4-53E736306E12}"/>
                  </a:ext>
                </a:extLst>
              </p:cNvPr>
              <p:cNvSpPr txBox="1"/>
              <p:nvPr/>
            </p:nvSpPr>
            <p:spPr>
              <a:xfrm>
                <a:off x="-36284" y="210457"/>
                <a:ext cx="6132284" cy="6771084"/>
              </a:xfrm>
              <a:prstGeom prst="rect">
                <a:avLst/>
              </a:prstGeom>
              <a:noFill/>
            </p:spPr>
            <p:txBody>
              <a:bodyPr wrap="square">
                <a:spAutoFit/>
              </a:bodyPr>
              <a:lstStyle/>
              <a:p>
                <a:pPr algn="l">
                  <a:spcAft>
                    <a:spcPts val="600"/>
                  </a:spcAft>
                  <a:buNone/>
                </a:pPr>
                <a:r>
                  <a:rPr lang="es-ES" sz="900" b="1" i="0" dirty="0">
                    <a:solidFill>
                      <a:schemeClr val="tx1"/>
                    </a:solidFill>
                    <a:effectLst/>
                    <a:latin typeface="Segoe WPC"/>
                  </a:rPr>
                  <a:t>1. </a:t>
                </a:r>
                <a:r>
                  <a:rPr lang="es-ES" sz="900" b="1" i="0" dirty="0" err="1">
                    <a:solidFill>
                      <a:schemeClr val="tx1"/>
                    </a:solidFill>
                    <a:effectLst/>
                    <a:latin typeface="Segoe WPC"/>
                  </a:rPr>
                  <a:t>Operational</a:t>
                </a:r>
                <a:r>
                  <a:rPr lang="es-ES" sz="900" b="1" i="0" dirty="0">
                    <a:solidFill>
                      <a:schemeClr val="tx1"/>
                    </a:solidFill>
                    <a:effectLst/>
                    <a:latin typeface="Segoe WPC"/>
                  </a:rPr>
                  <a:t> </a:t>
                </a:r>
                <a:r>
                  <a:rPr lang="es-ES" sz="900" b="1" i="0" dirty="0" err="1">
                    <a:solidFill>
                      <a:schemeClr val="tx1"/>
                    </a:solidFill>
                    <a:effectLst/>
                    <a:latin typeface="Segoe WPC"/>
                  </a:rPr>
                  <a:t>Risk</a:t>
                </a:r>
                <a:r>
                  <a:rPr lang="es-ES" sz="900" b="1" i="0" dirty="0">
                    <a:solidFill>
                      <a:schemeClr val="tx1"/>
                    </a:solidFill>
                    <a:effectLst/>
                    <a:latin typeface="Segoe WPC"/>
                  </a:rPr>
                  <a:t> </a:t>
                </a:r>
                <a:r>
                  <a:rPr lang="es-ES" sz="900" b="1" i="0" dirty="0" err="1">
                    <a:solidFill>
                      <a:schemeClr val="tx1"/>
                    </a:solidFill>
                    <a:effectLst/>
                    <a:latin typeface="Segoe WPC"/>
                  </a:rPr>
                  <a:t>Definition</a:t>
                </a:r>
                <a:br>
                  <a:rPr lang="es-ES" sz="900" b="0" i="0" dirty="0">
                    <a:solidFill>
                      <a:schemeClr val="tx1"/>
                    </a:solidFill>
                    <a:effectLst/>
                    <a:latin typeface="Segoe WPC"/>
                  </a:rPr>
                </a:br>
                <a:r>
                  <a:rPr lang="es-ES" sz="900" b="1" i="0" dirty="0" err="1">
                    <a:solidFill>
                      <a:schemeClr val="tx1"/>
                    </a:solidFill>
                    <a:effectLst/>
                    <a:latin typeface="Segoe WPC"/>
                  </a:rPr>
                  <a:t>Financial</a:t>
                </a:r>
                <a:r>
                  <a:rPr lang="es-ES" sz="900" b="1" i="0" dirty="0">
                    <a:solidFill>
                      <a:schemeClr val="tx1"/>
                    </a:solidFill>
                    <a:effectLst/>
                    <a:latin typeface="Segoe WPC"/>
                  </a:rPr>
                  <a:t> </a:t>
                </a:r>
                <a:r>
                  <a:rPr lang="es-ES" sz="900" b="1" i="0" dirty="0" err="1">
                    <a:solidFill>
                      <a:schemeClr val="tx1"/>
                    </a:solidFill>
                    <a:effectLst/>
                    <a:latin typeface="Segoe WPC"/>
                  </a:rPr>
                  <a:t>Object</a:t>
                </a:r>
                <a:r>
                  <a:rPr lang="es-ES" sz="900" b="1" i="0" dirty="0">
                    <a:solidFill>
                      <a:schemeClr val="tx1"/>
                    </a:solidFill>
                    <a:effectLst/>
                    <a:latin typeface="Segoe WPC"/>
                  </a:rPr>
                  <a:t>:</a:t>
                </a:r>
                <a:r>
                  <a:rPr lang="es-ES" sz="900" b="0" i="0" dirty="0">
                    <a:solidFill>
                      <a:schemeClr val="tx1"/>
                    </a:solidFill>
                    <a:effectLst/>
                    <a:latin typeface="Segoe WPC"/>
                  </a:rPr>
                  <a:t> Riesgo de pérdida por fallas en procesos, personas, sistemas o eventos externos.</a:t>
                </a:r>
                <a:br>
                  <a:rPr lang="es-ES" sz="900" b="0" i="0" dirty="0">
                    <a:solidFill>
                      <a:schemeClr val="tx1"/>
                    </a:solidFill>
                    <a:effectLst/>
                    <a:latin typeface="Segoe WPC"/>
                  </a:rPr>
                </a:br>
                <a:r>
                  <a:rPr lang="es-ES" sz="900" b="1" i="0" dirty="0" err="1">
                    <a:solidFill>
                      <a:schemeClr val="tx1"/>
                    </a:solidFill>
                    <a:effectLst/>
                    <a:latin typeface="Segoe WPC"/>
                  </a:rPr>
                  <a:t>Plain</a:t>
                </a:r>
                <a:r>
                  <a:rPr lang="es-ES" sz="900" b="1" i="0" dirty="0">
                    <a:solidFill>
                      <a:schemeClr val="tx1"/>
                    </a:solidFill>
                    <a:effectLst/>
                    <a:latin typeface="Segoe WPC"/>
                  </a:rPr>
                  <a:t>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Es el riesgo de que algo salga mal en la operación del negocio, aunque no sea ni </a:t>
                </a:r>
                <a:r>
                  <a:rPr lang="es-ES" sz="900" b="0" i="0" dirty="0" err="1">
                    <a:solidFill>
                      <a:schemeClr val="tx1"/>
                    </a:solidFill>
                    <a:effectLst/>
                    <a:latin typeface="Segoe WPC"/>
                  </a:rPr>
                  <a:t>market</a:t>
                </a:r>
                <a:r>
                  <a:rPr lang="es-ES" sz="900" b="0" i="0" dirty="0">
                    <a:solidFill>
                      <a:schemeClr val="tx1"/>
                    </a:solidFill>
                    <a:effectLst/>
                    <a:latin typeface="Segoe WPC"/>
                  </a:rPr>
                  <a:t> </a:t>
                </a:r>
                <a:r>
                  <a:rPr lang="es-ES" sz="900" b="0" i="0" dirty="0" err="1">
                    <a:solidFill>
                      <a:schemeClr val="tx1"/>
                    </a:solidFill>
                    <a:effectLst/>
                    <a:latin typeface="Segoe WPC"/>
                  </a:rPr>
                  <a:t>risk</a:t>
                </a:r>
                <a:r>
                  <a:rPr lang="es-ES" sz="900" b="0" i="0" dirty="0">
                    <a:solidFill>
                      <a:schemeClr val="tx1"/>
                    </a:solidFill>
                    <a:effectLst/>
                    <a:latin typeface="Segoe WPC"/>
                  </a:rPr>
                  <a:t> ni </a:t>
                </a:r>
                <a:r>
                  <a:rPr lang="es-ES" sz="900" b="0" i="0" dirty="0" err="1">
                    <a:solidFill>
                      <a:schemeClr val="tx1"/>
                    </a:solidFill>
                    <a:effectLst/>
                    <a:latin typeface="Segoe WPC"/>
                  </a:rPr>
                  <a:t>credit</a:t>
                </a:r>
                <a:r>
                  <a:rPr lang="es-ES" sz="900" b="0" i="0" dirty="0">
                    <a:solidFill>
                      <a:schemeClr val="tx1"/>
                    </a:solidFill>
                    <a:effectLst/>
                    <a:latin typeface="Segoe WPC"/>
                  </a:rPr>
                  <a:t> </a:t>
                </a:r>
                <a:r>
                  <a:rPr lang="es-ES" sz="900" b="0" i="0" dirty="0" err="1">
                    <a:solidFill>
                      <a:schemeClr val="tx1"/>
                    </a:solidFill>
                    <a:effectLst/>
                    <a:latin typeface="Segoe WPC"/>
                  </a:rPr>
                  <a:t>risk</a:t>
                </a:r>
                <a:r>
                  <a:rPr lang="es-ES" sz="900" b="0" i="0" dirty="0">
                    <a:solidFill>
                      <a:schemeClr val="tx1"/>
                    </a:solidFill>
                    <a:effectLst/>
                    <a:latin typeface="Segoe WPC"/>
                  </a:rPr>
                  <a:t>.</a:t>
                </a:r>
                <a:br>
                  <a:rPr lang="es-ES" sz="900" b="0" i="0" dirty="0">
                    <a:solidFill>
                      <a:schemeClr val="tx1"/>
                    </a:solidFill>
                    <a:effectLst/>
                    <a:latin typeface="Segoe WPC"/>
                  </a:rPr>
                </a:br>
                <a:r>
                  <a:rPr lang="es-ES" sz="900" b="1" i="0" dirty="0">
                    <a:solidFill>
                      <a:schemeClr val="tx1"/>
                    </a:solidFill>
                    <a:effectLst/>
                    <a:latin typeface="Segoe WPC"/>
                  </a:rPr>
                  <a:t>Visual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Un banco puede perder por fraude, hacking, multas, errores de procesamiento, caídas de sistemas o desastres físicos.</a:t>
                </a:r>
                <a:br>
                  <a:rPr lang="es-ES" sz="900" b="0" i="0" dirty="0">
                    <a:solidFill>
                      <a:schemeClr val="tx1"/>
                    </a:solidFill>
                    <a:effectLst/>
                    <a:latin typeface="Segoe WPC"/>
                  </a:rPr>
                </a:br>
                <a:r>
                  <a:rPr lang="es-ES" sz="900" b="1" i="0" dirty="0">
                    <a:solidFill>
                      <a:schemeClr val="tx1"/>
                    </a:solidFill>
                    <a:effectLst/>
                    <a:latin typeface="Segoe WPC"/>
                  </a:rPr>
                  <a:t>Key Formula:</a:t>
                </a:r>
                <a:r>
                  <a:rPr lang="es-ES" sz="900" b="0" i="0" dirty="0">
                    <a:solidFill>
                      <a:schemeClr val="tx1"/>
                    </a:solidFill>
                    <a:effectLst/>
                    <a:latin typeface="Segoe WPC"/>
                  </a:rPr>
                  <a:t> No hay una sola fórmula; Basilea lo define como pérdida por procesos internos inadecuados o fallidos, personas, sistemas o eventos externos.</a:t>
                </a:r>
                <a:br>
                  <a:rPr lang="es-ES" sz="900" b="0" i="0" dirty="0">
                    <a:solidFill>
                      <a:schemeClr val="tx1"/>
                    </a:solidFill>
                    <a:effectLst/>
                    <a:latin typeface="Segoe WPC"/>
                  </a:rPr>
                </a:br>
                <a:r>
                  <a:rPr lang="es-ES" sz="900" b="1" i="0" dirty="0" err="1">
                    <a:solidFill>
                      <a:schemeClr val="tx1"/>
                    </a:solidFill>
                    <a:effectLst/>
                    <a:latin typeface="Segoe WPC"/>
                  </a:rPr>
                  <a:t>Interpretation</a:t>
                </a:r>
                <a:r>
                  <a:rPr lang="es-ES" sz="900" b="1" i="0" dirty="0">
                    <a:solidFill>
                      <a:schemeClr val="tx1"/>
                    </a:solidFill>
                    <a:effectLst/>
                    <a:latin typeface="Segoe WPC"/>
                  </a:rPr>
                  <a:t>:</a:t>
                </a:r>
                <a:r>
                  <a:rPr lang="es-ES" sz="900" b="0" i="0" dirty="0">
                    <a:solidFill>
                      <a:schemeClr val="tx1"/>
                    </a:solidFill>
                    <a:effectLst/>
                    <a:latin typeface="Segoe WPC"/>
                  </a:rPr>
                  <a:t> Incluye </a:t>
                </a:r>
                <a:r>
                  <a:rPr lang="es-ES" sz="900" b="0" i="0" dirty="0" err="1">
                    <a:solidFill>
                      <a:schemeClr val="tx1"/>
                    </a:solidFill>
                    <a:effectLst/>
                    <a:latin typeface="Segoe WPC"/>
                  </a:rPr>
                  <a:t>cyber</a:t>
                </a:r>
                <a:r>
                  <a:rPr lang="es-ES" sz="900" b="0" i="0" dirty="0">
                    <a:solidFill>
                      <a:schemeClr val="tx1"/>
                    </a:solidFill>
                    <a:effectLst/>
                    <a:latin typeface="Segoe WPC"/>
                  </a:rPr>
                  <a:t> </a:t>
                </a:r>
                <a:r>
                  <a:rPr lang="es-ES" sz="900" b="0" i="0" dirty="0" err="1">
                    <a:solidFill>
                      <a:schemeClr val="tx1"/>
                    </a:solidFill>
                    <a:effectLst/>
                    <a:latin typeface="Segoe WPC"/>
                  </a:rPr>
                  <a:t>risk</a:t>
                </a:r>
                <a:r>
                  <a:rPr lang="es-ES" sz="900" b="0" i="0" dirty="0">
                    <a:solidFill>
                      <a:schemeClr val="tx1"/>
                    </a:solidFill>
                    <a:effectLst/>
                    <a:latin typeface="Segoe WPC"/>
                  </a:rPr>
                  <a:t>, </a:t>
                </a:r>
                <a:r>
                  <a:rPr lang="es-ES" sz="900" b="0" i="0" dirty="0" err="1">
                    <a:solidFill>
                      <a:schemeClr val="tx1"/>
                    </a:solidFill>
                    <a:effectLst/>
                    <a:latin typeface="Segoe WPC"/>
                  </a:rPr>
                  <a:t>compliance</a:t>
                </a:r>
                <a:r>
                  <a:rPr lang="es-ES" sz="900" b="0" i="0" dirty="0">
                    <a:solidFill>
                      <a:schemeClr val="tx1"/>
                    </a:solidFill>
                    <a:effectLst/>
                    <a:latin typeface="Segoe WPC"/>
                  </a:rPr>
                  <a:t> </a:t>
                </a:r>
                <a:r>
                  <a:rPr lang="es-ES" sz="900" b="0" i="0" dirty="0" err="1">
                    <a:solidFill>
                      <a:schemeClr val="tx1"/>
                    </a:solidFill>
                    <a:effectLst/>
                    <a:latin typeface="Segoe WPC"/>
                  </a:rPr>
                  <a:t>risk</a:t>
                </a:r>
                <a:r>
                  <a:rPr lang="es-ES" sz="900" b="0" i="0" dirty="0">
                    <a:solidFill>
                      <a:schemeClr val="tx1"/>
                    </a:solidFill>
                    <a:effectLst/>
                    <a:latin typeface="Segoe WPC"/>
                  </a:rPr>
                  <a:t>, </a:t>
                </a:r>
                <a:r>
                  <a:rPr lang="es-ES" sz="900" b="0" i="0" dirty="0" err="1">
                    <a:solidFill>
                      <a:schemeClr val="tx1"/>
                    </a:solidFill>
                    <a:effectLst/>
                    <a:latin typeface="Segoe WPC"/>
                  </a:rPr>
                  <a:t>rogue</a:t>
                </a:r>
                <a:r>
                  <a:rPr lang="es-ES" sz="900" b="0" i="0" dirty="0">
                    <a:solidFill>
                      <a:schemeClr val="tx1"/>
                    </a:solidFill>
                    <a:effectLst/>
                    <a:latin typeface="Segoe WPC"/>
                  </a:rPr>
                  <a:t> </a:t>
                </a:r>
                <a:r>
                  <a:rPr lang="es-ES" sz="900" b="0" i="0" dirty="0" err="1">
                    <a:solidFill>
                      <a:schemeClr val="tx1"/>
                    </a:solidFill>
                    <a:effectLst/>
                    <a:latin typeface="Segoe WPC"/>
                  </a:rPr>
                  <a:t>traders</a:t>
                </a:r>
                <a:r>
                  <a:rPr lang="es-ES" sz="900" b="0" i="0" dirty="0">
                    <a:solidFill>
                      <a:schemeClr val="tx1"/>
                    </a:solidFill>
                    <a:effectLst/>
                    <a:latin typeface="Segoe WPC"/>
                  </a:rPr>
                  <a:t>, litigios, fallas tecnológicas y daños físicos; excluye </a:t>
                </a:r>
                <a:r>
                  <a:rPr lang="es-ES" sz="900" b="0" i="0" dirty="0" err="1">
                    <a:solidFill>
                      <a:schemeClr val="tx1"/>
                    </a:solidFill>
                    <a:effectLst/>
                    <a:latin typeface="Segoe WPC"/>
                  </a:rPr>
                  <a:t>strategic</a:t>
                </a:r>
                <a:r>
                  <a:rPr lang="es-ES" sz="900" b="0" i="0" dirty="0">
                    <a:solidFill>
                      <a:schemeClr val="tx1"/>
                    </a:solidFill>
                    <a:effectLst/>
                    <a:latin typeface="Segoe WPC"/>
                  </a:rPr>
                  <a:t> y </a:t>
                </a:r>
                <a:r>
                  <a:rPr lang="es-ES" sz="900" b="0" i="0" dirty="0" err="1">
                    <a:solidFill>
                      <a:schemeClr val="tx1"/>
                    </a:solidFill>
                    <a:effectLst/>
                    <a:latin typeface="Segoe WPC"/>
                  </a:rPr>
                  <a:t>reputational</a:t>
                </a:r>
                <a:r>
                  <a:rPr lang="es-ES" sz="900" b="0" i="0" dirty="0">
                    <a:solidFill>
                      <a:schemeClr val="tx1"/>
                    </a:solidFill>
                    <a:effectLst/>
                    <a:latin typeface="Segoe WPC"/>
                  </a:rPr>
                  <a:t> </a:t>
                </a:r>
                <a:r>
                  <a:rPr lang="es-ES" sz="900" b="0" i="0" dirty="0" err="1">
                    <a:solidFill>
                      <a:schemeClr val="tx1"/>
                    </a:solidFill>
                    <a:effectLst/>
                    <a:latin typeface="Segoe WPC"/>
                  </a:rPr>
                  <a:t>risk</a:t>
                </a:r>
                <a:r>
                  <a:rPr lang="es-ES" sz="900" b="0" i="0" dirty="0">
                    <a:solidFill>
                      <a:schemeClr val="tx1"/>
                    </a:solidFill>
                    <a:effectLst/>
                    <a:latin typeface="Segoe WPC"/>
                  </a:rPr>
                  <a:t>.</a:t>
                </a:r>
                <a:br>
                  <a:rPr lang="es-ES" sz="900" b="0" i="0" dirty="0">
                    <a:solidFill>
                      <a:schemeClr val="tx1"/>
                    </a:solidFill>
                    <a:effectLst/>
                    <a:latin typeface="Segoe WPC"/>
                  </a:rPr>
                </a:br>
                <a:r>
                  <a:rPr lang="es-ES" sz="900" b="1" i="0" dirty="0" err="1">
                    <a:solidFill>
                      <a:schemeClr val="tx1"/>
                    </a:solidFill>
                    <a:effectLst/>
                    <a:latin typeface="Segoe WPC"/>
                  </a:rPr>
                  <a:t>Exam</a:t>
                </a:r>
                <a:r>
                  <a:rPr lang="es-ES" sz="900" b="1" i="0" dirty="0">
                    <a:solidFill>
                      <a:schemeClr val="tx1"/>
                    </a:solidFill>
                    <a:effectLst/>
                    <a:latin typeface="Segoe WPC"/>
                  </a:rPr>
                  <a:t> </a:t>
                </a:r>
                <a:r>
                  <a:rPr lang="es-ES" sz="900" b="1" i="0" dirty="0" err="1">
                    <a:solidFill>
                      <a:schemeClr val="tx1"/>
                    </a:solidFill>
                    <a:effectLst/>
                    <a:latin typeface="Segoe WPC"/>
                  </a:rPr>
                  <a:t>Trap</a:t>
                </a:r>
                <a:r>
                  <a:rPr lang="es-ES" sz="900" b="1" i="0" dirty="0">
                    <a:solidFill>
                      <a:schemeClr val="tx1"/>
                    </a:solidFill>
                    <a:effectLst/>
                    <a:latin typeface="Segoe WPC"/>
                  </a:rPr>
                  <a:t>:</a:t>
                </a:r>
                <a:r>
                  <a:rPr lang="es-ES" sz="900" b="0" i="0" dirty="0">
                    <a:solidFill>
                      <a:schemeClr val="tx1"/>
                    </a:solidFill>
                    <a:effectLst/>
                    <a:latin typeface="Segoe WPC"/>
                  </a:rPr>
                  <a:t> No lo definas solo como “errores operativos”; la definición de Basilea es mucho más amplia.</a:t>
                </a:r>
              </a:p>
              <a:p>
                <a:pPr algn="l">
                  <a:spcAft>
                    <a:spcPts val="600"/>
                  </a:spcAft>
                  <a:buNone/>
                </a:pPr>
                <a:r>
                  <a:rPr lang="es-ES" sz="900" b="1" i="0" dirty="0">
                    <a:solidFill>
                      <a:schemeClr val="tx1"/>
                    </a:solidFill>
                    <a:effectLst/>
                    <a:latin typeface="Segoe WPC"/>
                  </a:rPr>
                  <a:t>2. </a:t>
                </a:r>
                <a:r>
                  <a:rPr lang="es-ES" sz="900" b="1" i="0" dirty="0" err="1">
                    <a:solidFill>
                      <a:schemeClr val="tx1"/>
                    </a:solidFill>
                    <a:effectLst/>
                    <a:latin typeface="Segoe WPC"/>
                  </a:rPr>
                  <a:t>Main</a:t>
                </a:r>
                <a:r>
                  <a:rPr lang="es-ES" sz="900" b="1" i="0" dirty="0">
                    <a:solidFill>
                      <a:schemeClr val="tx1"/>
                    </a:solidFill>
                    <a:effectLst/>
                    <a:latin typeface="Segoe WPC"/>
                  </a:rPr>
                  <a:t> </a:t>
                </a:r>
                <a:r>
                  <a:rPr lang="es-ES" sz="900" b="1" i="0" dirty="0" err="1">
                    <a:solidFill>
                      <a:schemeClr val="tx1"/>
                    </a:solidFill>
                    <a:effectLst/>
                    <a:latin typeface="Segoe WPC"/>
                  </a:rPr>
                  <a:t>Categories</a:t>
                </a:r>
                <a:r>
                  <a:rPr lang="es-ES" sz="900" b="1" i="0" dirty="0">
                    <a:solidFill>
                      <a:schemeClr val="tx1"/>
                    </a:solidFill>
                    <a:effectLst/>
                    <a:latin typeface="Segoe WPC"/>
                  </a:rPr>
                  <a:t> </a:t>
                </a:r>
                <a:r>
                  <a:rPr lang="es-ES" sz="900" b="1" i="0" dirty="0" err="1">
                    <a:solidFill>
                      <a:schemeClr val="tx1"/>
                    </a:solidFill>
                    <a:effectLst/>
                    <a:latin typeface="Segoe WPC"/>
                  </a:rPr>
                  <a:t>of</a:t>
                </a:r>
                <a:r>
                  <a:rPr lang="es-ES" sz="900" b="1" i="0" dirty="0">
                    <a:solidFill>
                      <a:schemeClr val="tx1"/>
                    </a:solidFill>
                    <a:effectLst/>
                    <a:latin typeface="Segoe WPC"/>
                  </a:rPr>
                  <a:t> </a:t>
                </a:r>
                <a:r>
                  <a:rPr lang="es-ES" sz="900" b="1" i="0" dirty="0" err="1">
                    <a:solidFill>
                      <a:schemeClr val="tx1"/>
                    </a:solidFill>
                    <a:effectLst/>
                    <a:latin typeface="Segoe WPC"/>
                  </a:rPr>
                  <a:t>Operational</a:t>
                </a:r>
                <a:r>
                  <a:rPr lang="es-ES" sz="900" b="1" i="0" dirty="0">
                    <a:solidFill>
                      <a:schemeClr val="tx1"/>
                    </a:solidFill>
                    <a:effectLst/>
                    <a:latin typeface="Segoe WPC"/>
                  </a:rPr>
                  <a:t> </a:t>
                </a:r>
                <a:r>
                  <a:rPr lang="es-ES" sz="900" b="1" i="0" dirty="0" err="1">
                    <a:solidFill>
                      <a:schemeClr val="tx1"/>
                    </a:solidFill>
                    <a:effectLst/>
                    <a:latin typeface="Segoe WPC"/>
                  </a:rPr>
                  <a:t>Risk</a:t>
                </a:r>
                <a:br>
                  <a:rPr lang="es-ES" sz="900" b="0" i="0" dirty="0">
                    <a:solidFill>
                      <a:schemeClr val="tx1"/>
                    </a:solidFill>
                    <a:effectLst/>
                    <a:latin typeface="Segoe WPC"/>
                  </a:rPr>
                </a:br>
                <a:r>
                  <a:rPr lang="es-ES" sz="900" b="1" i="0" dirty="0" err="1">
                    <a:solidFill>
                      <a:schemeClr val="tx1"/>
                    </a:solidFill>
                    <a:effectLst/>
                    <a:latin typeface="Segoe WPC"/>
                  </a:rPr>
                  <a:t>Financial</a:t>
                </a:r>
                <a:r>
                  <a:rPr lang="es-ES" sz="900" b="1" i="0" dirty="0">
                    <a:solidFill>
                      <a:schemeClr val="tx1"/>
                    </a:solidFill>
                    <a:effectLst/>
                    <a:latin typeface="Segoe WPC"/>
                  </a:rPr>
                  <a:t> </a:t>
                </a:r>
                <a:r>
                  <a:rPr lang="es-ES" sz="900" b="1" i="0" dirty="0" err="1">
                    <a:solidFill>
                      <a:schemeClr val="tx1"/>
                    </a:solidFill>
                    <a:effectLst/>
                    <a:latin typeface="Segoe WPC"/>
                  </a:rPr>
                  <a:t>Object</a:t>
                </a:r>
                <a:r>
                  <a:rPr lang="es-ES" sz="900" b="1" i="0" dirty="0">
                    <a:solidFill>
                      <a:schemeClr val="tx1"/>
                    </a:solidFill>
                    <a:effectLst/>
                    <a:latin typeface="Segoe WPC"/>
                  </a:rPr>
                  <a:t>:</a:t>
                </a:r>
                <a:r>
                  <a:rPr lang="es-ES" sz="900" b="0" i="0" dirty="0">
                    <a:solidFill>
                      <a:schemeClr val="tx1"/>
                    </a:solidFill>
                    <a:effectLst/>
                    <a:latin typeface="Segoe WPC"/>
                  </a:rPr>
                  <a:t> Clasificación estándar de los tipos de riesgo operacional.</a:t>
                </a:r>
                <a:br>
                  <a:rPr lang="es-ES" sz="900" b="0" i="0" dirty="0">
                    <a:solidFill>
                      <a:schemeClr val="tx1"/>
                    </a:solidFill>
                    <a:effectLst/>
                    <a:latin typeface="Segoe WPC"/>
                  </a:rPr>
                </a:br>
                <a:r>
                  <a:rPr lang="es-ES" sz="900" b="1" i="0" dirty="0" err="1">
                    <a:solidFill>
                      <a:schemeClr val="tx1"/>
                    </a:solidFill>
                    <a:effectLst/>
                    <a:latin typeface="Segoe WPC"/>
                  </a:rPr>
                  <a:t>Plain</a:t>
                </a:r>
                <a:r>
                  <a:rPr lang="es-ES" sz="900" b="1" i="0" dirty="0">
                    <a:solidFill>
                      <a:schemeClr val="tx1"/>
                    </a:solidFill>
                    <a:effectLst/>
                    <a:latin typeface="Segoe WPC"/>
                  </a:rPr>
                  <a:t>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Basilea divide </a:t>
                </a:r>
                <a:r>
                  <a:rPr lang="es-ES" sz="900" b="0" i="0" dirty="0" err="1">
                    <a:solidFill>
                      <a:schemeClr val="tx1"/>
                    </a:solidFill>
                    <a:effectLst/>
                    <a:latin typeface="Segoe WPC"/>
                  </a:rPr>
                  <a:t>operational</a:t>
                </a:r>
                <a:r>
                  <a:rPr lang="es-ES" sz="900" b="0" i="0" dirty="0">
                    <a:solidFill>
                      <a:schemeClr val="tx1"/>
                    </a:solidFill>
                    <a:effectLst/>
                    <a:latin typeface="Segoe WPC"/>
                  </a:rPr>
                  <a:t> </a:t>
                </a:r>
                <a:r>
                  <a:rPr lang="es-ES" sz="900" b="0" i="0" dirty="0" err="1">
                    <a:solidFill>
                      <a:schemeClr val="tx1"/>
                    </a:solidFill>
                    <a:effectLst/>
                    <a:latin typeface="Segoe WPC"/>
                  </a:rPr>
                  <a:t>risk</a:t>
                </a:r>
                <a:r>
                  <a:rPr lang="es-ES" sz="900" b="0" i="0" dirty="0">
                    <a:solidFill>
                      <a:schemeClr val="tx1"/>
                    </a:solidFill>
                    <a:effectLst/>
                    <a:latin typeface="Segoe WPC"/>
                  </a:rPr>
                  <a:t> en grupos para entender de dónde vienen las pérdidas.</a:t>
                </a:r>
                <a:br>
                  <a:rPr lang="es-ES" sz="900" b="0" i="0" dirty="0">
                    <a:solidFill>
                      <a:schemeClr val="tx1"/>
                    </a:solidFill>
                    <a:effectLst/>
                    <a:latin typeface="Segoe WPC"/>
                  </a:rPr>
                </a:br>
                <a:r>
                  <a:rPr lang="es-ES" sz="900" b="1" i="0" dirty="0">
                    <a:solidFill>
                      <a:schemeClr val="tx1"/>
                    </a:solidFill>
                    <a:effectLst/>
                    <a:latin typeface="Segoe WPC"/>
                  </a:rPr>
                  <a:t>Visual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Los grandes bloques son fraude interno, fraude externo, empleo y seguridad, clientes/productos, daño físico, fallas de negocio/sistemas y errores de ejecución/procesos.</a:t>
                </a:r>
                <a:br>
                  <a:rPr lang="es-ES" sz="900" b="0" i="0" dirty="0">
                    <a:solidFill>
                      <a:schemeClr val="tx1"/>
                    </a:solidFill>
                    <a:effectLst/>
                    <a:latin typeface="Segoe WPC"/>
                  </a:rPr>
                </a:br>
                <a:r>
                  <a:rPr lang="es-ES" sz="900" b="1" i="0" dirty="0">
                    <a:solidFill>
                      <a:schemeClr val="tx1"/>
                    </a:solidFill>
                    <a:effectLst/>
                    <a:latin typeface="Segoe WPC"/>
                  </a:rPr>
                  <a:t>Key Formula:</a:t>
                </a:r>
                <a:r>
                  <a:rPr lang="es-ES" sz="900" b="0" i="0" dirty="0">
                    <a:solidFill>
                      <a:schemeClr val="tx1"/>
                    </a:solidFill>
                    <a:effectLst/>
                    <a:latin typeface="Segoe WPC"/>
                  </a:rPr>
                  <a:t> No aplica fórmula; la clave es la taxonomía de 7 categorías.</a:t>
                </a:r>
                <a:br>
                  <a:rPr lang="es-ES" sz="900" b="0" i="0" dirty="0">
                    <a:solidFill>
                      <a:schemeClr val="tx1"/>
                    </a:solidFill>
                    <a:effectLst/>
                    <a:latin typeface="Segoe WPC"/>
                  </a:rPr>
                </a:br>
                <a:r>
                  <a:rPr lang="es-ES" sz="900" b="1" i="0" dirty="0" err="1">
                    <a:solidFill>
                      <a:schemeClr val="tx1"/>
                    </a:solidFill>
                    <a:effectLst/>
                    <a:latin typeface="Segoe WPC"/>
                  </a:rPr>
                  <a:t>Interpretation</a:t>
                </a:r>
                <a:r>
                  <a:rPr lang="es-ES" sz="900" b="1" i="0" dirty="0">
                    <a:solidFill>
                      <a:schemeClr val="tx1"/>
                    </a:solidFill>
                    <a:effectLst/>
                    <a:latin typeface="Segoe WPC"/>
                  </a:rPr>
                  <a:t>:</a:t>
                </a:r>
                <a:r>
                  <a:rPr lang="es-ES" sz="900" b="0" i="0" dirty="0">
                    <a:solidFill>
                      <a:schemeClr val="tx1"/>
                    </a:solidFill>
                    <a:effectLst/>
                    <a:latin typeface="Segoe WPC"/>
                  </a:rPr>
                  <a:t> Esta clasificación ayuda a medir, reportar y asignar capital por fuente de pérdida.</a:t>
                </a:r>
                <a:br>
                  <a:rPr lang="es-ES" sz="900" b="0" i="0" dirty="0">
                    <a:solidFill>
                      <a:schemeClr val="tx1"/>
                    </a:solidFill>
                    <a:effectLst/>
                    <a:latin typeface="Segoe WPC"/>
                  </a:rPr>
                </a:br>
                <a:r>
                  <a:rPr lang="es-ES" sz="900" b="1" i="0" dirty="0" err="1">
                    <a:solidFill>
                      <a:schemeClr val="tx1"/>
                    </a:solidFill>
                    <a:effectLst/>
                    <a:latin typeface="Segoe WPC"/>
                  </a:rPr>
                  <a:t>Exam</a:t>
                </a:r>
                <a:r>
                  <a:rPr lang="es-ES" sz="900" b="1" i="0" dirty="0">
                    <a:solidFill>
                      <a:schemeClr val="tx1"/>
                    </a:solidFill>
                    <a:effectLst/>
                    <a:latin typeface="Segoe WPC"/>
                  </a:rPr>
                  <a:t> </a:t>
                </a:r>
                <a:r>
                  <a:rPr lang="es-ES" sz="900" b="1" i="0" dirty="0" err="1">
                    <a:solidFill>
                      <a:schemeClr val="tx1"/>
                    </a:solidFill>
                    <a:effectLst/>
                    <a:latin typeface="Segoe WPC"/>
                  </a:rPr>
                  <a:t>Trap</a:t>
                </a:r>
                <a:r>
                  <a:rPr lang="es-ES" sz="900" b="1" i="0" dirty="0">
                    <a:solidFill>
                      <a:schemeClr val="tx1"/>
                    </a:solidFill>
                    <a:effectLst/>
                    <a:latin typeface="Segoe WPC"/>
                  </a:rPr>
                  <a:t>:</a:t>
                </a:r>
                <a:r>
                  <a:rPr lang="es-ES" sz="900" b="0" i="0" dirty="0">
                    <a:solidFill>
                      <a:schemeClr val="tx1"/>
                    </a:solidFill>
                    <a:effectLst/>
                    <a:latin typeface="Segoe WPC"/>
                  </a:rPr>
                  <a:t> No olvides que </a:t>
                </a:r>
                <a:r>
                  <a:rPr lang="es-ES" sz="900" b="0" i="0" dirty="0" err="1">
                    <a:solidFill>
                      <a:schemeClr val="tx1"/>
                    </a:solidFill>
                    <a:effectLst/>
                    <a:latin typeface="Segoe WPC"/>
                  </a:rPr>
                  <a:t>internal</a:t>
                </a:r>
                <a:r>
                  <a:rPr lang="es-ES" sz="900" b="0" i="0" dirty="0">
                    <a:solidFill>
                      <a:schemeClr val="tx1"/>
                    </a:solidFill>
                    <a:effectLst/>
                    <a:latin typeface="Segoe WPC"/>
                  </a:rPr>
                  <a:t> </a:t>
                </a:r>
                <a:r>
                  <a:rPr lang="es-ES" sz="900" b="0" i="0" dirty="0" err="1">
                    <a:solidFill>
                      <a:schemeClr val="tx1"/>
                    </a:solidFill>
                    <a:effectLst/>
                    <a:latin typeface="Segoe WPC"/>
                  </a:rPr>
                  <a:t>fraud</a:t>
                </a:r>
                <a:r>
                  <a:rPr lang="es-ES" sz="900" b="0" i="0" dirty="0">
                    <a:solidFill>
                      <a:schemeClr val="tx1"/>
                    </a:solidFill>
                    <a:effectLst/>
                    <a:latin typeface="Segoe WPC"/>
                  </a:rPr>
                  <a:t> y </a:t>
                </a:r>
                <a:r>
                  <a:rPr lang="es-ES" sz="900" b="0" i="0" dirty="0" err="1">
                    <a:solidFill>
                      <a:schemeClr val="tx1"/>
                    </a:solidFill>
                    <a:effectLst/>
                    <a:latin typeface="Segoe WPC"/>
                  </a:rPr>
                  <a:t>external</a:t>
                </a:r>
                <a:r>
                  <a:rPr lang="es-ES" sz="900" b="0" i="0" dirty="0">
                    <a:solidFill>
                      <a:schemeClr val="tx1"/>
                    </a:solidFill>
                    <a:effectLst/>
                    <a:latin typeface="Segoe WPC"/>
                  </a:rPr>
                  <a:t> </a:t>
                </a:r>
                <a:r>
                  <a:rPr lang="es-ES" sz="900" b="0" i="0" dirty="0" err="1">
                    <a:solidFill>
                      <a:schemeClr val="tx1"/>
                    </a:solidFill>
                    <a:effectLst/>
                    <a:latin typeface="Segoe WPC"/>
                  </a:rPr>
                  <a:t>fraud</a:t>
                </a:r>
                <a:r>
                  <a:rPr lang="es-ES" sz="900" b="0" i="0" dirty="0">
                    <a:solidFill>
                      <a:schemeClr val="tx1"/>
                    </a:solidFill>
                    <a:effectLst/>
                    <a:latin typeface="Segoe WPC"/>
                  </a:rPr>
                  <a:t> son categorías separadas.</a:t>
                </a:r>
              </a:p>
              <a:p>
                <a:pPr algn="l">
                  <a:spcAft>
                    <a:spcPts val="600"/>
                  </a:spcAft>
                  <a:buNone/>
                </a:pPr>
                <a:r>
                  <a:rPr lang="es-ES" sz="900" b="1" i="0" dirty="0">
                    <a:solidFill>
                      <a:schemeClr val="tx1"/>
                    </a:solidFill>
                    <a:effectLst/>
                    <a:latin typeface="Segoe WPC"/>
                  </a:rPr>
                  <a:t>3. </a:t>
                </a:r>
                <a:r>
                  <a:rPr lang="es-ES" sz="900" b="1" i="0" dirty="0" err="1">
                    <a:solidFill>
                      <a:schemeClr val="tx1"/>
                    </a:solidFill>
                    <a:effectLst/>
                    <a:latin typeface="Segoe WPC"/>
                  </a:rPr>
                  <a:t>Large</a:t>
                </a:r>
                <a:r>
                  <a:rPr lang="es-ES" sz="900" b="1" i="0" dirty="0">
                    <a:solidFill>
                      <a:schemeClr val="tx1"/>
                    </a:solidFill>
                    <a:effectLst/>
                    <a:latin typeface="Segoe WPC"/>
                  </a:rPr>
                  <a:t> </a:t>
                </a:r>
                <a:r>
                  <a:rPr lang="es-ES" sz="900" b="1" i="0" dirty="0" err="1">
                    <a:solidFill>
                      <a:schemeClr val="tx1"/>
                    </a:solidFill>
                    <a:effectLst/>
                    <a:latin typeface="Segoe WPC"/>
                  </a:rPr>
                  <a:t>Operational</a:t>
                </a:r>
                <a:r>
                  <a:rPr lang="es-ES" sz="900" b="1" i="0" dirty="0">
                    <a:solidFill>
                      <a:schemeClr val="tx1"/>
                    </a:solidFill>
                    <a:effectLst/>
                    <a:latin typeface="Segoe WPC"/>
                  </a:rPr>
                  <a:t> </a:t>
                </a:r>
                <a:r>
                  <a:rPr lang="es-ES" sz="900" b="1" i="0" dirty="0" err="1">
                    <a:solidFill>
                      <a:schemeClr val="tx1"/>
                    </a:solidFill>
                    <a:effectLst/>
                    <a:latin typeface="Segoe WPC"/>
                  </a:rPr>
                  <a:t>Risks</a:t>
                </a:r>
                <a:br>
                  <a:rPr lang="es-ES" sz="900" b="0" i="0" dirty="0">
                    <a:solidFill>
                      <a:schemeClr val="tx1"/>
                    </a:solidFill>
                    <a:effectLst/>
                    <a:latin typeface="Segoe WPC"/>
                  </a:rPr>
                </a:br>
                <a:r>
                  <a:rPr lang="es-ES" sz="900" b="1" i="0" dirty="0" err="1">
                    <a:solidFill>
                      <a:schemeClr val="tx1"/>
                    </a:solidFill>
                    <a:effectLst/>
                    <a:latin typeface="Segoe WPC"/>
                  </a:rPr>
                  <a:t>Financial</a:t>
                </a:r>
                <a:r>
                  <a:rPr lang="es-ES" sz="900" b="1" i="0" dirty="0">
                    <a:solidFill>
                      <a:schemeClr val="tx1"/>
                    </a:solidFill>
                    <a:effectLst/>
                    <a:latin typeface="Segoe WPC"/>
                  </a:rPr>
                  <a:t> </a:t>
                </a:r>
                <a:r>
                  <a:rPr lang="es-ES" sz="900" b="1" i="0" dirty="0" err="1">
                    <a:solidFill>
                      <a:schemeClr val="tx1"/>
                    </a:solidFill>
                    <a:effectLst/>
                    <a:latin typeface="Segoe WPC"/>
                  </a:rPr>
                  <a:t>Object</a:t>
                </a:r>
                <a:r>
                  <a:rPr lang="es-ES" sz="900" b="1" i="0" dirty="0">
                    <a:solidFill>
                      <a:schemeClr val="tx1"/>
                    </a:solidFill>
                    <a:effectLst/>
                    <a:latin typeface="Segoe WPC"/>
                  </a:rPr>
                  <a:t>:</a:t>
                </a:r>
                <a:r>
                  <a:rPr lang="es-ES" sz="900" b="0" i="0" dirty="0">
                    <a:solidFill>
                      <a:schemeClr val="tx1"/>
                    </a:solidFill>
                    <a:effectLst/>
                    <a:latin typeface="Segoe WPC"/>
                  </a:rPr>
                  <a:t> Ejemplos de riesgos operacionales de gran severidad.</a:t>
                </a:r>
                <a:br>
                  <a:rPr lang="es-ES" sz="900" b="0" i="0" dirty="0">
                    <a:solidFill>
                      <a:schemeClr val="tx1"/>
                    </a:solidFill>
                    <a:effectLst/>
                    <a:latin typeface="Segoe WPC"/>
                  </a:rPr>
                </a:br>
                <a:r>
                  <a:rPr lang="es-ES" sz="900" b="1" i="0" dirty="0" err="1">
                    <a:solidFill>
                      <a:schemeClr val="tx1"/>
                    </a:solidFill>
                    <a:effectLst/>
                    <a:latin typeface="Segoe WPC"/>
                  </a:rPr>
                  <a:t>Plain</a:t>
                </a:r>
                <a:r>
                  <a:rPr lang="es-ES" sz="900" b="1" i="0" dirty="0">
                    <a:solidFill>
                      <a:schemeClr val="tx1"/>
                    </a:solidFill>
                    <a:effectLst/>
                    <a:latin typeface="Segoe WPC"/>
                  </a:rPr>
                  <a:t>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Algunos eventos dominan las pérdidas operacionales: </a:t>
                </a:r>
                <a:r>
                  <a:rPr lang="es-ES" sz="900" b="0" i="0" dirty="0" err="1">
                    <a:solidFill>
                      <a:schemeClr val="tx1"/>
                    </a:solidFill>
                    <a:effectLst/>
                    <a:latin typeface="Segoe WPC"/>
                  </a:rPr>
                  <a:t>cyberattacks</a:t>
                </a:r>
                <a:r>
                  <a:rPr lang="es-ES" sz="900" b="0" i="0" dirty="0">
                    <a:solidFill>
                      <a:schemeClr val="tx1"/>
                    </a:solidFill>
                    <a:effectLst/>
                    <a:latin typeface="Segoe WPC"/>
                  </a:rPr>
                  <a:t>, incumplimientos regulatorios y </a:t>
                </a:r>
                <a:r>
                  <a:rPr lang="es-ES" sz="900" b="0" i="0" dirty="0" err="1">
                    <a:solidFill>
                      <a:schemeClr val="tx1"/>
                    </a:solidFill>
                    <a:effectLst/>
                    <a:latin typeface="Segoe WPC"/>
                  </a:rPr>
                  <a:t>rogue</a:t>
                </a:r>
                <a:r>
                  <a:rPr lang="es-ES" sz="900" b="0" i="0" dirty="0">
                    <a:solidFill>
                      <a:schemeClr val="tx1"/>
                    </a:solidFill>
                    <a:effectLst/>
                    <a:latin typeface="Segoe WPC"/>
                  </a:rPr>
                  <a:t> </a:t>
                </a:r>
                <a:r>
                  <a:rPr lang="es-ES" sz="900" b="0" i="0" dirty="0" err="1">
                    <a:solidFill>
                      <a:schemeClr val="tx1"/>
                    </a:solidFill>
                    <a:effectLst/>
                    <a:latin typeface="Segoe WPC"/>
                  </a:rPr>
                  <a:t>traders</a:t>
                </a:r>
                <a:r>
                  <a:rPr lang="es-ES" sz="900" b="0" i="0" dirty="0">
                    <a:solidFill>
                      <a:schemeClr val="tx1"/>
                    </a:solidFill>
                    <a:effectLst/>
                    <a:latin typeface="Segoe WPC"/>
                  </a:rPr>
                  <a:t>.</a:t>
                </a:r>
                <a:br>
                  <a:rPr lang="es-ES" sz="900" b="0" i="0" dirty="0">
                    <a:solidFill>
                      <a:schemeClr val="tx1"/>
                    </a:solidFill>
                    <a:effectLst/>
                    <a:latin typeface="Segoe WPC"/>
                  </a:rPr>
                </a:br>
                <a:r>
                  <a:rPr lang="es-ES" sz="900" b="1" i="0" dirty="0">
                    <a:solidFill>
                      <a:schemeClr val="tx1"/>
                    </a:solidFill>
                    <a:effectLst/>
                    <a:latin typeface="Segoe WPC"/>
                  </a:rPr>
                  <a:t>Visual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Un hacker roba datos, un banco recibe una multa multimillonaria, o un </a:t>
                </a:r>
                <a:r>
                  <a:rPr lang="es-ES" sz="900" b="0" i="0" dirty="0" err="1">
                    <a:solidFill>
                      <a:schemeClr val="tx1"/>
                    </a:solidFill>
                    <a:effectLst/>
                    <a:latin typeface="Segoe WPC"/>
                  </a:rPr>
                  <a:t>trader</a:t>
                </a:r>
                <a:r>
                  <a:rPr lang="es-ES" sz="900" b="0" i="0" dirty="0">
                    <a:solidFill>
                      <a:schemeClr val="tx1"/>
                    </a:solidFill>
                    <a:effectLst/>
                    <a:latin typeface="Segoe WPC"/>
                  </a:rPr>
                  <a:t> oculta posiciones no autorizadas hasta causar una pérdida enorme.</a:t>
                </a:r>
                <a:br>
                  <a:rPr lang="es-ES" sz="900" b="0" i="0" dirty="0">
                    <a:solidFill>
                      <a:schemeClr val="tx1"/>
                    </a:solidFill>
                    <a:effectLst/>
                    <a:latin typeface="Segoe WPC"/>
                  </a:rPr>
                </a:br>
                <a:r>
                  <a:rPr lang="es-ES" sz="900" b="1" i="0" dirty="0">
                    <a:solidFill>
                      <a:schemeClr val="tx1"/>
                    </a:solidFill>
                    <a:effectLst/>
                    <a:latin typeface="Segoe WPC"/>
                  </a:rPr>
                  <a:t>Key Formula:</a:t>
                </a:r>
                <a:r>
                  <a:rPr lang="es-ES" sz="900" b="0" i="0" dirty="0">
                    <a:solidFill>
                      <a:schemeClr val="tx1"/>
                    </a:solidFill>
                    <a:effectLst/>
                    <a:latin typeface="Segoe WPC"/>
                  </a:rPr>
                  <a:t> No hay fórmula; el punto es que son eventos raros pero severos.</a:t>
                </a:r>
                <a:br>
                  <a:rPr lang="es-ES" sz="900" b="0" i="0" dirty="0">
                    <a:solidFill>
                      <a:schemeClr val="tx1"/>
                    </a:solidFill>
                    <a:effectLst/>
                    <a:latin typeface="Segoe WPC"/>
                  </a:rPr>
                </a:br>
                <a:r>
                  <a:rPr lang="es-ES" sz="900" b="1" i="0" dirty="0" err="1">
                    <a:solidFill>
                      <a:schemeClr val="tx1"/>
                    </a:solidFill>
                    <a:effectLst/>
                    <a:latin typeface="Segoe WPC"/>
                  </a:rPr>
                  <a:t>Interpretation</a:t>
                </a:r>
                <a:r>
                  <a:rPr lang="es-ES" sz="900" b="1" i="0" dirty="0">
                    <a:solidFill>
                      <a:schemeClr val="tx1"/>
                    </a:solidFill>
                    <a:effectLst/>
                    <a:latin typeface="Segoe WPC"/>
                  </a:rPr>
                  <a:t>:</a:t>
                </a:r>
                <a:r>
                  <a:rPr lang="es-ES" sz="900" b="0" i="0" dirty="0">
                    <a:solidFill>
                      <a:schemeClr val="tx1"/>
                    </a:solidFill>
                    <a:effectLst/>
                    <a:latin typeface="Segoe WPC"/>
                  </a:rPr>
                  <a:t> Estos casos muestran por qué </a:t>
                </a:r>
                <a:r>
                  <a:rPr lang="es-ES" sz="900" b="0" i="0" dirty="0" err="1">
                    <a:solidFill>
                      <a:schemeClr val="tx1"/>
                    </a:solidFill>
                    <a:effectLst/>
                    <a:latin typeface="Segoe WPC"/>
                  </a:rPr>
                  <a:t>operational</a:t>
                </a:r>
                <a:r>
                  <a:rPr lang="es-ES" sz="900" b="0" i="0" dirty="0">
                    <a:solidFill>
                      <a:schemeClr val="tx1"/>
                    </a:solidFill>
                    <a:effectLst/>
                    <a:latin typeface="Segoe WPC"/>
                  </a:rPr>
                  <a:t> </a:t>
                </a:r>
                <a:r>
                  <a:rPr lang="es-ES" sz="900" b="0" i="0" dirty="0" err="1">
                    <a:solidFill>
                      <a:schemeClr val="tx1"/>
                    </a:solidFill>
                    <a:effectLst/>
                    <a:latin typeface="Segoe WPC"/>
                  </a:rPr>
                  <a:t>risk</a:t>
                </a:r>
                <a:r>
                  <a:rPr lang="es-ES" sz="900" b="0" i="0" dirty="0">
                    <a:solidFill>
                      <a:schemeClr val="tx1"/>
                    </a:solidFill>
                    <a:effectLst/>
                    <a:latin typeface="Segoe WPC"/>
                  </a:rPr>
                  <a:t> puede ser tan costoso como </a:t>
                </a:r>
                <a:r>
                  <a:rPr lang="es-ES" sz="900" b="0" i="0" dirty="0" err="1">
                    <a:solidFill>
                      <a:schemeClr val="tx1"/>
                    </a:solidFill>
                    <a:effectLst/>
                    <a:latin typeface="Segoe WPC"/>
                  </a:rPr>
                  <a:t>market</a:t>
                </a:r>
                <a:r>
                  <a:rPr lang="es-ES" sz="900" b="0" i="0" dirty="0">
                    <a:solidFill>
                      <a:schemeClr val="tx1"/>
                    </a:solidFill>
                    <a:effectLst/>
                    <a:latin typeface="Segoe WPC"/>
                  </a:rPr>
                  <a:t> o </a:t>
                </a:r>
                <a:r>
                  <a:rPr lang="es-ES" sz="900" b="0" i="0" dirty="0" err="1">
                    <a:solidFill>
                      <a:schemeClr val="tx1"/>
                    </a:solidFill>
                    <a:effectLst/>
                    <a:latin typeface="Segoe WPC"/>
                  </a:rPr>
                  <a:t>credit</a:t>
                </a:r>
                <a:r>
                  <a:rPr lang="es-ES" sz="900" b="0" i="0" dirty="0">
                    <a:solidFill>
                      <a:schemeClr val="tx1"/>
                    </a:solidFill>
                    <a:effectLst/>
                    <a:latin typeface="Segoe WPC"/>
                  </a:rPr>
                  <a:t> </a:t>
                </a:r>
                <a:r>
                  <a:rPr lang="es-ES" sz="900" b="0" i="0" dirty="0" err="1">
                    <a:solidFill>
                      <a:schemeClr val="tx1"/>
                    </a:solidFill>
                    <a:effectLst/>
                    <a:latin typeface="Segoe WPC"/>
                  </a:rPr>
                  <a:t>risk</a:t>
                </a:r>
                <a:r>
                  <a:rPr lang="es-ES" sz="900" b="0" i="0" dirty="0">
                    <a:solidFill>
                      <a:schemeClr val="tx1"/>
                    </a:solidFill>
                    <a:effectLst/>
                    <a:latin typeface="Segoe WPC"/>
                  </a:rPr>
                  <a:t>.</a:t>
                </a:r>
                <a:br>
                  <a:rPr lang="es-ES" sz="900" b="0" i="0" dirty="0">
                    <a:solidFill>
                      <a:schemeClr val="tx1"/>
                    </a:solidFill>
                    <a:effectLst/>
                    <a:latin typeface="Segoe WPC"/>
                  </a:rPr>
                </a:br>
                <a:r>
                  <a:rPr lang="es-ES" sz="900" b="1" i="0" dirty="0" err="1">
                    <a:solidFill>
                      <a:schemeClr val="tx1"/>
                    </a:solidFill>
                    <a:effectLst/>
                    <a:latin typeface="Segoe WPC"/>
                  </a:rPr>
                  <a:t>Exam</a:t>
                </a:r>
                <a:r>
                  <a:rPr lang="es-ES" sz="900" b="1" i="0" dirty="0">
                    <a:solidFill>
                      <a:schemeClr val="tx1"/>
                    </a:solidFill>
                    <a:effectLst/>
                    <a:latin typeface="Segoe WPC"/>
                  </a:rPr>
                  <a:t> </a:t>
                </a:r>
                <a:r>
                  <a:rPr lang="es-ES" sz="900" b="1" i="0" dirty="0" err="1">
                    <a:solidFill>
                      <a:schemeClr val="tx1"/>
                    </a:solidFill>
                    <a:effectLst/>
                    <a:latin typeface="Segoe WPC"/>
                  </a:rPr>
                  <a:t>Trap</a:t>
                </a:r>
                <a:r>
                  <a:rPr lang="es-ES" sz="900" b="1" i="0" dirty="0">
                    <a:solidFill>
                      <a:schemeClr val="tx1"/>
                    </a:solidFill>
                    <a:effectLst/>
                    <a:latin typeface="Segoe WPC"/>
                  </a:rPr>
                  <a:t>:</a:t>
                </a:r>
                <a:r>
                  <a:rPr lang="es-ES" sz="900" b="0" i="0" dirty="0">
                    <a:solidFill>
                      <a:schemeClr val="tx1"/>
                    </a:solidFill>
                    <a:effectLst/>
                    <a:latin typeface="Segoe WPC"/>
                  </a:rPr>
                  <a:t> </a:t>
                </a:r>
                <a:r>
                  <a:rPr lang="es-ES" sz="900" b="0" i="0" dirty="0" err="1">
                    <a:solidFill>
                      <a:schemeClr val="tx1"/>
                    </a:solidFill>
                    <a:effectLst/>
                    <a:latin typeface="Segoe WPC"/>
                  </a:rPr>
                  <a:t>Rogue</a:t>
                </a:r>
                <a:r>
                  <a:rPr lang="es-ES" sz="900" b="0" i="0" dirty="0">
                    <a:solidFill>
                      <a:schemeClr val="tx1"/>
                    </a:solidFill>
                    <a:effectLst/>
                    <a:latin typeface="Segoe WPC"/>
                  </a:rPr>
                  <a:t> </a:t>
                </a:r>
                <a:r>
                  <a:rPr lang="es-ES" sz="900" b="0" i="0" dirty="0" err="1">
                    <a:solidFill>
                      <a:schemeClr val="tx1"/>
                    </a:solidFill>
                    <a:effectLst/>
                    <a:latin typeface="Segoe WPC"/>
                  </a:rPr>
                  <a:t>trader</a:t>
                </a:r>
                <a:r>
                  <a:rPr lang="es-ES" sz="900" b="0" i="0" dirty="0">
                    <a:solidFill>
                      <a:schemeClr val="tx1"/>
                    </a:solidFill>
                    <a:effectLst/>
                    <a:latin typeface="Segoe WPC"/>
                  </a:rPr>
                  <a:t> </a:t>
                </a:r>
                <a:r>
                  <a:rPr lang="es-ES" sz="900" b="0" i="0" dirty="0" err="1">
                    <a:solidFill>
                      <a:schemeClr val="tx1"/>
                    </a:solidFill>
                    <a:effectLst/>
                    <a:latin typeface="Segoe WPC"/>
                  </a:rPr>
                  <a:t>risk</a:t>
                </a:r>
                <a:r>
                  <a:rPr lang="es-ES" sz="900" b="0" i="0" dirty="0">
                    <a:solidFill>
                      <a:schemeClr val="tx1"/>
                    </a:solidFill>
                    <a:effectLst/>
                    <a:latin typeface="Segoe WPC"/>
                  </a:rPr>
                  <a:t> no es </a:t>
                </a:r>
                <a:r>
                  <a:rPr lang="es-ES" sz="900" b="0" i="0" dirty="0" err="1">
                    <a:solidFill>
                      <a:schemeClr val="tx1"/>
                    </a:solidFill>
                    <a:effectLst/>
                    <a:latin typeface="Segoe WPC"/>
                  </a:rPr>
                  <a:t>market</a:t>
                </a:r>
                <a:r>
                  <a:rPr lang="es-ES" sz="900" b="0" i="0" dirty="0">
                    <a:solidFill>
                      <a:schemeClr val="tx1"/>
                    </a:solidFill>
                    <a:effectLst/>
                    <a:latin typeface="Segoe WPC"/>
                  </a:rPr>
                  <a:t> </a:t>
                </a:r>
                <a:r>
                  <a:rPr lang="es-ES" sz="900" b="0" i="0" dirty="0" err="1">
                    <a:solidFill>
                      <a:schemeClr val="tx1"/>
                    </a:solidFill>
                    <a:effectLst/>
                    <a:latin typeface="Segoe WPC"/>
                  </a:rPr>
                  <a:t>risk</a:t>
                </a:r>
                <a:r>
                  <a:rPr lang="es-ES" sz="900" b="0" i="0" dirty="0">
                    <a:solidFill>
                      <a:schemeClr val="tx1"/>
                    </a:solidFill>
                    <a:effectLst/>
                    <a:latin typeface="Segoe WPC"/>
                  </a:rPr>
                  <a:t>; la fuente principal del problema es falla de control interno.</a:t>
                </a:r>
              </a:p>
              <a:p>
                <a:pPr algn="l">
                  <a:spcAft>
                    <a:spcPts val="600"/>
                  </a:spcAft>
                  <a:buNone/>
                </a:pPr>
                <a:r>
                  <a:rPr lang="es-ES" sz="900" b="1" i="0" dirty="0">
                    <a:solidFill>
                      <a:schemeClr val="tx1"/>
                    </a:solidFill>
                    <a:effectLst/>
                    <a:latin typeface="Segoe WPC"/>
                  </a:rPr>
                  <a:t>4. </a:t>
                </a:r>
                <a:r>
                  <a:rPr lang="es-ES" sz="900" b="1" i="0" dirty="0" err="1">
                    <a:solidFill>
                      <a:schemeClr val="tx1"/>
                    </a:solidFill>
                    <a:effectLst/>
                    <a:latin typeface="Segoe WPC"/>
                  </a:rPr>
                  <a:t>Basel</a:t>
                </a:r>
                <a:r>
                  <a:rPr lang="es-ES" sz="900" b="1" i="0" dirty="0">
                    <a:solidFill>
                      <a:schemeClr val="tx1"/>
                    </a:solidFill>
                    <a:effectLst/>
                    <a:latin typeface="Segoe WPC"/>
                  </a:rPr>
                  <a:t> II </a:t>
                </a:r>
                <a:r>
                  <a:rPr lang="es-ES" sz="900" b="1" i="0" dirty="0" err="1">
                    <a:solidFill>
                      <a:schemeClr val="tx1"/>
                    </a:solidFill>
                    <a:effectLst/>
                    <a:latin typeface="Segoe WPC"/>
                  </a:rPr>
                  <a:t>Approaches</a:t>
                </a:r>
                <a:br>
                  <a:rPr lang="es-ES" sz="900" b="0" i="0" dirty="0">
                    <a:solidFill>
                      <a:schemeClr val="tx1"/>
                    </a:solidFill>
                    <a:effectLst/>
                    <a:latin typeface="Segoe WPC"/>
                  </a:rPr>
                </a:br>
                <a:r>
                  <a:rPr lang="es-ES" sz="900" b="1" i="0" dirty="0" err="1">
                    <a:solidFill>
                      <a:schemeClr val="tx1"/>
                    </a:solidFill>
                    <a:effectLst/>
                    <a:latin typeface="Segoe WPC"/>
                  </a:rPr>
                  <a:t>Financial</a:t>
                </a:r>
                <a:r>
                  <a:rPr lang="es-ES" sz="900" b="1" i="0" dirty="0">
                    <a:solidFill>
                      <a:schemeClr val="tx1"/>
                    </a:solidFill>
                    <a:effectLst/>
                    <a:latin typeface="Segoe WPC"/>
                  </a:rPr>
                  <a:t> </a:t>
                </a:r>
                <a:r>
                  <a:rPr lang="es-ES" sz="900" b="1" i="0" dirty="0" err="1">
                    <a:solidFill>
                      <a:schemeClr val="tx1"/>
                    </a:solidFill>
                    <a:effectLst/>
                    <a:latin typeface="Segoe WPC"/>
                  </a:rPr>
                  <a:t>Object</a:t>
                </a:r>
                <a:r>
                  <a:rPr lang="es-ES" sz="900" b="1" i="0" dirty="0">
                    <a:solidFill>
                      <a:schemeClr val="tx1"/>
                    </a:solidFill>
                    <a:effectLst/>
                    <a:latin typeface="Segoe WPC"/>
                  </a:rPr>
                  <a:t>:</a:t>
                </a:r>
                <a:r>
                  <a:rPr lang="es-ES" sz="900" b="0" i="0" dirty="0">
                    <a:solidFill>
                      <a:schemeClr val="tx1"/>
                    </a:solidFill>
                    <a:effectLst/>
                    <a:latin typeface="Segoe WPC"/>
                  </a:rPr>
                  <a:t> Métodos regulatorios históricos para calcular capital por </a:t>
                </a:r>
                <a:r>
                  <a:rPr lang="es-ES" sz="900" b="0" i="0" dirty="0" err="1">
                    <a:solidFill>
                      <a:schemeClr val="tx1"/>
                    </a:solidFill>
                    <a:effectLst/>
                    <a:latin typeface="Segoe WPC"/>
                  </a:rPr>
                  <a:t>operational</a:t>
                </a:r>
                <a:r>
                  <a:rPr lang="es-ES" sz="900" b="0" i="0" dirty="0">
                    <a:solidFill>
                      <a:schemeClr val="tx1"/>
                    </a:solidFill>
                    <a:effectLst/>
                    <a:latin typeface="Segoe WPC"/>
                  </a:rPr>
                  <a:t> </a:t>
                </a:r>
                <a:r>
                  <a:rPr lang="es-ES" sz="900" b="0" i="0" dirty="0" err="1">
                    <a:solidFill>
                      <a:schemeClr val="tx1"/>
                    </a:solidFill>
                    <a:effectLst/>
                    <a:latin typeface="Segoe WPC"/>
                  </a:rPr>
                  <a:t>risk</a:t>
                </a:r>
                <a:r>
                  <a:rPr lang="es-ES" sz="900" b="0" i="0" dirty="0">
                    <a:solidFill>
                      <a:schemeClr val="tx1"/>
                    </a:solidFill>
                    <a:effectLst/>
                    <a:latin typeface="Segoe WPC"/>
                  </a:rPr>
                  <a:t>.</a:t>
                </a:r>
                <a:br>
                  <a:rPr lang="es-ES" sz="900" b="0" i="0" dirty="0">
                    <a:solidFill>
                      <a:schemeClr val="tx1"/>
                    </a:solidFill>
                    <a:effectLst/>
                    <a:latin typeface="Segoe WPC"/>
                  </a:rPr>
                </a:br>
                <a:r>
                  <a:rPr lang="es-ES" sz="900" b="1" i="0" dirty="0" err="1">
                    <a:solidFill>
                      <a:schemeClr val="tx1"/>
                    </a:solidFill>
                    <a:effectLst/>
                    <a:latin typeface="Segoe WPC"/>
                  </a:rPr>
                  <a:t>Plain</a:t>
                </a:r>
                <a:r>
                  <a:rPr lang="es-ES" sz="900" b="1" i="0" dirty="0">
                    <a:solidFill>
                      <a:schemeClr val="tx1"/>
                    </a:solidFill>
                    <a:effectLst/>
                    <a:latin typeface="Segoe WPC"/>
                  </a:rPr>
                  <a:t>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Basilea II introdujo tres métodos, de simple a complejo.</a:t>
                </a:r>
                <a:br>
                  <a:rPr lang="es-ES" sz="900" b="0" i="0" dirty="0">
                    <a:solidFill>
                      <a:schemeClr val="tx1"/>
                    </a:solidFill>
                    <a:effectLst/>
                    <a:latin typeface="Segoe WPC"/>
                  </a:rPr>
                </a:br>
                <a:r>
                  <a:rPr lang="es-ES" sz="900" b="1" i="0" dirty="0">
                    <a:solidFill>
                      <a:schemeClr val="tx1"/>
                    </a:solidFill>
                    <a:effectLst/>
                    <a:latin typeface="Segoe WPC"/>
                  </a:rPr>
                  <a:t>Visual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Primero un porcentaje fijo del ingreso, luego porcentajes por línea de negocio, y finalmente un modelo interno completo.</a:t>
                </a:r>
                <a:br>
                  <a:rPr lang="es-ES" sz="900" b="0" i="0" dirty="0">
                    <a:solidFill>
                      <a:schemeClr val="tx1"/>
                    </a:solidFill>
                    <a:effectLst/>
                    <a:latin typeface="Segoe WPC"/>
                  </a:rPr>
                </a:br>
                <a:r>
                  <a:rPr lang="es-ES" sz="900" b="1" i="0" dirty="0">
                    <a:solidFill>
                      <a:schemeClr val="tx1"/>
                    </a:solidFill>
                    <a:effectLst/>
                    <a:latin typeface="Segoe WPC"/>
                  </a:rPr>
                  <a:t>Key Formula:</a:t>
                </a:r>
                <a:r>
                  <a:rPr lang="es-ES" sz="900" b="0" i="0" dirty="0">
                    <a:solidFill>
                      <a:schemeClr val="tx1"/>
                    </a:solidFill>
                    <a:effectLst/>
                    <a:latin typeface="Segoe WPC"/>
                  </a:rPr>
                  <a:t> </a:t>
                </a:r>
                <a:r>
                  <a:rPr lang="es-ES" sz="900" b="0" i="0" dirty="0">
                    <a:solidFill>
                      <a:schemeClr val="tx1"/>
                    </a:solidFill>
                    <a:effectLst/>
                    <a:latin typeface="Consolas" panose="020B0609020204030204" pitchFamily="49" charset="0"/>
                  </a:rPr>
                  <a:t>Basic </a:t>
                </a:r>
                <a:r>
                  <a:rPr lang="es-ES" sz="900" b="0" i="0" dirty="0" err="1">
                    <a:solidFill>
                      <a:schemeClr val="tx1"/>
                    </a:solidFill>
                    <a:effectLst/>
                    <a:latin typeface="Consolas" panose="020B0609020204030204" pitchFamily="49" charset="0"/>
                  </a:rPr>
                  <a:t>Indicator</a:t>
                </a:r>
                <a:r>
                  <a:rPr lang="es-ES" sz="900" b="0" i="0" dirty="0">
                    <a:solidFill>
                      <a:schemeClr val="tx1"/>
                    </a:solidFill>
                    <a:effectLst/>
                    <a:latin typeface="Consolas" panose="020B0609020204030204" pitchFamily="49" charset="0"/>
                  </a:rPr>
                  <a:t> </a:t>
                </a:r>
                <a:r>
                  <a:rPr lang="es-ES" sz="900" b="0" i="0" dirty="0" err="1">
                    <a:solidFill>
                      <a:schemeClr val="tx1"/>
                    </a:solidFill>
                    <a:effectLst/>
                    <a:latin typeface="Consolas" panose="020B0609020204030204" pitchFamily="49" charset="0"/>
                  </a:rPr>
                  <a:t>Approach</a:t>
                </a:r>
                <a:r>
                  <a:rPr lang="es-ES" sz="900" b="0" i="0" dirty="0">
                    <a:solidFill>
                      <a:schemeClr val="tx1"/>
                    </a:solidFill>
                    <a:effectLst/>
                    <a:latin typeface="Segoe WPC"/>
                  </a:rPr>
                  <a:t>: </a:t>
                </a:r>
                <a14:m>
                  <m:oMath xmlns:m="http://schemas.openxmlformats.org/officeDocument/2006/math">
                    <m:r>
                      <m:rPr>
                        <m:nor/>
                      </m:rPr>
                      <a:rPr lang="es-ES" sz="900" b="0">
                        <a:solidFill>
                          <a:schemeClr val="tx1"/>
                        </a:solidFill>
                      </a:rPr>
                      <m:t>Capital</m:t>
                    </m:r>
                    <m:r>
                      <a:rPr lang="es-ES" sz="900" b="0" i="0">
                        <a:solidFill>
                          <a:schemeClr val="tx1"/>
                        </a:solidFill>
                        <a:latin typeface="Cambria Math" panose="02040503050406030204" pitchFamily="18" charset="0"/>
                      </a:rPr>
                      <m:t>=</m:t>
                    </m:r>
                    <m:r>
                      <a:rPr lang="es-ES" sz="900" b="0" i="0">
                        <a:solidFill>
                          <a:schemeClr val="tx1"/>
                        </a:solidFill>
                        <a:latin typeface="Cambria Math" panose="02040503050406030204" pitchFamily="18" charset="0"/>
                      </a:rPr>
                      <m:t>15</m:t>
                    </m:r>
                    <m:r>
                      <a:rPr lang="es-ES" sz="900" b="0" i="0">
                        <a:solidFill>
                          <a:schemeClr val="tx1"/>
                        </a:solidFill>
                        <a:latin typeface="Cambria Math" panose="02040503050406030204" pitchFamily="18" charset="0"/>
                      </a:rPr>
                      <m:t>%×</m:t>
                    </m:r>
                    <m:r>
                      <m:rPr>
                        <m:nor/>
                      </m:rPr>
                      <a:rPr lang="es-ES" sz="900" b="0" i="1">
                        <a:solidFill>
                          <a:schemeClr val="tx1"/>
                        </a:solidFill>
                        <a:latin typeface="Cambria Math" panose="02040503050406030204" pitchFamily="18" charset="0"/>
                      </a:rPr>
                      <m:t>average</m:t>
                    </m:r>
                    <m:r>
                      <m:rPr>
                        <m:nor/>
                      </m:rPr>
                      <a:rPr lang="es-ES" sz="900" b="0" i="1">
                        <a:solidFill>
                          <a:schemeClr val="tx1"/>
                        </a:solidFill>
                        <a:latin typeface="Cambria Math" panose="02040503050406030204" pitchFamily="18" charset="0"/>
                      </a:rPr>
                      <m:t> </m:t>
                    </m:r>
                    <m:r>
                      <m:rPr>
                        <m:nor/>
                      </m:rPr>
                      <a:rPr lang="es-ES" sz="900" b="0" i="1">
                        <a:solidFill>
                          <a:schemeClr val="tx1"/>
                        </a:solidFill>
                        <a:latin typeface="Cambria Math" panose="02040503050406030204" pitchFamily="18" charset="0"/>
                      </a:rPr>
                      <m:t>gross</m:t>
                    </m:r>
                    <m:r>
                      <m:rPr>
                        <m:nor/>
                      </m:rPr>
                      <a:rPr lang="es-ES" sz="900" b="0" i="1">
                        <a:solidFill>
                          <a:schemeClr val="tx1"/>
                        </a:solidFill>
                        <a:latin typeface="Cambria Math" panose="02040503050406030204" pitchFamily="18" charset="0"/>
                      </a:rPr>
                      <m:t> </m:t>
                    </m:r>
                    <m:r>
                      <m:rPr>
                        <m:nor/>
                      </m:rPr>
                      <a:rPr lang="es-ES" sz="900" b="0" i="1">
                        <a:solidFill>
                          <a:schemeClr val="tx1"/>
                        </a:solidFill>
                        <a:latin typeface="Cambria Math" panose="02040503050406030204" pitchFamily="18" charset="0"/>
                      </a:rPr>
                      <m:t>income</m:t>
                    </m:r>
                  </m:oMath>
                </a14:m>
                <a:br>
                  <a:rPr lang="es-ES" sz="900" b="0" i="0" dirty="0">
                    <a:solidFill>
                      <a:schemeClr val="tx1"/>
                    </a:solidFill>
                    <a:effectLst/>
                    <a:latin typeface="Segoe WPC"/>
                  </a:rPr>
                </a:br>
                <a:r>
                  <a:rPr lang="es-ES" sz="900" b="1" i="0" dirty="0" err="1">
                    <a:solidFill>
                      <a:schemeClr val="tx1"/>
                    </a:solidFill>
                    <a:effectLst/>
                    <a:latin typeface="Segoe WPC"/>
                  </a:rPr>
                  <a:t>Interpretation</a:t>
                </a:r>
                <a:r>
                  <a:rPr lang="es-ES" sz="900" b="1" i="0" dirty="0">
                    <a:solidFill>
                      <a:schemeClr val="tx1"/>
                    </a:solidFill>
                    <a:effectLst/>
                    <a:latin typeface="Segoe WPC"/>
                  </a:rPr>
                  <a:t>:</a:t>
                </a:r>
                <a:r>
                  <a:rPr lang="es-ES" sz="900" b="0" i="0" dirty="0">
                    <a:solidFill>
                      <a:schemeClr val="tx1"/>
                    </a:solidFill>
                    <a:effectLst/>
                    <a:latin typeface="Segoe WPC"/>
                  </a:rPr>
                  <a:t> El </a:t>
                </a:r>
                <a:r>
                  <a:rPr lang="es-ES" sz="900" b="0" i="0" dirty="0" err="1">
                    <a:solidFill>
                      <a:schemeClr val="tx1"/>
                    </a:solidFill>
                    <a:effectLst/>
                    <a:latin typeface="Segoe WPC"/>
                  </a:rPr>
                  <a:t>standardized</a:t>
                </a:r>
                <a:r>
                  <a:rPr lang="es-ES" sz="900" b="0" i="0" dirty="0">
                    <a:solidFill>
                      <a:schemeClr val="tx1"/>
                    </a:solidFill>
                    <a:effectLst/>
                    <a:latin typeface="Segoe WPC"/>
                  </a:rPr>
                  <a:t> </a:t>
                </a:r>
                <a:r>
                  <a:rPr lang="es-ES" sz="900" b="0" i="0" dirty="0" err="1">
                    <a:solidFill>
                      <a:schemeClr val="tx1"/>
                    </a:solidFill>
                    <a:effectLst/>
                    <a:latin typeface="Segoe WPC"/>
                  </a:rPr>
                  <a:t>approach</a:t>
                </a:r>
                <a:r>
                  <a:rPr lang="es-ES" sz="900" b="0" i="0" dirty="0">
                    <a:solidFill>
                      <a:schemeClr val="tx1"/>
                    </a:solidFill>
                    <a:effectLst/>
                    <a:latin typeface="Segoe WPC"/>
                  </a:rPr>
                  <a:t> aplicaba distintos porcentajes al </a:t>
                </a:r>
                <a:r>
                  <a:rPr lang="es-ES" sz="900" b="0" i="0" dirty="0" err="1">
                    <a:solidFill>
                      <a:schemeClr val="tx1"/>
                    </a:solidFill>
                    <a:effectLst/>
                    <a:latin typeface="Segoe WPC"/>
                  </a:rPr>
                  <a:t>gross</a:t>
                </a:r>
                <a:r>
                  <a:rPr lang="es-ES" sz="900" b="0" i="0" dirty="0">
                    <a:solidFill>
                      <a:schemeClr val="tx1"/>
                    </a:solidFill>
                    <a:effectLst/>
                    <a:latin typeface="Segoe WPC"/>
                  </a:rPr>
                  <a:t> </a:t>
                </a:r>
                <a:r>
                  <a:rPr lang="es-ES" sz="900" b="0" i="0" dirty="0" err="1">
                    <a:solidFill>
                      <a:schemeClr val="tx1"/>
                    </a:solidFill>
                    <a:effectLst/>
                    <a:latin typeface="Segoe WPC"/>
                  </a:rPr>
                  <a:t>income</a:t>
                </a:r>
                <a:r>
                  <a:rPr lang="es-ES" sz="900" b="0" i="0" dirty="0">
                    <a:solidFill>
                      <a:schemeClr val="tx1"/>
                    </a:solidFill>
                    <a:effectLst/>
                    <a:latin typeface="Segoe WPC"/>
                  </a:rPr>
                  <a:t> según </a:t>
                </a:r>
                <a:r>
                  <a:rPr lang="es-ES" sz="900" b="0" i="0" dirty="0" err="1">
                    <a:solidFill>
                      <a:schemeClr val="tx1"/>
                    </a:solidFill>
                    <a:effectLst/>
                    <a:latin typeface="Segoe WPC"/>
                  </a:rPr>
                  <a:t>business</a:t>
                </a:r>
                <a:r>
                  <a:rPr lang="es-ES" sz="900" b="0" i="0" dirty="0">
                    <a:solidFill>
                      <a:schemeClr val="tx1"/>
                    </a:solidFill>
                    <a:effectLst/>
                    <a:latin typeface="Segoe WPC"/>
                  </a:rPr>
                  <a:t> line; el AMA modelaba directamente la distribución de pérdidas.</a:t>
                </a:r>
                <a:br>
                  <a:rPr lang="es-ES" sz="900" b="0" i="0" dirty="0">
                    <a:solidFill>
                      <a:schemeClr val="tx1"/>
                    </a:solidFill>
                    <a:effectLst/>
                    <a:latin typeface="Segoe WPC"/>
                  </a:rPr>
                </a:br>
                <a:r>
                  <a:rPr lang="es-ES" sz="900" b="1" i="0" dirty="0" err="1">
                    <a:solidFill>
                      <a:schemeClr val="tx1"/>
                    </a:solidFill>
                    <a:effectLst/>
                    <a:latin typeface="Segoe WPC"/>
                  </a:rPr>
                  <a:t>Exam</a:t>
                </a:r>
                <a:r>
                  <a:rPr lang="es-ES" sz="900" b="1" i="0" dirty="0">
                    <a:solidFill>
                      <a:schemeClr val="tx1"/>
                    </a:solidFill>
                    <a:effectLst/>
                    <a:latin typeface="Segoe WPC"/>
                  </a:rPr>
                  <a:t> </a:t>
                </a:r>
                <a:r>
                  <a:rPr lang="es-ES" sz="900" b="1" i="0" dirty="0" err="1">
                    <a:solidFill>
                      <a:schemeClr val="tx1"/>
                    </a:solidFill>
                    <a:effectLst/>
                    <a:latin typeface="Segoe WPC"/>
                  </a:rPr>
                  <a:t>Trap</a:t>
                </a:r>
                <a:r>
                  <a:rPr lang="es-ES" sz="900" b="1" i="0" dirty="0">
                    <a:solidFill>
                      <a:schemeClr val="tx1"/>
                    </a:solidFill>
                    <a:effectLst/>
                    <a:latin typeface="Segoe WPC"/>
                  </a:rPr>
                  <a:t>:</a:t>
                </a:r>
                <a:r>
                  <a:rPr lang="es-ES" sz="900" b="0" i="0" dirty="0">
                    <a:solidFill>
                      <a:schemeClr val="tx1"/>
                    </a:solidFill>
                    <a:effectLst/>
                    <a:latin typeface="Segoe WPC"/>
                  </a:rPr>
                  <a:t> Gross </a:t>
                </a:r>
                <a:r>
                  <a:rPr lang="es-ES" sz="900" b="0" i="0" dirty="0" err="1">
                    <a:solidFill>
                      <a:schemeClr val="tx1"/>
                    </a:solidFill>
                    <a:effectLst/>
                    <a:latin typeface="Segoe WPC"/>
                  </a:rPr>
                  <a:t>income</a:t>
                </a:r>
                <a:r>
                  <a:rPr lang="es-ES" sz="900" b="0" i="0" dirty="0">
                    <a:solidFill>
                      <a:schemeClr val="tx1"/>
                    </a:solidFill>
                    <a:effectLst/>
                    <a:latin typeface="Segoe WPC"/>
                  </a:rPr>
                  <a:t> no es utilidad neta; no confundas la base del cálculo.</a:t>
                </a:r>
              </a:p>
              <a:p>
                <a:pPr algn="l">
                  <a:spcAft>
                    <a:spcPts val="600"/>
                  </a:spcAft>
                  <a:buNone/>
                </a:pPr>
                <a:r>
                  <a:rPr lang="es-ES" sz="900" b="1" i="0" dirty="0">
                    <a:solidFill>
                      <a:schemeClr val="tx1"/>
                    </a:solidFill>
                    <a:effectLst/>
                    <a:latin typeface="Segoe WPC"/>
                  </a:rPr>
                  <a:t>5. </a:t>
                </a:r>
                <a:r>
                  <a:rPr lang="es-ES" sz="900" b="1" i="0" dirty="0" err="1">
                    <a:solidFill>
                      <a:schemeClr val="tx1"/>
                    </a:solidFill>
                    <a:effectLst/>
                    <a:latin typeface="Segoe WPC"/>
                  </a:rPr>
                  <a:t>Why</a:t>
                </a:r>
                <a:r>
                  <a:rPr lang="es-ES" sz="900" b="1" i="0" dirty="0">
                    <a:solidFill>
                      <a:schemeClr val="tx1"/>
                    </a:solidFill>
                    <a:effectLst/>
                    <a:latin typeface="Segoe WPC"/>
                  </a:rPr>
                  <a:t> </a:t>
                </a:r>
                <a:r>
                  <a:rPr lang="es-ES" sz="900" b="1" i="0" dirty="0" err="1">
                    <a:solidFill>
                      <a:schemeClr val="tx1"/>
                    </a:solidFill>
                    <a:effectLst/>
                    <a:latin typeface="Segoe WPC"/>
                  </a:rPr>
                  <a:t>the</a:t>
                </a:r>
                <a:r>
                  <a:rPr lang="es-ES" sz="900" b="1" i="0" dirty="0">
                    <a:solidFill>
                      <a:schemeClr val="tx1"/>
                    </a:solidFill>
                    <a:effectLst/>
                    <a:latin typeface="Segoe WPC"/>
                  </a:rPr>
                  <a:t> </a:t>
                </a:r>
                <a:r>
                  <a:rPr lang="es-ES" sz="900" b="1" i="0" dirty="0" err="1">
                    <a:solidFill>
                      <a:schemeClr val="tx1"/>
                    </a:solidFill>
                    <a:effectLst/>
                    <a:latin typeface="Segoe WPC"/>
                  </a:rPr>
                  <a:t>Standardized</a:t>
                </a:r>
                <a:r>
                  <a:rPr lang="es-ES" sz="900" b="1" i="0" dirty="0">
                    <a:solidFill>
                      <a:schemeClr val="tx1"/>
                    </a:solidFill>
                    <a:effectLst/>
                    <a:latin typeface="Segoe WPC"/>
                  </a:rPr>
                  <a:t> </a:t>
                </a:r>
                <a:r>
                  <a:rPr lang="es-ES" sz="900" b="1" i="0" dirty="0" err="1">
                    <a:solidFill>
                      <a:schemeClr val="tx1"/>
                    </a:solidFill>
                    <a:effectLst/>
                    <a:latin typeface="Segoe WPC"/>
                  </a:rPr>
                  <a:t>Measurement</a:t>
                </a:r>
                <a:r>
                  <a:rPr lang="es-ES" sz="900" b="1" i="0" dirty="0">
                    <a:solidFill>
                      <a:schemeClr val="tx1"/>
                    </a:solidFill>
                    <a:effectLst/>
                    <a:latin typeface="Segoe WPC"/>
                  </a:rPr>
                  <a:t> </a:t>
                </a:r>
                <a:r>
                  <a:rPr lang="es-ES" sz="900" b="1" i="0" dirty="0" err="1">
                    <a:solidFill>
                      <a:schemeClr val="tx1"/>
                    </a:solidFill>
                    <a:effectLst/>
                    <a:latin typeface="Segoe WPC"/>
                  </a:rPr>
                  <a:t>Approach</a:t>
                </a:r>
                <a:r>
                  <a:rPr lang="es-ES" sz="900" b="1" i="0" dirty="0">
                    <a:solidFill>
                      <a:schemeClr val="tx1"/>
                    </a:solidFill>
                    <a:effectLst/>
                    <a:latin typeface="Segoe WPC"/>
                  </a:rPr>
                  <a:t> </a:t>
                </a:r>
                <a:r>
                  <a:rPr lang="es-ES" sz="900" b="1" i="0" dirty="0" err="1">
                    <a:solidFill>
                      <a:schemeClr val="tx1"/>
                    </a:solidFill>
                    <a:effectLst/>
                    <a:latin typeface="Segoe WPC"/>
                  </a:rPr>
                  <a:t>Was</a:t>
                </a:r>
                <a:r>
                  <a:rPr lang="es-ES" sz="900" b="1" i="0" dirty="0">
                    <a:solidFill>
                      <a:schemeClr val="tx1"/>
                    </a:solidFill>
                    <a:effectLst/>
                    <a:latin typeface="Segoe WPC"/>
                  </a:rPr>
                  <a:t> </a:t>
                </a:r>
                <a:r>
                  <a:rPr lang="es-ES" sz="900" b="1" i="0" dirty="0" err="1">
                    <a:solidFill>
                      <a:schemeClr val="tx1"/>
                    </a:solidFill>
                    <a:effectLst/>
                    <a:latin typeface="Segoe WPC"/>
                  </a:rPr>
                  <a:t>Introduced</a:t>
                </a:r>
                <a:br>
                  <a:rPr lang="es-ES" sz="900" b="0" i="0" dirty="0">
                    <a:solidFill>
                      <a:schemeClr val="tx1"/>
                    </a:solidFill>
                    <a:effectLst/>
                    <a:latin typeface="Segoe WPC"/>
                  </a:rPr>
                </a:br>
                <a:r>
                  <a:rPr lang="es-ES" sz="900" b="1" i="0" dirty="0" err="1">
                    <a:solidFill>
                      <a:schemeClr val="tx1"/>
                    </a:solidFill>
                    <a:effectLst/>
                    <a:latin typeface="Segoe WPC"/>
                  </a:rPr>
                  <a:t>Financial</a:t>
                </a:r>
                <a:r>
                  <a:rPr lang="es-ES" sz="900" b="1" i="0" dirty="0">
                    <a:solidFill>
                      <a:schemeClr val="tx1"/>
                    </a:solidFill>
                    <a:effectLst/>
                    <a:latin typeface="Segoe WPC"/>
                  </a:rPr>
                  <a:t> </a:t>
                </a:r>
                <a:r>
                  <a:rPr lang="es-ES" sz="900" b="1" i="0" dirty="0" err="1">
                    <a:solidFill>
                      <a:schemeClr val="tx1"/>
                    </a:solidFill>
                    <a:effectLst/>
                    <a:latin typeface="Segoe WPC"/>
                  </a:rPr>
                  <a:t>Object</a:t>
                </a:r>
                <a:r>
                  <a:rPr lang="es-ES" sz="900" b="1" i="0" dirty="0">
                    <a:solidFill>
                      <a:schemeClr val="tx1"/>
                    </a:solidFill>
                    <a:effectLst/>
                    <a:latin typeface="Segoe WPC"/>
                  </a:rPr>
                  <a:t>:</a:t>
                </a:r>
                <a:r>
                  <a:rPr lang="es-ES" sz="900" b="0" i="0" dirty="0">
                    <a:solidFill>
                      <a:schemeClr val="tx1"/>
                    </a:solidFill>
                    <a:effectLst/>
                    <a:latin typeface="Segoe WPC"/>
                  </a:rPr>
                  <a:t> Reemplazo de los métodos anteriores por el SMA.</a:t>
                </a:r>
                <a:br>
                  <a:rPr lang="es-ES" sz="900" b="0" i="0" dirty="0">
                    <a:solidFill>
                      <a:schemeClr val="tx1"/>
                    </a:solidFill>
                    <a:effectLst/>
                    <a:latin typeface="Segoe WPC"/>
                  </a:rPr>
                </a:br>
                <a:r>
                  <a:rPr lang="es-ES" sz="900" b="1" i="0" dirty="0" err="1">
                    <a:solidFill>
                      <a:schemeClr val="tx1"/>
                    </a:solidFill>
                    <a:effectLst/>
                    <a:latin typeface="Segoe WPC"/>
                  </a:rPr>
                  <a:t>Plain</a:t>
                </a:r>
                <a:r>
                  <a:rPr lang="es-ES" sz="900" b="1" i="0" dirty="0">
                    <a:solidFill>
                      <a:schemeClr val="tx1"/>
                    </a:solidFill>
                    <a:effectLst/>
                    <a:latin typeface="Segoe WPC"/>
                  </a:rPr>
                  <a:t>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El AMA daba resultados demasiado distintos entre bancos, incluso con datos parecidos.</a:t>
                </a:r>
                <a:br>
                  <a:rPr lang="es-ES" sz="900" b="0" i="0" dirty="0">
                    <a:solidFill>
                      <a:schemeClr val="tx1"/>
                    </a:solidFill>
                    <a:effectLst/>
                    <a:latin typeface="Segoe WPC"/>
                  </a:rPr>
                </a:br>
                <a:r>
                  <a:rPr lang="es-ES" sz="900" b="1" i="0" dirty="0">
                    <a:solidFill>
                      <a:schemeClr val="tx1"/>
                    </a:solidFill>
                    <a:effectLst/>
                    <a:latin typeface="Segoe WPC"/>
                  </a:rPr>
                  <a:t>Visual </a:t>
                </a:r>
                <a:r>
                  <a:rPr lang="es-ES" sz="900" b="1" i="0" dirty="0" err="1">
                    <a:solidFill>
                      <a:schemeClr val="tx1"/>
                    </a:solidFill>
                    <a:effectLst/>
                    <a:latin typeface="Segoe WPC"/>
                  </a:rPr>
                  <a:t>Intuition</a:t>
                </a:r>
                <a:r>
                  <a:rPr lang="es-ES" sz="900" b="1" i="0" dirty="0">
                    <a:solidFill>
                      <a:schemeClr val="tx1"/>
                    </a:solidFill>
                    <a:effectLst/>
                    <a:latin typeface="Segoe WPC"/>
                  </a:rPr>
                  <a:t>:</a:t>
                </a:r>
                <a:r>
                  <a:rPr lang="es-ES" sz="900" b="0" i="0" dirty="0">
                    <a:solidFill>
                      <a:schemeClr val="tx1"/>
                    </a:solidFill>
                    <a:effectLst/>
                    <a:latin typeface="Segoe WPC"/>
                  </a:rPr>
                  <a:t> Dos bancos podían modelar </a:t>
                </a:r>
                <a:r>
                  <a:rPr lang="es-ES" sz="900" b="0" i="0" dirty="0" err="1">
                    <a:solidFill>
                      <a:schemeClr val="tx1"/>
                    </a:solidFill>
                    <a:effectLst/>
                    <a:latin typeface="Segoe WPC"/>
                  </a:rPr>
                  <a:t>operational</a:t>
                </a:r>
                <a:r>
                  <a:rPr lang="es-ES" sz="900" b="0" i="0" dirty="0">
                    <a:solidFill>
                      <a:schemeClr val="tx1"/>
                    </a:solidFill>
                    <a:effectLst/>
                    <a:latin typeface="Segoe WPC"/>
                  </a:rPr>
                  <a:t> </a:t>
                </a:r>
                <a:r>
                  <a:rPr lang="es-ES" sz="900" b="0" i="0" dirty="0" err="1">
                    <a:solidFill>
                      <a:schemeClr val="tx1"/>
                    </a:solidFill>
                    <a:effectLst/>
                    <a:latin typeface="Segoe WPC"/>
                  </a:rPr>
                  <a:t>risk</a:t>
                </a:r>
                <a:r>
                  <a:rPr lang="es-ES" sz="900" b="0" i="0" dirty="0">
                    <a:solidFill>
                      <a:schemeClr val="tx1"/>
                    </a:solidFill>
                    <a:effectLst/>
                    <a:latin typeface="Segoe WPC"/>
                  </a:rPr>
                  <a:t> de forma muy distinta y terminar con capitales regulatorios poco comparables.</a:t>
                </a:r>
                <a:br>
                  <a:rPr lang="es-ES" sz="900" b="0" i="0" dirty="0">
                    <a:solidFill>
                      <a:schemeClr val="tx1"/>
                    </a:solidFill>
                    <a:effectLst/>
                    <a:latin typeface="Segoe WPC"/>
                  </a:rPr>
                </a:br>
                <a:r>
                  <a:rPr lang="es-ES" sz="900" b="1" i="0" dirty="0">
                    <a:solidFill>
                      <a:schemeClr val="tx1"/>
                    </a:solidFill>
                    <a:effectLst/>
                    <a:latin typeface="Segoe WPC"/>
                  </a:rPr>
                  <a:t>Key Formula:</a:t>
                </a:r>
                <a:r>
                  <a:rPr lang="es-ES" sz="900" b="0" i="0" dirty="0">
                    <a:solidFill>
                      <a:schemeClr val="tx1"/>
                    </a:solidFill>
                    <a:effectLst/>
                    <a:latin typeface="Segoe WPC"/>
                  </a:rPr>
                  <a:t> El SMA combina un </a:t>
                </a:r>
                <a:r>
                  <a:rPr lang="es-ES" sz="900" b="0" i="0" dirty="0">
                    <a:solidFill>
                      <a:schemeClr val="tx1"/>
                    </a:solidFill>
                    <a:effectLst/>
                    <a:latin typeface="Consolas" panose="020B0609020204030204" pitchFamily="49" charset="0"/>
                  </a:rPr>
                  <a:t>Business </a:t>
                </a:r>
                <a:r>
                  <a:rPr lang="es-ES" sz="900" b="0" i="0" dirty="0" err="1">
                    <a:solidFill>
                      <a:schemeClr val="tx1"/>
                    </a:solidFill>
                    <a:effectLst/>
                    <a:latin typeface="Consolas" panose="020B0609020204030204" pitchFamily="49" charset="0"/>
                  </a:rPr>
                  <a:t>Indicator</a:t>
                </a:r>
                <a:r>
                  <a:rPr lang="es-ES" sz="900" b="0" i="0" dirty="0">
                    <a:solidFill>
                      <a:schemeClr val="tx1"/>
                    </a:solidFill>
                    <a:effectLst/>
                    <a:latin typeface="Consolas" panose="020B0609020204030204" pitchFamily="49" charset="0"/>
                  </a:rPr>
                  <a:t> </a:t>
                </a:r>
                <a:r>
                  <a:rPr lang="es-ES" sz="900" b="0" i="0" dirty="0" err="1">
                    <a:solidFill>
                      <a:schemeClr val="tx1"/>
                    </a:solidFill>
                    <a:effectLst/>
                    <a:latin typeface="Consolas" panose="020B0609020204030204" pitchFamily="49" charset="0"/>
                  </a:rPr>
                  <a:t>Component</a:t>
                </a:r>
                <a:r>
                  <a:rPr lang="es-ES" sz="900" b="0" i="0" dirty="0">
                    <a:solidFill>
                      <a:schemeClr val="tx1"/>
                    </a:solidFill>
                    <a:effectLst/>
                    <a:latin typeface="Segoe WPC"/>
                  </a:rPr>
                  <a:t> y un </a:t>
                </a:r>
                <a:r>
                  <a:rPr lang="es-ES" sz="900" b="0" i="0" dirty="0" err="1">
                    <a:solidFill>
                      <a:schemeClr val="tx1"/>
                    </a:solidFill>
                    <a:effectLst/>
                    <a:latin typeface="Consolas" panose="020B0609020204030204" pitchFamily="49" charset="0"/>
                  </a:rPr>
                  <a:t>Loss</a:t>
                </a:r>
                <a:r>
                  <a:rPr lang="es-ES" sz="900" b="0" i="0" dirty="0">
                    <a:solidFill>
                      <a:schemeClr val="tx1"/>
                    </a:solidFill>
                    <a:effectLst/>
                    <a:latin typeface="Consolas" panose="020B0609020204030204" pitchFamily="49" charset="0"/>
                  </a:rPr>
                  <a:t> </a:t>
                </a:r>
                <a:r>
                  <a:rPr lang="es-ES" sz="900" b="0" i="0" dirty="0" err="1">
                    <a:solidFill>
                      <a:schemeClr val="tx1"/>
                    </a:solidFill>
                    <a:effectLst/>
                    <a:latin typeface="Consolas" panose="020B0609020204030204" pitchFamily="49" charset="0"/>
                  </a:rPr>
                  <a:t>Component</a:t>
                </a:r>
                <a:r>
                  <a:rPr lang="es-ES" sz="900" b="0" i="0" dirty="0">
                    <a:solidFill>
                      <a:schemeClr val="tx1"/>
                    </a:solidFill>
                    <a:effectLst/>
                    <a:latin typeface="Segoe WPC"/>
                  </a:rPr>
                  <a:t>.</a:t>
                </a:r>
                <a:br>
                  <a:rPr lang="es-ES" sz="900" b="0" i="0" dirty="0">
                    <a:solidFill>
                      <a:schemeClr val="tx1"/>
                    </a:solidFill>
                    <a:effectLst/>
                    <a:latin typeface="Segoe WPC"/>
                  </a:rPr>
                </a:br>
                <a:r>
                  <a:rPr lang="es-ES" sz="900" b="1" i="0" dirty="0" err="1">
                    <a:solidFill>
                      <a:schemeClr val="tx1"/>
                    </a:solidFill>
                    <a:effectLst/>
                    <a:latin typeface="Segoe WPC"/>
                  </a:rPr>
                  <a:t>Interpretation</a:t>
                </a:r>
                <a:r>
                  <a:rPr lang="es-ES" sz="900" b="1" i="0" dirty="0">
                    <a:solidFill>
                      <a:schemeClr val="tx1"/>
                    </a:solidFill>
                    <a:effectLst/>
                    <a:latin typeface="Segoe WPC"/>
                  </a:rPr>
                  <a:t>:</a:t>
                </a:r>
                <a:r>
                  <a:rPr lang="es-ES" sz="900" b="0" i="0" dirty="0">
                    <a:solidFill>
                      <a:schemeClr val="tx1"/>
                    </a:solidFill>
                    <a:effectLst/>
                    <a:latin typeface="Segoe WPC"/>
                  </a:rPr>
                  <a:t> El objetivo del SMA fue mejorar comparabilidad, simplicidad y consistencia regulatoria entre entidades.</a:t>
                </a:r>
                <a:br>
                  <a:rPr lang="es-ES" sz="900" b="0" i="0" dirty="0">
                    <a:solidFill>
                      <a:schemeClr val="tx1"/>
                    </a:solidFill>
                    <a:effectLst/>
                    <a:latin typeface="Segoe WPC"/>
                  </a:rPr>
                </a:br>
                <a:r>
                  <a:rPr lang="es-ES" sz="900" b="1" i="0" dirty="0" err="1">
                    <a:solidFill>
                      <a:schemeClr val="tx1"/>
                    </a:solidFill>
                    <a:effectLst/>
                    <a:latin typeface="Segoe WPC"/>
                  </a:rPr>
                  <a:t>Exam</a:t>
                </a:r>
                <a:r>
                  <a:rPr lang="es-ES" sz="900" b="1" i="0" dirty="0">
                    <a:solidFill>
                      <a:schemeClr val="tx1"/>
                    </a:solidFill>
                    <a:effectLst/>
                    <a:latin typeface="Segoe WPC"/>
                  </a:rPr>
                  <a:t> </a:t>
                </a:r>
                <a:r>
                  <a:rPr lang="es-ES" sz="900" b="1" i="0" dirty="0" err="1">
                    <a:solidFill>
                      <a:schemeClr val="tx1"/>
                    </a:solidFill>
                    <a:effectLst/>
                    <a:latin typeface="Segoe WPC"/>
                  </a:rPr>
                  <a:t>Trap</a:t>
                </a:r>
                <a:r>
                  <a:rPr lang="es-ES" sz="900" b="1" i="0" dirty="0">
                    <a:solidFill>
                      <a:schemeClr val="tx1"/>
                    </a:solidFill>
                    <a:effectLst/>
                    <a:latin typeface="Segoe WPC"/>
                  </a:rPr>
                  <a:t>:</a:t>
                </a:r>
                <a:r>
                  <a:rPr lang="es-ES" sz="900" b="0" i="0" dirty="0">
                    <a:solidFill>
                      <a:schemeClr val="tx1"/>
                    </a:solidFill>
                    <a:effectLst/>
                    <a:latin typeface="Segoe WPC"/>
                  </a:rPr>
                  <a:t> El SMA no elimina la importancia del historial de pérdidas; lo incorpora vía el </a:t>
                </a:r>
                <a:r>
                  <a:rPr lang="es-ES" sz="900" b="0" i="0" dirty="0" err="1">
                    <a:solidFill>
                      <a:schemeClr val="tx1"/>
                    </a:solidFill>
                    <a:effectLst/>
                    <a:latin typeface="Segoe WPC"/>
                  </a:rPr>
                  <a:t>loss</a:t>
                </a:r>
                <a:r>
                  <a:rPr lang="es-ES" sz="900" b="0" i="0" dirty="0">
                    <a:solidFill>
                      <a:schemeClr val="tx1"/>
                    </a:solidFill>
                    <a:effectLst/>
                    <a:latin typeface="Segoe WPC"/>
                  </a:rPr>
                  <a:t> </a:t>
                </a:r>
                <a:r>
                  <a:rPr lang="es-ES" sz="900" b="0" i="0" dirty="0" err="1">
                    <a:solidFill>
                      <a:schemeClr val="tx1"/>
                    </a:solidFill>
                    <a:effectLst/>
                    <a:latin typeface="Segoe WPC"/>
                  </a:rPr>
                  <a:t>component</a:t>
                </a:r>
                <a:r>
                  <a:rPr lang="es-ES" sz="900" b="0" i="0" dirty="0">
                    <a:solidFill>
                      <a:schemeClr val="tx1"/>
                    </a:solidFill>
                    <a:effectLst/>
                    <a:latin typeface="Segoe WPC"/>
                  </a:rPr>
                  <a:t>.</a:t>
                </a:r>
              </a:p>
            </p:txBody>
          </p:sp>
        </mc:Choice>
        <mc:Fallback xmlns="">
          <p:sp>
            <p:nvSpPr>
              <p:cNvPr id="7" name="CuadroTexto 6">
                <a:extLst>
                  <a:ext uri="{FF2B5EF4-FFF2-40B4-BE49-F238E27FC236}">
                    <a16:creationId xmlns:a16="http://schemas.microsoft.com/office/drawing/2014/main" id="{9DFD3204-BA08-1829-21B4-53E736306E12}"/>
                  </a:ext>
                </a:extLst>
              </p:cNvPr>
              <p:cNvSpPr txBox="1">
                <a:spLocks noRot="1" noChangeAspect="1" noMove="1" noResize="1" noEditPoints="1" noAdjustHandles="1" noChangeArrowheads="1" noChangeShapeType="1" noTextEdit="1"/>
              </p:cNvSpPr>
              <p:nvPr/>
            </p:nvSpPr>
            <p:spPr>
              <a:xfrm>
                <a:off x="-36284" y="210457"/>
                <a:ext cx="6132284" cy="6771084"/>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AFFECF2D-EC71-3EDC-A9C2-501A387DE005}"/>
                  </a:ext>
                </a:extLst>
              </p:cNvPr>
              <p:cNvSpPr txBox="1"/>
              <p:nvPr/>
            </p:nvSpPr>
            <p:spPr>
              <a:xfrm>
                <a:off x="5903685" y="-77429"/>
                <a:ext cx="6382657" cy="8034892"/>
              </a:xfrm>
              <a:prstGeom prst="rect">
                <a:avLst/>
              </a:prstGeom>
              <a:noFill/>
            </p:spPr>
            <p:txBody>
              <a:bodyPr wrap="square">
                <a:spAutoFit/>
              </a:bodyPr>
              <a:lstStyle/>
              <a:p>
                <a:pPr algn="l">
                  <a:spcAft>
                    <a:spcPts val="600"/>
                  </a:spcAft>
                  <a:buNone/>
                </a:pPr>
                <a:r>
                  <a:rPr lang="es-PE" sz="900" b="1" i="0" dirty="0">
                    <a:solidFill>
                      <a:schemeClr val="tx1"/>
                    </a:solidFill>
                    <a:effectLst/>
                    <a:latin typeface="Segoe WPC"/>
                  </a:rPr>
                  <a:t>6. </a:t>
                </a:r>
                <a:r>
                  <a:rPr lang="es-PE" sz="900" b="1" i="0" dirty="0" err="1">
                    <a:solidFill>
                      <a:schemeClr val="tx1"/>
                    </a:solidFill>
                    <a:effectLst/>
                    <a:latin typeface="Segoe WPC"/>
                  </a:rPr>
                  <a:t>Loss</a:t>
                </a:r>
                <a:r>
                  <a:rPr lang="es-PE" sz="900" b="1" i="0" dirty="0">
                    <a:solidFill>
                      <a:schemeClr val="tx1"/>
                    </a:solidFill>
                    <a:effectLst/>
                    <a:latin typeface="Segoe WPC"/>
                  </a:rPr>
                  <a:t> </a:t>
                </a:r>
                <a:r>
                  <a:rPr lang="es-PE" sz="900" b="1" i="0" dirty="0" err="1">
                    <a:solidFill>
                      <a:schemeClr val="tx1"/>
                    </a:solidFill>
                    <a:effectLst/>
                    <a:latin typeface="Segoe WPC"/>
                  </a:rPr>
                  <a:t>Distribution</a:t>
                </a:r>
                <a:r>
                  <a:rPr lang="es-PE" sz="900" b="1" i="0" dirty="0">
                    <a:solidFill>
                      <a:schemeClr val="tx1"/>
                    </a:solidFill>
                    <a:effectLst/>
                    <a:latin typeface="Segoe WPC"/>
                  </a:rPr>
                  <a:t> </a:t>
                </a:r>
                <a:r>
                  <a:rPr lang="es-PE" sz="900" b="1" i="0" dirty="0" err="1">
                    <a:solidFill>
                      <a:schemeClr val="tx1"/>
                    </a:solidFill>
                    <a:effectLst/>
                    <a:latin typeface="Segoe WPC"/>
                  </a:rPr>
                  <a:t>Approach</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Construcción de la distribución anual de pérdidas operacionales.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pérdida total depende de cuántos eventos ocurren en un año y qué tan grandes son.</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Primero decides cuántos incidentes hubo; luego cuánto costó cada uno; finalmente sumas todo.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nor/>
                      </m:rPr>
                      <a:rPr lang="es-PE" sz="900" b="0">
                        <a:solidFill>
                          <a:schemeClr val="tx1"/>
                        </a:solidFill>
                      </a:rPr>
                      <m:t>Annual</m:t>
                    </m:r>
                    <m:r>
                      <m:rPr>
                        <m:nor/>
                      </m:rPr>
                      <a:rPr lang="es-PE" sz="900" b="0">
                        <a:solidFill>
                          <a:schemeClr val="tx1"/>
                        </a:solidFill>
                      </a:rPr>
                      <m:t> </m:t>
                    </m:r>
                    <m:r>
                      <m:rPr>
                        <m:nor/>
                      </m:rPr>
                      <a:rPr lang="es-PE" sz="900" b="0">
                        <a:solidFill>
                          <a:schemeClr val="tx1"/>
                        </a:solidFill>
                      </a:rPr>
                      <m:t>Loss</m:t>
                    </m:r>
                    <m:r>
                      <a:rPr lang="es-PE" sz="900" b="0" i="0">
                        <a:solidFill>
                          <a:schemeClr val="tx1"/>
                        </a:solidFill>
                        <a:latin typeface="Cambria Math" panose="02040503050406030204" pitchFamily="18" charset="0"/>
                      </a:rPr>
                      <m:t>=</m:t>
                    </m:r>
                    <m:nary>
                      <m:naryPr>
                        <m:chr m:val="∑"/>
                        <m:limLoc m:val="subSup"/>
                        <m:grow m:val="on"/>
                        <m:ctrlPr>
                          <a:rPr lang="ar-AE" sz="900" b="0" i="1">
                            <a:solidFill>
                              <a:schemeClr val="tx1"/>
                            </a:solidFill>
                            <a:latin typeface="Cambria Math" panose="02040503050406030204" pitchFamily="18" charset="0"/>
                          </a:rPr>
                        </m:ctrlPr>
                      </m:naryPr>
                      <m:sub>
                        <m:r>
                          <a:rPr lang="ar-AE" sz="900" b="0" i="1">
                            <a:solidFill>
                              <a:schemeClr val="tx1"/>
                            </a:solidFill>
                            <a:latin typeface="Cambria Math" panose="02040503050406030204" pitchFamily="18" charset="0"/>
                          </a:rPr>
                          <m:t>𝑖</m:t>
                        </m:r>
                        <m:r>
                          <a:rPr lang="ar-AE" sz="900" b="0" i="0">
                            <a:solidFill>
                              <a:schemeClr val="tx1"/>
                            </a:solidFill>
                            <a:latin typeface="Cambria Math" panose="02040503050406030204" pitchFamily="18" charset="0"/>
                          </a:rPr>
                          <m:t>=</m:t>
                        </m:r>
                        <m:r>
                          <a:rPr lang="ar-AE" sz="900" b="0" i="0">
                            <a:solidFill>
                              <a:schemeClr val="tx1"/>
                            </a:solidFill>
                            <a:latin typeface="Cambria Math" panose="02040503050406030204" pitchFamily="18" charset="0"/>
                          </a:rPr>
                          <m:t>1</m:t>
                        </m:r>
                      </m:sub>
                      <m:sup>
                        <m:r>
                          <a:rPr lang="ar-AE" sz="900" b="0" i="1">
                            <a:solidFill>
                              <a:schemeClr val="tx1"/>
                            </a:solidFill>
                            <a:latin typeface="Cambria Math" panose="02040503050406030204" pitchFamily="18" charset="0"/>
                          </a:rPr>
                          <m:t>𝑁</m:t>
                        </m:r>
                      </m:sup>
                      <m:e>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𝐿</m:t>
                            </m:r>
                          </m:e>
                          <m:sub>
                            <m:r>
                              <a:rPr lang="ar-AE" sz="900" b="0" i="1">
                                <a:solidFill>
                                  <a:schemeClr val="tx1"/>
                                </a:solidFill>
                                <a:latin typeface="Cambria Math" panose="02040503050406030204" pitchFamily="18" charset="0"/>
                              </a:rPr>
                              <m:t>𝑖</m:t>
                            </m:r>
                          </m:sub>
                        </m:sSub>
                      </m:e>
                    </m:nary>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Aquí </a:t>
                </a:r>
                <a14:m>
                  <m:oMath xmlns:m="http://schemas.openxmlformats.org/officeDocument/2006/math">
                    <m:r>
                      <a:rPr lang="es-PE" sz="900" i="1">
                        <a:solidFill>
                          <a:schemeClr val="tx1"/>
                        </a:solidFill>
                        <a:latin typeface="Cambria Math" panose="02040503050406030204" pitchFamily="18" charset="0"/>
                      </a:rPr>
                      <m:t>𝑁</m:t>
                    </m:r>
                  </m:oMath>
                </a14:m>
                <a:r>
                  <a:rPr lang="es-PE" sz="900" b="0" i="0" dirty="0">
                    <a:solidFill>
                      <a:schemeClr val="tx1"/>
                    </a:solidFill>
                    <a:effectLst/>
                    <a:latin typeface="Segoe WPC"/>
                  </a:rPr>
                  <a:t> sigue una distribución de frecuencia y cada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𝐿</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a:solidFill>
                      <a:schemeClr val="tx1"/>
                    </a:solidFill>
                    <a:effectLst/>
                    <a:latin typeface="Segoe WPC"/>
                  </a:rPr>
                  <a:t>una distribución de severidad; juntas generan la </a:t>
                </a:r>
                <a:r>
                  <a:rPr lang="es-PE" sz="900" b="0" i="0" dirty="0" err="1">
                    <a:solidFill>
                      <a:schemeClr val="tx1"/>
                    </a:solidFill>
                    <a:effectLst/>
                    <a:latin typeface="Segoe WPC"/>
                  </a:rPr>
                  <a:t>loss</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modeles solo severidad; la frecuencia también importa y puede cambiar mucho el percentil extremo.</a:t>
                </a:r>
              </a:p>
              <a:p>
                <a:pPr algn="l">
                  <a:spcAft>
                    <a:spcPts val="600"/>
                  </a:spcAft>
                  <a:buNone/>
                </a:pPr>
                <a:r>
                  <a:rPr lang="es-PE" sz="900" b="1" i="0" dirty="0">
                    <a:solidFill>
                      <a:schemeClr val="tx1"/>
                    </a:solidFill>
                    <a:effectLst/>
                    <a:latin typeface="Segoe WPC"/>
                  </a:rPr>
                  <a:t>7. </a:t>
                </a:r>
                <a:r>
                  <a:rPr lang="es-PE" sz="900" b="1" i="0" dirty="0" err="1">
                    <a:solidFill>
                      <a:schemeClr val="tx1"/>
                    </a:solidFill>
                    <a:effectLst/>
                    <a:latin typeface="Segoe WPC"/>
                  </a:rPr>
                  <a:t>Frequency</a:t>
                </a:r>
                <a:r>
                  <a:rPr lang="es-PE" sz="900" b="1" i="0" dirty="0">
                    <a:solidFill>
                      <a:schemeClr val="tx1"/>
                    </a:solidFill>
                    <a:effectLst/>
                    <a:latin typeface="Segoe WPC"/>
                  </a:rPr>
                  <a:t>, </a:t>
                </a:r>
                <a:r>
                  <a:rPr lang="es-PE" sz="900" b="1" i="0" dirty="0" err="1">
                    <a:solidFill>
                      <a:schemeClr val="tx1"/>
                    </a:solidFill>
                    <a:effectLst/>
                    <a:latin typeface="Segoe WPC"/>
                  </a:rPr>
                  <a:t>Severity</a:t>
                </a:r>
                <a:r>
                  <a:rPr lang="es-PE" sz="900" b="1" i="0" dirty="0">
                    <a:solidFill>
                      <a:schemeClr val="tx1"/>
                    </a:solidFill>
                    <a:effectLst/>
                    <a:latin typeface="Segoe WPC"/>
                  </a:rPr>
                  <a:t>, and Monte Carlo </a:t>
                </a:r>
                <a:r>
                  <a:rPr lang="es-PE" sz="900" b="1" i="0" dirty="0" err="1">
                    <a:solidFill>
                      <a:schemeClr val="tx1"/>
                    </a:solidFill>
                    <a:effectLst/>
                    <a:latin typeface="Segoe WPC"/>
                  </a:rPr>
                  <a:t>Simulation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Método estándar para obtener percentiles extremos de pérdidas operacionales.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Se suele modelar la frecuencia con Poisson y la severidad con </a:t>
                </a:r>
                <a:r>
                  <a:rPr lang="es-PE" sz="900" b="0" i="0" dirty="0" err="1">
                    <a:solidFill>
                      <a:schemeClr val="tx1"/>
                    </a:solidFill>
                    <a:effectLst/>
                    <a:latin typeface="Segoe WPC"/>
                  </a:rPr>
                  <a:t>lognormal</a:t>
                </a:r>
                <a:r>
                  <a:rPr lang="es-PE" sz="900" b="0" i="0" dirty="0">
                    <a:solidFill>
                      <a:schemeClr val="tx1"/>
                    </a:solidFill>
                    <a:effectLst/>
                    <a:latin typeface="Segoe WPC"/>
                  </a:rPr>
                  <a:t>, y luego simular muchas veces.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cada trial sorteas el número de eventos, sorteas el tamaño de cada evento y sumas.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sty m:val="p"/>
                      </m:rPr>
                      <a:rPr lang="es-PE" sz="900">
                        <a:solidFill>
                          <a:schemeClr val="tx1"/>
                        </a:solidFill>
                        <a:latin typeface="Cambria Math" panose="02040503050406030204" pitchFamily="18" charset="0"/>
                      </a:rPr>
                      <m:t>Pr</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𝑁</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𝑛</m:t>
                        </m:r>
                      </m:e>
                    </m:d>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𝜆</m:t>
                        </m:r>
                      </m:sup>
                    </m:sSup>
                    <m:f>
                      <m:fPr>
                        <m:ctrlPr>
                          <a:rPr lang="ar-AE" sz="900" i="1">
                            <a:solidFill>
                              <a:schemeClr val="tx1"/>
                            </a:solidFill>
                            <a:latin typeface="Cambria Math" panose="02040503050406030204" pitchFamily="18" charset="0"/>
                          </a:rPr>
                        </m:ctrlPr>
                      </m:fPr>
                      <m:num>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𝜆</m:t>
                            </m:r>
                          </m:e>
                          <m:sup>
                            <m:r>
                              <a:rPr lang="ar-AE" sz="900" i="1">
                                <a:solidFill>
                                  <a:schemeClr val="tx1"/>
                                </a:solidFill>
                                <a:latin typeface="Cambria Math" panose="02040503050406030204" pitchFamily="18" charset="0"/>
                              </a:rPr>
                              <m:t>𝑛</m:t>
                            </m:r>
                          </m:sup>
                        </m:sSup>
                      </m:num>
                      <m:den>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Monte Carlo transforma supuestos sobre frecuencia y severidad en una distribución anual de pérdidas desde la que se obtiene el capital.</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La </a:t>
                </a:r>
                <a:r>
                  <a:rPr lang="es-PE" sz="900" b="0" i="0" dirty="0" err="1">
                    <a:solidFill>
                      <a:schemeClr val="tx1"/>
                    </a:solidFill>
                    <a:effectLst/>
                    <a:latin typeface="Segoe WPC"/>
                  </a:rPr>
                  <a:t>lognormal</a:t>
                </a:r>
                <a:r>
                  <a:rPr lang="es-PE" sz="900" b="0" i="0" dirty="0">
                    <a:solidFill>
                      <a:schemeClr val="tx1"/>
                    </a:solidFill>
                    <a:effectLst/>
                    <a:latin typeface="Segoe WPC"/>
                  </a:rPr>
                  <a:t> suele aplicarse a severidad, no a frecuencia.</a:t>
                </a:r>
              </a:p>
              <a:p>
                <a:pPr algn="l">
                  <a:spcAft>
                    <a:spcPts val="600"/>
                  </a:spcAft>
                  <a:buNone/>
                </a:pPr>
                <a:r>
                  <a:rPr lang="es-PE" sz="900" b="1" i="0" dirty="0">
                    <a:solidFill>
                      <a:schemeClr val="tx1"/>
                    </a:solidFill>
                    <a:effectLst/>
                    <a:latin typeface="Segoe WPC"/>
                  </a:rPr>
                  <a:t>8. Data </a:t>
                </a:r>
                <a:r>
                  <a:rPr lang="es-PE" sz="900" b="1" i="0" dirty="0" err="1">
                    <a:solidFill>
                      <a:schemeClr val="tx1"/>
                    </a:solidFill>
                    <a:effectLst/>
                    <a:latin typeface="Segoe WPC"/>
                  </a:rPr>
                  <a:t>Problems</a:t>
                </a:r>
                <a:r>
                  <a:rPr lang="es-PE" sz="900" b="1" i="0" dirty="0">
                    <a:solidFill>
                      <a:schemeClr val="tx1"/>
                    </a:solidFill>
                    <a:effectLst/>
                    <a:latin typeface="Segoe WPC"/>
                  </a:rPr>
                  <a:t> and </a:t>
                </a:r>
                <a:r>
                  <a:rPr lang="es-PE" sz="900" b="1" i="0" dirty="0" err="1">
                    <a:solidFill>
                      <a:schemeClr val="tx1"/>
                    </a:solidFill>
                    <a:effectLst/>
                    <a:latin typeface="Segoe WPC"/>
                  </a:rPr>
                  <a:t>Scenario</a:t>
                </a:r>
                <a:r>
                  <a:rPr lang="es-PE" sz="900" b="1" i="0" dirty="0">
                    <a:solidFill>
                      <a:schemeClr val="tx1"/>
                    </a:solidFill>
                    <a:effectLst/>
                    <a:latin typeface="Segoe WPC"/>
                  </a:rPr>
                  <a:t> </a:t>
                </a:r>
                <a:r>
                  <a:rPr lang="es-PE" sz="900" b="1" i="0" dirty="0" err="1">
                    <a:solidFill>
                      <a:schemeClr val="tx1"/>
                    </a:solidFill>
                    <a:effectLst/>
                    <a:latin typeface="Segoe WPC"/>
                  </a:rPr>
                  <a:t>Analysis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Problemas de estimación cuando los datos son escasos o sesgados.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Las pérdidas operacionales grandes son raras, así que el historial suele ser insuficiente y sesgado hacia eventos reportados.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Los </a:t>
                </a:r>
                <a:r>
                  <a:rPr lang="es-PE" sz="900" b="0" i="0" dirty="0" err="1">
                    <a:solidFill>
                      <a:schemeClr val="tx1"/>
                    </a:solidFill>
                    <a:effectLst/>
                    <a:latin typeface="Segoe WPC"/>
                  </a:rPr>
                  <a:t>vendor</a:t>
                </a:r>
                <a:r>
                  <a:rPr lang="es-PE" sz="900" b="0" i="0" dirty="0">
                    <a:solidFill>
                      <a:schemeClr val="tx1"/>
                    </a:solidFill>
                    <a:effectLst/>
                    <a:latin typeface="Segoe WPC"/>
                  </a:rPr>
                  <a:t> </a:t>
                </a:r>
                <a:r>
                  <a:rPr lang="es-PE" sz="900" b="0" i="0" dirty="0" err="1">
                    <a:solidFill>
                      <a:schemeClr val="tx1"/>
                    </a:solidFill>
                    <a:effectLst/>
                    <a:latin typeface="Segoe WPC"/>
                  </a:rPr>
                  <a:t>databases</a:t>
                </a:r>
                <a:r>
                  <a:rPr lang="es-PE" sz="900" b="0" i="0" dirty="0">
                    <a:solidFill>
                      <a:schemeClr val="tx1"/>
                    </a:solidFill>
                    <a:effectLst/>
                    <a:latin typeface="Segoe WPC"/>
                  </a:rPr>
                  <a:t> suelen captar solo pérdidas grandes; si las usas sin ajustar, sobreestimas severidad típica.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hay una fórmula única; se combinan datos internos, externos, escalamiento y juicio experto.</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Cuando faltan datos, se usa </a:t>
                </a:r>
                <a:r>
                  <a:rPr lang="es-PE" sz="900" b="0" i="0" dirty="0" err="1">
                    <a:solidFill>
                      <a:schemeClr val="tx1"/>
                    </a:solidFill>
                    <a:effectLst/>
                    <a:latin typeface="Segoe WPC"/>
                  </a:rPr>
                  <a:t>scenario</a:t>
                </a:r>
                <a:r>
                  <a:rPr lang="es-PE" sz="900" b="0" i="0" dirty="0">
                    <a:solidFill>
                      <a:schemeClr val="tx1"/>
                    </a:solidFill>
                    <a:effectLst/>
                    <a:latin typeface="Segoe WPC"/>
                  </a:rPr>
                  <a:t> </a:t>
                </a:r>
                <a:r>
                  <a:rPr lang="es-PE" sz="900" b="0" i="0" dirty="0" err="1">
                    <a:solidFill>
                      <a:schemeClr val="tx1"/>
                    </a:solidFill>
                    <a:effectLst/>
                    <a:latin typeface="Segoe WPC"/>
                  </a:rPr>
                  <a:t>analysis</a:t>
                </a:r>
                <a:r>
                  <a:rPr lang="es-PE" sz="900" b="0" i="0" dirty="0">
                    <a:solidFill>
                      <a:schemeClr val="tx1"/>
                    </a:solidFill>
                    <a:effectLst/>
                    <a:latin typeface="Segoe WPC"/>
                  </a:rPr>
                  <a:t> para eventos raros y severos, estimando frecuencia y severidad mediante expertos.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trates datos externos como directamente transferibles; hay sesgos por tamaño, </a:t>
                </a:r>
                <a:r>
                  <a:rPr lang="es-PE" sz="900" b="0" i="0" dirty="0" err="1">
                    <a:solidFill>
                      <a:schemeClr val="tx1"/>
                    </a:solidFill>
                    <a:effectLst/>
                    <a:latin typeface="Segoe WPC"/>
                  </a:rPr>
                  <a:t>reporting</a:t>
                </a:r>
                <a:r>
                  <a:rPr lang="es-PE" sz="900" b="0" i="0" dirty="0">
                    <a:solidFill>
                      <a:schemeClr val="tx1"/>
                    </a:solidFill>
                    <a:effectLst/>
                    <a:latin typeface="Segoe WPC"/>
                  </a:rPr>
                  <a:t> e inflación.</a:t>
                </a:r>
              </a:p>
              <a:p>
                <a:pPr algn="l">
                  <a:spcAft>
                    <a:spcPts val="600"/>
                  </a:spcAft>
                  <a:buNone/>
                </a:pPr>
                <a:r>
                  <a:rPr lang="es-PE" sz="900" b="1" i="0" dirty="0">
                    <a:solidFill>
                      <a:schemeClr val="tx1"/>
                    </a:solidFill>
                    <a:effectLst/>
                    <a:latin typeface="Segoe WPC"/>
                  </a:rPr>
                  <a:t>9. RCSA, </a:t>
                </a:r>
                <a:r>
                  <a:rPr lang="es-PE" sz="900" b="1" i="0" dirty="0" err="1">
                    <a:solidFill>
                      <a:schemeClr val="tx1"/>
                    </a:solidFill>
                    <a:effectLst/>
                    <a:latin typeface="Segoe WPC"/>
                  </a:rPr>
                  <a:t>KRIs</a:t>
                </a:r>
                <a:r>
                  <a:rPr lang="es-PE" sz="900" b="1" i="0" dirty="0">
                    <a:solidFill>
                      <a:schemeClr val="tx1"/>
                    </a:solidFill>
                    <a:effectLst/>
                    <a:latin typeface="Segoe WPC"/>
                  </a:rPr>
                  <a:t>, and </a:t>
                </a:r>
                <a:r>
                  <a:rPr lang="es-PE" sz="900" b="1" i="0" dirty="0" err="1">
                    <a:solidFill>
                      <a:schemeClr val="tx1"/>
                    </a:solidFill>
                    <a:effectLst/>
                    <a:latin typeface="Segoe WPC"/>
                  </a:rPr>
                  <a:t>Education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Herramientas para entender y reducir </a:t>
                </a:r>
                <a:r>
                  <a:rPr lang="es-PE" sz="900" b="0" i="0" dirty="0" err="1">
                    <a:solidFill>
                      <a:schemeClr val="tx1"/>
                    </a:solidFill>
                    <a:effectLst/>
                    <a:latin typeface="Segoe WPC"/>
                  </a:rPr>
                  <a:t>operational</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de forma proactiva.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No basta con medir pérdidas; hay que identificar causas, señales tempranas y mejorar cultura de riesgo.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RCSA hace que los propios managers identifiquen riesgos; </a:t>
                </a:r>
                <a:r>
                  <a:rPr lang="es-PE" sz="900" b="0" i="0" dirty="0" err="1">
                    <a:solidFill>
                      <a:schemeClr val="tx1"/>
                    </a:solidFill>
                    <a:effectLst/>
                    <a:latin typeface="Segoe WPC"/>
                  </a:rPr>
                  <a:t>KRIs</a:t>
                </a:r>
                <a:r>
                  <a:rPr lang="es-PE" sz="900" b="0" i="0" dirty="0">
                    <a:solidFill>
                      <a:schemeClr val="tx1"/>
                    </a:solidFill>
                    <a:effectLst/>
                    <a:latin typeface="Segoe WPC"/>
                  </a:rPr>
                  <a:t> monitorean señales de alerta; educación reduce errores y conductas indebidas.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aplica fórmula; el foco está en identificación causal y control preventivo.</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Ejemplos de </a:t>
                </a:r>
                <a:r>
                  <a:rPr lang="es-PE" sz="900" b="0" i="0" dirty="0" err="1">
                    <a:solidFill>
                      <a:schemeClr val="tx1"/>
                    </a:solidFill>
                    <a:effectLst/>
                    <a:latin typeface="Segoe WPC"/>
                  </a:rPr>
                  <a:t>KRIs</a:t>
                </a:r>
                <a:r>
                  <a:rPr lang="es-PE" sz="900" b="0" i="0" dirty="0">
                    <a:solidFill>
                      <a:schemeClr val="tx1"/>
                    </a:solidFill>
                    <a:effectLst/>
                    <a:latin typeface="Segoe WPC"/>
                  </a:rPr>
                  <a:t> son rotación de personal, fallas de transacción, posiciones vacantes o conductas anómalas.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KRIs</a:t>
                </a:r>
                <a:r>
                  <a:rPr lang="es-PE" sz="900" b="0" i="0" dirty="0">
                    <a:solidFill>
                      <a:schemeClr val="tx1"/>
                    </a:solidFill>
                    <a:effectLst/>
                    <a:latin typeface="Segoe WPC"/>
                  </a:rPr>
                  <a:t> no son pérdidas; son indicadores adelantados del aumento del riesgo.</a:t>
                </a:r>
              </a:p>
              <a:p>
                <a:pPr algn="l">
                  <a:spcAft>
                    <a:spcPts val="600"/>
                  </a:spcAft>
                  <a:buNone/>
                </a:pPr>
                <a:r>
                  <a:rPr lang="es-PE" sz="900" b="1" i="0" dirty="0">
                    <a:solidFill>
                      <a:schemeClr val="tx1"/>
                    </a:solidFill>
                    <a:effectLst/>
                    <a:latin typeface="Segoe WPC"/>
                  </a:rPr>
                  <a:t>10. </a:t>
                </a:r>
                <a:r>
                  <a:rPr lang="es-PE" sz="900" b="1" i="0" dirty="0" err="1">
                    <a:solidFill>
                      <a:schemeClr val="tx1"/>
                    </a:solidFill>
                    <a:effectLst/>
                    <a:latin typeface="Segoe WPC"/>
                  </a:rPr>
                  <a:t>Allocation</a:t>
                </a:r>
                <a:r>
                  <a:rPr lang="es-PE" sz="900" b="1" i="0" dirty="0">
                    <a:solidFill>
                      <a:schemeClr val="tx1"/>
                    </a:solidFill>
                    <a:effectLst/>
                    <a:latin typeface="Segoe WPC"/>
                  </a:rPr>
                  <a:t> </a:t>
                </a:r>
                <a:r>
                  <a:rPr lang="es-PE" sz="900" b="1" i="0" dirty="0" err="1">
                    <a:solidFill>
                      <a:schemeClr val="tx1"/>
                    </a:solidFill>
                    <a:effectLst/>
                    <a:latin typeface="Segoe WPC"/>
                  </a:rPr>
                  <a:t>of</a:t>
                </a:r>
                <a:r>
                  <a:rPr lang="es-PE" sz="900" b="1" i="0" dirty="0">
                    <a:solidFill>
                      <a:schemeClr val="tx1"/>
                    </a:solidFill>
                    <a:effectLst/>
                    <a:latin typeface="Segoe WPC"/>
                  </a:rPr>
                  <a:t> Capital and </a:t>
                </a:r>
                <a:r>
                  <a:rPr lang="es-PE" sz="900" b="1" i="0" dirty="0" err="1">
                    <a:solidFill>
                      <a:schemeClr val="tx1"/>
                    </a:solidFill>
                    <a:effectLst/>
                    <a:latin typeface="Segoe WPC"/>
                  </a:rPr>
                  <a:t>Power</a:t>
                </a:r>
                <a:r>
                  <a:rPr lang="es-PE" sz="900" b="1" i="0" dirty="0">
                    <a:solidFill>
                      <a:schemeClr val="tx1"/>
                    </a:solidFill>
                    <a:effectLst/>
                    <a:latin typeface="Segoe WPC"/>
                  </a:rPr>
                  <a:t> </a:t>
                </a:r>
                <a:r>
                  <a:rPr lang="es-PE" sz="900" b="1" i="0" dirty="0" err="1">
                    <a:solidFill>
                      <a:schemeClr val="tx1"/>
                    </a:solidFill>
                    <a:effectLst/>
                    <a:latin typeface="Segoe WPC"/>
                  </a:rPr>
                  <a:t>Law</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Asignación de capital operacional a unidades de negocio y medición de colas extremas.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capital se asigna para incentivar a cada unidad a gestionar mejor su riesgo; además, la cola de pérdidas puede seguir una </a:t>
                </a:r>
                <a:r>
                  <a:rPr lang="es-PE" sz="900" b="0" i="0" dirty="0" err="1">
                    <a:solidFill>
                      <a:schemeClr val="tx1"/>
                    </a:solidFill>
                    <a:effectLst/>
                    <a:latin typeface="Segoe WPC"/>
                  </a:rPr>
                  <a:t>power</a:t>
                </a:r>
                <a:r>
                  <a:rPr lang="es-PE" sz="900" b="0" i="0" dirty="0">
                    <a:solidFill>
                      <a:schemeClr val="tx1"/>
                    </a:solidFill>
                    <a:effectLst/>
                    <a:latin typeface="Segoe WPC"/>
                  </a:rPr>
                  <a:t> </a:t>
                </a:r>
                <a:r>
                  <a:rPr lang="es-PE" sz="900" b="0" i="0" dirty="0" err="1">
                    <a:solidFill>
                      <a:schemeClr val="tx1"/>
                    </a:solidFill>
                    <a:effectLst/>
                    <a:latin typeface="Segoe WPC"/>
                  </a:rPr>
                  <a:t>law</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Unas pocas pérdidas enormes pueden dominar el capital total, mucho más que muchas pérdidas pequeñas.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m:rPr>
                        <m:sty m:val="p"/>
                      </m:rPr>
                      <a:rPr lang="es-PE" sz="900">
                        <a:solidFill>
                          <a:schemeClr val="tx1"/>
                        </a:solidFill>
                        <a:latin typeface="Cambria Math" panose="02040503050406030204" pitchFamily="18" charset="0"/>
                      </a:rPr>
                      <m:t>Pr</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𝑣</m:t>
                        </m:r>
                        <m:r>
                          <a:rPr lang="ar-AE" sz="900" i="0">
                            <a:solidFill>
                              <a:schemeClr val="tx1"/>
                            </a:solidFill>
                            <a:latin typeface="Cambria Math" panose="02040503050406030204" pitchFamily="18" charset="0"/>
                          </a:rPr>
                          <m:t>&gt;</m:t>
                        </m:r>
                        <m:r>
                          <a:rPr lang="ar-AE" sz="900" i="1">
                            <a:solidFill>
                              <a:schemeClr val="tx1"/>
                            </a:solidFill>
                            <a:latin typeface="Cambria Math" panose="02040503050406030204" pitchFamily="18" charset="0"/>
                          </a:rPr>
                          <m:t>𝑥</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𝑥</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𝛼</m:t>
                        </m:r>
                      </m:sup>
                    </m:sSup>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Si la </a:t>
                </a:r>
                <a:r>
                  <a:rPr lang="es-PE" sz="900" b="0" i="0" dirty="0" err="1">
                    <a:solidFill>
                      <a:schemeClr val="tx1"/>
                    </a:solidFill>
                    <a:effectLst/>
                    <a:latin typeface="Segoe WPC"/>
                  </a:rPr>
                  <a:t>power</a:t>
                </a:r>
                <a:r>
                  <a:rPr lang="es-PE" sz="900" b="0" i="0" dirty="0">
                    <a:solidFill>
                      <a:schemeClr val="tx1"/>
                    </a:solidFill>
                    <a:effectLst/>
                    <a:latin typeface="Segoe WPC"/>
                  </a:rPr>
                  <a:t> </a:t>
                </a:r>
                <a:r>
                  <a:rPr lang="es-PE" sz="900" b="0" i="0" dirty="0" err="1">
                    <a:solidFill>
                      <a:schemeClr val="tx1"/>
                    </a:solidFill>
                    <a:effectLst/>
                    <a:latin typeface="Segoe WPC"/>
                  </a:rPr>
                  <a:t>law</a:t>
                </a:r>
                <a:r>
                  <a:rPr lang="es-PE" sz="900" b="0" i="0" dirty="0">
                    <a:solidFill>
                      <a:schemeClr val="tx1"/>
                    </a:solidFill>
                    <a:effectLst/>
                    <a:latin typeface="Segoe WPC"/>
                  </a:rPr>
                  <a:t> aplica, permite estimar percentiles extremos de la cola derecha de pérdidas operacionales.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La </a:t>
                </a:r>
                <a:r>
                  <a:rPr lang="es-PE" sz="900" b="0" i="0" dirty="0" err="1">
                    <a:solidFill>
                      <a:schemeClr val="tx1"/>
                    </a:solidFill>
                    <a:effectLst/>
                    <a:latin typeface="Segoe WPC"/>
                  </a:rPr>
                  <a:t>power</a:t>
                </a:r>
                <a:r>
                  <a:rPr lang="es-PE" sz="900" b="0" i="0" dirty="0">
                    <a:solidFill>
                      <a:schemeClr val="tx1"/>
                    </a:solidFill>
                    <a:effectLst/>
                    <a:latin typeface="Segoe WPC"/>
                  </a:rPr>
                  <a:t> </a:t>
                </a:r>
                <a:r>
                  <a:rPr lang="es-PE" sz="900" b="0" i="0" dirty="0" err="1">
                    <a:solidFill>
                      <a:schemeClr val="tx1"/>
                    </a:solidFill>
                    <a:effectLst/>
                    <a:latin typeface="Segoe WPC"/>
                  </a:rPr>
                  <a:t>law</a:t>
                </a:r>
                <a:r>
                  <a:rPr lang="es-PE" sz="900" b="0" i="0" dirty="0">
                    <a:solidFill>
                      <a:schemeClr val="tx1"/>
                    </a:solidFill>
                    <a:effectLst/>
                    <a:latin typeface="Segoe WPC"/>
                  </a:rPr>
                  <a:t> describe la cola, no toda la distribución.</a:t>
                </a:r>
              </a:p>
              <a:p>
                <a:pPr algn="l">
                  <a:spcAft>
                    <a:spcPts val="600"/>
                  </a:spcAft>
                  <a:buNone/>
                </a:pPr>
                <a:r>
                  <a:rPr lang="es-PE" sz="900" b="1" i="0" dirty="0">
                    <a:solidFill>
                      <a:schemeClr val="tx1"/>
                    </a:solidFill>
                    <a:effectLst/>
                    <a:latin typeface="Segoe WPC"/>
                  </a:rPr>
                  <a:t>11. </a:t>
                </a:r>
                <a:r>
                  <a:rPr lang="es-PE" sz="900" b="1" i="0" dirty="0" err="1">
                    <a:solidFill>
                      <a:schemeClr val="tx1"/>
                    </a:solidFill>
                    <a:effectLst/>
                    <a:latin typeface="Segoe WPC"/>
                  </a:rPr>
                  <a:t>Insurance</a:t>
                </a:r>
                <a:r>
                  <a:rPr lang="es-PE" sz="900" b="1" i="0" dirty="0">
                    <a:solidFill>
                      <a:schemeClr val="tx1"/>
                    </a:solidFill>
                    <a:effectLst/>
                    <a:latin typeface="Segoe WPC"/>
                  </a:rPr>
                  <a:t>, Moral Hazard, and Adverse </a:t>
                </a:r>
                <a:r>
                  <a:rPr lang="es-PE" sz="900" b="1" i="0" dirty="0" err="1">
                    <a:solidFill>
                      <a:schemeClr val="tx1"/>
                    </a:solidFill>
                    <a:effectLst/>
                    <a:latin typeface="Segoe WPC"/>
                  </a:rPr>
                  <a:t>Selection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Uso de seguros para mitigar </a:t>
                </a:r>
                <a:r>
                  <a:rPr lang="es-PE" sz="900" b="0" i="0" dirty="0" err="1">
                    <a:solidFill>
                      <a:schemeClr val="tx1"/>
                    </a:solidFill>
                    <a:effectLst/>
                    <a:latin typeface="Segoe WPC"/>
                  </a:rPr>
                  <a:t>operational</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y sus problemas económicos.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seguro puede reducir severidad y capital, pero crea incentivos perversos y problemas de selección de clientes.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 banco asegurado podría relajarse en controles; además, los bancos más riesgosos son los más interesados en comprar cobertura.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hay una fórmula única; el análisis es económico y contractual.</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Las aseguradoras manejan moral </a:t>
                </a:r>
                <a:r>
                  <a:rPr lang="es-PE" sz="900" b="0" i="0" dirty="0" err="1">
                    <a:solidFill>
                      <a:schemeClr val="tx1"/>
                    </a:solidFill>
                    <a:effectLst/>
                    <a:latin typeface="Segoe WPC"/>
                  </a:rPr>
                  <a:t>hazard</a:t>
                </a:r>
                <a:r>
                  <a:rPr lang="es-PE" sz="900" b="0" i="0" dirty="0">
                    <a:solidFill>
                      <a:schemeClr val="tx1"/>
                    </a:solidFill>
                    <a:effectLst/>
                    <a:latin typeface="Segoe WPC"/>
                  </a:rPr>
                  <a:t> con deductibles, </a:t>
                </a:r>
                <a:r>
                  <a:rPr lang="es-PE" sz="900" b="0" i="0" dirty="0" err="1">
                    <a:solidFill>
                      <a:schemeClr val="tx1"/>
                    </a:solidFill>
                    <a:effectLst/>
                    <a:latin typeface="Segoe WPC"/>
                  </a:rPr>
                  <a:t>co-insurance</a:t>
                </a:r>
                <a:r>
                  <a:rPr lang="es-PE" sz="900" b="0" i="0" dirty="0">
                    <a:solidFill>
                      <a:schemeClr val="tx1"/>
                    </a:solidFill>
                    <a:effectLst/>
                    <a:latin typeface="Segoe WPC"/>
                  </a:rPr>
                  <a:t>, límites y auditoría de controles; manejan adverse </a:t>
                </a:r>
                <a:r>
                  <a:rPr lang="es-PE" sz="900" b="0" i="0" dirty="0" err="1">
                    <a:solidFill>
                      <a:schemeClr val="tx1"/>
                    </a:solidFill>
                    <a:effectLst/>
                    <a:latin typeface="Segoe WPC"/>
                  </a:rPr>
                  <a:t>selection</a:t>
                </a:r>
                <a:r>
                  <a:rPr lang="es-PE" sz="900" b="0" i="0" dirty="0">
                    <a:solidFill>
                      <a:schemeClr val="tx1"/>
                    </a:solidFill>
                    <a:effectLst/>
                    <a:latin typeface="Segoe WPC"/>
                  </a:rPr>
                  <a:t> evaluando la calidad de los controles antes de cotizar.</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El seguro no elimina el riesgo operativo; solo transfiere parte de él y normalmente bajo condiciones estrictas.</a:t>
                </a:r>
              </a:p>
            </p:txBody>
          </p:sp>
        </mc:Choice>
        <mc:Fallback xmlns="">
          <p:sp>
            <p:nvSpPr>
              <p:cNvPr id="9" name="CuadroTexto 8">
                <a:extLst>
                  <a:ext uri="{FF2B5EF4-FFF2-40B4-BE49-F238E27FC236}">
                    <a16:creationId xmlns:a16="http://schemas.microsoft.com/office/drawing/2014/main" id="{AFFECF2D-EC71-3EDC-A9C2-501A387DE005}"/>
                  </a:ext>
                </a:extLst>
              </p:cNvPr>
              <p:cNvSpPr txBox="1">
                <a:spLocks noRot="1" noChangeAspect="1" noMove="1" noResize="1" noEditPoints="1" noAdjustHandles="1" noChangeArrowheads="1" noChangeShapeType="1" noTextEdit="1"/>
              </p:cNvSpPr>
              <p:nvPr/>
            </p:nvSpPr>
            <p:spPr>
              <a:xfrm>
                <a:off x="5903685" y="-77429"/>
                <a:ext cx="6382657" cy="8034892"/>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827994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5FB88-64F2-DBEC-8B1F-BA09A7CBE76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9BF2F64-9D78-42EA-D0A5-002E8F453CE6}"/>
              </a:ext>
            </a:extLst>
          </p:cNvPr>
          <p:cNvSpPr>
            <a:spLocks noGrp="1"/>
          </p:cNvSpPr>
          <p:nvPr>
            <p:ph type="title"/>
          </p:nvPr>
        </p:nvSpPr>
        <p:spPr>
          <a:xfrm>
            <a:off x="112485" y="82096"/>
            <a:ext cx="10515600" cy="258989"/>
          </a:xfrm>
        </p:spPr>
        <p:txBody>
          <a:bodyPr>
            <a:normAutofit fontScale="90000"/>
          </a:bodyPr>
          <a:lstStyle/>
          <a:p>
            <a:r>
              <a:rPr lang="es-PE" dirty="0"/>
              <a:t>Stress </a:t>
            </a:r>
            <a:r>
              <a:rPr lang="es-PE" dirty="0" err="1"/>
              <a:t>Testing</a:t>
            </a:r>
            <a:endParaRPr lang="es-PE" dirty="0"/>
          </a:p>
        </p:txBody>
      </p:sp>
      <p:sp>
        <p:nvSpPr>
          <p:cNvPr id="4" name="CuadroTexto 3">
            <a:extLst>
              <a:ext uri="{FF2B5EF4-FFF2-40B4-BE49-F238E27FC236}">
                <a16:creationId xmlns:a16="http://schemas.microsoft.com/office/drawing/2014/main" id="{9FD6D4C8-8E73-CC76-5C39-2AC1FDE7D263}"/>
              </a:ext>
            </a:extLst>
          </p:cNvPr>
          <p:cNvSpPr txBox="1"/>
          <p:nvPr/>
        </p:nvSpPr>
        <p:spPr>
          <a:xfrm>
            <a:off x="-36285" y="341085"/>
            <a:ext cx="6342741" cy="6194003"/>
          </a:xfrm>
          <a:prstGeom prst="rect">
            <a:avLst/>
          </a:prstGeom>
          <a:noFill/>
        </p:spPr>
        <p:txBody>
          <a:bodyPr wrap="square">
            <a:spAutoFit/>
          </a:bodyPr>
          <a:lstStyle/>
          <a:p>
            <a:pPr algn="l">
              <a:spcBef>
                <a:spcPts val="300"/>
              </a:spcBef>
              <a:spcAft>
                <a:spcPts val="600"/>
              </a:spcAft>
              <a:buFont typeface="+mj-lt"/>
              <a:buAutoNum type="arabicPeriod"/>
            </a:pPr>
            <a:r>
              <a:rPr lang="es-ES" sz="900" b="1" i="0" dirty="0">
                <a:effectLst/>
                <a:latin typeface="Segoe WPC"/>
              </a:rPr>
              <a:t>Stress </a:t>
            </a:r>
            <a:r>
              <a:rPr lang="es-ES" sz="900" b="1" i="0" dirty="0" err="1">
                <a:effectLst/>
                <a:latin typeface="Segoe WPC"/>
              </a:rPr>
              <a:t>testing</a:t>
            </a:r>
            <a:r>
              <a:rPr lang="es-ES" sz="900" b="1" i="0" dirty="0">
                <a:effectLst/>
                <a:latin typeface="Segoe WPC"/>
              </a:rPr>
              <a:t> vs. VaR/ES</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Diferencia entre medidas basadas en distribución de pérdidas y escenarios extremos.</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VaR y ES preguntan “¿qué pérdidas surgen si el futuro se parece al pasado?”; stress </a:t>
            </a:r>
            <a:r>
              <a:rPr lang="es-ES" sz="900" b="0" i="0" dirty="0" err="1">
                <a:effectLst/>
                <a:latin typeface="Segoe WPC"/>
              </a:rPr>
              <a:t>testing</a:t>
            </a:r>
            <a:r>
              <a:rPr lang="es-ES" sz="900" b="0" i="0" dirty="0">
                <a:effectLst/>
                <a:latin typeface="Segoe WPC"/>
              </a:rPr>
              <a:t> pregunta “¿qué pasa si ocurre algo muy malo pero plausible?”.</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VaR/ES mira toda la distribución histórica; stress </a:t>
            </a:r>
            <a:r>
              <a:rPr lang="es-ES" sz="900" b="0" i="0" dirty="0" err="1">
                <a:effectLst/>
                <a:latin typeface="Segoe WPC"/>
              </a:rPr>
              <a:t>testing</a:t>
            </a:r>
            <a:r>
              <a:rPr lang="es-ES" sz="900" b="0" i="0" dirty="0">
                <a:effectLst/>
                <a:latin typeface="Segoe WPC"/>
              </a:rPr>
              <a:t> ilumina solo unas pocas colas extremas.</a:t>
            </a:r>
            <a:br>
              <a:rPr lang="es-ES" sz="900" b="0" i="0" dirty="0">
                <a:effectLst/>
                <a:latin typeface="Segoe WPC"/>
              </a:rPr>
            </a:br>
            <a:r>
              <a:rPr lang="es-ES" sz="900" b="1" i="0" dirty="0">
                <a:effectLst/>
                <a:latin typeface="Segoe WPC"/>
              </a:rPr>
              <a:t>Key Formula:</a:t>
            </a:r>
            <a:r>
              <a:rPr lang="es-ES" sz="900" b="0" i="0" dirty="0">
                <a:effectLst/>
                <a:latin typeface="Segoe WPC"/>
              </a:rPr>
              <a:t> (VaR_\</a:t>
            </a:r>
            <a:r>
              <a:rPr lang="es-ES" sz="900" b="0" i="0" dirty="0" err="1">
                <a:effectLst/>
                <a:latin typeface="Segoe WPC"/>
              </a:rPr>
              <a:t>alpha</a:t>
            </a:r>
            <a:r>
              <a:rPr lang="es-ES" sz="900" b="0" i="0" dirty="0">
                <a:effectLst/>
                <a:latin typeface="Segoe WPC"/>
              </a:rPr>
              <a:t> = \</a:t>
            </a:r>
            <a:r>
              <a:rPr lang="es-ES" sz="900" b="0" i="0" dirty="0" err="1">
                <a:effectLst/>
                <a:latin typeface="Segoe WPC"/>
              </a:rPr>
              <a:t>inf</a:t>
            </a:r>
            <a:r>
              <a:rPr lang="es-ES" sz="900" b="0" i="0" dirty="0">
                <a:effectLst/>
                <a:latin typeface="Segoe WPC"/>
              </a:rPr>
              <a:t> {l : P(L \le l)\ge \</a:t>
            </a:r>
            <a:r>
              <a:rPr lang="es-ES" sz="900" b="0" i="0" dirty="0" err="1">
                <a:effectLst/>
                <a:latin typeface="Segoe WPC"/>
              </a:rPr>
              <a:t>alpha</a:t>
            </a:r>
            <a:r>
              <a:rPr lang="es-ES" sz="900" b="0" i="0" dirty="0">
                <a:effectLst/>
                <a:latin typeface="Segoe WPC"/>
              </a:rPr>
              <a:t>}), (; ES_\</a:t>
            </a:r>
            <a:r>
              <a:rPr lang="es-ES" sz="900" b="0" i="0" dirty="0" err="1">
                <a:effectLst/>
                <a:latin typeface="Segoe WPC"/>
              </a:rPr>
              <a:t>alpha</a:t>
            </a:r>
            <a:r>
              <a:rPr lang="es-ES" sz="900" b="0" i="0" dirty="0">
                <a:effectLst/>
                <a:latin typeface="Segoe WPC"/>
              </a:rPr>
              <a:t> = E[L \</a:t>
            </a:r>
            <a:r>
              <a:rPr lang="es-ES" sz="900" b="0" i="0" dirty="0" err="1">
                <a:effectLst/>
                <a:latin typeface="Segoe WPC"/>
              </a:rPr>
              <a:t>mid</a:t>
            </a:r>
            <a:r>
              <a:rPr lang="es-ES" sz="900" b="0" i="0" dirty="0">
                <a:effectLst/>
                <a:latin typeface="Segoe WPC"/>
              </a:rPr>
              <a:t> L&gt;VaR_\</a:t>
            </a:r>
            <a:r>
              <a:rPr lang="es-ES" sz="900" b="0" i="0" dirty="0" err="1">
                <a:effectLst/>
                <a:latin typeface="Segoe WPC"/>
              </a:rPr>
              <a:t>alpha</a:t>
            </a:r>
            <a:r>
              <a:rPr lang="es-ES" sz="900" b="0" i="0" dirty="0">
                <a:effectLst/>
                <a:latin typeface="Segoe WPC"/>
              </a:rPr>
              <a:t>])</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Stress </a:t>
            </a:r>
            <a:r>
              <a:rPr lang="es-ES" sz="900" b="0" i="0" dirty="0" err="1">
                <a:effectLst/>
                <a:latin typeface="Segoe WPC"/>
              </a:rPr>
              <a:t>testing</a:t>
            </a:r>
            <a:r>
              <a:rPr lang="es-ES" sz="900" b="0" i="0" dirty="0">
                <a:effectLst/>
                <a:latin typeface="Segoe WPC"/>
              </a:rPr>
              <a:t> complementa a VaR/ES porque es más forward-</a:t>
            </a:r>
            <a:r>
              <a:rPr lang="es-ES" sz="900" b="0" i="0" dirty="0" err="1">
                <a:effectLst/>
                <a:latin typeface="Segoe WPC"/>
              </a:rPr>
              <a:t>looking</a:t>
            </a:r>
            <a:r>
              <a:rPr lang="es-ES" sz="900" b="0" i="0" dirty="0">
                <a:effectLst/>
                <a:latin typeface="Segoe WPC"/>
              </a:rPr>
              <a:t>, más severo y suele usar horizontes más largos.</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No confundir stress </a:t>
            </a:r>
            <a:r>
              <a:rPr lang="es-ES" sz="900" b="0" i="0" dirty="0" err="1">
                <a:effectLst/>
                <a:latin typeface="Segoe WPC"/>
              </a:rPr>
              <a:t>testing</a:t>
            </a:r>
            <a:r>
              <a:rPr lang="es-ES" sz="900" b="0" i="0" dirty="0">
                <a:effectLst/>
                <a:latin typeface="Segoe WPC"/>
              </a:rPr>
              <a:t> con una medida probabilística completa; normalmente no entrega una distribución ni probabilidades bien definidas.</a:t>
            </a:r>
          </a:p>
          <a:p>
            <a:pPr algn="l">
              <a:spcBef>
                <a:spcPts val="300"/>
              </a:spcBef>
              <a:spcAft>
                <a:spcPts val="600"/>
              </a:spcAft>
              <a:buFont typeface="+mj-lt"/>
              <a:buAutoNum type="arabicPeriod"/>
            </a:pPr>
            <a:r>
              <a:rPr lang="es-ES" sz="900" b="1" i="0" dirty="0">
                <a:effectLst/>
                <a:latin typeface="Segoe WPC"/>
              </a:rPr>
              <a:t>Objetivo </a:t>
            </a:r>
            <a:r>
              <a:rPr lang="es-ES" sz="900" b="1" i="0" dirty="0" err="1">
                <a:effectLst/>
                <a:latin typeface="Segoe WPC"/>
              </a:rPr>
              <a:t>enterprise-wide</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Visión integrada del impacto de shocks sobre toda la institución.</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El punto no es solo medir pérdidas de trading, sino verificar si la firma mantiene capital y liquidez suficientes para sobrevivir.</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Un mismo escenario macro afecta crédito, mercado, fondeo, liquidez y rentabilidad al mismo tiempo.</a:t>
            </a:r>
            <a:br>
              <a:rPr lang="es-ES" sz="900" b="0" i="0" dirty="0">
                <a:effectLst/>
                <a:latin typeface="Segoe WPC"/>
              </a:rPr>
            </a:br>
            <a:r>
              <a:rPr lang="es-ES" sz="900" b="1" i="0" dirty="0">
                <a:effectLst/>
                <a:latin typeface="Segoe WPC"/>
              </a:rPr>
              <a:t>Key Formula:</a:t>
            </a:r>
            <a:r>
              <a:rPr lang="es-ES" sz="900" b="0" i="0" dirty="0">
                <a:effectLst/>
                <a:latin typeface="Segoe WPC"/>
              </a:rPr>
              <a:t> (Capital_{post\</a:t>
            </a:r>
            <a:r>
              <a:rPr lang="es-ES" sz="900" b="0" i="0" dirty="0" err="1">
                <a:effectLst/>
                <a:latin typeface="Segoe WPC"/>
              </a:rPr>
              <a:t>text</a:t>
            </a:r>
            <a:r>
              <a:rPr lang="es-ES" sz="900" b="0" i="0" dirty="0">
                <a:effectLst/>
                <a:latin typeface="Segoe WPC"/>
              </a:rPr>
              <a:t>{-}stress} = Capital_0 - </a:t>
            </a:r>
            <a:r>
              <a:rPr lang="es-ES" sz="900" b="0" i="0" dirty="0" err="1">
                <a:effectLst/>
                <a:latin typeface="Segoe WPC"/>
              </a:rPr>
              <a:t>Losses</a:t>
            </a:r>
            <a:r>
              <a:rPr lang="es-ES" sz="900" b="0" i="0" dirty="0">
                <a:effectLst/>
                <a:latin typeface="Segoe WPC"/>
              </a:rPr>
              <a:t>_{stress})</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El enfoque correcto agrega exposiciones entre líneas de negocio y considera interacciones y contagios internos.</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No tratar cada </a:t>
            </a:r>
            <a:r>
              <a:rPr lang="es-ES" sz="900" b="0" i="0" dirty="0" err="1">
                <a:effectLst/>
                <a:latin typeface="Segoe WPC"/>
              </a:rPr>
              <a:t>desk</a:t>
            </a:r>
            <a:r>
              <a:rPr lang="es-ES" sz="900" b="0" i="0" dirty="0">
                <a:effectLst/>
                <a:latin typeface="Segoe WPC"/>
              </a:rPr>
              <a:t> por separado; el objetivo central es una evaluación consolidada de supervivencia.</a:t>
            </a:r>
          </a:p>
          <a:p>
            <a:pPr algn="l">
              <a:spcBef>
                <a:spcPts val="300"/>
              </a:spcBef>
              <a:spcAft>
                <a:spcPts val="600"/>
              </a:spcAft>
              <a:buFont typeface="+mj-lt"/>
              <a:buAutoNum type="arabicPeriod"/>
            </a:pPr>
            <a:r>
              <a:rPr lang="es-ES" sz="900" b="1" i="0" dirty="0" err="1">
                <a:effectLst/>
                <a:latin typeface="Segoe WPC"/>
              </a:rPr>
              <a:t>Stressed</a:t>
            </a:r>
            <a:r>
              <a:rPr lang="es-ES" sz="900" b="1" i="0" dirty="0">
                <a:effectLst/>
                <a:latin typeface="Segoe WPC"/>
              </a:rPr>
              <a:t> VaR y </a:t>
            </a:r>
            <a:r>
              <a:rPr lang="es-ES" sz="900" b="1" i="0" dirty="0" err="1">
                <a:effectLst/>
                <a:latin typeface="Segoe WPC"/>
              </a:rPr>
              <a:t>stressed</a:t>
            </a:r>
            <a:r>
              <a:rPr lang="es-ES" sz="900" b="1" i="0" dirty="0">
                <a:effectLst/>
                <a:latin typeface="Segoe WPC"/>
              </a:rPr>
              <a:t> ES</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VaR/ES calculados con datos de un período históricamente estresado.</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En vez de usar años recientes “normales”, se usa un período de tensión relevante para la cartera actual.</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Se recalcula la cola de pérdidas suponiendo que el mercado repite 2008, no un año promedio.</a:t>
            </a:r>
            <a:br>
              <a:rPr lang="es-ES" sz="900" b="0" i="0" dirty="0">
                <a:effectLst/>
                <a:latin typeface="Segoe WPC"/>
              </a:rPr>
            </a:br>
            <a:r>
              <a:rPr lang="es-ES" sz="900" b="1" i="0" dirty="0">
                <a:effectLst/>
                <a:latin typeface="Segoe WPC"/>
              </a:rPr>
              <a:t>Key Formula:</a:t>
            </a:r>
            <a:r>
              <a:rPr lang="es-ES" sz="900" b="0" i="0" dirty="0">
                <a:effectLst/>
                <a:latin typeface="Segoe WPC"/>
              </a:rPr>
              <a:t> (</a:t>
            </a:r>
            <a:r>
              <a:rPr lang="es-ES" sz="900" b="0" i="0" dirty="0" err="1">
                <a:effectLst/>
                <a:latin typeface="Segoe WPC"/>
              </a:rPr>
              <a:t>Stressed</a:t>
            </a:r>
            <a:r>
              <a:rPr lang="es-ES" sz="900" b="0" i="0" dirty="0">
                <a:effectLst/>
                <a:latin typeface="Segoe WPC"/>
              </a:rPr>
              <a:t>\ VaR_\</a:t>
            </a:r>
            <a:r>
              <a:rPr lang="es-ES" sz="900" b="0" i="0" dirty="0" err="1">
                <a:effectLst/>
                <a:latin typeface="Segoe WPC"/>
              </a:rPr>
              <a:t>alpha</a:t>
            </a:r>
            <a:r>
              <a:rPr lang="es-ES" sz="900" b="0" i="0" dirty="0">
                <a:effectLst/>
                <a:latin typeface="Segoe WPC"/>
              </a:rPr>
              <a:t>) y (</a:t>
            </a:r>
            <a:r>
              <a:rPr lang="es-ES" sz="900" b="0" i="0" dirty="0" err="1">
                <a:effectLst/>
                <a:latin typeface="Segoe WPC"/>
              </a:rPr>
              <a:t>Stressed</a:t>
            </a:r>
            <a:r>
              <a:rPr lang="es-ES" sz="900" b="0" i="0" dirty="0">
                <a:effectLst/>
                <a:latin typeface="Segoe WPC"/>
              </a:rPr>
              <a:t>\ ES_\</a:t>
            </a:r>
            <a:r>
              <a:rPr lang="es-ES" sz="900" b="0" i="0" dirty="0" err="1">
                <a:effectLst/>
                <a:latin typeface="Segoe WPC"/>
              </a:rPr>
              <a:t>alpha</a:t>
            </a:r>
            <a:r>
              <a:rPr lang="es-ES" sz="900" b="0" i="0" dirty="0">
                <a:effectLst/>
                <a:latin typeface="Segoe WPC"/>
              </a:rPr>
              <a:t>) se estiman usando observaciones de un período estresado de 12 meses.</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Son medidas condicionales: “si se repitiera ese período de estrés, estas serían las pérdidas de corto plazo”.</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No son lo mismo que un stress test completo; </a:t>
            </a:r>
            <a:r>
              <a:rPr lang="es-ES" sz="900" b="0" i="0" dirty="0" err="1">
                <a:effectLst/>
                <a:latin typeface="Segoe WPC"/>
              </a:rPr>
              <a:t>stressed</a:t>
            </a:r>
            <a:r>
              <a:rPr lang="es-ES" sz="900" b="0" i="0" dirty="0">
                <a:effectLst/>
                <a:latin typeface="Segoe WPC"/>
              </a:rPr>
              <a:t> VaR/ES suele usar horizontes cortos, mientras stress </a:t>
            </a:r>
            <a:r>
              <a:rPr lang="es-ES" sz="900" b="0" i="0" dirty="0" err="1">
                <a:effectLst/>
                <a:latin typeface="Segoe WPC"/>
              </a:rPr>
              <a:t>testing</a:t>
            </a:r>
            <a:r>
              <a:rPr lang="es-ES" sz="900" b="0" i="0" dirty="0">
                <a:effectLst/>
                <a:latin typeface="Segoe WPC"/>
              </a:rPr>
              <a:t> analiza escenarios prolongados.</a:t>
            </a:r>
          </a:p>
          <a:p>
            <a:pPr algn="l">
              <a:spcBef>
                <a:spcPts val="300"/>
              </a:spcBef>
              <a:spcAft>
                <a:spcPts val="600"/>
              </a:spcAft>
              <a:buFont typeface="+mj-lt"/>
              <a:buAutoNum type="arabicPeriod"/>
            </a:pPr>
            <a:r>
              <a:rPr lang="es-ES" sz="900" b="1" i="0" dirty="0">
                <a:effectLst/>
                <a:latin typeface="Segoe WPC"/>
              </a:rPr>
              <a:t>Ventajas y limitaciones de </a:t>
            </a:r>
            <a:r>
              <a:rPr lang="es-ES" sz="900" b="1" i="0" dirty="0" err="1">
                <a:effectLst/>
                <a:latin typeface="Segoe WPC"/>
              </a:rPr>
              <a:t>stressed</a:t>
            </a:r>
            <a:r>
              <a:rPr lang="es-ES" sz="900" b="1" i="0" dirty="0">
                <a:effectLst/>
                <a:latin typeface="Segoe WPC"/>
              </a:rPr>
              <a:t> VaR/ES</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Comparación entre medidas estresadas y medidas tradicionales.</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Mejoran la sensibilidad a colas severas, pero siguen dependiendo de un episodio histórico específico.</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Cambias la muestra histórica por una “ventana mala”, pero sigues haciendo una medición de cola relativamente mecánica.</a:t>
            </a:r>
            <a:br>
              <a:rPr lang="es-ES" sz="900" b="0" i="0" dirty="0">
                <a:effectLst/>
                <a:latin typeface="Segoe WPC"/>
              </a:rPr>
            </a:br>
            <a:r>
              <a:rPr lang="es-ES" sz="900" b="1" i="0" dirty="0">
                <a:effectLst/>
                <a:latin typeface="Segoe WPC"/>
              </a:rPr>
              <a:t>Key Formula:</a:t>
            </a:r>
            <a:r>
              <a:rPr lang="es-ES" sz="900" b="0" i="0" dirty="0">
                <a:effectLst/>
                <a:latin typeface="Segoe WPC"/>
              </a:rPr>
              <a:t> Conceptualmente, (L \sim F_{stress}) en lugar de (L \sim F_{</a:t>
            </a:r>
            <a:r>
              <a:rPr lang="es-ES" sz="900" b="0" i="0" dirty="0" err="1">
                <a:effectLst/>
                <a:latin typeface="Segoe WPC"/>
              </a:rPr>
              <a:t>recent</a:t>
            </a:r>
            <a:r>
              <a:rPr lang="es-ES" sz="900" b="0" i="0" dirty="0">
                <a:effectLst/>
                <a:latin typeface="Segoe WPC"/>
              </a:rPr>
              <a:t>})</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Son útiles para capital regulatorio, pero no capturan bien escenarios inéditos ni toda la evolución dinámica de una crisis larga.</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Tampoco pueden </a:t>
            </a:r>
            <a:r>
              <a:rPr lang="es-ES" sz="900" b="0" i="0" dirty="0" err="1">
                <a:effectLst/>
                <a:latin typeface="Segoe WPC"/>
              </a:rPr>
              <a:t>backtestearse</a:t>
            </a:r>
            <a:r>
              <a:rPr lang="es-ES" sz="900" b="0" i="0" dirty="0">
                <a:effectLst/>
                <a:latin typeface="Segoe WPC"/>
              </a:rPr>
              <a:t> como el VaR tradicional, porque se enfocan en eventos extremos raros, no en excedencias frecuentes observables.</a:t>
            </a:r>
          </a:p>
          <a:p>
            <a:pPr>
              <a:spcAft>
                <a:spcPts val="600"/>
              </a:spcAft>
              <a:buNone/>
            </a:pPr>
            <a:br>
              <a:rPr lang="es-ES" sz="900" dirty="0"/>
            </a:br>
            <a:endParaRPr lang="es-PE" sz="900" dirty="0"/>
          </a:p>
        </p:txBody>
      </p:sp>
      <p:sp>
        <p:nvSpPr>
          <p:cNvPr id="6" name="CuadroTexto 5">
            <a:extLst>
              <a:ext uri="{FF2B5EF4-FFF2-40B4-BE49-F238E27FC236}">
                <a16:creationId xmlns:a16="http://schemas.microsoft.com/office/drawing/2014/main" id="{BF67D7FE-6258-54AE-6A94-08BC4FA8DE3A}"/>
              </a:ext>
            </a:extLst>
          </p:cNvPr>
          <p:cNvSpPr txBox="1"/>
          <p:nvPr/>
        </p:nvSpPr>
        <p:spPr>
          <a:xfrm>
            <a:off x="6306456" y="732935"/>
            <a:ext cx="6179456" cy="5724644"/>
          </a:xfrm>
          <a:prstGeom prst="rect">
            <a:avLst/>
          </a:prstGeom>
          <a:noFill/>
        </p:spPr>
        <p:txBody>
          <a:bodyPr wrap="square">
            <a:spAutoFit/>
          </a:bodyPr>
          <a:lstStyle/>
          <a:p>
            <a:pPr>
              <a:spcBef>
                <a:spcPts val="300"/>
              </a:spcBef>
              <a:spcAft>
                <a:spcPts val="300"/>
              </a:spcAft>
              <a:buFont typeface="+mj-lt"/>
              <a:buAutoNum type="arabicPeriod"/>
            </a:pPr>
            <a:r>
              <a:rPr lang="es-ES" sz="900" b="1" dirty="0">
                <a:latin typeface="Segoe WPC"/>
              </a:rPr>
              <a:t>Construcción de escenarios</a:t>
            </a:r>
            <a:br>
              <a:rPr lang="es-ES" sz="900" dirty="0">
                <a:latin typeface="Segoe WPC"/>
              </a:rPr>
            </a:br>
            <a:r>
              <a:rPr lang="es-ES" sz="900" b="1" dirty="0" err="1">
                <a:latin typeface="Segoe WPC"/>
              </a:rPr>
              <a:t>Financial</a:t>
            </a:r>
            <a:r>
              <a:rPr lang="es-ES" sz="900" b="1" dirty="0">
                <a:latin typeface="Segoe WPC"/>
              </a:rPr>
              <a:t> </a:t>
            </a:r>
            <a:r>
              <a:rPr lang="es-ES" sz="900" b="1" dirty="0" err="1">
                <a:latin typeface="Segoe WPC"/>
              </a:rPr>
              <a:t>Object</a:t>
            </a:r>
            <a:r>
              <a:rPr lang="es-ES" sz="900" b="1" dirty="0">
                <a:latin typeface="Segoe WPC"/>
              </a:rPr>
              <a:t>:</a:t>
            </a:r>
            <a:r>
              <a:rPr lang="es-ES" sz="900" dirty="0">
                <a:latin typeface="Segoe WPC"/>
              </a:rPr>
              <a:t> Elección del horizonte temporal y del tipo de escenario.</a:t>
            </a:r>
            <a:br>
              <a:rPr lang="es-ES" sz="900" dirty="0">
                <a:latin typeface="Segoe WPC"/>
              </a:rPr>
            </a:br>
            <a:r>
              <a:rPr lang="es-ES" sz="900" b="1" dirty="0" err="1">
                <a:latin typeface="Segoe WPC"/>
              </a:rPr>
              <a:t>Plain</a:t>
            </a:r>
            <a:r>
              <a:rPr lang="es-ES" sz="900" b="1" dirty="0">
                <a:latin typeface="Segoe WPC"/>
              </a:rPr>
              <a:t> </a:t>
            </a:r>
            <a:r>
              <a:rPr lang="es-ES" sz="900" b="1" dirty="0" err="1">
                <a:latin typeface="Segoe WPC"/>
              </a:rPr>
              <a:t>Intuition</a:t>
            </a:r>
            <a:r>
              <a:rPr lang="es-ES" sz="900" b="1" dirty="0">
                <a:latin typeface="Segoe WPC"/>
              </a:rPr>
              <a:t>:</a:t>
            </a:r>
            <a:r>
              <a:rPr lang="es-ES" sz="900" dirty="0">
                <a:latin typeface="Segoe WPC"/>
              </a:rPr>
              <a:t> Primero se decide cuánto dura el estrés; luego se define si será histórico, basado en variables clave o ad hoc.</a:t>
            </a:r>
            <a:br>
              <a:rPr lang="es-ES" sz="900" dirty="0">
                <a:latin typeface="Segoe WPC"/>
              </a:rPr>
            </a:br>
            <a:r>
              <a:rPr lang="es-ES" sz="900" b="1" dirty="0">
                <a:latin typeface="Segoe WPC"/>
              </a:rPr>
              <a:t>Visual </a:t>
            </a:r>
            <a:r>
              <a:rPr lang="es-ES" sz="900" b="1" dirty="0" err="1">
                <a:latin typeface="Segoe WPC"/>
              </a:rPr>
              <a:t>Intuition</a:t>
            </a:r>
            <a:r>
              <a:rPr lang="es-ES" sz="900" b="1" dirty="0">
                <a:latin typeface="Segoe WPC"/>
              </a:rPr>
              <a:t>:</a:t>
            </a:r>
            <a:r>
              <a:rPr lang="es-ES" sz="900" dirty="0">
                <a:latin typeface="Segoe WPC"/>
              </a:rPr>
              <a:t> El escenario puede ser “repetir 2008”, “tasas +200 </a:t>
            </a:r>
            <a:r>
              <a:rPr lang="es-ES" sz="900" dirty="0" err="1">
                <a:latin typeface="Segoe WPC"/>
              </a:rPr>
              <a:t>bp</a:t>
            </a:r>
            <a:r>
              <a:rPr lang="es-ES" sz="900" dirty="0">
                <a:latin typeface="Segoe WPC"/>
              </a:rPr>
              <a:t>”, o “Brexit inesperado”.</a:t>
            </a:r>
            <a:br>
              <a:rPr lang="es-ES" sz="900" dirty="0">
                <a:latin typeface="Segoe WPC"/>
              </a:rPr>
            </a:br>
            <a:r>
              <a:rPr lang="es-ES" sz="900" b="1" dirty="0">
                <a:latin typeface="Segoe WPC"/>
              </a:rPr>
              <a:t>Key Formula:</a:t>
            </a:r>
            <a:r>
              <a:rPr lang="es-ES" sz="900" dirty="0">
                <a:latin typeface="Segoe WPC"/>
              </a:rPr>
              <a:t> No hay fórmula única; el diseño depende de horizonte y variables núcleo.</a:t>
            </a:r>
            <a:br>
              <a:rPr lang="es-ES" sz="900" dirty="0">
                <a:latin typeface="Segoe WPC"/>
              </a:rPr>
            </a:br>
            <a:r>
              <a:rPr lang="es-ES" sz="900" b="1" dirty="0" err="1">
                <a:latin typeface="Segoe WPC"/>
              </a:rPr>
              <a:t>Interpretation</a:t>
            </a:r>
            <a:r>
              <a:rPr lang="es-ES" sz="900" b="1" dirty="0">
                <a:latin typeface="Segoe WPC"/>
              </a:rPr>
              <a:t>:</a:t>
            </a:r>
            <a:r>
              <a:rPr lang="es-ES" sz="900" dirty="0">
                <a:latin typeface="Segoe WPC"/>
              </a:rPr>
              <a:t> Horizontes típicos van de tres meses a dos años, aunque ciertos riesgos como longevidad pueden requerir décadas.</a:t>
            </a:r>
            <a:br>
              <a:rPr lang="es-ES" sz="900" dirty="0">
                <a:latin typeface="Segoe WPC"/>
              </a:rPr>
            </a:br>
            <a:r>
              <a:rPr lang="es-ES" sz="900" b="1" dirty="0" err="1">
                <a:latin typeface="Segoe WPC"/>
              </a:rPr>
              <a:t>Exam</a:t>
            </a:r>
            <a:r>
              <a:rPr lang="es-ES" sz="900" b="1" dirty="0">
                <a:latin typeface="Segoe WPC"/>
              </a:rPr>
              <a:t> </a:t>
            </a:r>
            <a:r>
              <a:rPr lang="es-ES" sz="900" b="1" dirty="0" err="1">
                <a:latin typeface="Segoe WPC"/>
              </a:rPr>
              <a:t>Trap</a:t>
            </a:r>
            <a:r>
              <a:rPr lang="es-ES" sz="900" b="1" dirty="0">
                <a:latin typeface="Segoe WPC"/>
              </a:rPr>
              <a:t>:</a:t>
            </a:r>
            <a:r>
              <a:rPr lang="es-ES" sz="900" dirty="0">
                <a:latin typeface="Segoe WPC"/>
              </a:rPr>
              <a:t> No asumir que todos los stress </a:t>
            </a:r>
            <a:r>
              <a:rPr lang="es-ES" sz="900" dirty="0" err="1">
                <a:latin typeface="Segoe WPC"/>
              </a:rPr>
              <a:t>tests</a:t>
            </a:r>
            <a:r>
              <a:rPr lang="es-ES" sz="900" dirty="0">
                <a:latin typeface="Segoe WPC"/>
              </a:rPr>
              <a:t> son de un día; eso es más cercano a shocks de mercado o suplementos de </a:t>
            </a:r>
            <a:r>
              <a:rPr lang="es-ES" sz="900" dirty="0" err="1">
                <a:latin typeface="Segoe WPC"/>
              </a:rPr>
              <a:t>stressed</a:t>
            </a:r>
            <a:r>
              <a:rPr lang="es-ES" sz="900" dirty="0">
                <a:latin typeface="Segoe WPC"/>
              </a:rPr>
              <a:t> VaR.</a:t>
            </a:r>
            <a:endParaRPr lang="es-ES" sz="900" b="1" i="0" dirty="0">
              <a:effectLst/>
              <a:latin typeface="Segoe WPC"/>
            </a:endParaRPr>
          </a:p>
          <a:p>
            <a:pPr algn="l">
              <a:spcBef>
                <a:spcPts val="300"/>
              </a:spcBef>
              <a:spcAft>
                <a:spcPts val="300"/>
              </a:spcAft>
              <a:buFont typeface="+mj-lt"/>
              <a:buAutoNum type="arabicPeriod"/>
            </a:pPr>
            <a:r>
              <a:rPr lang="es-ES" sz="900" b="1" i="0" dirty="0">
                <a:effectLst/>
                <a:latin typeface="Segoe WPC"/>
              </a:rPr>
              <a:t>Escenarios históricos y sus problemas</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Uso de crisis pasadas como plantilla para shocks actuales.</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Se supone que los factores relevantes se moverán como en un episodio pasado.</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Repetir la crisis </a:t>
            </a:r>
            <a:r>
              <a:rPr lang="es-ES" sz="900" b="0" i="0" dirty="0" err="1">
                <a:effectLst/>
                <a:latin typeface="Segoe WPC"/>
              </a:rPr>
              <a:t>subprime</a:t>
            </a:r>
            <a:r>
              <a:rPr lang="es-ES" sz="900" b="0" i="0" dirty="0">
                <a:effectLst/>
                <a:latin typeface="Segoe WPC"/>
              </a:rPr>
              <a:t>, el shock ruso de 1998 o una caída bursátil extrema.</a:t>
            </a:r>
            <a:br>
              <a:rPr lang="es-ES" sz="900" b="0" i="0" dirty="0">
                <a:effectLst/>
                <a:latin typeface="Segoe WPC"/>
              </a:rPr>
            </a:br>
            <a:r>
              <a:rPr lang="es-ES" sz="900" b="1" i="0" dirty="0">
                <a:effectLst/>
                <a:latin typeface="Segoe WPC"/>
              </a:rPr>
              <a:t>Key Formula:</a:t>
            </a:r>
            <a:r>
              <a:rPr lang="es-ES" sz="900" b="0" i="0" dirty="0">
                <a:effectLst/>
                <a:latin typeface="Segoe WPC"/>
              </a:rPr>
              <a:t> Para algunas variables se repiten cambios absolutos; para otras, cambios proporcionales.</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Son fáciles de comunicar y calibrar, pero pueden ser insuficientes porque la historia no se repite exactamente.</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Multiplicar por 2 o 3 todos los shocks históricos no siempre es correcto; en estrés las correlaciones y relaciones entre factores cambian de forma no lineal.</a:t>
            </a:r>
          </a:p>
          <a:p>
            <a:pPr algn="l">
              <a:spcBef>
                <a:spcPts val="300"/>
              </a:spcBef>
              <a:spcAft>
                <a:spcPts val="300"/>
              </a:spcAft>
              <a:buFont typeface="+mj-lt"/>
              <a:buAutoNum type="arabicPeriod"/>
            </a:pPr>
            <a:r>
              <a:rPr lang="es-ES" sz="900" b="1" i="0" dirty="0">
                <a:effectLst/>
                <a:latin typeface="Segoe WPC"/>
              </a:rPr>
              <a:t>Stress </a:t>
            </a:r>
            <a:r>
              <a:rPr lang="es-ES" sz="900" b="1" i="0" dirty="0" err="1">
                <a:effectLst/>
                <a:latin typeface="Segoe WPC"/>
              </a:rPr>
              <a:t>key</a:t>
            </a:r>
            <a:r>
              <a:rPr lang="es-ES" sz="900" b="1" i="0" dirty="0">
                <a:effectLst/>
                <a:latin typeface="Segoe WPC"/>
              </a:rPr>
              <a:t> variables y escenarios ad hoc</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Escenarios creados a partir de shocks grandes en variables núcleo o eventos nuevos plausibles.</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Se parte de unos pocos drivers, como tasas, GDP, desempleo o acciones, y luego se completa el resto del escenario.</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“Desempleo +4%”, “acciones -25%”, “volatilidad +100%”.</a:t>
            </a:r>
            <a:br>
              <a:rPr lang="es-ES" sz="900" b="0" i="0" dirty="0">
                <a:effectLst/>
                <a:latin typeface="Segoe WPC"/>
              </a:rPr>
            </a:br>
            <a:r>
              <a:rPr lang="es-ES" sz="900" b="1" i="0" dirty="0">
                <a:effectLst/>
                <a:latin typeface="Segoe WPC"/>
              </a:rPr>
              <a:t>Key Formula:</a:t>
            </a:r>
            <a:r>
              <a:rPr lang="es-ES" sz="900" b="0" i="0" dirty="0">
                <a:effectLst/>
                <a:latin typeface="Segoe WPC"/>
              </a:rPr>
              <a:t> Ejemplos: (\Delta r=+200\</a:t>
            </a:r>
            <a:r>
              <a:rPr lang="es-ES" sz="900" b="0" i="0" dirty="0" err="1">
                <a:effectLst/>
                <a:latin typeface="Segoe WPC"/>
              </a:rPr>
              <a:t>text</a:t>
            </a:r>
            <a:r>
              <a:rPr lang="es-ES" sz="900" b="0" i="0" dirty="0">
                <a:effectLst/>
                <a:latin typeface="Segoe WPC"/>
              </a:rPr>
              <a:t>{ </a:t>
            </a:r>
            <a:r>
              <a:rPr lang="es-ES" sz="900" b="0" i="0" dirty="0" err="1">
                <a:effectLst/>
                <a:latin typeface="Segoe WPC"/>
              </a:rPr>
              <a:t>bp</a:t>
            </a:r>
            <a:r>
              <a:rPr lang="es-ES" sz="900" b="0" i="0" dirty="0">
                <a:effectLst/>
                <a:latin typeface="Segoe WPC"/>
              </a:rPr>
              <a:t>}), (\Delta \sigma = +100%), (\Delta S/S=-25%)</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Los escenarios ad hoc son esenciales cuando aparece un riesgo nuevo sin precedente histórico claro.</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No usar griegas como delta/gamma/vega para justificar todo el impacto; los shocks son demasiado grandes y de horizonte demasiado largo.</a:t>
            </a:r>
          </a:p>
          <a:p>
            <a:pPr algn="l">
              <a:spcBef>
                <a:spcPts val="300"/>
              </a:spcBef>
              <a:spcAft>
                <a:spcPts val="300"/>
              </a:spcAft>
              <a:buFont typeface="+mj-lt"/>
              <a:buAutoNum type="arabicPeriod"/>
            </a:pPr>
            <a:r>
              <a:rPr lang="es-ES" sz="900" b="1" i="0" dirty="0" err="1">
                <a:effectLst/>
                <a:latin typeface="Segoe WPC"/>
              </a:rPr>
              <a:t>Model</a:t>
            </a:r>
            <a:r>
              <a:rPr lang="es-ES" sz="900" b="1" i="0" dirty="0">
                <a:effectLst/>
                <a:latin typeface="Segoe WPC"/>
              </a:rPr>
              <a:t> </a:t>
            </a:r>
            <a:r>
              <a:rPr lang="es-ES" sz="900" b="1" i="0" dirty="0" err="1">
                <a:effectLst/>
                <a:latin typeface="Segoe WPC"/>
              </a:rPr>
              <a:t>building</a:t>
            </a:r>
            <a:r>
              <a:rPr lang="es-ES" sz="900" b="1" i="0" dirty="0">
                <a:effectLst/>
                <a:latin typeface="Segoe WPC"/>
              </a:rPr>
              <a:t>: </a:t>
            </a:r>
            <a:r>
              <a:rPr lang="es-ES" sz="900" b="1" i="0" dirty="0" err="1">
                <a:effectLst/>
                <a:latin typeface="Segoe WPC"/>
              </a:rPr>
              <a:t>core</a:t>
            </a:r>
            <a:r>
              <a:rPr lang="es-ES" sz="900" b="1" i="0" dirty="0">
                <a:effectLst/>
                <a:latin typeface="Segoe WPC"/>
              </a:rPr>
              <a:t> vs. </a:t>
            </a:r>
            <a:r>
              <a:rPr lang="es-ES" sz="900" b="1" i="0" dirty="0" err="1">
                <a:effectLst/>
                <a:latin typeface="Segoe WPC"/>
              </a:rPr>
              <a:t>peripheral</a:t>
            </a:r>
            <a:r>
              <a:rPr lang="es-ES" sz="900" b="1" i="0" dirty="0">
                <a:effectLst/>
                <a:latin typeface="Segoe WPC"/>
              </a:rPr>
              <a:t> variables</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Modelos que traducen shocks en variables clave hacia el resto de factores y pérdidas.</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El escenario suele especificar pocos drivers; el modelo debe inferir cómo reaccionan las demás variables.</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GDP, desempleo y </a:t>
            </a:r>
            <a:r>
              <a:rPr lang="es-ES" sz="900" b="0" i="0" dirty="0" err="1">
                <a:effectLst/>
                <a:latin typeface="Segoe WPC"/>
              </a:rPr>
              <a:t>equity</a:t>
            </a:r>
            <a:r>
              <a:rPr lang="es-ES" sz="900" b="0" i="0" dirty="0">
                <a:effectLst/>
                <a:latin typeface="Segoe WPC"/>
              </a:rPr>
              <a:t> son variables núcleo; defaults, </a:t>
            </a:r>
            <a:r>
              <a:rPr lang="es-ES" sz="900" b="0" i="0" dirty="0" err="1">
                <a:effectLst/>
                <a:latin typeface="Segoe WPC"/>
              </a:rPr>
              <a:t>recoveries</a:t>
            </a:r>
            <a:r>
              <a:rPr lang="es-ES" sz="900" b="0" i="0" dirty="0">
                <a:effectLst/>
                <a:latin typeface="Segoe WPC"/>
              </a:rPr>
              <a:t>, spreads y utilidades son variables periféricas derivadas.</a:t>
            </a:r>
            <a:br>
              <a:rPr lang="es-ES" sz="900" b="0" i="0" dirty="0">
                <a:effectLst/>
                <a:latin typeface="Segoe WPC"/>
              </a:rPr>
            </a:br>
            <a:r>
              <a:rPr lang="es-ES" sz="900" b="1" i="0" dirty="0">
                <a:effectLst/>
                <a:latin typeface="Segoe WPC"/>
              </a:rPr>
              <a:t>Key Formula:</a:t>
            </a:r>
            <a:r>
              <a:rPr lang="es-ES" sz="900" b="0" i="0" dirty="0">
                <a:effectLst/>
                <a:latin typeface="Segoe WPC"/>
              </a:rPr>
              <a:t> Ejemplo conceptual: (Y_{</a:t>
            </a:r>
            <a:r>
              <a:rPr lang="es-ES" sz="900" b="0" i="0" dirty="0" err="1">
                <a:effectLst/>
                <a:latin typeface="Segoe WPC"/>
              </a:rPr>
              <a:t>peripheral</a:t>
            </a:r>
            <a:r>
              <a:rPr lang="es-ES" sz="900" b="0" i="0" dirty="0">
                <a:effectLst/>
                <a:latin typeface="Segoe WPC"/>
              </a:rPr>
              <a:t>} = \</a:t>
            </a:r>
            <a:r>
              <a:rPr lang="es-ES" sz="900" b="0" i="0" dirty="0" err="1">
                <a:effectLst/>
                <a:latin typeface="Segoe WPC"/>
              </a:rPr>
              <a:t>alpha</a:t>
            </a:r>
            <a:r>
              <a:rPr lang="es-ES" sz="900" b="0" i="0" dirty="0">
                <a:effectLst/>
                <a:latin typeface="Segoe WPC"/>
              </a:rPr>
              <a:t> + \beta X_{</a:t>
            </a:r>
            <a:r>
              <a:rPr lang="es-ES" sz="900" b="0" i="0" dirty="0" err="1">
                <a:effectLst/>
                <a:latin typeface="Segoe WPC"/>
              </a:rPr>
              <a:t>core</a:t>
            </a:r>
            <a:r>
              <a:rPr lang="es-ES" sz="900" b="0" i="0" dirty="0">
                <a:effectLst/>
                <a:latin typeface="Segoe WPC"/>
              </a:rPr>
              <a:t>} + \</a:t>
            </a:r>
            <a:r>
              <a:rPr lang="es-ES" sz="900" b="0" i="0" dirty="0" err="1">
                <a:effectLst/>
                <a:latin typeface="Segoe WPC"/>
              </a:rPr>
              <a:t>varepsilon</a:t>
            </a:r>
            <a:r>
              <a:rPr lang="es-ES" sz="900" b="0" i="0" dirty="0">
                <a:effectLst/>
                <a:latin typeface="Segoe WPC"/>
              </a:rPr>
              <a:t>)</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Las relaciones deben calibrarse con datos de estrés, no solo de períodos normales, porque en crisis suben correlaciones y caen </a:t>
            </a:r>
            <a:r>
              <a:rPr lang="es-ES" sz="900" b="0" i="0" dirty="0" err="1">
                <a:effectLst/>
                <a:latin typeface="Segoe WPC"/>
              </a:rPr>
              <a:t>recoveries</a:t>
            </a:r>
            <a:r>
              <a:rPr lang="es-ES" sz="900" b="0" i="0" dirty="0">
                <a:effectLst/>
                <a:latin typeface="Segoe WPC"/>
              </a:rPr>
              <a:t>.</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No suponer que un modelo estimado en condiciones promedio sirve automáticamente en condiciones extremas.</a:t>
            </a:r>
          </a:p>
        </p:txBody>
      </p:sp>
    </p:spTree>
    <p:extLst>
      <p:ext uri="{BB962C8B-B14F-4D97-AF65-F5344CB8AC3E}">
        <p14:creationId xmlns:p14="http://schemas.microsoft.com/office/powerpoint/2010/main" val="36466024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459C2EE0-5546-8A6F-9089-6C06BC7296B8}"/>
              </a:ext>
            </a:extLst>
          </p:cNvPr>
          <p:cNvSpPr txBox="1"/>
          <p:nvPr/>
        </p:nvSpPr>
        <p:spPr>
          <a:xfrm>
            <a:off x="139700" y="1940982"/>
            <a:ext cx="6096000" cy="3493264"/>
          </a:xfrm>
          <a:prstGeom prst="rect">
            <a:avLst/>
          </a:prstGeom>
          <a:noFill/>
        </p:spPr>
        <p:txBody>
          <a:bodyPr wrap="square">
            <a:spAutoFit/>
          </a:bodyPr>
          <a:lstStyle/>
          <a:p>
            <a:pPr algn="l">
              <a:spcBef>
                <a:spcPts val="300"/>
              </a:spcBef>
              <a:spcAft>
                <a:spcPts val="300"/>
              </a:spcAft>
              <a:buFont typeface="+mj-lt"/>
              <a:buAutoNum type="arabicPeriod"/>
            </a:pPr>
            <a:r>
              <a:rPr lang="es-ES" sz="900" b="1" i="0" dirty="0" err="1">
                <a:effectLst/>
                <a:latin typeface="Segoe WPC"/>
              </a:rPr>
              <a:t>Knock-on</a:t>
            </a:r>
            <a:r>
              <a:rPr lang="es-ES" sz="900" b="1" i="0" dirty="0">
                <a:effectLst/>
                <a:latin typeface="Segoe WPC"/>
              </a:rPr>
              <a:t> </a:t>
            </a:r>
            <a:r>
              <a:rPr lang="es-ES" sz="900" b="1" i="0" dirty="0" err="1">
                <a:effectLst/>
                <a:latin typeface="Segoe WPC"/>
              </a:rPr>
              <a:t>effects</a:t>
            </a:r>
            <a:r>
              <a:rPr lang="es-ES" sz="900" b="1" i="0" dirty="0">
                <a:effectLst/>
                <a:latin typeface="Segoe WPC"/>
              </a:rPr>
              <a:t> y reverse stress </a:t>
            </a:r>
            <a:r>
              <a:rPr lang="es-ES" sz="900" b="1" i="0" dirty="0" err="1">
                <a:effectLst/>
                <a:latin typeface="Segoe WPC"/>
              </a:rPr>
              <a:t>testing</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Efectos de segunda ronda y búsqueda del escenario que llevaría al fracaso.</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No basta con medir el golpe inicial; hay que considerar reacciones del sistema que empeoran la crisis.</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Caen viviendas, suben defaults, bancos venden colateral, cae más el mercado, sube el fondeo: espiral adversa.</a:t>
            </a:r>
            <a:br>
              <a:rPr lang="es-ES" sz="900" b="0" i="0" dirty="0">
                <a:effectLst/>
                <a:latin typeface="Segoe WPC"/>
              </a:rPr>
            </a:br>
            <a:r>
              <a:rPr lang="es-ES" sz="900" b="1" i="0" dirty="0">
                <a:effectLst/>
                <a:latin typeface="Segoe WPC"/>
              </a:rPr>
              <a:t>Key Formula:</a:t>
            </a:r>
            <a:r>
              <a:rPr lang="es-ES" sz="900" b="0" i="0" dirty="0">
                <a:effectLst/>
                <a:latin typeface="Segoe WPC"/>
              </a:rPr>
              <a:t> Sin fórmula cerrada; suele implicar búsqueda iterativa sobre combinaciones de factores clave.</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Reverse stress </a:t>
            </a:r>
            <a:r>
              <a:rPr lang="es-ES" sz="900" b="0" i="0" dirty="0" err="1">
                <a:effectLst/>
                <a:latin typeface="Segoe WPC"/>
              </a:rPr>
              <a:t>testing</a:t>
            </a:r>
            <a:r>
              <a:rPr lang="es-ES" sz="900" b="0" i="0" dirty="0">
                <a:effectLst/>
                <a:latin typeface="Segoe WPC"/>
              </a:rPr>
              <a:t> invierte la lógica: parte del fracaso de la firma y pregunta qué combinación plausible de shocks podría causarlo.</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No pensar que reverse stress </a:t>
            </a:r>
            <a:r>
              <a:rPr lang="es-ES" sz="900" b="0" i="0" dirty="0" err="1">
                <a:effectLst/>
                <a:latin typeface="Segoe WPC"/>
              </a:rPr>
              <a:t>testing</a:t>
            </a:r>
            <a:r>
              <a:rPr lang="es-ES" sz="900" b="0" i="0" dirty="0">
                <a:effectLst/>
                <a:latin typeface="Segoe WPC"/>
              </a:rPr>
              <a:t> produce una predicción; sirve para identificar vulnerabilidades plausibles, no para asignar probabilidades exactas.</a:t>
            </a:r>
          </a:p>
          <a:p>
            <a:pPr algn="l">
              <a:spcBef>
                <a:spcPts val="300"/>
              </a:spcBef>
              <a:spcAft>
                <a:spcPts val="300"/>
              </a:spcAft>
              <a:buFont typeface="+mj-lt"/>
              <a:buAutoNum type="arabicPeriod"/>
            </a:pPr>
            <a:r>
              <a:rPr lang="es-ES" sz="900" b="1" i="0" dirty="0" err="1">
                <a:effectLst/>
                <a:latin typeface="Segoe WPC"/>
              </a:rPr>
              <a:t>Regulatory</a:t>
            </a:r>
            <a:r>
              <a:rPr lang="es-ES" sz="900" b="1" i="0" dirty="0">
                <a:effectLst/>
                <a:latin typeface="Segoe WPC"/>
              </a:rPr>
              <a:t> stress </a:t>
            </a:r>
            <a:r>
              <a:rPr lang="es-ES" sz="900" b="1" i="0" dirty="0" err="1">
                <a:effectLst/>
                <a:latin typeface="Segoe WPC"/>
              </a:rPr>
              <a:t>testing</a:t>
            </a:r>
            <a:r>
              <a:rPr lang="es-ES" sz="900" b="1" i="0" dirty="0">
                <a:effectLst/>
                <a:latin typeface="Segoe WPC"/>
              </a:rPr>
              <a:t> y gobernanza</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Requisitos regulatorios y estructura institucional para que el stress </a:t>
            </a:r>
            <a:r>
              <a:rPr lang="es-ES" sz="900" b="0" i="0" dirty="0" err="1">
                <a:effectLst/>
                <a:latin typeface="Segoe WPC"/>
              </a:rPr>
              <a:t>testing</a:t>
            </a:r>
            <a:r>
              <a:rPr lang="es-ES" sz="900" b="0" i="0" dirty="0">
                <a:effectLst/>
                <a:latin typeface="Segoe WPC"/>
              </a:rPr>
              <a:t> sirva de verdad.</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Reguladores definen escenarios comunes y la firma debe demostrar que tiene capital, modelos, documentación y planes adecuados.</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CCAR/DFAST imponen </a:t>
            </a:r>
            <a:r>
              <a:rPr lang="es-ES" sz="900" b="0" i="0" dirty="0" err="1">
                <a:effectLst/>
                <a:latin typeface="Segoe WPC"/>
              </a:rPr>
              <a:t>baseline</a:t>
            </a:r>
            <a:r>
              <a:rPr lang="es-ES" sz="900" b="0" i="0" dirty="0">
                <a:effectLst/>
                <a:latin typeface="Segoe WPC"/>
              </a:rPr>
              <a:t>, adverse, </a:t>
            </a:r>
            <a:r>
              <a:rPr lang="es-ES" sz="900" b="0" i="0" dirty="0" err="1">
                <a:effectLst/>
                <a:latin typeface="Segoe WPC"/>
              </a:rPr>
              <a:t>severely</a:t>
            </a:r>
            <a:r>
              <a:rPr lang="es-ES" sz="900" b="0" i="0" dirty="0">
                <a:effectLst/>
                <a:latin typeface="Segoe WPC"/>
              </a:rPr>
              <a:t> adverse e </a:t>
            </a:r>
            <a:r>
              <a:rPr lang="es-ES" sz="900" b="0" i="0" dirty="0" err="1">
                <a:effectLst/>
                <a:latin typeface="Segoe WPC"/>
              </a:rPr>
              <a:t>internal</a:t>
            </a:r>
            <a:r>
              <a:rPr lang="es-ES" sz="900" b="0" i="0" dirty="0">
                <a:effectLst/>
                <a:latin typeface="Segoe WPC"/>
              </a:rPr>
              <a:t> </a:t>
            </a:r>
            <a:r>
              <a:rPr lang="es-ES" sz="900" b="0" i="0" dirty="0" err="1">
                <a:effectLst/>
                <a:latin typeface="Segoe WPC"/>
              </a:rPr>
              <a:t>scenario</a:t>
            </a:r>
            <a:r>
              <a:rPr lang="es-ES" sz="900" b="0" i="0" dirty="0">
                <a:effectLst/>
                <a:latin typeface="Segoe WPC"/>
              </a:rPr>
              <a:t>; </a:t>
            </a:r>
            <a:r>
              <a:rPr lang="es-ES" sz="900" b="0" i="0" dirty="0" err="1">
                <a:effectLst/>
                <a:latin typeface="Segoe WPC"/>
              </a:rPr>
              <a:t>board</a:t>
            </a:r>
            <a:r>
              <a:rPr lang="es-ES" sz="900" b="0" i="0" dirty="0">
                <a:effectLst/>
                <a:latin typeface="Segoe WPC"/>
              </a:rPr>
              <a:t> supervisa, </a:t>
            </a:r>
            <a:r>
              <a:rPr lang="es-ES" sz="900" b="0" i="0" dirty="0" err="1">
                <a:effectLst/>
                <a:latin typeface="Segoe WPC"/>
              </a:rPr>
              <a:t>management</a:t>
            </a:r>
            <a:r>
              <a:rPr lang="es-ES" sz="900" b="0" i="0" dirty="0">
                <a:effectLst/>
                <a:latin typeface="Segoe WPC"/>
              </a:rPr>
              <a:t> ejecuta, </a:t>
            </a:r>
            <a:r>
              <a:rPr lang="es-ES" sz="900" b="0" i="0" dirty="0" err="1">
                <a:effectLst/>
                <a:latin typeface="Segoe WPC"/>
              </a:rPr>
              <a:t>audit</a:t>
            </a:r>
            <a:r>
              <a:rPr lang="es-ES" sz="900" b="0" i="0" dirty="0">
                <a:effectLst/>
                <a:latin typeface="Segoe WPC"/>
              </a:rPr>
              <a:t> revisa.</a:t>
            </a:r>
            <a:br>
              <a:rPr lang="es-ES" sz="900" b="0" i="0" dirty="0">
                <a:effectLst/>
                <a:latin typeface="Segoe WPC"/>
              </a:rPr>
            </a:br>
            <a:r>
              <a:rPr lang="es-ES" sz="900" b="1" i="0" dirty="0">
                <a:effectLst/>
                <a:latin typeface="Segoe WPC"/>
              </a:rPr>
              <a:t>Key Formula:</a:t>
            </a:r>
            <a:r>
              <a:rPr lang="es-ES" sz="900" b="0" i="0" dirty="0">
                <a:effectLst/>
                <a:latin typeface="Segoe WPC"/>
              </a:rPr>
              <a:t> Idea central: si (Capital_{post\</a:t>
            </a:r>
            <a:r>
              <a:rPr lang="es-ES" sz="900" b="0" i="0" dirty="0" err="1">
                <a:effectLst/>
                <a:latin typeface="Segoe WPC"/>
              </a:rPr>
              <a:t>text</a:t>
            </a:r>
            <a:r>
              <a:rPr lang="es-ES" sz="900" b="0" i="0" dirty="0">
                <a:effectLst/>
                <a:latin typeface="Segoe WPC"/>
              </a:rPr>
              <a:t>{-}stress}) cae por debajo del mínimo requerido, hay que recapitalizar o restringir distribuciones.</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El </a:t>
            </a:r>
            <a:r>
              <a:rPr lang="es-ES" sz="900" b="0" i="0" dirty="0" err="1">
                <a:effectLst/>
                <a:latin typeface="Segoe WPC"/>
              </a:rPr>
              <a:t>board</a:t>
            </a:r>
            <a:r>
              <a:rPr lang="es-ES" sz="900" b="0" i="0" dirty="0">
                <a:effectLst/>
                <a:latin typeface="Segoe WPC"/>
              </a:rPr>
              <a:t> fija apetito de riesgo y desafía supuestos; senior </a:t>
            </a:r>
            <a:r>
              <a:rPr lang="es-ES" sz="900" b="0" i="0" dirty="0" err="1">
                <a:effectLst/>
                <a:latin typeface="Segoe WPC"/>
              </a:rPr>
              <a:t>management</a:t>
            </a:r>
            <a:r>
              <a:rPr lang="es-ES" sz="900" b="0" i="0" dirty="0">
                <a:effectLst/>
                <a:latin typeface="Segoe WPC"/>
              </a:rPr>
              <a:t> implementa, actualiza escenarios y usa resultados en decisiones; auditoría interna verifica consistencia, controles y validación independiente.</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No creer que el cumplimiento regulatorio basta. </a:t>
            </a:r>
            <a:r>
              <a:rPr lang="es-ES" sz="900" b="0" i="0" dirty="0" err="1">
                <a:effectLst/>
                <a:latin typeface="Segoe WPC"/>
              </a:rPr>
              <a:t>Basel</a:t>
            </a:r>
            <a:r>
              <a:rPr lang="es-ES" sz="900" b="0" i="0" dirty="0">
                <a:effectLst/>
                <a:latin typeface="Segoe WPC"/>
              </a:rPr>
              <a:t> enfatiza participación activa de </a:t>
            </a:r>
            <a:r>
              <a:rPr lang="es-ES" sz="900" b="0" i="0" dirty="0" err="1">
                <a:effectLst/>
                <a:latin typeface="Segoe WPC"/>
              </a:rPr>
              <a:t>board</a:t>
            </a:r>
            <a:r>
              <a:rPr lang="es-ES" sz="900" b="0" i="0" dirty="0">
                <a:effectLst/>
                <a:latin typeface="Segoe WPC"/>
              </a:rPr>
              <a:t> y </a:t>
            </a:r>
            <a:r>
              <a:rPr lang="es-ES" sz="900" b="0" i="0" dirty="0" err="1">
                <a:effectLst/>
                <a:latin typeface="Segoe WPC"/>
              </a:rPr>
              <a:t>management</a:t>
            </a:r>
            <a:r>
              <a:rPr lang="es-ES" sz="900" b="0" i="0" dirty="0">
                <a:effectLst/>
                <a:latin typeface="Segoe WPC"/>
              </a:rPr>
              <a:t>, visión </a:t>
            </a:r>
            <a:r>
              <a:rPr lang="es-ES" sz="900" b="0" i="0" dirty="0" err="1">
                <a:effectLst/>
                <a:latin typeface="Segoe WPC"/>
              </a:rPr>
              <a:t>enterprise-wide</a:t>
            </a:r>
            <a:r>
              <a:rPr lang="es-ES" sz="900" b="0" i="0" dirty="0">
                <a:effectLst/>
                <a:latin typeface="Segoe WPC"/>
              </a:rPr>
              <a:t>, escenarios</a:t>
            </a:r>
          </a:p>
        </p:txBody>
      </p:sp>
    </p:spTree>
    <p:extLst>
      <p:ext uri="{BB962C8B-B14F-4D97-AF65-F5344CB8AC3E}">
        <p14:creationId xmlns:p14="http://schemas.microsoft.com/office/powerpoint/2010/main" val="9299428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346B7C-1815-2AF5-0214-1ECBAD955D93}"/>
              </a:ext>
            </a:extLst>
          </p:cNvPr>
          <p:cNvSpPr>
            <a:spLocks noGrp="1"/>
          </p:cNvSpPr>
          <p:nvPr>
            <p:ph type="title"/>
          </p:nvPr>
        </p:nvSpPr>
        <p:spPr>
          <a:xfrm>
            <a:off x="0" y="166914"/>
            <a:ext cx="6096000" cy="353332"/>
          </a:xfrm>
        </p:spPr>
        <p:txBody>
          <a:bodyPr>
            <a:noAutofit/>
          </a:bodyPr>
          <a:lstStyle/>
          <a:p>
            <a:r>
              <a:rPr lang="en-US" sz="2400" dirty="0"/>
              <a:t>Pricing Conv., Discounting and Arbitrage</a:t>
            </a:r>
            <a:endParaRPr lang="es-PE" sz="2400" dirty="0"/>
          </a:p>
        </p:txBody>
      </p:sp>
      <p:sp>
        <p:nvSpPr>
          <p:cNvPr id="5" name="CuadroTexto 4">
            <a:extLst>
              <a:ext uri="{FF2B5EF4-FFF2-40B4-BE49-F238E27FC236}">
                <a16:creationId xmlns:a16="http://schemas.microsoft.com/office/drawing/2014/main" id="{94595D34-706C-07AB-CDA9-38C0B4F3DED6}"/>
              </a:ext>
            </a:extLst>
          </p:cNvPr>
          <p:cNvSpPr txBox="1"/>
          <p:nvPr/>
        </p:nvSpPr>
        <p:spPr>
          <a:xfrm>
            <a:off x="0" y="587927"/>
            <a:ext cx="6096000" cy="6355586"/>
          </a:xfrm>
          <a:prstGeom prst="rect">
            <a:avLst/>
          </a:prstGeom>
          <a:noFill/>
        </p:spPr>
        <p:txBody>
          <a:bodyPr wrap="square">
            <a:spAutoFit/>
          </a:bodyPr>
          <a:lstStyle/>
          <a:p>
            <a:pPr algn="l">
              <a:spcBef>
                <a:spcPts val="300"/>
              </a:spcBef>
              <a:spcAft>
                <a:spcPts val="300"/>
              </a:spcAft>
              <a:buFont typeface="+mj-lt"/>
              <a:buAutoNum type="arabicPeriod"/>
            </a:pPr>
            <a:r>
              <a:rPr lang="es-ES" sz="900" b="1" i="0" dirty="0" err="1">
                <a:effectLst/>
                <a:latin typeface="Segoe WPC"/>
              </a:rPr>
              <a:t>Discount</a:t>
            </a:r>
            <a:r>
              <a:rPr lang="es-ES" sz="900" b="1" i="0" dirty="0">
                <a:effectLst/>
                <a:latin typeface="Segoe WPC"/>
              </a:rPr>
              <a:t> factor, </a:t>
            </a:r>
            <a:r>
              <a:rPr lang="es-ES" sz="900" b="1" i="0" dirty="0" err="1">
                <a:effectLst/>
                <a:latin typeface="Segoe WPC"/>
              </a:rPr>
              <a:t>present</a:t>
            </a:r>
            <a:r>
              <a:rPr lang="es-ES" sz="900" b="1" i="0" dirty="0">
                <a:effectLst/>
                <a:latin typeface="Segoe WPC"/>
              </a:rPr>
              <a:t> </a:t>
            </a:r>
            <a:r>
              <a:rPr lang="es-ES" sz="900" b="1" i="0" dirty="0" err="1">
                <a:effectLst/>
                <a:latin typeface="Segoe WPC"/>
              </a:rPr>
              <a:t>value</a:t>
            </a:r>
            <a:r>
              <a:rPr lang="es-ES" sz="900" b="1" i="0" dirty="0">
                <a:effectLst/>
                <a:latin typeface="Segoe WPC"/>
              </a:rPr>
              <a:t> y future </a:t>
            </a:r>
            <a:r>
              <a:rPr lang="es-ES" sz="900" b="1" i="0" dirty="0" err="1">
                <a:effectLst/>
                <a:latin typeface="Segoe WPC"/>
              </a:rPr>
              <a:t>value</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Factor de descuento para traducir flujos entre hoy y una fecha futura.</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Si recibir (Y) en (T) equivale a tener (X) hoy, entonces el </a:t>
            </a:r>
            <a:r>
              <a:rPr lang="es-ES" sz="900" b="0" i="0" dirty="0" err="1">
                <a:effectLst/>
                <a:latin typeface="Segoe WPC"/>
              </a:rPr>
              <a:t>discount</a:t>
            </a:r>
            <a:r>
              <a:rPr lang="es-ES" sz="900" b="0" i="0" dirty="0">
                <a:effectLst/>
                <a:latin typeface="Segoe WPC"/>
              </a:rPr>
              <a:t> factor es cuánto vale hoy cada dólar futuro.</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El </a:t>
            </a:r>
            <a:r>
              <a:rPr lang="es-ES" sz="900" b="0" i="0" dirty="0" err="1">
                <a:effectLst/>
                <a:latin typeface="Segoe WPC"/>
              </a:rPr>
              <a:t>discount</a:t>
            </a:r>
            <a:r>
              <a:rPr lang="es-ES" sz="900" b="0" i="0" dirty="0">
                <a:effectLst/>
                <a:latin typeface="Segoe WPC"/>
              </a:rPr>
              <a:t> factor es un “puente” entre futuro y presente; cuanto más lejana la fecha, menor suele ser ese puente.</a:t>
            </a:r>
            <a:br>
              <a:rPr lang="es-ES" sz="900" b="0" i="0" dirty="0">
                <a:effectLst/>
                <a:latin typeface="Segoe WPC"/>
              </a:rPr>
            </a:br>
            <a:r>
              <a:rPr lang="es-ES" sz="900" b="1" i="0" dirty="0">
                <a:effectLst/>
                <a:latin typeface="Segoe WPC"/>
              </a:rPr>
              <a:t>Key Formula:</a:t>
            </a:r>
            <a:r>
              <a:rPr lang="es-ES" sz="900" b="0" i="0" dirty="0">
                <a:effectLst/>
                <a:latin typeface="Segoe WPC"/>
              </a:rPr>
              <a:t> (d(T)=\frac{X}{Y}), (; PV = d(T)\</a:t>
            </a:r>
            <a:r>
              <a:rPr lang="es-ES" sz="900" b="0" i="0" dirty="0" err="1">
                <a:effectLst/>
                <a:latin typeface="Segoe WPC"/>
              </a:rPr>
              <a:t>cdot</a:t>
            </a:r>
            <a:r>
              <a:rPr lang="es-ES" sz="900" b="0" i="0" dirty="0">
                <a:effectLst/>
                <a:latin typeface="Segoe WPC"/>
              </a:rPr>
              <a:t> FV), (; FV = \frac{PV}{d(T)})</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Sirve para valorar cualquier flujo cierto y construir precios consistentes en renta fija.</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No confundir </a:t>
            </a:r>
            <a:r>
              <a:rPr lang="es-ES" sz="900" b="0" i="0" dirty="0" err="1">
                <a:effectLst/>
                <a:latin typeface="Segoe WPC"/>
              </a:rPr>
              <a:t>discount</a:t>
            </a:r>
            <a:r>
              <a:rPr lang="es-ES" sz="900" b="0" i="0" dirty="0">
                <a:effectLst/>
                <a:latin typeface="Segoe WPC"/>
              </a:rPr>
              <a:t> factor con tasa de interés; el factor descuenta directamente el flujo, la tasa debe transformarse.</a:t>
            </a:r>
          </a:p>
          <a:p>
            <a:pPr algn="l">
              <a:spcBef>
                <a:spcPts val="300"/>
              </a:spcBef>
              <a:spcAft>
                <a:spcPts val="300"/>
              </a:spcAft>
              <a:buFont typeface="+mj-lt"/>
              <a:buAutoNum type="arabicPeriod"/>
            </a:pPr>
            <a:r>
              <a:rPr lang="es-ES" sz="900" b="1" i="0" dirty="0" err="1">
                <a:effectLst/>
                <a:latin typeface="Segoe WPC"/>
              </a:rPr>
              <a:t>Treasury</a:t>
            </a:r>
            <a:r>
              <a:rPr lang="es-ES" sz="900" b="1" i="0" dirty="0">
                <a:effectLst/>
                <a:latin typeface="Segoe WPC"/>
              </a:rPr>
              <a:t> </a:t>
            </a:r>
            <a:r>
              <a:rPr lang="es-ES" sz="900" b="1" i="0" dirty="0" err="1">
                <a:effectLst/>
                <a:latin typeface="Segoe WPC"/>
              </a:rPr>
              <a:t>bills</a:t>
            </a:r>
            <a:r>
              <a:rPr lang="es-ES" sz="900" b="1" i="0" dirty="0">
                <a:effectLst/>
                <a:latin typeface="Segoe WPC"/>
              </a:rPr>
              <a:t> y convención de cotización</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Letras del Tesoro de corto plazo que pagan solo </a:t>
            </a:r>
            <a:r>
              <a:rPr lang="es-ES" sz="900" b="0" i="0" dirty="0" err="1">
                <a:effectLst/>
                <a:latin typeface="Segoe WPC"/>
              </a:rPr>
              <a:t>face</a:t>
            </a:r>
            <a:r>
              <a:rPr lang="es-ES" sz="900" b="0" i="0" dirty="0">
                <a:effectLst/>
                <a:latin typeface="Segoe WPC"/>
              </a:rPr>
              <a:t> </a:t>
            </a:r>
            <a:r>
              <a:rPr lang="es-ES" sz="900" b="0" i="0" dirty="0" err="1">
                <a:effectLst/>
                <a:latin typeface="Segoe WPC"/>
              </a:rPr>
              <a:t>value</a:t>
            </a:r>
            <a:r>
              <a:rPr lang="es-ES" sz="900" b="0" i="0" dirty="0">
                <a:effectLst/>
                <a:latin typeface="Segoe WPC"/>
              </a:rPr>
              <a:t> al vencimiento.</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Se compran con descuento y al vencimiento devuelven 100; la ganancia es la diferencia.</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Hoy pagas menos de 100, al vencimiento recibes 100.</a:t>
            </a:r>
            <a:br>
              <a:rPr lang="es-ES" sz="900" b="0" i="0" dirty="0">
                <a:effectLst/>
                <a:latin typeface="Segoe WPC"/>
              </a:rPr>
            </a:br>
            <a:r>
              <a:rPr lang="es-ES" sz="900" b="1" i="0" dirty="0">
                <a:effectLst/>
                <a:latin typeface="Segoe WPC"/>
              </a:rPr>
              <a:t>Key Formula:</a:t>
            </a:r>
            <a:r>
              <a:rPr lang="es-ES" sz="900" b="0" i="0" dirty="0">
                <a:effectLst/>
                <a:latin typeface="Segoe WPC"/>
              </a:rPr>
              <a:t> (C = 100 - \frac{</a:t>
            </a:r>
            <a:r>
              <a:rPr lang="es-ES" sz="900" b="0" i="0" dirty="0" err="1">
                <a:effectLst/>
                <a:latin typeface="Segoe WPC"/>
              </a:rPr>
              <a:t>Qn</a:t>
            </a:r>
            <a:r>
              <a:rPr lang="es-ES" sz="900" b="0" i="0" dirty="0">
                <a:effectLst/>
                <a:latin typeface="Segoe WPC"/>
              </a:rPr>
              <a:t>}{360})</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(Q) es una cotización basada en descuento simple sobre </a:t>
            </a:r>
            <a:r>
              <a:rPr lang="es-ES" sz="900" b="0" i="0" dirty="0" err="1">
                <a:effectLst/>
                <a:latin typeface="Segoe WPC"/>
              </a:rPr>
              <a:t>face</a:t>
            </a:r>
            <a:r>
              <a:rPr lang="es-ES" sz="900" b="0" i="0" dirty="0">
                <a:effectLst/>
                <a:latin typeface="Segoe WPC"/>
              </a:rPr>
              <a:t> </a:t>
            </a:r>
            <a:r>
              <a:rPr lang="es-ES" sz="900" b="0" i="0" dirty="0" err="1">
                <a:effectLst/>
                <a:latin typeface="Segoe WPC"/>
              </a:rPr>
              <a:t>value</a:t>
            </a:r>
            <a:r>
              <a:rPr lang="es-ES" sz="900" b="0" i="0" dirty="0">
                <a:effectLst/>
                <a:latin typeface="Segoe WPC"/>
              </a:rPr>
              <a:t> y con base de 360 días, no sobre el dinero invertido.</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En T-</a:t>
            </a:r>
            <a:r>
              <a:rPr lang="es-ES" sz="900" b="0" i="0" dirty="0" err="1">
                <a:effectLst/>
                <a:latin typeface="Segoe WPC"/>
              </a:rPr>
              <a:t>bills</a:t>
            </a:r>
            <a:r>
              <a:rPr lang="es-ES" sz="900" b="0" i="0" dirty="0">
                <a:effectLst/>
                <a:latin typeface="Segoe WPC"/>
              </a:rPr>
              <a:t>, una mayor cotización (Q) implica un menor cash </a:t>
            </a:r>
            <a:r>
              <a:rPr lang="es-ES" sz="900" b="0" i="0" dirty="0" err="1">
                <a:effectLst/>
                <a:latin typeface="Segoe WPC"/>
              </a:rPr>
              <a:t>price</a:t>
            </a:r>
            <a:r>
              <a:rPr lang="es-ES" sz="900" b="0" i="0" dirty="0">
                <a:effectLst/>
                <a:latin typeface="Segoe WPC"/>
              </a:rPr>
              <a:t>; además, la tasa está expresada sobre valor facial, no sobre el precio pagado.</a:t>
            </a:r>
          </a:p>
          <a:p>
            <a:pPr algn="l">
              <a:spcBef>
                <a:spcPts val="300"/>
              </a:spcBef>
              <a:spcAft>
                <a:spcPts val="300"/>
              </a:spcAft>
              <a:buFont typeface="+mj-lt"/>
              <a:buAutoNum type="arabicPeriod"/>
            </a:pPr>
            <a:r>
              <a:rPr lang="es-ES" sz="900" b="1" i="0" dirty="0">
                <a:effectLst/>
                <a:latin typeface="Segoe WPC"/>
              </a:rPr>
              <a:t>Extraer </a:t>
            </a:r>
            <a:r>
              <a:rPr lang="es-ES" sz="900" b="1" i="0" dirty="0" err="1">
                <a:effectLst/>
                <a:latin typeface="Segoe WPC"/>
              </a:rPr>
              <a:t>discount</a:t>
            </a:r>
            <a:r>
              <a:rPr lang="es-ES" sz="900" b="1" i="0" dirty="0">
                <a:effectLst/>
                <a:latin typeface="Segoe WPC"/>
              </a:rPr>
              <a:t> </a:t>
            </a:r>
            <a:r>
              <a:rPr lang="es-ES" sz="900" b="1" i="0" dirty="0" err="1">
                <a:effectLst/>
                <a:latin typeface="Segoe WPC"/>
              </a:rPr>
              <a:t>factors</a:t>
            </a:r>
            <a:r>
              <a:rPr lang="es-ES" sz="900" b="1" i="0" dirty="0">
                <a:effectLst/>
                <a:latin typeface="Segoe WPC"/>
              </a:rPr>
              <a:t> de T-</a:t>
            </a:r>
            <a:r>
              <a:rPr lang="es-ES" sz="900" b="1" i="0" dirty="0" err="1">
                <a:effectLst/>
                <a:latin typeface="Segoe WPC"/>
              </a:rPr>
              <a:t>bills</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Obtención directa del factor de descuento a partir del cash </a:t>
            </a:r>
            <a:r>
              <a:rPr lang="es-ES" sz="900" b="0" i="0" dirty="0" err="1">
                <a:effectLst/>
                <a:latin typeface="Segoe WPC"/>
              </a:rPr>
              <a:t>price</a:t>
            </a:r>
            <a:r>
              <a:rPr lang="es-ES" sz="900" b="0" i="0" dirty="0">
                <a:effectLst/>
                <a:latin typeface="Segoe WPC"/>
              </a:rPr>
              <a:t> de una letra.</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Si una letra cuesta 99.59 y paga 100 al vencimiento, entonces 100 futuros valen 99.59 hoy.</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El precio spot de una letra es casi el mismo </a:t>
            </a:r>
            <a:r>
              <a:rPr lang="es-ES" sz="900" b="0" i="0" dirty="0" err="1">
                <a:effectLst/>
                <a:latin typeface="Segoe WPC"/>
              </a:rPr>
              <a:t>discount</a:t>
            </a:r>
            <a:r>
              <a:rPr lang="es-ES" sz="900" b="0" i="0" dirty="0">
                <a:effectLst/>
                <a:latin typeface="Segoe WPC"/>
              </a:rPr>
              <a:t> factor multiplicado por 100.</a:t>
            </a:r>
            <a:br>
              <a:rPr lang="es-ES" sz="900" b="0" i="0" dirty="0">
                <a:effectLst/>
                <a:latin typeface="Segoe WPC"/>
              </a:rPr>
            </a:br>
            <a:r>
              <a:rPr lang="es-ES" sz="900" b="1" i="0" dirty="0">
                <a:effectLst/>
                <a:latin typeface="Segoe WPC"/>
              </a:rPr>
              <a:t>Key Formula:</a:t>
            </a:r>
            <a:r>
              <a:rPr lang="es-ES" sz="900" b="0" i="0" dirty="0">
                <a:effectLst/>
                <a:latin typeface="Segoe WPC"/>
              </a:rPr>
              <a:t> (d(T)=\frac{C}{100})</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Los T-</a:t>
            </a:r>
            <a:r>
              <a:rPr lang="es-ES" sz="900" b="0" i="0" dirty="0" err="1">
                <a:effectLst/>
                <a:latin typeface="Segoe WPC"/>
              </a:rPr>
              <a:t>bills</a:t>
            </a:r>
            <a:r>
              <a:rPr lang="es-ES" sz="900" b="0" i="0" dirty="0">
                <a:effectLst/>
                <a:latin typeface="Segoe WPC"/>
              </a:rPr>
              <a:t> son la forma más simple de inferir </a:t>
            </a:r>
            <a:r>
              <a:rPr lang="es-ES" sz="900" b="0" i="0" dirty="0" err="1">
                <a:effectLst/>
                <a:latin typeface="Segoe WPC"/>
              </a:rPr>
              <a:t>discount</a:t>
            </a:r>
            <a:r>
              <a:rPr lang="es-ES" sz="900" b="0" i="0" dirty="0">
                <a:effectLst/>
                <a:latin typeface="Segoe WPC"/>
              </a:rPr>
              <a:t> </a:t>
            </a:r>
            <a:r>
              <a:rPr lang="es-ES" sz="900" b="0" i="0" dirty="0" err="1">
                <a:effectLst/>
                <a:latin typeface="Segoe WPC"/>
              </a:rPr>
              <a:t>factors</a:t>
            </a:r>
            <a:r>
              <a:rPr lang="es-ES" sz="900" b="0" i="0" dirty="0">
                <a:effectLst/>
                <a:latin typeface="Segoe WPC"/>
              </a:rPr>
              <a:t> de corto plazo.</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No usar la </a:t>
            </a:r>
            <a:r>
              <a:rPr lang="es-ES" sz="900" b="0" i="0" dirty="0" err="1">
                <a:effectLst/>
                <a:latin typeface="Segoe WPC"/>
              </a:rPr>
              <a:t>quoted</a:t>
            </a:r>
            <a:r>
              <a:rPr lang="es-ES" sz="900" b="0" i="0" dirty="0">
                <a:effectLst/>
                <a:latin typeface="Segoe WPC"/>
              </a:rPr>
              <a:t> </a:t>
            </a:r>
            <a:r>
              <a:rPr lang="es-ES" sz="900" b="0" i="0" dirty="0" err="1">
                <a:effectLst/>
                <a:latin typeface="Segoe WPC"/>
              </a:rPr>
              <a:t>price</a:t>
            </a:r>
            <a:r>
              <a:rPr lang="es-ES" sz="900" b="0" i="0" dirty="0">
                <a:effectLst/>
                <a:latin typeface="Segoe WPC"/>
              </a:rPr>
              <a:t> directamente como factor de descuento; primero hay que pasar de </a:t>
            </a:r>
            <a:r>
              <a:rPr lang="es-ES" sz="900" b="0" i="0" dirty="0" err="1">
                <a:effectLst/>
                <a:latin typeface="Segoe WPC"/>
              </a:rPr>
              <a:t>quote</a:t>
            </a:r>
            <a:r>
              <a:rPr lang="es-ES" sz="900" b="0" i="0" dirty="0">
                <a:effectLst/>
                <a:latin typeface="Segoe WPC"/>
              </a:rPr>
              <a:t> a cash </a:t>
            </a:r>
            <a:r>
              <a:rPr lang="es-ES" sz="900" b="0" i="0" dirty="0" err="1">
                <a:effectLst/>
                <a:latin typeface="Segoe WPC"/>
              </a:rPr>
              <a:t>price</a:t>
            </a:r>
            <a:r>
              <a:rPr lang="es-ES" sz="900" b="0" i="0" dirty="0">
                <a:effectLst/>
                <a:latin typeface="Segoe WPC"/>
              </a:rPr>
              <a:t>.</a:t>
            </a:r>
          </a:p>
          <a:p>
            <a:pPr algn="l">
              <a:spcBef>
                <a:spcPts val="300"/>
              </a:spcBef>
              <a:spcAft>
                <a:spcPts val="300"/>
              </a:spcAft>
              <a:buFont typeface="+mj-lt"/>
              <a:buAutoNum type="arabicPeriod"/>
            </a:pPr>
            <a:r>
              <a:rPr lang="es-ES" sz="900" b="1" i="0" dirty="0" err="1">
                <a:effectLst/>
                <a:latin typeface="Segoe WPC"/>
              </a:rPr>
              <a:t>Treasury</a:t>
            </a:r>
            <a:r>
              <a:rPr lang="es-ES" sz="900" b="1" i="0" dirty="0">
                <a:effectLst/>
                <a:latin typeface="Segoe WPC"/>
              </a:rPr>
              <a:t> </a:t>
            </a:r>
            <a:r>
              <a:rPr lang="es-ES" sz="900" b="1" i="0" dirty="0" err="1">
                <a:effectLst/>
                <a:latin typeface="Segoe WPC"/>
              </a:rPr>
              <a:t>bonds</a:t>
            </a:r>
            <a:r>
              <a:rPr lang="es-ES" sz="900" b="1" i="0" dirty="0">
                <a:effectLst/>
                <a:latin typeface="Segoe WPC"/>
              </a:rPr>
              <a:t>: cupón, </a:t>
            </a:r>
            <a:r>
              <a:rPr lang="es-ES" sz="900" b="1" i="0" dirty="0" err="1">
                <a:effectLst/>
                <a:latin typeface="Segoe WPC"/>
              </a:rPr>
              <a:t>clean</a:t>
            </a:r>
            <a:r>
              <a:rPr lang="es-ES" sz="900" b="1" i="0" dirty="0">
                <a:effectLst/>
                <a:latin typeface="Segoe WPC"/>
              </a:rPr>
              <a:t> </a:t>
            </a:r>
            <a:r>
              <a:rPr lang="es-ES" sz="900" b="1" i="0" dirty="0" err="1">
                <a:effectLst/>
                <a:latin typeface="Segoe WPC"/>
              </a:rPr>
              <a:t>price</a:t>
            </a:r>
            <a:r>
              <a:rPr lang="es-ES" sz="900" b="1" i="0" dirty="0">
                <a:effectLst/>
                <a:latin typeface="Segoe WPC"/>
              </a:rPr>
              <a:t> y </a:t>
            </a:r>
            <a:r>
              <a:rPr lang="es-ES" sz="900" b="1" i="0" dirty="0" err="1">
                <a:effectLst/>
                <a:latin typeface="Segoe WPC"/>
              </a:rPr>
              <a:t>dirty</a:t>
            </a:r>
            <a:r>
              <a:rPr lang="es-ES" sz="900" b="1" i="0" dirty="0">
                <a:effectLst/>
                <a:latin typeface="Segoe WPC"/>
              </a:rPr>
              <a:t> </a:t>
            </a:r>
            <a:r>
              <a:rPr lang="es-ES" sz="900" b="1" i="0" dirty="0" err="1">
                <a:effectLst/>
                <a:latin typeface="Segoe WPC"/>
              </a:rPr>
              <a:t>price</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Bonos del Tesoro con cupones semestrales y principal al vencimiento.</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El comprador paga el precio cotizado más el interés acumulado desde el último cupón.</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El </a:t>
            </a:r>
            <a:r>
              <a:rPr lang="es-ES" sz="900" b="0" i="0" dirty="0" err="1">
                <a:effectLst/>
                <a:latin typeface="Segoe WPC"/>
              </a:rPr>
              <a:t>clean</a:t>
            </a:r>
            <a:r>
              <a:rPr lang="es-ES" sz="900" b="0" i="0" dirty="0">
                <a:effectLst/>
                <a:latin typeface="Segoe WPC"/>
              </a:rPr>
              <a:t> </a:t>
            </a:r>
            <a:r>
              <a:rPr lang="es-ES" sz="900" b="0" i="0" dirty="0" err="1">
                <a:effectLst/>
                <a:latin typeface="Segoe WPC"/>
              </a:rPr>
              <a:t>price</a:t>
            </a:r>
            <a:r>
              <a:rPr lang="es-ES" sz="900" b="0" i="0" dirty="0">
                <a:effectLst/>
                <a:latin typeface="Segoe WPC"/>
              </a:rPr>
              <a:t> refleja tasas; el </a:t>
            </a:r>
            <a:r>
              <a:rPr lang="es-ES" sz="900" b="0" i="0" dirty="0" err="1">
                <a:effectLst/>
                <a:latin typeface="Segoe WPC"/>
              </a:rPr>
              <a:t>dirty</a:t>
            </a:r>
            <a:r>
              <a:rPr lang="es-ES" sz="900" b="0" i="0" dirty="0">
                <a:effectLst/>
                <a:latin typeface="Segoe WPC"/>
              </a:rPr>
              <a:t> </a:t>
            </a:r>
            <a:r>
              <a:rPr lang="es-ES" sz="900" b="0" i="0" dirty="0" err="1">
                <a:effectLst/>
                <a:latin typeface="Segoe WPC"/>
              </a:rPr>
              <a:t>price</a:t>
            </a:r>
            <a:r>
              <a:rPr lang="es-ES" sz="900" b="0" i="0" dirty="0">
                <a:effectLst/>
                <a:latin typeface="Segoe WPC"/>
              </a:rPr>
              <a:t> refleja tasas más el “pedazo” de cupón ya devengado.</a:t>
            </a:r>
            <a:br>
              <a:rPr lang="es-ES" sz="900" b="0" i="0" dirty="0">
                <a:effectLst/>
                <a:latin typeface="Segoe WPC"/>
              </a:rPr>
            </a:br>
            <a:r>
              <a:rPr lang="es-ES" sz="900" b="1" i="0" dirty="0">
                <a:effectLst/>
                <a:latin typeface="Segoe WPC"/>
              </a:rPr>
              <a:t>Key Formula:</a:t>
            </a:r>
            <a:r>
              <a:rPr lang="es-ES" sz="900" b="0" i="0" dirty="0">
                <a:effectLst/>
                <a:latin typeface="Segoe WPC"/>
              </a:rPr>
              <a:t> (</a:t>
            </a:r>
            <a:r>
              <a:rPr lang="es-ES" sz="900" b="0" i="0" dirty="0" err="1">
                <a:effectLst/>
                <a:latin typeface="Segoe WPC"/>
              </a:rPr>
              <a:t>Dirty</a:t>
            </a:r>
            <a:r>
              <a:rPr lang="es-ES" sz="900" b="0" i="0" dirty="0">
                <a:effectLst/>
                <a:latin typeface="Segoe WPC"/>
              </a:rPr>
              <a:t>\ Price = </a:t>
            </a:r>
            <a:r>
              <a:rPr lang="es-ES" sz="900" b="0" i="0" dirty="0" err="1">
                <a:effectLst/>
                <a:latin typeface="Segoe WPC"/>
              </a:rPr>
              <a:t>Clean</a:t>
            </a:r>
            <a:r>
              <a:rPr lang="es-ES" sz="900" b="0" i="0" dirty="0">
                <a:effectLst/>
                <a:latin typeface="Segoe WPC"/>
              </a:rPr>
              <a:t>\ Price + </a:t>
            </a:r>
            <a:r>
              <a:rPr lang="es-ES" sz="900" b="0" i="0" dirty="0" err="1">
                <a:effectLst/>
                <a:latin typeface="Segoe WPC"/>
              </a:rPr>
              <a:t>Accrued</a:t>
            </a:r>
            <a:r>
              <a:rPr lang="es-ES" sz="900" b="0" i="0" dirty="0">
                <a:effectLst/>
                <a:latin typeface="Segoe WPC"/>
              </a:rPr>
              <a:t>\ </a:t>
            </a:r>
            <a:r>
              <a:rPr lang="es-ES" sz="900" b="0" i="0" dirty="0" err="1">
                <a:effectLst/>
                <a:latin typeface="Segoe WPC"/>
              </a:rPr>
              <a:t>Interest</a:t>
            </a:r>
            <a:r>
              <a:rPr lang="es-ES" sz="900" b="0" i="0" dirty="0">
                <a:effectLst/>
                <a:latin typeface="Segoe WPC"/>
              </a:rPr>
              <a:t>)</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El </a:t>
            </a:r>
            <a:r>
              <a:rPr lang="es-ES" sz="900" b="0" i="0" dirty="0" err="1">
                <a:effectLst/>
                <a:latin typeface="Segoe WPC"/>
              </a:rPr>
              <a:t>dirty</a:t>
            </a:r>
            <a:r>
              <a:rPr lang="es-ES" sz="900" b="0" i="0" dirty="0">
                <a:effectLst/>
                <a:latin typeface="Segoe WPC"/>
              </a:rPr>
              <a:t> </a:t>
            </a:r>
            <a:r>
              <a:rPr lang="es-ES" sz="900" b="0" i="0" dirty="0" err="1">
                <a:effectLst/>
                <a:latin typeface="Segoe WPC"/>
              </a:rPr>
              <a:t>price</a:t>
            </a:r>
            <a:r>
              <a:rPr lang="es-ES" sz="900" b="0" i="0" dirty="0">
                <a:effectLst/>
                <a:latin typeface="Segoe WPC"/>
              </a:rPr>
              <a:t> es el desembolso real; el </a:t>
            </a:r>
            <a:r>
              <a:rPr lang="es-ES" sz="900" b="0" i="0" dirty="0" err="1">
                <a:effectLst/>
                <a:latin typeface="Segoe WPC"/>
              </a:rPr>
              <a:t>clean</a:t>
            </a:r>
            <a:r>
              <a:rPr lang="es-ES" sz="900" b="0" i="0" dirty="0">
                <a:effectLst/>
                <a:latin typeface="Segoe WPC"/>
              </a:rPr>
              <a:t> </a:t>
            </a:r>
            <a:r>
              <a:rPr lang="es-ES" sz="900" b="0" i="0" dirty="0" err="1">
                <a:effectLst/>
                <a:latin typeface="Segoe WPC"/>
              </a:rPr>
              <a:t>price</a:t>
            </a:r>
            <a:r>
              <a:rPr lang="es-ES" sz="900" b="0" i="0" dirty="0">
                <a:effectLst/>
                <a:latin typeface="Segoe WPC"/>
              </a:rPr>
              <a:t> se usa para cotizar porque es más estable.</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No olvidar que el </a:t>
            </a:r>
            <a:r>
              <a:rPr lang="es-ES" sz="900" b="0" i="0" dirty="0" err="1">
                <a:effectLst/>
                <a:latin typeface="Segoe WPC"/>
              </a:rPr>
              <a:t>settlement</a:t>
            </a:r>
            <a:r>
              <a:rPr lang="es-ES" sz="900" b="0" i="0" dirty="0">
                <a:effectLst/>
                <a:latin typeface="Segoe WPC"/>
              </a:rPr>
              <a:t> suele ser (T+1); el </a:t>
            </a:r>
            <a:r>
              <a:rPr lang="es-ES" sz="900" b="0" i="0" dirty="0" err="1">
                <a:effectLst/>
                <a:latin typeface="Segoe WPC"/>
              </a:rPr>
              <a:t>accrued</a:t>
            </a:r>
            <a:r>
              <a:rPr lang="es-ES" sz="900" b="0" i="0" dirty="0">
                <a:effectLst/>
                <a:latin typeface="Segoe WPC"/>
              </a:rPr>
              <a:t> </a:t>
            </a:r>
            <a:r>
              <a:rPr lang="es-ES" sz="900" b="0" i="0" dirty="0" err="1">
                <a:effectLst/>
                <a:latin typeface="Segoe WPC"/>
              </a:rPr>
              <a:t>interest</a:t>
            </a:r>
            <a:r>
              <a:rPr lang="es-ES" sz="900" b="0" i="0" dirty="0">
                <a:effectLst/>
                <a:latin typeface="Segoe WPC"/>
              </a:rPr>
              <a:t> se calcula hasta la fecha de liquidación, no hasta la fecha de </a:t>
            </a:r>
            <a:r>
              <a:rPr lang="es-ES" sz="900" b="0" i="0" dirty="0" err="1">
                <a:effectLst/>
                <a:latin typeface="Segoe WPC"/>
              </a:rPr>
              <a:t>trade</a:t>
            </a:r>
            <a:r>
              <a:rPr lang="es-ES" sz="900" b="0" i="0" dirty="0">
                <a:effectLst/>
                <a:latin typeface="Segoe WPC"/>
              </a:rPr>
              <a:t>.</a:t>
            </a:r>
          </a:p>
          <a:p>
            <a:pPr algn="l">
              <a:spcBef>
                <a:spcPts val="300"/>
              </a:spcBef>
              <a:spcAft>
                <a:spcPts val="300"/>
              </a:spcAft>
              <a:buFont typeface="+mj-lt"/>
              <a:buAutoNum type="arabicPeriod"/>
            </a:pPr>
            <a:r>
              <a:rPr lang="es-ES" sz="900" b="1" i="0" dirty="0" err="1">
                <a:effectLst/>
                <a:latin typeface="Segoe WPC"/>
              </a:rPr>
              <a:t>Accrued</a:t>
            </a:r>
            <a:r>
              <a:rPr lang="es-ES" sz="900" b="1" i="0" dirty="0">
                <a:effectLst/>
                <a:latin typeface="Segoe WPC"/>
              </a:rPr>
              <a:t> </a:t>
            </a:r>
            <a:r>
              <a:rPr lang="es-ES" sz="900" b="1" i="0" dirty="0" err="1">
                <a:effectLst/>
                <a:latin typeface="Segoe WPC"/>
              </a:rPr>
              <a:t>interest</a:t>
            </a:r>
            <a:r>
              <a:rPr lang="es-ES" sz="900" b="1" i="0" dirty="0">
                <a:effectLst/>
                <a:latin typeface="Segoe WPC"/>
              </a:rPr>
              <a:t> y </a:t>
            </a:r>
            <a:r>
              <a:rPr lang="es-ES" sz="900" b="1" i="0" dirty="0" err="1">
                <a:effectLst/>
                <a:latin typeface="Segoe WPC"/>
              </a:rPr>
              <a:t>day-count</a:t>
            </a:r>
            <a:r>
              <a:rPr lang="es-ES" sz="900" b="1" i="0" dirty="0">
                <a:effectLst/>
                <a:latin typeface="Segoe WPC"/>
              </a:rPr>
              <a:t> en </a:t>
            </a:r>
            <a:r>
              <a:rPr lang="es-ES" sz="900" b="1" i="0" dirty="0" err="1">
                <a:effectLst/>
                <a:latin typeface="Segoe WPC"/>
              </a:rPr>
              <a:t>Treasuries</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Interés ganado entre la última fecha de cupón y la fecha de </a:t>
            </a:r>
            <a:r>
              <a:rPr lang="es-ES" sz="900" b="0" i="0" dirty="0" err="1">
                <a:effectLst/>
                <a:latin typeface="Segoe WPC"/>
              </a:rPr>
              <a:t>settlement</a:t>
            </a:r>
            <a:r>
              <a:rPr lang="es-ES" sz="900" b="0" i="0" dirty="0">
                <a:effectLst/>
                <a:latin typeface="Segoe WPC"/>
              </a:rPr>
              <a:t>.</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El vendedor ya “ganó” parte del siguiente cupón, así que el comprador debe compensarlo.</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Entre dos cupones, el </a:t>
            </a:r>
            <a:r>
              <a:rPr lang="es-ES" sz="900" b="0" i="0" dirty="0" err="1">
                <a:effectLst/>
                <a:latin typeface="Segoe WPC"/>
              </a:rPr>
              <a:t>dirty</a:t>
            </a:r>
            <a:r>
              <a:rPr lang="es-ES" sz="900" b="0" i="0" dirty="0">
                <a:effectLst/>
                <a:latin typeface="Segoe WPC"/>
              </a:rPr>
              <a:t> </a:t>
            </a:r>
            <a:r>
              <a:rPr lang="es-ES" sz="900" b="0" i="0" dirty="0" err="1">
                <a:effectLst/>
                <a:latin typeface="Segoe WPC"/>
              </a:rPr>
              <a:t>price</a:t>
            </a:r>
            <a:r>
              <a:rPr lang="es-ES" sz="900" b="0" i="0" dirty="0">
                <a:effectLst/>
                <a:latin typeface="Segoe WPC"/>
              </a:rPr>
              <a:t> sube gradualmente y cae justo después del pago de cupón.</a:t>
            </a:r>
            <a:br>
              <a:rPr lang="es-ES" sz="900" b="0" i="0" dirty="0">
                <a:effectLst/>
                <a:latin typeface="Segoe WPC"/>
              </a:rPr>
            </a:br>
            <a:r>
              <a:rPr lang="es-ES" sz="900" b="1" i="0" dirty="0">
                <a:effectLst/>
                <a:latin typeface="Segoe WPC"/>
              </a:rPr>
              <a:t>Key Formula:</a:t>
            </a:r>
            <a:r>
              <a:rPr lang="es-ES" sz="900" b="0" i="0" dirty="0">
                <a:effectLst/>
                <a:latin typeface="Segoe WPC"/>
              </a:rPr>
              <a:t> (AI = c\</a:t>
            </a:r>
            <a:r>
              <a:rPr lang="es-ES" sz="900" b="0" i="0" dirty="0" err="1">
                <a:effectLst/>
                <a:latin typeface="Segoe WPC"/>
              </a:rPr>
              <a:t>cdot</a:t>
            </a:r>
            <a:r>
              <a:rPr lang="es-ES" sz="900" b="0" i="0" dirty="0">
                <a:effectLst/>
                <a:latin typeface="Segoe WPC"/>
              </a:rPr>
              <a:t> \frac{t}{T})</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En </a:t>
            </a:r>
            <a:r>
              <a:rPr lang="es-ES" sz="900" b="0" i="0" dirty="0" err="1">
                <a:effectLst/>
                <a:latin typeface="Segoe WPC"/>
              </a:rPr>
              <a:t>Treasuries</a:t>
            </a:r>
            <a:r>
              <a:rPr lang="es-ES" sz="900" b="0" i="0" dirty="0">
                <a:effectLst/>
                <a:latin typeface="Segoe WPC"/>
              </a:rPr>
              <a:t> se usa actual/actual in </a:t>
            </a:r>
            <a:r>
              <a:rPr lang="es-ES" sz="900" b="0" i="0" dirty="0" err="1">
                <a:effectLst/>
                <a:latin typeface="Segoe WPC"/>
              </a:rPr>
              <a:t>period</a:t>
            </a:r>
            <a:r>
              <a:rPr lang="es-ES" sz="900" b="0" i="0" dirty="0">
                <a:effectLst/>
                <a:latin typeface="Segoe WPC"/>
              </a:rPr>
              <a:t>: días reales en el holding </a:t>
            </a:r>
            <a:r>
              <a:rPr lang="es-ES" sz="900" b="0" i="0" dirty="0" err="1">
                <a:effectLst/>
                <a:latin typeface="Segoe WPC"/>
              </a:rPr>
              <a:t>period</a:t>
            </a:r>
            <a:r>
              <a:rPr lang="es-ES" sz="900" b="0" i="0" dirty="0">
                <a:effectLst/>
                <a:latin typeface="Segoe WPC"/>
              </a:rPr>
              <a:t> sobre días reales entre cupones.</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No confundir </a:t>
            </a:r>
            <a:r>
              <a:rPr lang="es-ES" sz="900" b="0" i="0" dirty="0" err="1">
                <a:effectLst/>
                <a:latin typeface="Segoe WPC"/>
              </a:rPr>
              <a:t>clean</a:t>
            </a:r>
            <a:r>
              <a:rPr lang="es-ES" sz="900" b="0" i="0" dirty="0">
                <a:effectLst/>
                <a:latin typeface="Segoe WPC"/>
              </a:rPr>
              <a:t> con </a:t>
            </a:r>
            <a:r>
              <a:rPr lang="es-ES" sz="900" b="0" i="0" dirty="0" err="1">
                <a:effectLst/>
                <a:latin typeface="Segoe WPC"/>
              </a:rPr>
              <a:t>dirty</a:t>
            </a:r>
            <a:r>
              <a:rPr lang="es-ES" sz="900" b="0" i="0" dirty="0">
                <a:effectLst/>
                <a:latin typeface="Segoe WPC"/>
              </a:rPr>
              <a:t>, ni usar 30/360 para </a:t>
            </a:r>
            <a:r>
              <a:rPr lang="es-ES" sz="900" b="0" i="0" dirty="0" err="1">
                <a:effectLst/>
                <a:latin typeface="Segoe WPC"/>
              </a:rPr>
              <a:t>Treasuries</a:t>
            </a:r>
            <a:r>
              <a:rPr lang="es-ES" sz="900" b="0" i="0" dirty="0">
                <a:effectLst/>
                <a:latin typeface="Segoe WPC"/>
              </a:rPr>
              <a:t> del gobierno de EE. UU.</a:t>
            </a:r>
          </a:p>
        </p:txBody>
      </p:sp>
      <p:sp>
        <p:nvSpPr>
          <p:cNvPr id="7" name="CuadroTexto 6">
            <a:extLst>
              <a:ext uri="{FF2B5EF4-FFF2-40B4-BE49-F238E27FC236}">
                <a16:creationId xmlns:a16="http://schemas.microsoft.com/office/drawing/2014/main" id="{DFB61C86-73FB-E865-8060-1440450C01AF}"/>
              </a:ext>
            </a:extLst>
          </p:cNvPr>
          <p:cNvSpPr txBox="1"/>
          <p:nvPr/>
        </p:nvSpPr>
        <p:spPr>
          <a:xfrm>
            <a:off x="5945414" y="0"/>
            <a:ext cx="6143170" cy="6771084"/>
          </a:xfrm>
          <a:prstGeom prst="rect">
            <a:avLst/>
          </a:prstGeom>
          <a:noFill/>
        </p:spPr>
        <p:txBody>
          <a:bodyPr wrap="square">
            <a:spAutoFit/>
          </a:bodyPr>
          <a:lstStyle/>
          <a:p>
            <a:pPr algn="l">
              <a:spcBef>
                <a:spcPts val="300"/>
              </a:spcBef>
              <a:spcAft>
                <a:spcPts val="300"/>
              </a:spcAft>
              <a:buFont typeface="+mj-lt"/>
              <a:buAutoNum type="arabicPeriod"/>
            </a:pPr>
            <a:r>
              <a:rPr lang="es-ES" sz="900" b="1" i="0" dirty="0">
                <a:effectLst/>
                <a:latin typeface="Segoe WPC"/>
              </a:rPr>
              <a:t>Short positions en instrumentos financieros</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Venta en corto de acciones o bonos prestados.</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Se vende hoy un activo prestado y se recomprará después; gana si el precio baja, pierde si sube.</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Es la imagen espejo de una posición larga: los cash </a:t>
            </a:r>
            <a:r>
              <a:rPr lang="es-ES" sz="900" b="0" i="0" dirty="0" err="1">
                <a:effectLst/>
                <a:latin typeface="Segoe WPC"/>
              </a:rPr>
              <a:t>flows</a:t>
            </a:r>
            <a:r>
              <a:rPr lang="es-ES" sz="900" b="0" i="0" dirty="0">
                <a:effectLst/>
                <a:latin typeface="Segoe WPC"/>
              </a:rPr>
              <a:t> se invierten.</a:t>
            </a:r>
            <a:br>
              <a:rPr lang="es-ES" sz="900" b="0" i="0" dirty="0">
                <a:effectLst/>
                <a:latin typeface="Segoe WPC"/>
              </a:rPr>
            </a:br>
            <a:r>
              <a:rPr lang="es-ES" sz="900" b="1" i="0" dirty="0">
                <a:effectLst/>
                <a:latin typeface="Segoe WPC"/>
              </a:rPr>
              <a:t>Key Formula:</a:t>
            </a:r>
            <a:r>
              <a:rPr lang="es-ES" sz="900" b="0" i="0" dirty="0">
                <a:effectLst/>
                <a:latin typeface="Segoe WPC"/>
              </a:rPr>
              <a:t> (</a:t>
            </a:r>
            <a:r>
              <a:rPr lang="es-ES" sz="900" b="0" i="0" dirty="0" err="1">
                <a:effectLst/>
                <a:latin typeface="Segoe WPC"/>
              </a:rPr>
              <a:t>Profit</a:t>
            </a:r>
            <a:r>
              <a:rPr lang="es-ES" sz="900" b="0" i="0" dirty="0">
                <a:effectLst/>
                <a:latin typeface="Segoe WPC"/>
              </a:rPr>
              <a:t> \</a:t>
            </a:r>
            <a:r>
              <a:rPr lang="es-ES" sz="900" b="0" i="0" dirty="0" err="1">
                <a:effectLst/>
                <a:latin typeface="Segoe WPC"/>
              </a:rPr>
              <a:t>approx</a:t>
            </a:r>
            <a:r>
              <a:rPr lang="es-ES" sz="900" b="0" i="0" dirty="0">
                <a:effectLst/>
                <a:latin typeface="Segoe WPC"/>
              </a:rPr>
              <a:t> P_{venta} - P_{recompra} - ingresos\ pagados)</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El short </a:t>
            </a:r>
            <a:r>
              <a:rPr lang="es-ES" sz="900" b="0" i="0" dirty="0" err="1">
                <a:effectLst/>
                <a:latin typeface="Segoe WPC"/>
              </a:rPr>
              <a:t>seller</a:t>
            </a:r>
            <a:r>
              <a:rPr lang="es-ES" sz="900" b="0" i="0" dirty="0">
                <a:effectLst/>
                <a:latin typeface="Segoe WPC"/>
              </a:rPr>
              <a:t> debe pagar dividendos o cupones al prestamista y mantener margen con el </a:t>
            </a:r>
            <a:r>
              <a:rPr lang="es-ES" sz="900" b="0" i="0" dirty="0" err="1">
                <a:effectLst/>
                <a:latin typeface="Segoe WPC"/>
              </a:rPr>
              <a:t>broker</a:t>
            </a:r>
            <a:r>
              <a:rPr lang="es-ES" sz="900" b="0" i="0" dirty="0">
                <a:effectLst/>
                <a:latin typeface="Segoe WPC"/>
              </a:rPr>
              <a:t>.</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No olvidar que la posición corta no es gratis: puede haber </a:t>
            </a:r>
            <a:r>
              <a:rPr lang="es-ES" sz="900" b="0" i="0" dirty="0" err="1">
                <a:effectLst/>
                <a:latin typeface="Segoe WPC"/>
              </a:rPr>
              <a:t>borrowing</a:t>
            </a:r>
            <a:r>
              <a:rPr lang="es-ES" sz="900" b="0" i="0" dirty="0">
                <a:effectLst/>
                <a:latin typeface="Segoe WPC"/>
              </a:rPr>
              <a:t> fee, </a:t>
            </a:r>
            <a:r>
              <a:rPr lang="es-ES" sz="900" b="0" i="0" dirty="0" err="1">
                <a:effectLst/>
                <a:latin typeface="Segoe WPC"/>
              </a:rPr>
              <a:t>margin</a:t>
            </a:r>
            <a:r>
              <a:rPr lang="es-ES" sz="900" b="0" i="0" dirty="0">
                <a:effectLst/>
                <a:latin typeface="Segoe WPC"/>
              </a:rPr>
              <a:t> </a:t>
            </a:r>
            <a:r>
              <a:rPr lang="es-ES" sz="900" b="0" i="0" dirty="0" err="1">
                <a:effectLst/>
                <a:latin typeface="Segoe WPC"/>
              </a:rPr>
              <a:t>calls</a:t>
            </a:r>
            <a:r>
              <a:rPr lang="es-ES" sz="900" b="0" i="0" dirty="0">
                <a:effectLst/>
                <a:latin typeface="Segoe WPC"/>
              </a:rPr>
              <a:t> y obligación de transferir </a:t>
            </a:r>
            <a:r>
              <a:rPr lang="es-ES" sz="900" b="0" i="0" dirty="0" err="1">
                <a:effectLst/>
                <a:latin typeface="Segoe WPC"/>
              </a:rPr>
              <a:t>income</a:t>
            </a:r>
            <a:r>
              <a:rPr lang="es-ES" sz="900" b="0" i="0" dirty="0">
                <a:effectLst/>
                <a:latin typeface="Segoe WPC"/>
              </a:rPr>
              <a:t> al dueño original.</a:t>
            </a:r>
          </a:p>
          <a:p>
            <a:pPr algn="l">
              <a:spcBef>
                <a:spcPts val="300"/>
              </a:spcBef>
              <a:spcAft>
                <a:spcPts val="300"/>
              </a:spcAft>
              <a:buFont typeface="+mj-lt"/>
              <a:buAutoNum type="arabicPeriod"/>
            </a:pPr>
            <a:r>
              <a:rPr lang="es-ES" sz="900" b="1" i="0" dirty="0" err="1">
                <a:effectLst/>
                <a:latin typeface="Segoe WPC"/>
              </a:rPr>
              <a:t>Law</a:t>
            </a:r>
            <a:r>
              <a:rPr lang="es-ES" sz="900" b="1" i="0" dirty="0">
                <a:effectLst/>
                <a:latin typeface="Segoe WPC"/>
              </a:rPr>
              <a:t> </a:t>
            </a:r>
            <a:r>
              <a:rPr lang="es-ES" sz="900" b="1" i="0" dirty="0" err="1">
                <a:effectLst/>
                <a:latin typeface="Segoe WPC"/>
              </a:rPr>
              <a:t>of</a:t>
            </a:r>
            <a:r>
              <a:rPr lang="es-ES" sz="900" b="1" i="0" dirty="0">
                <a:effectLst/>
                <a:latin typeface="Segoe WPC"/>
              </a:rPr>
              <a:t> </a:t>
            </a:r>
            <a:r>
              <a:rPr lang="es-ES" sz="900" b="1" i="0" dirty="0" err="1">
                <a:effectLst/>
                <a:latin typeface="Segoe WPC"/>
              </a:rPr>
              <a:t>one</a:t>
            </a:r>
            <a:r>
              <a:rPr lang="es-ES" sz="900" b="1" i="0" dirty="0">
                <a:effectLst/>
                <a:latin typeface="Segoe WPC"/>
              </a:rPr>
              <a:t> </a:t>
            </a:r>
            <a:r>
              <a:rPr lang="es-ES" sz="900" b="1" i="0" dirty="0" err="1">
                <a:effectLst/>
                <a:latin typeface="Segoe WPC"/>
              </a:rPr>
              <a:t>price</a:t>
            </a:r>
            <a:r>
              <a:rPr lang="es-ES" sz="900" b="1" i="0" dirty="0">
                <a:effectLst/>
                <a:latin typeface="Segoe WPC"/>
              </a:rPr>
              <a:t> y </a:t>
            </a:r>
            <a:r>
              <a:rPr lang="es-ES" sz="900" b="1" i="0" dirty="0" err="1">
                <a:effectLst/>
                <a:latin typeface="Segoe WPC"/>
              </a:rPr>
              <a:t>arbitrage</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Principio central de </a:t>
            </a:r>
            <a:r>
              <a:rPr lang="es-ES" sz="900" b="0" i="0" dirty="0" err="1">
                <a:effectLst/>
                <a:latin typeface="Segoe WPC"/>
              </a:rPr>
              <a:t>pricing</a:t>
            </a:r>
            <a:r>
              <a:rPr lang="es-ES" sz="900" b="0" i="0" dirty="0">
                <a:effectLst/>
                <a:latin typeface="Segoe WPC"/>
              </a:rPr>
              <a:t> sin arbitraje.</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Si dos portafolios generan exactamente los mismos cash </a:t>
            </a:r>
            <a:r>
              <a:rPr lang="es-ES" sz="900" b="0" i="0" dirty="0" err="1">
                <a:effectLst/>
                <a:latin typeface="Segoe WPC"/>
              </a:rPr>
              <a:t>flows</a:t>
            </a:r>
            <a:r>
              <a:rPr lang="es-ES" sz="900" b="0" i="0" dirty="0">
                <a:effectLst/>
                <a:latin typeface="Segoe WPC"/>
              </a:rPr>
              <a:t> futuros, deben valer lo mismo hoy.</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Dos máquinas que pagan lo mismo en todas las fechas no pueden tener precios distintos de forma sostenible.</a:t>
            </a:r>
            <a:br>
              <a:rPr lang="es-ES" sz="900" b="0" i="0" dirty="0">
                <a:effectLst/>
                <a:latin typeface="Segoe WPC"/>
              </a:rPr>
            </a:br>
            <a:r>
              <a:rPr lang="es-ES" sz="900" b="1" i="0" dirty="0">
                <a:effectLst/>
                <a:latin typeface="Segoe WPC"/>
              </a:rPr>
              <a:t>Key Formula:</a:t>
            </a:r>
            <a:r>
              <a:rPr lang="es-ES" sz="900" b="0" i="0" dirty="0">
                <a:effectLst/>
                <a:latin typeface="Segoe WPC"/>
              </a:rPr>
              <a:t> Si (CF_X(t)=CF_Y(t)\ \</a:t>
            </a:r>
            <a:r>
              <a:rPr lang="es-ES" sz="900" b="0" i="0" dirty="0" err="1">
                <a:effectLst/>
                <a:latin typeface="Segoe WPC"/>
              </a:rPr>
              <a:t>forall</a:t>
            </a:r>
            <a:r>
              <a:rPr lang="es-ES" sz="900" b="0" i="0" dirty="0">
                <a:effectLst/>
                <a:latin typeface="Segoe WPC"/>
              </a:rPr>
              <a:t> t), entonces (Price(X)=Price(Y))</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Si no se cumple, se compra el portafolio barato y se vende o </a:t>
            </a:r>
            <a:r>
              <a:rPr lang="es-ES" sz="900" b="0" i="0" dirty="0" err="1">
                <a:effectLst/>
                <a:latin typeface="Segoe WPC"/>
              </a:rPr>
              <a:t>shortea</a:t>
            </a:r>
            <a:r>
              <a:rPr lang="es-ES" sz="900" b="0" i="0" dirty="0">
                <a:effectLst/>
                <a:latin typeface="Segoe WPC"/>
              </a:rPr>
              <a:t> el caro para asegurar ganancia.</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El arbitraje teórico puede no ser explotable plenamente en la práctica por costos, margen, liquidez o restricciones de </a:t>
            </a:r>
            <a:r>
              <a:rPr lang="es-ES" sz="900" b="0" i="0" dirty="0" err="1">
                <a:effectLst/>
                <a:latin typeface="Segoe WPC"/>
              </a:rPr>
              <a:t>shorting</a:t>
            </a:r>
            <a:r>
              <a:rPr lang="es-ES" sz="900" b="0" i="0" dirty="0">
                <a:effectLst/>
                <a:latin typeface="Segoe WPC"/>
              </a:rPr>
              <a:t>.</a:t>
            </a:r>
          </a:p>
          <a:p>
            <a:pPr algn="l">
              <a:spcBef>
                <a:spcPts val="300"/>
              </a:spcBef>
              <a:spcAft>
                <a:spcPts val="300"/>
              </a:spcAft>
              <a:buFont typeface="+mj-lt"/>
              <a:buAutoNum type="arabicPeriod"/>
            </a:pPr>
            <a:r>
              <a:rPr lang="es-ES" sz="900" b="1" i="0" dirty="0">
                <a:effectLst/>
                <a:latin typeface="Segoe WPC"/>
              </a:rPr>
              <a:t>Liquidez y límites del arbitraje</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Diferencias de precio originadas por liquidez, aunque los cash </a:t>
            </a:r>
            <a:r>
              <a:rPr lang="es-ES" sz="900" b="0" i="0" dirty="0" err="1">
                <a:effectLst/>
                <a:latin typeface="Segoe WPC"/>
              </a:rPr>
              <a:t>flows</a:t>
            </a:r>
            <a:r>
              <a:rPr lang="es-ES" sz="900" b="0" i="0" dirty="0">
                <a:effectLst/>
                <a:latin typeface="Segoe WPC"/>
              </a:rPr>
              <a:t> sean iguales.</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Un bono más líquido suele valer más porque es más fácil de vender rápido sin castigar el precio.</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Dos bonos con mismos pagos pueden separarse en precio si uno es “más negociable” que el otro.</a:t>
            </a:r>
            <a:br>
              <a:rPr lang="es-ES" sz="900" b="0" i="0" dirty="0">
                <a:effectLst/>
                <a:latin typeface="Segoe WPC"/>
              </a:rPr>
            </a:br>
            <a:r>
              <a:rPr lang="es-ES" sz="900" b="1" i="0" dirty="0">
                <a:effectLst/>
                <a:latin typeface="Segoe WPC"/>
              </a:rPr>
              <a:t>Key Formula:</a:t>
            </a:r>
            <a:r>
              <a:rPr lang="es-ES" sz="900" b="0" i="0" dirty="0">
                <a:effectLst/>
                <a:latin typeface="Segoe WPC"/>
              </a:rPr>
              <a:t> No hay fórmula única; el precio incorpora prima por liquidez además de cash </a:t>
            </a:r>
            <a:r>
              <a:rPr lang="es-ES" sz="900" b="0" i="0" dirty="0" err="1">
                <a:effectLst/>
                <a:latin typeface="Segoe WPC"/>
              </a:rPr>
              <a:t>flows</a:t>
            </a:r>
            <a:r>
              <a:rPr lang="es-ES" sz="900" b="0" i="0" dirty="0">
                <a:effectLst/>
                <a:latin typeface="Segoe WPC"/>
              </a:rPr>
              <a:t>.</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Esto explica por qué pueden aparecer oportunidades de </a:t>
            </a:r>
            <a:r>
              <a:rPr lang="es-ES" sz="900" b="0" i="0" dirty="0" err="1">
                <a:effectLst/>
                <a:latin typeface="Segoe WPC"/>
              </a:rPr>
              <a:t>convergence</a:t>
            </a:r>
            <a:r>
              <a:rPr lang="es-ES" sz="900" b="0" i="0" dirty="0">
                <a:effectLst/>
                <a:latin typeface="Segoe WPC"/>
              </a:rPr>
              <a:t> </a:t>
            </a:r>
            <a:r>
              <a:rPr lang="es-ES" sz="900" b="0" i="0" dirty="0" err="1">
                <a:effectLst/>
                <a:latin typeface="Segoe WPC"/>
              </a:rPr>
              <a:t>arbitrage</a:t>
            </a:r>
            <a:r>
              <a:rPr lang="es-ES" sz="900" b="0" i="0" dirty="0">
                <a:effectLst/>
                <a:latin typeface="Segoe WPC"/>
              </a:rPr>
              <a:t>.</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La historia de LTCM muestra que tener razón al vencimiento no basta; puedes quebrar antes por </a:t>
            </a:r>
            <a:r>
              <a:rPr lang="es-ES" sz="900" b="0" i="0" dirty="0" err="1">
                <a:effectLst/>
                <a:latin typeface="Segoe WPC"/>
              </a:rPr>
              <a:t>leverage</a:t>
            </a:r>
            <a:r>
              <a:rPr lang="es-ES" sz="900" b="0" i="0" dirty="0">
                <a:effectLst/>
                <a:latin typeface="Segoe WPC"/>
              </a:rPr>
              <a:t> y </a:t>
            </a:r>
            <a:r>
              <a:rPr lang="es-ES" sz="900" b="0" i="0" dirty="0" err="1">
                <a:effectLst/>
                <a:latin typeface="Segoe WPC"/>
              </a:rPr>
              <a:t>margin</a:t>
            </a:r>
            <a:r>
              <a:rPr lang="es-ES" sz="900" b="0" i="0" dirty="0">
                <a:effectLst/>
                <a:latin typeface="Segoe WPC"/>
              </a:rPr>
              <a:t> </a:t>
            </a:r>
            <a:r>
              <a:rPr lang="es-ES" sz="900" b="0" i="0" dirty="0" err="1">
                <a:effectLst/>
                <a:latin typeface="Segoe WPC"/>
              </a:rPr>
              <a:t>calls</a:t>
            </a:r>
            <a:r>
              <a:rPr lang="es-ES" sz="900" b="0" i="0" dirty="0">
                <a:effectLst/>
                <a:latin typeface="Segoe WPC"/>
              </a:rPr>
              <a:t>.</a:t>
            </a:r>
          </a:p>
          <a:p>
            <a:pPr algn="l">
              <a:spcBef>
                <a:spcPts val="300"/>
              </a:spcBef>
              <a:spcAft>
                <a:spcPts val="300"/>
              </a:spcAft>
              <a:buFont typeface="+mj-lt"/>
              <a:buAutoNum type="arabicPeriod"/>
            </a:pPr>
            <a:r>
              <a:rPr lang="es-ES" sz="900" b="1" i="0" dirty="0" err="1">
                <a:effectLst/>
                <a:latin typeface="Segoe WPC"/>
              </a:rPr>
              <a:t>Bootstrapping</a:t>
            </a:r>
            <a:r>
              <a:rPr lang="es-ES" sz="900" b="1" i="0" dirty="0">
                <a:effectLst/>
                <a:latin typeface="Segoe WPC"/>
              </a:rPr>
              <a:t> </a:t>
            </a:r>
            <a:r>
              <a:rPr lang="es-ES" sz="900" b="1" i="0" dirty="0" err="1">
                <a:effectLst/>
                <a:latin typeface="Segoe WPC"/>
              </a:rPr>
              <a:t>discount</a:t>
            </a:r>
            <a:r>
              <a:rPr lang="es-ES" sz="900" b="1" i="0" dirty="0">
                <a:effectLst/>
                <a:latin typeface="Segoe WPC"/>
              </a:rPr>
              <a:t> </a:t>
            </a:r>
            <a:r>
              <a:rPr lang="es-ES" sz="900" b="1" i="0" dirty="0" err="1">
                <a:effectLst/>
                <a:latin typeface="Segoe WPC"/>
              </a:rPr>
              <a:t>factors</a:t>
            </a:r>
            <a:r>
              <a:rPr lang="es-ES" sz="900" b="1" i="0" dirty="0">
                <a:effectLst/>
                <a:latin typeface="Segoe WPC"/>
              </a:rPr>
              <a:t> desde </a:t>
            </a:r>
            <a:r>
              <a:rPr lang="es-ES" sz="900" b="1" i="0" dirty="0" err="1">
                <a:effectLst/>
                <a:latin typeface="Segoe WPC"/>
              </a:rPr>
              <a:t>coupon</a:t>
            </a:r>
            <a:r>
              <a:rPr lang="es-ES" sz="900" b="1" i="0" dirty="0">
                <a:effectLst/>
                <a:latin typeface="Segoe WPC"/>
              </a:rPr>
              <a:t> </a:t>
            </a:r>
            <a:r>
              <a:rPr lang="es-ES" sz="900" b="1" i="0" dirty="0" err="1">
                <a:effectLst/>
                <a:latin typeface="Segoe WPC"/>
              </a:rPr>
              <a:t>bonds</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Obtención secuencial de </a:t>
            </a:r>
            <a:r>
              <a:rPr lang="es-ES" sz="900" b="0" i="0" dirty="0" err="1">
                <a:effectLst/>
                <a:latin typeface="Segoe WPC"/>
              </a:rPr>
              <a:t>discount</a:t>
            </a:r>
            <a:r>
              <a:rPr lang="es-ES" sz="900" b="0" i="0" dirty="0">
                <a:effectLst/>
                <a:latin typeface="Segoe WPC"/>
              </a:rPr>
              <a:t> </a:t>
            </a:r>
            <a:r>
              <a:rPr lang="es-ES" sz="900" b="0" i="0" dirty="0" err="1">
                <a:effectLst/>
                <a:latin typeface="Segoe WPC"/>
              </a:rPr>
              <a:t>factors</a:t>
            </a:r>
            <a:r>
              <a:rPr lang="es-ES" sz="900" b="0" i="0" dirty="0">
                <a:effectLst/>
                <a:latin typeface="Segoe WPC"/>
              </a:rPr>
              <a:t> usando bonos con cupón.</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Se usa primero el bono más corto y luego bonos más largos para ir despejando un factor por vez.</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Cada bono añade una fecha nueva; las fechas anteriores ya fueron “resueltas” con </a:t>
            </a:r>
            <a:r>
              <a:rPr lang="es-ES" sz="900" b="0" i="0" dirty="0" err="1">
                <a:effectLst/>
                <a:latin typeface="Segoe WPC"/>
              </a:rPr>
              <a:t>discount</a:t>
            </a:r>
            <a:r>
              <a:rPr lang="es-ES" sz="900" b="0" i="0" dirty="0">
                <a:effectLst/>
                <a:latin typeface="Segoe WPC"/>
              </a:rPr>
              <a:t> </a:t>
            </a:r>
            <a:r>
              <a:rPr lang="es-ES" sz="900" b="0" i="0" dirty="0" err="1">
                <a:effectLst/>
                <a:latin typeface="Segoe WPC"/>
              </a:rPr>
              <a:t>factors</a:t>
            </a:r>
            <a:r>
              <a:rPr lang="es-ES" sz="900" b="0" i="0" dirty="0">
                <a:effectLst/>
                <a:latin typeface="Segoe WPC"/>
              </a:rPr>
              <a:t> previos.</a:t>
            </a:r>
            <a:br>
              <a:rPr lang="es-ES" sz="900" b="0" i="0" dirty="0">
                <a:effectLst/>
                <a:latin typeface="Segoe WPC"/>
              </a:rPr>
            </a:br>
            <a:r>
              <a:rPr lang="es-ES" sz="900" b="1" i="0" dirty="0">
                <a:effectLst/>
                <a:latin typeface="Segoe WPC"/>
              </a:rPr>
              <a:t>Key Formula:</a:t>
            </a:r>
            <a:r>
              <a:rPr lang="es-ES" sz="900" b="0" i="0" dirty="0">
                <a:effectLst/>
                <a:latin typeface="Segoe WPC"/>
              </a:rPr>
              <a:t> (Price = \</a:t>
            </a:r>
            <a:r>
              <a:rPr lang="es-ES" sz="900" b="0" i="0" dirty="0" err="1">
                <a:effectLst/>
                <a:latin typeface="Segoe WPC"/>
              </a:rPr>
              <a:t>sum_i</a:t>
            </a:r>
            <a:r>
              <a:rPr lang="es-ES" sz="900" b="0" i="0" dirty="0">
                <a:effectLst/>
                <a:latin typeface="Segoe WPC"/>
              </a:rPr>
              <a:t> </a:t>
            </a:r>
            <a:r>
              <a:rPr lang="es-ES" sz="900" b="0" i="0" dirty="0" err="1">
                <a:effectLst/>
                <a:latin typeface="Segoe WPC"/>
              </a:rPr>
              <a:t>CF_i</a:t>
            </a:r>
            <a:r>
              <a:rPr lang="es-ES" sz="900" b="0" i="0" dirty="0">
                <a:effectLst/>
                <a:latin typeface="Segoe WPC"/>
              </a:rPr>
              <a:t>\</a:t>
            </a:r>
            <a:r>
              <a:rPr lang="es-ES" sz="900" b="0" i="0" dirty="0" err="1">
                <a:effectLst/>
                <a:latin typeface="Segoe WPC"/>
              </a:rPr>
              <a:t>cdot</a:t>
            </a:r>
            <a:r>
              <a:rPr lang="es-ES" sz="900" b="0" i="0" dirty="0">
                <a:effectLst/>
                <a:latin typeface="Segoe WPC"/>
              </a:rPr>
              <a:t> d(</a:t>
            </a:r>
            <a:r>
              <a:rPr lang="es-ES" sz="900" b="0" i="0" dirty="0" err="1">
                <a:effectLst/>
                <a:latin typeface="Segoe WPC"/>
              </a:rPr>
              <a:t>t_i</a:t>
            </a:r>
            <a:r>
              <a:rPr lang="es-ES" sz="900" b="0" i="0" dirty="0">
                <a:effectLst/>
                <a:latin typeface="Segoe WPC"/>
              </a:rPr>
              <a:t>))</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Es el mismo razonamiento de </a:t>
            </a:r>
            <a:r>
              <a:rPr lang="es-ES" sz="900" b="0" i="0" dirty="0" err="1">
                <a:effectLst/>
                <a:latin typeface="Segoe WPC"/>
              </a:rPr>
              <a:t>bootstrap</a:t>
            </a:r>
            <a:r>
              <a:rPr lang="es-ES" sz="900" b="0" i="0" dirty="0">
                <a:effectLst/>
                <a:latin typeface="Segoe WPC"/>
              </a:rPr>
              <a:t> de curvas, pero aplicado directamente a </a:t>
            </a:r>
            <a:r>
              <a:rPr lang="es-ES" sz="900" b="0" i="0" dirty="0" err="1">
                <a:effectLst/>
                <a:latin typeface="Segoe WPC"/>
              </a:rPr>
              <a:t>discount</a:t>
            </a:r>
            <a:r>
              <a:rPr lang="es-ES" sz="900" b="0" i="0" dirty="0">
                <a:effectLst/>
                <a:latin typeface="Segoe WPC"/>
              </a:rPr>
              <a:t> </a:t>
            </a:r>
            <a:r>
              <a:rPr lang="es-ES" sz="900" b="0" i="0" dirty="0" err="1">
                <a:effectLst/>
                <a:latin typeface="Segoe WPC"/>
              </a:rPr>
              <a:t>factors</a:t>
            </a:r>
            <a:r>
              <a:rPr lang="es-ES" sz="900" b="0" i="0" dirty="0">
                <a:effectLst/>
                <a:latin typeface="Segoe WPC"/>
              </a:rPr>
              <a:t>.</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El proceso va del bono más corto al más largo; si intentas empezar por uno largo sin conocer factores previos, no puedes despejar de forma limpia.</a:t>
            </a:r>
          </a:p>
          <a:p>
            <a:pPr algn="l">
              <a:spcBef>
                <a:spcPts val="300"/>
              </a:spcBef>
              <a:spcAft>
                <a:spcPts val="300"/>
              </a:spcAft>
              <a:buFont typeface="+mj-lt"/>
              <a:buAutoNum type="arabicPeriod"/>
            </a:pPr>
            <a:r>
              <a:rPr lang="es-ES" sz="900" b="1" i="0" dirty="0" err="1">
                <a:effectLst/>
                <a:latin typeface="Segoe WPC"/>
              </a:rPr>
              <a:t>Replicating</a:t>
            </a:r>
            <a:r>
              <a:rPr lang="es-ES" sz="900" b="1" i="0" dirty="0">
                <a:effectLst/>
                <a:latin typeface="Segoe WPC"/>
              </a:rPr>
              <a:t> portfolios, STRIPS y </a:t>
            </a:r>
            <a:r>
              <a:rPr lang="es-ES" sz="900" b="1" i="0" dirty="0" err="1">
                <a:effectLst/>
                <a:latin typeface="Segoe WPC"/>
              </a:rPr>
              <a:t>day-count</a:t>
            </a:r>
            <a:r>
              <a:rPr lang="es-ES" sz="900" b="1" i="0" dirty="0">
                <a:effectLst/>
                <a:latin typeface="Segoe WPC"/>
              </a:rPr>
              <a:t> </a:t>
            </a:r>
            <a:r>
              <a:rPr lang="es-ES" sz="900" b="1" i="0" dirty="0" err="1">
                <a:effectLst/>
                <a:latin typeface="Segoe WPC"/>
              </a:rPr>
              <a:t>conventions</a:t>
            </a:r>
            <a:br>
              <a:rPr lang="es-ES" sz="900" b="0" i="0" dirty="0">
                <a:effectLst/>
                <a:latin typeface="Segoe WPC"/>
              </a:rPr>
            </a:br>
            <a:r>
              <a:rPr lang="es-ES" sz="900" b="1" i="0" dirty="0" err="1">
                <a:effectLst/>
                <a:latin typeface="Segoe WPC"/>
              </a:rPr>
              <a:t>Financial</a:t>
            </a:r>
            <a:r>
              <a:rPr lang="es-ES" sz="900" b="1" i="0" dirty="0">
                <a:effectLst/>
                <a:latin typeface="Segoe WPC"/>
              </a:rPr>
              <a:t> </a:t>
            </a:r>
            <a:r>
              <a:rPr lang="es-ES" sz="900" b="1" i="0" dirty="0" err="1">
                <a:effectLst/>
                <a:latin typeface="Segoe WPC"/>
              </a:rPr>
              <a:t>Object</a:t>
            </a:r>
            <a:r>
              <a:rPr lang="es-ES" sz="900" b="1" i="0" dirty="0">
                <a:effectLst/>
                <a:latin typeface="Segoe WPC"/>
              </a:rPr>
              <a:t>:</a:t>
            </a:r>
            <a:r>
              <a:rPr lang="es-ES" sz="900" b="0" i="0" dirty="0">
                <a:effectLst/>
                <a:latin typeface="Segoe WPC"/>
              </a:rPr>
              <a:t> Replicación de cash </a:t>
            </a:r>
            <a:r>
              <a:rPr lang="es-ES" sz="900" b="0" i="0" dirty="0" err="1">
                <a:effectLst/>
                <a:latin typeface="Segoe WPC"/>
              </a:rPr>
              <a:t>flows</a:t>
            </a:r>
            <a:r>
              <a:rPr lang="es-ES" sz="900" b="0" i="0" dirty="0">
                <a:effectLst/>
                <a:latin typeface="Segoe WPC"/>
              </a:rPr>
              <a:t> con varios bonos, separación de cupones/principal vía STRIPS y convenciones de conteo de días.</a:t>
            </a:r>
            <a:br>
              <a:rPr lang="es-ES" sz="900" b="0" i="0" dirty="0">
                <a:effectLst/>
                <a:latin typeface="Segoe WPC"/>
              </a:rPr>
            </a:br>
            <a:r>
              <a:rPr lang="es-ES" sz="900" b="1" i="0" dirty="0" err="1">
                <a:effectLst/>
                <a:latin typeface="Segoe WPC"/>
              </a:rPr>
              <a:t>Plain</a:t>
            </a:r>
            <a:r>
              <a:rPr lang="es-ES" sz="900" b="1" i="0" dirty="0">
                <a:effectLst/>
                <a:latin typeface="Segoe WPC"/>
              </a:rPr>
              <a:t> </a:t>
            </a:r>
            <a:r>
              <a:rPr lang="es-ES" sz="900" b="1" i="0" dirty="0" err="1">
                <a:effectLst/>
                <a:latin typeface="Segoe WPC"/>
              </a:rPr>
              <a:t>Intuition</a:t>
            </a:r>
            <a:r>
              <a:rPr lang="es-ES" sz="900" b="1" i="0" dirty="0">
                <a:effectLst/>
                <a:latin typeface="Segoe WPC"/>
              </a:rPr>
              <a:t>:</a:t>
            </a:r>
            <a:r>
              <a:rPr lang="es-ES" sz="900" b="0" i="0" dirty="0">
                <a:effectLst/>
                <a:latin typeface="Segoe WPC"/>
              </a:rPr>
              <a:t> Un bono puede descomponerse en ceros equivalentes; si replicas exactamente sus pagos, su precio debe coincidir por no arbitraje.</a:t>
            </a:r>
            <a:br>
              <a:rPr lang="es-ES" sz="900" b="0" i="0" dirty="0">
                <a:effectLst/>
                <a:latin typeface="Segoe WPC"/>
              </a:rPr>
            </a:br>
            <a:r>
              <a:rPr lang="es-ES" sz="900" b="1" i="0" dirty="0">
                <a:effectLst/>
                <a:latin typeface="Segoe WPC"/>
              </a:rPr>
              <a:t>Visual </a:t>
            </a:r>
            <a:r>
              <a:rPr lang="es-ES" sz="900" b="1" i="0" dirty="0" err="1">
                <a:effectLst/>
                <a:latin typeface="Segoe WPC"/>
              </a:rPr>
              <a:t>Intuition</a:t>
            </a:r>
            <a:r>
              <a:rPr lang="es-ES" sz="900" b="1" i="0" dirty="0">
                <a:effectLst/>
                <a:latin typeface="Segoe WPC"/>
              </a:rPr>
              <a:t>:</a:t>
            </a:r>
            <a:r>
              <a:rPr lang="es-ES" sz="900" b="0" i="0" dirty="0">
                <a:effectLst/>
                <a:latin typeface="Segoe WPC"/>
              </a:rPr>
              <a:t> Los C-STRIPS representan cada cupón por separado y el P-STRIP representa el principal final.</a:t>
            </a:r>
            <a:br>
              <a:rPr lang="es-ES" sz="900" b="0" i="0" dirty="0">
                <a:effectLst/>
                <a:latin typeface="Segoe WPC"/>
              </a:rPr>
            </a:br>
            <a:r>
              <a:rPr lang="es-ES" sz="900" b="1" i="0" dirty="0">
                <a:effectLst/>
                <a:latin typeface="Segoe WPC"/>
              </a:rPr>
              <a:t>Key Formula:</a:t>
            </a:r>
            <a:r>
              <a:rPr lang="es-ES" sz="900" b="0" i="0" dirty="0">
                <a:effectLst/>
                <a:latin typeface="Segoe WPC"/>
              </a:rPr>
              <a:t> (Price_{bond} = \</a:t>
            </a:r>
            <a:r>
              <a:rPr lang="es-ES" sz="900" b="0" i="0" dirty="0" err="1">
                <a:effectLst/>
                <a:latin typeface="Segoe WPC"/>
              </a:rPr>
              <a:t>sum_i</a:t>
            </a:r>
            <a:r>
              <a:rPr lang="es-ES" sz="900" b="0" i="0" dirty="0">
                <a:effectLst/>
                <a:latin typeface="Segoe WPC"/>
              </a:rPr>
              <a:t> </a:t>
            </a:r>
            <a:r>
              <a:rPr lang="es-ES" sz="900" b="0" i="0" dirty="0" err="1">
                <a:effectLst/>
                <a:latin typeface="Segoe WPC"/>
              </a:rPr>
              <a:t>CF_i</a:t>
            </a:r>
            <a:r>
              <a:rPr lang="es-ES" sz="900" b="0" i="0" dirty="0">
                <a:effectLst/>
                <a:latin typeface="Segoe WPC"/>
              </a:rPr>
              <a:t>\</a:t>
            </a:r>
            <a:r>
              <a:rPr lang="es-ES" sz="900" b="0" i="0" dirty="0" err="1">
                <a:effectLst/>
                <a:latin typeface="Segoe WPC"/>
              </a:rPr>
              <a:t>cdot</a:t>
            </a:r>
            <a:r>
              <a:rPr lang="es-ES" sz="900" b="0" i="0" dirty="0">
                <a:effectLst/>
                <a:latin typeface="Segoe WPC"/>
              </a:rPr>
              <a:t> d(</a:t>
            </a:r>
            <a:r>
              <a:rPr lang="es-ES" sz="900" b="0" i="0" dirty="0" err="1">
                <a:effectLst/>
                <a:latin typeface="Segoe WPC"/>
              </a:rPr>
              <a:t>t_i</a:t>
            </a:r>
            <a:r>
              <a:rPr lang="es-ES" sz="900" b="0" i="0" dirty="0">
                <a:effectLst/>
                <a:latin typeface="Segoe WPC"/>
              </a:rPr>
              <a:t>)), con convenciones como actual/actual, 30/360 y actual/360 para medir el devengo.</a:t>
            </a:r>
            <a:br>
              <a:rPr lang="es-ES" sz="900" b="0" i="0" dirty="0">
                <a:effectLst/>
                <a:latin typeface="Segoe WPC"/>
              </a:rPr>
            </a:br>
            <a:r>
              <a:rPr lang="es-ES" sz="900" b="1" i="0" dirty="0" err="1">
                <a:effectLst/>
                <a:latin typeface="Segoe WPC"/>
              </a:rPr>
              <a:t>Interpretation</a:t>
            </a:r>
            <a:r>
              <a:rPr lang="es-ES" sz="900" b="1" i="0" dirty="0">
                <a:effectLst/>
                <a:latin typeface="Segoe WPC"/>
              </a:rPr>
              <a:t>:</a:t>
            </a:r>
            <a:r>
              <a:rPr lang="es-ES" sz="900" b="0" i="0" dirty="0">
                <a:effectLst/>
                <a:latin typeface="Segoe WPC"/>
              </a:rPr>
              <a:t> STRIPS dan </a:t>
            </a:r>
            <a:r>
              <a:rPr lang="es-ES" sz="900" b="0" i="0" dirty="0" err="1">
                <a:effectLst/>
                <a:latin typeface="Segoe WPC"/>
              </a:rPr>
              <a:t>discount</a:t>
            </a:r>
            <a:r>
              <a:rPr lang="es-ES" sz="900" b="0" i="0" dirty="0">
                <a:effectLst/>
                <a:latin typeface="Segoe WPC"/>
              </a:rPr>
              <a:t> </a:t>
            </a:r>
            <a:r>
              <a:rPr lang="es-ES" sz="900" b="0" i="0" dirty="0" err="1">
                <a:effectLst/>
                <a:latin typeface="Segoe WPC"/>
              </a:rPr>
              <a:t>factors</a:t>
            </a:r>
            <a:r>
              <a:rPr lang="es-ES" sz="900" b="0" i="0" dirty="0">
                <a:effectLst/>
                <a:latin typeface="Segoe WPC"/>
              </a:rPr>
              <a:t> más directos; las </a:t>
            </a:r>
            <a:r>
              <a:rPr lang="es-ES" sz="900" b="0" i="0" dirty="0" err="1">
                <a:effectLst/>
                <a:latin typeface="Segoe WPC"/>
              </a:rPr>
              <a:t>day-count</a:t>
            </a:r>
            <a:r>
              <a:rPr lang="es-ES" sz="900" b="0" i="0" dirty="0">
                <a:effectLst/>
                <a:latin typeface="Segoe WPC"/>
              </a:rPr>
              <a:t> </a:t>
            </a:r>
            <a:r>
              <a:rPr lang="es-ES" sz="900" b="0" i="0" dirty="0" err="1">
                <a:effectLst/>
                <a:latin typeface="Segoe WPC"/>
              </a:rPr>
              <a:t>conventions</a:t>
            </a:r>
            <a:r>
              <a:rPr lang="es-ES" sz="900" b="0" i="0" dirty="0">
                <a:effectLst/>
                <a:latin typeface="Segoe WPC"/>
              </a:rPr>
              <a:t> determinan cuánta fracción del interés corresponde al holding </a:t>
            </a:r>
            <a:r>
              <a:rPr lang="es-ES" sz="900" b="0" i="0" dirty="0" err="1">
                <a:effectLst/>
                <a:latin typeface="Segoe WPC"/>
              </a:rPr>
              <a:t>period</a:t>
            </a:r>
            <a:r>
              <a:rPr lang="es-ES" sz="900" b="0" i="0" dirty="0">
                <a:effectLst/>
                <a:latin typeface="Segoe WPC"/>
              </a:rPr>
              <a:t>.</a:t>
            </a:r>
            <a:br>
              <a:rPr lang="es-ES" sz="900" b="0" i="0" dirty="0">
                <a:effectLst/>
                <a:latin typeface="Segoe WPC"/>
              </a:rPr>
            </a:br>
            <a:r>
              <a:rPr lang="es-ES" sz="900" b="1" i="0" dirty="0" err="1">
                <a:effectLst/>
                <a:latin typeface="Segoe WPC"/>
              </a:rPr>
              <a:t>Exam</a:t>
            </a:r>
            <a:r>
              <a:rPr lang="es-ES" sz="900" b="1" i="0" dirty="0">
                <a:effectLst/>
                <a:latin typeface="Segoe WPC"/>
              </a:rPr>
              <a:t> </a:t>
            </a:r>
            <a:r>
              <a:rPr lang="es-ES" sz="900" b="1" i="0" dirty="0" err="1">
                <a:effectLst/>
                <a:latin typeface="Segoe WPC"/>
              </a:rPr>
              <a:t>Trap</a:t>
            </a:r>
            <a:r>
              <a:rPr lang="es-ES" sz="900" b="1" i="0" dirty="0">
                <a:effectLst/>
                <a:latin typeface="Segoe WPC"/>
              </a:rPr>
              <a:t>:</a:t>
            </a:r>
            <a:r>
              <a:rPr lang="es-ES" sz="900" b="0" i="0" dirty="0">
                <a:effectLst/>
                <a:latin typeface="Segoe WPC"/>
              </a:rPr>
              <a:t> No mezclar convenciones: </a:t>
            </a:r>
            <a:r>
              <a:rPr lang="es-ES" sz="900" b="0" i="0" dirty="0" err="1">
                <a:effectLst/>
                <a:latin typeface="Segoe WPC"/>
              </a:rPr>
              <a:t>Treasuries</a:t>
            </a:r>
            <a:r>
              <a:rPr lang="es-ES" sz="900" b="0" i="0" dirty="0">
                <a:effectLst/>
                <a:latin typeface="Segoe WPC"/>
              </a:rPr>
              <a:t> usan actual/actual, corporativos suelen usar 30/360 y </a:t>
            </a:r>
            <a:r>
              <a:rPr lang="es-ES" sz="900" b="0" i="0" dirty="0" err="1">
                <a:effectLst/>
                <a:latin typeface="Segoe WPC"/>
              </a:rPr>
              <a:t>money</a:t>
            </a:r>
            <a:r>
              <a:rPr lang="es-ES" sz="900" b="0" i="0" dirty="0">
                <a:effectLst/>
                <a:latin typeface="Segoe WPC"/>
              </a:rPr>
              <a:t> </a:t>
            </a:r>
            <a:r>
              <a:rPr lang="es-ES" sz="900" b="0" i="0" dirty="0" err="1">
                <a:effectLst/>
                <a:latin typeface="Segoe WPC"/>
              </a:rPr>
              <a:t>markets</a:t>
            </a:r>
            <a:r>
              <a:rPr lang="es-ES" sz="900" b="0" i="0" dirty="0">
                <a:effectLst/>
                <a:latin typeface="Segoe WPC"/>
              </a:rPr>
              <a:t> en EE. UU. usan actual/360.</a:t>
            </a:r>
          </a:p>
        </p:txBody>
      </p:sp>
    </p:spTree>
    <p:extLst>
      <p:ext uri="{BB962C8B-B14F-4D97-AF65-F5344CB8AC3E}">
        <p14:creationId xmlns:p14="http://schemas.microsoft.com/office/powerpoint/2010/main" val="10005711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8269F8-B799-ADBB-1C9C-52FE7904FA18}"/>
              </a:ext>
            </a:extLst>
          </p:cNvPr>
          <p:cNvSpPr>
            <a:spLocks noGrp="1"/>
          </p:cNvSpPr>
          <p:nvPr>
            <p:ph type="title"/>
          </p:nvPr>
        </p:nvSpPr>
        <p:spPr>
          <a:xfrm>
            <a:off x="0" y="89353"/>
            <a:ext cx="10515600" cy="251733"/>
          </a:xfrm>
        </p:spPr>
        <p:txBody>
          <a:bodyPr>
            <a:noAutofit/>
          </a:bodyPr>
          <a:lstStyle/>
          <a:p>
            <a:r>
              <a:rPr lang="en-US" sz="3200" dirty="0"/>
              <a:t>Interest Rates</a:t>
            </a:r>
            <a:endParaRPr lang="es-PE" sz="32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FFD53364-B301-3855-130C-FD0025BA37AD}"/>
                  </a:ext>
                </a:extLst>
              </p:cNvPr>
              <p:cNvSpPr txBox="1"/>
              <p:nvPr/>
            </p:nvSpPr>
            <p:spPr>
              <a:xfrm>
                <a:off x="0" y="505443"/>
                <a:ext cx="6172200" cy="5847113"/>
              </a:xfrm>
              <a:prstGeom prst="rect">
                <a:avLst/>
              </a:prstGeom>
              <a:noFill/>
            </p:spPr>
            <p:txBody>
              <a:bodyPr wrap="square">
                <a:spAutoFit/>
              </a:bodyPr>
              <a:lstStyle/>
              <a:p>
                <a:pPr algn="l">
                  <a:spcBef>
                    <a:spcPts val="300"/>
                  </a:spcBef>
                  <a:spcAft>
                    <a:spcPts val="300"/>
                  </a:spcAft>
                  <a:buFont typeface="+mj-lt"/>
                  <a:buAutoNum type="arabicPeriod"/>
                </a:pPr>
                <a:r>
                  <a:rPr lang="es-PE" sz="900" b="1" i="0" dirty="0">
                    <a:solidFill>
                      <a:schemeClr val="tx1"/>
                    </a:solidFill>
                    <a:effectLst/>
                    <a:latin typeface="Segoe WPC"/>
                  </a:rPr>
                  <a:t>Compounding </a:t>
                </a:r>
                <a:r>
                  <a:rPr lang="es-PE" sz="900" b="1" i="0" dirty="0" err="1">
                    <a:solidFill>
                      <a:schemeClr val="tx1"/>
                    </a:solidFill>
                    <a:effectLst/>
                    <a:latin typeface="Segoe WPC"/>
                  </a:rPr>
                  <a:t>Frequency</a:t>
                </a:r>
                <a:r>
                  <a:rPr lang="es-PE" sz="900" b="1" i="0" dirty="0">
                    <a:solidFill>
                      <a:schemeClr val="tx1"/>
                    </a:solidFill>
                    <a:effectLst/>
                    <a:latin typeface="Segoe WPC"/>
                  </a:rPr>
                  <a:t> and Bond </a:t>
                </a:r>
                <a:r>
                  <a:rPr lang="es-PE" sz="900" b="1" i="0" dirty="0" err="1">
                    <a:solidFill>
                      <a:schemeClr val="tx1"/>
                    </a:solidFill>
                    <a:effectLst/>
                    <a:latin typeface="Segoe WPC"/>
                  </a:rPr>
                  <a:t>Value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Tasa de interés expresada con distinta frecuencia de capitalización.</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misma tasa nominal no vale lo mismo si capitaliza anual, semestral, trimestral o continuamente.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Cuantas más veces capitaliza, más rápido los intereses generan intereses.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𝐹𝑉</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𝐴</m:t>
                    </m:r>
                    <m:sSup>
                      <m:sSupPr>
                        <m:ctrlPr>
                          <a:rPr lang="ar-AE" sz="900" i="1">
                            <a:solidFill>
                              <a:schemeClr val="tx1"/>
                            </a:solidFill>
                            <a:latin typeface="Cambria Math" panose="02040503050406030204" pitchFamily="18" charset="0"/>
                          </a:rPr>
                        </m:ctrlPr>
                      </m:sSupPr>
                      <m:e>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𝑅</m:t>
                                </m:r>
                              </m:num>
                              <m:den>
                                <m:r>
                                  <a:rPr lang="ar-AE" sz="900" i="1">
                                    <a:solidFill>
                                      <a:schemeClr val="tx1"/>
                                    </a:solidFill>
                                    <a:latin typeface="Cambria Math" panose="02040503050406030204" pitchFamily="18" charset="0"/>
                                  </a:rPr>
                                  <m:t>𝑚</m:t>
                                </m:r>
                              </m:den>
                            </m:f>
                          </m:e>
                        </m:d>
                      </m:e>
                      <m:sup>
                        <m:r>
                          <a:rPr lang="ar-AE" sz="900" i="1">
                            <a:solidFill>
                              <a:schemeClr val="tx1"/>
                            </a:solidFill>
                            <a:latin typeface="Cambria Math" panose="02040503050406030204" pitchFamily="18" charset="0"/>
                          </a:rPr>
                          <m:t>𝑚𝑇</m:t>
                        </m:r>
                      </m:sup>
                    </m:sSup>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 mayor frecuencia de </a:t>
                </a:r>
                <a:r>
                  <a:rPr lang="es-PE" sz="900" b="0" i="0" dirty="0" err="1">
                    <a:solidFill>
                      <a:schemeClr val="tx1"/>
                    </a:solidFill>
                    <a:effectLst/>
                    <a:latin typeface="Segoe WPC"/>
                  </a:rPr>
                  <a:t>compounding</a:t>
                </a:r>
                <a:r>
                  <a:rPr lang="es-PE" sz="900" b="0" i="0" dirty="0">
                    <a:solidFill>
                      <a:schemeClr val="tx1"/>
                    </a:solidFill>
                    <a:effectLst/>
                    <a:latin typeface="Segoe WPC"/>
                  </a:rPr>
                  <a:t>, mayor valor futuro y menor valor presente para una misma tasa nominal.</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compares tasas sin igualar la frecuencia de capitalización.</a:t>
                </a:r>
              </a:p>
              <a:p>
                <a:pPr algn="l">
                  <a:spcBef>
                    <a:spcPts val="300"/>
                  </a:spcBef>
                  <a:spcAft>
                    <a:spcPts val="300"/>
                  </a:spcAft>
                  <a:buFont typeface="+mj-lt"/>
                  <a:buAutoNum type="arabicPeriod"/>
                </a:pPr>
                <a:r>
                  <a:rPr lang="es-PE" sz="900" b="1" i="0" dirty="0" err="1">
                    <a:solidFill>
                      <a:schemeClr val="tx1"/>
                    </a:solidFill>
                    <a:effectLst/>
                    <a:latin typeface="Segoe WPC"/>
                  </a:rPr>
                  <a:t>Equivalent</a:t>
                </a:r>
                <a:r>
                  <a:rPr lang="es-PE" sz="900" b="1" i="0" dirty="0">
                    <a:solidFill>
                      <a:schemeClr val="tx1"/>
                    </a:solidFill>
                    <a:effectLst/>
                    <a:latin typeface="Segoe WPC"/>
                  </a:rPr>
                  <a:t> Rates and </a:t>
                </a:r>
                <a:r>
                  <a:rPr lang="es-PE" sz="900" b="1" i="0" dirty="0" err="1">
                    <a:solidFill>
                      <a:schemeClr val="tx1"/>
                    </a:solidFill>
                    <a:effectLst/>
                    <a:latin typeface="Segoe WPC"/>
                  </a:rPr>
                  <a:t>Continuous</a:t>
                </a:r>
                <a:r>
                  <a:rPr lang="es-PE" sz="900" b="1" i="0" dirty="0">
                    <a:solidFill>
                      <a:schemeClr val="tx1"/>
                    </a:solidFill>
                    <a:effectLst/>
                    <a:latin typeface="Segoe WPC"/>
                  </a:rPr>
                  <a:t> </a:t>
                </a:r>
                <a:r>
                  <a:rPr lang="es-PE" sz="900" b="1" i="0" dirty="0" err="1">
                    <a:solidFill>
                      <a:schemeClr val="tx1"/>
                    </a:solidFill>
                    <a:effectLst/>
                    <a:latin typeface="Segoe WPC"/>
                  </a:rPr>
                  <a:t>Compounding</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Conversión entre tasas con distintas convenciones de </a:t>
                </a:r>
                <a:r>
                  <a:rPr lang="es-PE" sz="900" b="0" i="0" dirty="0" err="1">
                    <a:solidFill>
                      <a:schemeClr val="tx1"/>
                    </a:solidFill>
                    <a:effectLst/>
                    <a:latin typeface="Segoe WPC"/>
                  </a:rPr>
                  <a:t>compounding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Dos tasas son equivalentes si producen el mismo valor final para el mismo horizonte.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Cambia la unidad de medida, no el valor económico.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d>
                          <m:dPr>
                            <m:ctrlPr>
                              <a:rPr lang="ar-AE" sz="900" i="1">
                                <a:solidFill>
                                  <a:schemeClr val="tx1"/>
                                </a:solidFill>
                                <a:latin typeface="Cambria Math" panose="02040503050406030204" pitchFamily="18" charset="0"/>
                              </a:rPr>
                            </m:ctrlPr>
                          </m:dPr>
                          <m:e>
                            <m:r>
                              <a:rPr lang="ar-AE" sz="90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0">
                                        <a:solidFill>
                                          <a:schemeClr val="tx1"/>
                                        </a:solidFill>
                                        <a:latin typeface="Cambria Math" panose="02040503050406030204" pitchFamily="18" charset="0"/>
                                      </a:rPr>
                                      <m:t>1</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𝑚</m:t>
                                    </m:r>
                                  </m:e>
                                  <m:sub>
                                    <m:r>
                                      <a:rPr lang="ar-AE" sz="900" i="0">
                                        <a:solidFill>
                                          <a:schemeClr val="tx1"/>
                                        </a:solidFill>
                                        <a:latin typeface="Cambria Math" panose="02040503050406030204" pitchFamily="18" charset="0"/>
                                      </a:rPr>
                                      <m:t>1</m:t>
                                    </m:r>
                                  </m:sub>
                                </m:sSub>
                              </m:den>
                            </m:f>
                          </m:e>
                        </m:d>
                      </m:e>
                      <m:sup>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𝑚</m:t>
                            </m:r>
                          </m:e>
                          <m:sub>
                            <m:r>
                              <a:rPr lang="ar-AE" sz="900" i="0">
                                <a:solidFill>
                                  <a:schemeClr val="tx1"/>
                                </a:solidFill>
                                <a:latin typeface="Cambria Math" panose="02040503050406030204" pitchFamily="18" charset="0"/>
                              </a:rPr>
                              <m:t>1</m:t>
                            </m:r>
                          </m:sub>
                        </m:sSub>
                      </m:sup>
                    </m:sSup>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0">
                                        <a:solidFill>
                                          <a:schemeClr val="tx1"/>
                                        </a:solidFill>
                                        <a:latin typeface="Cambria Math" panose="02040503050406030204" pitchFamily="18" charset="0"/>
                                      </a:rPr>
                                      <m:t>2</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𝑚</m:t>
                                    </m:r>
                                  </m:e>
                                  <m:sub>
                                    <m:r>
                                      <a:rPr lang="ar-AE" sz="900" i="0">
                                        <a:solidFill>
                                          <a:schemeClr val="tx1"/>
                                        </a:solidFill>
                                        <a:latin typeface="Cambria Math" panose="02040503050406030204" pitchFamily="18" charset="0"/>
                                      </a:rPr>
                                      <m:t>2</m:t>
                                    </m:r>
                                  </m:sub>
                                </m:sSub>
                              </m:den>
                            </m:f>
                          </m:e>
                        </m:d>
                      </m:e>
                      <m:sup>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𝑚</m:t>
                            </m:r>
                          </m:e>
                          <m:sub>
                            <m:r>
                              <a:rPr lang="ar-AE" sz="900" i="0">
                                <a:solidFill>
                                  <a:schemeClr val="tx1"/>
                                </a:solidFill>
                                <a:latin typeface="Cambria Math" panose="02040503050406030204" pitchFamily="18" charset="0"/>
                              </a:rPr>
                              <m:t>2</m:t>
                            </m:r>
                          </m:sub>
                        </m:sSub>
                      </m:sup>
                    </m:sSup>
                  </m:oMath>
                </a14:m>
                <a:r>
                  <a:rPr lang="ar-AE" sz="900" b="0" i="0" dirty="0">
                    <a:solidFill>
                      <a:schemeClr val="tx1"/>
                    </a:solidFill>
                    <a:effectLst/>
                    <a:latin typeface="Segoe WPC"/>
                  </a:rPr>
                  <a:t>, </a:t>
                </a:r>
                <a:r>
                  <a:rPr lang="es-PE" sz="900" b="0" i="0" dirty="0">
                    <a:solidFill>
                      <a:schemeClr val="tx1"/>
                    </a:solidFill>
                    <a:effectLst/>
                    <a:latin typeface="Segoe WPC"/>
                  </a:rPr>
                  <a:t>y con capitalización continua </a:t>
                </a:r>
                <a14:m>
                  <m:oMath xmlns:m="http://schemas.openxmlformats.org/officeDocument/2006/math">
                    <m:r>
                      <a:rPr lang="es-PE" sz="900" i="1">
                        <a:solidFill>
                          <a:schemeClr val="tx1"/>
                        </a:solidFill>
                        <a:latin typeface="Cambria Math" panose="02040503050406030204" pitchFamily="18" charset="0"/>
                      </a:rPr>
                      <m:t>𝐹𝑉</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𝐴</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1">
                            <a:solidFill>
                              <a:schemeClr val="tx1"/>
                            </a:solidFill>
                            <a:latin typeface="Cambria Math" panose="02040503050406030204" pitchFamily="18" charset="0"/>
                          </a:rPr>
                          <m:t>𝑅𝑇</m:t>
                        </m:r>
                      </m:sup>
                    </m:sSup>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 capitalización continua es el límite cuando la frecuencia de capitalización tiende a infinito.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Una tasa continua equivalente suele ser menor que su versión nominal con capitalización discreta.</a:t>
                </a:r>
              </a:p>
              <a:p>
                <a:pPr algn="l">
                  <a:spcBef>
                    <a:spcPts val="300"/>
                  </a:spcBef>
                  <a:spcAft>
                    <a:spcPts val="300"/>
                  </a:spcAft>
                  <a:buFont typeface="+mj-lt"/>
                  <a:buAutoNum type="arabicPeriod"/>
                </a:pPr>
                <a:r>
                  <a:rPr lang="es-PE" sz="900" b="1" i="0" dirty="0">
                    <a:solidFill>
                      <a:schemeClr val="tx1"/>
                    </a:solidFill>
                    <a:effectLst/>
                    <a:latin typeface="Segoe WPC"/>
                  </a:rPr>
                  <a:t>Spot Rates and </a:t>
                </a:r>
                <a:r>
                  <a:rPr lang="es-PE" sz="900" b="1" i="0" dirty="0" err="1">
                    <a:solidFill>
                      <a:schemeClr val="tx1"/>
                    </a:solidFill>
                    <a:effectLst/>
                    <a:latin typeface="Segoe WPC"/>
                  </a:rPr>
                  <a:t>Discount</a:t>
                </a:r>
                <a:r>
                  <a:rPr lang="es-PE" sz="900" b="1" i="0" dirty="0">
                    <a:solidFill>
                      <a:schemeClr val="tx1"/>
                    </a:solidFill>
                    <a:effectLst/>
                    <a:latin typeface="Segoe WPC"/>
                  </a:rPr>
                  <a:t> </a:t>
                </a:r>
                <a:r>
                  <a:rPr lang="es-PE" sz="900" b="1" i="0" dirty="0" err="1">
                    <a:solidFill>
                      <a:schemeClr val="tx1"/>
                    </a:solidFill>
                    <a:effectLst/>
                    <a:latin typeface="Segoe WPC"/>
                  </a:rPr>
                  <a:t>Factors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Tasa spot o </a:t>
                </a:r>
                <a:r>
                  <a:rPr lang="es-PE" sz="900" b="0" i="0" dirty="0" err="1">
                    <a:solidFill>
                      <a:schemeClr val="tx1"/>
                    </a:solidFill>
                    <a:effectLst/>
                    <a:latin typeface="Segoe WPC"/>
                  </a:rPr>
                  <a:t>zero</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para un único flujo futuro.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Es la tasa que conecta un pago hoy con un único pago seguro en el futuro.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Cada vencimiento tiene su propia tasa pura sin cupones intermedios.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Con capitalización semestral, </a:t>
                </a:r>
                <a14:m>
                  <m:oMath xmlns:m="http://schemas.openxmlformats.org/officeDocument/2006/math">
                    <m:r>
                      <a:rPr lang="es-PE" sz="900" i="1">
                        <a:solidFill>
                          <a:schemeClr val="tx1"/>
                        </a:solidFill>
                        <a:latin typeface="Cambria Math" panose="02040503050406030204" pitchFamily="18" charset="0"/>
                      </a:rPr>
                      <m:t>𝑑</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𝑡</m:t>
                        </m:r>
                      </m:e>
                    </m:d>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𝑡</m:t>
                                    </m:r>
                                  </m:e>
                                </m:d>
                              </m:num>
                              <m:den>
                                <m:r>
                                  <a:rPr lang="ar-AE" sz="900" i="0">
                                    <a:solidFill>
                                      <a:schemeClr val="tx1"/>
                                    </a:solidFill>
                                    <a:latin typeface="Cambria Math" panose="02040503050406030204" pitchFamily="18" charset="0"/>
                                  </a:rPr>
                                  <m:t>2</m:t>
                                </m:r>
                              </m:den>
                            </m:f>
                          </m:e>
                        </m:d>
                      </m:e>
                      <m:sup>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r>
                          <a:rPr lang="ar-AE" sz="900" i="1">
                            <a:solidFill>
                              <a:schemeClr val="tx1"/>
                            </a:solidFill>
                            <a:latin typeface="Cambria Math" panose="02040503050406030204" pitchFamily="18" charset="0"/>
                          </a:rPr>
                          <m:t>𝑡</m:t>
                        </m:r>
                      </m:sup>
                    </m:sSup>
                  </m:oMath>
                </a14:m>
                <a:r>
                  <a:rPr lang="ar-AE" sz="900" b="0" i="0" dirty="0">
                    <a:solidFill>
                      <a:schemeClr val="tx1"/>
                    </a:solidFill>
                    <a:effectLst/>
                    <a:latin typeface="Segoe WPC"/>
                  </a:rPr>
                  <a:t>; </a:t>
                </a:r>
                <a:r>
                  <a:rPr lang="es-PE" sz="900" b="0" i="0" dirty="0">
                    <a:solidFill>
                      <a:schemeClr val="tx1"/>
                    </a:solidFill>
                    <a:effectLst/>
                    <a:latin typeface="Segoe WPC"/>
                  </a:rPr>
                  <a:t>con capitalización continua, </a:t>
                </a:r>
                <a14:m>
                  <m:oMath xmlns:m="http://schemas.openxmlformats.org/officeDocument/2006/math">
                    <m:r>
                      <a:rPr lang="es-PE" sz="900" i="1">
                        <a:solidFill>
                          <a:schemeClr val="tx1"/>
                        </a:solidFill>
                        <a:latin typeface="Cambria Math" panose="02040503050406030204" pitchFamily="18" charset="0"/>
                      </a:rPr>
                      <m:t>𝑑</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𝑡</m:t>
                        </m:r>
                      </m:e>
                    </m:d>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𝑡</m:t>
                            </m:r>
                          </m:e>
                        </m:d>
                        <m:r>
                          <a:rPr lang="ar-AE" sz="900" i="1">
                            <a:solidFill>
                              <a:schemeClr val="tx1"/>
                            </a:solidFill>
                            <a:latin typeface="Cambria Math" panose="02040503050406030204" pitchFamily="18" charset="0"/>
                          </a:rPr>
                          <m:t>𝑡</m:t>
                        </m:r>
                      </m:sup>
                    </m:sSup>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Spot </a:t>
                </a:r>
                <a:r>
                  <a:rPr lang="es-PE" sz="900" b="0" i="0" dirty="0" err="1">
                    <a:solidFill>
                      <a:schemeClr val="tx1"/>
                    </a:solidFill>
                    <a:effectLst/>
                    <a:latin typeface="Segoe WPC"/>
                  </a:rPr>
                  <a:t>rates</a:t>
                </a:r>
                <a:r>
                  <a:rPr lang="es-PE" sz="900" b="0" i="0" dirty="0">
                    <a:solidFill>
                      <a:schemeClr val="tx1"/>
                    </a:solidFill>
                    <a:effectLst/>
                    <a:latin typeface="Segoe WPC"/>
                  </a:rPr>
                  <a:t> y </a:t>
                </a:r>
                <a:r>
                  <a:rPr lang="es-PE" sz="900" b="0" i="0" dirty="0" err="1">
                    <a:solidFill>
                      <a:schemeClr val="tx1"/>
                    </a:solidFill>
                    <a:effectLst/>
                    <a:latin typeface="Segoe WPC"/>
                  </a:rPr>
                  <a:t>discount</a:t>
                </a:r>
                <a:r>
                  <a:rPr lang="es-PE" sz="900" b="0" i="0" dirty="0">
                    <a:solidFill>
                      <a:schemeClr val="tx1"/>
                    </a:solidFill>
                    <a:effectLst/>
                    <a:latin typeface="Segoe WPC"/>
                  </a:rPr>
                  <a:t> </a:t>
                </a:r>
                <a:r>
                  <a:rPr lang="es-PE" sz="900" b="0" i="0" dirty="0" err="1">
                    <a:solidFill>
                      <a:schemeClr val="tx1"/>
                    </a:solidFill>
                    <a:effectLst/>
                    <a:latin typeface="Segoe WPC"/>
                  </a:rPr>
                  <a:t>factors</a:t>
                </a:r>
                <a:r>
                  <a:rPr lang="es-PE" sz="900" b="0" i="0" dirty="0">
                    <a:solidFill>
                      <a:schemeClr val="tx1"/>
                    </a:solidFill>
                    <a:effectLst/>
                    <a:latin typeface="Segoe WPC"/>
                  </a:rPr>
                  <a:t> contienen la misma información de la estructura temporal.</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confundas spot </a:t>
                </a:r>
                <a:r>
                  <a:rPr lang="es-PE" sz="900" b="0" i="0" dirty="0" err="1">
                    <a:solidFill>
                      <a:schemeClr val="tx1"/>
                    </a:solidFill>
                    <a:effectLst/>
                    <a:latin typeface="Segoe WPC"/>
                  </a:rPr>
                  <a:t>rate</a:t>
                </a:r>
                <a:r>
                  <a:rPr lang="es-PE" sz="900" b="0" i="0" dirty="0">
                    <a:solidFill>
                      <a:schemeClr val="tx1"/>
                    </a:solidFill>
                    <a:effectLst/>
                    <a:latin typeface="Segoe WPC"/>
                  </a:rPr>
                  <a:t> con </a:t>
                </a:r>
                <a:r>
                  <a:rPr lang="es-PE" sz="900" b="0" i="0" dirty="0" err="1">
                    <a:solidFill>
                      <a:schemeClr val="tx1"/>
                    </a:solidFill>
                    <a:effectLst/>
                    <a:latin typeface="Segoe WPC"/>
                  </a:rPr>
                  <a:t>yield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 de un bono con cupones.</a:t>
                </a:r>
              </a:p>
              <a:p>
                <a:pPr algn="l">
                  <a:spcBef>
                    <a:spcPts val="300"/>
                  </a:spcBef>
                  <a:spcAft>
                    <a:spcPts val="300"/>
                  </a:spcAft>
                  <a:buFont typeface="+mj-lt"/>
                  <a:buAutoNum type="arabicPeriod"/>
                </a:pPr>
                <a:r>
                  <a:rPr lang="es-PE" sz="900" b="1" i="0" dirty="0">
                    <a:solidFill>
                      <a:schemeClr val="tx1"/>
                    </a:solidFill>
                    <a:effectLst/>
                    <a:latin typeface="Segoe WPC"/>
                  </a:rPr>
                  <a:t>Par Rates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Tasa cupón que hace que un bono valga exactamente a la par.</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Es el cupón justo que hace que el precio sea 100.</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el cupón coincide con el par </a:t>
                </a:r>
                <a:r>
                  <a:rPr lang="es-PE" sz="900" b="0" i="0" dirty="0" err="1">
                    <a:solidFill>
                      <a:schemeClr val="tx1"/>
                    </a:solidFill>
                    <a:effectLst/>
                    <a:latin typeface="Segoe WPC"/>
                  </a:rPr>
                  <a:t>rate</a:t>
                </a:r>
                <a:r>
                  <a:rPr lang="es-PE" sz="900" b="0" i="0" dirty="0">
                    <a:solidFill>
                      <a:schemeClr val="tx1"/>
                    </a:solidFill>
                    <a:effectLst/>
                    <a:latin typeface="Segoe WPC"/>
                  </a:rPr>
                  <a:t>, el bono no cotiza ni con prima ni con descuento.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𝑝</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2</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100</m:t>
                        </m:r>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𝑑</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𝑇</m:t>
                                </m:r>
                              </m:e>
                            </m:d>
                          </m:e>
                        </m:d>
                      </m:num>
                      <m:den>
                        <m:r>
                          <a:rPr lang="ar-AE" sz="900" i="1">
                            <a:solidFill>
                              <a:schemeClr val="tx1"/>
                            </a:solidFill>
                            <a:latin typeface="Cambria Math" panose="02040503050406030204" pitchFamily="18" charset="0"/>
                          </a:rPr>
                          <m:t>𝐴</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𝑇</m:t>
                            </m:r>
                          </m:e>
                        </m:d>
                      </m:den>
                    </m:f>
                  </m:oMath>
                </a14:m>
                <a:r>
                  <a:rPr lang="ar-AE" sz="900" b="0" i="0" dirty="0">
                    <a:solidFill>
                      <a:schemeClr val="tx1"/>
                    </a:solidFill>
                    <a:effectLst/>
                    <a:latin typeface="Segoe WPC"/>
                  </a:rPr>
                  <a:t>, </a:t>
                </a:r>
                <a:r>
                  <a:rPr lang="es-PE" sz="900" b="0" i="0" dirty="0">
                    <a:solidFill>
                      <a:schemeClr val="tx1"/>
                    </a:solidFill>
                    <a:effectLst/>
                    <a:latin typeface="Segoe WPC"/>
                  </a:rPr>
                  <a:t>donde </a:t>
                </a:r>
                <a14:m>
                  <m:oMath xmlns:m="http://schemas.openxmlformats.org/officeDocument/2006/math">
                    <m:r>
                      <a:rPr lang="es-PE" sz="900" i="1">
                        <a:solidFill>
                          <a:schemeClr val="tx1"/>
                        </a:solidFill>
                        <a:latin typeface="Cambria Math" panose="02040503050406030204" pitchFamily="18" charset="0"/>
                      </a:rPr>
                      <m:t>𝐴</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𝑇</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𝑑</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0</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5</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𝑑</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𝑑</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𝑇</m:t>
                        </m:r>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El par </a:t>
                </a:r>
                <a:r>
                  <a:rPr lang="es-PE" sz="900" b="0" i="0" dirty="0" err="1">
                    <a:solidFill>
                      <a:schemeClr val="tx1"/>
                    </a:solidFill>
                    <a:effectLst/>
                    <a:latin typeface="Segoe WPC"/>
                  </a:rPr>
                  <a:t>rate</a:t>
                </a:r>
                <a:r>
                  <a:rPr lang="es-PE" sz="900" b="0" i="0" dirty="0">
                    <a:solidFill>
                      <a:schemeClr val="tx1"/>
                    </a:solidFill>
                    <a:effectLst/>
                    <a:latin typeface="Segoe WPC"/>
                  </a:rPr>
                  <a:t> depende de todos los </a:t>
                </a:r>
                <a:r>
                  <a:rPr lang="es-PE" sz="900" b="0" i="0" dirty="0" err="1">
                    <a:solidFill>
                      <a:schemeClr val="tx1"/>
                    </a:solidFill>
                    <a:effectLst/>
                    <a:latin typeface="Segoe WPC"/>
                  </a:rPr>
                  <a:t>discount</a:t>
                </a:r>
                <a:r>
                  <a:rPr lang="es-PE" sz="900" b="0" i="0" dirty="0">
                    <a:solidFill>
                      <a:schemeClr val="tx1"/>
                    </a:solidFill>
                    <a:effectLst/>
                    <a:latin typeface="Segoe WPC"/>
                  </a:rPr>
                  <a:t> </a:t>
                </a:r>
                <a:r>
                  <a:rPr lang="es-PE" sz="900" b="0" i="0" dirty="0" err="1">
                    <a:solidFill>
                      <a:schemeClr val="tx1"/>
                    </a:solidFill>
                    <a:effectLst/>
                    <a:latin typeface="Segoe WPC"/>
                  </a:rPr>
                  <a:t>factors</a:t>
                </a:r>
                <a:r>
                  <a:rPr lang="es-PE" sz="900" b="0" i="0" dirty="0">
                    <a:solidFill>
                      <a:schemeClr val="tx1"/>
                    </a:solidFill>
                    <a:effectLst/>
                    <a:latin typeface="Segoe WPC"/>
                  </a:rPr>
                  <a:t> hasta el vencimiento.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asumir que el par </a:t>
                </a:r>
                <a:r>
                  <a:rPr lang="es-PE" sz="900" b="0" i="0" dirty="0" err="1">
                    <a:solidFill>
                      <a:schemeClr val="tx1"/>
                    </a:solidFill>
                    <a:effectLst/>
                    <a:latin typeface="Segoe WPC"/>
                  </a:rPr>
                  <a:t>rate</a:t>
                </a:r>
                <a:r>
                  <a:rPr lang="es-PE" sz="900" b="0" i="0" dirty="0">
                    <a:solidFill>
                      <a:schemeClr val="tx1"/>
                    </a:solidFill>
                    <a:effectLst/>
                    <a:latin typeface="Segoe WPC"/>
                  </a:rPr>
                  <a:t> es igual al spot </a:t>
                </a:r>
                <a:r>
                  <a:rPr lang="es-PE" sz="900" b="0" i="0" dirty="0" err="1">
                    <a:solidFill>
                      <a:schemeClr val="tx1"/>
                    </a:solidFill>
                    <a:effectLst/>
                    <a:latin typeface="Segoe WPC"/>
                  </a:rPr>
                  <a:t>rate</a:t>
                </a:r>
                <a:r>
                  <a:rPr lang="es-PE" sz="900" b="0" i="0" dirty="0">
                    <a:solidFill>
                      <a:schemeClr val="tx1"/>
                    </a:solidFill>
                    <a:effectLst/>
                    <a:latin typeface="Segoe WPC"/>
                  </a:rPr>
                  <a:t> del mismo plazo, salvo si la curva es plana.</a:t>
                </a:r>
              </a:p>
              <a:p>
                <a:pPr algn="l">
                  <a:spcBef>
                    <a:spcPts val="300"/>
                  </a:spcBef>
                  <a:spcAft>
                    <a:spcPts val="300"/>
                  </a:spcAft>
                  <a:buFont typeface="+mj-lt"/>
                  <a:buAutoNum type="arabicPeriod"/>
                </a:pPr>
                <a:r>
                  <a:rPr lang="es-PE" sz="900" b="1" i="0" dirty="0">
                    <a:solidFill>
                      <a:schemeClr val="tx1"/>
                    </a:solidFill>
                    <a:effectLst/>
                    <a:latin typeface="Segoe WPC"/>
                  </a:rPr>
                  <a:t>Bond </a:t>
                </a:r>
                <a:r>
                  <a:rPr lang="es-PE" sz="900" b="1" i="0" dirty="0" err="1">
                    <a:solidFill>
                      <a:schemeClr val="tx1"/>
                    </a:solidFill>
                    <a:effectLst/>
                    <a:latin typeface="Segoe WPC"/>
                  </a:rPr>
                  <a:t>Pricing</a:t>
                </a:r>
                <a:r>
                  <a:rPr lang="es-PE" sz="900" b="1" i="0" dirty="0">
                    <a:solidFill>
                      <a:schemeClr val="tx1"/>
                    </a:solidFill>
                    <a:effectLst/>
                    <a:latin typeface="Segoe WPC"/>
                  </a:rPr>
                  <a:t> </a:t>
                </a:r>
                <a:r>
                  <a:rPr lang="es-PE" sz="900" b="1" i="0" dirty="0" err="1">
                    <a:solidFill>
                      <a:schemeClr val="tx1"/>
                    </a:solidFill>
                    <a:effectLst/>
                    <a:latin typeface="Segoe WPC"/>
                  </a:rPr>
                  <a:t>with</a:t>
                </a:r>
                <a:r>
                  <a:rPr lang="es-PE" sz="900" b="1" i="0" dirty="0">
                    <a:solidFill>
                      <a:schemeClr val="tx1"/>
                    </a:solidFill>
                    <a:effectLst/>
                    <a:latin typeface="Segoe WPC"/>
                  </a:rPr>
                  <a:t> Par </a:t>
                </a:r>
                <a:r>
                  <a:rPr lang="es-PE" sz="900" b="1" i="0" dirty="0" err="1">
                    <a:solidFill>
                      <a:schemeClr val="tx1"/>
                    </a:solidFill>
                    <a:effectLst/>
                    <a:latin typeface="Segoe WPC"/>
                  </a:rPr>
                  <a:t>Rate</a:t>
                </a:r>
                <a:r>
                  <a:rPr lang="es-PE" sz="900" b="1" i="0" dirty="0">
                    <a:solidFill>
                      <a:schemeClr val="tx1"/>
                    </a:solidFill>
                    <a:effectLst/>
                    <a:latin typeface="Segoe WPC"/>
                  </a:rPr>
                  <a:t> and </a:t>
                </a:r>
                <a:r>
                  <a:rPr lang="es-PE" sz="900" b="1" i="0" dirty="0" err="1">
                    <a:solidFill>
                      <a:schemeClr val="tx1"/>
                    </a:solidFill>
                    <a:effectLst/>
                    <a:latin typeface="Segoe WPC"/>
                  </a:rPr>
                  <a:t>Maturity</a:t>
                </a:r>
                <a:r>
                  <a:rPr lang="es-PE" sz="900" b="1" i="0" dirty="0">
                    <a:solidFill>
                      <a:schemeClr val="tx1"/>
                    </a:solidFill>
                    <a:effectLst/>
                    <a:latin typeface="Segoe WPC"/>
                  </a:rPr>
                  <a:t> </a:t>
                </a:r>
                <a:r>
                  <a:rPr lang="es-PE" sz="900" b="1" i="0" dirty="0" err="1">
                    <a:solidFill>
                      <a:schemeClr val="tx1"/>
                    </a:solidFill>
                    <a:effectLst/>
                    <a:latin typeface="Segoe WPC"/>
                  </a:rPr>
                  <a:t>Effect</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Relación entre cupón, par </a:t>
                </a:r>
                <a:r>
                  <a:rPr lang="es-PE" sz="900" b="0" i="0" dirty="0" err="1">
                    <a:solidFill>
                      <a:schemeClr val="tx1"/>
                    </a:solidFill>
                    <a:effectLst/>
                    <a:latin typeface="Segoe WPC"/>
                  </a:rPr>
                  <a:t>rate</a:t>
                </a:r>
                <a:r>
                  <a:rPr lang="es-PE" sz="900" b="0" i="0" dirty="0">
                    <a:solidFill>
                      <a:schemeClr val="tx1"/>
                    </a:solidFill>
                    <a:effectLst/>
                    <a:latin typeface="Segoe WPC"/>
                  </a:rPr>
                  <a:t> y precio del bono.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el cupón es mayor que el par </a:t>
                </a:r>
                <a:r>
                  <a:rPr lang="es-PE" sz="900" b="0" i="0" dirty="0" err="1">
                    <a:solidFill>
                      <a:schemeClr val="tx1"/>
                    </a:solidFill>
                    <a:effectLst/>
                    <a:latin typeface="Segoe WPC"/>
                  </a:rPr>
                  <a:t>rate</a:t>
                </a:r>
                <a:r>
                  <a:rPr lang="es-PE" sz="900" b="0" i="0" dirty="0">
                    <a:solidFill>
                      <a:schemeClr val="tx1"/>
                    </a:solidFill>
                    <a:effectLst/>
                    <a:latin typeface="Segoe WPC"/>
                  </a:rPr>
                  <a:t>, el bono vale sobre par; si es menor, bajo par.</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bono va “rodando” por la curva conforme pasa el tiempo.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𝑉</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100</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𝑐</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num>
                      <m:den>
                        <m:r>
                          <a:rPr lang="ar-AE" sz="900" i="0">
                            <a:solidFill>
                              <a:schemeClr val="tx1"/>
                            </a:solidFill>
                            <a:latin typeface="Cambria Math" panose="02040503050406030204" pitchFamily="18" charset="0"/>
                          </a:rPr>
                          <m:t>2</m:t>
                        </m:r>
                      </m:den>
                    </m:f>
                    <m:r>
                      <a:rPr lang="ar-AE" sz="900" i="1">
                        <a:solidFill>
                          <a:schemeClr val="tx1"/>
                        </a:solidFill>
                        <a:latin typeface="Cambria Math" panose="02040503050406030204" pitchFamily="18" charset="0"/>
                      </a:rPr>
                      <m:t>𝐴</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𝑇</m:t>
                        </m:r>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Aun si la curva no cambia, el precio del bono cambia porque cambia su time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pensar que precio constante implica curva constante.</a:t>
                </a:r>
              </a:p>
            </p:txBody>
          </p:sp>
        </mc:Choice>
        <mc:Fallback xmlns="">
          <p:sp>
            <p:nvSpPr>
              <p:cNvPr id="5" name="CuadroTexto 4">
                <a:extLst>
                  <a:ext uri="{FF2B5EF4-FFF2-40B4-BE49-F238E27FC236}">
                    <a16:creationId xmlns:a16="http://schemas.microsoft.com/office/drawing/2014/main" id="{FFD53364-B301-3855-130C-FD0025BA37AD}"/>
                  </a:ext>
                </a:extLst>
              </p:cNvPr>
              <p:cNvSpPr txBox="1">
                <a:spLocks noRot="1" noChangeAspect="1" noMove="1" noResize="1" noEditPoints="1" noAdjustHandles="1" noChangeArrowheads="1" noChangeShapeType="1" noTextEdit="1"/>
              </p:cNvSpPr>
              <p:nvPr/>
            </p:nvSpPr>
            <p:spPr>
              <a:xfrm>
                <a:off x="0" y="505443"/>
                <a:ext cx="6172200" cy="5847113"/>
              </a:xfrm>
              <a:prstGeom prst="rect">
                <a:avLst/>
              </a:prstGeom>
              <a:blipFill>
                <a:blip r:embed="rId2"/>
                <a:stretch>
                  <a:fillRect t="-313"/>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5EDDEF8C-0F8B-C7F5-4DEA-41C9414F23D0}"/>
                  </a:ext>
                </a:extLst>
              </p:cNvPr>
              <p:cNvSpPr txBox="1"/>
              <p:nvPr/>
            </p:nvSpPr>
            <p:spPr>
              <a:xfrm>
                <a:off x="6019800" y="462546"/>
                <a:ext cx="6172200" cy="5932906"/>
              </a:xfrm>
              <a:prstGeom prst="rect">
                <a:avLst/>
              </a:prstGeom>
              <a:noFill/>
            </p:spPr>
            <p:txBody>
              <a:bodyPr wrap="square">
                <a:spAutoFit/>
              </a:bodyPr>
              <a:lstStyle/>
              <a:p>
                <a:pPr algn="l">
                  <a:spcBef>
                    <a:spcPts val="300"/>
                  </a:spcBef>
                  <a:spcAft>
                    <a:spcPts val="300"/>
                  </a:spcAft>
                  <a:buFont typeface="+mj-lt"/>
                  <a:buAutoNum type="arabicPeriod"/>
                </a:pPr>
                <a:r>
                  <a:rPr lang="es-PE" sz="900" b="1" i="0" dirty="0">
                    <a:solidFill>
                      <a:schemeClr val="tx1"/>
                    </a:solidFill>
                    <a:effectLst/>
                    <a:latin typeface="Segoe WPC"/>
                  </a:rPr>
                  <a:t>Forward Rates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Tasas futuras implícitas en la curva spot actual.</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Es la tasa que hoy queda implícitamente fijada para un período futuro.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curva spot puede descomponerse en una secuencia de forwards.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Con capitalización continua, </a:t>
                </a:r>
                <a14:m>
                  <m:oMath xmlns:m="http://schemas.openxmlformats.org/officeDocument/2006/math">
                    <m:r>
                      <a:rPr lang="es-PE" sz="900" i="1">
                        <a:solidFill>
                          <a:schemeClr val="tx1"/>
                        </a:solidFill>
                        <a:latin typeface="Cambria Math" panose="02040503050406030204" pitchFamily="18" charset="0"/>
                      </a:rPr>
                      <m:t>𝐹</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0">
                                <a:solidFill>
                                  <a:schemeClr val="tx1"/>
                                </a:solidFill>
                                <a:latin typeface="Cambria Math" panose="02040503050406030204" pitchFamily="18" charset="0"/>
                              </a:rPr>
                              <m:t>2</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𝑇</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0">
                                <a:solidFill>
                                  <a:schemeClr val="tx1"/>
                                </a:solidFill>
                                <a:latin typeface="Cambria Math" panose="02040503050406030204" pitchFamily="18" charset="0"/>
                              </a:rPr>
                              <m:t>1</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𝑇</m:t>
                            </m:r>
                          </m:e>
                          <m:sub>
                            <m:r>
                              <a:rPr lang="ar-AE" sz="900" i="0">
                                <a:solidFill>
                                  <a:schemeClr val="tx1"/>
                                </a:solidFill>
                                <a:latin typeface="Cambria Math" panose="02040503050406030204" pitchFamily="18" charset="0"/>
                              </a:rPr>
                              <m:t>1</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𝑇</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𝑇</m:t>
                            </m:r>
                          </m:e>
                          <m:sub>
                            <m:r>
                              <a:rPr lang="ar-AE" sz="900" i="0">
                                <a:solidFill>
                                  <a:schemeClr val="tx1"/>
                                </a:solidFill>
                                <a:latin typeface="Cambria Math" panose="02040503050406030204" pitchFamily="18" charset="0"/>
                              </a:rPr>
                              <m:t>1</m:t>
                            </m:r>
                          </m:sub>
                        </m:sSub>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 forward </a:t>
                </a:r>
                <a:r>
                  <a:rPr lang="es-PE" sz="900" b="0" i="0" dirty="0" err="1">
                    <a:solidFill>
                      <a:schemeClr val="tx1"/>
                    </a:solidFill>
                    <a:effectLst/>
                    <a:latin typeface="Segoe WPC"/>
                  </a:rPr>
                  <a:t>rate</a:t>
                </a:r>
                <a:r>
                  <a:rPr lang="es-PE" sz="900" b="0" i="0" dirty="0">
                    <a:solidFill>
                      <a:schemeClr val="tx1"/>
                    </a:solidFill>
                    <a:effectLst/>
                    <a:latin typeface="Segoe WPC"/>
                  </a:rPr>
                  <a:t> es una tasa sin arbitraje implícita en las tasas spot.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interpretarla automáticamente como predicción pura del mercado.</a:t>
                </a:r>
              </a:p>
              <a:p>
                <a:pPr algn="l">
                  <a:spcBef>
                    <a:spcPts val="300"/>
                  </a:spcBef>
                  <a:spcAft>
                    <a:spcPts val="300"/>
                  </a:spcAft>
                  <a:buFont typeface="+mj-lt"/>
                  <a:buAutoNum type="arabicPeriod"/>
                </a:pPr>
                <a:r>
                  <a:rPr lang="es-PE" sz="900" b="1" i="0" dirty="0">
                    <a:solidFill>
                      <a:schemeClr val="tx1"/>
                    </a:solidFill>
                    <a:effectLst/>
                    <a:latin typeface="Segoe WPC"/>
                  </a:rPr>
                  <a:t>Spot, Forward and Par </a:t>
                </a:r>
                <a:r>
                  <a:rPr lang="es-PE" sz="900" b="1" i="0" dirty="0" err="1">
                    <a:solidFill>
                      <a:schemeClr val="tx1"/>
                    </a:solidFill>
                    <a:effectLst/>
                    <a:latin typeface="Segoe WPC"/>
                  </a:rPr>
                  <a:t>Rate</a:t>
                </a:r>
                <a:r>
                  <a:rPr lang="es-PE" sz="900" b="1" i="0" dirty="0">
                    <a:solidFill>
                      <a:schemeClr val="tx1"/>
                    </a:solidFill>
                    <a:effectLst/>
                    <a:latin typeface="Segoe WPC"/>
                  </a:rPr>
                  <a:t> </a:t>
                </a:r>
                <a:r>
                  <a:rPr lang="es-PE" sz="900" b="1" i="0" dirty="0" err="1">
                    <a:solidFill>
                      <a:schemeClr val="tx1"/>
                    </a:solidFill>
                    <a:effectLst/>
                    <a:latin typeface="Segoe WPC"/>
                  </a:rPr>
                  <a:t>Relationships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Relación entre spot </a:t>
                </a:r>
                <a:r>
                  <a:rPr lang="es-PE" sz="900" b="0" i="0" dirty="0" err="1">
                    <a:solidFill>
                      <a:schemeClr val="tx1"/>
                    </a:solidFill>
                    <a:effectLst/>
                    <a:latin typeface="Segoe WPC"/>
                  </a:rPr>
                  <a:t>rates</a:t>
                </a:r>
                <a:r>
                  <a:rPr lang="es-PE" sz="900" b="0" i="0" dirty="0">
                    <a:solidFill>
                      <a:schemeClr val="tx1"/>
                    </a:solidFill>
                    <a:effectLst/>
                    <a:latin typeface="Segoe WPC"/>
                  </a:rPr>
                  <a:t>, forward </a:t>
                </a:r>
                <a:r>
                  <a:rPr lang="es-PE" sz="900" b="0" i="0" dirty="0" err="1">
                    <a:solidFill>
                      <a:schemeClr val="tx1"/>
                    </a:solidFill>
                    <a:effectLst/>
                    <a:latin typeface="Segoe WPC"/>
                  </a:rPr>
                  <a:t>rates</a:t>
                </a:r>
                <a:r>
                  <a:rPr lang="es-PE" sz="900" b="0" i="0" dirty="0">
                    <a:solidFill>
                      <a:schemeClr val="tx1"/>
                    </a:solidFill>
                    <a:effectLst/>
                    <a:latin typeface="Segoe WPC"/>
                  </a:rPr>
                  <a:t> y par </a:t>
                </a:r>
                <a:r>
                  <a:rPr lang="es-PE" sz="900" b="0" i="0" dirty="0" err="1">
                    <a:solidFill>
                      <a:schemeClr val="tx1"/>
                    </a:solidFill>
                    <a:effectLst/>
                    <a:latin typeface="Segoe WPC"/>
                  </a:rPr>
                  <a:t>rates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forma de la curva determina cómo se ordenan entre sí estas tasas.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curva ascendente, los forwards suelen quedar arriba y los par </a:t>
                </a:r>
                <a:r>
                  <a:rPr lang="es-PE" sz="900" b="0" i="0" dirty="0" err="1">
                    <a:solidFill>
                      <a:schemeClr val="tx1"/>
                    </a:solidFill>
                    <a:effectLst/>
                    <a:latin typeface="Segoe WPC"/>
                  </a:rPr>
                  <a:t>rates</a:t>
                </a:r>
                <a:r>
                  <a:rPr lang="es-PE" sz="900" b="0" i="0" dirty="0">
                    <a:solidFill>
                      <a:schemeClr val="tx1"/>
                    </a:solidFill>
                    <a:effectLst/>
                    <a:latin typeface="Segoe WPC"/>
                  </a:rPr>
                  <a:t> en el medio.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Si la curva es plana, entonces </a:t>
                </a:r>
                <a14:m>
                  <m:oMath xmlns:m="http://schemas.openxmlformats.org/officeDocument/2006/math">
                    <m:r>
                      <a:rPr lang="es-PE" sz="900" i="1">
                        <a:solidFill>
                          <a:schemeClr val="tx1"/>
                        </a:solidFill>
                        <a:latin typeface="Cambria Math" panose="02040503050406030204" pitchFamily="18" charset="0"/>
                      </a:rPr>
                      <m:t>𝑠𝑝𝑜𝑡</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𝑓𝑜𝑟𝑤𝑎𝑟𝑑</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𝑝𝑎𝑟</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En una curva </a:t>
                </a:r>
                <a:r>
                  <a:rPr lang="es-PE" sz="900" b="0" i="0" dirty="0" err="1">
                    <a:solidFill>
                      <a:schemeClr val="tx1"/>
                    </a:solidFill>
                    <a:effectLst/>
                    <a:latin typeface="Segoe WPC"/>
                  </a:rPr>
                  <a:t>upward-sloping</a:t>
                </a:r>
                <a:r>
                  <a:rPr lang="es-PE" sz="900" b="0" i="0" dirty="0">
                    <a:solidFill>
                      <a:schemeClr val="tx1"/>
                    </a:solidFill>
                    <a:effectLst/>
                    <a:latin typeface="Segoe WPC"/>
                  </a:rPr>
                  <a:t>, los forwards futuros son mayores y el par </a:t>
                </a:r>
                <a:r>
                  <a:rPr lang="es-PE" sz="900" b="0" i="0" dirty="0" err="1">
                    <a:solidFill>
                      <a:schemeClr val="tx1"/>
                    </a:solidFill>
                    <a:effectLst/>
                    <a:latin typeface="Segoe WPC"/>
                  </a:rPr>
                  <a:t>rate</a:t>
                </a:r>
                <a:r>
                  <a:rPr lang="es-PE" sz="900" b="0" i="0" dirty="0">
                    <a:solidFill>
                      <a:schemeClr val="tx1"/>
                    </a:solidFill>
                    <a:effectLst/>
                    <a:latin typeface="Segoe WPC"/>
                  </a:rPr>
                  <a:t> suele quedar por debajo del spot largo.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memorices relaciones aisladas sin mirar la pendiente de la curva.</a:t>
                </a:r>
              </a:p>
              <a:p>
                <a:pPr algn="l">
                  <a:spcBef>
                    <a:spcPts val="300"/>
                  </a:spcBef>
                  <a:spcAft>
                    <a:spcPts val="300"/>
                  </a:spcAft>
                  <a:buFont typeface="+mj-lt"/>
                  <a:buAutoNum type="arabicPeriod"/>
                </a:pPr>
                <a:r>
                  <a:rPr lang="es-PE" sz="900" b="1" i="0" dirty="0" err="1">
                    <a:solidFill>
                      <a:schemeClr val="tx1"/>
                    </a:solidFill>
                    <a:effectLst/>
                    <a:latin typeface="Segoe WPC"/>
                  </a:rPr>
                  <a:t>Flattening</a:t>
                </a:r>
                <a:r>
                  <a:rPr lang="es-PE" sz="900" b="1" i="0" dirty="0">
                    <a:solidFill>
                      <a:schemeClr val="tx1"/>
                    </a:solidFill>
                    <a:effectLst/>
                    <a:latin typeface="Segoe WPC"/>
                  </a:rPr>
                  <a:t> and </a:t>
                </a:r>
                <a:r>
                  <a:rPr lang="es-PE" sz="900" b="1" i="0" dirty="0" err="1">
                    <a:solidFill>
                      <a:schemeClr val="tx1"/>
                    </a:solidFill>
                    <a:effectLst/>
                    <a:latin typeface="Segoe WPC"/>
                  </a:rPr>
                  <a:t>Steepening</a:t>
                </a:r>
                <a:r>
                  <a:rPr lang="es-PE" sz="900" b="1" i="0" dirty="0">
                    <a:solidFill>
                      <a:schemeClr val="tx1"/>
                    </a:solidFill>
                    <a:effectLst/>
                    <a:latin typeface="Segoe WPC"/>
                  </a:rPr>
                  <a:t> </a:t>
                </a:r>
                <a:r>
                  <a:rPr lang="es-PE" sz="900" b="1" i="0" dirty="0" err="1">
                    <a:solidFill>
                      <a:schemeClr val="tx1"/>
                    </a:solidFill>
                    <a:effectLst/>
                    <a:latin typeface="Segoe WPC"/>
                  </a:rPr>
                  <a:t>Trades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Cambios relativos entre tasas cortas y largas en la curva.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Flattening</a:t>
                </a:r>
                <a:r>
                  <a:rPr lang="es-PE" sz="900" b="0" i="0" dirty="0">
                    <a:solidFill>
                      <a:schemeClr val="tx1"/>
                    </a:solidFill>
                    <a:effectLst/>
                    <a:latin typeface="Segoe WPC"/>
                  </a:rPr>
                  <a:t> significa que cae el spread entre tasas largas y cortas; </a:t>
                </a:r>
                <a:r>
                  <a:rPr lang="es-PE" sz="900" b="0" i="0" dirty="0" err="1">
                    <a:solidFill>
                      <a:schemeClr val="tx1"/>
                    </a:solidFill>
                    <a:effectLst/>
                    <a:latin typeface="Segoe WPC"/>
                  </a:rPr>
                  <a:t>steepening</a:t>
                </a:r>
                <a:r>
                  <a:rPr lang="es-PE" sz="900" b="0" i="0" dirty="0">
                    <a:solidFill>
                      <a:schemeClr val="tx1"/>
                    </a:solidFill>
                    <a:effectLst/>
                    <a:latin typeface="Segoe WPC"/>
                  </a:rPr>
                  <a:t> significa que ese spread sube.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curva puede aplanarse o empinarse aunque ambos extremos suban o ambos bajen.</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𝑠𝑝𝑟𝑒𝑎𝑑</m:t>
                    </m:r>
                    <m:r>
                      <a:rPr lang="es-P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𝑦</m:t>
                        </m:r>
                      </m:e>
                      <m:sub>
                        <m:r>
                          <a:rPr lang="ar-AE" sz="900" i="1">
                            <a:solidFill>
                              <a:schemeClr val="tx1"/>
                            </a:solidFill>
                            <a:latin typeface="Cambria Math" panose="02040503050406030204" pitchFamily="18" charset="0"/>
                          </a:rPr>
                          <m:t>𝑙𝑜𝑛𝑔</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𝑦</m:t>
                        </m:r>
                      </m:e>
                      <m:sub>
                        <m:r>
                          <a:rPr lang="ar-AE" sz="900" i="1">
                            <a:solidFill>
                              <a:schemeClr val="tx1"/>
                            </a:solidFill>
                            <a:latin typeface="Cambria Math" panose="02040503050406030204" pitchFamily="18" charset="0"/>
                          </a:rPr>
                          <m:t>𝑠</m:t>
                        </m:r>
                        <m:r>
                          <a:rPr lang="ar-AE" sz="900" i="1">
                            <a:solidFill>
                              <a:schemeClr val="tx1"/>
                            </a:solidFill>
                            <a:latin typeface="Cambria Math" panose="02040503050406030204" pitchFamily="18" charset="0"/>
                          </a:rPr>
                          <m:t>h</m:t>
                        </m:r>
                        <m:r>
                          <a:rPr lang="ar-AE" sz="900" i="1">
                            <a:solidFill>
                              <a:schemeClr val="tx1"/>
                            </a:solidFill>
                            <a:latin typeface="Cambria Math" panose="02040503050406030204" pitchFamily="18" charset="0"/>
                          </a:rPr>
                          <m:t>𝑜𝑟𝑡</m:t>
                        </m:r>
                      </m:sub>
                    </m:sSub>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Si esperas </a:t>
                </a:r>
                <a:r>
                  <a:rPr lang="es-PE" sz="900" b="0" i="0" dirty="0" err="1">
                    <a:solidFill>
                      <a:schemeClr val="tx1"/>
                    </a:solidFill>
                    <a:effectLst/>
                    <a:latin typeface="Segoe WPC"/>
                  </a:rPr>
                  <a:t>steepening</a:t>
                </a:r>
                <a:r>
                  <a:rPr lang="es-PE" sz="900" b="0" i="0" dirty="0">
                    <a:solidFill>
                      <a:schemeClr val="tx1"/>
                    </a:solidFill>
                    <a:effectLst/>
                    <a:latin typeface="Segoe WPC"/>
                  </a:rPr>
                  <a:t>, sueles </a:t>
                </a:r>
                <a:r>
                  <a:rPr lang="es-PE" sz="900" b="0" i="0" dirty="0" err="1">
                    <a:solidFill>
                      <a:schemeClr val="tx1"/>
                    </a:solidFill>
                    <a:effectLst/>
                    <a:latin typeface="Segoe WPC"/>
                  </a:rPr>
                  <a:t>shortear</a:t>
                </a:r>
                <a:r>
                  <a:rPr lang="es-PE" sz="900" b="0" i="0" dirty="0">
                    <a:solidFill>
                      <a:schemeClr val="tx1"/>
                    </a:solidFill>
                    <a:effectLst/>
                    <a:latin typeface="Segoe WPC"/>
                  </a:rPr>
                  <a:t> bonos largos y comprar bonos más cortos; si esperas </a:t>
                </a:r>
                <a:r>
                  <a:rPr lang="es-PE" sz="900" b="0" i="0" dirty="0" err="1">
                    <a:solidFill>
                      <a:schemeClr val="tx1"/>
                    </a:solidFill>
                    <a:effectLst/>
                    <a:latin typeface="Segoe WPC"/>
                  </a:rPr>
                  <a:t>flattening</a:t>
                </a:r>
                <a:r>
                  <a:rPr lang="es-PE" sz="900" b="0" i="0" dirty="0">
                    <a:solidFill>
                      <a:schemeClr val="tx1"/>
                    </a:solidFill>
                    <a:effectLst/>
                    <a:latin typeface="Segoe WPC"/>
                  </a:rPr>
                  <a:t>, haces lo contrario.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confundas </a:t>
                </a:r>
                <a:r>
                  <a:rPr lang="es-PE" sz="900" b="0" i="0" dirty="0" err="1">
                    <a:solidFill>
                      <a:schemeClr val="tx1"/>
                    </a:solidFill>
                    <a:effectLst/>
                    <a:latin typeface="Segoe WPC"/>
                  </a:rPr>
                  <a:t>bull</a:t>
                </a:r>
                <a:r>
                  <a:rPr lang="es-PE" sz="900" b="0" i="0" dirty="0">
                    <a:solidFill>
                      <a:schemeClr val="tx1"/>
                    </a:solidFill>
                    <a:effectLst/>
                    <a:latin typeface="Segoe WPC"/>
                  </a:rPr>
                  <a:t> </a:t>
                </a:r>
                <a:r>
                  <a:rPr lang="es-PE" sz="900" b="0" i="0" dirty="0" err="1">
                    <a:solidFill>
                      <a:schemeClr val="tx1"/>
                    </a:solidFill>
                    <a:effectLst/>
                    <a:latin typeface="Segoe WPC"/>
                  </a:rPr>
                  <a:t>flattener</a:t>
                </a:r>
                <a:r>
                  <a:rPr lang="es-PE" sz="900" b="0" i="0" dirty="0">
                    <a:solidFill>
                      <a:schemeClr val="tx1"/>
                    </a:solidFill>
                    <a:effectLst/>
                    <a:latin typeface="Segoe WPC"/>
                  </a:rPr>
                  <a:t> con </a:t>
                </a:r>
                <a:r>
                  <a:rPr lang="es-PE" sz="900" b="0" i="0" dirty="0" err="1">
                    <a:solidFill>
                      <a:schemeClr val="tx1"/>
                    </a:solidFill>
                    <a:effectLst/>
                    <a:latin typeface="Segoe WPC"/>
                  </a:rPr>
                  <a:t>bear</a:t>
                </a:r>
                <a:r>
                  <a:rPr lang="es-PE" sz="900" b="0" i="0" dirty="0">
                    <a:solidFill>
                      <a:schemeClr val="tx1"/>
                    </a:solidFill>
                    <a:effectLst/>
                    <a:latin typeface="Segoe WPC"/>
                  </a:rPr>
                  <a:t> </a:t>
                </a:r>
                <a:r>
                  <a:rPr lang="es-PE" sz="900" b="0" i="0" dirty="0" err="1">
                    <a:solidFill>
                      <a:schemeClr val="tx1"/>
                    </a:solidFill>
                    <a:effectLst/>
                    <a:latin typeface="Segoe WPC"/>
                  </a:rPr>
                  <a:t>flattener</a:t>
                </a:r>
                <a:r>
                  <a:rPr lang="es-PE" sz="900" b="0" i="0" dirty="0">
                    <a:solidFill>
                      <a:schemeClr val="tx1"/>
                    </a:solidFill>
                    <a:effectLst/>
                    <a:latin typeface="Segoe WPC"/>
                  </a:rPr>
                  <a:t>.</a:t>
                </a:r>
              </a:p>
              <a:p>
                <a:pPr algn="l">
                  <a:spcBef>
                    <a:spcPts val="300"/>
                  </a:spcBef>
                  <a:spcAft>
                    <a:spcPts val="300"/>
                  </a:spcAft>
                  <a:buFont typeface="+mj-lt"/>
                  <a:buAutoNum type="arabicPeriod"/>
                </a:pPr>
                <a:r>
                  <a:rPr lang="es-PE" sz="900" b="1" i="0" dirty="0">
                    <a:solidFill>
                      <a:schemeClr val="tx1"/>
                    </a:solidFill>
                    <a:effectLst/>
                    <a:latin typeface="Segoe WPC"/>
                  </a:rPr>
                  <a:t>Trading </a:t>
                </a:r>
                <a:r>
                  <a:rPr lang="es-PE" sz="900" b="1" i="0" dirty="0" err="1">
                    <a:solidFill>
                      <a:schemeClr val="tx1"/>
                    </a:solidFill>
                    <a:effectLst/>
                    <a:latin typeface="Segoe WPC"/>
                  </a:rPr>
                  <a:t>with</a:t>
                </a:r>
                <a:r>
                  <a:rPr lang="es-PE" sz="900" b="1" i="0" dirty="0">
                    <a:solidFill>
                      <a:schemeClr val="tx1"/>
                    </a:solidFill>
                    <a:effectLst/>
                    <a:latin typeface="Segoe WPC"/>
                  </a:rPr>
                  <a:t> Forward </a:t>
                </a:r>
                <a:r>
                  <a:rPr lang="es-PE" sz="900" b="1" i="0" dirty="0" err="1">
                    <a:solidFill>
                      <a:schemeClr val="tx1"/>
                    </a:solidFill>
                    <a:effectLst/>
                    <a:latin typeface="Segoe WPC"/>
                  </a:rPr>
                  <a:t>Views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Estrategias según la tasa futura realizada frente a la forward implícita.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crees que la tasa futura será menor que la forward, te fondeas corto e inviertes largo; si será mayor, haces lo opuesto.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Ganas si la tasa realizada difiere de la tasa que la curva descuenta hoy.</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Ganancia conceptual </a:t>
                </a:r>
                <a14:m>
                  <m:oMath xmlns:m="http://schemas.openxmlformats.org/officeDocument/2006/math">
                    <m:r>
                      <a:rPr lang="es-PE" sz="90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tasa</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realizada</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esperada</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forward</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impl</m:t>
                    </m:r>
                    <m:limUpp>
                      <m:limUppPr>
                        <m:ctrlPr>
                          <a:rPr lang="ar-AE" sz="900" b="0" i="1">
                            <a:solidFill>
                              <a:schemeClr val="tx1"/>
                            </a:solidFill>
                            <a:latin typeface="Cambria Math" panose="02040503050406030204" pitchFamily="18" charset="0"/>
                          </a:rPr>
                        </m:ctrlPr>
                      </m:limUppPr>
                      <m:e>
                        <m:r>
                          <m:rPr>
                            <m:nor/>
                          </m:rPr>
                          <a:rPr lang="es-PE" sz="900" b="0" i="1">
                            <a:solidFill>
                              <a:schemeClr val="tx1"/>
                            </a:solidFill>
                            <a:latin typeface="Cambria Math" panose="02040503050406030204" pitchFamily="18" charset="0"/>
                          </a:rPr>
                          <m:t>ı</m:t>
                        </m:r>
                      </m:e>
                      <m:lim>
                        <m:r>
                          <a:rPr lang="ar-AE" sz="900" b="0" i="0">
                            <a:solidFill>
                              <a:schemeClr val="tx1"/>
                            </a:solidFill>
                            <a:latin typeface="Cambria Math" panose="02040503050406030204" pitchFamily="18" charset="0"/>
                          </a:rPr>
                          <m:t>ˊ</m:t>
                        </m:r>
                      </m:lim>
                    </m:limUpp>
                    <m:r>
                      <m:rPr>
                        <m:nor/>
                      </m:rPr>
                      <a:rPr lang="es-PE" sz="900" b="0" i="1">
                        <a:solidFill>
                          <a:schemeClr val="tx1"/>
                        </a:solidFill>
                        <a:latin typeface="Cambria Math" panose="02040503050406030204" pitchFamily="18" charset="0"/>
                      </a:rPr>
                      <m:t>cita</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Las forward </a:t>
                </a:r>
                <a:r>
                  <a:rPr lang="es-PE" sz="900" b="0" i="0" dirty="0" err="1">
                    <a:solidFill>
                      <a:schemeClr val="tx1"/>
                    </a:solidFill>
                    <a:effectLst/>
                    <a:latin typeface="Segoe WPC"/>
                  </a:rPr>
                  <a:t>rates</a:t>
                </a:r>
                <a:r>
                  <a:rPr lang="es-PE" sz="900" b="0" i="0" dirty="0">
                    <a:solidFill>
                      <a:schemeClr val="tx1"/>
                    </a:solidFill>
                    <a:effectLst/>
                    <a:latin typeface="Segoe WPC"/>
                  </a:rPr>
                  <a:t> son la referencia central para </a:t>
                </a:r>
                <a:r>
                  <a:rPr lang="es-PE" sz="900" b="0" i="0" dirty="0" err="1">
                    <a:solidFill>
                      <a:schemeClr val="tx1"/>
                    </a:solidFill>
                    <a:effectLst/>
                    <a:latin typeface="Segoe WPC"/>
                  </a:rPr>
                  <a:t>trades</a:t>
                </a:r>
                <a:r>
                  <a:rPr lang="es-PE" sz="900" b="0" i="0" dirty="0">
                    <a:solidFill>
                      <a:schemeClr val="tx1"/>
                    </a:solidFill>
                    <a:effectLst/>
                    <a:latin typeface="Segoe WPC"/>
                  </a:rPr>
                  <a:t> relativos sobre la curva.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En la práctica hay fricciones, spreads y restricciones de fondeo.</a:t>
                </a:r>
              </a:p>
              <a:p>
                <a:pPr algn="l">
                  <a:spcBef>
                    <a:spcPts val="300"/>
                  </a:spcBef>
                  <a:spcAft>
                    <a:spcPts val="300"/>
                  </a:spcAft>
                  <a:buFont typeface="+mj-lt"/>
                  <a:buAutoNum type="arabicPeriod"/>
                </a:pPr>
                <a:r>
                  <a:rPr lang="es-PE" sz="900" b="1" i="0" dirty="0">
                    <a:solidFill>
                      <a:schemeClr val="tx1"/>
                    </a:solidFill>
                    <a:effectLst/>
                    <a:latin typeface="Segoe WPC"/>
                  </a:rPr>
                  <a:t>Overnight Rates, Swaps and Par Swap Rates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Swaps de tasa fija contra flotante y tasas overnight como SOFR.</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Una parte paga fijo y la otra paga flotante sobre un principal nocional.</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Un swap equivale a intercambiar un bono fijo por uno flotante.</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Al inicio del swap, </a:t>
                </a:r>
                <a14:m>
                  <m:oMath xmlns:m="http://schemas.openxmlformats.org/officeDocument/2006/math">
                    <m:r>
                      <m:rPr>
                        <m:nor/>
                      </m:rPr>
                      <a:rPr lang="es-PE" sz="900" b="0">
                        <a:solidFill>
                          <a:schemeClr val="tx1"/>
                        </a:solidFill>
                      </a:rPr>
                      <m:t>Fixed</m:t>
                    </m:r>
                    <m:r>
                      <m:rPr>
                        <m:nor/>
                      </m:rPr>
                      <a:rPr lang="es-PE" sz="900" b="0">
                        <a:solidFill>
                          <a:schemeClr val="tx1"/>
                        </a:solidFill>
                      </a:rPr>
                      <m:t> </m:t>
                    </m:r>
                    <m:r>
                      <m:rPr>
                        <m:nor/>
                      </m:rPr>
                      <a:rPr lang="es-PE" sz="900" b="0">
                        <a:solidFill>
                          <a:schemeClr val="tx1"/>
                        </a:solidFill>
                      </a:rPr>
                      <m:t>Leg</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Floating</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Leg</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Por eso la tasa fija del swap define una par </a:t>
                </a:r>
                <a:r>
                  <a:rPr lang="es-PE" sz="900" b="0" i="0" dirty="0" err="1">
                    <a:solidFill>
                      <a:schemeClr val="tx1"/>
                    </a:solidFill>
                    <a:effectLst/>
                    <a:latin typeface="Segoe WPC"/>
                  </a:rPr>
                  <a:t>rate</a:t>
                </a:r>
                <a:r>
                  <a:rPr lang="es-PE" sz="900" b="0" i="0" dirty="0">
                    <a:solidFill>
                      <a:schemeClr val="tx1"/>
                    </a:solidFill>
                    <a:effectLst/>
                    <a:latin typeface="Segoe WPC"/>
                  </a:rPr>
                  <a:t> del mercado swap.</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El nocional normalmente no se intercambia; solo sirve para calcular los intereses.</a:t>
                </a:r>
              </a:p>
            </p:txBody>
          </p:sp>
        </mc:Choice>
        <mc:Fallback xmlns="">
          <p:sp>
            <p:nvSpPr>
              <p:cNvPr id="7" name="CuadroTexto 6">
                <a:extLst>
                  <a:ext uri="{FF2B5EF4-FFF2-40B4-BE49-F238E27FC236}">
                    <a16:creationId xmlns:a16="http://schemas.microsoft.com/office/drawing/2014/main" id="{5EDDEF8C-0F8B-C7F5-4DEA-41C9414F23D0}"/>
                  </a:ext>
                </a:extLst>
              </p:cNvPr>
              <p:cNvSpPr txBox="1">
                <a:spLocks noRot="1" noChangeAspect="1" noMove="1" noResize="1" noEditPoints="1" noAdjustHandles="1" noChangeArrowheads="1" noChangeShapeType="1" noTextEdit="1"/>
              </p:cNvSpPr>
              <p:nvPr/>
            </p:nvSpPr>
            <p:spPr>
              <a:xfrm>
                <a:off x="6019800" y="462546"/>
                <a:ext cx="6172200" cy="5932906"/>
              </a:xfrm>
              <a:prstGeom prst="rect">
                <a:avLst/>
              </a:prstGeom>
              <a:blipFill>
                <a:blip r:embed="rId3"/>
                <a:stretch>
                  <a:fillRect t="-308"/>
                </a:stretch>
              </a:blipFill>
            </p:spPr>
            <p:txBody>
              <a:bodyPr/>
              <a:lstStyle/>
              <a:p>
                <a:r>
                  <a:rPr lang="es-PE">
                    <a:noFill/>
                  </a:rPr>
                  <a:t> </a:t>
                </a:r>
              </a:p>
            </p:txBody>
          </p:sp>
        </mc:Fallback>
      </mc:AlternateContent>
    </p:spTree>
    <p:extLst>
      <p:ext uri="{BB962C8B-B14F-4D97-AF65-F5344CB8AC3E}">
        <p14:creationId xmlns:p14="http://schemas.microsoft.com/office/powerpoint/2010/main" val="19896420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B72D90-F25A-445F-8096-339A84365C8D}"/>
              </a:ext>
            </a:extLst>
          </p:cNvPr>
          <p:cNvSpPr>
            <a:spLocks noGrp="1"/>
          </p:cNvSpPr>
          <p:nvPr>
            <p:ph type="title"/>
          </p:nvPr>
        </p:nvSpPr>
        <p:spPr>
          <a:xfrm>
            <a:off x="-63501" y="-69852"/>
            <a:ext cx="10515600" cy="365126"/>
          </a:xfrm>
        </p:spPr>
        <p:txBody>
          <a:bodyPr>
            <a:normAutofit fontScale="90000"/>
          </a:bodyPr>
          <a:lstStyle/>
          <a:p>
            <a:r>
              <a:rPr lang="en-US" sz="2400" dirty="0"/>
              <a:t>Bond Yield and Return Calculations</a:t>
            </a:r>
            <a:endParaRPr lang="es-PE" sz="2400"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110FEE62-AA43-79D0-FCC2-FE8AA39B5500}"/>
                  </a:ext>
                </a:extLst>
              </p:cNvPr>
              <p:cNvSpPr txBox="1"/>
              <p:nvPr/>
            </p:nvSpPr>
            <p:spPr>
              <a:xfrm>
                <a:off x="-63501" y="198439"/>
                <a:ext cx="6676572" cy="6978834"/>
              </a:xfrm>
              <a:prstGeom prst="rect">
                <a:avLst/>
              </a:prstGeom>
              <a:noFill/>
            </p:spPr>
            <p:txBody>
              <a:bodyPr wrap="square">
                <a:spAutoFit/>
              </a:bodyPr>
              <a:lstStyle/>
              <a:p>
                <a:pPr algn="l">
                  <a:spcBef>
                    <a:spcPts val="300"/>
                  </a:spcBef>
                  <a:buFont typeface="+mj-lt"/>
                  <a:buAutoNum type="arabicPeriod"/>
                </a:pPr>
                <a:r>
                  <a:rPr lang="es-PE" sz="900" b="1" i="0" dirty="0">
                    <a:solidFill>
                      <a:schemeClr val="tx1"/>
                    </a:solidFill>
                    <a:effectLst/>
                    <a:latin typeface="Segoe WPC"/>
                  </a:rPr>
                  <a:t>Realized </a:t>
                </a:r>
                <a:r>
                  <a:rPr lang="es-PE" sz="900" b="1" i="0" dirty="0" err="1">
                    <a:solidFill>
                      <a:schemeClr val="tx1"/>
                    </a:solidFill>
                    <a:effectLst/>
                    <a:latin typeface="Segoe WPC"/>
                  </a:rPr>
                  <a:t>Return</a:t>
                </a:r>
                <a:r>
                  <a:rPr lang="es-PE" sz="900" b="1" i="0" dirty="0">
                    <a:solidFill>
                      <a:schemeClr val="tx1"/>
                    </a:solidFill>
                    <a:effectLst/>
                    <a:latin typeface="Segoe WPC"/>
                  </a:rPr>
                  <a:t>: Gross vs. Net</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Retorno realizado de un bono durante un holding </a:t>
                </a:r>
                <a:r>
                  <a:rPr lang="es-PE" sz="900" b="0" i="0" dirty="0" err="1">
                    <a:solidFill>
                      <a:schemeClr val="tx1"/>
                    </a:solidFill>
                    <a:effectLst/>
                    <a:latin typeface="Segoe WPC"/>
                  </a:rPr>
                  <a:t>period</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a:t>
                </a:r>
                <a:r>
                  <a:rPr lang="es-PE" sz="900" b="0" i="0" dirty="0" err="1">
                    <a:solidFill>
                      <a:schemeClr val="tx1"/>
                    </a:solidFill>
                    <a:effectLst/>
                    <a:latin typeface="Segoe WPC"/>
                  </a:rPr>
                  <a:t>gross</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mide lo que ganaste por precio y cupones; el net </a:t>
                </a:r>
                <a:r>
                  <a:rPr lang="es-PE" sz="900" b="0" i="0" dirty="0" err="1">
                    <a:solidFill>
                      <a:schemeClr val="tx1"/>
                    </a:solidFill>
                    <a:effectLst/>
                    <a:latin typeface="Segoe WPC"/>
                  </a:rPr>
                  <a:t>return</a:t>
                </a:r>
                <a:r>
                  <a:rPr lang="es-PE" sz="900" b="0" i="0" dirty="0">
                    <a:solidFill>
                      <a:schemeClr val="tx1"/>
                    </a:solidFill>
                    <a:effectLst/>
                    <a:latin typeface="Segoe WPC"/>
                  </a:rPr>
                  <a:t> además descuenta el costo de financiamiento.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Empiezas con un bono, cobras cupones, reinviertes esos cupones, observas el precio final y luego restas fondeo si corresponde.</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r>
                  <a:rPr lang="es-PE" sz="900" b="0" i="0" dirty="0">
                    <a:solidFill>
                      <a:schemeClr val="tx1"/>
                    </a:solidFill>
                    <a:effectLst/>
                    <a:latin typeface="Segoe WPC"/>
                  </a:rPr>
                  <a:t>Gross </a:t>
                </a:r>
                <a:r>
                  <a:rPr lang="es-PE" sz="900" b="0" i="0" dirty="0" err="1">
                    <a:solidFill>
                      <a:schemeClr val="tx1"/>
                    </a:solidFill>
                    <a:effectLst/>
                    <a:latin typeface="Segoe WPC"/>
                  </a:rPr>
                  <a:t>return</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𝑔</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coupon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income</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reinvestment</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income</m:t>
                        </m:r>
                      </m:num>
                      <m:den>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𝑃</m:t>
                            </m:r>
                          </m:e>
                          <m:sub>
                            <m:r>
                              <a:rPr lang="ar-AE" sz="900" b="0" i="0">
                                <a:solidFill>
                                  <a:schemeClr val="tx1"/>
                                </a:solidFill>
                                <a:latin typeface="Cambria Math" panose="02040503050406030204" pitchFamily="18" charset="0"/>
                              </a:rPr>
                              <m:t>0</m:t>
                            </m:r>
                          </m:sub>
                        </m:sSub>
                      </m:den>
                    </m:f>
                  </m:oMath>
                </a14:m>
                <a:br>
                  <a:rPr lang="ar-AE" sz="900" b="0" i="0" dirty="0">
                    <a:solidFill>
                      <a:schemeClr val="tx1"/>
                    </a:solidFill>
                    <a:effectLst/>
                    <a:latin typeface="Segoe WPC"/>
                  </a:rPr>
                </a:br>
                <a:r>
                  <a:rPr lang="es-PE" sz="900" b="0" i="0" dirty="0">
                    <a:solidFill>
                      <a:schemeClr val="tx1"/>
                    </a:solidFill>
                    <a:effectLst/>
                    <a:latin typeface="Segoe WPC"/>
                  </a:rPr>
                  <a:t>Net </a:t>
                </a:r>
                <a:r>
                  <a:rPr lang="es-PE" sz="900" b="0" i="0" dirty="0" err="1">
                    <a:solidFill>
                      <a:schemeClr val="tx1"/>
                    </a:solidFill>
                    <a:effectLst/>
                    <a:latin typeface="Segoe WPC"/>
                  </a:rPr>
                  <a:t>return</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𝑅</m:t>
                        </m:r>
                      </m:e>
                      <m:sub>
                        <m:r>
                          <a:rPr lang="ar-AE" sz="900" i="1">
                            <a:solidFill>
                              <a:schemeClr val="tx1"/>
                            </a:solidFill>
                            <a:latin typeface="Cambria Math" panose="02040503050406030204" pitchFamily="18" charset="0"/>
                          </a:rPr>
                          <m:t>𝑛</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coupon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income</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reinvestment</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income</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financing</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cost</m:t>
                        </m:r>
                      </m:num>
                      <m:den>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𝑃</m:t>
                            </m:r>
                          </m:e>
                          <m:sub>
                            <m:r>
                              <a:rPr lang="ar-AE" sz="900" b="0" i="0">
                                <a:solidFill>
                                  <a:schemeClr val="tx1"/>
                                </a:solidFill>
                                <a:latin typeface="Cambria Math" panose="02040503050406030204" pitchFamily="18" charset="0"/>
                              </a:rPr>
                              <m:t>0</m:t>
                            </m:r>
                          </m:sub>
                        </m:sSub>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El </a:t>
                </a:r>
                <a:r>
                  <a:rPr lang="es-PE" sz="900" b="0" i="0" dirty="0" err="1">
                    <a:solidFill>
                      <a:schemeClr val="tx1"/>
                    </a:solidFill>
                    <a:effectLst/>
                    <a:latin typeface="Segoe WPC"/>
                  </a:rPr>
                  <a:t>gross</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es retorno del activo; el net </a:t>
                </a:r>
                <a:r>
                  <a:rPr lang="es-PE" sz="900" b="0" i="0" dirty="0" err="1">
                    <a:solidFill>
                      <a:schemeClr val="tx1"/>
                    </a:solidFill>
                    <a:effectLst/>
                    <a:latin typeface="Segoe WPC"/>
                  </a:rPr>
                  <a:t>return</a:t>
                </a:r>
                <a:r>
                  <a:rPr lang="es-PE" sz="900" b="0" i="0" dirty="0">
                    <a:solidFill>
                      <a:schemeClr val="tx1"/>
                    </a:solidFill>
                    <a:effectLst/>
                    <a:latin typeface="Segoe WPC"/>
                  </a:rPr>
                  <a:t> es retorno de la estrategia financiada.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olvides reinvertir los cupones cuando el holding </a:t>
                </a:r>
                <a:r>
                  <a:rPr lang="es-PE" sz="900" b="0" i="0" dirty="0" err="1">
                    <a:solidFill>
                      <a:schemeClr val="tx1"/>
                    </a:solidFill>
                    <a:effectLst/>
                    <a:latin typeface="Segoe WPC"/>
                  </a:rPr>
                  <a:t>period</a:t>
                </a:r>
                <a:r>
                  <a:rPr lang="es-PE" sz="900" b="0" i="0" dirty="0">
                    <a:solidFill>
                      <a:schemeClr val="tx1"/>
                    </a:solidFill>
                    <a:effectLst/>
                    <a:latin typeface="Segoe WPC"/>
                  </a:rPr>
                  <a:t> supera una fecha de pago.</a:t>
                </a:r>
              </a:p>
              <a:p>
                <a:pPr algn="l">
                  <a:spcBef>
                    <a:spcPts val="300"/>
                  </a:spcBef>
                  <a:buFont typeface="+mj-lt"/>
                  <a:buAutoNum type="arabicPeriod"/>
                </a:pPr>
                <a:r>
                  <a:rPr lang="es-PE" sz="900" b="1" i="0" dirty="0">
                    <a:solidFill>
                      <a:schemeClr val="tx1"/>
                    </a:solidFill>
                    <a:effectLst/>
                    <a:latin typeface="Segoe WPC"/>
                  </a:rPr>
                  <a:t>Spread </a:t>
                </a:r>
                <a:r>
                  <a:rPr lang="es-PE" sz="900" b="1" i="0" dirty="0" err="1">
                    <a:solidFill>
                      <a:schemeClr val="tx1"/>
                    </a:solidFill>
                    <a:effectLst/>
                    <a:latin typeface="Segoe WPC"/>
                  </a:rPr>
                  <a:t>over</a:t>
                </a:r>
                <a:r>
                  <a:rPr lang="es-PE" sz="900" b="1" i="0" dirty="0">
                    <a:solidFill>
                      <a:schemeClr val="tx1"/>
                    </a:solidFill>
                    <a:effectLst/>
                    <a:latin typeface="Segoe WPC"/>
                  </a:rPr>
                  <a:t> </a:t>
                </a:r>
                <a:r>
                  <a:rPr lang="es-PE" sz="900" b="1" i="0" dirty="0" err="1">
                    <a:solidFill>
                      <a:schemeClr val="tx1"/>
                    </a:solidFill>
                    <a:effectLst/>
                    <a:latin typeface="Segoe WPC"/>
                  </a:rPr>
                  <a:t>the</a:t>
                </a:r>
                <a:r>
                  <a:rPr lang="es-PE" sz="900" b="1" i="0" dirty="0">
                    <a:solidFill>
                      <a:schemeClr val="tx1"/>
                    </a:solidFill>
                    <a:effectLst/>
                    <a:latin typeface="Segoe WPC"/>
                  </a:rPr>
                  <a:t> </a:t>
                </a:r>
                <a:r>
                  <a:rPr lang="es-PE" sz="900" b="1" i="0" dirty="0" err="1">
                    <a:solidFill>
                      <a:schemeClr val="tx1"/>
                    </a:solidFill>
                    <a:effectLst/>
                    <a:latin typeface="Segoe WPC"/>
                  </a:rPr>
                  <a:t>Treasury</a:t>
                </a:r>
                <a:r>
                  <a:rPr lang="es-PE" sz="900" b="1" i="0" dirty="0">
                    <a:solidFill>
                      <a:schemeClr val="tx1"/>
                    </a:solidFill>
                    <a:effectLst/>
                    <a:latin typeface="Segoe WPC"/>
                  </a:rPr>
                  <a:t> Curve</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Spread constante que debe sumarse a la curva </a:t>
                </a:r>
                <a:r>
                  <a:rPr lang="es-PE" sz="900" b="0" i="0" dirty="0" err="1">
                    <a:solidFill>
                      <a:schemeClr val="tx1"/>
                    </a:solidFill>
                    <a:effectLst/>
                    <a:latin typeface="Segoe WPC"/>
                  </a:rPr>
                  <a:t>Treasury</a:t>
                </a:r>
                <a:r>
                  <a:rPr lang="es-PE" sz="900" b="0" i="0" dirty="0">
                    <a:solidFill>
                      <a:schemeClr val="tx1"/>
                    </a:solidFill>
                    <a:effectLst/>
                    <a:latin typeface="Segoe WPC"/>
                  </a:rPr>
                  <a:t> para justificar el precio observado de un bono.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el bono está “barato” respecto a </a:t>
                </a:r>
                <a:r>
                  <a:rPr lang="es-PE" sz="900" b="0" i="0" dirty="0" err="1">
                    <a:solidFill>
                      <a:schemeClr val="tx1"/>
                    </a:solidFill>
                    <a:effectLst/>
                    <a:latin typeface="Segoe WPC"/>
                  </a:rPr>
                  <a:t>Treasuries</a:t>
                </a:r>
                <a:r>
                  <a:rPr lang="es-PE" sz="900" b="0" i="0" dirty="0">
                    <a:solidFill>
                      <a:schemeClr val="tx1"/>
                    </a:solidFill>
                    <a:effectLst/>
                    <a:latin typeface="Segoe WPC"/>
                  </a:rPr>
                  <a:t>, necesitas subir la curva libre de riesgo con un spread para que el valor teórico baje hasta el precio de mercado.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Tomas la curva base, le agregas un pequeño extra uniforme y buscas el extra que hace cuadrar el precio.</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 xmlns:m="http://schemas.openxmlformats.org/officeDocument/2006/math">
                    <m:r>
                      <a:rPr lang="es-PE" sz="900" i="1">
                        <a:solidFill>
                          <a:schemeClr val="tx1"/>
                        </a:solidFill>
                        <a:latin typeface="Cambria Math" panose="02040503050406030204" pitchFamily="18" charset="0"/>
                      </a:rPr>
                      <m:t>𝑃</m:t>
                    </m:r>
                    <m:r>
                      <a:rPr lang="es-PE" sz="900" i="0">
                        <a:solidFill>
                          <a:schemeClr val="tx1"/>
                        </a:solidFill>
                        <a:latin typeface="Cambria Math" panose="02040503050406030204" pitchFamily="18" charset="0"/>
                      </a:rPr>
                      <m:t>=</m:t>
                    </m:r>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𝑛</m:t>
                        </m:r>
                      </m:sup>
                      <m:e>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𝐶</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𝐹</m:t>
                                </m:r>
                              </m:e>
                              <m:sub>
                                <m:r>
                                  <a:rPr lang="ar-AE" sz="900" i="1">
                                    <a:solidFill>
                                      <a:schemeClr val="tx1"/>
                                    </a:solidFill>
                                    <a:latin typeface="Cambria Math" panose="02040503050406030204" pitchFamily="18" charset="0"/>
                                  </a:rPr>
                                  <m:t>𝑖</m:t>
                                </m:r>
                              </m:sub>
                            </m:sSub>
                          </m:num>
                          <m:den>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𝑗</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𝑖</m:t>
                                </m:r>
                              </m:sup>
                              <m:e>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1">
                                                <a:solidFill>
                                                  <a:schemeClr val="tx1"/>
                                                </a:solidFill>
                                                <a:latin typeface="Cambria Math" panose="02040503050406030204" pitchFamily="18" charset="0"/>
                                              </a:rPr>
                                              <m:t>𝑗</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𝑠</m:t>
                                        </m:r>
                                      </m:num>
                                      <m:den>
                                        <m:r>
                                          <a:rPr lang="ar-AE" sz="900" i="0">
                                            <a:solidFill>
                                              <a:schemeClr val="tx1"/>
                                            </a:solidFill>
                                            <a:latin typeface="Cambria Math" panose="02040503050406030204" pitchFamily="18" charset="0"/>
                                          </a:rPr>
                                          <m:t>2</m:t>
                                        </m:r>
                                      </m:den>
                                    </m:f>
                                  </m:e>
                                </m:d>
                              </m:e>
                            </m:nary>
                          </m:den>
                        </m:f>
                      </m:e>
                    </m:nary>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El spread mide el exceso de rendimiento implícito del bono respecto a la estructura </a:t>
                </a:r>
                <a:r>
                  <a:rPr lang="es-PE" sz="900" b="0" i="0" dirty="0" err="1">
                    <a:solidFill>
                      <a:schemeClr val="tx1"/>
                    </a:solidFill>
                    <a:effectLst/>
                    <a:latin typeface="Segoe WPC"/>
                  </a:rPr>
                  <a:t>Treasury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confundir spread con diferencia entre </a:t>
                </a:r>
                <a:r>
                  <a:rPr lang="es-PE" sz="900" b="0" i="0" dirty="0" err="1">
                    <a:solidFill>
                      <a:schemeClr val="tx1"/>
                    </a:solidFill>
                    <a:effectLst/>
                    <a:latin typeface="Segoe WPC"/>
                  </a:rPr>
                  <a:t>YTMs</a:t>
                </a:r>
                <a:r>
                  <a:rPr lang="es-PE" sz="900" b="0" i="0" dirty="0">
                    <a:solidFill>
                      <a:schemeClr val="tx1"/>
                    </a:solidFill>
                    <a:effectLst/>
                    <a:latin typeface="Segoe WPC"/>
                  </a:rPr>
                  <a:t>; aquí el spread se deriva respecto a toda la </a:t>
                </a:r>
                <a:r>
                  <a:rPr lang="es-PE" sz="900" b="0" i="0" dirty="0" err="1">
                    <a:solidFill>
                      <a:schemeClr val="tx1"/>
                    </a:solidFill>
                    <a:effectLst/>
                    <a:latin typeface="Segoe WPC"/>
                  </a:rPr>
                  <a:t>term</a:t>
                </a:r>
                <a:r>
                  <a:rPr lang="es-PE" sz="900" b="0" i="0" dirty="0">
                    <a:solidFill>
                      <a:schemeClr val="tx1"/>
                    </a:solidFill>
                    <a:effectLst/>
                    <a:latin typeface="Segoe WPC"/>
                  </a:rPr>
                  <a:t> </a:t>
                </a:r>
                <a:r>
                  <a:rPr lang="es-PE" sz="900" b="0" i="0" dirty="0" err="1">
                    <a:solidFill>
                      <a:schemeClr val="tx1"/>
                    </a:solidFill>
                    <a:effectLst/>
                    <a:latin typeface="Segoe WPC"/>
                  </a:rPr>
                  <a:t>structure</a:t>
                </a:r>
                <a:r>
                  <a:rPr lang="es-PE" sz="900" b="0" i="0" dirty="0">
                    <a:solidFill>
                      <a:schemeClr val="tx1"/>
                    </a:solidFill>
                    <a:effectLst/>
                    <a:latin typeface="Segoe WPC"/>
                  </a:rPr>
                  <a:t>.</a:t>
                </a:r>
              </a:p>
              <a:p>
                <a:pPr algn="l">
                  <a:spcBef>
                    <a:spcPts val="300"/>
                  </a:spcBef>
                  <a:buFont typeface="+mj-lt"/>
                  <a:buAutoNum type="arabicPeriod"/>
                </a:pPr>
                <a:r>
                  <a:rPr lang="es-PE" sz="900" b="1" i="0" dirty="0" err="1">
                    <a:solidFill>
                      <a:schemeClr val="tx1"/>
                    </a:solidFill>
                    <a:effectLst/>
                    <a:latin typeface="Segoe WPC"/>
                  </a:rPr>
                  <a:t>Yield</a:t>
                </a:r>
                <a:r>
                  <a:rPr lang="es-PE" sz="900" b="1" i="0" dirty="0">
                    <a:solidFill>
                      <a:schemeClr val="tx1"/>
                    </a:solidFill>
                    <a:effectLst/>
                    <a:latin typeface="Segoe WPC"/>
                  </a:rPr>
                  <a:t> </a:t>
                </a:r>
                <a:r>
                  <a:rPr lang="es-PE" sz="900" b="1" i="0" dirty="0" err="1">
                    <a:solidFill>
                      <a:schemeClr val="tx1"/>
                    </a:solidFill>
                    <a:effectLst/>
                    <a:latin typeface="Segoe WPC"/>
                  </a:rPr>
                  <a:t>to</a:t>
                </a:r>
                <a:r>
                  <a:rPr lang="es-PE" sz="900" b="1" i="0" dirty="0">
                    <a:solidFill>
                      <a:schemeClr val="tx1"/>
                    </a:solidFill>
                    <a:effectLst/>
                    <a:latin typeface="Segoe WPC"/>
                  </a:rPr>
                  <a:t> </a:t>
                </a:r>
                <a:r>
                  <a:rPr lang="es-PE" sz="900" b="1" i="0" dirty="0" err="1">
                    <a:solidFill>
                      <a:schemeClr val="tx1"/>
                    </a:solidFill>
                    <a:effectLst/>
                    <a:latin typeface="Segoe WPC"/>
                  </a:rPr>
                  <a:t>Maturity</a:t>
                </a:r>
                <a:r>
                  <a:rPr lang="es-PE" sz="900" b="1" i="0" dirty="0">
                    <a:solidFill>
                      <a:schemeClr val="tx1"/>
                    </a:solidFill>
                    <a:effectLst/>
                    <a:latin typeface="Segoe WPC"/>
                  </a:rPr>
                  <a:t> (YTM)</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Tasa única que iguala el valor presente de todos los cash </a:t>
                </a:r>
                <a:r>
                  <a:rPr lang="es-PE" sz="900" b="0" i="0" dirty="0" err="1">
                    <a:solidFill>
                      <a:schemeClr val="tx1"/>
                    </a:solidFill>
                    <a:effectLst/>
                    <a:latin typeface="Segoe WPC"/>
                  </a:rPr>
                  <a:t>flows</a:t>
                </a:r>
                <a:r>
                  <a:rPr lang="es-PE" sz="900" b="0" i="0" dirty="0">
                    <a:solidFill>
                      <a:schemeClr val="tx1"/>
                    </a:solidFill>
                    <a:effectLst/>
                    <a:latin typeface="Segoe WPC"/>
                  </a:rPr>
                  <a:t> del bono con su precio.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Es la tasa “promedio” que resume el precio del bono en un solo número.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lugar de descontar cada flujo con una tasa distinta, usas una sola tasa para todos.</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 xmlns:m="http://schemas.openxmlformats.org/officeDocument/2006/math">
                    <m:r>
                      <a:rPr lang="es-PE" sz="900" i="1">
                        <a:solidFill>
                          <a:schemeClr val="tx1"/>
                        </a:solidFill>
                        <a:latin typeface="Cambria Math" panose="02040503050406030204" pitchFamily="18" charset="0"/>
                      </a:rPr>
                      <m:t>𝑃</m:t>
                    </m:r>
                    <m:r>
                      <a:rPr lang="es-PE" sz="900" i="0">
                        <a:solidFill>
                          <a:schemeClr val="tx1"/>
                        </a:solidFill>
                        <a:latin typeface="Cambria Math" panose="02040503050406030204" pitchFamily="18" charset="0"/>
                      </a:rPr>
                      <m:t>=</m:t>
                    </m:r>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𝑛</m:t>
                        </m:r>
                      </m:sup>
                      <m:e>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𝑐</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num>
                          <m:den>
                            <m:sSup>
                              <m:sSupPr>
                                <m:ctrlPr>
                                  <a:rPr lang="ar-AE" sz="900" i="1">
                                    <a:solidFill>
                                      <a:schemeClr val="tx1"/>
                                    </a:solidFill>
                                    <a:latin typeface="Cambria Math" panose="02040503050406030204" pitchFamily="18" charset="0"/>
                                  </a:rPr>
                                </m:ctrlPr>
                              </m:sSupPr>
                              <m:e>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𝑦</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e>
                                </m:d>
                              </m:e>
                              <m:sup>
                                <m:r>
                                  <a:rPr lang="ar-AE" sz="900" i="1">
                                    <a:solidFill>
                                      <a:schemeClr val="tx1"/>
                                    </a:solidFill>
                                    <a:latin typeface="Cambria Math" panose="02040503050406030204" pitchFamily="18" charset="0"/>
                                  </a:rPr>
                                  <m:t>𝑖</m:t>
                                </m:r>
                              </m:sup>
                            </m:sSup>
                          </m:den>
                        </m:f>
                      </m:e>
                    </m:nary>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100</m:t>
                        </m:r>
                      </m:num>
                      <m:den>
                        <m:sSup>
                          <m:sSupPr>
                            <m:ctrlPr>
                              <a:rPr lang="ar-AE" sz="900" i="1">
                                <a:solidFill>
                                  <a:schemeClr val="tx1"/>
                                </a:solidFill>
                                <a:latin typeface="Cambria Math" panose="02040503050406030204" pitchFamily="18" charset="0"/>
                              </a:rPr>
                            </m:ctrlPr>
                          </m:sSupPr>
                          <m:e>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𝑦</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e>
                            </m:d>
                          </m:e>
                          <m:sup>
                            <m:r>
                              <a:rPr lang="ar-AE" sz="900" i="1">
                                <a:solidFill>
                                  <a:schemeClr val="tx1"/>
                                </a:solidFill>
                                <a:latin typeface="Cambria Math" panose="02040503050406030204" pitchFamily="18" charset="0"/>
                              </a:rPr>
                              <m:t>𝑛</m:t>
                            </m:r>
                          </m:sup>
                        </m:sSup>
                      </m:den>
                    </m:f>
                  </m:oMath>
                </a14:m>
                <a:br>
                  <a:rPr lang="ar-AE" sz="900" b="0" i="0" dirty="0">
                    <a:solidFill>
                      <a:schemeClr val="tx1"/>
                    </a:solidFill>
                    <a:effectLst/>
                    <a:latin typeface="Segoe WPC"/>
                  </a:rPr>
                </a:br>
                <a:r>
                  <a:rPr lang="es-PE" sz="900" b="0" i="0" dirty="0">
                    <a:solidFill>
                      <a:schemeClr val="tx1"/>
                    </a:solidFill>
                    <a:effectLst/>
                    <a:latin typeface="Segoe WPC"/>
                  </a:rPr>
                  <a:t>o equivalentemente</a:t>
                </a:r>
                <a:br>
                  <a:rPr lang="es-PE" sz="900" b="0" i="0" dirty="0">
                    <a:solidFill>
                      <a:schemeClr val="tx1"/>
                    </a:solidFill>
                    <a:effectLst/>
                    <a:latin typeface="Segoe WPC"/>
                  </a:rPr>
                </a:br>
                <a14:m>
                  <m:oMath xmlns:m="http://schemas.openxmlformats.org/officeDocument/2006/math">
                    <m:r>
                      <a:rPr lang="es-PE" sz="900" i="1">
                        <a:solidFill>
                          <a:schemeClr val="tx1"/>
                        </a:solidFill>
                        <a:latin typeface="Cambria Math" panose="02040503050406030204" pitchFamily="18" charset="0"/>
                      </a:rPr>
                      <m:t>𝑃</m:t>
                    </m:r>
                    <m:r>
                      <a:rPr lang="es-PE" sz="900" i="0">
                        <a:solidFill>
                          <a:schemeClr val="tx1"/>
                        </a:solidFill>
                        <a:latin typeface="Cambria Math" panose="02040503050406030204" pitchFamily="18" charset="0"/>
                      </a:rPr>
                      <m:t>=</m:t>
                    </m:r>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𝑛</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p>
                      <m:e>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𝑐</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num>
                          <m:den>
                            <m:sSup>
                              <m:sSupPr>
                                <m:ctrlPr>
                                  <a:rPr lang="ar-AE" sz="900" i="1">
                                    <a:solidFill>
                                      <a:schemeClr val="tx1"/>
                                    </a:solidFill>
                                    <a:latin typeface="Cambria Math" panose="02040503050406030204" pitchFamily="18" charset="0"/>
                                  </a:rPr>
                                </m:ctrlPr>
                              </m:sSupPr>
                              <m:e>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𝑦</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e>
                                </m:d>
                              </m:e>
                              <m:sup>
                                <m:r>
                                  <a:rPr lang="ar-AE" sz="900" i="1">
                                    <a:solidFill>
                                      <a:schemeClr val="tx1"/>
                                    </a:solidFill>
                                    <a:latin typeface="Cambria Math" panose="02040503050406030204" pitchFamily="18" charset="0"/>
                                  </a:rPr>
                                  <m:t>𝑖</m:t>
                                </m:r>
                              </m:sup>
                            </m:sSup>
                          </m:den>
                        </m:f>
                      </m:e>
                    </m:nary>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100</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𝑐</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num>
                      <m:den>
                        <m:sSup>
                          <m:sSupPr>
                            <m:ctrlPr>
                              <a:rPr lang="ar-AE" sz="900" i="1">
                                <a:solidFill>
                                  <a:schemeClr val="tx1"/>
                                </a:solidFill>
                                <a:latin typeface="Cambria Math" panose="02040503050406030204" pitchFamily="18" charset="0"/>
                              </a:rPr>
                            </m:ctrlPr>
                          </m:sSupPr>
                          <m:e>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𝑦</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e>
                            </m:d>
                          </m:e>
                          <m:sup>
                            <m:r>
                              <a:rPr lang="ar-AE" sz="900" i="1">
                                <a:solidFill>
                                  <a:schemeClr val="tx1"/>
                                </a:solidFill>
                                <a:latin typeface="Cambria Math" panose="02040503050406030204" pitchFamily="18" charset="0"/>
                              </a:rPr>
                              <m:t>𝑛</m:t>
                            </m:r>
                          </m:sup>
                        </m:sSup>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El YTM permite mapear precio a rendimiento de forma unívoca.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El YTM no usa la curva spot completa; por eso puede ocultar información importante de valuación relativa.</a:t>
                </a:r>
              </a:p>
              <a:p>
                <a:pPr algn="l">
                  <a:spcBef>
                    <a:spcPts val="300"/>
                  </a:spcBef>
                  <a:buFont typeface="+mj-lt"/>
                  <a:buAutoNum type="arabicPeriod"/>
                </a:pPr>
                <a:r>
                  <a:rPr lang="es-PE" sz="900" b="1" i="0" dirty="0" err="1">
                    <a:solidFill>
                      <a:schemeClr val="tx1"/>
                    </a:solidFill>
                    <a:effectLst/>
                    <a:latin typeface="Segoe WPC"/>
                  </a:rPr>
                  <a:t>How</a:t>
                </a:r>
                <a:r>
                  <a:rPr lang="es-PE" sz="900" b="1" i="0" dirty="0">
                    <a:solidFill>
                      <a:schemeClr val="tx1"/>
                    </a:solidFill>
                    <a:effectLst/>
                    <a:latin typeface="Segoe WPC"/>
                  </a:rPr>
                  <a:t> </a:t>
                </a:r>
                <a:r>
                  <a:rPr lang="es-PE" sz="900" b="1" i="0" dirty="0" err="1">
                    <a:solidFill>
                      <a:schemeClr val="tx1"/>
                    </a:solidFill>
                    <a:effectLst/>
                    <a:latin typeface="Segoe WPC"/>
                  </a:rPr>
                  <a:t>to</a:t>
                </a:r>
                <a:r>
                  <a:rPr lang="es-PE" sz="900" b="1" i="0" dirty="0">
                    <a:solidFill>
                      <a:schemeClr val="tx1"/>
                    </a:solidFill>
                    <a:effectLst/>
                    <a:latin typeface="Segoe WPC"/>
                  </a:rPr>
                  <a:t> Compute YTM</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Cálculo del YTM dado precio, cupón y vencimiento.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No se despeja normalmente en forma cerrada; se encuentra por prueba y error o con </a:t>
                </a:r>
                <a:r>
                  <a:rPr lang="es-PE" sz="900" b="0" i="0" dirty="0" err="1">
                    <a:solidFill>
                      <a:schemeClr val="tx1"/>
                    </a:solidFill>
                    <a:effectLst/>
                    <a:latin typeface="Segoe WPC"/>
                  </a:rPr>
                  <a:t>solver</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Vas probando tasas hasta que el valor presente coincida exactamente con el </a:t>
                </a:r>
                <a:r>
                  <a:rPr lang="es-PE" sz="900" b="0" i="0" dirty="0" err="1">
                    <a:solidFill>
                      <a:schemeClr val="tx1"/>
                    </a:solidFill>
                    <a:effectLst/>
                    <a:latin typeface="Segoe WPC"/>
                  </a:rPr>
                  <a:t>dirty</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Si el bono está entre fechas de cupón, se usa el </a:t>
                </a:r>
                <a:r>
                  <a:rPr lang="es-PE" sz="900" b="0" i="0" dirty="0" err="1">
                    <a:solidFill>
                      <a:schemeClr val="tx1"/>
                    </a:solidFill>
                    <a:effectLst/>
                    <a:latin typeface="Segoe WPC"/>
                  </a:rPr>
                  <a:t>dirty</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a:t>
                </a:r>
                <a:br>
                  <a:rPr lang="es-PE" sz="900" b="0" i="0" dirty="0">
                    <a:solidFill>
                      <a:schemeClr val="tx1"/>
                    </a:solidFill>
                    <a:effectLst/>
                    <a:latin typeface="Segoe WPC"/>
                  </a:rPr>
                </a:b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𝑃</m:t>
                        </m:r>
                      </m:e>
                      <m:sup>
                        <m:r>
                          <a:rPr lang="ar-AE" sz="900" i="0">
                            <a:solidFill>
                              <a:schemeClr val="tx1"/>
                            </a:solidFill>
                            <a:latin typeface="Cambria Math" panose="02040503050406030204" pitchFamily="18" charset="0"/>
                          </a:rPr>
                          <m:t>∗</m:t>
                        </m:r>
                      </m:sup>
                    </m:sSup>
                    <m:r>
                      <a:rPr lang="ar-AE" sz="900" i="0">
                        <a:solidFill>
                          <a:schemeClr val="tx1"/>
                        </a:solidFill>
                        <a:latin typeface="Cambria Math" panose="02040503050406030204" pitchFamily="18" charset="0"/>
                      </a:rPr>
                      <m:t>=</m:t>
                    </m:r>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𝑛</m:t>
                        </m:r>
                      </m:sup>
                      <m:e>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𝑐</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num>
                          <m:den>
                            <m:sSup>
                              <m:sSupPr>
                                <m:ctrlPr>
                                  <a:rPr lang="ar-AE" sz="900" i="1">
                                    <a:solidFill>
                                      <a:schemeClr val="tx1"/>
                                    </a:solidFill>
                                    <a:latin typeface="Cambria Math" panose="02040503050406030204" pitchFamily="18" charset="0"/>
                                  </a:rPr>
                                </m:ctrlPr>
                              </m:sSupPr>
                              <m:e>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𝑦</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e>
                                </m:d>
                              </m:e>
                              <m:sup>
                                <m:r>
                                  <a:rPr lang="ar-AE" sz="900" i="0">
                                    <a:solidFill>
                                      <a:schemeClr val="tx1"/>
                                    </a:solidFill>
                                    <a:latin typeface="Cambria Math" panose="02040503050406030204" pitchFamily="18" charset="0"/>
                                  </a:rPr>
                                  <m:t>2</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𝑡</m:t>
                                    </m:r>
                                  </m:e>
                                  <m:sub>
                                    <m:r>
                                      <a:rPr lang="ar-AE" sz="900" i="1">
                                        <a:solidFill>
                                          <a:schemeClr val="tx1"/>
                                        </a:solidFill>
                                        <a:latin typeface="Cambria Math" panose="02040503050406030204" pitchFamily="18" charset="0"/>
                                      </a:rPr>
                                      <m:t>𝑖</m:t>
                                    </m:r>
                                  </m:sub>
                                </m:sSub>
                              </m:sup>
                            </m:sSup>
                          </m:den>
                        </m:f>
                      </m:e>
                    </m:nary>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100</m:t>
                        </m:r>
                      </m:num>
                      <m:den>
                        <m:sSup>
                          <m:sSupPr>
                            <m:ctrlPr>
                              <a:rPr lang="ar-AE" sz="900" i="1">
                                <a:solidFill>
                                  <a:schemeClr val="tx1"/>
                                </a:solidFill>
                                <a:latin typeface="Cambria Math" panose="02040503050406030204" pitchFamily="18" charset="0"/>
                              </a:rPr>
                            </m:ctrlPr>
                          </m:sSupPr>
                          <m:e>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𝑦</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e>
                            </m:d>
                          </m:e>
                          <m:sup>
                            <m:r>
                              <a:rPr lang="ar-AE" sz="900" i="0">
                                <a:solidFill>
                                  <a:schemeClr val="tx1"/>
                                </a:solidFill>
                                <a:latin typeface="Cambria Math" panose="02040503050406030204" pitchFamily="18" charset="0"/>
                              </a:rPr>
                              <m:t>2</m:t>
                            </m:r>
                            <m:r>
                              <a:rPr lang="ar-AE" sz="900" i="1">
                                <a:solidFill>
                                  <a:schemeClr val="tx1"/>
                                </a:solidFill>
                                <a:latin typeface="Cambria Math" panose="02040503050406030204" pitchFamily="18" charset="0"/>
                              </a:rPr>
                              <m:t>𝑇</m:t>
                            </m:r>
                          </m:sup>
                        </m:sSup>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El YTM correcto siempre se calcula con precio </a:t>
                </a:r>
                <a:r>
                  <a:rPr lang="es-PE" sz="900" b="0" i="0" dirty="0" err="1">
                    <a:solidFill>
                      <a:schemeClr val="tx1"/>
                    </a:solidFill>
                    <a:effectLst/>
                    <a:latin typeface="Segoe WPC"/>
                  </a:rPr>
                  <a:t>dirty</a:t>
                </a:r>
                <a:r>
                  <a:rPr lang="es-PE" sz="900" b="0" i="0" dirty="0">
                    <a:solidFill>
                      <a:schemeClr val="tx1"/>
                    </a:solidFill>
                    <a:effectLst/>
                    <a:latin typeface="Segoe WPC"/>
                  </a:rPr>
                  <a:t>, no </a:t>
                </a:r>
                <a:r>
                  <a:rPr lang="es-PE" sz="900" b="0" i="0" dirty="0" err="1">
                    <a:solidFill>
                      <a:schemeClr val="tx1"/>
                    </a:solidFill>
                    <a:effectLst/>
                    <a:latin typeface="Segoe WPC"/>
                  </a:rPr>
                  <a:t>clean</a:t>
                </a:r>
                <a:r>
                  <a:rPr lang="es-PE" sz="900" b="0" i="0" dirty="0">
                    <a:solidFill>
                      <a:schemeClr val="tx1"/>
                    </a:solidFill>
                    <a:effectLst/>
                    <a:latin typeface="Segoe WPC"/>
                  </a:rPr>
                  <a:t>, si hay </a:t>
                </a:r>
                <a:r>
                  <a:rPr lang="es-PE" sz="900" b="0" i="0" dirty="0" err="1">
                    <a:solidFill>
                      <a:schemeClr val="tx1"/>
                    </a:solidFill>
                    <a:effectLst/>
                    <a:latin typeface="Segoe WPC"/>
                  </a:rPr>
                  <a:t>accrued</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usar </a:t>
                </a:r>
                <a:r>
                  <a:rPr lang="es-PE" sz="900" b="0" i="0" dirty="0" err="1">
                    <a:solidFill>
                      <a:schemeClr val="tx1"/>
                    </a:solidFill>
                    <a:effectLst/>
                    <a:latin typeface="Segoe WPC"/>
                  </a:rPr>
                  <a:t>clean</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directamente cuando el bono se valora entre cupones.</a:t>
                </a:r>
              </a:p>
            </p:txBody>
          </p:sp>
        </mc:Choice>
        <mc:Fallback xmlns="">
          <p:sp>
            <p:nvSpPr>
              <p:cNvPr id="7" name="CuadroTexto 6">
                <a:extLst>
                  <a:ext uri="{FF2B5EF4-FFF2-40B4-BE49-F238E27FC236}">
                    <a16:creationId xmlns:a16="http://schemas.microsoft.com/office/drawing/2014/main" id="{110FEE62-AA43-79D0-FCC2-FE8AA39B5500}"/>
                  </a:ext>
                </a:extLst>
              </p:cNvPr>
              <p:cNvSpPr txBox="1">
                <a:spLocks noRot="1" noChangeAspect="1" noMove="1" noResize="1" noEditPoints="1" noAdjustHandles="1" noChangeArrowheads="1" noChangeShapeType="1" noTextEdit="1"/>
              </p:cNvSpPr>
              <p:nvPr/>
            </p:nvSpPr>
            <p:spPr>
              <a:xfrm>
                <a:off x="-63501" y="198439"/>
                <a:ext cx="6676572" cy="6978834"/>
              </a:xfrm>
              <a:prstGeom prst="rect">
                <a:avLst/>
              </a:prstGeom>
              <a:blipFill>
                <a:blip r:embed="rId2"/>
                <a:stretch>
                  <a:fillRect t="-262" b="-11189"/>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4C36993F-A7D1-A4E8-A287-60DC4DA6EB6A}"/>
                  </a:ext>
                </a:extLst>
              </p:cNvPr>
              <p:cNvSpPr txBox="1"/>
              <p:nvPr/>
            </p:nvSpPr>
            <p:spPr>
              <a:xfrm>
                <a:off x="6349999" y="0"/>
                <a:ext cx="6135914" cy="6945363"/>
              </a:xfrm>
              <a:prstGeom prst="rect">
                <a:avLst/>
              </a:prstGeom>
              <a:noFill/>
            </p:spPr>
            <p:txBody>
              <a:bodyPr wrap="square">
                <a:spAutoFit/>
              </a:bodyPr>
              <a:lstStyle/>
              <a:p>
                <a:pPr>
                  <a:spcBef>
                    <a:spcPts val="300"/>
                  </a:spcBef>
                  <a:buFont typeface="+mj-lt"/>
                  <a:buAutoNum type="arabicPeriod"/>
                </a:pPr>
                <a:r>
                  <a:rPr lang="es-PE" sz="900" b="1" dirty="0">
                    <a:latin typeface="Segoe WPC"/>
                  </a:rPr>
                  <a:t>Annuities and </a:t>
                </a:r>
                <a:r>
                  <a:rPr lang="es-PE" sz="900" b="1" dirty="0" err="1">
                    <a:latin typeface="Segoe WPC"/>
                  </a:rPr>
                  <a:t>Perpetuities</a:t>
                </a:r>
                <a:br>
                  <a:rPr lang="es-PE" sz="900" dirty="0">
                    <a:latin typeface="Segoe WPC"/>
                  </a:rPr>
                </a:br>
                <a:r>
                  <a:rPr lang="es-PE" sz="900" b="1" dirty="0" err="1">
                    <a:latin typeface="Segoe WPC"/>
                  </a:rPr>
                  <a:t>Financial</a:t>
                </a:r>
                <a:r>
                  <a:rPr lang="es-PE" sz="900" b="1" dirty="0">
                    <a:latin typeface="Segoe WPC"/>
                  </a:rPr>
                  <a:t> </a:t>
                </a:r>
                <a:r>
                  <a:rPr lang="es-PE" sz="900" b="1" dirty="0" err="1">
                    <a:latin typeface="Segoe WPC"/>
                  </a:rPr>
                  <a:t>Object</a:t>
                </a:r>
                <a:r>
                  <a:rPr lang="es-PE" sz="900" b="1" dirty="0">
                    <a:latin typeface="Segoe WPC"/>
                  </a:rPr>
                  <a:t>:</a:t>
                </a:r>
                <a:r>
                  <a:rPr lang="es-PE" sz="900" dirty="0">
                    <a:latin typeface="Segoe WPC"/>
                  </a:rPr>
                  <a:t> Valoración de flujos nivelados finitos e infinitos.</a:t>
                </a:r>
                <a:br>
                  <a:rPr lang="es-PE" sz="900" dirty="0">
                    <a:latin typeface="Segoe WPC"/>
                  </a:rPr>
                </a:br>
                <a:r>
                  <a:rPr lang="es-PE" sz="900" b="1" dirty="0" err="1">
                    <a:latin typeface="Segoe WPC"/>
                  </a:rPr>
                  <a:t>Plain</a:t>
                </a:r>
                <a:r>
                  <a:rPr lang="es-PE" sz="900" b="1" dirty="0">
                    <a:latin typeface="Segoe WPC"/>
                  </a:rPr>
                  <a:t> </a:t>
                </a:r>
                <a:r>
                  <a:rPr lang="es-PE" sz="900" b="1" dirty="0" err="1">
                    <a:latin typeface="Segoe WPC"/>
                  </a:rPr>
                  <a:t>Intuition</a:t>
                </a:r>
                <a:r>
                  <a:rPr lang="es-PE" sz="900" b="1" dirty="0">
                    <a:latin typeface="Segoe WPC"/>
                  </a:rPr>
                  <a:t>:</a:t>
                </a:r>
                <a:r>
                  <a:rPr lang="es-PE" sz="900" dirty="0">
                    <a:latin typeface="Segoe WPC"/>
                  </a:rPr>
                  <a:t> Un bono con cupones puede verse como una </a:t>
                </a:r>
                <a:r>
                  <a:rPr lang="es-PE" sz="900" dirty="0" err="1">
                    <a:latin typeface="Segoe WPC"/>
                  </a:rPr>
                  <a:t>annuity</a:t>
                </a:r>
                <a:r>
                  <a:rPr lang="es-PE" sz="900" dirty="0">
                    <a:latin typeface="Segoe WPC"/>
                  </a:rPr>
                  <a:t> más el principal; una </a:t>
                </a:r>
                <a:r>
                  <a:rPr lang="es-PE" sz="900" dirty="0" err="1">
                    <a:latin typeface="Segoe WPC"/>
                  </a:rPr>
                  <a:t>perpetuity</a:t>
                </a:r>
                <a:r>
                  <a:rPr lang="es-PE" sz="900" dirty="0">
                    <a:latin typeface="Segoe WPC"/>
                  </a:rPr>
                  <a:t> paga cupones para siempre.</a:t>
                </a:r>
                <a:br>
                  <a:rPr lang="es-PE" sz="900" dirty="0">
                    <a:latin typeface="Segoe WPC"/>
                  </a:rPr>
                </a:br>
                <a:r>
                  <a:rPr lang="es-PE" sz="900" b="1" dirty="0">
                    <a:latin typeface="Segoe WPC"/>
                  </a:rPr>
                  <a:t>Visual </a:t>
                </a:r>
                <a:r>
                  <a:rPr lang="es-PE" sz="900" b="1" dirty="0" err="1">
                    <a:latin typeface="Segoe WPC"/>
                  </a:rPr>
                  <a:t>Intuition</a:t>
                </a:r>
                <a:r>
                  <a:rPr lang="es-PE" sz="900" b="1" dirty="0">
                    <a:latin typeface="Segoe WPC"/>
                  </a:rPr>
                  <a:t>:</a:t>
                </a:r>
                <a:r>
                  <a:rPr lang="es-PE" sz="900" dirty="0">
                    <a:latin typeface="Segoe WPC"/>
                  </a:rPr>
                  <a:t> La </a:t>
                </a:r>
                <a:r>
                  <a:rPr lang="es-PE" sz="900" dirty="0" err="1">
                    <a:latin typeface="Segoe WPC"/>
                  </a:rPr>
                  <a:t>annuity</a:t>
                </a:r>
                <a:r>
                  <a:rPr lang="es-PE" sz="900" dirty="0">
                    <a:latin typeface="Segoe WPC"/>
                  </a:rPr>
                  <a:t> es una fila finita de cupones iguales; la </a:t>
                </a:r>
                <a:r>
                  <a:rPr lang="es-PE" sz="900" dirty="0" err="1">
                    <a:latin typeface="Segoe WPC"/>
                  </a:rPr>
                  <a:t>perpetuity</a:t>
                </a:r>
                <a:r>
                  <a:rPr lang="es-PE" sz="900" dirty="0">
                    <a:latin typeface="Segoe WPC"/>
                  </a:rPr>
                  <a:t> es esa fila extendida al infinito.</a:t>
                </a:r>
                <a:br>
                  <a:rPr lang="es-PE" sz="900" dirty="0">
                    <a:latin typeface="Segoe WPC"/>
                  </a:rPr>
                </a:br>
                <a:r>
                  <a:rPr lang="es-PE" sz="900" b="1" dirty="0">
                    <a:latin typeface="Segoe WPC"/>
                  </a:rPr>
                  <a:t>Key Formula:</a:t>
                </a:r>
                <a:br>
                  <a:rPr lang="es-PE" sz="900" dirty="0">
                    <a:latin typeface="Segoe WPC"/>
                  </a:rPr>
                </a:br>
                <a:r>
                  <a:rPr lang="es-PE" sz="900" dirty="0" err="1">
                    <a:latin typeface="Segoe WPC"/>
                  </a:rPr>
                  <a:t>Annuity</a:t>
                </a:r>
                <a:r>
                  <a:rPr lang="es-PE" sz="900" dirty="0">
                    <a:latin typeface="Segoe WPC"/>
                  </a:rPr>
                  <a:t>: </a:t>
                </a:r>
                <a14:m>
                  <m:oMath xmlns:m="http://schemas.openxmlformats.org/officeDocument/2006/math">
                    <m:r>
                      <a:rPr lang="es-PE" sz="900" i="1">
                        <a:latin typeface="Cambria Math" panose="02040503050406030204" pitchFamily="18" charset="0"/>
                      </a:rPr>
                      <m:t>𝑃𝑉</m:t>
                    </m:r>
                    <m:r>
                      <a:rPr lang="es-PE" sz="900">
                        <a:latin typeface="Cambria Math" panose="02040503050406030204" pitchFamily="18" charset="0"/>
                      </a:rPr>
                      <m:t>=</m:t>
                    </m:r>
                    <m:f>
                      <m:fPr>
                        <m:ctrlPr>
                          <a:rPr lang="ar-AE" sz="900" i="1">
                            <a:latin typeface="Cambria Math" panose="02040503050406030204" pitchFamily="18" charset="0"/>
                          </a:rPr>
                        </m:ctrlPr>
                      </m:fPr>
                      <m:num>
                        <m:r>
                          <a:rPr lang="ar-AE" sz="900" i="1">
                            <a:latin typeface="Cambria Math" panose="02040503050406030204" pitchFamily="18" charset="0"/>
                          </a:rPr>
                          <m:t>𝐶</m:t>
                        </m:r>
                      </m:num>
                      <m:den>
                        <m:r>
                          <a:rPr lang="ar-AE" sz="900" i="1">
                            <a:latin typeface="Cambria Math" panose="02040503050406030204" pitchFamily="18" charset="0"/>
                          </a:rPr>
                          <m:t>𝑦</m:t>
                        </m:r>
                      </m:den>
                    </m:f>
                    <m:d>
                      <m:dPr>
                        <m:ctrlPr>
                          <a:rPr lang="ar-AE" sz="900" i="1">
                            <a:latin typeface="Cambria Math" panose="02040503050406030204" pitchFamily="18" charset="0"/>
                          </a:rPr>
                        </m:ctrlPr>
                      </m:dPr>
                      <m:e>
                        <m:r>
                          <a:rPr lang="ar-AE" sz="900">
                            <a:latin typeface="Cambria Math" panose="02040503050406030204" pitchFamily="18" charset="0"/>
                          </a:rPr>
                          <m:t>1</m:t>
                        </m:r>
                        <m:r>
                          <a:rPr lang="ar-AE" sz="900">
                            <a:latin typeface="Cambria Math" panose="02040503050406030204" pitchFamily="18" charset="0"/>
                          </a:rPr>
                          <m:t>−</m:t>
                        </m:r>
                        <m:f>
                          <m:fPr>
                            <m:ctrlPr>
                              <a:rPr lang="ar-AE" sz="900" i="1">
                                <a:latin typeface="Cambria Math" panose="02040503050406030204" pitchFamily="18" charset="0"/>
                              </a:rPr>
                            </m:ctrlPr>
                          </m:fPr>
                          <m:num>
                            <m:r>
                              <a:rPr lang="ar-AE" sz="900">
                                <a:latin typeface="Cambria Math" panose="02040503050406030204" pitchFamily="18" charset="0"/>
                              </a:rPr>
                              <m:t>1</m:t>
                            </m:r>
                          </m:num>
                          <m:den>
                            <m:d>
                              <m:dPr>
                                <m:endChr m:val=""/>
                                <m:ctrlPr>
                                  <a:rPr lang="ar-AE" sz="900" i="1">
                                    <a:latin typeface="Cambria Math" panose="02040503050406030204" pitchFamily="18" charset="0"/>
                                  </a:rPr>
                                </m:ctrlPr>
                              </m:dPr>
                              <m:e>
                                <m:r>
                                  <a:rPr lang="ar-AE" sz="900">
                                    <a:latin typeface="Cambria Math" panose="02040503050406030204" pitchFamily="18" charset="0"/>
                                  </a:rPr>
                                  <m:t>1</m:t>
                                </m:r>
                                <m:r>
                                  <a:rPr lang="ar-AE" sz="900">
                                    <a:latin typeface="Cambria Math" panose="02040503050406030204" pitchFamily="18" charset="0"/>
                                  </a:rPr>
                                  <m:t>+</m:t>
                                </m:r>
                                <m:r>
                                  <a:rPr lang="ar-AE" sz="900" i="1">
                                    <a:latin typeface="Cambria Math" panose="02040503050406030204" pitchFamily="18" charset="0"/>
                                  </a:rPr>
                                  <m:t>𝑦</m:t>
                                </m:r>
                                <m:r>
                                  <a:rPr lang="ar-AE" sz="900">
                                    <a:latin typeface="Cambria Math" panose="02040503050406030204" pitchFamily="18" charset="0"/>
                                  </a:rPr>
                                  <m:t>/</m:t>
                                </m:r>
                                <m:r>
                                  <a:rPr lang="ar-AE" sz="900">
                                    <a:latin typeface="Cambria Math" panose="02040503050406030204" pitchFamily="18" charset="0"/>
                                  </a:rPr>
                                  <m:t>2</m:t>
                                </m:r>
                                <m:sSup>
                                  <m:sSupPr>
                                    <m:ctrlPr>
                                      <a:rPr lang="ar-AE" sz="900" i="1">
                                        <a:latin typeface="Cambria Math" panose="02040503050406030204" pitchFamily="18" charset="0"/>
                                      </a:rPr>
                                    </m:ctrlPr>
                                  </m:sSupPr>
                                  <m:e>
                                    <m:d>
                                      <m:dPr>
                                        <m:begChr m:val=""/>
                                        <m:endChr m:val=""/>
                                        <m:ctrlPr>
                                          <a:rPr lang="ar-AE" sz="900" i="1">
                                            <a:latin typeface="Cambria Math" panose="02040503050406030204" pitchFamily="18" charset="0"/>
                                          </a:rPr>
                                        </m:ctrlPr>
                                      </m:dPr>
                                      <m:e>
                                        <m:r>
                                          <a:rPr lang="ar-AE" sz="900">
                                            <a:latin typeface="Cambria Math" panose="02040503050406030204" pitchFamily="18" charset="0"/>
                                          </a:rPr>
                                          <m:t>)</m:t>
                                        </m:r>
                                      </m:e>
                                    </m:d>
                                  </m:e>
                                  <m:sup>
                                    <m:r>
                                      <a:rPr lang="ar-AE" sz="900">
                                        <a:latin typeface="Cambria Math" panose="02040503050406030204" pitchFamily="18" charset="0"/>
                                      </a:rPr>
                                      <m:t>2</m:t>
                                    </m:r>
                                    <m:r>
                                      <a:rPr lang="ar-AE" sz="900" i="1">
                                        <a:latin typeface="Cambria Math" panose="02040503050406030204" pitchFamily="18" charset="0"/>
                                      </a:rPr>
                                      <m:t>𝑇</m:t>
                                    </m:r>
                                  </m:sup>
                                </m:sSup>
                              </m:e>
                            </m:d>
                          </m:den>
                        </m:f>
                      </m:e>
                    </m:d>
                  </m:oMath>
                </a14:m>
                <a:br>
                  <a:rPr lang="ar-AE" sz="900" dirty="0">
                    <a:latin typeface="Segoe WPC"/>
                  </a:rPr>
                </a:br>
                <a:r>
                  <a:rPr lang="es-PE" sz="900" dirty="0" err="1">
                    <a:latin typeface="Segoe WPC"/>
                  </a:rPr>
                  <a:t>Perpetuity</a:t>
                </a:r>
                <a:r>
                  <a:rPr lang="es-PE" sz="900" dirty="0">
                    <a:latin typeface="Segoe WPC"/>
                  </a:rPr>
                  <a:t>: </a:t>
                </a:r>
                <a14:m>
                  <m:oMath xmlns:m="http://schemas.openxmlformats.org/officeDocument/2006/math">
                    <m:r>
                      <a:rPr lang="es-PE" sz="900" i="1">
                        <a:latin typeface="Cambria Math" panose="02040503050406030204" pitchFamily="18" charset="0"/>
                      </a:rPr>
                      <m:t>𝑃𝑉</m:t>
                    </m:r>
                    <m:r>
                      <a:rPr lang="es-PE" sz="900">
                        <a:latin typeface="Cambria Math" panose="02040503050406030204" pitchFamily="18" charset="0"/>
                      </a:rPr>
                      <m:t>=</m:t>
                    </m:r>
                    <m:f>
                      <m:fPr>
                        <m:ctrlPr>
                          <a:rPr lang="ar-AE" sz="900" i="1">
                            <a:latin typeface="Cambria Math" panose="02040503050406030204" pitchFamily="18" charset="0"/>
                          </a:rPr>
                        </m:ctrlPr>
                      </m:fPr>
                      <m:num>
                        <m:r>
                          <a:rPr lang="ar-AE" sz="900" i="1">
                            <a:latin typeface="Cambria Math" panose="02040503050406030204" pitchFamily="18" charset="0"/>
                          </a:rPr>
                          <m:t>𝐶</m:t>
                        </m:r>
                      </m:num>
                      <m:den>
                        <m:r>
                          <a:rPr lang="ar-AE" sz="900" i="1">
                            <a:latin typeface="Cambria Math" panose="02040503050406030204" pitchFamily="18" charset="0"/>
                          </a:rPr>
                          <m:t>𝑦</m:t>
                        </m:r>
                      </m:den>
                    </m:f>
                  </m:oMath>
                </a14:m>
                <a:br>
                  <a:rPr lang="ar-AE" sz="900" dirty="0">
                    <a:latin typeface="Segoe WPC"/>
                  </a:rPr>
                </a:br>
                <a:r>
                  <a:rPr lang="es-PE" sz="900" b="1" dirty="0" err="1">
                    <a:latin typeface="Segoe WPC"/>
                  </a:rPr>
                  <a:t>Interpretation</a:t>
                </a:r>
                <a:r>
                  <a:rPr lang="es-PE" sz="900" b="1" dirty="0">
                    <a:latin typeface="Segoe WPC"/>
                  </a:rPr>
                  <a:t>:</a:t>
                </a:r>
                <a:r>
                  <a:rPr lang="es-PE" sz="900" dirty="0">
                    <a:latin typeface="Segoe WPC"/>
                  </a:rPr>
                  <a:t> Estas fórmulas simplifican mucho la valuación y ayudan a entender la estructura del precio del bono.</a:t>
                </a:r>
                <a:br>
                  <a:rPr lang="es-PE" sz="900" dirty="0">
                    <a:latin typeface="Segoe WPC"/>
                  </a:rPr>
                </a:br>
                <a:r>
                  <a:rPr lang="es-PE" sz="900" b="1" dirty="0" err="1">
                    <a:latin typeface="Segoe WPC"/>
                  </a:rPr>
                  <a:t>Exam</a:t>
                </a:r>
                <a:r>
                  <a:rPr lang="es-PE" sz="900" b="1" dirty="0">
                    <a:latin typeface="Segoe WPC"/>
                  </a:rPr>
                  <a:t> </a:t>
                </a:r>
                <a:r>
                  <a:rPr lang="es-PE" sz="900" b="1" dirty="0" err="1">
                    <a:latin typeface="Segoe WPC"/>
                  </a:rPr>
                  <a:t>Trap</a:t>
                </a:r>
                <a:r>
                  <a:rPr lang="es-PE" sz="900" b="1" dirty="0">
                    <a:latin typeface="Segoe WPC"/>
                  </a:rPr>
                  <a:t>:</a:t>
                </a:r>
                <a:r>
                  <a:rPr lang="es-PE" sz="900" dirty="0">
                    <a:latin typeface="Segoe WPC"/>
                  </a:rPr>
                  <a:t> Aquí </a:t>
                </a:r>
                <a14:m>
                  <m:oMath xmlns:m="http://schemas.openxmlformats.org/officeDocument/2006/math">
                    <m:r>
                      <a:rPr lang="es-PE" sz="900" i="1">
                        <a:latin typeface="Cambria Math" panose="02040503050406030204" pitchFamily="18" charset="0"/>
                      </a:rPr>
                      <m:t>𝐶</m:t>
                    </m:r>
                  </m:oMath>
                </a14:m>
                <a:r>
                  <a:rPr lang="es-PE" sz="900" dirty="0">
                    <a:latin typeface="Segoe WPC"/>
                  </a:rPr>
                  <a:t> es el cupón anual en dólares, no la tasa cupón porcentual.</a:t>
                </a:r>
                <a:endParaRPr lang="es-PE" sz="900" b="1" i="0" dirty="0">
                  <a:solidFill>
                    <a:schemeClr val="tx1"/>
                  </a:solidFill>
                  <a:effectLst/>
                  <a:latin typeface="Segoe WPC"/>
                </a:endParaRPr>
              </a:p>
              <a:p>
                <a:pPr algn="l">
                  <a:spcBef>
                    <a:spcPts val="300"/>
                  </a:spcBef>
                  <a:buFont typeface="+mj-lt"/>
                  <a:buAutoNum type="arabicPeriod"/>
                </a:pPr>
                <a:r>
                  <a:rPr lang="es-PE" sz="900" b="1" i="0" dirty="0" err="1">
                    <a:solidFill>
                      <a:schemeClr val="tx1"/>
                    </a:solidFill>
                    <a:effectLst/>
                    <a:latin typeface="Segoe WPC"/>
                  </a:rPr>
                  <a:t>Relationship</a:t>
                </a:r>
                <a:r>
                  <a:rPr lang="es-PE" sz="900" b="1" i="0" dirty="0">
                    <a:solidFill>
                      <a:schemeClr val="tx1"/>
                    </a:solidFill>
                    <a:effectLst/>
                    <a:latin typeface="Segoe WPC"/>
                  </a:rPr>
                  <a:t> Between Spot Rates and YTM</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Diferencia entre descontar con curva spot y resumir todo con YTM.</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precio correcto viene de spot </a:t>
                </a:r>
                <a:r>
                  <a:rPr lang="es-PE" sz="900" b="0" i="0" dirty="0" err="1">
                    <a:solidFill>
                      <a:schemeClr val="tx1"/>
                    </a:solidFill>
                    <a:effectLst/>
                    <a:latin typeface="Segoe WPC"/>
                  </a:rPr>
                  <a:t>rates</a:t>
                </a:r>
                <a:r>
                  <a:rPr lang="es-PE" sz="900" b="0" i="0" dirty="0">
                    <a:solidFill>
                      <a:schemeClr val="tx1"/>
                    </a:solidFill>
                    <a:effectLst/>
                    <a:latin typeface="Segoe WPC"/>
                  </a:rPr>
                  <a:t>; el YTM es solo la tasa única que reproduce ese precio.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curva spot es la fotografía detallada; el YTM es un resumen comprimido.</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r>
                  <a:rPr lang="es-PE" sz="900" b="0" i="0" dirty="0">
                    <a:solidFill>
                      <a:schemeClr val="tx1"/>
                    </a:solidFill>
                    <a:effectLst/>
                    <a:latin typeface="Segoe WPC"/>
                  </a:rPr>
                  <a:t>Precio por spots: </a:t>
                </a:r>
                <a14:m>
                  <m:oMath xmlns:m="http://schemas.openxmlformats.org/officeDocument/2006/math">
                    <m:r>
                      <a:rPr lang="es-PE" sz="900" i="1">
                        <a:solidFill>
                          <a:schemeClr val="tx1"/>
                        </a:solidFill>
                        <a:latin typeface="Cambria Math" panose="02040503050406030204" pitchFamily="18" charset="0"/>
                      </a:rPr>
                      <m:t>𝑃</m:t>
                    </m:r>
                    <m:r>
                      <a:rPr lang="es-PE" sz="900" i="0">
                        <a:solidFill>
                          <a:schemeClr val="tx1"/>
                        </a:solidFill>
                        <a:latin typeface="Cambria Math" panose="02040503050406030204" pitchFamily="18" charset="0"/>
                      </a:rPr>
                      <m:t>=</m:t>
                    </m:r>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𝑛</m:t>
                        </m:r>
                      </m:sup>
                      <m:e>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𝐶</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𝐹</m:t>
                                </m:r>
                              </m:e>
                              <m:sub>
                                <m:r>
                                  <a:rPr lang="ar-AE" sz="900" i="1">
                                    <a:solidFill>
                                      <a:schemeClr val="tx1"/>
                                    </a:solidFill>
                                    <a:latin typeface="Cambria Math" panose="02040503050406030204" pitchFamily="18" charset="0"/>
                                  </a:rPr>
                                  <m:t>𝑖</m:t>
                                </m:r>
                              </m:sub>
                            </m:sSub>
                          </m:num>
                          <m:den>
                            <m:sSup>
                              <m:sSupPr>
                                <m:ctrlPr>
                                  <a:rPr lang="ar-AE" sz="900" i="1">
                                    <a:solidFill>
                                      <a:schemeClr val="tx1"/>
                                    </a:solidFill>
                                    <a:latin typeface="Cambria Math" panose="02040503050406030204" pitchFamily="18" charset="0"/>
                                  </a:rPr>
                                </m:ctrlPr>
                              </m:sSupPr>
                              <m:e>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e>
                                </m:d>
                              </m:e>
                              <m:sup>
                                <m:r>
                                  <a:rPr lang="ar-AE" sz="900" i="1">
                                    <a:solidFill>
                                      <a:schemeClr val="tx1"/>
                                    </a:solidFill>
                                    <a:latin typeface="Cambria Math" panose="02040503050406030204" pitchFamily="18" charset="0"/>
                                  </a:rPr>
                                  <m:t>𝑖</m:t>
                                </m:r>
                              </m:sup>
                            </m:sSup>
                          </m:den>
                        </m:f>
                      </m:e>
                    </m:nary>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Si la </a:t>
                </a:r>
                <a:r>
                  <a:rPr lang="es-PE" sz="900" b="0" i="0" dirty="0" err="1">
                    <a:solidFill>
                      <a:schemeClr val="tx1"/>
                    </a:solidFill>
                    <a:effectLst/>
                    <a:latin typeface="Segoe WPC"/>
                  </a:rPr>
                  <a:t>term</a:t>
                </a:r>
                <a:r>
                  <a:rPr lang="es-PE" sz="900" b="0" i="0" dirty="0">
                    <a:solidFill>
                      <a:schemeClr val="tx1"/>
                    </a:solidFill>
                    <a:effectLst/>
                    <a:latin typeface="Segoe WPC"/>
                  </a:rPr>
                  <a:t> </a:t>
                </a:r>
                <a:r>
                  <a:rPr lang="es-PE" sz="900" b="0" i="0" dirty="0" err="1">
                    <a:solidFill>
                      <a:schemeClr val="tx1"/>
                    </a:solidFill>
                    <a:effectLst/>
                    <a:latin typeface="Segoe WPC"/>
                  </a:rPr>
                  <a:t>structure</a:t>
                </a:r>
                <a:r>
                  <a:rPr lang="es-PE" sz="900" b="0" i="0" dirty="0">
                    <a:solidFill>
                      <a:schemeClr val="tx1"/>
                    </a:solidFill>
                    <a:effectLst/>
                    <a:latin typeface="Segoe WPC"/>
                  </a:rPr>
                  <a:t> es plana, entonces YTM = spot </a:t>
                </a:r>
                <a:r>
                  <a:rPr lang="es-PE" sz="900" b="0" i="0" dirty="0" err="1">
                    <a:solidFill>
                      <a:schemeClr val="tx1"/>
                    </a:solidFill>
                    <a:effectLst/>
                    <a:latin typeface="Segoe WPC"/>
                  </a:rPr>
                  <a:t>rate</a:t>
                </a:r>
                <a:r>
                  <a:rPr lang="es-PE" sz="900" b="0" i="0" dirty="0">
                    <a:solidFill>
                      <a:schemeClr val="tx1"/>
                    </a:solidFill>
                    <a:effectLst/>
                    <a:latin typeface="Segoe WPC"/>
                  </a:rPr>
                  <a:t> para todos los vencimientos; si no, no.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interpretar el YTM como si fuera la tasa spot del vencimiento final salvo en curva plana o </a:t>
                </a:r>
                <a:r>
                  <a:rPr lang="es-PE" sz="900" b="0" i="0" dirty="0" err="1">
                    <a:solidFill>
                      <a:schemeClr val="tx1"/>
                    </a:solidFill>
                    <a:effectLst/>
                    <a:latin typeface="Segoe WPC"/>
                  </a:rPr>
                  <a:t>zero-coupon</a:t>
                </a:r>
                <a:r>
                  <a:rPr lang="es-PE" sz="900" b="0" i="0" dirty="0">
                    <a:solidFill>
                      <a:schemeClr val="tx1"/>
                    </a:solidFill>
                    <a:effectLst/>
                    <a:latin typeface="Segoe WPC"/>
                  </a:rPr>
                  <a:t> </a:t>
                </a:r>
                <a:r>
                  <a:rPr lang="es-PE" sz="900" b="0" i="0" dirty="0" err="1">
                    <a:solidFill>
                      <a:schemeClr val="tx1"/>
                    </a:solidFill>
                    <a:effectLst/>
                    <a:latin typeface="Segoe WPC"/>
                  </a:rPr>
                  <a:t>bonds</a:t>
                </a:r>
                <a:r>
                  <a:rPr lang="es-PE" sz="900" b="0" i="0" dirty="0">
                    <a:solidFill>
                      <a:schemeClr val="tx1"/>
                    </a:solidFill>
                    <a:effectLst/>
                    <a:latin typeface="Segoe WPC"/>
                  </a:rPr>
                  <a:t>.</a:t>
                </a:r>
              </a:p>
              <a:p>
                <a:pPr algn="l">
                  <a:spcBef>
                    <a:spcPts val="300"/>
                  </a:spcBef>
                  <a:buFont typeface="+mj-lt"/>
                  <a:buAutoNum type="arabicPeriod"/>
                </a:pPr>
                <a:r>
                  <a:rPr lang="es-PE" sz="900" b="1" i="0" dirty="0" err="1">
                    <a:solidFill>
                      <a:schemeClr val="tx1"/>
                    </a:solidFill>
                    <a:effectLst/>
                    <a:latin typeface="Segoe WPC"/>
                  </a:rPr>
                  <a:t>Coupon</a:t>
                </a:r>
                <a:r>
                  <a:rPr lang="es-PE" sz="900" b="1" i="0" dirty="0">
                    <a:solidFill>
                      <a:schemeClr val="tx1"/>
                    </a:solidFill>
                    <a:effectLst/>
                    <a:latin typeface="Segoe WPC"/>
                  </a:rPr>
                  <a:t> </a:t>
                </a:r>
                <a:r>
                  <a:rPr lang="es-PE" sz="900" b="1" i="0" dirty="0" err="1">
                    <a:solidFill>
                      <a:schemeClr val="tx1"/>
                    </a:solidFill>
                    <a:effectLst/>
                    <a:latin typeface="Segoe WPC"/>
                  </a:rPr>
                  <a:t>Effect</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Relación entre </a:t>
                </a:r>
                <a:r>
                  <a:rPr lang="es-PE" sz="900" b="0" i="0" dirty="0" err="1">
                    <a:solidFill>
                      <a:schemeClr val="tx1"/>
                    </a:solidFill>
                    <a:effectLst/>
                    <a:latin typeface="Segoe WPC"/>
                  </a:rPr>
                  <a:t>coupon</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YTM y precio cuando bonos tienen misma madurez pero distintos cupones.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Dos bonos con mismo vencimiento pueden tener distinto YTM solo por tener cupones distintos.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Cuanto más alto el cupón, más peso tienen los cash </a:t>
                </a:r>
                <a:r>
                  <a:rPr lang="es-PE" sz="900" b="0" i="0" dirty="0" err="1">
                    <a:solidFill>
                      <a:schemeClr val="tx1"/>
                    </a:solidFill>
                    <a:effectLst/>
                    <a:latin typeface="Segoe WPC"/>
                  </a:rPr>
                  <a:t>flows</a:t>
                </a:r>
                <a:r>
                  <a:rPr lang="es-PE" sz="900" b="0" i="0" dirty="0">
                    <a:solidFill>
                      <a:schemeClr val="tx1"/>
                    </a:solidFill>
                    <a:effectLst/>
                    <a:latin typeface="Segoe WPC"/>
                  </a:rPr>
                  <a:t> tempranos.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No hay una fórmula nueva; el efecto surge de</a:t>
                </a:r>
                <a:br>
                  <a:rPr lang="es-PE" sz="900" b="0" i="0" dirty="0">
                    <a:solidFill>
                      <a:schemeClr val="tx1"/>
                    </a:solidFill>
                    <a:effectLst/>
                    <a:latin typeface="Segoe WPC"/>
                  </a:rPr>
                </a:br>
                <a14:m>
                  <m:oMath xmlns:m="http://schemas.openxmlformats.org/officeDocument/2006/math">
                    <m:r>
                      <a:rPr lang="es-PE" sz="900" i="1">
                        <a:solidFill>
                          <a:schemeClr val="tx1"/>
                        </a:solidFill>
                        <a:latin typeface="Cambria Math" panose="02040503050406030204" pitchFamily="18" charset="0"/>
                      </a:rPr>
                      <m:t>𝑃</m:t>
                    </m:r>
                    <m:r>
                      <a:rPr lang="es-PE" sz="900" i="0">
                        <a:solidFill>
                          <a:schemeClr val="tx1"/>
                        </a:solidFill>
                        <a:latin typeface="Cambria Math" panose="02040503050406030204" pitchFamily="18" charset="0"/>
                      </a:rPr>
                      <m:t>=</m:t>
                    </m:r>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𝑛</m:t>
                        </m:r>
                      </m:sup>
                      <m:e>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𝐶</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𝐹</m:t>
                                </m:r>
                              </m:e>
                              <m:sub>
                                <m:r>
                                  <a:rPr lang="ar-AE" sz="900" i="1">
                                    <a:solidFill>
                                      <a:schemeClr val="tx1"/>
                                    </a:solidFill>
                                    <a:latin typeface="Cambria Math" panose="02040503050406030204" pitchFamily="18" charset="0"/>
                                  </a:rPr>
                                  <m:t>𝑖</m:t>
                                </m:r>
                              </m:sub>
                            </m:sSub>
                          </m:num>
                          <m:den>
                            <m:sSup>
                              <m:sSupPr>
                                <m:ctrlPr>
                                  <a:rPr lang="ar-AE" sz="900" i="1">
                                    <a:solidFill>
                                      <a:schemeClr val="tx1"/>
                                    </a:solidFill>
                                    <a:latin typeface="Cambria Math" panose="02040503050406030204" pitchFamily="18" charset="0"/>
                                  </a:rPr>
                                </m:ctrlPr>
                              </m:sSupPr>
                              <m:e>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e>
                                </m:d>
                              </m:e>
                              <m:sup>
                                <m:r>
                                  <a:rPr lang="ar-AE" sz="900" i="1">
                                    <a:solidFill>
                                      <a:schemeClr val="tx1"/>
                                    </a:solidFill>
                                    <a:latin typeface="Cambria Math" panose="02040503050406030204" pitchFamily="18" charset="0"/>
                                  </a:rPr>
                                  <m:t>𝑖</m:t>
                                </m:r>
                              </m:sup>
                            </m:sSup>
                          </m:den>
                        </m:f>
                      </m:e>
                    </m:nary>
                  </m:oMath>
                </a14:m>
                <a:br>
                  <a:rPr lang="ar-AE" sz="900" b="0" i="0" dirty="0">
                    <a:solidFill>
                      <a:schemeClr val="tx1"/>
                    </a:solidFill>
                    <a:effectLst/>
                    <a:latin typeface="Segoe WPC"/>
                  </a:rPr>
                </a:br>
                <a:r>
                  <a:rPr lang="es-PE" sz="900" b="0" i="0" dirty="0">
                    <a:solidFill>
                      <a:schemeClr val="tx1"/>
                    </a:solidFill>
                    <a:effectLst/>
                    <a:latin typeface="Segoe WPC"/>
                  </a:rPr>
                  <a:t>y luego se resume con un único </a:t>
                </a:r>
                <a14:m>
                  <m:oMath xmlns:m="http://schemas.openxmlformats.org/officeDocument/2006/math">
                    <m:r>
                      <a:rPr lang="es-PE" sz="900" i="1">
                        <a:solidFill>
                          <a:schemeClr val="tx1"/>
                        </a:solidFill>
                        <a:latin typeface="Cambria Math" panose="02040503050406030204" pitchFamily="18" charset="0"/>
                      </a:rPr>
                      <m:t>𝑦</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En curva </a:t>
                </a:r>
                <a:r>
                  <a:rPr lang="es-PE" sz="900" b="0" i="0" dirty="0" err="1">
                    <a:solidFill>
                      <a:schemeClr val="tx1"/>
                    </a:solidFill>
                    <a:effectLst/>
                    <a:latin typeface="Segoe WPC"/>
                  </a:rPr>
                  <a:t>upward-sloping</a:t>
                </a:r>
                <a:r>
                  <a:rPr lang="es-PE" sz="900" b="0" i="0" dirty="0">
                    <a:solidFill>
                      <a:schemeClr val="tx1"/>
                    </a:solidFill>
                    <a:effectLst/>
                    <a:latin typeface="Segoe WPC"/>
                  </a:rPr>
                  <a:t>, el YTM cae cuando el cupón sube; en curva </a:t>
                </a:r>
                <a:r>
                  <a:rPr lang="es-PE" sz="900" b="0" i="0" dirty="0" err="1">
                    <a:solidFill>
                      <a:schemeClr val="tx1"/>
                    </a:solidFill>
                    <a:effectLst/>
                    <a:latin typeface="Segoe WPC"/>
                  </a:rPr>
                  <a:t>downward-sloping</a:t>
                </a:r>
                <a:r>
                  <a:rPr lang="es-PE" sz="900" b="0" i="0" dirty="0">
                    <a:solidFill>
                      <a:schemeClr val="tx1"/>
                    </a:solidFill>
                    <a:effectLst/>
                    <a:latin typeface="Segoe WPC"/>
                  </a:rPr>
                  <a:t>, el YTM sube cuando el cupón sube.</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El YTM no es una medida confiable de valor relativo entre bonos con distintos cupones.</a:t>
                </a:r>
              </a:p>
              <a:p>
                <a:pPr algn="l">
                  <a:spcBef>
                    <a:spcPts val="300"/>
                  </a:spcBef>
                  <a:buFont typeface="+mj-lt"/>
                  <a:buAutoNum type="arabicPeriod"/>
                </a:pPr>
                <a:r>
                  <a:rPr lang="es-PE" sz="900" b="1" i="0" dirty="0" err="1">
                    <a:solidFill>
                      <a:schemeClr val="tx1"/>
                    </a:solidFill>
                    <a:effectLst/>
                    <a:latin typeface="Segoe WPC"/>
                  </a:rPr>
                  <a:t>Carry</a:t>
                </a:r>
                <a:r>
                  <a:rPr lang="es-PE" sz="900" b="1" i="0" dirty="0">
                    <a:solidFill>
                      <a:schemeClr val="tx1"/>
                    </a:solidFill>
                    <a:effectLst/>
                    <a:latin typeface="Segoe WPC"/>
                  </a:rPr>
                  <a:t> Roll-Down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Parte del retorno esperada si ciertos supuestos sobre tasas se cumplen y no hay shocks inesperados.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Es el rendimiento “mecánico” del bono por el paso del tiempo, el cobro del cupón y el movimiento natural sobre la curva.</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Mantienes el bono, el reloj avanza, el bono se acerca al vencimiento y genera </a:t>
                </a:r>
                <a:r>
                  <a:rPr lang="es-PE" sz="900" b="0" i="0" dirty="0" err="1">
                    <a:solidFill>
                      <a:schemeClr val="tx1"/>
                    </a:solidFill>
                    <a:effectLst/>
                    <a:latin typeface="Segoe WPC"/>
                  </a:rPr>
                  <a:t>carry</a:t>
                </a:r>
                <a:r>
                  <a:rPr lang="es-PE" sz="900" b="0" i="0" dirty="0">
                    <a:solidFill>
                      <a:schemeClr val="tx1"/>
                    </a:solidFill>
                    <a:effectLst/>
                    <a:latin typeface="Segoe WPC"/>
                  </a:rPr>
                  <a:t> más roll-</a:t>
                </a:r>
                <a:r>
                  <a:rPr lang="es-PE" sz="900" b="0" i="0" dirty="0" err="1">
                    <a:solidFill>
                      <a:schemeClr val="tx1"/>
                    </a:solidFill>
                    <a:effectLst/>
                    <a:latin typeface="Segoe WPC"/>
                  </a:rPr>
                  <a:t>down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 xmlns:m="http://schemas.openxmlformats.org/officeDocument/2006/math">
                    <m:r>
                      <m:rPr>
                        <m:nor/>
                      </m:rPr>
                      <a:rPr lang="es-PE" sz="900" b="0">
                        <a:solidFill>
                          <a:schemeClr val="tx1"/>
                        </a:solidFill>
                      </a:rPr>
                      <m:t>Carry</m:t>
                    </m:r>
                    <m:r>
                      <m:rPr>
                        <m:nor/>
                      </m:rPr>
                      <a:rPr lang="es-PE" sz="900" b="0">
                        <a:solidFill>
                          <a:schemeClr val="tx1"/>
                        </a:solidFill>
                      </a:rPr>
                      <m:t> </m:t>
                    </m:r>
                    <m:r>
                      <m:rPr>
                        <m:nor/>
                      </m:rPr>
                      <a:rPr lang="es-PE" sz="900" b="0">
                        <a:solidFill>
                          <a:schemeClr val="tx1"/>
                        </a:solidFill>
                      </a:rPr>
                      <m:t>Roll</m:t>
                    </m:r>
                    <m:r>
                      <m:rPr>
                        <m:nor/>
                      </m:rPr>
                      <a:rPr lang="es-PE" sz="900" b="0">
                        <a:solidFill>
                          <a:schemeClr val="tx1"/>
                        </a:solidFill>
                      </a:rPr>
                      <m:t>−</m:t>
                    </m:r>
                    <m:r>
                      <m:rPr>
                        <m:nor/>
                      </m:rPr>
                      <a:rPr lang="es-PE" sz="900" b="0">
                        <a:solidFill>
                          <a:schemeClr val="tx1"/>
                        </a:solidFill>
                      </a:rPr>
                      <m:t>Down</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cash</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carry</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expected</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price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change</m:t>
                    </m:r>
                  </m:oMath>
                </a14:m>
                <a:br>
                  <a:rPr lang="es-PE" sz="900" b="0" i="0" dirty="0">
                    <a:solidFill>
                      <a:schemeClr val="tx1"/>
                    </a:solidFill>
                    <a:effectLst/>
                    <a:latin typeface="Segoe WPC"/>
                  </a:rPr>
                </a:br>
                <a:r>
                  <a:rPr lang="es-PE" sz="900" b="0" i="0" dirty="0">
                    <a:solidFill>
                      <a:schemeClr val="tx1"/>
                    </a:solidFill>
                    <a:effectLst/>
                    <a:latin typeface="Segoe WPC"/>
                  </a:rPr>
                  <a:t>Bajo la hipótesis de que se realizan las forward </a:t>
                </a:r>
                <a:r>
                  <a:rPr lang="es-PE" sz="900" b="0" i="0" dirty="0" err="1">
                    <a:solidFill>
                      <a:schemeClr val="tx1"/>
                    </a:solidFill>
                    <a:effectLst/>
                    <a:latin typeface="Segoe WPC"/>
                  </a:rPr>
                  <a:t>rates</a:t>
                </a:r>
                <a:r>
                  <a:rPr lang="es-PE" sz="900" b="0" i="0" dirty="0">
                    <a:solidFill>
                      <a:schemeClr val="tx1"/>
                    </a:solidFill>
                    <a:effectLst/>
                    <a:latin typeface="Segoe WPC"/>
                  </a:rPr>
                  <a:t> para el próximo período:</a:t>
                </a:r>
                <a:br>
                  <a:rPr lang="es-PE" sz="900" b="0" i="0" dirty="0">
                    <a:solidFill>
                      <a:schemeClr val="tx1"/>
                    </a:solidFill>
                    <a:effectLst/>
                    <a:latin typeface="Segoe WPC"/>
                  </a:rPr>
                </a:br>
                <a14:m>
                  <m:oMath xmlns:m="http://schemas.openxmlformats.org/officeDocument/2006/math">
                    <m:r>
                      <m:rPr>
                        <m:nor/>
                      </m:rPr>
                      <a:rPr lang="es-PE" sz="900" b="0">
                        <a:solidFill>
                          <a:schemeClr val="tx1"/>
                        </a:solidFill>
                      </a:rPr>
                      <m:t>CRD</m:t>
                    </m:r>
                    <m:r>
                      <m:rPr>
                        <m:nor/>
                      </m:rPr>
                      <a:rPr lang="es-PE" sz="900" b="0">
                        <a:solidFill>
                          <a:schemeClr val="tx1"/>
                        </a:solidFill>
                      </a:rPr>
                      <m:t> </m:t>
                    </m:r>
                    <m:r>
                      <m:rPr>
                        <m:nor/>
                      </m:rPr>
                      <a:rPr lang="es-PE" sz="900" b="0">
                        <a:solidFill>
                          <a:schemeClr val="tx1"/>
                        </a:solidFill>
                      </a:rPr>
                      <m:t>return</m:t>
                    </m:r>
                    <m:r>
                      <a:rPr lang="es-P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𝑟</m:t>
                        </m:r>
                      </m:e>
                      <m:sub>
                        <m:r>
                          <m:rPr>
                            <m:nor/>
                          </m:rPr>
                          <a:rPr lang="es-PE" sz="900" b="0" i="1">
                            <a:solidFill>
                              <a:schemeClr val="tx1"/>
                            </a:solidFill>
                            <a:latin typeface="Cambria Math" panose="02040503050406030204" pitchFamily="18" charset="0"/>
                          </a:rPr>
                          <m:t>next</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period</m:t>
                        </m:r>
                      </m:sub>
                    </m:sSub>
                    <m:r>
                      <a:rPr lang="ar-A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𝑃</m:t>
                        </m:r>
                      </m:e>
                      <m:sub>
                        <m:r>
                          <a:rPr lang="ar-AE" sz="900" b="0" i="0">
                            <a:solidFill>
                              <a:schemeClr val="tx1"/>
                            </a:solidFill>
                            <a:latin typeface="Cambria Math" panose="02040503050406030204" pitchFamily="18" charset="0"/>
                          </a:rPr>
                          <m:t>0</m:t>
                        </m:r>
                      </m:sub>
                    </m:sSub>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Es una estimación ex ante del retorno si el entorno de tasas evoluciona como se supuso.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El </a:t>
                </a:r>
                <a:r>
                  <a:rPr lang="es-PE" sz="900" b="0" i="0" dirty="0" err="1">
                    <a:solidFill>
                      <a:schemeClr val="tx1"/>
                    </a:solidFill>
                    <a:effectLst/>
                    <a:latin typeface="Segoe WPC"/>
                  </a:rPr>
                  <a:t>carry</a:t>
                </a:r>
                <a:r>
                  <a:rPr lang="es-PE" sz="900" b="0" i="0" dirty="0">
                    <a:solidFill>
                      <a:schemeClr val="tx1"/>
                    </a:solidFill>
                    <a:effectLst/>
                    <a:latin typeface="Segoe WPC"/>
                  </a:rPr>
                  <a:t> roll-</a:t>
                </a:r>
                <a:r>
                  <a:rPr lang="es-PE" sz="900" b="0" i="0" dirty="0" err="1">
                    <a:solidFill>
                      <a:schemeClr val="tx1"/>
                    </a:solidFill>
                    <a:effectLst/>
                    <a:latin typeface="Segoe WPC"/>
                  </a:rPr>
                  <a:t>down</a:t>
                </a:r>
                <a:r>
                  <a:rPr lang="es-PE" sz="900" b="0" i="0" dirty="0">
                    <a:solidFill>
                      <a:schemeClr val="tx1"/>
                    </a:solidFill>
                    <a:effectLst/>
                    <a:latin typeface="Segoe WPC"/>
                  </a:rPr>
                  <a:t> depende totalmente del supuesto usado: forward </a:t>
                </a:r>
                <a:r>
                  <a:rPr lang="es-PE" sz="900" b="0" i="0" dirty="0" err="1">
                    <a:solidFill>
                      <a:schemeClr val="tx1"/>
                    </a:solidFill>
                    <a:effectLst/>
                    <a:latin typeface="Segoe WPC"/>
                  </a:rPr>
                  <a:t>rates</a:t>
                </a:r>
                <a:r>
                  <a:rPr lang="es-PE" sz="900" b="0" i="0" dirty="0">
                    <a:solidFill>
                      <a:schemeClr val="tx1"/>
                    </a:solidFill>
                    <a:effectLst/>
                    <a:latin typeface="Segoe WPC"/>
                  </a:rPr>
                  <a:t> </a:t>
                </a:r>
                <a:r>
                  <a:rPr lang="es-PE" sz="900" b="0" i="0" dirty="0" err="1">
                    <a:solidFill>
                      <a:schemeClr val="tx1"/>
                    </a:solidFill>
                    <a:effectLst/>
                    <a:latin typeface="Segoe WPC"/>
                  </a:rPr>
                  <a:t>realized</a:t>
                </a:r>
                <a:r>
                  <a:rPr lang="es-PE" sz="900" b="0" i="0" dirty="0">
                    <a:solidFill>
                      <a:schemeClr val="tx1"/>
                    </a:solidFill>
                    <a:effectLst/>
                    <a:latin typeface="Segoe WPC"/>
                  </a:rPr>
                  <a:t>, </a:t>
                </a:r>
                <a:r>
                  <a:rPr lang="es-PE" sz="900" b="0" i="0" dirty="0" err="1">
                    <a:solidFill>
                      <a:schemeClr val="tx1"/>
                    </a:solidFill>
                    <a:effectLst/>
                    <a:latin typeface="Segoe WPC"/>
                  </a:rPr>
                  <a:t>unchanged</a:t>
                </a:r>
                <a:r>
                  <a:rPr lang="es-PE" sz="900" b="0" i="0" dirty="0">
                    <a:solidFill>
                      <a:schemeClr val="tx1"/>
                    </a:solidFill>
                    <a:effectLst/>
                    <a:latin typeface="Segoe WPC"/>
                  </a:rPr>
                  <a:t> </a:t>
                </a:r>
                <a:r>
                  <a:rPr lang="es-PE" sz="900" b="0" i="0" dirty="0" err="1">
                    <a:solidFill>
                      <a:schemeClr val="tx1"/>
                    </a:solidFill>
                    <a:effectLst/>
                    <a:latin typeface="Segoe WPC"/>
                  </a:rPr>
                  <a:t>term</a:t>
                </a:r>
                <a:r>
                  <a:rPr lang="es-PE" sz="900" b="0" i="0" dirty="0">
                    <a:solidFill>
                      <a:schemeClr val="tx1"/>
                    </a:solidFill>
                    <a:effectLst/>
                    <a:latin typeface="Segoe WPC"/>
                  </a:rPr>
                  <a:t> </a:t>
                </a:r>
                <a:r>
                  <a:rPr lang="es-PE" sz="900" b="0" i="0" dirty="0" err="1">
                    <a:solidFill>
                      <a:schemeClr val="tx1"/>
                    </a:solidFill>
                    <a:effectLst/>
                    <a:latin typeface="Segoe WPC"/>
                  </a:rPr>
                  <a:t>structure</a:t>
                </a:r>
                <a:r>
                  <a:rPr lang="es-PE" sz="900" b="0" i="0" dirty="0">
                    <a:solidFill>
                      <a:schemeClr val="tx1"/>
                    </a:solidFill>
                    <a:effectLst/>
                    <a:latin typeface="Segoe WPC"/>
                  </a:rPr>
                  <a:t> o </a:t>
                </a:r>
                <a:r>
                  <a:rPr lang="es-PE" sz="900" b="0" i="0" dirty="0" err="1">
                    <a:solidFill>
                      <a:schemeClr val="tx1"/>
                    </a:solidFill>
                    <a:effectLst/>
                    <a:latin typeface="Segoe WPC"/>
                  </a:rPr>
                  <a:t>unchanged</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a:t>
                </a:r>
              </a:p>
            </p:txBody>
          </p:sp>
        </mc:Choice>
        <mc:Fallback xmlns="">
          <p:sp>
            <p:nvSpPr>
              <p:cNvPr id="9" name="CuadroTexto 8">
                <a:extLst>
                  <a:ext uri="{FF2B5EF4-FFF2-40B4-BE49-F238E27FC236}">
                    <a16:creationId xmlns:a16="http://schemas.microsoft.com/office/drawing/2014/main" id="{4C36993F-A7D1-A4E8-A287-60DC4DA6EB6A}"/>
                  </a:ext>
                </a:extLst>
              </p:cNvPr>
              <p:cNvSpPr txBox="1">
                <a:spLocks noRot="1" noChangeAspect="1" noMove="1" noResize="1" noEditPoints="1" noAdjustHandles="1" noChangeArrowheads="1" noChangeShapeType="1" noTextEdit="1"/>
              </p:cNvSpPr>
              <p:nvPr/>
            </p:nvSpPr>
            <p:spPr>
              <a:xfrm>
                <a:off x="6349999" y="0"/>
                <a:ext cx="6135914" cy="6945363"/>
              </a:xfrm>
              <a:prstGeom prst="rect">
                <a:avLst/>
              </a:prstGeom>
              <a:blipFill>
                <a:blip r:embed="rId3"/>
                <a:stretch>
                  <a:fillRect t="-176"/>
                </a:stretch>
              </a:blipFill>
            </p:spPr>
            <p:txBody>
              <a:bodyPr/>
              <a:lstStyle/>
              <a:p>
                <a:r>
                  <a:rPr lang="es-PE">
                    <a:noFill/>
                  </a:rPr>
                  <a:t> </a:t>
                </a:r>
              </a:p>
            </p:txBody>
          </p:sp>
        </mc:Fallback>
      </mc:AlternateContent>
    </p:spTree>
    <p:extLst>
      <p:ext uri="{BB962C8B-B14F-4D97-AF65-F5344CB8AC3E}">
        <p14:creationId xmlns:p14="http://schemas.microsoft.com/office/powerpoint/2010/main" val="21107076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DDAD203C-BEA8-DD0B-2F1D-93AF191839E1}"/>
                  </a:ext>
                </a:extLst>
              </p:cNvPr>
              <p:cNvSpPr txBox="1"/>
              <p:nvPr/>
            </p:nvSpPr>
            <p:spPr>
              <a:xfrm>
                <a:off x="190500" y="1928466"/>
                <a:ext cx="6096000" cy="3454792"/>
              </a:xfrm>
              <a:prstGeom prst="rect">
                <a:avLst/>
              </a:prstGeom>
              <a:noFill/>
            </p:spPr>
            <p:txBody>
              <a:bodyPr wrap="square">
                <a:spAutoFit/>
              </a:bodyPr>
              <a:lstStyle/>
              <a:p>
                <a:pPr algn="l">
                  <a:spcBef>
                    <a:spcPts val="300"/>
                  </a:spcBef>
                  <a:buFont typeface="+mj-lt"/>
                  <a:buAutoNum type="arabicPeriod"/>
                </a:pPr>
                <a:r>
                  <a:rPr lang="es-PE" sz="900" b="1" i="0" dirty="0">
                    <a:solidFill>
                      <a:schemeClr val="tx1"/>
                    </a:solidFill>
                    <a:effectLst/>
                    <a:latin typeface="Segoe WPC"/>
                  </a:rPr>
                  <a:t>Alternative </a:t>
                </a:r>
                <a:r>
                  <a:rPr lang="es-PE" sz="900" b="1" i="0" dirty="0" err="1">
                    <a:solidFill>
                      <a:schemeClr val="tx1"/>
                    </a:solidFill>
                    <a:effectLst/>
                    <a:latin typeface="Segoe WPC"/>
                  </a:rPr>
                  <a:t>Carry</a:t>
                </a:r>
                <a:r>
                  <a:rPr lang="es-PE" sz="900" b="1" i="0" dirty="0">
                    <a:solidFill>
                      <a:schemeClr val="tx1"/>
                    </a:solidFill>
                    <a:effectLst/>
                    <a:latin typeface="Segoe WPC"/>
                  </a:rPr>
                  <a:t> Roll-Down </a:t>
                </a:r>
                <a:r>
                  <a:rPr lang="es-PE" sz="900" b="1" i="0" dirty="0" err="1">
                    <a:solidFill>
                      <a:schemeClr val="tx1"/>
                    </a:solidFill>
                    <a:effectLst/>
                    <a:latin typeface="Segoe WPC"/>
                  </a:rPr>
                  <a:t>Assumptions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Supuestos posibles al proyectar el retorno mecánico del bono.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Puedes asumir que se realizan las forward </a:t>
                </a:r>
                <a:r>
                  <a:rPr lang="es-PE" sz="900" b="0" i="0" dirty="0" err="1">
                    <a:solidFill>
                      <a:schemeClr val="tx1"/>
                    </a:solidFill>
                    <a:effectLst/>
                    <a:latin typeface="Segoe WPC"/>
                  </a:rPr>
                  <a:t>rates</a:t>
                </a:r>
                <a:r>
                  <a:rPr lang="es-PE" sz="900" b="0" i="0" dirty="0">
                    <a:solidFill>
                      <a:schemeClr val="tx1"/>
                    </a:solidFill>
                    <a:effectLst/>
                    <a:latin typeface="Segoe WPC"/>
                  </a:rPr>
                  <a:t>, que la curva no cambia de forma o que el YTM permanece fijo.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Tres formas distintas de “congelar” el futuro de tasas producen tres </a:t>
                </a:r>
                <a:r>
                  <a:rPr lang="es-PE" sz="900" b="0" i="0" dirty="0" err="1">
                    <a:solidFill>
                      <a:schemeClr val="tx1"/>
                    </a:solidFill>
                    <a:effectLst/>
                    <a:latin typeface="Segoe WPC"/>
                  </a:rPr>
                  <a:t>carry</a:t>
                </a:r>
                <a:r>
                  <a:rPr lang="es-PE" sz="900" b="0" i="0" dirty="0">
                    <a:solidFill>
                      <a:schemeClr val="tx1"/>
                    </a:solidFill>
                    <a:effectLst/>
                    <a:latin typeface="Segoe WPC"/>
                  </a:rPr>
                  <a:t> roll-</a:t>
                </a:r>
                <a:r>
                  <a:rPr lang="es-PE" sz="900" b="0" i="0" dirty="0" err="1">
                    <a:solidFill>
                      <a:schemeClr val="tx1"/>
                    </a:solidFill>
                    <a:effectLst/>
                    <a:latin typeface="Segoe WPC"/>
                  </a:rPr>
                  <a:t>downs</a:t>
                </a:r>
                <a:r>
                  <a:rPr lang="es-PE" sz="900" b="0" i="0" dirty="0">
                    <a:solidFill>
                      <a:schemeClr val="tx1"/>
                    </a:solidFill>
                    <a:effectLst/>
                    <a:latin typeface="Segoe WPC"/>
                  </a:rPr>
                  <a:t> distintos.</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r>
                  <a:rPr lang="es-PE" sz="900" b="0" i="0" dirty="0">
                    <a:solidFill>
                      <a:schemeClr val="tx1"/>
                    </a:solidFill>
                    <a:effectLst/>
                    <a:latin typeface="Segoe WPC"/>
                  </a:rPr>
                  <a:t>No hay una única fórmula universal; cambia según el supuesto.</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El supuesto más común es que las forward </a:t>
                </a:r>
                <a:r>
                  <a:rPr lang="es-PE" sz="900" b="0" i="0" dirty="0" err="1">
                    <a:solidFill>
                      <a:schemeClr val="tx1"/>
                    </a:solidFill>
                    <a:effectLst/>
                    <a:latin typeface="Segoe WPC"/>
                  </a:rPr>
                  <a:t>rates</a:t>
                </a:r>
                <a:r>
                  <a:rPr lang="es-PE" sz="900" b="0" i="0" dirty="0">
                    <a:solidFill>
                      <a:schemeClr val="tx1"/>
                    </a:solidFill>
                    <a:effectLst/>
                    <a:latin typeface="Segoe WPC"/>
                  </a:rPr>
                  <a:t> se realizan; bajo ese supuesto, cualquier portfolio gana la tasa de mercado del próximo período.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mezclar supuestos en el mismo cálculo; cada </a:t>
                </a:r>
                <a:r>
                  <a:rPr lang="es-PE" sz="900" b="0" i="0" dirty="0" err="1">
                    <a:solidFill>
                      <a:schemeClr val="tx1"/>
                    </a:solidFill>
                    <a:effectLst/>
                    <a:latin typeface="Segoe WPC"/>
                  </a:rPr>
                  <a:t>carry</a:t>
                </a:r>
                <a:r>
                  <a:rPr lang="es-PE" sz="900" b="0" i="0" dirty="0">
                    <a:solidFill>
                      <a:schemeClr val="tx1"/>
                    </a:solidFill>
                    <a:effectLst/>
                    <a:latin typeface="Segoe WPC"/>
                  </a:rPr>
                  <a:t> roll-</a:t>
                </a:r>
                <a:r>
                  <a:rPr lang="es-PE" sz="900" b="0" i="0" dirty="0" err="1">
                    <a:solidFill>
                      <a:schemeClr val="tx1"/>
                    </a:solidFill>
                    <a:effectLst/>
                    <a:latin typeface="Segoe WPC"/>
                  </a:rPr>
                  <a:t>down</a:t>
                </a:r>
                <a:r>
                  <a:rPr lang="es-PE" sz="900" b="0" i="0" dirty="0">
                    <a:solidFill>
                      <a:schemeClr val="tx1"/>
                    </a:solidFill>
                    <a:effectLst/>
                    <a:latin typeface="Segoe WPC"/>
                  </a:rPr>
                  <a:t> es condicional al supuesto elegido.</a:t>
                </a:r>
              </a:p>
              <a:p>
                <a:pPr algn="l">
                  <a:spcBef>
                    <a:spcPts val="300"/>
                  </a:spcBef>
                  <a:buFont typeface="+mj-lt"/>
                  <a:buAutoNum type="arabicPeriod"/>
                </a:pPr>
                <a:r>
                  <a:rPr lang="es-PE" sz="900" b="1" i="0" dirty="0">
                    <a:solidFill>
                      <a:schemeClr val="tx1"/>
                    </a:solidFill>
                    <a:effectLst/>
                    <a:latin typeface="Segoe WPC"/>
                  </a:rPr>
                  <a:t>P&amp;L </a:t>
                </a:r>
                <a:r>
                  <a:rPr lang="es-PE" sz="900" b="1" i="0" dirty="0" err="1">
                    <a:solidFill>
                      <a:schemeClr val="tx1"/>
                    </a:solidFill>
                    <a:effectLst/>
                    <a:latin typeface="Segoe WPC"/>
                  </a:rPr>
                  <a:t>Decomposition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Descomposición del </a:t>
                </a:r>
                <a:r>
                  <a:rPr lang="es-PE" sz="900" b="0" i="0" dirty="0" err="1">
                    <a:solidFill>
                      <a:schemeClr val="tx1"/>
                    </a:solidFill>
                    <a:effectLst/>
                    <a:latin typeface="Segoe WPC"/>
                  </a:rPr>
                  <a:t>profit</a:t>
                </a:r>
                <a:r>
                  <a:rPr lang="es-PE" sz="900" b="0" i="0" dirty="0">
                    <a:solidFill>
                      <a:schemeClr val="tx1"/>
                    </a:solidFill>
                    <a:effectLst/>
                    <a:latin typeface="Segoe WPC"/>
                  </a:rPr>
                  <a:t> and </a:t>
                </a:r>
                <a:r>
                  <a:rPr lang="es-PE" sz="900" b="0" i="0" dirty="0" err="1">
                    <a:solidFill>
                      <a:schemeClr val="tx1"/>
                    </a:solidFill>
                    <a:effectLst/>
                    <a:latin typeface="Segoe WPC"/>
                  </a:rPr>
                  <a:t>loss</a:t>
                </a:r>
                <a:r>
                  <a:rPr lang="es-PE" sz="900" b="0" i="0" dirty="0">
                    <a:solidFill>
                      <a:schemeClr val="tx1"/>
                    </a:solidFill>
                    <a:effectLst/>
                    <a:latin typeface="Segoe WPC"/>
                  </a:rPr>
                  <a:t> de una posición en bonos en fuentes separadas.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P&amp;L total puede separarse en lo que esperabas ganar mecánicamente, lo que ganaste por cambio de tasas y lo que ganaste por cambio de spreads.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Empiezas con el precio inicial, sumas </a:t>
                </a:r>
                <a:r>
                  <a:rPr lang="es-PE" sz="900" b="0" i="0" dirty="0" err="1">
                    <a:solidFill>
                      <a:schemeClr val="tx1"/>
                    </a:solidFill>
                    <a:effectLst/>
                    <a:latin typeface="Segoe WPC"/>
                  </a:rPr>
                  <a:t>carry</a:t>
                </a:r>
                <a:r>
                  <a:rPr lang="es-PE" sz="900" b="0" i="0" dirty="0">
                    <a:solidFill>
                      <a:schemeClr val="tx1"/>
                    </a:solidFill>
                    <a:effectLst/>
                    <a:latin typeface="Segoe WPC"/>
                  </a:rPr>
                  <a:t> roll-</a:t>
                </a:r>
                <a:r>
                  <a:rPr lang="es-PE" sz="900" b="0" i="0" dirty="0" err="1">
                    <a:solidFill>
                      <a:schemeClr val="tx1"/>
                    </a:solidFill>
                    <a:effectLst/>
                    <a:latin typeface="Segoe WPC"/>
                  </a:rPr>
                  <a:t>down</a:t>
                </a:r>
                <a:r>
                  <a:rPr lang="es-PE" sz="900" b="0" i="0" dirty="0">
                    <a:solidFill>
                      <a:schemeClr val="tx1"/>
                    </a:solidFill>
                    <a:effectLst/>
                    <a:latin typeface="Segoe WPC"/>
                  </a:rPr>
                  <a:t>, luego ajustas por movimientos reales de la curva y por compresión o ampliación del spread.</a:t>
                </a:r>
                <a:br>
                  <a:rPr lang="es-PE" sz="900" b="0" i="0" dirty="0">
                    <a:solidFill>
                      <a:schemeClr val="tx1"/>
                    </a:solidFill>
                    <a:effectLst/>
                    <a:latin typeface="Segoe WPC"/>
                  </a:rPr>
                </a:br>
                <a:r>
                  <a:rPr lang="es-PE" sz="900" b="1" i="0" dirty="0">
                    <a:solidFill>
                      <a:schemeClr val="tx1"/>
                    </a:solidFill>
                    <a:effectLst/>
                    <a:latin typeface="Segoe WPC"/>
                  </a:rPr>
                  <a:t>Key Formula:</a:t>
                </a:r>
                <a:br>
                  <a:rPr lang="es-PE" sz="900" b="0" i="0" dirty="0">
                    <a:solidFill>
                      <a:schemeClr val="tx1"/>
                    </a:solidFill>
                    <a:effectLst/>
                    <a:latin typeface="Segoe WPC"/>
                  </a:rPr>
                </a:br>
                <a14:m>
                  <m:oMath xmlns:m="http://schemas.openxmlformats.org/officeDocument/2006/math">
                    <m:r>
                      <m:rPr>
                        <m:nor/>
                      </m:rPr>
                      <a:rPr lang="es-PE" sz="900" b="0">
                        <a:solidFill>
                          <a:schemeClr val="tx1"/>
                        </a:solidFill>
                      </a:rPr>
                      <m:t>Total</m:t>
                    </m:r>
                    <m:r>
                      <m:rPr>
                        <m:nor/>
                      </m:rPr>
                      <a:rPr lang="es-PE" sz="900" b="0">
                        <a:solidFill>
                          <a:schemeClr val="tx1"/>
                        </a:solidFill>
                      </a:rPr>
                      <m:t> </m:t>
                    </m:r>
                    <m:r>
                      <m:rPr>
                        <m:nor/>
                      </m:rPr>
                      <a:rPr lang="es-PE" sz="900" b="0">
                        <a:solidFill>
                          <a:schemeClr val="tx1"/>
                        </a:solidFill>
                      </a:rPr>
                      <m:t>P</m:t>
                    </m:r>
                    <m:r>
                      <m:rPr>
                        <m:lit/>
                        <m:nor/>
                      </m:rPr>
                      <a:rPr lang="es-PE" sz="900" b="0" i="1">
                        <a:solidFill>
                          <a:schemeClr val="tx1"/>
                        </a:solidFill>
                      </a:rPr>
                      <m:t>&amp;</m:t>
                    </m:r>
                    <m:r>
                      <m:rPr>
                        <m:nor/>
                      </m:rPr>
                      <a:rPr lang="es-PE" sz="900" b="0" i="1">
                        <a:solidFill>
                          <a:schemeClr val="tx1"/>
                        </a:solidFill>
                      </a:rPr>
                      <m:t>L</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Carry</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Roll</m:t>
                    </m:r>
                    <m:r>
                      <m:rPr>
                        <m:nor/>
                      </m:rPr>
                      <a:rPr lang="es-PE" sz="900" b="0" i="1">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Down</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Rate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Change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Effect</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Spread</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Change</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Effect</m:t>
                    </m:r>
                  </m:oMath>
                </a14:m>
                <a:br>
                  <a:rPr lang="es-PE" sz="900" b="0" i="0" dirty="0">
                    <a:solidFill>
                      <a:schemeClr val="tx1"/>
                    </a:solidFill>
                    <a:effectLst/>
                    <a:latin typeface="Segoe WPC"/>
                  </a:rPr>
                </a:br>
                <a:r>
                  <a:rPr lang="es-PE" sz="900" b="0" i="0" dirty="0">
                    <a:solidFill>
                      <a:schemeClr val="tx1"/>
                    </a:solidFill>
                    <a:effectLst/>
                    <a:latin typeface="Segoe WPC"/>
                  </a:rPr>
                  <a:t>y si hay fondeo:</a:t>
                </a:r>
                <a:br>
                  <a:rPr lang="es-PE" sz="900" b="0" i="0" dirty="0">
                    <a:solidFill>
                      <a:schemeClr val="tx1"/>
                    </a:solidFill>
                    <a:effectLst/>
                    <a:latin typeface="Segoe WPC"/>
                  </a:rPr>
                </a:br>
                <a14:m>
                  <m:oMath xmlns:m="http://schemas.openxmlformats.org/officeDocument/2006/math">
                    <m:r>
                      <m:rPr>
                        <m:nor/>
                      </m:rPr>
                      <a:rPr lang="es-PE" sz="900" b="0">
                        <a:solidFill>
                          <a:schemeClr val="tx1"/>
                        </a:solidFill>
                      </a:rPr>
                      <m:t>Net</m:t>
                    </m:r>
                    <m:r>
                      <m:rPr>
                        <m:nor/>
                      </m:rPr>
                      <a:rPr lang="es-PE" sz="900" b="0">
                        <a:solidFill>
                          <a:schemeClr val="tx1"/>
                        </a:solidFill>
                      </a:rPr>
                      <m:t> </m:t>
                    </m:r>
                    <m:r>
                      <m:rPr>
                        <m:nor/>
                      </m:rPr>
                      <a:rPr lang="es-PE" sz="900" b="0">
                        <a:solidFill>
                          <a:schemeClr val="tx1"/>
                        </a:solidFill>
                      </a:rPr>
                      <m:t>P</m:t>
                    </m:r>
                    <m:r>
                      <m:rPr>
                        <m:lit/>
                        <m:nor/>
                      </m:rPr>
                      <a:rPr lang="es-PE" sz="900" b="0" i="1">
                        <a:solidFill>
                          <a:schemeClr val="tx1"/>
                        </a:solidFill>
                      </a:rPr>
                      <m:t>&amp;</m:t>
                    </m:r>
                    <m:r>
                      <m:rPr>
                        <m:nor/>
                      </m:rPr>
                      <a:rPr lang="es-PE" sz="900" b="0" i="1">
                        <a:solidFill>
                          <a:schemeClr val="tx1"/>
                        </a:solidFill>
                      </a:rPr>
                      <m:t>L</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Gross</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P</m:t>
                    </m:r>
                    <m:r>
                      <m:rPr>
                        <m:lit/>
                        <m:nor/>
                      </m:rPr>
                      <a:rPr lang="es-PE" sz="900" b="0" i="1">
                        <a:solidFill>
                          <a:schemeClr val="tx1"/>
                        </a:solidFill>
                        <a:latin typeface="Cambria Math" panose="02040503050406030204" pitchFamily="18" charset="0"/>
                      </a:rPr>
                      <m:t>&amp;</m:t>
                    </m:r>
                    <m:r>
                      <m:rPr>
                        <m:nor/>
                      </m:rPr>
                      <a:rPr lang="es-PE" sz="900" b="0" i="1">
                        <a:solidFill>
                          <a:schemeClr val="tx1"/>
                        </a:solidFill>
                        <a:latin typeface="Cambria Math" panose="02040503050406030204" pitchFamily="18" charset="0"/>
                      </a:rPr>
                      <m:t>L</m:t>
                    </m:r>
                    <m:r>
                      <a:rPr lang="es-PE" sz="900" b="0" i="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Financing</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Cost</m:t>
                    </m:r>
                  </m:oMath>
                </a14:m>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Esta descomposición ayuda a entender si la ganancia vino de </a:t>
                </a:r>
                <a:r>
                  <a:rPr lang="es-PE" sz="900" b="0" i="0" dirty="0" err="1">
                    <a:solidFill>
                      <a:schemeClr val="tx1"/>
                    </a:solidFill>
                    <a:effectLst/>
                    <a:latin typeface="Segoe WPC"/>
                  </a:rPr>
                  <a:t>carry</a:t>
                </a:r>
                <a:r>
                  <a:rPr lang="es-PE" sz="900" b="0" i="0" dirty="0">
                    <a:solidFill>
                      <a:schemeClr val="tx1"/>
                    </a:solidFill>
                    <a:effectLst/>
                    <a:latin typeface="Segoe WPC"/>
                  </a:rPr>
                  <a:t>, de una apuesta correcta sobre tasas o de un movimiento de spread.</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Si el período empieza o termina entre fechas de cupón, también debes considerar el efecto de </a:t>
                </a:r>
                <a:r>
                  <a:rPr lang="es-PE" sz="900" b="0" i="0" dirty="0" err="1">
                    <a:solidFill>
                      <a:schemeClr val="tx1"/>
                    </a:solidFill>
                    <a:effectLst/>
                    <a:latin typeface="Segoe WPC"/>
                  </a:rPr>
                  <a:t>accrued</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en el cambio de valor.</a:t>
                </a:r>
              </a:p>
            </p:txBody>
          </p:sp>
        </mc:Choice>
        <mc:Fallback xmlns="">
          <p:sp>
            <p:nvSpPr>
              <p:cNvPr id="5" name="CuadroTexto 4">
                <a:extLst>
                  <a:ext uri="{FF2B5EF4-FFF2-40B4-BE49-F238E27FC236}">
                    <a16:creationId xmlns:a16="http://schemas.microsoft.com/office/drawing/2014/main" id="{DDAD203C-BEA8-DD0B-2F1D-93AF191839E1}"/>
                  </a:ext>
                </a:extLst>
              </p:cNvPr>
              <p:cNvSpPr txBox="1">
                <a:spLocks noRot="1" noChangeAspect="1" noMove="1" noResize="1" noEditPoints="1" noAdjustHandles="1" noChangeArrowheads="1" noChangeShapeType="1" noTextEdit="1"/>
              </p:cNvSpPr>
              <p:nvPr/>
            </p:nvSpPr>
            <p:spPr>
              <a:xfrm>
                <a:off x="190500" y="1928466"/>
                <a:ext cx="6096000" cy="3454792"/>
              </a:xfrm>
              <a:prstGeom prst="rect">
                <a:avLst/>
              </a:prstGeom>
              <a:blipFill>
                <a:blip r:embed="rId2"/>
                <a:stretch>
                  <a:fillRect t="-353"/>
                </a:stretch>
              </a:blipFill>
            </p:spPr>
            <p:txBody>
              <a:bodyPr/>
              <a:lstStyle/>
              <a:p>
                <a:r>
                  <a:rPr lang="es-PE">
                    <a:noFill/>
                  </a:rPr>
                  <a:t> </a:t>
                </a:r>
              </a:p>
            </p:txBody>
          </p:sp>
        </mc:Fallback>
      </mc:AlternateContent>
    </p:spTree>
    <p:extLst>
      <p:ext uri="{BB962C8B-B14F-4D97-AF65-F5344CB8AC3E}">
        <p14:creationId xmlns:p14="http://schemas.microsoft.com/office/powerpoint/2010/main" val="21716162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E188FE-852E-A195-9A74-C388698A6DAC}"/>
              </a:ext>
            </a:extLst>
          </p:cNvPr>
          <p:cNvSpPr>
            <a:spLocks noGrp="1"/>
          </p:cNvSpPr>
          <p:nvPr>
            <p:ph type="title"/>
          </p:nvPr>
        </p:nvSpPr>
        <p:spPr>
          <a:xfrm>
            <a:off x="-85725" y="147692"/>
            <a:ext cx="10515600" cy="319033"/>
          </a:xfrm>
        </p:spPr>
        <p:txBody>
          <a:bodyPr>
            <a:normAutofit fontScale="90000"/>
          </a:bodyPr>
          <a:lstStyle/>
          <a:p>
            <a:r>
              <a:rPr lang="es-PE" b="1" dirty="0" err="1"/>
              <a:t>Applying</a:t>
            </a:r>
            <a:r>
              <a:rPr lang="es-PE" b="1" dirty="0"/>
              <a:t> </a:t>
            </a:r>
            <a:r>
              <a:rPr lang="es-PE" b="1" dirty="0" err="1"/>
              <a:t>Duration</a:t>
            </a:r>
            <a:r>
              <a:rPr lang="es-PE" b="1" dirty="0"/>
              <a:t>, DV01, </a:t>
            </a:r>
            <a:r>
              <a:rPr lang="es-PE" b="1" dirty="0" err="1"/>
              <a:t>Convexity</a:t>
            </a:r>
            <a:endParaRPr lang="es-PE"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94E7BACA-EE6B-17B9-912C-FD0AC91719E3}"/>
                  </a:ext>
                </a:extLst>
              </p:cNvPr>
              <p:cNvSpPr txBox="1"/>
              <p:nvPr/>
            </p:nvSpPr>
            <p:spPr>
              <a:xfrm>
                <a:off x="0" y="632625"/>
                <a:ext cx="6096000" cy="5592749"/>
              </a:xfrm>
              <a:prstGeom prst="rect">
                <a:avLst/>
              </a:prstGeom>
              <a:noFill/>
            </p:spPr>
            <p:txBody>
              <a:bodyPr wrap="square">
                <a:spAutoFit/>
              </a:bodyPr>
              <a:lstStyle/>
              <a:p>
                <a:pPr algn="l">
                  <a:spcBef>
                    <a:spcPts val="300"/>
                  </a:spcBef>
                  <a:spcAft>
                    <a:spcPts val="300"/>
                  </a:spcAft>
                  <a:buFont typeface="+mj-lt"/>
                  <a:buAutoNum type="arabicPeriod"/>
                </a:pPr>
                <a:r>
                  <a:rPr lang="es-PE" sz="900" b="1" i="0" dirty="0">
                    <a:solidFill>
                      <a:schemeClr val="tx1"/>
                    </a:solidFill>
                    <a:effectLst/>
                    <a:latin typeface="Segoe WPC"/>
                  </a:rPr>
                  <a:t>Parallel </a:t>
                </a:r>
                <a:r>
                  <a:rPr lang="es-PE" sz="900" b="1" i="0" dirty="0" err="1">
                    <a:solidFill>
                      <a:schemeClr val="tx1"/>
                    </a:solidFill>
                    <a:effectLst/>
                    <a:latin typeface="Segoe WPC"/>
                  </a:rPr>
                  <a:t>Yield</a:t>
                </a:r>
                <a:r>
                  <a:rPr lang="es-PE" sz="900" b="1" i="0" dirty="0">
                    <a:solidFill>
                      <a:schemeClr val="tx1"/>
                    </a:solidFill>
                    <a:effectLst/>
                    <a:latin typeface="Segoe WPC"/>
                  </a:rPr>
                  <a:t> Curve </a:t>
                </a:r>
                <a:r>
                  <a:rPr lang="es-PE" sz="900" b="1" i="0" dirty="0" err="1">
                    <a:solidFill>
                      <a:schemeClr val="tx1"/>
                    </a:solidFill>
                    <a:effectLst/>
                    <a:latin typeface="Segoe WPC"/>
                  </a:rPr>
                  <a:t>Shifts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Modelo de un factor donde toda la curva de tasas se mueve en paralelo.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Se supone que todas las tasas cambian en la misma magnitud, sin importar el vencimiento.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curva completa sube o baja como una regla rígida.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𝛥</m:t>
                    </m:r>
                    <m:r>
                      <a:rPr lang="es-PE" sz="900" i="1">
                        <a:solidFill>
                          <a:schemeClr val="tx1"/>
                        </a:solidFill>
                        <a:latin typeface="Cambria Math" panose="02040503050406030204" pitchFamily="18" charset="0"/>
                      </a:rPr>
                      <m:t>𝑟</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𝑇</m:t>
                        </m:r>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𝑟</m:t>
                    </m:r>
                    <m:r>
                      <m:rPr>
                        <m:nor/>
                      </m:rPr>
                      <a:rPr lang="ar-AE" sz="900" b="0" i="1">
                        <a:solidFill>
                          <a:schemeClr val="tx1"/>
                        </a:solidFill>
                        <a:latin typeface="Cambria Math" panose="02040503050406030204" pitchFamily="18" charset="0"/>
                      </a:rPr>
                      <m:t> </m:t>
                    </m:r>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𝑇</m:t>
                    </m:r>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Este supuesto simplifica mucho el análisis de sensibilidad.</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asumir que en la práctica los cambios reales de la curva siempre son paralelos.</a:t>
                </a:r>
              </a:p>
              <a:p>
                <a:pPr algn="l">
                  <a:spcBef>
                    <a:spcPts val="300"/>
                  </a:spcBef>
                  <a:spcAft>
                    <a:spcPts val="300"/>
                  </a:spcAft>
                  <a:buFont typeface="+mj-lt"/>
                  <a:buAutoNum type="arabicPeriod"/>
                </a:pPr>
                <a:r>
                  <a:rPr lang="es-PE" sz="900" b="1" i="0" dirty="0">
                    <a:solidFill>
                      <a:schemeClr val="tx1"/>
                    </a:solidFill>
                    <a:effectLst/>
                    <a:latin typeface="Segoe WPC"/>
                  </a:rPr>
                  <a:t>DV01</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Cambio en el precio ante un movimiento de 1 punto básico en la tasa.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Mide cuánto dinero gana o pierde un bono si la tasa cambia en 0.01%.</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Es la pendiente local de la relación precio-rendimiento, expresada en dinero por 1 </a:t>
                </a:r>
                <a:r>
                  <a:rPr lang="es-PE" sz="900" b="0" i="0" dirty="0" err="1">
                    <a:solidFill>
                      <a:schemeClr val="tx1"/>
                    </a:solidFill>
                    <a:effectLst/>
                    <a:latin typeface="Segoe WPC"/>
                  </a:rPr>
                  <a:t>bp</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𝐷𝑉</m:t>
                    </m:r>
                    <m:r>
                      <a:rPr lang="es-PE" sz="900" i="0">
                        <a:solidFill>
                          <a:schemeClr val="tx1"/>
                        </a:solidFill>
                        <a:latin typeface="Cambria Math" panose="02040503050406030204" pitchFamily="18" charset="0"/>
                      </a:rPr>
                      <m:t>01</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𝑃</m:t>
                        </m:r>
                      </m:num>
                      <m:den>
                        <m:r>
                          <a:rPr lang="ar-AE" sz="900" i="1">
                            <a:solidFill>
                              <a:schemeClr val="tx1"/>
                            </a:solidFill>
                            <a:latin typeface="Cambria Math" panose="02040503050406030204" pitchFamily="18" charset="0"/>
                          </a:rPr>
                          <m:t>𝛥</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𝑏𝑝</m:t>
                            </m:r>
                          </m:sub>
                        </m:sSub>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Un DV01 más alto implica mayor sensibilidad monetaria.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DV01 es cambio en valor monetario, no cambio porcentual.</a:t>
                </a:r>
              </a:p>
              <a:p>
                <a:pPr algn="l">
                  <a:spcBef>
                    <a:spcPts val="300"/>
                  </a:spcBef>
                  <a:spcAft>
                    <a:spcPts val="300"/>
                  </a:spcAft>
                  <a:buFont typeface="+mj-lt"/>
                  <a:buAutoNum type="arabicPeriod"/>
                </a:pPr>
                <a:r>
                  <a:rPr lang="es-PE" sz="900" b="1" i="0" dirty="0" err="1">
                    <a:solidFill>
                      <a:schemeClr val="tx1"/>
                    </a:solidFill>
                    <a:effectLst/>
                    <a:latin typeface="Segoe WPC"/>
                  </a:rPr>
                  <a:t>Duration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Sensibilidad porcentual del precio ante cambios en la tasa de rendimiento.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Resume aproximadamente cuánto cambia el precio, en porcentaje, cuando cambia la tasa.</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Cuanto mayor es la </a:t>
                </a:r>
                <a:r>
                  <a:rPr lang="es-PE" sz="900" b="0" i="0" dirty="0" err="1">
                    <a:solidFill>
                      <a:schemeClr val="tx1"/>
                    </a:solidFill>
                    <a:effectLst/>
                    <a:latin typeface="Segoe WPC"/>
                  </a:rPr>
                  <a:t>duration</a:t>
                </a:r>
                <a:r>
                  <a:rPr lang="es-PE" sz="900" b="0" i="0" dirty="0">
                    <a:solidFill>
                      <a:schemeClr val="tx1"/>
                    </a:solidFill>
                    <a:effectLst/>
                    <a:latin typeface="Segoe WPC"/>
                  </a:rPr>
                  <a:t>, más inclinada es la curva precio-rendimiento cerca del punto actual.</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𝐷</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𝑃</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𝑃</m:t>
                        </m:r>
                      </m:num>
                      <m:den>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𝑟</m:t>
                        </m:r>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Si </a:t>
                </a:r>
                <a14:m>
                  <m:oMath xmlns:m="http://schemas.openxmlformats.org/officeDocument/2006/math">
                    <m:r>
                      <a:rPr lang="es-PE" sz="900" i="1">
                        <a:solidFill>
                          <a:schemeClr val="tx1"/>
                        </a:solidFill>
                        <a:latin typeface="Cambria Math" panose="02040503050406030204" pitchFamily="18" charset="0"/>
                      </a:rPr>
                      <m:t>𝐷</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5</m:t>
                    </m:r>
                  </m:oMath>
                </a14:m>
                <a:r>
                  <a:rPr lang="es-PE" sz="900" b="0" i="0" dirty="0">
                    <a:solidFill>
                      <a:schemeClr val="tx1"/>
                    </a:solidFill>
                    <a:effectLst/>
                    <a:latin typeface="Segoe WPC"/>
                  </a:rPr>
                  <a:t>, un alza de 1% en tasas reduce el precio aproximadamente en 5%.</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Duration</a:t>
                </a:r>
                <a:r>
                  <a:rPr lang="es-PE" sz="900" b="0" i="0" dirty="0">
                    <a:solidFill>
                      <a:schemeClr val="tx1"/>
                    </a:solidFill>
                    <a:effectLst/>
                    <a:latin typeface="Segoe WPC"/>
                  </a:rPr>
                  <a:t> no es lo mismo que </a:t>
                </a:r>
                <a:r>
                  <a:rPr lang="es-PE" sz="900" b="0" i="0" dirty="0" err="1">
                    <a:solidFill>
                      <a:schemeClr val="tx1"/>
                    </a:solidFill>
                    <a:effectLst/>
                    <a:latin typeface="Segoe WPC"/>
                  </a:rPr>
                  <a:t>maturity</a:t>
                </a:r>
                <a:r>
                  <a:rPr lang="es-PE" sz="900" b="0" i="0" dirty="0">
                    <a:solidFill>
                      <a:schemeClr val="tx1"/>
                    </a:solidFill>
                    <a:effectLst/>
                    <a:latin typeface="Segoe WPC"/>
                  </a:rPr>
                  <a:t>.</a:t>
                </a:r>
              </a:p>
              <a:p>
                <a:pPr algn="l">
                  <a:spcBef>
                    <a:spcPts val="300"/>
                  </a:spcBef>
                  <a:spcAft>
                    <a:spcPts val="300"/>
                  </a:spcAft>
                  <a:buFont typeface="+mj-lt"/>
                  <a:buAutoNum type="arabicPeriod"/>
                </a:pPr>
                <a:r>
                  <a:rPr lang="es-PE" sz="900" b="1" i="0" dirty="0" err="1">
                    <a:solidFill>
                      <a:schemeClr val="tx1"/>
                    </a:solidFill>
                    <a:effectLst/>
                    <a:latin typeface="Segoe WPC"/>
                  </a:rPr>
                  <a:t>Effective</a:t>
                </a:r>
                <a:r>
                  <a:rPr lang="es-PE" sz="900" b="1" i="0" dirty="0">
                    <a:solidFill>
                      <a:schemeClr val="tx1"/>
                    </a:solidFill>
                    <a:effectLst/>
                    <a:latin typeface="Segoe WPC"/>
                  </a:rPr>
                  <a:t> </a:t>
                </a:r>
                <a:r>
                  <a:rPr lang="es-PE" sz="900" b="1" i="0" dirty="0" err="1">
                    <a:solidFill>
                      <a:schemeClr val="tx1"/>
                    </a:solidFill>
                    <a:effectLst/>
                    <a:latin typeface="Segoe WPC"/>
                  </a:rPr>
                  <a:t>Duration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Duration</a:t>
                </a:r>
                <a:r>
                  <a:rPr lang="es-PE" sz="900" b="0" i="0" dirty="0">
                    <a:solidFill>
                      <a:schemeClr val="tx1"/>
                    </a:solidFill>
                    <a:effectLst/>
                    <a:latin typeface="Segoe WPC"/>
                  </a:rPr>
                  <a:t> basada en cambios observados de precio cuando la curva sube y baja.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Sirve cuando los cash </a:t>
                </a:r>
                <a:r>
                  <a:rPr lang="es-PE" sz="900" b="0" i="0" dirty="0" err="1">
                    <a:solidFill>
                      <a:schemeClr val="tx1"/>
                    </a:solidFill>
                    <a:effectLst/>
                    <a:latin typeface="Segoe WPC"/>
                  </a:rPr>
                  <a:t>flows</a:t>
                </a:r>
                <a:r>
                  <a:rPr lang="es-PE" sz="900" b="0" i="0" dirty="0">
                    <a:solidFill>
                      <a:schemeClr val="tx1"/>
                    </a:solidFill>
                    <a:effectLst/>
                    <a:latin typeface="Segoe WPC"/>
                  </a:rPr>
                  <a:t> pueden cambiar con la tasa, como en bonos con opciones.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Compara el precio actual con el precio si la curva sube un poco y si baja un poco.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𝐷</m:t>
                        </m:r>
                      </m:e>
                      <m:sub>
                        <m:r>
                          <a:rPr lang="ar-AE" sz="900" i="1">
                            <a:solidFill>
                              <a:schemeClr val="tx1"/>
                            </a:solidFill>
                            <a:latin typeface="Cambria Math" panose="02040503050406030204" pitchFamily="18" charset="0"/>
                          </a:rPr>
                          <m:t>𝑒𝑓𝑓</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0">
                                <a:solidFill>
                                  <a:schemeClr val="tx1"/>
                                </a:solidFill>
                                <a:latin typeface="Cambria Math" panose="02040503050406030204" pitchFamily="18" charset="0"/>
                              </a:rPr>
                              <m:t>−</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0">
                                <a:solidFill>
                                  <a:schemeClr val="tx1"/>
                                </a:solidFill>
                                <a:latin typeface="Cambria Math" panose="02040503050406030204" pitchFamily="18" charset="0"/>
                              </a:rPr>
                              <m:t>+</m:t>
                            </m:r>
                          </m:sub>
                        </m:sSub>
                      </m:num>
                      <m:den>
                        <m:r>
                          <a:rPr lang="ar-AE" sz="900" i="0">
                            <a:solidFill>
                              <a:schemeClr val="tx1"/>
                            </a:solidFill>
                            <a:latin typeface="Cambria Math" panose="02040503050406030204" pitchFamily="18" charset="0"/>
                          </a:rPr>
                          <m:t>2</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0">
                                <a:solidFill>
                                  <a:schemeClr val="tx1"/>
                                </a:solidFill>
                                <a:latin typeface="Cambria Math" panose="02040503050406030204" pitchFamily="18" charset="0"/>
                              </a:rPr>
                              <m:t>0</m:t>
                            </m:r>
                          </m:sub>
                        </m:sSub>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𝑟</m:t>
                        </m:r>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Captura mejor la sensibilidad cuando hay opcionalidad.</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usar automáticamente </a:t>
                </a:r>
                <a:r>
                  <a:rPr lang="es-PE" sz="900" b="0" i="0" dirty="0" err="1">
                    <a:solidFill>
                      <a:schemeClr val="tx1"/>
                    </a:solidFill>
                    <a:effectLst/>
                    <a:latin typeface="Segoe WPC"/>
                  </a:rPr>
                  <a:t>modified</a:t>
                </a:r>
                <a:r>
                  <a:rPr lang="es-PE" sz="900" b="0" i="0" dirty="0">
                    <a:solidFill>
                      <a:schemeClr val="tx1"/>
                    </a:solidFill>
                    <a:effectLst/>
                    <a:latin typeface="Segoe WPC"/>
                  </a:rPr>
                  <a:t> </a:t>
                </a:r>
                <a:r>
                  <a:rPr lang="es-PE" sz="900" b="0" i="0" dirty="0" err="1">
                    <a:solidFill>
                      <a:schemeClr val="tx1"/>
                    </a:solidFill>
                    <a:effectLst/>
                    <a:latin typeface="Segoe WPC"/>
                  </a:rPr>
                  <a:t>duration</a:t>
                </a:r>
                <a:r>
                  <a:rPr lang="es-PE" sz="900" b="0" i="0" dirty="0">
                    <a:solidFill>
                      <a:schemeClr val="tx1"/>
                    </a:solidFill>
                    <a:effectLst/>
                    <a:latin typeface="Segoe WPC"/>
                  </a:rPr>
                  <a:t> si el bono tiene opciones embebidas.</a:t>
                </a:r>
              </a:p>
              <a:p>
                <a:pPr algn="l">
                  <a:spcBef>
                    <a:spcPts val="300"/>
                  </a:spcBef>
                  <a:spcAft>
                    <a:spcPts val="300"/>
                  </a:spcAft>
                  <a:buFont typeface="+mj-lt"/>
                  <a:buAutoNum type="arabicPeriod"/>
                </a:pPr>
                <a:r>
                  <a:rPr lang="es-PE" sz="900" b="1" i="0" dirty="0" err="1">
                    <a:solidFill>
                      <a:schemeClr val="tx1"/>
                    </a:solidFill>
                    <a:effectLst/>
                    <a:latin typeface="Segoe WPC"/>
                  </a:rPr>
                  <a:t>Convexity</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Curvatura de la relación entre precio y rendimiento.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Corrige el error de usar solo </a:t>
                </a:r>
                <a:r>
                  <a:rPr lang="es-PE" sz="900" b="0" i="0" dirty="0" err="1">
                    <a:solidFill>
                      <a:schemeClr val="tx1"/>
                    </a:solidFill>
                    <a:effectLst/>
                    <a:latin typeface="Segoe WPC"/>
                  </a:rPr>
                  <a:t>duration</a:t>
                </a:r>
                <a:r>
                  <a:rPr lang="es-PE" sz="900" b="0" i="0" dirty="0">
                    <a:solidFill>
                      <a:schemeClr val="tx1"/>
                    </a:solidFill>
                    <a:effectLst/>
                    <a:latin typeface="Segoe WPC"/>
                  </a:rPr>
                  <a:t> cuando los movimientos de tasas son más grandes.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curva precio-rendimiento no es una recta, sino una curva convexa.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𝐶</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0">
                                <a:solidFill>
                                  <a:schemeClr val="tx1"/>
                                </a:solidFill>
                                <a:latin typeface="Cambria Math" panose="02040503050406030204" pitchFamily="18" charset="0"/>
                              </a:rPr>
                              <m:t>+</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0">
                                <a:solidFill>
                                  <a:schemeClr val="tx1"/>
                                </a:solidFill>
                                <a:latin typeface="Cambria Math" panose="02040503050406030204" pitchFamily="18" charset="0"/>
                              </a:rPr>
                              <m:t>−</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0">
                                <a:solidFill>
                                  <a:schemeClr val="tx1"/>
                                </a:solidFill>
                                <a:latin typeface="Cambria Math" panose="02040503050406030204" pitchFamily="18" charset="0"/>
                              </a:rPr>
                              <m:t>0</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0">
                                <a:solidFill>
                                  <a:schemeClr val="tx1"/>
                                </a:solidFill>
                                <a:latin typeface="Cambria Math" panose="02040503050406030204" pitchFamily="18" charset="0"/>
                              </a:rPr>
                              <m:t>0</m:t>
                            </m:r>
                          </m:sub>
                        </m:sSub>
                        <m:d>
                          <m:dPr>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𝑟</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e>
                        </m:d>
                      </m:den>
                    </m:f>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Mayor </a:t>
                </a:r>
                <a:r>
                  <a:rPr lang="es-PE" sz="900" b="0" i="0" dirty="0" err="1">
                    <a:solidFill>
                      <a:schemeClr val="tx1"/>
                    </a:solidFill>
                    <a:effectLst/>
                    <a:latin typeface="Segoe WPC"/>
                  </a:rPr>
                  <a:t>convexity</a:t>
                </a:r>
                <a:r>
                  <a:rPr lang="es-PE" sz="900" b="0" i="0" dirty="0">
                    <a:solidFill>
                      <a:schemeClr val="tx1"/>
                    </a:solidFill>
                    <a:effectLst/>
                    <a:latin typeface="Segoe WPC"/>
                  </a:rPr>
                  <a:t> suele mejorar el comportamiento del bono frente a cambios grandes de tasas.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olvidar dividir por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a:t>
                </a:r>
              </a:p>
            </p:txBody>
          </p:sp>
        </mc:Choice>
        <mc:Fallback xmlns="">
          <p:sp>
            <p:nvSpPr>
              <p:cNvPr id="5" name="CuadroTexto 4">
                <a:extLst>
                  <a:ext uri="{FF2B5EF4-FFF2-40B4-BE49-F238E27FC236}">
                    <a16:creationId xmlns:a16="http://schemas.microsoft.com/office/drawing/2014/main" id="{94E7BACA-EE6B-17B9-912C-FD0AC91719E3}"/>
                  </a:ext>
                </a:extLst>
              </p:cNvPr>
              <p:cNvSpPr txBox="1">
                <a:spLocks noRot="1" noChangeAspect="1" noMove="1" noResize="1" noEditPoints="1" noAdjustHandles="1" noChangeArrowheads="1" noChangeShapeType="1" noTextEdit="1"/>
              </p:cNvSpPr>
              <p:nvPr/>
            </p:nvSpPr>
            <p:spPr>
              <a:xfrm>
                <a:off x="0" y="632625"/>
                <a:ext cx="6096000" cy="5592749"/>
              </a:xfrm>
              <a:prstGeom prst="rect">
                <a:avLst/>
              </a:prstGeom>
              <a:blipFill>
                <a:blip r:embed="rId2"/>
                <a:stretch>
                  <a:fillRect t="-327" b="-2508"/>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882B1074-0AF5-B78E-E34B-B2EBE86A04E0}"/>
                  </a:ext>
                </a:extLst>
              </p:cNvPr>
              <p:cNvSpPr txBox="1"/>
              <p:nvPr/>
            </p:nvSpPr>
            <p:spPr>
              <a:xfrm>
                <a:off x="5843588" y="592581"/>
                <a:ext cx="6234112" cy="5672835"/>
              </a:xfrm>
              <a:prstGeom prst="rect">
                <a:avLst/>
              </a:prstGeom>
              <a:noFill/>
            </p:spPr>
            <p:txBody>
              <a:bodyPr wrap="square">
                <a:spAutoFit/>
              </a:bodyPr>
              <a:lstStyle/>
              <a:p>
                <a:pPr algn="l">
                  <a:spcBef>
                    <a:spcPts val="300"/>
                  </a:spcBef>
                  <a:spcAft>
                    <a:spcPts val="300"/>
                  </a:spcAft>
                  <a:buFont typeface="+mj-lt"/>
                  <a:buAutoNum type="arabicPeriod"/>
                </a:pPr>
                <a:r>
                  <a:rPr lang="es-PE" sz="900" b="1" i="0" dirty="0">
                    <a:solidFill>
                      <a:schemeClr val="tx1"/>
                    </a:solidFill>
                    <a:effectLst/>
                    <a:latin typeface="Segoe WPC"/>
                  </a:rPr>
                  <a:t>Duration Plus </a:t>
                </a:r>
                <a:r>
                  <a:rPr lang="es-PE" sz="900" b="1" i="0" dirty="0" err="1">
                    <a:solidFill>
                      <a:schemeClr val="tx1"/>
                    </a:solidFill>
                    <a:effectLst/>
                    <a:latin typeface="Segoe WPC"/>
                  </a:rPr>
                  <a:t>Convexity</a:t>
                </a:r>
                <a:r>
                  <a:rPr lang="es-PE" sz="900" b="1" i="0" dirty="0">
                    <a:solidFill>
                      <a:schemeClr val="tx1"/>
                    </a:solidFill>
                    <a:effectLst/>
                    <a:latin typeface="Segoe WPC"/>
                  </a:rPr>
                  <a:t> </a:t>
                </a:r>
                <a:r>
                  <a:rPr lang="es-PE" sz="900" b="1" i="0" dirty="0" err="1">
                    <a:solidFill>
                      <a:schemeClr val="tx1"/>
                    </a:solidFill>
                    <a:effectLst/>
                    <a:latin typeface="Segoe WPC"/>
                  </a:rPr>
                  <a:t>Approximation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Aproximación de segundo orden del cambio de precio.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Duration</a:t>
                </a:r>
                <a:r>
                  <a:rPr lang="es-PE" sz="900" b="0" i="0" dirty="0">
                    <a:solidFill>
                      <a:schemeClr val="tx1"/>
                    </a:solidFill>
                    <a:effectLst/>
                    <a:latin typeface="Segoe WPC"/>
                  </a:rPr>
                  <a:t> da el efecto lineal y </a:t>
                </a:r>
                <a:r>
                  <a:rPr lang="es-PE" sz="900" b="0" i="0" dirty="0" err="1">
                    <a:solidFill>
                      <a:schemeClr val="tx1"/>
                    </a:solidFill>
                    <a:effectLst/>
                    <a:latin typeface="Segoe WPC"/>
                  </a:rPr>
                  <a:t>convexity</a:t>
                </a:r>
                <a:r>
                  <a:rPr lang="es-PE" sz="900" b="0" i="0" dirty="0">
                    <a:solidFill>
                      <a:schemeClr val="tx1"/>
                    </a:solidFill>
                    <a:effectLst/>
                    <a:latin typeface="Segoe WPC"/>
                  </a:rPr>
                  <a:t> corrige la curvatura.</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Primero aproximas con una tangente y luego corriges el error.</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𝛥</m:t>
                    </m:r>
                    <m:r>
                      <a:rPr lang="es-PE" sz="900" i="1">
                        <a:solidFill>
                          <a:schemeClr val="tx1"/>
                        </a:solidFill>
                        <a:latin typeface="Cambria Math" panose="02040503050406030204" pitchFamily="18" charset="0"/>
                      </a:rPr>
                      <m:t>𝑃</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𝐷𝑃</m:t>
                    </m:r>
                    <m:r>
                      <a:rPr lang="es-PE" sz="900" i="1">
                        <a:solidFill>
                          <a:schemeClr val="tx1"/>
                        </a:solidFill>
                        <a:latin typeface="Cambria Math" panose="02040503050406030204" pitchFamily="18" charset="0"/>
                      </a:rPr>
                      <m:t>𝛥</m:t>
                    </m:r>
                    <m:r>
                      <a:rPr lang="es-PE" sz="900" i="1">
                        <a:solidFill>
                          <a:schemeClr val="tx1"/>
                        </a:solidFill>
                        <a:latin typeface="Cambria Math" panose="02040503050406030204" pitchFamily="18" charset="0"/>
                      </a:rPr>
                      <m:t>𝑟</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0">
                            <a:solidFill>
                              <a:schemeClr val="tx1"/>
                            </a:solidFill>
                            <a:latin typeface="Cambria Math" panose="02040503050406030204" pitchFamily="18" charset="0"/>
                          </a:rPr>
                          <m:t>2</m:t>
                        </m:r>
                      </m:den>
                    </m:f>
                    <m:r>
                      <a:rPr lang="ar-AE" sz="900" i="1">
                        <a:solidFill>
                          <a:schemeClr val="tx1"/>
                        </a:solidFill>
                        <a:latin typeface="Cambria Math" panose="02040503050406030204" pitchFamily="18" charset="0"/>
                      </a:rPr>
                      <m:t>𝐶𝑃</m:t>
                    </m:r>
                    <m:d>
                      <m:dPr>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𝑟</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e>
                    </m:d>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Es más precisa que usar solo </a:t>
                </a:r>
                <a:r>
                  <a:rPr lang="es-PE" sz="900" b="0" i="0" dirty="0" err="1">
                    <a:solidFill>
                      <a:schemeClr val="tx1"/>
                    </a:solidFill>
                    <a:effectLst/>
                    <a:latin typeface="Segoe WPC"/>
                  </a:rPr>
                  <a:t>duration</a:t>
                </a:r>
                <a:r>
                  <a:rPr lang="es-PE" sz="900" b="0" i="0" dirty="0">
                    <a:solidFill>
                      <a:schemeClr val="tx1"/>
                    </a:solidFill>
                    <a:effectLst/>
                    <a:latin typeface="Segoe WPC"/>
                  </a:rPr>
                  <a:t> cuando el shock de tasas es importante.</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El término de </a:t>
                </a:r>
                <a:r>
                  <a:rPr lang="es-PE" sz="900" b="0" i="0" dirty="0" err="1">
                    <a:solidFill>
                      <a:schemeClr val="tx1"/>
                    </a:solidFill>
                    <a:effectLst/>
                    <a:latin typeface="Segoe WPC"/>
                  </a:rPr>
                  <a:t>convexity</a:t>
                </a:r>
                <a:r>
                  <a:rPr lang="es-PE" sz="900" b="0" i="0" dirty="0">
                    <a:solidFill>
                      <a:schemeClr val="tx1"/>
                    </a:solidFill>
                    <a:effectLst/>
                    <a:latin typeface="Segoe WPC"/>
                  </a:rPr>
                  <a:t> depende de </a:t>
                </a:r>
                <a14:m>
                  <m:oMath xmlns:m="http://schemas.openxmlformats.org/officeDocument/2006/math">
                    <m:d>
                      <m:dPr>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𝑟</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sup>
                        </m:sSup>
                      </m:e>
                    </m:d>
                  </m:oMath>
                </a14:m>
                <a:r>
                  <a:rPr lang="ar-AE" sz="900" b="0" i="0" dirty="0">
                    <a:solidFill>
                      <a:schemeClr val="tx1"/>
                    </a:solidFill>
                    <a:effectLst/>
                    <a:latin typeface="Segoe WPC"/>
                  </a:rPr>
                  <a:t>, </a:t>
                </a:r>
                <a:r>
                  <a:rPr lang="es-PE" sz="900" b="0" i="0" dirty="0">
                    <a:solidFill>
                      <a:schemeClr val="tx1"/>
                    </a:solidFill>
                    <a:effectLst/>
                    <a:latin typeface="Segoe WPC"/>
                  </a:rPr>
                  <a:t>así que no cambia de signo.</a:t>
                </a:r>
              </a:p>
              <a:p>
                <a:pPr algn="l">
                  <a:spcBef>
                    <a:spcPts val="300"/>
                  </a:spcBef>
                  <a:spcAft>
                    <a:spcPts val="300"/>
                  </a:spcAft>
                  <a:buFont typeface="+mj-lt"/>
                  <a:buAutoNum type="arabicPeriod"/>
                </a:pPr>
                <a:r>
                  <a:rPr lang="es-PE" sz="900" b="1" i="0" dirty="0">
                    <a:solidFill>
                      <a:schemeClr val="tx1"/>
                    </a:solidFill>
                    <a:effectLst/>
                    <a:latin typeface="Segoe WPC"/>
                  </a:rPr>
                  <a:t>Portfolio DV01 and </a:t>
                </a:r>
                <a:r>
                  <a:rPr lang="es-PE" sz="900" b="1" i="0" dirty="0" err="1">
                    <a:solidFill>
                      <a:schemeClr val="tx1"/>
                    </a:solidFill>
                    <a:effectLst/>
                    <a:latin typeface="Segoe WPC"/>
                  </a:rPr>
                  <a:t>Duration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Sensibilidad agregada de una cartera de bonos.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riesgo total de la cartera viene de sumar los riesgos individuales.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Cada bono aporta una parte del riesgo total de tasa.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𝐷𝑉</m:t>
                    </m:r>
                    <m:sSub>
                      <m:sSubPr>
                        <m:ctrlPr>
                          <a:rPr lang="ar-AE" sz="900" i="1">
                            <a:solidFill>
                              <a:schemeClr val="tx1"/>
                            </a:solidFill>
                            <a:latin typeface="Cambria Math" panose="02040503050406030204" pitchFamily="18" charset="0"/>
                          </a:rPr>
                        </m:ctrlPr>
                      </m:sSubPr>
                      <m:e>
                        <m:r>
                          <a:rPr lang="ar-AE" sz="900" i="0">
                            <a:solidFill>
                              <a:schemeClr val="tx1"/>
                            </a:solidFill>
                            <a:latin typeface="Cambria Math" panose="02040503050406030204" pitchFamily="18" charset="0"/>
                          </a:rPr>
                          <m:t>01</m:t>
                        </m:r>
                      </m:e>
                      <m:sub>
                        <m:r>
                          <a:rPr lang="ar-AE" sz="900" i="1">
                            <a:solidFill>
                              <a:schemeClr val="tx1"/>
                            </a:solidFill>
                            <a:latin typeface="Cambria Math" panose="02040503050406030204" pitchFamily="18" charset="0"/>
                          </a:rPr>
                          <m:t>𝑝𝑜𝑟𝑡</m:t>
                        </m:r>
                      </m:sub>
                    </m:sSub>
                    <m:r>
                      <a:rPr lang="ar-AE" sz="900" i="0">
                        <a:solidFill>
                          <a:schemeClr val="tx1"/>
                        </a:solidFill>
                        <a:latin typeface="Cambria Math" panose="02040503050406030204" pitchFamily="18" charset="0"/>
                      </a:rPr>
                      <m:t>=</m:t>
                    </m:r>
                    <m:nary>
                      <m:naryPr>
                        <m:chr m:val="∑"/>
                        <m:limLoc m:val="subSup"/>
                        <m:grow m:val="on"/>
                        <m:supHide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sub>
                      <m:sup/>
                      <m:e>
                        <m:r>
                          <a:rPr lang="ar-AE" sz="900" i="1">
                            <a:solidFill>
                              <a:schemeClr val="tx1"/>
                            </a:solidFill>
                            <a:latin typeface="Cambria Math" panose="02040503050406030204" pitchFamily="18" charset="0"/>
                          </a:rPr>
                          <m:t>𝐷</m:t>
                        </m:r>
                      </m:e>
                    </m:nary>
                    <m:r>
                      <a:rPr lang="ar-AE" sz="900" i="1">
                        <a:solidFill>
                          <a:schemeClr val="tx1"/>
                        </a:solidFill>
                        <a:latin typeface="Cambria Math" panose="02040503050406030204" pitchFamily="18" charset="0"/>
                      </a:rPr>
                      <m:t>𝑉</m:t>
                    </m:r>
                    <m:sSub>
                      <m:sSubPr>
                        <m:ctrlPr>
                          <a:rPr lang="ar-AE" sz="900" i="1">
                            <a:solidFill>
                              <a:schemeClr val="tx1"/>
                            </a:solidFill>
                            <a:latin typeface="Cambria Math" panose="02040503050406030204" pitchFamily="18" charset="0"/>
                          </a:rPr>
                        </m:ctrlPr>
                      </m:sSubPr>
                      <m:e>
                        <m:r>
                          <a:rPr lang="ar-AE" sz="900" i="0">
                            <a:solidFill>
                              <a:schemeClr val="tx1"/>
                            </a:solidFill>
                            <a:latin typeface="Cambria Math" panose="02040503050406030204" pitchFamily="18" charset="0"/>
                          </a:rPr>
                          <m:t>01</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𝐷</m:t>
                        </m:r>
                      </m:e>
                      <m:sub>
                        <m:r>
                          <a:rPr lang="ar-AE" sz="900" i="1">
                            <a:solidFill>
                              <a:schemeClr val="tx1"/>
                            </a:solidFill>
                            <a:latin typeface="Cambria Math" panose="02040503050406030204" pitchFamily="18" charset="0"/>
                          </a:rPr>
                          <m:t>𝑝𝑜𝑟𝑡</m:t>
                        </m:r>
                      </m:sub>
                    </m:sSub>
                    <m:r>
                      <a:rPr lang="ar-AE" sz="900" i="0">
                        <a:solidFill>
                          <a:schemeClr val="tx1"/>
                        </a:solidFill>
                        <a:latin typeface="Cambria Math" panose="02040503050406030204" pitchFamily="18" charset="0"/>
                      </a:rPr>
                      <m:t>=</m:t>
                    </m:r>
                    <m:nary>
                      <m:naryPr>
                        <m:chr m:val="∑"/>
                        <m:limLoc m:val="subSup"/>
                        <m:grow m:val="on"/>
                        <m:supHide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sub>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𝑤</m:t>
                            </m:r>
                          </m:e>
                          <m:sub>
                            <m:r>
                              <a:rPr lang="ar-AE" sz="900" i="1">
                                <a:solidFill>
                                  <a:schemeClr val="tx1"/>
                                </a:solidFill>
                                <a:latin typeface="Cambria Math" panose="02040503050406030204" pitchFamily="18" charset="0"/>
                              </a:rPr>
                              <m:t>𝑖</m:t>
                            </m:r>
                          </m:sub>
                        </m:sSub>
                      </m:e>
                    </m:nary>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𝐷</m:t>
                        </m:r>
                      </m:e>
                      <m:sub>
                        <m:r>
                          <a:rPr lang="ar-AE" sz="900" i="1">
                            <a:solidFill>
                              <a:schemeClr val="tx1"/>
                            </a:solidFill>
                            <a:latin typeface="Cambria Math" panose="02040503050406030204" pitchFamily="18" charset="0"/>
                          </a:rPr>
                          <m:t>𝑖</m:t>
                        </m:r>
                      </m:sub>
                    </m:sSub>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Permite medir el riesgo de tasa a nivel portafolio.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Usar pesos por valor de mercado, no por nominal.</a:t>
                </a:r>
              </a:p>
              <a:p>
                <a:pPr algn="l">
                  <a:spcBef>
                    <a:spcPts val="300"/>
                  </a:spcBef>
                  <a:spcAft>
                    <a:spcPts val="300"/>
                  </a:spcAft>
                  <a:buFont typeface="+mj-lt"/>
                  <a:buAutoNum type="arabicPeriod"/>
                </a:pPr>
                <a:r>
                  <a:rPr lang="es-PE" sz="900" b="1" i="0" dirty="0" err="1">
                    <a:solidFill>
                      <a:schemeClr val="tx1"/>
                    </a:solidFill>
                    <a:effectLst/>
                    <a:latin typeface="Segoe WPC"/>
                  </a:rPr>
                  <a:t>Hedging</a:t>
                </a:r>
                <a:r>
                  <a:rPr lang="es-PE" sz="900" b="1" i="0" dirty="0">
                    <a:solidFill>
                      <a:schemeClr val="tx1"/>
                    </a:solidFill>
                    <a:effectLst/>
                    <a:latin typeface="Segoe WPC"/>
                  </a:rPr>
                  <a:t> </a:t>
                </a:r>
                <a:r>
                  <a:rPr lang="es-PE" sz="900" b="1" i="0" dirty="0" err="1">
                    <a:solidFill>
                      <a:schemeClr val="tx1"/>
                    </a:solidFill>
                    <a:effectLst/>
                    <a:latin typeface="Segoe WPC"/>
                  </a:rPr>
                  <a:t>with</a:t>
                </a:r>
                <a:r>
                  <a:rPr lang="es-PE" sz="900" b="1" i="0" dirty="0">
                    <a:solidFill>
                      <a:schemeClr val="tx1"/>
                    </a:solidFill>
                    <a:effectLst/>
                    <a:latin typeface="Segoe WPC"/>
                  </a:rPr>
                  <a:t> </a:t>
                </a:r>
                <a:r>
                  <a:rPr lang="es-PE" sz="900" b="1" i="0" dirty="0" err="1">
                    <a:solidFill>
                      <a:schemeClr val="tx1"/>
                    </a:solidFill>
                    <a:effectLst/>
                    <a:latin typeface="Segoe WPC"/>
                  </a:rPr>
                  <a:t>Duration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Cobertura de primer orden contra movimientos de tasas.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Se arma una posición compensatoria para neutralizar la sensibilidad lineal.</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 que pierde una posición cuando suben tasas es compensado por lo que gana otra.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𝑁</m:t>
                        </m:r>
                      </m:e>
                      <m:sub>
                        <m:r>
                          <a:rPr lang="ar-AE" sz="900" i="1">
                            <a:solidFill>
                              <a:schemeClr val="tx1"/>
                            </a:solidFill>
                            <a:latin typeface="Cambria Math" panose="02040503050406030204" pitchFamily="18" charset="0"/>
                          </a:rPr>
                          <m:t>𝐴</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𝐷</m:t>
                        </m:r>
                      </m:e>
                      <m:sub>
                        <m:r>
                          <a:rPr lang="ar-AE" sz="900" i="1">
                            <a:solidFill>
                              <a:schemeClr val="tx1"/>
                            </a:solidFill>
                            <a:latin typeface="Cambria Math" panose="02040503050406030204" pitchFamily="18" charset="0"/>
                          </a:rPr>
                          <m:t>𝐴</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1">
                            <a:solidFill>
                              <a:schemeClr val="tx1"/>
                            </a:solidFill>
                            <a:latin typeface="Cambria Math" panose="02040503050406030204" pitchFamily="18" charset="0"/>
                          </a:rPr>
                          <m:t>𝐴</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𝑁</m:t>
                        </m:r>
                      </m:e>
                      <m:sub>
                        <m:r>
                          <a:rPr lang="ar-AE" sz="900" i="1">
                            <a:solidFill>
                              <a:schemeClr val="tx1"/>
                            </a:solidFill>
                            <a:latin typeface="Cambria Math" panose="02040503050406030204" pitchFamily="18" charset="0"/>
                          </a:rPr>
                          <m:t>𝐿</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𝐷</m:t>
                        </m:r>
                      </m:e>
                      <m:sub>
                        <m:r>
                          <a:rPr lang="ar-AE" sz="900" i="1">
                            <a:solidFill>
                              <a:schemeClr val="tx1"/>
                            </a:solidFill>
                            <a:latin typeface="Cambria Math" panose="02040503050406030204" pitchFamily="18" charset="0"/>
                          </a:rPr>
                          <m:t>𝐿</m:t>
                        </m:r>
                      </m:sub>
                    </m:sSub>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𝑃</m:t>
                        </m:r>
                      </m:e>
                      <m:sub>
                        <m:r>
                          <a:rPr lang="ar-AE" sz="900" i="1">
                            <a:solidFill>
                              <a:schemeClr val="tx1"/>
                            </a:solidFill>
                            <a:latin typeface="Cambria Math" panose="02040503050406030204" pitchFamily="18" charset="0"/>
                          </a:rPr>
                          <m:t>𝐿</m:t>
                        </m:r>
                      </m:sub>
                    </m:sSub>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Si se iguala el </a:t>
                </a:r>
                <a:r>
                  <a:rPr lang="es-PE" sz="900" b="0" i="0" dirty="0" err="1">
                    <a:solidFill>
                      <a:schemeClr val="tx1"/>
                    </a:solidFill>
                    <a:effectLst/>
                    <a:latin typeface="Segoe WPC"/>
                  </a:rPr>
                  <a:t>dollar</a:t>
                </a:r>
                <a:r>
                  <a:rPr lang="es-PE" sz="900" b="0" i="0" dirty="0">
                    <a:solidFill>
                      <a:schemeClr val="tx1"/>
                    </a:solidFill>
                    <a:effectLst/>
                    <a:latin typeface="Segoe WPC"/>
                  </a:rPr>
                  <a:t> </a:t>
                </a:r>
                <a:r>
                  <a:rPr lang="es-PE" sz="900" b="0" i="0" dirty="0" err="1">
                    <a:solidFill>
                      <a:schemeClr val="tx1"/>
                    </a:solidFill>
                    <a:effectLst/>
                    <a:latin typeface="Segoe WPC"/>
                  </a:rPr>
                  <a:t>duration</a:t>
                </a:r>
                <a:r>
                  <a:rPr lang="es-PE" sz="900" b="0" i="0" dirty="0">
                    <a:solidFill>
                      <a:schemeClr val="tx1"/>
                    </a:solidFill>
                    <a:effectLst/>
                    <a:latin typeface="Segoe WPC"/>
                  </a:rPr>
                  <a:t> entre activos y pasivos, el riesgo de primer orden cae mucho.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basta con igualar </a:t>
                </a:r>
                <a:r>
                  <a:rPr lang="es-PE" sz="900" b="0" i="0" dirty="0" err="1">
                    <a:solidFill>
                      <a:schemeClr val="tx1"/>
                    </a:solidFill>
                    <a:effectLst/>
                    <a:latin typeface="Segoe WPC"/>
                  </a:rPr>
                  <a:t>duration</a:t>
                </a:r>
                <a:r>
                  <a:rPr lang="es-PE" sz="900" b="0" i="0" dirty="0">
                    <a:solidFill>
                      <a:schemeClr val="tx1"/>
                    </a:solidFill>
                    <a:effectLst/>
                    <a:latin typeface="Segoe WPC"/>
                  </a:rPr>
                  <a:t> sola; importa también el tamaño monetario.</a:t>
                </a:r>
              </a:p>
              <a:p>
                <a:pPr algn="l">
                  <a:spcBef>
                    <a:spcPts val="300"/>
                  </a:spcBef>
                  <a:spcAft>
                    <a:spcPts val="300"/>
                  </a:spcAft>
                  <a:buFont typeface="+mj-lt"/>
                  <a:buAutoNum type="arabicPeriod"/>
                </a:pPr>
                <a:r>
                  <a:rPr lang="es-PE" sz="900" b="1" i="0" dirty="0" err="1">
                    <a:solidFill>
                      <a:schemeClr val="tx1"/>
                    </a:solidFill>
                    <a:effectLst/>
                    <a:latin typeface="Segoe WPC"/>
                  </a:rPr>
                  <a:t>Convexity</a:t>
                </a:r>
                <a:r>
                  <a:rPr lang="es-PE" sz="900" b="1" i="0" dirty="0">
                    <a:solidFill>
                      <a:schemeClr val="tx1"/>
                    </a:solidFill>
                    <a:effectLst/>
                    <a:latin typeface="Segoe WPC"/>
                  </a:rPr>
                  <a:t> in </a:t>
                </a:r>
                <a:r>
                  <a:rPr lang="es-PE" sz="900" b="1" i="0" dirty="0" err="1">
                    <a:solidFill>
                      <a:schemeClr val="tx1"/>
                    </a:solidFill>
                    <a:effectLst/>
                    <a:latin typeface="Segoe WPC"/>
                  </a:rPr>
                  <a:t>Hedging</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Extensión de la cobertura para incluir el efecto de segundo orden.</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Dos carteras con la misma </a:t>
                </a:r>
                <a:r>
                  <a:rPr lang="es-PE" sz="900" b="0" i="0" dirty="0" err="1">
                    <a:solidFill>
                      <a:schemeClr val="tx1"/>
                    </a:solidFill>
                    <a:effectLst/>
                    <a:latin typeface="Segoe WPC"/>
                  </a:rPr>
                  <a:t>duration</a:t>
                </a:r>
                <a:r>
                  <a:rPr lang="es-PE" sz="900" b="0" i="0" dirty="0">
                    <a:solidFill>
                      <a:schemeClr val="tx1"/>
                    </a:solidFill>
                    <a:effectLst/>
                    <a:latin typeface="Segoe WPC"/>
                  </a:rPr>
                  <a:t> pueden reaccionar distinto si su </a:t>
                </a:r>
                <a:r>
                  <a:rPr lang="es-PE" sz="900" b="0" i="0" dirty="0" err="1">
                    <a:solidFill>
                      <a:schemeClr val="tx1"/>
                    </a:solidFill>
                    <a:effectLst/>
                    <a:latin typeface="Segoe WPC"/>
                  </a:rPr>
                  <a:t>convexity</a:t>
                </a:r>
                <a:r>
                  <a:rPr lang="es-PE" sz="900" b="0" i="0" dirty="0">
                    <a:solidFill>
                      <a:schemeClr val="tx1"/>
                    </a:solidFill>
                    <a:effectLst/>
                    <a:latin typeface="Segoe WPC"/>
                  </a:rPr>
                  <a:t> es diferente.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Aunque las pendientes iniciales coincidan, las curvas pueden separarse cuando las tasas se mueven mucho.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𝐶</m:t>
                        </m:r>
                      </m:e>
                      <m:sub>
                        <m:r>
                          <a:rPr lang="ar-AE" sz="900" i="1">
                            <a:solidFill>
                              <a:schemeClr val="tx1"/>
                            </a:solidFill>
                            <a:latin typeface="Cambria Math" panose="02040503050406030204" pitchFamily="18" charset="0"/>
                          </a:rPr>
                          <m:t>𝐴</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𝐶</m:t>
                        </m:r>
                      </m:e>
                      <m:sub>
                        <m:r>
                          <a:rPr lang="ar-AE" sz="900" i="1">
                            <a:solidFill>
                              <a:schemeClr val="tx1"/>
                            </a:solidFill>
                            <a:latin typeface="Cambria Math" panose="02040503050406030204" pitchFamily="18" charset="0"/>
                          </a:rPr>
                          <m:t>𝐿</m:t>
                        </m:r>
                      </m:sub>
                    </m:sSub>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Una cobertura más robusta busca alinear </a:t>
                </a:r>
                <a:r>
                  <a:rPr lang="es-PE" sz="900" b="0" i="0" dirty="0" err="1">
                    <a:solidFill>
                      <a:schemeClr val="tx1"/>
                    </a:solidFill>
                    <a:effectLst/>
                    <a:latin typeface="Segoe WPC"/>
                  </a:rPr>
                  <a:t>duration</a:t>
                </a:r>
                <a:r>
                  <a:rPr lang="es-PE" sz="900" b="0" i="0" dirty="0">
                    <a:solidFill>
                      <a:schemeClr val="tx1"/>
                    </a:solidFill>
                    <a:effectLst/>
                    <a:latin typeface="Segoe WPC"/>
                  </a:rPr>
                  <a:t> y </a:t>
                </a:r>
                <a:r>
                  <a:rPr lang="es-PE" sz="900" b="0" i="0" dirty="0" err="1">
                    <a:solidFill>
                      <a:schemeClr val="tx1"/>
                    </a:solidFill>
                    <a:effectLst/>
                    <a:latin typeface="Segoe WPC"/>
                  </a:rPr>
                  <a:t>convexity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Una cartera </a:t>
                </a:r>
                <a:r>
                  <a:rPr lang="es-PE" sz="900" b="0" i="0" dirty="0" err="1">
                    <a:solidFill>
                      <a:schemeClr val="tx1"/>
                    </a:solidFill>
                    <a:effectLst/>
                    <a:latin typeface="Segoe WPC"/>
                  </a:rPr>
                  <a:t>duration</a:t>
                </a:r>
                <a:r>
                  <a:rPr lang="es-PE" sz="900" b="0" i="0" dirty="0">
                    <a:solidFill>
                      <a:schemeClr val="tx1"/>
                    </a:solidFill>
                    <a:effectLst/>
                    <a:latin typeface="Segoe WPC"/>
                  </a:rPr>
                  <a:t>-neutral no necesariamente está bien cubierta ante shocks grandes.</a:t>
                </a:r>
              </a:p>
              <a:p>
                <a:pPr algn="l">
                  <a:spcBef>
                    <a:spcPts val="300"/>
                  </a:spcBef>
                  <a:spcAft>
                    <a:spcPts val="300"/>
                  </a:spcAft>
                  <a:buFont typeface="+mj-lt"/>
                  <a:buAutoNum type="arabicPeriod"/>
                </a:pPr>
                <a:r>
                  <a:rPr lang="es-PE" sz="900" b="1" i="0" dirty="0" err="1">
                    <a:solidFill>
                      <a:schemeClr val="tx1"/>
                    </a:solidFill>
                    <a:effectLst/>
                    <a:latin typeface="Segoe WPC"/>
                  </a:rPr>
                  <a:t>Bullet</a:t>
                </a:r>
                <a:r>
                  <a:rPr lang="es-PE" sz="900" b="1" i="0" dirty="0">
                    <a:solidFill>
                      <a:schemeClr val="tx1"/>
                    </a:solidFill>
                    <a:effectLst/>
                    <a:latin typeface="Segoe WPC"/>
                  </a:rPr>
                  <a:t> vs </a:t>
                </a:r>
                <a:r>
                  <a:rPr lang="es-PE" sz="900" b="1" i="0" dirty="0" err="1">
                    <a:solidFill>
                      <a:schemeClr val="tx1"/>
                    </a:solidFill>
                    <a:effectLst/>
                    <a:latin typeface="Segoe WPC"/>
                  </a:rPr>
                  <a:t>Barbell</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Comparación entre una cartera concentrada en vencimientos intermedios y otra repartida entre corto y largo plazo.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Dos carteras pueden tener la misma </a:t>
                </a:r>
                <a:r>
                  <a:rPr lang="es-PE" sz="900" b="0" i="0" dirty="0" err="1">
                    <a:solidFill>
                      <a:schemeClr val="tx1"/>
                    </a:solidFill>
                    <a:effectLst/>
                    <a:latin typeface="Segoe WPC"/>
                  </a:rPr>
                  <a:t>duration</a:t>
                </a:r>
                <a:r>
                  <a:rPr lang="es-PE" sz="900" b="0" i="0" dirty="0">
                    <a:solidFill>
                      <a:schemeClr val="tx1"/>
                    </a:solidFill>
                    <a:effectLst/>
                    <a:latin typeface="Segoe WPC"/>
                  </a:rPr>
                  <a:t> pero distinta </a:t>
                </a:r>
                <a:r>
                  <a:rPr lang="es-PE" sz="900" b="0" i="0" dirty="0" err="1">
                    <a:solidFill>
                      <a:schemeClr val="tx1"/>
                    </a:solidFill>
                    <a:effectLst/>
                    <a:latin typeface="Segoe WPC"/>
                  </a:rPr>
                  <a:t>convexity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a:t>
                </a:r>
                <a:r>
                  <a:rPr lang="es-PE" sz="900" b="0" i="0" dirty="0" err="1">
                    <a:solidFill>
                      <a:schemeClr val="tx1"/>
                    </a:solidFill>
                    <a:effectLst/>
                    <a:latin typeface="Segoe WPC"/>
                  </a:rPr>
                  <a:t>bullet</a:t>
                </a:r>
                <a:r>
                  <a:rPr lang="es-PE" sz="900" b="0" i="0" dirty="0">
                    <a:solidFill>
                      <a:schemeClr val="tx1"/>
                    </a:solidFill>
                    <a:effectLst/>
                    <a:latin typeface="Segoe WPC"/>
                  </a:rPr>
                  <a:t> concentra riesgo en el medio; la </a:t>
                </a:r>
                <a:r>
                  <a:rPr lang="es-PE" sz="900" b="0" i="0" dirty="0" err="1">
                    <a:solidFill>
                      <a:schemeClr val="tx1"/>
                    </a:solidFill>
                    <a:effectLst/>
                    <a:latin typeface="Segoe WPC"/>
                  </a:rPr>
                  <a:t>barbell</a:t>
                </a:r>
                <a:r>
                  <a:rPr lang="es-PE" sz="900" b="0" i="0" dirty="0">
                    <a:solidFill>
                      <a:schemeClr val="tx1"/>
                    </a:solidFill>
                    <a:effectLst/>
                    <a:latin typeface="Segoe WPC"/>
                  </a:rPr>
                  <a:t> en los extremos.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 igual </a:t>
                </a:r>
                <a:r>
                  <a:rPr lang="es-PE" sz="900" b="0" i="0" dirty="0" err="1">
                    <a:solidFill>
                      <a:schemeClr val="tx1"/>
                    </a:solidFill>
                    <a:effectLst/>
                    <a:latin typeface="Segoe WPC"/>
                  </a:rPr>
                  <a:t>duration</a:t>
                </a:r>
                <a:r>
                  <a:rPr lang="es-PE" sz="900" b="0" i="0" dirty="0">
                    <a:solidFill>
                      <a:schemeClr val="tx1"/>
                    </a:solidFill>
                    <a:effectLst/>
                    <a:latin typeface="Segoe WPC"/>
                  </a:rPr>
                  <a:t>, típicamente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𝐶</m:t>
                        </m:r>
                      </m:e>
                      <m:sub>
                        <m:r>
                          <a:rPr lang="ar-AE" sz="900" i="1">
                            <a:solidFill>
                              <a:schemeClr val="tx1"/>
                            </a:solidFill>
                            <a:latin typeface="Cambria Math" panose="02040503050406030204" pitchFamily="18" charset="0"/>
                          </a:rPr>
                          <m:t>𝑏𝑎𝑟𝑏𝑒𝑙𝑙</m:t>
                        </m:r>
                      </m:sub>
                    </m:sSub>
                    <m:r>
                      <a:rPr lang="ar-AE" sz="900" i="0">
                        <a:solidFill>
                          <a:schemeClr val="tx1"/>
                        </a:solidFill>
                        <a:latin typeface="Cambria Math" panose="02040503050406030204" pitchFamily="18" charset="0"/>
                      </a:rPr>
                      <m:t>&gt;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𝐶</m:t>
                        </m:r>
                      </m:e>
                      <m:sub>
                        <m:r>
                          <a:rPr lang="ar-AE" sz="900" i="1">
                            <a:solidFill>
                              <a:schemeClr val="tx1"/>
                            </a:solidFill>
                            <a:latin typeface="Cambria Math" panose="02040503050406030204" pitchFamily="18" charset="0"/>
                          </a:rPr>
                          <m:t>𝑏𝑢𝑙𝑙𝑒𝑡</m:t>
                        </m:r>
                      </m:sub>
                    </m:sSub>
                  </m:oMath>
                </a14:m>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Si las tasas se mueven mucho, la </a:t>
                </a:r>
                <a:r>
                  <a:rPr lang="es-PE" sz="900" b="0" i="0" dirty="0" err="1">
                    <a:solidFill>
                      <a:schemeClr val="tx1"/>
                    </a:solidFill>
                    <a:effectLst/>
                    <a:latin typeface="Segoe WPC"/>
                  </a:rPr>
                  <a:t>barbell</a:t>
                </a:r>
                <a:r>
                  <a:rPr lang="es-PE" sz="900" b="0" i="0" dirty="0">
                    <a:solidFill>
                      <a:schemeClr val="tx1"/>
                    </a:solidFill>
                    <a:effectLst/>
                    <a:latin typeface="Segoe WPC"/>
                  </a:rPr>
                  <a:t> suele beneficiarse de su mayor </a:t>
                </a:r>
                <a:r>
                  <a:rPr lang="es-PE" sz="900" b="0" i="0" dirty="0" err="1">
                    <a:solidFill>
                      <a:schemeClr val="tx1"/>
                    </a:solidFill>
                    <a:effectLst/>
                    <a:latin typeface="Segoe WPC"/>
                  </a:rPr>
                  <a:t>convexity</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Misma </a:t>
                </a:r>
                <a:r>
                  <a:rPr lang="es-PE" sz="900" b="0" i="0" dirty="0" err="1">
                    <a:solidFill>
                      <a:schemeClr val="tx1"/>
                    </a:solidFill>
                    <a:effectLst/>
                    <a:latin typeface="Segoe WPC"/>
                  </a:rPr>
                  <a:t>duration</a:t>
                </a:r>
                <a:r>
                  <a:rPr lang="es-PE" sz="900" b="0" i="0" dirty="0">
                    <a:solidFill>
                      <a:schemeClr val="tx1"/>
                    </a:solidFill>
                    <a:effectLst/>
                    <a:latin typeface="Segoe WPC"/>
                  </a:rPr>
                  <a:t> no implica mismo comportamiento ante shocks grandes.</a:t>
                </a:r>
              </a:p>
            </p:txBody>
          </p:sp>
        </mc:Choice>
        <mc:Fallback xmlns="">
          <p:sp>
            <p:nvSpPr>
              <p:cNvPr id="7" name="CuadroTexto 6">
                <a:extLst>
                  <a:ext uri="{FF2B5EF4-FFF2-40B4-BE49-F238E27FC236}">
                    <a16:creationId xmlns:a16="http://schemas.microsoft.com/office/drawing/2014/main" id="{882B1074-0AF5-B78E-E34B-B2EBE86A04E0}"/>
                  </a:ext>
                </a:extLst>
              </p:cNvPr>
              <p:cNvSpPr txBox="1">
                <a:spLocks noRot="1" noChangeAspect="1" noMove="1" noResize="1" noEditPoints="1" noAdjustHandles="1" noChangeArrowheads="1" noChangeShapeType="1" noTextEdit="1"/>
              </p:cNvSpPr>
              <p:nvPr/>
            </p:nvSpPr>
            <p:spPr>
              <a:xfrm>
                <a:off x="5843588" y="592581"/>
                <a:ext cx="6234112" cy="5672835"/>
              </a:xfrm>
              <a:prstGeom prst="rect">
                <a:avLst/>
              </a:prstGeom>
              <a:blipFill>
                <a:blip r:embed="rId3"/>
                <a:stretch>
                  <a:fillRect t="-215"/>
                </a:stretch>
              </a:blipFill>
            </p:spPr>
            <p:txBody>
              <a:bodyPr/>
              <a:lstStyle/>
              <a:p>
                <a:r>
                  <a:rPr lang="es-PE">
                    <a:noFill/>
                  </a:rPr>
                  <a:t> </a:t>
                </a:r>
              </a:p>
            </p:txBody>
          </p:sp>
        </mc:Fallback>
      </mc:AlternateContent>
    </p:spTree>
    <p:extLst>
      <p:ext uri="{BB962C8B-B14F-4D97-AF65-F5344CB8AC3E}">
        <p14:creationId xmlns:p14="http://schemas.microsoft.com/office/powerpoint/2010/main" val="14562262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28E2EE-44D0-5C26-7DC8-8EFAA4AEA664}"/>
              </a:ext>
            </a:extLst>
          </p:cNvPr>
          <p:cNvSpPr>
            <a:spLocks noGrp="1"/>
          </p:cNvSpPr>
          <p:nvPr>
            <p:ph type="title"/>
          </p:nvPr>
        </p:nvSpPr>
        <p:spPr>
          <a:xfrm>
            <a:off x="76200" y="0"/>
            <a:ext cx="10515600" cy="349187"/>
          </a:xfrm>
        </p:spPr>
        <p:txBody>
          <a:bodyPr>
            <a:noAutofit/>
          </a:bodyPr>
          <a:lstStyle/>
          <a:p>
            <a:r>
              <a:rPr lang="en-US" sz="2400" b="1" dirty="0"/>
              <a:t>Modelling Non-Parallel Term Structure Shifts and Hedging</a:t>
            </a:r>
            <a:endParaRPr lang="es-PE" sz="24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D3EA9A11-A39F-8524-2346-754EAAA09C2D}"/>
                  </a:ext>
                </a:extLst>
              </p:cNvPr>
              <p:cNvSpPr txBox="1"/>
              <p:nvPr/>
            </p:nvSpPr>
            <p:spPr>
              <a:xfrm>
                <a:off x="76200" y="349187"/>
                <a:ext cx="6096000" cy="6698309"/>
              </a:xfrm>
              <a:prstGeom prst="rect">
                <a:avLst/>
              </a:prstGeom>
              <a:noFill/>
            </p:spPr>
            <p:txBody>
              <a:bodyPr wrap="square">
                <a:spAutoFit/>
              </a:bodyPr>
              <a:lstStyle/>
              <a:p>
                <a:pPr algn="l">
                  <a:spcBef>
                    <a:spcPts val="300"/>
                  </a:spcBef>
                  <a:spcAft>
                    <a:spcPts val="300"/>
                  </a:spcAft>
                  <a:buFont typeface="+mj-lt"/>
                  <a:buAutoNum type="arabicPeriod"/>
                </a:pPr>
                <a:r>
                  <a:rPr lang="es-PE" sz="900" b="1" i="0" dirty="0">
                    <a:solidFill>
                      <a:schemeClr val="tx1"/>
                    </a:solidFill>
                    <a:effectLst/>
                    <a:latin typeface="Segoe WPC"/>
                  </a:rPr>
                  <a:t>Principal </a:t>
                </a:r>
                <a:r>
                  <a:rPr lang="es-PE" sz="900" b="1" i="0" dirty="0" err="1">
                    <a:solidFill>
                      <a:schemeClr val="tx1"/>
                    </a:solidFill>
                    <a:effectLst/>
                    <a:latin typeface="Segoe WPC"/>
                  </a:rPr>
                  <a:t>Components</a:t>
                </a:r>
                <a:r>
                  <a:rPr lang="es-PE" sz="900" b="1" i="0" dirty="0">
                    <a:solidFill>
                      <a:schemeClr val="tx1"/>
                    </a:solidFill>
                    <a:effectLst/>
                    <a:latin typeface="Segoe WPC"/>
                  </a:rPr>
                  <a:t> </a:t>
                </a:r>
                <a:r>
                  <a:rPr lang="es-PE" sz="900" b="1" i="0" dirty="0" err="1">
                    <a:solidFill>
                      <a:schemeClr val="tx1"/>
                    </a:solidFill>
                    <a:effectLst/>
                    <a:latin typeface="Segoe WPC"/>
                  </a:rPr>
                  <a:t>Analysis</a:t>
                </a:r>
                <a:r>
                  <a:rPr lang="es-PE" sz="900" b="1" i="0" dirty="0">
                    <a:solidFill>
                      <a:schemeClr val="tx1"/>
                    </a:solidFill>
                    <a:effectLst/>
                    <a:latin typeface="Segoe WPC"/>
                  </a:rPr>
                  <a:t> (PCA)</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Método estadístico para describir movimientos no paralelos de la curva de tasas.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vez de asumir que toda la curva se mueve igual, PCA identifica unos pocos patrones dominantes de movimiento.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La curva puede moverse como shift paralelo, como </a:t>
                </a:r>
                <a:r>
                  <a:rPr lang="es-PE" sz="900" b="0" i="0" dirty="0" err="1">
                    <a:solidFill>
                      <a:schemeClr val="tx1"/>
                    </a:solidFill>
                    <a:effectLst/>
                    <a:latin typeface="Segoe WPC"/>
                  </a:rPr>
                  <a:t>steepening</a:t>
                </a:r>
                <a:r>
                  <a:rPr lang="es-PE" sz="900" b="0" i="0" dirty="0">
                    <a:solidFill>
                      <a:schemeClr val="tx1"/>
                    </a:solidFill>
                    <a:effectLst/>
                    <a:latin typeface="Segoe WPC"/>
                  </a:rPr>
                  <a:t>/</a:t>
                </a:r>
                <a:r>
                  <a:rPr lang="es-PE" sz="900" b="0" i="0" dirty="0" err="1">
                    <a:solidFill>
                      <a:schemeClr val="tx1"/>
                    </a:solidFill>
                    <a:effectLst/>
                    <a:latin typeface="Segoe WPC"/>
                  </a:rPr>
                  <a:t>flattening</a:t>
                </a:r>
                <a:r>
                  <a:rPr lang="es-PE" sz="900" b="0" i="0" dirty="0">
                    <a:solidFill>
                      <a:schemeClr val="tx1"/>
                    </a:solidFill>
                    <a:effectLst/>
                    <a:latin typeface="Segoe WPC"/>
                  </a:rPr>
                  <a:t>, o como </a:t>
                </a:r>
                <a:r>
                  <a:rPr lang="es-PE" sz="900" b="0" i="0" dirty="0" err="1">
                    <a:solidFill>
                      <a:schemeClr val="tx1"/>
                    </a:solidFill>
                    <a:effectLst/>
                    <a:latin typeface="Segoe WPC"/>
                  </a:rPr>
                  <a:t>bowing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El cambio de la tasa </a:t>
                </a:r>
                <a14:m>
                  <m:oMath xmlns:m="http://schemas.openxmlformats.org/officeDocument/2006/math">
                    <m:r>
                      <a:rPr lang="es-PE" sz="900" i="1">
                        <a:solidFill>
                          <a:schemeClr val="tx1"/>
                        </a:solidFill>
                        <a:latin typeface="Cambria Math" panose="02040503050406030204" pitchFamily="18" charset="0"/>
                      </a:rPr>
                      <m:t>𝑗</m:t>
                    </m:r>
                  </m:oMath>
                </a14:m>
                <a:r>
                  <a:rPr lang="es-PE" sz="900" b="0" i="0" dirty="0">
                    <a:solidFill>
                      <a:schemeClr val="tx1"/>
                    </a:solidFill>
                    <a:effectLst/>
                    <a:latin typeface="Segoe WPC"/>
                  </a:rPr>
                  <a:t> se escribe como </a:t>
                </a:r>
                <a14:m>
                  <m:oMath xmlns:m="http://schemas.openxmlformats.org/officeDocument/2006/math">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𝑛</m:t>
                        </m:r>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𝑎</m:t>
                            </m:r>
                          </m:e>
                          <m:sub>
                            <m:r>
                              <a:rPr lang="ar-AE" sz="900" i="1">
                                <a:solidFill>
                                  <a:schemeClr val="tx1"/>
                                </a:solidFill>
                                <a:latin typeface="Cambria Math" panose="02040503050406030204" pitchFamily="18" charset="0"/>
                              </a:rPr>
                              <m:t>𝑖</m:t>
                            </m:r>
                          </m:sub>
                        </m:sSub>
                      </m:e>
                    </m:nary>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1">
                            <a:solidFill>
                              <a:schemeClr val="tx1"/>
                            </a:solidFill>
                            <a:latin typeface="Cambria Math" panose="02040503050406030204" pitchFamily="18" charset="0"/>
                          </a:rPr>
                          <m:t>𝑖𝑗</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Los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1">
                            <a:solidFill>
                              <a:schemeClr val="tx1"/>
                            </a:solidFill>
                            <a:latin typeface="Cambria Math" panose="02040503050406030204" pitchFamily="18" charset="0"/>
                          </a:rPr>
                          <m:t>𝑖𝑗</m:t>
                        </m:r>
                      </m:sub>
                    </m:sSub>
                  </m:oMath>
                </a14:m>
                <a:r>
                  <a:rPr lang="ar-AE" sz="900" b="0" i="0" dirty="0">
                    <a:solidFill>
                      <a:schemeClr val="tx1"/>
                    </a:solidFill>
                    <a:effectLst/>
                    <a:latin typeface="Segoe WPC"/>
                  </a:rPr>
                  <a:t> </a:t>
                </a:r>
                <a:r>
                  <a:rPr lang="es-PE" sz="900" b="0" i="0" dirty="0">
                    <a:solidFill>
                      <a:schemeClr val="tx1"/>
                    </a:solidFill>
                    <a:effectLst/>
                    <a:latin typeface="Segoe WPC"/>
                  </a:rPr>
                  <a:t>son factor </a:t>
                </a:r>
                <a:r>
                  <a:rPr lang="es-PE" sz="900" b="0" i="0" dirty="0" err="1">
                    <a:solidFill>
                      <a:schemeClr val="tx1"/>
                    </a:solidFill>
                    <a:effectLst/>
                    <a:latin typeface="Segoe WPC"/>
                  </a:rPr>
                  <a:t>loadings</a:t>
                </a:r>
                <a:r>
                  <a:rPr lang="es-PE" sz="900" b="0" i="0" dirty="0">
                    <a:solidFill>
                      <a:schemeClr val="tx1"/>
                    </a:solidFill>
                    <a:effectLst/>
                    <a:latin typeface="Segoe WPC"/>
                  </a:rPr>
                  <a:t> y los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𝑎</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a:solidFill>
                      <a:schemeClr val="tx1"/>
                    </a:solidFill>
                    <a:effectLst/>
                    <a:latin typeface="Segoe WPC"/>
                  </a:rPr>
                  <a:t>son factor scores; juntos explican los movimientos observados de tasas.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confundir factor </a:t>
                </a:r>
                <a:r>
                  <a:rPr lang="es-PE" sz="900" b="0" i="0" dirty="0" err="1">
                    <a:solidFill>
                      <a:schemeClr val="tx1"/>
                    </a:solidFill>
                    <a:effectLst/>
                    <a:latin typeface="Segoe WPC"/>
                  </a:rPr>
                  <a:t>loading</a:t>
                </a:r>
                <a:r>
                  <a:rPr lang="es-PE" sz="900" b="0" i="0" dirty="0">
                    <a:solidFill>
                      <a:schemeClr val="tx1"/>
                    </a:solidFill>
                    <a:effectLst/>
                    <a:latin typeface="Segoe WPC"/>
                  </a:rPr>
                  <a:t> con factor score; el </a:t>
                </a:r>
                <a:r>
                  <a:rPr lang="es-PE" sz="900" b="0" i="0" dirty="0" err="1">
                    <a:solidFill>
                      <a:schemeClr val="tx1"/>
                    </a:solidFill>
                    <a:effectLst/>
                    <a:latin typeface="Segoe WPC"/>
                  </a:rPr>
                  <a:t>loading</a:t>
                </a:r>
                <a:r>
                  <a:rPr lang="es-PE" sz="900" b="0" i="0" dirty="0">
                    <a:solidFill>
                      <a:schemeClr val="tx1"/>
                    </a:solidFill>
                    <a:effectLst/>
                    <a:latin typeface="Segoe WPC"/>
                  </a:rPr>
                  <a:t> describe el patrón, el score dice cuánto apareció ese patrón en un día.</a:t>
                </a:r>
              </a:p>
              <a:p>
                <a:pPr algn="l">
                  <a:spcBef>
                    <a:spcPts val="300"/>
                  </a:spcBef>
                  <a:spcAft>
                    <a:spcPts val="300"/>
                  </a:spcAft>
                  <a:buFont typeface="+mj-lt"/>
                  <a:buAutoNum type="arabicPeriod"/>
                </a:pPr>
                <a:r>
                  <a:rPr lang="es-PE" sz="900" b="1" i="0" dirty="0" err="1">
                    <a:solidFill>
                      <a:schemeClr val="tx1"/>
                    </a:solidFill>
                    <a:effectLst/>
                    <a:latin typeface="Segoe WPC"/>
                  </a:rPr>
                  <a:t>Main</a:t>
                </a:r>
                <a:r>
                  <a:rPr lang="es-PE" sz="900" b="1" i="0" dirty="0">
                    <a:solidFill>
                      <a:schemeClr val="tx1"/>
                    </a:solidFill>
                    <a:effectLst/>
                    <a:latin typeface="Segoe WPC"/>
                  </a:rPr>
                  <a:t> PCA </a:t>
                </a:r>
                <a:r>
                  <a:rPr lang="es-PE" sz="900" b="1" i="0" dirty="0" err="1">
                    <a:solidFill>
                      <a:schemeClr val="tx1"/>
                    </a:solidFill>
                    <a:effectLst/>
                    <a:latin typeface="Segoe WPC"/>
                  </a:rPr>
                  <a:t>Factors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Los primeros factores explican casi toda la variación histórica de la curva.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Normalmente bastan 2 o 3 factores para capturar casi todos los movimientos relevantes de tasas.</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Factor 1 suele ser un shift casi paralelo; Factor 2 un cambio de pendiente; Factor 3 una curvatura o </a:t>
                </a:r>
                <a:r>
                  <a:rPr lang="es-PE" sz="900" b="0" i="0" dirty="0" err="1">
                    <a:solidFill>
                      <a:schemeClr val="tx1"/>
                    </a:solidFill>
                    <a:effectLst/>
                    <a:latin typeface="Segoe WPC"/>
                  </a:rPr>
                  <a:t>bowing</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Proporción explicada por el factor 1: </a:t>
                </a:r>
                <a14:m>
                  <m:oMath xmlns:m="http://schemas.openxmlformats.org/officeDocument/2006/math">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0">
                            <a:solidFill>
                              <a:schemeClr val="tx1"/>
                            </a:solidFill>
                            <a:latin typeface="Cambria Math" panose="02040503050406030204" pitchFamily="18" charset="0"/>
                          </a:rPr>
                          <m:t>1</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nary>
                      <m:naryPr>
                        <m:chr m:val="∑"/>
                        <m:limLoc m:val="subSup"/>
                        <m:grow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up>
                        <m:r>
                          <a:rPr lang="ar-AE" sz="900" i="1">
                            <a:solidFill>
                              <a:schemeClr val="tx1"/>
                            </a:solidFill>
                            <a:latin typeface="Cambria Math" panose="02040503050406030204" pitchFamily="18" charset="0"/>
                          </a:rPr>
                          <m:t>𝑛</m:t>
                        </m:r>
                      </m:sup>
                      <m:e>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𝑖</m:t>
                            </m:r>
                          </m:sub>
                          <m:sup>
                            <m:r>
                              <a:rPr lang="ar-AE" sz="900" i="0">
                                <a:solidFill>
                                  <a:schemeClr val="tx1"/>
                                </a:solidFill>
                                <a:latin typeface="Cambria Math" panose="02040503050406030204" pitchFamily="18" charset="0"/>
                              </a:rPr>
                              <m:t>2</m:t>
                            </m:r>
                          </m:sup>
                        </m:sSubSup>
                      </m:e>
                    </m:nary>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En el ejemplo del capítulo, los tres primeros factores explican aproximadamente 97.6% de la variación.</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El signo de un factor puede invertirse sin cambiar el análisis; lo importante es la forma relativa del movimiento.</a:t>
                </a:r>
              </a:p>
              <a:p>
                <a:pPr algn="l">
                  <a:spcBef>
                    <a:spcPts val="300"/>
                  </a:spcBef>
                  <a:spcAft>
                    <a:spcPts val="300"/>
                  </a:spcAft>
                  <a:buFont typeface="+mj-lt"/>
                  <a:buAutoNum type="arabicPeriod"/>
                </a:pPr>
                <a:r>
                  <a:rPr lang="es-PE" sz="900" b="1" i="0" dirty="0">
                    <a:solidFill>
                      <a:schemeClr val="tx1"/>
                    </a:solidFill>
                    <a:effectLst/>
                    <a:latin typeface="Segoe WPC"/>
                  </a:rPr>
                  <a:t>Key </a:t>
                </a:r>
                <a:r>
                  <a:rPr lang="es-PE" sz="900" b="1" i="0" dirty="0" err="1">
                    <a:solidFill>
                      <a:schemeClr val="tx1"/>
                    </a:solidFill>
                    <a:effectLst/>
                    <a:latin typeface="Segoe WPC"/>
                  </a:rPr>
                  <a:t>Rate</a:t>
                </a:r>
                <a:r>
                  <a:rPr lang="es-PE" sz="900" b="1" i="0" dirty="0">
                    <a:solidFill>
                      <a:schemeClr val="tx1"/>
                    </a:solidFill>
                    <a:effectLst/>
                    <a:latin typeface="Segoe WPC"/>
                  </a:rPr>
                  <a:t> 01 (KR01)</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Sensibilidad del portafolio a un cambio de 1 </a:t>
                </a:r>
                <a:r>
                  <a:rPr lang="es-PE" sz="900" b="0" i="0" dirty="0" err="1">
                    <a:solidFill>
                      <a:schemeClr val="tx1"/>
                    </a:solidFill>
                    <a:effectLst/>
                    <a:latin typeface="Segoe WPC"/>
                  </a:rPr>
                  <a:t>bp</a:t>
                </a:r>
                <a:r>
                  <a:rPr lang="es-PE" sz="900" b="0" i="0" dirty="0">
                    <a:solidFill>
                      <a:schemeClr val="tx1"/>
                    </a:solidFill>
                    <a:effectLst/>
                    <a:latin typeface="Segoe WPC"/>
                  </a:rPr>
                  <a:t> en una tasa clave específica.</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vez de medir sensibilidad a un shift paralelo, se mide sensibilidad a nodos particulares de la curva.</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Se mueve una tasa clave y se interpolan los cambios en tasas cercanas, dejando otras partes de la curva sin cambio.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𝐷𝑉</m:t>
                    </m:r>
                    <m:r>
                      <a:rPr lang="es-PE" sz="900" i="0">
                        <a:solidFill>
                          <a:schemeClr val="tx1"/>
                        </a:solidFill>
                        <a:latin typeface="Cambria Math" panose="02040503050406030204" pitchFamily="18" charset="0"/>
                      </a:rPr>
                      <m:t>01</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𝐾𝑅</m:t>
                    </m:r>
                    <m:sSub>
                      <m:sSubPr>
                        <m:ctrlPr>
                          <a:rPr lang="ar-AE" sz="900" i="1">
                            <a:solidFill>
                              <a:schemeClr val="tx1"/>
                            </a:solidFill>
                            <a:latin typeface="Cambria Math" panose="02040503050406030204" pitchFamily="18" charset="0"/>
                          </a:rPr>
                        </m:ctrlPr>
                      </m:sSubPr>
                      <m:e>
                        <m:r>
                          <a:rPr lang="ar-AE" sz="900" i="0">
                            <a:solidFill>
                              <a:schemeClr val="tx1"/>
                            </a:solidFill>
                            <a:latin typeface="Cambria Math" panose="02040503050406030204" pitchFamily="18" charset="0"/>
                          </a:rPr>
                          <m:t>01</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𝐾𝑅</m:t>
                    </m:r>
                    <m:sSub>
                      <m:sSubPr>
                        <m:ctrlPr>
                          <a:rPr lang="ar-AE" sz="900" i="1">
                            <a:solidFill>
                              <a:schemeClr val="tx1"/>
                            </a:solidFill>
                            <a:latin typeface="Cambria Math" panose="02040503050406030204" pitchFamily="18" charset="0"/>
                          </a:rPr>
                        </m:ctrlPr>
                      </m:sSubPr>
                      <m:e>
                        <m:r>
                          <a:rPr lang="ar-AE" sz="900" i="0">
                            <a:solidFill>
                              <a:schemeClr val="tx1"/>
                            </a:solidFill>
                            <a:latin typeface="Cambria Math" panose="02040503050406030204" pitchFamily="18" charset="0"/>
                          </a:rPr>
                          <m:t>01</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𝐾𝑅</m:t>
                    </m:r>
                    <m:sSub>
                      <m:sSubPr>
                        <m:ctrlPr>
                          <a:rPr lang="ar-AE" sz="900" i="1">
                            <a:solidFill>
                              <a:schemeClr val="tx1"/>
                            </a:solidFill>
                            <a:latin typeface="Cambria Math" panose="02040503050406030204" pitchFamily="18" charset="0"/>
                          </a:rPr>
                        </m:ctrlPr>
                      </m:sSubPr>
                      <m:e>
                        <m:r>
                          <a:rPr lang="ar-AE" sz="900" i="0">
                            <a:solidFill>
                              <a:schemeClr val="tx1"/>
                            </a:solidFill>
                            <a:latin typeface="Cambria Math" panose="02040503050406030204" pitchFamily="18" charset="0"/>
                          </a:rPr>
                          <m:t>01</m:t>
                        </m:r>
                      </m:e>
                      <m:sub>
                        <m:r>
                          <a:rPr lang="ar-AE" sz="900" i="1">
                            <a:solidFill>
                              <a:schemeClr val="tx1"/>
                            </a:solidFill>
                            <a:latin typeface="Cambria Math" panose="02040503050406030204" pitchFamily="18" charset="0"/>
                          </a:rPr>
                          <m:t>𝑛</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KR01 descompone el DV01 total en sensibilidades por tramo de la curva.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KR01 no es simplemente la sensibilidad a una sola spot </a:t>
                </a:r>
                <a:r>
                  <a:rPr lang="es-PE" sz="900" b="0" i="0" dirty="0" err="1">
                    <a:solidFill>
                      <a:schemeClr val="tx1"/>
                    </a:solidFill>
                    <a:effectLst/>
                    <a:latin typeface="Segoe WPC"/>
                  </a:rPr>
                  <a:t>rate</a:t>
                </a:r>
                <a:r>
                  <a:rPr lang="es-PE" sz="900" b="0" i="0" dirty="0">
                    <a:solidFill>
                      <a:schemeClr val="tx1"/>
                    </a:solidFill>
                    <a:effectLst/>
                    <a:latin typeface="Segoe WPC"/>
                  </a:rPr>
                  <a:t> aislada; depende de la definición del </a:t>
                </a:r>
                <a:r>
                  <a:rPr lang="es-PE" sz="900" b="0" i="0" dirty="0" err="1">
                    <a:solidFill>
                      <a:schemeClr val="tx1"/>
                    </a:solidFill>
                    <a:effectLst/>
                    <a:latin typeface="Segoe WPC"/>
                  </a:rPr>
                  <a:t>key</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shift.</a:t>
                </a:r>
              </a:p>
              <a:p>
                <a:pPr algn="l">
                  <a:spcBef>
                    <a:spcPts val="300"/>
                  </a:spcBef>
                  <a:spcAft>
                    <a:spcPts val="300"/>
                  </a:spcAft>
                  <a:buFont typeface="+mj-lt"/>
                  <a:buAutoNum type="arabicPeriod"/>
                </a:pPr>
                <a:r>
                  <a:rPr lang="es-PE" sz="900" b="1" i="0" dirty="0" err="1">
                    <a:solidFill>
                      <a:schemeClr val="tx1"/>
                    </a:solidFill>
                    <a:effectLst/>
                    <a:latin typeface="Segoe WPC"/>
                  </a:rPr>
                  <a:t>Calculating</a:t>
                </a:r>
                <a:r>
                  <a:rPr lang="es-PE" sz="900" b="1" i="0" dirty="0">
                    <a:solidFill>
                      <a:schemeClr val="tx1"/>
                    </a:solidFill>
                    <a:effectLst/>
                    <a:latin typeface="Segoe WPC"/>
                  </a:rPr>
                  <a:t> KR01 </a:t>
                </a:r>
                <a:r>
                  <a:rPr lang="es-PE" sz="900" b="1" i="0" dirty="0" err="1">
                    <a:solidFill>
                      <a:schemeClr val="tx1"/>
                    </a:solidFill>
                    <a:effectLst/>
                    <a:latin typeface="Segoe WPC"/>
                  </a:rPr>
                  <a:t>of</a:t>
                </a:r>
                <a:r>
                  <a:rPr lang="es-PE" sz="900" b="1" i="0" dirty="0">
                    <a:solidFill>
                      <a:schemeClr val="tx1"/>
                    </a:solidFill>
                    <a:effectLst/>
                    <a:latin typeface="Segoe WPC"/>
                  </a:rPr>
                  <a:t> a Portfolio</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Conversión de sensibilidades por spot </a:t>
                </a:r>
                <a:r>
                  <a:rPr lang="es-PE" sz="900" b="0" i="0" dirty="0" err="1">
                    <a:solidFill>
                      <a:schemeClr val="tx1"/>
                    </a:solidFill>
                    <a:effectLst/>
                    <a:latin typeface="Segoe WPC"/>
                  </a:rPr>
                  <a:t>rates</a:t>
                </a:r>
                <a:r>
                  <a:rPr lang="es-PE" sz="900" b="0" i="0" dirty="0">
                    <a:solidFill>
                      <a:schemeClr val="tx1"/>
                    </a:solidFill>
                    <a:effectLst/>
                    <a:latin typeface="Segoe WPC"/>
                  </a:rPr>
                  <a:t> en sensibilidades por </a:t>
                </a:r>
                <a:r>
                  <a:rPr lang="es-PE" sz="900" b="0" i="0" dirty="0" err="1">
                    <a:solidFill>
                      <a:schemeClr val="tx1"/>
                    </a:solidFill>
                    <a:effectLst/>
                    <a:latin typeface="Segoe WPC"/>
                  </a:rPr>
                  <a:t>key</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shifts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sabes cuánto pierde el portafolio cuando sube cada spot </a:t>
                </a:r>
                <a:r>
                  <a:rPr lang="es-PE" sz="900" b="0" i="0" dirty="0" err="1">
                    <a:solidFill>
                      <a:schemeClr val="tx1"/>
                    </a:solidFill>
                    <a:effectLst/>
                    <a:latin typeface="Segoe WPC"/>
                  </a:rPr>
                  <a:t>rate</a:t>
                </a:r>
                <a:r>
                  <a:rPr lang="es-PE" sz="900" b="0" i="0" dirty="0">
                    <a:solidFill>
                      <a:schemeClr val="tx1"/>
                    </a:solidFill>
                    <a:effectLst/>
                    <a:latin typeface="Segoe WPC"/>
                  </a:rPr>
                  <a:t>, puedes recombinar esas pérdidas para obtener los KR01.</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Cada </a:t>
                </a:r>
                <a:r>
                  <a:rPr lang="es-PE" sz="900" b="0" i="0" dirty="0" err="1">
                    <a:solidFill>
                      <a:schemeClr val="tx1"/>
                    </a:solidFill>
                    <a:effectLst/>
                    <a:latin typeface="Segoe WPC"/>
                  </a:rPr>
                  <a:t>key</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shift afecta varias tasas spot con distintos pesos.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Ejemplo: </a:t>
                </a:r>
                <a14:m>
                  <m:oMath xmlns:m="http://schemas.openxmlformats.org/officeDocument/2006/math">
                    <m:r>
                      <a:rPr lang="es-PE" sz="900" i="1">
                        <a:solidFill>
                          <a:schemeClr val="tx1"/>
                        </a:solidFill>
                        <a:latin typeface="Cambria Math" panose="02040503050406030204" pitchFamily="18" charset="0"/>
                      </a:rPr>
                      <m:t>𝐾𝑅</m:t>
                    </m:r>
                    <m:sSub>
                      <m:sSubPr>
                        <m:ctrlPr>
                          <a:rPr lang="ar-AE" sz="900" i="1">
                            <a:solidFill>
                              <a:schemeClr val="tx1"/>
                            </a:solidFill>
                            <a:latin typeface="Cambria Math" panose="02040503050406030204" pitchFamily="18" charset="0"/>
                          </a:rPr>
                        </m:ctrlPr>
                      </m:sSubPr>
                      <m:e>
                        <m:r>
                          <a:rPr lang="ar-AE" sz="900" i="0">
                            <a:solidFill>
                              <a:schemeClr val="tx1"/>
                            </a:solidFill>
                            <a:latin typeface="Cambria Math" panose="02040503050406030204" pitchFamily="18" charset="0"/>
                          </a:rPr>
                          <m:t>01</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95</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62</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6667</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270</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26</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El KR01 surge sumando los impactos sobre las tasas spot afectadas por ese shift.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olvides los pesos de interpolación entre </a:t>
                </a:r>
                <a:r>
                  <a:rPr lang="es-PE" sz="900" b="0" i="0" dirty="0" err="1">
                    <a:solidFill>
                      <a:schemeClr val="tx1"/>
                    </a:solidFill>
                    <a:effectLst/>
                    <a:latin typeface="Segoe WPC"/>
                  </a:rPr>
                  <a:t>maturities</a:t>
                </a:r>
                <a:r>
                  <a:rPr lang="es-PE" sz="900" b="0" i="0" dirty="0">
                    <a:solidFill>
                      <a:schemeClr val="tx1"/>
                    </a:solidFill>
                    <a:effectLst/>
                    <a:latin typeface="Segoe WPC"/>
                  </a:rPr>
                  <a:t>; no todas las tasas suben 1 </a:t>
                </a:r>
                <a:r>
                  <a:rPr lang="es-PE" sz="900" b="0" i="0" dirty="0" err="1">
                    <a:solidFill>
                      <a:schemeClr val="tx1"/>
                    </a:solidFill>
                    <a:effectLst/>
                    <a:latin typeface="Segoe WPC"/>
                  </a:rPr>
                  <a:t>bp</a:t>
                </a:r>
                <a:r>
                  <a:rPr lang="es-PE" sz="900" b="0" i="0" dirty="0">
                    <a:solidFill>
                      <a:schemeClr val="tx1"/>
                    </a:solidFill>
                    <a:effectLst/>
                    <a:latin typeface="Segoe WPC"/>
                  </a:rPr>
                  <a:t> completo.</a:t>
                </a:r>
              </a:p>
              <a:p>
                <a:pPr algn="l">
                  <a:spcBef>
                    <a:spcPts val="300"/>
                  </a:spcBef>
                  <a:spcAft>
                    <a:spcPts val="300"/>
                  </a:spcAft>
                  <a:buFont typeface="+mj-lt"/>
                  <a:buAutoNum type="arabicPeriod"/>
                </a:pPr>
                <a:r>
                  <a:rPr lang="es-PE" sz="900" b="1" i="0" dirty="0" err="1">
                    <a:solidFill>
                      <a:schemeClr val="tx1"/>
                    </a:solidFill>
                    <a:effectLst/>
                    <a:latin typeface="Segoe WPC"/>
                  </a:rPr>
                  <a:t>Hedging</a:t>
                </a:r>
                <a:r>
                  <a:rPr lang="es-PE" sz="900" b="1" i="0" dirty="0">
                    <a:solidFill>
                      <a:schemeClr val="tx1"/>
                    </a:solidFill>
                    <a:effectLst/>
                    <a:latin typeface="Segoe WPC"/>
                  </a:rPr>
                  <a:t> </a:t>
                </a:r>
                <a:r>
                  <a:rPr lang="es-PE" sz="900" b="1" i="0" dirty="0" err="1">
                    <a:solidFill>
                      <a:schemeClr val="tx1"/>
                    </a:solidFill>
                    <a:effectLst/>
                    <a:latin typeface="Segoe WPC"/>
                  </a:rPr>
                  <a:t>with</a:t>
                </a:r>
                <a:r>
                  <a:rPr lang="es-PE" sz="900" b="1" i="0" dirty="0">
                    <a:solidFill>
                      <a:schemeClr val="tx1"/>
                    </a:solidFill>
                    <a:effectLst/>
                    <a:latin typeface="Segoe WPC"/>
                  </a:rPr>
                  <a:t> KR01</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Cobertura del riesgo de curva no paralela usando instrumentos con sensibilidades conocidas.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Se eligen posiciones en instrumentos </a:t>
                </a:r>
                <a:r>
                  <a:rPr lang="es-PE" sz="900" b="0" i="0" dirty="0" err="1">
                    <a:solidFill>
                      <a:schemeClr val="tx1"/>
                    </a:solidFill>
                    <a:effectLst/>
                    <a:latin typeface="Segoe WPC"/>
                  </a:rPr>
                  <a:t>hedge</a:t>
                </a:r>
                <a:r>
                  <a:rPr lang="es-PE" sz="900" b="0" i="0" dirty="0">
                    <a:solidFill>
                      <a:schemeClr val="tx1"/>
                    </a:solidFill>
                    <a:effectLst/>
                    <a:latin typeface="Segoe WPC"/>
                  </a:rPr>
                  <a:t> para que los KR01 del portafolio neto sean cero.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Cada instrumento compensa riesgo en distintos puntos de la curva; juntos neutralizan la exposición.</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El </a:t>
                </a:r>
                <a:r>
                  <a:rPr lang="es-PE" sz="900" b="0" i="0" dirty="0" err="1">
                    <a:solidFill>
                      <a:schemeClr val="tx1"/>
                    </a:solidFill>
                    <a:effectLst/>
                    <a:latin typeface="Segoe WPC"/>
                  </a:rPr>
                  <a:t>hedge</a:t>
                </a:r>
                <a:r>
                  <a:rPr lang="es-PE" sz="900" b="0" i="0" dirty="0">
                    <a:solidFill>
                      <a:schemeClr val="tx1"/>
                    </a:solidFill>
                    <a:effectLst/>
                    <a:latin typeface="Segoe WPC"/>
                  </a:rPr>
                  <a:t> se obtiene resolviendo un sistema como </a:t>
                </a:r>
                <a14:m>
                  <m:oMath xmlns:m="http://schemas.openxmlformats.org/officeDocument/2006/math">
                    <m:r>
                      <a:rPr lang="es-PE" sz="900">
                        <a:solidFill>
                          <a:schemeClr val="tx1"/>
                        </a:solidFill>
                        <a:latin typeface="Cambria Math" panose="02040503050406030204" pitchFamily="18" charset="0"/>
                      </a:rPr>
                      <m:t>126</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20</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3</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3</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0">
                            <a:solidFill>
                              <a:schemeClr val="tx1"/>
                            </a:solidFill>
                            <a:latin typeface="Cambria Math" panose="02040503050406030204" pitchFamily="18" charset="0"/>
                          </a:rPr>
                          <m:t>3</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238</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22</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4</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0">
                            <a:solidFill>
                              <a:schemeClr val="tx1"/>
                            </a:solidFill>
                            <a:latin typeface="Cambria Math" panose="02040503050406030204" pitchFamily="18" charset="0"/>
                          </a:rPr>
                          <m:t>3</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 </a:t>
                </a:r>
                <a14:m>
                  <m:oMath xmlns:m="http://schemas.openxmlformats.org/officeDocument/2006/math">
                    <m:r>
                      <a:rPr lang="ar-AE" sz="900">
                        <a:solidFill>
                          <a:schemeClr val="tx1"/>
                        </a:solidFill>
                        <a:latin typeface="Cambria Math" panose="02040503050406030204" pitchFamily="18" charset="0"/>
                      </a:rPr>
                      <m:t>385</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4</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25</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𝑥</m:t>
                        </m:r>
                      </m:e>
                      <m:sub>
                        <m:r>
                          <a:rPr lang="ar-AE" sz="900" i="0">
                            <a:solidFill>
                              <a:schemeClr val="tx1"/>
                            </a:solidFill>
                            <a:latin typeface="Cambria Math" panose="02040503050406030204" pitchFamily="18" charset="0"/>
                          </a:rPr>
                          <m:t>3</m:t>
                        </m:r>
                      </m:sub>
                    </m:sSub>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oMath>
                </a14:m>
                <a:r>
                  <a:rPr lang="ar-AE" sz="900" b="0" i="0" dirty="0">
                    <a:solidFill>
                      <a:schemeClr val="tx1"/>
                    </a:solidFill>
                    <a:effectLst/>
                    <a:latin typeface="Segoe WPC"/>
                  </a:rPr>
                  <a:t>.</a:t>
                </a:r>
              </a:p>
            </p:txBody>
          </p:sp>
        </mc:Choice>
        <mc:Fallback xmlns="">
          <p:sp>
            <p:nvSpPr>
              <p:cNvPr id="5" name="CuadroTexto 4">
                <a:extLst>
                  <a:ext uri="{FF2B5EF4-FFF2-40B4-BE49-F238E27FC236}">
                    <a16:creationId xmlns:a16="http://schemas.microsoft.com/office/drawing/2014/main" id="{D3EA9A11-A39F-8524-2346-754EAAA09C2D}"/>
                  </a:ext>
                </a:extLst>
              </p:cNvPr>
              <p:cNvSpPr txBox="1">
                <a:spLocks noRot="1" noChangeAspect="1" noMove="1" noResize="1" noEditPoints="1" noAdjustHandles="1" noChangeArrowheads="1" noChangeShapeType="1" noTextEdit="1"/>
              </p:cNvSpPr>
              <p:nvPr/>
            </p:nvSpPr>
            <p:spPr>
              <a:xfrm>
                <a:off x="76200" y="349187"/>
                <a:ext cx="6096000" cy="6698309"/>
              </a:xfrm>
              <a:prstGeom prst="rect">
                <a:avLst/>
              </a:prstGeom>
              <a:blipFill>
                <a:blip r:embed="rId2"/>
                <a:stretch>
                  <a:fillRect t="-182"/>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1488554A-83F2-1189-80DD-69A77AD41150}"/>
                  </a:ext>
                </a:extLst>
              </p:cNvPr>
              <p:cNvSpPr txBox="1"/>
              <p:nvPr/>
            </p:nvSpPr>
            <p:spPr>
              <a:xfrm>
                <a:off x="6096000" y="219309"/>
                <a:ext cx="6105524" cy="6800003"/>
              </a:xfrm>
              <a:prstGeom prst="rect">
                <a:avLst/>
              </a:prstGeom>
              <a:noFill/>
            </p:spPr>
            <p:txBody>
              <a:bodyPr wrap="square">
                <a:spAutoFit/>
              </a:bodyPr>
              <a:lstStyle/>
              <a:p>
                <a:pPr algn="l">
                  <a:spcBef>
                    <a:spcPts val="300"/>
                  </a:spcBef>
                  <a:spcAft>
                    <a:spcPts val="300"/>
                  </a:spcAft>
                  <a:buFont typeface="+mj-lt"/>
                  <a:buAutoNum type="arabicPeriod"/>
                </a:pPr>
                <a:r>
                  <a:rPr lang="es-PE" sz="900" b="1" i="0" dirty="0">
                    <a:solidFill>
                      <a:schemeClr val="tx1"/>
                    </a:solidFill>
                    <a:effectLst/>
                    <a:latin typeface="Segoe WPC"/>
                  </a:rPr>
                  <a:t>VaR </a:t>
                </a:r>
                <a:r>
                  <a:rPr lang="es-PE" sz="900" b="1" i="0" dirty="0" err="1">
                    <a:solidFill>
                      <a:schemeClr val="tx1"/>
                    </a:solidFill>
                    <a:effectLst/>
                    <a:latin typeface="Segoe WPC"/>
                  </a:rPr>
                  <a:t>with</a:t>
                </a:r>
                <a:r>
                  <a:rPr lang="es-PE" sz="900" b="1" i="0" dirty="0">
                    <a:solidFill>
                      <a:schemeClr val="tx1"/>
                    </a:solidFill>
                    <a:effectLst/>
                    <a:latin typeface="Segoe WPC"/>
                  </a:rPr>
                  <a:t> KR01</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Medición del riesgo del portafolio usando exposiciones KR01, volatilidades y correlaciones entre tasas.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riesgo no depende solo del tamaño de cada KR01, sino también de cómo </a:t>
                </a:r>
                <a:r>
                  <a:rPr lang="es-PE" sz="900" b="0" i="0" dirty="0" err="1">
                    <a:solidFill>
                      <a:schemeClr val="tx1"/>
                    </a:solidFill>
                    <a:effectLst/>
                    <a:latin typeface="Segoe WPC"/>
                  </a:rPr>
                  <a:t>co-mueven</a:t>
                </a:r>
                <a:r>
                  <a:rPr lang="es-PE" sz="900" b="0" i="0" dirty="0">
                    <a:solidFill>
                      <a:schemeClr val="tx1"/>
                    </a:solidFill>
                    <a:effectLst/>
                    <a:latin typeface="Segoe WPC"/>
                  </a:rPr>
                  <a:t> las tasas clave.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Dos exposiciones grandes pueden compensarse parcialmente si sus tasas están negativamente correlacionadas.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Esta es la base para VaR o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shortfall</a:t>
                </a:r>
                <a:r>
                  <a:rPr lang="es-PE" sz="900" b="0" i="0" dirty="0">
                    <a:solidFill>
                      <a:schemeClr val="tx1"/>
                    </a:solidFill>
                    <a:effectLst/>
                    <a:latin typeface="Segoe WPC"/>
                  </a:rPr>
                  <a:t> regulatorio en portafolios de tasa.</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asumir independencia entre </a:t>
                </a:r>
                <a:r>
                  <a:rPr lang="es-PE" sz="900" b="0" i="0" dirty="0" err="1">
                    <a:solidFill>
                      <a:schemeClr val="tx1"/>
                    </a:solidFill>
                    <a:effectLst/>
                    <a:latin typeface="Segoe WPC"/>
                  </a:rPr>
                  <a:t>key</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las correlaciones son parte central del cálculo.</a:t>
                </a:r>
              </a:p>
              <a:p>
                <a:pPr algn="l">
                  <a:spcBef>
                    <a:spcPts val="300"/>
                  </a:spcBef>
                  <a:spcAft>
                    <a:spcPts val="300"/>
                  </a:spcAft>
                  <a:buFont typeface="+mj-lt"/>
                  <a:buAutoNum type="arabicPeriod"/>
                </a:pPr>
                <a:r>
                  <a:rPr lang="es-PE" sz="900" b="1" i="0" dirty="0">
                    <a:solidFill>
                      <a:schemeClr val="tx1"/>
                    </a:solidFill>
                    <a:effectLst/>
                    <a:latin typeface="Segoe WPC"/>
                  </a:rPr>
                  <a:t>PCA-</a:t>
                </a:r>
                <a:r>
                  <a:rPr lang="es-PE" sz="900" b="1" i="0" dirty="0" err="1">
                    <a:solidFill>
                      <a:schemeClr val="tx1"/>
                    </a:solidFill>
                    <a:effectLst/>
                    <a:latin typeface="Segoe WPC"/>
                  </a:rPr>
                  <a:t>Based</a:t>
                </a:r>
                <a:r>
                  <a:rPr lang="es-PE" sz="900" b="1" i="0" dirty="0">
                    <a:solidFill>
                      <a:schemeClr val="tx1"/>
                    </a:solidFill>
                    <a:effectLst/>
                    <a:latin typeface="Segoe WPC"/>
                  </a:rPr>
                  <a:t> </a:t>
                </a:r>
                <a:r>
                  <a:rPr lang="es-PE" sz="900" b="1" i="0" dirty="0" err="1">
                    <a:solidFill>
                      <a:schemeClr val="tx1"/>
                    </a:solidFill>
                    <a:effectLst/>
                    <a:latin typeface="Segoe WPC"/>
                  </a:rPr>
                  <a:t>Hedging</a:t>
                </a:r>
                <a:r>
                  <a:rPr lang="es-PE" sz="900" b="1" i="0" dirty="0">
                    <a:solidFill>
                      <a:schemeClr val="tx1"/>
                    </a:solidFill>
                    <a:effectLst/>
                    <a:latin typeface="Segoe WPC"/>
                  </a:rPr>
                  <a:t> and VaR</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Cobertura y medición de riesgo usando factores principales en vez de </a:t>
                </a:r>
                <a:r>
                  <a:rPr lang="es-PE" sz="900" b="0" i="0" dirty="0" err="1">
                    <a:solidFill>
                      <a:schemeClr val="tx1"/>
                    </a:solidFill>
                    <a:effectLst/>
                    <a:latin typeface="Segoe WPC"/>
                  </a:rPr>
                  <a:t>key</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los primeros factores explican casi toda la varianza, cubrir esos factores da una cobertura más eficiente.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lugar de cubrir nodos de la curva, cubres patrones completos de movimiento.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Con factores no correlacionados,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𝑃</m:t>
                        </m:r>
                      </m:sub>
                    </m:sSub>
                    <m:r>
                      <a:rPr lang="ar-AE" sz="900" i="0">
                        <a:solidFill>
                          <a:schemeClr val="tx1"/>
                        </a:solidFill>
                        <a:latin typeface="Cambria Math" panose="02040503050406030204" pitchFamily="18" charset="0"/>
                      </a:rPr>
                      <m:t>=</m:t>
                    </m:r>
                    <m:rad>
                      <m:radPr>
                        <m:degHide m:val="on"/>
                        <m:ctrlPr>
                          <a:rPr lang="ar-AE" sz="900" i="1">
                            <a:solidFill>
                              <a:schemeClr val="tx1"/>
                            </a:solidFill>
                            <a:latin typeface="Cambria Math" panose="02040503050406030204" pitchFamily="18" charset="0"/>
                          </a:rPr>
                        </m:ctrlPr>
                      </m:radPr>
                      <m:deg/>
                      <m:e>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0">
                                <a:solidFill>
                                  <a:schemeClr val="tx1"/>
                                </a:solidFill>
                                <a:latin typeface="Cambria Math" panose="02040503050406030204" pitchFamily="18" charset="0"/>
                              </a:rPr>
                              <m:t>1</m:t>
                            </m:r>
                          </m:sub>
                          <m:sup>
                            <m:r>
                              <a:rPr lang="ar-AE" sz="900" i="0">
                                <a:solidFill>
                                  <a:schemeClr val="tx1"/>
                                </a:solidFill>
                                <a:latin typeface="Cambria Math" panose="02040503050406030204" pitchFamily="18" charset="0"/>
                              </a:rPr>
                              <m:t>2</m:t>
                            </m:r>
                          </m:sup>
                        </m:sSubSup>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𝑓</m:t>
                            </m:r>
                          </m:e>
                          <m:sub>
                            <m:r>
                              <a:rPr lang="ar-AE" sz="900" i="0">
                                <a:solidFill>
                                  <a:schemeClr val="tx1"/>
                                </a:solidFill>
                                <a:latin typeface="Cambria Math" panose="02040503050406030204" pitchFamily="18" charset="0"/>
                              </a:rPr>
                              <m:t>1</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0">
                                <a:solidFill>
                                  <a:schemeClr val="tx1"/>
                                </a:solidFill>
                                <a:latin typeface="Cambria Math" panose="02040503050406030204" pitchFamily="18" charset="0"/>
                              </a:rPr>
                              <m:t>2</m:t>
                            </m:r>
                          </m:sub>
                          <m:sup>
                            <m:r>
                              <a:rPr lang="ar-AE" sz="900" i="0">
                                <a:solidFill>
                                  <a:schemeClr val="tx1"/>
                                </a:solidFill>
                                <a:latin typeface="Cambria Math" panose="02040503050406030204" pitchFamily="18" charset="0"/>
                              </a:rPr>
                              <m:t>2</m:t>
                            </m:r>
                          </m:sup>
                        </m:sSubSup>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𝑓</m:t>
                            </m:r>
                          </m:e>
                          <m:sub>
                            <m:r>
                              <a:rPr lang="ar-AE" sz="900" i="0">
                                <a:solidFill>
                                  <a:schemeClr val="tx1"/>
                                </a:solidFill>
                                <a:latin typeface="Cambria Math" panose="02040503050406030204" pitchFamily="18" charset="0"/>
                              </a:rPr>
                              <m:t>2</m:t>
                            </m:r>
                          </m:sub>
                          <m:sup>
                            <m:r>
                              <a:rPr lang="ar-AE" sz="900" i="0">
                                <a:solidFill>
                                  <a:schemeClr val="tx1"/>
                                </a:solidFill>
                                <a:latin typeface="Cambria Math" panose="02040503050406030204" pitchFamily="18" charset="0"/>
                              </a:rPr>
                              <m:t>2</m:t>
                            </m:r>
                          </m:sup>
                        </m:sSubSup>
                        <m:r>
                          <a:rPr lang="ar-AE" sz="900" i="0">
                            <a:solidFill>
                              <a:schemeClr val="tx1"/>
                            </a:solidFill>
                            <a:latin typeface="Cambria Math" panose="02040503050406030204" pitchFamily="18" charset="0"/>
                          </a:rPr>
                          <m:t>+</m:t>
                        </m:r>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𝜎</m:t>
                            </m:r>
                          </m:e>
                          <m:sub>
                            <m:r>
                              <a:rPr lang="ar-AE" sz="900" i="0">
                                <a:solidFill>
                                  <a:schemeClr val="tx1"/>
                                </a:solidFill>
                                <a:latin typeface="Cambria Math" panose="02040503050406030204" pitchFamily="18" charset="0"/>
                              </a:rPr>
                              <m:t>3</m:t>
                            </m:r>
                          </m:sub>
                          <m:sup>
                            <m:r>
                              <a:rPr lang="ar-AE" sz="900" i="0">
                                <a:solidFill>
                                  <a:schemeClr val="tx1"/>
                                </a:solidFill>
                                <a:latin typeface="Cambria Math" panose="02040503050406030204" pitchFamily="18" charset="0"/>
                              </a:rPr>
                              <m:t>2</m:t>
                            </m:r>
                          </m:sup>
                        </m:sSubSup>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𝑓</m:t>
                            </m:r>
                          </m:e>
                          <m:sub>
                            <m:r>
                              <a:rPr lang="ar-AE" sz="900" i="0">
                                <a:solidFill>
                                  <a:schemeClr val="tx1"/>
                                </a:solidFill>
                                <a:latin typeface="Cambria Math" panose="02040503050406030204" pitchFamily="18" charset="0"/>
                              </a:rPr>
                              <m:t>3</m:t>
                            </m:r>
                          </m:sub>
                          <m:sup>
                            <m:r>
                              <a:rPr lang="ar-AE" sz="900" i="0">
                                <a:solidFill>
                                  <a:schemeClr val="tx1"/>
                                </a:solidFill>
                                <a:latin typeface="Cambria Math" panose="02040503050406030204" pitchFamily="18" charset="0"/>
                              </a:rPr>
                              <m:t>2</m:t>
                            </m:r>
                          </m:sup>
                        </m:sSubSup>
                      </m:e>
                    </m:ra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PCA simplifica el VaR porque los factores son ortogonales y normalmente pocos explican casi todo.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olvidar que los factores históricos pueden cambiar en el tiempo; una PCA vieja puede perder poder explicativo.</a:t>
                </a:r>
              </a:p>
              <a:p>
                <a:pPr algn="l">
                  <a:spcBef>
                    <a:spcPts val="300"/>
                  </a:spcBef>
                  <a:spcAft>
                    <a:spcPts val="300"/>
                  </a:spcAft>
                  <a:buFont typeface="+mj-lt"/>
                  <a:buAutoNum type="arabicPeriod"/>
                </a:pPr>
                <a:r>
                  <a:rPr lang="es-PE" sz="900" b="1" i="0" dirty="0">
                    <a:solidFill>
                      <a:schemeClr val="tx1"/>
                    </a:solidFill>
                    <a:effectLst/>
                    <a:latin typeface="Segoe WPC"/>
                  </a:rPr>
                  <a:t>Par </a:t>
                </a:r>
                <a:r>
                  <a:rPr lang="es-PE" sz="900" b="1" i="0" dirty="0" err="1">
                    <a:solidFill>
                      <a:schemeClr val="tx1"/>
                    </a:solidFill>
                    <a:effectLst/>
                    <a:latin typeface="Segoe WPC"/>
                  </a:rPr>
                  <a:t>Yield</a:t>
                </a:r>
                <a:r>
                  <a:rPr lang="es-PE" sz="900" b="1" i="0" dirty="0">
                    <a:solidFill>
                      <a:schemeClr val="tx1"/>
                    </a:solidFill>
                    <a:effectLst/>
                    <a:latin typeface="Segoe WPC"/>
                  </a:rPr>
                  <a:t> Key </a:t>
                </a:r>
                <a:r>
                  <a:rPr lang="es-PE" sz="900" b="1" i="0" dirty="0" err="1">
                    <a:solidFill>
                      <a:schemeClr val="tx1"/>
                    </a:solidFill>
                    <a:effectLst/>
                    <a:latin typeface="Segoe WPC"/>
                  </a:rPr>
                  <a:t>Rate</a:t>
                </a:r>
                <a:r>
                  <a:rPr lang="es-PE" sz="900" b="1" i="0" dirty="0">
                    <a:solidFill>
                      <a:schemeClr val="tx1"/>
                    </a:solidFill>
                    <a:effectLst/>
                    <a:latin typeface="Segoe WPC"/>
                  </a:rPr>
                  <a:t> </a:t>
                </a:r>
                <a:r>
                  <a:rPr lang="es-PE" sz="900" b="1" i="0" dirty="0" err="1">
                    <a:solidFill>
                      <a:schemeClr val="tx1"/>
                    </a:solidFill>
                    <a:effectLst/>
                    <a:latin typeface="Segoe WPC"/>
                  </a:rPr>
                  <a:t>Analysis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Definición de KR01 usando par </a:t>
                </a:r>
                <a:r>
                  <a:rPr lang="es-PE" sz="900" b="0" i="0" dirty="0" err="1">
                    <a:solidFill>
                      <a:schemeClr val="tx1"/>
                    </a:solidFill>
                    <a:effectLst/>
                    <a:latin typeface="Segoe WPC"/>
                  </a:rPr>
                  <a:t>yields</a:t>
                </a:r>
                <a:r>
                  <a:rPr lang="es-PE" sz="900" b="0" i="0" dirty="0">
                    <a:solidFill>
                      <a:schemeClr val="tx1"/>
                    </a:solidFill>
                    <a:effectLst/>
                    <a:latin typeface="Segoe WPC"/>
                  </a:rPr>
                  <a:t> en vez de spot </a:t>
                </a:r>
                <a:r>
                  <a:rPr lang="es-PE" sz="900" b="0" i="0" dirty="0" err="1">
                    <a:solidFill>
                      <a:schemeClr val="tx1"/>
                    </a:solidFill>
                    <a:effectLst/>
                    <a:latin typeface="Segoe WPC"/>
                  </a:rPr>
                  <a:t>rates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Como la curva spot suele construirse desde bonos par o casi par, a veces es más natural medir el riesgo sobre </a:t>
                </a:r>
                <a:r>
                  <a:rPr lang="es-PE" sz="900" b="0" i="0" dirty="0" err="1">
                    <a:solidFill>
                      <a:schemeClr val="tx1"/>
                    </a:solidFill>
                    <a:effectLst/>
                    <a:latin typeface="Segoe WPC"/>
                  </a:rPr>
                  <a:t>yields</a:t>
                </a:r>
                <a:r>
                  <a:rPr lang="es-PE" sz="900" b="0" i="0" dirty="0">
                    <a:solidFill>
                      <a:schemeClr val="tx1"/>
                    </a:solidFill>
                    <a:effectLst/>
                    <a:latin typeface="Segoe WPC"/>
                  </a:rPr>
                  <a:t> observables del mercado.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Se mueve un par </a:t>
                </a:r>
                <a:r>
                  <a:rPr lang="es-PE" sz="900" b="0" i="0" dirty="0" err="1">
                    <a:solidFill>
                      <a:schemeClr val="tx1"/>
                    </a:solidFill>
                    <a:effectLst/>
                    <a:latin typeface="Segoe WPC"/>
                  </a:rPr>
                  <a:t>yield</a:t>
                </a:r>
                <a:r>
                  <a:rPr lang="es-PE" sz="900" b="0" i="0" dirty="0">
                    <a:solidFill>
                      <a:schemeClr val="tx1"/>
                    </a:solidFill>
                    <a:effectLst/>
                    <a:latin typeface="Segoe WPC"/>
                  </a:rPr>
                  <a:t> clave y luego se reconstruye la curva spot para revalorar el portafolio.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Sensibilidad = nuevo valor del portafolio menos valor actual después de mover 1 </a:t>
                </a:r>
                <a:r>
                  <a:rPr lang="es-PE" sz="900" b="0" i="0" dirty="0" err="1">
                    <a:solidFill>
                      <a:schemeClr val="tx1"/>
                    </a:solidFill>
                    <a:effectLst/>
                    <a:latin typeface="Segoe WPC"/>
                  </a:rPr>
                  <a:t>bp</a:t>
                </a:r>
                <a:r>
                  <a:rPr lang="es-PE" sz="900" b="0" i="0" dirty="0">
                    <a:solidFill>
                      <a:schemeClr val="tx1"/>
                    </a:solidFill>
                    <a:effectLst/>
                    <a:latin typeface="Segoe WPC"/>
                  </a:rPr>
                  <a:t> un par </a:t>
                </a:r>
                <a:r>
                  <a:rPr lang="es-PE" sz="900" b="0" i="0" dirty="0" err="1">
                    <a:solidFill>
                      <a:schemeClr val="tx1"/>
                    </a:solidFill>
                    <a:effectLst/>
                    <a:latin typeface="Segoe WPC"/>
                  </a:rPr>
                  <a:t>yield</a:t>
                </a:r>
                <a:r>
                  <a:rPr lang="es-PE" sz="900" b="0" i="0" dirty="0">
                    <a:solidFill>
                      <a:schemeClr val="tx1"/>
                    </a:solidFill>
                    <a:effectLst/>
                    <a:latin typeface="Segoe WPC"/>
                  </a:rPr>
                  <a:t> clave.</a:t>
                </a:r>
                <a:br>
                  <a:rPr lang="es-P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Este enfoque facilita </a:t>
                </a:r>
                <a:r>
                  <a:rPr lang="es-PE" sz="900" b="0" i="0" dirty="0" err="1">
                    <a:solidFill>
                      <a:schemeClr val="tx1"/>
                    </a:solidFill>
                    <a:effectLst/>
                    <a:latin typeface="Segoe WPC"/>
                  </a:rPr>
                  <a:t>hedging</a:t>
                </a:r>
                <a:r>
                  <a:rPr lang="es-PE" sz="900" b="0" i="0" dirty="0">
                    <a:solidFill>
                      <a:schemeClr val="tx1"/>
                    </a:solidFill>
                    <a:effectLst/>
                    <a:latin typeface="Segoe WPC"/>
                  </a:rPr>
                  <a:t> directo con bonos </a:t>
                </a:r>
                <a:r>
                  <a:rPr lang="es-PE" sz="900" b="0" i="0" dirty="0" err="1">
                    <a:solidFill>
                      <a:schemeClr val="tx1"/>
                    </a:solidFill>
                    <a:effectLst/>
                    <a:latin typeface="Segoe WPC"/>
                  </a:rPr>
                  <a:t>benchmark</a:t>
                </a:r>
                <a:r>
                  <a:rPr lang="es-PE" sz="900" b="0" i="0" dirty="0">
                    <a:solidFill>
                      <a:schemeClr val="tx1"/>
                    </a:solidFill>
                    <a:effectLst/>
                    <a:latin typeface="Segoe WPC"/>
                  </a:rPr>
                  <a:t> o swaps cotizados cerca de par.</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mezclar KR01 sobre spot </a:t>
                </a:r>
                <a:r>
                  <a:rPr lang="es-PE" sz="900" b="0" i="0" dirty="0" err="1">
                    <a:solidFill>
                      <a:schemeClr val="tx1"/>
                    </a:solidFill>
                    <a:effectLst/>
                    <a:latin typeface="Segoe WPC"/>
                  </a:rPr>
                  <a:t>rates</a:t>
                </a:r>
                <a:r>
                  <a:rPr lang="es-PE" sz="900" b="0" i="0" dirty="0">
                    <a:solidFill>
                      <a:schemeClr val="tx1"/>
                    </a:solidFill>
                    <a:effectLst/>
                    <a:latin typeface="Segoe WPC"/>
                  </a:rPr>
                  <a:t> con KR01 sobre par </a:t>
                </a:r>
                <a:r>
                  <a:rPr lang="es-PE" sz="900" b="0" i="0" dirty="0" err="1">
                    <a:solidFill>
                      <a:schemeClr val="tx1"/>
                    </a:solidFill>
                    <a:effectLst/>
                    <a:latin typeface="Segoe WPC"/>
                  </a:rPr>
                  <a:t>yields</a:t>
                </a:r>
                <a:r>
                  <a:rPr lang="es-PE" sz="900" b="0" i="0" dirty="0">
                    <a:solidFill>
                      <a:schemeClr val="tx1"/>
                    </a:solidFill>
                    <a:effectLst/>
                    <a:latin typeface="Segoe WPC"/>
                  </a:rPr>
                  <a:t>; son medidas distintas aunque relacionadas.</a:t>
                </a:r>
              </a:p>
              <a:p>
                <a:pPr algn="l">
                  <a:spcBef>
                    <a:spcPts val="300"/>
                  </a:spcBef>
                  <a:spcAft>
                    <a:spcPts val="300"/>
                  </a:spcAft>
                  <a:buFont typeface="+mj-lt"/>
                  <a:buAutoNum type="arabicPeriod"/>
                </a:pPr>
                <a:r>
                  <a:rPr lang="es-PE" sz="900" b="1" i="0" dirty="0" err="1">
                    <a:solidFill>
                      <a:schemeClr val="tx1"/>
                    </a:solidFill>
                    <a:effectLst/>
                    <a:latin typeface="Segoe WPC"/>
                  </a:rPr>
                  <a:t>Bucketing</a:t>
                </a:r>
                <a:r>
                  <a:rPr lang="es-PE" sz="900" b="1" i="0" dirty="0">
                    <a:solidFill>
                      <a:schemeClr val="tx1"/>
                    </a:solidFill>
                    <a:effectLst/>
                    <a:latin typeface="Segoe WPC"/>
                  </a:rPr>
                  <a:t> </a:t>
                </a:r>
                <a:r>
                  <a:rPr lang="es-PE" sz="900" b="1" i="0" dirty="0" err="1">
                    <a:solidFill>
                      <a:schemeClr val="tx1"/>
                    </a:solidFill>
                    <a:effectLst/>
                    <a:latin typeface="Segoe WPC"/>
                  </a:rPr>
                  <a:t>Approach</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Medición del riesgo agrupando </a:t>
                </a:r>
                <a:r>
                  <a:rPr lang="es-PE" sz="900" b="0" i="0" dirty="0" err="1">
                    <a:solidFill>
                      <a:schemeClr val="tx1"/>
                    </a:solidFill>
                    <a:effectLst/>
                    <a:latin typeface="Segoe WPC"/>
                  </a:rPr>
                  <a:t>maturities</a:t>
                </a:r>
                <a:r>
                  <a:rPr lang="es-PE" sz="900" b="0" i="0" dirty="0">
                    <a:solidFill>
                      <a:schemeClr val="tx1"/>
                    </a:solidFill>
                    <a:effectLst/>
                    <a:latin typeface="Segoe WPC"/>
                  </a:rPr>
                  <a:t> en </a:t>
                </a:r>
                <a:r>
                  <a:rPr lang="es-PE" sz="900" b="0" i="0" dirty="0" err="1">
                    <a:solidFill>
                      <a:schemeClr val="tx1"/>
                    </a:solidFill>
                    <a:effectLst/>
                    <a:latin typeface="Segoe WPC"/>
                  </a:rPr>
                  <a:t>buckets</a:t>
                </a:r>
                <a:r>
                  <a:rPr lang="es-PE" sz="900" b="0" i="0" dirty="0">
                    <a:solidFill>
                      <a:schemeClr val="tx1"/>
                    </a:solidFill>
                    <a:effectLst/>
                    <a:latin typeface="Segoe WPC"/>
                  </a:rPr>
                  <a:t> o tramos.</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vez de usar nodos específicos, se desplazan todas las tasas dentro de un </a:t>
                </a:r>
                <a:r>
                  <a:rPr lang="es-PE" sz="900" b="0" i="0" dirty="0" err="1">
                    <a:solidFill>
                      <a:schemeClr val="tx1"/>
                    </a:solidFill>
                    <a:effectLst/>
                    <a:latin typeface="Segoe WPC"/>
                  </a:rPr>
                  <a:t>bucket</a:t>
                </a:r>
                <a:r>
                  <a:rPr lang="es-PE" sz="900" b="0" i="0" dirty="0">
                    <a:solidFill>
                      <a:schemeClr val="tx1"/>
                    </a:solidFill>
                    <a:effectLst/>
                    <a:latin typeface="Segoe WPC"/>
                  </a:rPr>
                  <a:t> en 1 </a:t>
                </a:r>
                <a:r>
                  <a:rPr lang="es-PE" sz="900" b="0" i="0" dirty="0" err="1">
                    <a:solidFill>
                      <a:schemeClr val="tx1"/>
                    </a:solidFill>
                    <a:effectLst/>
                    <a:latin typeface="Segoe WPC"/>
                  </a:rPr>
                  <a:t>bp</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Cada </a:t>
                </a:r>
                <a:r>
                  <a:rPr lang="es-PE" sz="900" b="0" i="0" dirty="0" err="1">
                    <a:solidFill>
                      <a:schemeClr val="tx1"/>
                    </a:solidFill>
                    <a:effectLst/>
                    <a:latin typeface="Segoe WPC"/>
                  </a:rPr>
                  <a:t>bucket</a:t>
                </a:r>
                <a:r>
                  <a:rPr lang="es-PE" sz="900" b="0" i="0" dirty="0">
                    <a:solidFill>
                      <a:schemeClr val="tx1"/>
                    </a:solidFill>
                    <a:effectLst/>
                    <a:latin typeface="Segoe WPC"/>
                  </a:rPr>
                  <a:t> captura riesgo de una zona de la curva, como corto, medio y largo plazo.</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𝐷𝑉</m:t>
                    </m:r>
                    <m:r>
                      <a:rPr lang="es-PE" sz="900" i="0">
                        <a:solidFill>
                          <a:schemeClr val="tx1"/>
                        </a:solidFill>
                        <a:latin typeface="Cambria Math" panose="02040503050406030204" pitchFamily="18" charset="0"/>
                      </a:rPr>
                      <m:t>01</m:t>
                    </m:r>
                    <m:r>
                      <a:rPr lang="es-P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𝐵</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𝐵</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𝐵</m:t>
                        </m:r>
                      </m:e>
                      <m:sub>
                        <m:r>
                          <a:rPr lang="ar-AE" sz="900" i="1">
                            <a:solidFill>
                              <a:schemeClr val="tx1"/>
                            </a:solidFill>
                            <a:latin typeface="Cambria Math" panose="02040503050406030204" pitchFamily="18" charset="0"/>
                          </a:rPr>
                          <m:t>𝑛</m:t>
                        </m:r>
                      </m:sub>
                    </m:sSub>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Es un enfoque práctico y muy usado en </a:t>
                </a:r>
                <a:r>
                  <a:rPr lang="es-PE" sz="900" b="0" i="0" dirty="0" err="1">
                    <a:solidFill>
                      <a:schemeClr val="tx1"/>
                    </a:solidFill>
                    <a:effectLst/>
                    <a:latin typeface="Segoe WPC"/>
                  </a:rPr>
                  <a:t>asset-liability</a:t>
                </a:r>
                <a:r>
                  <a:rPr lang="es-PE" sz="900" b="0" i="0" dirty="0">
                    <a:solidFill>
                      <a:schemeClr val="tx1"/>
                    </a:solidFill>
                    <a:effectLst/>
                    <a:latin typeface="Segoe WPC"/>
                  </a:rPr>
                  <a:t> </a:t>
                </a:r>
                <a:r>
                  <a:rPr lang="es-PE" sz="900" b="0" i="0" dirty="0" err="1">
                    <a:solidFill>
                      <a:schemeClr val="tx1"/>
                    </a:solidFill>
                    <a:effectLst/>
                    <a:latin typeface="Segoe WPC"/>
                  </a:rPr>
                  <a:t>management</a:t>
                </a:r>
                <a:r>
                  <a:rPr lang="es-PE" sz="900" b="0" i="0" dirty="0">
                    <a:solidFill>
                      <a:schemeClr val="tx1"/>
                    </a:solidFill>
                    <a:effectLst/>
                    <a:latin typeface="Segoe WPC"/>
                  </a:rPr>
                  <a:t> bancario.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Buckets</a:t>
                </a:r>
                <a:r>
                  <a:rPr lang="es-PE" sz="900" b="0" i="0" dirty="0">
                    <a:solidFill>
                      <a:schemeClr val="tx1"/>
                    </a:solidFill>
                    <a:effectLst/>
                    <a:latin typeface="Segoe WPC"/>
                  </a:rPr>
                  <a:t> más amplios simplifican, pero pueden ocultar exposiciones importantes dentro del tramo.</a:t>
                </a:r>
              </a:p>
              <a:p>
                <a:pPr algn="l">
                  <a:spcBef>
                    <a:spcPts val="300"/>
                  </a:spcBef>
                  <a:spcAft>
                    <a:spcPts val="300"/>
                  </a:spcAft>
                  <a:buFont typeface="+mj-lt"/>
                  <a:buAutoNum type="arabicPeriod"/>
                </a:pPr>
                <a:r>
                  <a:rPr lang="es-PE" sz="900" b="1" i="0" dirty="0">
                    <a:solidFill>
                      <a:schemeClr val="tx1"/>
                    </a:solidFill>
                    <a:effectLst/>
                    <a:latin typeface="Segoe WPC"/>
                  </a:rPr>
                  <a:t>Forward </a:t>
                </a:r>
                <a:r>
                  <a:rPr lang="es-PE" sz="900" b="1" i="0" dirty="0" err="1">
                    <a:solidFill>
                      <a:schemeClr val="tx1"/>
                    </a:solidFill>
                    <a:effectLst/>
                    <a:latin typeface="Segoe WPC"/>
                  </a:rPr>
                  <a:t>Bucket</a:t>
                </a:r>
                <a:r>
                  <a:rPr lang="es-PE" sz="900" b="1" i="0" dirty="0">
                    <a:solidFill>
                      <a:schemeClr val="tx1"/>
                    </a:solidFill>
                    <a:effectLst/>
                    <a:latin typeface="Segoe WPC"/>
                  </a:rPr>
                  <a:t> 01</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Sensibilidad del portafolio a cambios de 1 </a:t>
                </a:r>
                <a:r>
                  <a:rPr lang="es-PE" sz="900" b="0" i="0" dirty="0" err="1">
                    <a:solidFill>
                      <a:schemeClr val="tx1"/>
                    </a:solidFill>
                    <a:effectLst/>
                    <a:latin typeface="Segoe WPC"/>
                  </a:rPr>
                  <a:t>bp</a:t>
                </a:r>
                <a:r>
                  <a:rPr lang="es-PE" sz="900" b="0" i="0" dirty="0">
                    <a:solidFill>
                      <a:schemeClr val="tx1"/>
                    </a:solidFill>
                    <a:effectLst/>
                    <a:latin typeface="Segoe WPC"/>
                  </a:rPr>
                  <a:t> en forward </a:t>
                </a:r>
                <a:r>
                  <a:rPr lang="es-PE" sz="900" b="0" i="0" dirty="0" err="1">
                    <a:solidFill>
                      <a:schemeClr val="tx1"/>
                    </a:solidFill>
                    <a:effectLst/>
                    <a:latin typeface="Segoe WPC"/>
                  </a:rPr>
                  <a:t>rates</a:t>
                </a:r>
                <a:r>
                  <a:rPr lang="es-PE" sz="900" b="0" i="0" dirty="0">
                    <a:solidFill>
                      <a:schemeClr val="tx1"/>
                    </a:solidFill>
                    <a:effectLst/>
                    <a:latin typeface="Segoe WPC"/>
                  </a:rPr>
                  <a:t> dentro de un </a:t>
                </a:r>
                <a:r>
                  <a:rPr lang="es-PE" sz="900" b="0" i="0" dirty="0" err="1">
                    <a:solidFill>
                      <a:schemeClr val="tx1"/>
                    </a:solidFill>
                    <a:effectLst/>
                    <a:latin typeface="Segoe WPC"/>
                  </a:rPr>
                  <a:t>bucket</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vez de mover spot </a:t>
                </a:r>
                <a:r>
                  <a:rPr lang="es-PE" sz="900" b="0" i="0" dirty="0" err="1">
                    <a:solidFill>
                      <a:schemeClr val="tx1"/>
                    </a:solidFill>
                    <a:effectLst/>
                    <a:latin typeface="Segoe WPC"/>
                  </a:rPr>
                  <a:t>rates</a:t>
                </a:r>
                <a:r>
                  <a:rPr lang="es-PE" sz="900" b="0" i="0" dirty="0">
                    <a:solidFill>
                      <a:schemeClr val="tx1"/>
                    </a:solidFill>
                    <a:effectLst/>
                    <a:latin typeface="Segoe WPC"/>
                  </a:rPr>
                  <a:t>, se mueven forwards por tramo y se mide el impacto en el valor.</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Los forwards cercanos afectan más cash </a:t>
                </a:r>
                <a:r>
                  <a:rPr lang="es-PE" sz="900" b="0" i="0" dirty="0" err="1">
                    <a:solidFill>
                      <a:schemeClr val="tx1"/>
                    </a:solidFill>
                    <a:effectLst/>
                    <a:latin typeface="Segoe WPC"/>
                  </a:rPr>
                  <a:t>flows</a:t>
                </a:r>
                <a:r>
                  <a:rPr lang="es-PE" sz="900" b="0" i="0" dirty="0">
                    <a:solidFill>
                      <a:schemeClr val="tx1"/>
                    </a:solidFill>
                    <a:effectLst/>
                    <a:latin typeface="Segoe WPC"/>
                  </a:rPr>
                  <a:t> y por eso suelen tener mayor 01 que forwards lejanos.</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La relación entre forwards y spot </a:t>
                </a:r>
                <a:r>
                  <a:rPr lang="es-PE" sz="900" b="0" i="0" dirty="0" err="1">
                    <a:solidFill>
                      <a:schemeClr val="tx1"/>
                    </a:solidFill>
                    <a:effectLst/>
                    <a:latin typeface="Segoe WPC"/>
                  </a:rPr>
                  <a:t>rates</a:t>
                </a:r>
                <a:r>
                  <a:rPr lang="es-PE" sz="900" b="0" i="0" dirty="0">
                    <a:solidFill>
                      <a:schemeClr val="tx1"/>
                    </a:solidFill>
                    <a:effectLst/>
                    <a:latin typeface="Segoe WPC"/>
                  </a:rPr>
                  <a:t> es </a:t>
                </a:r>
                <a14:m>
                  <m:oMath xmlns:m="http://schemas.openxmlformats.org/officeDocument/2006/math">
                    <m:d>
                      <m:dPr>
                        <m:endChr m:val=""/>
                        <m:ctrlPr>
                          <a:rPr lang="ar-AE" sz="900" i="1">
                            <a:solidFill>
                              <a:schemeClr val="tx1"/>
                            </a:solidFill>
                            <a:latin typeface="Cambria Math" panose="02040503050406030204" pitchFamily="18" charset="0"/>
                          </a:rPr>
                        </m:ctrlPr>
                      </m:dPr>
                      <m:e>
                        <m:r>
                          <a:rPr lang="ar-AE" sz="90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5</m:t>
                        </m:r>
                        <m:r>
                          <a:rPr lang="ar-AE" sz="900" i="1">
                            <a:solidFill>
                              <a:schemeClr val="tx1"/>
                            </a:solidFill>
                            <a:latin typeface="Cambria Math" panose="02040503050406030204" pitchFamily="18" charset="0"/>
                          </a:rPr>
                          <m:t>𝑅</m:t>
                        </m:r>
                        <m:sSup>
                          <m:sSupPr>
                            <m:ctrlPr>
                              <a:rPr lang="ar-AE" sz="900" i="1">
                                <a:solidFill>
                                  <a:schemeClr val="tx1"/>
                                </a:solidFill>
                                <a:latin typeface="Cambria Math" panose="02040503050406030204" pitchFamily="18" charset="0"/>
                              </a:rPr>
                            </m:ctrlPr>
                          </m:sSupPr>
                          <m:e>
                            <m:d>
                              <m:dPr>
                                <m:begChr m:val=""/>
                                <m:endChr m:val=""/>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e>
                            </m:d>
                          </m:e>
                          <m:sup>
                            <m:r>
                              <a:rPr lang="ar-AE" sz="900" i="0">
                                <a:solidFill>
                                  <a:schemeClr val="tx1"/>
                                </a:solidFill>
                                <a:latin typeface="Cambria Math" panose="02040503050406030204" pitchFamily="18" charset="0"/>
                              </a:rPr>
                              <m:t>2</m:t>
                            </m:r>
                            <m:r>
                              <a:rPr lang="ar-AE" sz="900" i="1">
                                <a:solidFill>
                                  <a:schemeClr val="tx1"/>
                                </a:solidFill>
                                <a:latin typeface="Cambria Math" panose="02040503050406030204" pitchFamily="18" charset="0"/>
                              </a:rPr>
                              <m:t>𝑁</m:t>
                            </m:r>
                          </m:sup>
                        </m:sSup>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5</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0">
                                    <a:solidFill>
                                      <a:schemeClr val="tx1"/>
                                    </a:solidFill>
                                    <a:latin typeface="Cambria Math" panose="02040503050406030204" pitchFamily="18" charset="0"/>
                                  </a:rPr>
                                  <m:t>0</m:t>
                                </m:r>
                              </m:sub>
                            </m:sSub>
                          </m:e>
                        </m:d>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5</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0">
                                    <a:solidFill>
                                      <a:schemeClr val="tx1"/>
                                    </a:solidFill>
                                    <a:latin typeface="Cambria Math" panose="02040503050406030204" pitchFamily="18" charset="0"/>
                                  </a:rPr>
                                  <m:t>0</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5</m:t>
                                </m:r>
                              </m:sub>
                            </m:sSub>
                          </m:e>
                        </m:d>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5</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1">
                                    <a:solidFill>
                                      <a:schemeClr val="tx1"/>
                                    </a:solidFill>
                                    <a:latin typeface="Cambria Math" panose="02040503050406030204" pitchFamily="18" charset="0"/>
                                  </a:rPr>
                                  <m:t>𝑁</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0</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5</m:t>
                                </m:r>
                              </m:sub>
                            </m:sSub>
                          </m:e>
                        </m:d>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Este enfoque es especialmente natural para swaps, porque un swap puede verse como un portafolio de forward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agreements</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olvidar que la suma de los forward </a:t>
                </a:r>
                <a:r>
                  <a:rPr lang="es-PE" sz="900" b="0" i="0" dirty="0" err="1">
                    <a:solidFill>
                      <a:schemeClr val="tx1"/>
                    </a:solidFill>
                    <a:effectLst/>
                    <a:latin typeface="Segoe WPC"/>
                  </a:rPr>
                  <a:t>bucket</a:t>
                </a:r>
                <a:r>
                  <a:rPr lang="es-PE" sz="900" b="0" i="0" dirty="0">
                    <a:solidFill>
                      <a:schemeClr val="tx1"/>
                    </a:solidFill>
                    <a:effectLst/>
                    <a:latin typeface="Segoe WPC"/>
                  </a:rPr>
                  <a:t> 01 también reproduce el DV01 cuando todos los forwards suben 1 </a:t>
                </a:r>
                <a:r>
                  <a:rPr lang="es-PE" sz="900" b="0" i="0" dirty="0" err="1">
                    <a:solidFill>
                      <a:schemeClr val="tx1"/>
                    </a:solidFill>
                    <a:effectLst/>
                    <a:latin typeface="Segoe WPC"/>
                  </a:rPr>
                  <a:t>bp</a:t>
                </a:r>
                <a:r>
                  <a:rPr lang="es-PE" sz="900" b="0" i="0" dirty="0">
                    <a:solidFill>
                      <a:schemeClr val="tx1"/>
                    </a:solidFill>
                    <a:effectLst/>
                    <a:latin typeface="Segoe WPC"/>
                  </a:rPr>
                  <a:t>.</a:t>
                </a:r>
              </a:p>
            </p:txBody>
          </p:sp>
        </mc:Choice>
        <mc:Fallback xmlns="">
          <p:sp>
            <p:nvSpPr>
              <p:cNvPr id="7" name="CuadroTexto 6">
                <a:extLst>
                  <a:ext uri="{FF2B5EF4-FFF2-40B4-BE49-F238E27FC236}">
                    <a16:creationId xmlns:a16="http://schemas.microsoft.com/office/drawing/2014/main" id="{1488554A-83F2-1189-80DD-69A77AD41150}"/>
                  </a:ext>
                </a:extLst>
              </p:cNvPr>
              <p:cNvSpPr txBox="1">
                <a:spLocks noRot="1" noChangeAspect="1" noMove="1" noResize="1" noEditPoints="1" noAdjustHandles="1" noChangeArrowheads="1" noChangeShapeType="1" noTextEdit="1"/>
              </p:cNvSpPr>
              <p:nvPr/>
            </p:nvSpPr>
            <p:spPr>
              <a:xfrm>
                <a:off x="6096000" y="219309"/>
                <a:ext cx="6105524" cy="6800003"/>
              </a:xfrm>
              <a:prstGeom prst="rect">
                <a:avLst/>
              </a:prstGeom>
              <a:blipFill>
                <a:blip r:embed="rId3"/>
                <a:stretch>
                  <a:fillRect t="-269"/>
                </a:stretch>
              </a:blipFill>
            </p:spPr>
            <p:txBody>
              <a:bodyPr/>
              <a:lstStyle/>
              <a:p>
                <a:r>
                  <a:rPr lang="es-PE">
                    <a:noFill/>
                  </a:rPr>
                  <a:t> </a:t>
                </a:r>
              </a:p>
            </p:txBody>
          </p:sp>
        </mc:Fallback>
      </mc:AlternateContent>
    </p:spTree>
    <p:extLst>
      <p:ext uri="{BB962C8B-B14F-4D97-AF65-F5344CB8AC3E}">
        <p14:creationId xmlns:p14="http://schemas.microsoft.com/office/powerpoint/2010/main" val="13007800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C7C142-2D2B-F129-7438-BD1C993CE901}"/>
              </a:ext>
            </a:extLst>
          </p:cNvPr>
          <p:cNvSpPr>
            <a:spLocks noGrp="1"/>
          </p:cNvSpPr>
          <p:nvPr>
            <p:ph type="title"/>
          </p:nvPr>
        </p:nvSpPr>
        <p:spPr>
          <a:xfrm>
            <a:off x="0" y="67582"/>
            <a:ext cx="10515600" cy="737961"/>
          </a:xfrm>
        </p:spPr>
        <p:txBody>
          <a:bodyPr/>
          <a:lstStyle/>
          <a:p>
            <a:r>
              <a:rPr lang="en-US" dirty="0"/>
              <a:t>Binomial Trees</a:t>
            </a:r>
            <a:endParaRPr lang="es-PE"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F4F3852F-A036-6704-5763-510A51C58D69}"/>
                  </a:ext>
                </a:extLst>
              </p:cNvPr>
              <p:cNvSpPr txBox="1"/>
              <p:nvPr/>
            </p:nvSpPr>
            <p:spPr>
              <a:xfrm>
                <a:off x="0" y="941043"/>
                <a:ext cx="6096000" cy="4975914"/>
              </a:xfrm>
              <a:prstGeom prst="rect">
                <a:avLst/>
              </a:prstGeom>
              <a:noFill/>
            </p:spPr>
            <p:txBody>
              <a:bodyPr wrap="square">
                <a:spAutoFit/>
              </a:bodyPr>
              <a:lstStyle/>
              <a:p>
                <a:pPr algn="l">
                  <a:spcBef>
                    <a:spcPts val="300"/>
                  </a:spcBef>
                  <a:spcAft>
                    <a:spcPts val="300"/>
                  </a:spcAft>
                  <a:buFont typeface="+mj-lt"/>
                  <a:buAutoNum type="arabicPeriod"/>
                </a:pPr>
                <a:r>
                  <a:rPr lang="es-PE" sz="800" b="1" i="0" dirty="0">
                    <a:solidFill>
                      <a:schemeClr val="tx1"/>
                    </a:solidFill>
                    <a:effectLst/>
                    <a:latin typeface="Segoe WPC"/>
                  </a:rPr>
                  <a:t>One-Step Binomial </a:t>
                </a:r>
                <a:r>
                  <a:rPr lang="es-PE" sz="800" b="1" i="0" dirty="0" err="1">
                    <a:solidFill>
                      <a:schemeClr val="tx1"/>
                    </a:solidFill>
                    <a:effectLst/>
                    <a:latin typeface="Segoe WPC"/>
                  </a:rPr>
                  <a:t>Model</a:t>
                </a:r>
                <a:br>
                  <a:rPr lang="es-PE" sz="800" b="0" i="0" dirty="0">
                    <a:solidFill>
                      <a:schemeClr val="tx1"/>
                    </a:solidFill>
                    <a:effectLst/>
                    <a:latin typeface="Segoe WPC"/>
                  </a:rPr>
                </a:br>
                <a:r>
                  <a:rPr lang="es-PE" sz="800" b="1" i="0" dirty="0" err="1">
                    <a:solidFill>
                      <a:schemeClr val="tx1"/>
                    </a:solidFill>
                    <a:effectLst/>
                    <a:latin typeface="Segoe WPC"/>
                  </a:rPr>
                  <a:t>Financial</a:t>
                </a:r>
                <a:r>
                  <a:rPr lang="es-PE" sz="800" b="1" i="0" dirty="0">
                    <a:solidFill>
                      <a:schemeClr val="tx1"/>
                    </a:solidFill>
                    <a:effectLst/>
                    <a:latin typeface="Segoe WPC"/>
                  </a:rPr>
                  <a:t> </a:t>
                </a:r>
                <a:r>
                  <a:rPr lang="es-PE" sz="800" b="1" i="0" dirty="0" err="1">
                    <a:solidFill>
                      <a:schemeClr val="tx1"/>
                    </a:solidFill>
                    <a:effectLst/>
                    <a:latin typeface="Segoe WPC"/>
                  </a:rPr>
                  <a:t>Object</a:t>
                </a:r>
                <a:r>
                  <a:rPr lang="es-PE" sz="800" b="1" i="0" dirty="0">
                    <a:solidFill>
                      <a:schemeClr val="tx1"/>
                    </a:solidFill>
                    <a:effectLst/>
                    <a:latin typeface="Segoe WPC"/>
                  </a:rPr>
                  <a:t>:</a:t>
                </a:r>
                <a:r>
                  <a:rPr lang="es-PE" sz="800" b="0" i="0" dirty="0">
                    <a:solidFill>
                      <a:schemeClr val="tx1"/>
                    </a:solidFill>
                    <a:effectLst/>
                    <a:latin typeface="Segoe WPC"/>
                  </a:rPr>
                  <a:t> Modelo discreto para valorar opciones suponiendo que, en un período, el subyacente solo puede subir o bajar.</a:t>
                </a:r>
                <a:br>
                  <a:rPr lang="es-PE" sz="800" b="0" i="0" dirty="0">
                    <a:solidFill>
                      <a:schemeClr val="tx1"/>
                    </a:solidFill>
                    <a:effectLst/>
                    <a:latin typeface="Segoe WPC"/>
                  </a:rPr>
                </a:br>
                <a:r>
                  <a:rPr lang="es-PE" sz="800" b="1" i="0" dirty="0" err="1">
                    <a:solidFill>
                      <a:schemeClr val="tx1"/>
                    </a:solidFill>
                    <a:effectLst/>
                    <a:latin typeface="Segoe WPC"/>
                  </a:rPr>
                  <a:t>Plain</a:t>
                </a:r>
                <a:r>
                  <a:rPr lang="es-PE" sz="800" b="1" i="0" dirty="0">
                    <a:solidFill>
                      <a:schemeClr val="tx1"/>
                    </a:solidFill>
                    <a:effectLst/>
                    <a:latin typeface="Segoe WPC"/>
                  </a:rPr>
                  <a:t>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En vez de infinitos precios posibles al vencimiento, el modelo usa solo dos escenarios.</a:t>
                </a:r>
                <a:br>
                  <a:rPr lang="es-PE" sz="800" b="0" i="0" dirty="0">
                    <a:solidFill>
                      <a:schemeClr val="tx1"/>
                    </a:solidFill>
                    <a:effectLst/>
                    <a:latin typeface="Segoe WPC"/>
                  </a:rPr>
                </a:br>
                <a:r>
                  <a:rPr lang="es-PE" sz="800" b="1" i="0" dirty="0">
                    <a:solidFill>
                      <a:schemeClr val="tx1"/>
                    </a:solidFill>
                    <a:effectLst/>
                    <a:latin typeface="Segoe WPC"/>
                  </a:rPr>
                  <a:t>Visual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Desde el precio actual salen dos ramas: una hacia arriba y otra hacia abajo.</a:t>
                </a:r>
                <a:br>
                  <a:rPr lang="es-PE" sz="800" b="0" i="0" dirty="0">
                    <a:solidFill>
                      <a:schemeClr val="tx1"/>
                    </a:solidFill>
                    <a:effectLst/>
                    <a:latin typeface="Segoe WPC"/>
                  </a:rPr>
                </a:br>
                <a:r>
                  <a:rPr lang="es-PE" sz="800" b="1" i="0" dirty="0">
                    <a:solidFill>
                      <a:schemeClr val="tx1"/>
                    </a:solidFill>
                    <a:effectLst/>
                    <a:latin typeface="Segoe WPC"/>
                  </a:rPr>
                  <a:t>Key Formula:</a:t>
                </a:r>
                <a:r>
                  <a:rPr lang="es-PE" sz="800" b="0" i="0" dirty="0">
                    <a:solidFill>
                      <a:schemeClr val="tx1"/>
                    </a:solidFill>
                    <a:effectLst/>
                    <a:latin typeface="Segoe WPC"/>
                  </a:rPr>
                  <a:t> Si el activo pasa de </a:t>
                </a:r>
                <a14:m>
                  <m:oMath xmlns:m="http://schemas.openxmlformats.org/officeDocument/2006/math">
                    <m:r>
                      <a:rPr lang="es-PE" sz="800" i="1">
                        <a:solidFill>
                          <a:schemeClr val="tx1"/>
                        </a:solidFill>
                        <a:latin typeface="Cambria Math" panose="02040503050406030204" pitchFamily="18" charset="0"/>
                      </a:rPr>
                      <m:t>𝑆</m:t>
                    </m:r>
                  </m:oMath>
                </a14:m>
                <a:r>
                  <a:rPr lang="es-PE" sz="800" b="0" i="0" dirty="0">
                    <a:solidFill>
                      <a:schemeClr val="tx1"/>
                    </a:solidFill>
                    <a:effectLst/>
                    <a:latin typeface="Segoe WPC"/>
                  </a:rPr>
                  <a:t> a </a:t>
                </a:r>
                <a14:m>
                  <m:oMath xmlns:m="http://schemas.openxmlformats.org/officeDocument/2006/math">
                    <m:r>
                      <a:rPr lang="es-PE" sz="800" i="1">
                        <a:solidFill>
                          <a:schemeClr val="tx1"/>
                        </a:solidFill>
                        <a:latin typeface="Cambria Math" panose="02040503050406030204" pitchFamily="18" charset="0"/>
                      </a:rPr>
                      <m:t>𝑆𝑢</m:t>
                    </m:r>
                  </m:oMath>
                </a14:m>
                <a:r>
                  <a:rPr lang="es-PE" sz="800" b="0" i="0" dirty="0">
                    <a:solidFill>
                      <a:schemeClr val="tx1"/>
                    </a:solidFill>
                    <a:effectLst/>
                    <a:latin typeface="Segoe WPC"/>
                  </a:rPr>
                  <a:t> o </a:t>
                </a:r>
                <a14:m>
                  <m:oMath xmlns:m="http://schemas.openxmlformats.org/officeDocument/2006/math">
                    <m:r>
                      <a:rPr lang="es-PE" sz="800" i="1">
                        <a:solidFill>
                          <a:schemeClr val="tx1"/>
                        </a:solidFill>
                        <a:latin typeface="Cambria Math" panose="02040503050406030204" pitchFamily="18" charset="0"/>
                      </a:rPr>
                      <m:t>𝑆𝑑</m:t>
                    </m:r>
                  </m:oMath>
                </a14:m>
                <a:r>
                  <a:rPr lang="es-PE" sz="800" b="0" i="0" dirty="0">
                    <a:solidFill>
                      <a:schemeClr val="tx1"/>
                    </a:solidFill>
                    <a:effectLst/>
                    <a:latin typeface="Segoe WPC"/>
                  </a:rPr>
                  <a:t>, el derivado paga </a:t>
                </a:r>
                <a14:m>
                  <m:oMath xmlns:m="http://schemas.openxmlformats.org/officeDocument/2006/math">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𝑓</m:t>
                        </m:r>
                      </m:e>
                      <m:sub>
                        <m:r>
                          <a:rPr lang="ar-AE" sz="800" i="1">
                            <a:solidFill>
                              <a:schemeClr val="tx1"/>
                            </a:solidFill>
                            <a:latin typeface="Cambria Math" panose="02040503050406030204" pitchFamily="18" charset="0"/>
                          </a:rPr>
                          <m:t>𝑢</m:t>
                        </m:r>
                      </m:sub>
                    </m:sSub>
                  </m:oMath>
                </a14:m>
                <a:r>
                  <a:rPr lang="ar-AE" sz="800" b="0" i="0" dirty="0">
                    <a:solidFill>
                      <a:schemeClr val="tx1"/>
                    </a:solidFill>
                    <a:effectLst/>
                    <a:latin typeface="Segoe WPC"/>
                  </a:rPr>
                  <a:t> </a:t>
                </a:r>
                <a:r>
                  <a:rPr lang="es-PE" sz="800" b="0" i="0" dirty="0">
                    <a:solidFill>
                      <a:schemeClr val="tx1"/>
                    </a:solidFill>
                    <a:effectLst/>
                    <a:latin typeface="Segoe WPC"/>
                  </a:rPr>
                  <a:t>o </a:t>
                </a:r>
                <a14:m>
                  <m:oMath xmlns:m="http://schemas.openxmlformats.org/officeDocument/2006/math">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𝑓</m:t>
                        </m:r>
                      </m:e>
                      <m:sub>
                        <m:r>
                          <a:rPr lang="ar-AE" sz="800" i="1">
                            <a:solidFill>
                              <a:schemeClr val="tx1"/>
                            </a:solidFill>
                            <a:latin typeface="Cambria Math" panose="02040503050406030204" pitchFamily="18" charset="0"/>
                          </a:rPr>
                          <m:t>𝑑</m:t>
                        </m:r>
                      </m:sub>
                    </m:sSub>
                  </m:oMath>
                </a14:m>
                <a:r>
                  <a:rPr lang="ar-AE" sz="800" b="0" i="0" dirty="0">
                    <a:solidFill>
                      <a:schemeClr val="tx1"/>
                    </a:solidFill>
                    <a:effectLst/>
                    <a:latin typeface="Segoe WPC"/>
                  </a:rPr>
                  <a:t>.</a:t>
                </a:r>
                <a:br>
                  <a:rPr lang="ar-AE" sz="800" b="0" i="0" dirty="0">
                    <a:solidFill>
                      <a:schemeClr val="tx1"/>
                    </a:solidFill>
                    <a:effectLst/>
                    <a:latin typeface="Segoe WPC"/>
                  </a:rPr>
                </a:br>
                <a:r>
                  <a:rPr lang="es-PE" sz="800" b="1" i="0" dirty="0" err="1">
                    <a:solidFill>
                      <a:schemeClr val="tx1"/>
                    </a:solidFill>
                    <a:effectLst/>
                    <a:latin typeface="Segoe WPC"/>
                  </a:rPr>
                  <a:t>Interpretation</a:t>
                </a:r>
                <a:r>
                  <a:rPr lang="es-PE" sz="800" b="1" i="0" dirty="0">
                    <a:solidFill>
                      <a:schemeClr val="tx1"/>
                    </a:solidFill>
                    <a:effectLst/>
                    <a:latin typeface="Segoe WPC"/>
                  </a:rPr>
                  <a:t>:</a:t>
                </a:r>
                <a:r>
                  <a:rPr lang="es-PE" sz="800" b="0" i="0" dirty="0">
                    <a:solidFill>
                      <a:schemeClr val="tx1"/>
                    </a:solidFill>
                    <a:effectLst/>
                    <a:latin typeface="Segoe WPC"/>
                  </a:rPr>
                  <a:t> Esto permite construir un portafolio replicante y valorar la opción por no arbitraje.</a:t>
                </a:r>
                <a:br>
                  <a:rPr lang="es-PE" sz="800" b="0" i="0" dirty="0">
                    <a:solidFill>
                      <a:schemeClr val="tx1"/>
                    </a:solidFill>
                    <a:effectLst/>
                    <a:latin typeface="Segoe WPC"/>
                  </a:rPr>
                </a:br>
                <a:r>
                  <a:rPr lang="es-PE" sz="800" b="1" i="0" dirty="0" err="1">
                    <a:solidFill>
                      <a:schemeClr val="tx1"/>
                    </a:solidFill>
                    <a:effectLst/>
                    <a:latin typeface="Segoe WPC"/>
                  </a:rPr>
                  <a:t>Exam</a:t>
                </a:r>
                <a:r>
                  <a:rPr lang="es-PE" sz="800" b="1" i="0" dirty="0">
                    <a:solidFill>
                      <a:schemeClr val="tx1"/>
                    </a:solidFill>
                    <a:effectLst/>
                    <a:latin typeface="Segoe WPC"/>
                  </a:rPr>
                  <a:t> </a:t>
                </a:r>
                <a:r>
                  <a:rPr lang="es-PE" sz="800" b="1" i="0" dirty="0" err="1">
                    <a:solidFill>
                      <a:schemeClr val="tx1"/>
                    </a:solidFill>
                    <a:effectLst/>
                    <a:latin typeface="Segoe WPC"/>
                  </a:rPr>
                  <a:t>Trap</a:t>
                </a:r>
                <a:r>
                  <a:rPr lang="es-PE" sz="800" b="1" i="0" dirty="0">
                    <a:solidFill>
                      <a:schemeClr val="tx1"/>
                    </a:solidFill>
                    <a:effectLst/>
                    <a:latin typeface="Segoe WPC"/>
                  </a:rPr>
                  <a:t>:</a:t>
                </a:r>
                <a:r>
                  <a:rPr lang="es-PE" sz="800" b="0" i="0" dirty="0">
                    <a:solidFill>
                      <a:schemeClr val="tx1"/>
                    </a:solidFill>
                    <a:effectLst/>
                    <a:latin typeface="Segoe WPC"/>
                  </a:rPr>
                  <a:t> No hace falta conocer las probabilidades reales de subida y bajada.</a:t>
                </a:r>
              </a:p>
              <a:p>
                <a:pPr algn="l">
                  <a:spcBef>
                    <a:spcPts val="300"/>
                  </a:spcBef>
                  <a:spcAft>
                    <a:spcPts val="300"/>
                  </a:spcAft>
                  <a:buFont typeface="+mj-lt"/>
                  <a:buAutoNum type="arabicPeriod"/>
                </a:pPr>
                <a:r>
                  <a:rPr lang="es-PE" sz="800" b="1" i="0" dirty="0" err="1">
                    <a:solidFill>
                      <a:schemeClr val="tx1"/>
                    </a:solidFill>
                    <a:effectLst/>
                    <a:latin typeface="Segoe WPC"/>
                  </a:rPr>
                  <a:t>Replicating</a:t>
                </a:r>
                <a:r>
                  <a:rPr lang="es-PE" sz="800" b="1" i="0" dirty="0">
                    <a:solidFill>
                      <a:schemeClr val="tx1"/>
                    </a:solidFill>
                    <a:effectLst/>
                    <a:latin typeface="Segoe WPC"/>
                  </a:rPr>
                  <a:t> Portfolio</a:t>
                </a:r>
                <a:br>
                  <a:rPr lang="es-PE" sz="800" b="0" i="0" dirty="0">
                    <a:solidFill>
                      <a:schemeClr val="tx1"/>
                    </a:solidFill>
                    <a:effectLst/>
                    <a:latin typeface="Segoe WPC"/>
                  </a:rPr>
                </a:br>
                <a:r>
                  <a:rPr lang="es-PE" sz="800" b="1" i="0" dirty="0" err="1">
                    <a:solidFill>
                      <a:schemeClr val="tx1"/>
                    </a:solidFill>
                    <a:effectLst/>
                    <a:latin typeface="Segoe WPC"/>
                  </a:rPr>
                  <a:t>Financial</a:t>
                </a:r>
                <a:r>
                  <a:rPr lang="es-PE" sz="800" b="1" i="0" dirty="0">
                    <a:solidFill>
                      <a:schemeClr val="tx1"/>
                    </a:solidFill>
                    <a:effectLst/>
                    <a:latin typeface="Segoe WPC"/>
                  </a:rPr>
                  <a:t> </a:t>
                </a:r>
                <a:r>
                  <a:rPr lang="es-PE" sz="800" b="1" i="0" dirty="0" err="1">
                    <a:solidFill>
                      <a:schemeClr val="tx1"/>
                    </a:solidFill>
                    <a:effectLst/>
                    <a:latin typeface="Segoe WPC"/>
                  </a:rPr>
                  <a:t>Object</a:t>
                </a:r>
                <a:r>
                  <a:rPr lang="es-PE" sz="800" b="1" i="0" dirty="0">
                    <a:solidFill>
                      <a:schemeClr val="tx1"/>
                    </a:solidFill>
                    <a:effectLst/>
                    <a:latin typeface="Segoe WPC"/>
                  </a:rPr>
                  <a:t>:</a:t>
                </a:r>
                <a:r>
                  <a:rPr lang="es-PE" sz="800" b="0" i="0" dirty="0">
                    <a:solidFill>
                      <a:schemeClr val="tx1"/>
                    </a:solidFill>
                    <a:effectLst/>
                    <a:latin typeface="Segoe WPC"/>
                  </a:rPr>
                  <a:t> Portafolio formado por </a:t>
                </a:r>
                <a14:m>
                  <m:oMath xmlns:m="http://schemas.openxmlformats.org/officeDocument/2006/math">
                    <m:r>
                      <a:rPr lang="es-PE" sz="800" i="1">
                        <a:solidFill>
                          <a:schemeClr val="tx1"/>
                        </a:solidFill>
                        <a:latin typeface="Cambria Math" panose="02040503050406030204" pitchFamily="18" charset="0"/>
                      </a:rPr>
                      <m:t>𝛥</m:t>
                    </m:r>
                  </m:oMath>
                </a14:m>
                <a:r>
                  <a:rPr lang="es-PE" sz="800" b="0" i="0" dirty="0">
                    <a:solidFill>
                      <a:schemeClr val="tx1"/>
                    </a:solidFill>
                    <a:effectLst/>
                    <a:latin typeface="Segoe WPC"/>
                  </a:rPr>
                  <a:t> acciones y una posición corta en una opción.</a:t>
                </a:r>
                <a:br>
                  <a:rPr lang="es-PE" sz="800" b="0" i="0" dirty="0">
                    <a:solidFill>
                      <a:schemeClr val="tx1"/>
                    </a:solidFill>
                    <a:effectLst/>
                    <a:latin typeface="Segoe WPC"/>
                  </a:rPr>
                </a:br>
                <a:r>
                  <a:rPr lang="es-PE" sz="800" b="1" i="0" dirty="0" err="1">
                    <a:solidFill>
                      <a:schemeClr val="tx1"/>
                    </a:solidFill>
                    <a:effectLst/>
                    <a:latin typeface="Segoe WPC"/>
                  </a:rPr>
                  <a:t>Plain</a:t>
                </a:r>
                <a:r>
                  <a:rPr lang="es-PE" sz="800" b="1" i="0" dirty="0">
                    <a:solidFill>
                      <a:schemeClr val="tx1"/>
                    </a:solidFill>
                    <a:effectLst/>
                    <a:latin typeface="Segoe WPC"/>
                  </a:rPr>
                  <a:t>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Se elige </a:t>
                </a:r>
                <a14:m>
                  <m:oMath xmlns:m="http://schemas.openxmlformats.org/officeDocument/2006/math">
                    <m:r>
                      <a:rPr lang="es-PE" sz="800" i="1">
                        <a:solidFill>
                          <a:schemeClr val="tx1"/>
                        </a:solidFill>
                        <a:latin typeface="Cambria Math" panose="02040503050406030204" pitchFamily="18" charset="0"/>
                      </a:rPr>
                      <m:t>𝛥</m:t>
                    </m:r>
                  </m:oMath>
                </a14:m>
                <a:r>
                  <a:rPr lang="es-PE" sz="800" b="0" i="0" dirty="0">
                    <a:solidFill>
                      <a:schemeClr val="tx1"/>
                    </a:solidFill>
                    <a:effectLst/>
                    <a:latin typeface="Segoe WPC"/>
                  </a:rPr>
                  <a:t> para que el portafolio tenga el mismo valor en ambos estados futuros y quede libre de riesgo.</a:t>
                </a:r>
                <a:br>
                  <a:rPr lang="es-PE" sz="800" b="0" i="0" dirty="0">
                    <a:solidFill>
                      <a:schemeClr val="tx1"/>
                    </a:solidFill>
                    <a:effectLst/>
                    <a:latin typeface="Segoe WPC"/>
                  </a:rPr>
                </a:br>
                <a:r>
                  <a:rPr lang="es-PE" sz="800" b="1" i="0" dirty="0">
                    <a:solidFill>
                      <a:schemeClr val="tx1"/>
                    </a:solidFill>
                    <a:effectLst/>
                    <a:latin typeface="Segoe WPC"/>
                  </a:rPr>
                  <a:t>Visual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La exposición del derivado se neutraliza con una cantidad adecuada del subyacente.</a:t>
                </a:r>
                <a:br>
                  <a:rPr lang="es-PE" sz="800" b="0" i="0" dirty="0">
                    <a:solidFill>
                      <a:schemeClr val="tx1"/>
                    </a:solidFill>
                    <a:effectLst/>
                    <a:latin typeface="Segoe WPC"/>
                  </a:rPr>
                </a:br>
                <a:r>
                  <a:rPr lang="es-PE" sz="800" b="1" i="0" dirty="0">
                    <a:solidFill>
                      <a:schemeClr val="tx1"/>
                    </a:solidFill>
                    <a:effectLst/>
                    <a:latin typeface="Segoe WPC"/>
                  </a:rPr>
                  <a:t>Key Formula:</a:t>
                </a:r>
                <a:r>
                  <a:rPr lang="es-PE" sz="800" b="0" i="0" dirty="0">
                    <a:solidFill>
                      <a:schemeClr val="tx1"/>
                    </a:solidFill>
                    <a:effectLst/>
                    <a:latin typeface="Segoe WPC"/>
                  </a:rPr>
                  <a:t> </a:t>
                </a:r>
                <a14:m>
                  <m:oMath xmlns:m="http://schemas.openxmlformats.org/officeDocument/2006/math">
                    <m:r>
                      <a:rPr lang="es-PE" sz="800" i="1">
                        <a:solidFill>
                          <a:schemeClr val="tx1"/>
                        </a:solidFill>
                        <a:latin typeface="Cambria Math" panose="02040503050406030204" pitchFamily="18" charset="0"/>
                      </a:rPr>
                      <m:t>𝛥</m:t>
                    </m:r>
                    <m:r>
                      <a:rPr lang="es-PE" sz="800" i="0">
                        <a:solidFill>
                          <a:schemeClr val="tx1"/>
                        </a:solidFill>
                        <a:latin typeface="Cambria Math" panose="02040503050406030204" pitchFamily="18" charset="0"/>
                      </a:rPr>
                      <m:t>=</m:t>
                    </m:r>
                    <m:f>
                      <m:fPr>
                        <m:ctrlPr>
                          <a:rPr lang="ar-AE" sz="800" i="1">
                            <a:solidFill>
                              <a:schemeClr val="tx1"/>
                            </a:solidFill>
                            <a:latin typeface="Cambria Math" panose="02040503050406030204" pitchFamily="18" charset="0"/>
                          </a:rPr>
                        </m:ctrlPr>
                      </m:fPr>
                      <m:num>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𝑓</m:t>
                            </m:r>
                          </m:e>
                          <m:sub>
                            <m:r>
                              <a:rPr lang="ar-AE" sz="800" i="1">
                                <a:solidFill>
                                  <a:schemeClr val="tx1"/>
                                </a:solidFill>
                                <a:latin typeface="Cambria Math" panose="02040503050406030204" pitchFamily="18" charset="0"/>
                              </a:rPr>
                              <m:t>𝑢</m:t>
                            </m:r>
                          </m:sub>
                        </m:sSub>
                        <m:r>
                          <a:rPr lang="ar-AE" sz="800" i="0">
                            <a:solidFill>
                              <a:schemeClr val="tx1"/>
                            </a:solidFill>
                            <a:latin typeface="Cambria Math" panose="02040503050406030204" pitchFamily="18" charset="0"/>
                          </a:rPr>
                          <m:t>−</m:t>
                        </m:r>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𝑓</m:t>
                            </m:r>
                          </m:e>
                          <m:sub>
                            <m:r>
                              <a:rPr lang="ar-AE" sz="800" i="1">
                                <a:solidFill>
                                  <a:schemeClr val="tx1"/>
                                </a:solidFill>
                                <a:latin typeface="Cambria Math" panose="02040503050406030204" pitchFamily="18" charset="0"/>
                              </a:rPr>
                              <m:t>𝑑</m:t>
                            </m:r>
                          </m:sub>
                        </m:sSub>
                      </m:num>
                      <m:den>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𝑆</m:t>
                            </m:r>
                          </m:e>
                          <m:sub>
                            <m:r>
                              <a:rPr lang="ar-AE" sz="800" i="1">
                                <a:solidFill>
                                  <a:schemeClr val="tx1"/>
                                </a:solidFill>
                                <a:latin typeface="Cambria Math" panose="02040503050406030204" pitchFamily="18" charset="0"/>
                              </a:rPr>
                              <m:t>𝑢</m:t>
                            </m:r>
                          </m:sub>
                        </m:sSub>
                        <m:r>
                          <a:rPr lang="ar-AE" sz="800" i="0">
                            <a:solidFill>
                              <a:schemeClr val="tx1"/>
                            </a:solidFill>
                            <a:latin typeface="Cambria Math" panose="02040503050406030204" pitchFamily="18" charset="0"/>
                          </a:rPr>
                          <m:t>−</m:t>
                        </m:r>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𝑆</m:t>
                            </m:r>
                          </m:e>
                          <m:sub>
                            <m:r>
                              <a:rPr lang="ar-AE" sz="800" i="1">
                                <a:solidFill>
                                  <a:schemeClr val="tx1"/>
                                </a:solidFill>
                                <a:latin typeface="Cambria Math" panose="02040503050406030204" pitchFamily="18" charset="0"/>
                              </a:rPr>
                              <m:t>𝑑</m:t>
                            </m:r>
                          </m:sub>
                        </m:sSub>
                      </m:den>
                    </m:f>
                  </m:oMath>
                </a14:m>
                <a:r>
                  <a:rPr lang="ar-AE" sz="800" b="0" i="0" dirty="0">
                    <a:solidFill>
                      <a:schemeClr val="tx1"/>
                    </a:solidFill>
                    <a:effectLst/>
                    <a:latin typeface="Segoe WPC"/>
                  </a:rPr>
                  <a:t>.</a:t>
                </a:r>
                <a:br>
                  <a:rPr lang="ar-AE" sz="800" b="0" i="0" dirty="0">
                    <a:solidFill>
                      <a:schemeClr val="tx1"/>
                    </a:solidFill>
                    <a:effectLst/>
                    <a:latin typeface="Segoe WPC"/>
                  </a:rPr>
                </a:br>
                <a:r>
                  <a:rPr lang="es-PE" sz="800" b="1" i="0" dirty="0" err="1">
                    <a:solidFill>
                      <a:schemeClr val="tx1"/>
                    </a:solidFill>
                    <a:effectLst/>
                    <a:latin typeface="Segoe WPC"/>
                  </a:rPr>
                  <a:t>Interpretation</a:t>
                </a:r>
                <a:r>
                  <a:rPr lang="es-PE" sz="800" b="1" i="0" dirty="0">
                    <a:solidFill>
                      <a:schemeClr val="tx1"/>
                    </a:solidFill>
                    <a:effectLst/>
                    <a:latin typeface="Segoe WPC"/>
                  </a:rPr>
                  <a:t>:</a:t>
                </a:r>
                <a:r>
                  <a:rPr lang="es-PE" sz="800" b="0" i="0" dirty="0">
                    <a:solidFill>
                      <a:schemeClr val="tx1"/>
                    </a:solidFill>
                    <a:effectLst/>
                    <a:latin typeface="Segoe WPC"/>
                  </a:rPr>
                  <a:t> Una vez replicado el </a:t>
                </a:r>
                <a:r>
                  <a:rPr lang="es-PE" sz="800" b="0" i="0" dirty="0" err="1">
                    <a:solidFill>
                      <a:schemeClr val="tx1"/>
                    </a:solidFill>
                    <a:effectLst/>
                    <a:latin typeface="Segoe WPC"/>
                  </a:rPr>
                  <a:t>payoff</a:t>
                </a:r>
                <a:r>
                  <a:rPr lang="es-PE" sz="800" b="0" i="0" dirty="0">
                    <a:solidFill>
                      <a:schemeClr val="tx1"/>
                    </a:solidFill>
                    <a:effectLst/>
                    <a:latin typeface="Segoe WPC"/>
                  </a:rPr>
                  <a:t>, el precio del derivado queda determinado por arbitraje.</a:t>
                </a:r>
                <a:br>
                  <a:rPr lang="es-PE" sz="800" b="0" i="0" dirty="0">
                    <a:solidFill>
                      <a:schemeClr val="tx1"/>
                    </a:solidFill>
                    <a:effectLst/>
                    <a:latin typeface="Segoe WPC"/>
                  </a:rPr>
                </a:br>
                <a:r>
                  <a:rPr lang="es-PE" sz="800" b="1" i="0" dirty="0" err="1">
                    <a:solidFill>
                      <a:schemeClr val="tx1"/>
                    </a:solidFill>
                    <a:effectLst/>
                    <a:latin typeface="Segoe WPC"/>
                  </a:rPr>
                  <a:t>Exam</a:t>
                </a:r>
                <a:r>
                  <a:rPr lang="es-PE" sz="800" b="1" i="0" dirty="0">
                    <a:solidFill>
                      <a:schemeClr val="tx1"/>
                    </a:solidFill>
                    <a:effectLst/>
                    <a:latin typeface="Segoe WPC"/>
                  </a:rPr>
                  <a:t> </a:t>
                </a:r>
                <a:r>
                  <a:rPr lang="es-PE" sz="800" b="1" i="0" dirty="0" err="1">
                    <a:solidFill>
                      <a:schemeClr val="tx1"/>
                    </a:solidFill>
                    <a:effectLst/>
                    <a:latin typeface="Segoe WPC"/>
                  </a:rPr>
                  <a:t>Trap</a:t>
                </a:r>
                <a:r>
                  <a:rPr lang="es-PE" sz="800" b="1" i="0" dirty="0">
                    <a:solidFill>
                      <a:schemeClr val="tx1"/>
                    </a:solidFill>
                    <a:effectLst/>
                    <a:latin typeface="Segoe WPC"/>
                  </a:rPr>
                  <a:t>:</a:t>
                </a:r>
                <a:r>
                  <a:rPr lang="es-PE" sz="800" b="0" i="0" dirty="0">
                    <a:solidFill>
                      <a:schemeClr val="tx1"/>
                    </a:solidFill>
                    <a:effectLst/>
                    <a:latin typeface="Segoe WPC"/>
                  </a:rPr>
                  <a:t> La lógica no es predecir el precio futuro, sino replicar el </a:t>
                </a:r>
                <a:r>
                  <a:rPr lang="es-PE" sz="800" b="0" i="0" dirty="0" err="1">
                    <a:solidFill>
                      <a:schemeClr val="tx1"/>
                    </a:solidFill>
                    <a:effectLst/>
                    <a:latin typeface="Segoe WPC"/>
                  </a:rPr>
                  <a:t>payoff</a:t>
                </a:r>
                <a:r>
                  <a:rPr lang="es-PE" sz="800" b="0" i="0" dirty="0">
                    <a:solidFill>
                      <a:schemeClr val="tx1"/>
                    </a:solidFill>
                    <a:effectLst/>
                    <a:latin typeface="Segoe WPC"/>
                  </a:rPr>
                  <a:t>.</a:t>
                </a:r>
              </a:p>
              <a:p>
                <a:pPr algn="l">
                  <a:spcBef>
                    <a:spcPts val="300"/>
                  </a:spcBef>
                  <a:spcAft>
                    <a:spcPts val="300"/>
                  </a:spcAft>
                  <a:buFont typeface="+mj-lt"/>
                  <a:buAutoNum type="arabicPeriod"/>
                </a:pPr>
                <a:r>
                  <a:rPr lang="es-PE" sz="800" b="1" i="0" dirty="0">
                    <a:solidFill>
                      <a:schemeClr val="tx1"/>
                    </a:solidFill>
                    <a:effectLst/>
                    <a:latin typeface="Segoe WPC"/>
                  </a:rPr>
                  <a:t>No-</a:t>
                </a:r>
                <a:r>
                  <a:rPr lang="es-PE" sz="800" b="1" i="0" dirty="0" err="1">
                    <a:solidFill>
                      <a:schemeClr val="tx1"/>
                    </a:solidFill>
                    <a:effectLst/>
                    <a:latin typeface="Segoe WPC"/>
                  </a:rPr>
                  <a:t>Arbitrage</a:t>
                </a:r>
                <a:r>
                  <a:rPr lang="es-PE" sz="800" b="1" i="0" dirty="0">
                    <a:solidFill>
                      <a:schemeClr val="tx1"/>
                    </a:solidFill>
                    <a:effectLst/>
                    <a:latin typeface="Segoe WPC"/>
                  </a:rPr>
                  <a:t> </a:t>
                </a:r>
                <a:r>
                  <a:rPr lang="es-PE" sz="800" b="1" i="0" dirty="0" err="1">
                    <a:solidFill>
                      <a:schemeClr val="tx1"/>
                    </a:solidFill>
                    <a:effectLst/>
                    <a:latin typeface="Segoe WPC"/>
                  </a:rPr>
                  <a:t>Pricing</a:t>
                </a:r>
                <a:br>
                  <a:rPr lang="es-PE" sz="800" b="0" i="0" dirty="0">
                    <a:solidFill>
                      <a:schemeClr val="tx1"/>
                    </a:solidFill>
                    <a:effectLst/>
                    <a:latin typeface="Segoe WPC"/>
                  </a:rPr>
                </a:br>
                <a:r>
                  <a:rPr lang="es-PE" sz="800" b="1" i="0" dirty="0" err="1">
                    <a:solidFill>
                      <a:schemeClr val="tx1"/>
                    </a:solidFill>
                    <a:effectLst/>
                    <a:latin typeface="Segoe WPC"/>
                  </a:rPr>
                  <a:t>Financial</a:t>
                </a:r>
                <a:r>
                  <a:rPr lang="es-PE" sz="800" b="1" i="0" dirty="0">
                    <a:solidFill>
                      <a:schemeClr val="tx1"/>
                    </a:solidFill>
                    <a:effectLst/>
                    <a:latin typeface="Segoe WPC"/>
                  </a:rPr>
                  <a:t> </a:t>
                </a:r>
                <a:r>
                  <a:rPr lang="es-PE" sz="800" b="1" i="0" dirty="0" err="1">
                    <a:solidFill>
                      <a:schemeClr val="tx1"/>
                    </a:solidFill>
                    <a:effectLst/>
                    <a:latin typeface="Segoe WPC"/>
                  </a:rPr>
                  <a:t>Object</a:t>
                </a:r>
                <a:r>
                  <a:rPr lang="es-PE" sz="800" b="1" i="0" dirty="0">
                    <a:solidFill>
                      <a:schemeClr val="tx1"/>
                    </a:solidFill>
                    <a:effectLst/>
                    <a:latin typeface="Segoe WPC"/>
                  </a:rPr>
                  <a:t>:</a:t>
                </a:r>
                <a:r>
                  <a:rPr lang="es-PE" sz="800" b="0" i="0" dirty="0">
                    <a:solidFill>
                      <a:schemeClr val="tx1"/>
                    </a:solidFill>
                    <a:effectLst/>
                    <a:latin typeface="Segoe WPC"/>
                  </a:rPr>
                  <a:t> Valoración del derivado descontando el valor del portafolio libre de riesgo.</a:t>
                </a:r>
                <a:br>
                  <a:rPr lang="es-PE" sz="800" b="0" i="0" dirty="0">
                    <a:solidFill>
                      <a:schemeClr val="tx1"/>
                    </a:solidFill>
                    <a:effectLst/>
                    <a:latin typeface="Segoe WPC"/>
                  </a:rPr>
                </a:br>
                <a:r>
                  <a:rPr lang="es-PE" sz="800" b="1" i="0" dirty="0" err="1">
                    <a:solidFill>
                      <a:schemeClr val="tx1"/>
                    </a:solidFill>
                    <a:effectLst/>
                    <a:latin typeface="Segoe WPC"/>
                  </a:rPr>
                  <a:t>Plain</a:t>
                </a:r>
                <a:r>
                  <a:rPr lang="es-PE" sz="800" b="1" i="0" dirty="0">
                    <a:solidFill>
                      <a:schemeClr val="tx1"/>
                    </a:solidFill>
                    <a:effectLst/>
                    <a:latin typeface="Segoe WPC"/>
                  </a:rPr>
                  <a:t>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Si el portafolio es libre de riesgo, debe crecer a la tasa libre de riesgo.</a:t>
                </a:r>
                <a:br>
                  <a:rPr lang="es-PE" sz="800" b="0" i="0" dirty="0">
                    <a:solidFill>
                      <a:schemeClr val="tx1"/>
                    </a:solidFill>
                    <a:effectLst/>
                    <a:latin typeface="Segoe WPC"/>
                  </a:rPr>
                </a:br>
                <a:r>
                  <a:rPr lang="es-PE" sz="800" b="1" i="0" dirty="0">
                    <a:solidFill>
                      <a:schemeClr val="tx1"/>
                    </a:solidFill>
                    <a:effectLst/>
                    <a:latin typeface="Segoe WPC"/>
                  </a:rPr>
                  <a:t>Visual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El derivado queda “anclado” al activo subyacente y al bono libre de riesgo.</a:t>
                </a:r>
                <a:br>
                  <a:rPr lang="es-PE" sz="800" b="0" i="0" dirty="0">
                    <a:solidFill>
                      <a:schemeClr val="tx1"/>
                    </a:solidFill>
                    <a:effectLst/>
                    <a:latin typeface="Segoe WPC"/>
                  </a:rPr>
                </a:br>
                <a:r>
                  <a:rPr lang="es-PE" sz="800" b="1" i="0" dirty="0">
                    <a:solidFill>
                      <a:schemeClr val="tx1"/>
                    </a:solidFill>
                    <a:effectLst/>
                    <a:latin typeface="Segoe WPC"/>
                  </a:rPr>
                  <a:t>Key Formula:</a:t>
                </a:r>
                <a:r>
                  <a:rPr lang="es-PE" sz="800" b="0" i="0" dirty="0">
                    <a:solidFill>
                      <a:schemeClr val="tx1"/>
                    </a:solidFill>
                    <a:effectLst/>
                    <a:latin typeface="Segoe WPC"/>
                  </a:rPr>
                  <a:t> </a:t>
                </a:r>
                <a14:m>
                  <m:oMath xmlns:m="http://schemas.openxmlformats.org/officeDocument/2006/math">
                    <m:r>
                      <a:rPr lang="es-PE" sz="800" i="1">
                        <a:solidFill>
                          <a:schemeClr val="tx1"/>
                        </a:solidFill>
                        <a:latin typeface="Cambria Math" panose="02040503050406030204" pitchFamily="18" charset="0"/>
                      </a:rPr>
                      <m:t>𝑓</m:t>
                    </m:r>
                    <m:r>
                      <a:rPr lang="es-PE" sz="800" i="0">
                        <a:solidFill>
                          <a:schemeClr val="tx1"/>
                        </a:solidFill>
                        <a:latin typeface="Cambria Math" panose="02040503050406030204" pitchFamily="18" charset="0"/>
                      </a:rPr>
                      <m:t>=</m:t>
                    </m:r>
                    <m:sSup>
                      <m:sSupPr>
                        <m:ctrlPr>
                          <a:rPr lang="ar-AE" sz="800" i="1">
                            <a:solidFill>
                              <a:schemeClr val="tx1"/>
                            </a:solidFill>
                            <a:latin typeface="Cambria Math" panose="02040503050406030204" pitchFamily="18" charset="0"/>
                          </a:rPr>
                        </m:ctrlPr>
                      </m:sSupPr>
                      <m:e>
                        <m:r>
                          <a:rPr lang="ar-AE" sz="800" i="1">
                            <a:solidFill>
                              <a:schemeClr val="tx1"/>
                            </a:solidFill>
                            <a:latin typeface="Cambria Math" panose="02040503050406030204" pitchFamily="18" charset="0"/>
                          </a:rPr>
                          <m:t>𝑒</m:t>
                        </m:r>
                      </m:e>
                      <m:sup>
                        <m:r>
                          <a:rPr lang="ar-AE" sz="800" i="0">
                            <a:solidFill>
                              <a:schemeClr val="tx1"/>
                            </a:solidFill>
                            <a:latin typeface="Cambria Math" panose="02040503050406030204" pitchFamily="18" charset="0"/>
                          </a:rPr>
                          <m:t>−</m:t>
                        </m:r>
                        <m:r>
                          <a:rPr lang="ar-AE" sz="800" i="1">
                            <a:solidFill>
                              <a:schemeClr val="tx1"/>
                            </a:solidFill>
                            <a:latin typeface="Cambria Math" panose="02040503050406030204" pitchFamily="18" charset="0"/>
                          </a:rPr>
                          <m:t>𝑟𝑇</m:t>
                        </m:r>
                      </m:sup>
                    </m:sSup>
                    <m:d>
                      <m:dPr>
                        <m:begChr m:val="["/>
                        <m:endChr m:val="]"/>
                        <m:ctrlPr>
                          <a:rPr lang="ar-AE" sz="800" i="1">
                            <a:solidFill>
                              <a:schemeClr val="tx1"/>
                            </a:solidFill>
                            <a:latin typeface="Cambria Math" panose="02040503050406030204" pitchFamily="18" charset="0"/>
                          </a:rPr>
                        </m:ctrlPr>
                      </m:dPr>
                      <m:e>
                        <m:r>
                          <a:rPr lang="ar-AE" sz="800" i="1">
                            <a:solidFill>
                              <a:schemeClr val="tx1"/>
                            </a:solidFill>
                            <a:latin typeface="Cambria Math" panose="02040503050406030204" pitchFamily="18" charset="0"/>
                          </a:rPr>
                          <m:t>𝑝</m:t>
                        </m:r>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𝑓</m:t>
                            </m:r>
                          </m:e>
                          <m:sub>
                            <m:r>
                              <a:rPr lang="ar-AE" sz="800" i="1">
                                <a:solidFill>
                                  <a:schemeClr val="tx1"/>
                                </a:solidFill>
                                <a:latin typeface="Cambria Math" panose="02040503050406030204" pitchFamily="18" charset="0"/>
                              </a:rPr>
                              <m:t>𝑢</m:t>
                            </m:r>
                          </m:sub>
                        </m:sSub>
                        <m:r>
                          <a:rPr lang="ar-AE" sz="800" i="0">
                            <a:solidFill>
                              <a:schemeClr val="tx1"/>
                            </a:solidFill>
                            <a:latin typeface="Cambria Math" panose="02040503050406030204" pitchFamily="18" charset="0"/>
                          </a:rPr>
                          <m:t>+</m:t>
                        </m:r>
                        <m:d>
                          <m:dPr>
                            <m:ctrlPr>
                              <a:rPr lang="ar-AE" sz="800" i="1">
                                <a:solidFill>
                                  <a:schemeClr val="tx1"/>
                                </a:solidFill>
                                <a:latin typeface="Cambria Math" panose="02040503050406030204" pitchFamily="18" charset="0"/>
                              </a:rPr>
                            </m:ctrlPr>
                          </m:dPr>
                          <m:e>
                            <m:r>
                              <a:rPr lang="ar-AE" sz="800" i="0">
                                <a:solidFill>
                                  <a:schemeClr val="tx1"/>
                                </a:solidFill>
                                <a:latin typeface="Cambria Math" panose="02040503050406030204" pitchFamily="18" charset="0"/>
                              </a:rPr>
                              <m:t>1</m:t>
                            </m:r>
                            <m:r>
                              <a:rPr lang="ar-AE" sz="800" i="0">
                                <a:solidFill>
                                  <a:schemeClr val="tx1"/>
                                </a:solidFill>
                                <a:latin typeface="Cambria Math" panose="02040503050406030204" pitchFamily="18" charset="0"/>
                              </a:rPr>
                              <m:t>−</m:t>
                            </m:r>
                            <m:r>
                              <a:rPr lang="ar-AE" sz="800" i="1">
                                <a:solidFill>
                                  <a:schemeClr val="tx1"/>
                                </a:solidFill>
                                <a:latin typeface="Cambria Math" panose="02040503050406030204" pitchFamily="18" charset="0"/>
                              </a:rPr>
                              <m:t>𝑝</m:t>
                            </m:r>
                          </m:e>
                        </m:d>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𝑓</m:t>
                            </m:r>
                          </m:e>
                          <m:sub>
                            <m:r>
                              <a:rPr lang="ar-AE" sz="800" i="1">
                                <a:solidFill>
                                  <a:schemeClr val="tx1"/>
                                </a:solidFill>
                                <a:latin typeface="Cambria Math" panose="02040503050406030204" pitchFamily="18" charset="0"/>
                              </a:rPr>
                              <m:t>𝑑</m:t>
                            </m:r>
                          </m:sub>
                        </m:sSub>
                      </m:e>
                    </m:d>
                  </m:oMath>
                </a14:m>
                <a:r>
                  <a:rPr lang="ar-AE" sz="800" b="0" i="0" dirty="0">
                    <a:solidFill>
                      <a:schemeClr val="tx1"/>
                    </a:solidFill>
                    <a:effectLst/>
                    <a:latin typeface="Segoe WPC"/>
                  </a:rPr>
                  <a:t>, </a:t>
                </a:r>
                <a:r>
                  <a:rPr lang="es-PE" sz="800" b="0" i="0" dirty="0">
                    <a:solidFill>
                      <a:schemeClr val="tx1"/>
                    </a:solidFill>
                    <a:effectLst/>
                    <a:latin typeface="Segoe WPC"/>
                  </a:rPr>
                  <a:t>con </a:t>
                </a:r>
                <a14:m>
                  <m:oMath xmlns:m="http://schemas.openxmlformats.org/officeDocument/2006/math">
                    <m:r>
                      <a:rPr lang="es-PE" sz="800" i="1">
                        <a:solidFill>
                          <a:schemeClr val="tx1"/>
                        </a:solidFill>
                        <a:latin typeface="Cambria Math" panose="02040503050406030204" pitchFamily="18" charset="0"/>
                      </a:rPr>
                      <m:t>𝑝</m:t>
                    </m:r>
                    <m:r>
                      <a:rPr lang="es-PE" sz="800" i="0">
                        <a:solidFill>
                          <a:schemeClr val="tx1"/>
                        </a:solidFill>
                        <a:latin typeface="Cambria Math" panose="02040503050406030204" pitchFamily="18" charset="0"/>
                      </a:rPr>
                      <m:t>=</m:t>
                    </m:r>
                    <m:f>
                      <m:fPr>
                        <m:ctrlPr>
                          <a:rPr lang="ar-AE" sz="800" i="1">
                            <a:solidFill>
                              <a:schemeClr val="tx1"/>
                            </a:solidFill>
                            <a:latin typeface="Cambria Math" panose="02040503050406030204" pitchFamily="18" charset="0"/>
                          </a:rPr>
                        </m:ctrlPr>
                      </m:fPr>
                      <m:num>
                        <m:sSup>
                          <m:sSupPr>
                            <m:ctrlPr>
                              <a:rPr lang="ar-AE" sz="800" i="1">
                                <a:solidFill>
                                  <a:schemeClr val="tx1"/>
                                </a:solidFill>
                                <a:latin typeface="Cambria Math" panose="02040503050406030204" pitchFamily="18" charset="0"/>
                              </a:rPr>
                            </m:ctrlPr>
                          </m:sSupPr>
                          <m:e>
                            <m:r>
                              <a:rPr lang="ar-AE" sz="800" i="1">
                                <a:solidFill>
                                  <a:schemeClr val="tx1"/>
                                </a:solidFill>
                                <a:latin typeface="Cambria Math" panose="02040503050406030204" pitchFamily="18" charset="0"/>
                              </a:rPr>
                              <m:t>𝑒</m:t>
                            </m:r>
                          </m:e>
                          <m:sup>
                            <m:r>
                              <a:rPr lang="ar-AE" sz="800" i="1">
                                <a:solidFill>
                                  <a:schemeClr val="tx1"/>
                                </a:solidFill>
                                <a:latin typeface="Cambria Math" panose="02040503050406030204" pitchFamily="18" charset="0"/>
                              </a:rPr>
                              <m:t>𝑟𝑇</m:t>
                            </m:r>
                          </m:sup>
                        </m:sSup>
                        <m:r>
                          <a:rPr lang="ar-AE" sz="800" i="0">
                            <a:solidFill>
                              <a:schemeClr val="tx1"/>
                            </a:solidFill>
                            <a:latin typeface="Cambria Math" panose="02040503050406030204" pitchFamily="18" charset="0"/>
                          </a:rPr>
                          <m:t>−</m:t>
                        </m:r>
                        <m:r>
                          <a:rPr lang="ar-AE" sz="800" i="1">
                            <a:solidFill>
                              <a:schemeClr val="tx1"/>
                            </a:solidFill>
                            <a:latin typeface="Cambria Math" panose="02040503050406030204" pitchFamily="18" charset="0"/>
                          </a:rPr>
                          <m:t>𝑑</m:t>
                        </m:r>
                      </m:num>
                      <m:den>
                        <m:r>
                          <a:rPr lang="ar-AE" sz="800" i="1">
                            <a:solidFill>
                              <a:schemeClr val="tx1"/>
                            </a:solidFill>
                            <a:latin typeface="Cambria Math" panose="02040503050406030204" pitchFamily="18" charset="0"/>
                          </a:rPr>
                          <m:t>𝑢</m:t>
                        </m:r>
                        <m:r>
                          <a:rPr lang="ar-AE" sz="800" i="0">
                            <a:solidFill>
                              <a:schemeClr val="tx1"/>
                            </a:solidFill>
                            <a:latin typeface="Cambria Math" panose="02040503050406030204" pitchFamily="18" charset="0"/>
                          </a:rPr>
                          <m:t>−</m:t>
                        </m:r>
                        <m:r>
                          <a:rPr lang="ar-AE" sz="800" i="1">
                            <a:solidFill>
                              <a:schemeClr val="tx1"/>
                            </a:solidFill>
                            <a:latin typeface="Cambria Math" panose="02040503050406030204" pitchFamily="18" charset="0"/>
                          </a:rPr>
                          <m:t>𝑑</m:t>
                        </m:r>
                      </m:den>
                    </m:f>
                  </m:oMath>
                </a14:m>
                <a:r>
                  <a:rPr lang="ar-AE" sz="800" b="0" i="0" dirty="0">
                    <a:solidFill>
                      <a:schemeClr val="tx1"/>
                    </a:solidFill>
                    <a:effectLst/>
                    <a:latin typeface="Segoe WPC"/>
                  </a:rPr>
                  <a:t>.</a:t>
                </a:r>
                <a:br>
                  <a:rPr lang="ar-AE" sz="800" b="0" i="0" dirty="0">
                    <a:solidFill>
                      <a:schemeClr val="tx1"/>
                    </a:solidFill>
                    <a:effectLst/>
                    <a:latin typeface="Segoe WPC"/>
                  </a:rPr>
                </a:br>
                <a:r>
                  <a:rPr lang="es-PE" sz="800" b="1" i="0" dirty="0" err="1">
                    <a:solidFill>
                      <a:schemeClr val="tx1"/>
                    </a:solidFill>
                    <a:effectLst/>
                    <a:latin typeface="Segoe WPC"/>
                  </a:rPr>
                  <a:t>Interpretation</a:t>
                </a:r>
                <a:r>
                  <a:rPr lang="es-PE" sz="800" b="1" i="0" dirty="0">
                    <a:solidFill>
                      <a:schemeClr val="tx1"/>
                    </a:solidFill>
                    <a:effectLst/>
                    <a:latin typeface="Segoe WPC"/>
                  </a:rPr>
                  <a:t>:</a:t>
                </a:r>
                <a:r>
                  <a:rPr lang="es-PE" sz="800" b="0" i="0" dirty="0">
                    <a:solidFill>
                      <a:schemeClr val="tx1"/>
                    </a:solidFill>
                    <a:effectLst/>
                    <a:latin typeface="Segoe WPC"/>
                  </a:rPr>
                  <a:t> Este es el precio correcto por ausencia de arbitraje.</a:t>
                </a:r>
                <a:br>
                  <a:rPr lang="es-PE" sz="800" b="0" i="0" dirty="0">
                    <a:solidFill>
                      <a:schemeClr val="tx1"/>
                    </a:solidFill>
                    <a:effectLst/>
                    <a:latin typeface="Segoe WPC"/>
                  </a:rPr>
                </a:br>
                <a:r>
                  <a:rPr lang="es-PE" sz="800" b="1" i="0" dirty="0" err="1">
                    <a:solidFill>
                      <a:schemeClr val="tx1"/>
                    </a:solidFill>
                    <a:effectLst/>
                    <a:latin typeface="Segoe WPC"/>
                  </a:rPr>
                  <a:t>Exam</a:t>
                </a:r>
                <a:r>
                  <a:rPr lang="es-PE" sz="800" b="1" i="0" dirty="0">
                    <a:solidFill>
                      <a:schemeClr val="tx1"/>
                    </a:solidFill>
                    <a:effectLst/>
                    <a:latin typeface="Segoe WPC"/>
                  </a:rPr>
                  <a:t> </a:t>
                </a:r>
                <a:r>
                  <a:rPr lang="es-PE" sz="800" b="1" i="0" dirty="0" err="1">
                    <a:solidFill>
                      <a:schemeClr val="tx1"/>
                    </a:solidFill>
                    <a:effectLst/>
                    <a:latin typeface="Segoe WPC"/>
                  </a:rPr>
                  <a:t>Trap</a:t>
                </a:r>
                <a:r>
                  <a:rPr lang="es-PE" sz="800" b="1" i="0" dirty="0">
                    <a:solidFill>
                      <a:schemeClr val="tx1"/>
                    </a:solidFill>
                    <a:effectLst/>
                    <a:latin typeface="Segoe WPC"/>
                  </a:rPr>
                  <a:t>:</a:t>
                </a:r>
                <a:r>
                  <a:rPr lang="es-PE" sz="800" b="0" i="0" dirty="0">
                    <a:solidFill>
                      <a:schemeClr val="tx1"/>
                    </a:solidFill>
                    <a:effectLst/>
                    <a:latin typeface="Segoe WPC"/>
                  </a:rPr>
                  <a:t> </a:t>
                </a:r>
                <a14:m>
                  <m:oMath xmlns:m="http://schemas.openxmlformats.org/officeDocument/2006/math">
                    <m:r>
                      <a:rPr lang="es-PE" sz="800" i="1">
                        <a:solidFill>
                          <a:schemeClr val="tx1"/>
                        </a:solidFill>
                        <a:latin typeface="Cambria Math" panose="02040503050406030204" pitchFamily="18" charset="0"/>
                      </a:rPr>
                      <m:t>𝑝</m:t>
                    </m:r>
                  </m:oMath>
                </a14:m>
                <a:r>
                  <a:rPr lang="es-PE" sz="800" b="0" i="0" dirty="0">
                    <a:solidFill>
                      <a:schemeClr val="tx1"/>
                    </a:solidFill>
                    <a:effectLst/>
                    <a:latin typeface="Segoe WPC"/>
                  </a:rPr>
                  <a:t> no es una probabilidad real; es una probabilidad </a:t>
                </a:r>
                <a:r>
                  <a:rPr lang="es-PE" sz="800" b="0" i="0" dirty="0" err="1">
                    <a:solidFill>
                      <a:schemeClr val="tx1"/>
                    </a:solidFill>
                    <a:effectLst/>
                    <a:latin typeface="Segoe WPC"/>
                  </a:rPr>
                  <a:t>risk</a:t>
                </a:r>
                <a:r>
                  <a:rPr lang="es-PE" sz="800" b="0" i="0" dirty="0">
                    <a:solidFill>
                      <a:schemeClr val="tx1"/>
                    </a:solidFill>
                    <a:effectLst/>
                    <a:latin typeface="Segoe WPC"/>
                  </a:rPr>
                  <a:t>-neutral.</a:t>
                </a:r>
              </a:p>
              <a:p>
                <a:pPr algn="l">
                  <a:spcBef>
                    <a:spcPts val="300"/>
                  </a:spcBef>
                  <a:spcAft>
                    <a:spcPts val="300"/>
                  </a:spcAft>
                  <a:buFont typeface="+mj-lt"/>
                  <a:buAutoNum type="arabicPeriod"/>
                </a:pPr>
                <a:r>
                  <a:rPr lang="es-PE" sz="800" b="1" i="0" dirty="0" err="1">
                    <a:solidFill>
                      <a:schemeClr val="tx1"/>
                    </a:solidFill>
                    <a:effectLst/>
                    <a:latin typeface="Segoe WPC"/>
                  </a:rPr>
                  <a:t>Risk</a:t>
                </a:r>
                <a:r>
                  <a:rPr lang="es-PE" sz="800" b="1" i="0" dirty="0">
                    <a:solidFill>
                      <a:schemeClr val="tx1"/>
                    </a:solidFill>
                    <a:effectLst/>
                    <a:latin typeface="Segoe WPC"/>
                  </a:rPr>
                  <a:t>-Neutral </a:t>
                </a:r>
                <a:r>
                  <a:rPr lang="es-PE" sz="800" b="1" i="0" dirty="0" err="1">
                    <a:solidFill>
                      <a:schemeClr val="tx1"/>
                    </a:solidFill>
                    <a:effectLst/>
                    <a:latin typeface="Segoe WPC"/>
                  </a:rPr>
                  <a:t>Valuation</a:t>
                </a:r>
                <a:br>
                  <a:rPr lang="es-PE" sz="800" b="0" i="0" dirty="0">
                    <a:solidFill>
                      <a:schemeClr val="tx1"/>
                    </a:solidFill>
                    <a:effectLst/>
                    <a:latin typeface="Segoe WPC"/>
                  </a:rPr>
                </a:br>
                <a:r>
                  <a:rPr lang="es-PE" sz="800" b="1" i="0" dirty="0" err="1">
                    <a:solidFill>
                      <a:schemeClr val="tx1"/>
                    </a:solidFill>
                    <a:effectLst/>
                    <a:latin typeface="Segoe WPC"/>
                  </a:rPr>
                  <a:t>Financial</a:t>
                </a:r>
                <a:r>
                  <a:rPr lang="es-PE" sz="800" b="1" i="0" dirty="0">
                    <a:solidFill>
                      <a:schemeClr val="tx1"/>
                    </a:solidFill>
                    <a:effectLst/>
                    <a:latin typeface="Segoe WPC"/>
                  </a:rPr>
                  <a:t> </a:t>
                </a:r>
                <a:r>
                  <a:rPr lang="es-PE" sz="800" b="1" i="0" dirty="0" err="1">
                    <a:solidFill>
                      <a:schemeClr val="tx1"/>
                    </a:solidFill>
                    <a:effectLst/>
                    <a:latin typeface="Segoe WPC"/>
                  </a:rPr>
                  <a:t>Object</a:t>
                </a:r>
                <a:r>
                  <a:rPr lang="es-PE" sz="800" b="1" i="0" dirty="0">
                    <a:solidFill>
                      <a:schemeClr val="tx1"/>
                    </a:solidFill>
                    <a:effectLst/>
                    <a:latin typeface="Segoe WPC"/>
                  </a:rPr>
                  <a:t>:</a:t>
                </a:r>
                <a:r>
                  <a:rPr lang="es-PE" sz="800" b="0" i="0" dirty="0">
                    <a:solidFill>
                      <a:schemeClr val="tx1"/>
                    </a:solidFill>
                    <a:effectLst/>
                    <a:latin typeface="Segoe WPC"/>
                  </a:rPr>
                  <a:t> Principio según el cual los derivados pueden valorarse como si todos los activos rindieran la tasa libre de riesgo.</a:t>
                </a:r>
                <a:br>
                  <a:rPr lang="es-PE" sz="800" b="0" i="0" dirty="0">
                    <a:solidFill>
                      <a:schemeClr val="tx1"/>
                    </a:solidFill>
                    <a:effectLst/>
                    <a:latin typeface="Segoe WPC"/>
                  </a:rPr>
                </a:br>
                <a:r>
                  <a:rPr lang="es-PE" sz="800" b="1" i="0" dirty="0" err="1">
                    <a:solidFill>
                      <a:schemeClr val="tx1"/>
                    </a:solidFill>
                    <a:effectLst/>
                    <a:latin typeface="Segoe WPC"/>
                  </a:rPr>
                  <a:t>Plain</a:t>
                </a:r>
                <a:r>
                  <a:rPr lang="es-PE" sz="800" b="1" i="0" dirty="0">
                    <a:solidFill>
                      <a:schemeClr val="tx1"/>
                    </a:solidFill>
                    <a:effectLst/>
                    <a:latin typeface="Segoe WPC"/>
                  </a:rPr>
                  <a:t>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Se usan probabilidades artificiales que hacen crecer al subyacente a la tasa libre de riesgo.</a:t>
                </a:r>
                <a:br>
                  <a:rPr lang="es-PE" sz="800" b="0" i="0" dirty="0">
                    <a:solidFill>
                      <a:schemeClr val="tx1"/>
                    </a:solidFill>
                    <a:effectLst/>
                    <a:latin typeface="Segoe WPC"/>
                  </a:rPr>
                </a:br>
                <a:r>
                  <a:rPr lang="es-PE" sz="800" b="1" i="0" dirty="0">
                    <a:solidFill>
                      <a:schemeClr val="tx1"/>
                    </a:solidFill>
                    <a:effectLst/>
                    <a:latin typeface="Segoe WPC"/>
                  </a:rPr>
                  <a:t>Visual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Cambias el “mundo real” por un “mundo neutral al riesgo” solo para valorar.</a:t>
                </a:r>
                <a:br>
                  <a:rPr lang="es-PE" sz="800" b="0" i="0" dirty="0">
                    <a:solidFill>
                      <a:schemeClr val="tx1"/>
                    </a:solidFill>
                    <a:effectLst/>
                    <a:latin typeface="Segoe WPC"/>
                  </a:rPr>
                </a:br>
                <a:r>
                  <a:rPr lang="es-PE" sz="800" b="1" i="0" dirty="0">
                    <a:solidFill>
                      <a:schemeClr val="tx1"/>
                    </a:solidFill>
                    <a:effectLst/>
                    <a:latin typeface="Segoe WPC"/>
                  </a:rPr>
                  <a:t>Key Formula:</a:t>
                </a:r>
                <a:r>
                  <a:rPr lang="es-PE" sz="800" b="0" i="0" dirty="0">
                    <a:solidFill>
                      <a:schemeClr val="tx1"/>
                    </a:solidFill>
                    <a:effectLst/>
                    <a:latin typeface="Segoe WPC"/>
                  </a:rPr>
                  <a:t> </a:t>
                </a:r>
                <a14:m>
                  <m:oMath xmlns:m="http://schemas.openxmlformats.org/officeDocument/2006/math">
                    <m:sSup>
                      <m:sSupPr>
                        <m:ctrlPr>
                          <a:rPr lang="ar-AE" sz="800" i="1">
                            <a:solidFill>
                              <a:schemeClr val="tx1"/>
                            </a:solidFill>
                            <a:latin typeface="Cambria Math" panose="02040503050406030204" pitchFamily="18" charset="0"/>
                          </a:rPr>
                        </m:ctrlPr>
                      </m:sSupPr>
                      <m:e>
                        <m:r>
                          <a:rPr lang="ar-AE" sz="800" i="1">
                            <a:solidFill>
                              <a:schemeClr val="tx1"/>
                            </a:solidFill>
                            <a:latin typeface="Cambria Math" panose="02040503050406030204" pitchFamily="18" charset="0"/>
                          </a:rPr>
                          <m:t>𝐸</m:t>
                        </m:r>
                      </m:e>
                      <m:sup>
                        <m:r>
                          <a:rPr lang="ar-AE" sz="800" i="1">
                            <a:solidFill>
                              <a:schemeClr val="tx1"/>
                            </a:solidFill>
                            <a:latin typeface="Cambria Math" panose="02040503050406030204" pitchFamily="18" charset="0"/>
                          </a:rPr>
                          <m:t>𝑅𝑁</m:t>
                        </m:r>
                      </m:sup>
                    </m:sSup>
                    <m:d>
                      <m:dPr>
                        <m:begChr m:val="["/>
                        <m:endChr m:val="]"/>
                        <m:ctrlPr>
                          <a:rPr lang="ar-AE" sz="800" i="1">
                            <a:solidFill>
                              <a:schemeClr val="tx1"/>
                            </a:solidFill>
                            <a:latin typeface="Cambria Math" panose="02040503050406030204" pitchFamily="18" charset="0"/>
                          </a:rPr>
                        </m:ctrlPr>
                      </m:dPr>
                      <m:e>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𝑆</m:t>
                            </m:r>
                          </m:e>
                          <m:sub>
                            <m:r>
                              <a:rPr lang="ar-AE" sz="800" i="1">
                                <a:solidFill>
                                  <a:schemeClr val="tx1"/>
                                </a:solidFill>
                                <a:latin typeface="Cambria Math" panose="02040503050406030204" pitchFamily="18" charset="0"/>
                              </a:rPr>
                              <m:t>𝑇</m:t>
                            </m:r>
                          </m:sub>
                        </m:sSub>
                      </m:e>
                    </m:d>
                    <m:r>
                      <a:rPr lang="ar-AE" sz="800" i="0">
                        <a:solidFill>
                          <a:schemeClr val="tx1"/>
                        </a:solidFill>
                        <a:latin typeface="Cambria Math" panose="02040503050406030204" pitchFamily="18" charset="0"/>
                      </a:rPr>
                      <m:t>=</m:t>
                    </m:r>
                    <m:r>
                      <a:rPr lang="ar-AE" sz="800" i="1">
                        <a:solidFill>
                          <a:schemeClr val="tx1"/>
                        </a:solidFill>
                        <a:latin typeface="Cambria Math" panose="02040503050406030204" pitchFamily="18" charset="0"/>
                      </a:rPr>
                      <m:t>𝑆</m:t>
                    </m:r>
                    <m:sSup>
                      <m:sSupPr>
                        <m:ctrlPr>
                          <a:rPr lang="ar-AE" sz="800" i="1">
                            <a:solidFill>
                              <a:schemeClr val="tx1"/>
                            </a:solidFill>
                            <a:latin typeface="Cambria Math" panose="02040503050406030204" pitchFamily="18" charset="0"/>
                          </a:rPr>
                        </m:ctrlPr>
                      </m:sSupPr>
                      <m:e>
                        <m:r>
                          <a:rPr lang="ar-AE" sz="800" i="1">
                            <a:solidFill>
                              <a:schemeClr val="tx1"/>
                            </a:solidFill>
                            <a:latin typeface="Cambria Math" panose="02040503050406030204" pitchFamily="18" charset="0"/>
                          </a:rPr>
                          <m:t>𝑒</m:t>
                        </m:r>
                      </m:e>
                      <m:sup>
                        <m:r>
                          <a:rPr lang="ar-AE" sz="800" i="1">
                            <a:solidFill>
                              <a:schemeClr val="tx1"/>
                            </a:solidFill>
                            <a:latin typeface="Cambria Math" panose="02040503050406030204" pitchFamily="18" charset="0"/>
                          </a:rPr>
                          <m:t>𝑟𝑇</m:t>
                        </m:r>
                      </m:sup>
                    </m:sSup>
                  </m:oMath>
                </a14:m>
                <a:r>
                  <a:rPr lang="ar-AE" sz="800" b="0" i="0" dirty="0">
                    <a:solidFill>
                      <a:schemeClr val="tx1"/>
                    </a:solidFill>
                    <a:effectLst/>
                    <a:latin typeface="Segoe WPC"/>
                  </a:rPr>
                  <a:t>.</a:t>
                </a:r>
                <a:br>
                  <a:rPr lang="ar-AE" sz="800" b="0" i="0" dirty="0">
                    <a:solidFill>
                      <a:schemeClr val="tx1"/>
                    </a:solidFill>
                    <a:effectLst/>
                    <a:latin typeface="Segoe WPC"/>
                  </a:rPr>
                </a:br>
                <a:r>
                  <a:rPr lang="es-PE" sz="800" b="1" i="0" dirty="0" err="1">
                    <a:solidFill>
                      <a:schemeClr val="tx1"/>
                    </a:solidFill>
                    <a:effectLst/>
                    <a:latin typeface="Segoe WPC"/>
                  </a:rPr>
                  <a:t>Interpretation</a:t>
                </a:r>
                <a:r>
                  <a:rPr lang="es-PE" sz="800" b="1" i="0" dirty="0">
                    <a:solidFill>
                      <a:schemeClr val="tx1"/>
                    </a:solidFill>
                    <a:effectLst/>
                    <a:latin typeface="Segoe WPC"/>
                  </a:rPr>
                  <a:t>:</a:t>
                </a:r>
                <a:r>
                  <a:rPr lang="es-PE" sz="800" b="0" i="0" dirty="0">
                    <a:solidFill>
                      <a:schemeClr val="tx1"/>
                    </a:solidFill>
                    <a:effectLst/>
                    <a:latin typeface="Segoe WPC"/>
                  </a:rPr>
                  <a:t> Aunque el mundo real no sea neutral al riesgo, el precio del derivado coincide con el que obtienes en ese mundo ficticio.</a:t>
                </a:r>
                <a:br>
                  <a:rPr lang="es-PE" sz="800" b="0" i="0" dirty="0">
                    <a:solidFill>
                      <a:schemeClr val="tx1"/>
                    </a:solidFill>
                    <a:effectLst/>
                    <a:latin typeface="Segoe WPC"/>
                  </a:rPr>
                </a:br>
                <a:r>
                  <a:rPr lang="es-PE" sz="800" b="1" i="0" dirty="0" err="1">
                    <a:solidFill>
                      <a:schemeClr val="tx1"/>
                    </a:solidFill>
                    <a:effectLst/>
                    <a:latin typeface="Segoe WPC"/>
                  </a:rPr>
                  <a:t>Exam</a:t>
                </a:r>
                <a:r>
                  <a:rPr lang="es-PE" sz="800" b="1" i="0" dirty="0">
                    <a:solidFill>
                      <a:schemeClr val="tx1"/>
                    </a:solidFill>
                    <a:effectLst/>
                    <a:latin typeface="Segoe WPC"/>
                  </a:rPr>
                  <a:t> </a:t>
                </a:r>
                <a:r>
                  <a:rPr lang="es-PE" sz="800" b="1" i="0" dirty="0" err="1">
                    <a:solidFill>
                      <a:schemeClr val="tx1"/>
                    </a:solidFill>
                    <a:effectLst/>
                    <a:latin typeface="Segoe WPC"/>
                  </a:rPr>
                  <a:t>Trap</a:t>
                </a:r>
                <a:r>
                  <a:rPr lang="es-PE" sz="800" b="1" i="0" dirty="0">
                    <a:solidFill>
                      <a:schemeClr val="tx1"/>
                    </a:solidFill>
                    <a:effectLst/>
                    <a:latin typeface="Segoe WPC"/>
                  </a:rPr>
                  <a:t>:</a:t>
                </a:r>
                <a:r>
                  <a:rPr lang="es-PE" sz="800" b="0" i="0" dirty="0">
                    <a:solidFill>
                      <a:schemeClr val="tx1"/>
                    </a:solidFill>
                    <a:effectLst/>
                    <a:latin typeface="Segoe WPC"/>
                  </a:rPr>
                  <a:t> No concluir que los inversionistas reales sean neutrales al riesgo; es solo una técnica de </a:t>
                </a:r>
                <a:r>
                  <a:rPr lang="es-PE" sz="800" b="0" i="0" dirty="0" err="1">
                    <a:solidFill>
                      <a:schemeClr val="tx1"/>
                    </a:solidFill>
                    <a:effectLst/>
                    <a:latin typeface="Segoe WPC"/>
                  </a:rPr>
                  <a:t>pricing</a:t>
                </a:r>
                <a:r>
                  <a:rPr lang="es-PE" sz="800" b="0" i="0" dirty="0">
                    <a:solidFill>
                      <a:schemeClr val="tx1"/>
                    </a:solidFill>
                    <a:effectLst/>
                    <a:latin typeface="Segoe WPC"/>
                  </a:rPr>
                  <a:t>.</a:t>
                </a:r>
              </a:p>
              <a:p>
                <a:pPr algn="l">
                  <a:spcBef>
                    <a:spcPts val="300"/>
                  </a:spcBef>
                  <a:spcAft>
                    <a:spcPts val="300"/>
                  </a:spcAft>
                  <a:buFont typeface="+mj-lt"/>
                  <a:buAutoNum type="arabicPeriod"/>
                </a:pPr>
                <a:r>
                  <a:rPr lang="es-PE" sz="800" b="1" i="0" dirty="0" err="1">
                    <a:solidFill>
                      <a:schemeClr val="tx1"/>
                    </a:solidFill>
                    <a:effectLst/>
                    <a:latin typeface="Segoe WPC"/>
                  </a:rPr>
                  <a:t>Call</a:t>
                </a:r>
                <a:r>
                  <a:rPr lang="es-PE" sz="800" b="1" i="0" dirty="0">
                    <a:solidFill>
                      <a:schemeClr val="tx1"/>
                    </a:solidFill>
                    <a:effectLst/>
                    <a:latin typeface="Segoe WPC"/>
                  </a:rPr>
                  <a:t> and </a:t>
                </a:r>
                <a:r>
                  <a:rPr lang="es-PE" sz="800" b="1" i="0" dirty="0" err="1">
                    <a:solidFill>
                      <a:schemeClr val="tx1"/>
                    </a:solidFill>
                    <a:effectLst/>
                    <a:latin typeface="Segoe WPC"/>
                  </a:rPr>
                  <a:t>Put</a:t>
                </a:r>
                <a:r>
                  <a:rPr lang="es-PE" sz="800" b="1" i="0" dirty="0">
                    <a:solidFill>
                      <a:schemeClr val="tx1"/>
                    </a:solidFill>
                    <a:effectLst/>
                    <a:latin typeface="Segoe WPC"/>
                  </a:rPr>
                  <a:t> </a:t>
                </a:r>
                <a:r>
                  <a:rPr lang="es-PE" sz="800" b="1" i="0" dirty="0" err="1">
                    <a:solidFill>
                      <a:schemeClr val="tx1"/>
                    </a:solidFill>
                    <a:effectLst/>
                    <a:latin typeface="Segoe WPC"/>
                  </a:rPr>
                  <a:t>Payoffs</a:t>
                </a:r>
                <a:br>
                  <a:rPr lang="es-PE" sz="800" b="0" i="0" dirty="0">
                    <a:solidFill>
                      <a:schemeClr val="tx1"/>
                    </a:solidFill>
                    <a:effectLst/>
                    <a:latin typeface="Segoe WPC"/>
                  </a:rPr>
                </a:br>
                <a:r>
                  <a:rPr lang="es-PE" sz="800" b="1" i="0" dirty="0" err="1">
                    <a:solidFill>
                      <a:schemeClr val="tx1"/>
                    </a:solidFill>
                    <a:effectLst/>
                    <a:latin typeface="Segoe WPC"/>
                  </a:rPr>
                  <a:t>Financial</a:t>
                </a:r>
                <a:r>
                  <a:rPr lang="es-PE" sz="800" b="1" i="0" dirty="0">
                    <a:solidFill>
                      <a:schemeClr val="tx1"/>
                    </a:solidFill>
                    <a:effectLst/>
                    <a:latin typeface="Segoe WPC"/>
                  </a:rPr>
                  <a:t> </a:t>
                </a:r>
                <a:r>
                  <a:rPr lang="es-PE" sz="800" b="1" i="0" dirty="0" err="1">
                    <a:solidFill>
                      <a:schemeClr val="tx1"/>
                    </a:solidFill>
                    <a:effectLst/>
                    <a:latin typeface="Segoe WPC"/>
                  </a:rPr>
                  <a:t>Object</a:t>
                </a:r>
                <a:r>
                  <a:rPr lang="es-PE" sz="800" b="1" i="0" dirty="0">
                    <a:solidFill>
                      <a:schemeClr val="tx1"/>
                    </a:solidFill>
                    <a:effectLst/>
                    <a:latin typeface="Segoe WPC"/>
                  </a:rPr>
                  <a:t>:</a:t>
                </a:r>
                <a:r>
                  <a:rPr lang="es-PE" sz="800" b="0" i="0" dirty="0">
                    <a:solidFill>
                      <a:schemeClr val="tx1"/>
                    </a:solidFill>
                    <a:effectLst/>
                    <a:latin typeface="Segoe WPC"/>
                  </a:rPr>
                  <a:t> </a:t>
                </a:r>
                <a:r>
                  <a:rPr lang="es-PE" sz="800" b="0" i="0" dirty="0" err="1">
                    <a:solidFill>
                      <a:schemeClr val="tx1"/>
                    </a:solidFill>
                    <a:effectLst/>
                    <a:latin typeface="Segoe WPC"/>
                  </a:rPr>
                  <a:t>Payoffs</a:t>
                </a:r>
                <a:r>
                  <a:rPr lang="es-PE" sz="800" b="0" i="0" dirty="0">
                    <a:solidFill>
                      <a:schemeClr val="tx1"/>
                    </a:solidFill>
                    <a:effectLst/>
                    <a:latin typeface="Segoe WPC"/>
                  </a:rPr>
                  <a:t> terminales de </a:t>
                </a:r>
                <a:r>
                  <a:rPr lang="es-PE" sz="800" b="0" i="0" dirty="0" err="1">
                    <a:solidFill>
                      <a:schemeClr val="tx1"/>
                    </a:solidFill>
                    <a:effectLst/>
                    <a:latin typeface="Segoe WPC"/>
                  </a:rPr>
                  <a:t>calls</a:t>
                </a:r>
                <a:r>
                  <a:rPr lang="es-PE" sz="800" b="0" i="0" dirty="0">
                    <a:solidFill>
                      <a:schemeClr val="tx1"/>
                    </a:solidFill>
                    <a:effectLst/>
                    <a:latin typeface="Segoe WPC"/>
                  </a:rPr>
                  <a:t> y </a:t>
                </a:r>
                <a:r>
                  <a:rPr lang="es-PE" sz="800" b="0" i="0" dirty="0" err="1">
                    <a:solidFill>
                      <a:schemeClr val="tx1"/>
                    </a:solidFill>
                    <a:effectLst/>
                    <a:latin typeface="Segoe WPC"/>
                  </a:rPr>
                  <a:t>puts</a:t>
                </a:r>
                <a:r>
                  <a:rPr lang="es-PE" sz="800" b="0" i="0" dirty="0">
                    <a:solidFill>
                      <a:schemeClr val="tx1"/>
                    </a:solidFill>
                    <a:effectLst/>
                    <a:latin typeface="Segoe WPC"/>
                  </a:rPr>
                  <a:t> en el árbol.</a:t>
                </a:r>
                <a:br>
                  <a:rPr lang="es-PE" sz="800" b="0" i="0" dirty="0">
                    <a:solidFill>
                      <a:schemeClr val="tx1"/>
                    </a:solidFill>
                    <a:effectLst/>
                    <a:latin typeface="Segoe WPC"/>
                  </a:rPr>
                </a:br>
                <a:r>
                  <a:rPr lang="es-PE" sz="800" b="1" i="0" dirty="0" err="1">
                    <a:solidFill>
                      <a:schemeClr val="tx1"/>
                    </a:solidFill>
                    <a:effectLst/>
                    <a:latin typeface="Segoe WPC"/>
                  </a:rPr>
                  <a:t>Plain</a:t>
                </a:r>
                <a:r>
                  <a:rPr lang="es-PE" sz="800" b="1" i="0" dirty="0">
                    <a:solidFill>
                      <a:schemeClr val="tx1"/>
                    </a:solidFill>
                    <a:effectLst/>
                    <a:latin typeface="Segoe WPC"/>
                  </a:rPr>
                  <a:t>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Primero calculas cuánto vale la opción al final; luego haces </a:t>
                </a:r>
                <a:r>
                  <a:rPr lang="es-PE" sz="800" b="0" i="0" dirty="0" err="1">
                    <a:solidFill>
                      <a:schemeClr val="tx1"/>
                    </a:solidFill>
                    <a:effectLst/>
                    <a:latin typeface="Segoe WPC"/>
                  </a:rPr>
                  <a:t>rollback</a:t>
                </a:r>
                <a:r>
                  <a:rPr lang="es-PE" sz="800" b="0" i="0" dirty="0">
                    <a:solidFill>
                      <a:schemeClr val="tx1"/>
                    </a:solidFill>
                    <a:effectLst/>
                    <a:latin typeface="Segoe WPC"/>
                  </a:rPr>
                  <a:t>.</a:t>
                </a:r>
                <a:br>
                  <a:rPr lang="es-PE" sz="800" b="0" i="0" dirty="0">
                    <a:solidFill>
                      <a:schemeClr val="tx1"/>
                    </a:solidFill>
                    <a:effectLst/>
                    <a:latin typeface="Segoe WPC"/>
                  </a:rPr>
                </a:br>
                <a:r>
                  <a:rPr lang="es-PE" sz="800" b="1" i="0" dirty="0">
                    <a:solidFill>
                      <a:schemeClr val="tx1"/>
                    </a:solidFill>
                    <a:effectLst/>
                    <a:latin typeface="Segoe WPC"/>
                  </a:rPr>
                  <a:t>Visual </a:t>
                </a:r>
                <a:r>
                  <a:rPr lang="es-PE" sz="800" b="1" i="0" dirty="0" err="1">
                    <a:solidFill>
                      <a:schemeClr val="tx1"/>
                    </a:solidFill>
                    <a:effectLst/>
                    <a:latin typeface="Segoe WPC"/>
                  </a:rPr>
                  <a:t>Intuition</a:t>
                </a:r>
                <a:r>
                  <a:rPr lang="es-PE" sz="800" b="1" i="0" dirty="0">
                    <a:solidFill>
                      <a:schemeClr val="tx1"/>
                    </a:solidFill>
                    <a:effectLst/>
                    <a:latin typeface="Segoe WPC"/>
                  </a:rPr>
                  <a:t>:</a:t>
                </a:r>
                <a:r>
                  <a:rPr lang="es-PE" sz="800" b="0" i="0" dirty="0">
                    <a:solidFill>
                      <a:schemeClr val="tx1"/>
                    </a:solidFill>
                    <a:effectLst/>
                    <a:latin typeface="Segoe WPC"/>
                  </a:rPr>
                  <a:t> Empiezas en los nodos terminales y retrocedes hasta hoy.</a:t>
                </a:r>
                <a:br>
                  <a:rPr lang="es-PE" sz="800" b="0" i="0" dirty="0">
                    <a:solidFill>
                      <a:schemeClr val="tx1"/>
                    </a:solidFill>
                    <a:effectLst/>
                    <a:latin typeface="Segoe WPC"/>
                  </a:rPr>
                </a:br>
                <a:r>
                  <a:rPr lang="es-PE" sz="800" b="1" i="0" dirty="0">
                    <a:solidFill>
                      <a:schemeClr val="tx1"/>
                    </a:solidFill>
                    <a:effectLst/>
                    <a:latin typeface="Segoe WPC"/>
                  </a:rPr>
                  <a:t>Key Formula:</a:t>
                </a:r>
                <a:r>
                  <a:rPr lang="es-PE" sz="800" b="0" i="0" dirty="0">
                    <a:solidFill>
                      <a:schemeClr val="tx1"/>
                    </a:solidFill>
                    <a:effectLst/>
                    <a:latin typeface="Segoe WPC"/>
                  </a:rPr>
                  <a:t> </a:t>
                </a:r>
                <a:r>
                  <a:rPr lang="es-PE" sz="800" b="0" i="0" dirty="0" err="1">
                    <a:solidFill>
                      <a:schemeClr val="tx1"/>
                    </a:solidFill>
                    <a:effectLst/>
                    <a:latin typeface="Segoe WPC"/>
                  </a:rPr>
                  <a:t>Call</a:t>
                </a:r>
                <a:r>
                  <a:rPr lang="es-PE" sz="800" b="0" i="0" dirty="0">
                    <a:solidFill>
                      <a:schemeClr val="tx1"/>
                    </a:solidFill>
                    <a:effectLst/>
                    <a:latin typeface="Segoe WPC"/>
                  </a:rPr>
                  <a:t>: </a:t>
                </a:r>
                <a14:m>
                  <m:oMath xmlns:m="http://schemas.openxmlformats.org/officeDocument/2006/math">
                    <m:r>
                      <m:rPr>
                        <m:sty m:val="p"/>
                      </m:rPr>
                      <a:rPr lang="es-PE" sz="800">
                        <a:solidFill>
                          <a:schemeClr val="tx1"/>
                        </a:solidFill>
                        <a:latin typeface="Cambria Math" panose="02040503050406030204" pitchFamily="18" charset="0"/>
                      </a:rPr>
                      <m:t>max</m:t>
                    </m:r>
                    <m:r>
                      <a:rPr lang="es-PE" sz="800" i="0">
                        <a:solidFill>
                          <a:schemeClr val="tx1"/>
                        </a:solidFill>
                        <a:latin typeface="Cambria Math" panose="02040503050406030204" pitchFamily="18" charset="0"/>
                      </a:rPr>
                      <m:t>⁡</m:t>
                    </m:r>
                    <m:d>
                      <m:dPr>
                        <m:sepChr m:val=","/>
                        <m:ctrlPr>
                          <a:rPr lang="ar-AE" sz="800" i="1">
                            <a:solidFill>
                              <a:schemeClr val="tx1"/>
                            </a:solidFill>
                            <a:latin typeface="Cambria Math" panose="02040503050406030204" pitchFamily="18" charset="0"/>
                          </a:rPr>
                        </m:ctrlPr>
                      </m:dPr>
                      <m:e>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𝑆</m:t>
                            </m:r>
                          </m:e>
                          <m:sub>
                            <m:r>
                              <a:rPr lang="ar-AE" sz="800" i="1">
                                <a:solidFill>
                                  <a:schemeClr val="tx1"/>
                                </a:solidFill>
                                <a:latin typeface="Cambria Math" panose="02040503050406030204" pitchFamily="18" charset="0"/>
                              </a:rPr>
                              <m:t>𝑇</m:t>
                            </m:r>
                          </m:sub>
                        </m:sSub>
                      </m:e>
                      <m:e>
                        <m:r>
                          <a:rPr lang="ar-AE" sz="800" i="0">
                            <a:solidFill>
                              <a:schemeClr val="tx1"/>
                            </a:solidFill>
                            <a:latin typeface="Cambria Math" panose="02040503050406030204" pitchFamily="18" charset="0"/>
                          </a:rPr>
                          <m:t>−</m:t>
                        </m:r>
                        <m:r>
                          <a:rPr lang="ar-AE" sz="800" i="1">
                            <a:solidFill>
                              <a:schemeClr val="tx1"/>
                            </a:solidFill>
                            <a:latin typeface="Cambria Math" panose="02040503050406030204" pitchFamily="18" charset="0"/>
                          </a:rPr>
                          <m:t>𝐾</m:t>
                        </m:r>
                        <m:r>
                          <a:rPr lang="ar-AE" sz="800" i="0">
                            <a:solidFill>
                              <a:schemeClr val="tx1"/>
                            </a:solidFill>
                            <a:latin typeface="Cambria Math" panose="02040503050406030204" pitchFamily="18" charset="0"/>
                          </a:rPr>
                          <m:t>0</m:t>
                        </m:r>
                      </m:e>
                    </m:d>
                  </m:oMath>
                </a14:m>
                <a:r>
                  <a:rPr lang="ar-AE" sz="800" b="0" i="0" dirty="0">
                    <a:solidFill>
                      <a:schemeClr val="tx1"/>
                    </a:solidFill>
                    <a:effectLst/>
                    <a:latin typeface="Segoe WPC"/>
                  </a:rPr>
                  <a:t>; </a:t>
                </a:r>
                <a:r>
                  <a:rPr lang="es-PE" sz="800" b="0" i="0" dirty="0" err="1">
                    <a:solidFill>
                      <a:schemeClr val="tx1"/>
                    </a:solidFill>
                    <a:effectLst/>
                    <a:latin typeface="Segoe WPC"/>
                  </a:rPr>
                  <a:t>Put</a:t>
                </a:r>
                <a:r>
                  <a:rPr lang="es-PE" sz="800" b="0" i="0" dirty="0">
                    <a:solidFill>
                      <a:schemeClr val="tx1"/>
                    </a:solidFill>
                    <a:effectLst/>
                    <a:latin typeface="Segoe WPC"/>
                  </a:rPr>
                  <a:t>: </a:t>
                </a:r>
                <a14:m>
                  <m:oMath xmlns:m="http://schemas.openxmlformats.org/officeDocument/2006/math">
                    <m:r>
                      <m:rPr>
                        <m:sty m:val="p"/>
                      </m:rPr>
                      <a:rPr lang="es-PE" sz="800">
                        <a:solidFill>
                          <a:schemeClr val="tx1"/>
                        </a:solidFill>
                        <a:latin typeface="Cambria Math" panose="02040503050406030204" pitchFamily="18" charset="0"/>
                      </a:rPr>
                      <m:t>max</m:t>
                    </m:r>
                    <m:r>
                      <a:rPr lang="es-PE" sz="800" i="0">
                        <a:solidFill>
                          <a:schemeClr val="tx1"/>
                        </a:solidFill>
                        <a:latin typeface="Cambria Math" panose="02040503050406030204" pitchFamily="18" charset="0"/>
                      </a:rPr>
                      <m:t>⁡</m:t>
                    </m:r>
                    <m:d>
                      <m:dPr>
                        <m:sepChr m:val=","/>
                        <m:ctrlPr>
                          <a:rPr lang="ar-AE" sz="800" i="1">
                            <a:solidFill>
                              <a:schemeClr val="tx1"/>
                            </a:solidFill>
                            <a:latin typeface="Cambria Math" panose="02040503050406030204" pitchFamily="18" charset="0"/>
                          </a:rPr>
                        </m:ctrlPr>
                      </m:dPr>
                      <m:e>
                        <m:r>
                          <a:rPr lang="ar-AE" sz="800" i="1">
                            <a:solidFill>
                              <a:schemeClr val="tx1"/>
                            </a:solidFill>
                            <a:latin typeface="Cambria Math" panose="02040503050406030204" pitchFamily="18" charset="0"/>
                          </a:rPr>
                          <m:t>𝐾</m:t>
                        </m:r>
                      </m:e>
                      <m:e>
                        <m:r>
                          <a:rPr lang="ar-AE" sz="800" i="0">
                            <a:solidFill>
                              <a:schemeClr val="tx1"/>
                            </a:solidFill>
                            <a:latin typeface="Cambria Math" panose="02040503050406030204" pitchFamily="18" charset="0"/>
                          </a:rPr>
                          <m:t>−</m:t>
                        </m:r>
                        <m:sSub>
                          <m:sSubPr>
                            <m:ctrlPr>
                              <a:rPr lang="ar-AE" sz="800" i="1">
                                <a:solidFill>
                                  <a:schemeClr val="tx1"/>
                                </a:solidFill>
                                <a:latin typeface="Cambria Math" panose="02040503050406030204" pitchFamily="18" charset="0"/>
                              </a:rPr>
                            </m:ctrlPr>
                          </m:sSubPr>
                          <m:e>
                            <m:r>
                              <a:rPr lang="ar-AE" sz="800" i="1">
                                <a:solidFill>
                                  <a:schemeClr val="tx1"/>
                                </a:solidFill>
                                <a:latin typeface="Cambria Math" panose="02040503050406030204" pitchFamily="18" charset="0"/>
                              </a:rPr>
                              <m:t>𝑆</m:t>
                            </m:r>
                          </m:e>
                          <m:sub>
                            <m:r>
                              <a:rPr lang="ar-AE" sz="800" i="1">
                                <a:solidFill>
                                  <a:schemeClr val="tx1"/>
                                </a:solidFill>
                                <a:latin typeface="Cambria Math" panose="02040503050406030204" pitchFamily="18" charset="0"/>
                              </a:rPr>
                              <m:t>𝑇</m:t>
                            </m:r>
                          </m:sub>
                        </m:sSub>
                        <m:r>
                          <a:rPr lang="ar-AE" sz="800" i="0">
                            <a:solidFill>
                              <a:schemeClr val="tx1"/>
                            </a:solidFill>
                            <a:latin typeface="Cambria Math" panose="02040503050406030204" pitchFamily="18" charset="0"/>
                          </a:rPr>
                          <m:t>0</m:t>
                        </m:r>
                      </m:e>
                    </m:d>
                  </m:oMath>
                </a14:m>
                <a:r>
                  <a:rPr lang="ar-AE" sz="800" b="0" i="0" dirty="0">
                    <a:solidFill>
                      <a:schemeClr val="tx1"/>
                    </a:solidFill>
                    <a:effectLst/>
                    <a:latin typeface="Segoe WPC"/>
                  </a:rPr>
                  <a:t>.</a:t>
                </a:r>
                <a:br>
                  <a:rPr lang="ar-AE" sz="800" b="0" i="0" dirty="0">
                    <a:solidFill>
                      <a:schemeClr val="tx1"/>
                    </a:solidFill>
                    <a:effectLst/>
                    <a:latin typeface="Segoe WPC"/>
                  </a:rPr>
                </a:br>
                <a:r>
                  <a:rPr lang="es-PE" sz="800" b="1" i="0" dirty="0" err="1">
                    <a:solidFill>
                      <a:schemeClr val="tx1"/>
                    </a:solidFill>
                    <a:effectLst/>
                    <a:latin typeface="Segoe WPC"/>
                  </a:rPr>
                  <a:t>Interpretation</a:t>
                </a:r>
                <a:r>
                  <a:rPr lang="es-PE" sz="800" b="1" i="0" dirty="0">
                    <a:solidFill>
                      <a:schemeClr val="tx1"/>
                    </a:solidFill>
                    <a:effectLst/>
                    <a:latin typeface="Segoe WPC"/>
                  </a:rPr>
                  <a:t>:</a:t>
                </a:r>
                <a:r>
                  <a:rPr lang="es-PE" sz="800" b="0" i="0" dirty="0">
                    <a:solidFill>
                      <a:schemeClr val="tx1"/>
                    </a:solidFill>
                    <a:effectLst/>
                    <a:latin typeface="Segoe WPC"/>
                  </a:rPr>
                  <a:t> El árbol binomial funciona igual para </a:t>
                </a:r>
                <a:r>
                  <a:rPr lang="es-PE" sz="800" b="0" i="0" dirty="0" err="1">
                    <a:solidFill>
                      <a:schemeClr val="tx1"/>
                    </a:solidFill>
                    <a:effectLst/>
                    <a:latin typeface="Segoe WPC"/>
                  </a:rPr>
                  <a:t>calls</a:t>
                </a:r>
                <a:r>
                  <a:rPr lang="es-PE" sz="800" b="0" i="0" dirty="0">
                    <a:solidFill>
                      <a:schemeClr val="tx1"/>
                    </a:solidFill>
                    <a:effectLst/>
                    <a:latin typeface="Segoe WPC"/>
                  </a:rPr>
                  <a:t> y </a:t>
                </a:r>
                <a:r>
                  <a:rPr lang="es-PE" sz="800" b="0" i="0" dirty="0" err="1">
                    <a:solidFill>
                      <a:schemeClr val="tx1"/>
                    </a:solidFill>
                    <a:effectLst/>
                    <a:latin typeface="Segoe WPC"/>
                  </a:rPr>
                  <a:t>puts</a:t>
                </a:r>
                <a:r>
                  <a:rPr lang="es-PE" sz="800" b="0" i="0" dirty="0">
                    <a:solidFill>
                      <a:schemeClr val="tx1"/>
                    </a:solidFill>
                    <a:effectLst/>
                    <a:latin typeface="Segoe WPC"/>
                  </a:rPr>
                  <a:t>; solo cambia el </a:t>
                </a:r>
                <a:r>
                  <a:rPr lang="es-PE" sz="800" b="0" i="0" dirty="0" err="1">
                    <a:solidFill>
                      <a:schemeClr val="tx1"/>
                    </a:solidFill>
                    <a:effectLst/>
                    <a:latin typeface="Segoe WPC"/>
                  </a:rPr>
                  <a:t>payoff</a:t>
                </a:r>
                <a:r>
                  <a:rPr lang="es-PE" sz="800" b="0" i="0" dirty="0">
                    <a:solidFill>
                      <a:schemeClr val="tx1"/>
                    </a:solidFill>
                    <a:effectLst/>
                    <a:latin typeface="Segoe WPC"/>
                  </a:rPr>
                  <a:t> terminal.</a:t>
                </a:r>
                <a:br>
                  <a:rPr lang="es-PE" sz="800" b="0" i="0" dirty="0">
                    <a:solidFill>
                      <a:schemeClr val="tx1"/>
                    </a:solidFill>
                    <a:effectLst/>
                    <a:latin typeface="Segoe WPC"/>
                  </a:rPr>
                </a:br>
                <a:r>
                  <a:rPr lang="es-PE" sz="800" b="1" i="0" dirty="0" err="1">
                    <a:solidFill>
                      <a:schemeClr val="tx1"/>
                    </a:solidFill>
                    <a:effectLst/>
                    <a:latin typeface="Segoe WPC"/>
                  </a:rPr>
                  <a:t>Exam</a:t>
                </a:r>
                <a:r>
                  <a:rPr lang="es-PE" sz="800" b="1" i="0" dirty="0">
                    <a:solidFill>
                      <a:schemeClr val="tx1"/>
                    </a:solidFill>
                    <a:effectLst/>
                    <a:latin typeface="Segoe WPC"/>
                  </a:rPr>
                  <a:t> </a:t>
                </a:r>
                <a:r>
                  <a:rPr lang="es-PE" sz="800" b="1" i="0" dirty="0" err="1">
                    <a:solidFill>
                      <a:schemeClr val="tx1"/>
                    </a:solidFill>
                    <a:effectLst/>
                    <a:latin typeface="Segoe WPC"/>
                  </a:rPr>
                  <a:t>Trap</a:t>
                </a:r>
                <a:r>
                  <a:rPr lang="es-PE" sz="800" b="1" i="0" dirty="0">
                    <a:solidFill>
                      <a:schemeClr val="tx1"/>
                    </a:solidFill>
                    <a:effectLst/>
                    <a:latin typeface="Segoe WPC"/>
                  </a:rPr>
                  <a:t>:</a:t>
                </a:r>
                <a:r>
                  <a:rPr lang="es-PE" sz="800" b="0" i="0" dirty="0">
                    <a:solidFill>
                      <a:schemeClr val="tx1"/>
                    </a:solidFill>
                    <a:effectLst/>
                    <a:latin typeface="Segoe WPC"/>
                  </a:rPr>
                  <a:t> Una </a:t>
                </a:r>
                <a:r>
                  <a:rPr lang="es-PE" sz="800" b="0" i="0" dirty="0" err="1">
                    <a:solidFill>
                      <a:schemeClr val="tx1"/>
                    </a:solidFill>
                    <a:effectLst/>
                    <a:latin typeface="Segoe WPC"/>
                  </a:rPr>
                  <a:t>put</a:t>
                </a:r>
                <a:r>
                  <a:rPr lang="es-PE" sz="800" b="0" i="0" dirty="0">
                    <a:solidFill>
                      <a:schemeClr val="tx1"/>
                    </a:solidFill>
                    <a:effectLst/>
                    <a:latin typeface="Segoe WPC"/>
                  </a:rPr>
                  <a:t> puede tener retorno esperado negativo en el mundo real y aun así estar correctamente valuada.</a:t>
                </a:r>
              </a:p>
            </p:txBody>
          </p:sp>
        </mc:Choice>
        <mc:Fallback xmlns="">
          <p:sp>
            <p:nvSpPr>
              <p:cNvPr id="5" name="CuadroTexto 4">
                <a:extLst>
                  <a:ext uri="{FF2B5EF4-FFF2-40B4-BE49-F238E27FC236}">
                    <a16:creationId xmlns:a16="http://schemas.microsoft.com/office/drawing/2014/main" id="{F4F3852F-A036-6704-5763-510A51C58D69}"/>
                  </a:ext>
                </a:extLst>
              </p:cNvPr>
              <p:cNvSpPr txBox="1">
                <a:spLocks noRot="1" noChangeAspect="1" noMove="1" noResize="1" noEditPoints="1" noAdjustHandles="1" noChangeArrowheads="1" noChangeShapeType="1" noTextEdit="1"/>
              </p:cNvSpPr>
              <p:nvPr/>
            </p:nvSpPr>
            <p:spPr>
              <a:xfrm>
                <a:off x="0" y="941043"/>
                <a:ext cx="6096000" cy="4975914"/>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B37B3D69-4A94-C806-2738-B5FF16E341F5}"/>
                  </a:ext>
                </a:extLst>
              </p:cNvPr>
              <p:cNvSpPr txBox="1"/>
              <p:nvPr/>
            </p:nvSpPr>
            <p:spPr>
              <a:xfrm>
                <a:off x="5987144" y="293526"/>
                <a:ext cx="6204856" cy="6270947"/>
              </a:xfrm>
              <a:prstGeom prst="rect">
                <a:avLst/>
              </a:prstGeom>
              <a:noFill/>
            </p:spPr>
            <p:txBody>
              <a:bodyPr wrap="square">
                <a:spAutoFit/>
              </a:bodyPr>
              <a:lstStyle/>
              <a:p>
                <a:pPr algn="l">
                  <a:spcBef>
                    <a:spcPts val="300"/>
                  </a:spcBef>
                  <a:spcAft>
                    <a:spcPts val="300"/>
                  </a:spcAft>
                  <a:buFont typeface="+mj-lt"/>
                  <a:buAutoNum type="arabicPeriod"/>
                </a:pPr>
                <a:r>
                  <a:rPr lang="es-PE" sz="900" b="1" i="0" dirty="0">
                    <a:solidFill>
                      <a:schemeClr val="tx1"/>
                    </a:solidFill>
                    <a:effectLst/>
                    <a:latin typeface="Segoe WPC"/>
                  </a:rPr>
                  <a:t>Multi-Step </a:t>
                </a:r>
                <a:r>
                  <a:rPr lang="es-PE" sz="900" b="1" i="0" dirty="0" err="1">
                    <a:solidFill>
                      <a:schemeClr val="tx1"/>
                    </a:solidFill>
                    <a:effectLst/>
                    <a:latin typeface="Segoe WPC"/>
                  </a:rPr>
                  <a:t>Trees</a:t>
                </a:r>
                <a:r>
                  <a:rPr lang="es-PE" sz="900" b="1" i="0" dirty="0">
                    <a:solidFill>
                      <a:schemeClr val="tx1"/>
                    </a:solidFill>
                    <a:effectLst/>
                    <a:latin typeface="Segoe WPC"/>
                  </a:rPr>
                  <a:t> and </a:t>
                </a:r>
                <a:r>
                  <a:rPr lang="es-PE" sz="900" b="1" i="0" dirty="0" err="1">
                    <a:solidFill>
                      <a:schemeClr val="tx1"/>
                    </a:solidFill>
                    <a:effectLst/>
                    <a:latin typeface="Segoe WPC"/>
                  </a:rPr>
                  <a:t>Volatility</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Extensión del árbol a muchos pasos pequeños para aproximar mejor el movimiento del activo.</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Cuantos más pasos, más realista y precisa la valoración.</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Cada nodo vuelve a bifurcarse en un movimiento up y uno </a:t>
                </a:r>
                <a:r>
                  <a:rPr lang="es-PE" sz="900" b="0" i="0" dirty="0" err="1">
                    <a:solidFill>
                      <a:schemeClr val="tx1"/>
                    </a:solidFill>
                    <a:effectLst/>
                    <a:latin typeface="Segoe WPC"/>
                  </a:rPr>
                  <a:t>down</a:t>
                </a:r>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𝑢</m:t>
                    </m:r>
                    <m:r>
                      <a:rPr lang="es-P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1">
                            <a:solidFill>
                              <a:schemeClr val="tx1"/>
                            </a:solidFill>
                            <a:latin typeface="Cambria Math" panose="02040503050406030204" pitchFamily="18" charset="0"/>
                          </a:rPr>
                          <m:t>𝜎</m:t>
                        </m:r>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𝑡</m:t>
                            </m:r>
                          </m:e>
                        </m:rad>
                      </m:sup>
                    </m:sSup>
                  </m:oMath>
                </a14:m>
                <a:r>
                  <a:rPr lang="ar-AE" sz="900" b="0" i="0" dirty="0">
                    <a:solidFill>
                      <a:schemeClr val="tx1"/>
                    </a:solidFill>
                    <a:effectLst/>
                    <a:latin typeface="Segoe WPC"/>
                  </a:rPr>
                  <a:t> </a:t>
                </a:r>
                <a:r>
                  <a:rPr lang="es-PE" sz="900" b="0" i="0" dirty="0">
                    <a:solidFill>
                      <a:schemeClr val="tx1"/>
                    </a:solidFill>
                    <a:effectLst/>
                    <a:latin typeface="Segoe WPC"/>
                  </a:rPr>
                  <a:t>y </a:t>
                </a:r>
                <a14:m>
                  <m:oMath xmlns:m="http://schemas.openxmlformats.org/officeDocument/2006/math">
                    <m:r>
                      <a:rPr lang="es-PE" sz="900" i="1">
                        <a:solidFill>
                          <a:schemeClr val="tx1"/>
                        </a:solidFill>
                        <a:latin typeface="Cambria Math" panose="02040503050406030204" pitchFamily="18" charset="0"/>
                      </a:rPr>
                      <m:t>𝑑</m:t>
                    </m:r>
                    <m:r>
                      <a:rPr lang="es-P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𝜎</m:t>
                        </m:r>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𝑡</m:t>
                            </m:r>
                          </m:e>
                        </m:rad>
                      </m:sup>
                    </m:sSup>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La volatilidad </a:t>
                </a:r>
                <a14:m>
                  <m:oMath xmlns:m="http://schemas.openxmlformats.org/officeDocument/2006/math">
                    <m:r>
                      <a:rPr lang="es-PE" sz="900" i="1">
                        <a:solidFill>
                          <a:schemeClr val="tx1"/>
                        </a:solidFill>
                        <a:latin typeface="Cambria Math" panose="02040503050406030204" pitchFamily="18" charset="0"/>
                      </a:rPr>
                      <m:t>𝜎</m:t>
                    </m:r>
                  </m:oMath>
                </a14:m>
                <a:r>
                  <a:rPr lang="es-PE" sz="900" b="0" i="0" dirty="0">
                    <a:solidFill>
                      <a:schemeClr val="tx1"/>
                    </a:solidFill>
                    <a:effectLst/>
                    <a:latin typeface="Segoe WPC"/>
                  </a:rPr>
                  <a:t> determina el tamaño de los movimientos del árbol.</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confundir </a:t>
                </a:r>
                <a14:m>
                  <m:oMath xmlns:m="http://schemas.openxmlformats.org/officeDocument/2006/math">
                    <m:r>
                      <a:rPr lang="es-PE" sz="900" i="1">
                        <a:solidFill>
                          <a:schemeClr val="tx1"/>
                        </a:solidFill>
                        <a:latin typeface="Cambria Math" panose="02040503050406030204" pitchFamily="18" charset="0"/>
                      </a:rPr>
                      <m:t>𝑟</m:t>
                    </m:r>
                  </m:oMath>
                </a14:m>
                <a:r>
                  <a:rPr lang="es-PE" sz="900" b="0" i="0" dirty="0">
                    <a:solidFill>
                      <a:schemeClr val="tx1"/>
                    </a:solidFill>
                    <a:effectLst/>
                    <a:latin typeface="Segoe WPC"/>
                  </a:rPr>
                  <a:t> con </a:t>
                </a:r>
                <a14:m>
                  <m:oMath xmlns:m="http://schemas.openxmlformats.org/officeDocument/2006/math">
                    <m:r>
                      <a:rPr lang="es-PE" sz="900" i="1">
                        <a:solidFill>
                          <a:schemeClr val="tx1"/>
                        </a:solidFill>
                        <a:latin typeface="Cambria Math" panose="02040503050406030204" pitchFamily="18" charset="0"/>
                      </a:rPr>
                      <m:t>𝜎</m:t>
                    </m:r>
                  </m:oMath>
                </a14:m>
                <a:r>
                  <a:rPr lang="es-PE" sz="900" b="0" i="0" dirty="0">
                    <a:solidFill>
                      <a:schemeClr val="tx1"/>
                    </a:solidFill>
                    <a:effectLst/>
                    <a:latin typeface="Segoe WPC"/>
                  </a:rPr>
                  <a:t>; la tasa libre de riesgo descuenta y la volatilidad determina la amplitud del árbol.</a:t>
                </a:r>
              </a:p>
              <a:p>
                <a:pPr algn="l">
                  <a:spcBef>
                    <a:spcPts val="300"/>
                  </a:spcBef>
                  <a:spcAft>
                    <a:spcPts val="300"/>
                  </a:spcAft>
                  <a:buFont typeface="+mj-lt"/>
                  <a:buAutoNum type="arabicPeriod"/>
                </a:pPr>
                <a:r>
                  <a:rPr lang="es-PE" sz="900" b="1" i="0" dirty="0" err="1">
                    <a:solidFill>
                      <a:schemeClr val="tx1"/>
                    </a:solidFill>
                    <a:effectLst/>
                    <a:latin typeface="Segoe WPC"/>
                  </a:rPr>
                  <a:t>Backward</a:t>
                </a:r>
                <a:r>
                  <a:rPr lang="es-PE" sz="900" b="1" i="0" dirty="0">
                    <a:solidFill>
                      <a:schemeClr val="tx1"/>
                    </a:solidFill>
                    <a:effectLst/>
                    <a:latin typeface="Segoe WPC"/>
                  </a:rPr>
                  <a:t> </a:t>
                </a:r>
                <a:r>
                  <a:rPr lang="es-PE" sz="900" b="1" i="0" dirty="0" err="1">
                    <a:solidFill>
                      <a:schemeClr val="tx1"/>
                    </a:solidFill>
                    <a:effectLst/>
                    <a:latin typeface="Segoe WPC"/>
                  </a:rPr>
                  <a:t>Induction</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Procedimiento para valorar la opción retrocediendo desde los nodos finales hasta el inicial.</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cada nodo tomas el valor esperado </a:t>
                </a:r>
                <a:r>
                  <a:rPr lang="es-PE" sz="900" b="0" i="0" dirty="0" err="1">
                    <a:solidFill>
                      <a:schemeClr val="tx1"/>
                    </a:solidFill>
                    <a:effectLst/>
                    <a:latin typeface="Segoe WPC"/>
                  </a:rPr>
                  <a:t>risk</a:t>
                </a:r>
                <a:r>
                  <a:rPr lang="es-PE" sz="900" b="0" i="0" dirty="0">
                    <a:solidFill>
                      <a:schemeClr val="tx1"/>
                    </a:solidFill>
                    <a:effectLst/>
                    <a:latin typeface="Segoe WPC"/>
                  </a:rPr>
                  <a:t>-neutral descontado del siguiente período.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“Enrollas” el árbol de derecha a izquierda.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𝑓</m:t>
                    </m:r>
                    <m:r>
                      <a:rPr lang="es-P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𝑟</m:t>
                        </m:r>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𝑡</m:t>
                        </m:r>
                      </m:sup>
                    </m:sSup>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𝑝</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1">
                                <a:solidFill>
                                  <a:schemeClr val="tx1"/>
                                </a:solidFill>
                                <a:latin typeface="Cambria Math" panose="02040503050406030204" pitchFamily="18" charset="0"/>
                              </a:rPr>
                              <m:t>𝑢</m:t>
                            </m:r>
                          </m:sub>
                        </m:sSub>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e>
                        </m:d>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1">
                                <a:solidFill>
                                  <a:schemeClr val="tx1"/>
                                </a:solidFill>
                                <a:latin typeface="Cambria Math" panose="02040503050406030204" pitchFamily="18" charset="0"/>
                              </a:rPr>
                              <m:t>𝑑</m:t>
                            </m:r>
                          </m:sub>
                        </m:sSub>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Este procedimiento da el precio hoy del derivado.</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En árboles recombinantes, un movimiento up seguido de </a:t>
                </a:r>
                <a:r>
                  <a:rPr lang="es-PE" sz="900" b="0" i="0" dirty="0" err="1">
                    <a:solidFill>
                      <a:schemeClr val="tx1"/>
                    </a:solidFill>
                    <a:effectLst/>
                    <a:latin typeface="Segoe WPC"/>
                  </a:rPr>
                  <a:t>down</a:t>
                </a:r>
                <a:r>
                  <a:rPr lang="es-PE" sz="900" b="0" i="0" dirty="0">
                    <a:solidFill>
                      <a:schemeClr val="tx1"/>
                    </a:solidFill>
                    <a:effectLst/>
                    <a:latin typeface="Segoe WPC"/>
                  </a:rPr>
                  <a:t> llega al mismo nodo que </a:t>
                </a:r>
                <a:r>
                  <a:rPr lang="es-PE" sz="900" b="0" i="0" dirty="0" err="1">
                    <a:solidFill>
                      <a:schemeClr val="tx1"/>
                    </a:solidFill>
                    <a:effectLst/>
                    <a:latin typeface="Segoe WPC"/>
                  </a:rPr>
                  <a:t>down</a:t>
                </a:r>
                <a:r>
                  <a:rPr lang="es-PE" sz="900" b="0" i="0" dirty="0">
                    <a:solidFill>
                      <a:schemeClr val="tx1"/>
                    </a:solidFill>
                    <a:effectLst/>
                    <a:latin typeface="Segoe WPC"/>
                  </a:rPr>
                  <a:t> seguido de up.</a:t>
                </a:r>
              </a:p>
              <a:p>
                <a:pPr algn="l">
                  <a:spcBef>
                    <a:spcPts val="300"/>
                  </a:spcBef>
                  <a:spcAft>
                    <a:spcPts val="300"/>
                  </a:spcAft>
                  <a:buFont typeface="+mj-lt"/>
                  <a:buAutoNum type="arabicPeriod"/>
                </a:pPr>
                <a:r>
                  <a:rPr lang="es-PE" sz="900" b="1" i="0" dirty="0">
                    <a:solidFill>
                      <a:schemeClr val="tx1"/>
                    </a:solidFill>
                    <a:effectLst/>
                    <a:latin typeface="Segoe WPC"/>
                  </a:rPr>
                  <a:t>American vs </a:t>
                </a:r>
                <a:r>
                  <a:rPr lang="es-PE" sz="900" b="1" i="0" dirty="0" err="1">
                    <a:solidFill>
                      <a:schemeClr val="tx1"/>
                    </a:solidFill>
                    <a:effectLst/>
                    <a:latin typeface="Segoe WPC"/>
                  </a:rPr>
                  <a:t>European</a:t>
                </a:r>
                <a:r>
                  <a:rPr lang="es-PE" sz="900" b="1" i="0" dirty="0">
                    <a:solidFill>
                      <a:schemeClr val="tx1"/>
                    </a:solidFill>
                    <a:effectLst/>
                    <a:latin typeface="Segoe WPC"/>
                  </a:rPr>
                  <a:t> </a:t>
                </a:r>
                <a:r>
                  <a:rPr lang="es-PE" sz="900" b="1" i="0" dirty="0" err="1">
                    <a:solidFill>
                      <a:schemeClr val="tx1"/>
                    </a:solidFill>
                    <a:effectLst/>
                    <a:latin typeface="Segoe WPC"/>
                  </a:rPr>
                  <a:t>Options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Diferencia entre opciones que solo se ejercen al vencimiento y opciones que pueden ejercerse anticipadamente.</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una americana, en cada nodo comparas ejercer ahora contra seguir esperando.</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En algunos nodos conviene cortar el árbol y ejercer ya.</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Valor en un nodo americano: </a:t>
                </a:r>
                <a14:m>
                  <m:oMath xmlns:m="http://schemas.openxmlformats.org/officeDocument/2006/math">
                    <m:r>
                      <m:rPr>
                        <m:sty m:val="p"/>
                      </m:rPr>
                      <a:rPr lang="es-PE" sz="900">
                        <a:solidFill>
                          <a:schemeClr val="tx1"/>
                        </a:solidFill>
                        <a:latin typeface="Cambria Math" panose="02040503050406030204" pitchFamily="18" charset="0"/>
                      </a:rPr>
                      <m:t>max</m:t>
                    </m:r>
                    <m:r>
                      <a:rPr lang="es-PE" sz="900" i="0">
                        <a:solidFill>
                          <a:schemeClr val="tx1"/>
                        </a:solidFill>
                        <a:latin typeface="Cambria Math" panose="02040503050406030204" pitchFamily="18" charset="0"/>
                      </a:rPr>
                      <m:t>⁡</m:t>
                    </m:r>
                    <m:d>
                      <m:dPr>
                        <m:sepChr m:val=","/>
                        <m:ctrlPr>
                          <a:rPr lang="ar-AE" sz="900" i="1">
                            <a:solidFill>
                              <a:schemeClr val="tx1"/>
                            </a:solidFill>
                            <a:latin typeface="Cambria Math" panose="02040503050406030204" pitchFamily="18" charset="0"/>
                          </a:rPr>
                        </m:ctrlPr>
                      </m:dPr>
                      <m:e>
                        <m:r>
                          <m:rPr>
                            <m:nor/>
                          </m:rPr>
                          <a:rPr lang="es-PE" sz="900" b="0" i="1">
                            <a:solidFill>
                              <a:schemeClr val="tx1"/>
                            </a:solidFill>
                            <a:latin typeface="Cambria Math" panose="02040503050406030204" pitchFamily="18" charset="0"/>
                          </a:rPr>
                          <m:t>intrinsic</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value</m:t>
                        </m:r>
                      </m:e>
                      <m:e>
                        <m:r>
                          <m:rPr>
                            <m:nor/>
                          </m:rPr>
                          <a:rPr lang="es-PE" sz="900" b="0" i="1">
                            <a:solidFill>
                              <a:schemeClr val="tx1"/>
                            </a:solidFill>
                            <a:latin typeface="Cambria Math" panose="02040503050406030204" pitchFamily="18" charset="0"/>
                          </a:rPr>
                          <m:t>continuation</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value</m:t>
                        </m:r>
                      </m:e>
                    </m:d>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Por eso el árbol binomial es especialmente útil para opciones americanas.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Una </a:t>
                </a:r>
                <a:r>
                  <a:rPr lang="es-PE" sz="900" b="0" i="0" dirty="0" err="1">
                    <a:solidFill>
                      <a:schemeClr val="tx1"/>
                    </a:solidFill>
                    <a:effectLst/>
                    <a:latin typeface="Segoe WPC"/>
                  </a:rPr>
                  <a:t>call</a:t>
                </a:r>
                <a:r>
                  <a:rPr lang="es-PE" sz="900" b="0" i="0" dirty="0">
                    <a:solidFill>
                      <a:schemeClr val="tx1"/>
                    </a:solidFill>
                    <a:effectLst/>
                    <a:latin typeface="Segoe WPC"/>
                  </a:rPr>
                  <a:t> americana sobre una acción sin dividendos no debería ejercerse anticipadamente.</a:t>
                </a:r>
              </a:p>
              <a:p>
                <a:pPr algn="l">
                  <a:spcBef>
                    <a:spcPts val="300"/>
                  </a:spcBef>
                  <a:spcAft>
                    <a:spcPts val="300"/>
                  </a:spcAft>
                  <a:buFont typeface="+mj-lt"/>
                  <a:buAutoNum type="arabicPeriod"/>
                </a:pPr>
                <a:r>
                  <a:rPr lang="es-PE" sz="900" b="1" i="0" dirty="0" err="1">
                    <a:solidFill>
                      <a:schemeClr val="tx1"/>
                    </a:solidFill>
                    <a:effectLst/>
                    <a:latin typeface="Segoe WPC"/>
                  </a:rPr>
                  <a:t>Convergence</a:t>
                </a:r>
                <a:r>
                  <a:rPr lang="es-PE" sz="900" b="1" i="0" dirty="0">
                    <a:solidFill>
                      <a:schemeClr val="tx1"/>
                    </a:solidFill>
                    <a:effectLst/>
                    <a:latin typeface="Segoe WPC"/>
                  </a:rPr>
                  <a:t> and Delta</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Convergencia del árbol al aumentar los pasos y cálculo de la sensibilidad de la opción.</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Más pasos mejoran la aproximación; además, el árbol permite calcular delta directamente.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árbol discreto se acerca progresivamente a un modelo continuo y la pendiente local da la sensibilidad.</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𝛥</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1">
                                <a:solidFill>
                                  <a:schemeClr val="tx1"/>
                                </a:solidFill>
                                <a:latin typeface="Cambria Math" panose="02040503050406030204" pitchFamily="18" charset="0"/>
                              </a:rPr>
                              <m:t>𝑢</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𝑓</m:t>
                            </m:r>
                          </m:e>
                          <m:sub>
                            <m:r>
                              <a:rPr lang="ar-AE" sz="900" i="1">
                                <a:solidFill>
                                  <a:schemeClr val="tx1"/>
                                </a:solidFill>
                                <a:latin typeface="Cambria Math" panose="02040503050406030204" pitchFamily="18" charset="0"/>
                              </a:rPr>
                              <m:t>𝑑</m:t>
                            </m:r>
                          </m:sub>
                        </m:sSub>
                      </m:num>
                      <m:den>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𝑢</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𝑑</m:t>
                            </m:r>
                          </m:sub>
                        </m:sSub>
                      </m:den>
                    </m:f>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Delta indica cuánto cambia aproximadamente el valor de la opción ante un pequeño cambio en el subyacente.</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Delta no es constante; cambia de nodo a nodo y con el tiempo.</a:t>
                </a:r>
              </a:p>
              <a:p>
                <a:pPr algn="l">
                  <a:spcBef>
                    <a:spcPts val="300"/>
                  </a:spcBef>
                  <a:spcAft>
                    <a:spcPts val="300"/>
                  </a:spcAft>
                  <a:buFont typeface="+mj-lt"/>
                  <a:buAutoNum type="arabicPeriod"/>
                </a:pPr>
                <a:r>
                  <a:rPr lang="es-PE" sz="900" b="1" i="0" dirty="0" err="1">
                    <a:solidFill>
                      <a:schemeClr val="tx1"/>
                    </a:solidFill>
                    <a:effectLst/>
                    <a:latin typeface="Segoe WPC"/>
                  </a:rPr>
                  <a:t>Dividends</a:t>
                </a:r>
                <a:r>
                  <a:rPr lang="es-PE" sz="900" b="1" i="0" dirty="0">
                    <a:solidFill>
                      <a:schemeClr val="tx1"/>
                    </a:solidFill>
                    <a:effectLst/>
                    <a:latin typeface="Segoe WPC"/>
                  </a:rPr>
                  <a:t>, </a:t>
                </a:r>
                <a:r>
                  <a:rPr lang="es-PE" sz="900" b="1" i="0" dirty="0" err="1">
                    <a:solidFill>
                      <a:schemeClr val="tx1"/>
                    </a:solidFill>
                    <a:effectLst/>
                    <a:latin typeface="Segoe WPC"/>
                  </a:rPr>
                  <a:t>Indices</a:t>
                </a:r>
                <a:r>
                  <a:rPr lang="es-PE" sz="900" b="1" i="0" dirty="0">
                    <a:solidFill>
                      <a:schemeClr val="tx1"/>
                    </a:solidFill>
                    <a:effectLst/>
                    <a:latin typeface="Segoe WPC"/>
                  </a:rPr>
                  <a:t>, </a:t>
                </a:r>
                <a:r>
                  <a:rPr lang="es-PE" sz="900" b="1" i="0" dirty="0" err="1">
                    <a:solidFill>
                      <a:schemeClr val="tx1"/>
                    </a:solidFill>
                    <a:effectLst/>
                    <a:latin typeface="Segoe WPC"/>
                  </a:rPr>
                  <a:t>Currencies</a:t>
                </a:r>
                <a:r>
                  <a:rPr lang="es-PE" sz="900" b="1" i="0" dirty="0">
                    <a:solidFill>
                      <a:schemeClr val="tx1"/>
                    </a:solidFill>
                    <a:effectLst/>
                    <a:latin typeface="Segoe WPC"/>
                  </a:rPr>
                  <a:t>, and Futures</a:t>
                </a:r>
                <a:br>
                  <a:rPr lang="es-PE" sz="900" b="0" i="0" dirty="0">
                    <a:solidFill>
                      <a:schemeClr val="tx1"/>
                    </a:solidFill>
                    <a:effectLst/>
                    <a:latin typeface="Segoe WPC"/>
                  </a:rPr>
                </a:b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Ajustes del árbol cuando el subyacente paga rendimiento continuo o tiene </a:t>
                </a:r>
                <a:r>
                  <a:rPr lang="es-PE" sz="900" b="0" i="0" dirty="0" err="1">
                    <a:solidFill>
                      <a:schemeClr val="tx1"/>
                    </a:solidFill>
                    <a:effectLst/>
                    <a:latin typeface="Segoe WPC"/>
                  </a:rPr>
                  <a:t>carry</a:t>
                </a:r>
                <a:r>
                  <a:rPr lang="es-PE" sz="900" b="0" i="0" dirty="0">
                    <a:solidFill>
                      <a:schemeClr val="tx1"/>
                    </a:solidFill>
                    <a:effectLst/>
                    <a:latin typeface="Segoe WPC"/>
                  </a:rPr>
                  <a:t> especial.</a:t>
                </a:r>
                <a:br>
                  <a:rPr lang="es-PE" sz="900" b="0" i="0" dirty="0">
                    <a:solidFill>
                      <a:schemeClr val="tx1"/>
                    </a:solidFill>
                    <a:effectLst/>
                    <a:latin typeface="Segoe WPC"/>
                  </a:rPr>
                </a:b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Si el activo paga dividendos o tiene un rendimiento equivalente, la probabilidad </a:t>
                </a:r>
                <a:r>
                  <a:rPr lang="es-PE" sz="900" b="0" i="0" dirty="0" err="1">
                    <a:solidFill>
                      <a:schemeClr val="tx1"/>
                    </a:solidFill>
                    <a:effectLst/>
                    <a:latin typeface="Segoe WPC"/>
                  </a:rPr>
                  <a:t>risk</a:t>
                </a:r>
                <a:r>
                  <a:rPr lang="es-PE" sz="900" b="0" i="0" dirty="0">
                    <a:solidFill>
                      <a:schemeClr val="tx1"/>
                    </a:solidFill>
                    <a:effectLst/>
                    <a:latin typeface="Segoe WPC"/>
                  </a:rPr>
                  <a:t>-neutral debe modificarse.</a:t>
                </a:r>
                <a:br>
                  <a:rPr lang="es-PE" sz="900" b="0" i="0" dirty="0">
                    <a:solidFill>
                      <a:schemeClr val="tx1"/>
                    </a:solidFill>
                    <a:effectLst/>
                    <a:latin typeface="Segoe WPC"/>
                  </a:rPr>
                </a:b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El activo ya no crece al ritmo </a:t>
                </a:r>
                <a14:m>
                  <m:oMath xmlns:m="http://schemas.openxmlformats.org/officeDocument/2006/math">
                    <m:r>
                      <a:rPr lang="es-PE" sz="900" i="1">
                        <a:solidFill>
                          <a:schemeClr val="tx1"/>
                        </a:solidFill>
                        <a:latin typeface="Cambria Math" panose="02040503050406030204" pitchFamily="18" charset="0"/>
                      </a:rPr>
                      <m:t>𝑟</m:t>
                    </m:r>
                  </m:oMath>
                </a14:m>
                <a:r>
                  <a:rPr lang="es-PE" sz="900" b="0" i="0" dirty="0">
                    <a:solidFill>
                      <a:schemeClr val="tx1"/>
                    </a:solidFill>
                    <a:effectLst/>
                    <a:latin typeface="Segoe WPC"/>
                  </a:rPr>
                  <a:t>, sino al ritmo neto </a:t>
                </a:r>
                <a14:m>
                  <m:oMath xmlns:m="http://schemas.openxmlformats.org/officeDocument/2006/math">
                    <m:r>
                      <a:rPr lang="es-PE" sz="900" i="1">
                        <a:solidFill>
                          <a:schemeClr val="tx1"/>
                        </a:solidFill>
                        <a:latin typeface="Cambria Math" panose="02040503050406030204" pitchFamily="18" charset="0"/>
                      </a:rPr>
                      <m:t>𝑟</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𝑞</m:t>
                    </m:r>
                  </m:oMath>
                </a14:m>
                <a:r>
                  <a:rPr lang="es-PE" sz="900" b="0" i="0" dirty="0">
                    <a:solidFill>
                      <a:schemeClr val="tx1"/>
                    </a:solidFill>
                    <a:effectLst/>
                    <a:latin typeface="Segoe WPC"/>
                  </a:rPr>
                  <a:t>.</a:t>
                </a:r>
                <a:br>
                  <a:rPr lang="es-PE" sz="900" b="0" i="0" dirty="0">
                    <a:solidFill>
                      <a:schemeClr val="tx1"/>
                    </a:solidFill>
                    <a:effectLst/>
                    <a:latin typeface="Segoe WPC"/>
                  </a:rPr>
                </a:br>
                <a:r>
                  <a:rPr lang="es-PE" sz="900" b="1" i="0" dirty="0">
                    <a:solidFill>
                      <a:schemeClr val="tx1"/>
                    </a:solidFill>
                    <a:effectLst/>
                    <a:latin typeface="Segoe WPC"/>
                  </a:rPr>
                  <a:t>Key Formula:</a:t>
                </a:r>
                <a:r>
                  <a:rPr lang="es-PE" sz="900" b="0" i="0" dirty="0">
                    <a:solidFill>
                      <a:schemeClr val="tx1"/>
                    </a:solidFill>
                    <a:effectLst/>
                    <a:latin typeface="Segoe WPC"/>
                  </a:rPr>
                  <a:t> Con rendimiento continuo </a:t>
                </a:r>
                <a14:m>
                  <m:oMath xmlns:m="http://schemas.openxmlformats.org/officeDocument/2006/math">
                    <m:r>
                      <a:rPr lang="es-PE" sz="900" i="1">
                        <a:solidFill>
                          <a:schemeClr val="tx1"/>
                        </a:solidFill>
                        <a:latin typeface="Cambria Math" panose="02040503050406030204" pitchFamily="18" charset="0"/>
                      </a:rPr>
                      <m:t>𝑞</m:t>
                    </m:r>
                  </m:oMath>
                </a14:m>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𝑝</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𝑟</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𝑞</m:t>
                                </m:r>
                              </m:e>
                            </m:d>
                            <m:r>
                              <a:rPr lang="ar-AE" sz="900" i="1">
                                <a:solidFill>
                                  <a:schemeClr val="tx1"/>
                                </a:solidFill>
                                <a:latin typeface="Cambria Math" panose="02040503050406030204" pitchFamily="18" charset="0"/>
                              </a:rPr>
                              <m:t>𝛥</m:t>
                            </m:r>
                            <m:r>
                              <a:rPr lang="ar-AE" sz="900" i="1">
                                <a:solidFill>
                                  <a:schemeClr val="tx1"/>
                                </a:solidFill>
                                <a:latin typeface="Cambria Math" panose="02040503050406030204" pitchFamily="18" charset="0"/>
                              </a:rPr>
                              <m:t>𝑡</m:t>
                            </m:r>
                          </m:sup>
                        </m:s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𝑑</m:t>
                        </m:r>
                      </m:num>
                      <m:den>
                        <m:r>
                          <a:rPr lang="ar-AE" sz="900" i="1">
                            <a:solidFill>
                              <a:schemeClr val="tx1"/>
                            </a:solidFill>
                            <a:latin typeface="Cambria Math" panose="02040503050406030204" pitchFamily="18" charset="0"/>
                          </a:rPr>
                          <m:t>𝑢</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𝑑</m:t>
                        </m:r>
                      </m:den>
                    </m:f>
                  </m:oMath>
                </a14:m>
                <a:r>
                  <a:rPr lang="ar-AE" sz="900" b="0" i="0" dirty="0">
                    <a:solidFill>
                      <a:schemeClr val="tx1"/>
                    </a:solidFill>
                    <a:effectLst/>
                    <a:latin typeface="Segoe WPC"/>
                  </a:rPr>
                  <a:t>. </a:t>
                </a:r>
                <a:r>
                  <a:rPr lang="es-PE" sz="900" b="0" i="0" dirty="0">
                    <a:solidFill>
                      <a:schemeClr val="tx1"/>
                    </a:solidFill>
                    <a:effectLst/>
                    <a:latin typeface="Segoe WPC"/>
                  </a:rPr>
                  <a:t>Para divisas, </a:t>
                </a:r>
                <a14:m>
                  <m:oMath xmlns:m="http://schemas.openxmlformats.org/officeDocument/2006/math">
                    <m:r>
                      <a:rPr lang="es-PE" sz="900" i="1">
                        <a:solidFill>
                          <a:schemeClr val="tx1"/>
                        </a:solidFill>
                        <a:latin typeface="Cambria Math" panose="02040503050406030204" pitchFamily="18" charset="0"/>
                      </a:rPr>
                      <m:t>𝑞</m:t>
                    </m:r>
                    <m:r>
                      <a:rPr lang="es-P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𝑓</m:t>
                        </m:r>
                      </m:sub>
                    </m:sSub>
                  </m:oMath>
                </a14:m>
                <a:r>
                  <a:rPr lang="ar-AE" sz="900" b="0" i="0" dirty="0">
                    <a:solidFill>
                      <a:schemeClr val="tx1"/>
                    </a:solidFill>
                    <a:effectLst/>
                    <a:latin typeface="Segoe WPC"/>
                  </a:rPr>
                  <a:t>. </a:t>
                </a:r>
                <a:r>
                  <a:rPr lang="es-PE" sz="900" b="0" i="0" dirty="0">
                    <a:solidFill>
                      <a:schemeClr val="tx1"/>
                    </a:solidFill>
                    <a:effectLst/>
                    <a:latin typeface="Segoe WPC"/>
                  </a:rPr>
                  <a:t>Para futuros, </a:t>
                </a:r>
                <a14:m>
                  <m:oMath xmlns:m="http://schemas.openxmlformats.org/officeDocument/2006/math">
                    <m:r>
                      <a:rPr lang="es-PE" sz="900" i="1">
                        <a:solidFill>
                          <a:schemeClr val="tx1"/>
                        </a:solidFill>
                        <a:latin typeface="Cambria Math" panose="02040503050406030204" pitchFamily="18" charset="0"/>
                      </a:rPr>
                      <m:t>𝑞</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𝑟</m:t>
                    </m:r>
                  </m:oMath>
                </a14:m>
                <a:r>
                  <a:rPr lang="es-PE" sz="900" b="0" i="0" dirty="0">
                    <a:solidFill>
                      <a:schemeClr val="tx1"/>
                    </a:solidFill>
                    <a:effectLst/>
                    <a:latin typeface="Segoe WPC"/>
                  </a:rPr>
                  <a:t>, así que </a:t>
                </a:r>
                <a14:m>
                  <m:oMath xmlns:m="http://schemas.openxmlformats.org/officeDocument/2006/math">
                    <m:r>
                      <a:rPr lang="es-PE" sz="900" i="1">
                        <a:solidFill>
                          <a:schemeClr val="tx1"/>
                        </a:solidFill>
                        <a:latin typeface="Cambria Math" panose="02040503050406030204" pitchFamily="18" charset="0"/>
                      </a:rPr>
                      <m:t>𝑝</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𝑑</m:t>
                        </m:r>
                      </m:num>
                      <m:den>
                        <m:r>
                          <a:rPr lang="ar-AE" sz="900" i="1">
                            <a:solidFill>
                              <a:schemeClr val="tx1"/>
                            </a:solidFill>
                            <a:latin typeface="Cambria Math" panose="02040503050406030204" pitchFamily="18" charset="0"/>
                          </a:rPr>
                          <m:t>𝑢</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𝑑</m:t>
                        </m:r>
                      </m:den>
                    </m:f>
                  </m:oMath>
                </a14:m>
                <a:r>
                  <a:rPr lang="ar-AE" sz="900" b="0" i="0" dirty="0">
                    <a:solidFill>
                      <a:schemeClr val="tx1"/>
                    </a:solidFill>
                    <a:effectLst/>
                    <a:latin typeface="Segoe WPC"/>
                  </a:rPr>
                  <a:t>.</a:t>
                </a:r>
                <a:br>
                  <a:rPr lang="ar-AE" sz="900" b="0" i="0" dirty="0">
                    <a:solidFill>
                      <a:schemeClr val="tx1"/>
                    </a:solidFill>
                    <a:effectLst/>
                    <a:latin typeface="Segoe WPC"/>
                  </a:rPr>
                </a:b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Esto permite usar el mismo marco binomial para acciones con dividendos, índices, monedas y futuros.</a:t>
                </a:r>
                <a:br>
                  <a:rPr lang="es-PE" sz="900" b="0" i="0" dirty="0">
                    <a:solidFill>
                      <a:schemeClr val="tx1"/>
                    </a:solidFill>
                    <a:effectLst/>
                    <a:latin typeface="Segoe WPC"/>
                  </a:rPr>
                </a:b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No usar la fórmula sin dividendos cuando el subyacente sí tiene </a:t>
                </a:r>
                <a:r>
                  <a:rPr lang="es-PE" sz="900" b="0" i="0" dirty="0" err="1">
                    <a:solidFill>
                      <a:schemeClr val="tx1"/>
                    </a:solidFill>
                    <a:effectLst/>
                    <a:latin typeface="Segoe WPC"/>
                  </a:rPr>
                  <a:t>dividend</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 tasa extranjera o </a:t>
                </a:r>
                <a:r>
                  <a:rPr lang="es-PE" sz="900" b="0" i="0" dirty="0" err="1">
                    <a:solidFill>
                      <a:schemeClr val="tx1"/>
                    </a:solidFill>
                    <a:effectLst/>
                    <a:latin typeface="Segoe WPC"/>
                  </a:rPr>
                  <a:t>carry</a:t>
                </a:r>
                <a:r>
                  <a:rPr lang="es-PE" sz="900" b="0" i="0" dirty="0">
                    <a:solidFill>
                      <a:schemeClr val="tx1"/>
                    </a:solidFill>
                    <a:effectLst/>
                    <a:latin typeface="Segoe WPC"/>
                  </a:rPr>
                  <a:t> de futuros.</a:t>
                </a:r>
              </a:p>
            </p:txBody>
          </p:sp>
        </mc:Choice>
        <mc:Fallback xmlns="">
          <p:sp>
            <p:nvSpPr>
              <p:cNvPr id="7" name="CuadroTexto 6">
                <a:extLst>
                  <a:ext uri="{FF2B5EF4-FFF2-40B4-BE49-F238E27FC236}">
                    <a16:creationId xmlns:a16="http://schemas.microsoft.com/office/drawing/2014/main" id="{B37B3D69-4A94-C806-2738-B5FF16E341F5}"/>
                  </a:ext>
                </a:extLst>
              </p:cNvPr>
              <p:cNvSpPr txBox="1">
                <a:spLocks noRot="1" noChangeAspect="1" noMove="1" noResize="1" noEditPoints="1" noAdjustHandles="1" noChangeArrowheads="1" noChangeShapeType="1" noTextEdit="1"/>
              </p:cNvSpPr>
              <p:nvPr/>
            </p:nvSpPr>
            <p:spPr>
              <a:xfrm>
                <a:off x="5987144" y="293526"/>
                <a:ext cx="6204856" cy="6270947"/>
              </a:xfrm>
              <a:prstGeom prst="rect">
                <a:avLst/>
              </a:prstGeom>
              <a:blipFill>
                <a:blip r:embed="rId3"/>
                <a:stretch>
                  <a:fillRect t="-194"/>
                </a:stretch>
              </a:blipFill>
            </p:spPr>
            <p:txBody>
              <a:bodyPr/>
              <a:lstStyle/>
              <a:p>
                <a:r>
                  <a:rPr lang="es-PE">
                    <a:noFill/>
                  </a:rPr>
                  <a:t> </a:t>
                </a:r>
              </a:p>
            </p:txBody>
          </p:sp>
        </mc:Fallback>
      </mc:AlternateContent>
    </p:spTree>
    <p:extLst>
      <p:ext uri="{BB962C8B-B14F-4D97-AF65-F5344CB8AC3E}">
        <p14:creationId xmlns:p14="http://schemas.microsoft.com/office/powerpoint/2010/main" val="13818855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F18091-54D8-2E6E-18A7-340448729578}"/>
              </a:ext>
            </a:extLst>
          </p:cNvPr>
          <p:cNvSpPr>
            <a:spLocks noGrp="1"/>
          </p:cNvSpPr>
          <p:nvPr>
            <p:ph type="title"/>
          </p:nvPr>
        </p:nvSpPr>
        <p:spPr>
          <a:xfrm>
            <a:off x="76200" y="-127550"/>
            <a:ext cx="7645400" cy="746676"/>
          </a:xfrm>
        </p:spPr>
        <p:txBody>
          <a:bodyPr>
            <a:normAutofit/>
          </a:bodyPr>
          <a:lstStyle/>
          <a:p>
            <a:r>
              <a:rPr lang="es-PE" sz="3200" dirty="0"/>
              <a:t>Black-Scholes-Merton </a:t>
            </a:r>
            <a:r>
              <a:rPr lang="es-PE" sz="3200" dirty="0" err="1"/>
              <a:t>Model</a:t>
            </a:r>
            <a:endParaRPr lang="es-PE" sz="32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A7D2D557-795C-9CA4-9703-054358FDDA04}"/>
                  </a:ext>
                </a:extLst>
              </p:cNvPr>
              <p:cNvSpPr txBox="1"/>
              <p:nvPr/>
            </p:nvSpPr>
            <p:spPr>
              <a:xfrm>
                <a:off x="76200" y="428626"/>
                <a:ext cx="6508750" cy="6100966"/>
              </a:xfrm>
              <a:prstGeom prst="rect">
                <a:avLst/>
              </a:prstGeom>
              <a:noFill/>
            </p:spPr>
            <p:txBody>
              <a:bodyPr wrap="square">
                <a:spAutoFit/>
              </a:bodyPr>
              <a:lstStyle/>
              <a:p>
                <a:pPr marL="171450" indent="-171450" algn="l">
                  <a:spcBef>
                    <a:spcPts val="300"/>
                  </a:spcBef>
                  <a:buFont typeface="Wingdings" panose="05000000000000000000" pitchFamily="2" charset="2"/>
                  <a:buChar char="q"/>
                </a:pPr>
                <a:r>
                  <a:rPr lang="es-PE" sz="900" b="1" i="0" dirty="0">
                    <a:solidFill>
                      <a:schemeClr val="tx1"/>
                    </a:solidFill>
                    <a:effectLst/>
                    <a:latin typeface="Segoe WPC"/>
                  </a:rPr>
                  <a:t>Stock Price Dynamics</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stochastic</a:t>
                </a:r>
                <a:r>
                  <a:rPr lang="es-PE" sz="900" b="0" i="0" dirty="0">
                    <a:solidFill>
                      <a:schemeClr val="tx1"/>
                    </a:solidFill>
                    <a:effectLst/>
                    <a:latin typeface="Segoe WPC"/>
                  </a:rPr>
                  <a:t> </a:t>
                </a:r>
                <a:r>
                  <a:rPr lang="es-PE" sz="900" b="0" i="0" dirty="0" err="1">
                    <a:solidFill>
                      <a:schemeClr val="tx1"/>
                    </a:solidFill>
                    <a:effectLst/>
                    <a:latin typeface="Segoe WPC"/>
                  </a:rPr>
                  <a:t>behavior</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stock </a:t>
                </a:r>
                <a:r>
                  <a:rPr lang="es-PE" sz="900" b="0" i="0" dirty="0" err="1">
                    <a:solidFill>
                      <a:schemeClr val="tx1"/>
                    </a:solidFill>
                    <a:effectLst/>
                    <a:latin typeface="Segoe WPC"/>
                  </a:rPr>
                  <a:t>prices</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time.</a:t>
                </a:r>
              </a:p>
              <a:p>
                <a:pPr algn="l">
                  <a:spcBef>
                    <a:spcPts val="300"/>
                  </a:spcBef>
                </a:pP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assumes</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a </a:t>
                </a:r>
                <a:r>
                  <a:rPr lang="es-PE" sz="900" b="0" i="0" dirty="0" err="1">
                    <a:solidFill>
                      <a:schemeClr val="tx1"/>
                    </a:solidFill>
                    <a:effectLst/>
                    <a:latin typeface="Segoe WPC"/>
                  </a:rPr>
                  <a:t>very</a:t>
                </a:r>
                <a:r>
                  <a:rPr lang="es-PE" sz="900" b="0" i="0" dirty="0">
                    <a:solidFill>
                      <a:schemeClr val="tx1"/>
                    </a:solidFill>
                    <a:effectLst/>
                    <a:latin typeface="Segoe WPC"/>
                  </a:rPr>
                  <a:t> short time </a:t>
                </a:r>
                <a:r>
                  <a:rPr lang="es-PE" sz="900" b="0" i="0" dirty="0" err="1">
                    <a:solidFill>
                      <a:schemeClr val="tx1"/>
                    </a:solidFill>
                    <a:effectLst/>
                    <a:latin typeface="Segoe WPC"/>
                  </a:rPr>
                  <a:t>interval</a:t>
                </a:r>
                <a:r>
                  <a:rPr lang="es-PE" sz="900" b="0" i="0" dirty="0">
                    <a:solidFill>
                      <a:schemeClr val="tx1"/>
                    </a:solidFill>
                    <a:effectLst/>
                    <a:latin typeface="Segoe WPC"/>
                  </a:rPr>
                  <a:t>, stock </a:t>
                </a:r>
                <a:r>
                  <a:rPr lang="es-PE" sz="900" b="0" i="0" dirty="0" err="1">
                    <a:solidFill>
                      <a:schemeClr val="tx1"/>
                    </a:solidFill>
                    <a:effectLst/>
                    <a:latin typeface="Segoe WPC"/>
                  </a:rPr>
                  <a:t>returns</a:t>
                </a:r>
                <a:r>
                  <a:rPr lang="es-PE" sz="900" b="0" i="0" dirty="0">
                    <a:solidFill>
                      <a:schemeClr val="tx1"/>
                    </a:solidFill>
                    <a:effectLst/>
                    <a:latin typeface="Segoe WPC"/>
                  </a:rPr>
                  <a:t> are </a:t>
                </a:r>
                <a:r>
                  <a:rPr lang="es-PE" sz="900" b="0" i="0" dirty="0" err="1">
                    <a:solidFill>
                      <a:schemeClr val="tx1"/>
                    </a:solidFill>
                    <a:effectLst/>
                    <a:latin typeface="Segoe WPC"/>
                  </a:rPr>
                  <a:t>normally</a:t>
                </a:r>
                <a:r>
                  <a:rPr lang="es-PE" sz="900" b="0" i="0" dirty="0">
                    <a:solidFill>
                      <a:schemeClr val="tx1"/>
                    </a:solidFill>
                    <a:effectLst/>
                    <a:latin typeface="Segoe WPC"/>
                  </a:rPr>
                  <a:t> </a:t>
                </a:r>
                <a:r>
                  <a:rPr lang="es-PE" sz="900" b="0" i="0" dirty="0" err="1">
                    <a:solidFill>
                      <a:schemeClr val="tx1"/>
                    </a:solidFill>
                    <a:effectLst/>
                    <a:latin typeface="Segoe WPC"/>
                  </a:rPr>
                  <a:t>distributed</a:t>
                </a:r>
                <a:r>
                  <a:rPr lang="es-PE" sz="900" b="0" i="0" dirty="0">
                    <a:solidFill>
                      <a:schemeClr val="tx1"/>
                    </a:solidFill>
                    <a:effectLst/>
                    <a:latin typeface="Segoe WPC"/>
                  </a:rPr>
                  <a:t>. As a </a:t>
                </a:r>
                <a:r>
                  <a:rPr lang="es-PE" sz="900" b="0" i="0" dirty="0" err="1">
                    <a:solidFill>
                      <a:schemeClr val="tx1"/>
                    </a:solidFill>
                    <a:effectLst/>
                    <a:latin typeface="Segoe WPC"/>
                  </a:rPr>
                  <a:t>result</a:t>
                </a:r>
                <a:r>
                  <a:rPr lang="es-PE" sz="900" b="0" i="0" dirty="0">
                    <a:solidFill>
                      <a:schemeClr val="tx1"/>
                    </a:solidFill>
                    <a:effectLst/>
                    <a:latin typeface="Segoe WPC"/>
                  </a:rPr>
                  <a:t>, stock </a:t>
                </a:r>
                <a:r>
                  <a:rPr lang="es-PE" sz="900" b="0" i="0" dirty="0" err="1">
                    <a:solidFill>
                      <a:schemeClr val="tx1"/>
                    </a:solidFill>
                    <a:effectLst/>
                    <a:latin typeface="Segoe WPC"/>
                  </a:rPr>
                  <a:t>prices</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a:t>
                </a:r>
                <a:r>
                  <a:rPr lang="es-PE" sz="900" b="0" i="0" dirty="0" err="1">
                    <a:solidFill>
                      <a:schemeClr val="tx1"/>
                    </a:solidFill>
                    <a:effectLst/>
                    <a:latin typeface="Segoe WPC"/>
                  </a:rPr>
                  <a:t>longer</a:t>
                </a:r>
                <a:r>
                  <a:rPr lang="es-PE" sz="900" b="0" i="0" dirty="0">
                    <a:solidFill>
                      <a:schemeClr val="tx1"/>
                    </a:solidFill>
                    <a:effectLst/>
                    <a:latin typeface="Segoe WPC"/>
                  </a:rPr>
                  <a:t> </a:t>
                </a:r>
                <a:r>
                  <a:rPr lang="es-PE" sz="900" b="0" i="0" dirty="0" err="1">
                    <a:solidFill>
                      <a:schemeClr val="tx1"/>
                    </a:solidFill>
                    <a:effectLst/>
                    <a:latin typeface="Segoe WPC"/>
                  </a:rPr>
                  <a:t>horizons</a:t>
                </a:r>
                <a:r>
                  <a:rPr lang="es-PE" sz="900" b="0" i="0" dirty="0">
                    <a:solidFill>
                      <a:schemeClr val="tx1"/>
                    </a:solidFill>
                    <a:effectLst/>
                    <a:latin typeface="Segoe WPC"/>
                  </a:rPr>
                  <a:t> are </a:t>
                </a:r>
                <a:r>
                  <a:rPr lang="es-PE" sz="900" b="0" i="0" dirty="0" err="1">
                    <a:solidFill>
                      <a:schemeClr val="tx1"/>
                    </a:solidFill>
                    <a:effectLst/>
                    <a:latin typeface="Segoe WPC"/>
                  </a:rPr>
                  <a:t>lognormally</a:t>
                </a:r>
                <a:r>
                  <a:rPr lang="es-PE" sz="900" b="0" i="0" dirty="0">
                    <a:solidFill>
                      <a:schemeClr val="tx1"/>
                    </a:solidFill>
                    <a:effectLst/>
                    <a:latin typeface="Segoe WPC"/>
                  </a:rPr>
                  <a:t> </a:t>
                </a:r>
                <a:r>
                  <a:rPr lang="es-PE" sz="900" b="0" i="0" dirty="0" err="1">
                    <a:solidFill>
                      <a:schemeClr val="tx1"/>
                    </a:solidFill>
                    <a:effectLst/>
                    <a:latin typeface="Segoe WPC"/>
                  </a:rPr>
                  <a:t>distributed</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a:t>
                </a:r>
                <a:r>
                  <a:rPr lang="es-PE" sz="900" b="0" i="0" dirty="0" err="1">
                    <a:solidFill>
                      <a:schemeClr val="tx1"/>
                    </a:solidFill>
                    <a:effectLst/>
                    <a:latin typeface="Segoe WPC"/>
                  </a:rPr>
                  <a:t>symmetrically</a:t>
                </a:r>
                <a:r>
                  <a:rPr lang="es-PE" sz="900" b="0" i="0" dirty="0">
                    <a:solidFill>
                      <a:schemeClr val="tx1"/>
                    </a:solidFill>
                    <a:effectLst/>
                    <a:latin typeface="Segoe WPC"/>
                  </a:rPr>
                  <a:t> </a:t>
                </a:r>
                <a:r>
                  <a:rPr lang="es-PE" sz="900" b="0" i="0" dirty="0" err="1">
                    <a:solidFill>
                      <a:schemeClr val="tx1"/>
                    </a:solidFill>
                    <a:effectLst/>
                    <a:latin typeface="Segoe WPC"/>
                  </a:rPr>
                  <a:t>around</a:t>
                </a:r>
                <a:r>
                  <a:rPr lang="es-PE" sz="900" b="0" i="0" dirty="0">
                    <a:solidFill>
                      <a:schemeClr val="tx1"/>
                    </a:solidFill>
                    <a:effectLst/>
                    <a:latin typeface="Segoe WPC"/>
                  </a:rPr>
                  <a:t> a mean, </a:t>
                </a:r>
                <a:r>
                  <a:rPr lang="es-PE" sz="900" b="0" i="0" dirty="0" err="1">
                    <a:solidFill>
                      <a:schemeClr val="tx1"/>
                    </a:solidFill>
                    <a:effectLst/>
                    <a:latin typeface="Segoe WPC"/>
                  </a:rPr>
                  <a:t>but</a:t>
                </a:r>
                <a:r>
                  <a:rPr lang="es-PE" sz="900" b="0" i="0" dirty="0">
                    <a:solidFill>
                      <a:schemeClr val="tx1"/>
                    </a:solidFill>
                    <a:effectLst/>
                    <a:latin typeface="Segoe WPC"/>
                  </a:rPr>
                  <a:t> stock </a:t>
                </a:r>
                <a:r>
                  <a:rPr lang="es-PE" sz="900" b="0" i="0" dirty="0" err="1">
                    <a:solidFill>
                      <a:schemeClr val="tx1"/>
                    </a:solidFill>
                    <a:effectLst/>
                    <a:latin typeface="Segoe WPC"/>
                  </a:rPr>
                  <a:t>prices</a:t>
                </a:r>
                <a:r>
                  <a:rPr lang="es-PE" sz="900" b="0" i="0" dirty="0">
                    <a:solidFill>
                      <a:schemeClr val="tx1"/>
                    </a:solidFill>
                    <a:effectLst/>
                    <a:latin typeface="Segoe WPC"/>
                  </a:rPr>
                  <a:t> </a:t>
                </a:r>
                <a:r>
                  <a:rPr lang="es-PE" sz="900" b="0" i="0" dirty="0" err="1">
                    <a:solidFill>
                      <a:schemeClr val="tx1"/>
                    </a:solidFill>
                    <a:effectLst/>
                    <a:latin typeface="Segoe WPC"/>
                  </a:rPr>
                  <a:t>cannot</a:t>
                </a:r>
                <a:r>
                  <a:rPr lang="es-PE" sz="900" b="0" i="0" dirty="0">
                    <a:solidFill>
                      <a:schemeClr val="tx1"/>
                    </a:solidFill>
                    <a:effectLst/>
                    <a:latin typeface="Segoe WPC"/>
                  </a:rPr>
                  <a:t> </a:t>
                </a:r>
                <a:r>
                  <a:rPr lang="es-PE" sz="900" b="0" i="0" dirty="0" err="1">
                    <a:solidFill>
                      <a:schemeClr val="tx1"/>
                    </a:solidFill>
                    <a:effectLst/>
                    <a:latin typeface="Segoe WPC"/>
                  </a:rPr>
                  <a:t>fall</a:t>
                </a:r>
                <a:r>
                  <a:rPr lang="es-PE" sz="900" b="0" i="0" dirty="0">
                    <a:solidFill>
                      <a:schemeClr val="tx1"/>
                    </a:solidFill>
                    <a:effectLst/>
                    <a:latin typeface="Segoe WPC"/>
                  </a:rPr>
                  <a:t> </a:t>
                </a:r>
                <a:r>
                  <a:rPr lang="es-PE" sz="900" b="0" i="0" dirty="0" err="1">
                    <a:solidFill>
                      <a:schemeClr val="tx1"/>
                    </a:solidFill>
                    <a:effectLst/>
                    <a:latin typeface="Segoe WPC"/>
                  </a:rPr>
                  <a:t>below</a:t>
                </a:r>
                <a:r>
                  <a:rPr lang="es-PE" sz="900" b="0" i="0" dirty="0">
                    <a:solidFill>
                      <a:schemeClr val="tx1"/>
                    </a:solidFill>
                    <a:effectLst/>
                    <a:latin typeface="Segoe WPC"/>
                  </a:rPr>
                  <a:t> </a:t>
                </a:r>
                <a:r>
                  <a:rPr lang="es-PE" sz="900" b="0" i="0" dirty="0" err="1">
                    <a:solidFill>
                      <a:schemeClr val="tx1"/>
                    </a:solidFill>
                    <a:effectLst/>
                    <a:latin typeface="Segoe WPC"/>
                  </a:rPr>
                  <a:t>zero</a:t>
                </a:r>
                <a:r>
                  <a:rPr lang="es-PE" sz="900" b="0" i="0" dirty="0">
                    <a:solidFill>
                      <a:schemeClr val="tx1"/>
                    </a:solidFill>
                    <a:effectLst/>
                    <a:latin typeface="Segoe WPC"/>
                  </a:rPr>
                  <a:t>, so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distribution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future </a:t>
                </a:r>
                <a:r>
                  <a:rPr lang="es-PE" sz="900" b="0" i="0" dirty="0" err="1">
                    <a:solidFill>
                      <a:schemeClr val="tx1"/>
                    </a:solidFill>
                    <a:effectLst/>
                    <a:latin typeface="Segoe WPC"/>
                  </a:rPr>
                  <a:t>prices</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right-skewed</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𝐸</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0</m:t>
                        </m:r>
                      </m:sub>
                    </m:sSub>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1">
                            <a:solidFill>
                              <a:schemeClr val="tx1"/>
                            </a:solidFill>
                            <a:latin typeface="Cambria Math" panose="02040503050406030204" pitchFamily="18" charset="0"/>
                          </a:rPr>
                          <m:t>𝜇</m:t>
                        </m:r>
                        <m:r>
                          <a:rPr lang="ar-AE" sz="900" i="1">
                            <a:solidFill>
                              <a:schemeClr val="tx1"/>
                            </a:solidFill>
                            <a:latin typeface="Cambria Math" panose="02040503050406030204" pitchFamily="18" charset="0"/>
                          </a:rPr>
                          <m:t>𝑇</m:t>
                        </m:r>
                      </m:sup>
                    </m:sSup>
                  </m:oMath>
                </a14:m>
                <a:r>
                  <a:rPr lang="ar-AE" sz="900" b="0" i="0" dirty="0">
                    <a:solidFill>
                      <a:schemeClr val="tx1"/>
                    </a:solidFill>
                    <a:effectLst/>
                    <a:latin typeface="Segoe WPC"/>
                  </a:rPr>
                  <a:t>, </a:t>
                </a:r>
                <a14:m>
                  <m:oMath xmlns:m="http://schemas.openxmlformats.org/officeDocument/2006/math">
                    <m:r>
                      <a:rPr lang="ar-AE" sz="900" i="1">
                        <a:solidFill>
                          <a:schemeClr val="tx1"/>
                        </a:solidFill>
                        <a:latin typeface="Cambria Math" panose="02040503050406030204" pitchFamily="18" charset="0"/>
                      </a:rPr>
                      <m:t>𝐸</m:t>
                    </m:r>
                    <m:d>
                      <m:dPr>
                        <m:ctrlPr>
                          <a:rPr lang="ar-AE" sz="900" i="1">
                            <a:solidFill>
                              <a:schemeClr val="tx1"/>
                            </a:solidFill>
                            <a:latin typeface="Cambria Math" panose="02040503050406030204" pitchFamily="18" charset="0"/>
                          </a:rPr>
                        </m:ctrlPr>
                      </m:dPr>
                      <m:e>
                        <m:func>
                          <m:funcPr>
                            <m:ctrlPr>
                              <a:rPr lang="ar-AE" sz="900" i="1">
                                <a:solidFill>
                                  <a:schemeClr val="tx1"/>
                                </a:solidFill>
                                <a:latin typeface="Cambria Math" panose="02040503050406030204" pitchFamily="18" charset="0"/>
                              </a:rPr>
                            </m:ctrlPr>
                          </m:funcPr>
                          <m:fName>
                            <m:r>
                              <m:rPr>
                                <m:sty m:val="p"/>
                              </m:rPr>
                              <a:rPr lang="es-PE" sz="900" i="0">
                                <a:solidFill>
                                  <a:schemeClr val="tx1"/>
                                </a:solidFill>
                                <a:latin typeface="Cambria Math" panose="02040503050406030204" pitchFamily="18" charset="0"/>
                              </a:rPr>
                              <m:t>ln</m:t>
                            </m:r>
                          </m:fName>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func>
                      </m:e>
                    </m:d>
                    <m:r>
                      <a:rPr lang="ar-AE" sz="900" i="0">
                        <a:solidFill>
                          <a:schemeClr val="tx1"/>
                        </a:solidFill>
                        <a:latin typeface="Cambria Math" panose="02040503050406030204" pitchFamily="18" charset="0"/>
                      </a:rPr>
                      <m:t>=</m:t>
                    </m:r>
                    <m:func>
                      <m:funcPr>
                        <m:ctrlPr>
                          <a:rPr lang="ar-AE" sz="900" i="1">
                            <a:solidFill>
                              <a:schemeClr val="tx1"/>
                            </a:solidFill>
                            <a:latin typeface="Cambria Math" panose="02040503050406030204" pitchFamily="18" charset="0"/>
                          </a:rPr>
                        </m:ctrlPr>
                      </m:funcPr>
                      <m:fName>
                        <m:r>
                          <m:rPr>
                            <m:sty m:val="p"/>
                          </m:rPr>
                          <a:rPr lang="es-PE" sz="900" i="0">
                            <a:solidFill>
                              <a:schemeClr val="tx1"/>
                            </a:solidFill>
                            <a:latin typeface="Cambria Math" panose="02040503050406030204" pitchFamily="18" charset="0"/>
                          </a:rPr>
                          <m:t>ln</m:t>
                        </m:r>
                      </m:fName>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0</m:t>
                            </m:r>
                          </m:sub>
                        </m:sSub>
                      </m:e>
                    </m:func>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𝜇</m:t>
                        </m:r>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e>
                    </m:d>
                    <m:r>
                      <a:rPr lang="ar-AE" sz="900" i="1">
                        <a:solidFill>
                          <a:schemeClr val="tx1"/>
                        </a:solidFill>
                        <a:latin typeface="Cambria Math" panose="02040503050406030204" pitchFamily="18" charset="0"/>
                      </a:rPr>
                      <m:t>𝑇</m:t>
                    </m:r>
                  </m:oMath>
                </a14:m>
                <a:r>
                  <a:rPr lang="ar-AE" sz="900" b="0" i="0" dirty="0">
                    <a:solidFill>
                      <a:schemeClr val="tx1"/>
                    </a:solidFill>
                    <a:effectLst/>
                    <a:latin typeface="Segoe WPC"/>
                  </a:rPr>
                  <a:t>, </a:t>
                </a:r>
                <a14:m>
                  <m:oMath xmlns:m="http://schemas.openxmlformats.org/officeDocument/2006/math">
                    <m:r>
                      <a:rPr lang="ar-AE" sz="900" i="1">
                        <a:solidFill>
                          <a:schemeClr val="tx1"/>
                        </a:solidFill>
                        <a:latin typeface="Cambria Math" panose="02040503050406030204" pitchFamily="18" charset="0"/>
                      </a:rPr>
                      <m:t>𝑆𝐷</m:t>
                    </m:r>
                    <m:d>
                      <m:dPr>
                        <m:ctrlPr>
                          <a:rPr lang="ar-AE" sz="900" i="1">
                            <a:solidFill>
                              <a:schemeClr val="tx1"/>
                            </a:solidFill>
                            <a:latin typeface="Cambria Math" panose="02040503050406030204" pitchFamily="18" charset="0"/>
                          </a:rPr>
                        </m:ctrlPr>
                      </m:dPr>
                      <m:e>
                        <m:func>
                          <m:funcPr>
                            <m:ctrlPr>
                              <a:rPr lang="ar-AE" sz="900" i="1">
                                <a:solidFill>
                                  <a:schemeClr val="tx1"/>
                                </a:solidFill>
                                <a:latin typeface="Cambria Math" panose="02040503050406030204" pitchFamily="18" charset="0"/>
                              </a:rPr>
                            </m:ctrlPr>
                          </m:funcPr>
                          <m:fName>
                            <m:r>
                              <m:rPr>
                                <m:sty m:val="p"/>
                              </m:rPr>
                              <a:rPr lang="es-PE" sz="900" i="0">
                                <a:solidFill>
                                  <a:schemeClr val="tx1"/>
                                </a:solidFill>
                                <a:latin typeface="Cambria Math" panose="02040503050406030204" pitchFamily="18" charset="0"/>
                              </a:rPr>
                              <m:t>ln</m:t>
                            </m:r>
                          </m:fName>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func>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𝜎</m:t>
                    </m:r>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𝑇</m:t>
                        </m:r>
                      </m:e>
                    </m:rad>
                  </m:oMath>
                </a14:m>
                <a:endParaRPr lang="ar-A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stock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grows</a:t>
                </a:r>
                <a:r>
                  <a:rPr lang="es-PE" sz="900" b="0" i="0" dirty="0">
                    <a:solidFill>
                      <a:schemeClr val="tx1"/>
                    </a:solidFill>
                    <a:effectLst/>
                    <a:latin typeface="Segoe WPC"/>
                  </a:rPr>
                  <a:t> at </a:t>
                </a:r>
                <a:r>
                  <a:rPr lang="es-PE" sz="900" b="0" i="0" dirty="0" err="1">
                    <a:solidFill>
                      <a:schemeClr val="tx1"/>
                    </a:solidFill>
                    <a:effectLst/>
                    <a:latin typeface="Segoe WPC"/>
                  </a:rPr>
                  <a:t>rate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𝜇</m:t>
                    </m:r>
                  </m:oMath>
                </a14:m>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log stock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reduced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t>
                </a:r>
                <a:r>
                  <a:rPr lang="es-PE" sz="900" b="0" i="0" dirty="0" err="1">
                    <a:solidFill>
                      <a:schemeClr val="tx1"/>
                    </a:solidFill>
                    <a:effectLst/>
                    <a:latin typeface="Segoe WPC"/>
                  </a:rPr>
                  <a:t>adjustment</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oMath>
                </a14:m>
                <a:r>
                  <a:rPr lang="ar-A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Do </a:t>
                </a:r>
                <a:r>
                  <a:rPr lang="es-PE" sz="900" b="0" i="0" dirty="0" err="1">
                    <a:solidFill>
                      <a:schemeClr val="tx1"/>
                    </a:solidFill>
                    <a:effectLst/>
                    <a:latin typeface="Segoe WPC"/>
                  </a:rPr>
                  <a:t>not</a:t>
                </a:r>
                <a:r>
                  <a:rPr lang="es-PE" sz="900" b="0" i="0" dirty="0">
                    <a:solidFill>
                      <a:schemeClr val="tx1"/>
                    </a:solidFill>
                    <a:effectLst/>
                    <a:latin typeface="Segoe WPC"/>
                  </a:rPr>
                  <a:t> confuse </a:t>
                </a:r>
                <a14:m>
                  <m:oMath xmlns:m="http://schemas.openxmlformats.org/officeDocument/2006/math">
                    <m:r>
                      <a:rPr lang="es-PE" sz="900" i="1">
                        <a:solidFill>
                          <a:schemeClr val="tx1"/>
                        </a:solidFill>
                        <a:latin typeface="Cambria Math" panose="02040503050406030204" pitchFamily="18" charset="0"/>
                      </a:rPr>
                      <m:t>𝐸</m:t>
                    </m:r>
                    <m:d>
                      <m:dPr>
                        <m:ctrlPr>
                          <a:rPr lang="ar-AE" sz="900" i="1">
                            <a:solidFill>
                              <a:schemeClr val="tx1"/>
                            </a:solidFill>
                            <a:latin typeface="Cambria Math" panose="02040503050406030204" pitchFamily="18" charset="0"/>
                          </a:rPr>
                        </m:ctrlPr>
                      </m:dPr>
                      <m:e>
                        <m:func>
                          <m:funcPr>
                            <m:ctrlPr>
                              <a:rPr lang="ar-AE" sz="900" i="1">
                                <a:solidFill>
                                  <a:schemeClr val="tx1"/>
                                </a:solidFill>
                                <a:latin typeface="Cambria Math" panose="02040503050406030204" pitchFamily="18" charset="0"/>
                              </a:rPr>
                            </m:ctrlPr>
                          </m:funcPr>
                          <m:fName>
                            <m:r>
                              <m:rPr>
                                <m:sty m:val="p"/>
                              </m:rPr>
                              <a:rPr lang="es-PE" sz="900" i="0">
                                <a:solidFill>
                                  <a:schemeClr val="tx1"/>
                                </a:solidFill>
                                <a:latin typeface="Cambria Math" panose="02040503050406030204" pitchFamily="18" charset="0"/>
                              </a:rPr>
                              <m:t>ln</m:t>
                            </m:r>
                          </m:fName>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func>
                      </m:e>
                    </m:d>
                  </m:oMath>
                </a14:m>
                <a:r>
                  <a:rPr lang="ar-A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14:m>
                  <m:oMath xmlns:m="http://schemas.openxmlformats.org/officeDocument/2006/math">
                    <m:r>
                      <m:rPr>
                        <m:sty m:val="p"/>
                      </m:rPr>
                      <a:rPr lang="es-PE" sz="900">
                        <a:solidFill>
                          <a:schemeClr val="tx1"/>
                        </a:solidFill>
                        <a:latin typeface="Cambria Math" panose="02040503050406030204" pitchFamily="18" charset="0"/>
                      </a:rPr>
                      <m:t>ln</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𝐸</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e>
                        </m:d>
                      </m:e>
                    </m:d>
                  </m:oMath>
                </a14:m>
                <a:r>
                  <a:rPr lang="ar-AE" sz="900" b="0" i="0" dirty="0">
                    <a:solidFill>
                      <a:schemeClr val="tx1"/>
                    </a:solidFill>
                    <a:effectLst/>
                    <a:latin typeface="Segoe WPC"/>
                  </a:rPr>
                  <a:t>.</a:t>
                </a:r>
              </a:p>
              <a:p>
                <a:pPr marL="171450" indent="-171450" algn="l">
                  <a:spcBef>
                    <a:spcPts val="300"/>
                  </a:spcBef>
                  <a:buFont typeface="Wingdings" panose="05000000000000000000" pitchFamily="2" charset="2"/>
                  <a:buChar char="q"/>
                </a:pPr>
                <a:r>
                  <a:rPr lang="es-PE" sz="900" b="1" i="0" dirty="0" err="1">
                    <a:solidFill>
                      <a:schemeClr val="tx1"/>
                    </a:solidFill>
                    <a:effectLst/>
                    <a:latin typeface="Segoe WPC"/>
                  </a:rPr>
                  <a:t>Realized</a:t>
                </a:r>
                <a:r>
                  <a:rPr lang="es-PE" sz="900" b="1" i="0" dirty="0">
                    <a:solidFill>
                      <a:schemeClr val="tx1"/>
                    </a:solidFill>
                    <a:effectLst/>
                    <a:latin typeface="Segoe WPC"/>
                  </a:rPr>
                  <a:t> </a:t>
                </a:r>
                <a:r>
                  <a:rPr lang="es-PE" sz="900" b="1" i="0" dirty="0" err="1">
                    <a:solidFill>
                      <a:schemeClr val="tx1"/>
                    </a:solidFill>
                    <a:effectLst/>
                    <a:latin typeface="Segoe WPC"/>
                  </a:rPr>
                  <a:t>Return</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Continuously</a:t>
                </a:r>
                <a:r>
                  <a:rPr lang="es-PE" sz="900" b="0" i="0" dirty="0">
                    <a:solidFill>
                      <a:schemeClr val="tx1"/>
                    </a:solidFill>
                    <a:effectLst/>
                    <a:latin typeface="Segoe WPC"/>
                  </a:rPr>
                  <a:t> </a:t>
                </a:r>
                <a:r>
                  <a:rPr lang="es-PE" sz="900" b="0" i="0" dirty="0" err="1">
                    <a:solidFill>
                      <a:schemeClr val="tx1"/>
                    </a:solidFill>
                    <a:effectLst/>
                    <a:latin typeface="Segoe WPC"/>
                  </a:rPr>
                  <a:t>compounded</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a holding </a:t>
                </a:r>
                <a:r>
                  <a:rPr lang="es-PE" sz="900" b="0" i="0" dirty="0" err="1">
                    <a:solidFill>
                      <a:schemeClr val="tx1"/>
                    </a:solidFill>
                    <a:effectLst/>
                    <a:latin typeface="Segoe WPC"/>
                  </a:rPr>
                  <a:t>period</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realized</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log </a:t>
                </a:r>
                <a:r>
                  <a:rPr lang="es-PE" sz="900" b="0" i="0" dirty="0" err="1">
                    <a:solidFill>
                      <a:schemeClr val="tx1"/>
                    </a:solidFill>
                    <a:effectLst/>
                    <a:latin typeface="Segoe WPC"/>
                  </a:rPr>
                  <a:t>growth</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today</a:t>
                </a:r>
                <a:r>
                  <a:rPr lang="es-PE" sz="900" b="0" i="0" dirty="0">
                    <a:solidFill>
                      <a:schemeClr val="tx1"/>
                    </a:solidFill>
                    <a:effectLst/>
                    <a:latin typeface="Segoe WPC"/>
                  </a:rPr>
                  <a:t> and </a:t>
                </a:r>
                <a:r>
                  <a:rPr lang="es-PE" sz="900" b="0" i="0" dirty="0" err="1">
                    <a:solidFill>
                      <a:schemeClr val="tx1"/>
                    </a:solidFill>
                    <a:effectLst/>
                    <a:latin typeface="Segoe WPC"/>
                  </a:rPr>
                  <a:t>maturity</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Instead</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 simple </a:t>
                </a:r>
                <a:r>
                  <a:rPr lang="es-PE" sz="900" b="0" i="0" dirty="0" err="1">
                    <a:solidFill>
                      <a:schemeClr val="tx1"/>
                    </a:solidFill>
                    <a:effectLst/>
                    <a:latin typeface="Segoe WPC"/>
                  </a:rPr>
                  <a:t>percentage</a:t>
                </a:r>
                <a:r>
                  <a:rPr lang="es-PE" sz="900" b="0" i="0" dirty="0">
                    <a:solidFill>
                      <a:schemeClr val="tx1"/>
                    </a:solidFill>
                    <a:effectLst/>
                    <a:latin typeface="Segoe WPC"/>
                  </a:rPr>
                  <a:t> </a:t>
                </a:r>
                <a:r>
                  <a:rPr lang="es-PE" sz="900" b="0" i="0" dirty="0" err="1">
                    <a:solidFill>
                      <a:schemeClr val="tx1"/>
                    </a:solidFill>
                    <a:effectLst/>
                    <a:latin typeface="Segoe WPC"/>
                  </a:rPr>
                  <a:t>change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uses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logarithm</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terminal-</a:t>
                </a:r>
                <a:r>
                  <a:rPr lang="es-PE" sz="900" b="0" i="0" dirty="0" err="1">
                    <a:solidFill>
                      <a:schemeClr val="tx1"/>
                    </a:solidFill>
                    <a:effectLst/>
                    <a:latin typeface="Segoe WPC"/>
                  </a:rPr>
                  <a:t>to</a:t>
                </a:r>
                <a:r>
                  <a:rPr lang="es-PE" sz="900" b="0" i="0" dirty="0">
                    <a:solidFill>
                      <a:schemeClr val="tx1"/>
                    </a:solidFill>
                    <a:effectLst/>
                    <a:latin typeface="Segoe WPC"/>
                  </a:rPr>
                  <a:t>-</a:t>
                </a:r>
                <a:r>
                  <a:rPr lang="es-PE" sz="900" b="0" i="0" dirty="0" err="1">
                    <a:solidFill>
                      <a:schemeClr val="tx1"/>
                    </a:solidFill>
                    <a:effectLst/>
                    <a:latin typeface="Segoe WPC"/>
                  </a:rPr>
                  <a:t>initial</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ratio.</a:t>
                </a:r>
              </a:p>
              <a:p>
                <a:pPr algn="l">
                  <a:spcBef>
                    <a:spcPts val="300"/>
                  </a:spcBef>
                </a:pP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𝑅</m:t>
                    </m:r>
                    <m:r>
                      <a:rPr lang="es-P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1">
                            <a:solidFill>
                              <a:schemeClr val="tx1"/>
                            </a:solidFill>
                            <a:latin typeface="Cambria Math" panose="02040503050406030204" pitchFamily="18" charset="0"/>
                          </a:rPr>
                          <m:t>𝑇</m:t>
                        </m:r>
                      </m:den>
                    </m:f>
                    <m:r>
                      <m:rPr>
                        <m:sty m:val="p"/>
                      </m:rPr>
                      <a:rPr lang="es-PE" sz="900" i="0">
                        <a:solidFill>
                          <a:schemeClr val="tx1"/>
                        </a:solidFill>
                        <a:latin typeface="Cambria Math" panose="02040503050406030204" pitchFamily="18" charset="0"/>
                      </a:rPr>
                      <m:t>ln</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𝑇</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0</m:t>
                            </m:r>
                          </m:sub>
                        </m:sSub>
                      </m:e>
                    </m:d>
                  </m:oMath>
                </a14:m>
                <a:endParaRPr lang="ar-A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Under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model</a:t>
                </a:r>
                <a:r>
                  <a:rPr lang="es-PE" sz="900" b="0" i="0" dirty="0">
                    <a:solidFill>
                      <a:schemeClr val="tx1"/>
                    </a:solidFill>
                    <a:effectLst/>
                    <a:latin typeface="Segoe WPC"/>
                  </a:rPr>
                  <a:t>, </a:t>
                </a:r>
                <a:r>
                  <a:rPr lang="es-PE" sz="900" b="0" i="0" dirty="0" err="1">
                    <a:solidFill>
                      <a:schemeClr val="tx1"/>
                    </a:solidFill>
                    <a:effectLst/>
                    <a:latin typeface="Segoe WPC"/>
                  </a:rPr>
                  <a:t>continuously</a:t>
                </a:r>
                <a:r>
                  <a:rPr lang="es-PE" sz="900" b="0" i="0" dirty="0">
                    <a:solidFill>
                      <a:schemeClr val="tx1"/>
                    </a:solidFill>
                    <a:effectLst/>
                    <a:latin typeface="Segoe WPC"/>
                  </a:rPr>
                  <a:t> </a:t>
                </a:r>
                <a:r>
                  <a:rPr lang="es-PE" sz="900" b="0" i="0" dirty="0" err="1">
                    <a:solidFill>
                      <a:schemeClr val="tx1"/>
                    </a:solidFill>
                    <a:effectLst/>
                    <a:latin typeface="Segoe WPC"/>
                  </a:rPr>
                  <a:t>compounded</a:t>
                </a:r>
                <a:r>
                  <a:rPr lang="es-PE" sz="900" b="0" i="0" dirty="0">
                    <a:solidFill>
                      <a:schemeClr val="tx1"/>
                    </a:solidFill>
                    <a:effectLst/>
                    <a:latin typeface="Segoe WPC"/>
                  </a:rPr>
                  <a:t> </a:t>
                </a:r>
                <a:r>
                  <a:rPr lang="es-PE" sz="900" b="0" i="0" dirty="0" err="1">
                    <a:solidFill>
                      <a:schemeClr val="tx1"/>
                    </a:solidFill>
                    <a:effectLst/>
                    <a:latin typeface="Segoe WPC"/>
                  </a:rPr>
                  <a:t>returns</a:t>
                </a:r>
                <a:r>
                  <a:rPr lang="es-PE" sz="900" b="0" i="0" dirty="0">
                    <a:solidFill>
                      <a:schemeClr val="tx1"/>
                    </a:solidFill>
                    <a:effectLst/>
                    <a:latin typeface="Segoe WPC"/>
                  </a:rPr>
                  <a:t> are </a:t>
                </a:r>
                <a:r>
                  <a:rPr lang="es-PE" sz="900" b="0" i="0" dirty="0" err="1">
                    <a:solidFill>
                      <a:schemeClr val="tx1"/>
                    </a:solidFill>
                    <a:effectLst/>
                    <a:latin typeface="Segoe WPC"/>
                  </a:rPr>
                  <a:t>normally</a:t>
                </a:r>
                <a:r>
                  <a:rPr lang="es-PE" sz="900" b="0" i="0" dirty="0">
                    <a:solidFill>
                      <a:schemeClr val="tx1"/>
                    </a:solidFill>
                    <a:effectLst/>
                    <a:latin typeface="Segoe WPC"/>
                  </a:rPr>
                  <a:t> </a:t>
                </a:r>
                <a:r>
                  <a:rPr lang="es-PE" sz="900" b="0" i="0" dirty="0" err="1">
                    <a:solidFill>
                      <a:schemeClr val="tx1"/>
                    </a:solidFill>
                    <a:effectLst/>
                    <a:latin typeface="Segoe WPC"/>
                  </a:rPr>
                  <a:t>distributed</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infinitesimal </a:t>
                </a:r>
                <a:r>
                  <a:rPr lang="es-PE" sz="900" b="0" i="0" dirty="0" err="1">
                    <a:solidFill>
                      <a:schemeClr val="tx1"/>
                    </a:solidFill>
                    <a:effectLst/>
                    <a:latin typeface="Segoe WPC"/>
                  </a:rPr>
                  <a:t>interval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𝜇</m:t>
                    </m:r>
                  </m:oMath>
                </a14:m>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a finite </a:t>
                </a:r>
                <a:r>
                  <a:rPr lang="es-PE" sz="900" b="0" i="0" dirty="0" err="1">
                    <a:solidFill>
                      <a:schemeClr val="tx1"/>
                    </a:solidFill>
                    <a:effectLst/>
                    <a:latin typeface="Segoe WPC"/>
                  </a:rPr>
                  <a:t>horizon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continuously</a:t>
                </a:r>
                <a:r>
                  <a:rPr lang="es-PE" sz="900" b="0" i="0" dirty="0">
                    <a:solidFill>
                      <a:schemeClr val="tx1"/>
                    </a:solidFill>
                    <a:effectLst/>
                    <a:latin typeface="Segoe WPC"/>
                  </a:rPr>
                  <a:t> </a:t>
                </a:r>
                <a:r>
                  <a:rPr lang="es-PE" sz="900" b="0" i="0" dirty="0" err="1">
                    <a:solidFill>
                      <a:schemeClr val="tx1"/>
                    </a:solidFill>
                    <a:effectLst/>
                    <a:latin typeface="Segoe WPC"/>
                  </a:rPr>
                  <a:t>compounded</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𝜇</m:t>
                    </m:r>
                    <m:r>
                      <a:rPr lang="es-P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oMath>
                </a14:m>
                <a:r>
                  <a:rPr lang="ar-AE" sz="900" b="0" i="0" dirty="0">
                    <a:solidFill>
                      <a:schemeClr val="tx1"/>
                    </a:solidFill>
                    <a:effectLst/>
                    <a:latin typeface="Segoe WPC"/>
                  </a:rPr>
                  <a:t>.</a:t>
                </a:r>
              </a:p>
              <a:p>
                <a:pPr marL="171450" indent="-171450" algn="l">
                  <a:spcBef>
                    <a:spcPts val="300"/>
                  </a:spcBef>
                  <a:buFont typeface="Wingdings" panose="05000000000000000000" pitchFamily="2" charset="2"/>
                  <a:buChar char="q"/>
                </a:pPr>
                <a:r>
                  <a:rPr lang="es-PE" sz="900" b="1" i="0" dirty="0" err="1">
                    <a:solidFill>
                      <a:schemeClr val="tx1"/>
                    </a:solidFill>
                    <a:effectLst/>
                    <a:latin typeface="Segoe WPC"/>
                  </a:rPr>
                  <a:t>Historical</a:t>
                </a:r>
                <a:r>
                  <a:rPr lang="es-PE" sz="900" b="1" i="0" dirty="0">
                    <a:solidFill>
                      <a:schemeClr val="tx1"/>
                    </a:solidFill>
                    <a:effectLst/>
                    <a:latin typeface="Segoe WPC"/>
                  </a:rPr>
                  <a:t> </a:t>
                </a:r>
                <a:r>
                  <a:rPr lang="es-PE" sz="900" b="1" i="0" dirty="0" err="1">
                    <a:solidFill>
                      <a:schemeClr val="tx1"/>
                    </a:solidFill>
                    <a:effectLst/>
                    <a:latin typeface="Segoe WPC"/>
                  </a:rPr>
                  <a:t>Volatility</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Estimating</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historical</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data.</a:t>
                </a:r>
              </a:p>
              <a:p>
                <a:pPr algn="l">
                  <a:spcBef>
                    <a:spcPts val="300"/>
                  </a:spcBef>
                </a:pP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estimated</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log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consecutive </a:t>
                </a:r>
                <a:r>
                  <a:rPr lang="es-PE" sz="900" b="0" i="0" dirty="0" err="1">
                    <a:solidFill>
                      <a:schemeClr val="tx1"/>
                    </a:solidFill>
                    <a:effectLst/>
                    <a:latin typeface="Segoe WPC"/>
                  </a:rPr>
                  <a:t>observations</a:t>
                </a:r>
                <a:r>
                  <a:rPr lang="es-PE" sz="900" b="0" i="0" dirty="0">
                    <a:solidFill>
                      <a:schemeClr val="tx1"/>
                    </a:solidFill>
                    <a:effectLst/>
                    <a:latin typeface="Segoe WPC"/>
                  </a:rPr>
                  <a:t> and </a:t>
                </a:r>
                <a:r>
                  <a:rPr lang="es-PE" sz="900" b="0" i="0" dirty="0" err="1">
                    <a:solidFill>
                      <a:schemeClr val="tx1"/>
                    </a:solidFill>
                    <a:effectLst/>
                    <a:latin typeface="Segoe WPC"/>
                  </a:rPr>
                  <a:t>then</a:t>
                </a:r>
                <a:r>
                  <a:rPr lang="es-PE" sz="900" b="0" i="0" dirty="0">
                    <a:solidFill>
                      <a:schemeClr val="tx1"/>
                    </a:solidFill>
                    <a:effectLst/>
                    <a:latin typeface="Segoe WPC"/>
                  </a:rPr>
                  <a:t> </a:t>
                </a:r>
                <a:r>
                  <a:rPr lang="es-PE" sz="900" b="0" i="0" dirty="0" err="1">
                    <a:solidFill>
                      <a:schemeClr val="tx1"/>
                    </a:solidFill>
                    <a:effectLst/>
                    <a:latin typeface="Segoe WPC"/>
                  </a:rPr>
                  <a:t>annualized</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greater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dispersion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log </a:t>
                </a:r>
                <a:r>
                  <a:rPr lang="es-PE" sz="900" b="0" i="0" dirty="0" err="1">
                    <a:solidFill>
                      <a:schemeClr val="tx1"/>
                    </a:solidFill>
                    <a:effectLst/>
                    <a:latin typeface="Segoe WPC"/>
                  </a:rPr>
                  <a:t>returns</a:t>
                </a:r>
                <a:r>
                  <a:rPr lang="es-PE" sz="900" b="0" i="0" dirty="0">
                    <a:solidFill>
                      <a:schemeClr val="tx1"/>
                    </a:solidFill>
                    <a:effectLst/>
                    <a:latin typeface="Segoe WPC"/>
                  </a:rPr>
                  <a:t> </a:t>
                </a:r>
                <a:r>
                  <a:rPr lang="es-PE" sz="900" b="0" i="0" dirty="0" err="1">
                    <a:solidFill>
                      <a:schemeClr val="tx1"/>
                    </a:solidFill>
                    <a:effectLst/>
                    <a:latin typeface="Segoe WPC"/>
                  </a:rPr>
                  <a:t>around</a:t>
                </a:r>
                <a:r>
                  <a:rPr lang="es-PE" sz="900" b="0" i="0" dirty="0">
                    <a:solidFill>
                      <a:schemeClr val="tx1"/>
                    </a:solidFill>
                    <a:effectLst/>
                    <a:latin typeface="Segoe WPC"/>
                  </a:rPr>
                  <a:t> </a:t>
                </a:r>
                <a:r>
                  <a:rPr lang="es-PE" sz="900" b="0" i="0" dirty="0" err="1">
                    <a:solidFill>
                      <a:schemeClr val="tx1"/>
                    </a:solidFill>
                    <a:effectLst/>
                    <a:latin typeface="Segoe WPC"/>
                  </a:rPr>
                  <a:t>their</a:t>
                </a:r>
                <a:r>
                  <a:rPr lang="es-PE" sz="900" b="0" i="0" dirty="0">
                    <a:solidFill>
                      <a:schemeClr val="tx1"/>
                    </a:solidFill>
                    <a:effectLst/>
                    <a:latin typeface="Segoe WPC"/>
                  </a:rPr>
                  <a:t> mean,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greater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𝑢</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r>
                      <m:rPr>
                        <m:sty m:val="p"/>
                      </m:rPr>
                      <a:rPr lang="es-PE" sz="900" i="0">
                        <a:solidFill>
                          <a:schemeClr val="tx1"/>
                        </a:solidFill>
                        <a:latin typeface="Cambria Math" panose="02040503050406030204" pitchFamily="18" charset="0"/>
                      </a:rPr>
                      <m:t>ln</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𝑖</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1">
                                <a:solidFill>
                                  <a:schemeClr val="tx1"/>
                                </a:solidFill>
                                <a:latin typeface="Cambria Math" panose="02040503050406030204" pitchFamily="18" charset="0"/>
                              </a:rPr>
                              <m:t>𝑖</m:t>
                            </m:r>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sub>
                        </m:sSub>
                      </m:e>
                    </m:d>
                  </m:oMath>
                </a14:m>
                <a:r>
                  <a:rPr lang="ar-AE" sz="900" b="0" i="0" dirty="0">
                    <a:solidFill>
                      <a:schemeClr val="tx1"/>
                    </a:solidFill>
                    <a:effectLst/>
                    <a:latin typeface="Segoe WPC"/>
                  </a:rPr>
                  <a:t>, </a:t>
                </a:r>
                <a14:m>
                  <m:oMath xmlns:m="http://schemas.openxmlformats.org/officeDocument/2006/math">
                    <m:acc>
                      <m:accPr>
                        <m:chr m:val="̂"/>
                        <m:ctrlPr>
                          <a:rPr lang="ar-AE" sz="900" i="1">
                            <a:solidFill>
                              <a:schemeClr val="tx1"/>
                            </a:solidFill>
                            <a:latin typeface="Cambria Math" panose="02040503050406030204" pitchFamily="18" charset="0"/>
                          </a:rPr>
                        </m:ctrlPr>
                      </m:accPr>
                      <m:e>
                        <m:r>
                          <a:rPr lang="ar-AE" sz="900" i="1">
                            <a:solidFill>
                              <a:schemeClr val="tx1"/>
                            </a:solidFill>
                            <a:latin typeface="Cambria Math" panose="02040503050406030204" pitchFamily="18" charset="0"/>
                          </a:rPr>
                          <m:t>𝜎</m:t>
                        </m:r>
                      </m:e>
                    </m:acc>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𝑠</m:t>
                    </m:r>
                    <m:r>
                      <a:rPr lang="ar-AE" sz="900" i="0">
                        <a:solidFill>
                          <a:schemeClr val="tx1"/>
                        </a:solidFill>
                        <a:latin typeface="Cambria Math" panose="02040503050406030204" pitchFamily="18" charset="0"/>
                      </a:rPr>
                      <m:t>/</m:t>
                    </m:r>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𝜏</m:t>
                        </m:r>
                      </m:e>
                    </m:rad>
                  </m:oMath>
                </a14:m>
                <a:endParaRPr lang="ar-A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Here, </a:t>
                </a:r>
                <a14:m>
                  <m:oMath xmlns:m="http://schemas.openxmlformats.org/officeDocument/2006/math">
                    <m:r>
                      <a:rPr lang="es-PE" sz="900" i="1">
                        <a:solidFill>
                          <a:schemeClr val="tx1"/>
                        </a:solidFill>
                        <a:latin typeface="Cambria Math" panose="02040503050406030204" pitchFamily="18" charset="0"/>
                      </a:rPr>
                      <m:t>𝑠</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sample</a:t>
                </a:r>
                <a:r>
                  <a:rPr lang="es-PE" sz="900" b="0" i="0" dirty="0">
                    <a:solidFill>
                      <a:schemeClr val="tx1"/>
                    </a:solidFill>
                    <a:effectLst/>
                    <a:latin typeface="Segoe WPC"/>
                  </a:rPr>
                  <a:t> standard </a:t>
                </a:r>
                <a:r>
                  <a:rPr lang="es-PE" sz="900" b="0" i="0" dirty="0" err="1">
                    <a:solidFill>
                      <a:schemeClr val="tx1"/>
                    </a:solidFill>
                    <a:effectLst/>
                    <a:latin typeface="Segoe WPC"/>
                  </a:rPr>
                  <a:t>deviation</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log </a:t>
                </a:r>
                <a:r>
                  <a:rPr lang="es-PE" sz="900" b="0" i="0" dirty="0" err="1">
                    <a:solidFill>
                      <a:schemeClr val="tx1"/>
                    </a:solidFill>
                    <a:effectLst/>
                    <a:latin typeface="Segoe WPC"/>
                  </a:rPr>
                  <a:t>returns</a:t>
                </a:r>
                <a:r>
                  <a:rPr lang="es-PE" sz="900" b="0" i="0" dirty="0">
                    <a:solidFill>
                      <a:schemeClr val="tx1"/>
                    </a:solidFill>
                    <a:effectLst/>
                    <a:latin typeface="Segoe WPC"/>
                  </a:rPr>
                  <a:t> and </a:t>
                </a:r>
                <a14:m>
                  <m:oMath xmlns:m="http://schemas.openxmlformats.org/officeDocument/2006/math">
                    <m:r>
                      <a:rPr lang="es-PE" sz="900" i="1">
                        <a:solidFill>
                          <a:schemeClr val="tx1"/>
                        </a:solidFill>
                        <a:latin typeface="Cambria Math" panose="02040503050406030204" pitchFamily="18" charset="0"/>
                      </a:rPr>
                      <m:t>𝜏</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time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observations</a:t>
                </a:r>
                <a:r>
                  <a:rPr lang="es-PE" sz="900" b="0" i="0" dirty="0">
                    <a:solidFill>
                      <a:schemeClr val="tx1"/>
                    </a:solidFill>
                    <a:effectLst/>
                    <a:latin typeface="Segoe WPC"/>
                  </a:rPr>
                  <a:t> in </a:t>
                </a:r>
                <a:r>
                  <a:rPr lang="es-PE" sz="900" b="0" i="0" dirty="0" err="1">
                    <a:solidFill>
                      <a:schemeClr val="tx1"/>
                    </a:solidFill>
                    <a:effectLst/>
                    <a:latin typeface="Segoe WPC"/>
                  </a:rPr>
                  <a:t>years</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Ex-dividend</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drops</a:t>
                </a:r>
                <a:r>
                  <a:rPr lang="es-PE" sz="900" b="0" i="0" dirty="0">
                    <a:solidFill>
                      <a:schemeClr val="tx1"/>
                    </a:solidFill>
                    <a:effectLst/>
                    <a:latin typeface="Segoe WPC"/>
                  </a:rPr>
                  <a:t> can </a:t>
                </a:r>
                <a:r>
                  <a:rPr lang="es-PE" sz="900" b="0" i="0" dirty="0" err="1">
                    <a:solidFill>
                      <a:schemeClr val="tx1"/>
                    </a:solidFill>
                    <a:effectLst/>
                    <a:latin typeface="Segoe WPC"/>
                  </a:rPr>
                  <a:t>distort</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estimates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individual stocks.</a:t>
                </a:r>
              </a:p>
              <a:p>
                <a:pPr marL="171450" indent="-171450" algn="l">
                  <a:spcBef>
                    <a:spcPts val="300"/>
                  </a:spcBef>
                  <a:buFont typeface="Wingdings" panose="05000000000000000000" pitchFamily="2" charset="2"/>
                  <a:buChar char="q"/>
                </a:pPr>
                <a:r>
                  <a:rPr lang="es-PE" sz="900" b="1" i="0" dirty="0" err="1">
                    <a:solidFill>
                      <a:schemeClr val="tx1"/>
                    </a:solidFill>
                    <a:effectLst/>
                    <a:latin typeface="Segoe WPC"/>
                  </a:rPr>
                  <a:t>Measuring</a:t>
                </a:r>
                <a:r>
                  <a:rPr lang="es-PE" sz="900" b="1" i="0" dirty="0">
                    <a:solidFill>
                      <a:schemeClr val="tx1"/>
                    </a:solidFill>
                    <a:effectLst/>
                    <a:latin typeface="Segoe WPC"/>
                  </a:rPr>
                  <a:t> Time</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Time </a:t>
                </a:r>
                <a:r>
                  <a:rPr lang="es-PE" sz="900" b="0" i="0" dirty="0" err="1">
                    <a:solidFill>
                      <a:schemeClr val="tx1"/>
                    </a:solidFill>
                    <a:effectLst/>
                    <a:latin typeface="Segoe WPC"/>
                  </a:rPr>
                  <a:t>scaling</a:t>
                </a:r>
                <a:r>
                  <a:rPr lang="es-PE" sz="900" b="0" i="0" dirty="0">
                    <a:solidFill>
                      <a:schemeClr val="tx1"/>
                    </a:solidFill>
                    <a:effectLst/>
                    <a:latin typeface="Segoe WPC"/>
                  </a:rPr>
                  <a:t> in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estimation</a:t>
                </a:r>
                <a:r>
                  <a:rPr lang="es-PE" sz="900" b="0" i="0" dirty="0">
                    <a:solidFill>
                      <a:schemeClr val="tx1"/>
                    </a:solidFill>
                    <a:effectLst/>
                    <a:latin typeface="Segoe WPC"/>
                  </a:rPr>
                  <a:t> and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valuation</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In derivatives </a:t>
                </a:r>
                <a:r>
                  <a:rPr lang="es-PE" sz="900" b="0" i="0" dirty="0" err="1">
                    <a:solidFill>
                      <a:schemeClr val="tx1"/>
                    </a:solidFill>
                    <a:effectLst/>
                    <a:latin typeface="Segoe WPC"/>
                  </a:rPr>
                  <a:t>markets</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treated</a:t>
                </a:r>
                <a:r>
                  <a:rPr lang="es-PE" sz="900" b="0" i="0" dirty="0">
                    <a:solidFill>
                      <a:schemeClr val="tx1"/>
                    </a:solidFill>
                    <a:effectLst/>
                    <a:latin typeface="Segoe WPC"/>
                  </a:rPr>
                  <a:t> as a trading-time </a:t>
                </a:r>
                <a:r>
                  <a:rPr lang="es-PE" sz="900" b="0" i="0" dirty="0" err="1">
                    <a:solidFill>
                      <a:schemeClr val="tx1"/>
                    </a:solidFill>
                    <a:effectLst/>
                    <a:latin typeface="Segoe WPC"/>
                  </a:rPr>
                  <a:t>phenomenon</a:t>
                </a:r>
                <a:r>
                  <a:rPr lang="es-PE" sz="900" b="0" i="0" dirty="0">
                    <a:solidFill>
                      <a:schemeClr val="tx1"/>
                    </a:solidFill>
                    <a:effectLst/>
                    <a:latin typeface="Segoe WPC"/>
                  </a:rPr>
                  <a:t>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 calendar-time </a:t>
                </a:r>
                <a:r>
                  <a:rPr lang="es-PE" sz="900" b="0" i="0" dirty="0" err="1">
                    <a:solidFill>
                      <a:schemeClr val="tx1"/>
                    </a:solidFill>
                    <a:effectLst/>
                    <a:latin typeface="Segoe WPC"/>
                  </a:rPr>
                  <a:t>phenomenon</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weekend</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generate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variance</a:t>
                </a:r>
                <a:r>
                  <a:rPr lang="es-PE" sz="900" b="0" i="0" dirty="0">
                    <a:solidFill>
                      <a:schemeClr val="tx1"/>
                    </a:solidFill>
                    <a:effectLst/>
                    <a:latin typeface="Segoe WPC"/>
                  </a:rPr>
                  <a:t> as </a:t>
                </a:r>
                <a:r>
                  <a:rPr lang="es-PE" sz="900" b="0" i="0" dirty="0" err="1">
                    <a:solidFill>
                      <a:schemeClr val="tx1"/>
                    </a:solidFill>
                    <a:effectLst/>
                    <a:latin typeface="Segoe WPC"/>
                  </a:rPr>
                  <a:t>three</a:t>
                </a:r>
                <a:r>
                  <a:rPr lang="es-PE" sz="900" b="0" i="0" dirty="0">
                    <a:solidFill>
                      <a:schemeClr val="tx1"/>
                    </a:solidFill>
                    <a:effectLst/>
                    <a:latin typeface="Segoe WPC"/>
                  </a:rPr>
                  <a:t> full trading </a:t>
                </a:r>
                <a:r>
                  <a:rPr lang="es-PE" sz="900" b="0" i="0" dirty="0" err="1">
                    <a:solidFill>
                      <a:schemeClr val="tx1"/>
                    </a:solidFill>
                    <a:effectLst/>
                    <a:latin typeface="Segoe WPC"/>
                  </a:rPr>
                  <a:t>days</a:t>
                </a:r>
                <a:r>
                  <a:rPr lang="es-PE" sz="900" b="0" i="0" dirty="0">
                    <a:solidFill>
                      <a:schemeClr val="tx1"/>
                    </a:solidFill>
                    <a:effectLst/>
                    <a:latin typeface="Segoe WPC"/>
                  </a:rPr>
                  <a:t>, so time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measured</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trading </a:t>
                </a:r>
                <a:r>
                  <a:rPr lang="es-PE" sz="900" b="0" i="0" dirty="0" err="1">
                    <a:solidFill>
                      <a:schemeClr val="tx1"/>
                    </a:solidFill>
                    <a:effectLst/>
                    <a:latin typeface="Segoe WPC"/>
                  </a:rPr>
                  <a:t>days</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𝑎𝑛𝑛𝑢𝑎𝑙</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𝜎</m:t>
                        </m:r>
                      </m:e>
                      <m:sub>
                        <m:r>
                          <a:rPr lang="ar-AE" sz="900" i="1">
                            <a:solidFill>
                              <a:schemeClr val="tx1"/>
                            </a:solidFill>
                            <a:latin typeface="Cambria Math" panose="02040503050406030204" pitchFamily="18" charset="0"/>
                          </a:rPr>
                          <m:t>𝑑𝑎𝑖𝑙𝑦</m:t>
                        </m:r>
                      </m:sub>
                    </m:sSub>
                    <m:rad>
                      <m:radPr>
                        <m:degHide m:val="on"/>
                        <m:ctrlPr>
                          <a:rPr lang="ar-AE" sz="900" i="1">
                            <a:solidFill>
                              <a:schemeClr val="tx1"/>
                            </a:solidFill>
                            <a:latin typeface="Cambria Math" panose="02040503050406030204" pitchFamily="18" charset="0"/>
                          </a:rPr>
                        </m:ctrlPr>
                      </m:radPr>
                      <m:deg/>
                      <m:e>
                        <m:r>
                          <a:rPr lang="ar-AE" sz="900" i="0">
                            <a:solidFill>
                              <a:schemeClr val="tx1"/>
                            </a:solidFill>
                            <a:latin typeface="Cambria Math" panose="02040503050406030204" pitchFamily="18" charset="0"/>
                          </a:rPr>
                          <m:t>252</m:t>
                        </m:r>
                      </m:e>
                    </m:rad>
                  </m:oMath>
                </a14:m>
                <a:endParaRPr lang="ar-A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has 56 trading </a:t>
                </a:r>
                <a:r>
                  <a:rPr lang="es-PE" sz="900" b="0" i="0" dirty="0" err="1">
                    <a:solidFill>
                      <a:schemeClr val="tx1"/>
                    </a:solidFill>
                    <a:effectLst/>
                    <a:latin typeface="Segoe WPC"/>
                  </a:rPr>
                  <a:t>days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 </a:t>
                </a:r>
                <a:r>
                  <a:rPr lang="es-PE" sz="900" b="0" i="0" dirty="0" err="1">
                    <a:solidFill>
                      <a:schemeClr val="tx1"/>
                    </a:solidFill>
                    <a:effectLst/>
                    <a:latin typeface="Segoe WPC"/>
                  </a:rPr>
                  <a:t>then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𝑇</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56</m:t>
                    </m:r>
                    <m:r>
                      <a:rPr lang="es-PE" sz="900" i="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252</m:t>
                    </m:r>
                  </m:oMath>
                </a14:m>
                <a:r>
                  <a:rPr lang="es-PE" sz="900" b="0" i="0" dirty="0">
                    <a:solidFill>
                      <a:schemeClr val="tx1"/>
                    </a:solidFill>
                    <a:effectLst/>
                    <a:latin typeface="Segoe WPC"/>
                  </a:rPr>
                  <a:t> </a:t>
                </a:r>
                <a:r>
                  <a:rPr lang="es-PE" sz="900" b="0" i="0" dirty="0" err="1">
                    <a:solidFill>
                      <a:schemeClr val="tx1"/>
                    </a:solidFill>
                    <a:effectLst/>
                    <a:latin typeface="Segoe WPC"/>
                  </a:rPr>
                  <a:t>years</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Currency</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often</a:t>
                </a:r>
                <a:r>
                  <a:rPr lang="es-PE" sz="900" b="0" i="0" dirty="0">
                    <a:solidFill>
                      <a:schemeClr val="tx1"/>
                    </a:solidFill>
                    <a:effectLst/>
                    <a:latin typeface="Segoe WPC"/>
                  </a:rPr>
                  <a:t> use 262 trading </a:t>
                </a:r>
                <a:r>
                  <a:rPr lang="es-PE" sz="900" b="0" i="0" dirty="0" err="1">
                    <a:solidFill>
                      <a:schemeClr val="tx1"/>
                    </a:solidFill>
                    <a:effectLst/>
                    <a:latin typeface="Segoe WPC"/>
                  </a:rPr>
                  <a:t>days</a:t>
                </a:r>
                <a:r>
                  <a:rPr lang="es-PE" sz="900" b="0" i="0" dirty="0">
                    <a:solidFill>
                      <a:schemeClr val="tx1"/>
                    </a:solidFill>
                    <a:effectLst/>
                    <a:latin typeface="Segoe WPC"/>
                  </a:rPr>
                  <a:t> </a:t>
                </a:r>
                <a:r>
                  <a:rPr lang="es-PE" sz="900" b="0" i="0" dirty="0" err="1">
                    <a:solidFill>
                      <a:schemeClr val="tx1"/>
                    </a:solidFill>
                    <a:effectLst/>
                    <a:latin typeface="Segoe WPC"/>
                  </a:rPr>
                  <a:t>rather</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252.</a:t>
                </a:r>
              </a:p>
            </p:txBody>
          </p:sp>
        </mc:Choice>
        <mc:Fallback xmlns="">
          <p:sp>
            <p:nvSpPr>
              <p:cNvPr id="5" name="CuadroTexto 4">
                <a:extLst>
                  <a:ext uri="{FF2B5EF4-FFF2-40B4-BE49-F238E27FC236}">
                    <a16:creationId xmlns:a16="http://schemas.microsoft.com/office/drawing/2014/main" id="{A7D2D557-795C-9CA4-9703-054358FDDA04}"/>
                  </a:ext>
                </a:extLst>
              </p:cNvPr>
              <p:cNvSpPr txBox="1">
                <a:spLocks noRot="1" noChangeAspect="1" noMove="1" noResize="1" noEditPoints="1" noAdjustHandles="1" noChangeArrowheads="1" noChangeShapeType="1" noTextEdit="1"/>
              </p:cNvSpPr>
              <p:nvPr/>
            </p:nvSpPr>
            <p:spPr>
              <a:xfrm>
                <a:off x="76200" y="428626"/>
                <a:ext cx="6508750" cy="6100966"/>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B8BABE18-8823-31FC-243A-AE18EC18D348}"/>
                  </a:ext>
                </a:extLst>
              </p:cNvPr>
              <p:cNvSpPr txBox="1"/>
              <p:nvPr/>
            </p:nvSpPr>
            <p:spPr>
              <a:xfrm>
                <a:off x="6376988" y="525188"/>
                <a:ext cx="6137274" cy="5553893"/>
              </a:xfrm>
              <a:prstGeom prst="rect">
                <a:avLst/>
              </a:prstGeom>
              <a:noFill/>
            </p:spPr>
            <p:txBody>
              <a:bodyPr wrap="square">
                <a:spAutoFit/>
              </a:bodyPr>
              <a:lstStyle/>
              <a:p>
                <a:pPr marL="171450" indent="-171450">
                  <a:spcBef>
                    <a:spcPts val="300"/>
                  </a:spcBef>
                  <a:buFont typeface="Wingdings" panose="05000000000000000000" pitchFamily="2" charset="2"/>
                  <a:buChar char="q"/>
                </a:pPr>
                <a:r>
                  <a:rPr lang="es-PE" sz="900" b="1" dirty="0">
                    <a:latin typeface="Segoe WPC"/>
                  </a:rPr>
                  <a:t>BSM </a:t>
                </a:r>
                <a:r>
                  <a:rPr lang="es-PE" sz="900" b="1" dirty="0" err="1">
                    <a:latin typeface="Segoe WPC"/>
                  </a:rPr>
                  <a:t>Assumptions</a:t>
                </a:r>
                <a:endParaRPr lang="es-PE" sz="900" dirty="0">
                  <a:latin typeface="Segoe WPC"/>
                </a:endParaRPr>
              </a:p>
              <a:p>
                <a:pPr>
                  <a:spcBef>
                    <a:spcPts val="300"/>
                  </a:spcBef>
                </a:pPr>
                <a:r>
                  <a:rPr lang="es-PE" sz="900" b="1" dirty="0" err="1">
                    <a:latin typeface="Segoe WPC"/>
                  </a:rPr>
                  <a:t>Financial</a:t>
                </a:r>
                <a:r>
                  <a:rPr lang="es-PE" sz="900" b="1" dirty="0">
                    <a:latin typeface="Segoe WPC"/>
                  </a:rPr>
                  <a:t> </a:t>
                </a:r>
                <a:r>
                  <a:rPr lang="es-PE" sz="900" b="1" dirty="0" err="1">
                    <a:latin typeface="Segoe WPC"/>
                  </a:rPr>
                  <a:t>Object</a:t>
                </a:r>
                <a:r>
                  <a:rPr lang="es-PE" sz="900" b="1" dirty="0">
                    <a:latin typeface="Segoe WPC"/>
                  </a:rPr>
                  <a:t>:</a:t>
                </a:r>
                <a:r>
                  <a:rPr lang="es-PE" sz="900" dirty="0">
                    <a:latin typeface="Segoe WPC"/>
                  </a:rPr>
                  <a:t> </a:t>
                </a:r>
                <a:r>
                  <a:rPr lang="es-PE" sz="900" dirty="0" err="1">
                    <a:latin typeface="Segoe WPC"/>
                  </a:rPr>
                  <a:t>The</a:t>
                </a:r>
                <a:r>
                  <a:rPr lang="es-PE" sz="900" dirty="0">
                    <a:latin typeface="Segoe WPC"/>
                  </a:rPr>
                  <a:t> </a:t>
                </a:r>
                <a:r>
                  <a:rPr lang="es-PE" sz="900" dirty="0" err="1">
                    <a:latin typeface="Segoe WPC"/>
                  </a:rPr>
                  <a:t>assumptions</a:t>
                </a:r>
                <a:r>
                  <a:rPr lang="es-PE" sz="900" dirty="0">
                    <a:latin typeface="Segoe WPC"/>
                  </a:rPr>
                  <a:t> </a:t>
                </a:r>
                <a:r>
                  <a:rPr lang="es-PE" sz="900" dirty="0" err="1">
                    <a:latin typeface="Segoe WPC"/>
                  </a:rPr>
                  <a:t>required</a:t>
                </a:r>
                <a:r>
                  <a:rPr lang="es-PE" sz="900" dirty="0">
                    <a:latin typeface="Segoe WPC"/>
                  </a:rPr>
                  <a:t> </a:t>
                </a:r>
                <a:r>
                  <a:rPr lang="es-PE" sz="900" dirty="0" err="1">
                    <a:latin typeface="Segoe WPC"/>
                  </a:rPr>
                  <a:t>for</a:t>
                </a:r>
                <a:r>
                  <a:rPr lang="es-PE" sz="900" dirty="0">
                    <a:latin typeface="Segoe WPC"/>
                  </a:rPr>
                  <a:t> </a:t>
                </a:r>
                <a:r>
                  <a:rPr lang="es-PE" sz="900" dirty="0" err="1">
                    <a:latin typeface="Segoe WPC"/>
                  </a:rPr>
                  <a:t>the</a:t>
                </a:r>
                <a:r>
                  <a:rPr lang="es-PE" sz="900" dirty="0">
                    <a:latin typeface="Segoe WPC"/>
                  </a:rPr>
                  <a:t> Black-Scholes-Merton </a:t>
                </a:r>
                <a:r>
                  <a:rPr lang="es-PE" sz="900" dirty="0" err="1">
                    <a:latin typeface="Segoe WPC"/>
                  </a:rPr>
                  <a:t>pricing</a:t>
                </a:r>
                <a:r>
                  <a:rPr lang="es-PE" sz="900" dirty="0">
                    <a:latin typeface="Segoe WPC"/>
                  </a:rPr>
                  <a:t> </a:t>
                </a:r>
                <a:r>
                  <a:rPr lang="es-PE" sz="900" dirty="0" err="1">
                    <a:latin typeface="Segoe WPC"/>
                  </a:rPr>
                  <a:t>model</a:t>
                </a:r>
                <a:r>
                  <a:rPr lang="es-PE" sz="900" dirty="0">
                    <a:latin typeface="Segoe WPC"/>
                  </a:rPr>
                  <a:t>.</a:t>
                </a:r>
              </a:p>
              <a:p>
                <a:pPr>
                  <a:spcBef>
                    <a:spcPts val="300"/>
                  </a:spcBef>
                </a:pPr>
                <a:r>
                  <a:rPr lang="es-PE" sz="900" b="1" dirty="0" err="1">
                    <a:latin typeface="Segoe WPC"/>
                  </a:rPr>
                  <a:t>Plain</a:t>
                </a:r>
                <a:r>
                  <a:rPr lang="es-PE" sz="900" b="1" dirty="0">
                    <a:latin typeface="Segoe WPC"/>
                  </a:rPr>
                  <a:t> </a:t>
                </a:r>
                <a:r>
                  <a:rPr lang="es-PE" sz="900" b="1" dirty="0" err="1">
                    <a:latin typeface="Segoe WPC"/>
                  </a:rPr>
                  <a:t>Intuition</a:t>
                </a:r>
                <a:r>
                  <a:rPr lang="es-PE" sz="900" b="1" dirty="0">
                    <a:latin typeface="Segoe WPC"/>
                  </a:rPr>
                  <a:t>:</a:t>
                </a:r>
                <a:r>
                  <a:rPr lang="es-PE" sz="900" dirty="0">
                    <a:latin typeface="Segoe WPC"/>
                  </a:rPr>
                  <a:t> </a:t>
                </a:r>
                <a:r>
                  <a:rPr lang="es-PE" sz="900" dirty="0" err="1">
                    <a:latin typeface="Segoe WPC"/>
                  </a:rPr>
                  <a:t>The</a:t>
                </a:r>
                <a:r>
                  <a:rPr lang="es-PE" sz="900" dirty="0">
                    <a:latin typeface="Segoe WPC"/>
                  </a:rPr>
                  <a:t> </a:t>
                </a:r>
                <a:r>
                  <a:rPr lang="es-PE" sz="900" dirty="0" err="1">
                    <a:latin typeface="Segoe WPC"/>
                  </a:rPr>
                  <a:t>model</a:t>
                </a:r>
                <a:r>
                  <a:rPr lang="es-PE" sz="900" dirty="0">
                    <a:latin typeface="Segoe WPC"/>
                  </a:rPr>
                  <a:t> </a:t>
                </a:r>
                <a:r>
                  <a:rPr lang="es-PE" sz="900" dirty="0" err="1">
                    <a:latin typeface="Segoe WPC"/>
                  </a:rPr>
                  <a:t>relies</a:t>
                </a:r>
                <a:r>
                  <a:rPr lang="es-PE" sz="900" dirty="0">
                    <a:latin typeface="Segoe WPC"/>
                  </a:rPr>
                  <a:t> </a:t>
                </a:r>
                <a:r>
                  <a:rPr lang="es-PE" sz="900" dirty="0" err="1">
                    <a:latin typeface="Segoe WPC"/>
                  </a:rPr>
                  <a:t>on</a:t>
                </a:r>
                <a:r>
                  <a:rPr lang="es-PE" sz="900" dirty="0">
                    <a:latin typeface="Segoe WPC"/>
                  </a:rPr>
                  <a:t> </a:t>
                </a:r>
                <a:r>
                  <a:rPr lang="es-PE" sz="900" dirty="0" err="1">
                    <a:latin typeface="Segoe WPC"/>
                  </a:rPr>
                  <a:t>an</a:t>
                </a:r>
                <a:r>
                  <a:rPr lang="es-PE" sz="900" dirty="0">
                    <a:latin typeface="Segoe WPC"/>
                  </a:rPr>
                  <a:t> </a:t>
                </a:r>
                <a:r>
                  <a:rPr lang="es-PE" sz="900" dirty="0" err="1">
                    <a:latin typeface="Segoe WPC"/>
                  </a:rPr>
                  <a:t>idealized</a:t>
                </a:r>
                <a:r>
                  <a:rPr lang="es-PE" sz="900" dirty="0">
                    <a:latin typeface="Segoe WPC"/>
                  </a:rPr>
                  <a:t> </a:t>
                </a:r>
                <a:r>
                  <a:rPr lang="es-PE" sz="900" dirty="0" err="1">
                    <a:latin typeface="Segoe WPC"/>
                  </a:rPr>
                  <a:t>frictionless</a:t>
                </a:r>
                <a:r>
                  <a:rPr lang="es-PE" sz="900" dirty="0">
                    <a:latin typeface="Segoe WPC"/>
                  </a:rPr>
                  <a:t> </a:t>
                </a:r>
                <a:r>
                  <a:rPr lang="es-PE" sz="900" dirty="0" err="1">
                    <a:latin typeface="Segoe WPC"/>
                  </a:rPr>
                  <a:t>market</a:t>
                </a:r>
                <a:r>
                  <a:rPr lang="es-PE" sz="900" dirty="0">
                    <a:latin typeface="Segoe WPC"/>
                  </a:rPr>
                  <a:t> </a:t>
                </a:r>
                <a:r>
                  <a:rPr lang="es-PE" sz="900" dirty="0" err="1">
                    <a:latin typeface="Segoe WPC"/>
                  </a:rPr>
                  <a:t>to</a:t>
                </a:r>
                <a:r>
                  <a:rPr lang="es-PE" sz="900" dirty="0">
                    <a:latin typeface="Segoe WPC"/>
                  </a:rPr>
                  <a:t> derive </a:t>
                </a:r>
                <a:r>
                  <a:rPr lang="es-PE" sz="900" dirty="0" err="1">
                    <a:latin typeface="Segoe WPC"/>
                  </a:rPr>
                  <a:t>closed-form</a:t>
                </a:r>
                <a:r>
                  <a:rPr lang="es-PE" sz="900" dirty="0">
                    <a:latin typeface="Segoe WPC"/>
                  </a:rPr>
                  <a:t> </a:t>
                </a:r>
                <a:r>
                  <a:rPr lang="es-PE" sz="900" dirty="0" err="1">
                    <a:latin typeface="Segoe WPC"/>
                  </a:rPr>
                  <a:t>pricing</a:t>
                </a:r>
                <a:r>
                  <a:rPr lang="es-PE" sz="900" dirty="0">
                    <a:latin typeface="Segoe WPC"/>
                  </a:rPr>
                  <a:t> formulas.</a:t>
                </a:r>
              </a:p>
              <a:p>
                <a:pPr>
                  <a:spcBef>
                    <a:spcPts val="300"/>
                  </a:spcBef>
                </a:pPr>
                <a:r>
                  <a:rPr lang="es-PE" sz="900" b="1" dirty="0">
                    <a:latin typeface="Segoe WPC"/>
                  </a:rPr>
                  <a:t>Visual </a:t>
                </a:r>
                <a:r>
                  <a:rPr lang="es-PE" sz="900" b="1" dirty="0" err="1">
                    <a:latin typeface="Segoe WPC"/>
                  </a:rPr>
                  <a:t>Intuition</a:t>
                </a:r>
                <a:r>
                  <a:rPr lang="es-PE" sz="900" b="1" dirty="0">
                    <a:latin typeface="Segoe WPC"/>
                  </a:rPr>
                  <a:t>:</a:t>
                </a:r>
                <a:r>
                  <a:rPr lang="es-PE" sz="900" dirty="0">
                    <a:latin typeface="Segoe WPC"/>
                  </a:rPr>
                  <a:t> </a:t>
                </a:r>
                <a:r>
                  <a:rPr lang="es-PE" sz="900" dirty="0" err="1">
                    <a:latin typeface="Segoe WPC"/>
                  </a:rPr>
                  <a:t>By</a:t>
                </a:r>
                <a:r>
                  <a:rPr lang="es-PE" sz="900" dirty="0">
                    <a:latin typeface="Segoe WPC"/>
                  </a:rPr>
                  <a:t> </a:t>
                </a:r>
                <a:r>
                  <a:rPr lang="es-PE" sz="900" dirty="0" err="1">
                    <a:latin typeface="Segoe WPC"/>
                  </a:rPr>
                  <a:t>continuously</a:t>
                </a:r>
                <a:r>
                  <a:rPr lang="es-PE" sz="900" dirty="0">
                    <a:latin typeface="Segoe WPC"/>
                  </a:rPr>
                  <a:t> </a:t>
                </a:r>
                <a:r>
                  <a:rPr lang="es-PE" sz="900" dirty="0" err="1">
                    <a:latin typeface="Segoe WPC"/>
                  </a:rPr>
                  <a:t>adjusting</a:t>
                </a:r>
                <a:r>
                  <a:rPr lang="es-PE" sz="900" dirty="0">
                    <a:latin typeface="Segoe WPC"/>
                  </a:rPr>
                  <a:t> a </a:t>
                </a:r>
                <a:r>
                  <a:rPr lang="es-PE" sz="900" dirty="0" err="1">
                    <a:latin typeface="Segoe WPC"/>
                  </a:rPr>
                  <a:t>hedge</a:t>
                </a:r>
                <a:r>
                  <a:rPr lang="es-PE" sz="900" dirty="0">
                    <a:latin typeface="Segoe WPC"/>
                  </a:rPr>
                  <a:t> </a:t>
                </a:r>
                <a:r>
                  <a:rPr lang="es-PE" sz="900" dirty="0" err="1">
                    <a:latin typeface="Segoe WPC"/>
                  </a:rPr>
                  <a:t>between</a:t>
                </a:r>
                <a:r>
                  <a:rPr lang="es-PE" sz="900" dirty="0">
                    <a:latin typeface="Segoe WPC"/>
                  </a:rPr>
                  <a:t> </a:t>
                </a:r>
                <a:r>
                  <a:rPr lang="es-PE" sz="900" dirty="0" err="1">
                    <a:latin typeface="Segoe WPC"/>
                  </a:rPr>
                  <a:t>the</a:t>
                </a:r>
                <a:r>
                  <a:rPr lang="es-PE" sz="900" dirty="0">
                    <a:latin typeface="Segoe WPC"/>
                  </a:rPr>
                  <a:t> stock and </a:t>
                </a:r>
                <a:r>
                  <a:rPr lang="es-PE" sz="900" dirty="0" err="1">
                    <a:latin typeface="Segoe WPC"/>
                  </a:rPr>
                  <a:t>the</a:t>
                </a:r>
                <a:r>
                  <a:rPr lang="es-PE" sz="900" dirty="0">
                    <a:latin typeface="Segoe WPC"/>
                  </a:rPr>
                  <a:t> </a:t>
                </a:r>
                <a:r>
                  <a:rPr lang="es-PE" sz="900" dirty="0" err="1">
                    <a:latin typeface="Segoe WPC"/>
                  </a:rPr>
                  <a:t>option</a:t>
                </a:r>
                <a:r>
                  <a:rPr lang="es-PE" sz="900" dirty="0">
                    <a:latin typeface="Segoe WPC"/>
                  </a:rPr>
                  <a:t>, local </a:t>
                </a:r>
                <a:r>
                  <a:rPr lang="es-PE" sz="900" dirty="0" err="1">
                    <a:latin typeface="Segoe WPC"/>
                  </a:rPr>
                  <a:t>risk</a:t>
                </a:r>
                <a:r>
                  <a:rPr lang="es-PE" sz="900" dirty="0">
                    <a:latin typeface="Segoe WPC"/>
                  </a:rPr>
                  <a:t> can be </a:t>
                </a:r>
                <a:r>
                  <a:rPr lang="es-PE" sz="900" dirty="0" err="1">
                    <a:latin typeface="Segoe WPC"/>
                  </a:rPr>
                  <a:t>eliminated</a:t>
                </a:r>
                <a:r>
                  <a:rPr lang="es-PE" sz="900" dirty="0">
                    <a:latin typeface="Segoe WPC"/>
                  </a:rPr>
                  <a:t>.</a:t>
                </a:r>
              </a:p>
              <a:p>
                <a:pPr>
                  <a:spcBef>
                    <a:spcPts val="300"/>
                  </a:spcBef>
                </a:pPr>
                <a:r>
                  <a:rPr lang="es-PE" sz="900" b="1" dirty="0">
                    <a:latin typeface="Segoe WPC"/>
                  </a:rPr>
                  <a:t>Key Formula:</a:t>
                </a:r>
                <a:r>
                  <a:rPr lang="es-PE" sz="900" dirty="0">
                    <a:latin typeface="Segoe WPC"/>
                  </a:rPr>
                  <a:t> </a:t>
                </a:r>
                <a14:m>
                  <m:oMath xmlns:m="http://schemas.openxmlformats.org/officeDocument/2006/math">
                    <m:r>
                      <a:rPr lang="es-PE" sz="900" i="1">
                        <a:latin typeface="Cambria Math" panose="02040503050406030204" pitchFamily="18" charset="0"/>
                      </a:rPr>
                      <m:t>𝛥</m:t>
                    </m:r>
                    <m:r>
                      <a:rPr lang="es-PE" sz="900">
                        <a:latin typeface="Cambria Math" panose="02040503050406030204" pitchFamily="18" charset="0"/>
                      </a:rPr>
                      <m:t>=</m:t>
                    </m:r>
                    <m:r>
                      <a:rPr lang="es-PE" sz="900" i="1">
                        <a:latin typeface="Cambria Math" panose="02040503050406030204" pitchFamily="18" charset="0"/>
                      </a:rPr>
                      <m:t>𝜕</m:t>
                    </m:r>
                    <m:r>
                      <a:rPr lang="es-PE" sz="900" i="1">
                        <a:latin typeface="Cambria Math" panose="02040503050406030204" pitchFamily="18" charset="0"/>
                      </a:rPr>
                      <m:t>𝑐</m:t>
                    </m:r>
                    <m:r>
                      <a:rPr lang="es-PE" sz="900">
                        <a:latin typeface="Cambria Math" panose="02040503050406030204" pitchFamily="18" charset="0"/>
                      </a:rPr>
                      <m:t>/</m:t>
                    </m:r>
                    <m:r>
                      <a:rPr lang="es-PE" sz="900" i="1">
                        <a:latin typeface="Cambria Math" panose="02040503050406030204" pitchFamily="18" charset="0"/>
                      </a:rPr>
                      <m:t>𝜕</m:t>
                    </m:r>
                    <m:r>
                      <a:rPr lang="es-PE" sz="900" i="1">
                        <a:latin typeface="Cambria Math" panose="02040503050406030204" pitchFamily="18" charset="0"/>
                      </a:rPr>
                      <m:t>𝑆</m:t>
                    </m:r>
                  </m:oMath>
                </a14:m>
                <a:endParaRPr lang="es-PE" sz="900" dirty="0">
                  <a:latin typeface="Segoe WPC"/>
                </a:endParaRPr>
              </a:p>
              <a:p>
                <a:pPr>
                  <a:spcBef>
                    <a:spcPts val="300"/>
                  </a:spcBef>
                </a:pPr>
                <a:r>
                  <a:rPr lang="es-PE" sz="900" b="1" dirty="0" err="1">
                    <a:latin typeface="Segoe WPC"/>
                  </a:rPr>
                  <a:t>Interpretation</a:t>
                </a:r>
                <a:r>
                  <a:rPr lang="es-PE" sz="900" b="1" dirty="0">
                    <a:latin typeface="Segoe WPC"/>
                  </a:rPr>
                  <a:t>:</a:t>
                </a:r>
                <a:r>
                  <a:rPr lang="es-PE" sz="900" dirty="0">
                    <a:latin typeface="Segoe WPC"/>
                  </a:rPr>
                  <a:t> Delta </a:t>
                </a:r>
                <a:r>
                  <a:rPr lang="es-PE" sz="900" dirty="0" err="1">
                    <a:latin typeface="Segoe WPC"/>
                  </a:rPr>
                  <a:t>measures</a:t>
                </a:r>
                <a:r>
                  <a:rPr lang="es-PE" sz="900" dirty="0">
                    <a:latin typeface="Segoe WPC"/>
                  </a:rPr>
                  <a:t> </a:t>
                </a:r>
                <a:r>
                  <a:rPr lang="es-PE" sz="900" dirty="0" err="1">
                    <a:latin typeface="Segoe WPC"/>
                  </a:rPr>
                  <a:t>the</a:t>
                </a:r>
                <a:r>
                  <a:rPr lang="es-PE" sz="900" dirty="0">
                    <a:latin typeface="Segoe WPC"/>
                  </a:rPr>
                  <a:t> </a:t>
                </a:r>
                <a:r>
                  <a:rPr lang="es-PE" sz="900" dirty="0" err="1">
                    <a:latin typeface="Segoe WPC"/>
                  </a:rPr>
                  <a:t>sensitivity</a:t>
                </a:r>
                <a:r>
                  <a:rPr lang="es-PE" sz="900" dirty="0">
                    <a:latin typeface="Segoe WPC"/>
                  </a:rPr>
                  <a:t> </a:t>
                </a:r>
                <a:r>
                  <a:rPr lang="es-PE" sz="900" dirty="0" err="1">
                    <a:latin typeface="Segoe WPC"/>
                  </a:rPr>
                  <a:t>of</a:t>
                </a:r>
                <a:r>
                  <a:rPr lang="es-PE" sz="900" dirty="0">
                    <a:latin typeface="Segoe WPC"/>
                  </a:rPr>
                  <a:t> </a:t>
                </a:r>
                <a:r>
                  <a:rPr lang="es-PE" sz="900" dirty="0" err="1">
                    <a:latin typeface="Segoe WPC"/>
                  </a:rPr>
                  <a:t>the</a:t>
                </a:r>
                <a:r>
                  <a:rPr lang="es-PE" sz="900" dirty="0">
                    <a:latin typeface="Segoe WPC"/>
                  </a:rPr>
                  <a:t> </a:t>
                </a:r>
                <a:r>
                  <a:rPr lang="es-PE" sz="900" dirty="0" err="1">
                    <a:latin typeface="Segoe WPC"/>
                  </a:rPr>
                  <a:t>call</a:t>
                </a:r>
                <a:r>
                  <a:rPr lang="es-PE" sz="900" dirty="0">
                    <a:latin typeface="Segoe WPC"/>
                  </a:rPr>
                  <a:t> </a:t>
                </a:r>
                <a:r>
                  <a:rPr lang="es-PE" sz="900" dirty="0" err="1">
                    <a:latin typeface="Segoe WPC"/>
                  </a:rPr>
                  <a:t>price</a:t>
                </a:r>
                <a:r>
                  <a:rPr lang="es-PE" sz="900" dirty="0">
                    <a:latin typeface="Segoe WPC"/>
                  </a:rPr>
                  <a:t> </a:t>
                </a:r>
                <a:r>
                  <a:rPr lang="es-PE" sz="900" dirty="0" err="1">
                    <a:latin typeface="Segoe WPC"/>
                  </a:rPr>
                  <a:t>to</a:t>
                </a:r>
                <a:r>
                  <a:rPr lang="es-PE" sz="900" dirty="0">
                    <a:latin typeface="Segoe WPC"/>
                  </a:rPr>
                  <a:t> </a:t>
                </a:r>
                <a:r>
                  <a:rPr lang="es-PE" sz="900" dirty="0" err="1">
                    <a:latin typeface="Segoe WPC"/>
                  </a:rPr>
                  <a:t>the</a:t>
                </a:r>
                <a:r>
                  <a:rPr lang="es-PE" sz="900" dirty="0">
                    <a:latin typeface="Segoe WPC"/>
                  </a:rPr>
                  <a:t> stock </a:t>
                </a:r>
                <a:r>
                  <a:rPr lang="es-PE" sz="900" dirty="0" err="1">
                    <a:latin typeface="Segoe WPC"/>
                  </a:rPr>
                  <a:t>price</a:t>
                </a:r>
                <a:r>
                  <a:rPr lang="es-PE" sz="900" dirty="0">
                    <a:latin typeface="Segoe WPC"/>
                  </a:rPr>
                  <a:t>.</a:t>
                </a:r>
              </a:p>
              <a:p>
                <a:pPr>
                  <a:spcBef>
                    <a:spcPts val="300"/>
                  </a:spcBef>
                </a:pPr>
                <a:r>
                  <a:rPr lang="es-PE" sz="900" b="1" dirty="0" err="1">
                    <a:latin typeface="Segoe WPC"/>
                  </a:rPr>
                  <a:t>Exam</a:t>
                </a:r>
                <a:r>
                  <a:rPr lang="es-PE" sz="900" b="1" dirty="0">
                    <a:latin typeface="Segoe WPC"/>
                  </a:rPr>
                  <a:t> </a:t>
                </a:r>
                <a:r>
                  <a:rPr lang="es-PE" sz="900" b="1" dirty="0" err="1">
                    <a:latin typeface="Segoe WPC"/>
                  </a:rPr>
                  <a:t>Trap</a:t>
                </a:r>
                <a:r>
                  <a:rPr lang="es-PE" sz="900" b="1" dirty="0">
                    <a:latin typeface="Segoe WPC"/>
                  </a:rPr>
                  <a:t>:</a:t>
                </a:r>
                <a:r>
                  <a:rPr lang="es-PE" sz="900" dirty="0">
                    <a:latin typeface="Segoe WPC"/>
                  </a:rPr>
                  <a:t> Key </a:t>
                </a:r>
                <a:r>
                  <a:rPr lang="es-PE" sz="900" dirty="0" err="1">
                    <a:latin typeface="Segoe WPC"/>
                  </a:rPr>
                  <a:t>assumptions</a:t>
                </a:r>
                <a:r>
                  <a:rPr lang="es-PE" sz="900" dirty="0">
                    <a:latin typeface="Segoe WPC"/>
                  </a:rPr>
                  <a:t> are </a:t>
                </a:r>
                <a:r>
                  <a:rPr lang="es-PE" sz="900" dirty="0" err="1">
                    <a:latin typeface="Segoe WPC"/>
                  </a:rPr>
                  <a:t>constant</a:t>
                </a:r>
                <a:r>
                  <a:rPr lang="es-PE" sz="900" dirty="0">
                    <a:latin typeface="Segoe WPC"/>
                  </a:rPr>
                  <a:t> </a:t>
                </a:r>
                <a:r>
                  <a:rPr lang="es-PE" sz="900" dirty="0" err="1">
                    <a:latin typeface="Segoe WPC"/>
                  </a:rPr>
                  <a:t>volatility</a:t>
                </a:r>
                <a:r>
                  <a:rPr lang="es-PE" sz="900" dirty="0">
                    <a:latin typeface="Segoe WPC"/>
                  </a:rPr>
                  <a:t>, </a:t>
                </a:r>
                <a:r>
                  <a:rPr lang="es-PE" sz="900" dirty="0" err="1">
                    <a:latin typeface="Segoe WPC"/>
                  </a:rPr>
                  <a:t>constant</a:t>
                </a:r>
                <a:r>
                  <a:rPr lang="es-PE" sz="900" dirty="0">
                    <a:latin typeface="Segoe WPC"/>
                  </a:rPr>
                  <a:t> </a:t>
                </a:r>
                <a:r>
                  <a:rPr lang="es-PE" sz="900" dirty="0" err="1">
                    <a:latin typeface="Segoe WPC"/>
                  </a:rPr>
                  <a:t>risk</a:t>
                </a:r>
                <a:r>
                  <a:rPr lang="es-PE" sz="900" dirty="0">
                    <a:latin typeface="Segoe WPC"/>
                  </a:rPr>
                  <a:t>-free </a:t>
                </a:r>
                <a:r>
                  <a:rPr lang="es-PE" sz="900" dirty="0" err="1">
                    <a:latin typeface="Segoe WPC"/>
                  </a:rPr>
                  <a:t>rate</a:t>
                </a:r>
                <a:r>
                  <a:rPr lang="es-PE" sz="900" dirty="0">
                    <a:latin typeface="Segoe WPC"/>
                  </a:rPr>
                  <a:t>, no </a:t>
                </a:r>
                <a:r>
                  <a:rPr lang="es-PE" sz="900" dirty="0" err="1">
                    <a:latin typeface="Segoe WPC"/>
                  </a:rPr>
                  <a:t>dividends</a:t>
                </a:r>
                <a:r>
                  <a:rPr lang="es-PE" sz="900" dirty="0">
                    <a:latin typeface="Segoe WPC"/>
                  </a:rPr>
                  <a:t>, no </a:t>
                </a:r>
                <a:r>
                  <a:rPr lang="es-PE" sz="900" dirty="0" err="1">
                    <a:latin typeface="Segoe WPC"/>
                  </a:rPr>
                  <a:t>arbitrage</a:t>
                </a:r>
                <a:r>
                  <a:rPr lang="es-PE" sz="900" dirty="0">
                    <a:latin typeface="Segoe WPC"/>
                  </a:rPr>
                  <a:t>, </a:t>
                </a:r>
                <a:r>
                  <a:rPr lang="es-PE" sz="900" dirty="0" err="1">
                    <a:latin typeface="Segoe WPC"/>
                  </a:rPr>
                  <a:t>continuous</a:t>
                </a:r>
                <a:r>
                  <a:rPr lang="es-PE" sz="900" dirty="0">
                    <a:latin typeface="Segoe WPC"/>
                  </a:rPr>
                  <a:t> trading, no </a:t>
                </a:r>
                <a:r>
                  <a:rPr lang="es-PE" sz="900" dirty="0" err="1">
                    <a:latin typeface="Segoe WPC"/>
                  </a:rPr>
                  <a:t>taxes</a:t>
                </a:r>
                <a:r>
                  <a:rPr lang="es-PE" sz="900" dirty="0">
                    <a:latin typeface="Segoe WPC"/>
                  </a:rPr>
                  <a:t> </a:t>
                </a:r>
                <a:r>
                  <a:rPr lang="es-PE" sz="900" dirty="0" err="1">
                    <a:latin typeface="Segoe WPC"/>
                  </a:rPr>
                  <a:t>or</a:t>
                </a:r>
                <a:r>
                  <a:rPr lang="es-PE" sz="900" dirty="0">
                    <a:latin typeface="Segoe WPC"/>
                  </a:rPr>
                  <a:t> </a:t>
                </a:r>
                <a:r>
                  <a:rPr lang="es-PE" sz="900" dirty="0" err="1">
                    <a:latin typeface="Segoe WPC"/>
                  </a:rPr>
                  <a:t>transaction</a:t>
                </a:r>
                <a:r>
                  <a:rPr lang="es-PE" sz="900" dirty="0">
                    <a:latin typeface="Segoe WPC"/>
                  </a:rPr>
                  <a:t> </a:t>
                </a:r>
                <a:r>
                  <a:rPr lang="es-PE" sz="900" dirty="0" err="1">
                    <a:latin typeface="Segoe WPC"/>
                  </a:rPr>
                  <a:t>costs</a:t>
                </a:r>
                <a:r>
                  <a:rPr lang="es-PE" sz="900" dirty="0">
                    <a:latin typeface="Segoe WPC"/>
                  </a:rPr>
                  <a:t>, and </a:t>
                </a:r>
                <a:r>
                  <a:rPr lang="es-PE" sz="900" dirty="0" err="1">
                    <a:latin typeface="Segoe WPC"/>
                  </a:rPr>
                  <a:t>European</a:t>
                </a:r>
                <a:r>
                  <a:rPr lang="es-PE" sz="900" dirty="0">
                    <a:latin typeface="Segoe WPC"/>
                  </a:rPr>
                  <a:t> </a:t>
                </a:r>
                <a:r>
                  <a:rPr lang="es-PE" sz="900" dirty="0" err="1">
                    <a:latin typeface="Segoe WPC"/>
                  </a:rPr>
                  <a:t>exercise</a:t>
                </a:r>
                <a:r>
                  <a:rPr lang="es-PE" sz="900" dirty="0">
                    <a:latin typeface="Segoe WPC"/>
                  </a:rPr>
                  <a:t>.</a:t>
                </a:r>
              </a:p>
              <a:p>
                <a:pPr marL="171450" indent="-171450" algn="l">
                  <a:spcBef>
                    <a:spcPts val="300"/>
                  </a:spcBef>
                  <a:buFont typeface="Wingdings" panose="05000000000000000000" pitchFamily="2" charset="2"/>
                  <a:buChar char="q"/>
                </a:pPr>
                <a:endParaRPr lang="es-PE" sz="900" b="1" i="0" dirty="0">
                  <a:solidFill>
                    <a:schemeClr val="tx1"/>
                  </a:solidFill>
                  <a:effectLst/>
                  <a:latin typeface="Segoe WPC"/>
                </a:endParaRPr>
              </a:p>
              <a:p>
                <a:pPr marL="171450" indent="-171450" algn="l">
                  <a:spcBef>
                    <a:spcPts val="300"/>
                  </a:spcBef>
                  <a:buFont typeface="Wingdings" panose="05000000000000000000" pitchFamily="2" charset="2"/>
                  <a:buChar char="q"/>
                </a:pPr>
                <a:r>
                  <a:rPr lang="es-PE" sz="900" b="1" i="0" dirty="0">
                    <a:solidFill>
                      <a:schemeClr val="tx1"/>
                    </a:solidFill>
                    <a:effectLst/>
                    <a:latin typeface="Segoe WPC"/>
                  </a:rPr>
                  <a:t>No-</a:t>
                </a:r>
                <a:r>
                  <a:rPr lang="es-PE" sz="900" b="1" i="0" dirty="0" err="1">
                    <a:solidFill>
                      <a:schemeClr val="tx1"/>
                    </a:solidFill>
                    <a:effectLst/>
                    <a:latin typeface="Segoe WPC"/>
                  </a:rPr>
                  <a:t>Arbitrage</a:t>
                </a:r>
                <a:r>
                  <a:rPr lang="es-PE" sz="900" b="1" i="0" dirty="0">
                    <a:solidFill>
                      <a:schemeClr val="tx1"/>
                    </a:solidFill>
                    <a:effectLst/>
                    <a:latin typeface="Segoe WPC"/>
                  </a:rPr>
                  <a:t> and Delta </a:t>
                </a:r>
                <a:r>
                  <a:rPr lang="es-PE" sz="900" b="1" i="0" dirty="0" err="1">
                    <a:solidFill>
                      <a:schemeClr val="tx1"/>
                    </a:solidFill>
                    <a:effectLst/>
                    <a:latin typeface="Segoe WPC"/>
                  </a:rPr>
                  <a:t>Hedging</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Replication</a:t>
                </a:r>
                <a:r>
                  <a:rPr lang="es-PE" sz="900" b="0" i="0" dirty="0">
                    <a:solidFill>
                      <a:schemeClr val="tx1"/>
                    </a:solidFill>
                    <a:effectLst/>
                    <a:latin typeface="Segoe WPC"/>
                  </a:rPr>
                  <a:t> </a:t>
                </a:r>
                <a:r>
                  <a:rPr lang="es-PE" sz="900" b="0" i="0" dirty="0" err="1">
                    <a:solidFill>
                      <a:schemeClr val="tx1"/>
                    </a:solidFill>
                    <a:effectLst/>
                    <a:latin typeface="Segoe WPC"/>
                  </a:rPr>
                  <a:t>argument</a:t>
                </a:r>
                <a:r>
                  <a:rPr lang="es-PE" sz="900" b="0" i="0" dirty="0">
                    <a:solidFill>
                      <a:schemeClr val="tx1"/>
                    </a:solidFill>
                    <a:effectLst/>
                    <a:latin typeface="Segoe WPC"/>
                  </a:rPr>
                  <a:t> </a:t>
                </a:r>
                <a:r>
                  <a:rPr lang="es-PE" sz="900" b="0" i="0" dirty="0" err="1">
                    <a:solidFill>
                      <a:schemeClr val="tx1"/>
                    </a:solidFill>
                    <a:effectLst/>
                    <a:latin typeface="Segoe WPC"/>
                  </a:rPr>
                  <a:t>behind</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pricing</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portfolio </a:t>
                </a:r>
                <a:r>
                  <a:rPr lang="es-PE" sz="900" b="0" i="0" dirty="0" err="1">
                    <a:solidFill>
                      <a:schemeClr val="tx1"/>
                    </a:solidFill>
                    <a:effectLst/>
                    <a:latin typeface="Segoe WPC"/>
                  </a:rPr>
                  <a:t>with</a:t>
                </a:r>
                <a:r>
                  <a:rPr lang="es-PE" sz="900" b="0" i="0" dirty="0">
                    <a:solidFill>
                      <a:schemeClr val="tx1"/>
                    </a:solidFill>
                    <a:effectLst/>
                    <a:latin typeface="Segoe WPC"/>
                  </a:rPr>
                  <a:t> a short </a:t>
                </a:r>
                <a:r>
                  <a:rPr lang="es-PE" sz="900" b="0" i="0" dirty="0" err="1">
                    <a:solidFill>
                      <a:schemeClr val="tx1"/>
                    </a:solidFill>
                    <a:effectLst/>
                    <a:latin typeface="Segoe WPC"/>
                  </a:rPr>
                  <a:t>option</a:t>
                </a:r>
                <a:r>
                  <a:rPr lang="es-PE" sz="900" b="0" i="0" dirty="0">
                    <a:solidFill>
                      <a:schemeClr val="tx1"/>
                    </a:solidFill>
                    <a:effectLst/>
                    <a:latin typeface="Segoe WPC"/>
                  </a:rPr>
                  <a:t> position and a </a:t>
                </a:r>
                <a:r>
                  <a:rPr lang="es-PE" sz="900" b="0" i="0" dirty="0" err="1">
                    <a:solidFill>
                      <a:schemeClr val="tx1"/>
                    </a:solidFill>
                    <a:effectLst/>
                    <a:latin typeface="Segoe WPC"/>
                  </a:rPr>
                  <a:t>long</a:t>
                </a:r>
                <a:r>
                  <a:rPr lang="es-PE" sz="900" b="0" i="0" dirty="0">
                    <a:solidFill>
                      <a:schemeClr val="tx1"/>
                    </a:solidFill>
                    <a:effectLst/>
                    <a:latin typeface="Segoe WPC"/>
                  </a:rPr>
                  <a:t> stock position can be </a:t>
                </a:r>
                <a:r>
                  <a:rPr lang="es-PE" sz="900" b="0" i="0" dirty="0" err="1">
                    <a:solidFill>
                      <a:schemeClr val="tx1"/>
                    </a:solidFill>
                    <a:effectLst/>
                    <a:latin typeface="Segoe WPC"/>
                  </a:rPr>
                  <a:t>made</a:t>
                </a:r>
                <a:r>
                  <a:rPr lang="es-PE" sz="900" b="0" i="0" dirty="0">
                    <a:solidFill>
                      <a:schemeClr val="tx1"/>
                    </a:solidFill>
                    <a:effectLst/>
                    <a:latin typeface="Segoe WPC"/>
                  </a:rPr>
                  <a:t> </a:t>
                </a:r>
                <a:r>
                  <a:rPr lang="es-PE" sz="900" b="0" i="0" dirty="0" err="1">
                    <a:solidFill>
                      <a:schemeClr val="tx1"/>
                    </a:solidFill>
                    <a:effectLst/>
                    <a:latin typeface="Segoe WPC"/>
                  </a:rPr>
                  <a:t>locally</a:t>
                </a:r>
                <a:r>
                  <a:rPr lang="es-PE" sz="900" b="0" i="0" dirty="0">
                    <a:solidFill>
                      <a:schemeClr val="tx1"/>
                    </a:solidFill>
                    <a:effectLst/>
                    <a:latin typeface="Segoe WPC"/>
                  </a:rPr>
                  <a:t> </a:t>
                </a:r>
                <a:r>
                  <a:rPr lang="es-PE" sz="900" b="0" i="0" dirty="0" err="1">
                    <a:solidFill>
                      <a:schemeClr val="tx1"/>
                    </a:solidFill>
                    <a:effectLst/>
                    <a:latin typeface="Segoe WPC"/>
                  </a:rPr>
                  <a:t>riskless</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 holding </a:t>
                </a:r>
                <a:r>
                  <a:rPr lang="es-PE" sz="900" b="0" i="0" dirty="0" err="1">
                    <a:solidFill>
                      <a:schemeClr val="tx1"/>
                    </a:solidFill>
                    <a:effectLst/>
                    <a:latin typeface="Segoe WPC"/>
                  </a:rPr>
                  <a:t>offsets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slope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curve at a </a:t>
                </a:r>
                <a:r>
                  <a:rPr lang="es-PE" sz="900" b="0" i="0" dirty="0" err="1">
                    <a:solidFill>
                      <a:schemeClr val="tx1"/>
                    </a:solidFill>
                    <a:effectLst/>
                    <a:latin typeface="Segoe WPC"/>
                  </a:rPr>
                  <a:t>given</a:t>
                </a:r>
                <a:r>
                  <a:rPr lang="es-PE" sz="900" b="0" i="0" dirty="0">
                    <a:solidFill>
                      <a:schemeClr val="tx1"/>
                    </a:solidFill>
                    <a:effectLst/>
                    <a:latin typeface="Segoe WPC"/>
                  </a:rPr>
                  <a:t> stock </a:t>
                </a:r>
                <a:r>
                  <a:rPr lang="es-PE" sz="900" b="0" i="0" dirty="0" err="1">
                    <a:solidFill>
                      <a:schemeClr val="tx1"/>
                    </a:solidFill>
                    <a:effectLst/>
                    <a:latin typeface="Segoe WPC"/>
                  </a:rPr>
                  <a:t>price</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Riskless</a:t>
                </a:r>
                <a:r>
                  <a:rPr lang="es-PE" sz="900" b="0" i="0" dirty="0">
                    <a:solidFill>
                      <a:schemeClr val="tx1"/>
                    </a:solidFill>
                    <a:effectLst/>
                    <a:latin typeface="Segoe WPC"/>
                  </a:rPr>
                  <a:t> portfolio </a:t>
                </a:r>
                <a:r>
                  <a:rPr lang="es-PE" sz="900" b="0" i="0" dirty="0" err="1">
                    <a:solidFill>
                      <a:schemeClr val="tx1"/>
                    </a:solidFill>
                    <a:effectLst/>
                    <a:latin typeface="Segoe WPC"/>
                  </a:rPr>
                  <a:t>cost</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𝛥</m:t>
                    </m:r>
                    <m:r>
                      <a:rPr lang="es-PE" sz="900" i="1">
                        <a:solidFill>
                          <a:schemeClr val="tx1"/>
                        </a:solidFill>
                        <a:latin typeface="Cambria Math" panose="02040503050406030204" pitchFamily="18" charset="0"/>
                      </a:rPr>
                      <m:t>𝑆</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𝑐</m:t>
                    </m:r>
                  </m:oMath>
                </a14:m>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Since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portfolio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riskless</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instant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earn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-free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which</a:t>
                </a:r>
                <a:r>
                  <a:rPr lang="es-PE" sz="900" b="0" i="0" dirty="0">
                    <a:solidFill>
                      <a:schemeClr val="tx1"/>
                    </a:solidFill>
                    <a:effectLst/>
                    <a:latin typeface="Segoe WPC"/>
                  </a:rPr>
                  <a:t> leads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Black-Scholes-Merton </a:t>
                </a:r>
                <a:r>
                  <a:rPr lang="es-PE" sz="900" b="0" i="0" dirty="0" err="1">
                    <a:solidFill>
                      <a:schemeClr val="tx1"/>
                    </a:solidFill>
                    <a:effectLst/>
                    <a:latin typeface="Segoe WPC"/>
                  </a:rPr>
                  <a:t>differential</a:t>
                </a:r>
                <a:r>
                  <a:rPr lang="es-PE" sz="900" b="0" i="0" dirty="0">
                    <a:solidFill>
                      <a:schemeClr val="tx1"/>
                    </a:solidFill>
                    <a:effectLst/>
                    <a:latin typeface="Segoe WPC"/>
                  </a:rPr>
                  <a:t> </a:t>
                </a:r>
                <a:r>
                  <a:rPr lang="es-PE" sz="900" b="0" i="0" dirty="0" err="1">
                    <a:solidFill>
                      <a:schemeClr val="tx1"/>
                    </a:solidFill>
                    <a:effectLst/>
                    <a:latin typeface="Segoe WPC"/>
                  </a:rPr>
                  <a:t>equation</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instantaneously</a:t>
                </a:r>
                <a:r>
                  <a:rPr lang="es-PE" sz="900" b="0" i="0" dirty="0">
                    <a:solidFill>
                      <a:schemeClr val="tx1"/>
                    </a:solidFill>
                    <a:effectLst/>
                    <a:latin typeface="Segoe WPC"/>
                  </a:rPr>
                  <a:t> </a:t>
                </a:r>
                <a:r>
                  <a:rPr lang="es-PE" sz="900" b="0" i="0" dirty="0" err="1">
                    <a:solidFill>
                      <a:schemeClr val="tx1"/>
                    </a:solidFill>
                    <a:effectLst/>
                    <a:latin typeface="Segoe WPC"/>
                  </a:rPr>
                  <a:t>riskless</a:t>
                </a:r>
                <a:r>
                  <a:rPr lang="es-PE" sz="900" b="0" i="0" dirty="0">
                    <a:solidFill>
                      <a:schemeClr val="tx1"/>
                    </a:solidFill>
                    <a:effectLst/>
                    <a:latin typeface="Segoe WPC"/>
                  </a:rPr>
                  <a:t> and </a:t>
                </a:r>
                <a:r>
                  <a:rPr lang="es-PE" sz="900" b="0" i="0" dirty="0" err="1">
                    <a:solidFill>
                      <a:schemeClr val="tx1"/>
                    </a:solidFill>
                    <a:effectLst/>
                    <a:latin typeface="Segoe WPC"/>
                  </a:rPr>
                  <a:t>must</a:t>
                </a:r>
                <a:r>
                  <a:rPr lang="es-PE" sz="900" b="0" i="0" dirty="0">
                    <a:solidFill>
                      <a:schemeClr val="tx1"/>
                    </a:solidFill>
                    <a:effectLst/>
                    <a:latin typeface="Segoe WPC"/>
                  </a:rPr>
                  <a:t> be </a:t>
                </a:r>
                <a:r>
                  <a:rPr lang="es-PE" sz="900" b="0" i="0" dirty="0" err="1">
                    <a:solidFill>
                      <a:schemeClr val="tx1"/>
                    </a:solidFill>
                    <a:effectLst/>
                    <a:latin typeface="Segoe WPC"/>
                  </a:rPr>
                  <a:t>rebalanced</a:t>
                </a:r>
                <a:r>
                  <a:rPr lang="es-PE" sz="900" b="0" i="0" dirty="0">
                    <a:solidFill>
                      <a:schemeClr val="tx1"/>
                    </a:solidFill>
                    <a:effectLst/>
                    <a:latin typeface="Segoe WPC"/>
                  </a:rPr>
                  <a:t> </a:t>
                </a:r>
                <a:r>
                  <a:rPr lang="es-PE" sz="900" b="0" i="0" dirty="0" err="1">
                    <a:solidFill>
                      <a:schemeClr val="tx1"/>
                    </a:solidFill>
                    <a:effectLst/>
                    <a:latin typeface="Segoe WPC"/>
                  </a:rPr>
                  <a:t>continuously</a:t>
                </a:r>
                <a:r>
                  <a:rPr lang="es-PE" sz="900" b="0" i="0" dirty="0">
                    <a:solidFill>
                      <a:schemeClr val="tx1"/>
                    </a:solidFill>
                    <a:effectLst/>
                    <a:latin typeface="Segoe WPC"/>
                  </a:rPr>
                  <a:t> in </a:t>
                </a:r>
                <a:r>
                  <a:rPr lang="es-PE" sz="900" b="0" i="0" dirty="0" err="1">
                    <a:solidFill>
                      <a:schemeClr val="tx1"/>
                    </a:solidFill>
                    <a:effectLst/>
                    <a:latin typeface="Segoe WPC"/>
                  </a:rPr>
                  <a:t>theory</a:t>
                </a:r>
                <a:r>
                  <a:rPr lang="es-PE" sz="900" b="0" i="0" dirty="0">
                    <a:solidFill>
                      <a:schemeClr val="tx1"/>
                    </a:solidFill>
                    <a:effectLst/>
                    <a:latin typeface="Segoe WPC"/>
                  </a:rPr>
                  <a:t>.</a:t>
                </a:r>
              </a:p>
              <a:p>
                <a:pPr marL="171450" indent="-171450" algn="l">
                  <a:spcBef>
                    <a:spcPts val="300"/>
                  </a:spcBef>
                  <a:buFont typeface="Wingdings" panose="05000000000000000000" pitchFamily="2" charset="2"/>
                  <a:buChar char="q"/>
                </a:pPr>
                <a:r>
                  <a:rPr lang="es-PE" sz="900" b="1" i="0" dirty="0">
                    <a:solidFill>
                      <a:schemeClr val="tx1"/>
                    </a:solidFill>
                    <a:effectLst/>
                    <a:latin typeface="Segoe WPC"/>
                  </a:rPr>
                  <a:t>Black-Scholes-Merton </a:t>
                </a:r>
                <a:r>
                  <a:rPr lang="es-PE" sz="900" b="1" i="0" dirty="0" err="1">
                    <a:solidFill>
                      <a:schemeClr val="tx1"/>
                    </a:solidFill>
                    <a:effectLst/>
                    <a:latin typeface="Segoe WPC"/>
                  </a:rPr>
                  <a:t>Pricing</a:t>
                </a:r>
                <a:r>
                  <a:rPr lang="es-PE" sz="900" b="1" i="0" dirty="0">
                    <a:solidFill>
                      <a:schemeClr val="tx1"/>
                    </a:solidFill>
                    <a:effectLst/>
                    <a:latin typeface="Segoe WPC"/>
                  </a:rPr>
                  <a:t> Formulas</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and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prices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 non-</a:t>
                </a:r>
                <a:r>
                  <a:rPr lang="es-PE" sz="900" b="0" i="0" dirty="0" err="1">
                    <a:solidFill>
                      <a:schemeClr val="tx1"/>
                    </a:solidFill>
                    <a:effectLst/>
                    <a:latin typeface="Segoe WPC"/>
                  </a:rPr>
                  <a:t>dividend</a:t>
                </a:r>
                <a:r>
                  <a:rPr lang="es-PE" sz="900" b="0" i="0" dirty="0">
                    <a:solidFill>
                      <a:schemeClr val="tx1"/>
                    </a:solidFill>
                    <a:effectLst/>
                    <a:latin typeface="Segoe WPC"/>
                  </a:rPr>
                  <a:t>-</a:t>
                </a:r>
                <a:r>
                  <a:rPr lang="es-PE" sz="900" b="0" i="0" dirty="0" err="1">
                    <a:solidFill>
                      <a:schemeClr val="tx1"/>
                    </a:solidFill>
                    <a:effectLst/>
                    <a:latin typeface="Segoe WPC"/>
                  </a:rPr>
                  <a:t>paying</a:t>
                </a:r>
                <a:r>
                  <a:rPr lang="es-PE" sz="900" b="0" i="0" dirty="0">
                    <a:solidFill>
                      <a:schemeClr val="tx1"/>
                    </a:solidFill>
                    <a:effectLst/>
                    <a:latin typeface="Segoe WPC"/>
                  </a:rPr>
                  <a:t> stock.</a:t>
                </a:r>
              </a:p>
              <a:p>
                <a:pPr algn="l">
                  <a:spcBef>
                    <a:spcPts val="300"/>
                  </a:spcBef>
                </a:pP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derived</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no-</a:t>
                </a:r>
                <a:r>
                  <a:rPr lang="es-PE" sz="900" b="0" i="0" dirty="0" err="1">
                    <a:solidFill>
                      <a:schemeClr val="tx1"/>
                    </a:solidFill>
                    <a:effectLst/>
                    <a:latin typeface="Segoe WPC"/>
                  </a:rPr>
                  <a:t>arbitrage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equivalently</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-neutral </a:t>
                </a:r>
                <a:r>
                  <a:rPr lang="es-PE" sz="900" b="0" i="0" dirty="0" err="1">
                    <a:solidFill>
                      <a:schemeClr val="tx1"/>
                    </a:solidFill>
                    <a:effectLst/>
                    <a:latin typeface="Segoe WPC"/>
                  </a:rPr>
                  <a:t>valuation</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current</a:t>
                </a:r>
                <a:r>
                  <a:rPr lang="es-PE" sz="900" b="0" i="0" dirty="0">
                    <a:solidFill>
                      <a:schemeClr val="tx1"/>
                    </a:solidFill>
                    <a:effectLst/>
                    <a:latin typeface="Segoe WPC"/>
                  </a:rPr>
                  <a:t> stock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adjusted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 </a:t>
                </a:r>
                <a:r>
                  <a:rPr lang="es-PE" sz="900" b="0" i="0" dirty="0" err="1">
                    <a:solidFill>
                      <a:schemeClr val="tx1"/>
                    </a:solidFill>
                    <a:effectLst/>
                    <a:latin typeface="Segoe WPC"/>
                  </a:rPr>
                  <a:t>minus</a:t>
                </a:r>
                <a:r>
                  <a:rPr lang="es-PE" sz="900" b="0" i="0" dirty="0">
                    <a:solidFill>
                      <a:schemeClr val="tx1"/>
                    </a:solidFill>
                    <a:effectLst/>
                    <a:latin typeface="Segoe WPC"/>
                  </a:rPr>
                  <a:t> </a:t>
                </a:r>
                <a:r>
                  <a:rPr lang="es-PE" sz="900" b="0" i="0" dirty="0" err="1">
                    <a:solidFill>
                      <a:schemeClr val="tx1"/>
                    </a:solidFill>
                    <a:effectLst/>
                    <a:latin typeface="Segoe WPC"/>
                  </a:rPr>
                  <a:t>discounted</a:t>
                </a:r>
                <a:r>
                  <a:rPr lang="es-PE" sz="900" b="0" i="0" dirty="0">
                    <a:solidFill>
                      <a:schemeClr val="tx1"/>
                    </a:solidFill>
                    <a:effectLst/>
                    <a:latin typeface="Segoe WPC"/>
                  </a:rPr>
                  <a:t> strike </a:t>
                </a:r>
                <a:r>
                  <a:rPr lang="es-PE" sz="900" b="0" i="0" dirty="0" err="1">
                    <a:solidFill>
                      <a:schemeClr val="tx1"/>
                    </a:solidFill>
                    <a:effectLst/>
                    <a:latin typeface="Segoe WPC"/>
                  </a:rPr>
                  <a:t>adjusted</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probability</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𝑐</m:t>
                    </m:r>
                    <m:r>
                      <a:rPr lang="es-P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0</m:t>
                        </m:r>
                      </m:sub>
                    </m:sSub>
                    <m:r>
                      <a:rPr lang="ar-AE" sz="900" i="1">
                        <a:solidFill>
                          <a:schemeClr val="tx1"/>
                        </a:solidFill>
                        <a:latin typeface="Cambria Math" panose="02040503050406030204" pitchFamily="18" charset="0"/>
                      </a:rPr>
                      <m:t>𝑁</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0">
                                <a:solidFill>
                                  <a:schemeClr val="tx1"/>
                                </a:solidFill>
                                <a:latin typeface="Cambria Math" panose="02040503050406030204" pitchFamily="18" charset="0"/>
                              </a:rPr>
                              <m:t>1</m:t>
                            </m:r>
                          </m:sub>
                        </m:sSub>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𝑟𝑇</m:t>
                        </m:r>
                      </m:sup>
                    </m:sSup>
                    <m:r>
                      <a:rPr lang="ar-AE" sz="900" i="1">
                        <a:solidFill>
                          <a:schemeClr val="tx1"/>
                        </a:solidFill>
                        <a:latin typeface="Cambria Math" panose="02040503050406030204" pitchFamily="18" charset="0"/>
                      </a:rPr>
                      <m:t>𝑁</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0">
                                <a:solidFill>
                                  <a:schemeClr val="tx1"/>
                                </a:solidFill>
                                <a:latin typeface="Cambria Math" panose="02040503050406030204" pitchFamily="18" charset="0"/>
                              </a:rPr>
                              <m:t>2</m:t>
                            </m:r>
                          </m:sub>
                        </m:sSub>
                      </m:e>
                    </m:d>
                  </m:oMath>
                </a14:m>
                <a:r>
                  <a:rPr lang="ar-AE" sz="900" b="0" i="0" dirty="0">
                    <a:solidFill>
                      <a:schemeClr val="tx1"/>
                    </a:solidFill>
                    <a:effectLst/>
                    <a:latin typeface="Segoe WPC"/>
                  </a:rPr>
                  <a:t>, </a:t>
                </a:r>
                <a14:m>
                  <m:oMath xmlns:m="http://schemas.openxmlformats.org/officeDocument/2006/math">
                    <m:r>
                      <a:rPr lang="ar-AE" sz="900" i="1">
                        <a:solidFill>
                          <a:schemeClr val="tx1"/>
                        </a:solidFill>
                        <a:latin typeface="Cambria Math" panose="02040503050406030204" pitchFamily="18" charset="0"/>
                      </a:rPr>
                      <m:t>𝑝</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𝑟𝑇</m:t>
                        </m:r>
                      </m:sup>
                    </m:sSup>
                    <m:r>
                      <a:rPr lang="ar-AE" sz="900" i="1">
                        <a:solidFill>
                          <a:schemeClr val="tx1"/>
                        </a:solidFill>
                        <a:latin typeface="Cambria Math" panose="02040503050406030204" pitchFamily="18" charset="0"/>
                      </a:rPr>
                      <m:t>𝑁</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0">
                                <a:solidFill>
                                  <a:schemeClr val="tx1"/>
                                </a:solidFill>
                                <a:latin typeface="Cambria Math" panose="02040503050406030204" pitchFamily="18" charset="0"/>
                              </a:rPr>
                              <m:t>2</m:t>
                            </m:r>
                          </m:sub>
                        </m:sSub>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0</m:t>
                        </m:r>
                      </m:sub>
                    </m:sSub>
                    <m:r>
                      <a:rPr lang="ar-AE" sz="900" i="1">
                        <a:solidFill>
                          <a:schemeClr val="tx1"/>
                        </a:solidFill>
                        <a:latin typeface="Cambria Math" panose="02040503050406030204" pitchFamily="18" charset="0"/>
                      </a:rPr>
                      <m:t>𝑁</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0">
                                <a:solidFill>
                                  <a:schemeClr val="tx1"/>
                                </a:solidFill>
                                <a:latin typeface="Cambria Math" panose="02040503050406030204" pitchFamily="18" charset="0"/>
                              </a:rPr>
                              <m:t>1</m:t>
                            </m:r>
                          </m:sub>
                        </m:sSub>
                      </m:e>
                    </m:d>
                  </m:oMath>
                </a14:m>
                <a:r>
                  <a:rPr lang="ar-A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m:rPr>
                            <m:sty m:val="p"/>
                          </m:rPr>
                          <a:rPr lang="es-PE" sz="900" i="0">
                            <a:solidFill>
                              <a:schemeClr val="tx1"/>
                            </a:solidFill>
                            <a:latin typeface="Cambria Math" panose="02040503050406030204" pitchFamily="18" charset="0"/>
                          </a:rPr>
                          <m:t>ln</m:t>
                        </m:r>
                        <m:r>
                          <a:rPr lang="es-P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e>
                        </m:d>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𝑟</m:t>
                            </m:r>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2</m:t>
                            </m:r>
                          </m:e>
                        </m:d>
                        <m:r>
                          <a:rPr lang="ar-AE" sz="900" i="1">
                            <a:solidFill>
                              <a:schemeClr val="tx1"/>
                            </a:solidFill>
                            <a:latin typeface="Cambria Math" panose="02040503050406030204" pitchFamily="18" charset="0"/>
                          </a:rPr>
                          <m:t>𝑇</m:t>
                        </m:r>
                      </m:num>
                      <m:den>
                        <m:r>
                          <a:rPr lang="ar-AE" sz="900" i="1">
                            <a:solidFill>
                              <a:schemeClr val="tx1"/>
                            </a:solidFill>
                            <a:latin typeface="Cambria Math" panose="02040503050406030204" pitchFamily="18" charset="0"/>
                          </a:rPr>
                          <m:t>𝜎</m:t>
                        </m:r>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𝑇</m:t>
                            </m:r>
                          </m:e>
                        </m:rad>
                      </m:den>
                    </m:f>
                  </m:oMath>
                </a14:m>
                <a:r>
                  <a:rPr lang="ar-A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0">
                            <a:solidFill>
                              <a:schemeClr val="tx1"/>
                            </a:solidFill>
                            <a:latin typeface="Cambria Math" panose="02040503050406030204" pitchFamily="18" charset="0"/>
                          </a:rPr>
                          <m:t>2</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0">
                            <a:solidFill>
                              <a:schemeClr val="tx1"/>
                            </a:solidFill>
                            <a:latin typeface="Cambria Math" panose="02040503050406030204" pitchFamily="18" charset="0"/>
                          </a:rPr>
                          <m:t>1</m:t>
                        </m:r>
                      </m:sub>
                    </m:sSub>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𝜎</m:t>
                    </m:r>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𝑇</m:t>
                        </m:r>
                      </m:e>
                    </m:rad>
                  </m:oMath>
                </a14:m>
                <a:endParaRPr lang="ar-A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𝑁</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0">
                                <a:solidFill>
                                  <a:schemeClr val="tx1"/>
                                </a:solidFill>
                                <a:latin typeface="Cambria Math" panose="02040503050406030204" pitchFamily="18" charset="0"/>
                              </a:rPr>
                              <m:t>1</m:t>
                            </m:r>
                          </m:sub>
                        </m:sSub>
                      </m:e>
                    </m:d>
                  </m:oMath>
                </a14:m>
                <a:r>
                  <a:rPr lang="ar-AE" sz="900" b="0" i="0" dirty="0">
                    <a:solidFill>
                      <a:schemeClr val="tx1"/>
                    </a:solidFill>
                    <a:effectLst/>
                    <a:latin typeface="Segoe WPC"/>
                  </a:rPr>
                  <a:t> </a:t>
                </a:r>
                <a:r>
                  <a:rPr lang="es-PE" sz="900" b="0" i="0" dirty="0">
                    <a:solidFill>
                      <a:schemeClr val="tx1"/>
                    </a:solidFill>
                    <a:effectLst/>
                    <a:latin typeface="Segoe WPC"/>
                  </a:rPr>
                  <a:t>and </a:t>
                </a:r>
                <a14:m>
                  <m:oMath xmlns:m="http://schemas.openxmlformats.org/officeDocument/2006/math">
                    <m:r>
                      <a:rPr lang="es-PE" sz="900" i="1">
                        <a:solidFill>
                          <a:schemeClr val="tx1"/>
                        </a:solidFill>
                        <a:latin typeface="Cambria Math" panose="02040503050406030204" pitchFamily="18" charset="0"/>
                      </a:rPr>
                      <m:t>𝑁</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0">
                                <a:solidFill>
                                  <a:schemeClr val="tx1"/>
                                </a:solidFill>
                                <a:latin typeface="Cambria Math" panose="02040503050406030204" pitchFamily="18" charset="0"/>
                              </a:rPr>
                              <m:t>2</m:t>
                            </m:r>
                          </m:sub>
                        </m:sSub>
                      </m:e>
                    </m:d>
                  </m:oMath>
                </a14:m>
                <a:r>
                  <a:rPr lang="ar-AE" sz="900" b="0" i="0" dirty="0">
                    <a:solidFill>
                      <a:schemeClr val="tx1"/>
                    </a:solidFill>
                    <a:effectLst/>
                    <a:latin typeface="Segoe WPC"/>
                  </a:rPr>
                  <a:t> </a:t>
                </a:r>
                <a:r>
                  <a:rPr lang="es-PE" sz="900" b="0" i="0" dirty="0">
                    <a:solidFill>
                      <a:schemeClr val="tx1"/>
                    </a:solidFill>
                    <a:effectLst/>
                    <a:latin typeface="Segoe WPC"/>
                  </a:rPr>
                  <a:t>are cumulative normal </a:t>
                </a:r>
                <a:r>
                  <a:rPr lang="es-PE" sz="900" b="0" i="0" dirty="0" err="1">
                    <a:solidFill>
                      <a:schemeClr val="tx1"/>
                    </a:solidFill>
                    <a:effectLst/>
                    <a:latin typeface="Segoe WPC"/>
                  </a:rPr>
                  <a:t>probabilities</a:t>
                </a:r>
                <a:r>
                  <a:rPr lang="es-PE" sz="900" b="0" i="0" dirty="0">
                    <a:solidFill>
                      <a:schemeClr val="tx1"/>
                    </a:solidFill>
                    <a:effectLst/>
                    <a:latin typeface="Segoe WPC"/>
                  </a:rPr>
                  <a:t> </a:t>
                </a:r>
                <a:r>
                  <a:rPr lang="es-PE" sz="900" b="0" i="0" dirty="0" err="1">
                    <a:solidFill>
                      <a:schemeClr val="tx1"/>
                    </a:solidFill>
                    <a:effectLst/>
                    <a:latin typeface="Segoe WPC"/>
                  </a:rPr>
                  <a:t>under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-neutral </a:t>
                </a:r>
                <a:r>
                  <a:rPr lang="es-PE" sz="900" b="0" i="0" dirty="0" err="1">
                    <a:solidFill>
                      <a:schemeClr val="tx1"/>
                    </a:solidFill>
                    <a:effectLst/>
                    <a:latin typeface="Segoe WPC"/>
                  </a:rPr>
                  <a:t>framework</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Use </a:t>
                </a:r>
                <a:r>
                  <a:rPr lang="es-PE" sz="900" b="0" i="0" dirty="0" err="1">
                    <a:solidFill>
                      <a:schemeClr val="tx1"/>
                    </a:solidFill>
                    <a:effectLst/>
                    <a:latin typeface="Segoe WPC"/>
                  </a:rPr>
                  <a:t>continuously</a:t>
                </a:r>
                <a:r>
                  <a:rPr lang="es-PE" sz="900" b="0" i="0" dirty="0">
                    <a:solidFill>
                      <a:schemeClr val="tx1"/>
                    </a:solidFill>
                    <a:effectLst/>
                    <a:latin typeface="Segoe WPC"/>
                  </a:rPr>
                  <a:t> </a:t>
                </a:r>
                <a:r>
                  <a:rPr lang="es-PE" sz="900" b="0" i="0" dirty="0" err="1">
                    <a:solidFill>
                      <a:schemeClr val="tx1"/>
                    </a:solidFill>
                    <a:effectLst/>
                    <a:latin typeface="Segoe WPC"/>
                  </a:rPr>
                  <a:t>compounded</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𝑟</m:t>
                    </m:r>
                  </m:oMath>
                </a14:m>
                <a:r>
                  <a:rPr lang="es-PE" sz="900" b="0" i="0" dirty="0">
                    <a:solidFill>
                      <a:schemeClr val="tx1"/>
                    </a:solidFill>
                    <a:effectLst/>
                    <a:latin typeface="Segoe WPC"/>
                  </a:rPr>
                  <a:t>, </a:t>
                </a:r>
                <a:r>
                  <a:rPr lang="es-PE" sz="900" b="0" i="0" dirty="0" err="1">
                    <a:solidFill>
                      <a:schemeClr val="tx1"/>
                    </a:solidFill>
                    <a:effectLst/>
                    <a:latin typeface="Segoe WPC"/>
                  </a:rPr>
                  <a:t>annualized</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𝜎</m:t>
                    </m:r>
                  </m:oMath>
                </a14:m>
                <a:r>
                  <a:rPr lang="es-PE" sz="900" b="0" i="0" dirty="0">
                    <a:solidFill>
                      <a:schemeClr val="tx1"/>
                    </a:solidFill>
                    <a:effectLst/>
                    <a:latin typeface="Segoe WPC"/>
                  </a:rPr>
                  <a:t>, and </a:t>
                </a:r>
                <a14:m>
                  <m:oMath xmlns:m="http://schemas.openxmlformats.org/officeDocument/2006/math">
                    <m:r>
                      <a:rPr lang="es-PE" sz="900" i="1">
                        <a:solidFill>
                          <a:schemeClr val="tx1"/>
                        </a:solidFill>
                        <a:latin typeface="Cambria Math" panose="02040503050406030204" pitchFamily="18" charset="0"/>
                      </a:rPr>
                      <m:t>𝑇</m:t>
                    </m:r>
                  </m:oMath>
                </a14:m>
                <a:r>
                  <a:rPr lang="es-PE" sz="900" b="0" i="0" dirty="0">
                    <a:solidFill>
                      <a:schemeClr val="tx1"/>
                    </a:solidFill>
                    <a:effectLst/>
                    <a:latin typeface="Segoe WPC"/>
                  </a:rPr>
                  <a:t> in </a:t>
                </a:r>
                <a:r>
                  <a:rPr lang="es-PE" sz="900" b="0" i="0" dirty="0" err="1">
                    <a:solidFill>
                      <a:schemeClr val="tx1"/>
                    </a:solidFill>
                    <a:effectLst/>
                    <a:latin typeface="Segoe WPC"/>
                  </a:rPr>
                  <a:t>years</a:t>
                </a:r>
                <a:r>
                  <a:rPr lang="es-PE" sz="900" b="0" i="0" dirty="0">
                    <a:solidFill>
                      <a:schemeClr val="tx1"/>
                    </a:solidFill>
                    <a:effectLst/>
                    <a:latin typeface="Segoe WPC"/>
                  </a:rPr>
                  <a:t>.</a:t>
                </a:r>
              </a:p>
              <a:p>
                <a:pPr algn="l">
                  <a:spcBef>
                    <a:spcPts val="300"/>
                  </a:spcBef>
                  <a:buFont typeface="+mj-lt"/>
                  <a:buAutoNum type="arabicPeriod"/>
                </a:pPr>
                <a:r>
                  <a:rPr lang="es-PE" sz="900" b="1" i="0" dirty="0" err="1">
                    <a:solidFill>
                      <a:schemeClr val="tx1"/>
                    </a:solidFill>
                    <a:effectLst/>
                    <a:latin typeface="Segoe WPC"/>
                  </a:rPr>
                  <a:t>Put-Call</a:t>
                </a:r>
                <a:r>
                  <a:rPr lang="es-PE" sz="900" b="1" i="0" dirty="0">
                    <a:solidFill>
                      <a:schemeClr val="tx1"/>
                    </a:solidFill>
                    <a:effectLst/>
                    <a:latin typeface="Segoe WPC"/>
                  </a:rPr>
                  <a:t> </a:t>
                </a:r>
                <a:r>
                  <a:rPr lang="es-PE" sz="900" b="1" i="0" dirty="0" err="1">
                    <a:solidFill>
                      <a:schemeClr val="tx1"/>
                    </a:solidFill>
                    <a:effectLst/>
                    <a:latin typeface="Segoe WPC"/>
                  </a:rPr>
                  <a:t>Parity</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Arbitrage</a:t>
                </a:r>
                <a:r>
                  <a:rPr lang="es-PE" sz="900" b="0" i="0" dirty="0">
                    <a:solidFill>
                      <a:schemeClr val="tx1"/>
                    </a:solidFill>
                    <a:effectLst/>
                    <a:latin typeface="Segoe WPC"/>
                  </a:rPr>
                  <a:t> </a:t>
                </a:r>
                <a:r>
                  <a:rPr lang="es-PE" sz="900" b="0" i="0" dirty="0" err="1">
                    <a:solidFill>
                      <a:schemeClr val="tx1"/>
                    </a:solidFill>
                    <a:effectLst/>
                    <a:latin typeface="Segoe WPC"/>
                  </a:rPr>
                  <a:t>relationship</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calls</a:t>
                </a:r>
                <a:r>
                  <a:rPr lang="es-PE" sz="900" b="0" i="0" dirty="0">
                    <a:solidFill>
                      <a:schemeClr val="tx1"/>
                    </a:solidFill>
                    <a:effectLst/>
                    <a:latin typeface="Segoe WPC"/>
                  </a:rPr>
                  <a:t>, </a:t>
                </a:r>
                <a:r>
                  <a:rPr lang="es-PE" sz="900" b="0" i="0" dirty="0" err="1">
                    <a:solidFill>
                      <a:schemeClr val="tx1"/>
                    </a:solidFill>
                    <a:effectLst/>
                    <a:latin typeface="Segoe WPC"/>
                  </a:rPr>
                  <a:t>puts</a:t>
                </a:r>
                <a:r>
                  <a:rPr lang="es-PE" sz="900" b="0" i="0" dirty="0">
                    <a:solidFill>
                      <a:schemeClr val="tx1"/>
                    </a:solidFill>
                    <a:effectLst/>
                    <a:latin typeface="Segoe WPC"/>
                  </a:rPr>
                  <a:t>, stock, and </a:t>
                </a:r>
                <a:r>
                  <a:rPr lang="es-PE" sz="900" b="0" i="0" dirty="0" err="1">
                    <a:solidFill>
                      <a:schemeClr val="tx1"/>
                    </a:solidFill>
                    <a:effectLst/>
                    <a:latin typeface="Segoe WPC"/>
                  </a:rPr>
                  <a:t>bonds</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Two</a:t>
                </a:r>
                <a:r>
                  <a:rPr lang="es-PE" sz="900" b="0" i="0" dirty="0">
                    <a:solidFill>
                      <a:schemeClr val="tx1"/>
                    </a:solidFill>
                    <a:effectLst/>
                    <a:latin typeface="Segoe WPC"/>
                  </a:rPr>
                  <a:t> portfolios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identical</a:t>
                </a:r>
                <a:r>
                  <a:rPr lang="es-PE" sz="900" b="0" i="0" dirty="0">
                    <a:solidFill>
                      <a:schemeClr val="tx1"/>
                    </a:solidFill>
                    <a:effectLst/>
                    <a:latin typeface="Segoe WPC"/>
                  </a:rPr>
                  <a:t> </a:t>
                </a:r>
                <a:r>
                  <a:rPr lang="es-PE" sz="900" b="0" i="0" dirty="0" err="1">
                    <a:solidFill>
                      <a:schemeClr val="tx1"/>
                    </a:solidFill>
                    <a:effectLst/>
                    <a:latin typeface="Segoe WPC"/>
                  </a:rPr>
                  <a:t>payoffs</a:t>
                </a:r>
                <a:r>
                  <a:rPr lang="es-PE" sz="900" b="0" i="0" dirty="0">
                    <a:solidFill>
                      <a:schemeClr val="tx1"/>
                    </a:solidFill>
                    <a:effectLst/>
                    <a:latin typeface="Segoe WPC"/>
                  </a:rPr>
                  <a:t> at </a:t>
                </a:r>
                <a:r>
                  <a:rPr lang="es-PE" sz="900" b="0" i="0" dirty="0" err="1">
                    <a:solidFill>
                      <a:schemeClr val="tx1"/>
                    </a:solidFill>
                    <a:effectLst/>
                    <a:latin typeface="Segoe WPC"/>
                  </a:rPr>
                  <a:t>maturity</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have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today</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call</a:t>
                </a:r>
                <a:r>
                  <a:rPr lang="es-PE" sz="900" b="0" i="0" dirty="0">
                    <a:solidFill>
                      <a:schemeClr val="tx1"/>
                    </a:solidFill>
                    <a:effectLst/>
                    <a:latin typeface="Segoe WPC"/>
                  </a:rPr>
                  <a:t> plus a bond </a:t>
                </a:r>
                <a:r>
                  <a:rPr lang="es-PE" sz="900" b="0" i="0" dirty="0" err="1">
                    <a:solidFill>
                      <a:schemeClr val="tx1"/>
                    </a:solidFill>
                    <a:effectLst/>
                    <a:latin typeface="Segoe WPC"/>
                  </a:rPr>
                  <a:t>replicates</a:t>
                </a:r>
                <a:r>
                  <a:rPr lang="es-PE" sz="900" b="0" i="0" dirty="0">
                    <a:solidFill>
                      <a:schemeClr val="tx1"/>
                    </a:solidFill>
                    <a:effectLst/>
                    <a:latin typeface="Segoe WPC"/>
                  </a:rPr>
                  <a:t> a </a:t>
                </a:r>
                <a:r>
                  <a:rPr lang="es-PE" sz="900" b="0" i="0" dirty="0" err="1">
                    <a:solidFill>
                      <a:schemeClr val="tx1"/>
                    </a:solidFill>
                    <a:effectLst/>
                    <a:latin typeface="Segoe WPC"/>
                  </a:rPr>
                  <a:t>put</a:t>
                </a:r>
                <a:r>
                  <a:rPr lang="es-PE" sz="900" b="0" i="0" dirty="0">
                    <a:solidFill>
                      <a:schemeClr val="tx1"/>
                    </a:solidFill>
                    <a:effectLst/>
                    <a:latin typeface="Segoe WPC"/>
                  </a:rPr>
                  <a:t> plus </a:t>
                </a:r>
                <a:r>
                  <a:rPr lang="es-PE" sz="900" b="0" i="0" dirty="0" err="1">
                    <a:solidFill>
                      <a:schemeClr val="tx1"/>
                    </a:solidFill>
                    <a:effectLst/>
                    <a:latin typeface="Segoe WPC"/>
                  </a:rPr>
                  <a:t>the</a:t>
                </a:r>
                <a:r>
                  <a:rPr lang="es-PE" sz="900" b="0" i="0" dirty="0">
                    <a:solidFill>
                      <a:schemeClr val="tx1"/>
                    </a:solidFill>
                    <a:effectLst/>
                    <a:latin typeface="Segoe WPC"/>
                  </a:rPr>
                  <a:t> stock.</a:t>
                </a:r>
              </a:p>
              <a:p>
                <a:pPr algn="l">
                  <a:spcBef>
                    <a:spcPts val="300"/>
                  </a:spcBef>
                </a:pP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𝑐</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𝐾</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𝑟𝑇</m:t>
                        </m:r>
                      </m:sup>
                    </m:s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𝑝</m:t>
                    </m:r>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0</m:t>
                        </m:r>
                      </m:sub>
                    </m:sSub>
                  </m:oMath>
                </a14:m>
                <a:endParaRPr lang="ar-A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parity</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hold</a:t>
                </a:r>
                <a:r>
                  <a:rPr lang="es-PE" sz="900" b="0" i="0" dirty="0">
                    <a:solidFill>
                      <a:schemeClr val="tx1"/>
                    </a:solidFill>
                    <a:effectLst/>
                    <a:latin typeface="Segoe WPC"/>
                  </a:rPr>
                  <a:t>, </a:t>
                </a:r>
                <a:r>
                  <a:rPr lang="es-PE" sz="900" b="0" i="0" dirty="0" err="1">
                    <a:solidFill>
                      <a:schemeClr val="tx1"/>
                    </a:solidFill>
                    <a:effectLst/>
                    <a:latin typeface="Segoe WPC"/>
                  </a:rPr>
                  <a:t>there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arbitrage</a:t>
                </a:r>
                <a:r>
                  <a:rPr lang="es-PE" sz="900" b="0" i="0" dirty="0">
                    <a:solidFill>
                      <a:schemeClr val="tx1"/>
                    </a:solidFill>
                    <a:effectLst/>
                    <a:latin typeface="Segoe WPC"/>
                  </a:rPr>
                  <a:t> </a:t>
                </a:r>
                <a:r>
                  <a:rPr lang="es-PE" sz="900" b="0" i="0" dirty="0" err="1">
                    <a:solidFill>
                      <a:schemeClr val="tx1"/>
                    </a:solidFill>
                    <a:effectLst/>
                    <a:latin typeface="Segoe WPC"/>
                  </a:rPr>
                  <a:t>opportunity</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This</a:t>
                </a:r>
                <a:r>
                  <a:rPr lang="es-PE" sz="900" b="0" i="0" dirty="0">
                    <a:solidFill>
                      <a:schemeClr val="tx1"/>
                    </a:solidFill>
                    <a:effectLst/>
                    <a:latin typeface="Segoe WPC"/>
                  </a:rPr>
                  <a:t> simple </a:t>
                </a:r>
                <a:r>
                  <a:rPr lang="es-PE" sz="900" b="0" i="0" dirty="0" err="1">
                    <a:solidFill>
                      <a:schemeClr val="tx1"/>
                    </a:solidFill>
                    <a:effectLst/>
                    <a:latin typeface="Segoe WPC"/>
                  </a:rPr>
                  <a:t>version</a:t>
                </a:r>
                <a:r>
                  <a:rPr lang="es-PE" sz="900" b="0" i="0" dirty="0">
                    <a:solidFill>
                      <a:schemeClr val="tx1"/>
                    </a:solidFill>
                    <a:effectLst/>
                    <a:latin typeface="Segoe WPC"/>
                  </a:rPr>
                  <a:t> </a:t>
                </a:r>
                <a:r>
                  <a:rPr lang="es-PE" sz="900" b="0" i="0" dirty="0" err="1">
                    <a:solidFill>
                      <a:schemeClr val="tx1"/>
                    </a:solidFill>
                    <a:effectLst/>
                    <a:latin typeface="Segoe WPC"/>
                  </a:rPr>
                  <a:t>applies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non-</a:t>
                </a:r>
                <a:r>
                  <a:rPr lang="es-PE" sz="900" b="0" i="0" dirty="0" err="1">
                    <a:solidFill>
                      <a:schemeClr val="tx1"/>
                    </a:solidFill>
                    <a:effectLst/>
                    <a:latin typeface="Segoe WPC"/>
                  </a:rPr>
                  <a:t>dividend</a:t>
                </a:r>
                <a:r>
                  <a:rPr lang="es-PE" sz="900" b="0" i="0" dirty="0">
                    <a:solidFill>
                      <a:schemeClr val="tx1"/>
                    </a:solidFill>
                    <a:effectLst/>
                    <a:latin typeface="Segoe WPC"/>
                  </a:rPr>
                  <a:t>-</a:t>
                </a:r>
                <a:r>
                  <a:rPr lang="es-PE" sz="900" b="0" i="0" dirty="0" err="1">
                    <a:solidFill>
                      <a:schemeClr val="tx1"/>
                    </a:solidFill>
                    <a:effectLst/>
                    <a:latin typeface="Segoe WPC"/>
                  </a:rPr>
                  <a:t>paying</a:t>
                </a:r>
                <a:r>
                  <a:rPr lang="es-PE" sz="900" b="0" i="0" dirty="0">
                    <a:solidFill>
                      <a:schemeClr val="tx1"/>
                    </a:solidFill>
                    <a:effectLst/>
                    <a:latin typeface="Segoe WPC"/>
                  </a:rPr>
                  <a:t> stocks.</a:t>
                </a:r>
              </a:p>
            </p:txBody>
          </p:sp>
        </mc:Choice>
        <mc:Fallback xmlns="">
          <p:sp>
            <p:nvSpPr>
              <p:cNvPr id="7" name="CuadroTexto 6">
                <a:extLst>
                  <a:ext uri="{FF2B5EF4-FFF2-40B4-BE49-F238E27FC236}">
                    <a16:creationId xmlns:a16="http://schemas.microsoft.com/office/drawing/2014/main" id="{B8BABE18-8823-31FC-243A-AE18EC18D348}"/>
                  </a:ext>
                </a:extLst>
              </p:cNvPr>
              <p:cNvSpPr txBox="1">
                <a:spLocks noRot="1" noChangeAspect="1" noMove="1" noResize="1" noEditPoints="1" noAdjustHandles="1" noChangeArrowheads="1" noChangeShapeType="1" noTextEdit="1"/>
              </p:cNvSpPr>
              <p:nvPr/>
            </p:nvSpPr>
            <p:spPr>
              <a:xfrm>
                <a:off x="6376988" y="525188"/>
                <a:ext cx="6137274" cy="5553893"/>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8863348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CBC8128C-18EE-522D-FDA5-1BBBEEFEFC9E}"/>
                  </a:ext>
                </a:extLst>
              </p:cNvPr>
              <p:cNvSpPr txBox="1"/>
              <p:nvPr/>
            </p:nvSpPr>
            <p:spPr>
              <a:xfrm>
                <a:off x="152400" y="1968436"/>
                <a:ext cx="6096000" cy="3570593"/>
              </a:xfrm>
              <a:prstGeom prst="rect">
                <a:avLst/>
              </a:prstGeom>
              <a:noFill/>
            </p:spPr>
            <p:txBody>
              <a:bodyPr wrap="square">
                <a:spAutoFit/>
              </a:bodyPr>
              <a:lstStyle/>
              <a:p>
                <a:pPr marL="171450" indent="-171450" algn="l">
                  <a:spcBef>
                    <a:spcPts val="300"/>
                  </a:spcBef>
                  <a:buFont typeface="Wingdings" panose="05000000000000000000" pitchFamily="2" charset="2"/>
                  <a:buChar char="q"/>
                </a:pPr>
                <a:r>
                  <a:rPr lang="es-PE" sz="900" b="1" i="0" dirty="0">
                    <a:solidFill>
                      <a:schemeClr val="tx1"/>
                    </a:solidFill>
                    <a:effectLst/>
                    <a:latin typeface="Segoe WPC"/>
                  </a:rPr>
                  <a:t>Risk-Neutral </a:t>
                </a:r>
                <a:r>
                  <a:rPr lang="es-PE" sz="900" b="1" i="0" dirty="0" err="1">
                    <a:solidFill>
                      <a:schemeClr val="tx1"/>
                    </a:solidFill>
                    <a:effectLst/>
                    <a:latin typeface="Segoe WPC"/>
                  </a:rPr>
                  <a:t>Valuation</a:t>
                </a:r>
                <a:r>
                  <a:rPr lang="es-PE" sz="900" b="1" i="0" dirty="0">
                    <a:solidFill>
                      <a:schemeClr val="tx1"/>
                    </a:solidFill>
                    <a:effectLst/>
                    <a:latin typeface="Segoe WPC"/>
                  </a:rPr>
                  <a:t> and </a:t>
                </a:r>
                <a:r>
                  <a:rPr lang="es-PE" sz="900" b="1" i="0" dirty="0" err="1">
                    <a:solidFill>
                      <a:schemeClr val="tx1"/>
                    </a:solidFill>
                    <a:effectLst/>
                    <a:latin typeface="Segoe WPC"/>
                  </a:rPr>
                  <a:t>Implied</a:t>
                </a:r>
                <a:r>
                  <a:rPr lang="es-PE" sz="900" b="1" i="0" dirty="0">
                    <a:solidFill>
                      <a:schemeClr val="tx1"/>
                    </a:solidFill>
                    <a:effectLst/>
                    <a:latin typeface="Segoe WPC"/>
                  </a:rPr>
                  <a:t> </a:t>
                </a:r>
                <a:r>
                  <a:rPr lang="es-PE" sz="900" b="1" i="0" dirty="0" err="1">
                    <a:solidFill>
                      <a:schemeClr val="tx1"/>
                    </a:solidFill>
                    <a:effectLst/>
                    <a:latin typeface="Segoe WPC"/>
                  </a:rPr>
                  <a:t>Volatility</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Pricing</a:t>
                </a:r>
                <a:r>
                  <a:rPr lang="es-PE" sz="900" b="0" i="0" dirty="0">
                    <a:solidFill>
                      <a:schemeClr val="tx1"/>
                    </a:solidFill>
                    <a:effectLst/>
                    <a:latin typeface="Segoe WPC"/>
                  </a:rPr>
                  <a:t> </a:t>
                </a:r>
                <a:r>
                  <a:rPr lang="es-PE" sz="900" b="0" i="0" dirty="0" err="1">
                    <a:solidFill>
                      <a:schemeClr val="tx1"/>
                    </a:solidFill>
                    <a:effectLst/>
                    <a:latin typeface="Segoe WPC"/>
                  </a:rPr>
                  <a:t>via</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discounted</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and </a:t>
                </a:r>
                <a:r>
                  <a:rPr lang="es-PE" sz="900" b="0" i="0" dirty="0" err="1">
                    <a:solidFill>
                      <a:schemeClr val="tx1"/>
                    </a:solidFill>
                    <a:effectLst/>
                    <a:latin typeface="Segoe WPC"/>
                  </a:rPr>
                  <a:t>inferring</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prices</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derivatives, </a:t>
                </a:r>
                <a:r>
                  <a:rPr lang="es-PE" sz="900" b="0" i="0" dirty="0" err="1">
                    <a:solidFill>
                      <a:schemeClr val="tx1"/>
                    </a:solidFill>
                    <a:effectLst/>
                    <a:latin typeface="Segoe WPC"/>
                  </a:rPr>
                  <a:t>we</a:t>
                </a:r>
                <a:r>
                  <a:rPr lang="es-PE" sz="900" b="0" i="0" dirty="0">
                    <a:solidFill>
                      <a:schemeClr val="tx1"/>
                    </a:solidFill>
                    <a:effectLst/>
                    <a:latin typeface="Segoe WPC"/>
                  </a:rPr>
                  <a:t> </a:t>
                </a:r>
                <a:r>
                  <a:rPr lang="es-PE" sz="900" b="0" i="0" dirty="0" err="1">
                    <a:solidFill>
                      <a:schemeClr val="tx1"/>
                    </a:solidFill>
                    <a:effectLst/>
                    <a:latin typeface="Segoe WPC"/>
                  </a:rPr>
                  <a:t>replace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stock’s</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return</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𝜇</m:t>
                    </m:r>
                  </m:oMath>
                </a14:m>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-free </a:t>
                </a:r>
                <a:r>
                  <a:rPr lang="es-PE" sz="900" b="0" i="0" dirty="0" err="1">
                    <a:solidFill>
                      <a:schemeClr val="tx1"/>
                    </a:solidFill>
                    <a:effectLst/>
                    <a:latin typeface="Segoe WPC"/>
                  </a:rPr>
                  <a:t>rate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𝑟</m:t>
                    </m:r>
                  </m:oMath>
                </a14:m>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We</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 </a:t>
                </a:r>
                <a:r>
                  <a:rPr lang="es-PE" sz="900" b="0" i="0" dirty="0" err="1">
                    <a:solidFill>
                      <a:schemeClr val="tx1"/>
                    </a:solidFill>
                    <a:effectLst/>
                    <a:latin typeface="Segoe WPC"/>
                  </a:rPr>
                  <a:t>hypothetical</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-neutral </a:t>
                </a:r>
                <a:r>
                  <a:rPr lang="es-PE" sz="900" b="0" i="0" dirty="0" err="1">
                    <a:solidFill>
                      <a:schemeClr val="tx1"/>
                    </a:solidFill>
                    <a:effectLst/>
                    <a:latin typeface="Segoe WPC"/>
                  </a:rPr>
                  <a:t>world</a:t>
                </a:r>
                <a:r>
                  <a:rPr lang="es-PE" sz="900" b="0" i="0" dirty="0">
                    <a:solidFill>
                      <a:schemeClr val="tx1"/>
                    </a:solidFill>
                    <a:effectLst/>
                    <a:latin typeface="Segoe WPC"/>
                  </a:rPr>
                  <a:t>, </a:t>
                </a:r>
                <a:r>
                  <a:rPr lang="es-PE" sz="900" b="0" i="0" dirty="0" err="1">
                    <a:solidFill>
                      <a:schemeClr val="tx1"/>
                    </a:solidFill>
                    <a:effectLst/>
                    <a:latin typeface="Segoe WPC"/>
                  </a:rPr>
                  <a:t>calculate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expected</a:t>
                </a:r>
                <a:r>
                  <a:rPr lang="es-PE" sz="900" b="0" i="0" dirty="0">
                    <a:solidFill>
                      <a:schemeClr val="tx1"/>
                    </a:solidFill>
                    <a:effectLst/>
                    <a:latin typeface="Segoe WPC"/>
                  </a:rPr>
                  <a:t> </a:t>
                </a:r>
                <a:r>
                  <a:rPr lang="es-PE" sz="900" b="0" i="0" dirty="0" err="1">
                    <a:solidFill>
                      <a:schemeClr val="tx1"/>
                    </a:solidFill>
                    <a:effectLst/>
                    <a:latin typeface="Segoe WPC"/>
                  </a:rPr>
                  <a:t>payoff</a:t>
                </a:r>
                <a:r>
                  <a:rPr lang="es-PE" sz="900" b="0" i="0" dirty="0">
                    <a:solidFill>
                      <a:schemeClr val="tx1"/>
                    </a:solidFill>
                    <a:effectLst/>
                    <a:latin typeface="Segoe WPC"/>
                  </a:rPr>
                  <a:t>, and </a:t>
                </a:r>
                <a:r>
                  <a:rPr lang="es-PE" sz="900" b="0" i="0" dirty="0" err="1">
                    <a:solidFill>
                      <a:schemeClr val="tx1"/>
                    </a:solidFill>
                    <a:effectLst/>
                    <a:latin typeface="Segoe WPC"/>
                  </a:rPr>
                  <a:t>discount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back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-free </a:t>
                </a:r>
                <a:r>
                  <a:rPr lang="es-PE" sz="900" b="0" i="0" dirty="0" err="1">
                    <a:solidFill>
                      <a:schemeClr val="tx1"/>
                    </a:solidFill>
                    <a:effectLst/>
                    <a:latin typeface="Segoe WPC"/>
                  </a:rPr>
                  <a:t>rate</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𝑉</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𝑟𝑇</m:t>
                        </m:r>
                      </m:sup>
                    </m:sSup>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𝐸</m:t>
                        </m:r>
                      </m:e>
                      <m:sup>
                        <m:r>
                          <a:rPr lang="ar-AE" sz="900" i="1">
                            <a:solidFill>
                              <a:schemeClr val="tx1"/>
                            </a:solidFill>
                            <a:latin typeface="Cambria Math" panose="02040503050406030204" pitchFamily="18" charset="0"/>
                          </a:rPr>
                          <m:t>𝑄</m:t>
                        </m:r>
                      </m:sup>
                    </m:sSup>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𝑉</m:t>
                            </m:r>
                          </m:e>
                          <m:sub>
                            <m:r>
                              <a:rPr lang="ar-AE" sz="900" i="1">
                                <a:solidFill>
                                  <a:schemeClr val="tx1"/>
                                </a:solidFill>
                                <a:latin typeface="Cambria Math" panose="02040503050406030204" pitchFamily="18" charset="0"/>
                              </a:rPr>
                              <m:t>𝑇</m:t>
                            </m:r>
                          </m:sub>
                        </m:sSub>
                      </m:e>
                    </m:d>
                  </m:oMath>
                </a14:m>
                <a:endParaRPr lang="ar-A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Implied</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𝜎</m:t>
                    </m:r>
                  </m:oMath>
                </a14:m>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makes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Black-Scholes-Merton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equal</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observed</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There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no </a:t>
                </a:r>
                <a:r>
                  <a:rPr lang="es-PE" sz="900" b="0" i="0" dirty="0" err="1">
                    <a:solidFill>
                      <a:schemeClr val="tx1"/>
                    </a:solidFill>
                    <a:effectLst/>
                    <a:latin typeface="Segoe WPC"/>
                  </a:rPr>
                  <a:t>closed-form</a:t>
                </a:r>
                <a:r>
                  <a:rPr lang="es-PE" sz="900" b="0" i="0" dirty="0">
                    <a:solidFill>
                      <a:schemeClr val="tx1"/>
                    </a:solidFill>
                    <a:effectLst/>
                    <a:latin typeface="Segoe WPC"/>
                  </a:rPr>
                  <a:t> formula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implied</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must</a:t>
                </a:r>
                <a:r>
                  <a:rPr lang="es-PE" sz="900" b="0" i="0" dirty="0">
                    <a:solidFill>
                      <a:schemeClr val="tx1"/>
                    </a:solidFill>
                    <a:effectLst/>
                    <a:latin typeface="Segoe WPC"/>
                  </a:rPr>
                  <a:t> be </a:t>
                </a:r>
                <a:r>
                  <a:rPr lang="es-PE" sz="900" b="0" i="0" dirty="0" err="1">
                    <a:solidFill>
                      <a:schemeClr val="tx1"/>
                    </a:solidFill>
                    <a:effectLst/>
                    <a:latin typeface="Segoe WPC"/>
                  </a:rPr>
                  <a:t>found</a:t>
                </a:r>
                <a:r>
                  <a:rPr lang="es-PE" sz="900" b="0" i="0" dirty="0">
                    <a:solidFill>
                      <a:schemeClr val="tx1"/>
                    </a:solidFill>
                    <a:effectLst/>
                    <a:latin typeface="Segoe WPC"/>
                  </a:rPr>
                  <a:t> </a:t>
                </a:r>
                <a:r>
                  <a:rPr lang="es-PE" sz="900" b="0" i="0" dirty="0" err="1">
                    <a:solidFill>
                      <a:schemeClr val="tx1"/>
                    </a:solidFill>
                    <a:effectLst/>
                    <a:latin typeface="Segoe WPC"/>
                  </a:rPr>
                  <a:t>iteratively</a:t>
                </a:r>
                <a:r>
                  <a:rPr lang="es-PE" sz="900" b="0" i="0" dirty="0">
                    <a:solidFill>
                      <a:schemeClr val="tx1"/>
                    </a:solidFill>
                    <a:effectLst/>
                    <a:latin typeface="Segoe WPC"/>
                  </a:rPr>
                  <a:t>.</a:t>
                </a:r>
              </a:p>
              <a:p>
                <a:pPr marL="171450" indent="-171450" algn="l">
                  <a:spcBef>
                    <a:spcPts val="300"/>
                  </a:spcBef>
                  <a:buFont typeface="Wingdings" panose="05000000000000000000" pitchFamily="2" charset="2"/>
                  <a:buChar char="q"/>
                </a:pPr>
                <a:r>
                  <a:rPr lang="es-PE" sz="900" b="1" i="0" dirty="0" err="1">
                    <a:solidFill>
                      <a:schemeClr val="tx1"/>
                    </a:solidFill>
                    <a:effectLst/>
                    <a:latin typeface="Segoe WPC"/>
                  </a:rPr>
                  <a:t>Extensions</a:t>
                </a:r>
                <a:r>
                  <a:rPr lang="es-PE" sz="900" b="1" i="0" dirty="0">
                    <a:solidFill>
                      <a:schemeClr val="tx1"/>
                    </a:solidFill>
                    <a:effectLst/>
                    <a:latin typeface="Segoe WPC"/>
                  </a:rPr>
                  <a:t>: </a:t>
                </a:r>
                <a:r>
                  <a:rPr lang="es-PE" sz="900" b="1" i="0" dirty="0" err="1">
                    <a:solidFill>
                      <a:schemeClr val="tx1"/>
                    </a:solidFill>
                    <a:effectLst/>
                    <a:latin typeface="Segoe WPC"/>
                  </a:rPr>
                  <a:t>Dividends</a:t>
                </a:r>
                <a:r>
                  <a:rPr lang="es-PE" sz="900" b="1" i="0" dirty="0">
                    <a:solidFill>
                      <a:schemeClr val="tx1"/>
                    </a:solidFill>
                    <a:effectLst/>
                    <a:latin typeface="Segoe WPC"/>
                  </a:rPr>
                  <a:t>, </a:t>
                </a:r>
                <a:r>
                  <a:rPr lang="es-PE" sz="900" b="1" i="0" dirty="0" err="1">
                    <a:solidFill>
                      <a:schemeClr val="tx1"/>
                    </a:solidFill>
                    <a:effectLst/>
                    <a:latin typeface="Segoe WPC"/>
                  </a:rPr>
                  <a:t>Currencies</a:t>
                </a:r>
                <a:r>
                  <a:rPr lang="es-PE" sz="900" b="1" i="0" dirty="0">
                    <a:solidFill>
                      <a:schemeClr val="tx1"/>
                    </a:solidFill>
                    <a:effectLst/>
                    <a:latin typeface="Segoe WPC"/>
                  </a:rPr>
                  <a:t>, Futures, and Warrants</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Black-Scholes-Merton </a:t>
                </a:r>
                <a:r>
                  <a:rPr lang="es-PE" sz="900" b="0" i="0" dirty="0" err="1">
                    <a:solidFill>
                      <a:schemeClr val="tx1"/>
                    </a:solidFill>
                    <a:effectLst/>
                    <a:latin typeface="Segoe WPC"/>
                  </a:rPr>
                  <a:t>extensions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assets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income</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carry</a:t>
                </a:r>
                <a:r>
                  <a:rPr lang="es-PE" sz="900" b="0" i="0" dirty="0">
                    <a:solidFill>
                      <a:schemeClr val="tx1"/>
                    </a:solidFill>
                    <a:effectLst/>
                    <a:latin typeface="Segoe WPC"/>
                  </a:rPr>
                  <a:t> and </a:t>
                </a:r>
                <a:r>
                  <a:rPr lang="es-PE" sz="900" b="0" i="0" dirty="0" err="1">
                    <a:solidFill>
                      <a:schemeClr val="tx1"/>
                    </a:solidFill>
                    <a:effectLst/>
                    <a:latin typeface="Segoe WPC"/>
                  </a:rPr>
                  <a:t>to</a:t>
                </a:r>
                <a:r>
                  <a:rPr lang="es-PE" sz="900" b="0" i="0" dirty="0">
                    <a:solidFill>
                      <a:schemeClr val="tx1"/>
                    </a:solidFill>
                    <a:effectLst/>
                    <a:latin typeface="Segoe WPC"/>
                  </a:rPr>
                  <a:t> warrants.</a:t>
                </a:r>
              </a:p>
              <a:p>
                <a:pPr algn="l">
                  <a:spcBef>
                    <a:spcPts val="300"/>
                  </a:spcBef>
                </a:pP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pays</a:t>
                </a:r>
                <a:r>
                  <a:rPr lang="es-PE" sz="900" b="0" i="0" dirty="0">
                    <a:solidFill>
                      <a:schemeClr val="tx1"/>
                    </a:solidFill>
                    <a:effectLst/>
                    <a:latin typeface="Segoe WPC"/>
                  </a:rPr>
                  <a:t> </a:t>
                </a:r>
                <a:r>
                  <a:rPr lang="es-PE" sz="900" b="0" i="0" dirty="0" err="1">
                    <a:solidFill>
                      <a:schemeClr val="tx1"/>
                    </a:solidFill>
                    <a:effectLst/>
                    <a:latin typeface="Segoe WPC"/>
                  </a:rPr>
                  <a:t>income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pricing</a:t>
                </a:r>
                <a:r>
                  <a:rPr lang="es-PE" sz="900" b="0" i="0" dirty="0">
                    <a:solidFill>
                      <a:schemeClr val="tx1"/>
                    </a:solidFill>
                    <a:effectLst/>
                    <a:latin typeface="Segoe WPC"/>
                  </a:rPr>
                  <a:t> formula </a:t>
                </a:r>
                <a:r>
                  <a:rPr lang="es-PE" sz="900" b="0" i="0" dirty="0" err="1">
                    <a:solidFill>
                      <a:schemeClr val="tx1"/>
                    </a:solidFill>
                    <a:effectLst/>
                    <a:latin typeface="Segoe WPC"/>
                  </a:rPr>
                  <a:t>must</a:t>
                </a:r>
                <a:r>
                  <a:rPr lang="es-PE" sz="900" b="0" i="0" dirty="0">
                    <a:solidFill>
                      <a:schemeClr val="tx1"/>
                    </a:solidFill>
                    <a:effectLst/>
                    <a:latin typeface="Segoe WPC"/>
                  </a:rPr>
                  <a:t> </a:t>
                </a:r>
                <a:r>
                  <a:rPr lang="es-PE" sz="900" b="0" i="0" dirty="0" err="1">
                    <a:solidFill>
                      <a:schemeClr val="tx1"/>
                    </a:solidFill>
                    <a:effectLst/>
                    <a:latin typeface="Segoe WPC"/>
                  </a:rPr>
                  <a:t>adjust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that</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carry</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Dividend</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 </a:t>
                </a:r>
                <a:r>
                  <a:rPr lang="es-PE" sz="900" b="0" i="0" dirty="0" err="1">
                    <a:solidFill>
                      <a:schemeClr val="tx1"/>
                    </a:solidFill>
                    <a:effectLst/>
                    <a:latin typeface="Segoe WPC"/>
                  </a:rPr>
                  <a:t>foreign</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and futures </a:t>
                </a:r>
                <a:r>
                  <a:rPr lang="es-PE" sz="900" b="0" i="0" dirty="0" err="1">
                    <a:solidFill>
                      <a:schemeClr val="tx1"/>
                    </a:solidFill>
                    <a:effectLst/>
                    <a:latin typeface="Segoe WPC"/>
                  </a:rPr>
                  <a:t>carry</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reduce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effective</a:t>
                </a:r>
                <a:r>
                  <a:rPr lang="es-PE" sz="900" b="0" i="0" dirty="0">
                    <a:solidFill>
                      <a:schemeClr val="tx1"/>
                    </a:solidFill>
                    <a:effectLst/>
                    <a:latin typeface="Segoe WPC"/>
                  </a:rPr>
                  <a:t> </a:t>
                </a:r>
                <a:r>
                  <a:rPr lang="es-PE" sz="900" b="0" i="0" dirty="0" err="1">
                    <a:solidFill>
                      <a:schemeClr val="tx1"/>
                    </a:solidFill>
                    <a:effectLst/>
                    <a:latin typeface="Segoe WPC"/>
                  </a:rPr>
                  <a:t>growth</a:t>
                </a:r>
                <a:r>
                  <a:rPr lang="es-PE" sz="900" b="0" i="0" dirty="0">
                    <a:solidFill>
                      <a:schemeClr val="tx1"/>
                    </a:solidFill>
                    <a:effectLst/>
                    <a:latin typeface="Segoe WPC"/>
                  </a:rPr>
                  <a:t>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pricing</a:t>
                </a:r>
                <a:r>
                  <a:rPr lang="es-PE" sz="900" b="0" i="0" dirty="0">
                    <a:solidFill>
                      <a:schemeClr val="tx1"/>
                    </a:solidFill>
                    <a:effectLst/>
                    <a:latin typeface="Segoe WPC"/>
                  </a:rPr>
                  <a:t> formula.</a:t>
                </a:r>
              </a:p>
              <a:p>
                <a:pPr algn="l">
                  <a:spcBef>
                    <a:spcPts val="300"/>
                  </a:spcBef>
                </a:pPr>
                <a:r>
                  <a:rPr lang="es-PE" sz="900" b="1" i="0" dirty="0">
                    <a:solidFill>
                      <a:schemeClr val="tx1"/>
                    </a:solidFill>
                    <a:effectLst/>
                    <a:latin typeface="Segoe WPC"/>
                  </a:rPr>
                  <a:t>Key Formula:</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continuous</a:t>
                </a:r>
                <a:r>
                  <a:rPr lang="es-PE" sz="900" b="0" i="0" dirty="0">
                    <a:solidFill>
                      <a:schemeClr val="tx1"/>
                    </a:solidFill>
                    <a:effectLst/>
                    <a:latin typeface="Segoe WPC"/>
                  </a:rPr>
                  <a:t> </a:t>
                </a:r>
                <a:r>
                  <a:rPr lang="es-PE" sz="900" b="0" i="0" dirty="0" err="1">
                    <a:solidFill>
                      <a:schemeClr val="tx1"/>
                    </a:solidFill>
                    <a:effectLst/>
                    <a:latin typeface="Segoe WPC"/>
                  </a:rPr>
                  <a:t>dividend</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𝑞</m:t>
                    </m:r>
                  </m:oMath>
                </a14:m>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𝑐</m:t>
                    </m:r>
                    <m:r>
                      <a:rPr lang="es-P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0</m:t>
                        </m:r>
                      </m:sub>
                    </m:sSub>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𝑞𝑇</m:t>
                        </m:r>
                      </m:sup>
                    </m:sSup>
                    <m:r>
                      <a:rPr lang="ar-AE" sz="900" i="1">
                        <a:solidFill>
                          <a:schemeClr val="tx1"/>
                        </a:solidFill>
                        <a:latin typeface="Cambria Math" panose="02040503050406030204" pitchFamily="18" charset="0"/>
                      </a:rPr>
                      <m:t>𝑁</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0">
                                <a:solidFill>
                                  <a:schemeClr val="tx1"/>
                                </a:solidFill>
                                <a:latin typeface="Cambria Math" panose="02040503050406030204" pitchFamily="18" charset="0"/>
                              </a:rPr>
                              <m:t>1</m:t>
                            </m:r>
                          </m:sub>
                        </m:sSub>
                      </m:e>
                    </m:d>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𝐾</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𝑟𝑇</m:t>
                        </m:r>
                      </m:sup>
                    </m:sSup>
                    <m:r>
                      <a:rPr lang="ar-AE" sz="900" i="1">
                        <a:solidFill>
                          <a:schemeClr val="tx1"/>
                        </a:solidFill>
                        <a:latin typeface="Cambria Math" panose="02040503050406030204" pitchFamily="18" charset="0"/>
                      </a:rPr>
                      <m:t>𝑁</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0">
                                <a:solidFill>
                                  <a:schemeClr val="tx1"/>
                                </a:solidFill>
                                <a:latin typeface="Cambria Math" panose="02040503050406030204" pitchFamily="18" charset="0"/>
                              </a:rPr>
                              <m:t>2</m:t>
                            </m:r>
                          </m:sub>
                        </m:sSub>
                      </m:e>
                    </m:d>
                  </m:oMath>
                </a14:m>
                <a:r>
                  <a:rPr lang="ar-AE" sz="900" b="0" i="0" dirty="0">
                    <a:solidFill>
                      <a:schemeClr val="tx1"/>
                    </a:solidFill>
                    <a:effectLst/>
                    <a:latin typeface="Segoe WPC"/>
                  </a:rPr>
                  <a:t> </a:t>
                </a:r>
                <a:r>
                  <a:rPr lang="es-PE" sz="900" b="0" i="0" dirty="0">
                    <a:solidFill>
                      <a:schemeClr val="tx1"/>
                    </a:solidFill>
                    <a:effectLst/>
                    <a:latin typeface="Segoe WPC"/>
                  </a:rPr>
                  <a:t>and </a:t>
                </a:r>
                <a14:m>
                  <m:oMath xmlns:m="http://schemas.openxmlformats.org/officeDocument/2006/math">
                    <m:r>
                      <a:rPr lang="es-PE" sz="900" i="1">
                        <a:solidFill>
                          <a:schemeClr val="tx1"/>
                        </a:solidFill>
                        <a:latin typeface="Cambria Math" panose="02040503050406030204" pitchFamily="18" charset="0"/>
                      </a:rPr>
                      <m:t>𝑝</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𝐾</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𝑟𝑇</m:t>
                        </m:r>
                      </m:sup>
                    </m:sSup>
                    <m:r>
                      <a:rPr lang="ar-AE" sz="900" i="1">
                        <a:solidFill>
                          <a:schemeClr val="tx1"/>
                        </a:solidFill>
                        <a:latin typeface="Cambria Math" panose="02040503050406030204" pitchFamily="18" charset="0"/>
                      </a:rPr>
                      <m:t>𝑁</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0">
                                <a:solidFill>
                                  <a:schemeClr val="tx1"/>
                                </a:solidFill>
                                <a:latin typeface="Cambria Math" panose="02040503050406030204" pitchFamily="18" charset="0"/>
                              </a:rPr>
                              <m:t>2</m:t>
                            </m:r>
                          </m:sub>
                        </m:sSub>
                      </m:e>
                    </m:d>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0</m:t>
                        </m:r>
                      </m:sub>
                    </m:sSub>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𝑞𝑇</m:t>
                        </m:r>
                      </m:sup>
                    </m:sSup>
                    <m:r>
                      <a:rPr lang="ar-AE" sz="900" i="1">
                        <a:solidFill>
                          <a:schemeClr val="tx1"/>
                        </a:solidFill>
                        <a:latin typeface="Cambria Math" panose="02040503050406030204" pitchFamily="18" charset="0"/>
                      </a:rPr>
                      <m:t>𝑁</m:t>
                    </m:r>
                    <m:d>
                      <m:dPr>
                        <m:ctrlPr>
                          <a:rPr lang="ar-AE" sz="900" i="1">
                            <a:solidFill>
                              <a:schemeClr val="tx1"/>
                            </a:solidFill>
                            <a:latin typeface="Cambria Math" panose="02040503050406030204" pitchFamily="18" charset="0"/>
                          </a:rPr>
                        </m:ctrlPr>
                      </m:dPr>
                      <m:e>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0">
                                <a:solidFill>
                                  <a:schemeClr val="tx1"/>
                                </a:solidFill>
                                <a:latin typeface="Cambria Math" panose="02040503050406030204" pitchFamily="18" charset="0"/>
                              </a:rPr>
                              <m:t>1</m:t>
                            </m:r>
                          </m:sub>
                        </m:sSub>
                      </m:e>
                    </m:d>
                  </m:oMath>
                </a14:m>
                <a:r>
                  <a:rPr lang="ar-A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currencies</a:t>
                </a:r>
                <a:r>
                  <a:rPr lang="es-PE" sz="900" b="0" i="0" dirty="0">
                    <a:solidFill>
                      <a:schemeClr val="tx1"/>
                    </a:solidFill>
                    <a:effectLst/>
                    <a:latin typeface="Segoe WPC"/>
                  </a:rPr>
                  <a:t> set </a:t>
                </a:r>
                <a14:m>
                  <m:oMath xmlns:m="http://schemas.openxmlformats.org/officeDocument/2006/math">
                    <m:r>
                      <a:rPr lang="es-PE" sz="900" i="1">
                        <a:solidFill>
                          <a:schemeClr val="tx1"/>
                        </a:solidFill>
                        <a:latin typeface="Cambria Math" panose="02040503050406030204" pitchFamily="18" charset="0"/>
                      </a:rPr>
                      <m:t>𝑞</m:t>
                    </m:r>
                    <m:r>
                      <a:rPr lang="es-P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𝑟</m:t>
                        </m:r>
                      </m:e>
                      <m:sub>
                        <m:r>
                          <a:rPr lang="ar-AE" sz="900" i="1">
                            <a:solidFill>
                              <a:schemeClr val="tx1"/>
                            </a:solidFill>
                            <a:latin typeface="Cambria Math" panose="02040503050406030204" pitchFamily="18" charset="0"/>
                          </a:rPr>
                          <m:t>𝑓</m:t>
                        </m:r>
                      </m:sub>
                    </m:sSub>
                  </m:oMath>
                </a14:m>
                <a:r>
                  <a:rPr lang="ar-A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futures set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0</m:t>
                        </m:r>
                      </m:sub>
                    </m:sSub>
                    <m:r>
                      <a:rPr lang="ar-A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𝐹</m:t>
                        </m:r>
                      </m:e>
                      <m:sub>
                        <m:r>
                          <a:rPr lang="ar-AE" sz="900" i="0">
                            <a:solidFill>
                              <a:schemeClr val="tx1"/>
                            </a:solidFill>
                            <a:latin typeface="Cambria Math" panose="02040503050406030204" pitchFamily="18" charset="0"/>
                          </a:rPr>
                          <m:t>0</m:t>
                        </m:r>
                      </m:sub>
                    </m:sSub>
                  </m:oMath>
                </a14:m>
                <a:r>
                  <a:rPr lang="ar-AE" sz="900" b="0" i="0" dirty="0">
                    <a:solidFill>
                      <a:schemeClr val="tx1"/>
                    </a:solidFill>
                    <a:effectLst/>
                    <a:latin typeface="Segoe WPC"/>
                  </a:rPr>
                  <a:t> </a:t>
                </a:r>
                <a:r>
                  <a:rPr lang="es-PE" sz="900" b="0" i="0" dirty="0">
                    <a:solidFill>
                      <a:schemeClr val="tx1"/>
                    </a:solidFill>
                    <a:effectLst/>
                    <a:latin typeface="Segoe WPC"/>
                  </a:rPr>
                  <a:t>and </a:t>
                </a:r>
                <a14:m>
                  <m:oMath xmlns:m="http://schemas.openxmlformats.org/officeDocument/2006/math">
                    <m:r>
                      <a:rPr lang="es-PE" sz="900" i="1">
                        <a:solidFill>
                          <a:schemeClr val="tx1"/>
                        </a:solidFill>
                        <a:latin typeface="Cambria Math" panose="02040503050406030204" pitchFamily="18" charset="0"/>
                      </a:rPr>
                      <m:t>𝑞</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𝑟</m:t>
                    </m:r>
                  </m:oMath>
                </a14:m>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discrete </a:t>
                </a:r>
                <a:r>
                  <a:rPr lang="es-PE" sz="900" b="0" i="0" dirty="0" err="1">
                    <a:solidFill>
                      <a:schemeClr val="tx1"/>
                    </a:solidFill>
                    <a:effectLst/>
                    <a:latin typeface="Segoe WPC"/>
                  </a:rPr>
                  <a:t>dividends</a:t>
                </a:r>
                <a:r>
                  <a:rPr lang="es-PE" sz="900" b="0" i="0" dirty="0">
                    <a:solidFill>
                      <a:schemeClr val="tx1"/>
                    </a:solidFill>
                    <a:effectLst/>
                    <a:latin typeface="Segoe WPC"/>
                  </a:rPr>
                  <a:t> </a:t>
                </a:r>
                <a:r>
                  <a:rPr lang="es-PE" sz="900" b="0" i="0" dirty="0" err="1">
                    <a:solidFill>
                      <a:schemeClr val="tx1"/>
                    </a:solidFill>
                    <a:effectLst/>
                    <a:latin typeface="Segoe WPC"/>
                  </a:rPr>
                  <a:t>replace</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𝑆</m:t>
                    </m:r>
                  </m:oMath>
                </a14:m>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𝑆</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𝐷</m:t>
                    </m:r>
                  </m:oMath>
                </a14:m>
                <a:r>
                  <a:rPr lang="es-PE" sz="900" b="0" i="0" dirty="0">
                    <a:solidFill>
                      <a:schemeClr val="tx1"/>
                    </a:solidFill>
                    <a:effectLst/>
                    <a:latin typeface="Segoe WPC"/>
                  </a:rPr>
                  <a:t>; warrant </a:t>
                </a:r>
                <a:r>
                  <a:rPr lang="es-PE" sz="900" b="0" i="0" dirty="0" err="1">
                    <a:solidFill>
                      <a:schemeClr val="tx1"/>
                    </a:solidFill>
                    <a:effectLst/>
                    <a:latin typeface="Segoe WPC"/>
                  </a:rPr>
                  <a:t>dilution</a:t>
                </a:r>
                <a:r>
                  <a:rPr lang="es-PE" sz="900" b="0" i="0" dirty="0">
                    <a:solidFill>
                      <a:schemeClr val="tx1"/>
                    </a:solidFill>
                    <a:effectLst/>
                    <a:latin typeface="Segoe WPC"/>
                  </a:rPr>
                  <a:t> </a:t>
                </a:r>
                <a:r>
                  <a:rPr lang="es-PE" sz="900" b="0" i="0" dirty="0" err="1">
                    <a:solidFill>
                      <a:schemeClr val="tx1"/>
                    </a:solidFill>
                    <a:effectLst/>
                    <a:latin typeface="Segoe WPC"/>
                  </a:rPr>
                  <a:t>cost</a:t>
                </a:r>
                <a:r>
                  <a:rPr lang="es-PE" sz="900" b="0" i="0" dirty="0">
                    <a:solidFill>
                      <a:schemeClr val="tx1"/>
                    </a:solidFill>
                    <a:effectLst/>
                    <a:latin typeface="Segoe WPC"/>
                  </a:rPr>
                  <a:t> per </a:t>
                </a:r>
                <a:r>
                  <a:rPr lang="es-PE" sz="900" b="0" i="0" dirty="0" err="1">
                    <a:solidFill>
                      <a:schemeClr val="tx1"/>
                    </a:solidFill>
                    <a:effectLst/>
                    <a:latin typeface="Segoe WPC"/>
                  </a:rPr>
                  <a:t>existing</a:t>
                </a:r>
                <a:r>
                  <a:rPr lang="es-PE" sz="900" b="0" i="0" dirty="0">
                    <a:solidFill>
                      <a:schemeClr val="tx1"/>
                    </a:solidFill>
                    <a:effectLst/>
                    <a:latin typeface="Segoe WPC"/>
                  </a:rPr>
                  <a:t> </a:t>
                </a:r>
                <a:r>
                  <a:rPr lang="es-PE" sz="900" b="0" i="0" dirty="0" err="1">
                    <a:solidFill>
                      <a:schemeClr val="tx1"/>
                    </a:solidFill>
                    <a:effectLst/>
                    <a:latin typeface="Segoe WPC"/>
                  </a:rPr>
                  <a:t>shareholder</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1">
                            <a:solidFill>
                              <a:schemeClr val="tx1"/>
                            </a:solidFill>
                            <a:latin typeface="Cambria Math" panose="02040503050406030204" pitchFamily="18" charset="0"/>
                          </a:rPr>
                          <m:t>𝑁</m:t>
                        </m:r>
                      </m:num>
                      <m:den>
                        <m:r>
                          <a:rPr lang="ar-AE" sz="900" i="1">
                            <a:solidFill>
                              <a:schemeClr val="tx1"/>
                            </a:solidFill>
                            <a:latin typeface="Cambria Math" panose="02040503050406030204" pitchFamily="18" charset="0"/>
                          </a:rPr>
                          <m:t>𝑁</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𝑀</m:t>
                        </m:r>
                      </m:den>
                    </m:f>
                    <m:r>
                      <a:rPr lang="ar-AE" sz="900" i="0">
                        <a:solidFill>
                          <a:schemeClr val="tx1"/>
                        </a:solidFill>
                        <a:latin typeface="Cambria Math" panose="02040503050406030204" pitchFamily="18" charset="0"/>
                      </a:rPr>
                      <m:t>×</m:t>
                    </m:r>
                  </m:oMath>
                </a14:m>
                <a:r>
                  <a:rPr lang="ar-AE" sz="900" b="0" i="0" dirty="0">
                    <a:solidFill>
                      <a:schemeClr val="tx1"/>
                    </a:solidFill>
                    <a:effectLst/>
                    <a:latin typeface="Segoe WPC"/>
                  </a:rPr>
                  <a:t> </a:t>
                </a:r>
                <a:r>
                  <a:rPr lang="es-PE" sz="900" b="0" i="0" dirty="0">
                    <a:solidFill>
                      <a:schemeClr val="tx1"/>
                    </a:solidFill>
                    <a:effectLst/>
                    <a:latin typeface="Segoe WPC"/>
                  </a:rPr>
                  <a:t>warrant </a:t>
                </a:r>
                <a:r>
                  <a:rPr lang="es-PE" sz="900" b="0" i="0" dirty="0" err="1">
                    <a:solidFill>
                      <a:schemeClr val="tx1"/>
                    </a:solidFill>
                    <a:effectLst/>
                    <a:latin typeface="Segoe WPC"/>
                  </a:rPr>
                  <a:t>value</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same</a:t>
                </a:r>
                <a:r>
                  <a:rPr lang="es-PE" sz="900" b="0" i="0" dirty="0">
                    <a:solidFill>
                      <a:schemeClr val="tx1"/>
                    </a:solidFill>
                    <a:effectLst/>
                    <a:latin typeface="Segoe WPC"/>
                  </a:rPr>
                  <a:t> </a:t>
                </a:r>
                <a:r>
                  <a:rPr lang="es-PE" sz="900" b="0" i="0" dirty="0" err="1">
                    <a:solidFill>
                      <a:schemeClr val="tx1"/>
                    </a:solidFill>
                    <a:effectLst/>
                    <a:latin typeface="Segoe WPC"/>
                  </a:rPr>
                  <a:t>framework</a:t>
                </a:r>
                <a:r>
                  <a:rPr lang="es-PE" sz="900" b="0" i="0" dirty="0">
                    <a:solidFill>
                      <a:schemeClr val="tx1"/>
                    </a:solidFill>
                    <a:effectLst/>
                    <a:latin typeface="Segoe WPC"/>
                  </a:rPr>
                  <a:t> </a:t>
                </a:r>
                <a:r>
                  <a:rPr lang="es-PE" sz="900" b="0" i="0" dirty="0" err="1">
                    <a:solidFill>
                      <a:schemeClr val="tx1"/>
                    </a:solidFill>
                    <a:effectLst/>
                    <a:latin typeface="Segoe WPC"/>
                  </a:rPr>
                  <a:t>extends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stock </a:t>
                </a:r>
                <a:r>
                  <a:rPr lang="es-PE" sz="900" b="0" i="0" dirty="0" err="1">
                    <a:solidFill>
                      <a:schemeClr val="tx1"/>
                    </a:solidFill>
                    <a:effectLst/>
                    <a:latin typeface="Segoe WPC"/>
                  </a:rPr>
                  <a:t>indices</a:t>
                </a:r>
                <a:r>
                  <a:rPr lang="es-PE" sz="900" b="0" i="0" dirty="0">
                    <a:solidFill>
                      <a:schemeClr val="tx1"/>
                    </a:solidFill>
                    <a:effectLst/>
                    <a:latin typeface="Segoe WPC"/>
                  </a:rPr>
                  <a:t>, </a:t>
                </a:r>
                <a:r>
                  <a:rPr lang="es-PE" sz="900" b="0" i="0" dirty="0" err="1">
                    <a:solidFill>
                      <a:schemeClr val="tx1"/>
                    </a:solidFill>
                    <a:effectLst/>
                    <a:latin typeface="Segoe WPC"/>
                  </a:rPr>
                  <a:t>foreign</a:t>
                </a:r>
                <a:r>
                  <a:rPr lang="es-PE" sz="900" b="0" i="0" dirty="0">
                    <a:solidFill>
                      <a:schemeClr val="tx1"/>
                    </a:solidFill>
                    <a:effectLst/>
                    <a:latin typeface="Segoe WPC"/>
                  </a:rPr>
                  <a:t> </a:t>
                </a:r>
                <a:r>
                  <a:rPr lang="es-PE" sz="900" b="0" i="0" dirty="0" err="1">
                    <a:solidFill>
                      <a:schemeClr val="tx1"/>
                    </a:solidFill>
                    <a:effectLst/>
                    <a:latin typeface="Segoe WPC"/>
                  </a:rPr>
                  <a:t>currencies</a:t>
                </a:r>
                <a:r>
                  <a:rPr lang="es-PE" sz="900" b="0" i="0" dirty="0">
                    <a:solidFill>
                      <a:schemeClr val="tx1"/>
                    </a:solidFill>
                    <a:effectLst/>
                    <a:latin typeface="Segoe WPC"/>
                  </a:rPr>
                  <a:t>, futures, and warrants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appropriate</a:t>
                </a:r>
                <a:r>
                  <a:rPr lang="es-PE" sz="900" b="0" i="0" dirty="0">
                    <a:solidFill>
                      <a:schemeClr val="tx1"/>
                    </a:solidFill>
                    <a:effectLst/>
                    <a:latin typeface="Segoe WPC"/>
                  </a:rPr>
                  <a:t> </a:t>
                </a:r>
                <a:r>
                  <a:rPr lang="es-PE" sz="900" b="0" i="0" dirty="0" err="1">
                    <a:solidFill>
                      <a:schemeClr val="tx1"/>
                    </a:solidFill>
                    <a:effectLst/>
                    <a:latin typeface="Segoe WPC"/>
                  </a:rPr>
                  <a:t>adjustments</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American </a:t>
                </a:r>
                <a:r>
                  <a:rPr lang="es-PE" sz="900" b="0" i="0" dirty="0" err="1">
                    <a:solidFill>
                      <a:schemeClr val="tx1"/>
                    </a:solidFill>
                    <a:effectLst/>
                    <a:latin typeface="Segoe WPC"/>
                  </a:rPr>
                  <a:t>puts</a:t>
                </a:r>
                <a:r>
                  <a:rPr lang="es-PE" sz="900" b="0" i="0" dirty="0">
                    <a:solidFill>
                      <a:schemeClr val="tx1"/>
                    </a:solidFill>
                    <a:effectLst/>
                    <a:latin typeface="Segoe WPC"/>
                  </a:rPr>
                  <a:t> and </a:t>
                </a:r>
                <a:r>
                  <a:rPr lang="es-PE" sz="900" b="0" i="0" dirty="0" err="1">
                    <a:solidFill>
                      <a:schemeClr val="tx1"/>
                    </a:solidFill>
                    <a:effectLst/>
                    <a:latin typeface="Segoe WPC"/>
                  </a:rPr>
                  <a:t>many</a:t>
                </a:r>
                <a:r>
                  <a:rPr lang="es-PE" sz="900" b="0" i="0" dirty="0">
                    <a:solidFill>
                      <a:schemeClr val="tx1"/>
                    </a:solidFill>
                    <a:effectLst/>
                    <a:latin typeface="Segoe WPC"/>
                  </a:rPr>
                  <a:t> American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dividends</a:t>
                </a:r>
                <a:r>
                  <a:rPr lang="es-PE" sz="900" b="0" i="0" dirty="0">
                    <a:solidFill>
                      <a:schemeClr val="tx1"/>
                    </a:solidFill>
                    <a:effectLst/>
                    <a:latin typeface="Segoe WPC"/>
                  </a:rPr>
                  <a:t> </a:t>
                </a:r>
                <a:r>
                  <a:rPr lang="es-PE" sz="900" b="0" i="0" dirty="0" err="1">
                    <a:solidFill>
                      <a:schemeClr val="tx1"/>
                    </a:solidFill>
                    <a:effectLst/>
                    <a:latin typeface="Segoe WPC"/>
                  </a:rPr>
                  <a:t>should</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be </a:t>
                </a:r>
                <a:r>
                  <a:rPr lang="es-PE" sz="900" b="0" i="0" dirty="0" err="1">
                    <a:solidFill>
                      <a:schemeClr val="tx1"/>
                    </a:solidFill>
                    <a:effectLst/>
                    <a:latin typeface="Segoe WPC"/>
                  </a:rPr>
                  <a:t>priced</a:t>
                </a:r>
                <a:r>
                  <a:rPr lang="es-PE" sz="900" b="0" i="0" dirty="0">
                    <a:solidFill>
                      <a:schemeClr val="tx1"/>
                    </a:solidFill>
                    <a:effectLst/>
                    <a:latin typeface="Segoe WPC"/>
                  </a:rPr>
                  <a:t> as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binomial </a:t>
                </a:r>
                <a:r>
                  <a:rPr lang="es-PE" sz="900" b="0" i="0" dirty="0" err="1">
                    <a:solidFill>
                      <a:schemeClr val="tx1"/>
                    </a:solidFill>
                    <a:effectLst/>
                    <a:latin typeface="Segoe WPC"/>
                  </a:rPr>
                  <a:t>trees</a:t>
                </a:r>
                <a:r>
                  <a:rPr lang="es-PE" sz="900" b="0" i="0" dirty="0">
                    <a:solidFill>
                      <a:schemeClr val="tx1"/>
                    </a:solidFill>
                    <a:effectLst/>
                    <a:latin typeface="Segoe WPC"/>
                  </a:rPr>
                  <a:t> are </a:t>
                </a:r>
                <a:r>
                  <a:rPr lang="es-PE" sz="900" b="0" i="0" dirty="0" err="1">
                    <a:solidFill>
                      <a:schemeClr val="tx1"/>
                    </a:solidFill>
                    <a:effectLst/>
                    <a:latin typeface="Segoe WPC"/>
                  </a:rPr>
                  <a:t>typically</a:t>
                </a:r>
                <a:r>
                  <a:rPr lang="es-PE" sz="900" b="0" i="0" dirty="0">
                    <a:solidFill>
                      <a:schemeClr val="tx1"/>
                    </a:solidFill>
                    <a:effectLst/>
                    <a:latin typeface="Segoe WPC"/>
                  </a:rPr>
                  <a:t> </a:t>
                </a:r>
                <a:r>
                  <a:rPr lang="es-PE" sz="900" b="0" i="0" dirty="0" err="1">
                    <a:solidFill>
                      <a:schemeClr val="tx1"/>
                    </a:solidFill>
                    <a:effectLst/>
                    <a:latin typeface="Segoe WPC"/>
                  </a:rPr>
                  <a:t>used</a:t>
                </a:r>
                <a:r>
                  <a:rPr lang="es-PE" sz="900" b="0" i="0" dirty="0">
                    <a:solidFill>
                      <a:schemeClr val="tx1"/>
                    </a:solidFill>
                    <a:effectLst/>
                    <a:latin typeface="Segoe WPC"/>
                  </a:rPr>
                  <a:t> </a:t>
                </a:r>
                <a:r>
                  <a:rPr lang="es-PE" sz="900" b="0" i="0" dirty="0" err="1">
                    <a:solidFill>
                      <a:schemeClr val="tx1"/>
                    </a:solidFill>
                    <a:effectLst/>
                    <a:latin typeface="Segoe WPC"/>
                  </a:rPr>
                  <a:t>instead</a:t>
                </a:r>
                <a:r>
                  <a:rPr lang="es-PE" sz="900" b="0" i="0" dirty="0">
                    <a:solidFill>
                      <a:schemeClr val="tx1"/>
                    </a:solidFill>
                    <a:effectLst/>
                    <a:latin typeface="Segoe WPC"/>
                  </a:rPr>
                  <a:t>.</a:t>
                </a:r>
              </a:p>
            </p:txBody>
          </p:sp>
        </mc:Choice>
        <mc:Fallback xmlns="">
          <p:sp>
            <p:nvSpPr>
              <p:cNvPr id="5" name="CuadroTexto 4">
                <a:extLst>
                  <a:ext uri="{FF2B5EF4-FFF2-40B4-BE49-F238E27FC236}">
                    <a16:creationId xmlns:a16="http://schemas.microsoft.com/office/drawing/2014/main" id="{CBC8128C-18EE-522D-FDA5-1BBBEEFEFC9E}"/>
                  </a:ext>
                </a:extLst>
              </p:cNvPr>
              <p:cNvSpPr txBox="1">
                <a:spLocks noRot="1" noChangeAspect="1" noMove="1" noResize="1" noEditPoints="1" noAdjustHandles="1" noChangeArrowheads="1" noChangeShapeType="1" noTextEdit="1"/>
              </p:cNvSpPr>
              <p:nvPr/>
            </p:nvSpPr>
            <p:spPr>
              <a:xfrm>
                <a:off x="152400" y="1968436"/>
                <a:ext cx="6096000" cy="3570593"/>
              </a:xfrm>
              <a:prstGeom prst="rect">
                <a:avLst/>
              </a:prstGeom>
              <a:blipFill>
                <a:blip r:embed="rId2"/>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37306113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3F01F440-C5DE-F49F-A766-58748C89EFD7}"/>
                  </a:ext>
                </a:extLst>
              </p:cNvPr>
              <p:cNvSpPr txBox="1"/>
              <p:nvPr/>
            </p:nvSpPr>
            <p:spPr>
              <a:xfrm>
                <a:off x="0" y="274887"/>
                <a:ext cx="6292850" cy="5868594"/>
              </a:xfrm>
              <a:prstGeom prst="rect">
                <a:avLst/>
              </a:prstGeom>
              <a:noFill/>
            </p:spPr>
            <p:txBody>
              <a:bodyPr wrap="square">
                <a:spAutoFit/>
              </a:bodyPr>
              <a:lstStyle/>
              <a:p>
                <a:pPr marL="171450" indent="-171450" algn="l">
                  <a:spcBef>
                    <a:spcPts val="300"/>
                  </a:spcBef>
                  <a:buFont typeface="Wingdings" panose="05000000000000000000" pitchFamily="2" charset="2"/>
                  <a:buChar char="q"/>
                </a:pPr>
                <a:r>
                  <a:rPr lang="es-PE" sz="900" b="1" i="0" dirty="0">
                    <a:solidFill>
                      <a:schemeClr val="tx1"/>
                    </a:solidFill>
                    <a:effectLst/>
                    <a:latin typeface="Segoe WPC"/>
                  </a:rPr>
                  <a:t>Naked, </a:t>
                </a:r>
                <a:r>
                  <a:rPr lang="es-PE" sz="900" b="1" i="0" dirty="0" err="1">
                    <a:solidFill>
                      <a:schemeClr val="tx1"/>
                    </a:solidFill>
                    <a:effectLst/>
                    <a:latin typeface="Segoe WPC"/>
                  </a:rPr>
                  <a:t>Covered</a:t>
                </a:r>
                <a:r>
                  <a:rPr lang="es-PE" sz="900" b="1" i="0" dirty="0">
                    <a:solidFill>
                      <a:schemeClr val="tx1"/>
                    </a:solidFill>
                    <a:effectLst/>
                    <a:latin typeface="Segoe WPC"/>
                  </a:rPr>
                  <a:t>, and Stop-</a:t>
                </a:r>
                <a:r>
                  <a:rPr lang="es-PE" sz="900" b="1" i="0" dirty="0" err="1">
                    <a:solidFill>
                      <a:schemeClr val="tx1"/>
                    </a:solidFill>
                    <a:effectLst/>
                    <a:latin typeface="Segoe WPC"/>
                  </a:rPr>
                  <a:t>Loss</a:t>
                </a:r>
                <a:r>
                  <a:rPr lang="es-PE" sz="900" b="1" i="0" dirty="0">
                    <a:solidFill>
                      <a:schemeClr val="tx1"/>
                    </a:solidFill>
                    <a:effectLst/>
                    <a:latin typeface="Segoe WPC"/>
                  </a:rPr>
                  <a:t> Positions</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Basic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management</a:t>
                </a:r>
                <a:r>
                  <a:rPr lang="es-PE" sz="900" b="0" i="0" dirty="0">
                    <a:solidFill>
                      <a:schemeClr val="tx1"/>
                    </a:solidFill>
                    <a:effectLst/>
                    <a:latin typeface="Segoe WPC"/>
                  </a:rPr>
                  <a:t> </a:t>
                </a:r>
                <a:r>
                  <a:rPr lang="es-PE" sz="900" b="0" i="0" dirty="0" err="1">
                    <a:solidFill>
                      <a:schemeClr val="tx1"/>
                    </a:solidFill>
                    <a:effectLst/>
                    <a:latin typeface="Segoe WPC"/>
                  </a:rPr>
                  <a:t>strategies</a:t>
                </a:r>
                <a:r>
                  <a:rPr lang="es-PE" sz="900" b="0" i="0" dirty="0">
                    <a:solidFill>
                      <a:schemeClr val="tx1"/>
                    </a:solidFill>
                    <a:effectLst/>
                    <a:latin typeface="Segoe WPC"/>
                  </a:rPr>
                  <a:t> </a:t>
                </a:r>
                <a:r>
                  <a:rPr lang="es-PE" sz="900" b="0" i="0" dirty="0" err="1">
                    <a:solidFill>
                      <a:schemeClr val="tx1"/>
                    </a:solidFill>
                    <a:effectLst/>
                    <a:latin typeface="Segoe WPC"/>
                  </a:rPr>
                  <a:t>before</a:t>
                </a:r>
                <a:r>
                  <a:rPr lang="es-PE" sz="900" b="0" i="0" dirty="0">
                    <a:solidFill>
                      <a:schemeClr val="tx1"/>
                    </a:solidFill>
                    <a:effectLst/>
                    <a:latin typeface="Segoe WPC"/>
                  </a:rPr>
                  <a:t> </a:t>
                </a:r>
                <a:r>
                  <a:rPr lang="es-PE" sz="900" b="0" i="0" dirty="0" err="1">
                    <a:solidFill>
                      <a:schemeClr val="tx1"/>
                    </a:solidFill>
                    <a:effectLst/>
                    <a:latin typeface="Segoe WPC"/>
                  </a:rPr>
                  <a:t>dynamic</a:t>
                </a:r>
                <a:r>
                  <a:rPr lang="es-PE" sz="900" b="0" i="0" dirty="0">
                    <a:solidFill>
                      <a:schemeClr val="tx1"/>
                    </a:solidFill>
                    <a:effectLst/>
                    <a:latin typeface="Segoe WPC"/>
                  </a:rPr>
                  <a:t> </a:t>
                </a:r>
                <a:r>
                  <a:rPr lang="es-PE" sz="900" b="0" i="0" dirty="0" err="1">
                    <a:solidFill>
                      <a:schemeClr val="tx1"/>
                    </a:solidFill>
                    <a:effectLst/>
                    <a:latin typeface="Segoe WPC"/>
                  </a:rPr>
                  <a:t>hedging</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naked</a:t>
                </a:r>
                <a:r>
                  <a:rPr lang="es-PE" sz="900" b="0" i="0" dirty="0">
                    <a:solidFill>
                      <a:schemeClr val="tx1"/>
                    </a:solidFill>
                    <a:effectLst/>
                    <a:latin typeface="Segoe WPC"/>
                  </a:rPr>
                  <a:t> short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leaves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trader</a:t>
                </a:r>
                <a:r>
                  <a:rPr lang="es-PE" sz="900" b="0" i="0" dirty="0">
                    <a:solidFill>
                      <a:schemeClr val="tx1"/>
                    </a:solidFill>
                    <a:effectLst/>
                    <a:latin typeface="Segoe WPC"/>
                  </a:rPr>
                  <a:t> </a:t>
                </a:r>
                <a:r>
                  <a:rPr lang="es-PE" sz="900" b="0" i="0" dirty="0" err="1">
                    <a:solidFill>
                      <a:schemeClr val="tx1"/>
                    </a:solidFill>
                    <a:effectLst/>
                    <a:latin typeface="Segoe WPC"/>
                  </a:rPr>
                  <a:t>exposed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adverse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moves</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 </a:t>
                </a:r>
                <a:r>
                  <a:rPr lang="es-PE" sz="900" b="0" i="0" dirty="0" err="1">
                    <a:solidFill>
                      <a:schemeClr val="tx1"/>
                    </a:solidFill>
                    <a:effectLst/>
                    <a:latin typeface="Segoe WPC"/>
                  </a:rPr>
                  <a:t>fully</a:t>
                </a:r>
                <a:r>
                  <a:rPr lang="es-PE" sz="900" b="0" i="0" dirty="0">
                    <a:solidFill>
                      <a:schemeClr val="tx1"/>
                    </a:solidFill>
                    <a:effectLst/>
                    <a:latin typeface="Segoe WPC"/>
                  </a:rPr>
                  <a:t> </a:t>
                </a:r>
                <a:r>
                  <a:rPr lang="es-PE" sz="900" b="0" i="0" dirty="0" err="1">
                    <a:solidFill>
                      <a:schemeClr val="tx1"/>
                    </a:solidFill>
                    <a:effectLst/>
                    <a:latin typeface="Segoe WPC"/>
                  </a:rPr>
                  <a:t>covered</a:t>
                </a:r>
                <a:r>
                  <a:rPr lang="es-PE" sz="900" b="0" i="0" dirty="0">
                    <a:solidFill>
                      <a:schemeClr val="tx1"/>
                    </a:solidFill>
                    <a:effectLst/>
                    <a:latin typeface="Segoe WPC"/>
                  </a:rPr>
                  <a:t> position </a:t>
                </a:r>
                <a:r>
                  <a:rPr lang="es-PE" sz="900" b="0" i="0" dirty="0" err="1">
                    <a:solidFill>
                      <a:schemeClr val="tx1"/>
                    </a:solidFill>
                    <a:effectLst/>
                    <a:latin typeface="Segoe WPC"/>
                  </a:rPr>
                  <a:t>removes</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side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creates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opposite</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naked</a:t>
                </a:r>
                <a:r>
                  <a:rPr lang="es-PE" sz="900" b="0" i="0" dirty="0">
                    <a:solidFill>
                      <a:schemeClr val="tx1"/>
                    </a:solidFill>
                    <a:effectLst/>
                    <a:latin typeface="Segoe WPC"/>
                  </a:rPr>
                  <a:t> short </a:t>
                </a:r>
                <a:r>
                  <a:rPr lang="es-PE" sz="900" b="0" i="0" dirty="0" err="1">
                    <a:solidFill>
                      <a:schemeClr val="tx1"/>
                    </a:solidFill>
                    <a:effectLst/>
                    <a:latin typeface="Segoe WPC"/>
                  </a:rPr>
                  <a:t>call</a:t>
                </a:r>
                <a:r>
                  <a:rPr lang="es-PE" sz="900" b="0" i="0" dirty="0">
                    <a:solidFill>
                      <a:schemeClr val="tx1"/>
                    </a:solidFill>
                    <a:effectLst/>
                    <a:latin typeface="Segoe WPC"/>
                  </a:rPr>
                  <a:t> loses </a:t>
                </a:r>
                <a:r>
                  <a:rPr lang="es-PE" sz="900" b="0" i="0" dirty="0" err="1">
                    <a:solidFill>
                      <a:schemeClr val="tx1"/>
                    </a:solidFill>
                    <a:effectLst/>
                    <a:latin typeface="Segoe WPC"/>
                  </a:rPr>
                  <a:t>heavily</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 </a:t>
                </a:r>
                <a:r>
                  <a:rPr lang="es-PE" sz="900" b="0" i="0" dirty="0" err="1">
                    <a:solidFill>
                      <a:schemeClr val="tx1"/>
                    </a:solidFill>
                    <a:effectLst/>
                    <a:latin typeface="Segoe WPC"/>
                  </a:rPr>
                  <a:t>rises</a:t>
                </a:r>
                <a:r>
                  <a:rPr lang="es-PE" sz="900" b="0" i="0" dirty="0">
                    <a:solidFill>
                      <a:schemeClr val="tx1"/>
                    </a:solidFill>
                    <a:effectLst/>
                    <a:latin typeface="Segoe WPC"/>
                  </a:rPr>
                  <a:t> a </a:t>
                </a:r>
                <a:r>
                  <a:rPr lang="es-PE" sz="900" b="0" i="0" dirty="0" err="1">
                    <a:solidFill>
                      <a:schemeClr val="tx1"/>
                    </a:solidFill>
                    <a:effectLst/>
                    <a:latin typeface="Segoe WPC"/>
                  </a:rPr>
                  <a:t>lot</a:t>
                </a:r>
                <a:r>
                  <a:rPr lang="es-PE" sz="900" b="0" i="0" dirty="0">
                    <a:solidFill>
                      <a:schemeClr val="tx1"/>
                    </a:solidFill>
                    <a:effectLst/>
                    <a:latin typeface="Segoe WPC"/>
                  </a:rPr>
                  <a:t>; a </a:t>
                </a:r>
                <a:r>
                  <a:rPr lang="es-PE" sz="900" b="0" i="0" dirty="0" err="1">
                    <a:solidFill>
                      <a:schemeClr val="tx1"/>
                    </a:solidFill>
                    <a:effectLst/>
                    <a:latin typeface="Segoe WPC"/>
                  </a:rPr>
                  <a:t>covered</a:t>
                </a:r>
                <a:r>
                  <a:rPr lang="es-PE" sz="900" b="0" i="0" dirty="0">
                    <a:solidFill>
                      <a:schemeClr val="tx1"/>
                    </a:solidFill>
                    <a:effectLst/>
                    <a:latin typeface="Segoe WPC"/>
                  </a:rPr>
                  <a:t> short </a:t>
                </a:r>
                <a:r>
                  <a:rPr lang="es-PE" sz="900" b="0" i="0" dirty="0" err="1">
                    <a:solidFill>
                      <a:schemeClr val="tx1"/>
                    </a:solidFill>
                    <a:effectLst/>
                    <a:latin typeface="Segoe WPC"/>
                  </a:rPr>
                  <a:t>call</a:t>
                </a:r>
                <a:r>
                  <a:rPr lang="es-PE" sz="900" b="0" i="0" dirty="0">
                    <a:solidFill>
                      <a:schemeClr val="tx1"/>
                    </a:solidFill>
                    <a:effectLst/>
                    <a:latin typeface="Segoe WPC"/>
                  </a:rPr>
                  <a:t> loses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 </a:t>
                </a:r>
                <a:r>
                  <a:rPr lang="es-PE" sz="900" b="0" i="0" dirty="0" err="1">
                    <a:solidFill>
                      <a:schemeClr val="tx1"/>
                    </a:solidFill>
                    <a:effectLst/>
                    <a:latin typeface="Segoe WPC"/>
                  </a:rPr>
                  <a:t>falls</a:t>
                </a:r>
                <a:r>
                  <a:rPr lang="es-PE" sz="900" b="0" i="0" dirty="0">
                    <a:solidFill>
                      <a:schemeClr val="tx1"/>
                    </a:solidFill>
                    <a:effectLst/>
                    <a:latin typeface="Segoe WPC"/>
                  </a:rPr>
                  <a:t> after </a:t>
                </a:r>
                <a:r>
                  <a:rPr lang="es-PE" sz="900" b="0" i="0" dirty="0" err="1">
                    <a:solidFill>
                      <a:schemeClr val="tx1"/>
                    </a:solidFill>
                    <a:effectLst/>
                    <a:latin typeface="Segoe WPC"/>
                  </a:rPr>
                  <a:t>buying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Key Formula:</a:t>
                </a:r>
                <a:r>
                  <a:rPr lang="es-PE" sz="900" b="0" i="0" dirty="0">
                    <a:solidFill>
                      <a:schemeClr val="tx1"/>
                    </a:solidFill>
                    <a:effectLst/>
                    <a:latin typeface="Segoe WPC"/>
                  </a:rPr>
                  <a:t> Short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profit</a:t>
                </a:r>
                <a:r>
                  <a:rPr lang="es-PE" sz="900" b="0" i="0" dirty="0">
                    <a:solidFill>
                      <a:schemeClr val="tx1"/>
                    </a:solidFill>
                    <a:effectLst/>
                    <a:latin typeface="Segoe WPC"/>
                  </a:rPr>
                  <a:t> at </a:t>
                </a:r>
                <a:r>
                  <a:rPr lang="es-PE" sz="900" b="0" i="0" dirty="0" err="1">
                    <a:solidFill>
                      <a:schemeClr val="tx1"/>
                    </a:solidFill>
                    <a:effectLst/>
                    <a:latin typeface="Segoe WPC"/>
                  </a:rPr>
                  <a:t>expiry</a:t>
                </a:r>
                <a:r>
                  <a:rPr lang="es-PE" sz="900" b="0" i="0" dirty="0">
                    <a:solidFill>
                      <a:schemeClr val="tx1"/>
                    </a:solidFill>
                    <a:effectLst/>
                    <a:latin typeface="Segoe WPC"/>
                  </a:rPr>
                  <a:t> </a:t>
                </a:r>
                <a14:m>
                  <m:oMath xmlns:m="http://schemas.openxmlformats.org/officeDocument/2006/math">
                    <m:r>
                      <a:rPr lang="es-PE" sz="900">
                        <a:solidFill>
                          <a:schemeClr val="tx1"/>
                        </a:solidFill>
                        <a:latin typeface="Cambria Math" panose="02040503050406030204" pitchFamily="18" charset="0"/>
                      </a:rPr>
                      <m:t>=</m:t>
                    </m:r>
                    <m:r>
                      <m:rPr>
                        <m:nor/>
                      </m:rPr>
                      <a:rPr lang="es-PE" sz="900" b="0" i="1">
                        <a:solidFill>
                          <a:schemeClr val="tx1"/>
                        </a:solidFill>
                        <a:latin typeface="Cambria Math" panose="02040503050406030204" pitchFamily="18" charset="0"/>
                      </a:rPr>
                      <m:t>premium</m:t>
                    </m:r>
                    <m:r>
                      <m:rPr>
                        <m:nor/>
                      </m:rPr>
                      <a:rPr lang="es-PE" sz="900" b="0" i="1">
                        <a:solidFill>
                          <a:schemeClr val="tx1"/>
                        </a:solidFill>
                        <a:latin typeface="Cambria Math" panose="02040503050406030204" pitchFamily="18" charset="0"/>
                      </a:rPr>
                      <m:t> </m:t>
                    </m:r>
                    <m:r>
                      <m:rPr>
                        <m:nor/>
                      </m:rPr>
                      <a:rPr lang="es-PE" sz="900" b="0" i="1">
                        <a:solidFill>
                          <a:schemeClr val="tx1"/>
                        </a:solidFill>
                        <a:latin typeface="Cambria Math" panose="02040503050406030204" pitchFamily="18" charset="0"/>
                      </a:rPr>
                      <m:t>received</m:t>
                    </m:r>
                    <m:r>
                      <a:rPr lang="es-PE" sz="900" b="0" i="0">
                        <a:solidFill>
                          <a:schemeClr val="tx1"/>
                        </a:solidFill>
                        <a:latin typeface="Cambria Math" panose="02040503050406030204" pitchFamily="18" charset="0"/>
                      </a:rPr>
                      <m:t>−</m:t>
                    </m:r>
                    <m:r>
                      <m:rPr>
                        <m:sty m:val="p"/>
                      </m:rPr>
                      <a:rPr lang="es-PE" sz="900" b="0" i="0">
                        <a:solidFill>
                          <a:schemeClr val="tx1"/>
                        </a:solidFill>
                        <a:latin typeface="Cambria Math" panose="02040503050406030204" pitchFamily="18" charset="0"/>
                      </a:rPr>
                      <m:t>max</m:t>
                    </m:r>
                    <m:r>
                      <a:rPr lang="es-PE" sz="900" b="0" i="0">
                        <a:solidFill>
                          <a:schemeClr val="tx1"/>
                        </a:solidFill>
                        <a:latin typeface="Cambria Math" panose="02040503050406030204" pitchFamily="18" charset="0"/>
                      </a:rPr>
                      <m:t>⁡</m:t>
                    </m:r>
                    <m:d>
                      <m:dPr>
                        <m:sepChr m:val=","/>
                        <m:ctrlPr>
                          <a:rPr lang="ar-AE" sz="900" b="0" i="1">
                            <a:solidFill>
                              <a:schemeClr val="tx1"/>
                            </a:solidFill>
                            <a:latin typeface="Cambria Math" panose="02040503050406030204" pitchFamily="18" charset="0"/>
                          </a:rPr>
                        </m:ctrlPr>
                      </m:dPr>
                      <m:e>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𝑆</m:t>
                            </m:r>
                          </m:e>
                          <m:sub>
                            <m:r>
                              <a:rPr lang="ar-AE" sz="900" b="0" i="1">
                                <a:solidFill>
                                  <a:schemeClr val="tx1"/>
                                </a:solidFill>
                                <a:latin typeface="Cambria Math" panose="02040503050406030204" pitchFamily="18" charset="0"/>
                              </a:rPr>
                              <m:t>𝑇</m:t>
                            </m:r>
                          </m:sub>
                        </m:sSub>
                      </m:e>
                      <m:e>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𝐾</m:t>
                        </m:r>
                        <m:r>
                          <a:rPr lang="ar-AE" sz="900" b="0" i="0">
                            <a:solidFill>
                              <a:schemeClr val="tx1"/>
                            </a:solidFill>
                            <a:latin typeface="Cambria Math" panose="02040503050406030204" pitchFamily="18" charset="0"/>
                          </a:rPr>
                          <m:t>0</m:t>
                        </m:r>
                      </m:e>
                    </m:d>
                  </m:oMath>
                </a14:m>
                <a:endParaRPr lang="ar-A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Neither</a:t>
                </a:r>
                <a:r>
                  <a:rPr lang="es-PE" sz="900" b="0" i="0" dirty="0">
                    <a:solidFill>
                      <a:schemeClr val="tx1"/>
                    </a:solidFill>
                    <a:effectLst/>
                    <a:latin typeface="Segoe WPC"/>
                  </a:rPr>
                  <a:t> “do </a:t>
                </a:r>
                <a:r>
                  <a:rPr lang="es-PE" sz="900" b="0" i="0" dirty="0" err="1">
                    <a:solidFill>
                      <a:schemeClr val="tx1"/>
                    </a:solidFill>
                    <a:effectLst/>
                    <a:latin typeface="Segoe WPC"/>
                  </a:rPr>
                  <a:t>nothing</a:t>
                </a:r>
                <a:r>
                  <a:rPr lang="es-PE" sz="900" b="0" i="0" dirty="0">
                    <a:solidFill>
                      <a:schemeClr val="tx1"/>
                    </a:solidFill>
                    <a:effectLst/>
                    <a:latin typeface="Segoe WPC"/>
                  </a:rPr>
                  <a:t>” </a:t>
                </a:r>
                <a:r>
                  <a:rPr lang="es-PE" sz="900" b="0" i="0" dirty="0" err="1">
                    <a:solidFill>
                      <a:schemeClr val="tx1"/>
                    </a:solidFill>
                    <a:effectLst/>
                    <a:latin typeface="Segoe WPC"/>
                  </a:rPr>
                  <a:t>nor</a:t>
                </a:r>
                <a:r>
                  <a:rPr lang="es-PE" sz="900" b="0" i="0" dirty="0">
                    <a:solidFill>
                      <a:schemeClr val="tx1"/>
                    </a:solidFill>
                    <a:effectLst/>
                    <a:latin typeface="Segoe WPC"/>
                  </a:rPr>
                  <a:t> “</a:t>
                </a:r>
                <a:r>
                  <a:rPr lang="es-PE" sz="900" b="0" i="0" dirty="0" err="1">
                    <a:solidFill>
                      <a:schemeClr val="tx1"/>
                    </a:solidFill>
                    <a:effectLst/>
                    <a:latin typeface="Segoe WPC"/>
                  </a:rPr>
                  <a:t>buy</a:t>
                </a:r>
                <a:r>
                  <a:rPr lang="es-PE" sz="900" b="0" i="0" dirty="0">
                    <a:solidFill>
                      <a:schemeClr val="tx1"/>
                    </a:solidFill>
                    <a:effectLst/>
                    <a:latin typeface="Segoe WPC"/>
                  </a:rPr>
                  <a:t> </a:t>
                </a:r>
                <a:r>
                  <a:rPr lang="es-PE" sz="900" b="0" i="0" dirty="0" err="1">
                    <a:solidFill>
                      <a:schemeClr val="tx1"/>
                    </a:solidFill>
                    <a:effectLst/>
                    <a:latin typeface="Segoe WPC"/>
                  </a:rPr>
                  <a:t>all</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shares” </a:t>
                </a:r>
                <a:r>
                  <a:rPr lang="es-PE" sz="900" b="0" i="0" dirty="0" err="1">
                    <a:solidFill>
                      <a:schemeClr val="tx1"/>
                    </a:solidFill>
                    <a:effectLst/>
                    <a:latin typeface="Segoe WPC"/>
                  </a:rPr>
                  <a:t>is</a:t>
                </a:r>
                <a:r>
                  <a:rPr lang="es-PE" sz="900" b="0" i="0" dirty="0">
                    <a:solidFill>
                      <a:schemeClr val="tx1"/>
                    </a:solidFill>
                    <a:effectLst/>
                    <a:latin typeface="Segoe WPC"/>
                  </a:rPr>
                  <a:t> a </a:t>
                </a:r>
                <a:r>
                  <a:rPr lang="es-PE" sz="900" b="0" i="0" dirty="0" err="1">
                    <a:solidFill>
                      <a:schemeClr val="tx1"/>
                    </a:solidFill>
                    <a:effectLst/>
                    <a:latin typeface="Segoe WPC"/>
                  </a:rPr>
                  <a:t>good</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both</a:t>
                </a:r>
                <a:r>
                  <a:rPr lang="es-PE" sz="900" b="0" i="0" dirty="0">
                    <a:solidFill>
                      <a:schemeClr val="tx1"/>
                    </a:solidFill>
                    <a:effectLst/>
                    <a:latin typeface="Segoe WPC"/>
                  </a:rPr>
                  <a:t> produce </a:t>
                </a:r>
                <a:r>
                  <a:rPr lang="es-PE" sz="900" b="0" i="0" dirty="0" err="1">
                    <a:solidFill>
                      <a:schemeClr val="tx1"/>
                    </a:solidFill>
                    <a:effectLst/>
                    <a:latin typeface="Segoe WPC"/>
                  </a:rPr>
                  <a:t>very</a:t>
                </a:r>
                <a:r>
                  <a:rPr lang="es-PE" sz="900" b="0" i="0" dirty="0">
                    <a:solidFill>
                      <a:schemeClr val="tx1"/>
                    </a:solidFill>
                    <a:effectLst/>
                    <a:latin typeface="Segoe WPC"/>
                  </a:rPr>
                  <a:t> </a:t>
                </a:r>
                <a:r>
                  <a:rPr lang="es-PE" sz="900" b="0" i="0" dirty="0" err="1">
                    <a:solidFill>
                      <a:schemeClr val="tx1"/>
                    </a:solidFill>
                    <a:effectLst/>
                    <a:latin typeface="Segoe WPC"/>
                  </a:rPr>
                  <a:t>uneven</a:t>
                </a:r>
                <a:r>
                  <a:rPr lang="es-PE" sz="900" b="0" i="0" dirty="0">
                    <a:solidFill>
                      <a:schemeClr val="tx1"/>
                    </a:solidFill>
                    <a:effectLst/>
                    <a:latin typeface="Segoe WPC"/>
                  </a:rPr>
                  <a:t> </a:t>
                </a:r>
                <a:r>
                  <a:rPr lang="es-PE" sz="900" b="0" i="0" dirty="0" err="1">
                    <a:solidFill>
                      <a:schemeClr val="tx1"/>
                    </a:solidFill>
                    <a:effectLst/>
                    <a:latin typeface="Segoe WPC"/>
                  </a:rPr>
                  <a:t>outcomes</a:t>
                </a:r>
                <a:r>
                  <a:rPr lang="es-PE" sz="900" b="0" i="0" dirty="0">
                    <a:solidFill>
                      <a:schemeClr val="tx1"/>
                    </a:solidFill>
                    <a:effectLst/>
                    <a:latin typeface="Segoe WPC"/>
                  </a:rPr>
                  <a:t> </a:t>
                </a:r>
                <a:r>
                  <a:rPr lang="es-PE" sz="900" b="0" i="0" dirty="0" err="1">
                    <a:solidFill>
                      <a:schemeClr val="tx1"/>
                    </a:solidFill>
                    <a:effectLst/>
                    <a:latin typeface="Segoe WPC"/>
                  </a:rPr>
                  <a:t>across</a:t>
                </a:r>
                <a:r>
                  <a:rPr lang="es-PE" sz="900" b="0" i="0" dirty="0">
                    <a:solidFill>
                      <a:schemeClr val="tx1"/>
                    </a:solidFill>
                    <a:effectLst/>
                    <a:latin typeface="Segoe WPC"/>
                  </a:rPr>
                  <a:t> stock-</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scenarios</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a:t>
                </a:r>
                <a:r>
                  <a:rPr lang="es-PE" sz="900" b="0" i="0" dirty="0" err="1">
                    <a:solidFill>
                      <a:schemeClr val="tx1"/>
                    </a:solidFill>
                    <a:effectLst/>
                    <a:latin typeface="Segoe WPC"/>
                  </a:rPr>
                  <a:t>covered</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riskless</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only</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nature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a:t>
                </a:r>
              </a:p>
              <a:p>
                <a:pPr marL="171450" indent="-171450" algn="l">
                  <a:spcBef>
                    <a:spcPts val="300"/>
                  </a:spcBef>
                  <a:buFont typeface="Wingdings" panose="05000000000000000000" pitchFamily="2" charset="2"/>
                  <a:buChar char="q"/>
                </a:pPr>
                <a:r>
                  <a:rPr lang="es-PE" sz="900" b="1" i="0" dirty="0" err="1">
                    <a:solidFill>
                      <a:schemeClr val="tx1"/>
                    </a:solidFill>
                    <a:effectLst/>
                    <a:latin typeface="Segoe WPC"/>
                  </a:rPr>
                  <a:t>Why</a:t>
                </a:r>
                <a:r>
                  <a:rPr lang="es-PE" sz="900" b="1" i="0" dirty="0">
                    <a:solidFill>
                      <a:schemeClr val="tx1"/>
                    </a:solidFill>
                    <a:effectLst/>
                    <a:latin typeface="Segoe WPC"/>
                  </a:rPr>
                  <a:t> Stop-</a:t>
                </a:r>
                <a:r>
                  <a:rPr lang="es-PE" sz="900" b="1" i="0" dirty="0" err="1">
                    <a:solidFill>
                      <a:schemeClr val="tx1"/>
                    </a:solidFill>
                    <a:effectLst/>
                    <a:latin typeface="Segoe WPC"/>
                  </a:rPr>
                  <a:t>Loss</a:t>
                </a:r>
                <a:r>
                  <a:rPr lang="es-PE" sz="900" b="1" i="0" dirty="0">
                    <a:solidFill>
                      <a:schemeClr val="tx1"/>
                    </a:solidFill>
                    <a:effectLst/>
                    <a:latin typeface="Segoe WPC"/>
                  </a:rPr>
                  <a:t> </a:t>
                </a:r>
                <a:r>
                  <a:rPr lang="es-PE" sz="900" b="1" i="0" dirty="0" err="1">
                    <a:solidFill>
                      <a:schemeClr val="tx1"/>
                    </a:solidFill>
                    <a:effectLst/>
                    <a:latin typeface="Segoe WPC"/>
                  </a:rPr>
                  <a:t>Hedging</a:t>
                </a:r>
                <a:r>
                  <a:rPr lang="es-PE" sz="900" b="1" i="0" dirty="0">
                    <a:solidFill>
                      <a:schemeClr val="tx1"/>
                    </a:solidFill>
                    <a:effectLst/>
                    <a:latin typeface="Segoe WPC"/>
                  </a:rPr>
                  <a:t> </a:t>
                </a:r>
                <a:r>
                  <a:rPr lang="es-PE" sz="900" b="1" i="0" dirty="0" err="1">
                    <a:solidFill>
                      <a:schemeClr val="tx1"/>
                    </a:solidFill>
                    <a:effectLst/>
                    <a:latin typeface="Segoe WPC"/>
                  </a:rPr>
                  <a:t>Fails</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Stop-</a:t>
                </a:r>
                <a:r>
                  <a:rPr lang="es-PE" sz="900" b="0" i="0" dirty="0" err="1">
                    <a:solidFill>
                      <a:schemeClr val="tx1"/>
                    </a:solidFill>
                    <a:effectLst/>
                    <a:latin typeface="Segoe WPC"/>
                  </a:rPr>
                  <a:t>loss</a:t>
                </a:r>
                <a:r>
                  <a:rPr lang="es-PE" sz="900" b="0" i="0" dirty="0">
                    <a:solidFill>
                      <a:schemeClr val="tx1"/>
                    </a:solidFill>
                    <a:effectLst/>
                    <a:latin typeface="Segoe WPC"/>
                  </a:rPr>
                  <a:t> </a:t>
                </a:r>
                <a:r>
                  <a:rPr lang="es-PE" sz="900" b="0" i="0" dirty="0" err="1">
                    <a:solidFill>
                      <a:schemeClr val="tx1"/>
                    </a:solidFill>
                    <a:effectLst/>
                    <a:latin typeface="Segoe WPC"/>
                  </a:rPr>
                  <a:t>hedging</a:t>
                </a:r>
                <a:r>
                  <a:rPr lang="es-PE" sz="900" b="0" i="0" dirty="0">
                    <a:solidFill>
                      <a:schemeClr val="tx1"/>
                    </a:solidFill>
                    <a:effectLst/>
                    <a:latin typeface="Segoe WPC"/>
                  </a:rPr>
                  <a:t> as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attempted</a:t>
                </a:r>
                <a:r>
                  <a:rPr lang="es-PE" sz="900" b="0" i="0" dirty="0">
                    <a:solidFill>
                      <a:schemeClr val="tx1"/>
                    </a:solidFill>
                    <a:effectLst/>
                    <a:latin typeface="Segoe WPC"/>
                  </a:rPr>
                  <a:t> </a:t>
                </a:r>
                <a:r>
                  <a:rPr lang="es-PE" sz="900" b="0" i="0" dirty="0" err="1">
                    <a:solidFill>
                      <a:schemeClr val="tx1"/>
                    </a:solidFill>
                    <a:effectLst/>
                    <a:latin typeface="Segoe WPC"/>
                  </a:rPr>
                  <a:t>replication</a:t>
                </a:r>
                <a:r>
                  <a:rPr lang="es-PE" sz="900" b="0" i="0" dirty="0">
                    <a:solidFill>
                      <a:schemeClr val="tx1"/>
                    </a:solidFill>
                    <a:effectLst/>
                    <a:latin typeface="Segoe WPC"/>
                  </a:rPr>
                  <a:t> </a:t>
                </a:r>
                <a:r>
                  <a:rPr lang="es-PE" sz="900" b="0" i="0" dirty="0" err="1">
                    <a:solidFill>
                      <a:schemeClr val="tx1"/>
                    </a:solidFill>
                    <a:effectLst/>
                    <a:latin typeface="Segoe WPC"/>
                  </a:rPr>
                  <a:t>strategy</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trader</a:t>
                </a:r>
                <a:r>
                  <a:rPr lang="es-PE" sz="900" b="0" i="0" dirty="0">
                    <a:solidFill>
                      <a:schemeClr val="tx1"/>
                    </a:solidFill>
                    <a:effectLst/>
                    <a:latin typeface="Segoe WPC"/>
                  </a:rPr>
                  <a:t> </a:t>
                </a:r>
                <a:r>
                  <a:rPr lang="es-PE" sz="900" b="0" i="0" dirty="0" err="1">
                    <a:solidFill>
                      <a:schemeClr val="tx1"/>
                    </a:solidFill>
                    <a:effectLst/>
                    <a:latin typeface="Segoe WPC"/>
                  </a:rPr>
                  <a:t>stays</a:t>
                </a:r>
                <a:r>
                  <a:rPr lang="es-PE" sz="900" b="0" i="0" dirty="0">
                    <a:solidFill>
                      <a:schemeClr val="tx1"/>
                    </a:solidFill>
                    <a:effectLst/>
                    <a:latin typeface="Segoe WPC"/>
                  </a:rPr>
                  <a:t> </a:t>
                </a:r>
                <a:r>
                  <a:rPr lang="es-PE" sz="900" b="0" i="0" dirty="0" err="1">
                    <a:solidFill>
                      <a:schemeClr val="tx1"/>
                    </a:solidFill>
                    <a:effectLst/>
                    <a:latin typeface="Segoe WPC"/>
                  </a:rPr>
                  <a:t>naked</a:t>
                </a:r>
                <a:r>
                  <a:rPr lang="es-PE" sz="900" b="0" i="0" dirty="0">
                    <a:solidFill>
                      <a:schemeClr val="tx1"/>
                    </a:solidFill>
                    <a:effectLst/>
                    <a:latin typeface="Segoe WPC"/>
                  </a:rPr>
                  <a:t>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out-of-the-money</a:t>
                </a:r>
                <a:r>
                  <a:rPr lang="es-PE" sz="900" b="0" i="0" dirty="0">
                    <a:solidFill>
                      <a:schemeClr val="tx1"/>
                    </a:solidFill>
                    <a:effectLst/>
                    <a:latin typeface="Segoe WPC"/>
                  </a:rPr>
                  <a:t> and </a:t>
                </a:r>
                <a:r>
                  <a:rPr lang="es-PE" sz="900" b="0" i="0" dirty="0" err="1">
                    <a:solidFill>
                      <a:schemeClr val="tx1"/>
                    </a:solidFill>
                    <a:effectLst/>
                    <a:latin typeface="Segoe WPC"/>
                  </a:rPr>
                  <a:t>buys</a:t>
                </a:r>
                <a:r>
                  <a:rPr lang="es-PE" sz="900" b="0" i="0" dirty="0">
                    <a:solidFill>
                      <a:schemeClr val="tx1"/>
                    </a:solidFill>
                    <a:effectLst/>
                    <a:latin typeface="Segoe WPC"/>
                  </a:rPr>
                  <a:t> shares once </a:t>
                </a:r>
                <a:r>
                  <a:rPr lang="es-PE" sz="900" b="0" i="0" dirty="0" err="1">
                    <a:solidFill>
                      <a:schemeClr val="tx1"/>
                    </a:solidFill>
                    <a:effectLst/>
                    <a:latin typeface="Segoe WPC"/>
                  </a:rPr>
                  <a:t>the</a:t>
                </a:r>
                <a:r>
                  <a:rPr lang="es-PE" sz="900" b="0" i="0" dirty="0">
                    <a:solidFill>
                      <a:schemeClr val="tx1"/>
                    </a:solidFill>
                    <a:effectLst/>
                    <a:latin typeface="Segoe WPC"/>
                  </a:rPr>
                  <a:t> stock </a:t>
                </a:r>
                <a:r>
                  <a:rPr lang="es-PE" sz="900" b="0" i="0" dirty="0" err="1">
                    <a:solidFill>
                      <a:schemeClr val="tx1"/>
                    </a:solidFill>
                    <a:effectLst/>
                    <a:latin typeface="Segoe WPC"/>
                  </a:rPr>
                  <a:t>rises</a:t>
                </a:r>
                <a:r>
                  <a:rPr lang="es-PE" sz="900" b="0" i="0" dirty="0">
                    <a:solidFill>
                      <a:schemeClr val="tx1"/>
                    </a:solidFill>
                    <a:effectLst/>
                    <a:latin typeface="Segoe WPC"/>
                  </a:rPr>
                  <a:t> </a:t>
                </a:r>
                <a:r>
                  <a:rPr lang="es-PE" sz="900" b="0" i="0" dirty="0" err="1">
                    <a:solidFill>
                      <a:schemeClr val="tx1"/>
                    </a:solidFill>
                    <a:effectLst/>
                    <a:latin typeface="Segoe WPC"/>
                  </a:rPr>
                  <a:t>above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strike.</a:t>
                </a:r>
              </a:p>
              <a:p>
                <a:pPr algn="l">
                  <a:spcBef>
                    <a:spcPts val="300"/>
                  </a:spcBef>
                </a:pP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Every</a:t>
                </a:r>
                <a:r>
                  <a:rPr lang="es-PE" sz="900" b="0" i="0" dirty="0">
                    <a:solidFill>
                      <a:schemeClr val="tx1"/>
                    </a:solidFill>
                    <a:effectLst/>
                    <a:latin typeface="Segoe WPC"/>
                  </a:rPr>
                  <a:t> time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crosses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strike,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trader</a:t>
                </a:r>
                <a:r>
                  <a:rPr lang="es-PE" sz="900" b="0" i="0" dirty="0">
                    <a:solidFill>
                      <a:schemeClr val="tx1"/>
                    </a:solidFill>
                    <a:effectLst/>
                    <a:latin typeface="Segoe WPC"/>
                  </a:rPr>
                  <a:t> </a:t>
                </a:r>
                <a:r>
                  <a:rPr lang="es-PE" sz="900" b="0" i="0" dirty="0" err="1">
                    <a:solidFill>
                      <a:schemeClr val="tx1"/>
                    </a:solidFill>
                    <a:effectLst/>
                    <a:latin typeface="Segoe WPC"/>
                  </a:rPr>
                  <a:t>buys</a:t>
                </a:r>
                <a:r>
                  <a:rPr lang="es-PE" sz="900" b="0" i="0" dirty="0">
                    <a:solidFill>
                      <a:schemeClr val="tx1"/>
                    </a:solidFill>
                    <a:effectLst/>
                    <a:latin typeface="Segoe WPC"/>
                  </a:rPr>
                  <a:t> </a:t>
                </a:r>
                <a:r>
                  <a:rPr lang="es-PE" sz="900" b="0" i="0" dirty="0" err="1">
                    <a:solidFill>
                      <a:schemeClr val="tx1"/>
                    </a:solidFill>
                    <a:effectLst/>
                    <a:latin typeface="Segoe WPC"/>
                  </a:rPr>
                  <a:t>high</a:t>
                </a:r>
                <a:r>
                  <a:rPr lang="es-PE" sz="900" b="0" i="0" dirty="0">
                    <a:solidFill>
                      <a:schemeClr val="tx1"/>
                    </a:solidFill>
                    <a:effectLst/>
                    <a:latin typeface="Segoe WPC"/>
                  </a:rPr>
                  <a:t> and </a:t>
                </a:r>
                <a:r>
                  <a:rPr lang="es-PE" sz="900" b="0" i="0" dirty="0" err="1">
                    <a:solidFill>
                      <a:schemeClr val="tx1"/>
                    </a:solidFill>
                    <a:effectLst/>
                    <a:latin typeface="Segoe WPC"/>
                  </a:rPr>
                  <a:t>then</a:t>
                </a:r>
                <a:r>
                  <a:rPr lang="es-PE" sz="900" b="0" i="0" dirty="0">
                    <a:solidFill>
                      <a:schemeClr val="tx1"/>
                    </a:solidFill>
                    <a:effectLst/>
                    <a:latin typeface="Segoe WPC"/>
                  </a:rPr>
                  <a:t> </a:t>
                </a:r>
                <a:r>
                  <a:rPr lang="es-PE" sz="900" b="0" i="0" dirty="0" err="1">
                    <a:solidFill>
                      <a:schemeClr val="tx1"/>
                    </a:solidFill>
                    <a:effectLst/>
                    <a:latin typeface="Segoe WPC"/>
                  </a:rPr>
                  <a:t>may</a:t>
                </a:r>
                <a:r>
                  <a:rPr lang="es-PE" sz="900" b="0" i="0" dirty="0">
                    <a:solidFill>
                      <a:schemeClr val="tx1"/>
                    </a:solidFill>
                    <a:effectLst/>
                    <a:latin typeface="Segoe WPC"/>
                  </a:rPr>
                  <a:t> be </a:t>
                </a:r>
                <a:r>
                  <a:rPr lang="es-PE" sz="900" b="0" i="0" dirty="0" err="1">
                    <a:solidFill>
                      <a:schemeClr val="tx1"/>
                    </a:solidFill>
                    <a:effectLst/>
                    <a:latin typeface="Segoe WPC"/>
                  </a:rPr>
                  <a:t>forced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sell</a:t>
                </a:r>
                <a:r>
                  <a:rPr lang="es-PE" sz="900" b="0" i="0" dirty="0">
                    <a:solidFill>
                      <a:schemeClr val="tx1"/>
                    </a:solidFill>
                    <a:effectLst/>
                    <a:latin typeface="Segoe WPC"/>
                  </a:rPr>
                  <a:t> </a:t>
                </a:r>
                <a:r>
                  <a:rPr lang="es-PE" sz="900" b="0" i="0" dirty="0" err="1">
                    <a:solidFill>
                      <a:schemeClr val="tx1"/>
                    </a:solidFill>
                    <a:effectLst/>
                    <a:latin typeface="Segoe WPC"/>
                  </a:rPr>
                  <a:t>low</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 reverses.</a:t>
                </a:r>
              </a:p>
              <a:p>
                <a:pPr algn="l">
                  <a:spcBef>
                    <a:spcPts val="300"/>
                  </a:spcBef>
                </a:pPr>
                <a:r>
                  <a:rPr lang="es-PE" sz="900" b="1" i="0" dirty="0">
                    <a:solidFill>
                      <a:schemeClr val="tx1"/>
                    </a:solidFill>
                    <a:effectLst/>
                    <a:latin typeface="Segoe WPC"/>
                  </a:rPr>
                  <a:t>Key Formula:</a:t>
                </a:r>
                <a:r>
                  <a:rPr lang="es-PE" sz="900" b="0" i="0" dirty="0">
                    <a:solidFill>
                      <a:schemeClr val="tx1"/>
                    </a:solidFill>
                    <a:effectLst/>
                    <a:latin typeface="Segoe WPC"/>
                  </a:rPr>
                  <a:t> Trading </a:t>
                </a:r>
                <a:r>
                  <a:rPr lang="es-PE" sz="900" b="0" i="0" dirty="0" err="1">
                    <a:solidFill>
                      <a:schemeClr val="tx1"/>
                    </a:solidFill>
                    <a:effectLst/>
                    <a:latin typeface="Segoe WPC"/>
                  </a:rPr>
                  <a:t>loss</a:t>
                </a:r>
                <a:r>
                  <a:rPr lang="es-PE" sz="900" b="0" i="0" dirty="0">
                    <a:solidFill>
                      <a:schemeClr val="tx1"/>
                    </a:solidFill>
                    <a:effectLst/>
                    <a:latin typeface="Segoe WPC"/>
                  </a:rPr>
                  <a:t> per round </a:t>
                </a:r>
                <a:r>
                  <a:rPr lang="es-PE" sz="900" b="0" i="0" dirty="0" err="1">
                    <a:solidFill>
                      <a:schemeClr val="tx1"/>
                    </a:solidFill>
                    <a:effectLst/>
                    <a:latin typeface="Segoe WPC"/>
                  </a:rPr>
                  <a:t>trip</a:t>
                </a:r>
                <a:r>
                  <a:rPr lang="es-PE" sz="900" b="0" i="0" dirty="0">
                    <a:solidFill>
                      <a:schemeClr val="tx1"/>
                    </a:solidFill>
                    <a:effectLst/>
                    <a:latin typeface="Segoe WPC"/>
                  </a:rPr>
                  <a:t> </a:t>
                </a:r>
                <a:r>
                  <a:rPr lang="es-PE" sz="900" b="0" i="0" dirty="0" err="1">
                    <a:solidFill>
                      <a:schemeClr val="tx1"/>
                    </a:solidFill>
                    <a:effectLst/>
                    <a:latin typeface="Segoe WPC"/>
                  </a:rPr>
                  <a:t>near</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strike </a:t>
                </a:r>
                <a14:m>
                  <m:oMath xmlns:m="http://schemas.openxmlformats.org/officeDocument/2006/math">
                    <m:r>
                      <a:rPr lang="es-PE" sz="90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2</m:t>
                    </m:r>
                    <m:r>
                      <a:rPr lang="es-PE" sz="900" i="1">
                        <a:solidFill>
                          <a:schemeClr val="tx1"/>
                        </a:solidFill>
                        <a:latin typeface="Cambria Math" panose="02040503050406030204" pitchFamily="18" charset="0"/>
                      </a:rPr>
                      <m:t>𝜀</m:t>
                    </m:r>
                  </m:oMath>
                </a14:m>
                <a:r>
                  <a:rPr lang="es-PE" sz="900" b="0" i="0" dirty="0">
                    <a:solidFill>
                      <a:schemeClr val="tx1"/>
                    </a:solidFill>
                    <a:effectLst/>
                    <a:latin typeface="Segoe WPC"/>
                  </a:rPr>
                  <a:t> per share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buying</a:t>
                </a:r>
                <a:r>
                  <a:rPr lang="es-PE" sz="900" b="0" i="0" dirty="0">
                    <a:solidFill>
                      <a:schemeClr val="tx1"/>
                    </a:solidFill>
                    <a:effectLst/>
                    <a:latin typeface="Segoe WPC"/>
                  </a:rPr>
                  <a:t> at </a:t>
                </a:r>
                <a14:m>
                  <m:oMath xmlns:m="http://schemas.openxmlformats.org/officeDocument/2006/math">
                    <m:r>
                      <a:rPr lang="es-PE" sz="900" i="1">
                        <a:solidFill>
                          <a:schemeClr val="tx1"/>
                        </a:solidFill>
                        <a:latin typeface="Cambria Math" panose="02040503050406030204" pitchFamily="18" charset="0"/>
                      </a:rPr>
                      <m:t>𝐾</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𝜀</m:t>
                    </m:r>
                  </m:oMath>
                </a14:m>
                <a:r>
                  <a:rPr lang="es-PE" sz="900" b="0" i="0" dirty="0">
                    <a:solidFill>
                      <a:schemeClr val="tx1"/>
                    </a:solidFill>
                    <a:effectLst/>
                    <a:latin typeface="Segoe WPC"/>
                  </a:rPr>
                  <a:t> and </a:t>
                </a:r>
                <a:r>
                  <a:rPr lang="es-PE" sz="900" b="0" i="0" dirty="0" err="1">
                    <a:solidFill>
                      <a:schemeClr val="tx1"/>
                    </a:solidFill>
                    <a:effectLst/>
                    <a:latin typeface="Segoe WPC"/>
                  </a:rPr>
                  <a:t>selling</a:t>
                </a:r>
                <a:r>
                  <a:rPr lang="es-PE" sz="900" b="0" i="0" dirty="0">
                    <a:solidFill>
                      <a:schemeClr val="tx1"/>
                    </a:solidFill>
                    <a:effectLst/>
                    <a:latin typeface="Segoe WPC"/>
                  </a:rPr>
                  <a:t> at </a:t>
                </a:r>
                <a14:m>
                  <m:oMath xmlns:m="http://schemas.openxmlformats.org/officeDocument/2006/math">
                    <m:r>
                      <a:rPr lang="es-PE" sz="900" i="1">
                        <a:solidFill>
                          <a:schemeClr val="tx1"/>
                        </a:solidFill>
                        <a:latin typeface="Cambria Math" panose="02040503050406030204" pitchFamily="18" charset="0"/>
                      </a:rPr>
                      <m:t>𝐾</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𝜀</m:t>
                    </m:r>
                  </m:oMath>
                </a14:m>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 </a:t>
                </a:r>
                <a:r>
                  <a:rPr lang="es-PE" sz="900" b="0" i="0" dirty="0" err="1">
                    <a:solidFill>
                      <a:schemeClr val="tx1"/>
                    </a:solidFill>
                    <a:effectLst/>
                    <a:latin typeface="Segoe WPC"/>
                  </a:rPr>
                  <a:t>crosses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strike </a:t>
                </a:r>
                <a:r>
                  <a:rPr lang="es-PE" sz="900" b="0" i="0" dirty="0" err="1">
                    <a:solidFill>
                      <a:schemeClr val="tx1"/>
                    </a:solidFill>
                    <a:effectLst/>
                    <a:latin typeface="Segoe WPC"/>
                  </a:rPr>
                  <a:t>many</a:t>
                </a:r>
                <a:r>
                  <a:rPr lang="es-PE" sz="900" b="0" i="0" dirty="0">
                    <a:solidFill>
                      <a:schemeClr val="tx1"/>
                    </a:solidFill>
                    <a:effectLst/>
                    <a:latin typeface="Segoe WPC"/>
                  </a:rPr>
                  <a:t> times, </a:t>
                </a:r>
                <a:r>
                  <a:rPr lang="es-PE" sz="900" b="0" i="0" dirty="0" err="1">
                    <a:solidFill>
                      <a:schemeClr val="tx1"/>
                    </a:solidFill>
                    <a:effectLst/>
                    <a:latin typeface="Segoe WPC"/>
                  </a:rPr>
                  <a:t>repeated</a:t>
                </a:r>
                <a:r>
                  <a:rPr lang="es-PE" sz="900" b="0" i="0" dirty="0">
                    <a:solidFill>
                      <a:schemeClr val="tx1"/>
                    </a:solidFill>
                    <a:effectLst/>
                    <a:latin typeface="Segoe WPC"/>
                  </a:rPr>
                  <a:t> </a:t>
                </a:r>
                <a:r>
                  <a:rPr lang="es-PE" sz="900" b="0" i="0" dirty="0" err="1">
                    <a:solidFill>
                      <a:schemeClr val="tx1"/>
                    </a:solidFill>
                    <a:effectLst/>
                    <a:latin typeface="Segoe WPC"/>
                  </a:rPr>
                  <a:t>small</a:t>
                </a:r>
                <a:r>
                  <a:rPr lang="es-PE" sz="900" b="0" i="0" dirty="0">
                    <a:solidFill>
                      <a:schemeClr val="tx1"/>
                    </a:solidFill>
                    <a:effectLst/>
                    <a:latin typeface="Segoe WPC"/>
                  </a:rPr>
                  <a:t> </a:t>
                </a:r>
                <a:r>
                  <a:rPr lang="es-PE" sz="900" b="0" i="0" dirty="0" err="1">
                    <a:solidFill>
                      <a:schemeClr val="tx1"/>
                    </a:solidFill>
                    <a:effectLst/>
                    <a:latin typeface="Segoe WPC"/>
                  </a:rPr>
                  <a:t>losses</a:t>
                </a:r>
                <a:r>
                  <a:rPr lang="es-PE" sz="900" b="0" i="0" dirty="0">
                    <a:solidFill>
                      <a:schemeClr val="tx1"/>
                    </a:solidFill>
                    <a:effectLst/>
                    <a:latin typeface="Segoe WPC"/>
                  </a:rPr>
                  <a:t> </a:t>
                </a:r>
                <a:r>
                  <a:rPr lang="es-PE" sz="900" b="0" i="0" dirty="0" err="1">
                    <a:solidFill>
                      <a:schemeClr val="tx1"/>
                    </a:solidFill>
                    <a:effectLst/>
                    <a:latin typeface="Segoe WPC"/>
                  </a:rPr>
                  <a:t>make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strategy</a:t>
                </a:r>
                <a:r>
                  <a:rPr lang="es-PE" sz="900" b="0" i="0" dirty="0">
                    <a:solidFill>
                      <a:schemeClr val="tx1"/>
                    </a:solidFill>
                    <a:effectLst/>
                    <a:latin typeface="Segoe WPC"/>
                  </a:rPr>
                  <a:t> </a:t>
                </a:r>
                <a:r>
                  <a:rPr lang="es-PE" sz="900" b="0" i="0" dirty="0" err="1">
                    <a:solidFill>
                      <a:schemeClr val="tx1"/>
                    </a:solidFill>
                    <a:effectLst/>
                    <a:latin typeface="Segoe WPC"/>
                  </a:rPr>
                  <a:t>expensive</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Making</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𝜀</m:t>
                    </m:r>
                  </m:oMath>
                </a14:m>
                <a:r>
                  <a:rPr lang="es-PE" sz="900" b="0" i="0" dirty="0">
                    <a:solidFill>
                      <a:schemeClr val="tx1"/>
                    </a:solidFill>
                    <a:effectLst/>
                    <a:latin typeface="Segoe WPC"/>
                  </a:rPr>
                  <a:t> </a:t>
                </a:r>
                <a:r>
                  <a:rPr lang="es-PE" sz="900" b="0" i="0" dirty="0" err="1">
                    <a:solidFill>
                      <a:schemeClr val="tx1"/>
                    </a:solidFill>
                    <a:effectLst/>
                    <a:latin typeface="Segoe WPC"/>
                  </a:rPr>
                  <a:t>smaller</a:t>
                </a:r>
                <a:r>
                  <a:rPr lang="es-PE" sz="900" b="0" i="0" dirty="0">
                    <a:solidFill>
                      <a:schemeClr val="tx1"/>
                    </a:solidFill>
                    <a:effectLst/>
                    <a:latin typeface="Segoe WPC"/>
                  </a:rPr>
                  <a:t> </a:t>
                </a:r>
                <a:r>
                  <a:rPr lang="es-PE" sz="900" b="0" i="0" dirty="0" err="1">
                    <a:solidFill>
                      <a:schemeClr val="tx1"/>
                    </a:solidFill>
                    <a:effectLst/>
                    <a:latin typeface="Segoe WPC"/>
                  </a:rPr>
                  <a:t>does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solve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problem</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number</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trades</a:t>
                </a:r>
                <a:r>
                  <a:rPr lang="es-PE" sz="900" b="0" i="0" dirty="0">
                    <a:solidFill>
                      <a:schemeClr val="tx1"/>
                    </a:solidFill>
                    <a:effectLst/>
                    <a:latin typeface="Segoe WPC"/>
                  </a:rPr>
                  <a:t> </a:t>
                </a:r>
                <a:r>
                  <a:rPr lang="es-PE" sz="900" b="0" i="0" dirty="0" err="1">
                    <a:solidFill>
                      <a:schemeClr val="tx1"/>
                    </a:solidFill>
                    <a:effectLst/>
                    <a:latin typeface="Segoe WPC"/>
                  </a:rPr>
                  <a:t>rises</a:t>
                </a:r>
                <a:r>
                  <a:rPr lang="es-PE" sz="900" b="0" i="0" dirty="0">
                    <a:solidFill>
                      <a:schemeClr val="tx1"/>
                    </a:solidFill>
                    <a:effectLst/>
                    <a:latin typeface="Segoe WPC"/>
                  </a:rPr>
                  <a:t> as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trigger</a:t>
                </a:r>
                <a:r>
                  <a:rPr lang="es-PE" sz="900" b="0" i="0" dirty="0">
                    <a:solidFill>
                      <a:schemeClr val="tx1"/>
                    </a:solidFill>
                    <a:effectLst/>
                    <a:latin typeface="Segoe WPC"/>
                  </a:rPr>
                  <a:t> </a:t>
                </a:r>
                <a:r>
                  <a:rPr lang="es-PE" sz="900" b="0" i="0" dirty="0" err="1">
                    <a:solidFill>
                      <a:schemeClr val="tx1"/>
                    </a:solidFill>
                    <a:effectLst/>
                    <a:latin typeface="Segoe WPC"/>
                  </a:rPr>
                  <a:t>becomes</a:t>
                </a:r>
                <a:r>
                  <a:rPr lang="es-PE" sz="900" b="0" i="0" dirty="0">
                    <a:solidFill>
                      <a:schemeClr val="tx1"/>
                    </a:solidFill>
                    <a:effectLst/>
                    <a:latin typeface="Segoe WPC"/>
                  </a:rPr>
                  <a:t> </a:t>
                </a:r>
                <a:r>
                  <a:rPr lang="es-PE" sz="900" b="0" i="0" dirty="0" err="1">
                    <a:solidFill>
                      <a:schemeClr val="tx1"/>
                    </a:solidFill>
                    <a:effectLst/>
                    <a:latin typeface="Segoe WPC"/>
                  </a:rPr>
                  <a:t>tighter</a:t>
                </a:r>
                <a:r>
                  <a:rPr lang="es-PE" sz="900" b="0" i="0" dirty="0">
                    <a:solidFill>
                      <a:schemeClr val="tx1"/>
                    </a:solidFill>
                    <a:effectLst/>
                    <a:latin typeface="Segoe WPC"/>
                  </a:rPr>
                  <a:t>.</a:t>
                </a:r>
              </a:p>
              <a:p>
                <a:pPr marL="171450" indent="-171450" algn="l">
                  <a:spcBef>
                    <a:spcPts val="300"/>
                  </a:spcBef>
                  <a:buFont typeface="Wingdings" panose="05000000000000000000" pitchFamily="2" charset="2"/>
                  <a:buChar char="q"/>
                </a:pPr>
                <a:r>
                  <a:rPr lang="es-PE" sz="900" b="1" i="0" dirty="0">
                    <a:solidFill>
                      <a:schemeClr val="tx1"/>
                    </a:solidFill>
                    <a:effectLst/>
                    <a:latin typeface="Segoe WPC"/>
                  </a:rPr>
                  <a:t>Delta</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Sensitivity</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 </a:t>
                </a:r>
                <a:r>
                  <a:rPr lang="es-PE" sz="900" b="0" i="0" dirty="0" err="1">
                    <a:solidFill>
                      <a:schemeClr val="tx1"/>
                    </a:solidFill>
                    <a:effectLst/>
                    <a:latin typeface="Segoe WPC"/>
                  </a:rPr>
                  <a:t>small</a:t>
                </a:r>
                <a:r>
                  <a:rPr lang="es-PE" sz="900" b="0" i="0" dirty="0">
                    <a:solidFill>
                      <a:schemeClr val="tx1"/>
                    </a:solidFill>
                    <a:effectLst/>
                    <a:latin typeface="Segoe WPC"/>
                  </a:rPr>
                  <a:t> </a:t>
                </a:r>
                <a:r>
                  <a:rPr lang="es-PE" sz="900" b="0" i="0" dirty="0" err="1">
                    <a:solidFill>
                      <a:schemeClr val="tx1"/>
                    </a:solidFill>
                    <a:effectLst/>
                    <a:latin typeface="Segoe WPC"/>
                  </a:rPr>
                  <a:t>change</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Delta </a:t>
                </a:r>
                <a:r>
                  <a:rPr lang="es-PE" sz="900" b="0" i="0" dirty="0" err="1">
                    <a:solidFill>
                      <a:schemeClr val="tx1"/>
                    </a:solidFill>
                    <a:effectLst/>
                    <a:latin typeface="Segoe WPC"/>
                  </a:rPr>
                  <a:t>tells</a:t>
                </a:r>
                <a:r>
                  <a:rPr lang="es-PE" sz="900" b="0" i="0" dirty="0">
                    <a:solidFill>
                      <a:schemeClr val="tx1"/>
                    </a:solidFill>
                    <a:effectLst/>
                    <a:latin typeface="Segoe WPC"/>
                  </a:rPr>
                  <a:t> </a:t>
                </a:r>
                <a:r>
                  <a:rPr lang="es-PE" sz="900" b="0" i="0" dirty="0" err="1">
                    <a:solidFill>
                      <a:schemeClr val="tx1"/>
                    </a:solidFill>
                    <a:effectLst/>
                    <a:latin typeface="Segoe WPC"/>
                  </a:rPr>
                  <a:t>you</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many</a:t>
                </a:r>
                <a:r>
                  <a:rPr lang="es-PE" sz="900" b="0" i="0" dirty="0">
                    <a:solidFill>
                      <a:schemeClr val="tx1"/>
                    </a:solidFill>
                    <a:effectLst/>
                    <a:latin typeface="Segoe WPC"/>
                  </a:rPr>
                  <a:t> shares </a:t>
                </a:r>
                <a:r>
                  <a:rPr lang="es-PE" sz="900" b="0" i="0" dirty="0" err="1">
                    <a:solidFill>
                      <a:schemeClr val="tx1"/>
                    </a:solidFill>
                    <a:effectLst/>
                    <a:latin typeface="Segoe WPC"/>
                  </a:rPr>
                  <a:t>behave</a:t>
                </a:r>
                <a:r>
                  <a:rPr lang="es-PE" sz="900" b="0" i="0" dirty="0">
                    <a:solidFill>
                      <a:schemeClr val="tx1"/>
                    </a:solidFill>
                    <a:effectLst/>
                    <a:latin typeface="Segoe WPC"/>
                  </a:rPr>
                  <a:t> </a:t>
                </a:r>
                <a:r>
                  <a:rPr lang="es-PE" sz="900" b="0" i="0" dirty="0" err="1">
                    <a:solidFill>
                      <a:schemeClr val="tx1"/>
                    </a:solidFill>
                    <a:effectLst/>
                    <a:latin typeface="Segoe WPC"/>
                  </a:rPr>
                  <a:t>like</a:t>
                </a:r>
                <a:r>
                  <a:rPr lang="es-PE" sz="900" b="0" i="0" dirty="0">
                    <a:solidFill>
                      <a:schemeClr val="tx1"/>
                    </a:solidFill>
                    <a:effectLst/>
                    <a:latin typeface="Segoe WPC"/>
                  </a:rPr>
                  <a:t> </a:t>
                </a:r>
                <a:r>
                  <a:rPr lang="es-PE" sz="900" b="0" i="0" dirty="0" err="1">
                    <a:solidFill>
                      <a:schemeClr val="tx1"/>
                    </a:solidFill>
                    <a:effectLst/>
                    <a:latin typeface="Segoe WPC"/>
                  </a:rPr>
                  <a:t>one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position </a:t>
                </a:r>
                <a:r>
                  <a:rPr lang="es-PE" sz="900" b="0" i="0" dirty="0" err="1">
                    <a:solidFill>
                      <a:schemeClr val="tx1"/>
                    </a:solidFill>
                    <a:effectLst/>
                    <a:latin typeface="Segoe WPC"/>
                  </a:rPr>
                  <a:t>for</a:t>
                </a:r>
                <a:r>
                  <a:rPr lang="es-PE" sz="900" b="0" i="0" dirty="0">
                    <a:solidFill>
                      <a:schemeClr val="tx1"/>
                    </a:solidFill>
                    <a:effectLst/>
                    <a:latin typeface="Segoe WPC"/>
                  </a:rPr>
                  <a:t> a </a:t>
                </a:r>
                <a:r>
                  <a:rPr lang="es-PE" sz="900" b="0" i="0" dirty="0" err="1">
                    <a:solidFill>
                      <a:schemeClr val="tx1"/>
                    </a:solidFill>
                    <a:effectLst/>
                    <a:latin typeface="Segoe WPC"/>
                  </a:rPr>
                  <a:t>very</a:t>
                </a:r>
                <a:r>
                  <a:rPr lang="es-PE" sz="900" b="0" i="0" dirty="0">
                    <a:solidFill>
                      <a:schemeClr val="tx1"/>
                    </a:solidFill>
                    <a:effectLst/>
                    <a:latin typeface="Segoe WPC"/>
                  </a:rPr>
                  <a:t> </a:t>
                </a:r>
                <a:r>
                  <a:rPr lang="es-PE" sz="900" b="0" i="0" dirty="0" err="1">
                    <a:solidFill>
                      <a:schemeClr val="tx1"/>
                    </a:solidFill>
                    <a:effectLst/>
                    <a:latin typeface="Segoe WPC"/>
                  </a:rPr>
                  <a:t>small</a:t>
                </a:r>
                <a:r>
                  <a:rPr lang="es-PE" sz="900" b="0" i="0" dirty="0">
                    <a:solidFill>
                      <a:schemeClr val="tx1"/>
                    </a:solidFill>
                    <a:effectLst/>
                    <a:latin typeface="Segoe WPC"/>
                  </a:rPr>
                  <a:t> stock-</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move</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slope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curve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respect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 </a:t>
                </a:r>
                <a:r>
                  <a:rPr lang="es-PE" sz="900" b="0" i="0" dirty="0" err="1">
                    <a:solidFill>
                      <a:schemeClr val="tx1"/>
                    </a:solidFill>
                    <a:effectLst/>
                    <a:latin typeface="Segoe WPC"/>
                  </a:rPr>
                  <a:t>price</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𝛥</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𝑓</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𝑆</m:t>
                    </m:r>
                  </m:oMath>
                </a14:m>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delta </a:t>
                </a:r>
                <a14:m>
                  <m:oMath xmlns:m="http://schemas.openxmlformats.org/officeDocument/2006/math">
                    <m:r>
                      <a:rPr lang="es-PE" sz="90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𝑁</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0">
                                <a:solidFill>
                                  <a:schemeClr val="tx1"/>
                                </a:solidFill>
                                <a:latin typeface="Cambria Math" panose="02040503050406030204" pitchFamily="18" charset="0"/>
                              </a:rPr>
                              <m:t>1</m:t>
                            </m:r>
                          </m:sub>
                        </m:sSub>
                      </m:e>
                    </m:d>
                  </m:oMath>
                </a14:m>
                <a:r>
                  <a:rPr lang="ar-A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delta </a:t>
                </a:r>
                <a14:m>
                  <m:oMath xmlns:m="http://schemas.openxmlformats.org/officeDocument/2006/math">
                    <m:r>
                      <a:rPr lang="es-PE" sz="90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𝑁</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0">
                                <a:solidFill>
                                  <a:schemeClr val="tx1"/>
                                </a:solidFill>
                                <a:latin typeface="Cambria Math" panose="02040503050406030204" pitchFamily="18" charset="0"/>
                              </a:rPr>
                              <m:t>1</m:t>
                            </m:r>
                          </m:sub>
                        </m:sSub>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oMath>
                </a14:m>
                <a:endParaRPr lang="ar-A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delta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0 and 1, </a:t>
                </a:r>
                <a:r>
                  <a:rPr lang="es-PE" sz="900" b="0" i="0" dirty="0" err="1">
                    <a:solidFill>
                      <a:schemeClr val="tx1"/>
                    </a:solidFill>
                    <a:effectLst/>
                    <a:latin typeface="Segoe WPC"/>
                  </a:rPr>
                  <a:t>while</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delta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-1 and 0.</a:t>
                </a:r>
              </a:p>
              <a:p>
                <a:pPr algn="l">
                  <a:spcBef>
                    <a:spcPts val="300"/>
                  </a:spcBef>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Delta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constant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stock </a:t>
                </a:r>
                <a:r>
                  <a:rPr lang="es-PE" sz="900" b="0" i="0" dirty="0" err="1">
                    <a:solidFill>
                      <a:schemeClr val="tx1"/>
                    </a:solidFill>
                    <a:effectLst/>
                    <a:latin typeface="Segoe WPC"/>
                  </a:rPr>
                  <a:t>price</a:t>
                </a:r>
                <a:r>
                  <a:rPr lang="es-PE" sz="900" b="0" i="0" dirty="0">
                    <a:solidFill>
                      <a:schemeClr val="tx1"/>
                    </a:solidFill>
                    <a:effectLst/>
                    <a:latin typeface="Segoe WPC"/>
                  </a:rPr>
                  <a:t>, time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maturity</a:t>
                </a:r>
                <a:r>
                  <a:rPr lang="es-PE" sz="900" b="0" i="0" dirty="0">
                    <a:solidFill>
                      <a:schemeClr val="tx1"/>
                    </a:solidFill>
                    <a:effectLst/>
                    <a:latin typeface="Segoe WPC"/>
                  </a:rPr>
                  <a:t>, </a:t>
                </a:r>
                <a:r>
                  <a:rPr lang="es-PE" sz="900" b="0" i="0" dirty="0" err="1">
                    <a:solidFill>
                      <a:schemeClr val="tx1"/>
                    </a:solidFill>
                    <a:effectLst/>
                    <a:latin typeface="Segoe WPC"/>
                  </a:rPr>
                  <a:t>volatility</a:t>
                </a:r>
                <a:r>
                  <a:rPr lang="es-PE" sz="900" b="0" i="0" dirty="0">
                    <a:solidFill>
                      <a:schemeClr val="tx1"/>
                    </a:solidFill>
                    <a:effectLst/>
                    <a:latin typeface="Segoe WPC"/>
                  </a:rPr>
                  <a:t>, and </a:t>
                </a:r>
                <a:r>
                  <a:rPr lang="es-PE" sz="900" b="0" i="0" dirty="0" err="1">
                    <a:solidFill>
                      <a:schemeClr val="tx1"/>
                    </a:solidFill>
                    <a:effectLst/>
                    <a:latin typeface="Segoe WPC"/>
                  </a:rPr>
                  <a:t>other</a:t>
                </a:r>
                <a:r>
                  <a:rPr lang="es-PE" sz="900" b="0" i="0" dirty="0">
                    <a:solidFill>
                      <a:schemeClr val="tx1"/>
                    </a:solidFill>
                    <a:effectLst/>
                    <a:latin typeface="Segoe WPC"/>
                  </a:rPr>
                  <a:t> inputs.</a:t>
                </a:r>
              </a:p>
              <a:p>
                <a:pPr marL="171450" indent="-171450" algn="l">
                  <a:spcBef>
                    <a:spcPts val="300"/>
                  </a:spcBef>
                  <a:buFont typeface="Wingdings" panose="05000000000000000000" pitchFamily="2" charset="2"/>
                  <a:buChar char="q"/>
                </a:pPr>
                <a:r>
                  <a:rPr lang="es-PE" sz="900" b="1" i="0" dirty="0">
                    <a:solidFill>
                      <a:schemeClr val="tx1"/>
                    </a:solidFill>
                    <a:effectLst/>
                    <a:latin typeface="Segoe WPC"/>
                  </a:rPr>
                  <a:t>Delta </a:t>
                </a:r>
                <a:r>
                  <a:rPr lang="es-PE" sz="900" b="1" i="0" dirty="0" err="1">
                    <a:solidFill>
                      <a:schemeClr val="tx1"/>
                    </a:solidFill>
                    <a:effectLst/>
                    <a:latin typeface="Segoe WPC"/>
                  </a:rPr>
                  <a:t>Hedging</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Hedging</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position </a:t>
                </a:r>
                <a:r>
                  <a:rPr lang="es-PE" sz="900" b="0" i="0" dirty="0" err="1">
                    <a:solidFill>
                      <a:schemeClr val="tx1"/>
                    </a:solidFill>
                    <a:effectLst/>
                    <a:latin typeface="Segoe WPC"/>
                  </a:rPr>
                  <a:t>by</a:t>
                </a:r>
                <a:r>
                  <a:rPr lang="es-PE" sz="900" b="0" i="0" dirty="0">
                    <a:solidFill>
                      <a:schemeClr val="tx1"/>
                    </a:solidFill>
                    <a:effectLst/>
                    <a:latin typeface="Segoe WPC"/>
                  </a:rPr>
                  <a:t> trading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 short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trader</a:t>
                </a:r>
                <a:r>
                  <a:rPr lang="es-PE" sz="900" b="0" i="0" dirty="0">
                    <a:solidFill>
                      <a:schemeClr val="tx1"/>
                    </a:solidFill>
                    <a:effectLst/>
                    <a:latin typeface="Segoe WPC"/>
                  </a:rPr>
                  <a:t> </a:t>
                </a:r>
                <a:r>
                  <a:rPr lang="es-PE" sz="900" b="0" i="0" dirty="0" err="1">
                    <a:solidFill>
                      <a:schemeClr val="tx1"/>
                    </a:solidFill>
                    <a:effectLst/>
                    <a:latin typeface="Segoe WPC"/>
                  </a:rPr>
                  <a:t>buys</a:t>
                </a:r>
                <a:r>
                  <a:rPr lang="es-PE" sz="900" b="0" i="0" dirty="0">
                    <a:solidFill>
                      <a:schemeClr val="tx1"/>
                    </a:solidFill>
                    <a:effectLst/>
                    <a:latin typeface="Segoe WPC"/>
                  </a:rPr>
                  <a:t> shares </a:t>
                </a:r>
                <a:r>
                  <a:rPr lang="es-PE" sz="900" b="0" i="0" dirty="0" err="1">
                    <a:solidFill>
                      <a:schemeClr val="tx1"/>
                    </a:solidFill>
                    <a:effectLst/>
                    <a:latin typeface="Segoe WPC"/>
                  </a:rPr>
                  <a:t>equal</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position’s</a:t>
                </a:r>
                <a:r>
                  <a:rPr lang="es-PE" sz="900" b="0" i="0" dirty="0">
                    <a:solidFill>
                      <a:schemeClr val="tx1"/>
                    </a:solidFill>
                    <a:effectLst/>
                    <a:latin typeface="Segoe WPC"/>
                  </a:rPr>
                  <a:t> delta </a:t>
                </a:r>
                <a:r>
                  <a:rPr lang="es-PE" sz="900" b="0" i="0" dirty="0" err="1">
                    <a:solidFill>
                      <a:schemeClr val="tx1"/>
                    </a:solidFill>
                    <a:effectLst/>
                    <a:latin typeface="Segoe WPC"/>
                  </a:rPr>
                  <a:t>exposure</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gain</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shares </a:t>
                </a:r>
                <a:r>
                  <a:rPr lang="es-PE" sz="900" b="0" i="0" dirty="0" err="1">
                    <a:solidFill>
                      <a:schemeClr val="tx1"/>
                    </a:solidFill>
                    <a:effectLst/>
                    <a:latin typeface="Segoe WPC"/>
                  </a:rPr>
                  <a:t>offsets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loss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short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small</a:t>
                </a:r>
                <a:r>
                  <a:rPr lang="es-PE" sz="900" b="0" i="0" dirty="0">
                    <a:solidFill>
                      <a:schemeClr val="tx1"/>
                    </a:solidFill>
                    <a:effectLst/>
                    <a:latin typeface="Segoe WPC"/>
                  </a:rPr>
                  <a:t> stock </a:t>
                </a:r>
                <a:r>
                  <a:rPr lang="es-PE" sz="900" b="0" i="0" dirty="0" err="1">
                    <a:solidFill>
                      <a:schemeClr val="tx1"/>
                    </a:solidFill>
                    <a:effectLst/>
                    <a:latin typeface="Segoe WPC"/>
                  </a:rPr>
                  <a:t>moves</a:t>
                </a:r>
                <a:r>
                  <a:rPr lang="es-PE" sz="900" b="0" i="0" dirty="0">
                    <a:solidFill>
                      <a:schemeClr val="tx1"/>
                    </a:solidFill>
                    <a:effectLst/>
                    <a:latin typeface="Segoe WPC"/>
                  </a:rPr>
                  <a:t>, and vice versa.</a:t>
                </a:r>
              </a:p>
              <a:p>
                <a:pPr algn="l">
                  <a:spcBef>
                    <a:spcPts val="300"/>
                  </a:spcBef>
                </a:pPr>
                <a:r>
                  <a:rPr lang="es-PE" sz="900" b="1" i="0" dirty="0">
                    <a:solidFill>
                      <a:schemeClr val="tx1"/>
                    </a:solidFill>
                    <a:effectLst/>
                    <a:latin typeface="Segoe WPC"/>
                  </a:rPr>
                  <a:t>Key Formula:</a:t>
                </a:r>
                <a:r>
                  <a:rPr lang="es-PE" sz="900" b="0" i="0" dirty="0">
                    <a:solidFill>
                      <a:schemeClr val="tx1"/>
                    </a:solidFill>
                    <a:effectLst/>
                    <a:latin typeface="Segoe WPC"/>
                  </a:rPr>
                  <a:t> Portfolio delta </a:t>
                </a:r>
                <a14:m>
                  <m:oMath xmlns:m="http://schemas.openxmlformats.org/officeDocument/2006/math">
                    <m:r>
                      <a:rPr lang="es-PE" sz="90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𝑛</m:t>
                    </m:r>
                    <m:r>
                      <a:rPr lang="es-P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𝛥</m:t>
                        </m:r>
                      </m:e>
                      <m:sub>
                        <m:r>
                          <m:rPr>
                            <m:nor/>
                          </m:rPr>
                          <a:rPr lang="es-PE" sz="900" b="0" i="1">
                            <a:solidFill>
                              <a:schemeClr val="tx1"/>
                            </a:solidFill>
                            <a:latin typeface="Cambria Math" panose="02040503050406030204" pitchFamily="18" charset="0"/>
                          </a:rPr>
                          <m:t>option</m:t>
                        </m:r>
                      </m:sub>
                    </m:sSub>
                    <m:r>
                      <a:rPr lang="ar-A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𝛥</m:t>
                        </m:r>
                      </m:e>
                      <m:sub>
                        <m:r>
                          <m:rPr>
                            <m:nor/>
                          </m:rPr>
                          <a:rPr lang="es-PE" sz="900" b="0" i="1">
                            <a:solidFill>
                              <a:schemeClr val="tx1"/>
                            </a:solidFill>
                            <a:latin typeface="Cambria Math" panose="02040503050406030204" pitchFamily="18" charset="0"/>
                          </a:rPr>
                          <m:t>shares</m:t>
                        </m:r>
                      </m:sub>
                    </m:sSub>
                  </m:oMath>
                </a14:m>
                <a:r>
                  <a:rPr lang="ar-AE" sz="900" b="0" i="0" dirty="0">
                    <a:solidFill>
                      <a:schemeClr val="tx1"/>
                    </a:solidFill>
                    <a:effectLst/>
                    <a:latin typeface="Segoe WPC"/>
                  </a:rPr>
                  <a:t>, </a:t>
                </a:r>
                <a:r>
                  <a:rPr lang="es-PE" sz="900" b="0" i="0" dirty="0">
                    <a:solidFill>
                      <a:schemeClr val="tx1"/>
                    </a:solidFill>
                    <a:effectLst/>
                    <a:latin typeface="Segoe WPC"/>
                  </a:rPr>
                  <a:t>delta-neutral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requires</a:t>
                </a:r>
                <a:r>
                  <a:rPr lang="es-PE" sz="900" b="0" i="0" dirty="0">
                    <a:solidFill>
                      <a:schemeClr val="tx1"/>
                    </a:solidFill>
                    <a:effectLst/>
                    <a:latin typeface="Segoe WPC"/>
                  </a:rPr>
                  <a:t> share position </a:t>
                </a:r>
                <a14:m>
                  <m:oMath xmlns:m="http://schemas.openxmlformats.org/officeDocument/2006/math">
                    <m:r>
                      <a:rPr lang="es-PE" sz="900">
                        <a:solidFill>
                          <a:schemeClr val="tx1"/>
                        </a:solidFill>
                        <a:latin typeface="Cambria Math" panose="02040503050406030204" pitchFamily="18" charset="0"/>
                      </a:rPr>
                      <m:t>=</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𝑛</m:t>
                    </m:r>
                    <m:r>
                      <a:rPr lang="es-PE" sz="900" i="0">
                        <a:solidFill>
                          <a:schemeClr val="tx1"/>
                        </a:solidFill>
                        <a:latin typeface="Cambria Math" panose="02040503050406030204" pitchFamily="18" charset="0"/>
                      </a:rPr>
                      <m:t>×</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𝛥</m:t>
                        </m:r>
                      </m:e>
                      <m:sub>
                        <m:r>
                          <m:rPr>
                            <m:nor/>
                          </m:rPr>
                          <a:rPr lang="es-PE" sz="900" b="0" i="1">
                            <a:solidFill>
                              <a:schemeClr val="tx1"/>
                            </a:solidFill>
                            <a:latin typeface="Cambria Math" panose="02040503050406030204" pitchFamily="18" charset="0"/>
                          </a:rPr>
                          <m:t>option</m:t>
                        </m:r>
                      </m:sub>
                    </m:sSub>
                  </m:oMath>
                </a14:m>
                <a:endParaRPr lang="ar-A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a </a:t>
                </a:r>
                <a:r>
                  <a:rPr lang="es-PE" sz="900" b="0" i="0" dirty="0" err="1">
                    <a:solidFill>
                      <a:schemeClr val="tx1"/>
                    </a:solidFill>
                    <a:effectLst/>
                    <a:latin typeface="Segoe WPC"/>
                  </a:rPr>
                  <a:t>trader</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short 1,000,000 </a:t>
                </a:r>
                <a:r>
                  <a:rPr lang="es-PE" sz="900" b="0" i="0" dirty="0" err="1">
                    <a:solidFill>
                      <a:schemeClr val="tx1"/>
                    </a:solidFill>
                    <a:effectLst/>
                    <a:latin typeface="Segoe WPC"/>
                  </a:rPr>
                  <a:t>calls</a:t>
                </a:r>
                <a:r>
                  <a:rPr lang="es-PE" sz="900" b="0" i="0" dirty="0">
                    <a:solidFill>
                      <a:schemeClr val="tx1"/>
                    </a:solidFill>
                    <a:effectLst/>
                    <a:latin typeface="Segoe WPC"/>
                  </a:rPr>
                  <a:t> </a:t>
                </a:r>
                <a:r>
                  <a:rPr lang="es-PE" sz="900" b="0" i="0" dirty="0" err="1">
                    <a:solidFill>
                      <a:schemeClr val="tx1"/>
                    </a:solidFill>
                    <a:effectLst/>
                    <a:latin typeface="Segoe WPC"/>
                  </a:rPr>
                  <a:t>with</a:t>
                </a:r>
                <a:r>
                  <a:rPr lang="es-PE" sz="900" b="0" i="0" dirty="0">
                    <a:solidFill>
                      <a:schemeClr val="tx1"/>
                    </a:solidFill>
                    <a:effectLst/>
                    <a:latin typeface="Segoe WPC"/>
                  </a:rPr>
                  <a:t> delta 0.5358,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requires</a:t>
                </a:r>
                <a:r>
                  <a:rPr lang="es-PE" sz="900" b="0" i="0" dirty="0">
                    <a:solidFill>
                      <a:schemeClr val="tx1"/>
                    </a:solidFill>
                    <a:effectLst/>
                    <a:latin typeface="Segoe WPC"/>
                  </a:rPr>
                  <a:t> </a:t>
                </a:r>
                <a:r>
                  <a:rPr lang="es-PE" sz="900" b="0" i="0" dirty="0" err="1">
                    <a:solidFill>
                      <a:schemeClr val="tx1"/>
                    </a:solidFill>
                    <a:effectLst/>
                    <a:latin typeface="Segoe WPC"/>
                  </a:rPr>
                  <a:t>buying</a:t>
                </a:r>
                <a:r>
                  <a:rPr lang="es-PE" sz="900" b="0" i="0" dirty="0">
                    <a:solidFill>
                      <a:schemeClr val="tx1"/>
                    </a:solidFill>
                    <a:effectLst/>
                    <a:latin typeface="Segoe WPC"/>
                  </a:rPr>
                  <a:t> 535,800 shares.</a:t>
                </a:r>
              </a:p>
              <a:p>
                <a:pPr algn="l">
                  <a:spcBef>
                    <a:spcPts val="300"/>
                  </a:spcBef>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Delta </a:t>
                </a:r>
                <a:r>
                  <a:rPr lang="es-PE" sz="900" b="0" i="0" dirty="0" err="1">
                    <a:solidFill>
                      <a:schemeClr val="tx1"/>
                    </a:solidFill>
                    <a:effectLst/>
                    <a:latin typeface="Segoe WPC"/>
                  </a:rPr>
                  <a:t>hedging</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and </a:t>
                </a:r>
                <a:r>
                  <a:rPr lang="es-PE" sz="900" b="0" i="0" dirty="0" err="1">
                    <a:solidFill>
                      <a:schemeClr val="tx1"/>
                    </a:solidFill>
                    <a:effectLst/>
                    <a:latin typeface="Segoe WPC"/>
                  </a:rPr>
                  <a:t>forget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a:t>
                </a:r>
                <a:r>
                  <a:rPr lang="es-PE" sz="900" b="0" i="0" dirty="0" err="1">
                    <a:solidFill>
                      <a:schemeClr val="tx1"/>
                    </a:solidFill>
                    <a:effectLst/>
                    <a:latin typeface="Segoe WPC"/>
                  </a:rPr>
                  <a:t>requires</a:t>
                </a:r>
                <a:r>
                  <a:rPr lang="es-PE" sz="900" b="0" i="0" dirty="0">
                    <a:solidFill>
                      <a:schemeClr val="tx1"/>
                    </a:solidFill>
                    <a:effectLst/>
                    <a:latin typeface="Segoe WPC"/>
                  </a:rPr>
                  <a:t> </a:t>
                </a:r>
                <a:r>
                  <a:rPr lang="es-PE" sz="900" b="0" i="0" dirty="0" err="1">
                    <a:solidFill>
                      <a:schemeClr val="tx1"/>
                    </a:solidFill>
                    <a:effectLst/>
                    <a:latin typeface="Segoe WPC"/>
                  </a:rPr>
                  <a:t>frequent</a:t>
                </a:r>
                <a:r>
                  <a:rPr lang="es-PE" sz="900" b="0" i="0" dirty="0">
                    <a:solidFill>
                      <a:schemeClr val="tx1"/>
                    </a:solidFill>
                    <a:effectLst/>
                    <a:latin typeface="Segoe WPC"/>
                  </a:rPr>
                  <a:t> </a:t>
                </a:r>
                <a:r>
                  <a:rPr lang="es-PE" sz="900" b="0" i="0" dirty="0" err="1">
                    <a:solidFill>
                      <a:schemeClr val="tx1"/>
                    </a:solidFill>
                    <a:effectLst/>
                    <a:latin typeface="Segoe WPC"/>
                  </a:rPr>
                  <a:t>rebalancing</a:t>
                </a:r>
                <a:r>
                  <a:rPr lang="es-PE" sz="900" b="0" i="0" dirty="0">
                    <a:solidFill>
                      <a:schemeClr val="tx1"/>
                    </a:solidFill>
                    <a:effectLst/>
                    <a:latin typeface="Segoe WPC"/>
                  </a:rPr>
                  <a:t>.</a:t>
                </a:r>
              </a:p>
            </p:txBody>
          </p:sp>
        </mc:Choice>
        <mc:Fallback xmlns="">
          <p:sp>
            <p:nvSpPr>
              <p:cNvPr id="5" name="CuadroTexto 4">
                <a:extLst>
                  <a:ext uri="{FF2B5EF4-FFF2-40B4-BE49-F238E27FC236}">
                    <a16:creationId xmlns:a16="http://schemas.microsoft.com/office/drawing/2014/main" id="{3F01F440-C5DE-F49F-A766-58748C89EFD7}"/>
                  </a:ext>
                </a:extLst>
              </p:cNvPr>
              <p:cNvSpPr txBox="1">
                <a:spLocks noRot="1" noChangeAspect="1" noMove="1" noResize="1" noEditPoints="1" noAdjustHandles="1" noChangeArrowheads="1" noChangeShapeType="1" noTextEdit="1"/>
              </p:cNvSpPr>
              <p:nvPr/>
            </p:nvSpPr>
            <p:spPr>
              <a:xfrm>
                <a:off x="0" y="274887"/>
                <a:ext cx="6292850" cy="5868594"/>
              </a:xfrm>
              <a:prstGeom prst="rect">
                <a:avLst/>
              </a:prstGeom>
              <a:blipFill>
                <a:blip r:embed="rId2"/>
                <a:stretch>
                  <a:fillRect/>
                </a:stretch>
              </a:blipFill>
            </p:spPr>
            <p:txBody>
              <a:bodyPr/>
              <a:lstStyle/>
              <a:p>
                <a:r>
                  <a:rPr lang="es-PE">
                    <a:noFill/>
                  </a:rPr>
                  <a:t> </a:t>
                </a:r>
              </a:p>
            </p:txBody>
          </p:sp>
        </mc:Fallback>
      </mc:AlternateContent>
      <p:sp>
        <p:nvSpPr>
          <p:cNvPr id="6" name="Título 1">
            <a:extLst>
              <a:ext uri="{FF2B5EF4-FFF2-40B4-BE49-F238E27FC236}">
                <a16:creationId xmlns:a16="http://schemas.microsoft.com/office/drawing/2014/main" id="{F0A1F43F-119F-7EBF-C5EE-B6227FED35CA}"/>
              </a:ext>
            </a:extLst>
          </p:cNvPr>
          <p:cNvSpPr>
            <a:spLocks noGrp="1"/>
          </p:cNvSpPr>
          <p:nvPr>
            <p:ph type="title"/>
          </p:nvPr>
        </p:nvSpPr>
        <p:spPr>
          <a:xfrm>
            <a:off x="-114300" y="-27931"/>
            <a:ext cx="7645400" cy="330750"/>
          </a:xfrm>
        </p:spPr>
        <p:txBody>
          <a:bodyPr>
            <a:normAutofit fontScale="90000"/>
          </a:bodyPr>
          <a:lstStyle/>
          <a:p>
            <a:r>
              <a:rPr lang="es-PE" sz="3200" dirty="0" err="1"/>
              <a:t>The</a:t>
            </a:r>
            <a:r>
              <a:rPr lang="es-PE" sz="3200" dirty="0"/>
              <a:t> </a:t>
            </a:r>
            <a:r>
              <a:rPr lang="es-PE" sz="3200" dirty="0" err="1"/>
              <a:t>Greeks</a:t>
            </a:r>
            <a:endParaRPr lang="es-PE" sz="3200"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26B3271E-7B53-0C42-6C9E-8BE2FD9A0313}"/>
                  </a:ext>
                </a:extLst>
              </p:cNvPr>
              <p:cNvSpPr txBox="1"/>
              <p:nvPr/>
            </p:nvSpPr>
            <p:spPr>
              <a:xfrm>
                <a:off x="5978526" y="223218"/>
                <a:ext cx="6213474" cy="6411563"/>
              </a:xfrm>
              <a:prstGeom prst="rect">
                <a:avLst/>
              </a:prstGeom>
              <a:noFill/>
            </p:spPr>
            <p:txBody>
              <a:bodyPr wrap="square">
                <a:spAutoFit/>
              </a:bodyPr>
              <a:lstStyle/>
              <a:p>
                <a:pPr marL="171450" indent="-171450">
                  <a:spcBef>
                    <a:spcPts val="300"/>
                  </a:spcBef>
                  <a:buFont typeface="Wingdings" panose="05000000000000000000" pitchFamily="2" charset="2"/>
                  <a:buChar char="q"/>
                </a:pPr>
                <a:r>
                  <a:rPr lang="es-PE" sz="900" b="1" dirty="0">
                    <a:latin typeface="Segoe WPC"/>
                  </a:rPr>
                  <a:t>Vega</a:t>
                </a:r>
                <a:endParaRPr lang="es-PE" sz="900" dirty="0">
                  <a:latin typeface="Segoe WPC"/>
                </a:endParaRPr>
              </a:p>
              <a:p>
                <a:pPr>
                  <a:spcBef>
                    <a:spcPts val="300"/>
                  </a:spcBef>
                </a:pPr>
                <a:r>
                  <a:rPr lang="es-PE" sz="900" b="1" dirty="0" err="1">
                    <a:latin typeface="Segoe WPC"/>
                  </a:rPr>
                  <a:t>Financial</a:t>
                </a:r>
                <a:r>
                  <a:rPr lang="es-PE" sz="900" b="1" dirty="0">
                    <a:latin typeface="Segoe WPC"/>
                  </a:rPr>
                  <a:t> </a:t>
                </a:r>
                <a:r>
                  <a:rPr lang="es-PE" sz="900" b="1" dirty="0" err="1">
                    <a:latin typeface="Segoe WPC"/>
                  </a:rPr>
                  <a:t>Object</a:t>
                </a:r>
                <a:r>
                  <a:rPr lang="es-PE" sz="900" b="1" dirty="0">
                    <a:latin typeface="Segoe WPC"/>
                  </a:rPr>
                  <a:t>:</a:t>
                </a:r>
                <a:r>
                  <a:rPr lang="es-PE" sz="900" dirty="0">
                    <a:latin typeface="Segoe WPC"/>
                  </a:rPr>
                  <a:t> </a:t>
                </a:r>
                <a:r>
                  <a:rPr lang="es-PE" sz="900" dirty="0" err="1">
                    <a:latin typeface="Segoe WPC"/>
                  </a:rPr>
                  <a:t>Sensitivity</a:t>
                </a:r>
                <a:r>
                  <a:rPr lang="es-PE" sz="900" dirty="0">
                    <a:latin typeface="Segoe WPC"/>
                  </a:rPr>
                  <a:t> </a:t>
                </a:r>
                <a:r>
                  <a:rPr lang="es-PE" sz="900" dirty="0" err="1">
                    <a:latin typeface="Segoe WPC"/>
                  </a:rPr>
                  <a:t>of</a:t>
                </a:r>
                <a:r>
                  <a:rPr lang="es-PE" sz="900" dirty="0">
                    <a:latin typeface="Segoe WPC"/>
                  </a:rPr>
                  <a:t> </a:t>
                </a:r>
                <a:r>
                  <a:rPr lang="es-PE" sz="900" dirty="0" err="1">
                    <a:latin typeface="Segoe WPC"/>
                  </a:rPr>
                  <a:t>the</a:t>
                </a:r>
                <a:r>
                  <a:rPr lang="es-PE" sz="900" dirty="0">
                    <a:latin typeface="Segoe WPC"/>
                  </a:rPr>
                  <a:t> </a:t>
                </a:r>
                <a:r>
                  <a:rPr lang="es-PE" sz="900" dirty="0" err="1">
                    <a:latin typeface="Segoe WPC"/>
                  </a:rPr>
                  <a:t>option</a:t>
                </a:r>
                <a:r>
                  <a:rPr lang="es-PE" sz="900" dirty="0">
                    <a:latin typeface="Segoe WPC"/>
                  </a:rPr>
                  <a:t> </a:t>
                </a:r>
                <a:r>
                  <a:rPr lang="es-PE" sz="900" dirty="0" err="1">
                    <a:latin typeface="Segoe WPC"/>
                  </a:rPr>
                  <a:t>value</a:t>
                </a:r>
                <a:r>
                  <a:rPr lang="es-PE" sz="900" dirty="0">
                    <a:latin typeface="Segoe WPC"/>
                  </a:rPr>
                  <a:t> </a:t>
                </a:r>
                <a:r>
                  <a:rPr lang="es-PE" sz="900" dirty="0" err="1">
                    <a:latin typeface="Segoe WPC"/>
                  </a:rPr>
                  <a:t>to</a:t>
                </a:r>
                <a:r>
                  <a:rPr lang="es-PE" sz="900" dirty="0">
                    <a:latin typeface="Segoe WPC"/>
                  </a:rPr>
                  <a:t> </a:t>
                </a:r>
                <a:r>
                  <a:rPr lang="es-PE" sz="900" dirty="0" err="1">
                    <a:latin typeface="Segoe WPC"/>
                  </a:rPr>
                  <a:t>changes</a:t>
                </a:r>
                <a:r>
                  <a:rPr lang="es-PE" sz="900" dirty="0">
                    <a:latin typeface="Segoe WPC"/>
                  </a:rPr>
                  <a:t> in </a:t>
                </a:r>
                <a:r>
                  <a:rPr lang="es-PE" sz="900" dirty="0" err="1">
                    <a:latin typeface="Segoe WPC"/>
                  </a:rPr>
                  <a:t>implied</a:t>
                </a:r>
                <a:r>
                  <a:rPr lang="es-PE" sz="900" dirty="0">
                    <a:latin typeface="Segoe WPC"/>
                  </a:rPr>
                  <a:t> </a:t>
                </a:r>
                <a:r>
                  <a:rPr lang="es-PE" sz="900" dirty="0" err="1">
                    <a:latin typeface="Segoe WPC"/>
                  </a:rPr>
                  <a:t>volatility</a:t>
                </a:r>
                <a:r>
                  <a:rPr lang="es-PE" sz="900" dirty="0">
                    <a:latin typeface="Segoe WPC"/>
                  </a:rPr>
                  <a:t>.</a:t>
                </a:r>
              </a:p>
              <a:p>
                <a:pPr>
                  <a:spcBef>
                    <a:spcPts val="300"/>
                  </a:spcBef>
                </a:pPr>
                <a:r>
                  <a:rPr lang="es-PE" sz="900" b="1" dirty="0" err="1">
                    <a:latin typeface="Segoe WPC"/>
                  </a:rPr>
                  <a:t>Plain</a:t>
                </a:r>
                <a:r>
                  <a:rPr lang="es-PE" sz="900" b="1" dirty="0">
                    <a:latin typeface="Segoe WPC"/>
                  </a:rPr>
                  <a:t> </a:t>
                </a:r>
                <a:r>
                  <a:rPr lang="es-PE" sz="900" b="1" dirty="0" err="1">
                    <a:latin typeface="Segoe WPC"/>
                  </a:rPr>
                  <a:t>Intuition</a:t>
                </a:r>
                <a:r>
                  <a:rPr lang="es-PE" sz="900" b="1" dirty="0">
                    <a:latin typeface="Segoe WPC"/>
                  </a:rPr>
                  <a:t>:</a:t>
                </a:r>
                <a:r>
                  <a:rPr lang="es-PE" sz="900" dirty="0">
                    <a:latin typeface="Segoe WPC"/>
                  </a:rPr>
                  <a:t> Vega </a:t>
                </a:r>
                <a:r>
                  <a:rPr lang="es-PE" sz="900" dirty="0" err="1">
                    <a:latin typeface="Segoe WPC"/>
                  </a:rPr>
                  <a:t>measures</a:t>
                </a:r>
                <a:r>
                  <a:rPr lang="es-PE" sz="900" dirty="0">
                    <a:latin typeface="Segoe WPC"/>
                  </a:rPr>
                  <a:t> </a:t>
                </a:r>
                <a:r>
                  <a:rPr lang="es-PE" sz="900" dirty="0" err="1">
                    <a:latin typeface="Segoe WPC"/>
                  </a:rPr>
                  <a:t>how</a:t>
                </a:r>
                <a:r>
                  <a:rPr lang="es-PE" sz="900" dirty="0">
                    <a:latin typeface="Segoe WPC"/>
                  </a:rPr>
                  <a:t> </a:t>
                </a:r>
                <a:r>
                  <a:rPr lang="es-PE" sz="900" dirty="0" err="1">
                    <a:latin typeface="Segoe WPC"/>
                  </a:rPr>
                  <a:t>much</a:t>
                </a:r>
                <a:r>
                  <a:rPr lang="es-PE" sz="900" dirty="0">
                    <a:latin typeface="Segoe WPC"/>
                  </a:rPr>
                  <a:t> </a:t>
                </a:r>
                <a:r>
                  <a:rPr lang="es-PE" sz="900" dirty="0" err="1">
                    <a:latin typeface="Segoe WPC"/>
                  </a:rPr>
                  <a:t>an</a:t>
                </a:r>
                <a:r>
                  <a:rPr lang="es-PE" sz="900" dirty="0">
                    <a:latin typeface="Segoe WPC"/>
                  </a:rPr>
                  <a:t> </a:t>
                </a:r>
                <a:r>
                  <a:rPr lang="es-PE" sz="900" dirty="0" err="1">
                    <a:latin typeface="Segoe WPC"/>
                  </a:rPr>
                  <a:t>option</a:t>
                </a:r>
                <a:r>
                  <a:rPr lang="es-PE" sz="900" dirty="0">
                    <a:latin typeface="Segoe WPC"/>
                  </a:rPr>
                  <a:t> </a:t>
                </a:r>
                <a:r>
                  <a:rPr lang="es-PE" sz="900" dirty="0" err="1">
                    <a:latin typeface="Segoe WPC"/>
                  </a:rPr>
                  <a:t>gains</a:t>
                </a:r>
                <a:r>
                  <a:rPr lang="es-PE" sz="900" dirty="0">
                    <a:latin typeface="Segoe WPC"/>
                  </a:rPr>
                  <a:t> </a:t>
                </a:r>
                <a:r>
                  <a:rPr lang="es-PE" sz="900" dirty="0" err="1">
                    <a:latin typeface="Segoe WPC"/>
                  </a:rPr>
                  <a:t>or</a:t>
                </a:r>
                <a:r>
                  <a:rPr lang="es-PE" sz="900" dirty="0">
                    <a:latin typeface="Segoe WPC"/>
                  </a:rPr>
                  <a:t> loses </a:t>
                </a:r>
                <a:r>
                  <a:rPr lang="es-PE" sz="900" dirty="0" err="1">
                    <a:latin typeface="Segoe WPC"/>
                  </a:rPr>
                  <a:t>when</a:t>
                </a:r>
                <a:r>
                  <a:rPr lang="es-PE" sz="900" dirty="0">
                    <a:latin typeface="Segoe WPC"/>
                  </a:rPr>
                  <a:t> </a:t>
                </a:r>
                <a:r>
                  <a:rPr lang="es-PE" sz="900" dirty="0" err="1">
                    <a:latin typeface="Segoe WPC"/>
                  </a:rPr>
                  <a:t>volatility</a:t>
                </a:r>
                <a:r>
                  <a:rPr lang="es-PE" sz="900" dirty="0">
                    <a:latin typeface="Segoe WPC"/>
                  </a:rPr>
                  <a:t> </a:t>
                </a:r>
                <a:r>
                  <a:rPr lang="es-PE" sz="900" dirty="0" err="1">
                    <a:latin typeface="Segoe WPC"/>
                  </a:rPr>
                  <a:t>changes</a:t>
                </a:r>
                <a:r>
                  <a:rPr lang="es-PE" sz="900" dirty="0">
                    <a:latin typeface="Segoe WPC"/>
                  </a:rPr>
                  <a:t>.</a:t>
                </a:r>
              </a:p>
              <a:p>
                <a:pPr>
                  <a:spcBef>
                    <a:spcPts val="300"/>
                  </a:spcBef>
                </a:pPr>
                <a:r>
                  <a:rPr lang="es-PE" sz="900" b="1" dirty="0">
                    <a:latin typeface="Segoe WPC"/>
                  </a:rPr>
                  <a:t>Visual </a:t>
                </a:r>
                <a:r>
                  <a:rPr lang="es-PE" sz="900" b="1" dirty="0" err="1">
                    <a:latin typeface="Segoe WPC"/>
                  </a:rPr>
                  <a:t>Intuition</a:t>
                </a:r>
                <a:r>
                  <a:rPr lang="es-PE" sz="900" b="1" dirty="0">
                    <a:latin typeface="Segoe WPC"/>
                  </a:rPr>
                  <a:t>:</a:t>
                </a:r>
                <a:r>
                  <a:rPr lang="es-PE" sz="900" dirty="0">
                    <a:latin typeface="Segoe WPC"/>
                  </a:rPr>
                  <a:t> More </a:t>
                </a:r>
                <a:r>
                  <a:rPr lang="es-PE" sz="900" dirty="0" err="1">
                    <a:latin typeface="Segoe WPC"/>
                  </a:rPr>
                  <a:t>volatility</a:t>
                </a:r>
                <a:r>
                  <a:rPr lang="es-PE" sz="900" dirty="0">
                    <a:latin typeface="Segoe WPC"/>
                  </a:rPr>
                  <a:t> </a:t>
                </a:r>
                <a:r>
                  <a:rPr lang="es-PE" sz="900" dirty="0" err="1">
                    <a:latin typeface="Segoe WPC"/>
                  </a:rPr>
                  <a:t>increases</a:t>
                </a:r>
                <a:r>
                  <a:rPr lang="es-PE" sz="900" dirty="0">
                    <a:latin typeface="Segoe WPC"/>
                  </a:rPr>
                  <a:t> </a:t>
                </a:r>
                <a:r>
                  <a:rPr lang="es-PE" sz="900" dirty="0" err="1">
                    <a:latin typeface="Segoe WPC"/>
                  </a:rPr>
                  <a:t>the</a:t>
                </a:r>
                <a:r>
                  <a:rPr lang="es-PE" sz="900" dirty="0">
                    <a:latin typeface="Segoe WPC"/>
                  </a:rPr>
                  <a:t> chance </a:t>
                </a:r>
                <a:r>
                  <a:rPr lang="es-PE" sz="900" dirty="0" err="1">
                    <a:latin typeface="Segoe WPC"/>
                  </a:rPr>
                  <a:t>of</a:t>
                </a:r>
                <a:r>
                  <a:rPr lang="es-PE" sz="900" dirty="0">
                    <a:latin typeface="Segoe WPC"/>
                  </a:rPr>
                  <a:t> </a:t>
                </a:r>
                <a:r>
                  <a:rPr lang="es-PE" sz="900" dirty="0" err="1">
                    <a:latin typeface="Segoe WPC"/>
                  </a:rPr>
                  <a:t>large</a:t>
                </a:r>
                <a:r>
                  <a:rPr lang="es-PE" sz="900" dirty="0">
                    <a:latin typeface="Segoe WPC"/>
                  </a:rPr>
                  <a:t> favorable </a:t>
                </a:r>
                <a:r>
                  <a:rPr lang="es-PE" sz="900" dirty="0" err="1">
                    <a:latin typeface="Segoe WPC"/>
                  </a:rPr>
                  <a:t>payoffs</a:t>
                </a:r>
                <a:r>
                  <a:rPr lang="es-PE" sz="900" dirty="0">
                    <a:latin typeface="Segoe WPC"/>
                  </a:rPr>
                  <a:t> </a:t>
                </a:r>
                <a:r>
                  <a:rPr lang="es-PE" sz="900" dirty="0" err="1">
                    <a:latin typeface="Segoe WPC"/>
                  </a:rPr>
                  <a:t>for</a:t>
                </a:r>
                <a:r>
                  <a:rPr lang="es-PE" sz="900" dirty="0">
                    <a:latin typeface="Segoe WPC"/>
                  </a:rPr>
                  <a:t> </a:t>
                </a:r>
                <a:r>
                  <a:rPr lang="es-PE" sz="900" dirty="0" err="1">
                    <a:latin typeface="Segoe WPC"/>
                  </a:rPr>
                  <a:t>long</a:t>
                </a:r>
                <a:r>
                  <a:rPr lang="es-PE" sz="900" dirty="0">
                    <a:latin typeface="Segoe WPC"/>
                  </a:rPr>
                  <a:t> </a:t>
                </a:r>
                <a:r>
                  <a:rPr lang="es-PE" sz="900" dirty="0" err="1">
                    <a:latin typeface="Segoe WPC"/>
                  </a:rPr>
                  <a:t>option</a:t>
                </a:r>
                <a:r>
                  <a:rPr lang="es-PE" sz="900" dirty="0">
                    <a:latin typeface="Segoe WPC"/>
                  </a:rPr>
                  <a:t> </a:t>
                </a:r>
                <a:r>
                  <a:rPr lang="es-PE" sz="900" dirty="0" err="1">
                    <a:latin typeface="Segoe WPC"/>
                  </a:rPr>
                  <a:t>holders</a:t>
                </a:r>
                <a:r>
                  <a:rPr lang="es-PE" sz="900" dirty="0">
                    <a:latin typeface="Segoe WPC"/>
                  </a:rPr>
                  <a:t>, so </a:t>
                </a:r>
                <a:r>
                  <a:rPr lang="es-PE" sz="900" dirty="0" err="1">
                    <a:latin typeface="Segoe WPC"/>
                  </a:rPr>
                  <a:t>long</a:t>
                </a:r>
                <a:r>
                  <a:rPr lang="es-PE" sz="900" dirty="0">
                    <a:latin typeface="Segoe WPC"/>
                  </a:rPr>
                  <a:t> </a:t>
                </a:r>
                <a:r>
                  <a:rPr lang="es-PE" sz="900" dirty="0" err="1">
                    <a:latin typeface="Segoe WPC"/>
                  </a:rPr>
                  <a:t>calls</a:t>
                </a:r>
                <a:r>
                  <a:rPr lang="es-PE" sz="900" dirty="0">
                    <a:latin typeface="Segoe WPC"/>
                  </a:rPr>
                  <a:t> and </a:t>
                </a:r>
                <a:r>
                  <a:rPr lang="es-PE" sz="900" dirty="0" err="1">
                    <a:latin typeface="Segoe WPC"/>
                  </a:rPr>
                  <a:t>long</a:t>
                </a:r>
                <a:r>
                  <a:rPr lang="es-PE" sz="900" dirty="0">
                    <a:latin typeface="Segoe WPC"/>
                  </a:rPr>
                  <a:t> </a:t>
                </a:r>
                <a:r>
                  <a:rPr lang="es-PE" sz="900" dirty="0" err="1">
                    <a:latin typeface="Segoe WPC"/>
                  </a:rPr>
                  <a:t>puts</a:t>
                </a:r>
                <a:r>
                  <a:rPr lang="es-PE" sz="900" dirty="0">
                    <a:latin typeface="Segoe WPC"/>
                  </a:rPr>
                  <a:t> </a:t>
                </a:r>
                <a:r>
                  <a:rPr lang="es-PE" sz="900" dirty="0" err="1">
                    <a:latin typeface="Segoe WPC"/>
                  </a:rPr>
                  <a:t>have</a:t>
                </a:r>
                <a:r>
                  <a:rPr lang="es-PE" sz="900" dirty="0">
                    <a:latin typeface="Segoe WPC"/>
                  </a:rPr>
                  <a:t> positive vega.</a:t>
                </a:r>
              </a:p>
              <a:p>
                <a:pPr>
                  <a:spcBef>
                    <a:spcPts val="300"/>
                  </a:spcBef>
                </a:pPr>
                <a:r>
                  <a:rPr lang="es-PE" sz="900" b="1" dirty="0">
                    <a:latin typeface="Segoe WPC"/>
                  </a:rPr>
                  <a:t>Key Formula:</a:t>
                </a:r>
                <a:r>
                  <a:rPr lang="es-PE" sz="900" dirty="0">
                    <a:latin typeface="Segoe WPC"/>
                  </a:rPr>
                  <a:t> </a:t>
                </a:r>
                <a14:m>
                  <m:oMath xmlns:m="http://schemas.openxmlformats.org/officeDocument/2006/math">
                    <m:r>
                      <m:rPr>
                        <m:nor/>
                      </m:rPr>
                      <a:rPr lang="es-PE" sz="900"/>
                      <m:t>vega</m:t>
                    </m:r>
                    <m:r>
                      <a:rPr lang="es-PE" sz="900">
                        <a:latin typeface="Cambria Math" panose="02040503050406030204" pitchFamily="18" charset="0"/>
                      </a:rPr>
                      <m:t>=</m:t>
                    </m:r>
                    <m:r>
                      <a:rPr lang="es-PE" sz="900" i="1">
                        <a:latin typeface="Cambria Math" panose="02040503050406030204" pitchFamily="18" charset="0"/>
                      </a:rPr>
                      <m:t>𝜕</m:t>
                    </m:r>
                    <m:r>
                      <a:rPr lang="es-PE" sz="900" i="1">
                        <a:latin typeface="Cambria Math" panose="02040503050406030204" pitchFamily="18" charset="0"/>
                      </a:rPr>
                      <m:t>𝑓</m:t>
                    </m:r>
                    <m:r>
                      <a:rPr lang="es-PE" sz="900">
                        <a:latin typeface="Cambria Math" panose="02040503050406030204" pitchFamily="18" charset="0"/>
                      </a:rPr>
                      <m:t>/</m:t>
                    </m:r>
                    <m:r>
                      <a:rPr lang="es-PE" sz="900" i="1">
                        <a:latin typeface="Cambria Math" panose="02040503050406030204" pitchFamily="18" charset="0"/>
                      </a:rPr>
                      <m:t>𝜕𝜎</m:t>
                    </m:r>
                  </m:oMath>
                </a14:m>
                <a:r>
                  <a:rPr lang="es-PE" sz="900" dirty="0">
                    <a:latin typeface="Segoe WPC"/>
                  </a:rPr>
                  <a:t>, </a:t>
                </a:r>
                <a:r>
                  <a:rPr lang="es-PE" sz="900" dirty="0" err="1">
                    <a:latin typeface="Segoe WPC"/>
                  </a:rPr>
                  <a:t>European</a:t>
                </a:r>
                <a:r>
                  <a:rPr lang="es-PE" sz="900" dirty="0">
                    <a:latin typeface="Segoe WPC"/>
                  </a:rPr>
                  <a:t> </a:t>
                </a:r>
                <a:r>
                  <a:rPr lang="es-PE" sz="900" dirty="0" err="1">
                    <a:latin typeface="Segoe WPC"/>
                  </a:rPr>
                  <a:t>call</a:t>
                </a:r>
                <a:r>
                  <a:rPr lang="es-PE" sz="900" dirty="0">
                    <a:latin typeface="Segoe WPC"/>
                  </a:rPr>
                  <a:t> </a:t>
                </a:r>
                <a:r>
                  <a:rPr lang="es-PE" sz="900" dirty="0" err="1">
                    <a:latin typeface="Segoe WPC"/>
                  </a:rPr>
                  <a:t>or</a:t>
                </a:r>
                <a:r>
                  <a:rPr lang="es-PE" sz="900" dirty="0">
                    <a:latin typeface="Segoe WPC"/>
                  </a:rPr>
                  <a:t> </a:t>
                </a:r>
                <a:r>
                  <a:rPr lang="es-PE" sz="900" dirty="0" err="1">
                    <a:latin typeface="Segoe WPC"/>
                  </a:rPr>
                  <a:t>put</a:t>
                </a:r>
                <a:r>
                  <a:rPr lang="es-PE" sz="900" dirty="0">
                    <a:latin typeface="Segoe WPC"/>
                  </a:rPr>
                  <a:t> vega </a:t>
                </a:r>
                <a14:m>
                  <m:oMath xmlns:m="http://schemas.openxmlformats.org/officeDocument/2006/math">
                    <m:r>
                      <a:rPr lang="es-PE" sz="900">
                        <a:latin typeface="Cambria Math" panose="02040503050406030204" pitchFamily="18" charset="0"/>
                      </a:rPr>
                      <m:t>=</m:t>
                    </m:r>
                    <m:sSub>
                      <m:sSubPr>
                        <m:ctrlPr>
                          <a:rPr lang="ar-AE" sz="900" i="1">
                            <a:latin typeface="Cambria Math" panose="02040503050406030204" pitchFamily="18" charset="0"/>
                          </a:rPr>
                        </m:ctrlPr>
                      </m:sSubPr>
                      <m:e>
                        <m:r>
                          <a:rPr lang="ar-AE" sz="900" i="1">
                            <a:latin typeface="Cambria Math" panose="02040503050406030204" pitchFamily="18" charset="0"/>
                          </a:rPr>
                          <m:t>𝑆</m:t>
                        </m:r>
                      </m:e>
                      <m:sub>
                        <m:r>
                          <a:rPr lang="ar-AE" sz="900">
                            <a:latin typeface="Cambria Math" panose="02040503050406030204" pitchFamily="18" charset="0"/>
                          </a:rPr>
                          <m:t>0</m:t>
                        </m:r>
                      </m:sub>
                    </m:sSub>
                    <m:rad>
                      <m:radPr>
                        <m:degHide m:val="on"/>
                        <m:ctrlPr>
                          <a:rPr lang="ar-AE" sz="900" i="1">
                            <a:latin typeface="Cambria Math" panose="02040503050406030204" pitchFamily="18" charset="0"/>
                          </a:rPr>
                        </m:ctrlPr>
                      </m:radPr>
                      <m:deg/>
                      <m:e>
                        <m:r>
                          <a:rPr lang="ar-AE" sz="900" i="1">
                            <a:latin typeface="Cambria Math" panose="02040503050406030204" pitchFamily="18" charset="0"/>
                          </a:rPr>
                          <m:t>𝑇</m:t>
                        </m:r>
                      </m:e>
                    </m:rad>
                    <m:sSup>
                      <m:sSupPr>
                        <m:ctrlPr>
                          <a:rPr lang="ar-AE" sz="900" i="1">
                            <a:latin typeface="Cambria Math" panose="02040503050406030204" pitchFamily="18" charset="0"/>
                          </a:rPr>
                        </m:ctrlPr>
                      </m:sSupPr>
                      <m:e>
                        <m:r>
                          <a:rPr lang="ar-AE" sz="900" i="1">
                            <a:latin typeface="Cambria Math" panose="02040503050406030204" pitchFamily="18" charset="0"/>
                          </a:rPr>
                          <m:t>𝑁</m:t>
                        </m:r>
                      </m:e>
                      <m:sup>
                        <m:r>
                          <a:rPr lang="ar-AE" sz="900">
                            <a:latin typeface="Cambria Math" panose="02040503050406030204" pitchFamily="18" charset="0"/>
                          </a:rPr>
                          <m:t>′</m:t>
                        </m:r>
                      </m:sup>
                    </m:sSup>
                    <m:d>
                      <m:dPr>
                        <m:ctrlPr>
                          <a:rPr lang="ar-AE" sz="900" i="1">
                            <a:latin typeface="Cambria Math" panose="02040503050406030204" pitchFamily="18" charset="0"/>
                          </a:rPr>
                        </m:ctrlPr>
                      </m:dPr>
                      <m:e>
                        <m:sSub>
                          <m:sSubPr>
                            <m:ctrlPr>
                              <a:rPr lang="ar-AE" sz="900" i="1">
                                <a:latin typeface="Cambria Math" panose="02040503050406030204" pitchFamily="18" charset="0"/>
                              </a:rPr>
                            </m:ctrlPr>
                          </m:sSubPr>
                          <m:e>
                            <m:r>
                              <a:rPr lang="ar-AE" sz="900" i="1">
                                <a:latin typeface="Cambria Math" panose="02040503050406030204" pitchFamily="18" charset="0"/>
                              </a:rPr>
                              <m:t>𝑑</m:t>
                            </m:r>
                          </m:e>
                          <m:sub>
                            <m:r>
                              <a:rPr lang="ar-AE" sz="900">
                                <a:latin typeface="Cambria Math" panose="02040503050406030204" pitchFamily="18" charset="0"/>
                              </a:rPr>
                              <m:t>1</m:t>
                            </m:r>
                          </m:sub>
                        </m:sSub>
                      </m:e>
                    </m:d>
                  </m:oMath>
                </a14:m>
                <a:endParaRPr lang="ar-AE" sz="900" dirty="0">
                  <a:latin typeface="Segoe WPC"/>
                </a:endParaRPr>
              </a:p>
              <a:p>
                <a:pPr>
                  <a:spcBef>
                    <a:spcPts val="300"/>
                  </a:spcBef>
                </a:pPr>
                <a:r>
                  <a:rPr lang="es-PE" sz="900" b="1" dirty="0" err="1">
                    <a:latin typeface="Segoe WPC"/>
                  </a:rPr>
                  <a:t>Interpretation</a:t>
                </a:r>
                <a:r>
                  <a:rPr lang="es-PE" sz="900" b="1" dirty="0">
                    <a:latin typeface="Segoe WPC"/>
                  </a:rPr>
                  <a:t>:</a:t>
                </a:r>
                <a:r>
                  <a:rPr lang="es-PE" sz="900" dirty="0">
                    <a:latin typeface="Segoe WPC"/>
                  </a:rPr>
                  <a:t> Vega </a:t>
                </a:r>
                <a:r>
                  <a:rPr lang="es-PE" sz="900" dirty="0" err="1">
                    <a:latin typeface="Segoe WPC"/>
                  </a:rPr>
                  <a:t>is</a:t>
                </a:r>
                <a:r>
                  <a:rPr lang="es-PE" sz="900" dirty="0">
                    <a:latin typeface="Segoe WPC"/>
                  </a:rPr>
                  <a:t> </a:t>
                </a:r>
                <a:r>
                  <a:rPr lang="es-PE" sz="900" dirty="0" err="1">
                    <a:latin typeface="Segoe WPC"/>
                  </a:rPr>
                  <a:t>highest</a:t>
                </a:r>
                <a:r>
                  <a:rPr lang="es-PE" sz="900" dirty="0">
                    <a:latin typeface="Segoe WPC"/>
                  </a:rPr>
                  <a:t> </a:t>
                </a:r>
                <a:r>
                  <a:rPr lang="es-PE" sz="900" dirty="0" err="1">
                    <a:latin typeface="Segoe WPC"/>
                  </a:rPr>
                  <a:t>for</a:t>
                </a:r>
                <a:r>
                  <a:rPr lang="es-PE" sz="900" dirty="0">
                    <a:latin typeface="Segoe WPC"/>
                  </a:rPr>
                  <a:t> </a:t>
                </a:r>
                <a:r>
                  <a:rPr lang="es-PE" sz="900" dirty="0" err="1">
                    <a:latin typeface="Segoe WPC"/>
                  </a:rPr>
                  <a:t>near-the-money</a:t>
                </a:r>
                <a:r>
                  <a:rPr lang="es-PE" sz="900" dirty="0">
                    <a:latin typeface="Segoe WPC"/>
                  </a:rPr>
                  <a:t> </a:t>
                </a:r>
                <a:r>
                  <a:rPr lang="es-PE" sz="900" dirty="0" err="1">
                    <a:latin typeface="Segoe WPC"/>
                  </a:rPr>
                  <a:t>options</a:t>
                </a:r>
                <a:r>
                  <a:rPr lang="es-PE" sz="900" dirty="0">
                    <a:latin typeface="Segoe WPC"/>
                  </a:rPr>
                  <a:t> and </a:t>
                </a:r>
                <a:r>
                  <a:rPr lang="es-PE" sz="900" dirty="0" err="1">
                    <a:latin typeface="Segoe WPC"/>
                  </a:rPr>
                  <a:t>small</a:t>
                </a:r>
                <a:r>
                  <a:rPr lang="es-PE" sz="900" dirty="0">
                    <a:latin typeface="Segoe WPC"/>
                  </a:rPr>
                  <a:t> </a:t>
                </a:r>
                <a:r>
                  <a:rPr lang="es-PE" sz="900" dirty="0" err="1">
                    <a:latin typeface="Segoe WPC"/>
                  </a:rPr>
                  <a:t>for</a:t>
                </a:r>
                <a:r>
                  <a:rPr lang="es-PE" sz="900" dirty="0">
                    <a:latin typeface="Segoe WPC"/>
                  </a:rPr>
                  <a:t> </a:t>
                </a:r>
                <a:r>
                  <a:rPr lang="es-PE" sz="900" dirty="0" err="1">
                    <a:latin typeface="Segoe WPC"/>
                  </a:rPr>
                  <a:t>deep</a:t>
                </a:r>
                <a:r>
                  <a:rPr lang="es-PE" sz="900" dirty="0">
                    <a:latin typeface="Segoe WPC"/>
                  </a:rPr>
                  <a:t> </a:t>
                </a:r>
                <a:r>
                  <a:rPr lang="es-PE" sz="900" dirty="0" err="1">
                    <a:latin typeface="Segoe WPC"/>
                  </a:rPr>
                  <a:t>in-the-money</a:t>
                </a:r>
                <a:r>
                  <a:rPr lang="es-PE" sz="900" dirty="0">
                    <a:latin typeface="Segoe WPC"/>
                  </a:rPr>
                  <a:t> </a:t>
                </a:r>
                <a:r>
                  <a:rPr lang="es-PE" sz="900" dirty="0" err="1">
                    <a:latin typeface="Segoe WPC"/>
                  </a:rPr>
                  <a:t>or</a:t>
                </a:r>
                <a:r>
                  <a:rPr lang="es-PE" sz="900" dirty="0">
                    <a:latin typeface="Segoe WPC"/>
                  </a:rPr>
                  <a:t> </a:t>
                </a:r>
                <a:r>
                  <a:rPr lang="es-PE" sz="900" dirty="0" err="1">
                    <a:latin typeface="Segoe WPC"/>
                  </a:rPr>
                  <a:t>deep</a:t>
                </a:r>
                <a:r>
                  <a:rPr lang="es-PE" sz="900" dirty="0">
                    <a:latin typeface="Segoe WPC"/>
                  </a:rPr>
                  <a:t> </a:t>
                </a:r>
                <a:r>
                  <a:rPr lang="es-PE" sz="900" dirty="0" err="1">
                    <a:latin typeface="Segoe WPC"/>
                  </a:rPr>
                  <a:t>out-of-the-money</a:t>
                </a:r>
                <a:r>
                  <a:rPr lang="es-PE" sz="900" dirty="0">
                    <a:latin typeface="Segoe WPC"/>
                  </a:rPr>
                  <a:t> </a:t>
                </a:r>
                <a:r>
                  <a:rPr lang="es-PE" sz="900" dirty="0" err="1">
                    <a:latin typeface="Segoe WPC"/>
                  </a:rPr>
                  <a:t>options</a:t>
                </a:r>
                <a:r>
                  <a:rPr lang="es-PE" sz="900" dirty="0">
                    <a:latin typeface="Segoe WPC"/>
                  </a:rPr>
                  <a:t>.</a:t>
                </a:r>
              </a:p>
              <a:p>
                <a:pPr>
                  <a:spcBef>
                    <a:spcPts val="300"/>
                  </a:spcBef>
                </a:pPr>
                <a:r>
                  <a:rPr lang="es-PE" sz="900" b="1" dirty="0" err="1">
                    <a:latin typeface="Segoe WPC"/>
                  </a:rPr>
                  <a:t>Exam</a:t>
                </a:r>
                <a:r>
                  <a:rPr lang="es-PE" sz="900" b="1" dirty="0">
                    <a:latin typeface="Segoe WPC"/>
                  </a:rPr>
                  <a:t> </a:t>
                </a:r>
                <a:r>
                  <a:rPr lang="es-PE" sz="900" b="1" dirty="0" err="1">
                    <a:latin typeface="Segoe WPC"/>
                  </a:rPr>
                  <a:t>Trap</a:t>
                </a:r>
                <a:r>
                  <a:rPr lang="es-PE" sz="900" b="1" dirty="0">
                    <a:latin typeface="Segoe WPC"/>
                  </a:rPr>
                  <a:t>:</a:t>
                </a:r>
                <a:r>
                  <a:rPr lang="es-PE" sz="900" dirty="0">
                    <a:latin typeface="Segoe WPC"/>
                  </a:rPr>
                  <a:t> Vega </a:t>
                </a:r>
                <a:r>
                  <a:rPr lang="es-PE" sz="900" dirty="0" err="1">
                    <a:latin typeface="Segoe WPC"/>
                  </a:rPr>
                  <a:t>cannot</a:t>
                </a:r>
                <a:r>
                  <a:rPr lang="es-PE" sz="900" dirty="0">
                    <a:latin typeface="Segoe WPC"/>
                  </a:rPr>
                  <a:t> be </a:t>
                </a:r>
                <a:r>
                  <a:rPr lang="es-PE" sz="900" dirty="0" err="1">
                    <a:latin typeface="Segoe WPC"/>
                  </a:rPr>
                  <a:t>hedged</a:t>
                </a:r>
                <a:r>
                  <a:rPr lang="es-PE" sz="900" dirty="0">
                    <a:latin typeface="Segoe WPC"/>
                  </a:rPr>
                  <a:t> </a:t>
                </a:r>
                <a:r>
                  <a:rPr lang="es-PE" sz="900" dirty="0" err="1">
                    <a:latin typeface="Segoe WPC"/>
                  </a:rPr>
                  <a:t>with</a:t>
                </a:r>
                <a:r>
                  <a:rPr lang="es-PE" sz="900" dirty="0">
                    <a:latin typeface="Segoe WPC"/>
                  </a:rPr>
                  <a:t> </a:t>
                </a:r>
                <a:r>
                  <a:rPr lang="es-PE" sz="900" dirty="0" err="1">
                    <a:latin typeface="Segoe WPC"/>
                  </a:rPr>
                  <a:t>the</a:t>
                </a:r>
                <a:r>
                  <a:rPr lang="es-PE" sz="900" dirty="0">
                    <a:latin typeface="Segoe WPC"/>
                  </a:rPr>
                  <a:t> </a:t>
                </a:r>
                <a:r>
                  <a:rPr lang="es-PE" sz="900" dirty="0" err="1">
                    <a:latin typeface="Segoe WPC"/>
                  </a:rPr>
                  <a:t>underlying</a:t>
                </a:r>
                <a:r>
                  <a:rPr lang="es-PE" sz="900" dirty="0">
                    <a:latin typeface="Segoe WPC"/>
                  </a:rPr>
                  <a:t> </a:t>
                </a:r>
                <a:r>
                  <a:rPr lang="es-PE" sz="900" dirty="0" err="1">
                    <a:latin typeface="Segoe WPC"/>
                  </a:rPr>
                  <a:t>asset</a:t>
                </a:r>
                <a:r>
                  <a:rPr lang="es-PE" sz="900" dirty="0">
                    <a:latin typeface="Segoe WPC"/>
                  </a:rPr>
                  <a:t> </a:t>
                </a:r>
                <a:r>
                  <a:rPr lang="es-PE" sz="900" dirty="0" err="1">
                    <a:latin typeface="Segoe WPC"/>
                  </a:rPr>
                  <a:t>because</a:t>
                </a:r>
                <a:r>
                  <a:rPr lang="es-PE" sz="900" dirty="0">
                    <a:latin typeface="Segoe WPC"/>
                  </a:rPr>
                  <a:t> </a:t>
                </a:r>
                <a:r>
                  <a:rPr lang="es-PE" sz="900" dirty="0" err="1">
                    <a:latin typeface="Segoe WPC"/>
                  </a:rPr>
                  <a:t>the</a:t>
                </a:r>
                <a:r>
                  <a:rPr lang="es-PE" sz="900" dirty="0">
                    <a:latin typeface="Segoe WPC"/>
                  </a:rPr>
                  <a:t> </a:t>
                </a:r>
                <a:r>
                  <a:rPr lang="es-PE" sz="900" dirty="0" err="1">
                    <a:latin typeface="Segoe WPC"/>
                  </a:rPr>
                  <a:t>underlying</a:t>
                </a:r>
                <a:r>
                  <a:rPr lang="es-PE" sz="900" dirty="0">
                    <a:latin typeface="Segoe WPC"/>
                  </a:rPr>
                  <a:t> has </a:t>
                </a:r>
                <a:r>
                  <a:rPr lang="es-PE" sz="900" dirty="0" err="1">
                    <a:latin typeface="Segoe WPC"/>
                  </a:rPr>
                  <a:t>zero</a:t>
                </a:r>
                <a:r>
                  <a:rPr lang="es-PE" sz="900" dirty="0">
                    <a:latin typeface="Segoe WPC"/>
                  </a:rPr>
                  <a:t> vega.</a:t>
                </a:r>
              </a:p>
              <a:p>
                <a:pPr marL="171450" indent="-171450" algn="l">
                  <a:spcBef>
                    <a:spcPts val="300"/>
                  </a:spcBef>
                  <a:buFont typeface="Wingdings" panose="05000000000000000000" pitchFamily="2" charset="2"/>
                  <a:buChar char="q"/>
                </a:pPr>
                <a:endParaRPr lang="es-PE" sz="900" b="1" i="0" dirty="0">
                  <a:solidFill>
                    <a:schemeClr val="tx1"/>
                  </a:solidFill>
                  <a:effectLst/>
                  <a:latin typeface="Segoe WPC"/>
                </a:endParaRPr>
              </a:p>
              <a:p>
                <a:pPr marL="171450" indent="-171450" algn="l">
                  <a:spcBef>
                    <a:spcPts val="300"/>
                  </a:spcBef>
                  <a:buFont typeface="Wingdings" panose="05000000000000000000" pitchFamily="2" charset="2"/>
                  <a:buChar char="q"/>
                </a:pPr>
                <a:r>
                  <a:rPr lang="es-PE" sz="900" b="1" i="0" dirty="0">
                    <a:solidFill>
                      <a:schemeClr val="tx1"/>
                    </a:solidFill>
                    <a:effectLst/>
                    <a:latin typeface="Segoe WPC"/>
                  </a:rPr>
                  <a:t>Gamma</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Sensitivity</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delta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in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Gamma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fast</a:t>
                </a:r>
                <a:r>
                  <a:rPr lang="es-PE" sz="900" b="0" i="0" dirty="0">
                    <a:solidFill>
                      <a:schemeClr val="tx1"/>
                    </a:solidFill>
                    <a:effectLst/>
                    <a:latin typeface="Segoe WPC"/>
                  </a:rPr>
                  <a:t> delta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stock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moves</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captures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curvature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curve; </a:t>
                </a:r>
                <a:r>
                  <a:rPr lang="es-PE" sz="900" b="0" i="0" dirty="0" err="1">
                    <a:solidFill>
                      <a:schemeClr val="tx1"/>
                    </a:solidFill>
                    <a:effectLst/>
                    <a:latin typeface="Segoe WPC"/>
                  </a:rPr>
                  <a:t>the</a:t>
                </a:r>
                <a:r>
                  <a:rPr lang="es-PE" sz="900" b="0" i="0" dirty="0">
                    <a:solidFill>
                      <a:schemeClr val="tx1"/>
                    </a:solidFill>
                    <a:effectLst/>
                    <a:latin typeface="Segoe WPC"/>
                  </a:rPr>
                  <a:t> more </a:t>
                </a:r>
                <a:r>
                  <a:rPr lang="es-PE" sz="900" b="0" i="0" dirty="0" err="1">
                    <a:solidFill>
                      <a:schemeClr val="tx1"/>
                    </a:solidFill>
                    <a:effectLst/>
                    <a:latin typeface="Segoe WPC"/>
                  </a:rPr>
                  <a:t>curved</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relationship</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more </a:t>
                </a:r>
                <a:r>
                  <a:rPr lang="es-PE" sz="900" b="0" i="0" dirty="0" err="1">
                    <a:solidFill>
                      <a:schemeClr val="tx1"/>
                    </a:solidFill>
                    <a:effectLst/>
                    <a:latin typeface="Segoe WPC"/>
                  </a:rPr>
                  <a:t>hedging</a:t>
                </a:r>
                <a:r>
                  <a:rPr lang="es-PE" sz="900" b="0" i="0" dirty="0">
                    <a:solidFill>
                      <a:schemeClr val="tx1"/>
                    </a:solidFill>
                    <a:effectLst/>
                    <a:latin typeface="Segoe WPC"/>
                  </a:rPr>
                  <a:t> error </a:t>
                </a:r>
                <a:r>
                  <a:rPr lang="es-PE" sz="900" b="0" i="0" dirty="0" err="1">
                    <a:solidFill>
                      <a:schemeClr val="tx1"/>
                    </a:solidFill>
                    <a:effectLst/>
                    <a:latin typeface="Segoe WPC"/>
                  </a:rPr>
                  <a:t>from</a:t>
                </a:r>
                <a:r>
                  <a:rPr lang="es-PE" sz="900" b="0" i="0" dirty="0">
                    <a:solidFill>
                      <a:schemeClr val="tx1"/>
                    </a:solidFill>
                    <a:effectLst/>
                    <a:latin typeface="Segoe WPC"/>
                  </a:rPr>
                  <a:t> </a:t>
                </a:r>
                <a:r>
                  <a:rPr lang="es-PE" sz="900" b="0" i="0" dirty="0" err="1">
                    <a:solidFill>
                      <a:schemeClr val="tx1"/>
                    </a:solidFill>
                    <a:effectLst/>
                    <a:latin typeface="Segoe WPC"/>
                  </a:rPr>
                  <a:t>assuming</a:t>
                </a:r>
                <a:r>
                  <a:rPr lang="es-PE" sz="900" b="0" i="0" dirty="0">
                    <a:solidFill>
                      <a:schemeClr val="tx1"/>
                    </a:solidFill>
                    <a:effectLst/>
                    <a:latin typeface="Segoe WPC"/>
                  </a:rPr>
                  <a:t> a </a:t>
                </a:r>
                <a:r>
                  <a:rPr lang="es-PE" sz="900" b="0" i="0" dirty="0" err="1">
                    <a:solidFill>
                      <a:schemeClr val="tx1"/>
                    </a:solidFill>
                    <a:effectLst/>
                    <a:latin typeface="Segoe WPC"/>
                  </a:rPr>
                  <a:t>straight</a:t>
                </a:r>
                <a:r>
                  <a:rPr lang="es-PE" sz="900" b="0" i="0" dirty="0">
                    <a:solidFill>
                      <a:schemeClr val="tx1"/>
                    </a:solidFill>
                    <a:effectLst/>
                    <a:latin typeface="Segoe WPC"/>
                  </a:rPr>
                  <a:t> line.</a:t>
                </a:r>
              </a:p>
              <a:p>
                <a:pPr algn="l">
                  <a:spcBef>
                    <a:spcPts val="300"/>
                  </a:spcBef>
                </a:pP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𝛤</m:t>
                    </m:r>
                    <m:r>
                      <a:rPr lang="es-PE" sz="900" i="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m:t>
                        </m:r>
                      </m:e>
                      <m:sup>
                        <m:r>
                          <a:rPr lang="ar-AE" sz="900" i="0">
                            <a:solidFill>
                              <a:schemeClr val="tx1"/>
                            </a:solidFill>
                            <a:latin typeface="Cambria Math" panose="02040503050406030204" pitchFamily="18" charset="0"/>
                          </a:rPr>
                          <m:t>2</m:t>
                        </m:r>
                      </m:sup>
                    </m:sSup>
                    <m:r>
                      <a:rPr lang="ar-AE" sz="900" i="1">
                        <a:solidFill>
                          <a:schemeClr val="tx1"/>
                        </a:solidFill>
                        <a:latin typeface="Cambria Math" panose="02040503050406030204" pitchFamily="18" charset="0"/>
                      </a:rPr>
                      <m:t>𝑓</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𝑆</m:t>
                        </m:r>
                      </m:e>
                      <m:sup>
                        <m:r>
                          <a:rPr lang="ar-AE" sz="900" i="0">
                            <a:solidFill>
                              <a:schemeClr val="tx1"/>
                            </a:solidFill>
                            <a:latin typeface="Cambria Math" panose="02040503050406030204" pitchFamily="18" charset="0"/>
                          </a:rPr>
                          <m:t>2</m:t>
                        </m:r>
                      </m:sup>
                    </m:s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𝜕𝛥</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𝑆</m:t>
                    </m:r>
                  </m:oMath>
                </a14:m>
                <a:r>
                  <a:rPr lang="ar-AE" sz="900" b="0" i="0" dirty="0">
                    <a:solidFill>
                      <a:schemeClr val="tx1"/>
                    </a:solidFill>
                    <a:effectLst/>
                    <a:latin typeface="Segoe WPC"/>
                  </a:rPr>
                  <a:t>,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gamma </a:t>
                </a:r>
                <a14:m>
                  <m:oMath xmlns:m="http://schemas.openxmlformats.org/officeDocument/2006/math">
                    <m:r>
                      <a:rPr lang="es-PE" sz="900">
                        <a:solidFill>
                          <a:schemeClr val="tx1"/>
                        </a:solidFill>
                        <a:latin typeface="Cambria Math" panose="02040503050406030204" pitchFamily="18" charset="0"/>
                      </a:rPr>
                      <m:t>=</m:t>
                    </m:r>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𝑁</m:t>
                        </m:r>
                      </m:e>
                      <m:sup>
                        <m:r>
                          <a:rPr lang="ar-AE" sz="900" i="0">
                            <a:solidFill>
                              <a:schemeClr val="tx1"/>
                            </a:solidFill>
                            <a:latin typeface="Cambria Math" panose="02040503050406030204" pitchFamily="18" charset="0"/>
                          </a:rPr>
                          <m:t>′</m:t>
                        </m:r>
                      </m:sup>
                    </m:sSup>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0">
                                <a:solidFill>
                                  <a:schemeClr val="tx1"/>
                                </a:solidFill>
                                <a:latin typeface="Cambria Math" panose="02040503050406030204" pitchFamily="18" charset="0"/>
                              </a:rPr>
                              <m:t>1</m:t>
                            </m:r>
                          </m:sub>
                        </m:sSub>
                      </m:e>
                    </m:d>
                    <m:r>
                      <a:rPr lang="ar-AE" sz="900" i="0">
                        <a:solidFill>
                          <a:schemeClr val="tx1"/>
                        </a:solidFill>
                        <a:latin typeface="Cambria Math" panose="02040503050406030204" pitchFamily="18" charset="0"/>
                      </a:rPr>
                      <m:t>/</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0</m:t>
                            </m:r>
                          </m:sub>
                        </m:sSub>
                        <m:r>
                          <a:rPr lang="ar-AE" sz="900" i="1">
                            <a:solidFill>
                              <a:schemeClr val="tx1"/>
                            </a:solidFill>
                            <a:latin typeface="Cambria Math" panose="02040503050406030204" pitchFamily="18" charset="0"/>
                          </a:rPr>
                          <m:t>𝜎</m:t>
                        </m:r>
                        <m:rad>
                          <m:radPr>
                            <m:degHide m:val="on"/>
                            <m:ctrlPr>
                              <a:rPr lang="ar-AE" sz="900" i="1">
                                <a:solidFill>
                                  <a:schemeClr val="tx1"/>
                                </a:solidFill>
                                <a:latin typeface="Cambria Math" panose="02040503050406030204" pitchFamily="18" charset="0"/>
                              </a:rPr>
                            </m:ctrlPr>
                          </m:radPr>
                          <m:deg/>
                          <m:e>
                            <m:r>
                              <a:rPr lang="ar-AE" sz="900" i="1">
                                <a:solidFill>
                                  <a:schemeClr val="tx1"/>
                                </a:solidFill>
                                <a:latin typeface="Cambria Math" panose="02040503050406030204" pitchFamily="18" charset="0"/>
                              </a:rPr>
                              <m:t>𝑇</m:t>
                            </m:r>
                          </m:e>
                        </m:rad>
                      </m:e>
                    </m:d>
                  </m:oMath>
                </a14:m>
                <a:endParaRPr lang="ar-A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Gamma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largest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near-the-money</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and </a:t>
                </a:r>
                <a:r>
                  <a:rPr lang="es-PE" sz="900" b="0" i="0" dirty="0" err="1">
                    <a:solidFill>
                      <a:schemeClr val="tx1"/>
                    </a:solidFill>
                    <a:effectLst/>
                    <a:latin typeface="Segoe WPC"/>
                  </a:rPr>
                  <a:t>becomes</a:t>
                </a:r>
                <a:r>
                  <a:rPr lang="es-PE" sz="900" b="0" i="0" dirty="0">
                    <a:solidFill>
                      <a:schemeClr val="tx1"/>
                    </a:solidFill>
                    <a:effectLst/>
                    <a:latin typeface="Segoe WPC"/>
                  </a:rPr>
                  <a:t> </a:t>
                </a:r>
                <a:r>
                  <a:rPr lang="es-PE" sz="900" b="0" i="0" dirty="0" err="1">
                    <a:solidFill>
                      <a:schemeClr val="tx1"/>
                    </a:solidFill>
                    <a:effectLst/>
                    <a:latin typeface="Segoe WPC"/>
                  </a:rPr>
                  <a:t>small</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deep</a:t>
                </a:r>
                <a:r>
                  <a:rPr lang="es-PE" sz="900" b="0" i="0" dirty="0">
                    <a:solidFill>
                      <a:schemeClr val="tx1"/>
                    </a:solidFill>
                    <a:effectLst/>
                    <a:latin typeface="Segoe WPC"/>
                  </a:rPr>
                  <a:t> </a:t>
                </a:r>
                <a:r>
                  <a:rPr lang="es-PE" sz="900" b="0" i="0" dirty="0" err="1">
                    <a:solidFill>
                      <a:schemeClr val="tx1"/>
                    </a:solidFill>
                    <a:effectLst/>
                    <a:latin typeface="Segoe WPC"/>
                  </a:rPr>
                  <a:t>in-the-money</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a:t>
                </a:r>
                <a:r>
                  <a:rPr lang="es-PE" sz="900" b="0" i="0" dirty="0" err="1">
                    <a:solidFill>
                      <a:schemeClr val="tx1"/>
                    </a:solidFill>
                    <a:effectLst/>
                    <a:latin typeface="Segoe WPC"/>
                  </a:rPr>
                  <a:t>deep</a:t>
                </a:r>
                <a:r>
                  <a:rPr lang="es-PE" sz="900" b="0" i="0" dirty="0">
                    <a:solidFill>
                      <a:schemeClr val="tx1"/>
                    </a:solidFill>
                    <a:effectLst/>
                    <a:latin typeface="Segoe WPC"/>
                  </a:rPr>
                  <a:t> </a:t>
                </a:r>
                <a:r>
                  <a:rPr lang="es-PE" sz="900" b="0" i="0" dirty="0" err="1">
                    <a:solidFill>
                      <a:schemeClr val="tx1"/>
                    </a:solidFill>
                    <a:effectLst/>
                    <a:latin typeface="Segoe WPC"/>
                  </a:rPr>
                  <a:t>out-of-the-money</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A delta-neutral portfolio can </a:t>
                </a:r>
                <a:r>
                  <a:rPr lang="es-PE" sz="900" b="0" i="0" dirty="0" err="1">
                    <a:solidFill>
                      <a:schemeClr val="tx1"/>
                    </a:solidFill>
                    <a:effectLst/>
                    <a:latin typeface="Segoe WPC"/>
                  </a:rPr>
                  <a:t>still</a:t>
                </a:r>
                <a:r>
                  <a:rPr lang="es-PE" sz="900" b="0" i="0" dirty="0">
                    <a:solidFill>
                      <a:schemeClr val="tx1"/>
                    </a:solidFill>
                    <a:effectLst/>
                    <a:latin typeface="Segoe WPC"/>
                  </a:rPr>
                  <a:t> be </a:t>
                </a:r>
                <a:r>
                  <a:rPr lang="es-PE" sz="900" b="0" i="0" dirty="0" err="1">
                    <a:solidFill>
                      <a:schemeClr val="tx1"/>
                    </a:solidFill>
                    <a:effectLst/>
                    <a:latin typeface="Segoe WPC"/>
                  </a:rPr>
                  <a:t>risky</a:t>
                </a:r>
                <a:r>
                  <a:rPr lang="es-PE" sz="900" b="0" i="0" dirty="0">
                    <a:solidFill>
                      <a:schemeClr val="tx1"/>
                    </a:solidFill>
                    <a:effectLst/>
                    <a:latin typeface="Segoe WPC"/>
                  </a:rPr>
                  <a:t> </a:t>
                </a:r>
                <a:r>
                  <a:rPr lang="es-PE" sz="900" b="0" i="0" dirty="0" err="1">
                    <a:solidFill>
                      <a:schemeClr val="tx1"/>
                    </a:solidFill>
                    <a:effectLst/>
                    <a:latin typeface="Segoe WPC"/>
                  </a:rPr>
                  <a:t>if</a:t>
                </a:r>
                <a:r>
                  <a:rPr lang="es-PE" sz="900" b="0" i="0" dirty="0">
                    <a:solidFill>
                      <a:schemeClr val="tx1"/>
                    </a:solidFill>
                    <a:effectLst/>
                    <a:latin typeface="Segoe WPC"/>
                  </a:rPr>
                  <a:t> gamma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large</a:t>
                </a:r>
                <a:r>
                  <a:rPr lang="es-PE" sz="900" b="0" i="0" dirty="0">
                    <a:solidFill>
                      <a:schemeClr val="tx1"/>
                    </a:solidFill>
                    <a:effectLst/>
                    <a:latin typeface="Segoe WPC"/>
                  </a:rPr>
                  <a:t> stock </a:t>
                </a:r>
                <a:r>
                  <a:rPr lang="es-PE" sz="900" b="0" i="0" dirty="0" err="1">
                    <a:solidFill>
                      <a:schemeClr val="tx1"/>
                    </a:solidFill>
                    <a:effectLst/>
                    <a:latin typeface="Segoe WPC"/>
                  </a:rPr>
                  <a:t>moves</a:t>
                </a:r>
                <a:r>
                  <a:rPr lang="es-PE" sz="900" b="0" i="0" dirty="0">
                    <a:solidFill>
                      <a:schemeClr val="tx1"/>
                    </a:solidFill>
                    <a:effectLst/>
                    <a:latin typeface="Segoe WPC"/>
                  </a:rPr>
                  <a:t> </a:t>
                </a:r>
                <a:r>
                  <a:rPr lang="es-PE" sz="900" b="0" i="0" dirty="0" err="1">
                    <a:solidFill>
                      <a:schemeClr val="tx1"/>
                    </a:solidFill>
                    <a:effectLst/>
                    <a:latin typeface="Segoe WPC"/>
                  </a:rPr>
                  <a:t>between</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adjustments</a:t>
                </a:r>
                <a:r>
                  <a:rPr lang="es-PE" sz="900" b="0" i="0" dirty="0">
                    <a:solidFill>
                      <a:schemeClr val="tx1"/>
                    </a:solidFill>
                    <a:effectLst/>
                    <a:latin typeface="Segoe WPC"/>
                  </a:rPr>
                  <a:t> </a:t>
                </a:r>
                <a:r>
                  <a:rPr lang="es-PE" sz="900" b="0" i="0" dirty="0" err="1">
                    <a:solidFill>
                      <a:schemeClr val="tx1"/>
                    </a:solidFill>
                    <a:effectLst/>
                    <a:latin typeface="Segoe WPC"/>
                  </a:rPr>
                  <a:t>create</a:t>
                </a:r>
                <a:r>
                  <a:rPr lang="es-PE" sz="900" b="0" i="0" dirty="0">
                    <a:solidFill>
                      <a:schemeClr val="tx1"/>
                    </a:solidFill>
                    <a:effectLst/>
                    <a:latin typeface="Segoe WPC"/>
                  </a:rPr>
                  <a:t> </a:t>
                </a:r>
                <a:r>
                  <a:rPr lang="es-PE" sz="900" b="0" i="0" dirty="0" err="1">
                    <a:solidFill>
                      <a:schemeClr val="tx1"/>
                    </a:solidFill>
                    <a:effectLst/>
                    <a:latin typeface="Segoe WPC"/>
                  </a:rPr>
                  <a:t>losses</a:t>
                </a:r>
                <a:r>
                  <a:rPr lang="es-PE" sz="900" b="0" i="0" dirty="0">
                    <a:solidFill>
                      <a:schemeClr val="tx1"/>
                    </a:solidFill>
                    <a:effectLst/>
                    <a:latin typeface="Segoe WPC"/>
                  </a:rPr>
                  <a:t>.</a:t>
                </a:r>
              </a:p>
              <a:p>
                <a:pPr marL="171450" indent="-171450" algn="l">
                  <a:spcBef>
                    <a:spcPts val="300"/>
                  </a:spcBef>
                  <a:buFont typeface="Wingdings" panose="05000000000000000000" pitchFamily="2" charset="2"/>
                  <a:buChar char="q"/>
                </a:pPr>
                <a:r>
                  <a:rPr lang="es-PE" sz="900" b="1" i="0" dirty="0">
                    <a:solidFill>
                      <a:schemeClr val="tx1"/>
                    </a:solidFill>
                    <a:effectLst/>
                    <a:latin typeface="Segoe WPC"/>
                  </a:rPr>
                  <a:t>Theta</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Sensitivity</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passage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time.</a:t>
                </a:r>
              </a:p>
              <a:p>
                <a:pPr algn="l">
                  <a:spcBef>
                    <a:spcPts val="300"/>
                  </a:spcBef>
                </a:pP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Theta </a:t>
                </a:r>
                <a:r>
                  <a:rPr lang="es-PE" sz="900" b="0" i="0" dirty="0" err="1">
                    <a:solidFill>
                      <a:schemeClr val="tx1"/>
                    </a:solidFill>
                    <a:effectLst/>
                    <a:latin typeface="Segoe WPC"/>
                  </a:rPr>
                  <a:t>measures</a:t>
                </a:r>
                <a:r>
                  <a:rPr lang="es-PE" sz="900" b="0" i="0" dirty="0">
                    <a:solidFill>
                      <a:schemeClr val="tx1"/>
                    </a:solidFill>
                    <a:effectLst/>
                    <a:latin typeface="Segoe WPC"/>
                  </a:rPr>
                  <a:t> time </a:t>
                </a:r>
                <a:r>
                  <a:rPr lang="es-PE" sz="900" b="0" i="0" dirty="0" err="1">
                    <a:solidFill>
                      <a:schemeClr val="tx1"/>
                    </a:solidFill>
                    <a:effectLst/>
                    <a:latin typeface="Segoe WPC"/>
                  </a:rPr>
                  <a:t>decay</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As </a:t>
                </a:r>
                <a:r>
                  <a:rPr lang="es-PE" sz="900" b="0" i="0" dirty="0" err="1">
                    <a:solidFill>
                      <a:schemeClr val="tx1"/>
                    </a:solidFill>
                    <a:effectLst/>
                    <a:latin typeface="Segoe WPC"/>
                  </a:rPr>
                  <a:t>expiration</a:t>
                </a:r>
                <a:r>
                  <a:rPr lang="es-PE" sz="900" b="0" i="0" dirty="0">
                    <a:solidFill>
                      <a:schemeClr val="tx1"/>
                    </a:solidFill>
                    <a:effectLst/>
                    <a:latin typeface="Segoe WPC"/>
                  </a:rPr>
                  <a:t> </a:t>
                </a:r>
                <a:r>
                  <a:rPr lang="es-PE" sz="900" b="0" i="0" dirty="0" err="1">
                    <a:solidFill>
                      <a:schemeClr val="tx1"/>
                    </a:solidFill>
                    <a:effectLst/>
                    <a:latin typeface="Segoe WPC"/>
                  </a:rPr>
                  <a:t>approaches</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has </a:t>
                </a:r>
                <a:r>
                  <a:rPr lang="es-PE" sz="900" b="0" i="0" dirty="0" err="1">
                    <a:solidFill>
                      <a:schemeClr val="tx1"/>
                    </a:solidFill>
                    <a:effectLst/>
                    <a:latin typeface="Segoe WPC"/>
                  </a:rPr>
                  <a:t>less</a:t>
                </a:r>
                <a:r>
                  <a:rPr lang="es-PE" sz="900" b="0" i="0" dirty="0">
                    <a:solidFill>
                      <a:schemeClr val="tx1"/>
                    </a:solidFill>
                    <a:effectLst/>
                    <a:latin typeface="Segoe WPC"/>
                  </a:rPr>
                  <a:t> time </a:t>
                </a:r>
                <a:r>
                  <a:rPr lang="es-PE" sz="900" b="0" i="0" dirty="0" err="1">
                    <a:solidFill>
                      <a:schemeClr val="tx1"/>
                    </a:solidFill>
                    <a:effectLst/>
                    <a:latin typeface="Segoe WPC"/>
                  </a:rPr>
                  <a:t>for</a:t>
                </a:r>
                <a:r>
                  <a:rPr lang="es-PE" sz="900" b="0" i="0" dirty="0">
                    <a:solidFill>
                      <a:schemeClr val="tx1"/>
                    </a:solidFill>
                    <a:effectLst/>
                    <a:latin typeface="Segoe WPC"/>
                  </a:rPr>
                  <a:t> favorable </a:t>
                </a:r>
                <a:r>
                  <a:rPr lang="es-PE" sz="900" b="0" i="0" dirty="0" err="1">
                    <a:solidFill>
                      <a:schemeClr val="tx1"/>
                    </a:solidFill>
                    <a:effectLst/>
                    <a:latin typeface="Segoe WPC"/>
                  </a:rPr>
                  <a:t>moves</a:t>
                </a:r>
                <a:r>
                  <a:rPr lang="es-PE" sz="900" b="0" i="0" dirty="0">
                    <a:solidFill>
                      <a:schemeClr val="tx1"/>
                    </a:solidFill>
                    <a:effectLst/>
                    <a:latin typeface="Segoe WPC"/>
                  </a:rPr>
                  <a:t>, so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lose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over</a:t>
                </a:r>
                <a:r>
                  <a:rPr lang="es-PE" sz="900" b="0" i="0" dirty="0">
                    <a:solidFill>
                      <a:schemeClr val="tx1"/>
                    </a:solidFill>
                    <a:effectLst/>
                    <a:latin typeface="Segoe WPC"/>
                  </a:rPr>
                  <a:t> time.</a:t>
                </a:r>
              </a:p>
              <a:p>
                <a:pPr algn="l">
                  <a:spcBef>
                    <a:spcPts val="300"/>
                  </a:spcBef>
                </a:pP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𝛩</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𝑓</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𝑡</m:t>
                    </m:r>
                  </m:oMath>
                </a14:m>
                <a:r>
                  <a:rPr lang="es-PE" sz="900" b="0" i="0" dirty="0">
                    <a:solidFill>
                      <a:schemeClr val="tx1"/>
                    </a:solidFill>
                    <a:effectLst/>
                    <a:latin typeface="Segoe WPC"/>
                  </a:rPr>
                  <a:t>, and </a:t>
                </a:r>
                <a:r>
                  <a:rPr lang="es-PE" sz="900" b="0" i="0" dirty="0" err="1">
                    <a:solidFill>
                      <a:schemeClr val="tx1"/>
                    </a:solidFill>
                    <a:effectLst/>
                    <a:latin typeface="Segoe WPC"/>
                  </a:rPr>
                  <a:t>for</a:t>
                </a:r>
                <a:r>
                  <a:rPr lang="es-PE" sz="900" b="0" i="0" dirty="0">
                    <a:solidFill>
                      <a:schemeClr val="tx1"/>
                    </a:solidFill>
                    <a:effectLst/>
                    <a:latin typeface="Segoe WPC"/>
                  </a:rPr>
                  <a:t> a delta-neutral portfolio </a:t>
                </a:r>
                <a14:m>
                  <m:oMath xmlns:m="http://schemas.openxmlformats.org/officeDocument/2006/math">
                    <m:r>
                      <a:rPr lang="es-PE" sz="900" i="1">
                        <a:solidFill>
                          <a:schemeClr val="tx1"/>
                        </a:solidFill>
                        <a:latin typeface="Cambria Math" panose="02040503050406030204" pitchFamily="18" charset="0"/>
                      </a:rPr>
                      <m:t>𝛩</m:t>
                    </m:r>
                    <m:r>
                      <a:rPr lang="es-PE" sz="900" i="0">
                        <a:solidFill>
                          <a:schemeClr val="tx1"/>
                        </a:solidFill>
                        <a:latin typeface="Cambria Math" panose="02040503050406030204" pitchFamily="18" charset="0"/>
                      </a:rPr>
                      <m:t>+</m:t>
                    </m:r>
                    <m:r>
                      <a:rPr lang="es-PE" sz="900" i="1">
                        <a:solidFill>
                          <a:schemeClr val="tx1"/>
                        </a:solidFill>
                        <a:latin typeface="Cambria Math" panose="02040503050406030204" pitchFamily="18" charset="0"/>
                      </a:rPr>
                      <m:t>𝑟</m:t>
                    </m:r>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0</m:t>
                        </m:r>
                      </m:sub>
                    </m:sSub>
                    <m:r>
                      <a:rPr lang="ar-AE" sz="900" i="1">
                        <a:solidFill>
                          <a:schemeClr val="tx1"/>
                        </a:solidFill>
                        <a:latin typeface="Cambria Math" panose="02040503050406030204" pitchFamily="18" charset="0"/>
                      </a:rPr>
                      <m:t>𝛥</m:t>
                    </m:r>
                    <m:r>
                      <a:rPr lang="ar-AE" sz="900" i="0">
                        <a:solidFill>
                          <a:schemeClr val="tx1"/>
                        </a:solidFill>
                        <a:latin typeface="Cambria Math" panose="02040503050406030204" pitchFamily="18" charset="0"/>
                      </a:rPr>
                      <m:t>+</m:t>
                    </m:r>
                    <m:f>
                      <m:fPr>
                        <m:ctrlPr>
                          <a:rPr lang="ar-AE" sz="900" i="1">
                            <a:solidFill>
                              <a:schemeClr val="tx1"/>
                            </a:solidFill>
                            <a:latin typeface="Cambria Math" panose="02040503050406030204" pitchFamily="18" charset="0"/>
                          </a:rPr>
                        </m:ctrlPr>
                      </m:fPr>
                      <m:num>
                        <m:r>
                          <a:rPr lang="ar-AE" sz="900" i="0">
                            <a:solidFill>
                              <a:schemeClr val="tx1"/>
                            </a:solidFill>
                            <a:latin typeface="Cambria Math" panose="02040503050406030204" pitchFamily="18" charset="0"/>
                          </a:rPr>
                          <m:t>1</m:t>
                        </m:r>
                      </m:num>
                      <m:den>
                        <m:r>
                          <a:rPr lang="ar-AE" sz="900" i="0">
                            <a:solidFill>
                              <a:schemeClr val="tx1"/>
                            </a:solidFill>
                            <a:latin typeface="Cambria Math" panose="02040503050406030204" pitchFamily="18" charset="0"/>
                          </a:rPr>
                          <m:t>2</m:t>
                        </m:r>
                      </m:den>
                    </m:f>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𝜎</m:t>
                        </m:r>
                      </m:e>
                      <m:sup>
                        <m:r>
                          <a:rPr lang="ar-AE" sz="900" i="0">
                            <a:solidFill>
                              <a:schemeClr val="tx1"/>
                            </a:solidFill>
                            <a:latin typeface="Cambria Math" panose="02040503050406030204" pitchFamily="18" charset="0"/>
                          </a:rPr>
                          <m:t>2</m:t>
                        </m:r>
                      </m:sup>
                    </m:sSup>
                    <m:sSubSup>
                      <m:sSubSupPr>
                        <m:ctrlPr>
                          <a:rPr lang="ar-AE" sz="900" i="1">
                            <a:solidFill>
                              <a:schemeClr val="tx1"/>
                            </a:solidFill>
                            <a:latin typeface="Cambria Math" panose="02040503050406030204" pitchFamily="18" charset="0"/>
                          </a:rPr>
                        </m:ctrlPr>
                      </m:sSubSupPr>
                      <m:e>
                        <m:r>
                          <a:rPr lang="ar-AE" sz="900" i="1">
                            <a:solidFill>
                              <a:schemeClr val="tx1"/>
                            </a:solidFill>
                            <a:latin typeface="Cambria Math" panose="02040503050406030204" pitchFamily="18" charset="0"/>
                          </a:rPr>
                          <m:t>𝑆</m:t>
                        </m:r>
                      </m:e>
                      <m:sub>
                        <m:r>
                          <a:rPr lang="ar-AE" sz="900" i="0">
                            <a:solidFill>
                              <a:schemeClr val="tx1"/>
                            </a:solidFill>
                            <a:latin typeface="Cambria Math" panose="02040503050406030204" pitchFamily="18" charset="0"/>
                          </a:rPr>
                          <m:t>0</m:t>
                        </m:r>
                      </m:sub>
                      <m:sup>
                        <m:r>
                          <a:rPr lang="ar-AE" sz="900" i="0">
                            <a:solidFill>
                              <a:schemeClr val="tx1"/>
                            </a:solidFill>
                            <a:latin typeface="Cambria Math" panose="02040503050406030204" pitchFamily="18" charset="0"/>
                          </a:rPr>
                          <m:t>2</m:t>
                        </m:r>
                      </m:sup>
                    </m:sSubSup>
                    <m:r>
                      <a:rPr lang="ar-AE" sz="900" i="1">
                        <a:solidFill>
                          <a:schemeClr val="tx1"/>
                        </a:solidFill>
                        <a:latin typeface="Cambria Math" panose="02040503050406030204" pitchFamily="18" charset="0"/>
                      </a:rPr>
                      <m:t>𝛤</m:t>
                    </m:r>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𝑟𝑓</m:t>
                    </m:r>
                  </m:oMath>
                </a14:m>
                <a:endParaRPr lang="ar-A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Theta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negative </a:t>
                </a:r>
                <a:r>
                  <a:rPr lang="es-PE" sz="900" b="0" i="0" dirty="0" err="1">
                    <a:solidFill>
                      <a:schemeClr val="tx1"/>
                    </a:solidFill>
                    <a:effectLst/>
                    <a:latin typeface="Segoe WPC"/>
                  </a:rPr>
                  <a:t>for</a:t>
                </a:r>
                <a:r>
                  <a:rPr lang="es-PE" sz="900" b="0" i="0" dirty="0">
                    <a:solidFill>
                      <a:schemeClr val="tx1"/>
                    </a:solidFill>
                    <a:effectLst/>
                    <a:latin typeface="Segoe WPC"/>
                  </a:rPr>
                  <a:t> a </a:t>
                </a:r>
                <a:r>
                  <a:rPr lang="es-PE" sz="900" b="0" i="0" dirty="0" err="1">
                    <a:solidFill>
                      <a:schemeClr val="tx1"/>
                    </a:solidFill>
                    <a:effectLst/>
                    <a:latin typeface="Segoe WPC"/>
                  </a:rPr>
                  <a:t>long</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position.</a:t>
                </a:r>
              </a:p>
              <a:p>
                <a:pPr algn="l">
                  <a:spcBef>
                    <a:spcPts val="300"/>
                  </a:spcBef>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Theta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closely</a:t>
                </a:r>
                <a:r>
                  <a:rPr lang="es-PE" sz="900" b="0" i="0" dirty="0">
                    <a:solidFill>
                      <a:schemeClr val="tx1"/>
                    </a:solidFill>
                    <a:effectLst/>
                    <a:latin typeface="Segoe WPC"/>
                  </a:rPr>
                  <a:t> </a:t>
                </a:r>
                <a:r>
                  <a:rPr lang="es-PE" sz="900" b="0" i="0" dirty="0" err="1">
                    <a:solidFill>
                      <a:schemeClr val="tx1"/>
                    </a:solidFill>
                    <a:effectLst/>
                    <a:latin typeface="Segoe WPC"/>
                  </a:rPr>
                  <a:t>related</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gamma; </a:t>
                </a:r>
                <a:r>
                  <a:rPr lang="es-PE" sz="900" b="0" i="0" dirty="0" err="1">
                    <a:solidFill>
                      <a:schemeClr val="tx1"/>
                    </a:solidFill>
                    <a:effectLst/>
                    <a:latin typeface="Segoe WPC"/>
                  </a:rPr>
                  <a:t>high</a:t>
                </a:r>
                <a:r>
                  <a:rPr lang="es-PE" sz="900" b="0" i="0" dirty="0">
                    <a:solidFill>
                      <a:schemeClr val="tx1"/>
                    </a:solidFill>
                    <a:effectLst/>
                    <a:latin typeface="Segoe WPC"/>
                  </a:rPr>
                  <a:t> positive gamma </a:t>
                </a:r>
                <a:r>
                  <a:rPr lang="es-PE" sz="900" b="0" i="0" dirty="0" err="1">
                    <a:solidFill>
                      <a:schemeClr val="tx1"/>
                    </a:solidFill>
                    <a:effectLst/>
                    <a:latin typeface="Segoe WPC"/>
                  </a:rPr>
                  <a:t>often</a:t>
                </a:r>
                <a:r>
                  <a:rPr lang="es-PE" sz="900" b="0" i="0" dirty="0">
                    <a:solidFill>
                      <a:schemeClr val="tx1"/>
                    </a:solidFill>
                    <a:effectLst/>
                    <a:latin typeface="Segoe WPC"/>
                  </a:rPr>
                  <a:t> comes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very</a:t>
                </a:r>
                <a:r>
                  <a:rPr lang="es-PE" sz="900" b="0" i="0" dirty="0">
                    <a:solidFill>
                      <a:schemeClr val="tx1"/>
                    </a:solidFill>
                    <a:effectLst/>
                    <a:latin typeface="Segoe WPC"/>
                  </a:rPr>
                  <a:t> negative theta.</a:t>
                </a:r>
              </a:p>
              <a:p>
                <a:pPr marL="171450" indent="-171450" algn="l">
                  <a:spcBef>
                    <a:spcPts val="300"/>
                  </a:spcBef>
                  <a:buFont typeface="Wingdings" panose="05000000000000000000" pitchFamily="2" charset="2"/>
                  <a:buChar char="q"/>
                </a:pPr>
                <a:r>
                  <a:rPr lang="es-PE" sz="900" b="1" i="0" dirty="0">
                    <a:solidFill>
                      <a:schemeClr val="tx1"/>
                    </a:solidFill>
                    <a:effectLst/>
                    <a:latin typeface="Segoe WPC"/>
                  </a:rPr>
                  <a:t>Rho</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Sensitivity</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price</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interest</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Rho </a:t>
                </a:r>
                <a:r>
                  <a:rPr lang="es-PE" sz="900" b="0" i="0" dirty="0" err="1">
                    <a:solidFill>
                      <a:schemeClr val="tx1"/>
                    </a:solidFill>
                    <a:effectLst/>
                    <a:latin typeface="Segoe WPC"/>
                  </a:rPr>
                  <a:t>measures</a:t>
                </a:r>
                <a:r>
                  <a:rPr lang="es-PE" sz="900" b="0" i="0" dirty="0">
                    <a:solidFill>
                      <a:schemeClr val="tx1"/>
                    </a:solidFill>
                    <a:effectLst/>
                    <a:latin typeface="Segoe WPC"/>
                  </a:rPr>
                  <a:t> </a:t>
                </a:r>
                <a:r>
                  <a:rPr lang="es-PE" sz="900" b="0" i="0" dirty="0" err="1">
                    <a:solidFill>
                      <a:schemeClr val="tx1"/>
                    </a:solidFill>
                    <a:effectLst/>
                    <a:latin typeface="Segoe WPC"/>
                  </a:rPr>
                  <a:t>how</a:t>
                </a:r>
                <a:r>
                  <a:rPr lang="es-PE" sz="900" b="0" i="0" dirty="0">
                    <a:solidFill>
                      <a:schemeClr val="tx1"/>
                    </a:solidFill>
                    <a:effectLst/>
                    <a:latin typeface="Segoe WPC"/>
                  </a:rPr>
                  <a:t> </a:t>
                </a:r>
                <a:r>
                  <a:rPr lang="es-PE" sz="900" b="0" i="0" dirty="0" err="1">
                    <a:solidFill>
                      <a:schemeClr val="tx1"/>
                    </a:solidFill>
                    <a:effectLst/>
                    <a:latin typeface="Segoe WPC"/>
                  </a:rPr>
                  <a:t>much</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 </a:t>
                </a:r>
                <a:r>
                  <a:rPr lang="es-PE" sz="900" b="0" i="0" dirty="0" err="1">
                    <a:solidFill>
                      <a:schemeClr val="tx1"/>
                    </a:solidFill>
                    <a:effectLst/>
                    <a:latin typeface="Segoe WPC"/>
                  </a:rPr>
                  <a:t>when</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risk</a:t>
                </a:r>
                <a:r>
                  <a:rPr lang="es-PE" sz="900" b="0" i="0" dirty="0">
                    <a:solidFill>
                      <a:schemeClr val="tx1"/>
                    </a:solidFill>
                    <a:effectLst/>
                    <a:latin typeface="Segoe WPC"/>
                  </a:rPr>
                  <a:t>-free </a:t>
                </a:r>
                <a:r>
                  <a:rPr lang="es-PE" sz="900" b="0" i="0" dirty="0" err="1">
                    <a:solidFill>
                      <a:schemeClr val="tx1"/>
                    </a:solidFill>
                    <a:effectLst/>
                    <a:latin typeface="Segoe WPC"/>
                  </a:rPr>
                  <a:t>rate</a:t>
                </a:r>
                <a:r>
                  <a:rPr lang="es-PE" sz="900" b="0" i="0" dirty="0">
                    <a:solidFill>
                      <a:schemeClr val="tx1"/>
                    </a:solidFill>
                    <a:effectLst/>
                    <a:latin typeface="Segoe WPC"/>
                  </a:rPr>
                  <a:t> </a:t>
                </a:r>
                <a:r>
                  <a:rPr lang="es-PE" sz="900" b="0" i="0" dirty="0" err="1">
                    <a:solidFill>
                      <a:schemeClr val="tx1"/>
                    </a:solidFill>
                    <a:effectLst/>
                    <a:latin typeface="Segoe WPC"/>
                  </a:rPr>
                  <a:t>changes</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Higher</a:t>
                </a:r>
                <a:r>
                  <a:rPr lang="es-PE" sz="900" b="0" i="0" dirty="0">
                    <a:solidFill>
                      <a:schemeClr val="tx1"/>
                    </a:solidFill>
                    <a:effectLst/>
                    <a:latin typeface="Segoe WPC"/>
                  </a:rPr>
                  <a:t> </a:t>
                </a:r>
                <a:r>
                  <a:rPr lang="es-PE" sz="900" b="0" i="0" dirty="0" err="1">
                    <a:solidFill>
                      <a:schemeClr val="tx1"/>
                    </a:solidFill>
                    <a:effectLst/>
                    <a:latin typeface="Segoe WPC"/>
                  </a:rPr>
                  <a:t>rates</a:t>
                </a:r>
                <a:r>
                  <a:rPr lang="es-PE" sz="900" b="0" i="0" dirty="0">
                    <a:solidFill>
                      <a:schemeClr val="tx1"/>
                    </a:solidFill>
                    <a:effectLst/>
                    <a:latin typeface="Segoe WPC"/>
                  </a:rPr>
                  <a:t> reduce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present</a:t>
                </a:r>
                <a:r>
                  <a:rPr lang="es-PE" sz="900" b="0" i="0" dirty="0">
                    <a:solidFill>
                      <a:schemeClr val="tx1"/>
                    </a:solidFill>
                    <a:effectLst/>
                    <a:latin typeface="Segoe WPC"/>
                  </a:rPr>
                  <a:t> </a:t>
                </a:r>
                <a:r>
                  <a:rPr lang="es-PE" sz="900" b="0" i="0" dirty="0" err="1">
                    <a:solidFill>
                      <a:schemeClr val="tx1"/>
                    </a:solidFill>
                    <a:effectLst/>
                    <a:latin typeface="Segoe WPC"/>
                  </a:rPr>
                  <a:t>value</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strike, </a:t>
                </a:r>
                <a:r>
                  <a:rPr lang="es-PE" sz="900" b="0" i="0" dirty="0" err="1">
                    <a:solidFill>
                      <a:schemeClr val="tx1"/>
                    </a:solidFill>
                    <a:effectLst/>
                    <a:latin typeface="Segoe WPC"/>
                  </a:rPr>
                  <a:t>which</a:t>
                </a:r>
                <a:r>
                  <a:rPr lang="es-PE" sz="900" b="0" i="0" dirty="0">
                    <a:solidFill>
                      <a:schemeClr val="tx1"/>
                    </a:solidFill>
                    <a:effectLst/>
                    <a:latin typeface="Segoe WPC"/>
                  </a:rPr>
                  <a:t> </a:t>
                </a:r>
                <a:r>
                  <a:rPr lang="es-PE" sz="900" b="0" i="0" dirty="0" err="1">
                    <a:solidFill>
                      <a:schemeClr val="tx1"/>
                    </a:solidFill>
                    <a:effectLst/>
                    <a:latin typeface="Segoe WPC"/>
                  </a:rPr>
                  <a:t>tends</a:t>
                </a:r>
                <a:r>
                  <a:rPr lang="es-PE" sz="900" b="0" i="0" dirty="0">
                    <a:solidFill>
                      <a:schemeClr val="tx1"/>
                    </a:solidFill>
                    <a:effectLst/>
                    <a:latin typeface="Segoe WPC"/>
                  </a:rPr>
                  <a:t>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help</a:t>
                </a:r>
                <a:r>
                  <a:rPr lang="es-PE" sz="900" b="0" i="0" dirty="0">
                    <a:solidFill>
                      <a:schemeClr val="tx1"/>
                    </a:solidFill>
                    <a:effectLst/>
                    <a:latin typeface="Segoe WPC"/>
                  </a:rPr>
                  <a:t> </a:t>
                </a:r>
                <a:r>
                  <a:rPr lang="es-PE" sz="900" b="0" i="0" dirty="0" err="1">
                    <a:solidFill>
                      <a:schemeClr val="tx1"/>
                    </a:solidFill>
                    <a:effectLst/>
                    <a:latin typeface="Segoe WPC"/>
                  </a:rPr>
                  <a:t>calls</a:t>
                </a:r>
                <a:r>
                  <a:rPr lang="es-PE" sz="900" b="0" i="0" dirty="0">
                    <a:solidFill>
                      <a:schemeClr val="tx1"/>
                    </a:solidFill>
                    <a:effectLst/>
                    <a:latin typeface="Segoe WPC"/>
                  </a:rPr>
                  <a:t> and </a:t>
                </a:r>
                <a:r>
                  <a:rPr lang="es-PE" sz="900" b="0" i="0" dirty="0" err="1">
                    <a:solidFill>
                      <a:schemeClr val="tx1"/>
                    </a:solidFill>
                    <a:effectLst/>
                    <a:latin typeface="Segoe WPC"/>
                  </a:rPr>
                  <a:t>hurt</a:t>
                </a:r>
                <a:r>
                  <a:rPr lang="es-PE" sz="900" b="0" i="0" dirty="0">
                    <a:solidFill>
                      <a:schemeClr val="tx1"/>
                    </a:solidFill>
                    <a:effectLst/>
                    <a:latin typeface="Segoe WPC"/>
                  </a:rPr>
                  <a:t> </a:t>
                </a:r>
                <a:r>
                  <a:rPr lang="es-PE" sz="900" b="0" i="0" dirty="0" err="1">
                    <a:solidFill>
                      <a:schemeClr val="tx1"/>
                    </a:solidFill>
                    <a:effectLst/>
                    <a:latin typeface="Segoe WPC"/>
                  </a:rPr>
                  <a:t>puts</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Key Formula:</a:t>
                </a:r>
                <a:r>
                  <a:rPr lang="es-P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𝜌</m:t>
                        </m:r>
                      </m:e>
                      <m:sub>
                        <m:r>
                          <m:rPr>
                            <m:nor/>
                          </m:rPr>
                          <a:rPr lang="es-PE" sz="900" b="0" i="1">
                            <a:solidFill>
                              <a:schemeClr val="tx1"/>
                            </a:solidFill>
                            <a:latin typeface="Cambria Math" panose="02040503050406030204" pitchFamily="18" charset="0"/>
                          </a:rPr>
                          <m:t>call</m:t>
                        </m:r>
                      </m:sub>
                    </m:sSub>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𝐾𝑇</m:t>
                    </m:r>
                    <m:sSup>
                      <m:sSupPr>
                        <m:ctrlPr>
                          <a:rPr lang="ar-AE" sz="900" b="0" i="1">
                            <a:solidFill>
                              <a:schemeClr val="tx1"/>
                            </a:solidFill>
                            <a:latin typeface="Cambria Math" panose="02040503050406030204" pitchFamily="18" charset="0"/>
                          </a:rPr>
                        </m:ctrlPr>
                      </m:sSupPr>
                      <m:e>
                        <m:r>
                          <a:rPr lang="ar-AE" sz="900" b="0" i="1">
                            <a:solidFill>
                              <a:schemeClr val="tx1"/>
                            </a:solidFill>
                            <a:latin typeface="Cambria Math" panose="02040503050406030204" pitchFamily="18" charset="0"/>
                          </a:rPr>
                          <m:t>𝑒</m:t>
                        </m:r>
                      </m:e>
                      <m:sup>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𝑟𝑇</m:t>
                        </m:r>
                      </m:sup>
                    </m:sSup>
                    <m:r>
                      <a:rPr lang="ar-AE" sz="900" b="0" i="1">
                        <a:solidFill>
                          <a:schemeClr val="tx1"/>
                        </a:solidFill>
                        <a:latin typeface="Cambria Math" panose="02040503050406030204" pitchFamily="18" charset="0"/>
                      </a:rPr>
                      <m:t>𝑁</m:t>
                    </m:r>
                    <m:d>
                      <m:dPr>
                        <m:ctrlPr>
                          <a:rPr lang="ar-AE" sz="900" b="0" i="1">
                            <a:solidFill>
                              <a:schemeClr val="tx1"/>
                            </a:solidFill>
                            <a:latin typeface="Cambria Math" panose="02040503050406030204" pitchFamily="18" charset="0"/>
                          </a:rPr>
                        </m:ctrlPr>
                      </m:dPr>
                      <m:e>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𝑑</m:t>
                            </m:r>
                          </m:e>
                          <m:sub>
                            <m:r>
                              <a:rPr lang="ar-AE" sz="900" b="0" i="0">
                                <a:solidFill>
                                  <a:schemeClr val="tx1"/>
                                </a:solidFill>
                                <a:latin typeface="Cambria Math" panose="02040503050406030204" pitchFamily="18" charset="0"/>
                              </a:rPr>
                              <m:t>2</m:t>
                            </m:r>
                          </m:sub>
                        </m:sSub>
                      </m:e>
                    </m:d>
                  </m:oMath>
                </a14:m>
                <a:r>
                  <a:rPr lang="ar-AE" sz="900" b="0" i="0" dirty="0">
                    <a:solidFill>
                      <a:schemeClr val="tx1"/>
                    </a:solidFill>
                    <a:effectLst/>
                    <a:latin typeface="Segoe WPC"/>
                  </a:rPr>
                  <a:t>, </a:t>
                </a:r>
                <a14:m>
                  <m:oMath xmlns:m="http://schemas.openxmlformats.org/officeDocument/2006/math">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𝜌</m:t>
                        </m:r>
                      </m:e>
                      <m:sub>
                        <m:r>
                          <m:rPr>
                            <m:nor/>
                          </m:rPr>
                          <a:rPr lang="es-PE" sz="900" b="0" i="1">
                            <a:solidFill>
                              <a:schemeClr val="tx1"/>
                            </a:solidFill>
                            <a:latin typeface="Cambria Math" panose="02040503050406030204" pitchFamily="18" charset="0"/>
                          </a:rPr>
                          <m:t>put</m:t>
                        </m:r>
                      </m:sub>
                    </m:sSub>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𝐾𝑇</m:t>
                    </m:r>
                    <m:sSup>
                      <m:sSupPr>
                        <m:ctrlPr>
                          <a:rPr lang="ar-AE" sz="900" b="0" i="1">
                            <a:solidFill>
                              <a:schemeClr val="tx1"/>
                            </a:solidFill>
                            <a:latin typeface="Cambria Math" panose="02040503050406030204" pitchFamily="18" charset="0"/>
                          </a:rPr>
                        </m:ctrlPr>
                      </m:sSupPr>
                      <m:e>
                        <m:r>
                          <a:rPr lang="ar-AE" sz="900" b="0" i="1">
                            <a:solidFill>
                              <a:schemeClr val="tx1"/>
                            </a:solidFill>
                            <a:latin typeface="Cambria Math" panose="02040503050406030204" pitchFamily="18" charset="0"/>
                          </a:rPr>
                          <m:t>𝑒</m:t>
                        </m:r>
                      </m:e>
                      <m:sup>
                        <m:r>
                          <a:rPr lang="ar-AE" sz="900" b="0" i="0">
                            <a:solidFill>
                              <a:schemeClr val="tx1"/>
                            </a:solidFill>
                            <a:latin typeface="Cambria Math" panose="02040503050406030204" pitchFamily="18" charset="0"/>
                          </a:rPr>
                          <m:t>−</m:t>
                        </m:r>
                        <m:r>
                          <a:rPr lang="ar-AE" sz="900" b="0" i="1">
                            <a:solidFill>
                              <a:schemeClr val="tx1"/>
                            </a:solidFill>
                            <a:latin typeface="Cambria Math" panose="02040503050406030204" pitchFamily="18" charset="0"/>
                          </a:rPr>
                          <m:t>𝑟𝑇</m:t>
                        </m:r>
                      </m:sup>
                    </m:sSup>
                    <m:r>
                      <a:rPr lang="ar-AE" sz="900" b="0" i="1">
                        <a:solidFill>
                          <a:schemeClr val="tx1"/>
                        </a:solidFill>
                        <a:latin typeface="Cambria Math" panose="02040503050406030204" pitchFamily="18" charset="0"/>
                      </a:rPr>
                      <m:t>𝑁</m:t>
                    </m:r>
                    <m:d>
                      <m:dPr>
                        <m:ctrlPr>
                          <a:rPr lang="ar-AE" sz="900" b="0" i="1">
                            <a:solidFill>
                              <a:schemeClr val="tx1"/>
                            </a:solidFill>
                            <a:latin typeface="Cambria Math" panose="02040503050406030204" pitchFamily="18" charset="0"/>
                          </a:rPr>
                        </m:ctrlPr>
                      </m:dPr>
                      <m:e>
                        <m:r>
                          <a:rPr lang="ar-AE" sz="900" b="0" i="0">
                            <a:solidFill>
                              <a:schemeClr val="tx1"/>
                            </a:solidFill>
                            <a:latin typeface="Cambria Math" panose="02040503050406030204" pitchFamily="18" charset="0"/>
                          </a:rPr>
                          <m:t>−</m:t>
                        </m:r>
                        <m:sSub>
                          <m:sSubPr>
                            <m:ctrlPr>
                              <a:rPr lang="ar-AE" sz="900" b="0" i="1">
                                <a:solidFill>
                                  <a:schemeClr val="tx1"/>
                                </a:solidFill>
                                <a:latin typeface="Cambria Math" panose="02040503050406030204" pitchFamily="18" charset="0"/>
                              </a:rPr>
                            </m:ctrlPr>
                          </m:sSubPr>
                          <m:e>
                            <m:r>
                              <a:rPr lang="ar-AE" sz="900" b="0" i="1">
                                <a:solidFill>
                                  <a:schemeClr val="tx1"/>
                                </a:solidFill>
                                <a:latin typeface="Cambria Math" panose="02040503050406030204" pitchFamily="18" charset="0"/>
                              </a:rPr>
                              <m:t>𝑑</m:t>
                            </m:r>
                          </m:e>
                          <m:sub>
                            <m:r>
                              <a:rPr lang="ar-AE" sz="900" b="0" i="0">
                                <a:solidFill>
                                  <a:schemeClr val="tx1"/>
                                </a:solidFill>
                                <a:latin typeface="Cambria Math" panose="02040503050406030204" pitchFamily="18" charset="0"/>
                              </a:rPr>
                              <m:t>2</m:t>
                            </m:r>
                          </m:sub>
                        </m:sSub>
                      </m:e>
                    </m:d>
                  </m:oMath>
                </a14:m>
                <a:endParaRPr lang="ar-A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Call</a:t>
                </a:r>
                <a:r>
                  <a:rPr lang="es-PE" sz="900" b="0" i="0" dirty="0">
                    <a:solidFill>
                      <a:schemeClr val="tx1"/>
                    </a:solidFill>
                    <a:effectLst/>
                    <a:latin typeface="Segoe WPC"/>
                  </a:rPr>
                  <a:t> rho </a:t>
                </a:r>
                <a:r>
                  <a:rPr lang="es-PE" sz="900" b="0" i="0" dirty="0" err="1">
                    <a:solidFill>
                      <a:schemeClr val="tx1"/>
                    </a:solidFill>
                    <a:effectLst/>
                    <a:latin typeface="Segoe WPC"/>
                  </a:rPr>
                  <a:t>is</a:t>
                </a:r>
                <a:r>
                  <a:rPr lang="es-PE" sz="900" b="0" i="0" dirty="0">
                    <a:solidFill>
                      <a:schemeClr val="tx1"/>
                    </a:solidFill>
                    <a:effectLst/>
                    <a:latin typeface="Segoe WPC"/>
                  </a:rPr>
                  <a:t> positive and </a:t>
                </a:r>
                <a:r>
                  <a:rPr lang="es-PE" sz="900" b="0" i="0" dirty="0" err="1">
                    <a:solidFill>
                      <a:schemeClr val="tx1"/>
                    </a:solidFill>
                    <a:effectLst/>
                    <a:latin typeface="Segoe WPC"/>
                  </a:rPr>
                  <a:t>put</a:t>
                </a:r>
                <a:r>
                  <a:rPr lang="es-PE" sz="900" b="0" i="0" dirty="0">
                    <a:solidFill>
                      <a:schemeClr val="tx1"/>
                    </a:solidFill>
                    <a:effectLst/>
                    <a:latin typeface="Segoe WPC"/>
                  </a:rPr>
                  <a:t> rho </a:t>
                </a:r>
                <a:r>
                  <a:rPr lang="es-PE" sz="900" b="0" i="0" dirty="0" err="1">
                    <a:solidFill>
                      <a:schemeClr val="tx1"/>
                    </a:solidFill>
                    <a:effectLst/>
                    <a:latin typeface="Segoe WPC"/>
                  </a:rPr>
                  <a:t>is</a:t>
                </a:r>
                <a:r>
                  <a:rPr lang="es-PE" sz="900" b="0" i="0" dirty="0">
                    <a:solidFill>
                      <a:schemeClr val="tx1"/>
                    </a:solidFill>
                    <a:effectLst/>
                    <a:latin typeface="Segoe WPC"/>
                  </a:rPr>
                  <a:t> negative </a:t>
                </a:r>
                <a:r>
                  <a:rPr lang="es-PE" sz="900" b="0" i="0" dirty="0" err="1">
                    <a:solidFill>
                      <a:schemeClr val="tx1"/>
                    </a:solidFill>
                    <a:effectLst/>
                    <a:latin typeface="Segoe WPC"/>
                  </a:rPr>
                  <a:t>for</a:t>
                </a:r>
                <a:r>
                  <a:rPr lang="es-PE" sz="900" b="0" i="0" dirty="0">
                    <a:solidFill>
                      <a:schemeClr val="tx1"/>
                    </a:solidFill>
                    <a:effectLst/>
                    <a:latin typeface="Segoe WPC"/>
                  </a:rPr>
                  <a:t> standard </a:t>
                </a:r>
                <a:r>
                  <a:rPr lang="es-PE" sz="900" b="0" i="0" dirty="0" err="1">
                    <a:solidFill>
                      <a:schemeClr val="tx1"/>
                    </a:solidFill>
                    <a:effectLst/>
                    <a:latin typeface="Segoe WPC"/>
                  </a:rPr>
                  <a:t>European</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 </a:t>
                </a:r>
                <a:r>
                  <a:rPr lang="es-PE" sz="900" b="0" i="0" dirty="0" err="1">
                    <a:solidFill>
                      <a:schemeClr val="tx1"/>
                    </a:solidFill>
                    <a:effectLst/>
                    <a:latin typeface="Segoe WPC"/>
                  </a:rPr>
                  <a:t>on</a:t>
                </a:r>
                <a:r>
                  <a:rPr lang="es-PE" sz="900" b="0" i="0" dirty="0">
                    <a:solidFill>
                      <a:schemeClr val="tx1"/>
                    </a:solidFill>
                    <a:effectLst/>
                    <a:latin typeface="Segoe WPC"/>
                  </a:rPr>
                  <a:t> non-</a:t>
                </a:r>
                <a:r>
                  <a:rPr lang="es-PE" sz="900" b="0" i="0" dirty="0" err="1">
                    <a:solidFill>
                      <a:schemeClr val="tx1"/>
                    </a:solidFill>
                    <a:effectLst/>
                    <a:latin typeface="Segoe WPC"/>
                  </a:rPr>
                  <a:t>dividend</a:t>
                </a:r>
                <a:r>
                  <a:rPr lang="es-PE" sz="900" b="0" i="0" dirty="0">
                    <a:solidFill>
                      <a:schemeClr val="tx1"/>
                    </a:solidFill>
                    <a:effectLst/>
                    <a:latin typeface="Segoe WPC"/>
                  </a:rPr>
                  <a:t>-</a:t>
                </a:r>
                <a:r>
                  <a:rPr lang="es-PE" sz="900" b="0" i="0" dirty="0" err="1">
                    <a:solidFill>
                      <a:schemeClr val="tx1"/>
                    </a:solidFill>
                    <a:effectLst/>
                    <a:latin typeface="Segoe WPC"/>
                  </a:rPr>
                  <a:t>paying</a:t>
                </a:r>
                <a:r>
                  <a:rPr lang="es-PE" sz="900" b="0" i="0" dirty="0">
                    <a:solidFill>
                      <a:schemeClr val="tx1"/>
                    </a:solidFill>
                    <a:effectLst/>
                    <a:latin typeface="Segoe WPC"/>
                  </a:rPr>
                  <a:t> stocks.</a:t>
                </a:r>
              </a:p>
              <a:p>
                <a:pPr algn="l">
                  <a:spcBef>
                    <a:spcPts val="300"/>
                  </a:spcBef>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Rho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usually</a:t>
                </a:r>
                <a:r>
                  <a:rPr lang="es-PE" sz="900" b="0" i="0" dirty="0">
                    <a:solidFill>
                      <a:schemeClr val="tx1"/>
                    </a:solidFill>
                    <a:effectLst/>
                    <a:latin typeface="Segoe WPC"/>
                  </a:rPr>
                  <a:t>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important</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delta, gamma, </a:t>
                </a:r>
                <a:r>
                  <a:rPr lang="es-PE" sz="900" b="0" i="0" dirty="0" err="1">
                    <a:solidFill>
                      <a:schemeClr val="tx1"/>
                    </a:solidFill>
                    <a:effectLst/>
                    <a:latin typeface="Segoe WPC"/>
                  </a:rPr>
                  <a:t>or</a:t>
                </a:r>
                <a:r>
                  <a:rPr lang="es-PE" sz="900" b="0" i="0" dirty="0">
                    <a:solidFill>
                      <a:schemeClr val="tx1"/>
                    </a:solidFill>
                    <a:effectLst/>
                    <a:latin typeface="Segoe WPC"/>
                  </a:rPr>
                  <a:t> vega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equity</a:t>
                </a:r>
                <a:r>
                  <a:rPr lang="es-PE" sz="900" b="0" i="0" dirty="0">
                    <a:solidFill>
                      <a:schemeClr val="tx1"/>
                    </a:solidFill>
                    <a:effectLst/>
                    <a:latin typeface="Segoe WPC"/>
                  </a:rPr>
                  <a:t> </a:t>
                </a:r>
                <a:r>
                  <a:rPr lang="es-PE" sz="900" b="0" i="0" dirty="0" err="1">
                    <a:solidFill>
                      <a:schemeClr val="tx1"/>
                    </a:solidFill>
                    <a:effectLst/>
                    <a:latin typeface="Segoe WPC"/>
                  </a:rPr>
                  <a:t>option</a:t>
                </a:r>
                <a:r>
                  <a:rPr lang="es-PE" sz="900" b="0" i="0" dirty="0">
                    <a:solidFill>
                      <a:schemeClr val="tx1"/>
                    </a:solidFill>
                    <a:effectLst/>
                    <a:latin typeface="Segoe WPC"/>
                  </a:rPr>
                  <a:t> </a:t>
                </a:r>
                <a:r>
                  <a:rPr lang="es-PE" sz="900" b="0" i="0" dirty="0" err="1">
                    <a:solidFill>
                      <a:schemeClr val="tx1"/>
                    </a:solidFill>
                    <a:effectLst/>
                    <a:latin typeface="Segoe WPC"/>
                  </a:rPr>
                  <a:t>books</a:t>
                </a:r>
                <a:r>
                  <a:rPr lang="es-PE" sz="900" b="0" i="0" dirty="0">
                    <a:solidFill>
                      <a:schemeClr val="tx1"/>
                    </a:solidFill>
                    <a:effectLst/>
                    <a:latin typeface="Segoe WPC"/>
                  </a:rPr>
                  <a:t>, </a:t>
                </a:r>
                <a:r>
                  <a:rPr lang="es-PE" sz="900" b="0" i="0" dirty="0" err="1">
                    <a:solidFill>
                      <a:schemeClr val="tx1"/>
                    </a:solidFill>
                    <a:effectLst/>
                    <a:latin typeface="Segoe WPC"/>
                  </a:rPr>
                  <a:t>but</a:t>
                </a:r>
                <a:r>
                  <a:rPr lang="es-PE" sz="900" b="0" i="0" dirty="0">
                    <a:solidFill>
                      <a:schemeClr val="tx1"/>
                    </a:solidFill>
                    <a:effectLst/>
                    <a:latin typeface="Segoe WPC"/>
                  </a:rPr>
                  <a:t> </a:t>
                </a:r>
                <a:r>
                  <a:rPr lang="es-PE" sz="900" b="0" i="0" dirty="0" err="1">
                    <a:solidFill>
                      <a:schemeClr val="tx1"/>
                    </a:solidFill>
                    <a:effectLst/>
                    <a:latin typeface="Segoe WPC"/>
                  </a:rPr>
                  <a:t>not</a:t>
                </a:r>
                <a:r>
                  <a:rPr lang="es-PE" sz="900" b="0" i="0" dirty="0">
                    <a:solidFill>
                      <a:schemeClr val="tx1"/>
                    </a:solidFill>
                    <a:effectLst/>
                    <a:latin typeface="Segoe WPC"/>
                  </a:rPr>
                  <a:t> </a:t>
                </a:r>
                <a:r>
                  <a:rPr lang="es-PE" sz="900" b="0" i="0" dirty="0" err="1">
                    <a:solidFill>
                      <a:schemeClr val="tx1"/>
                    </a:solidFill>
                    <a:effectLst/>
                    <a:latin typeface="Segoe WPC"/>
                  </a:rPr>
                  <a:t>for</a:t>
                </a:r>
                <a:r>
                  <a:rPr lang="es-PE" sz="900" b="0" i="0" dirty="0">
                    <a:solidFill>
                      <a:schemeClr val="tx1"/>
                    </a:solidFill>
                    <a:effectLst/>
                    <a:latin typeface="Segoe WPC"/>
                  </a:rPr>
                  <a:t> </a:t>
                </a:r>
                <a:r>
                  <a:rPr lang="es-PE" sz="900" b="0" i="0" dirty="0" err="1">
                    <a:solidFill>
                      <a:schemeClr val="tx1"/>
                    </a:solidFill>
                    <a:effectLst/>
                    <a:latin typeface="Segoe WPC"/>
                  </a:rPr>
                  <a:t>interest-rate</a:t>
                </a:r>
                <a:r>
                  <a:rPr lang="es-PE" sz="900" b="0" i="0" dirty="0">
                    <a:solidFill>
                      <a:schemeClr val="tx1"/>
                    </a:solidFill>
                    <a:effectLst/>
                    <a:latin typeface="Segoe WPC"/>
                  </a:rPr>
                  <a:t> </a:t>
                </a:r>
                <a:r>
                  <a:rPr lang="es-PE" sz="900" b="0" i="0" dirty="0" err="1">
                    <a:solidFill>
                      <a:schemeClr val="tx1"/>
                    </a:solidFill>
                    <a:effectLst/>
                    <a:latin typeface="Segoe WPC"/>
                  </a:rPr>
                  <a:t>options</a:t>
                </a:r>
                <a:r>
                  <a:rPr lang="es-PE" sz="900" b="0" i="0" dirty="0">
                    <a:solidFill>
                      <a:schemeClr val="tx1"/>
                    </a:solidFill>
                    <a:effectLst/>
                    <a:latin typeface="Segoe WPC"/>
                  </a:rPr>
                  <a:t>.</a:t>
                </a:r>
              </a:p>
            </p:txBody>
          </p:sp>
        </mc:Choice>
        <mc:Fallback xmlns="">
          <p:sp>
            <p:nvSpPr>
              <p:cNvPr id="8" name="CuadroTexto 7">
                <a:extLst>
                  <a:ext uri="{FF2B5EF4-FFF2-40B4-BE49-F238E27FC236}">
                    <a16:creationId xmlns:a16="http://schemas.microsoft.com/office/drawing/2014/main" id="{26B3271E-7B53-0C42-6C9E-8BE2FD9A0313}"/>
                  </a:ext>
                </a:extLst>
              </p:cNvPr>
              <p:cNvSpPr txBox="1">
                <a:spLocks noRot="1" noChangeAspect="1" noMove="1" noResize="1" noEditPoints="1" noAdjustHandles="1" noChangeArrowheads="1" noChangeShapeType="1" noTextEdit="1"/>
              </p:cNvSpPr>
              <p:nvPr/>
            </p:nvSpPr>
            <p:spPr>
              <a:xfrm>
                <a:off x="5978526" y="223218"/>
                <a:ext cx="6213474" cy="6411563"/>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68317057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1DFFAF88-A677-1BCE-8562-EA6F700A335F}"/>
                  </a:ext>
                </a:extLst>
              </p:cNvPr>
              <p:cNvSpPr txBox="1"/>
              <p:nvPr/>
            </p:nvSpPr>
            <p:spPr>
              <a:xfrm>
                <a:off x="63500" y="1865106"/>
                <a:ext cx="6610350" cy="3401187"/>
              </a:xfrm>
              <a:prstGeom prst="rect">
                <a:avLst/>
              </a:prstGeom>
              <a:noFill/>
            </p:spPr>
            <p:txBody>
              <a:bodyPr wrap="square">
                <a:spAutoFit/>
              </a:bodyPr>
              <a:lstStyle/>
              <a:p>
                <a:pPr marL="171450" indent="-171450">
                  <a:spcBef>
                    <a:spcPts val="300"/>
                  </a:spcBef>
                  <a:buFont typeface="Wingdings" panose="05000000000000000000" pitchFamily="2" charset="2"/>
                  <a:buChar char="q"/>
                </a:pPr>
                <a:r>
                  <a:rPr lang="es-PE" sz="900" b="1" dirty="0">
                    <a:latin typeface="Segoe WPC"/>
                  </a:rPr>
                  <a:t>Delta-Neutral and Gamma-Neutral Portfolios</a:t>
                </a:r>
                <a:endParaRPr lang="es-PE" sz="900" dirty="0">
                  <a:latin typeface="Segoe WPC"/>
                </a:endParaRPr>
              </a:p>
              <a:p>
                <a:pPr>
                  <a:spcBef>
                    <a:spcPts val="300"/>
                  </a:spcBef>
                </a:pPr>
                <a:r>
                  <a:rPr lang="es-PE" sz="900" b="1" dirty="0" err="1">
                    <a:latin typeface="Segoe WPC"/>
                  </a:rPr>
                  <a:t>Financial</a:t>
                </a:r>
                <a:r>
                  <a:rPr lang="es-PE" sz="900" b="1" dirty="0">
                    <a:latin typeface="Segoe WPC"/>
                  </a:rPr>
                  <a:t> </a:t>
                </a:r>
                <a:r>
                  <a:rPr lang="es-PE" sz="900" b="1" dirty="0" err="1">
                    <a:latin typeface="Segoe WPC"/>
                  </a:rPr>
                  <a:t>Object</a:t>
                </a:r>
                <a:r>
                  <a:rPr lang="es-PE" sz="900" b="1" dirty="0">
                    <a:latin typeface="Segoe WPC"/>
                  </a:rPr>
                  <a:t>:</a:t>
                </a:r>
                <a:r>
                  <a:rPr lang="es-PE" sz="900" dirty="0">
                    <a:latin typeface="Segoe WPC"/>
                  </a:rPr>
                  <a:t> </a:t>
                </a:r>
                <a:r>
                  <a:rPr lang="es-PE" sz="900" dirty="0" err="1">
                    <a:latin typeface="Segoe WPC"/>
                  </a:rPr>
                  <a:t>Multi-instrument</a:t>
                </a:r>
                <a:r>
                  <a:rPr lang="es-PE" sz="900" dirty="0">
                    <a:latin typeface="Segoe WPC"/>
                  </a:rPr>
                  <a:t> </a:t>
                </a:r>
                <a:r>
                  <a:rPr lang="es-PE" sz="900" dirty="0" err="1">
                    <a:latin typeface="Segoe WPC"/>
                  </a:rPr>
                  <a:t>hedging</a:t>
                </a:r>
                <a:r>
                  <a:rPr lang="es-PE" sz="900" dirty="0">
                    <a:latin typeface="Segoe WPC"/>
                  </a:rPr>
                  <a:t> </a:t>
                </a:r>
                <a:r>
                  <a:rPr lang="es-PE" sz="900" dirty="0" err="1">
                    <a:latin typeface="Segoe WPC"/>
                  </a:rPr>
                  <a:t>of</a:t>
                </a:r>
                <a:r>
                  <a:rPr lang="es-PE" sz="900" dirty="0">
                    <a:latin typeface="Segoe WPC"/>
                  </a:rPr>
                  <a:t> </a:t>
                </a:r>
                <a:r>
                  <a:rPr lang="es-PE" sz="900" dirty="0" err="1">
                    <a:latin typeface="Segoe WPC"/>
                  </a:rPr>
                  <a:t>option</a:t>
                </a:r>
                <a:r>
                  <a:rPr lang="es-PE" sz="900" dirty="0">
                    <a:latin typeface="Segoe WPC"/>
                  </a:rPr>
                  <a:t> </a:t>
                </a:r>
                <a:r>
                  <a:rPr lang="es-PE" sz="900" dirty="0" err="1">
                    <a:latin typeface="Segoe WPC"/>
                  </a:rPr>
                  <a:t>books</a:t>
                </a:r>
                <a:r>
                  <a:rPr lang="es-PE" sz="900" dirty="0">
                    <a:latin typeface="Segoe WPC"/>
                  </a:rPr>
                  <a:t>.</a:t>
                </a:r>
              </a:p>
              <a:p>
                <a:pPr>
                  <a:spcBef>
                    <a:spcPts val="300"/>
                  </a:spcBef>
                </a:pPr>
                <a:r>
                  <a:rPr lang="es-PE" sz="900" b="1" dirty="0" err="1">
                    <a:latin typeface="Segoe WPC"/>
                  </a:rPr>
                  <a:t>Plain</a:t>
                </a:r>
                <a:r>
                  <a:rPr lang="es-PE" sz="900" b="1" dirty="0">
                    <a:latin typeface="Segoe WPC"/>
                  </a:rPr>
                  <a:t> </a:t>
                </a:r>
                <a:r>
                  <a:rPr lang="es-PE" sz="900" b="1" dirty="0" err="1">
                    <a:latin typeface="Segoe WPC"/>
                  </a:rPr>
                  <a:t>Intuition</a:t>
                </a:r>
                <a:r>
                  <a:rPr lang="es-PE" sz="900" b="1" dirty="0">
                    <a:latin typeface="Segoe WPC"/>
                  </a:rPr>
                  <a:t>:</a:t>
                </a:r>
                <a:r>
                  <a:rPr lang="es-PE" sz="900" dirty="0">
                    <a:latin typeface="Segoe WPC"/>
                  </a:rPr>
                  <a:t> </a:t>
                </a:r>
                <a:r>
                  <a:rPr lang="es-PE" sz="900" dirty="0" err="1">
                    <a:latin typeface="Segoe WPC"/>
                  </a:rPr>
                  <a:t>Traders</a:t>
                </a:r>
                <a:r>
                  <a:rPr lang="es-PE" sz="900" dirty="0">
                    <a:latin typeface="Segoe WPC"/>
                  </a:rPr>
                  <a:t> </a:t>
                </a:r>
                <a:r>
                  <a:rPr lang="es-PE" sz="900" dirty="0" err="1">
                    <a:latin typeface="Segoe WPC"/>
                  </a:rPr>
                  <a:t>often</a:t>
                </a:r>
                <a:r>
                  <a:rPr lang="es-PE" sz="900" dirty="0">
                    <a:latin typeface="Segoe WPC"/>
                  </a:rPr>
                  <a:t> </a:t>
                </a:r>
                <a:r>
                  <a:rPr lang="es-PE" sz="900" dirty="0" err="1">
                    <a:latin typeface="Segoe WPC"/>
                  </a:rPr>
                  <a:t>hedge</a:t>
                </a:r>
                <a:r>
                  <a:rPr lang="es-PE" sz="900" dirty="0">
                    <a:latin typeface="Segoe WPC"/>
                  </a:rPr>
                  <a:t> more </a:t>
                </a:r>
                <a:r>
                  <a:rPr lang="es-PE" sz="900" dirty="0" err="1">
                    <a:latin typeface="Segoe WPC"/>
                  </a:rPr>
                  <a:t>than</a:t>
                </a:r>
                <a:r>
                  <a:rPr lang="es-PE" sz="900" dirty="0">
                    <a:latin typeface="Segoe WPC"/>
                  </a:rPr>
                  <a:t> </a:t>
                </a:r>
                <a:r>
                  <a:rPr lang="es-PE" sz="900" dirty="0" err="1">
                    <a:latin typeface="Segoe WPC"/>
                  </a:rPr>
                  <a:t>one</a:t>
                </a:r>
                <a:r>
                  <a:rPr lang="es-PE" sz="900" dirty="0">
                    <a:latin typeface="Segoe WPC"/>
                  </a:rPr>
                  <a:t> </a:t>
                </a:r>
                <a:r>
                  <a:rPr lang="es-PE" sz="900" dirty="0" err="1">
                    <a:latin typeface="Segoe WPC"/>
                  </a:rPr>
                  <a:t>Greek</a:t>
                </a:r>
                <a:r>
                  <a:rPr lang="es-PE" sz="900" dirty="0">
                    <a:latin typeface="Segoe WPC"/>
                  </a:rPr>
                  <a:t> at once </a:t>
                </a:r>
                <a:r>
                  <a:rPr lang="es-PE" sz="900" dirty="0" err="1">
                    <a:latin typeface="Segoe WPC"/>
                  </a:rPr>
                  <a:t>by</a:t>
                </a:r>
                <a:r>
                  <a:rPr lang="es-PE" sz="900" dirty="0">
                    <a:latin typeface="Segoe WPC"/>
                  </a:rPr>
                  <a:t> </a:t>
                </a:r>
                <a:r>
                  <a:rPr lang="es-PE" sz="900" dirty="0" err="1">
                    <a:latin typeface="Segoe WPC"/>
                  </a:rPr>
                  <a:t>combining</a:t>
                </a:r>
                <a:r>
                  <a:rPr lang="es-PE" sz="900" dirty="0">
                    <a:latin typeface="Segoe WPC"/>
                  </a:rPr>
                  <a:t> </a:t>
                </a:r>
                <a:r>
                  <a:rPr lang="es-PE" sz="900" dirty="0" err="1">
                    <a:latin typeface="Segoe WPC"/>
                  </a:rPr>
                  <a:t>the</a:t>
                </a:r>
                <a:r>
                  <a:rPr lang="es-PE" sz="900" dirty="0">
                    <a:latin typeface="Segoe WPC"/>
                  </a:rPr>
                  <a:t> </a:t>
                </a:r>
                <a:r>
                  <a:rPr lang="es-PE" sz="900" dirty="0" err="1">
                    <a:latin typeface="Segoe WPC"/>
                  </a:rPr>
                  <a:t>underlying</a:t>
                </a:r>
                <a:r>
                  <a:rPr lang="es-PE" sz="900" dirty="0">
                    <a:latin typeface="Segoe WPC"/>
                  </a:rPr>
                  <a:t> </a:t>
                </a:r>
                <a:r>
                  <a:rPr lang="es-PE" sz="900" dirty="0" err="1">
                    <a:latin typeface="Segoe WPC"/>
                  </a:rPr>
                  <a:t>with</a:t>
                </a:r>
                <a:r>
                  <a:rPr lang="es-PE" sz="900" dirty="0">
                    <a:latin typeface="Segoe WPC"/>
                  </a:rPr>
                  <a:t> </a:t>
                </a:r>
                <a:r>
                  <a:rPr lang="es-PE" sz="900" dirty="0" err="1">
                    <a:latin typeface="Segoe WPC"/>
                  </a:rPr>
                  <a:t>additional</a:t>
                </a:r>
                <a:r>
                  <a:rPr lang="es-PE" sz="900" dirty="0">
                    <a:latin typeface="Segoe WPC"/>
                  </a:rPr>
                  <a:t> </a:t>
                </a:r>
                <a:r>
                  <a:rPr lang="es-PE" sz="900" dirty="0" err="1">
                    <a:latin typeface="Segoe WPC"/>
                  </a:rPr>
                  <a:t>options</a:t>
                </a:r>
                <a:r>
                  <a:rPr lang="es-PE" sz="900" dirty="0">
                    <a:latin typeface="Segoe WPC"/>
                  </a:rPr>
                  <a:t>.</a:t>
                </a:r>
              </a:p>
              <a:p>
                <a:pPr>
                  <a:spcBef>
                    <a:spcPts val="300"/>
                  </a:spcBef>
                </a:pPr>
                <a:r>
                  <a:rPr lang="es-PE" sz="900" b="1" dirty="0">
                    <a:latin typeface="Segoe WPC"/>
                  </a:rPr>
                  <a:t>Visual </a:t>
                </a:r>
                <a:r>
                  <a:rPr lang="es-PE" sz="900" b="1" dirty="0" err="1">
                    <a:latin typeface="Segoe WPC"/>
                  </a:rPr>
                  <a:t>Intuition</a:t>
                </a:r>
                <a:r>
                  <a:rPr lang="es-PE" sz="900" b="1" dirty="0">
                    <a:latin typeface="Segoe WPC"/>
                  </a:rPr>
                  <a:t>:</a:t>
                </a:r>
                <a:r>
                  <a:rPr lang="es-PE" sz="900" dirty="0">
                    <a:latin typeface="Segoe WPC"/>
                  </a:rPr>
                  <a:t> </a:t>
                </a:r>
                <a:r>
                  <a:rPr lang="es-PE" sz="900" dirty="0" err="1">
                    <a:latin typeface="Segoe WPC"/>
                  </a:rPr>
                  <a:t>One</a:t>
                </a:r>
                <a:r>
                  <a:rPr lang="es-PE" sz="900" dirty="0">
                    <a:latin typeface="Segoe WPC"/>
                  </a:rPr>
                  <a:t> </a:t>
                </a:r>
                <a:r>
                  <a:rPr lang="es-PE" sz="900" dirty="0" err="1">
                    <a:latin typeface="Segoe WPC"/>
                  </a:rPr>
                  <a:t>option</a:t>
                </a:r>
                <a:r>
                  <a:rPr lang="es-PE" sz="900" dirty="0">
                    <a:latin typeface="Segoe WPC"/>
                  </a:rPr>
                  <a:t> </a:t>
                </a:r>
                <a:r>
                  <a:rPr lang="es-PE" sz="900" dirty="0" err="1">
                    <a:latin typeface="Segoe WPC"/>
                  </a:rPr>
                  <a:t>may</a:t>
                </a:r>
                <a:r>
                  <a:rPr lang="es-PE" sz="900" dirty="0">
                    <a:latin typeface="Segoe WPC"/>
                  </a:rPr>
                  <a:t> </a:t>
                </a:r>
                <a:r>
                  <a:rPr lang="es-PE" sz="900" dirty="0" err="1">
                    <a:latin typeface="Segoe WPC"/>
                  </a:rPr>
                  <a:t>neutralize</a:t>
                </a:r>
                <a:r>
                  <a:rPr lang="es-PE" sz="900" dirty="0">
                    <a:latin typeface="Segoe WPC"/>
                  </a:rPr>
                  <a:t> vega </a:t>
                </a:r>
                <a:r>
                  <a:rPr lang="es-PE" sz="900" dirty="0" err="1">
                    <a:latin typeface="Segoe WPC"/>
                  </a:rPr>
                  <a:t>or</a:t>
                </a:r>
                <a:r>
                  <a:rPr lang="es-PE" sz="900" dirty="0">
                    <a:latin typeface="Segoe WPC"/>
                  </a:rPr>
                  <a:t> gamma, </a:t>
                </a:r>
                <a:r>
                  <a:rPr lang="es-PE" sz="900" dirty="0" err="1">
                    <a:latin typeface="Segoe WPC"/>
                  </a:rPr>
                  <a:t>but</a:t>
                </a:r>
                <a:r>
                  <a:rPr lang="es-PE" sz="900" dirty="0">
                    <a:latin typeface="Segoe WPC"/>
                  </a:rPr>
                  <a:t> </a:t>
                </a:r>
                <a:r>
                  <a:rPr lang="es-PE" sz="900" dirty="0" err="1">
                    <a:latin typeface="Segoe WPC"/>
                  </a:rPr>
                  <a:t>then</a:t>
                </a:r>
                <a:r>
                  <a:rPr lang="es-PE" sz="900" dirty="0">
                    <a:latin typeface="Segoe WPC"/>
                  </a:rPr>
                  <a:t> introduce delta, </a:t>
                </a:r>
                <a:r>
                  <a:rPr lang="es-PE" sz="900" dirty="0" err="1">
                    <a:latin typeface="Segoe WPC"/>
                  </a:rPr>
                  <a:t>which</a:t>
                </a:r>
                <a:r>
                  <a:rPr lang="es-PE" sz="900" dirty="0">
                    <a:latin typeface="Segoe WPC"/>
                  </a:rPr>
                  <a:t> </a:t>
                </a:r>
                <a:r>
                  <a:rPr lang="es-PE" sz="900" dirty="0" err="1">
                    <a:latin typeface="Segoe WPC"/>
                  </a:rPr>
                  <a:t>must</a:t>
                </a:r>
                <a:r>
                  <a:rPr lang="es-PE" sz="900" dirty="0">
                    <a:latin typeface="Segoe WPC"/>
                  </a:rPr>
                  <a:t> be </a:t>
                </a:r>
                <a:r>
                  <a:rPr lang="es-PE" sz="900" dirty="0" err="1">
                    <a:latin typeface="Segoe WPC"/>
                  </a:rPr>
                  <a:t>hedged</a:t>
                </a:r>
                <a:r>
                  <a:rPr lang="es-PE" sz="900" dirty="0">
                    <a:latin typeface="Segoe WPC"/>
                  </a:rPr>
                  <a:t> </a:t>
                </a:r>
                <a:r>
                  <a:rPr lang="es-PE" sz="900" dirty="0" err="1">
                    <a:latin typeface="Segoe WPC"/>
                  </a:rPr>
                  <a:t>with</a:t>
                </a:r>
                <a:r>
                  <a:rPr lang="es-PE" sz="900" dirty="0">
                    <a:latin typeface="Segoe WPC"/>
                  </a:rPr>
                  <a:t> </a:t>
                </a:r>
                <a:r>
                  <a:rPr lang="es-PE" sz="900" dirty="0" err="1">
                    <a:latin typeface="Segoe WPC"/>
                  </a:rPr>
                  <a:t>the</a:t>
                </a:r>
                <a:r>
                  <a:rPr lang="es-PE" sz="900" dirty="0">
                    <a:latin typeface="Segoe WPC"/>
                  </a:rPr>
                  <a:t> stock.</a:t>
                </a:r>
              </a:p>
              <a:p>
                <a:pPr>
                  <a:spcBef>
                    <a:spcPts val="300"/>
                  </a:spcBef>
                </a:pPr>
                <a:r>
                  <a:rPr lang="es-PE" sz="900" b="1" dirty="0">
                    <a:latin typeface="Segoe WPC"/>
                  </a:rPr>
                  <a:t>Key Formula:</a:t>
                </a:r>
                <a:r>
                  <a:rPr lang="es-PE" sz="900" dirty="0">
                    <a:latin typeface="Segoe WPC"/>
                  </a:rPr>
                  <a:t> Portfolio </a:t>
                </a:r>
                <a:r>
                  <a:rPr lang="es-PE" sz="900" dirty="0" err="1">
                    <a:latin typeface="Segoe WPC"/>
                  </a:rPr>
                  <a:t>Greek</a:t>
                </a:r>
                <a:r>
                  <a:rPr lang="es-PE" sz="900" dirty="0">
                    <a:latin typeface="Segoe WPC"/>
                  </a:rPr>
                  <a:t> </a:t>
                </a:r>
                <a14:m>
                  <m:oMath xmlns:m="http://schemas.openxmlformats.org/officeDocument/2006/math">
                    <m:r>
                      <a:rPr lang="es-PE" sz="900">
                        <a:latin typeface="Cambria Math" panose="02040503050406030204" pitchFamily="18" charset="0"/>
                      </a:rPr>
                      <m:t>=</m:t>
                    </m:r>
                    <m:nary>
                      <m:naryPr>
                        <m:chr m:val="∑"/>
                        <m:limLoc m:val="subSup"/>
                        <m:grow m:val="on"/>
                        <m:supHide m:val="on"/>
                        <m:ctrlPr>
                          <a:rPr lang="ar-AE" sz="900" i="1">
                            <a:latin typeface="Cambria Math" panose="02040503050406030204" pitchFamily="18" charset="0"/>
                          </a:rPr>
                        </m:ctrlPr>
                      </m:naryPr>
                      <m:sub>
                        <m:r>
                          <a:rPr lang="ar-AE" sz="900" i="1">
                            <a:latin typeface="Cambria Math" panose="02040503050406030204" pitchFamily="18" charset="0"/>
                          </a:rPr>
                          <m:t>𝑖</m:t>
                        </m:r>
                      </m:sub>
                      <m:sup/>
                      <m:e>
                        <m:sSub>
                          <m:sSubPr>
                            <m:ctrlPr>
                              <a:rPr lang="ar-AE" sz="900" i="1">
                                <a:latin typeface="Cambria Math" panose="02040503050406030204" pitchFamily="18" charset="0"/>
                              </a:rPr>
                            </m:ctrlPr>
                          </m:sSubPr>
                          <m:e>
                            <m:r>
                              <a:rPr lang="ar-AE" sz="900" i="1">
                                <a:latin typeface="Cambria Math" panose="02040503050406030204" pitchFamily="18" charset="0"/>
                              </a:rPr>
                              <m:t>𝑛</m:t>
                            </m:r>
                          </m:e>
                          <m:sub>
                            <m:r>
                              <a:rPr lang="ar-AE" sz="900" i="1">
                                <a:latin typeface="Cambria Math" panose="02040503050406030204" pitchFamily="18" charset="0"/>
                              </a:rPr>
                              <m:t>𝑖</m:t>
                            </m:r>
                          </m:sub>
                        </m:sSub>
                      </m:e>
                    </m:nary>
                    <m:r>
                      <a:rPr lang="ar-AE" sz="900">
                        <a:latin typeface="Cambria Math" panose="02040503050406030204" pitchFamily="18" charset="0"/>
                      </a:rPr>
                      <m:t>×</m:t>
                    </m:r>
                    <m:sSub>
                      <m:sSubPr>
                        <m:ctrlPr>
                          <a:rPr lang="ar-AE" sz="900" i="1">
                            <a:latin typeface="Cambria Math" panose="02040503050406030204" pitchFamily="18" charset="0"/>
                          </a:rPr>
                        </m:ctrlPr>
                      </m:sSubPr>
                      <m:e>
                        <m:r>
                          <m:rPr>
                            <m:nor/>
                          </m:rPr>
                          <a:rPr lang="es-PE" sz="900" i="1">
                            <a:latin typeface="Cambria Math" panose="02040503050406030204" pitchFamily="18" charset="0"/>
                          </a:rPr>
                          <m:t>Greek</m:t>
                        </m:r>
                      </m:e>
                      <m:sub>
                        <m:r>
                          <a:rPr lang="ar-AE" sz="900" i="1">
                            <a:latin typeface="Cambria Math" panose="02040503050406030204" pitchFamily="18" charset="0"/>
                          </a:rPr>
                          <m:t>𝑖</m:t>
                        </m:r>
                      </m:sub>
                    </m:sSub>
                  </m:oMath>
                </a14:m>
                <a:r>
                  <a:rPr lang="ar-AE" sz="900" dirty="0">
                    <a:latin typeface="Segoe WPC"/>
                  </a:rPr>
                  <a:t>, </a:t>
                </a:r>
                <a:r>
                  <a:rPr lang="es-PE" sz="900" dirty="0">
                    <a:latin typeface="Segoe WPC"/>
                  </a:rPr>
                  <a:t>gamma-neutral </a:t>
                </a:r>
                <a:r>
                  <a:rPr lang="es-PE" sz="900" dirty="0" err="1">
                    <a:latin typeface="Segoe WPC"/>
                  </a:rPr>
                  <a:t>requires</a:t>
                </a:r>
                <a:r>
                  <a:rPr lang="es-PE" sz="900" dirty="0">
                    <a:latin typeface="Segoe WPC"/>
                  </a:rPr>
                  <a:t> </a:t>
                </a:r>
                <a14:m>
                  <m:oMath xmlns:m="http://schemas.openxmlformats.org/officeDocument/2006/math">
                    <m:nary>
                      <m:naryPr>
                        <m:chr m:val="∑"/>
                        <m:limLoc m:val="subSup"/>
                        <m:grow m:val="on"/>
                        <m:supHide m:val="on"/>
                        <m:ctrlPr>
                          <a:rPr lang="ar-AE" sz="900" i="1">
                            <a:latin typeface="Cambria Math" panose="02040503050406030204" pitchFamily="18" charset="0"/>
                          </a:rPr>
                        </m:ctrlPr>
                      </m:naryPr>
                      <m:sub>
                        <m:r>
                          <a:rPr lang="ar-AE" sz="900" i="1">
                            <a:latin typeface="Cambria Math" panose="02040503050406030204" pitchFamily="18" charset="0"/>
                          </a:rPr>
                          <m:t>𝑖</m:t>
                        </m:r>
                      </m:sub>
                      <m:sup/>
                      <m:e>
                        <m:sSub>
                          <m:sSubPr>
                            <m:ctrlPr>
                              <a:rPr lang="ar-AE" sz="900" i="1">
                                <a:latin typeface="Cambria Math" panose="02040503050406030204" pitchFamily="18" charset="0"/>
                              </a:rPr>
                            </m:ctrlPr>
                          </m:sSubPr>
                          <m:e>
                            <m:r>
                              <a:rPr lang="ar-AE" sz="900" i="1">
                                <a:latin typeface="Cambria Math" panose="02040503050406030204" pitchFamily="18" charset="0"/>
                              </a:rPr>
                              <m:t>𝑛</m:t>
                            </m:r>
                          </m:e>
                          <m:sub>
                            <m:r>
                              <a:rPr lang="ar-AE" sz="900" i="1">
                                <a:latin typeface="Cambria Math" panose="02040503050406030204" pitchFamily="18" charset="0"/>
                              </a:rPr>
                              <m:t>𝑖</m:t>
                            </m:r>
                          </m:sub>
                        </m:sSub>
                      </m:e>
                    </m:nary>
                    <m:sSub>
                      <m:sSubPr>
                        <m:ctrlPr>
                          <a:rPr lang="ar-AE" sz="900" i="1">
                            <a:latin typeface="Cambria Math" panose="02040503050406030204" pitchFamily="18" charset="0"/>
                          </a:rPr>
                        </m:ctrlPr>
                      </m:sSubPr>
                      <m:e>
                        <m:r>
                          <a:rPr lang="ar-AE" sz="900" i="1">
                            <a:latin typeface="Cambria Math" panose="02040503050406030204" pitchFamily="18" charset="0"/>
                          </a:rPr>
                          <m:t>𝛤</m:t>
                        </m:r>
                      </m:e>
                      <m:sub>
                        <m:r>
                          <a:rPr lang="ar-AE" sz="900" i="1">
                            <a:latin typeface="Cambria Math" panose="02040503050406030204" pitchFamily="18" charset="0"/>
                          </a:rPr>
                          <m:t>𝑖</m:t>
                        </m:r>
                      </m:sub>
                    </m:sSub>
                    <m:r>
                      <a:rPr lang="ar-AE" sz="900">
                        <a:latin typeface="Cambria Math" panose="02040503050406030204" pitchFamily="18" charset="0"/>
                      </a:rPr>
                      <m:t>=</m:t>
                    </m:r>
                    <m:r>
                      <a:rPr lang="ar-AE" sz="900">
                        <a:latin typeface="Cambria Math" panose="02040503050406030204" pitchFamily="18" charset="0"/>
                      </a:rPr>
                      <m:t>0</m:t>
                    </m:r>
                  </m:oMath>
                </a14:m>
                <a:r>
                  <a:rPr lang="ar-AE" sz="900" dirty="0">
                    <a:latin typeface="Segoe WPC"/>
                  </a:rPr>
                  <a:t>, </a:t>
                </a:r>
                <a:r>
                  <a:rPr lang="es-PE" sz="900" dirty="0">
                    <a:latin typeface="Segoe WPC"/>
                  </a:rPr>
                  <a:t>vega-neutral </a:t>
                </a:r>
                <a:r>
                  <a:rPr lang="es-PE" sz="900" dirty="0" err="1">
                    <a:latin typeface="Segoe WPC"/>
                  </a:rPr>
                  <a:t>requires</a:t>
                </a:r>
                <a:r>
                  <a:rPr lang="es-PE" sz="900" dirty="0">
                    <a:latin typeface="Segoe WPC"/>
                  </a:rPr>
                  <a:t> </a:t>
                </a:r>
                <a14:m>
                  <m:oMath xmlns:m="http://schemas.openxmlformats.org/officeDocument/2006/math">
                    <m:nary>
                      <m:naryPr>
                        <m:chr m:val="∑"/>
                        <m:limLoc m:val="subSup"/>
                        <m:grow m:val="on"/>
                        <m:supHide m:val="on"/>
                        <m:ctrlPr>
                          <a:rPr lang="ar-AE" sz="900" i="1">
                            <a:latin typeface="Cambria Math" panose="02040503050406030204" pitchFamily="18" charset="0"/>
                          </a:rPr>
                        </m:ctrlPr>
                      </m:naryPr>
                      <m:sub>
                        <m:r>
                          <a:rPr lang="ar-AE" sz="900" i="1">
                            <a:latin typeface="Cambria Math" panose="02040503050406030204" pitchFamily="18" charset="0"/>
                          </a:rPr>
                          <m:t>𝑖</m:t>
                        </m:r>
                      </m:sub>
                      <m:sup/>
                      <m:e>
                        <m:sSub>
                          <m:sSubPr>
                            <m:ctrlPr>
                              <a:rPr lang="ar-AE" sz="900" i="1">
                                <a:latin typeface="Cambria Math" panose="02040503050406030204" pitchFamily="18" charset="0"/>
                              </a:rPr>
                            </m:ctrlPr>
                          </m:sSubPr>
                          <m:e>
                            <m:r>
                              <a:rPr lang="ar-AE" sz="900" i="1">
                                <a:latin typeface="Cambria Math" panose="02040503050406030204" pitchFamily="18" charset="0"/>
                              </a:rPr>
                              <m:t>𝑛</m:t>
                            </m:r>
                          </m:e>
                          <m:sub>
                            <m:r>
                              <a:rPr lang="ar-AE" sz="900" i="1">
                                <a:latin typeface="Cambria Math" panose="02040503050406030204" pitchFamily="18" charset="0"/>
                              </a:rPr>
                              <m:t>𝑖</m:t>
                            </m:r>
                          </m:sub>
                        </m:sSub>
                      </m:e>
                    </m:nary>
                    <m:sSub>
                      <m:sSubPr>
                        <m:ctrlPr>
                          <a:rPr lang="ar-AE" sz="900" i="1">
                            <a:latin typeface="Cambria Math" panose="02040503050406030204" pitchFamily="18" charset="0"/>
                          </a:rPr>
                        </m:ctrlPr>
                      </m:sSubPr>
                      <m:e>
                        <m:r>
                          <m:rPr>
                            <m:nor/>
                          </m:rPr>
                          <a:rPr lang="es-PE" sz="900" i="1">
                            <a:latin typeface="Cambria Math" panose="02040503050406030204" pitchFamily="18" charset="0"/>
                          </a:rPr>
                          <m:t>Vega</m:t>
                        </m:r>
                      </m:e>
                      <m:sub>
                        <m:r>
                          <a:rPr lang="ar-AE" sz="900" i="1">
                            <a:latin typeface="Cambria Math" panose="02040503050406030204" pitchFamily="18" charset="0"/>
                          </a:rPr>
                          <m:t>𝑖</m:t>
                        </m:r>
                      </m:sub>
                    </m:sSub>
                    <m:r>
                      <a:rPr lang="ar-AE" sz="900">
                        <a:latin typeface="Cambria Math" panose="02040503050406030204" pitchFamily="18" charset="0"/>
                      </a:rPr>
                      <m:t>=</m:t>
                    </m:r>
                    <m:r>
                      <a:rPr lang="ar-AE" sz="900">
                        <a:latin typeface="Cambria Math" panose="02040503050406030204" pitchFamily="18" charset="0"/>
                      </a:rPr>
                      <m:t>0</m:t>
                    </m:r>
                  </m:oMath>
                </a14:m>
                <a:endParaRPr lang="ar-AE" sz="900" dirty="0">
                  <a:latin typeface="Segoe WPC"/>
                </a:endParaRPr>
              </a:p>
              <a:p>
                <a:pPr>
                  <a:spcBef>
                    <a:spcPts val="300"/>
                  </a:spcBef>
                </a:pPr>
                <a:r>
                  <a:rPr lang="es-PE" sz="900" b="1" dirty="0" err="1">
                    <a:latin typeface="Segoe WPC"/>
                  </a:rPr>
                  <a:t>Interpretation</a:t>
                </a:r>
                <a:r>
                  <a:rPr lang="es-PE" sz="900" b="1" dirty="0">
                    <a:latin typeface="Segoe WPC"/>
                  </a:rPr>
                  <a:t>:</a:t>
                </a:r>
                <a:r>
                  <a:rPr lang="es-PE" sz="900" dirty="0">
                    <a:latin typeface="Segoe WPC"/>
                  </a:rPr>
                  <a:t> Delta can be </a:t>
                </a:r>
                <a:r>
                  <a:rPr lang="es-PE" sz="900" dirty="0" err="1">
                    <a:latin typeface="Segoe WPC"/>
                  </a:rPr>
                  <a:t>adjusted</a:t>
                </a:r>
                <a:r>
                  <a:rPr lang="es-PE" sz="900" dirty="0">
                    <a:latin typeface="Segoe WPC"/>
                  </a:rPr>
                  <a:t> </a:t>
                </a:r>
                <a:r>
                  <a:rPr lang="es-PE" sz="900" dirty="0" err="1">
                    <a:latin typeface="Segoe WPC"/>
                  </a:rPr>
                  <a:t>with</a:t>
                </a:r>
                <a:r>
                  <a:rPr lang="es-PE" sz="900" dirty="0">
                    <a:latin typeface="Segoe WPC"/>
                  </a:rPr>
                  <a:t> </a:t>
                </a:r>
                <a:r>
                  <a:rPr lang="es-PE" sz="900" dirty="0" err="1">
                    <a:latin typeface="Segoe WPC"/>
                  </a:rPr>
                  <a:t>the</a:t>
                </a:r>
                <a:r>
                  <a:rPr lang="es-PE" sz="900" dirty="0">
                    <a:latin typeface="Segoe WPC"/>
                  </a:rPr>
                  <a:t> </a:t>
                </a:r>
                <a:r>
                  <a:rPr lang="es-PE" sz="900" dirty="0" err="1">
                    <a:latin typeface="Segoe WPC"/>
                  </a:rPr>
                  <a:t>underlying</a:t>
                </a:r>
                <a:r>
                  <a:rPr lang="es-PE" sz="900" dirty="0">
                    <a:latin typeface="Segoe WPC"/>
                  </a:rPr>
                  <a:t>, </a:t>
                </a:r>
                <a:r>
                  <a:rPr lang="es-PE" sz="900" dirty="0" err="1">
                    <a:latin typeface="Segoe WPC"/>
                  </a:rPr>
                  <a:t>but</a:t>
                </a:r>
                <a:r>
                  <a:rPr lang="es-PE" sz="900" dirty="0">
                    <a:latin typeface="Segoe WPC"/>
                  </a:rPr>
                  <a:t> gamma and vega </a:t>
                </a:r>
                <a:r>
                  <a:rPr lang="es-PE" sz="900" dirty="0" err="1">
                    <a:latin typeface="Segoe WPC"/>
                  </a:rPr>
                  <a:t>require</a:t>
                </a:r>
                <a:r>
                  <a:rPr lang="es-PE" sz="900" dirty="0">
                    <a:latin typeface="Segoe WPC"/>
                  </a:rPr>
                  <a:t> </a:t>
                </a:r>
                <a:r>
                  <a:rPr lang="es-PE" sz="900" dirty="0" err="1">
                    <a:latin typeface="Segoe WPC"/>
                  </a:rPr>
                  <a:t>other</a:t>
                </a:r>
                <a:r>
                  <a:rPr lang="es-PE" sz="900" dirty="0">
                    <a:latin typeface="Segoe WPC"/>
                  </a:rPr>
                  <a:t> derivatives.</a:t>
                </a:r>
              </a:p>
              <a:p>
                <a:pPr>
                  <a:spcBef>
                    <a:spcPts val="300"/>
                  </a:spcBef>
                </a:pPr>
                <a:r>
                  <a:rPr lang="es-PE" sz="900" b="1" dirty="0" err="1">
                    <a:latin typeface="Segoe WPC"/>
                  </a:rPr>
                  <a:t>Exam</a:t>
                </a:r>
                <a:r>
                  <a:rPr lang="es-PE" sz="900" b="1" dirty="0">
                    <a:latin typeface="Segoe WPC"/>
                  </a:rPr>
                  <a:t> </a:t>
                </a:r>
                <a:r>
                  <a:rPr lang="es-PE" sz="900" b="1" dirty="0" err="1">
                    <a:latin typeface="Segoe WPC"/>
                  </a:rPr>
                  <a:t>Trap</a:t>
                </a:r>
                <a:r>
                  <a:rPr lang="es-PE" sz="900" b="1" dirty="0">
                    <a:latin typeface="Segoe WPC"/>
                  </a:rPr>
                  <a:t>:</a:t>
                </a:r>
                <a:r>
                  <a:rPr lang="es-PE" sz="900" dirty="0">
                    <a:latin typeface="Segoe WPC"/>
                  </a:rPr>
                  <a:t> </a:t>
                </a:r>
                <a:r>
                  <a:rPr lang="es-PE" sz="900" dirty="0" err="1">
                    <a:latin typeface="Segoe WPC"/>
                  </a:rPr>
                  <a:t>Hedging</a:t>
                </a:r>
                <a:r>
                  <a:rPr lang="es-PE" sz="900" dirty="0">
                    <a:latin typeface="Segoe WPC"/>
                  </a:rPr>
                  <a:t> gamma and vega </a:t>
                </a:r>
                <a:r>
                  <a:rPr lang="es-PE" sz="900" dirty="0" err="1">
                    <a:latin typeface="Segoe WPC"/>
                  </a:rPr>
                  <a:t>is</a:t>
                </a:r>
                <a:r>
                  <a:rPr lang="es-PE" sz="900" dirty="0">
                    <a:latin typeface="Segoe WPC"/>
                  </a:rPr>
                  <a:t> more </a:t>
                </a:r>
                <a:r>
                  <a:rPr lang="es-PE" sz="900" dirty="0" err="1">
                    <a:latin typeface="Segoe WPC"/>
                  </a:rPr>
                  <a:t>expensive</a:t>
                </a:r>
                <a:r>
                  <a:rPr lang="es-PE" sz="900" dirty="0">
                    <a:latin typeface="Segoe WPC"/>
                  </a:rPr>
                  <a:t> </a:t>
                </a:r>
                <a:r>
                  <a:rPr lang="es-PE" sz="900" dirty="0" err="1">
                    <a:latin typeface="Segoe WPC"/>
                  </a:rPr>
                  <a:t>than</a:t>
                </a:r>
                <a:r>
                  <a:rPr lang="es-PE" sz="900" dirty="0">
                    <a:latin typeface="Segoe WPC"/>
                  </a:rPr>
                  <a:t> </a:t>
                </a:r>
                <a:r>
                  <a:rPr lang="es-PE" sz="900" dirty="0" err="1">
                    <a:latin typeface="Segoe WPC"/>
                  </a:rPr>
                  <a:t>hedging</a:t>
                </a:r>
                <a:r>
                  <a:rPr lang="es-PE" sz="900" dirty="0">
                    <a:latin typeface="Segoe WPC"/>
                  </a:rPr>
                  <a:t> delta </a:t>
                </a:r>
                <a:r>
                  <a:rPr lang="es-PE" sz="900" dirty="0" err="1">
                    <a:latin typeface="Segoe WPC"/>
                  </a:rPr>
                  <a:t>because</a:t>
                </a:r>
                <a:r>
                  <a:rPr lang="es-PE" sz="900" dirty="0">
                    <a:latin typeface="Segoe WPC"/>
                  </a:rPr>
                  <a:t> </a:t>
                </a:r>
                <a:r>
                  <a:rPr lang="es-PE" sz="900" dirty="0" err="1">
                    <a:latin typeface="Segoe WPC"/>
                  </a:rPr>
                  <a:t>it</a:t>
                </a:r>
                <a:r>
                  <a:rPr lang="es-PE" sz="900" dirty="0">
                    <a:latin typeface="Segoe WPC"/>
                  </a:rPr>
                  <a:t> </a:t>
                </a:r>
                <a:r>
                  <a:rPr lang="es-PE" sz="900" dirty="0" err="1">
                    <a:latin typeface="Segoe WPC"/>
                  </a:rPr>
                  <a:t>requires</a:t>
                </a:r>
                <a:r>
                  <a:rPr lang="es-PE" sz="900" dirty="0">
                    <a:latin typeface="Segoe WPC"/>
                  </a:rPr>
                  <a:t> trading </a:t>
                </a:r>
                <a:r>
                  <a:rPr lang="es-PE" sz="900" dirty="0" err="1">
                    <a:latin typeface="Segoe WPC"/>
                  </a:rPr>
                  <a:t>other</a:t>
                </a:r>
                <a:r>
                  <a:rPr lang="es-PE" sz="900" dirty="0">
                    <a:latin typeface="Segoe WPC"/>
                  </a:rPr>
                  <a:t> </a:t>
                </a:r>
                <a:r>
                  <a:rPr lang="es-PE" sz="900" dirty="0" err="1">
                    <a:latin typeface="Segoe WPC"/>
                  </a:rPr>
                  <a:t>options</a:t>
                </a:r>
                <a:r>
                  <a:rPr lang="es-PE" sz="900" dirty="0">
                    <a:latin typeface="Segoe WPC"/>
                  </a:rPr>
                  <a:t>, </a:t>
                </a:r>
                <a:r>
                  <a:rPr lang="es-PE" sz="900" dirty="0" err="1">
                    <a:latin typeface="Segoe WPC"/>
                  </a:rPr>
                  <a:t>not</a:t>
                </a:r>
                <a:r>
                  <a:rPr lang="es-PE" sz="900" dirty="0">
                    <a:latin typeface="Segoe WPC"/>
                  </a:rPr>
                  <a:t> </a:t>
                </a:r>
                <a:r>
                  <a:rPr lang="es-PE" sz="900" dirty="0" err="1">
                    <a:latin typeface="Segoe WPC"/>
                  </a:rPr>
                  <a:t>just</a:t>
                </a:r>
                <a:r>
                  <a:rPr lang="es-PE" sz="900" dirty="0">
                    <a:latin typeface="Segoe WPC"/>
                  </a:rPr>
                  <a:t> </a:t>
                </a:r>
                <a:r>
                  <a:rPr lang="es-PE" sz="900" dirty="0" err="1">
                    <a:latin typeface="Segoe WPC"/>
                  </a:rPr>
                  <a:t>the</a:t>
                </a:r>
                <a:r>
                  <a:rPr lang="es-PE" sz="900" dirty="0">
                    <a:latin typeface="Segoe WPC"/>
                  </a:rPr>
                  <a:t> </a:t>
                </a:r>
                <a:r>
                  <a:rPr lang="es-PE" sz="900" dirty="0" err="1">
                    <a:latin typeface="Segoe WPC"/>
                  </a:rPr>
                  <a:t>underlying</a:t>
                </a:r>
                <a:r>
                  <a:rPr lang="es-PE" sz="900" dirty="0">
                    <a:latin typeface="Segoe WPC"/>
                  </a:rPr>
                  <a:t>.</a:t>
                </a:r>
              </a:p>
              <a:p>
                <a:pPr marL="171450" indent="-171450" algn="l">
                  <a:spcBef>
                    <a:spcPts val="300"/>
                  </a:spcBef>
                  <a:buFont typeface="Wingdings" panose="05000000000000000000" pitchFamily="2" charset="2"/>
                  <a:buChar char="q"/>
                </a:pPr>
                <a:endParaRPr lang="es-PE" sz="900" b="1" i="0" dirty="0">
                  <a:solidFill>
                    <a:schemeClr val="tx1"/>
                  </a:solidFill>
                  <a:effectLst/>
                  <a:latin typeface="Segoe WPC"/>
                </a:endParaRPr>
              </a:p>
              <a:p>
                <a:pPr marL="171450" indent="-171450" algn="l">
                  <a:spcBef>
                    <a:spcPts val="300"/>
                  </a:spcBef>
                  <a:buFont typeface="Wingdings" panose="05000000000000000000" pitchFamily="2" charset="2"/>
                  <a:buChar char="q"/>
                </a:pPr>
                <a:r>
                  <a:rPr lang="es-PE" sz="900" b="1" i="0" dirty="0">
                    <a:solidFill>
                      <a:schemeClr val="tx1"/>
                    </a:solidFill>
                    <a:effectLst/>
                    <a:latin typeface="Segoe WPC"/>
                  </a:rPr>
                  <a:t>Portfolio </a:t>
                </a:r>
                <a:r>
                  <a:rPr lang="es-PE" sz="900" b="1" i="0" dirty="0" err="1">
                    <a:solidFill>
                      <a:schemeClr val="tx1"/>
                    </a:solidFill>
                    <a:effectLst/>
                    <a:latin typeface="Segoe WPC"/>
                  </a:rPr>
                  <a:t>Greeks</a:t>
                </a:r>
                <a:r>
                  <a:rPr lang="es-PE" sz="900" b="1" i="0" dirty="0">
                    <a:solidFill>
                      <a:schemeClr val="tx1"/>
                    </a:solidFill>
                    <a:effectLst/>
                    <a:latin typeface="Segoe WPC"/>
                  </a:rPr>
                  <a:t> and Portfolio </a:t>
                </a:r>
                <a:r>
                  <a:rPr lang="es-PE" sz="900" b="1" i="0" dirty="0" err="1">
                    <a:solidFill>
                      <a:schemeClr val="tx1"/>
                    </a:solidFill>
                    <a:effectLst/>
                    <a:latin typeface="Segoe WPC"/>
                  </a:rPr>
                  <a:t>Insurance</a:t>
                </a:r>
                <a:endParaRPr lang="es-P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Financial</a:t>
                </a:r>
                <a:r>
                  <a:rPr lang="es-PE" sz="900" b="1" i="0" dirty="0">
                    <a:solidFill>
                      <a:schemeClr val="tx1"/>
                    </a:solidFill>
                    <a:effectLst/>
                    <a:latin typeface="Segoe WPC"/>
                  </a:rPr>
                  <a:t> </a:t>
                </a:r>
                <a:r>
                  <a:rPr lang="es-PE" sz="900" b="1" i="0" dirty="0" err="1">
                    <a:solidFill>
                      <a:schemeClr val="tx1"/>
                    </a:solidFill>
                    <a:effectLst/>
                    <a:latin typeface="Segoe WPC"/>
                  </a:rPr>
                  <a:t>Object</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Greek</a:t>
                </a:r>
                <a:r>
                  <a:rPr lang="es-PE" sz="900" b="0" i="0" dirty="0">
                    <a:solidFill>
                      <a:schemeClr val="tx1"/>
                    </a:solidFill>
                    <a:effectLst/>
                    <a:latin typeface="Segoe WPC"/>
                  </a:rPr>
                  <a:t> </a:t>
                </a:r>
                <a:r>
                  <a:rPr lang="es-PE" sz="900" b="0" i="0" dirty="0" err="1">
                    <a:solidFill>
                      <a:schemeClr val="tx1"/>
                    </a:solidFill>
                    <a:effectLst/>
                    <a:latin typeface="Segoe WPC"/>
                  </a:rPr>
                  <a:t>aggregation</a:t>
                </a:r>
                <a:r>
                  <a:rPr lang="es-PE" sz="900" b="0" i="0" dirty="0">
                    <a:solidFill>
                      <a:schemeClr val="tx1"/>
                    </a:solidFill>
                    <a:effectLst/>
                    <a:latin typeface="Segoe WPC"/>
                  </a:rPr>
                  <a:t> and </a:t>
                </a:r>
                <a:r>
                  <a:rPr lang="es-PE" sz="900" b="0" i="0" dirty="0" err="1">
                    <a:solidFill>
                      <a:schemeClr val="tx1"/>
                    </a:solidFill>
                    <a:effectLst/>
                    <a:latin typeface="Segoe WPC"/>
                  </a:rPr>
                  <a:t>synthetic</a:t>
                </a:r>
                <a:r>
                  <a:rPr lang="es-PE" sz="900" b="0" i="0" dirty="0">
                    <a:solidFill>
                      <a:schemeClr val="tx1"/>
                    </a:solidFill>
                    <a:effectLst/>
                    <a:latin typeface="Segoe WPC"/>
                  </a:rPr>
                  <a:t> </a:t>
                </a:r>
                <a:r>
                  <a:rPr lang="es-PE" sz="900" b="0" i="0" dirty="0" err="1">
                    <a:solidFill>
                      <a:schemeClr val="tx1"/>
                    </a:solidFill>
                    <a:effectLst/>
                    <a:latin typeface="Segoe WPC"/>
                  </a:rPr>
                  <a:t>downside</a:t>
                </a:r>
                <a:r>
                  <a:rPr lang="es-PE" sz="900" b="0" i="0" dirty="0">
                    <a:solidFill>
                      <a:schemeClr val="tx1"/>
                    </a:solidFill>
                    <a:effectLst/>
                    <a:latin typeface="Segoe WPC"/>
                  </a:rPr>
                  <a:t> </a:t>
                </a:r>
                <a:r>
                  <a:rPr lang="es-PE" sz="900" b="0" i="0" dirty="0" err="1">
                    <a:solidFill>
                      <a:schemeClr val="tx1"/>
                    </a:solidFill>
                    <a:effectLst/>
                    <a:latin typeface="Segoe WPC"/>
                  </a:rPr>
                  <a:t>protection</a:t>
                </a:r>
                <a:r>
                  <a:rPr lang="es-PE" sz="900" b="0" i="0" dirty="0">
                    <a:solidFill>
                      <a:schemeClr val="tx1"/>
                    </a:solidFill>
                    <a:effectLst/>
                    <a:latin typeface="Segoe WPC"/>
                  </a:rPr>
                  <a:t>.</a:t>
                </a:r>
              </a:p>
              <a:p>
                <a:pPr algn="l">
                  <a:spcBef>
                    <a:spcPts val="300"/>
                  </a:spcBef>
                </a:pPr>
                <a:r>
                  <a:rPr lang="es-PE" sz="900" b="1" i="0" dirty="0" err="1">
                    <a:solidFill>
                      <a:schemeClr val="tx1"/>
                    </a:solidFill>
                    <a:effectLst/>
                    <a:latin typeface="Segoe WPC"/>
                  </a:rPr>
                  <a:t>Plain</a:t>
                </a:r>
                <a:r>
                  <a:rPr lang="es-PE" sz="900" b="1" i="0" dirty="0">
                    <a:solidFill>
                      <a:schemeClr val="tx1"/>
                    </a:solidFill>
                    <a:effectLst/>
                    <a:latin typeface="Segoe WPC"/>
                  </a:rPr>
                  <a:t>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Portfolio </a:t>
                </a:r>
                <a:r>
                  <a:rPr lang="es-PE" sz="900" b="0" i="0" dirty="0" err="1">
                    <a:solidFill>
                      <a:schemeClr val="tx1"/>
                    </a:solidFill>
                    <a:effectLst/>
                    <a:latin typeface="Segoe WPC"/>
                  </a:rPr>
                  <a:t>Greeks</a:t>
                </a:r>
                <a:r>
                  <a:rPr lang="es-PE" sz="900" b="0" i="0" dirty="0">
                    <a:solidFill>
                      <a:schemeClr val="tx1"/>
                    </a:solidFill>
                    <a:effectLst/>
                    <a:latin typeface="Segoe WPC"/>
                  </a:rPr>
                  <a:t> are </a:t>
                </a:r>
                <a:r>
                  <a:rPr lang="es-PE" sz="900" b="0" i="0" dirty="0" err="1">
                    <a:solidFill>
                      <a:schemeClr val="tx1"/>
                    </a:solidFill>
                    <a:effectLst/>
                    <a:latin typeface="Segoe WPC"/>
                  </a:rPr>
                  <a:t>just</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sum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component</a:t>
                </a:r>
                <a:r>
                  <a:rPr lang="es-PE" sz="900" b="0" i="0" dirty="0">
                    <a:solidFill>
                      <a:schemeClr val="tx1"/>
                    </a:solidFill>
                    <a:effectLst/>
                    <a:latin typeface="Segoe WPC"/>
                  </a:rPr>
                  <a:t> </a:t>
                </a:r>
                <a:r>
                  <a:rPr lang="es-PE" sz="900" b="0" i="0" dirty="0" err="1">
                    <a:solidFill>
                      <a:schemeClr val="tx1"/>
                    </a:solidFill>
                    <a:effectLst/>
                    <a:latin typeface="Segoe WPC"/>
                  </a:rPr>
                  <a:t>Greeks</a:t>
                </a:r>
                <a:r>
                  <a:rPr lang="es-PE" sz="900" b="0" i="0" dirty="0">
                    <a:solidFill>
                      <a:schemeClr val="tx1"/>
                    </a:solidFill>
                    <a:effectLst/>
                    <a:latin typeface="Segoe WPC"/>
                  </a:rPr>
                  <a:t>, and portfolio </a:t>
                </a:r>
                <a:r>
                  <a:rPr lang="es-PE" sz="900" b="0" i="0" dirty="0" err="1">
                    <a:solidFill>
                      <a:schemeClr val="tx1"/>
                    </a:solidFill>
                    <a:effectLst/>
                    <a:latin typeface="Segoe WPC"/>
                  </a:rPr>
                  <a:t>insurance</a:t>
                </a:r>
                <a:r>
                  <a:rPr lang="es-PE" sz="900" b="0" i="0" dirty="0">
                    <a:solidFill>
                      <a:schemeClr val="tx1"/>
                    </a:solidFill>
                    <a:effectLst/>
                    <a:latin typeface="Segoe WPC"/>
                  </a:rPr>
                  <a:t> tries </a:t>
                </a:r>
                <a:r>
                  <a:rPr lang="es-PE" sz="900" b="0" i="0" dirty="0" err="1">
                    <a:solidFill>
                      <a:schemeClr val="tx1"/>
                    </a:solidFill>
                    <a:effectLst/>
                    <a:latin typeface="Segoe WPC"/>
                  </a:rPr>
                  <a:t>to</a:t>
                </a:r>
                <a:r>
                  <a:rPr lang="es-PE" sz="900" b="0" i="0" dirty="0">
                    <a:solidFill>
                      <a:schemeClr val="tx1"/>
                    </a:solidFill>
                    <a:effectLst/>
                    <a:latin typeface="Segoe WPC"/>
                  </a:rPr>
                  <a:t> </a:t>
                </a:r>
                <a:r>
                  <a:rPr lang="es-PE" sz="900" b="0" i="0" dirty="0" err="1">
                    <a:solidFill>
                      <a:schemeClr val="tx1"/>
                    </a:solidFill>
                    <a:effectLst/>
                    <a:latin typeface="Segoe WPC"/>
                  </a:rPr>
                  <a:t>replicate</a:t>
                </a:r>
                <a:r>
                  <a:rPr lang="es-PE" sz="900" b="0" i="0" dirty="0">
                    <a:solidFill>
                      <a:schemeClr val="tx1"/>
                    </a:solidFill>
                    <a:effectLst/>
                    <a:latin typeface="Segoe WPC"/>
                  </a:rPr>
                  <a:t> a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dynamically</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Visual </a:t>
                </a:r>
                <a:r>
                  <a:rPr lang="es-PE" sz="900" b="1" i="0" dirty="0" err="1">
                    <a:solidFill>
                      <a:schemeClr val="tx1"/>
                    </a:solidFill>
                    <a:effectLst/>
                    <a:latin typeface="Segoe WPC"/>
                  </a:rPr>
                  <a:t>Intuition</a:t>
                </a:r>
                <a:r>
                  <a:rPr lang="es-PE" sz="900" b="1" i="0" dirty="0">
                    <a:solidFill>
                      <a:schemeClr val="tx1"/>
                    </a:solidFill>
                    <a:effectLst/>
                    <a:latin typeface="Segoe WPC"/>
                  </a:rPr>
                  <a:t>:</a:t>
                </a:r>
                <a:r>
                  <a:rPr lang="es-PE" sz="900" b="0" i="0" dirty="0">
                    <a:solidFill>
                      <a:schemeClr val="tx1"/>
                    </a:solidFill>
                    <a:effectLst/>
                    <a:latin typeface="Segoe WPC"/>
                  </a:rPr>
                  <a:t> </a:t>
                </a:r>
                <a:r>
                  <a:rPr lang="es-PE" sz="900" b="0" i="0" dirty="0" err="1">
                    <a:solidFill>
                      <a:schemeClr val="tx1"/>
                    </a:solidFill>
                    <a:effectLst/>
                    <a:latin typeface="Segoe WPC"/>
                  </a:rPr>
                  <a:t>An</a:t>
                </a:r>
                <a:r>
                  <a:rPr lang="es-PE" sz="900" b="0" i="0" dirty="0">
                    <a:solidFill>
                      <a:schemeClr val="tx1"/>
                    </a:solidFill>
                    <a:effectLst/>
                    <a:latin typeface="Segoe WPC"/>
                  </a:rPr>
                  <a:t> </a:t>
                </a:r>
                <a:r>
                  <a:rPr lang="es-PE" sz="900" b="0" i="0" dirty="0" err="1">
                    <a:solidFill>
                      <a:schemeClr val="tx1"/>
                    </a:solidFill>
                    <a:effectLst/>
                    <a:latin typeface="Segoe WPC"/>
                  </a:rPr>
                  <a:t>asset</a:t>
                </a:r>
                <a:r>
                  <a:rPr lang="es-PE" sz="900" b="0" i="0" dirty="0">
                    <a:solidFill>
                      <a:schemeClr val="tx1"/>
                    </a:solidFill>
                    <a:effectLst/>
                    <a:latin typeface="Segoe WPC"/>
                  </a:rPr>
                  <a:t> manager can </a:t>
                </a:r>
                <a:r>
                  <a:rPr lang="es-PE" sz="900" b="0" i="0" dirty="0" err="1">
                    <a:solidFill>
                      <a:schemeClr val="tx1"/>
                    </a:solidFill>
                    <a:effectLst/>
                    <a:latin typeface="Segoe WPC"/>
                  </a:rPr>
                  <a:t>mimic</a:t>
                </a:r>
                <a:r>
                  <a:rPr lang="es-PE" sz="900" b="0" i="0" dirty="0">
                    <a:solidFill>
                      <a:schemeClr val="tx1"/>
                    </a:solidFill>
                    <a:effectLst/>
                    <a:latin typeface="Segoe WPC"/>
                  </a:rPr>
                  <a:t> </a:t>
                </a:r>
                <a:r>
                  <a:rPr lang="es-PE" sz="900" b="0" i="0" dirty="0" err="1">
                    <a:solidFill>
                      <a:schemeClr val="tx1"/>
                    </a:solidFill>
                    <a:effectLst/>
                    <a:latin typeface="Segoe WPC"/>
                  </a:rPr>
                  <a:t>protective</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behavior</a:t>
                </a:r>
                <a:r>
                  <a:rPr lang="es-PE" sz="900" b="0" i="0" dirty="0">
                    <a:solidFill>
                      <a:schemeClr val="tx1"/>
                    </a:solidFill>
                    <a:effectLst/>
                    <a:latin typeface="Segoe WPC"/>
                  </a:rPr>
                  <a:t> </a:t>
                </a:r>
                <a:r>
                  <a:rPr lang="es-PE" sz="900" b="0" i="0" dirty="0" err="1">
                    <a:solidFill>
                      <a:schemeClr val="tx1"/>
                    </a:solidFill>
                    <a:effectLst/>
                    <a:latin typeface="Segoe WPC"/>
                  </a:rPr>
                  <a:t>by</a:t>
                </a:r>
                <a:r>
                  <a:rPr lang="es-PE" sz="900" b="0" i="0" dirty="0">
                    <a:solidFill>
                      <a:schemeClr val="tx1"/>
                    </a:solidFill>
                    <a:effectLst/>
                    <a:latin typeface="Segoe WPC"/>
                  </a:rPr>
                  <a:t> </a:t>
                </a:r>
                <a:r>
                  <a:rPr lang="es-PE" sz="900" b="0" i="0" dirty="0" err="1">
                    <a:solidFill>
                      <a:schemeClr val="tx1"/>
                    </a:solidFill>
                    <a:effectLst/>
                    <a:latin typeface="Segoe WPC"/>
                  </a:rPr>
                  <a:t>selling</a:t>
                </a:r>
                <a:r>
                  <a:rPr lang="es-PE" sz="900" b="0" i="0" dirty="0">
                    <a:solidFill>
                      <a:schemeClr val="tx1"/>
                    </a:solidFill>
                    <a:effectLst/>
                    <a:latin typeface="Segoe WPC"/>
                  </a:rPr>
                  <a:t> </a:t>
                </a:r>
                <a:r>
                  <a:rPr lang="es-PE" sz="900" b="0" i="0" dirty="0" err="1">
                    <a:solidFill>
                      <a:schemeClr val="tx1"/>
                    </a:solidFill>
                    <a:effectLst/>
                    <a:latin typeface="Segoe WPC"/>
                  </a:rPr>
                  <a:t>part</a:t>
                </a:r>
                <a:r>
                  <a:rPr lang="es-PE" sz="900" b="0" i="0" dirty="0">
                    <a:solidFill>
                      <a:schemeClr val="tx1"/>
                    </a:solidFill>
                    <a:effectLst/>
                    <a:latin typeface="Segoe WPC"/>
                  </a:rPr>
                  <a:t> </a:t>
                </a:r>
                <a:r>
                  <a:rPr lang="es-PE" sz="900" b="0" i="0" dirty="0" err="1">
                    <a:solidFill>
                      <a:schemeClr val="tx1"/>
                    </a:solidFill>
                    <a:effectLst/>
                    <a:latin typeface="Segoe WPC"/>
                  </a:rPr>
                  <a:t>of</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portfolio as delta </a:t>
                </a:r>
                <a:r>
                  <a:rPr lang="es-PE" sz="900" b="0" i="0" dirty="0" err="1">
                    <a:solidFill>
                      <a:schemeClr val="tx1"/>
                    </a:solidFill>
                    <a:effectLst/>
                    <a:latin typeface="Segoe WPC"/>
                  </a:rPr>
                  <a:t>falls</a:t>
                </a:r>
                <a:r>
                  <a:rPr lang="es-PE" sz="900" b="0" i="0" dirty="0">
                    <a:solidFill>
                      <a:schemeClr val="tx1"/>
                    </a:solidFill>
                    <a:effectLst/>
                    <a:latin typeface="Segoe WPC"/>
                  </a:rPr>
                  <a:t> and </a:t>
                </a:r>
                <a:r>
                  <a:rPr lang="es-PE" sz="900" b="0" i="0" dirty="0" err="1">
                    <a:solidFill>
                      <a:schemeClr val="tx1"/>
                    </a:solidFill>
                    <a:effectLst/>
                    <a:latin typeface="Segoe WPC"/>
                  </a:rPr>
                  <a:t>buying</a:t>
                </a:r>
                <a:r>
                  <a:rPr lang="es-PE" sz="900" b="0" i="0" dirty="0">
                    <a:solidFill>
                      <a:schemeClr val="tx1"/>
                    </a:solidFill>
                    <a:effectLst/>
                    <a:latin typeface="Segoe WPC"/>
                  </a:rPr>
                  <a:t> </a:t>
                </a:r>
                <a:r>
                  <a:rPr lang="es-PE" sz="900" b="0" i="0" dirty="0" err="1">
                    <a:solidFill>
                      <a:schemeClr val="tx1"/>
                    </a:solidFill>
                    <a:effectLst/>
                    <a:latin typeface="Segoe WPC"/>
                  </a:rPr>
                  <a:t>it</a:t>
                </a:r>
                <a:r>
                  <a:rPr lang="es-PE" sz="900" b="0" i="0" dirty="0">
                    <a:solidFill>
                      <a:schemeClr val="tx1"/>
                    </a:solidFill>
                    <a:effectLst/>
                    <a:latin typeface="Segoe WPC"/>
                  </a:rPr>
                  <a:t> back </a:t>
                </a:r>
                <a:r>
                  <a:rPr lang="es-PE" sz="900" b="0" i="0" dirty="0" err="1">
                    <a:solidFill>
                      <a:schemeClr val="tx1"/>
                    </a:solidFill>
                    <a:effectLst/>
                    <a:latin typeface="Segoe WPC"/>
                  </a:rPr>
                  <a:t>when</a:t>
                </a:r>
                <a:r>
                  <a:rPr lang="es-PE" sz="900" b="0" i="0" dirty="0">
                    <a:solidFill>
                      <a:schemeClr val="tx1"/>
                    </a:solidFill>
                    <a:effectLst/>
                    <a:latin typeface="Segoe WPC"/>
                  </a:rPr>
                  <a:t> delta </a:t>
                </a:r>
                <a:r>
                  <a:rPr lang="es-PE" sz="900" b="0" i="0" dirty="0" err="1">
                    <a:solidFill>
                      <a:schemeClr val="tx1"/>
                    </a:solidFill>
                    <a:effectLst/>
                    <a:latin typeface="Segoe WPC"/>
                  </a:rPr>
                  <a:t>rises</a:t>
                </a:r>
                <a:r>
                  <a:rPr lang="es-PE" sz="900" b="0" i="0" dirty="0">
                    <a:solidFill>
                      <a:schemeClr val="tx1"/>
                    </a:solidFill>
                    <a:effectLst/>
                    <a:latin typeface="Segoe WPC"/>
                  </a:rPr>
                  <a:t>.</a:t>
                </a:r>
              </a:p>
              <a:p>
                <a:pPr algn="l">
                  <a:spcBef>
                    <a:spcPts val="300"/>
                  </a:spcBef>
                </a:pPr>
                <a:r>
                  <a:rPr lang="es-PE" sz="900" b="1" i="0" dirty="0">
                    <a:solidFill>
                      <a:schemeClr val="tx1"/>
                    </a:solidFill>
                    <a:effectLst/>
                    <a:latin typeface="Segoe WPC"/>
                  </a:rPr>
                  <a:t>Key Formula:</a:t>
                </a:r>
                <a:r>
                  <a:rPr lang="es-PE" sz="900" b="0" i="0" dirty="0">
                    <a:solidFill>
                      <a:schemeClr val="tx1"/>
                    </a:solidFill>
                    <a:effectLst/>
                    <a:latin typeface="Segoe WPC"/>
                  </a:rPr>
                  <a:t> Portfolio delta </a:t>
                </a:r>
                <a14:m>
                  <m:oMath xmlns:m="http://schemas.openxmlformats.org/officeDocument/2006/math">
                    <m:r>
                      <a:rPr lang="es-PE" sz="900">
                        <a:solidFill>
                          <a:schemeClr val="tx1"/>
                        </a:solidFill>
                        <a:latin typeface="Cambria Math" panose="02040503050406030204" pitchFamily="18" charset="0"/>
                      </a:rPr>
                      <m:t>=</m:t>
                    </m:r>
                    <m:nary>
                      <m:naryPr>
                        <m:chr m:val="∑"/>
                        <m:limLoc m:val="subSup"/>
                        <m:grow m:val="on"/>
                        <m:supHide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sub>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𝑛</m:t>
                            </m:r>
                          </m:e>
                          <m:sub>
                            <m:r>
                              <a:rPr lang="ar-AE" sz="900" i="1">
                                <a:solidFill>
                                  <a:schemeClr val="tx1"/>
                                </a:solidFill>
                                <a:latin typeface="Cambria Math" panose="02040503050406030204" pitchFamily="18" charset="0"/>
                              </a:rPr>
                              <m:t>𝑖</m:t>
                            </m:r>
                          </m:sub>
                        </m:sSub>
                      </m:e>
                    </m:nary>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𝛥</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a:solidFill>
                      <a:schemeClr val="tx1"/>
                    </a:solidFill>
                    <a:effectLst/>
                    <a:latin typeface="Segoe WPC"/>
                  </a:rPr>
                  <a:t>portfolio gamma </a:t>
                </a:r>
                <a14:m>
                  <m:oMath xmlns:m="http://schemas.openxmlformats.org/officeDocument/2006/math">
                    <m:r>
                      <a:rPr lang="es-PE" sz="900">
                        <a:solidFill>
                          <a:schemeClr val="tx1"/>
                        </a:solidFill>
                        <a:latin typeface="Cambria Math" panose="02040503050406030204" pitchFamily="18" charset="0"/>
                      </a:rPr>
                      <m:t>=</m:t>
                    </m:r>
                    <m:nary>
                      <m:naryPr>
                        <m:chr m:val="∑"/>
                        <m:limLoc m:val="subSup"/>
                        <m:grow m:val="on"/>
                        <m:supHide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sub>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𝑛</m:t>
                            </m:r>
                          </m:e>
                          <m:sub>
                            <m:r>
                              <a:rPr lang="ar-AE" sz="900" i="1">
                                <a:solidFill>
                                  <a:schemeClr val="tx1"/>
                                </a:solidFill>
                                <a:latin typeface="Cambria Math" panose="02040503050406030204" pitchFamily="18" charset="0"/>
                              </a:rPr>
                              <m:t>𝑖</m:t>
                            </m:r>
                          </m:sub>
                        </m:sSub>
                      </m:e>
                    </m:nary>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𝛤</m:t>
                        </m:r>
                      </m:e>
                      <m:sub>
                        <m:r>
                          <a:rPr lang="ar-AE" sz="90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a:solidFill>
                      <a:schemeClr val="tx1"/>
                    </a:solidFill>
                    <a:effectLst/>
                    <a:latin typeface="Segoe WPC"/>
                  </a:rPr>
                  <a:t>portfolio vega </a:t>
                </a:r>
                <a14:m>
                  <m:oMath xmlns:m="http://schemas.openxmlformats.org/officeDocument/2006/math">
                    <m:r>
                      <a:rPr lang="es-PE" sz="900">
                        <a:solidFill>
                          <a:schemeClr val="tx1"/>
                        </a:solidFill>
                        <a:latin typeface="Cambria Math" panose="02040503050406030204" pitchFamily="18" charset="0"/>
                      </a:rPr>
                      <m:t>=</m:t>
                    </m:r>
                    <m:nary>
                      <m:naryPr>
                        <m:chr m:val="∑"/>
                        <m:limLoc m:val="subSup"/>
                        <m:grow m:val="on"/>
                        <m:supHide m:val="on"/>
                        <m:ctrlPr>
                          <a:rPr lang="ar-AE" sz="900" i="1">
                            <a:solidFill>
                              <a:schemeClr val="tx1"/>
                            </a:solidFill>
                            <a:latin typeface="Cambria Math" panose="02040503050406030204" pitchFamily="18" charset="0"/>
                          </a:rPr>
                        </m:ctrlPr>
                      </m:naryPr>
                      <m:sub>
                        <m:r>
                          <a:rPr lang="ar-AE" sz="900" i="1">
                            <a:solidFill>
                              <a:schemeClr val="tx1"/>
                            </a:solidFill>
                            <a:latin typeface="Cambria Math" panose="02040503050406030204" pitchFamily="18" charset="0"/>
                          </a:rPr>
                          <m:t>𝑖</m:t>
                        </m:r>
                      </m:sub>
                      <m:sup/>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𝑛</m:t>
                            </m:r>
                          </m:e>
                          <m:sub>
                            <m:r>
                              <a:rPr lang="ar-AE" sz="900" i="1">
                                <a:solidFill>
                                  <a:schemeClr val="tx1"/>
                                </a:solidFill>
                                <a:latin typeface="Cambria Math" panose="02040503050406030204" pitchFamily="18" charset="0"/>
                              </a:rPr>
                              <m:t>𝑖</m:t>
                            </m:r>
                          </m:sub>
                        </m:sSub>
                      </m:e>
                    </m:nary>
                    <m:sSub>
                      <m:sSubPr>
                        <m:ctrlPr>
                          <a:rPr lang="ar-AE" sz="900" i="1">
                            <a:solidFill>
                              <a:schemeClr val="tx1"/>
                            </a:solidFill>
                            <a:latin typeface="Cambria Math" panose="02040503050406030204" pitchFamily="18" charset="0"/>
                          </a:rPr>
                        </m:ctrlPr>
                      </m:sSubPr>
                      <m:e>
                        <m:r>
                          <m:rPr>
                            <m:nor/>
                          </m:rPr>
                          <a:rPr lang="es-PE" sz="900" b="0" i="1">
                            <a:solidFill>
                              <a:schemeClr val="tx1"/>
                            </a:solidFill>
                            <a:latin typeface="Cambria Math" panose="02040503050406030204" pitchFamily="18" charset="0"/>
                          </a:rPr>
                          <m:t>Vega</m:t>
                        </m:r>
                      </m:e>
                      <m:sub>
                        <m:r>
                          <a:rPr lang="ar-AE" sz="900" b="0" i="1">
                            <a:solidFill>
                              <a:schemeClr val="tx1"/>
                            </a:solidFill>
                            <a:latin typeface="Cambria Math" panose="02040503050406030204" pitchFamily="18" charset="0"/>
                          </a:rPr>
                          <m:t>𝑖</m:t>
                        </m:r>
                      </m:sub>
                    </m:sSub>
                  </m:oMath>
                </a14:m>
                <a:r>
                  <a:rPr lang="ar-AE" sz="900" b="0" i="0" dirty="0">
                    <a:solidFill>
                      <a:schemeClr val="tx1"/>
                    </a:solidFill>
                    <a:effectLst/>
                    <a:latin typeface="Segoe WPC"/>
                  </a:rPr>
                  <a:t>, </a:t>
                </a:r>
                <a:r>
                  <a:rPr lang="es-PE" sz="900" b="0" i="0" dirty="0" err="1">
                    <a:solidFill>
                      <a:schemeClr val="tx1"/>
                    </a:solidFill>
                    <a:effectLst/>
                    <a:latin typeface="Segoe WPC"/>
                  </a:rPr>
                  <a:t>protective</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delta </a:t>
                </a:r>
                <a:r>
                  <a:rPr lang="es-PE" sz="900" b="0" i="0" dirty="0" err="1">
                    <a:solidFill>
                      <a:schemeClr val="tx1"/>
                    </a:solidFill>
                    <a:effectLst/>
                    <a:latin typeface="Segoe WPC"/>
                  </a:rPr>
                  <a:t>with</a:t>
                </a:r>
                <a:r>
                  <a:rPr lang="es-PE" sz="900" b="0" i="0" dirty="0">
                    <a:solidFill>
                      <a:schemeClr val="tx1"/>
                    </a:solidFill>
                    <a:effectLst/>
                    <a:latin typeface="Segoe WPC"/>
                  </a:rPr>
                  <a:t> </a:t>
                </a:r>
                <a:r>
                  <a:rPr lang="es-PE" sz="900" b="0" i="0" dirty="0" err="1">
                    <a:solidFill>
                      <a:schemeClr val="tx1"/>
                    </a:solidFill>
                    <a:effectLst/>
                    <a:latin typeface="Segoe WPC"/>
                  </a:rPr>
                  <a:t>dividend</a:t>
                </a:r>
                <a:r>
                  <a:rPr lang="es-PE" sz="900" b="0" i="0" dirty="0">
                    <a:solidFill>
                      <a:schemeClr val="tx1"/>
                    </a:solidFill>
                    <a:effectLst/>
                    <a:latin typeface="Segoe WPC"/>
                  </a:rPr>
                  <a:t> </a:t>
                </a:r>
                <a:r>
                  <a:rPr lang="es-PE" sz="900" b="0" i="0" dirty="0" err="1">
                    <a:solidFill>
                      <a:schemeClr val="tx1"/>
                    </a:solidFill>
                    <a:effectLst/>
                    <a:latin typeface="Segoe WPC"/>
                  </a:rPr>
                  <a:t>yield</a:t>
                </a:r>
                <a:r>
                  <a:rPr lang="es-PE" sz="900" b="0" i="0" dirty="0">
                    <a:solidFill>
                      <a:schemeClr val="tx1"/>
                    </a:solidFill>
                    <a:effectLst/>
                    <a:latin typeface="Segoe WPC"/>
                  </a:rPr>
                  <a:t> </a:t>
                </a:r>
                <a14:m>
                  <m:oMath xmlns:m="http://schemas.openxmlformats.org/officeDocument/2006/math">
                    <m:r>
                      <a:rPr lang="es-PE" sz="900" i="1">
                        <a:solidFill>
                          <a:schemeClr val="tx1"/>
                        </a:solidFill>
                        <a:latin typeface="Cambria Math" panose="02040503050406030204" pitchFamily="18" charset="0"/>
                      </a:rPr>
                      <m:t>𝑞</m:t>
                    </m:r>
                  </m:oMath>
                </a14:m>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14:m>
                  <m:oMath xmlns:m="http://schemas.openxmlformats.org/officeDocument/2006/math">
                    <m:sSup>
                      <m:sSupPr>
                        <m:ctrlPr>
                          <a:rPr lang="ar-AE" sz="900" i="1">
                            <a:solidFill>
                              <a:schemeClr val="tx1"/>
                            </a:solidFill>
                            <a:latin typeface="Cambria Math" panose="02040503050406030204" pitchFamily="18" charset="0"/>
                          </a:rPr>
                        </m:ctrlPr>
                      </m:sSupPr>
                      <m:e>
                        <m:r>
                          <a:rPr lang="ar-AE" sz="900" i="1">
                            <a:solidFill>
                              <a:schemeClr val="tx1"/>
                            </a:solidFill>
                            <a:latin typeface="Cambria Math" panose="02040503050406030204" pitchFamily="18" charset="0"/>
                          </a:rPr>
                          <m:t>𝑒</m:t>
                        </m:r>
                      </m:e>
                      <m:sup>
                        <m:r>
                          <a:rPr lang="ar-AE" sz="900" i="0">
                            <a:solidFill>
                              <a:schemeClr val="tx1"/>
                            </a:solidFill>
                            <a:latin typeface="Cambria Math" panose="02040503050406030204" pitchFamily="18" charset="0"/>
                          </a:rPr>
                          <m:t>−</m:t>
                        </m:r>
                        <m:r>
                          <a:rPr lang="ar-AE" sz="900" i="1">
                            <a:solidFill>
                              <a:schemeClr val="tx1"/>
                            </a:solidFill>
                            <a:latin typeface="Cambria Math" panose="02040503050406030204" pitchFamily="18" charset="0"/>
                          </a:rPr>
                          <m:t>𝑞𝑇</m:t>
                        </m:r>
                      </m:sup>
                    </m:sSup>
                    <m:d>
                      <m:dPr>
                        <m:begChr m:val="["/>
                        <m:endChr m:val="]"/>
                        <m:ctrlPr>
                          <a:rPr lang="ar-AE" sz="900" i="1">
                            <a:solidFill>
                              <a:schemeClr val="tx1"/>
                            </a:solidFill>
                            <a:latin typeface="Cambria Math" panose="02040503050406030204" pitchFamily="18" charset="0"/>
                          </a:rPr>
                        </m:ctrlPr>
                      </m:dPr>
                      <m:e>
                        <m:r>
                          <a:rPr lang="ar-AE" sz="900" i="1">
                            <a:solidFill>
                              <a:schemeClr val="tx1"/>
                            </a:solidFill>
                            <a:latin typeface="Cambria Math" panose="02040503050406030204" pitchFamily="18" charset="0"/>
                          </a:rPr>
                          <m:t>𝑁</m:t>
                        </m:r>
                        <m:d>
                          <m:dPr>
                            <m:ctrlPr>
                              <a:rPr lang="ar-AE" sz="900" i="1">
                                <a:solidFill>
                                  <a:schemeClr val="tx1"/>
                                </a:solidFill>
                                <a:latin typeface="Cambria Math" panose="02040503050406030204" pitchFamily="18" charset="0"/>
                              </a:rPr>
                            </m:ctrlPr>
                          </m:dPr>
                          <m:e>
                            <m:sSub>
                              <m:sSubPr>
                                <m:ctrlPr>
                                  <a:rPr lang="ar-AE" sz="900" i="1">
                                    <a:solidFill>
                                      <a:schemeClr val="tx1"/>
                                    </a:solidFill>
                                    <a:latin typeface="Cambria Math" panose="02040503050406030204" pitchFamily="18" charset="0"/>
                                  </a:rPr>
                                </m:ctrlPr>
                              </m:sSubPr>
                              <m:e>
                                <m:r>
                                  <a:rPr lang="ar-AE" sz="900" i="1">
                                    <a:solidFill>
                                      <a:schemeClr val="tx1"/>
                                    </a:solidFill>
                                    <a:latin typeface="Cambria Math" panose="02040503050406030204" pitchFamily="18" charset="0"/>
                                  </a:rPr>
                                  <m:t>𝑑</m:t>
                                </m:r>
                              </m:e>
                              <m:sub>
                                <m:r>
                                  <a:rPr lang="ar-AE" sz="900" i="0">
                                    <a:solidFill>
                                      <a:schemeClr val="tx1"/>
                                    </a:solidFill>
                                    <a:latin typeface="Cambria Math" panose="02040503050406030204" pitchFamily="18" charset="0"/>
                                  </a:rPr>
                                  <m:t>1</m:t>
                                </m:r>
                              </m:sub>
                            </m:sSub>
                          </m:e>
                        </m:d>
                        <m:r>
                          <a:rPr lang="ar-AE" sz="900" i="0">
                            <a:solidFill>
                              <a:schemeClr val="tx1"/>
                            </a:solidFill>
                            <a:latin typeface="Cambria Math" panose="02040503050406030204" pitchFamily="18" charset="0"/>
                          </a:rPr>
                          <m:t>−</m:t>
                        </m:r>
                        <m:r>
                          <a:rPr lang="ar-AE" sz="900" i="0">
                            <a:solidFill>
                              <a:schemeClr val="tx1"/>
                            </a:solidFill>
                            <a:latin typeface="Cambria Math" panose="02040503050406030204" pitchFamily="18" charset="0"/>
                          </a:rPr>
                          <m:t>1</m:t>
                        </m:r>
                      </m:e>
                    </m:d>
                  </m:oMath>
                </a14:m>
                <a:endParaRPr lang="ar-AE" sz="900" b="0" i="0" dirty="0">
                  <a:solidFill>
                    <a:schemeClr val="tx1"/>
                  </a:solidFill>
                  <a:effectLst/>
                  <a:latin typeface="Segoe WPC"/>
                </a:endParaRPr>
              </a:p>
              <a:p>
                <a:pPr algn="l">
                  <a:spcBef>
                    <a:spcPts val="300"/>
                  </a:spcBef>
                </a:pPr>
                <a:r>
                  <a:rPr lang="es-PE" sz="900" b="1" i="0" dirty="0" err="1">
                    <a:solidFill>
                      <a:schemeClr val="tx1"/>
                    </a:solidFill>
                    <a:effectLst/>
                    <a:latin typeface="Segoe WPC"/>
                  </a:rPr>
                  <a:t>Interpretation</a:t>
                </a:r>
                <a:r>
                  <a:rPr lang="es-PE" sz="900" b="1" i="0" dirty="0">
                    <a:solidFill>
                      <a:schemeClr val="tx1"/>
                    </a:solidFill>
                    <a:effectLst/>
                    <a:latin typeface="Segoe WPC"/>
                  </a:rPr>
                  <a:t>:</a:t>
                </a:r>
                <a:r>
                  <a:rPr lang="es-PE" sz="900" b="0" i="0" dirty="0">
                    <a:solidFill>
                      <a:schemeClr val="tx1"/>
                    </a:solidFill>
                    <a:effectLst/>
                    <a:latin typeface="Segoe WPC"/>
                  </a:rPr>
                  <a:t> Portfolio </a:t>
                </a:r>
                <a:r>
                  <a:rPr lang="es-PE" sz="900" b="0" i="0" dirty="0" err="1">
                    <a:solidFill>
                      <a:schemeClr val="tx1"/>
                    </a:solidFill>
                    <a:effectLst/>
                    <a:latin typeface="Segoe WPC"/>
                  </a:rPr>
                  <a:t>insurance</a:t>
                </a:r>
                <a:r>
                  <a:rPr lang="es-PE" sz="900" b="0" i="0" dirty="0">
                    <a:solidFill>
                      <a:schemeClr val="tx1"/>
                    </a:solidFill>
                    <a:effectLst/>
                    <a:latin typeface="Segoe WPC"/>
                  </a:rPr>
                  <a:t> </a:t>
                </a:r>
                <a:r>
                  <a:rPr lang="es-PE" sz="900" b="0" i="0" dirty="0" err="1">
                    <a:solidFill>
                      <a:schemeClr val="tx1"/>
                    </a:solidFill>
                    <a:effectLst/>
                    <a:latin typeface="Segoe WPC"/>
                  </a:rPr>
                  <a:t>is</a:t>
                </a:r>
                <a:r>
                  <a:rPr lang="es-PE" sz="900" b="0" i="0" dirty="0">
                    <a:solidFill>
                      <a:schemeClr val="tx1"/>
                    </a:solidFill>
                    <a:effectLst/>
                    <a:latin typeface="Segoe WPC"/>
                  </a:rPr>
                  <a:t> </a:t>
                </a:r>
                <a:r>
                  <a:rPr lang="es-PE" sz="900" b="0" i="0" dirty="0" err="1">
                    <a:solidFill>
                      <a:schemeClr val="tx1"/>
                    </a:solidFill>
                    <a:effectLst/>
                    <a:latin typeface="Segoe WPC"/>
                  </a:rPr>
                  <a:t>essentially</a:t>
                </a:r>
                <a:r>
                  <a:rPr lang="es-PE" sz="900" b="0" i="0" dirty="0">
                    <a:solidFill>
                      <a:schemeClr val="tx1"/>
                    </a:solidFill>
                    <a:effectLst/>
                    <a:latin typeface="Segoe WPC"/>
                  </a:rPr>
                  <a:t> </a:t>
                </a:r>
                <a:r>
                  <a:rPr lang="es-PE" sz="900" b="0" i="0" dirty="0" err="1">
                    <a:solidFill>
                      <a:schemeClr val="tx1"/>
                    </a:solidFill>
                    <a:effectLst/>
                    <a:latin typeface="Segoe WPC"/>
                  </a:rPr>
                  <a:t>dynamic</a:t>
                </a:r>
                <a:r>
                  <a:rPr lang="es-PE" sz="900" b="0" i="0" dirty="0">
                    <a:solidFill>
                      <a:schemeClr val="tx1"/>
                    </a:solidFill>
                    <a:effectLst/>
                    <a:latin typeface="Segoe WPC"/>
                  </a:rPr>
                  <a:t> </a:t>
                </a:r>
                <a:r>
                  <a:rPr lang="es-PE" sz="900" b="0" i="0" dirty="0" err="1">
                    <a:solidFill>
                      <a:schemeClr val="tx1"/>
                    </a:solidFill>
                    <a:effectLst/>
                    <a:latin typeface="Segoe WPC"/>
                  </a:rPr>
                  <a:t>put</a:t>
                </a:r>
                <a:r>
                  <a:rPr lang="es-PE" sz="900" b="0" i="0" dirty="0">
                    <a:solidFill>
                      <a:schemeClr val="tx1"/>
                    </a:solidFill>
                    <a:effectLst/>
                    <a:latin typeface="Segoe WPC"/>
                  </a:rPr>
                  <a:t> </a:t>
                </a:r>
                <a:r>
                  <a:rPr lang="es-PE" sz="900" b="0" i="0" dirty="0" err="1">
                    <a:solidFill>
                      <a:schemeClr val="tx1"/>
                    </a:solidFill>
                    <a:effectLst/>
                    <a:latin typeface="Segoe WPC"/>
                  </a:rPr>
                  <a:t>replication</a:t>
                </a:r>
                <a:r>
                  <a:rPr lang="es-PE" sz="900" b="0" i="0" dirty="0">
                    <a:solidFill>
                      <a:schemeClr val="tx1"/>
                    </a:solidFill>
                    <a:effectLst/>
                    <a:latin typeface="Segoe WPC"/>
                  </a:rPr>
                  <a:t> </a:t>
                </a:r>
                <a:r>
                  <a:rPr lang="es-PE" sz="900" b="0" i="0" dirty="0" err="1">
                    <a:solidFill>
                      <a:schemeClr val="tx1"/>
                    </a:solidFill>
                    <a:effectLst/>
                    <a:latin typeface="Segoe WPC"/>
                  </a:rPr>
                  <a:t>using</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underlying</a:t>
                </a:r>
                <a:r>
                  <a:rPr lang="es-PE" sz="900" b="0" i="0" dirty="0">
                    <a:solidFill>
                      <a:schemeClr val="tx1"/>
                    </a:solidFill>
                    <a:effectLst/>
                    <a:latin typeface="Segoe WPC"/>
                  </a:rPr>
                  <a:t> </a:t>
                </a:r>
                <a:r>
                  <a:rPr lang="es-PE" sz="900" b="0" i="0" dirty="0" err="1">
                    <a:solidFill>
                      <a:schemeClr val="tx1"/>
                    </a:solidFill>
                    <a:effectLst/>
                    <a:latin typeface="Segoe WPC"/>
                  </a:rPr>
                  <a:t>or</a:t>
                </a:r>
                <a:r>
                  <a:rPr lang="es-PE" sz="900" b="0" i="0" dirty="0">
                    <a:solidFill>
                      <a:schemeClr val="tx1"/>
                    </a:solidFill>
                    <a:effectLst/>
                    <a:latin typeface="Segoe WPC"/>
                  </a:rPr>
                  <a:t> futures.</a:t>
                </a:r>
              </a:p>
              <a:p>
                <a:pPr algn="l">
                  <a:spcBef>
                    <a:spcPts val="300"/>
                  </a:spcBef>
                </a:pPr>
                <a:r>
                  <a:rPr lang="es-PE" sz="900" b="1" i="0" dirty="0" err="1">
                    <a:solidFill>
                      <a:schemeClr val="tx1"/>
                    </a:solidFill>
                    <a:effectLst/>
                    <a:latin typeface="Segoe WPC"/>
                  </a:rPr>
                  <a:t>Exam</a:t>
                </a:r>
                <a:r>
                  <a:rPr lang="es-PE" sz="900" b="1" i="0" dirty="0">
                    <a:solidFill>
                      <a:schemeClr val="tx1"/>
                    </a:solidFill>
                    <a:effectLst/>
                    <a:latin typeface="Segoe WPC"/>
                  </a:rPr>
                  <a:t> </a:t>
                </a:r>
                <a:r>
                  <a:rPr lang="es-PE" sz="900" b="1" i="0" dirty="0" err="1">
                    <a:solidFill>
                      <a:schemeClr val="tx1"/>
                    </a:solidFill>
                    <a:effectLst/>
                    <a:latin typeface="Segoe WPC"/>
                  </a:rPr>
                  <a:t>Trap</a:t>
                </a:r>
                <a:r>
                  <a:rPr lang="es-PE" sz="900" b="1" i="0" dirty="0">
                    <a:solidFill>
                      <a:schemeClr val="tx1"/>
                    </a:solidFill>
                    <a:effectLst/>
                    <a:latin typeface="Segoe WPC"/>
                  </a:rPr>
                  <a:t>:</a:t>
                </a:r>
                <a:r>
                  <a:rPr lang="es-PE" sz="900" b="0" i="0" dirty="0">
                    <a:solidFill>
                      <a:schemeClr val="tx1"/>
                    </a:solidFill>
                    <a:effectLst/>
                    <a:latin typeface="Segoe WPC"/>
                  </a:rPr>
                  <a:t> Portfolio </a:t>
                </a:r>
                <a:r>
                  <a:rPr lang="es-PE" sz="900" b="0" i="0" dirty="0" err="1">
                    <a:solidFill>
                      <a:schemeClr val="tx1"/>
                    </a:solidFill>
                    <a:effectLst/>
                    <a:latin typeface="Segoe WPC"/>
                  </a:rPr>
                  <a:t>insurance</a:t>
                </a:r>
                <a:r>
                  <a:rPr lang="es-PE" sz="900" b="0" i="0" dirty="0">
                    <a:solidFill>
                      <a:schemeClr val="tx1"/>
                    </a:solidFill>
                    <a:effectLst/>
                    <a:latin typeface="Segoe WPC"/>
                  </a:rPr>
                  <a:t> can </a:t>
                </a:r>
                <a:r>
                  <a:rPr lang="es-PE" sz="900" b="0" i="0" dirty="0" err="1">
                    <a:solidFill>
                      <a:schemeClr val="tx1"/>
                    </a:solidFill>
                    <a:effectLst/>
                    <a:latin typeface="Segoe WPC"/>
                  </a:rPr>
                  <a:t>fail</a:t>
                </a:r>
                <a:r>
                  <a:rPr lang="es-PE" sz="900" b="0" i="0" dirty="0">
                    <a:solidFill>
                      <a:schemeClr val="tx1"/>
                    </a:solidFill>
                    <a:effectLst/>
                    <a:latin typeface="Segoe WPC"/>
                  </a:rPr>
                  <a:t> in </a:t>
                </a:r>
                <a:r>
                  <a:rPr lang="es-PE" sz="900" b="0" i="0" dirty="0" err="1">
                    <a:solidFill>
                      <a:schemeClr val="tx1"/>
                    </a:solidFill>
                    <a:effectLst/>
                    <a:latin typeface="Segoe WPC"/>
                  </a:rPr>
                  <a:t>fast</a:t>
                </a:r>
                <a:r>
                  <a:rPr lang="es-PE" sz="900" b="0" i="0" dirty="0">
                    <a:solidFill>
                      <a:schemeClr val="tx1"/>
                    </a:solidFill>
                    <a:effectLst/>
                    <a:latin typeface="Segoe WPC"/>
                  </a:rPr>
                  <a:t> </a:t>
                </a:r>
                <a:r>
                  <a:rPr lang="es-PE" sz="900" b="0" i="0" dirty="0" err="1">
                    <a:solidFill>
                      <a:schemeClr val="tx1"/>
                    </a:solidFill>
                    <a:effectLst/>
                    <a:latin typeface="Segoe WPC"/>
                  </a:rPr>
                  <a:t>market</a:t>
                </a:r>
                <a:r>
                  <a:rPr lang="es-PE" sz="900" b="0" i="0" dirty="0">
                    <a:solidFill>
                      <a:schemeClr val="tx1"/>
                    </a:solidFill>
                    <a:effectLst/>
                    <a:latin typeface="Segoe WPC"/>
                  </a:rPr>
                  <a:t> </a:t>
                </a:r>
                <a:r>
                  <a:rPr lang="es-PE" sz="900" b="0" i="0" dirty="0" err="1">
                    <a:solidFill>
                      <a:schemeClr val="tx1"/>
                    </a:solidFill>
                    <a:effectLst/>
                    <a:latin typeface="Segoe WPC"/>
                  </a:rPr>
                  <a:t>crashes</a:t>
                </a:r>
                <a:r>
                  <a:rPr lang="es-PE" sz="900" b="0" i="0" dirty="0">
                    <a:solidFill>
                      <a:schemeClr val="tx1"/>
                    </a:solidFill>
                    <a:effectLst/>
                    <a:latin typeface="Segoe WPC"/>
                  </a:rPr>
                  <a:t> </a:t>
                </a:r>
                <a:r>
                  <a:rPr lang="es-PE" sz="900" b="0" i="0" dirty="0" err="1">
                    <a:solidFill>
                      <a:schemeClr val="tx1"/>
                    </a:solidFill>
                    <a:effectLst/>
                    <a:latin typeface="Segoe WPC"/>
                  </a:rPr>
                  <a:t>because</a:t>
                </a:r>
                <a:r>
                  <a:rPr lang="es-PE" sz="900" b="0" i="0" dirty="0">
                    <a:solidFill>
                      <a:schemeClr val="tx1"/>
                    </a:solidFill>
                    <a:effectLst/>
                    <a:latin typeface="Segoe WPC"/>
                  </a:rPr>
                  <a:t> </a:t>
                </a:r>
                <a:r>
                  <a:rPr lang="es-PE" sz="900" b="0" i="0" dirty="0" err="1">
                    <a:solidFill>
                      <a:schemeClr val="tx1"/>
                    </a:solidFill>
                    <a:effectLst/>
                    <a:latin typeface="Segoe WPC"/>
                  </a:rPr>
                  <a:t>execution</a:t>
                </a:r>
                <a:r>
                  <a:rPr lang="es-PE" sz="900" b="0" i="0" dirty="0">
                    <a:solidFill>
                      <a:schemeClr val="tx1"/>
                    </a:solidFill>
                    <a:effectLst/>
                    <a:latin typeface="Segoe WPC"/>
                  </a:rPr>
                  <a:t> </a:t>
                </a:r>
                <a:r>
                  <a:rPr lang="es-PE" sz="900" b="0" i="0" dirty="0" err="1">
                    <a:solidFill>
                      <a:schemeClr val="tx1"/>
                    </a:solidFill>
                    <a:effectLst/>
                    <a:latin typeface="Segoe WPC"/>
                  </a:rPr>
                  <a:t>delays</a:t>
                </a:r>
                <a:r>
                  <a:rPr lang="es-PE" sz="900" b="0" i="0" dirty="0">
                    <a:solidFill>
                      <a:schemeClr val="tx1"/>
                    </a:solidFill>
                    <a:effectLst/>
                    <a:latin typeface="Segoe WPC"/>
                  </a:rPr>
                  <a:t> and </a:t>
                </a:r>
                <a:r>
                  <a:rPr lang="es-PE" sz="900" b="0" i="0" dirty="0" err="1">
                    <a:solidFill>
                      <a:schemeClr val="tx1"/>
                    </a:solidFill>
                    <a:effectLst/>
                    <a:latin typeface="Segoe WPC"/>
                  </a:rPr>
                  <a:t>feedback</a:t>
                </a:r>
                <a:r>
                  <a:rPr lang="es-PE" sz="900" b="0" i="0" dirty="0">
                    <a:solidFill>
                      <a:schemeClr val="tx1"/>
                    </a:solidFill>
                    <a:effectLst/>
                    <a:latin typeface="Segoe WPC"/>
                  </a:rPr>
                  <a:t> </a:t>
                </a:r>
                <a:r>
                  <a:rPr lang="es-PE" sz="900" b="0" i="0" dirty="0" err="1">
                    <a:solidFill>
                      <a:schemeClr val="tx1"/>
                    </a:solidFill>
                    <a:effectLst/>
                    <a:latin typeface="Segoe WPC"/>
                  </a:rPr>
                  <a:t>selling</a:t>
                </a:r>
                <a:r>
                  <a:rPr lang="es-PE" sz="900" b="0" i="0" dirty="0">
                    <a:solidFill>
                      <a:schemeClr val="tx1"/>
                    </a:solidFill>
                    <a:effectLst/>
                    <a:latin typeface="Segoe WPC"/>
                  </a:rPr>
                  <a:t> </a:t>
                </a:r>
                <a:r>
                  <a:rPr lang="es-PE" sz="900" b="0" i="0" dirty="0" err="1">
                    <a:solidFill>
                      <a:schemeClr val="tx1"/>
                    </a:solidFill>
                    <a:effectLst/>
                    <a:latin typeface="Segoe WPC"/>
                  </a:rPr>
                  <a:t>make</a:t>
                </a:r>
                <a:r>
                  <a:rPr lang="es-PE" sz="900" b="0" i="0" dirty="0">
                    <a:solidFill>
                      <a:schemeClr val="tx1"/>
                    </a:solidFill>
                    <a:effectLst/>
                    <a:latin typeface="Segoe WPC"/>
                  </a:rPr>
                  <a:t> </a:t>
                </a:r>
                <a:r>
                  <a:rPr lang="es-PE" sz="900" b="0" i="0" dirty="0" err="1">
                    <a:solidFill>
                      <a:schemeClr val="tx1"/>
                    </a:solidFill>
                    <a:effectLst/>
                    <a:latin typeface="Segoe WPC"/>
                  </a:rPr>
                  <a:t>the</a:t>
                </a:r>
                <a:r>
                  <a:rPr lang="es-PE" sz="900" b="0" i="0" dirty="0">
                    <a:solidFill>
                      <a:schemeClr val="tx1"/>
                    </a:solidFill>
                    <a:effectLst/>
                    <a:latin typeface="Segoe WPC"/>
                  </a:rPr>
                  <a:t> </a:t>
                </a:r>
                <a:r>
                  <a:rPr lang="es-PE" sz="900" b="0" i="0" dirty="0" err="1">
                    <a:solidFill>
                      <a:schemeClr val="tx1"/>
                    </a:solidFill>
                    <a:effectLst/>
                    <a:latin typeface="Segoe WPC"/>
                  </a:rPr>
                  <a:t>hedge</a:t>
                </a:r>
                <a:r>
                  <a:rPr lang="es-PE" sz="900" b="0" i="0" dirty="0">
                    <a:solidFill>
                      <a:schemeClr val="tx1"/>
                    </a:solidFill>
                    <a:effectLst/>
                    <a:latin typeface="Segoe WPC"/>
                  </a:rPr>
                  <a:t> </a:t>
                </a:r>
                <a:r>
                  <a:rPr lang="es-PE" sz="900" b="0" i="0" dirty="0" err="1">
                    <a:solidFill>
                      <a:schemeClr val="tx1"/>
                    </a:solidFill>
                    <a:effectLst/>
                    <a:latin typeface="Segoe WPC"/>
                  </a:rPr>
                  <a:t>much</a:t>
                </a:r>
                <a:r>
                  <a:rPr lang="es-PE" sz="900" b="0" i="0" dirty="0">
                    <a:solidFill>
                      <a:schemeClr val="tx1"/>
                    </a:solidFill>
                    <a:effectLst/>
                    <a:latin typeface="Segoe WPC"/>
                  </a:rPr>
                  <a:t> </a:t>
                </a:r>
                <a:r>
                  <a:rPr lang="es-PE" sz="900" b="0" i="0" dirty="0" err="1">
                    <a:solidFill>
                      <a:schemeClr val="tx1"/>
                    </a:solidFill>
                    <a:effectLst/>
                    <a:latin typeface="Segoe WPC"/>
                  </a:rPr>
                  <a:t>less</a:t>
                </a:r>
                <a:r>
                  <a:rPr lang="es-PE" sz="900" b="0" i="0" dirty="0">
                    <a:solidFill>
                      <a:schemeClr val="tx1"/>
                    </a:solidFill>
                    <a:effectLst/>
                    <a:latin typeface="Segoe WPC"/>
                  </a:rPr>
                  <a:t> </a:t>
                </a:r>
                <a:r>
                  <a:rPr lang="es-PE" sz="900" b="0" i="0" dirty="0" err="1">
                    <a:solidFill>
                      <a:schemeClr val="tx1"/>
                    </a:solidFill>
                    <a:effectLst/>
                    <a:latin typeface="Segoe WPC"/>
                  </a:rPr>
                  <a:t>effective</a:t>
                </a:r>
                <a:r>
                  <a:rPr lang="es-PE" sz="900" b="0" i="0" dirty="0">
                    <a:solidFill>
                      <a:schemeClr val="tx1"/>
                    </a:solidFill>
                    <a:effectLst/>
                    <a:latin typeface="Segoe WPC"/>
                  </a:rPr>
                  <a:t> </a:t>
                </a:r>
                <a:r>
                  <a:rPr lang="es-PE" sz="900" b="0" i="0" dirty="0" err="1">
                    <a:solidFill>
                      <a:schemeClr val="tx1"/>
                    </a:solidFill>
                    <a:effectLst/>
                    <a:latin typeface="Segoe WPC"/>
                  </a:rPr>
                  <a:t>than</a:t>
                </a:r>
                <a:r>
                  <a:rPr lang="es-PE" sz="900" b="0" i="0" dirty="0">
                    <a:solidFill>
                      <a:schemeClr val="tx1"/>
                    </a:solidFill>
                    <a:effectLst/>
                    <a:latin typeface="Segoe WPC"/>
                  </a:rPr>
                  <a:t> </a:t>
                </a:r>
                <a:r>
                  <a:rPr lang="es-PE" sz="900" b="0" i="0" dirty="0" err="1">
                    <a:solidFill>
                      <a:schemeClr val="tx1"/>
                    </a:solidFill>
                    <a:effectLst/>
                    <a:latin typeface="Segoe WPC"/>
                  </a:rPr>
                  <a:t>theory</a:t>
                </a:r>
                <a:r>
                  <a:rPr lang="es-PE" sz="900" b="0" i="0" dirty="0">
                    <a:solidFill>
                      <a:schemeClr val="tx1"/>
                    </a:solidFill>
                    <a:effectLst/>
                    <a:latin typeface="Segoe WPC"/>
                  </a:rPr>
                  <a:t> </a:t>
                </a:r>
                <a:r>
                  <a:rPr lang="es-PE" sz="900" b="0" i="0" dirty="0" err="1">
                    <a:solidFill>
                      <a:schemeClr val="tx1"/>
                    </a:solidFill>
                    <a:effectLst/>
                    <a:latin typeface="Segoe WPC"/>
                  </a:rPr>
                  <a:t>suggests</a:t>
                </a:r>
                <a:r>
                  <a:rPr lang="es-PE" sz="900" b="0" i="0" dirty="0">
                    <a:solidFill>
                      <a:schemeClr val="tx1"/>
                    </a:solidFill>
                    <a:effectLst/>
                    <a:latin typeface="Segoe WPC"/>
                  </a:rPr>
                  <a:t>.</a:t>
                </a:r>
              </a:p>
            </p:txBody>
          </p:sp>
        </mc:Choice>
        <mc:Fallback xmlns="">
          <p:sp>
            <p:nvSpPr>
              <p:cNvPr id="5" name="CuadroTexto 4">
                <a:extLst>
                  <a:ext uri="{FF2B5EF4-FFF2-40B4-BE49-F238E27FC236}">
                    <a16:creationId xmlns:a16="http://schemas.microsoft.com/office/drawing/2014/main" id="{1DFFAF88-A677-1BCE-8562-EA6F700A335F}"/>
                  </a:ext>
                </a:extLst>
              </p:cNvPr>
              <p:cNvSpPr txBox="1">
                <a:spLocks noRot="1" noChangeAspect="1" noMove="1" noResize="1" noEditPoints="1" noAdjustHandles="1" noChangeArrowheads="1" noChangeShapeType="1" noTextEdit="1"/>
              </p:cNvSpPr>
              <p:nvPr/>
            </p:nvSpPr>
            <p:spPr>
              <a:xfrm>
                <a:off x="63500" y="1865106"/>
                <a:ext cx="6610350" cy="3401187"/>
              </a:xfrm>
              <a:prstGeom prst="rect">
                <a:avLst/>
              </a:prstGeom>
              <a:blipFill>
                <a:blip r:embed="rId2"/>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3740032430"/>
      </p:ext>
    </p:extLst>
  </p:cSld>
  <p:clrMapOvr>
    <a:masterClrMapping/>
  </p:clrMapOvr>
</p:sld>
</file>

<file path=ppt/theme/theme1.xml><?xml version="1.0" encoding="utf-8"?>
<a:theme xmlns:a="http://schemas.openxmlformats.org/drawingml/2006/main" name="BrushVTI">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786</TotalTime>
  <Words>76351</Words>
  <Application>Microsoft Office PowerPoint</Application>
  <PresentationFormat>Panorámica</PresentationFormat>
  <Paragraphs>981</Paragraphs>
  <Slides>75</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75</vt:i4>
      </vt:variant>
    </vt:vector>
  </HeadingPairs>
  <TitlesOfParts>
    <vt:vector size="83" baseType="lpstr">
      <vt:lpstr>Aptos</vt:lpstr>
      <vt:lpstr>Arial</vt:lpstr>
      <vt:lpstr>Cambria Math</vt:lpstr>
      <vt:lpstr>Century Gothic</vt:lpstr>
      <vt:lpstr>Consolas</vt:lpstr>
      <vt:lpstr>Segoe WPC</vt:lpstr>
      <vt:lpstr>Wingdings</vt:lpstr>
      <vt:lpstr>BrushVTI</vt:lpstr>
      <vt:lpstr>FRM-Resumen</vt:lpstr>
      <vt:lpstr>Foundations of Risk Managers</vt:lpstr>
      <vt:lpstr>Building blocks of Risk Managment</vt:lpstr>
      <vt:lpstr>Presentación de PowerPoint</vt:lpstr>
      <vt:lpstr>The Governance of Risk Management</vt:lpstr>
      <vt:lpstr>Credit Risk Transfer Mechanism</vt:lpstr>
      <vt:lpstr>Modern Portfolio Theory and Capital Asset Pricing Model</vt:lpstr>
      <vt:lpstr>Principles for EffectiveData Aggregation and Risk Reporting</vt:lpstr>
      <vt:lpstr>Enterprise Risk Managementand Future Trends</vt:lpstr>
      <vt:lpstr>Learning from Financial Disasters</vt:lpstr>
      <vt:lpstr>Anatomy of the GreatFinancial Crisis of 2007-2009</vt:lpstr>
      <vt:lpstr>GARP Code Conduct</vt:lpstr>
      <vt:lpstr>Quantitative Analysis</vt:lpstr>
      <vt:lpstr>Fundamentals of Probability</vt:lpstr>
      <vt:lpstr>Random Variables</vt:lpstr>
      <vt:lpstr>Presentación de PowerPoint</vt:lpstr>
      <vt:lpstr>Common Univariate Random Variables</vt:lpstr>
      <vt:lpstr>Presentación de PowerPoint</vt:lpstr>
      <vt:lpstr>Presentación de PowerPoint</vt:lpstr>
      <vt:lpstr>Sample Moments</vt:lpstr>
      <vt:lpstr>Hypotjesis testing</vt:lpstr>
      <vt:lpstr>Linear Regression</vt:lpstr>
      <vt:lpstr>Reg. with multiple variables</vt:lpstr>
      <vt:lpstr>Regression Diagnostics</vt:lpstr>
      <vt:lpstr>Stationary time series</vt:lpstr>
      <vt:lpstr>Non-Stationary Time Series</vt:lpstr>
      <vt:lpstr>Non-Stationary Time Series</vt:lpstr>
      <vt:lpstr>Measuring Returns, Volatility, and Correlation</vt:lpstr>
      <vt:lpstr>Simulation and Bootstrapping</vt:lpstr>
      <vt:lpstr>Machine Learning Methods</vt:lpstr>
      <vt:lpstr>Machine Learning and Predictions:</vt:lpstr>
      <vt:lpstr>Financial Products and Markets</vt:lpstr>
      <vt:lpstr>Bancos:</vt:lpstr>
      <vt:lpstr>Insurance Companies and Pension plans</vt:lpstr>
      <vt:lpstr>Fund Managment</vt:lpstr>
      <vt:lpstr>Introduction to Derivatives </vt:lpstr>
      <vt:lpstr>Exchange and OTC Markets</vt:lpstr>
      <vt:lpstr>Central Clearing</vt:lpstr>
      <vt:lpstr>Future Markets</vt:lpstr>
      <vt:lpstr>Using Futures for hedging</vt:lpstr>
      <vt:lpstr>Foreign Exchange Markets</vt:lpstr>
      <vt:lpstr>Pricing Financial Forwards and futures</vt:lpstr>
      <vt:lpstr>Commodity Forwards and Futures</vt:lpstr>
      <vt:lpstr>Option Markets</vt:lpstr>
      <vt:lpstr>Properties of options</vt:lpstr>
      <vt:lpstr>Trading Strategies</vt:lpstr>
      <vt:lpstr>Presentación de PowerPoint</vt:lpstr>
      <vt:lpstr>Exotic Options</vt:lpstr>
      <vt:lpstr>Presentación de PowerPoint</vt:lpstr>
      <vt:lpstr>Properties of Interest Rates</vt:lpstr>
      <vt:lpstr>Corporate Bonds</vt:lpstr>
      <vt:lpstr>Mort.and Mortagages Backed Securities</vt:lpstr>
      <vt:lpstr>Interest Rate Futures</vt:lpstr>
      <vt:lpstr>SWAPS</vt:lpstr>
      <vt:lpstr>Valuation and Risk Models</vt:lpstr>
      <vt:lpstr>Measures of Financial Risks</vt:lpstr>
      <vt:lpstr>Calc. and applying VaR</vt:lpstr>
      <vt:lpstr>Measuring and Monitoring Volatility</vt:lpstr>
      <vt:lpstr>External and Credit Ratings</vt:lpstr>
      <vt:lpstr> Country R., Det., Measures and Implications</vt:lpstr>
      <vt:lpstr>Measuring Credit Risks</vt:lpstr>
      <vt:lpstr>Operational Risks</vt:lpstr>
      <vt:lpstr>Stress Testing</vt:lpstr>
      <vt:lpstr>Presentación de PowerPoint</vt:lpstr>
      <vt:lpstr>Pricing Conv., Discounting and Arbitrage</vt:lpstr>
      <vt:lpstr>Interest Rates</vt:lpstr>
      <vt:lpstr>Bond Yield and Return Calculations</vt:lpstr>
      <vt:lpstr>Presentación de PowerPoint</vt:lpstr>
      <vt:lpstr>Applying Duration, DV01, Convexity</vt:lpstr>
      <vt:lpstr>Modelling Non-Parallel Term Structure Shifts and Hedging</vt:lpstr>
      <vt:lpstr>Binomial Trees</vt:lpstr>
      <vt:lpstr>Black-Scholes-Merton Model</vt:lpstr>
      <vt:lpstr>Presentación de PowerPoint</vt:lpstr>
      <vt:lpstr>The Greeks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u20191e358 (Olazabal Morales, Jareth Joel)</dc:creator>
  <cp:lastModifiedBy>u20191e358 (Olazabal Morales, Jareth Joel)</cp:lastModifiedBy>
  <cp:revision>11</cp:revision>
  <dcterms:created xsi:type="dcterms:W3CDTF">2026-03-29T13:57:33Z</dcterms:created>
  <dcterms:modified xsi:type="dcterms:W3CDTF">2026-03-30T03:07:03Z</dcterms:modified>
</cp:coreProperties>
</file>